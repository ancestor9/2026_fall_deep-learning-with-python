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56" r:id="rId2"/>
    <p:sldId id="1243" r:id="rId3"/>
    <p:sldId id="1134" r:id="rId4"/>
    <p:sldId id="1174" r:id="rId5"/>
    <p:sldId id="1195" r:id="rId6"/>
    <p:sldId id="1196" r:id="rId7"/>
    <p:sldId id="1216" r:id="rId8"/>
    <p:sldId id="1170" r:id="rId9"/>
    <p:sldId id="1172" r:id="rId10"/>
    <p:sldId id="1203" r:id="rId11"/>
    <p:sldId id="1228" r:id="rId12"/>
    <p:sldId id="1107" r:id="rId13"/>
    <p:sldId id="1204" r:id="rId14"/>
    <p:sldId id="1124" r:id="rId15"/>
    <p:sldId id="1209" r:id="rId16"/>
    <p:sldId id="1211" r:id="rId17"/>
    <p:sldId id="1212" r:id="rId18"/>
    <p:sldId id="1173" r:id="rId19"/>
    <p:sldId id="1224" r:id="rId20"/>
    <p:sldId id="1213" r:id="rId21"/>
    <p:sldId id="1106" r:id="rId22"/>
    <p:sldId id="1141" r:id="rId23"/>
    <p:sldId id="1225" r:id="rId24"/>
    <p:sldId id="1180" r:id="rId25"/>
    <p:sldId id="1226" r:id="rId26"/>
    <p:sldId id="1183" r:id="rId27"/>
    <p:sldId id="1227" r:id="rId28"/>
    <p:sldId id="1166" r:id="rId29"/>
    <p:sldId id="1139" r:id="rId30"/>
    <p:sldId id="1164" r:id="rId31"/>
    <p:sldId id="1179" r:id="rId32"/>
    <p:sldId id="1147" r:id="rId33"/>
    <p:sldId id="1152" r:id="rId34"/>
    <p:sldId id="1231" r:id="rId35"/>
    <p:sldId id="1229" r:id="rId36"/>
    <p:sldId id="1230" r:id="rId37"/>
    <p:sldId id="1190" r:id="rId38"/>
    <p:sldId id="1232" r:id="rId39"/>
    <p:sldId id="1167" r:id="rId40"/>
    <p:sldId id="1131" r:id="rId41"/>
    <p:sldId id="1132" r:id="rId42"/>
    <p:sldId id="1187" r:id="rId43"/>
    <p:sldId id="1137" r:id="rId44"/>
    <p:sldId id="1197" r:id="rId45"/>
    <p:sldId id="1188" r:id="rId46"/>
    <p:sldId id="1135" r:id="rId47"/>
    <p:sldId id="1235" r:id="rId48"/>
    <p:sldId id="1238" r:id="rId49"/>
    <p:sldId id="1140" r:id="rId50"/>
    <p:sldId id="1149" r:id="rId51"/>
    <p:sldId id="1151" r:id="rId52"/>
    <p:sldId id="1237" r:id="rId53"/>
    <p:sldId id="1198" r:id="rId54"/>
    <p:sldId id="1200" r:id="rId55"/>
    <p:sldId id="1201" r:id="rId56"/>
    <p:sldId id="1242" r:id="rId57"/>
    <p:sldId id="1240" r:id="rId58"/>
    <p:sldId id="1155" r:id="rId59"/>
    <p:sldId id="1241" r:id="rId60"/>
    <p:sldId id="1142" r:id="rId61"/>
    <p:sldId id="1125" r:id="rId62"/>
    <p:sldId id="1143" r:id="rId63"/>
    <p:sldId id="1148" r:id="rId64"/>
    <p:sldId id="1244" r:id="rId65"/>
    <p:sldId id="1245" r:id="rId66"/>
    <p:sldId id="1153" r:id="rId67"/>
    <p:sldId id="1146" r:id="rId68"/>
    <p:sldId id="1157" r:id="rId69"/>
    <p:sldId id="1144" r:id="rId70"/>
    <p:sldId id="1145" r:id="rId7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43"/>
            <p14:sldId id="1134"/>
            <p14:sldId id="1174"/>
            <p14:sldId id="1195"/>
            <p14:sldId id="1196"/>
            <p14:sldId id="1216"/>
            <p14:sldId id="1170"/>
            <p14:sldId id="1172"/>
            <p14:sldId id="1203"/>
            <p14:sldId id="1228"/>
            <p14:sldId id="1107"/>
            <p14:sldId id="1204"/>
            <p14:sldId id="1124"/>
            <p14:sldId id="1209"/>
            <p14:sldId id="1211"/>
            <p14:sldId id="1212"/>
            <p14:sldId id="1173"/>
            <p14:sldId id="1224"/>
            <p14:sldId id="1213"/>
            <p14:sldId id="1106"/>
            <p14:sldId id="1141"/>
            <p14:sldId id="1225"/>
            <p14:sldId id="1180"/>
            <p14:sldId id="1226"/>
            <p14:sldId id="1183"/>
            <p14:sldId id="1227"/>
            <p14:sldId id="1166"/>
            <p14:sldId id="1139"/>
            <p14:sldId id="1164"/>
            <p14:sldId id="1179"/>
            <p14:sldId id="1147"/>
            <p14:sldId id="1152"/>
            <p14:sldId id="1231"/>
            <p14:sldId id="1229"/>
            <p14:sldId id="1230"/>
            <p14:sldId id="1190"/>
            <p14:sldId id="1232"/>
            <p14:sldId id="1167"/>
            <p14:sldId id="1131"/>
            <p14:sldId id="1132"/>
            <p14:sldId id="1187"/>
            <p14:sldId id="1137"/>
            <p14:sldId id="1197"/>
            <p14:sldId id="1188"/>
            <p14:sldId id="1135"/>
            <p14:sldId id="1235"/>
            <p14:sldId id="1238"/>
            <p14:sldId id="1140"/>
            <p14:sldId id="1149"/>
            <p14:sldId id="1151"/>
            <p14:sldId id="1237"/>
            <p14:sldId id="1198"/>
            <p14:sldId id="1200"/>
            <p14:sldId id="1201"/>
            <p14:sldId id="1242"/>
            <p14:sldId id="1240"/>
            <p14:sldId id="1155"/>
            <p14:sldId id="1241"/>
            <p14:sldId id="1142"/>
            <p14:sldId id="1125"/>
            <p14:sldId id="1143"/>
            <p14:sldId id="1148"/>
            <p14:sldId id="1244"/>
            <p14:sldId id="1245"/>
            <p14:sldId id="1153"/>
            <p14:sldId id="1146"/>
            <p14:sldId id="1157"/>
            <p14:sldId id="1144"/>
            <p14:sldId id="114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>
        <p:scale>
          <a:sx n="66" d="100"/>
          <a:sy n="66" d="100"/>
        </p:scale>
        <p:origin x="1416" y="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-6067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2026-09-30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E22F-2FC4-A3D8-3ABC-B652D8E9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C9854-8E07-3023-89D4-225C49811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69A3AF-3639-1162-491E-71A735C0E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6033E-40EA-490A-F69F-2BB306DA9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68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1E8C-BD6D-B67D-B4BC-F09BED7A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7DB12-E0E7-86B6-6FBC-966158374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3CFDE-A253-BAD6-A6F4-9CBA331C4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EB34EF-3E3E-A9B3-8B92-52FF2820C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4277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38B8-BB2C-A8B7-16A4-3F8EACD4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B57CA-BA10-3352-19EA-D3CAC9567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564292-8FEE-4D10-C74E-D63D0920C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79169-D6EC-9329-6FEA-95C8DCE7E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352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38B8-BB2C-A8B7-16A4-3F8EACD4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B57CA-BA10-3352-19EA-D3CAC9567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564292-8FEE-4D10-C74E-D63D0920C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79169-D6EC-9329-6FEA-95C8DCE7E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352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38B8-BB2C-A8B7-16A4-3F8EACD4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7B57CA-BA10-3352-19EA-D3CAC9567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564292-8FEE-4D10-C74E-D63D0920C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079169-D6EC-9329-6FEA-95C8DCE7E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35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23637-6D26-5C2B-5F41-53A5609E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5C7929-F9CB-F1E1-E55D-97F3EE67B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7132A-F221-649C-3ED5-4E8D7628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814F78-A372-A7DF-2EC9-F07EEEC2B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5140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0BA9-2DD1-5EAF-2019-A48EAF53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AF95FB-0E21-C50E-21E9-D5E89F314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BFB427-F338-47A9-F760-63DDEA83D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ED02E-56A1-B79A-9AA9-ED5B24EE7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6486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0F5F-3F93-3DE6-3B52-086B91C3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45E67C-15BD-4917-7A03-727477F66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C32002-6BC7-91E1-210F-9CEBCD431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878B4F-DBCD-71E4-8E49-6B16DA8DF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4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130B-1B93-A09C-0297-DC5D3B7B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7407BA-EB0B-B884-E05F-DA41827EC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0CD82-80F1-C67C-279B-AF5C3D8EF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D8790-5B2E-5BDF-5283-9BEE4805C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164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2026-09-30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2026-09-30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s231n.stanford.edu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github.com/ancestor9/2025_Winter_Deep-Learning-with-TensorFlow/tree/main/20260107_03_Image%20Classification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talented-mr-1x1-comprehensive-look-at-1x1-convolution-in-deep-learning-f6b355825578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https://www.bpesquet.fr/mlhandbook/algorithms/convolutional_neural_networks.html" TargetMode="Externa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6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2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12" Type="http://schemas.openxmlformats.org/officeDocument/2006/relationships/image" Target="../media/image61.svg"/><Relationship Id="rId2" Type="http://schemas.openxmlformats.org/officeDocument/2006/relationships/image" Target="../media/image52.png"/><Relationship Id="rId16" Type="http://schemas.openxmlformats.org/officeDocument/2006/relationships/image" Target="../media/image6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svg"/><Relationship Id="rId15" Type="http://schemas.openxmlformats.org/officeDocument/2006/relationships/image" Target="../media/image64.png"/><Relationship Id="rId10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63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geron/handson-ml3/blob/main/14_deep_computer_vision_with_cnns.ipynb" TargetMode="Externa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7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0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rxiv.org/pdf/1506.02640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hyperlink" Target="https://www.youtube.com/watch?v=BRS9bEP8rhA" TargetMode="External"/><Relationship Id="rId7" Type="http://schemas.openxmlformats.org/officeDocument/2006/relationships/image" Target="../media/image89.sv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800" b="1" dirty="0">
                <a:solidFill>
                  <a:schemeClr val="bg1"/>
                </a:solidFill>
              </a:rPr>
              <a:t>Deep Learning for Image</a:t>
            </a:r>
            <a:br>
              <a:rPr lang="en-US" altLang="ko-KR" sz="4800" dirty="0">
                <a:solidFill>
                  <a:schemeClr val="bg1"/>
                </a:solidFill>
              </a:rPr>
            </a:br>
            <a:r>
              <a:rPr lang="en-US" altLang="ko-KR" sz="3600" dirty="0">
                <a:solidFill>
                  <a:schemeClr val="bg1"/>
                </a:solidFill>
              </a:rPr>
              <a:t>Chapter 8 ~ Chapter 11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D5772-CEB7-48FF-8E59-9DE2D0CE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C703F-8632-5AB1-7E9A-BAC280014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Introduction to Convnet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DCA8-F9CF-EE01-5357-7DFEAC9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C0ADB4E-B488-943F-AE13-01421308D4F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The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origin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of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0044A8-6511-F92B-840B-5C543FD2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4F3568-A0BC-9406-11E3-B7DB57B4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67" y="1719436"/>
            <a:ext cx="6056283" cy="39032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E1792-1D00-C545-6334-847EE471A5CF}"/>
              </a:ext>
            </a:extLst>
          </p:cNvPr>
          <p:cNvSpPr txBox="1"/>
          <p:nvPr/>
        </p:nvSpPr>
        <p:spPr>
          <a:xfrm>
            <a:off x="590550" y="56226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1959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</a:t>
            </a:r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Torsten Wiesel&amp; David Hubel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시각 피질 실험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2835D-DA21-D0A7-893E-6444C9BD3C9F}"/>
              </a:ext>
            </a:extLst>
          </p:cNvPr>
          <p:cNvSpPr txBox="1"/>
          <p:nvPr/>
        </p:nvSpPr>
        <p:spPr>
          <a:xfrm>
            <a:off x="6801107" y="1703751"/>
            <a:ext cx="5057775" cy="361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뇌는 단순한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아닌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특정 방향의 막대나 직선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반응한다는 사실을 우연히 발견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뇌가 시각 정보를 처리할 때 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모서리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같은 기본 요소로 먼저 분해한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이를 조합해 복잡한 형상을 인식한다는 사실을 증명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원리는 현대 인공지능의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(CNN, Convolutional Neural Networks)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및 컴퓨터 비전 알고리즘이 이미지의 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추출해 사물을 인식하는 기본 구조의 토대</a:t>
            </a:r>
          </a:p>
        </p:txBody>
      </p:sp>
    </p:spTree>
    <p:extLst>
      <p:ext uri="{BB962C8B-B14F-4D97-AF65-F5344CB8AC3E}">
        <p14:creationId xmlns:p14="http://schemas.microsoft.com/office/powerpoint/2010/main" val="309529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1B5-3293-2582-E79C-68BA83E5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250D206-0CCD-0BDF-2BFE-C27CAAA217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3E9A3F-7661-A1B5-BEEC-C07088F8474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4AA592-70D7-412D-FBA1-303BD494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0" y="1296152"/>
            <a:ext cx="10747649" cy="5019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D09BA-6E17-7800-CA71-C1179CD5B4DC}"/>
              </a:ext>
            </a:extLst>
          </p:cNvPr>
          <p:cNvSpPr txBox="1"/>
          <p:nvPr/>
        </p:nvSpPr>
        <p:spPr>
          <a:xfrm>
            <a:off x="672826" y="6361342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5BCE8C-DE81-A0E1-0670-31CF7BCD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0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7C51-23DB-28C1-1E78-8F101F81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33B163-95F3-2E67-9FC6-A060E8C18A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9CBFFD-FC32-7932-EC6D-0294B33036D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How to recognize face image ?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BC393D8-E4EF-8E8F-747B-12B59340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비비안 리">
            <a:extLst>
              <a:ext uri="{FF2B5EF4-FFF2-40B4-BE49-F238E27FC236}">
                <a16:creationId xmlns:a16="http://schemas.microsoft.com/office/drawing/2014/main" id="{9C1C3F05-A9CD-2C76-4752-C5F47FCA1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21" y="1409700"/>
            <a:ext cx="3804279" cy="51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577AE9-6300-598D-B26F-5839B23C6265}"/>
              </a:ext>
            </a:extLst>
          </p:cNvPr>
          <p:cNvSpPr/>
          <p:nvPr/>
        </p:nvSpPr>
        <p:spPr>
          <a:xfrm>
            <a:off x="4667249" y="3000375"/>
            <a:ext cx="638175" cy="328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E795B4-5CB2-0B73-062E-FD141E330813}"/>
              </a:ext>
            </a:extLst>
          </p:cNvPr>
          <p:cNvSpPr/>
          <p:nvPr/>
        </p:nvSpPr>
        <p:spPr>
          <a:xfrm>
            <a:off x="4333876" y="3381375"/>
            <a:ext cx="419100" cy="50482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D1FEBA-5F96-50A8-2DEF-BB43ADF5AF78}"/>
              </a:ext>
            </a:extLst>
          </p:cNvPr>
          <p:cNvSpPr/>
          <p:nvPr/>
        </p:nvSpPr>
        <p:spPr>
          <a:xfrm>
            <a:off x="4162426" y="3943351"/>
            <a:ext cx="752474" cy="3286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82E782-901F-4F98-F79A-1679180BBA63}"/>
              </a:ext>
            </a:extLst>
          </p:cNvPr>
          <p:cNvSpPr/>
          <p:nvPr/>
        </p:nvSpPr>
        <p:spPr>
          <a:xfrm>
            <a:off x="3669986" y="2781299"/>
            <a:ext cx="663890" cy="219075"/>
          </a:xfrm>
          <a:prstGeom prst="rect">
            <a:avLst/>
          </a:prstGeom>
          <a:noFill/>
          <a:ln w="28575"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6B80B-C91C-940C-7317-450257E119BD}"/>
              </a:ext>
            </a:extLst>
          </p:cNvPr>
          <p:cNvSpPr/>
          <p:nvPr/>
        </p:nvSpPr>
        <p:spPr>
          <a:xfrm>
            <a:off x="4181477" y="2371723"/>
            <a:ext cx="663890" cy="2190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7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004F-D407-CA00-E5C7-19BB7656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78088FE-0930-15B2-B1A9-FD861FE554E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B8D45-08A2-3432-520B-D82158DD53DA}"/>
              </a:ext>
            </a:extLst>
          </p:cNvPr>
          <p:cNvSpPr txBox="1"/>
          <p:nvPr/>
        </p:nvSpPr>
        <p:spPr>
          <a:xfrm>
            <a:off x="590550" y="1438922"/>
            <a:ext cx="6238875" cy="4352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평행이동 불변성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(translation invariance)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오른쪽 아래 구석에서 특정 패턴을 학습한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왼쪽 위 구석 등 다른 어느 위치에서나 해당 패턴을 인식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평행이동 불변성 특성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패턴의 공간적 계층 구조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(spatial hierarchies of patterns)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첫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가장자리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같은 작은 국소적 패턴을 학습하고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첫 번째 레이어의 특성들을 조합한 더 큰 패턴을 학습하는 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공간적 계층 구조를 이루고 있기 때문에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구조 덕분에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점차 더 복잡하고 추상적인 시각적 개념을 효율적으로 학습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68E1D6-01B6-DFA8-F5C2-00C539C9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0" y="1427808"/>
            <a:ext cx="4572257" cy="3784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F80E1F-DA80-2E1A-C6FD-E4C8D344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34136-8ECF-648E-7796-300ED0FF461F}"/>
              </a:ext>
            </a:extLst>
          </p:cNvPr>
          <p:cNvSpPr txBox="1"/>
          <p:nvPr/>
        </p:nvSpPr>
        <p:spPr>
          <a:xfrm>
            <a:off x="7200900" y="5241045"/>
            <a:ext cx="45722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visual world forms a spatial hierarchy of visual modules: elementary lines or textures combine into simple objects such as eyes or ears, which combine into high-level concepts such as “cat.”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77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2CDA-E736-FB99-F6B7-51924584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정육면체 24">
            <a:extLst>
              <a:ext uri="{FF2B5EF4-FFF2-40B4-BE49-F238E27FC236}">
                <a16:creationId xmlns:a16="http://schemas.microsoft.com/office/drawing/2014/main" id="{E12853B8-00C0-F9AB-725C-51FBA5136604}"/>
              </a:ext>
            </a:extLst>
          </p:cNvPr>
          <p:cNvSpPr/>
          <p:nvPr/>
        </p:nvSpPr>
        <p:spPr>
          <a:xfrm>
            <a:off x="5574645" y="5289862"/>
            <a:ext cx="774974" cy="766439"/>
          </a:xfrm>
          <a:prstGeom prst="cube">
            <a:avLst>
              <a:gd name="adj" fmla="val 4752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EFF9522-6823-2033-DD45-0858ADF6E7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vs. FCNN : Kernels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8E60AD5-E2DD-50D3-FFA2-0FFAEC7DB82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xample: classifying the MNIST dataset – Research Computing">
            <a:extLst>
              <a:ext uri="{FF2B5EF4-FFF2-40B4-BE49-F238E27FC236}">
                <a16:creationId xmlns:a16="http://schemas.microsoft.com/office/drawing/2014/main" id="{3963C4E1-C2FD-E47F-412F-E20E34DCE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26" y="2704592"/>
            <a:ext cx="2128838" cy="212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D5D6052-A0D0-E91D-C45E-F67E564BC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522400"/>
              </p:ext>
            </p:extLst>
          </p:nvPr>
        </p:nvGraphicFramePr>
        <p:xfrm>
          <a:off x="4927600" y="1354195"/>
          <a:ext cx="20828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551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8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37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33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3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27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1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23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914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201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22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507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4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11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86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8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41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0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9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687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16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88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7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29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4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6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597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D4679E-F0CB-C214-BA73-E00808190A34}"/>
              </a:ext>
            </a:extLst>
          </p:cNvPr>
          <p:cNvSpPr/>
          <p:nvPr/>
        </p:nvSpPr>
        <p:spPr>
          <a:xfrm>
            <a:off x="620808" y="2727452"/>
            <a:ext cx="388620" cy="3581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5E08BA-C800-9F27-805E-B671250BABA7}"/>
              </a:ext>
            </a:extLst>
          </p:cNvPr>
          <p:cNvSpPr txBox="1"/>
          <p:nvPr/>
        </p:nvSpPr>
        <p:spPr>
          <a:xfrm>
            <a:off x="3416576" y="1918208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784 = 28 x 28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54671-3D4F-96E0-4593-DD752F4B8AA7}"/>
              </a:ext>
            </a:extLst>
          </p:cNvPr>
          <p:cNvSpPr txBox="1"/>
          <p:nvPr/>
        </p:nvSpPr>
        <p:spPr>
          <a:xfrm>
            <a:off x="3416576" y="533452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600 = 5 x 5 x 24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2A41C3F-DD41-354C-B252-9794F695B9AE}"/>
              </a:ext>
            </a:extLst>
          </p:cNvPr>
          <p:cNvSpPr/>
          <p:nvPr/>
        </p:nvSpPr>
        <p:spPr>
          <a:xfrm>
            <a:off x="6781802" y="165608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7F0676E-5566-A7BF-263D-B6643B111537}"/>
              </a:ext>
            </a:extLst>
          </p:cNvPr>
          <p:cNvSpPr/>
          <p:nvPr/>
        </p:nvSpPr>
        <p:spPr>
          <a:xfrm>
            <a:off x="6781802" y="1918208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59541DC-3A0C-EC47-A5F6-00DF40401CA3}"/>
              </a:ext>
            </a:extLst>
          </p:cNvPr>
          <p:cNvSpPr/>
          <p:nvPr/>
        </p:nvSpPr>
        <p:spPr>
          <a:xfrm>
            <a:off x="6781802" y="2180336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E309CAA-ECCB-CD59-562E-3C1C1ECE0FA5}"/>
              </a:ext>
            </a:extLst>
          </p:cNvPr>
          <p:cNvSpPr/>
          <p:nvPr/>
        </p:nvSpPr>
        <p:spPr>
          <a:xfrm>
            <a:off x="6781802" y="2442464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CACB0FF-6405-4C43-7D08-39ECDCC7BEAF}"/>
              </a:ext>
            </a:extLst>
          </p:cNvPr>
          <p:cNvSpPr/>
          <p:nvPr/>
        </p:nvSpPr>
        <p:spPr>
          <a:xfrm>
            <a:off x="6781802" y="2704592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ED63C57-AF3F-3738-9A64-A46B63B796E1}"/>
              </a:ext>
            </a:extLst>
          </p:cNvPr>
          <p:cNvSpPr/>
          <p:nvPr/>
        </p:nvSpPr>
        <p:spPr>
          <a:xfrm>
            <a:off x="6781802" y="296672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281E551-D590-2511-794F-80D9E30A9E97}"/>
              </a:ext>
            </a:extLst>
          </p:cNvPr>
          <p:cNvSpPr/>
          <p:nvPr/>
        </p:nvSpPr>
        <p:spPr>
          <a:xfrm>
            <a:off x="6781802" y="3228848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60D5597-4A96-71F2-CA53-A613E6427E3A}"/>
              </a:ext>
            </a:extLst>
          </p:cNvPr>
          <p:cNvSpPr/>
          <p:nvPr/>
        </p:nvSpPr>
        <p:spPr>
          <a:xfrm>
            <a:off x="6781802" y="3490976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41D54E7-3D3F-12CA-8CE8-0C9887EB0D23}"/>
              </a:ext>
            </a:extLst>
          </p:cNvPr>
          <p:cNvSpPr/>
          <p:nvPr/>
        </p:nvSpPr>
        <p:spPr>
          <a:xfrm>
            <a:off x="6781802" y="3753104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7924957-7BA1-97DB-E431-E82D67400704}"/>
              </a:ext>
            </a:extLst>
          </p:cNvPr>
          <p:cNvSpPr/>
          <p:nvPr/>
        </p:nvSpPr>
        <p:spPr>
          <a:xfrm>
            <a:off x="6781802" y="4015232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362817F-57A9-6ADF-410C-45EC98B312F2}"/>
              </a:ext>
            </a:extLst>
          </p:cNvPr>
          <p:cNvSpPr/>
          <p:nvPr/>
        </p:nvSpPr>
        <p:spPr>
          <a:xfrm>
            <a:off x="6781802" y="427736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C575B23-A968-DB8E-36F5-930FADBCE10B}"/>
              </a:ext>
            </a:extLst>
          </p:cNvPr>
          <p:cNvSpPr/>
          <p:nvPr/>
        </p:nvSpPr>
        <p:spPr>
          <a:xfrm>
            <a:off x="6705600" y="1574800"/>
            <a:ext cx="350522" cy="3007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954979-3D1B-AE7A-D70A-86B64273443F}"/>
              </a:ext>
            </a:extLst>
          </p:cNvPr>
          <p:cNvSpPr txBox="1"/>
          <p:nvPr/>
        </p:nvSpPr>
        <p:spPr>
          <a:xfrm>
            <a:off x="7085454" y="1882694"/>
            <a:ext cx="154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11 nodes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0A396-6845-9929-F2E1-FC6FCB8D5A1E}"/>
              </a:ext>
            </a:extLst>
          </p:cNvPr>
          <p:cNvSpPr txBox="1"/>
          <p:nvPr/>
        </p:nvSpPr>
        <p:spPr>
          <a:xfrm>
            <a:off x="8134271" y="2319111"/>
            <a:ext cx="3065503" cy="11387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FCNN Trainable Parameters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(Kernel Parameters)</a:t>
            </a:r>
          </a:p>
          <a:p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8,645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784 x 11 + 11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840D6F-3453-17C8-FED3-10D5F509E237}"/>
              </a:ext>
            </a:extLst>
          </p:cNvPr>
          <p:cNvSpPr txBox="1"/>
          <p:nvPr/>
        </p:nvSpPr>
        <p:spPr>
          <a:xfrm>
            <a:off x="8139231" y="5237244"/>
            <a:ext cx="3065503" cy="11387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CNN Trainable Parameters</a:t>
            </a:r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(Kernel Parameters)</a:t>
            </a:r>
          </a:p>
          <a:p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600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5 x 5 x 24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5216102-BF5F-75CB-E21C-ED8E946DB855}"/>
              </a:ext>
            </a:extLst>
          </p:cNvPr>
          <p:cNvSpPr/>
          <p:nvPr/>
        </p:nvSpPr>
        <p:spPr>
          <a:xfrm>
            <a:off x="3416576" y="1317736"/>
            <a:ext cx="8216624" cy="35489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24AD6AA-4F38-B570-8B21-0E62B8D366EC}"/>
              </a:ext>
            </a:extLst>
          </p:cNvPr>
          <p:cNvSpPr/>
          <p:nvPr/>
        </p:nvSpPr>
        <p:spPr>
          <a:xfrm>
            <a:off x="3416576" y="5145358"/>
            <a:ext cx="8216624" cy="13292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1153D1E-1575-8154-C460-28AB6C0C9C43}"/>
              </a:ext>
            </a:extLst>
          </p:cNvPr>
          <p:cNvCxnSpPr/>
          <p:nvPr/>
        </p:nvCxnSpPr>
        <p:spPr>
          <a:xfrm flipV="1">
            <a:off x="2817136" y="2312134"/>
            <a:ext cx="365760" cy="370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2B78EDC-E83B-E6AA-CE6B-8C3056B46324}"/>
              </a:ext>
            </a:extLst>
          </p:cNvPr>
          <p:cNvCxnSpPr>
            <a:cxnSpLocks/>
          </p:cNvCxnSpPr>
          <p:nvPr/>
        </p:nvCxnSpPr>
        <p:spPr>
          <a:xfrm>
            <a:off x="2770008" y="4885380"/>
            <a:ext cx="365760" cy="276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880CDC-6ABA-6E73-F568-29342A378AF8}"/>
              </a:ext>
            </a:extLst>
          </p:cNvPr>
          <p:cNvCxnSpPr>
            <a:cxnSpLocks/>
          </p:cNvCxnSpPr>
          <p:nvPr/>
        </p:nvCxnSpPr>
        <p:spPr>
          <a:xfrm>
            <a:off x="5218545" y="15748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B74A4C3-D431-8AE5-B853-3029253BA3D6}"/>
              </a:ext>
            </a:extLst>
          </p:cNvPr>
          <p:cNvCxnSpPr>
            <a:cxnSpLocks/>
          </p:cNvCxnSpPr>
          <p:nvPr/>
        </p:nvCxnSpPr>
        <p:spPr>
          <a:xfrm>
            <a:off x="5218545" y="17272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86D60CD-C51C-A359-822D-7FF6BDFAA9E6}"/>
              </a:ext>
            </a:extLst>
          </p:cNvPr>
          <p:cNvCxnSpPr>
            <a:cxnSpLocks/>
          </p:cNvCxnSpPr>
          <p:nvPr/>
        </p:nvCxnSpPr>
        <p:spPr>
          <a:xfrm>
            <a:off x="5218545" y="18796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AF1D80-F8AB-33DA-899A-319C911AE370}"/>
              </a:ext>
            </a:extLst>
          </p:cNvPr>
          <p:cNvCxnSpPr>
            <a:cxnSpLocks/>
          </p:cNvCxnSpPr>
          <p:nvPr/>
        </p:nvCxnSpPr>
        <p:spPr>
          <a:xfrm>
            <a:off x="5218545" y="20320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DA98637-551D-4785-CE3D-653BC6B78687}"/>
              </a:ext>
            </a:extLst>
          </p:cNvPr>
          <p:cNvCxnSpPr>
            <a:cxnSpLocks/>
          </p:cNvCxnSpPr>
          <p:nvPr/>
        </p:nvCxnSpPr>
        <p:spPr>
          <a:xfrm>
            <a:off x="5218545" y="21844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390A921-BDAE-B485-39C5-C0F4DEAEB982}"/>
              </a:ext>
            </a:extLst>
          </p:cNvPr>
          <p:cNvCxnSpPr>
            <a:cxnSpLocks/>
          </p:cNvCxnSpPr>
          <p:nvPr/>
        </p:nvCxnSpPr>
        <p:spPr>
          <a:xfrm>
            <a:off x="5218545" y="23368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4EF658-3C45-41E7-32C3-F1931F38A1EA}"/>
              </a:ext>
            </a:extLst>
          </p:cNvPr>
          <p:cNvCxnSpPr>
            <a:cxnSpLocks/>
          </p:cNvCxnSpPr>
          <p:nvPr/>
        </p:nvCxnSpPr>
        <p:spPr>
          <a:xfrm flipV="1">
            <a:off x="5244180" y="36365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0930D88-FA1B-A0B2-0640-590A6C37421F}"/>
              </a:ext>
            </a:extLst>
          </p:cNvPr>
          <p:cNvCxnSpPr>
            <a:cxnSpLocks/>
          </p:cNvCxnSpPr>
          <p:nvPr/>
        </p:nvCxnSpPr>
        <p:spPr>
          <a:xfrm flipV="1">
            <a:off x="5244180" y="37889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FFC9F2-E3B5-AA10-F605-2D8067D63924}"/>
              </a:ext>
            </a:extLst>
          </p:cNvPr>
          <p:cNvCxnSpPr>
            <a:cxnSpLocks/>
          </p:cNvCxnSpPr>
          <p:nvPr/>
        </p:nvCxnSpPr>
        <p:spPr>
          <a:xfrm flipV="1">
            <a:off x="5244180" y="39413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67F9A15-2583-FB71-65F2-5437ADC5C628}"/>
              </a:ext>
            </a:extLst>
          </p:cNvPr>
          <p:cNvCxnSpPr>
            <a:cxnSpLocks/>
          </p:cNvCxnSpPr>
          <p:nvPr/>
        </p:nvCxnSpPr>
        <p:spPr>
          <a:xfrm flipV="1">
            <a:off x="5244180" y="40937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D0653FC-CDC8-3211-8BA9-6550C896C739}"/>
              </a:ext>
            </a:extLst>
          </p:cNvPr>
          <p:cNvCxnSpPr>
            <a:cxnSpLocks/>
          </p:cNvCxnSpPr>
          <p:nvPr/>
        </p:nvCxnSpPr>
        <p:spPr>
          <a:xfrm flipV="1">
            <a:off x="5244180" y="42461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21C1E83-1ACC-9943-5BF8-EE7C0245FE23}"/>
              </a:ext>
            </a:extLst>
          </p:cNvPr>
          <p:cNvCxnSpPr>
            <a:cxnSpLocks/>
          </p:cNvCxnSpPr>
          <p:nvPr/>
        </p:nvCxnSpPr>
        <p:spPr>
          <a:xfrm flipV="1">
            <a:off x="5251875" y="19506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16A1753-D809-9DD9-F188-34817A8C4F54}"/>
              </a:ext>
            </a:extLst>
          </p:cNvPr>
          <p:cNvCxnSpPr>
            <a:cxnSpLocks/>
          </p:cNvCxnSpPr>
          <p:nvPr/>
        </p:nvCxnSpPr>
        <p:spPr>
          <a:xfrm flipV="1">
            <a:off x="5251875" y="21030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8EC5D7E-84AD-1DD2-C3B1-607B004CD3FA}"/>
              </a:ext>
            </a:extLst>
          </p:cNvPr>
          <p:cNvCxnSpPr>
            <a:cxnSpLocks/>
          </p:cNvCxnSpPr>
          <p:nvPr/>
        </p:nvCxnSpPr>
        <p:spPr>
          <a:xfrm flipV="1">
            <a:off x="5251875" y="22554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77EBAA6-8A4E-C017-44A4-B54DC37DC36F}"/>
              </a:ext>
            </a:extLst>
          </p:cNvPr>
          <p:cNvCxnSpPr>
            <a:cxnSpLocks/>
          </p:cNvCxnSpPr>
          <p:nvPr/>
        </p:nvCxnSpPr>
        <p:spPr>
          <a:xfrm flipV="1">
            <a:off x="5251875" y="24078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8888B73-C2C3-F3AD-117C-0763B83240DD}"/>
              </a:ext>
            </a:extLst>
          </p:cNvPr>
          <p:cNvCxnSpPr>
            <a:cxnSpLocks/>
          </p:cNvCxnSpPr>
          <p:nvPr/>
        </p:nvCxnSpPr>
        <p:spPr>
          <a:xfrm flipV="1">
            <a:off x="5251875" y="25602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C36AB32-ED62-CF08-DF45-61B85819C488}"/>
              </a:ext>
            </a:extLst>
          </p:cNvPr>
          <p:cNvCxnSpPr>
            <a:cxnSpLocks/>
          </p:cNvCxnSpPr>
          <p:nvPr/>
        </p:nvCxnSpPr>
        <p:spPr>
          <a:xfrm>
            <a:off x="5250873" y="36298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0C6FFB9-D3F4-85CB-6154-7F0DBEFCF95B}"/>
              </a:ext>
            </a:extLst>
          </p:cNvPr>
          <p:cNvCxnSpPr>
            <a:cxnSpLocks/>
          </p:cNvCxnSpPr>
          <p:nvPr/>
        </p:nvCxnSpPr>
        <p:spPr>
          <a:xfrm>
            <a:off x="5250873" y="37822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692700B-1261-84AD-FA48-86001B8B7185}"/>
              </a:ext>
            </a:extLst>
          </p:cNvPr>
          <p:cNvCxnSpPr>
            <a:cxnSpLocks/>
          </p:cNvCxnSpPr>
          <p:nvPr/>
        </p:nvCxnSpPr>
        <p:spPr>
          <a:xfrm>
            <a:off x="5250873" y="39346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214EC02-7913-E92F-9107-97E3AC9E6213}"/>
              </a:ext>
            </a:extLst>
          </p:cNvPr>
          <p:cNvCxnSpPr>
            <a:cxnSpLocks/>
          </p:cNvCxnSpPr>
          <p:nvPr/>
        </p:nvCxnSpPr>
        <p:spPr>
          <a:xfrm>
            <a:off x="5250873" y="40870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1116CCE-36A3-D147-F5DB-1425B5DE8B69}"/>
              </a:ext>
            </a:extLst>
          </p:cNvPr>
          <p:cNvSpPr txBox="1"/>
          <p:nvPr/>
        </p:nvSpPr>
        <p:spPr>
          <a:xfrm>
            <a:off x="5454847" y="3068649"/>
            <a:ext cx="151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DB48C1-A2E1-1227-4344-4B09C6E98F7F}"/>
              </a:ext>
            </a:extLst>
          </p:cNvPr>
          <p:cNvSpPr txBox="1"/>
          <p:nvPr/>
        </p:nvSpPr>
        <p:spPr>
          <a:xfrm>
            <a:off x="5471718" y="6148407"/>
            <a:ext cx="151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BF64-20EA-4A74-140A-D4CCF105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F2FB977-47F8-2F23-7C73-452FF93990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E37AF-214D-F3C1-9D27-C9C7DDC10384}"/>
              </a:ext>
            </a:extLst>
          </p:cNvPr>
          <p:cNvSpPr txBox="1"/>
          <p:nvPr/>
        </p:nvSpPr>
        <p:spPr>
          <a:xfrm>
            <a:off x="666750" y="1639891"/>
            <a:ext cx="6657975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완전 연결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(Dense layer, FCNN)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특성 공간에서 전역적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(global patterns,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MNIST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숫자에서 모든 입력 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하나의 거대한 벡터로 펼친 후 가중치를 곱함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학습하기 때문에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간의 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옆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파괴되는 치명적 약점이 있는 반면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 layer)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국소적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 patterns)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학습하여 오른쪽 이미지의 경우 입력의 작은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× 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3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발견되는 패턴을 학습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C8E58AB-A239-FD11-9ECA-7112C829B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42" y="1639891"/>
            <a:ext cx="3133725" cy="40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FA20EB3-A9F6-F360-566F-8F1C4CB0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56134-917C-B8D4-6915-64AF3D3E32C7}"/>
              </a:ext>
            </a:extLst>
          </p:cNvPr>
          <p:cNvSpPr txBox="1"/>
          <p:nvPr/>
        </p:nvSpPr>
        <p:spPr>
          <a:xfrm>
            <a:off x="7909442" y="5729686"/>
            <a:ext cx="313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Images can be broken into local patterns such as edges, textures, and so on.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59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186B-F827-F3DB-230C-93C802DB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23F278-307E-021D-9CC8-E1EBF9B6D4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C55BC0-C8F8-091A-EED4-0EFD0ABB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5A4A56-0737-C4A6-3788-0C8774FDA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4" y="3010916"/>
            <a:ext cx="5557836" cy="26795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4C1AFA-7FD9-52BD-7479-186066C90B8C}"/>
              </a:ext>
            </a:extLst>
          </p:cNvPr>
          <p:cNvSpPr txBox="1"/>
          <p:nvPr/>
        </p:nvSpPr>
        <p:spPr>
          <a:xfrm>
            <a:off x="1414465" y="5764337"/>
            <a:ext cx="555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concept of a response map: a 2D map of the presence of a pattern at different locations in an input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A02C5-D229-DE69-13AA-2CAB50191EF1}"/>
              </a:ext>
            </a:extLst>
          </p:cNvPr>
          <p:cNvSpPr txBox="1"/>
          <p:nvPr/>
        </p:nvSpPr>
        <p:spPr>
          <a:xfrm>
            <a:off x="590550" y="1200061"/>
            <a:ext cx="11010900" cy="120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Convolutions are defined by two key parameters:</a:t>
            </a:r>
            <a:endParaRPr lang="en-US" altLang="ko-KR" sz="1600" b="1" i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 of the patches extracted from the inputs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These are typically 3 × 3 or 5 × 5.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 of the output feature map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 number of filters computed by the convolution.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68B17-902C-A105-1EFF-1D4B04D42788}"/>
              </a:ext>
            </a:extLst>
          </p:cNvPr>
          <p:cNvSpPr txBox="1"/>
          <p:nvPr/>
        </p:nvSpPr>
        <p:spPr>
          <a:xfrm>
            <a:off x="7372350" y="3010916"/>
            <a:ext cx="4305557" cy="1998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Conv2D layers, these parameters are the first arguments passed to the layer: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output_depth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window_height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window_width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)).</a:t>
            </a:r>
          </a:p>
        </p:txBody>
      </p:sp>
    </p:spTree>
    <p:extLst>
      <p:ext uri="{BB962C8B-B14F-4D97-AF65-F5344CB8AC3E}">
        <p14:creationId xmlns:p14="http://schemas.microsoft.com/office/powerpoint/2010/main" val="136674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FA82-E2EF-258E-60A1-694A8E02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FBA94-2148-9657-929E-B1922F54BD6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DD64A-4029-76D0-BF74-FBF0A32334CD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 예측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19980-C4B4-6D39-D6C0-9AE0C57B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30" y="2040095"/>
            <a:ext cx="10097369" cy="4299409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73EB0BF-52BF-9DB4-462E-1461F219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3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244F2-423D-71A4-BB38-75900F4C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F9361-368A-4C38-0B0F-2F2E79C9F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Convnet Mechanism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0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8F77-6C0A-3904-FA33-71DB87EB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F803ED0-69E8-6928-5E8A-D2CF16B945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901BE-AB7F-22C0-899D-4319238947C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https://github.com/ancestor9/Image Classification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교과수업 진행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2832F4-B644-E38A-A3E9-D95C7FBA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455855"/>
            <a:ext cx="31837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A5B32-FCC9-8B3B-67E2-D75A02F17AE0}"/>
              </a:ext>
            </a:extLst>
          </p:cNvPr>
          <p:cNvSpPr txBox="1"/>
          <p:nvPr/>
        </p:nvSpPr>
        <p:spPr>
          <a:xfrm>
            <a:off x="3838575" y="2002698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single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DF1719D-1AE8-B069-81FE-77C356AC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36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7451-D0A4-643E-6102-68CD8B6F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545AEC-26F9-D773-D4F0-7FF39CEFE8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398E34-FCD2-FF36-DA2A-03BC71C20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355" y="2582480"/>
            <a:ext cx="7887072" cy="272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D6F7D6-EA8F-B538-9E59-9DFD008F49D5}"/>
              </a:ext>
            </a:extLst>
          </p:cNvPr>
          <p:cNvSpPr txBox="1"/>
          <p:nvPr/>
        </p:nvSpPr>
        <p:spPr>
          <a:xfrm>
            <a:off x="3647440" y="1710744"/>
            <a:ext cx="48971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(convolution),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내적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(inner product)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D3E41964-2214-6560-593A-35485C6FCBF6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4646838" y="2330358"/>
            <a:ext cx="1699444" cy="11988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5DA438-524D-6241-5DB5-B876099E5D83}"/>
              </a:ext>
            </a:extLst>
          </p:cNvPr>
          <p:cNvSpPr txBox="1"/>
          <p:nvPr/>
        </p:nvSpPr>
        <p:spPr>
          <a:xfrm>
            <a:off x="201168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Original Image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(6, 6)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8DF25-46FC-EFB8-7446-EC209039F938}"/>
              </a:ext>
            </a:extLst>
          </p:cNvPr>
          <p:cNvSpPr txBox="1"/>
          <p:nvPr/>
        </p:nvSpPr>
        <p:spPr>
          <a:xfrm>
            <a:off x="532384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Filter(Kernel)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D7373-00CE-1708-CD9E-9D75B8BC9A76}"/>
              </a:ext>
            </a:extLst>
          </p:cNvPr>
          <p:cNvSpPr txBox="1"/>
          <p:nvPr/>
        </p:nvSpPr>
        <p:spPr>
          <a:xfrm>
            <a:off x="8117306" y="5500559"/>
            <a:ext cx="2712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 Map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(4, 4)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95B86-AA4C-70FD-A7F1-104E2CE72B11}"/>
              </a:ext>
            </a:extLst>
          </p:cNvPr>
          <p:cNvSpPr txBox="1"/>
          <p:nvPr/>
        </p:nvSpPr>
        <p:spPr>
          <a:xfrm>
            <a:off x="369030" y="3487132"/>
            <a:ext cx="1994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Stride =1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Zero Padding</a:t>
            </a:r>
            <a:endParaRPr lang="ko-KR" altLang="en-US" sz="16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317CC6E-35DE-6BF7-8A25-E8A85F05A31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03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95C9-CBD6-04D8-FBF3-C2DA3C10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A38AE24-0C70-B4AA-1215-8F33EBCAFC8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041D4-64F8-978A-EE22-5E9930A7A837}"/>
              </a:ext>
            </a:extLst>
          </p:cNvPr>
          <p:cNvSpPr txBox="1"/>
          <p:nvPr/>
        </p:nvSpPr>
        <p:spPr>
          <a:xfrm>
            <a:off x="559261" y="1584070"/>
            <a:ext cx="6260639" cy="3747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입력 채널별로 서로 다른 가중치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(Weight)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필터를 사용하여 각각 연산한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결과들을 모두 더해서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합산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하나의 특성 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필터가 가로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평면 격자가 아니라 하지만 실제는 입력 데이터의 채널 수와 똑같은 두께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(Depth)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(tensor (3,3,3))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입체블록 필터당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장이 나오고 여기에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bias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생성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8F1156-1F00-1107-B89D-64F92419D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2107473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5AF6C3-4719-C491-25E7-A315FAF1BC48}"/>
              </a:ext>
            </a:extLst>
          </p:cNvPr>
          <p:cNvSpPr txBox="1"/>
          <p:nvPr/>
        </p:nvSpPr>
        <p:spPr>
          <a:xfrm>
            <a:off x="7460517" y="1654316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4B1C2-BFE8-1DE2-C675-A40349A4CAD3}"/>
              </a:ext>
            </a:extLst>
          </p:cNvPr>
          <p:cNvSpPr txBox="1"/>
          <p:nvPr/>
        </p:nvSpPr>
        <p:spPr>
          <a:xfrm>
            <a:off x="7460517" y="5726516"/>
            <a:ext cx="39935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채널별로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합성 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다시 합산하여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Feature map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개를 생성하는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과정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FF9615D-33D2-191A-93A4-A89840D6F52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726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E90B-FA53-E760-B053-2F4FE9FF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F975182-D15F-69E4-C9D3-DDE5CB0988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Activation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E75BC0B-B10E-5088-CAEA-27E9DBA7DBC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F1DFA-9FAD-0542-39D3-ED54C84939CD}"/>
              </a:ext>
            </a:extLst>
          </p:cNvPr>
          <p:cNvSpPr txBox="1"/>
          <p:nvPr/>
        </p:nvSpPr>
        <p:spPr>
          <a:xfrm>
            <a:off x="618811" y="1563567"/>
            <a:ext cx="10887389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 having convolution layer, we use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to break up linearity.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Increase nonlinearity. Because images are non linear.</a:t>
            </a:r>
          </a:p>
        </p:txBody>
      </p:sp>
      <p:pic>
        <p:nvPicPr>
          <p:cNvPr id="2050" name="Picture 2" descr="RELU">
            <a:extLst>
              <a:ext uri="{FF2B5EF4-FFF2-40B4-BE49-F238E27FC236}">
                <a16:creationId xmlns:a16="http://schemas.microsoft.com/office/drawing/2014/main" id="{521AF12E-A6A8-AEFB-6175-2D959120A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891" y="3218227"/>
            <a:ext cx="7286171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2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0740-8744-BFFF-F3A0-35E0AA00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16C79B-E437-54E8-0586-29998CF96D1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Max Pooling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29BA06-D6D3-5650-C97E-65FF5871998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91009-267E-FE77-D5A8-EFBEF2BBB643}"/>
              </a:ext>
            </a:extLst>
          </p:cNvPr>
          <p:cNvSpPr txBox="1"/>
          <p:nvPr/>
        </p:nvSpPr>
        <p:spPr>
          <a:xfrm>
            <a:off x="604245" y="1287472"/>
            <a:ext cx="11159130" cy="1162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down-sampling or sub-sampling (Reduces the number of parameters)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the detection of features invariant to scale or orientation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reduce the amounts of parameters and computation in the network, and hence to also control overfitting.</a:t>
            </a:r>
          </a:p>
        </p:txBody>
      </p:sp>
      <p:pic>
        <p:nvPicPr>
          <p:cNvPr id="4098" name="Picture 2" descr="maxpool">
            <a:extLst>
              <a:ext uri="{FF2B5EF4-FFF2-40B4-BE49-F238E27FC236}">
                <a16:creationId xmlns:a16="http://schemas.microsoft.com/office/drawing/2014/main" id="{B7D268ED-69D9-09D0-5B96-5572D2B8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2781300"/>
            <a:ext cx="7617858" cy="345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277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66B-E2A8-FA61-6243-35FD182C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C1277C-75A3-E9C8-3C02-9E1C897DC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Flattening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E54BDE5-DC77-92EA-9DA2-49CCC4A1FD2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44D6E7-5401-39A1-378E-429150BB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97" y="2678343"/>
            <a:ext cx="4802658" cy="27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34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45F1-226F-FB5D-F7AB-187866B1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18FFB35-DAD1-1430-2A44-1ECF409EFC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to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using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6F933-3B51-A8B3-27C2-66F9D04BFF0D}"/>
              </a:ext>
            </a:extLst>
          </p:cNvPr>
          <p:cNvSpPr txBox="1"/>
          <p:nvPr/>
        </p:nvSpPr>
        <p:spPr>
          <a:xfrm>
            <a:off x="1141929" y="1331819"/>
            <a:ext cx="9372082" cy="485581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layers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00D407-3221-7B47-031A-0CF089D3CAC6}"/>
              </a:ext>
            </a:extLst>
          </p:cNvPr>
          <p:cNvSpPr/>
          <p:nvPr/>
        </p:nvSpPr>
        <p:spPr>
          <a:xfrm>
            <a:off x="780532" y="2876550"/>
            <a:ext cx="10096500" cy="685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9B9F48-2914-4726-D554-47A5123FFB03}"/>
              </a:ext>
            </a:extLst>
          </p:cNvPr>
          <p:cNvSpPr/>
          <p:nvPr/>
        </p:nvSpPr>
        <p:spPr>
          <a:xfrm>
            <a:off x="780532" y="4724400"/>
            <a:ext cx="10096500" cy="685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E2AE60-B5A4-F632-4EC3-8B1EE41AF8C3}"/>
              </a:ext>
            </a:extLst>
          </p:cNvPr>
          <p:cNvSpPr/>
          <p:nvPr/>
        </p:nvSpPr>
        <p:spPr>
          <a:xfrm>
            <a:off x="780532" y="3658894"/>
            <a:ext cx="10096500" cy="9702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3493F7E9-DA64-DC61-9440-2663605A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70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D4B3-E7F7-EE07-41AB-8C789855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170B52-B595-5697-F4EE-C8596D2B9A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FAD44869-8DFC-8C10-F455-0AAE951FF38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BC58AF3-E597-C3DA-02C6-FD40F00DFB48}"/>
              </a:ext>
            </a:extLst>
          </p:cNvPr>
          <p:cNvCxnSpPr>
            <a:cxnSpLocks/>
          </p:cNvCxnSpPr>
          <p:nvPr/>
        </p:nvCxnSpPr>
        <p:spPr>
          <a:xfrm>
            <a:off x="1323975" y="3985260"/>
            <a:ext cx="31197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E327174-DD70-F86A-BB61-EBA5DC13CCA8}"/>
              </a:ext>
            </a:extLst>
          </p:cNvPr>
          <p:cNvCxnSpPr>
            <a:cxnSpLocks/>
          </p:cNvCxnSpPr>
          <p:nvPr/>
        </p:nvCxnSpPr>
        <p:spPr>
          <a:xfrm>
            <a:off x="6438900" y="3985260"/>
            <a:ext cx="19101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0A2307-A4C8-B23C-1065-C468C4F02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4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41C7E6C-02F1-6AB7-1081-CC75A6F0C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749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674A51F-7D72-E97C-26CF-E862A364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033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051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A960-2396-754F-3F3E-CB2F5AF0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9DB1BB-BCA5-58D6-6472-9463C882E4C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7. Convnet Architecture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1002F28-97C3-4A86-005E-FC72E6AFE87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gec2">
            <a:extLst>
              <a:ext uri="{FF2B5EF4-FFF2-40B4-BE49-F238E27FC236}">
                <a16:creationId xmlns:a16="http://schemas.microsoft.com/office/drawing/2014/main" id="{4CDB6F1E-56D0-F136-7924-567A4AB1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2" y="1966913"/>
            <a:ext cx="11022676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073BF5-F6D6-D486-1809-AA7535178558}"/>
              </a:ext>
            </a:extLst>
          </p:cNvPr>
          <p:cNvSpPr txBox="1"/>
          <p:nvPr/>
        </p:nvSpPr>
        <p:spPr>
          <a:xfrm>
            <a:off x="4722471" y="598843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Extraction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2B672-7F6A-5A98-E8DA-C76973E7A82D}"/>
              </a:ext>
            </a:extLst>
          </p:cNvPr>
          <p:cNvSpPr txBox="1"/>
          <p:nvPr/>
        </p:nvSpPr>
        <p:spPr>
          <a:xfrm>
            <a:off x="9508867" y="598843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8908F0-18BD-0C6F-7CCE-198B3BD90D56}"/>
              </a:ext>
            </a:extLst>
          </p:cNvPr>
          <p:cNvSpPr/>
          <p:nvPr/>
        </p:nvSpPr>
        <p:spPr>
          <a:xfrm>
            <a:off x="2558005" y="5845215"/>
            <a:ext cx="6389225" cy="578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B9A5BF-A2CA-19AC-3F41-08ED3F8C21DC}"/>
              </a:ext>
            </a:extLst>
          </p:cNvPr>
          <p:cNvSpPr/>
          <p:nvPr/>
        </p:nvSpPr>
        <p:spPr>
          <a:xfrm>
            <a:off x="9633995" y="5845215"/>
            <a:ext cx="1729775" cy="578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211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5597-2E63-8680-97C9-8A0379C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6F3F87-E80C-B7E8-19A7-5F227D10B3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4A798-1EC4-0DBB-1C3A-3CF3FAAABB8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개념적이고 직관적으로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https://poloclub.github.io/cnn-explainer/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에서 이해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D1AA27-A75B-37EC-B74E-57B16DF7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41763"/>
            <a:ext cx="9553575" cy="4194498"/>
          </a:xfrm>
          <a:prstGeom prst="rect">
            <a:avLst/>
          </a:prstGeom>
        </p:spPr>
      </p:pic>
      <p:pic>
        <p:nvPicPr>
          <p:cNvPr id="5" name="그래픽 4" descr="수영">
            <a:extLst>
              <a:ext uri="{FF2B5EF4-FFF2-40B4-BE49-F238E27FC236}">
                <a16:creationId xmlns:a16="http://schemas.microsoft.com/office/drawing/2014/main" id="{507DF9E5-B11C-216C-B486-139E237DD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B0A7963-1477-E978-4CA4-E380097A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41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F3E9-17FD-3A0B-B2A7-5AC022FA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655E3A-436E-7FA1-6E2C-0AB0170220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15012-CE47-398B-9E49-B3D9E7762105}"/>
              </a:ext>
            </a:extLst>
          </p:cNvPr>
          <p:cNvSpPr txBox="1"/>
          <p:nvPr/>
        </p:nvSpPr>
        <p:spPr>
          <a:xfrm>
            <a:off x="742384" y="2465641"/>
            <a:ext cx="4744016" cy="2815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Kernels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= Filters = Detectors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maps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467638-E365-47D5-7E1C-8CDE78EB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904" y="3162513"/>
            <a:ext cx="6829712" cy="3313058"/>
          </a:xfrm>
          <a:prstGeom prst="rect">
            <a:avLst/>
          </a:prstGeom>
        </p:spPr>
      </p:pic>
      <p:pic>
        <p:nvPicPr>
          <p:cNvPr id="13" name="그래픽 12" descr="물음표">
            <a:extLst>
              <a:ext uri="{FF2B5EF4-FFF2-40B4-BE49-F238E27FC236}">
                <a16:creationId xmlns:a16="http://schemas.microsoft.com/office/drawing/2014/main" id="{59520228-A4BE-0EA9-79F3-5241DA21F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5475" y="2136809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C713F72-6B6E-84D8-95EA-098C3E0B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CE14F-F83A-0296-2670-6861F43BBB2C}"/>
              </a:ext>
            </a:extLst>
          </p:cNvPr>
          <p:cNvSpPr txBox="1"/>
          <p:nvPr/>
        </p:nvSpPr>
        <p:spPr>
          <a:xfrm>
            <a:off x="561975" y="1167608"/>
            <a:ext cx="1106805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이론과 작동방식을 이해하고 전체 공간정보를 지역별 특성정보화 하여 인식하는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구조와 용어를 배우고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실습하기 </a:t>
            </a:r>
          </a:p>
        </p:txBody>
      </p:sp>
    </p:spTree>
    <p:extLst>
      <p:ext uri="{BB962C8B-B14F-4D97-AF65-F5344CB8AC3E}">
        <p14:creationId xmlns:p14="http://schemas.microsoft.com/office/powerpoint/2010/main" val="3110233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5EB9-826C-E844-135A-60A4E4CB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35DC5-A84F-1F2A-25EF-17BD03C50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Data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Augmentation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662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D9C5-51E3-620E-54F4-17FC0E0E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EA8281-6554-6A95-D0E7-BB0092C992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Augmentation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E206009-87A2-7061-F57B-95B8722866B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CC2FA-4835-AD93-69C0-D630FDDA83BD}"/>
              </a:ext>
            </a:extLst>
          </p:cNvPr>
          <p:cNvSpPr txBox="1"/>
          <p:nvPr/>
        </p:nvSpPr>
        <p:spPr>
          <a:xfrm>
            <a:off x="552449" y="1267472"/>
            <a:ext cx="11163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샘플이 너무 적을 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발생하는 근본적인 이유는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데이터의 진짜 원리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핵심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이해하는 대신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특정 샘플의 우연과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그대로 암기해버리기 때문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기존의 훈련 데이터에 무작위 변형을 가해 데이터의 양과 다양성을 인위적으로 늘리는 기법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데이터의 정답 라벨을 바꾸지 않으면서 형태나 색상 등에 다양한 변화를 주어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마치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데이터를 본 것처럼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착각하게 만드는 일종의 학습용 눈속임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 모델 향상 및 비용 절감 등의 효과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37297A-736F-8906-3B1B-BE8FE458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041452"/>
            <a:ext cx="6334125" cy="356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357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5EB9-826C-E844-135A-60A4E4CB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35DC5-A84F-1F2A-25EF-17BD03C50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Pretrained Model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096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B4FE-CAFA-DC9D-27E2-5413454A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1AA1063-3618-B70D-D07B-DD620A96D0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 extraction with a pretrained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881C30D-622E-5F02-CF16-46A0AE190FF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47366C-4892-B75A-83EE-0E9308DA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2218595"/>
            <a:ext cx="6191250" cy="427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E7E2C-4BA2-D3EA-B09B-01AF2D603A0E}"/>
              </a:ext>
            </a:extLst>
          </p:cNvPr>
          <p:cNvSpPr txBox="1"/>
          <p:nvPr/>
        </p:nvSpPr>
        <p:spPr>
          <a:xfrm>
            <a:off x="581024" y="1232897"/>
            <a:ext cx="110585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검증된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Pretrained model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훌륭한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 특징 추출 카메라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 base)’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그대로 얼려두고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(frozen),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맨 위에 내 목적에 맞는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판단 버튼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(New classifier, Dense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새로 달아서 훈련시키는 과정</a:t>
            </a:r>
          </a:p>
        </p:txBody>
      </p:sp>
    </p:spTree>
    <p:extLst>
      <p:ext uri="{BB962C8B-B14F-4D97-AF65-F5344CB8AC3E}">
        <p14:creationId xmlns:p14="http://schemas.microsoft.com/office/powerpoint/2010/main" val="1166397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5EB9-826C-E844-135A-60A4E4CB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35DC5-A84F-1F2A-25EF-17BD03C50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 fontScale="90000"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9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 err="1">
                <a:solidFill>
                  <a:schemeClr val="bg1"/>
                </a:solidFill>
              </a:rPr>
              <a:t>ConvNet</a:t>
            </a:r>
            <a:r>
              <a:rPr lang="en-US" altLang="ko-KR" sz="4400" dirty="0">
                <a:solidFill>
                  <a:schemeClr val="bg1"/>
                </a:solidFill>
              </a:rPr>
              <a:t> architecture patterns</a:t>
            </a:r>
            <a:br>
              <a:rPr lang="en-US" altLang="ko-KR" sz="4400" dirty="0">
                <a:solidFill>
                  <a:schemeClr val="bg1"/>
                </a:solidFill>
              </a:rPr>
            </a:b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ko-KR" altLang="en-US" sz="3600" dirty="0" err="1">
                <a:solidFill>
                  <a:schemeClr val="bg1"/>
                </a:solidFill>
              </a:rPr>
              <a:t>Depthwise</a:t>
            </a:r>
            <a:r>
              <a:rPr lang="ko-KR" altLang="en-US" sz="3600" dirty="0">
                <a:solidFill>
                  <a:schemeClr val="bg1"/>
                </a:solidFill>
              </a:rPr>
              <a:t> </a:t>
            </a:r>
            <a:r>
              <a:rPr lang="ko-KR" altLang="en-US" sz="3600" dirty="0" err="1">
                <a:solidFill>
                  <a:schemeClr val="bg1"/>
                </a:solidFill>
              </a:rPr>
              <a:t>Separable</a:t>
            </a:r>
            <a:r>
              <a:rPr lang="ko-KR" altLang="en-US" sz="3600" dirty="0">
                <a:solidFill>
                  <a:schemeClr val="bg1"/>
                </a:solidFill>
              </a:rPr>
              <a:t> </a:t>
            </a:r>
            <a:r>
              <a:rPr lang="ko-KR" altLang="en-US" sz="3600" dirty="0" err="1">
                <a:solidFill>
                  <a:schemeClr val="bg1"/>
                </a:solidFill>
              </a:rPr>
              <a:t>Convolution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105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8B4B-C519-0507-B5EA-6E264BA5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84DF45-0B41-134B-25EB-DE58166860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10771-E400-FC74-39AE-142EF07DD8C0}"/>
              </a:ext>
            </a:extLst>
          </p:cNvPr>
          <p:cNvSpPr txBox="1"/>
          <p:nvPr/>
        </p:nvSpPr>
        <p:spPr>
          <a:xfrm>
            <a:off x="557070" y="1196787"/>
            <a:ext cx="1115928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 : Image(5,5,3)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filter(3 by 3) 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적용하면 훈련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x 3 x 3 x 5 = 135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(3, 3, 3)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정육면체 필터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원본 이미지의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채널을 한꺼번에 덮으면서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(5, 5)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공간을 훑고 지나가면서 이 필터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각각 전체 공간을 스캔하여 최종적으로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(3, 3, 5)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결과물을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F4B4D9-5AF6-8C19-38E1-1E07EA8D6102}"/>
              </a:ext>
            </a:extLst>
          </p:cNvPr>
          <p:cNvGraphicFramePr>
            <a:graphicFrameLocks noGrp="1"/>
          </p:cNvGraphicFramePr>
          <p:nvPr/>
        </p:nvGraphicFramePr>
        <p:xfrm>
          <a:off x="1889760" y="35981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F6A647-3230-1FEC-3B2B-3431104DA1D1}"/>
              </a:ext>
            </a:extLst>
          </p:cNvPr>
          <p:cNvGraphicFramePr>
            <a:graphicFrameLocks noGrp="1"/>
          </p:cNvGraphicFramePr>
          <p:nvPr/>
        </p:nvGraphicFramePr>
        <p:xfrm>
          <a:off x="2042160" y="37505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251CB82-6C9D-533B-8D05-D5F6526E366B}"/>
              </a:ext>
            </a:extLst>
          </p:cNvPr>
          <p:cNvGraphicFramePr>
            <a:graphicFrameLocks noGrp="1"/>
          </p:cNvGraphicFramePr>
          <p:nvPr/>
        </p:nvGraphicFramePr>
        <p:xfrm>
          <a:off x="2194560" y="390292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C1736A8-0665-C9B6-ED3F-3AEE0572685A}"/>
              </a:ext>
            </a:extLst>
          </p:cNvPr>
          <p:cNvGraphicFramePr>
            <a:graphicFrameLocks noGrp="1"/>
          </p:cNvGraphicFramePr>
          <p:nvPr/>
        </p:nvGraphicFramePr>
        <p:xfrm>
          <a:off x="5052162" y="251989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13AA6C6-AF63-F19B-7A3D-2B7F293030CE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265705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674F403-CDEE-4885-3DE0-5B2D81301F48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280945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5877134-28D6-1E88-C1F9-E524FE8A1953}"/>
              </a:ext>
            </a:extLst>
          </p:cNvPr>
          <p:cNvGraphicFramePr>
            <a:graphicFrameLocks noGrp="1"/>
          </p:cNvGraphicFramePr>
          <p:nvPr/>
        </p:nvGraphicFramePr>
        <p:xfrm>
          <a:off x="5029302" y="421266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FA7BB14-020B-C2DE-D335-D5F0E014F390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434601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AE7141B-B821-CD09-6C3C-D1590859C75E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4498417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30AD545-A0AC-4C87-51EC-0FD3FA6D94C0}"/>
              </a:ext>
            </a:extLst>
          </p:cNvPr>
          <p:cNvGraphicFramePr>
            <a:graphicFrameLocks noGrp="1"/>
          </p:cNvGraphicFramePr>
          <p:nvPr/>
        </p:nvGraphicFramePr>
        <p:xfrm>
          <a:off x="5057191" y="50526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FBFA8F4-9315-CF4D-D2F0-761DEC108AEC}"/>
              </a:ext>
            </a:extLst>
          </p:cNvPr>
          <p:cNvGraphicFramePr>
            <a:graphicFrameLocks noGrp="1"/>
          </p:cNvGraphicFramePr>
          <p:nvPr/>
        </p:nvGraphicFramePr>
        <p:xfrm>
          <a:off x="5209591" y="52050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B38B1CC-C672-2BA1-4B27-2C6DB30F2C75}"/>
              </a:ext>
            </a:extLst>
          </p:cNvPr>
          <p:cNvGraphicFramePr>
            <a:graphicFrameLocks noGrp="1"/>
          </p:cNvGraphicFramePr>
          <p:nvPr/>
        </p:nvGraphicFramePr>
        <p:xfrm>
          <a:off x="5361991" y="5357446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17C7E54-E637-62AB-4490-82B85D2493EE}"/>
              </a:ext>
            </a:extLst>
          </p:cNvPr>
          <p:cNvGraphicFramePr>
            <a:graphicFrameLocks noGrp="1"/>
          </p:cNvGraphicFramePr>
          <p:nvPr/>
        </p:nvGraphicFramePr>
        <p:xfrm>
          <a:off x="5057191" y="59180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BFF2632-CA4E-CFA1-B084-A4558D7C51EF}"/>
              </a:ext>
            </a:extLst>
          </p:cNvPr>
          <p:cNvGraphicFramePr>
            <a:graphicFrameLocks noGrp="1"/>
          </p:cNvGraphicFramePr>
          <p:nvPr/>
        </p:nvGraphicFramePr>
        <p:xfrm>
          <a:off x="5209591" y="60704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00F89C9-95F3-1B1B-DD41-5609673CE9CF}"/>
              </a:ext>
            </a:extLst>
          </p:cNvPr>
          <p:cNvGraphicFramePr>
            <a:graphicFrameLocks noGrp="1"/>
          </p:cNvGraphicFramePr>
          <p:nvPr/>
        </p:nvGraphicFramePr>
        <p:xfrm>
          <a:off x="5361991" y="6222802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23C88FE-28AC-A179-FA3B-F2874F3DE20D}"/>
              </a:ext>
            </a:extLst>
          </p:cNvPr>
          <p:cNvGraphicFramePr>
            <a:graphicFrameLocks noGrp="1"/>
          </p:cNvGraphicFramePr>
          <p:nvPr/>
        </p:nvGraphicFramePr>
        <p:xfrm>
          <a:off x="5044542" y="33982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CDEB74F8-1E3B-4593-A647-5975D7DFCAFB}"/>
              </a:ext>
            </a:extLst>
          </p:cNvPr>
          <p:cNvGraphicFramePr>
            <a:graphicFrameLocks noGrp="1"/>
          </p:cNvGraphicFramePr>
          <p:nvPr/>
        </p:nvGraphicFramePr>
        <p:xfrm>
          <a:off x="5196942" y="35506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C13DF14-E165-0342-956C-E4DBA45D4DF9}"/>
              </a:ext>
            </a:extLst>
          </p:cNvPr>
          <p:cNvGraphicFramePr>
            <a:graphicFrameLocks noGrp="1"/>
          </p:cNvGraphicFramePr>
          <p:nvPr/>
        </p:nvGraphicFramePr>
        <p:xfrm>
          <a:off x="5349342" y="3703030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91808C70-3914-48B0-24E5-47EBD3B45FC6}"/>
              </a:ext>
            </a:extLst>
          </p:cNvPr>
          <p:cNvGraphicFramePr>
            <a:graphicFrameLocks noGrp="1"/>
          </p:cNvGraphicFramePr>
          <p:nvPr/>
        </p:nvGraphicFramePr>
        <p:xfrm>
          <a:off x="8370428" y="37233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523FB5E-56E5-7760-B49A-0A197FF9C4E0}"/>
              </a:ext>
            </a:extLst>
          </p:cNvPr>
          <p:cNvGraphicFramePr>
            <a:graphicFrameLocks noGrp="1"/>
          </p:cNvGraphicFramePr>
          <p:nvPr/>
        </p:nvGraphicFramePr>
        <p:xfrm>
          <a:off x="8522828" y="38757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73307BF9-8F3D-9E99-2A31-FAF24A69D7A9}"/>
              </a:ext>
            </a:extLst>
          </p:cNvPr>
          <p:cNvGraphicFramePr>
            <a:graphicFrameLocks noGrp="1"/>
          </p:cNvGraphicFramePr>
          <p:nvPr/>
        </p:nvGraphicFramePr>
        <p:xfrm>
          <a:off x="8675228" y="40281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4611F3C-3FD9-B7A4-A9CA-024D6E0F99EF}"/>
              </a:ext>
            </a:extLst>
          </p:cNvPr>
          <p:cNvGraphicFramePr>
            <a:graphicFrameLocks noGrp="1"/>
          </p:cNvGraphicFramePr>
          <p:nvPr/>
        </p:nvGraphicFramePr>
        <p:xfrm>
          <a:off x="8827628" y="41805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C0C87D1F-3699-6AAB-B1A0-9DFF94C1B391}"/>
              </a:ext>
            </a:extLst>
          </p:cNvPr>
          <p:cNvGraphicFramePr>
            <a:graphicFrameLocks noGrp="1"/>
          </p:cNvGraphicFramePr>
          <p:nvPr/>
        </p:nvGraphicFramePr>
        <p:xfrm>
          <a:off x="8980028" y="4332913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B8C7ECD-2AA7-E265-C5BA-195771B4EB9E}"/>
              </a:ext>
            </a:extLst>
          </p:cNvPr>
          <p:cNvSpPr txBox="1"/>
          <p:nvPr/>
        </p:nvSpPr>
        <p:spPr>
          <a:xfrm>
            <a:off x="1812960" y="5160147"/>
            <a:ext cx="184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(5,5,3)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DA6E60-43CD-F1F3-1AB6-A99900480325}"/>
              </a:ext>
            </a:extLst>
          </p:cNvPr>
          <p:cNvSpPr txBox="1"/>
          <p:nvPr/>
        </p:nvSpPr>
        <p:spPr>
          <a:xfrm>
            <a:off x="6090922" y="2769239"/>
            <a:ext cx="3693260" cy="7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(3,3,3,5)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135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(3x3x3x5) parameters</a:t>
            </a:r>
            <a:endParaRPr lang="ko-KR" altLang="en-US" sz="1400" dirty="0"/>
          </a:p>
        </p:txBody>
      </p:sp>
      <p:sp>
        <p:nvSpPr>
          <p:cNvPr id="28" name="정육면체 27">
            <a:extLst>
              <a:ext uri="{FF2B5EF4-FFF2-40B4-BE49-F238E27FC236}">
                <a16:creationId xmlns:a16="http://schemas.microsoft.com/office/drawing/2014/main" id="{0F1872E2-2C1B-2A63-F695-4C49330EC152}"/>
              </a:ext>
            </a:extLst>
          </p:cNvPr>
          <p:cNvSpPr/>
          <p:nvPr/>
        </p:nvSpPr>
        <p:spPr>
          <a:xfrm rot="16200000">
            <a:off x="1953534" y="3539274"/>
            <a:ext cx="1202216" cy="1329758"/>
          </a:xfrm>
          <a:prstGeom prst="cub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id="{C3B7A5E6-4C26-05E7-5719-FD25F45807C9}"/>
              </a:ext>
            </a:extLst>
          </p:cNvPr>
          <p:cNvSpPr/>
          <p:nvPr/>
        </p:nvSpPr>
        <p:spPr>
          <a:xfrm rot="16200000">
            <a:off x="8411837" y="3680909"/>
            <a:ext cx="1146443" cy="1234339"/>
          </a:xfrm>
          <a:prstGeom prst="cube">
            <a:avLst>
              <a:gd name="adj" fmla="val 53949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정육면체 41">
            <a:extLst>
              <a:ext uri="{FF2B5EF4-FFF2-40B4-BE49-F238E27FC236}">
                <a16:creationId xmlns:a16="http://schemas.microsoft.com/office/drawing/2014/main" id="{F49EEC5E-A7D2-1041-CA07-486F48A0C2C5}"/>
              </a:ext>
            </a:extLst>
          </p:cNvPr>
          <p:cNvSpPr/>
          <p:nvPr/>
        </p:nvSpPr>
        <p:spPr>
          <a:xfrm rot="16200000">
            <a:off x="5091852" y="2489172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정육면체 42">
            <a:extLst>
              <a:ext uri="{FF2B5EF4-FFF2-40B4-BE49-F238E27FC236}">
                <a16:creationId xmlns:a16="http://schemas.microsoft.com/office/drawing/2014/main" id="{9285C7E5-2F47-448E-D25E-9CA42D1B538A}"/>
              </a:ext>
            </a:extLst>
          </p:cNvPr>
          <p:cNvSpPr/>
          <p:nvPr/>
        </p:nvSpPr>
        <p:spPr>
          <a:xfrm rot="16200000">
            <a:off x="5079201" y="3363568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정육면체 43">
            <a:extLst>
              <a:ext uri="{FF2B5EF4-FFF2-40B4-BE49-F238E27FC236}">
                <a16:creationId xmlns:a16="http://schemas.microsoft.com/office/drawing/2014/main" id="{8D323AE5-6382-55B7-1806-D0563D348500}"/>
              </a:ext>
            </a:extLst>
          </p:cNvPr>
          <p:cNvSpPr/>
          <p:nvPr/>
        </p:nvSpPr>
        <p:spPr>
          <a:xfrm rot="16200000">
            <a:off x="5058283" y="4167030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정육면체 44">
            <a:extLst>
              <a:ext uri="{FF2B5EF4-FFF2-40B4-BE49-F238E27FC236}">
                <a16:creationId xmlns:a16="http://schemas.microsoft.com/office/drawing/2014/main" id="{6AF2921A-43FC-0BE7-E36B-398D6FA08028}"/>
              </a:ext>
            </a:extLst>
          </p:cNvPr>
          <p:cNvSpPr/>
          <p:nvPr/>
        </p:nvSpPr>
        <p:spPr>
          <a:xfrm rot="16200000">
            <a:off x="5091852" y="5019778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정육면체 45">
            <a:extLst>
              <a:ext uri="{FF2B5EF4-FFF2-40B4-BE49-F238E27FC236}">
                <a16:creationId xmlns:a16="http://schemas.microsoft.com/office/drawing/2014/main" id="{FC690417-52A5-D786-D58E-408E75730B59}"/>
              </a:ext>
            </a:extLst>
          </p:cNvPr>
          <p:cNvSpPr/>
          <p:nvPr/>
        </p:nvSpPr>
        <p:spPr>
          <a:xfrm rot="16200000">
            <a:off x="5079201" y="5886280"/>
            <a:ext cx="646856" cy="716178"/>
          </a:xfrm>
          <a:prstGeom prst="cube">
            <a:avLst>
              <a:gd name="adj" fmla="val 4421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957A28-F6C4-AC8D-D1F0-330E826F0FE8}"/>
              </a:ext>
            </a:extLst>
          </p:cNvPr>
          <p:cNvSpPr txBox="1"/>
          <p:nvPr/>
        </p:nvSpPr>
        <p:spPr>
          <a:xfrm>
            <a:off x="8266237" y="5111305"/>
            <a:ext cx="184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(3,3,5)</a:t>
            </a:r>
            <a:endParaRPr lang="ko-KR" altLang="en-US" sz="1400" dirty="0"/>
          </a:p>
        </p:txBody>
      </p:sp>
      <p:sp>
        <p:nvSpPr>
          <p:cNvPr id="48" name="왼쪽 중괄호 47">
            <a:extLst>
              <a:ext uri="{FF2B5EF4-FFF2-40B4-BE49-F238E27FC236}">
                <a16:creationId xmlns:a16="http://schemas.microsoft.com/office/drawing/2014/main" id="{9BFF6F84-7CDF-81D0-F06F-BAFD10188768}"/>
              </a:ext>
            </a:extLst>
          </p:cNvPr>
          <p:cNvSpPr/>
          <p:nvPr/>
        </p:nvSpPr>
        <p:spPr>
          <a:xfrm>
            <a:off x="4295191" y="2694380"/>
            <a:ext cx="444447" cy="3483977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8F527B3-3562-15B1-BC7C-39C5751EE2B1}"/>
              </a:ext>
            </a:extLst>
          </p:cNvPr>
          <p:cNvCxnSpPr>
            <a:cxnSpLocks/>
          </p:cNvCxnSpPr>
          <p:nvPr/>
        </p:nvCxnSpPr>
        <p:spPr>
          <a:xfrm>
            <a:off x="6372225" y="4114381"/>
            <a:ext cx="1674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슬라이드 번호 개체 틀 3">
            <a:extLst>
              <a:ext uri="{FF2B5EF4-FFF2-40B4-BE49-F238E27FC236}">
                <a16:creationId xmlns:a16="http://schemas.microsoft.com/office/drawing/2014/main" id="{51054E1D-0F8A-C331-66EF-09C717A470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340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D9C2-2B10-C67E-4C52-89CE9E80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346244-2271-477F-8C69-0CAFAB7F910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Model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3F527-5334-DD51-872D-A827A058477E}"/>
              </a:ext>
            </a:extLst>
          </p:cNvPr>
          <p:cNvSpPr txBox="1"/>
          <p:nvPr/>
        </p:nvSpPr>
        <p:spPr>
          <a:xfrm>
            <a:off x="634858" y="1179897"/>
            <a:ext cx="11159285" cy="135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입력이미지를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공간과 채널 정보를 분리하여 각 채널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별로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공간합성곱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(Spatial convolution)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수행하고 그 다음은 점별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(Pointwise convolution, 1 by 1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적용하여 출력 채널들을 한데 섞어서 순차적으로 학습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연산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각 채널별로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27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(3x3x3)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파라미터를 훈련하고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연산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(1x1x3x5) filter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총 파라미터는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42(27+15)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개로 줄어들게 되어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알고리즘이 빨라지게 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A7A1B59-5A80-D95B-D07E-61D1F61A668F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3408040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E5E834-DC77-800C-7F35-110577DBB6A2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4406207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AA73265-A871-7646-C5C2-9C2C0B051FC9}"/>
              </a:ext>
            </a:extLst>
          </p:cNvPr>
          <p:cNvGraphicFramePr>
            <a:graphicFrameLocks noGrp="1"/>
          </p:cNvGraphicFramePr>
          <p:nvPr/>
        </p:nvGraphicFramePr>
        <p:xfrm>
          <a:off x="1260510" y="5391101"/>
          <a:ext cx="1024960" cy="90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92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4124623803"/>
                    </a:ext>
                  </a:extLst>
                </a:gridCol>
                <a:gridCol w="204992">
                  <a:extLst>
                    <a:ext uri="{9D8B030D-6E8A-4147-A177-3AD203B41FA5}">
                      <a16:colId xmlns:a16="http://schemas.microsoft.com/office/drawing/2014/main" val="3911308100"/>
                    </a:ext>
                  </a:extLst>
                </a:gridCol>
              </a:tblGrid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1863"/>
                  </a:ext>
                </a:extLst>
              </a:tr>
              <a:tr h="175638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308" marR="43308" marT="21654" marB="21654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5525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B9EEC37-53CB-F7D2-8FE9-349AD7DC87DB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3509504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2FEC53A-A7A9-9CCE-C050-98C347E84DA5}"/>
              </a:ext>
            </a:extLst>
          </p:cNvPr>
          <p:cNvGraphicFramePr>
            <a:graphicFrameLocks noGrp="1"/>
          </p:cNvGraphicFramePr>
          <p:nvPr/>
        </p:nvGraphicFramePr>
        <p:xfrm>
          <a:off x="5444349" y="436502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8C78EA3E-25FC-0BEE-407E-2FE0728C5715}"/>
              </a:ext>
            </a:extLst>
          </p:cNvPr>
          <p:cNvGraphicFramePr>
            <a:graphicFrameLocks noGrp="1"/>
          </p:cNvGraphicFramePr>
          <p:nvPr/>
        </p:nvGraphicFramePr>
        <p:xfrm>
          <a:off x="5596749" y="451742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534C9330-9A2A-8D89-8999-10A0F7A620C4}"/>
              </a:ext>
            </a:extLst>
          </p:cNvPr>
          <p:cNvGraphicFramePr>
            <a:graphicFrameLocks noGrp="1"/>
          </p:cNvGraphicFramePr>
          <p:nvPr/>
        </p:nvGraphicFramePr>
        <p:xfrm>
          <a:off x="5749149" y="4669824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B4A544A-228B-F6D7-9396-1D1E60F54098}"/>
              </a:ext>
            </a:extLst>
          </p:cNvPr>
          <p:cNvSpPr txBox="1"/>
          <p:nvPr/>
        </p:nvSpPr>
        <p:spPr>
          <a:xfrm>
            <a:off x="689077" y="3058986"/>
            <a:ext cx="1875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(5,5,3)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8CE59D-0C25-EA92-A91E-EC957FE9D8DD}"/>
              </a:ext>
            </a:extLst>
          </p:cNvPr>
          <p:cNvSpPr txBox="1"/>
          <p:nvPr/>
        </p:nvSpPr>
        <p:spPr>
          <a:xfrm>
            <a:off x="3037559" y="6268303"/>
            <a:ext cx="16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(3,3,3)</a:t>
            </a:r>
            <a:endParaRPr lang="ko-KR" altLang="en-US" sz="1400" dirty="0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id="{BFBE9425-9215-9CF5-204E-9D67DA63F3B6}"/>
              </a:ext>
            </a:extLst>
          </p:cNvPr>
          <p:cNvSpPr/>
          <p:nvPr/>
        </p:nvSpPr>
        <p:spPr>
          <a:xfrm rot="16200000">
            <a:off x="5502695" y="4342098"/>
            <a:ext cx="833769" cy="908618"/>
          </a:xfrm>
          <a:prstGeom prst="cube">
            <a:avLst>
              <a:gd name="adj" fmla="val 35703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236A6C1-6266-471C-2336-8BAA0412ABC3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474076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1AF175A-0EDE-0D6E-2173-8B9A2336C407}"/>
              </a:ext>
            </a:extLst>
          </p:cNvPr>
          <p:cNvGraphicFramePr>
            <a:graphicFrameLocks noGrp="1"/>
          </p:cNvGraphicFramePr>
          <p:nvPr/>
        </p:nvGraphicFramePr>
        <p:xfrm>
          <a:off x="3865982" y="5848209"/>
          <a:ext cx="411378" cy="361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13712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19288"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dirty="0"/>
                    </a:p>
                  </a:txBody>
                  <a:tcPr marL="28970" marR="28970" marT="14485" marB="1448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667B256-9D9F-E9EB-847A-17684D2AB37D}"/>
              </a:ext>
            </a:extLst>
          </p:cNvPr>
          <p:cNvSpPr txBox="1"/>
          <p:nvPr/>
        </p:nvSpPr>
        <p:spPr>
          <a:xfrm>
            <a:off x="8213761" y="6262738"/>
            <a:ext cx="16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(1,1,3,5)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25297F-7077-F3BE-EAA4-D11B5B963801}"/>
              </a:ext>
            </a:extLst>
          </p:cNvPr>
          <p:cNvSpPr txBox="1"/>
          <p:nvPr/>
        </p:nvSpPr>
        <p:spPr>
          <a:xfrm>
            <a:off x="2580746" y="3094374"/>
            <a:ext cx="424995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공간연산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(Spatial Conv)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89A431-D795-CD24-5970-C9800A8C6B29}"/>
              </a:ext>
            </a:extLst>
          </p:cNvPr>
          <p:cNvSpPr txBox="1"/>
          <p:nvPr/>
        </p:nvSpPr>
        <p:spPr>
          <a:xfrm>
            <a:off x="6965103" y="3095568"/>
            <a:ext cx="4213266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채널연산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(Pointwise Conv)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449DAAC-AFA5-01B2-5F1A-0DCBCED84DF5}"/>
              </a:ext>
            </a:extLst>
          </p:cNvPr>
          <p:cNvSpPr/>
          <p:nvPr/>
        </p:nvSpPr>
        <p:spPr>
          <a:xfrm>
            <a:off x="7581720" y="343861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1E7DE53-1C74-C9A1-6386-C28388F36396}"/>
              </a:ext>
            </a:extLst>
          </p:cNvPr>
          <p:cNvSpPr/>
          <p:nvPr/>
        </p:nvSpPr>
        <p:spPr>
          <a:xfrm>
            <a:off x="7581720" y="403647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1AA2C26-C82D-AF46-C951-4ECC0C5EC9B0}"/>
              </a:ext>
            </a:extLst>
          </p:cNvPr>
          <p:cNvSpPr/>
          <p:nvPr/>
        </p:nvSpPr>
        <p:spPr>
          <a:xfrm>
            <a:off x="7734120" y="359101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E45A4E3-0CDB-E79B-D6A4-AB5901ADDA7A}"/>
              </a:ext>
            </a:extLst>
          </p:cNvPr>
          <p:cNvSpPr/>
          <p:nvPr/>
        </p:nvSpPr>
        <p:spPr>
          <a:xfrm>
            <a:off x="7886520" y="3743417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8B71F82-8006-4B31-BBD7-B1564375EE55}"/>
              </a:ext>
            </a:extLst>
          </p:cNvPr>
          <p:cNvSpPr/>
          <p:nvPr/>
        </p:nvSpPr>
        <p:spPr>
          <a:xfrm>
            <a:off x="7734120" y="418887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0B8889B-F01C-BA39-2E5B-B39C4BBF9748}"/>
              </a:ext>
            </a:extLst>
          </p:cNvPr>
          <p:cNvSpPr/>
          <p:nvPr/>
        </p:nvSpPr>
        <p:spPr>
          <a:xfrm>
            <a:off x="7886520" y="4341279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5A74F19-3A2E-7F46-F04B-410CE260051B}"/>
              </a:ext>
            </a:extLst>
          </p:cNvPr>
          <p:cNvSpPr/>
          <p:nvPr/>
        </p:nvSpPr>
        <p:spPr>
          <a:xfrm>
            <a:off x="7581720" y="474182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0355186-3363-B535-64FE-CF545E52A8EA}"/>
              </a:ext>
            </a:extLst>
          </p:cNvPr>
          <p:cNvSpPr/>
          <p:nvPr/>
        </p:nvSpPr>
        <p:spPr>
          <a:xfrm>
            <a:off x="7734120" y="489422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5285FA2-95CE-10F9-BEE0-75D1F712146A}"/>
              </a:ext>
            </a:extLst>
          </p:cNvPr>
          <p:cNvSpPr/>
          <p:nvPr/>
        </p:nvSpPr>
        <p:spPr>
          <a:xfrm>
            <a:off x="7886520" y="5046621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73917E-1475-D978-B9C2-62BAF829F829}"/>
              </a:ext>
            </a:extLst>
          </p:cNvPr>
          <p:cNvSpPr/>
          <p:nvPr/>
        </p:nvSpPr>
        <p:spPr>
          <a:xfrm>
            <a:off x="7581720" y="532975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5973FB8-BCC2-24A0-C7DC-7BEF6D64ED9C}"/>
              </a:ext>
            </a:extLst>
          </p:cNvPr>
          <p:cNvSpPr/>
          <p:nvPr/>
        </p:nvSpPr>
        <p:spPr>
          <a:xfrm>
            <a:off x="7734120" y="548215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8C068A7-7E13-8669-EB60-8F9AA0615DA4}"/>
              </a:ext>
            </a:extLst>
          </p:cNvPr>
          <p:cNvSpPr/>
          <p:nvPr/>
        </p:nvSpPr>
        <p:spPr>
          <a:xfrm>
            <a:off x="7886520" y="5634556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379F637-BDCA-B925-600C-FB305B07B609}"/>
              </a:ext>
            </a:extLst>
          </p:cNvPr>
          <p:cNvSpPr/>
          <p:nvPr/>
        </p:nvSpPr>
        <p:spPr>
          <a:xfrm>
            <a:off x="7593100" y="596350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1206BE9-3CD3-3BFD-4CAA-B788EB611948}"/>
              </a:ext>
            </a:extLst>
          </p:cNvPr>
          <p:cNvSpPr/>
          <p:nvPr/>
        </p:nvSpPr>
        <p:spPr>
          <a:xfrm>
            <a:off x="7745500" y="611590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2B64798-0B2D-1F0C-344D-70D35952D832}"/>
              </a:ext>
            </a:extLst>
          </p:cNvPr>
          <p:cNvSpPr/>
          <p:nvPr/>
        </p:nvSpPr>
        <p:spPr>
          <a:xfrm>
            <a:off x="7897900" y="6268303"/>
            <a:ext cx="259440" cy="208847"/>
          </a:xfrm>
          <a:prstGeom prst="rect">
            <a:avLst/>
          </a:prstGeom>
          <a:solidFill>
            <a:schemeClr val="tx1"/>
          </a:solidFill>
          <a:ln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정육면체 60">
            <a:extLst>
              <a:ext uri="{FF2B5EF4-FFF2-40B4-BE49-F238E27FC236}">
                <a16:creationId xmlns:a16="http://schemas.microsoft.com/office/drawing/2014/main" id="{5EA27451-A678-14B9-8DC4-46C06B34F066}"/>
              </a:ext>
            </a:extLst>
          </p:cNvPr>
          <p:cNvSpPr/>
          <p:nvPr/>
        </p:nvSpPr>
        <p:spPr>
          <a:xfrm rot="16200000">
            <a:off x="7607743" y="3412593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정육면체 61">
            <a:extLst>
              <a:ext uri="{FF2B5EF4-FFF2-40B4-BE49-F238E27FC236}">
                <a16:creationId xmlns:a16="http://schemas.microsoft.com/office/drawing/2014/main" id="{183C10D6-7AF8-17FB-7916-EB7E58D36DDC}"/>
              </a:ext>
            </a:extLst>
          </p:cNvPr>
          <p:cNvSpPr/>
          <p:nvPr/>
        </p:nvSpPr>
        <p:spPr>
          <a:xfrm rot="16200000">
            <a:off x="7607743" y="4003736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정육면체 62">
            <a:extLst>
              <a:ext uri="{FF2B5EF4-FFF2-40B4-BE49-F238E27FC236}">
                <a16:creationId xmlns:a16="http://schemas.microsoft.com/office/drawing/2014/main" id="{C8080B5D-1293-669E-3C99-7231434C30FA}"/>
              </a:ext>
            </a:extLst>
          </p:cNvPr>
          <p:cNvSpPr/>
          <p:nvPr/>
        </p:nvSpPr>
        <p:spPr>
          <a:xfrm rot="16200000">
            <a:off x="7605888" y="4717669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정육면체 63">
            <a:extLst>
              <a:ext uri="{FF2B5EF4-FFF2-40B4-BE49-F238E27FC236}">
                <a16:creationId xmlns:a16="http://schemas.microsoft.com/office/drawing/2014/main" id="{3626E896-4DB5-9668-6A80-A184BD5BD7FE}"/>
              </a:ext>
            </a:extLst>
          </p:cNvPr>
          <p:cNvSpPr/>
          <p:nvPr/>
        </p:nvSpPr>
        <p:spPr>
          <a:xfrm rot="16200000">
            <a:off x="7607743" y="5307915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정육면체 64">
            <a:extLst>
              <a:ext uri="{FF2B5EF4-FFF2-40B4-BE49-F238E27FC236}">
                <a16:creationId xmlns:a16="http://schemas.microsoft.com/office/drawing/2014/main" id="{680C2271-6422-E27B-CF59-9BE640ACC3E5}"/>
              </a:ext>
            </a:extLst>
          </p:cNvPr>
          <p:cNvSpPr/>
          <p:nvPr/>
        </p:nvSpPr>
        <p:spPr>
          <a:xfrm rot="16200000">
            <a:off x="7615413" y="5937077"/>
            <a:ext cx="523575" cy="575620"/>
          </a:xfrm>
          <a:prstGeom prst="cube">
            <a:avLst>
              <a:gd name="adj" fmla="val 6240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55A22C33-7C43-9BDF-C894-4D44B17C607C}"/>
              </a:ext>
            </a:extLst>
          </p:cNvPr>
          <p:cNvGraphicFramePr>
            <a:graphicFrameLocks noGrp="1"/>
          </p:cNvGraphicFramePr>
          <p:nvPr/>
        </p:nvGraphicFramePr>
        <p:xfrm>
          <a:off x="9132428" y="42141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EC556ED6-2CC8-EA5C-0596-072FA51FD963}"/>
              </a:ext>
            </a:extLst>
          </p:cNvPr>
          <p:cNvGraphicFramePr>
            <a:graphicFrameLocks noGrp="1"/>
          </p:cNvGraphicFramePr>
          <p:nvPr/>
        </p:nvGraphicFramePr>
        <p:xfrm>
          <a:off x="9284828" y="43665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FE65A489-D8E4-7A9F-29E2-DA6931F0BEC4}"/>
              </a:ext>
            </a:extLst>
          </p:cNvPr>
          <p:cNvGraphicFramePr>
            <a:graphicFrameLocks noGrp="1"/>
          </p:cNvGraphicFramePr>
          <p:nvPr/>
        </p:nvGraphicFramePr>
        <p:xfrm>
          <a:off x="9437228" y="45189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D5E32E99-03B3-44AB-FFF6-42DBC4C32BD1}"/>
              </a:ext>
            </a:extLst>
          </p:cNvPr>
          <p:cNvGraphicFramePr>
            <a:graphicFrameLocks noGrp="1"/>
          </p:cNvGraphicFramePr>
          <p:nvPr/>
        </p:nvGraphicFramePr>
        <p:xfrm>
          <a:off x="9589628" y="46713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C91BB75F-F2AC-87BF-872D-5EFE1E419699}"/>
              </a:ext>
            </a:extLst>
          </p:cNvPr>
          <p:cNvGraphicFramePr>
            <a:graphicFrameLocks noGrp="1"/>
          </p:cNvGraphicFramePr>
          <p:nvPr/>
        </p:nvGraphicFramePr>
        <p:xfrm>
          <a:off x="9742028" y="48237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FC72E352-F35F-FB48-462F-73E98971B9CE}"/>
              </a:ext>
            </a:extLst>
          </p:cNvPr>
          <p:cNvGraphicFramePr>
            <a:graphicFrameLocks noGrp="1"/>
          </p:cNvGraphicFramePr>
          <p:nvPr/>
        </p:nvGraphicFramePr>
        <p:xfrm>
          <a:off x="9894428" y="4976168"/>
          <a:ext cx="624738" cy="54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46">
                  <a:extLst>
                    <a:ext uri="{9D8B030D-6E8A-4147-A177-3AD203B41FA5}">
                      <a16:colId xmlns:a16="http://schemas.microsoft.com/office/drawing/2014/main" val="1018376836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3098437213"/>
                    </a:ext>
                  </a:extLst>
                </a:gridCol>
                <a:gridCol w="208246">
                  <a:extLst>
                    <a:ext uri="{9D8B030D-6E8A-4147-A177-3AD203B41FA5}">
                      <a16:colId xmlns:a16="http://schemas.microsoft.com/office/drawing/2014/main" val="4027510576"/>
                    </a:ext>
                  </a:extLst>
                </a:gridCol>
              </a:tblGrid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648344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85315"/>
                  </a:ext>
                </a:extLst>
              </a:tr>
              <a:tr h="178427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3995" marR="43995" marT="21998" marB="21998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15421"/>
                  </a:ext>
                </a:extLst>
              </a:tr>
            </a:tbl>
          </a:graphicData>
        </a:graphic>
      </p:graphicFrame>
      <p:sp>
        <p:nvSpPr>
          <p:cNvPr id="76" name="정육면체 75">
            <a:extLst>
              <a:ext uri="{FF2B5EF4-FFF2-40B4-BE49-F238E27FC236}">
                <a16:creationId xmlns:a16="http://schemas.microsoft.com/office/drawing/2014/main" id="{25AB3136-EF86-BF76-DA44-C40924622313}"/>
              </a:ext>
            </a:extLst>
          </p:cNvPr>
          <p:cNvSpPr/>
          <p:nvPr/>
        </p:nvSpPr>
        <p:spPr>
          <a:xfrm rot="16200000">
            <a:off x="9199139" y="4182875"/>
            <a:ext cx="1274236" cy="1365817"/>
          </a:xfrm>
          <a:prstGeom prst="cube">
            <a:avLst>
              <a:gd name="adj" fmla="val 5711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7F4554-B7F7-C26E-8763-368488890A47}"/>
              </a:ext>
            </a:extLst>
          </p:cNvPr>
          <p:cNvSpPr txBox="1"/>
          <p:nvPr/>
        </p:nvSpPr>
        <p:spPr>
          <a:xfrm>
            <a:off x="5077794" y="5686894"/>
            <a:ext cx="184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(3,3,3)</a:t>
            </a:r>
            <a:endParaRPr lang="ko-KR" altLang="en-US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7CCB33-38B8-5DE4-4F34-5CDCA6D1ED9B}"/>
              </a:ext>
            </a:extLst>
          </p:cNvPr>
          <p:cNvSpPr txBox="1"/>
          <p:nvPr/>
        </p:nvSpPr>
        <p:spPr>
          <a:xfrm>
            <a:off x="9333729" y="5677244"/>
            <a:ext cx="1844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(3,3,5)</a:t>
            </a:r>
            <a:endParaRPr lang="ko-KR" altLang="en-US" sz="1400" dirty="0"/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A8115B72-4CDD-D0F7-70A3-B99E58E32478}"/>
              </a:ext>
            </a:extLst>
          </p:cNvPr>
          <p:cNvSpPr/>
          <p:nvPr/>
        </p:nvSpPr>
        <p:spPr>
          <a:xfrm>
            <a:off x="3470331" y="3714139"/>
            <a:ext cx="222365" cy="2426244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왼쪽 중괄호 80">
            <a:extLst>
              <a:ext uri="{FF2B5EF4-FFF2-40B4-BE49-F238E27FC236}">
                <a16:creationId xmlns:a16="http://schemas.microsoft.com/office/drawing/2014/main" id="{EBE66D52-71BF-1651-B318-17A70B93B533}"/>
              </a:ext>
            </a:extLst>
          </p:cNvPr>
          <p:cNvSpPr/>
          <p:nvPr/>
        </p:nvSpPr>
        <p:spPr>
          <a:xfrm>
            <a:off x="7128001" y="3525835"/>
            <a:ext cx="243249" cy="2654143"/>
          </a:xfrm>
          <a:prstGeom prst="leftBrace">
            <a:avLst>
              <a:gd name="adj1" fmla="val 72626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B316EF6-07F7-FA9B-3711-06E954824385}"/>
              </a:ext>
            </a:extLst>
          </p:cNvPr>
          <p:cNvCxnSpPr/>
          <p:nvPr/>
        </p:nvCxnSpPr>
        <p:spPr>
          <a:xfrm>
            <a:off x="4657725" y="4656096"/>
            <a:ext cx="420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5D67382-238B-BB8F-181A-49160B7438F0}"/>
              </a:ext>
            </a:extLst>
          </p:cNvPr>
          <p:cNvCxnSpPr/>
          <p:nvPr/>
        </p:nvCxnSpPr>
        <p:spPr>
          <a:xfrm>
            <a:off x="8520983" y="4639862"/>
            <a:ext cx="420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C4F756A-8E8B-E355-2941-23B423F10AEB}"/>
              </a:ext>
            </a:extLst>
          </p:cNvPr>
          <p:cNvSpPr txBox="1"/>
          <p:nvPr/>
        </p:nvSpPr>
        <p:spPr>
          <a:xfrm>
            <a:off x="2580745" y="2687671"/>
            <a:ext cx="8612349" cy="3077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깊이별 분리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C979E19-EA24-93DB-B92F-09B56A23998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5817DD-B353-120D-570F-0BB060907562}"/>
              </a:ext>
            </a:extLst>
          </p:cNvPr>
          <p:cNvSpPr/>
          <p:nvPr/>
        </p:nvSpPr>
        <p:spPr>
          <a:xfrm>
            <a:off x="2580746" y="3094375"/>
            <a:ext cx="4238974" cy="348346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9D773-1220-9B12-D8C6-C8325FB36AF6}"/>
              </a:ext>
            </a:extLst>
          </p:cNvPr>
          <p:cNvSpPr/>
          <p:nvPr/>
        </p:nvSpPr>
        <p:spPr>
          <a:xfrm>
            <a:off x="6954121" y="3094374"/>
            <a:ext cx="4238974" cy="347614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678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15DAD-A64F-546F-75A9-04E8D550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94C7910-1ADA-E7A7-3E09-2DE659158B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AutoShape 3" descr="The impact of using the gradient clipping technique in the training stage.">
            <a:extLst>
              <a:ext uri="{FF2B5EF4-FFF2-40B4-BE49-F238E27FC236}">
                <a16:creationId xmlns:a16="http://schemas.microsoft.com/office/drawing/2014/main" id="{C2739D60-97DE-50F9-F9C2-37740D7121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813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D0BAB-7461-6210-3594-6D8AF5C01130}"/>
              </a:ext>
            </a:extLst>
          </p:cNvPr>
          <p:cNvSpPr txBox="1"/>
          <p:nvPr/>
        </p:nvSpPr>
        <p:spPr>
          <a:xfrm>
            <a:off x="581025" y="1204878"/>
            <a:ext cx="111353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spcAft>
                <a:spcPts val="2400"/>
              </a:spcAft>
            </a:pPr>
            <a:r>
              <a:rPr lang="en-US" altLang="ko-KR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b="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사용하는 </a:t>
            </a:r>
            <a:r>
              <a:rPr lang="en-US" altLang="ko-KR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여러 개로 </a:t>
            </a:r>
            <a:r>
              <a:rPr lang="ko-KR" altLang="en-US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쌓여있는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구조라면 기존의 </a:t>
            </a:r>
            <a:r>
              <a:rPr lang="en-US" altLang="ko-KR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Fully connected layer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이용했을 때 보다 </a:t>
            </a:r>
            <a:r>
              <a:rPr lang="ko-KR" altLang="en-US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연산량이</a:t>
            </a:r>
            <a:r>
              <a:rPr lang="ko-KR" altLang="en-US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훨씬 적음</a:t>
            </a:r>
            <a:endParaRPr lang="en-US" altLang="ko-KR" dirty="0">
              <a:solidFill>
                <a:srgbClr val="55555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D10FCB2-41B8-DBEE-F9E3-A2499D5D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33" y="2381070"/>
            <a:ext cx="6999874" cy="32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036AF0-914D-EF27-3B74-291886AA744F}"/>
              </a:ext>
            </a:extLst>
          </p:cNvPr>
          <p:cNvSpPr txBox="1"/>
          <p:nvPr/>
        </p:nvSpPr>
        <p:spPr>
          <a:xfrm>
            <a:off x="2141533" y="5647678"/>
            <a:ext cx="337366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1">
              <a:spcAft>
                <a:spcPts val="2400"/>
              </a:spcAft>
            </a:pPr>
            <a:r>
              <a:rPr lang="en-US" altLang="ko-KR" sz="1200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flatten 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해준 후 가중치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 w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하나하나 곱해져서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FC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전달되는 구조로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이때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모든 값 하나하나가 다른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가지므로 학습 파라미터 수가 많음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8F9DE-C90F-B02B-7E4C-B4BF7994E889}"/>
              </a:ext>
            </a:extLst>
          </p:cNvPr>
          <p:cNvSpPr txBox="1"/>
          <p:nvPr/>
        </p:nvSpPr>
        <p:spPr>
          <a:xfrm>
            <a:off x="6010275" y="5647677"/>
            <a:ext cx="313113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1">
              <a:spcAft>
                <a:spcPts val="2400"/>
              </a:spcAft>
            </a:pP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이용하여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Feature map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값과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1x1 convolution layer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각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값 하나하나가 곱해져 새로운 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r>
              <a:rPr lang="ko-KR" altLang="en-US" sz="1200" dirty="0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　만들면</a:t>
            </a:r>
            <a:r>
              <a:rPr lang="en-US" altLang="ko-KR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200" i="0" dirty="0">
                <a:solidFill>
                  <a:srgbClr val="5555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결과적으로는 연산과 차원이 훨씬 </a:t>
            </a:r>
            <a:r>
              <a:rPr lang="ko-KR" altLang="en-US" sz="1200" dirty="0" err="1">
                <a:solidFill>
                  <a:srgbClr val="55555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적어짐</a:t>
            </a:r>
            <a:endParaRPr lang="en-US" altLang="ko-KR" sz="1200" dirty="0">
              <a:solidFill>
                <a:srgbClr val="55555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06EAAA9-4F3F-3FF5-D258-E08E891D64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8FFF0-EAC1-74AA-1CD1-5317395D3361}"/>
              </a:ext>
            </a:extLst>
          </p:cNvPr>
          <p:cNvSpPr txBox="1"/>
          <p:nvPr/>
        </p:nvSpPr>
        <p:spPr>
          <a:xfrm>
            <a:off x="981075" y="3686175"/>
            <a:ext cx="1583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245=(7x7x5)</a:t>
            </a:r>
            <a:endParaRPr lang="ko-KR" altLang="en-US" sz="1600" dirty="0"/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0EF72643-AAD7-06AB-BB1D-EB63D0B7A98A}"/>
              </a:ext>
            </a:extLst>
          </p:cNvPr>
          <p:cNvSpPr/>
          <p:nvPr/>
        </p:nvSpPr>
        <p:spPr>
          <a:xfrm>
            <a:off x="9415763" y="2571382"/>
            <a:ext cx="2598430" cy="1307610"/>
          </a:xfrm>
          <a:prstGeom prst="borderCallout2">
            <a:avLst>
              <a:gd name="adj1" fmla="val 98941"/>
              <a:gd name="adj2" fmla="val 49279"/>
              <a:gd name="adj3" fmla="val 136027"/>
              <a:gd name="adj4" fmla="val 61045"/>
              <a:gd name="adj5" fmla="val 184668"/>
              <a:gd name="adj6" fmla="val 59256"/>
            </a:avLst>
          </a:prstGeom>
          <a:solidFill>
            <a:schemeClr val="tx1"/>
          </a:solidFill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ex) Fully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connected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같이 입력채널이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D=5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endParaRPr lang="en-US" altLang="ko-KR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(W,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H,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D)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(7,7,5)</a:t>
            </a:r>
          </a:p>
          <a:p>
            <a:endParaRPr lang="en-US" altLang="ko-KR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convnet : 5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별로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bias 1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(1x1x5 + 1)*5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계산하면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30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 훈련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60751D-3D75-5569-FD5E-2EF81AC9C842}"/>
              </a:ext>
            </a:extLst>
          </p:cNvPr>
          <p:cNvSpPr txBox="1"/>
          <p:nvPr/>
        </p:nvSpPr>
        <p:spPr>
          <a:xfrm>
            <a:off x="9688204" y="4726809"/>
            <a:ext cx="812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(1,1,5)</a:t>
            </a:r>
            <a:endParaRPr lang="ko-KR" altLang="en-US" sz="1400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2F94D5C-DC24-9473-95BB-3AD8B7BC792F}"/>
              </a:ext>
            </a:extLst>
          </p:cNvPr>
          <p:cNvGrpSpPr/>
          <p:nvPr/>
        </p:nvGrpSpPr>
        <p:grpSpPr>
          <a:xfrm>
            <a:off x="10385992" y="4879028"/>
            <a:ext cx="886830" cy="869262"/>
            <a:chOff x="10293931" y="4130576"/>
            <a:chExt cx="1181101" cy="1157704"/>
          </a:xfrm>
        </p:grpSpPr>
        <p:sp>
          <p:nvSpPr>
            <p:cNvPr id="19" name="정육면체 18">
              <a:extLst>
                <a:ext uri="{FF2B5EF4-FFF2-40B4-BE49-F238E27FC236}">
                  <a16:creationId xmlns:a16="http://schemas.microsoft.com/office/drawing/2014/main" id="{9D7C6AE8-64C2-AADD-F455-D4CC0C824A8D}"/>
                </a:ext>
              </a:extLst>
            </p:cNvPr>
            <p:cNvSpPr/>
            <p:nvPr/>
          </p:nvSpPr>
          <p:spPr>
            <a:xfrm>
              <a:off x="10293931" y="41305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정육면체 21">
              <a:extLst>
                <a:ext uri="{FF2B5EF4-FFF2-40B4-BE49-F238E27FC236}">
                  <a16:creationId xmlns:a16="http://schemas.microsoft.com/office/drawing/2014/main" id="{EFA8C4B4-89D5-2969-D47E-61E0DFCF30F3}"/>
                </a:ext>
              </a:extLst>
            </p:cNvPr>
            <p:cNvSpPr/>
            <p:nvPr/>
          </p:nvSpPr>
          <p:spPr>
            <a:xfrm>
              <a:off x="10446331" y="42829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정육면체 22">
              <a:extLst>
                <a:ext uri="{FF2B5EF4-FFF2-40B4-BE49-F238E27FC236}">
                  <a16:creationId xmlns:a16="http://schemas.microsoft.com/office/drawing/2014/main" id="{28DA0519-6ED4-1235-2E3F-85DFFD140A68}"/>
                </a:ext>
              </a:extLst>
            </p:cNvPr>
            <p:cNvSpPr/>
            <p:nvPr/>
          </p:nvSpPr>
          <p:spPr>
            <a:xfrm>
              <a:off x="10598731" y="44353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정육면체 23">
              <a:extLst>
                <a:ext uri="{FF2B5EF4-FFF2-40B4-BE49-F238E27FC236}">
                  <a16:creationId xmlns:a16="http://schemas.microsoft.com/office/drawing/2014/main" id="{3E112AC1-C3AE-3B6E-EC49-013B906978CD}"/>
                </a:ext>
              </a:extLst>
            </p:cNvPr>
            <p:cNvSpPr/>
            <p:nvPr/>
          </p:nvSpPr>
          <p:spPr>
            <a:xfrm>
              <a:off x="10751131" y="45877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정육면체 24">
              <a:extLst>
                <a:ext uri="{FF2B5EF4-FFF2-40B4-BE49-F238E27FC236}">
                  <a16:creationId xmlns:a16="http://schemas.microsoft.com/office/drawing/2014/main" id="{4786CD8B-B84E-9255-762F-4F20A229E13B}"/>
                </a:ext>
              </a:extLst>
            </p:cNvPr>
            <p:cNvSpPr/>
            <p:nvPr/>
          </p:nvSpPr>
          <p:spPr>
            <a:xfrm>
              <a:off x="10903531" y="4740176"/>
              <a:ext cx="571501" cy="548104"/>
            </a:xfrm>
            <a:prstGeom prst="cube">
              <a:avLst>
                <a:gd name="adj" fmla="val 48349"/>
              </a:avLst>
            </a:prstGeom>
            <a:solidFill>
              <a:srgbClr val="FF9B4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37E5901-A5BC-67E6-6B8D-D7FC598C830B}"/>
              </a:ext>
            </a:extLst>
          </p:cNvPr>
          <p:cNvSpPr txBox="1"/>
          <p:nvPr/>
        </p:nvSpPr>
        <p:spPr>
          <a:xfrm>
            <a:off x="11387251" y="5068428"/>
            <a:ext cx="4736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E9A49-B53F-1C95-22B0-077F459639C7}"/>
              </a:ext>
            </a:extLst>
          </p:cNvPr>
          <p:cNvSpPr txBox="1"/>
          <p:nvPr/>
        </p:nvSpPr>
        <p:spPr>
          <a:xfrm rot="19519365">
            <a:off x="5102123" y="2386632"/>
            <a:ext cx="1897456" cy="2621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1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(Spatial Information)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A0FE81CC-AC1E-0CB1-D834-059DBE9F9674}"/>
              </a:ext>
            </a:extLst>
          </p:cNvPr>
          <p:cNvSpPr/>
          <p:nvPr/>
        </p:nvSpPr>
        <p:spPr>
          <a:xfrm rot="14131234">
            <a:off x="6144577" y="1919447"/>
            <a:ext cx="265942" cy="1597649"/>
          </a:xfrm>
          <a:prstGeom prst="rightBrace">
            <a:avLst>
              <a:gd name="adj1" fmla="val 7174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92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0C2E-56A1-A50F-F55F-9D39DEA4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EE05EDD-47CD-BCAE-48FE-9DE11D0FC5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Xception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Model Code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58425C60-6998-40CF-1DFA-EF0D20635C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6F919-73AC-4879-1174-FBCA3B4380DF}"/>
              </a:ext>
            </a:extLst>
          </p:cNvPr>
          <p:cNvSpPr txBox="1"/>
          <p:nvPr/>
        </p:nvSpPr>
        <p:spPr>
          <a:xfrm>
            <a:off x="1556699" y="2857747"/>
            <a:ext cx="6530027" cy="147732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공간연산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Conv)</a:t>
            </a:r>
          </a:p>
          <a:p>
            <a:pPr rtl="0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 = layers.DepthwiseConv2D(3, padding="same")(x)</a:t>
            </a:r>
          </a:p>
          <a:p>
            <a:pPr rtl="0"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채널연산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(Pointwise Conv)</a:t>
            </a:r>
          </a:p>
          <a:p>
            <a:pPr rtl="0"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 = layers.Conv2D(5, 1, padding="same“)(x)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82E58-FA63-DDCC-0326-8113679C54A7}"/>
              </a:ext>
            </a:extLst>
          </p:cNvPr>
          <p:cNvSpPr txBox="1"/>
          <p:nvPr/>
        </p:nvSpPr>
        <p:spPr>
          <a:xfrm>
            <a:off x="1556700" y="5388068"/>
            <a:ext cx="6530026" cy="64633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Convolution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layers.SeparableConv2D(5, 3, padding="same")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FE737E-D1E4-5B5D-26FB-0DB114EFC642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4821713" y="4335075"/>
            <a:ext cx="0" cy="1052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B8769E-1301-ADC0-2575-2904026A7839}"/>
              </a:ext>
            </a:extLst>
          </p:cNvPr>
          <p:cNvSpPr txBox="1"/>
          <p:nvPr/>
        </p:nvSpPr>
        <p:spPr>
          <a:xfrm>
            <a:off x="634858" y="1179897"/>
            <a:ext cx="1115928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Xception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Image(5,5,3)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채널별로 분리한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(5,5)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(3,3)filter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각 채널별로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히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x 3 x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파라미터를 훈련하고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 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공간과 채널 정보를 분리하여 순차적으로 학습하면 총 파라미터는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줄어들게 되어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알고리즘이 빨라지게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FB22B0-A33C-A2BA-D9BA-681FCFC37753}"/>
              </a:ext>
            </a:extLst>
          </p:cNvPr>
          <p:cNvSpPr txBox="1"/>
          <p:nvPr/>
        </p:nvSpPr>
        <p:spPr>
          <a:xfrm>
            <a:off x="8295889" y="3167398"/>
            <a:ext cx="2972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(3,3,3)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7D8AA0-4CA4-914D-6050-CDD9B8179337}"/>
              </a:ext>
            </a:extLst>
          </p:cNvPr>
          <p:cNvSpPr txBox="1"/>
          <p:nvPr/>
        </p:nvSpPr>
        <p:spPr>
          <a:xfrm>
            <a:off x="8295889" y="3992401"/>
            <a:ext cx="2972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(1,1,3,5)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266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BAAE0-BC53-79D4-C67F-C1C00DE3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92B1A1-E9C7-5A10-8248-15170069961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Depthwise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separable convolutions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0BE4D7-D52F-F8B7-42AA-B2A762F847D6}"/>
              </a:ext>
            </a:extLst>
          </p:cNvPr>
          <p:cNvSpPr txBox="1"/>
          <p:nvPr/>
        </p:nvSpPr>
        <p:spPr>
          <a:xfrm>
            <a:off x="481097" y="1222270"/>
            <a:ext cx="11229806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데이터의 본질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가로·세로의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모양(공간)"과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RGB의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채널"은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서로 완전히 독립적인 정보인 경우가 많은데 일반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이 두 가지 정보를 한 번에 억지로 섞어서 배우려다 보니 가설 공간이 너무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비대해져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Overfitting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)에 빠지기 쉬운 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Separable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두 개념을 완전히 분리하여 경사 하강법에게 "공간 특징 먼저 공부하고, 그 다음에 채널 특징 공부해!" 하고 문제를 분리하여 모델이 노이즈에 상관없이 중요한 핵심 패턴만 정확하게 일반화(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)하여 학습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FB594-4A65-5CAB-C7EC-926BC6DCFFA7}"/>
              </a:ext>
            </a:extLst>
          </p:cNvPr>
          <p:cNvSpPr txBox="1"/>
          <p:nvPr/>
        </p:nvSpPr>
        <p:spPr>
          <a:xfrm>
            <a:off x="863599" y="4079739"/>
            <a:ext cx="2315041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스케치북에 검은색 펜으로 캐릭터의 눈, 코, 입 같은 '형태(선화)'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그리기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가로·세로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공간 정보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3F2A103-E210-3BCA-76FA-93F8D32AA3A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94BC4-E1A3-2086-1AF2-79C143CA14B8}"/>
              </a:ext>
            </a:extLst>
          </p:cNvPr>
          <p:cNvSpPr txBox="1"/>
          <p:nvPr/>
        </p:nvSpPr>
        <p:spPr>
          <a:xfrm>
            <a:off x="7081520" y="4341952"/>
            <a:ext cx="241050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그려진 선 안에 빨간색, 초록색, 파란색 물감으로 '색칠(채색)＇하기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RGB 채널 정보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C9F4C-3DE9-0698-645B-5AEA3636288B}"/>
              </a:ext>
            </a:extLst>
          </p:cNvPr>
          <p:cNvSpPr txBox="1"/>
          <p:nvPr/>
        </p:nvSpPr>
        <p:spPr>
          <a:xfrm>
            <a:off x="879525" y="5889545"/>
            <a:ext cx="10459708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그림의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잡는 일과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형태를 무슨 색으로 채울지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채널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결정하는 일은 완전히 분리되어 독립적으로 처리해도 아무런 문제가 없는 서로 다른 차원의 정보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F71122F-4AB5-7C39-EE08-09BAEF84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41" y="3593159"/>
            <a:ext cx="1821991" cy="2095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7084C3-02A4-CD27-99F3-10BA310B2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024" y="3593159"/>
            <a:ext cx="1847209" cy="21317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6E3633-8A9F-6322-D818-F3DEBD581A8F}"/>
              </a:ext>
            </a:extLst>
          </p:cNvPr>
          <p:cNvSpPr txBox="1"/>
          <p:nvPr/>
        </p:nvSpPr>
        <p:spPr>
          <a:xfrm>
            <a:off x="3171964" y="3064339"/>
            <a:ext cx="183310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1단계 그리기</a:t>
            </a:r>
            <a:endParaRPr lang="en-US" altLang="ko-KR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(공간 정보) </a:t>
            </a:r>
            <a:endParaRPr lang="en-US" altLang="ko-KR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5E7E31-F8E4-2904-13D6-5549864DD54F}"/>
              </a:ext>
            </a:extLst>
          </p:cNvPr>
          <p:cNvSpPr txBox="1"/>
          <p:nvPr/>
        </p:nvSpPr>
        <p:spPr>
          <a:xfrm>
            <a:off x="9483895" y="3064339"/>
            <a:ext cx="1858475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2단계 색칠하기 </a:t>
            </a:r>
            <a:endParaRPr lang="en-US" altLang="ko-KR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(채널 정보)</a:t>
            </a:r>
            <a:endParaRPr lang="en-US" altLang="ko-KR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600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C4A4-16DB-22BA-DEBE-10342E8A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ACFD1B-A976-9D9B-C29E-3FEEB98EC7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713483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Depthwise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separable convolutions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B4A1B-8AAE-C12C-32FC-710785C21CC4}"/>
              </a:ext>
            </a:extLst>
          </p:cNvPr>
          <p:cNvSpPr txBox="1"/>
          <p:nvPr/>
        </p:nvSpPr>
        <p:spPr>
          <a:xfrm>
            <a:off x="591164" y="1217061"/>
            <a:ext cx="11115061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입력의 각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독립적으로 공간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(Spatial convolution)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수행한 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점별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(Pointwise convolution, 1 by 1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적용하여 출력 채널들을 한데 섞어서 출력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AA26622-5F07-20C0-B6E2-B7B0B3DCD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2588928"/>
            <a:ext cx="5876925" cy="300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80CB1B-A300-CEDB-A155-0DA2551AC9A9}"/>
              </a:ext>
            </a:extLst>
          </p:cNvPr>
          <p:cNvSpPr txBox="1"/>
          <p:nvPr/>
        </p:nvSpPr>
        <p:spPr>
          <a:xfrm>
            <a:off x="847725" y="5650826"/>
            <a:ext cx="5876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separable convolution: a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convolution followed by a pointwise convolution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2B15B-2920-AC73-653C-67970429C401}"/>
              </a:ext>
            </a:extLst>
          </p:cNvPr>
          <p:cNvSpPr txBox="1"/>
          <p:nvPr/>
        </p:nvSpPr>
        <p:spPr>
          <a:xfrm>
            <a:off x="6991350" y="2588928"/>
            <a:ext cx="4857750" cy="361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Depthwise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Convolution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공간 특징 추출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채널을 모두 낱개로 쪼갠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(Split)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채널에 독립적으로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필터를 적용하면 채널끼리 정보가 섞이지 않은 상태에서 이미지의 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 공간 정보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테두리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만 집중적으로 학습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Pointwise Convolution 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채널 특징 합성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단계를 거친 결과를 다시 하나로 모은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(Concatenate)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(1, 1) Conv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 연산을 통해 서로 따로 놀던 채널 간의 정보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(RGB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색상 조합 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하나로 섞어서 최종 출력을 생성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46F4437-4410-4F22-68A5-03CC5D890B4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800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6D84-AC53-9F6B-F066-DA1CF3D5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D8988-B10B-75DC-DFAC-A8B8F033B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10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Interpreting what </a:t>
            </a:r>
            <a:r>
              <a:rPr lang="en-US" altLang="ko-KR" sz="4400" dirty="0" err="1">
                <a:solidFill>
                  <a:schemeClr val="bg1"/>
                </a:solidFill>
              </a:rPr>
              <a:t>ConvNets</a:t>
            </a:r>
            <a:r>
              <a:rPr lang="en-US" altLang="ko-KR" sz="4400" dirty="0">
                <a:solidFill>
                  <a:schemeClr val="bg1"/>
                </a:solidFill>
              </a:rPr>
              <a:t> learn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834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37CC-AAA6-68E7-A8C8-A7551C4A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8F93B26-E66E-5B91-A2B0-04F10F1FA9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471E5-FD6A-C523-CB65-3463CF1A9B79}"/>
              </a:ext>
            </a:extLst>
          </p:cNvPr>
          <p:cNvSpPr txBox="1"/>
          <p:nvPr/>
        </p:nvSpPr>
        <p:spPr>
          <a:xfrm>
            <a:off x="682484" y="1208472"/>
            <a:ext cx="10890392" cy="11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인간의 뇌가 이미지를 인지하는 방법은 정보 증류 파이프라인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(Information Distillation Pipeline)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층이 깊어 질 수록 이미지의 구체적인 형태를 버리고 추상적인 기하학적 형태만 남기는 것은 인간의 뇌처럼 사물의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파악하는 진짜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갖추어 가는 과정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EA3050-6358-B6AC-ECDB-9178B5608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4" y="2686050"/>
            <a:ext cx="6308441" cy="306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EEF9E2-40E1-C4FA-6338-D9426C1CEB8C}"/>
              </a:ext>
            </a:extLst>
          </p:cNvPr>
          <p:cNvSpPr txBox="1"/>
          <p:nvPr/>
        </p:nvSpPr>
        <p:spPr>
          <a:xfrm>
            <a:off x="1518676" y="6036261"/>
            <a:ext cx="8768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Left: Attempts to draw a bicycle from memory. Right: What a schematic bicycle should look like.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D70733-EB58-B56C-7C7C-437935DDE08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767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ACB-9734-A5C3-E507-48BA867A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2F4A15-0D18-0B51-E66C-822E2509015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heatmaps of class activation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AAA13-6512-6F37-471C-08EBD0C40F6D}"/>
              </a:ext>
            </a:extLst>
          </p:cNvPr>
          <p:cNvSpPr txBox="1"/>
          <p:nvPr/>
        </p:nvSpPr>
        <p:spPr>
          <a:xfrm>
            <a:off x="650804" y="1191448"/>
            <a:ext cx="10890392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마지막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컨볼루션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이미지의 공간적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가지고 있는 가장 풍부한 피처 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수백 개의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있는데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코끼리의 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코끼리의 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 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바닥의 풀밭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반응해서 불이 들어와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활성화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624D308-8AEE-3397-0277-DC1640A85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6" y="2969621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749050D-11EB-9FB7-C22A-6BE059550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9" y="2969620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775281D-E10D-3618-67A4-C742677BA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3" y="2969620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AAD76-DA8F-7AEE-B0E8-ADBF719E34D3}"/>
              </a:ext>
            </a:extLst>
          </p:cNvPr>
          <p:cNvSpPr txBox="1"/>
          <p:nvPr/>
        </p:nvSpPr>
        <p:spPr>
          <a:xfrm>
            <a:off x="1450397" y="5387823"/>
            <a:ext cx="93790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신경망은 왜 이 이미지에 아프리카코끼리가 포함되어 있다고 생각했을까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아프리카코끼리는 사진 속 어느 위치에 있는가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새끼 코끼리의 귀 부분이 강력하게 활성화되었다는 점은 주목할 만한 흥미로운 부분으로 신경망은 아마도 이 부분을 보고 아프리카코끼리와 인도코끼리의 차이점을 구별해 냈을 것임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50B661C-FD6E-529E-5F9D-C8C985506A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211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5469-5D09-03FC-4B8E-D52AC926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8BEA0B-A755-D0B2-20D0-DCD9F4B12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b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Chapter 11. Image Segmentation</a:t>
            </a:r>
            <a:br>
              <a:rPr lang="en-US" altLang="ko-KR" sz="4400" dirty="0">
                <a:solidFill>
                  <a:schemeClr val="bg1"/>
                </a:solidFill>
              </a:rPr>
            </a:b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017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2A9C4-569E-E8BB-7ADF-685C04D2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6A0A6ED-C61B-149B-A665-AD35B27E12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Computer vision tasks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7B304AF1-B353-CEDE-4FFE-99EFF0E18A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0840AE3-C24D-A3D3-A71B-C653A0081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9" y="1347655"/>
            <a:ext cx="6323012" cy="505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17DCB58-B3A1-E5FD-B786-C3AB699905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186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269C-6F02-3650-3E00-FC81E0DF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0E9AD25-B519-C98B-BA51-F666075A9BB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Types of Image segmentation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ADBF0F9C-D7B7-4592-083C-FA765750B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681FA5B-337D-3B88-F827-383329A807D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7139F-FC7D-4DC3-476B-3B0C33534001}"/>
              </a:ext>
            </a:extLst>
          </p:cNvPr>
          <p:cNvSpPr txBox="1"/>
          <p:nvPr/>
        </p:nvSpPr>
        <p:spPr>
          <a:xfrm>
            <a:off x="556925" y="1231098"/>
            <a:ext cx="669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Aft>
                <a:spcPts val="0"/>
              </a:spcAft>
              <a:buNone/>
            </a:pP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분할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(Image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Segmentation)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종류</a:t>
            </a:r>
            <a:endParaRPr lang="ko-KR" altLang="en-US" sz="18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AAE77CA-633E-37C9-2EF9-E1ABBB7CA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406" y="1679169"/>
            <a:ext cx="5883114" cy="495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3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FC59-DF22-CAA4-9590-F2A7C909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F879655-DA0B-0D92-6AEF-1E2693A84A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AE1E2E-AD0B-4F4B-05B5-8A532B1DE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597865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88B2388-8059-E653-E419-CC706D81F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283" y="2597865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8AD89D-968B-CAB5-5BB3-A3841292D078}"/>
              </a:ext>
            </a:extLst>
          </p:cNvPr>
          <p:cNvSpPr txBox="1"/>
          <p:nvPr/>
        </p:nvSpPr>
        <p:spPr>
          <a:xfrm>
            <a:off x="2082800" y="225119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D3027-4EA0-CBC7-5C32-3151E32BE3CE}"/>
              </a:ext>
            </a:extLst>
          </p:cNvPr>
          <p:cNvSpPr txBox="1"/>
          <p:nvPr/>
        </p:nvSpPr>
        <p:spPr>
          <a:xfrm>
            <a:off x="7206802" y="2286155"/>
            <a:ext cx="1800493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22E2E-7D86-9E9D-D7F4-A654F5E3A205}"/>
              </a:ext>
            </a:extLst>
          </p:cNvPr>
          <p:cNvSpPr txBox="1"/>
          <p:nvPr/>
        </p:nvSpPr>
        <p:spPr>
          <a:xfrm>
            <a:off x="2159000" y="6043749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74CF5-DF8A-A38A-B143-DC98BA8AF675}"/>
              </a:ext>
            </a:extLst>
          </p:cNvPr>
          <p:cNvSpPr txBox="1"/>
          <p:nvPr/>
        </p:nvSpPr>
        <p:spPr>
          <a:xfrm>
            <a:off x="7366266" y="604374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77C6241-EA2D-1241-0151-C525FCA699FC}"/>
              </a:ext>
            </a:extLst>
          </p:cNvPr>
          <p:cNvCxnSpPr>
            <a:cxnSpLocks/>
          </p:cNvCxnSpPr>
          <p:nvPr/>
        </p:nvCxnSpPr>
        <p:spPr>
          <a:xfrm>
            <a:off x="5068326" y="4429977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FF7879-1E16-CC92-2C47-6C78CFD3F782}"/>
              </a:ext>
            </a:extLst>
          </p:cNvPr>
          <p:cNvSpPr txBox="1"/>
          <p:nvPr/>
        </p:nvSpPr>
        <p:spPr>
          <a:xfrm>
            <a:off x="5192712" y="3879969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74949D-59A1-D5DC-B848-02E54DE6F5BA}"/>
              </a:ext>
            </a:extLst>
          </p:cNvPr>
          <p:cNvSpPr txBox="1"/>
          <p:nvPr/>
        </p:nvSpPr>
        <p:spPr>
          <a:xfrm>
            <a:off x="7569200" y="4178636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8C39A-A848-F4DD-CB42-672E5A5C7AF8}"/>
              </a:ext>
            </a:extLst>
          </p:cNvPr>
          <p:cNvSpPr txBox="1"/>
          <p:nvPr/>
        </p:nvSpPr>
        <p:spPr>
          <a:xfrm rot="19245108">
            <a:off x="8668611" y="4948069"/>
            <a:ext cx="1396467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D1772E-DD1C-3ED5-EE3C-150D3FE8AA72}"/>
              </a:ext>
            </a:extLst>
          </p:cNvPr>
          <p:cNvSpPr txBox="1"/>
          <p:nvPr/>
        </p:nvSpPr>
        <p:spPr>
          <a:xfrm>
            <a:off x="6574836" y="2752776"/>
            <a:ext cx="1819275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 (background)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31D3B61-E441-DDEE-F5BA-B4C5C586115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86274-C019-7634-5864-98A3FB97AF27}"/>
              </a:ext>
            </a:extLst>
          </p:cNvPr>
          <p:cNvSpPr txBox="1"/>
          <p:nvPr/>
        </p:nvSpPr>
        <p:spPr>
          <a:xfrm>
            <a:off x="548640" y="1271927"/>
            <a:ext cx="10922000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Oxford-IIIT Pets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데이터셋을 활용해 각 픽셀을 전경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윤곽선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예측하는 분할 모델 구축</a:t>
            </a:r>
          </a:p>
        </p:txBody>
      </p:sp>
    </p:spTree>
    <p:extLst>
      <p:ext uri="{BB962C8B-B14F-4D97-AF65-F5344CB8AC3E}">
        <p14:creationId xmlns:p14="http://schemas.microsoft.com/office/powerpoint/2010/main" val="49386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7C59-423C-7C11-050C-013FB21D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AC949CB-4F47-A625-F779-ACF5B5047C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Semantic Segmentation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CF828-B040-95A6-01FB-989BB4ED21A5}"/>
              </a:ext>
            </a:extLst>
          </p:cNvPr>
          <p:cNvSpPr txBox="1"/>
          <p:nvPr/>
        </p:nvSpPr>
        <p:spPr>
          <a:xfrm>
            <a:off x="1477010" y="190272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94EAF4-ACA6-4283-37D4-4288D28B1877}"/>
              </a:ext>
            </a:extLst>
          </p:cNvPr>
          <p:cNvSpPr txBox="1"/>
          <p:nvPr/>
        </p:nvSpPr>
        <p:spPr>
          <a:xfrm>
            <a:off x="6781987" y="1902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BEF3F-882E-452F-8047-F7C760E3A455}"/>
              </a:ext>
            </a:extLst>
          </p:cNvPr>
          <p:cNvSpPr txBox="1"/>
          <p:nvPr/>
        </p:nvSpPr>
        <p:spPr>
          <a:xfrm>
            <a:off x="1762760" y="57700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8E8DC-DC20-84AE-CC3E-AE72343A7C5F}"/>
              </a:ext>
            </a:extLst>
          </p:cNvPr>
          <p:cNvSpPr txBox="1"/>
          <p:nvPr/>
        </p:nvSpPr>
        <p:spPr>
          <a:xfrm>
            <a:off x="6970026" y="571291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2F73698-AB14-59F1-D3DC-5E680FEBB8B5}"/>
              </a:ext>
            </a:extLst>
          </p:cNvPr>
          <p:cNvCxnSpPr>
            <a:cxnSpLocks/>
          </p:cNvCxnSpPr>
          <p:nvPr/>
        </p:nvCxnSpPr>
        <p:spPr>
          <a:xfrm>
            <a:off x="4401185" y="41243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68B4CA-26DE-3E3F-4E43-BBBAB5F5E7BC}"/>
              </a:ext>
            </a:extLst>
          </p:cNvPr>
          <p:cNvSpPr txBox="1"/>
          <p:nvPr/>
        </p:nvSpPr>
        <p:spPr>
          <a:xfrm>
            <a:off x="4664178" y="3552847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3C5FA06-6BA4-DE1D-831A-B45A62B2CEE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762625" y="2680555"/>
            <a:ext cx="3562985" cy="2788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4B2D89F-E42E-E778-DBF6-E788F5244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" y="2339052"/>
            <a:ext cx="3339722" cy="3297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972E5F7-E061-D048-57B6-1FDBA5FFB9D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AD5E7-1865-631C-ACB3-CA60E8E53776}"/>
              </a:ext>
            </a:extLst>
          </p:cNvPr>
          <p:cNvSpPr txBox="1"/>
          <p:nvPr/>
        </p:nvSpPr>
        <p:spPr>
          <a:xfrm>
            <a:off x="9467332" y="3235661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</a:t>
            </a:r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(foreground)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BCB71-568B-E818-35AD-C1A2189C91E7}"/>
              </a:ext>
            </a:extLst>
          </p:cNvPr>
          <p:cNvSpPr txBox="1"/>
          <p:nvPr/>
        </p:nvSpPr>
        <p:spPr>
          <a:xfrm>
            <a:off x="9467332" y="4228509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(contour)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45C5B-B0E0-E657-F51A-E6C6DAE483CF}"/>
              </a:ext>
            </a:extLst>
          </p:cNvPr>
          <p:cNvSpPr txBox="1"/>
          <p:nvPr/>
        </p:nvSpPr>
        <p:spPr>
          <a:xfrm>
            <a:off x="9467332" y="3732085"/>
            <a:ext cx="190500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 (background)</a:t>
            </a:r>
          </a:p>
        </p:txBody>
      </p:sp>
    </p:spTree>
    <p:extLst>
      <p:ext uri="{BB962C8B-B14F-4D97-AF65-F5344CB8AC3E}">
        <p14:creationId xmlns:p14="http://schemas.microsoft.com/office/powerpoint/2010/main" val="1822541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D25F-7B06-1DA8-10F3-4BA0693A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8778-26AC-C0F7-659D-7005508C1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FCN(Fully Convolutional Network)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726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FF8B-40F1-4D0A-E6A9-F4456A74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141A5FC-D7AB-48F0-CFCB-643A4E36D0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 x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1 Convolution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9D38F7D-66DC-AD4C-5088-47140E3809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B4AA9-2E2C-A396-B0A9-739B4E22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56" y="1660115"/>
            <a:ext cx="5810250" cy="386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4123B3-486E-56D6-89CE-D3E44138A12A}"/>
              </a:ext>
            </a:extLst>
          </p:cNvPr>
          <p:cNvSpPr txBox="1"/>
          <p:nvPr/>
        </p:nvSpPr>
        <p:spPr>
          <a:xfrm>
            <a:off x="523356" y="564880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solidFill>
                  <a:schemeClr val="accent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https://medium.com/analytics-vidhya/talented-mr-1x1-comprehensive-look-at-1x1-convolution-in-deep-learning-f6b355825578</a:t>
            </a:r>
            <a:r>
              <a:rPr lang="en-US" altLang="ko-KR" sz="1100" b="0" i="0" dirty="0">
                <a:solidFill>
                  <a:schemeClr val="accent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1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7310D0-2215-89B1-D687-50D934CC1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5531" y="1550856"/>
            <a:ext cx="5314950" cy="324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 차원 축소: 공간 크기(64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64)는 유지한 채 192개의 깊은 채널을 원하는 개수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Filter)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및 파라미터 절감: 후속 고차원 연산 전에 채널을 먼저 압축하여 전체 계산 복잡도를 크게 낮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추어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SGD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효율 높임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 단위 연산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모든 픽셀마다 클래스를 분류해야 하므로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1 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위치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정보는 완벽히 유지하면서 채널 특징만 합성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9041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3FA76-5385-0A0D-4286-E97D09A3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래픽 22" descr="오른쪽으로 굽은 화살표">
            <a:extLst>
              <a:ext uri="{FF2B5EF4-FFF2-40B4-BE49-F238E27FC236}">
                <a16:creationId xmlns:a16="http://schemas.microsoft.com/office/drawing/2014/main" id="{6B8ACE28-7875-4B39-EDB8-47C45100C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797" y="3865052"/>
            <a:ext cx="914400" cy="914400"/>
          </a:xfrm>
          <a:prstGeom prst="rect">
            <a:avLst/>
          </a:prstGeom>
        </p:spPr>
      </p:pic>
      <p:sp>
        <p:nvSpPr>
          <p:cNvPr id="17" name="정육면체 16">
            <a:extLst>
              <a:ext uri="{FF2B5EF4-FFF2-40B4-BE49-F238E27FC236}">
                <a16:creationId xmlns:a16="http://schemas.microsoft.com/office/drawing/2014/main" id="{183BAF7B-EA2A-4D41-0464-2F13F62C012E}"/>
              </a:ext>
            </a:extLst>
          </p:cNvPr>
          <p:cNvSpPr/>
          <p:nvPr/>
        </p:nvSpPr>
        <p:spPr>
          <a:xfrm>
            <a:off x="3299635" y="5083424"/>
            <a:ext cx="876300" cy="763414"/>
          </a:xfrm>
          <a:prstGeom prst="cube">
            <a:avLst>
              <a:gd name="adj" fmla="val 10369"/>
            </a:avLst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정육면체 15">
            <a:extLst>
              <a:ext uri="{FF2B5EF4-FFF2-40B4-BE49-F238E27FC236}">
                <a16:creationId xmlns:a16="http://schemas.microsoft.com/office/drawing/2014/main" id="{2D3C747E-690D-35C2-3944-016931FACAD3}"/>
              </a:ext>
            </a:extLst>
          </p:cNvPr>
          <p:cNvSpPr/>
          <p:nvPr/>
        </p:nvSpPr>
        <p:spPr>
          <a:xfrm>
            <a:off x="3192090" y="5192755"/>
            <a:ext cx="876300" cy="763414"/>
          </a:xfrm>
          <a:prstGeom prst="cube">
            <a:avLst>
              <a:gd name="adj" fmla="val 1036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정육면체 14">
            <a:extLst>
              <a:ext uri="{FF2B5EF4-FFF2-40B4-BE49-F238E27FC236}">
                <a16:creationId xmlns:a16="http://schemas.microsoft.com/office/drawing/2014/main" id="{29736859-239E-6214-4D1F-5F61B4728902}"/>
              </a:ext>
            </a:extLst>
          </p:cNvPr>
          <p:cNvSpPr/>
          <p:nvPr/>
        </p:nvSpPr>
        <p:spPr>
          <a:xfrm>
            <a:off x="3084545" y="5302086"/>
            <a:ext cx="876300" cy="763414"/>
          </a:xfrm>
          <a:prstGeom prst="cube">
            <a:avLst>
              <a:gd name="adj" fmla="val 10369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6E9E1F0-AA2D-3EB2-D203-896E52B724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1 x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1 Convolution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A325A9-8285-F740-A2AA-C36AB3375D1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4F82D4-2F2C-48DF-7331-A64B3BE6B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28" y="1248422"/>
            <a:ext cx="11020944" cy="745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클래스 채널 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 마지막 단에서 추출된 높은 차원의 특징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클래스 개수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192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클래스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맞추는 데 사용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A96D12-F747-E5E6-C8B7-25DD9388C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622" y="2278874"/>
            <a:ext cx="6495532" cy="3567964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92개 채널 (입력):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모델이 이미지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픽셀을 분석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하여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추출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192가지의 추상적인 특징(예: 질감, 테두리, 색상, 명암 등 컴퓨터만 이해하는 정보)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클래스 채널 (출력):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최종적으로 구분하고자 하는 </a:t>
            </a:r>
            <a:r>
              <a:rPr kumimoji="0" lang="ko-KR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분류의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'사람, 자동차, 인도, 배경' 4가지를 구분하는 최종 채널 수는 4개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합성곱의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역할 (변환기):</a:t>
            </a: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위치(픽셀) 좌표는 그대로 둔 채, 각 픽셀마다 존재하는 192개의 추상적 특징들을 적절히 조합(선형결합)하여 "이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확률,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자동차'일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확률,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인도'일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확률" 등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C개의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점수로 계산해 주는 마지막 정제 작업을 수행</a:t>
            </a:r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328C325B-E72A-9CB3-9261-F79953058DD3}"/>
              </a:ext>
            </a:extLst>
          </p:cNvPr>
          <p:cNvSpPr/>
          <p:nvPr/>
        </p:nvSpPr>
        <p:spPr>
          <a:xfrm>
            <a:off x="706968" y="2295148"/>
            <a:ext cx="1771650" cy="1654969"/>
          </a:xfrm>
          <a:prstGeom prst="cube">
            <a:avLst>
              <a:gd name="adj" fmla="val 599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2C3EBF5E-5B03-6246-4254-FD02930A72E8}"/>
              </a:ext>
            </a:extLst>
          </p:cNvPr>
          <p:cNvSpPr/>
          <p:nvPr/>
        </p:nvSpPr>
        <p:spPr>
          <a:xfrm>
            <a:off x="1967879" y="2953233"/>
            <a:ext cx="1162050" cy="1152526"/>
          </a:xfrm>
          <a:prstGeom prst="cube">
            <a:avLst>
              <a:gd name="adj" fmla="val 82444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정육면체 10">
            <a:extLst>
              <a:ext uri="{FF2B5EF4-FFF2-40B4-BE49-F238E27FC236}">
                <a16:creationId xmlns:a16="http://schemas.microsoft.com/office/drawing/2014/main" id="{47D6A941-7A4F-F016-29FB-70C5D2BFC54B}"/>
              </a:ext>
            </a:extLst>
          </p:cNvPr>
          <p:cNvSpPr/>
          <p:nvPr/>
        </p:nvSpPr>
        <p:spPr>
          <a:xfrm>
            <a:off x="1967879" y="3412830"/>
            <a:ext cx="1162050" cy="1152526"/>
          </a:xfrm>
          <a:prstGeom prst="cube">
            <a:avLst>
              <a:gd name="adj" fmla="val 8244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15509A2B-FDDB-D59D-F8F5-F86744D2905D}"/>
              </a:ext>
            </a:extLst>
          </p:cNvPr>
          <p:cNvSpPr/>
          <p:nvPr/>
        </p:nvSpPr>
        <p:spPr>
          <a:xfrm>
            <a:off x="1967879" y="3872427"/>
            <a:ext cx="1162050" cy="1152526"/>
          </a:xfrm>
          <a:prstGeom prst="cube">
            <a:avLst>
              <a:gd name="adj" fmla="val 8244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정육면체 12">
            <a:extLst>
              <a:ext uri="{FF2B5EF4-FFF2-40B4-BE49-F238E27FC236}">
                <a16:creationId xmlns:a16="http://schemas.microsoft.com/office/drawing/2014/main" id="{8F1EF733-9317-990C-946C-FDE0115DCAA7}"/>
              </a:ext>
            </a:extLst>
          </p:cNvPr>
          <p:cNvSpPr/>
          <p:nvPr/>
        </p:nvSpPr>
        <p:spPr>
          <a:xfrm>
            <a:off x="1967879" y="4332025"/>
            <a:ext cx="1162050" cy="1152526"/>
          </a:xfrm>
          <a:prstGeom prst="cube">
            <a:avLst>
              <a:gd name="adj" fmla="val 82444"/>
            </a:avLst>
          </a:prstGeom>
          <a:solidFill>
            <a:srgbClr val="76E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정육면체 13">
            <a:extLst>
              <a:ext uri="{FF2B5EF4-FFF2-40B4-BE49-F238E27FC236}">
                <a16:creationId xmlns:a16="http://schemas.microsoft.com/office/drawing/2014/main" id="{FCBB174E-2974-CB73-E9FB-DC7967B0D017}"/>
              </a:ext>
            </a:extLst>
          </p:cNvPr>
          <p:cNvSpPr/>
          <p:nvPr/>
        </p:nvSpPr>
        <p:spPr>
          <a:xfrm>
            <a:off x="2991786" y="5411416"/>
            <a:ext cx="876300" cy="763414"/>
          </a:xfrm>
          <a:prstGeom prst="cube">
            <a:avLst>
              <a:gd name="adj" fmla="val 10369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ADF50597-5FA2-BBC1-792D-288A414C13FF}"/>
              </a:ext>
            </a:extLst>
          </p:cNvPr>
          <p:cNvSpPr/>
          <p:nvPr/>
        </p:nvSpPr>
        <p:spPr>
          <a:xfrm>
            <a:off x="3243755" y="2983713"/>
            <a:ext cx="220516" cy="1491767"/>
          </a:xfrm>
          <a:prstGeom prst="rightBrace">
            <a:avLst>
              <a:gd name="adj1" fmla="val 61318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8F1C7-EA86-937B-7F85-3D672F937A1B}"/>
              </a:ext>
            </a:extLst>
          </p:cNvPr>
          <p:cNvSpPr txBox="1"/>
          <p:nvPr/>
        </p:nvSpPr>
        <p:spPr>
          <a:xfrm>
            <a:off x="3505793" y="3033306"/>
            <a:ext cx="1516964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１ｘ１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４개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CC53D-2A2F-7D96-D84E-7213EDB845BD}"/>
              </a:ext>
            </a:extLst>
          </p:cNvPr>
          <p:cNvSpPr txBox="1"/>
          <p:nvPr/>
        </p:nvSpPr>
        <p:spPr>
          <a:xfrm>
            <a:off x="3495241" y="4747954"/>
            <a:ext cx="1569039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클라스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채널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CEE739B-2F90-8222-F6F0-A7116043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879" y="6221130"/>
            <a:ext cx="2805835" cy="46166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ko-KR" sz="1200">
                <a:solidFill>
                  <a:schemeClr val="bg1"/>
                </a:solidFill>
              </a:rPr>
              <a:t>1번 채널: 고양이일 확률 (픽셀 단위)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ko-KR" sz="1200">
                <a:solidFill>
                  <a:schemeClr val="bg1"/>
                </a:solidFill>
              </a:rPr>
              <a:t>2번 채널: 강아지일 확률 (픽셀 단위)</a:t>
            </a:r>
          </a:p>
        </p:txBody>
      </p:sp>
    </p:spTree>
    <p:extLst>
      <p:ext uri="{BB962C8B-B14F-4D97-AF65-F5344CB8AC3E}">
        <p14:creationId xmlns:p14="http://schemas.microsoft.com/office/powerpoint/2010/main" val="283105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E3B9-1F2C-B55B-D98D-F1809041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B3F0A2-DADD-97EE-4631-4CBC8A6617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Limitations of Convnet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8E7852-1A5B-BDFD-E4F4-0E43FE52C76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83AACBF8-E58D-A29D-6892-E944239473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3718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771E-0E41-9C72-EC20-67C1B14D9987}"/>
              </a:ext>
            </a:extLst>
          </p:cNvPr>
          <p:cNvSpPr txBox="1"/>
          <p:nvPr/>
        </p:nvSpPr>
        <p:spPr>
          <a:xfrm>
            <a:off x="581025" y="1219961"/>
            <a:ext cx="110109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LeNet, </a:t>
            </a:r>
            <a:r>
              <a:rPr lang="en-US" altLang="ko-KR" sz="1600" b="0" i="0" dirty="0" err="1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AlexNet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그 후속 모델을 포함한 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고정 크기의 입력을 받고 비공간적 출력을 생성하여</a:t>
            </a:r>
            <a:r>
              <a:rPr lang="en-US" altLang="ko-KR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네트워크의 완전 연결 층은 </a:t>
            </a:r>
            <a:r>
              <a:rPr lang="ko-KR" altLang="en-US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고정된 차원을 가지며 공간</a:t>
            </a:r>
            <a:r>
              <a:rPr lang="en-US" altLang="ko-KR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b="1" i="0" dirty="0">
                <a:solidFill>
                  <a:srgbClr val="232323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 좌표를 잃어버리게 됨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97055-9801-1A01-265F-DCF046CBCB20}"/>
              </a:ext>
            </a:extLst>
          </p:cNvPr>
          <p:cNvSpPr txBox="1"/>
          <p:nvPr/>
        </p:nvSpPr>
        <p:spPr>
          <a:xfrm>
            <a:off x="1214438" y="2325239"/>
            <a:ext cx="3228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convolutional_neural_networks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 descr="A convnet">
            <a:extLst>
              <a:ext uri="{FF2B5EF4-FFF2-40B4-BE49-F238E27FC236}">
                <a16:creationId xmlns:a16="http://schemas.microsoft.com/office/drawing/2014/main" id="{05E7957A-0678-D069-C6E9-D5CA3F5D6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663793"/>
            <a:ext cx="9085421" cy="306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0EF117-77E5-74DD-17E9-2D541CFC1294}"/>
              </a:ext>
            </a:extLst>
          </p:cNvPr>
          <p:cNvSpPr txBox="1"/>
          <p:nvPr/>
        </p:nvSpPr>
        <p:spPr>
          <a:xfrm>
            <a:off x="1214438" y="58103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200" i="0" dirty="0">
                <a:solidFill>
                  <a:srgbClr val="22283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Convolution layers act as feature extractors.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1200" i="0" dirty="0">
                <a:solidFill>
                  <a:srgbClr val="22283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Dense layers use the extracted features to classify data.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4631A0-84C1-65C1-0655-CAF11E386CDB}"/>
              </a:ext>
            </a:extLst>
          </p:cNvPr>
          <p:cNvSpPr/>
          <p:nvPr/>
        </p:nvSpPr>
        <p:spPr>
          <a:xfrm>
            <a:off x="7181850" y="2662022"/>
            <a:ext cx="1171575" cy="2681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3A16B3-B25D-2D2A-08F7-03206592A964}"/>
              </a:ext>
            </a:extLst>
          </p:cNvPr>
          <p:cNvSpPr/>
          <p:nvPr/>
        </p:nvSpPr>
        <p:spPr>
          <a:xfrm>
            <a:off x="1095374" y="2662022"/>
            <a:ext cx="2673986" cy="26815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534CDA9C-150F-FC8C-D983-6528605B3124}"/>
              </a:ext>
            </a:extLst>
          </p:cNvPr>
          <p:cNvSpPr/>
          <p:nvPr/>
        </p:nvSpPr>
        <p:spPr>
          <a:xfrm>
            <a:off x="8987790" y="2047462"/>
            <a:ext cx="2624137" cy="7382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0847"/>
              <a:gd name="adj6" fmla="val -49377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이미지의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크기가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변경되면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작동이 안됨</a:t>
            </a:r>
          </a:p>
        </p:txBody>
      </p:sp>
    </p:spTree>
    <p:extLst>
      <p:ext uri="{BB962C8B-B14F-4D97-AF65-F5344CB8AC3E}">
        <p14:creationId xmlns:p14="http://schemas.microsoft.com/office/powerpoint/2010/main" val="2189367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EEC00-2CE5-3A47-71C2-446F304CD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94C095-FA13-5B37-3A73-7D9219AC29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2. FCN succeed</a:t>
            </a:r>
            <a:r>
              <a:rPr lang="en-US" altLang="ko-KR" dirty="0"/>
              <a:t> </a:t>
            </a:r>
            <a:endParaRPr lang="en-US" altLang="ko-KR" b="1" cap="none" dirty="0"/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85DBDB0-F214-75E6-61AB-2A7FC38CD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290B9-2470-CEB5-D79C-DCB3E7CE4019}"/>
              </a:ext>
            </a:extLst>
          </p:cNvPr>
          <p:cNvSpPr txBox="1"/>
          <p:nvPr/>
        </p:nvSpPr>
        <p:spPr>
          <a:xfrm>
            <a:off x="628650" y="1325175"/>
            <a:ext cx="8648700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inputs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(shape=(64, 64, 1))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동일한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(64, 64)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추출부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(LeNet-5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 그대로 유지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=2, strides=2)(x)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핵심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]: 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층들을 전부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Conv2D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대체합니다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(32,32)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시 이 자리의 특성 맵 크기가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5x5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였으므로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지정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layers.Conv2D(filters=120,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=5, padding="valid",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이후의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Dense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층들은 가로세로가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1x1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 상태이므로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필터로 대체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x = layers.Conv2D(filters=84,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outputs = layers.Conv2D(filters=10,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 activation="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build_fcn_model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tf.random.normal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([1, 64, 64, 1])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mock_input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👉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FCN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Matrix Formation (Shape):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fcn_prediction.shape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7308D83-8009-1CC0-0425-B41C43367D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99A5B-A81E-A8DC-25EC-C0A40CC349F6}"/>
              </a:ext>
            </a:extLst>
          </p:cNvPr>
          <p:cNvSpPr/>
          <p:nvPr/>
        </p:nvSpPr>
        <p:spPr>
          <a:xfrm>
            <a:off x="400050" y="3239135"/>
            <a:ext cx="8877300" cy="14141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BF69C62-F79A-0394-9D67-C13AD5C11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9440" y="1727551"/>
            <a:ext cx="3667241" cy="13849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9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9 그리드의 총 81개 각 칸은 64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64 원본 이미지 내의 특정 국소 영역(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수용장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)을 뜻하며, "이미지 전체에 무엇이 있는가"가 아니라 "9x9로 나뉜 각 위치에 어떤 객체가 있는가"라는 위치 기반 예측 결과를 제공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E90E0-3555-D5EE-0AE1-FFCB73F2091E}"/>
              </a:ext>
            </a:extLst>
          </p:cNvPr>
          <p:cNvSpPr txBox="1"/>
          <p:nvPr/>
        </p:nvSpPr>
        <p:spPr>
          <a:xfrm>
            <a:off x="8209281" y="1358219"/>
            <a:ext cx="830373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86A80-80E0-5BD7-7FAB-B6F095E7EE1F}"/>
              </a:ext>
            </a:extLst>
          </p:cNvPr>
          <p:cNvSpPr txBox="1"/>
          <p:nvPr/>
        </p:nvSpPr>
        <p:spPr>
          <a:xfrm>
            <a:off x="8256903" y="4149151"/>
            <a:ext cx="646331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7A409-6D23-BBDF-FE6F-00232ACFCCF3}"/>
              </a:ext>
            </a:extLst>
          </p:cNvPr>
          <p:cNvSpPr txBox="1"/>
          <p:nvPr/>
        </p:nvSpPr>
        <p:spPr>
          <a:xfrm>
            <a:off x="8256904" y="4518483"/>
            <a:ext cx="3677402" cy="1169551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사진 속 9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9 세부 구역 중 '어느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위치'에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그 숫자가 존재하는지" 픽셀 단위의 단서를 제공하는 객체 탐지(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Object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Detection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및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세맨틱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분할(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Semantic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Segmentation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 모델로 진화한 형태</a:t>
            </a:r>
          </a:p>
        </p:txBody>
      </p:sp>
      <p:pic>
        <p:nvPicPr>
          <p:cNvPr id="14" name="그래픽 13" descr="시계 방향으로 굽은 줄 화살표">
            <a:extLst>
              <a:ext uri="{FF2B5EF4-FFF2-40B4-BE49-F238E27FC236}">
                <a16:creationId xmlns:a16="http://schemas.microsoft.com/office/drawing/2014/main" id="{59BA96BD-A446-763C-4443-2621771E4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800244">
            <a:off x="7315200" y="4587240"/>
            <a:ext cx="914400" cy="914400"/>
          </a:xfrm>
          <a:prstGeom prst="rect">
            <a:avLst/>
          </a:prstGeom>
        </p:spPr>
      </p:pic>
      <p:pic>
        <p:nvPicPr>
          <p:cNvPr id="15" name="그래픽 14" descr="시계 방향으로 굽은 줄 화살표">
            <a:extLst>
              <a:ext uri="{FF2B5EF4-FFF2-40B4-BE49-F238E27FC236}">
                <a16:creationId xmlns:a16="http://schemas.microsoft.com/office/drawing/2014/main" id="{B8D8FD99-2B2B-8816-CF31-459DFCC2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1474">
            <a:off x="7315200" y="2537890"/>
            <a:ext cx="914400" cy="9144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D46BF5-81AE-A72F-49EE-DD02AC3E3EEB}"/>
              </a:ext>
            </a:extLst>
          </p:cNvPr>
          <p:cNvSpPr/>
          <p:nvPr/>
        </p:nvSpPr>
        <p:spPr>
          <a:xfrm>
            <a:off x="400050" y="1773378"/>
            <a:ext cx="8877300" cy="11120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419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620C-6675-39D3-3F4B-F8060C3A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77977A-D523-C09B-39ED-12A913D8ACB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FCN(Fully Convolutional Network)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F654DF50-CB4A-4966-16F2-88D2D8DA6A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5645" y="34434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C5D59EA-8CA4-FF23-A2A0-10FE0B3AF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65" y="1569129"/>
            <a:ext cx="5123313" cy="44800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DDCCBB-9802-7ACD-C30D-0189CA3E29CF}"/>
              </a:ext>
            </a:extLst>
          </p:cNvPr>
          <p:cNvSpPr txBox="1"/>
          <p:nvPr/>
        </p:nvSpPr>
        <p:spPr>
          <a:xfrm>
            <a:off x="628045" y="6049190"/>
            <a:ext cx="50488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B911E8-2E49-9A05-E636-99F5DC6680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3FDF5-3704-DFA1-B9BC-63309BCBCDED}"/>
              </a:ext>
            </a:extLst>
          </p:cNvPr>
          <p:cNvSpPr txBox="1"/>
          <p:nvPr/>
        </p:nvSpPr>
        <p:spPr>
          <a:xfrm>
            <a:off x="5838306" y="1329068"/>
            <a:ext cx="590601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</a:pP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Convnet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Map(7,7,100) → Dense(4900,) → Dense(200)</a:t>
            </a:r>
            <a:endParaRPr lang="ko-KR" altLang="en-US" sz="1600" dirty="0">
              <a:latin typeface="Tahoma" panose="020B0604030504040204" pitchFamily="34" charset="0"/>
              <a:ea typeface="D2Coding" panose="020B0609020101020101" pitchFamily="49" charset="-127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CE510-2F4F-FAC2-CC18-17E3EECA8289}"/>
              </a:ext>
            </a:extLst>
          </p:cNvPr>
          <p:cNvSpPr txBox="1"/>
          <p:nvPr/>
        </p:nvSpPr>
        <p:spPr>
          <a:xfrm>
            <a:off x="5857961" y="2154845"/>
            <a:ext cx="5906019" cy="36933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FCN(Fully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Convolutional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Network)</a:t>
            </a:r>
            <a:endParaRPr lang="en-US" altLang="ko-KR" sz="1400" b="1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small image(left)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커널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(7,7)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피처 맵 크기가 같으므로 최종 출력은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(1,1,10)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단일 영역의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예측값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클래스 확률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+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객체성 점수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바운딩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박스 좌표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) 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의미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Feature Map (7,7,100) → [Conv(7,7) 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필터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] → Output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(1,1,10)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small image(left) :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동일한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(7,7)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연산 결과 피처 맵 크기는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(14-7+1)=8, (8,8,10)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모델을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(8x8)= 64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번 반복 실행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슬라이딩 윈도우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할 필요 없이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단 한 번의 연산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(Single Forward Pass)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으로 이미지 전체의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(8x8)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격자 영역을 동시에 탐지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Feature Map (14,14,100) → [Conv(7,7) 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개 필터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] → Output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</a:rPr>
              <a:t>(8,8,10)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 (14,14)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이미지를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8 by 8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격자로 나누어 격자별로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766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3C0-32B8-E4FC-A4A0-6B37CFE4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1DAC8-8A3B-6C7C-36D6-5E3A8BD88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64324"/>
            <a:ext cx="11978640" cy="2387600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000" dirty="0">
                <a:solidFill>
                  <a:schemeClr val="bg1"/>
                </a:solidFill>
              </a:rPr>
              <a:t>Classification &amp; Location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7754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F97E-608D-4E8D-2838-89FC5025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57C508-38C5-A75A-C22F-3B860B2962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Classification and localization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A48D1A9B-8128-9367-75E6-22BF13FE6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EA5EAC5-9F7F-E804-DE4A-6E3A0C0D069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BF89F-326A-C374-F2DC-1975EDF5E04C}"/>
              </a:ext>
            </a:extLst>
          </p:cNvPr>
          <p:cNvSpPr txBox="1"/>
          <p:nvPr/>
        </p:nvSpPr>
        <p:spPr>
          <a:xfrm>
            <a:off x="585932" y="1219847"/>
            <a:ext cx="1113042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이미지에서 하나의 객체의 위치를 찾는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(Localization)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객체 주위에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박스를 예측하기 위해 객체 중심의 가로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세로 좌표와 높이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회귀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작업과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Label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대한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동시에 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229E7-B4D9-6AC5-A568-B646BD5255A4}"/>
              </a:ext>
            </a:extLst>
          </p:cNvPr>
          <p:cNvSpPr txBox="1"/>
          <p:nvPr/>
        </p:nvSpPr>
        <p:spPr>
          <a:xfrm>
            <a:off x="1057274" y="2211065"/>
            <a:ext cx="9544051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Minimize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L_loc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pred_cx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true_cx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pred_cy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true_cy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 +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pred_w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true_w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)²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F565A1-76D9-D67F-CAFD-E30DB502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45" y="2682615"/>
            <a:ext cx="6410668" cy="3364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81535-9768-432F-4814-6FE3A131EB84}"/>
              </a:ext>
            </a:extLst>
          </p:cNvPr>
          <p:cNvSpPr txBox="1"/>
          <p:nvPr/>
        </p:nvSpPr>
        <p:spPr>
          <a:xfrm>
            <a:off x="1020045" y="604696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Intersection over Union 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metric for bounding boxes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526BB-DE4C-310B-9545-18F1D05321A5}"/>
              </a:ext>
            </a:extLst>
          </p:cNvPr>
          <p:cNvSpPr txBox="1"/>
          <p:nvPr/>
        </p:nvSpPr>
        <p:spPr>
          <a:xfrm>
            <a:off x="7772400" y="2984212"/>
            <a:ext cx="2314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검증단계에서만 평가 지표로 사용 </a:t>
            </a:r>
            <a:endParaRPr lang="ko-KR" alt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25F73-DD41-AB72-EC35-7DF826D8F129}"/>
              </a:ext>
            </a:extLst>
          </p:cNvPr>
          <p:cNvSpPr txBox="1"/>
          <p:nvPr/>
        </p:nvSpPr>
        <p:spPr>
          <a:xfrm>
            <a:off x="1057274" y="6333168"/>
            <a:ext cx="583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9161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2C9E-825F-96BC-A390-E33717F2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E6B041-A80D-8012-EFBD-8E410D1E601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Object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detection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6B081A-DD79-DC98-F769-EC74CFF4BE1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B479BF-4BE2-6360-4F7A-D2610906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22" y="2150148"/>
            <a:ext cx="5284659" cy="38064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4D25C7-034E-D2FE-FD93-62DFADB86326}"/>
              </a:ext>
            </a:extLst>
          </p:cNvPr>
          <p:cNvSpPr txBox="1"/>
          <p:nvPr/>
        </p:nvSpPr>
        <p:spPr>
          <a:xfrm>
            <a:off x="504522" y="1198397"/>
            <a:ext cx="11182955" cy="79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내에서 여러 객체를 분류하고 위치를 찾는 작업을 객체 탐지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라고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하며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단일 객체를 분류하고 위치를 찾기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위해 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가져와 이미지 위에서 슬라이딩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슬라이딩 윈도우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시키는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접근 방법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622E3-34A8-1059-8A16-AB3C6F8BAA29}"/>
              </a:ext>
            </a:extLst>
          </p:cNvPr>
          <p:cNvSpPr txBox="1"/>
          <p:nvPr/>
        </p:nvSpPr>
        <p:spPr>
          <a:xfrm>
            <a:off x="373190" y="598357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Detecting multiple objects by sliding a CNN across the image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23EE08-A26B-B5A2-1EE7-84E3F56915BD}"/>
              </a:ext>
            </a:extLst>
          </p:cNvPr>
          <p:cNvSpPr txBox="1"/>
          <p:nvPr/>
        </p:nvSpPr>
        <p:spPr>
          <a:xfrm>
            <a:off x="5828103" y="2153655"/>
            <a:ext cx="5735247" cy="3664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 분할 및 검은색 상자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(3,3) Sliding Window: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이미지를 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6,8)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격자로 분할한 후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검은색 두꺼운 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(CNN)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화살표 방향으로 한 칸씩 이동시키며 객체를 탐지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빨간색 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박스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예측 발생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윈도우가 이동할 때마다 동일한 꽃이 반복 검출되어 이동 경로상에 위치한 객체는 여러 개의 중복된 빨간색 상자로 감지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박스 두께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Objectness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Score):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중앙 상단 장미 위의 두꺼운 빨간색 상자는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객체성 점수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꽃이 존재할 확률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가장 높음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NMS(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비최대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억제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가장 두꺼운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점수가 높은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상자와 높은 비율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60% 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 겹치는 주변의 얇은 빨간색 상자들을 순차적으로 제거하여 최종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상자만 남김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 rtl="0" fontAlgn="base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치명적 단점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단일 이미지를 수십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~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수백 번 나누어 </a:t>
            </a:r>
            <a:r>
              <a:rPr lang="en-US" altLang="ko-KR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통과시켜야 하므로 </a:t>
            </a:r>
            <a:r>
              <a:rPr lang="ko-KR" altLang="en-US" sz="12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연산량이</a:t>
            </a:r>
            <a:r>
              <a:rPr lang="ko-KR" altLang="en-US" sz="12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매우 많고 속도가 느림</a:t>
            </a:r>
            <a:endParaRPr lang="en-US" altLang="ko-KR" sz="12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567C3-E1C3-3DFB-84D7-A0FAFF3F2AAB}"/>
              </a:ext>
            </a:extLst>
          </p:cNvPr>
          <p:cNvSpPr txBox="1"/>
          <p:nvPr/>
        </p:nvSpPr>
        <p:spPr>
          <a:xfrm>
            <a:off x="373190" y="6222128"/>
            <a:ext cx="583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Hands-on Machine Learning with Scikit-Learn,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TensorFlow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264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1291-65B8-2607-A763-35978B2E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103A78-68E8-3D11-979E-0F379E14767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Object</a:t>
            </a:r>
            <a:r>
              <a:rPr lang="ko-KR" altLang="en-US" b="1" cap="none" dirty="0"/>
              <a:t> </a:t>
            </a:r>
            <a:r>
              <a:rPr lang="en-US" altLang="ko-KR" b="1" cap="none" dirty="0"/>
              <a:t>detection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F38DC3E-636F-014F-6DE4-581671C359A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AB3F19-AA13-4959-3E7B-F51CA1D700F0}"/>
              </a:ext>
            </a:extLst>
          </p:cNvPr>
          <p:cNvSpPr txBox="1"/>
          <p:nvPr/>
        </p:nvSpPr>
        <p:spPr>
          <a:xfrm>
            <a:off x="1613434" y="3233645"/>
            <a:ext cx="9282648" cy="12963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단순한 객체 탐지 접근법은 잘 작동하지만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CNN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매우 많이 실행해야 하므로 속도가 상당히 느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리지만 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완전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(FCN)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사용하면 </a:t>
            </a:r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이미지 위로 훨씬 빠르게 </a:t>
            </a:r>
            <a:r>
              <a:rPr lang="ko-KR" altLang="en-US" b="0" i="0" u="none" strike="noStrike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슬라이딩시킬</a:t>
            </a:r>
            <a:r>
              <a:rPr lang="ko-KR" altLang="en-US" b="0" i="0" u="none" strike="noStrike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수 있음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17581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CF0E-8279-5950-B1BF-6EC66B29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ED156-85F9-6361-3035-1239A3E276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FCN(Fully Convolutional Network) for Semantic Segmentation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D2CE9B3E-06D9-44DF-9A00-76DE6680F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A01D30-844C-E202-00FE-42684709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53" y="1336802"/>
            <a:ext cx="10319554" cy="51306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C662D493-A15E-6095-12C4-C4746D856562}"/>
              </a:ext>
            </a:extLst>
          </p:cNvPr>
          <p:cNvSpPr/>
          <p:nvPr/>
        </p:nvSpPr>
        <p:spPr>
          <a:xfrm>
            <a:off x="9302881" y="2072607"/>
            <a:ext cx="2254652" cy="1042068"/>
          </a:xfrm>
          <a:prstGeom prst="borderCallout2">
            <a:avLst>
              <a:gd name="adj1" fmla="val 51656"/>
              <a:gd name="adj2" fmla="val -3171"/>
              <a:gd name="adj3" fmla="val 112897"/>
              <a:gd name="adj4" fmla="val -17404"/>
              <a:gd name="adj5" fmla="val 240184"/>
              <a:gd name="adj6" fmla="val -2871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마지막 레이어에 적힌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숫자는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클래스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배경 포함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픽셀 단위로 분류</a:t>
            </a:r>
            <a:endParaRPr lang="ko-KR" altLang="en-US" sz="14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F3D8F0D-9E88-8710-0959-0475B5207D0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DE9B88-4D6A-25F7-D71C-1D90700F3170}"/>
              </a:ext>
            </a:extLst>
          </p:cNvPr>
          <p:cNvSpPr/>
          <p:nvPr/>
        </p:nvSpPr>
        <p:spPr>
          <a:xfrm>
            <a:off x="8562976" y="4533900"/>
            <a:ext cx="400050" cy="400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829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AD5A0-A991-0460-C32A-93501450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4DAFB3-E94C-09A1-D809-9274480285B4}"/>
              </a:ext>
            </a:extLst>
          </p:cNvPr>
          <p:cNvSpPr/>
          <p:nvPr/>
        </p:nvSpPr>
        <p:spPr>
          <a:xfrm>
            <a:off x="7075316" y="2726836"/>
            <a:ext cx="4012429" cy="2901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566E74A-0D6A-8A23-86C3-3F744641BF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FCN-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F639CD7-C517-EC11-CED5-C6B6ADA8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3C27D-B2BA-D9DB-84F1-0DB1BA9F5D24}"/>
              </a:ext>
            </a:extLst>
          </p:cNvPr>
          <p:cNvSpPr txBox="1"/>
          <p:nvPr/>
        </p:nvSpPr>
        <p:spPr>
          <a:xfrm>
            <a:off x="542924" y="1232163"/>
            <a:ext cx="110394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Score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채널 수를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개로 맞춘 이유는 분류하고자 하는 객체 클래스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자전거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버스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식탁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오토바이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화분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TV)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배경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52" name="Rectangle 1">
            <a:extLst>
              <a:ext uri="{FF2B5EF4-FFF2-40B4-BE49-F238E27FC236}">
                <a16:creationId xmlns:a16="http://schemas.microsoft.com/office/drawing/2014/main" id="{8FFF56AF-6DED-F5D0-233A-7480F39A4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235" y="2763286"/>
            <a:ext cx="6046969" cy="25984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채널의 역할 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Heatmap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채널이 21개가 되면, 출력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텐서의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각 채널</a:t>
            </a:r>
            <a:r>
              <a:rPr kumimoji="0" lang="en-US" altLang="ko-KR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하나하나가 특정 클래스 하나에 대응하는 공간 점수 지도(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역할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예를 들어: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배경'일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비행기'일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7번 채널: 해당 픽셀이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고양이'일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확률/점수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2EEB1E-8C4E-94B1-2485-3DA753D43261}"/>
              </a:ext>
            </a:extLst>
          </p:cNvPr>
          <p:cNvSpPr txBox="1"/>
          <p:nvPr/>
        </p:nvSpPr>
        <p:spPr>
          <a:xfrm>
            <a:off x="8825272" y="5082111"/>
            <a:ext cx="2262473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Score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Heatmap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DAF650E-3D99-E0BA-1919-6805F41FD1C8}"/>
              </a:ext>
            </a:extLst>
          </p:cNvPr>
          <p:cNvGrpSpPr/>
          <p:nvPr/>
        </p:nvGrpSpPr>
        <p:grpSpPr>
          <a:xfrm>
            <a:off x="7075316" y="2559417"/>
            <a:ext cx="3096731" cy="3017448"/>
            <a:chOff x="7075316" y="2559417"/>
            <a:chExt cx="3096731" cy="3017448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766290C-98D5-0176-3106-8EB001B63797}"/>
                </a:ext>
              </a:extLst>
            </p:cNvPr>
            <p:cNvGrpSpPr/>
            <p:nvPr/>
          </p:nvGrpSpPr>
          <p:grpSpPr>
            <a:xfrm>
              <a:off x="7075316" y="2559417"/>
              <a:ext cx="2813162" cy="3017448"/>
              <a:chOff x="2326335" y="2535619"/>
              <a:chExt cx="2813162" cy="3017448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F2F2A582-A009-212B-5E61-675C3150F883}"/>
                  </a:ext>
                </a:extLst>
              </p:cNvPr>
              <p:cNvSpPr/>
              <p:nvPr/>
            </p:nvSpPr>
            <p:spPr>
              <a:xfrm>
                <a:off x="4496750" y="2964815"/>
                <a:ext cx="642747" cy="63458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F9E8E5C-6769-2C5B-F529-044CBAD7F8C4}"/>
                  </a:ext>
                </a:extLst>
              </p:cNvPr>
              <p:cNvSpPr/>
              <p:nvPr/>
            </p:nvSpPr>
            <p:spPr>
              <a:xfrm>
                <a:off x="4340922" y="3111136"/>
                <a:ext cx="642747" cy="6345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048D004-FA28-8F64-2C74-0B7EE3EEF487}"/>
                  </a:ext>
                </a:extLst>
              </p:cNvPr>
              <p:cNvSpPr/>
              <p:nvPr/>
            </p:nvSpPr>
            <p:spPr>
              <a:xfrm>
                <a:off x="4190617" y="3270043"/>
                <a:ext cx="642747" cy="63458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B27A8B85-44A5-2477-6E9B-68FD0E93F025}"/>
                  </a:ext>
                </a:extLst>
              </p:cNvPr>
              <p:cNvSpPr/>
              <p:nvPr/>
            </p:nvSpPr>
            <p:spPr>
              <a:xfrm>
                <a:off x="3322415" y="4146355"/>
                <a:ext cx="642747" cy="6345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57B4925-5820-C973-F001-33B98032E746}"/>
                  </a:ext>
                </a:extLst>
              </p:cNvPr>
              <p:cNvSpPr/>
              <p:nvPr/>
            </p:nvSpPr>
            <p:spPr>
              <a:xfrm>
                <a:off x="3096958" y="4373580"/>
                <a:ext cx="642747" cy="6345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BE1BBC9-F5F3-BB30-8CC2-BF7AD1F1E60B}"/>
                  </a:ext>
                </a:extLst>
              </p:cNvPr>
              <p:cNvSpPr/>
              <p:nvPr/>
            </p:nvSpPr>
            <p:spPr>
              <a:xfrm>
                <a:off x="2905125" y="4553712"/>
                <a:ext cx="642747" cy="6345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04F1B561-6FBA-59FA-9D80-471099064A4C}"/>
                  </a:ext>
                </a:extLst>
              </p:cNvPr>
              <p:cNvSpPr/>
              <p:nvPr/>
            </p:nvSpPr>
            <p:spPr>
              <a:xfrm>
                <a:off x="3991449" y="3496634"/>
                <a:ext cx="642747" cy="6345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정육면체 21">
                <a:extLst>
                  <a:ext uri="{FF2B5EF4-FFF2-40B4-BE49-F238E27FC236}">
                    <a16:creationId xmlns:a16="http://schemas.microsoft.com/office/drawing/2014/main" id="{7B4136E7-0347-785E-E2DE-DD713E908F8E}"/>
                  </a:ext>
                </a:extLst>
              </p:cNvPr>
              <p:cNvSpPr/>
              <p:nvPr/>
            </p:nvSpPr>
            <p:spPr>
              <a:xfrm>
                <a:off x="2905125" y="2965450"/>
                <a:ext cx="2228850" cy="2222845"/>
              </a:xfrm>
              <a:prstGeom prst="cube">
                <a:avLst>
                  <a:gd name="adj" fmla="val 7127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오른쪽 중괄호 46">
                <a:extLst>
                  <a:ext uri="{FF2B5EF4-FFF2-40B4-BE49-F238E27FC236}">
                    <a16:creationId xmlns:a16="http://schemas.microsoft.com/office/drawing/2014/main" id="{869B55E9-C794-3E51-307A-6E60A7F8926B}"/>
                  </a:ext>
                </a:extLst>
              </p:cNvPr>
              <p:cNvSpPr/>
              <p:nvPr/>
            </p:nvSpPr>
            <p:spPr>
              <a:xfrm rot="13475167">
                <a:off x="3304710" y="2535619"/>
                <a:ext cx="223691" cy="2040566"/>
              </a:xfrm>
              <a:prstGeom prst="rightBrace">
                <a:avLst>
                  <a:gd name="adj1" fmla="val 37576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ABA18-CC29-3AE6-9DB6-13275C1B0938}"/>
                  </a:ext>
                </a:extLst>
              </p:cNvPr>
              <p:cNvSpPr txBox="1"/>
              <p:nvPr/>
            </p:nvSpPr>
            <p:spPr>
              <a:xfrm>
                <a:off x="2326335" y="3176334"/>
                <a:ext cx="13645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21 channels</a:t>
                </a:r>
                <a:endParaRPr lang="ko-KR" altLang="en-US" sz="1400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5DA85A-761B-197D-465E-1B685482FB92}"/>
                  </a:ext>
                </a:extLst>
              </p:cNvPr>
              <p:cNvSpPr txBox="1"/>
              <p:nvPr/>
            </p:nvSpPr>
            <p:spPr>
              <a:xfrm>
                <a:off x="2497942" y="4676839"/>
                <a:ext cx="3735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endParaRPr lang="ko-KR" altLang="en-US" sz="14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0491CA8-A265-8D70-1E2E-D487E6189A56}"/>
                  </a:ext>
                </a:extLst>
              </p:cNvPr>
              <p:cNvSpPr txBox="1"/>
              <p:nvPr/>
            </p:nvSpPr>
            <p:spPr>
              <a:xfrm>
                <a:off x="3008586" y="5245290"/>
                <a:ext cx="3735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1</a:t>
                </a:r>
                <a:endParaRPr lang="ko-KR" altLang="en-US" sz="1400" dirty="0"/>
              </a:p>
            </p:txBody>
          </p:sp>
        </p:grpSp>
        <p:pic>
          <p:nvPicPr>
            <p:cNvPr id="58" name="그래픽 57" descr="고양이">
              <a:extLst>
                <a:ext uri="{FF2B5EF4-FFF2-40B4-BE49-F238E27FC236}">
                  <a16:creationId xmlns:a16="http://schemas.microsoft.com/office/drawing/2014/main" id="{4070CE4D-BDD9-BF3F-9ED3-BD360A896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98974" y="4206187"/>
              <a:ext cx="480012" cy="480012"/>
            </a:xfrm>
            <a:prstGeom prst="rect">
              <a:avLst/>
            </a:prstGeom>
          </p:spPr>
        </p:pic>
        <p:pic>
          <p:nvPicPr>
            <p:cNvPr id="60" name="그래픽 59" descr="토끼">
              <a:extLst>
                <a:ext uri="{FF2B5EF4-FFF2-40B4-BE49-F238E27FC236}">
                  <a16:creationId xmlns:a16="http://schemas.microsoft.com/office/drawing/2014/main" id="{1A1AB4BF-B0D3-361A-C0DA-E5AB523B4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97626" y="3363787"/>
              <a:ext cx="480012" cy="480012"/>
            </a:xfrm>
            <a:prstGeom prst="rect">
              <a:avLst/>
            </a:prstGeom>
          </p:spPr>
        </p:pic>
        <p:pic>
          <p:nvPicPr>
            <p:cNvPr id="62" name="그래픽 61" descr="벌새">
              <a:extLst>
                <a:ext uri="{FF2B5EF4-FFF2-40B4-BE49-F238E27FC236}">
                  <a16:creationId xmlns:a16="http://schemas.microsoft.com/office/drawing/2014/main" id="{82413AE0-E8A9-B8B2-1321-949886EDE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84670" y="2990534"/>
              <a:ext cx="480012" cy="480012"/>
            </a:xfrm>
            <a:prstGeom prst="rect">
              <a:avLst/>
            </a:prstGeom>
          </p:spPr>
        </p:pic>
        <p:pic>
          <p:nvPicPr>
            <p:cNvPr id="64" name="그래픽 63" descr="사슴">
              <a:extLst>
                <a:ext uri="{FF2B5EF4-FFF2-40B4-BE49-F238E27FC236}">
                  <a16:creationId xmlns:a16="http://schemas.microsoft.com/office/drawing/2014/main" id="{78870243-3651-6327-F0F5-ECD841543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92035" y="2978963"/>
              <a:ext cx="480012" cy="480012"/>
            </a:xfrm>
            <a:prstGeom prst="rect">
              <a:avLst/>
            </a:prstGeom>
          </p:spPr>
        </p:pic>
        <p:pic>
          <p:nvPicPr>
            <p:cNvPr id="68" name="그래픽 67" descr="수신기">
              <a:extLst>
                <a:ext uri="{FF2B5EF4-FFF2-40B4-BE49-F238E27FC236}">
                  <a16:creationId xmlns:a16="http://schemas.microsoft.com/office/drawing/2014/main" id="{4682A079-FCE4-6740-E100-9E4F95D3B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25996" y="4307177"/>
              <a:ext cx="480012" cy="480012"/>
            </a:xfrm>
            <a:prstGeom prst="rect">
              <a:avLst/>
            </a:prstGeom>
          </p:spPr>
        </p:pic>
        <p:pic>
          <p:nvPicPr>
            <p:cNvPr id="70" name="그래픽 69" descr="신발">
              <a:extLst>
                <a:ext uri="{FF2B5EF4-FFF2-40B4-BE49-F238E27FC236}">
                  <a16:creationId xmlns:a16="http://schemas.microsoft.com/office/drawing/2014/main" id="{7E49F504-3AEB-66E1-738D-71BE0BD6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97767" y="4683418"/>
              <a:ext cx="480012" cy="480012"/>
            </a:xfrm>
            <a:prstGeom prst="rect">
              <a:avLst/>
            </a:prstGeom>
          </p:spPr>
        </p:pic>
        <p:pic>
          <p:nvPicPr>
            <p:cNvPr id="72" name="그래픽 71" descr="바지">
              <a:extLst>
                <a:ext uri="{FF2B5EF4-FFF2-40B4-BE49-F238E27FC236}">
                  <a16:creationId xmlns:a16="http://schemas.microsoft.com/office/drawing/2014/main" id="{C8B85229-61FF-5923-4C0C-BDF45EF9E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96559" y="3774777"/>
              <a:ext cx="480012" cy="480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10669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46DE-FA5C-3049-E82A-DC1215F5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C64D8E94-EDB7-9C92-FBA4-F8B6F6CDE11F}"/>
              </a:ext>
            </a:extLst>
          </p:cNvPr>
          <p:cNvSpPr/>
          <p:nvPr/>
        </p:nvSpPr>
        <p:spPr>
          <a:xfrm>
            <a:off x="483624" y="2381250"/>
            <a:ext cx="11281902" cy="4177330"/>
          </a:xfrm>
          <a:prstGeom prst="roundRect">
            <a:avLst>
              <a:gd name="adj" fmla="val 34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16A536A-CD1E-9122-08C8-D98A0C7760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8DC2E82-94D1-EA7D-6DEC-CE1F32458A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33638B-7163-FC3D-7489-5FE9AEAE4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73" y="1259918"/>
            <a:ext cx="11083501" cy="982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21개 채널로 확장 및 복원된 최종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21,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]에서 각 픽셀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위치를 세로로 가로질러 21개 채널의 값을 비교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하여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21개 값 중 가장 높은 점수를 가진 채널의 인덱스(0~20)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선택하여 최종 [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크기의 픽셀 단위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맵으로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완성(예: 7번 채널 점수가 가장 높으면 그 픽셀은 고양이로 판정)</a:t>
            </a: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CB0666AC-549E-4D2D-A77B-221E7107E628}"/>
              </a:ext>
            </a:extLst>
          </p:cNvPr>
          <p:cNvGrpSpPr/>
          <p:nvPr/>
        </p:nvGrpSpPr>
        <p:grpSpPr>
          <a:xfrm>
            <a:off x="8542000" y="2628065"/>
            <a:ext cx="3101053" cy="2595998"/>
            <a:chOff x="800634" y="2761880"/>
            <a:chExt cx="4088295" cy="371688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86F4434-B8A9-9AC3-E129-1B5D4F4FB0A3}"/>
                </a:ext>
              </a:extLst>
            </p:cNvPr>
            <p:cNvSpPr/>
            <p:nvPr/>
          </p:nvSpPr>
          <p:spPr>
            <a:xfrm>
              <a:off x="1003264" y="3305175"/>
              <a:ext cx="3885665" cy="31735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그래픽 10" descr="고양이">
              <a:extLst>
                <a:ext uri="{FF2B5EF4-FFF2-40B4-BE49-F238E27FC236}">
                  <a16:creationId xmlns:a16="http://schemas.microsoft.com/office/drawing/2014/main" id="{8AA7D191-F9FA-3065-5622-DF78832F0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9161" y="4129885"/>
              <a:ext cx="718015" cy="718015"/>
            </a:xfrm>
            <a:prstGeom prst="rect">
              <a:avLst/>
            </a:prstGeom>
          </p:spPr>
        </p:pic>
        <p:pic>
          <p:nvPicPr>
            <p:cNvPr id="12" name="그래픽 11" descr="토끼">
              <a:extLst>
                <a:ext uri="{FF2B5EF4-FFF2-40B4-BE49-F238E27FC236}">
                  <a16:creationId xmlns:a16="http://schemas.microsoft.com/office/drawing/2014/main" id="{6B24F183-8075-8E28-929A-E36EE214F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5021" y="5290451"/>
              <a:ext cx="668448" cy="668448"/>
            </a:xfrm>
            <a:prstGeom prst="rect">
              <a:avLst/>
            </a:prstGeom>
          </p:spPr>
        </p:pic>
        <p:pic>
          <p:nvPicPr>
            <p:cNvPr id="13" name="그래픽 12" descr="벌새">
              <a:extLst>
                <a:ext uri="{FF2B5EF4-FFF2-40B4-BE49-F238E27FC236}">
                  <a16:creationId xmlns:a16="http://schemas.microsoft.com/office/drawing/2014/main" id="{8B3ED5F2-8204-04D3-D621-4A4AF4DAD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68942" y="3507904"/>
              <a:ext cx="637623" cy="637623"/>
            </a:xfrm>
            <a:prstGeom prst="rect">
              <a:avLst/>
            </a:prstGeom>
          </p:spPr>
        </p:pic>
        <p:pic>
          <p:nvPicPr>
            <p:cNvPr id="14" name="그래픽 13" descr="사슴">
              <a:extLst>
                <a:ext uri="{FF2B5EF4-FFF2-40B4-BE49-F238E27FC236}">
                  <a16:creationId xmlns:a16="http://schemas.microsoft.com/office/drawing/2014/main" id="{F8F953A7-F7D5-B999-B010-BCD847AD9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50308" y="4220378"/>
              <a:ext cx="983012" cy="98301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4F896E-4A8D-CA0B-D282-FD5489A3757B}"/>
                </a:ext>
              </a:extLst>
            </p:cNvPr>
            <p:cNvSpPr txBox="1"/>
            <p:nvPr/>
          </p:nvSpPr>
          <p:spPr>
            <a:xfrm>
              <a:off x="800634" y="2761880"/>
              <a:ext cx="3739518" cy="440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224 x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224 pixel,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1</a:t>
              </a:r>
              <a:r>
                <a: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 </a:t>
              </a:r>
              <a:r>
                <a: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rPr>
                <a:t>channels</a:t>
              </a:r>
              <a:endParaRPr lang="ko-KR" altLang="en-US" sz="14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04A1AC-463F-0A8E-1CCB-AD5DA761BC62}"/>
                </a:ext>
              </a:extLst>
            </p:cNvPr>
            <p:cNvSpPr/>
            <p:nvPr/>
          </p:nvSpPr>
          <p:spPr>
            <a:xfrm>
              <a:off x="995237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C96CF56-722D-70F7-3772-7E054D74FE66}"/>
                </a:ext>
              </a:extLst>
            </p:cNvPr>
            <p:cNvSpPr/>
            <p:nvPr/>
          </p:nvSpPr>
          <p:spPr>
            <a:xfrm>
              <a:off x="1259224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4DA538C-839C-CA2E-3721-119DE3A94D1B}"/>
                </a:ext>
              </a:extLst>
            </p:cNvPr>
            <p:cNvSpPr/>
            <p:nvPr/>
          </p:nvSpPr>
          <p:spPr>
            <a:xfrm>
              <a:off x="1523211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916E692-189E-66BD-E51D-82B61DAA056F}"/>
                </a:ext>
              </a:extLst>
            </p:cNvPr>
            <p:cNvSpPr/>
            <p:nvPr/>
          </p:nvSpPr>
          <p:spPr>
            <a:xfrm>
              <a:off x="1787198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DA07C14-8E82-5534-988D-FBB61A2572D7}"/>
                </a:ext>
              </a:extLst>
            </p:cNvPr>
            <p:cNvSpPr/>
            <p:nvPr/>
          </p:nvSpPr>
          <p:spPr>
            <a:xfrm>
              <a:off x="2051185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3405BE2-7A19-EDB9-5BB0-45DF1AFFFDFB}"/>
                </a:ext>
              </a:extLst>
            </p:cNvPr>
            <p:cNvSpPr/>
            <p:nvPr/>
          </p:nvSpPr>
          <p:spPr>
            <a:xfrm>
              <a:off x="2315172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2DDEC-EE76-D2C5-E3B1-018C1F787CD4}"/>
                </a:ext>
              </a:extLst>
            </p:cNvPr>
            <p:cNvSpPr/>
            <p:nvPr/>
          </p:nvSpPr>
          <p:spPr>
            <a:xfrm>
              <a:off x="2579161" y="3305105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D4716BA-29CB-6551-57B9-934EBD815705}"/>
                </a:ext>
              </a:extLst>
            </p:cNvPr>
            <p:cNvSpPr/>
            <p:nvPr/>
          </p:nvSpPr>
          <p:spPr>
            <a:xfrm>
              <a:off x="995237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DDA3A68-9F34-9244-126A-DA624B5E0E91}"/>
                </a:ext>
              </a:extLst>
            </p:cNvPr>
            <p:cNvSpPr/>
            <p:nvPr/>
          </p:nvSpPr>
          <p:spPr>
            <a:xfrm>
              <a:off x="1259224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2A8B6470-2684-DAF2-594C-608345580059}"/>
                </a:ext>
              </a:extLst>
            </p:cNvPr>
            <p:cNvSpPr/>
            <p:nvPr/>
          </p:nvSpPr>
          <p:spPr>
            <a:xfrm>
              <a:off x="1523211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7F23E5E-21AE-0A65-C8F3-F124C2D2B5A1}"/>
                </a:ext>
              </a:extLst>
            </p:cNvPr>
            <p:cNvSpPr/>
            <p:nvPr/>
          </p:nvSpPr>
          <p:spPr>
            <a:xfrm>
              <a:off x="1787198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247049E-7AE0-3FE2-8930-F348DDD28B9A}"/>
                </a:ext>
              </a:extLst>
            </p:cNvPr>
            <p:cNvSpPr/>
            <p:nvPr/>
          </p:nvSpPr>
          <p:spPr>
            <a:xfrm>
              <a:off x="2051185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C1A98EDF-7BB1-0044-5D1D-71E7709BE792}"/>
                </a:ext>
              </a:extLst>
            </p:cNvPr>
            <p:cNvSpPr/>
            <p:nvPr/>
          </p:nvSpPr>
          <p:spPr>
            <a:xfrm>
              <a:off x="2315172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63801F2-777B-8AE0-6BDF-51B26AEA8D05}"/>
                </a:ext>
              </a:extLst>
            </p:cNvPr>
            <p:cNvSpPr/>
            <p:nvPr/>
          </p:nvSpPr>
          <p:spPr>
            <a:xfrm>
              <a:off x="2579161" y="3581330"/>
              <a:ext cx="253199" cy="253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F5853C91-05F4-AF08-BEBD-6CC3C54E90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7153" y="5225680"/>
            <a:ext cx="2045900" cy="1275184"/>
          </a:xfrm>
          <a:prstGeom prst="rect">
            <a:avLst/>
          </a:prstGeom>
          <a:ln>
            <a:noFill/>
          </a:ln>
        </p:spPr>
      </p:pic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0B06E35D-7105-B13B-8128-5C5348F35831}"/>
              </a:ext>
            </a:extLst>
          </p:cNvPr>
          <p:cNvGrpSpPr/>
          <p:nvPr/>
        </p:nvGrpSpPr>
        <p:grpSpPr>
          <a:xfrm>
            <a:off x="4740421" y="3380163"/>
            <a:ext cx="2692024" cy="2324075"/>
            <a:chOff x="7099397" y="2559417"/>
            <a:chExt cx="3072650" cy="2652676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5DC83272-EA8D-7350-C231-81A017DF78A1}"/>
                </a:ext>
              </a:extLst>
            </p:cNvPr>
            <p:cNvGrpSpPr/>
            <p:nvPr/>
          </p:nvGrpSpPr>
          <p:grpSpPr>
            <a:xfrm>
              <a:off x="7099397" y="2559417"/>
              <a:ext cx="2789081" cy="2652676"/>
              <a:chOff x="2350416" y="2535619"/>
              <a:chExt cx="2789081" cy="2652676"/>
            </a:xfrm>
          </p:grpSpPr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B7BDC8C8-144C-F96F-4BDF-D813B14E42F1}"/>
                  </a:ext>
                </a:extLst>
              </p:cNvPr>
              <p:cNvSpPr/>
              <p:nvPr/>
            </p:nvSpPr>
            <p:spPr>
              <a:xfrm>
                <a:off x="4496750" y="2964815"/>
                <a:ext cx="642747" cy="63458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7C637393-EE80-F2EF-2486-2AC7D87F62A8}"/>
                  </a:ext>
                </a:extLst>
              </p:cNvPr>
              <p:cNvSpPr/>
              <p:nvPr/>
            </p:nvSpPr>
            <p:spPr>
              <a:xfrm>
                <a:off x="4340922" y="3111136"/>
                <a:ext cx="642747" cy="6345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CA23F8A5-F5B9-C955-C358-FC989393E71C}"/>
                  </a:ext>
                </a:extLst>
              </p:cNvPr>
              <p:cNvSpPr/>
              <p:nvPr/>
            </p:nvSpPr>
            <p:spPr>
              <a:xfrm>
                <a:off x="4190617" y="3270043"/>
                <a:ext cx="642747" cy="63458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77C747CE-B4CA-281B-D265-D40ECDB3F707}"/>
                  </a:ext>
                </a:extLst>
              </p:cNvPr>
              <p:cNvSpPr/>
              <p:nvPr/>
            </p:nvSpPr>
            <p:spPr>
              <a:xfrm>
                <a:off x="3322415" y="4146355"/>
                <a:ext cx="642747" cy="63458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C5D9961F-29A3-D6B6-ECFC-69C4CB789444}"/>
                  </a:ext>
                </a:extLst>
              </p:cNvPr>
              <p:cNvSpPr/>
              <p:nvPr/>
            </p:nvSpPr>
            <p:spPr>
              <a:xfrm>
                <a:off x="3096958" y="4373580"/>
                <a:ext cx="642747" cy="6345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9BC3A6AE-C123-3478-2591-C64F23144C04}"/>
                  </a:ext>
                </a:extLst>
              </p:cNvPr>
              <p:cNvSpPr/>
              <p:nvPr/>
            </p:nvSpPr>
            <p:spPr>
              <a:xfrm>
                <a:off x="2905125" y="4553712"/>
                <a:ext cx="642747" cy="63458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D68AE5C7-3EBE-D5D6-10BE-78A5279D0480}"/>
                  </a:ext>
                </a:extLst>
              </p:cNvPr>
              <p:cNvSpPr/>
              <p:nvPr/>
            </p:nvSpPr>
            <p:spPr>
              <a:xfrm>
                <a:off x="3991449" y="3496634"/>
                <a:ext cx="642747" cy="6345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정육면체 117">
                <a:extLst>
                  <a:ext uri="{FF2B5EF4-FFF2-40B4-BE49-F238E27FC236}">
                    <a16:creationId xmlns:a16="http://schemas.microsoft.com/office/drawing/2014/main" id="{27320341-EF71-1B25-0596-95E5AB3B6C45}"/>
                  </a:ext>
                </a:extLst>
              </p:cNvPr>
              <p:cNvSpPr/>
              <p:nvPr/>
            </p:nvSpPr>
            <p:spPr>
              <a:xfrm>
                <a:off x="2905125" y="2965450"/>
                <a:ext cx="2228850" cy="2222845"/>
              </a:xfrm>
              <a:prstGeom prst="cube">
                <a:avLst>
                  <a:gd name="adj" fmla="val 7127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오른쪽 중괄호 118">
                <a:extLst>
                  <a:ext uri="{FF2B5EF4-FFF2-40B4-BE49-F238E27FC236}">
                    <a16:creationId xmlns:a16="http://schemas.microsoft.com/office/drawing/2014/main" id="{36A9DFC1-0121-7A6F-DECC-1B33E598FFAD}"/>
                  </a:ext>
                </a:extLst>
              </p:cNvPr>
              <p:cNvSpPr/>
              <p:nvPr/>
            </p:nvSpPr>
            <p:spPr>
              <a:xfrm rot="13475167">
                <a:off x="3304710" y="2535619"/>
                <a:ext cx="223691" cy="2040566"/>
              </a:xfrm>
              <a:prstGeom prst="rightBrace">
                <a:avLst>
                  <a:gd name="adj1" fmla="val 37576"/>
                  <a:gd name="adj2" fmla="val 50000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58F933B-4806-4775-7930-64378416BB2A}"/>
                  </a:ext>
                </a:extLst>
              </p:cNvPr>
              <p:cNvSpPr txBox="1"/>
              <p:nvPr/>
            </p:nvSpPr>
            <p:spPr>
              <a:xfrm>
                <a:off x="2350416" y="2967209"/>
                <a:ext cx="1364503" cy="284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21 channels</a:t>
                </a:r>
                <a:endParaRPr lang="ko-KR" altLang="en-US" sz="1400" dirty="0"/>
              </a:p>
            </p:txBody>
          </p:sp>
        </p:grpSp>
        <p:pic>
          <p:nvPicPr>
            <p:cNvPr id="104" name="그래픽 103" descr="고양이">
              <a:extLst>
                <a:ext uri="{FF2B5EF4-FFF2-40B4-BE49-F238E27FC236}">
                  <a16:creationId xmlns:a16="http://schemas.microsoft.com/office/drawing/2014/main" id="{3B6B5F4E-3B46-854B-CF6D-E6C440D10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98974" y="4206187"/>
              <a:ext cx="480012" cy="480012"/>
            </a:xfrm>
            <a:prstGeom prst="rect">
              <a:avLst/>
            </a:prstGeom>
          </p:spPr>
        </p:pic>
        <p:pic>
          <p:nvPicPr>
            <p:cNvPr id="105" name="그래픽 104" descr="토끼">
              <a:extLst>
                <a:ext uri="{FF2B5EF4-FFF2-40B4-BE49-F238E27FC236}">
                  <a16:creationId xmlns:a16="http://schemas.microsoft.com/office/drawing/2014/main" id="{C3CDE7BE-16E3-C2D4-8C57-B29E41AC4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97626" y="3363787"/>
              <a:ext cx="480012" cy="480012"/>
            </a:xfrm>
            <a:prstGeom prst="rect">
              <a:avLst/>
            </a:prstGeom>
          </p:spPr>
        </p:pic>
        <p:pic>
          <p:nvPicPr>
            <p:cNvPr id="106" name="그래픽 105" descr="벌새">
              <a:extLst>
                <a:ext uri="{FF2B5EF4-FFF2-40B4-BE49-F238E27FC236}">
                  <a16:creationId xmlns:a16="http://schemas.microsoft.com/office/drawing/2014/main" id="{0C718FF5-5388-4715-A075-718B45243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84670" y="2990534"/>
              <a:ext cx="480012" cy="480012"/>
            </a:xfrm>
            <a:prstGeom prst="rect">
              <a:avLst/>
            </a:prstGeom>
          </p:spPr>
        </p:pic>
        <p:pic>
          <p:nvPicPr>
            <p:cNvPr id="107" name="그래픽 106" descr="사슴">
              <a:extLst>
                <a:ext uri="{FF2B5EF4-FFF2-40B4-BE49-F238E27FC236}">
                  <a16:creationId xmlns:a16="http://schemas.microsoft.com/office/drawing/2014/main" id="{EDDEA459-B3B9-3251-6771-8EFFF9DF7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92035" y="2978963"/>
              <a:ext cx="480012" cy="480012"/>
            </a:xfrm>
            <a:prstGeom prst="rect">
              <a:avLst/>
            </a:prstGeom>
          </p:spPr>
        </p:pic>
        <p:pic>
          <p:nvPicPr>
            <p:cNvPr id="108" name="그래픽 107" descr="수신기">
              <a:extLst>
                <a:ext uri="{FF2B5EF4-FFF2-40B4-BE49-F238E27FC236}">
                  <a16:creationId xmlns:a16="http://schemas.microsoft.com/office/drawing/2014/main" id="{ABE4E84E-3531-5EC1-3145-9A36957E9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25996" y="4307177"/>
              <a:ext cx="480012" cy="480012"/>
            </a:xfrm>
            <a:prstGeom prst="rect">
              <a:avLst/>
            </a:prstGeom>
          </p:spPr>
        </p:pic>
        <p:pic>
          <p:nvPicPr>
            <p:cNvPr id="109" name="그래픽 108" descr="신발">
              <a:extLst>
                <a:ext uri="{FF2B5EF4-FFF2-40B4-BE49-F238E27FC236}">
                  <a16:creationId xmlns:a16="http://schemas.microsoft.com/office/drawing/2014/main" id="{F8189BFB-8A73-8295-11EF-D3C2A169C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797767" y="4683418"/>
              <a:ext cx="480012" cy="480012"/>
            </a:xfrm>
            <a:prstGeom prst="rect">
              <a:avLst/>
            </a:prstGeom>
          </p:spPr>
        </p:pic>
        <p:pic>
          <p:nvPicPr>
            <p:cNvPr id="110" name="그래픽 109" descr="바지">
              <a:extLst>
                <a:ext uri="{FF2B5EF4-FFF2-40B4-BE49-F238E27FC236}">
                  <a16:creationId xmlns:a16="http://schemas.microsoft.com/office/drawing/2014/main" id="{F6C99EF6-ACC9-406B-BA51-CF47F61C8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796559" y="3774777"/>
              <a:ext cx="480012" cy="480012"/>
            </a:xfrm>
            <a:prstGeom prst="rect">
              <a:avLst/>
            </a:prstGeom>
          </p:spPr>
        </p:pic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42512ED-B7BE-9B4C-6727-8393F212F409}"/>
              </a:ext>
            </a:extLst>
          </p:cNvPr>
          <p:cNvSpPr/>
          <p:nvPr/>
        </p:nvSpPr>
        <p:spPr>
          <a:xfrm>
            <a:off x="587047" y="3021839"/>
            <a:ext cx="2657233" cy="21702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2DB599C-AEA8-DF7B-57C3-5ACE8860B168}"/>
              </a:ext>
            </a:extLst>
          </p:cNvPr>
          <p:cNvSpPr/>
          <p:nvPr/>
        </p:nvSpPr>
        <p:spPr>
          <a:xfrm>
            <a:off x="739447" y="3174239"/>
            <a:ext cx="2657233" cy="21702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0FB0909-CD1C-B775-AECE-1D30620281CB}"/>
              </a:ext>
            </a:extLst>
          </p:cNvPr>
          <p:cNvSpPr/>
          <p:nvPr/>
        </p:nvSpPr>
        <p:spPr>
          <a:xfrm>
            <a:off x="891847" y="3326639"/>
            <a:ext cx="2657233" cy="21702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6" name="그래픽 125" descr="고양이">
            <a:extLst>
              <a:ext uri="{FF2B5EF4-FFF2-40B4-BE49-F238E27FC236}">
                <a16:creationId xmlns:a16="http://schemas.microsoft.com/office/drawing/2014/main" id="{2E47F384-CAE4-0E06-F203-E44A59E85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628" y="3992168"/>
            <a:ext cx="718015" cy="718015"/>
          </a:xfrm>
          <a:prstGeom prst="rect">
            <a:avLst/>
          </a:prstGeom>
        </p:spPr>
      </p:pic>
      <p:pic>
        <p:nvPicPr>
          <p:cNvPr id="127" name="그래픽 126" descr="토끼">
            <a:extLst>
              <a:ext uri="{FF2B5EF4-FFF2-40B4-BE49-F238E27FC236}">
                <a16:creationId xmlns:a16="http://schemas.microsoft.com/office/drawing/2014/main" id="{03A1BBAB-7342-16AD-149C-F395048C5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148" y="4780852"/>
            <a:ext cx="668448" cy="668448"/>
          </a:xfrm>
          <a:prstGeom prst="rect">
            <a:avLst/>
          </a:prstGeom>
        </p:spPr>
      </p:pic>
      <p:pic>
        <p:nvPicPr>
          <p:cNvPr id="128" name="그래픽 127" descr="벌새">
            <a:extLst>
              <a:ext uri="{FF2B5EF4-FFF2-40B4-BE49-F238E27FC236}">
                <a16:creationId xmlns:a16="http://schemas.microsoft.com/office/drawing/2014/main" id="{F2765090-1C98-4DA7-89BB-D7F6BEBDB7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9409" y="3370187"/>
            <a:ext cx="637623" cy="637623"/>
          </a:xfrm>
          <a:prstGeom prst="rect">
            <a:avLst/>
          </a:prstGeom>
        </p:spPr>
      </p:pic>
      <p:pic>
        <p:nvPicPr>
          <p:cNvPr id="129" name="그래픽 128" descr="사슴">
            <a:extLst>
              <a:ext uri="{FF2B5EF4-FFF2-40B4-BE49-F238E27FC236}">
                <a16:creationId xmlns:a16="http://schemas.microsoft.com/office/drawing/2014/main" id="{14515B32-9EA4-8601-94EA-1B71CB30F6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0775" y="4082661"/>
            <a:ext cx="983012" cy="983012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82920A51-7670-957F-DED4-1EF57377AA0E}"/>
              </a:ext>
            </a:extLst>
          </p:cNvPr>
          <p:cNvSpPr txBox="1"/>
          <p:nvPr/>
        </p:nvSpPr>
        <p:spPr>
          <a:xfrm>
            <a:off x="701754" y="2658962"/>
            <a:ext cx="2836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224 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224 pixel,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channels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E8AA2C2-4AA7-3BD4-D52C-6157FC01AAA8}"/>
              </a:ext>
            </a:extLst>
          </p:cNvPr>
          <p:cNvSpPr txBox="1"/>
          <p:nvPr/>
        </p:nvSpPr>
        <p:spPr>
          <a:xfrm>
            <a:off x="4604277" y="2709978"/>
            <a:ext cx="31970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400" b="0" i="0" u="none" strike="noStrike" cap="none" normalizeH="0" baseline="0" dirty="0">
                <a:ln>
                  <a:noFill/>
                </a:ln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FCN)</a:t>
            </a:r>
            <a:endParaRPr lang="ko-KR" altLang="en-US" sz="1400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24D7EF3B-AAF7-345B-2872-9A5D5EB00CA0}"/>
              </a:ext>
            </a:extLst>
          </p:cNvPr>
          <p:cNvCxnSpPr>
            <a:cxnSpLocks/>
          </p:cNvCxnSpPr>
          <p:nvPr/>
        </p:nvCxnSpPr>
        <p:spPr>
          <a:xfrm>
            <a:off x="3259971" y="3021839"/>
            <a:ext cx="1974710" cy="21237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617A5DD3-D74F-CC76-AC43-24C07019B7F8}"/>
              </a:ext>
            </a:extLst>
          </p:cNvPr>
          <p:cNvCxnSpPr>
            <a:cxnSpLocks/>
          </p:cNvCxnSpPr>
          <p:nvPr/>
        </p:nvCxnSpPr>
        <p:spPr>
          <a:xfrm>
            <a:off x="3562625" y="5475172"/>
            <a:ext cx="1672056" cy="22906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71368AC-2E34-7D16-E73A-1FE05DE37447}"/>
              </a:ext>
            </a:extLst>
          </p:cNvPr>
          <p:cNvCxnSpPr>
            <a:cxnSpLocks/>
          </p:cNvCxnSpPr>
          <p:nvPr/>
        </p:nvCxnSpPr>
        <p:spPr>
          <a:xfrm flipV="1">
            <a:off x="5798554" y="3021839"/>
            <a:ext cx="2875365" cy="217027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DA0F498-32B8-4BFD-3984-ECFF40A42500}"/>
              </a:ext>
            </a:extLst>
          </p:cNvPr>
          <p:cNvCxnSpPr>
            <a:cxnSpLocks/>
          </p:cNvCxnSpPr>
          <p:nvPr/>
        </p:nvCxnSpPr>
        <p:spPr>
          <a:xfrm flipV="1">
            <a:off x="5730298" y="5192114"/>
            <a:ext cx="2970239" cy="49739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35AFD14-11DC-044B-1E63-A5EE2250A105}"/>
              </a:ext>
            </a:extLst>
          </p:cNvPr>
          <p:cNvCxnSpPr>
            <a:cxnSpLocks/>
          </p:cNvCxnSpPr>
          <p:nvPr/>
        </p:nvCxnSpPr>
        <p:spPr>
          <a:xfrm>
            <a:off x="4018003" y="4641915"/>
            <a:ext cx="508237" cy="5192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6666716D-AC1C-3902-B3D5-C26BC52AC396}"/>
              </a:ext>
            </a:extLst>
          </p:cNvPr>
          <p:cNvCxnSpPr>
            <a:cxnSpLocks/>
          </p:cNvCxnSpPr>
          <p:nvPr/>
        </p:nvCxnSpPr>
        <p:spPr>
          <a:xfrm flipV="1">
            <a:off x="6951073" y="4672771"/>
            <a:ext cx="656884" cy="46898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설명선: 굽은 선 64">
            <a:extLst>
              <a:ext uri="{FF2B5EF4-FFF2-40B4-BE49-F238E27FC236}">
                <a16:creationId xmlns:a16="http://schemas.microsoft.com/office/drawing/2014/main" id="{BD692CBD-AD87-3800-1CDF-FC6629B28A14}"/>
              </a:ext>
            </a:extLst>
          </p:cNvPr>
          <p:cNvSpPr/>
          <p:nvPr/>
        </p:nvSpPr>
        <p:spPr>
          <a:xfrm>
            <a:off x="6990339" y="5669400"/>
            <a:ext cx="2645903" cy="716460"/>
          </a:xfrm>
          <a:prstGeom prst="borderCallout2">
            <a:avLst>
              <a:gd name="adj1" fmla="val -15979"/>
              <a:gd name="adj2" fmla="val 43146"/>
              <a:gd name="adj3" fmla="val -142404"/>
              <a:gd name="adj4" fmla="val 49210"/>
              <a:gd name="adj5" fmla="val -321428"/>
              <a:gd name="adj6" fmla="val 76450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224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224 = 총 50,176개의 각 픽셀 위치마다 0부터 20 사이의 정수(ID)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endParaRPr lang="ko-KR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DB91EA-3126-481B-08DB-16DD4479AE21}"/>
              </a:ext>
            </a:extLst>
          </p:cNvPr>
          <p:cNvSpPr txBox="1"/>
          <p:nvPr/>
        </p:nvSpPr>
        <p:spPr>
          <a:xfrm>
            <a:off x="3537614" y="4302272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(225, 224)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C9FD150-CD51-C5FD-54D7-82995A4534D8}"/>
              </a:ext>
            </a:extLst>
          </p:cNvPr>
          <p:cNvSpPr txBox="1"/>
          <p:nvPr/>
        </p:nvSpPr>
        <p:spPr>
          <a:xfrm>
            <a:off x="4128393" y="5208245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C642971-C25F-16CD-6056-0B34075B2ACC}"/>
              </a:ext>
            </a:extLst>
          </p:cNvPr>
          <p:cNvSpPr txBox="1"/>
          <p:nvPr/>
        </p:nvSpPr>
        <p:spPr>
          <a:xfrm>
            <a:off x="7384065" y="4292167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(225, 224)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80A914D-EE86-0717-55CF-C31C07AB7CA5}"/>
              </a:ext>
            </a:extLst>
          </p:cNvPr>
          <p:cNvSpPr txBox="1"/>
          <p:nvPr/>
        </p:nvSpPr>
        <p:spPr>
          <a:xfrm>
            <a:off x="6455828" y="5216911"/>
            <a:ext cx="960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(1, 1)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69213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2C21-BD3C-36A2-15A3-E89F2134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F7997AF-D0A1-4ABE-5D01-78CE897F72E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FCN-</a:t>
            </a:r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AlexNet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AB1C55-C95D-A15F-E48F-E5FCD4F0EF7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3DC4D-42B5-067C-6B0E-42731C21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573" y="1259918"/>
            <a:ext cx="11083501" cy="9826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다중 객체를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포함하는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(224, 224)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Network(FCN)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구조를 거치며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x 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형태의 고차원 공간 특징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채널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추출한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다시 원본 해상도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(224, 224)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배 확대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(Deconvolution)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픽셀 단위로 최종 클래스를 분류하는 연산 과정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9032BF-2404-B3DD-ADA2-0444EF13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" y="2584322"/>
            <a:ext cx="5932408" cy="30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D0E4F5-94EA-A9CA-2AE7-602FE3133E21}"/>
              </a:ext>
            </a:extLst>
          </p:cNvPr>
          <p:cNvSpPr txBox="1"/>
          <p:nvPr/>
        </p:nvSpPr>
        <p:spPr>
          <a:xfrm>
            <a:off x="565573" y="5719626"/>
            <a:ext cx="58766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networks can efficiently learn to make dense predictions for per-pixel tasks like semantic segmentation.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F5F8CC-74FA-AB85-7160-42FCB1E1FA18}"/>
              </a:ext>
            </a:extLst>
          </p:cNvPr>
          <p:cNvSpPr txBox="1"/>
          <p:nvPr/>
        </p:nvSpPr>
        <p:spPr>
          <a:xfrm>
            <a:off x="6566432" y="2577434"/>
            <a:ext cx="514931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pixelwise prediction 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픽셀 단위 예측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기존 분류 모델처럼 이미지 전체에 대해 하나의 라벨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개와 고양이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만 내놓는 것이 아니라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이미지의 모든 픽셀 하나하나마다 어떤 클래스인지 개별적으로 예측한 지도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Map/Score Map)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6F7DA-21AE-F9E0-A865-566B3FC88D86}"/>
              </a:ext>
            </a:extLst>
          </p:cNvPr>
          <p:cNvSpPr txBox="1"/>
          <p:nvPr/>
        </p:nvSpPr>
        <p:spPr>
          <a:xfrm>
            <a:off x="6566432" y="4439144"/>
            <a:ext cx="514931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segmentation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정답 데이터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Ground Truth(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정답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실제값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줄임말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사람이 직접 이미지 상의 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배경 영역을 정교하게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라벨링해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둔 실제 정답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세그멘테이션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지도를 의미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모델은 자신이 예측한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pixelwise prediction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 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segmentation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g.t.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비교하여 학습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(backward/learning)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진행</a:t>
            </a:r>
          </a:p>
        </p:txBody>
      </p:sp>
    </p:spTree>
    <p:extLst>
      <p:ext uri="{BB962C8B-B14F-4D97-AF65-F5344CB8AC3E}">
        <p14:creationId xmlns:p14="http://schemas.microsoft.com/office/powerpoint/2010/main" val="780792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87C48-2054-356F-D59A-A1610505F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0EE87D-1355-D2E8-BF7C-16F0609FAC0C}"/>
              </a:ext>
            </a:extLst>
          </p:cNvPr>
          <p:cNvSpPr/>
          <p:nvPr/>
        </p:nvSpPr>
        <p:spPr>
          <a:xfrm>
            <a:off x="723900" y="4147610"/>
            <a:ext cx="10791825" cy="4157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6F33DF2-9EF9-7B85-A8F1-4E5ECE7953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b="1" cap="none" dirty="0"/>
              <a:t>Appendix</a:t>
            </a:r>
          </a:p>
        </p:txBody>
      </p:sp>
      <p:sp>
        <p:nvSpPr>
          <p:cNvPr id="11" name="AutoShape 2" descr="라이트박스에 표시된 선택된 이미지">
            <a:extLst>
              <a:ext uri="{FF2B5EF4-FFF2-40B4-BE49-F238E27FC236}">
                <a16:creationId xmlns:a16="http://schemas.microsoft.com/office/drawing/2014/main" id="{24A5ED47-BDF3-5C20-B866-F6754BFC48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BACCE-73EC-634D-67DE-20A01E2109F6}"/>
              </a:ext>
            </a:extLst>
          </p:cNvPr>
          <p:cNvSpPr txBox="1"/>
          <p:nvPr/>
        </p:nvSpPr>
        <p:spPr>
          <a:xfrm>
            <a:off x="864719" y="2022685"/>
            <a:ext cx="10462561" cy="254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“Hands-on Machine Learning with Scikit-Learn, </a:t>
            </a:r>
            <a:r>
              <a:rPr lang="en-US" altLang="ko-KR" dirty="0" err="1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Keras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&amp; TensorFlow”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CHAPTER 14 Deep Computer Vision Using Convolutional Neural Networks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 </a:t>
            </a:r>
            <a:r>
              <a:rPr lang="en-US" altLang="ko-KR" b="1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Classification and Localization, Object Detection, Fully Convolutional Networks 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의 내용을 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merge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하여 구성</a:t>
            </a:r>
            <a:r>
              <a:rPr lang="en-US" altLang="ko-KR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(</a:t>
            </a:r>
            <a:r>
              <a:rPr lang="en-US" altLang="ko-KR" dirty="0">
                <a:latin typeface="Century Gothic" panose="020B0502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YOLO</a:t>
            </a: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는 제외</a:t>
            </a:r>
            <a:r>
              <a:rPr lang="en-US" altLang="ko-KR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Century Gothic" panose="020B050202020202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Century Gothic" panose="020B0502020202020204" pitchFamily="34" charset="0"/>
              <a:ea typeface="D2Coding" panose="020B0609020101020101" pitchFamily="49" charset="-127"/>
              <a:cs typeface="Calibri Light" panose="020F03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실습코드</a:t>
            </a:r>
            <a:r>
              <a:rPr lang="en-US" altLang="ko-KR" b="0" i="0" dirty="0">
                <a:effectLst/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 : </a:t>
            </a:r>
            <a:r>
              <a:rPr lang="en-US" altLang="ko-KR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Chapter 14 – Deep Computer Vision Using Convolutional Neural Networks</a:t>
            </a:r>
            <a:r>
              <a:rPr lang="ko-KR" altLang="en-US" b="0" i="0" dirty="0">
                <a:effectLst/>
                <a:latin typeface="Century Gothic" panose="020B0502020202020204" pitchFamily="34" charset="0"/>
                <a:ea typeface="D2Coding" panose="020B0609020101020101" pitchFamily="49" charset="-127"/>
                <a:cs typeface="Calibri Light" panose="020F0302020204030204" pitchFamily="34" charset="0"/>
              </a:rPr>
              <a:t> </a:t>
            </a:r>
            <a:endParaRPr lang="en-US" altLang="ko-KR" b="0" i="0" dirty="0">
              <a:effectLst/>
              <a:latin typeface="Century Gothic" panose="020B0502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831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A871C7-AFC2-7D62-C991-3C4E005FFED3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75342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EBD4-79C4-24E5-4B43-500D61BD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F50CF77-7A26-AC4C-CFEE-E636A7CC5A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FCCAE6-BDBC-925D-F53F-EB2CF4C1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3021806"/>
            <a:ext cx="10991850" cy="185326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이미지에 존재하는지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Object(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존재한다면 무슨 객체인지 분류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하여야 하고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(Classification, Convnet)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해당 객체가 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위치하고 있는 좌표를 찾아야 하는 문제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(Regression)</a:t>
            </a: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CB119-D8F9-3BA8-FF36-8F2401CE8EAD}"/>
              </a:ext>
            </a:extLst>
          </p:cNvPr>
          <p:cNvSpPr txBox="1"/>
          <p:nvPr/>
        </p:nvSpPr>
        <p:spPr>
          <a:xfrm>
            <a:off x="600075" y="2209800"/>
            <a:ext cx="3686175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Problem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Definition</a:t>
            </a:r>
            <a:endParaRPr lang="ko-KR" altLang="en-US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7F1C5-BC19-3DAF-F4E5-7B4A7D72566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66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4972-28F5-DDDE-EF05-0276932E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58BAD7-3F25-F1A5-A63C-72FD413EF47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6E4E-5500-F073-9349-BFA46D479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73" y="1525070"/>
            <a:ext cx="7454900" cy="502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AFD7041-85D3-EA40-3B98-CC2CF18CC08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286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0233-ACBE-780F-DAF3-5ED0E8F1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0522DF-C5C4-D467-71A4-067C59573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래픽 5" descr="자동차">
            <a:extLst>
              <a:ext uri="{FF2B5EF4-FFF2-40B4-BE49-F238E27FC236}">
                <a16:creationId xmlns:a16="http://schemas.microsoft.com/office/drawing/2014/main" id="{11F0DBAE-5B38-3A24-3AF9-039757924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984" y="3330345"/>
            <a:ext cx="1997857" cy="1997857"/>
          </a:xfrm>
          <a:prstGeom prst="rect">
            <a:avLst/>
          </a:prstGeom>
        </p:spPr>
      </p:pic>
      <p:pic>
        <p:nvPicPr>
          <p:cNvPr id="12" name="그래픽 11" descr="비행기">
            <a:extLst>
              <a:ext uri="{FF2B5EF4-FFF2-40B4-BE49-F238E27FC236}">
                <a16:creationId xmlns:a16="http://schemas.microsoft.com/office/drawing/2014/main" id="{B582C1A9-016E-6084-99BD-624BBA232A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5096" y="3263895"/>
            <a:ext cx="2114233" cy="21142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7F6457-F7C3-6B54-9164-970DFA15C49B}"/>
              </a:ext>
            </a:extLst>
          </p:cNvPr>
          <p:cNvSpPr txBox="1"/>
          <p:nvPr/>
        </p:nvSpPr>
        <p:spPr>
          <a:xfrm>
            <a:off x="589944" y="1210360"/>
            <a:ext cx="9639905" cy="157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X, 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벡터는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(class, x, y, w, h)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: 2개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상자 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상자 높이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390929-B323-98F6-753D-7F78193B0097}"/>
                  </a:ext>
                </a:extLst>
              </p:cNvPr>
              <p:cNvSpPr txBox="1"/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en-US" sz="20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[1,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0.64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0.42</a:t>
                </a:r>
                <a:r>
                  <a:rPr lang="en-US" altLang="ko-KR" dirty="0"/>
                  <a:t>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blipFill>
                <a:blip r:embed="rId6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9724DD-0F43-CD6F-9B86-50E7CBE1AEC7}"/>
                  </a:ext>
                </a:extLst>
              </p:cNvPr>
              <p:cNvSpPr txBox="1"/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= [0,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</a:t>
                </a:r>
                <a:r>
                  <a:rPr lang="en-US" altLang="ko-KR" dirty="0"/>
                  <a:t>2,</a:t>
                </a:r>
                <a:r>
                  <a:rPr lang="ko-KR" altLang="en-US" dirty="0"/>
                  <a:t>  0.</a:t>
                </a:r>
                <a:r>
                  <a:rPr lang="en-US" altLang="ko-KR" dirty="0"/>
                  <a:t>64]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blipFill>
                <a:blip r:embed="rId7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A16742-84C8-C89F-C377-0996B5B2A0A0}"/>
              </a:ext>
            </a:extLst>
          </p:cNvPr>
          <p:cNvSpPr/>
          <p:nvPr/>
        </p:nvSpPr>
        <p:spPr>
          <a:xfrm>
            <a:off x="1839912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C4BB21-D2E1-C3E3-5473-C15F2ECD9C92}"/>
              </a:ext>
            </a:extLst>
          </p:cNvPr>
          <p:cNvSpPr/>
          <p:nvPr/>
        </p:nvSpPr>
        <p:spPr>
          <a:xfrm>
            <a:off x="7664047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23692CA-34BE-F0DA-4DFA-D9C552FEBE9A}"/>
              </a:ext>
            </a:extLst>
          </p:cNvPr>
          <p:cNvCxnSpPr>
            <a:cxnSpLocks/>
          </p:cNvCxnSpPr>
          <p:nvPr/>
        </p:nvCxnSpPr>
        <p:spPr>
          <a:xfrm>
            <a:off x="1695450" y="3859048"/>
            <a:ext cx="0" cy="9239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4F2EF01-58F7-AAC1-3219-F1178881F511}"/>
              </a:ext>
            </a:extLst>
          </p:cNvPr>
          <p:cNvCxnSpPr>
            <a:cxnSpLocks/>
          </p:cNvCxnSpPr>
          <p:nvPr/>
        </p:nvCxnSpPr>
        <p:spPr>
          <a:xfrm flipH="1">
            <a:off x="2081211" y="4924425"/>
            <a:ext cx="1803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CF4181DE-F96E-7B4E-A1BA-5ACA254668E6}"/>
              </a:ext>
            </a:extLst>
          </p:cNvPr>
          <p:cNvSpPr/>
          <p:nvPr/>
        </p:nvSpPr>
        <p:spPr>
          <a:xfrm>
            <a:off x="2830650" y="4248150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A210AC7-00F5-C174-B8BB-B85133E4457F}"/>
              </a:ext>
            </a:extLst>
          </p:cNvPr>
          <p:cNvCxnSpPr>
            <a:cxnSpLocks/>
          </p:cNvCxnSpPr>
          <p:nvPr/>
        </p:nvCxnSpPr>
        <p:spPr>
          <a:xfrm flipV="1">
            <a:off x="7396320" y="3481387"/>
            <a:ext cx="0" cy="1752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CA20D4B-FE12-9740-35CD-F4AF04BAB895}"/>
              </a:ext>
            </a:extLst>
          </p:cNvPr>
          <p:cNvCxnSpPr>
            <a:cxnSpLocks/>
          </p:cNvCxnSpPr>
          <p:nvPr/>
        </p:nvCxnSpPr>
        <p:spPr>
          <a:xfrm flipH="1">
            <a:off x="7956158" y="3311295"/>
            <a:ext cx="1645042" cy="3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곱하기 기호 36">
            <a:extLst>
              <a:ext uri="{FF2B5EF4-FFF2-40B4-BE49-F238E27FC236}">
                <a16:creationId xmlns:a16="http://schemas.microsoft.com/office/drawing/2014/main" id="{4D929E3E-B927-47C1-C9A4-9678226C7DDD}"/>
              </a:ext>
            </a:extLst>
          </p:cNvPr>
          <p:cNvSpPr/>
          <p:nvPr/>
        </p:nvSpPr>
        <p:spPr>
          <a:xfrm>
            <a:off x="8698050" y="4219575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E24F8C8-C64C-2E1A-A599-38DF2EEF070C}"/>
              </a:ext>
            </a:extLst>
          </p:cNvPr>
          <p:cNvSpPr/>
          <p:nvPr/>
        </p:nvSpPr>
        <p:spPr>
          <a:xfrm>
            <a:off x="1983984" y="3752850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684E814-A039-D754-CB4E-0E8A330E54A6}"/>
              </a:ext>
            </a:extLst>
          </p:cNvPr>
          <p:cNvSpPr/>
          <p:nvPr/>
        </p:nvSpPr>
        <p:spPr>
          <a:xfrm>
            <a:off x="7989691" y="3410047"/>
            <a:ext cx="1645042" cy="18483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043F3424-1CEC-FAA9-90D0-9DF131C6A267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 준비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ABF2C29-AA0E-732C-D721-59B7168766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9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BEC8-E42D-9D5F-006D-A535BEB0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C9484CF-47AC-1DC5-3A4C-B9E939CE25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3748E-3EB4-9B21-08A1-941961A932A9}"/>
              </a:ext>
            </a:extLst>
          </p:cNvPr>
          <p:cNvSpPr txBox="1"/>
          <p:nvPr/>
        </p:nvSpPr>
        <p:spPr>
          <a:xfrm>
            <a:off x="571802" y="1248422"/>
            <a:ext cx="9181797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우리 모델의 기준 틀은 이 두 형상을 대변하는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Box)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정하자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🟨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가로가 긴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🟦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정방형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048F18-8266-CB85-DE41-C11920F6763C}"/>
              </a:ext>
            </a:extLst>
          </p:cNvPr>
          <p:cNvGraphicFramePr>
            <a:graphicFrameLocks noGrp="1"/>
          </p:cNvGraphicFramePr>
          <p:nvPr/>
        </p:nvGraphicFramePr>
        <p:xfrm>
          <a:off x="16700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4" name="그래픽 13" descr="자동차">
            <a:extLst>
              <a:ext uri="{FF2B5EF4-FFF2-40B4-BE49-F238E27FC236}">
                <a16:creationId xmlns:a16="http://schemas.microsoft.com/office/drawing/2014/main" id="{E25806FF-A758-49F9-CD68-916A6763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09" y="3949470"/>
            <a:ext cx="1997857" cy="1997857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7158E83-58E7-AE40-50CA-1763B3D3CC6A}"/>
              </a:ext>
            </a:extLst>
          </p:cNvPr>
          <p:cNvGraphicFramePr>
            <a:graphicFrameLocks noGrp="1"/>
          </p:cNvGraphicFramePr>
          <p:nvPr/>
        </p:nvGraphicFramePr>
        <p:xfrm>
          <a:off x="74993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6" name="그래픽 15" descr="비행기">
            <a:extLst>
              <a:ext uri="{FF2B5EF4-FFF2-40B4-BE49-F238E27FC236}">
                <a16:creationId xmlns:a16="http://schemas.microsoft.com/office/drawing/2014/main" id="{C1885EE2-FE2D-BFD3-B181-AC4DDAD8E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4621" y="3806820"/>
            <a:ext cx="2114233" cy="211423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5206C9-1D79-6791-B243-45E9E653CC56}"/>
              </a:ext>
            </a:extLst>
          </p:cNvPr>
          <p:cNvSpPr/>
          <p:nvPr/>
        </p:nvSpPr>
        <p:spPr>
          <a:xfrm>
            <a:off x="1983984" y="4371975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CE5849-A00F-6ECC-4413-F04B04D7A17A}"/>
              </a:ext>
            </a:extLst>
          </p:cNvPr>
          <p:cNvSpPr/>
          <p:nvPr/>
        </p:nvSpPr>
        <p:spPr>
          <a:xfrm>
            <a:off x="7989691" y="3943349"/>
            <a:ext cx="1645042" cy="18580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397AF-A0EB-E581-D352-979F0199EED5}"/>
              </a:ext>
            </a:extLst>
          </p:cNvPr>
          <p:cNvSpPr txBox="1"/>
          <p:nvPr/>
        </p:nvSpPr>
        <p:spPr>
          <a:xfrm>
            <a:off x="4716675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5E8C1DA-1FFA-3A1C-B4FD-DFCFB67E4458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3981841" y="4318802"/>
            <a:ext cx="1577083" cy="586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12E43-DB8D-3C7F-940B-35E0CED061AE}"/>
              </a:ext>
            </a:extLst>
          </p:cNvPr>
          <p:cNvSpPr txBox="1"/>
          <p:nvPr/>
        </p:nvSpPr>
        <p:spPr>
          <a:xfrm>
            <a:off x="10249809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A3E4D01-9F66-7E18-94EB-F51D5C34FA4B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9634735" y="4318802"/>
            <a:ext cx="1457323" cy="443701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78025F-5C14-CD9D-57A0-CDE06BF2C614}"/>
              </a:ext>
            </a:extLst>
          </p:cNvPr>
          <p:cNvSpPr txBox="1"/>
          <p:nvPr/>
        </p:nvSpPr>
        <p:spPr>
          <a:xfrm>
            <a:off x="1580240" y="2872224"/>
            <a:ext cx="595721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 Box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기하학적 유형은 입력데이터의 평균 유형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별로 앵커박스가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필요없음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100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앵커박스는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3AEBD48E-EEFD-46FD-E8B2-022BFAE935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Anchor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B339C34-F600-A67D-CB3F-292C0C85A6F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17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963C-3953-067B-3CAD-188EDC82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16D4DF-92E5-A55A-2471-3B99878194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v1 Backbone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0DE99-BFE8-5449-E849-855EB305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5" y="2601251"/>
            <a:ext cx="8230206" cy="3353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97FAB6-CF6E-6A19-BE37-46B2B2BE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97" y="2369663"/>
            <a:ext cx="5622058" cy="3624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9D81728-CCAB-1F74-4429-96E8C8201C4A}"/>
              </a:ext>
            </a:extLst>
          </p:cNvPr>
          <p:cNvCxnSpPr>
            <a:cxnSpLocks/>
          </p:cNvCxnSpPr>
          <p:nvPr/>
        </p:nvCxnSpPr>
        <p:spPr>
          <a:xfrm>
            <a:off x="6867525" y="2827980"/>
            <a:ext cx="1371600" cy="1067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13B6A21-1111-398A-5209-012C8F0CA3D1}"/>
              </a:ext>
            </a:extLst>
          </p:cNvPr>
          <p:cNvSpPr txBox="1"/>
          <p:nvPr/>
        </p:nvSpPr>
        <p:spPr>
          <a:xfrm>
            <a:off x="550099" y="1174436"/>
            <a:ext cx="11129902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GoogLeNet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아키텍처를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바탕으로 24개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레이어로 이미지의 특징을 추출하고, 마지막 2개 FC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(Fully Connected)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레이어로 구성된 네트워크는 최종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박스 좌표와 확률을 예측하면 원래 입력 이미지를 7×7 그리드로 나눈 각 셀(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)마다 30개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채널 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값을 예측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235736-8685-2417-D842-0694EE829DDC}"/>
              </a:ext>
            </a:extLst>
          </p:cNvPr>
          <p:cNvSpPr txBox="1"/>
          <p:nvPr/>
        </p:nvSpPr>
        <p:spPr>
          <a:xfrm>
            <a:off x="9092431" y="3082773"/>
            <a:ext cx="2844492" cy="286232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7 × 7 × 1024 = 50,176개의 값을 가진 1차원 벡터로 변환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정보(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spatial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structure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)는 이 단계에서 사라짐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50,176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벡터를 완전연결층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(Fully Connected Layer)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통과시켜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벡터로 출력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입력 뉴론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50,176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값과 출력 뉴론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4,096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개가 각각 가중치로 연결되는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Dense layer)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/>
              <a:t>4096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벡터를 다시 완전연결층을 통해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7×7×30 = 1470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개의 값으로 매핑하고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470개의 값을 다시 (7,7,30)형태로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reshape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D86A40-E193-DC66-9647-69D2954D258B}"/>
              </a:ext>
            </a:extLst>
          </p:cNvPr>
          <p:cNvSpPr txBox="1"/>
          <p:nvPr/>
        </p:nvSpPr>
        <p:spPr>
          <a:xfrm>
            <a:off x="5943600" y="2778313"/>
            <a:ext cx="81915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20(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클래스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+5(box1)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+5(box2)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30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95092-4BEE-78AE-D668-C92C6D493461}"/>
              </a:ext>
            </a:extLst>
          </p:cNvPr>
          <p:cNvSpPr txBox="1"/>
          <p:nvPr/>
        </p:nvSpPr>
        <p:spPr>
          <a:xfrm>
            <a:off x="550099" y="5954854"/>
            <a:ext cx="5121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You Only Look Once: Unified, Real-Time Object Detection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80B442-8650-5391-CDD6-D99459BA1E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225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1175-0FC3-D420-6AEE-30BD4B7A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AF51BDC-2642-8ADA-A94E-F835DB9CD2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8010647F-2F4D-E33F-E939-34C668CEF921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이미지 준비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D9C2D6-CAA4-3181-1BF8-1734E500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101" y="1942296"/>
            <a:ext cx="5684159" cy="426800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B075BB-5D7E-7612-E337-1C2246DF3F9F}"/>
              </a:ext>
            </a:extLst>
          </p:cNvPr>
          <p:cNvSpPr/>
          <p:nvPr/>
        </p:nvSpPr>
        <p:spPr>
          <a:xfrm>
            <a:off x="2937782" y="2249151"/>
            <a:ext cx="4183439" cy="350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슬라이드 번호 개체 틀 3">
            <a:extLst>
              <a:ext uri="{FF2B5EF4-FFF2-40B4-BE49-F238E27FC236}">
                <a16:creationId xmlns:a16="http://schemas.microsoft.com/office/drawing/2014/main" id="{F108B369-2B07-644C-9D47-7CFE452723F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63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777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5E23-31B7-2E2F-817B-30CD7456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BD8A79-DA30-5E8D-9545-8EC9279874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EBD03168-3429-9184-03A2-D78F34439CA2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그리드 좌표 설정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66CB3A-B93D-682A-630B-420440C5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3" y="1541130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1176818-9D2D-B125-7BA2-B656FA90E978}"/>
              </a:ext>
            </a:extLst>
          </p:cNvPr>
          <p:cNvGraphicFramePr>
            <a:graphicFrameLocks noGrp="1"/>
          </p:cNvGraphicFramePr>
          <p:nvPr/>
        </p:nvGraphicFramePr>
        <p:xfrm>
          <a:off x="722811" y="1541129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C6A2AA3-432D-1708-768B-6914D777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04" y="1541129"/>
            <a:ext cx="6272305" cy="3416951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907F87A-6385-159B-C490-2D8D7C423B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311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09A3-B314-CA32-17AD-3F4CF262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ECB91A7-8C7E-0704-7154-1716254DBC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2A8C47DE-DEC7-D293-8CE6-CFD7DAD1A8E2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Bounding 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734071-B5BD-F248-807C-BB15034C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3" y="2094403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C11A3CD-043D-71AB-8966-084B2852F001}"/>
              </a:ext>
            </a:extLst>
          </p:cNvPr>
          <p:cNvGraphicFramePr>
            <a:graphicFrameLocks noGrp="1"/>
          </p:cNvGraphicFramePr>
          <p:nvPr/>
        </p:nvGraphicFramePr>
        <p:xfrm>
          <a:off x="651691" y="2094402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A96F3ED-7787-6765-6FC4-CB77BFFA9849}"/>
              </a:ext>
            </a:extLst>
          </p:cNvPr>
          <p:cNvSpPr/>
          <p:nvPr/>
        </p:nvSpPr>
        <p:spPr>
          <a:xfrm>
            <a:off x="3343114" y="2094394"/>
            <a:ext cx="446566" cy="50674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970FA9-E94A-3079-B151-931BBDB18EDE}"/>
              </a:ext>
            </a:extLst>
          </p:cNvPr>
          <p:cNvSpPr/>
          <p:nvPr/>
        </p:nvSpPr>
        <p:spPr>
          <a:xfrm>
            <a:off x="762000" y="3052633"/>
            <a:ext cx="1666240" cy="27330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D0DD36-9FD8-6B68-1CAB-1FAF5DC5085A}"/>
              </a:ext>
            </a:extLst>
          </p:cNvPr>
          <p:cNvSpPr/>
          <p:nvPr/>
        </p:nvSpPr>
        <p:spPr>
          <a:xfrm>
            <a:off x="2733276" y="2473513"/>
            <a:ext cx="2031763" cy="25603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195A99-05DC-C8F6-4B06-9E1D7A7014B2}"/>
              </a:ext>
            </a:extLst>
          </p:cNvPr>
          <p:cNvSpPr/>
          <p:nvPr/>
        </p:nvSpPr>
        <p:spPr>
          <a:xfrm>
            <a:off x="4285887" y="3986546"/>
            <a:ext cx="601073" cy="134192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래픽 11" descr="하트">
            <a:extLst>
              <a:ext uri="{FF2B5EF4-FFF2-40B4-BE49-F238E27FC236}">
                <a16:creationId xmlns:a16="http://schemas.microsoft.com/office/drawing/2014/main" id="{424B34AC-C73F-C9D4-4280-789FABAF3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7484" y="3780264"/>
            <a:ext cx="457200" cy="4572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13F0447-C12B-C37E-002A-96DB23E7A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421" y="2094394"/>
            <a:ext cx="4249077" cy="1611257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3BA7715-7706-8BEB-A025-757D62B695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421" y="3867005"/>
            <a:ext cx="2287503" cy="2343295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EA157A99-B0E8-DD43-A4D0-8F6283076CE6}"/>
              </a:ext>
            </a:extLst>
          </p:cNvPr>
          <p:cNvSpPr/>
          <p:nvPr/>
        </p:nvSpPr>
        <p:spPr>
          <a:xfrm>
            <a:off x="7938896" y="3914630"/>
            <a:ext cx="3834196" cy="2524270"/>
          </a:xfrm>
          <a:prstGeom prst="borderCallout2">
            <a:avLst>
              <a:gd name="adj1" fmla="val 18267"/>
              <a:gd name="adj2" fmla="val -4809"/>
              <a:gd name="adj3" fmla="val 20199"/>
              <a:gd name="adj4" fmla="val -16813"/>
              <a:gd name="adj5" fmla="val 57144"/>
              <a:gd name="adj6" fmla="val -3113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0.65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0.571~0.714 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구간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(4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칸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안에 들어가므로 </a:t>
            </a:r>
            <a:r>
              <a:rPr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 = 4</a:t>
            </a:r>
            <a:r>
              <a:rPr lang="ko-KR" altLang="en-US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，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round(0.65×7)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하면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되어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col 5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번으로 잘못 배정 따라서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floor(0.65×7)=floor(4.55)=4 → col4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로 배정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분류 학습을 위해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floor()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셀 위치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나머지 소수부가 셀 안에서의 상대 위치를 결정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 두 값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을 분리하면 신경망이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 객체가 대략 어느 구역에　있는지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그 구역 안에서 정확히 어디인지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 나눠서 학습이 가능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87CB6-C5D3-86D7-489B-2AD0CA2AD9AE}"/>
              </a:ext>
            </a:extLst>
          </p:cNvPr>
          <p:cNvSpPr txBox="1"/>
          <p:nvPr/>
        </p:nvSpPr>
        <p:spPr>
          <a:xfrm>
            <a:off x="569049" y="1171749"/>
            <a:ext cx="11091902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폭을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0~1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정규화했을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바운딩박스의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중심이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가로 방향으로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65%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지점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있다는 뜻으로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floor(x × 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그리드 크기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YOLO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라벨링의 가장 핵심적인 연산으로 회귀와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분류 학습</a:t>
            </a:r>
          </a:p>
        </p:txBody>
      </p:sp>
      <p:sp>
        <p:nvSpPr>
          <p:cNvPr id="32" name="슬라이드 번호 개체 틀 3">
            <a:extLst>
              <a:ext uri="{FF2B5EF4-FFF2-40B4-BE49-F238E27FC236}">
                <a16:creationId xmlns:a16="http://schemas.microsoft.com/office/drawing/2014/main" id="{933D221F-B0AF-4042-D40A-43EE85A83E0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65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6505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99D0-D2A4-9077-3BB6-E3F9597C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93941651-506B-BBF3-4C13-AF6F09FC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66" y="1246246"/>
            <a:ext cx="4523551" cy="1554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B686837-86E7-2112-CB65-28DD3449725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06A01AEC-5DC5-FD43-A9CC-52619287BC6D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절대 위치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상대 위치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19530D-06C7-C04F-2FC4-3B38223D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3" y="2677780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55B3B0F-5D31-A37B-80EA-45C063AFE74D}"/>
              </a:ext>
            </a:extLst>
          </p:cNvPr>
          <p:cNvGraphicFramePr>
            <a:graphicFrameLocks noGrp="1"/>
          </p:cNvGraphicFramePr>
          <p:nvPr/>
        </p:nvGraphicFramePr>
        <p:xfrm>
          <a:off x="651691" y="2677779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F25F8C7-A0D4-8D94-80D4-70F6B66E82DD}"/>
              </a:ext>
            </a:extLst>
          </p:cNvPr>
          <p:cNvSpPr txBox="1"/>
          <p:nvPr/>
        </p:nvSpPr>
        <p:spPr>
          <a:xfrm>
            <a:off x="5435598" y="1688681"/>
            <a:ext cx="5546726" cy="89498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x_rel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y_rel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객체 중심이 셀 안에서 정확히 몇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%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　지점에 있는가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0~1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사이 값으로 표현하기 위해 절대좌표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기준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그 셀의 시작점을 빼고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셀 크기로 나눠서 셀 내부만의 좌표계로 바꾸는 것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FA5D113-7019-9676-58F1-D64A139B0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598" y="2677779"/>
            <a:ext cx="5546726" cy="28572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F5E42F-1538-E35B-6A7C-BD567C2F8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598" y="5957573"/>
            <a:ext cx="5132662" cy="54586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5" name="슬라이드 번호 개체 틀 3">
            <a:extLst>
              <a:ext uri="{FF2B5EF4-FFF2-40B4-BE49-F238E27FC236}">
                <a16:creationId xmlns:a16="http://schemas.microsoft.com/office/drawing/2014/main" id="{31EE9F38-1BBA-D387-B611-7AFA78DC358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66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55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B847-8E6E-D46E-A260-012186E4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E7A1384-DB1B-1AF1-2622-984115F65C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 – Single Object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5C48B9E7-53E5-1A9B-1E3C-80572B8D1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9" y="1609725"/>
            <a:ext cx="8354580" cy="432698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7942FA0-9D79-F5E2-B514-4EFAA9917415}"/>
              </a:ext>
            </a:extLst>
          </p:cNvPr>
          <p:cNvSpPr txBox="1"/>
          <p:nvPr/>
        </p:nvSpPr>
        <p:spPr>
          <a:xfrm>
            <a:off x="235044" y="5957906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Let's Visualize How YOLO Works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425C9854-91B8-190A-A9C8-1FFB0A383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1" y="1624494"/>
            <a:ext cx="2724150" cy="443673"/>
          </a:xfrm>
          <a:prstGeom prst="rect">
            <a:avLst/>
          </a:prstGeom>
          <a:ln w="19050">
            <a:solidFill>
              <a:schemeClr val="accent5"/>
            </a:solidFill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646F9F8A-0228-B30A-307C-9C42D9ED5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151" y="2478007"/>
            <a:ext cx="2724147" cy="64619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82E6AA8-B4FC-9CFE-0C37-6B3288748267}"/>
              </a:ext>
            </a:extLst>
          </p:cNvPr>
          <p:cNvSpPr txBox="1"/>
          <p:nvPr/>
        </p:nvSpPr>
        <p:spPr>
          <a:xfrm>
            <a:off x="8820149" y="4953196"/>
            <a:ext cx="2724149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박스가 고양이를 얼마나 정확하게 잡고 있는가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9" name="그래픽 58" descr="조금 굽은 화살표">
            <a:extLst>
              <a:ext uri="{FF2B5EF4-FFF2-40B4-BE49-F238E27FC236}">
                <a16:creationId xmlns:a16="http://schemas.microsoft.com/office/drawing/2014/main" id="{28255D97-E806-C4B6-37F3-BDC3208EAC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83480">
            <a:off x="5276850" y="1624494"/>
            <a:ext cx="533400" cy="533400"/>
          </a:xfrm>
          <a:prstGeom prst="rect">
            <a:avLst/>
          </a:prstGeom>
        </p:spPr>
      </p:pic>
      <p:pic>
        <p:nvPicPr>
          <p:cNvPr id="61" name="그래픽 60" descr="조금 굽은 화살표">
            <a:extLst>
              <a:ext uri="{FF2B5EF4-FFF2-40B4-BE49-F238E27FC236}">
                <a16:creationId xmlns:a16="http://schemas.microsoft.com/office/drawing/2014/main" id="{F0FCDB36-883B-E698-FAE8-C9C72B7AD7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83480">
            <a:off x="9448381" y="2014364"/>
            <a:ext cx="533400" cy="533400"/>
          </a:xfrm>
          <a:prstGeom prst="rect">
            <a:avLst/>
          </a:prstGeom>
        </p:spPr>
      </p:pic>
      <p:pic>
        <p:nvPicPr>
          <p:cNvPr id="62" name="그래픽 61" descr="조금 굽은 화살표">
            <a:extLst>
              <a:ext uri="{FF2B5EF4-FFF2-40B4-BE49-F238E27FC236}">
                <a16:creationId xmlns:a16="http://schemas.microsoft.com/office/drawing/2014/main" id="{9D647395-F473-8464-F6A1-36BCB256E9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83480">
            <a:off x="4213486" y="2155730"/>
            <a:ext cx="533400" cy="5334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53D981AB-9DC9-E20F-1DDB-D7D5338E29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149" y="3350685"/>
            <a:ext cx="2724148" cy="55807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E836A3CC-DB30-C78D-E97C-6EB37160A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0149" y="4133451"/>
            <a:ext cx="2972058" cy="54868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7F7D8B2-99D8-C814-EFE7-2205318CCE0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67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0138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9F3F-19B9-ED1F-0456-B7375CE7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50BDE1-2F91-9E5E-5B33-D96773BF6B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 descr="C_2.01 IoU (Intersection over Union) and GIoU - Deep Learning Bible - 4.  Object Detection - 한글">
            <a:extLst>
              <a:ext uri="{FF2B5EF4-FFF2-40B4-BE49-F238E27FC236}">
                <a16:creationId xmlns:a16="http://schemas.microsoft.com/office/drawing/2014/main" id="{466BDA95-1F66-B846-43EC-0C7CC240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512" y="2334202"/>
            <a:ext cx="6547895" cy="247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0CAECD90-D857-D8CE-A22D-71F5B43C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5" y="2334202"/>
            <a:ext cx="4191605" cy="30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608A35B-0A86-B90B-7C3F-57AE3A1F37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9602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558D-552D-D383-59FC-8BF70837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27CB3D-A8B4-B43E-614C-6C50753028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 – Multiple Object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F6D187-23C3-2AFC-105A-ABA8C75E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3" y="2339464"/>
            <a:ext cx="8628132" cy="4036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E0E587-D84C-B3F0-6C4A-A1284747258E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5142F-9F2F-5A31-66A7-CC21072CE72B}"/>
              </a:ext>
            </a:extLst>
          </p:cNvPr>
          <p:cNvSpPr txBox="1"/>
          <p:nvPr/>
        </p:nvSpPr>
        <p:spPr>
          <a:xfrm>
            <a:off x="9752096" y="2802523"/>
            <a:ext cx="2116052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개의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bounding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A62FC-096A-94B8-21D0-80A9D660335E}"/>
              </a:ext>
            </a:extLst>
          </p:cNvPr>
          <p:cNvSpPr txBox="1"/>
          <p:nvPr/>
        </p:nvSpPr>
        <p:spPr>
          <a:xfrm>
            <a:off x="505311" y="1278040"/>
            <a:ext cx="11046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원래 이미지를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7 x 7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그리드로 나누고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49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(7x7)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각 셀에서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bounding box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Labeling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하여 훈련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동시에 훈련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endParaRPr lang="ko-KR" altLang="en-US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47A2E846-EDF5-4FAD-7EB7-278655F44262}"/>
              </a:ext>
            </a:extLst>
          </p:cNvPr>
          <p:cNvSpPr/>
          <p:nvPr/>
        </p:nvSpPr>
        <p:spPr>
          <a:xfrm>
            <a:off x="9399672" y="2545734"/>
            <a:ext cx="211053" cy="879873"/>
          </a:xfrm>
          <a:prstGeom prst="rightBrace">
            <a:avLst>
              <a:gd name="adj1" fmla="val 4731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AD722D5-102D-DB9D-9203-895C85074A6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69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662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C6BED-0815-3B0E-D72C-ECFB2709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65B9D6-9ABF-34B1-83FD-D60CDB4B33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623948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bounding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 work?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D788B-3530-60B8-6980-184DBA6F8C4D}"/>
              </a:ext>
            </a:extLst>
          </p:cNvPr>
          <p:cNvSpPr txBox="1"/>
          <p:nvPr/>
        </p:nvSpPr>
        <p:spPr>
          <a:xfrm>
            <a:off x="550099" y="1174436"/>
            <a:ext cx="11129902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아래　그림에서는 왼쪽의 그리드마다 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cell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마다 여러 개의 박스를 예측하는 것이 아니고 서로 크기가 다른 박스가 그리드 셀의 경계선을 넘나들면서 다양한 크기의 박스를 그리는데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이것은 어떤 의미이지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박스를 찾는 알고리즘을 설명하라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Function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(MSE,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backpropagation)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4324FB-E4FF-7AC9-755F-351C83084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524670"/>
            <a:ext cx="7062788" cy="347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C0CDD-52E4-1EA3-CB85-41180E9D5AB9}"/>
              </a:ext>
            </a:extLst>
          </p:cNvPr>
          <p:cNvSpPr txBox="1"/>
          <p:nvPr/>
        </p:nvSpPr>
        <p:spPr>
          <a:xfrm>
            <a:off x="7858125" y="2640408"/>
            <a:ext cx="3983196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 cell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박스를 담는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아니라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박스를 예측하는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책임 주체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원점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역할만 하고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자체는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경계를 얼마든지 넘어갈 수 있음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DA9754F-90FC-D20E-62E8-0E7320B4CA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0693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11576</TotalTime>
  <Words>5011</Words>
  <Application>Microsoft Office PowerPoint</Application>
  <PresentationFormat>와이드스크린</PresentationFormat>
  <Paragraphs>475</Paragraphs>
  <Slides>70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83" baseType="lpstr">
      <vt:lpstr>D2Coding</vt:lpstr>
      <vt:lpstr>맑은 고딕</vt:lpstr>
      <vt:lpstr>맑은 고딕 Semilight</vt:lpstr>
      <vt:lpstr>Batang</vt:lpstr>
      <vt:lpstr>Arial</vt:lpstr>
      <vt:lpstr>Cambria Math</vt:lpstr>
      <vt:lpstr>Century Gothic</vt:lpstr>
      <vt:lpstr>Lora</vt:lpstr>
      <vt:lpstr>Segoe UI Emoji</vt:lpstr>
      <vt:lpstr>Tahoma</vt:lpstr>
      <vt:lpstr>Times New Roman</vt:lpstr>
      <vt:lpstr>Wingdings</vt:lpstr>
      <vt:lpstr>WelcomeDoc</vt:lpstr>
      <vt:lpstr>Deep Learning for Image Chapter 8 ~ Chapter 11</vt:lpstr>
      <vt:lpstr>Introduction to Convnet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Convnet Mechanism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Data Augmentation</vt:lpstr>
      <vt:lpstr>PowerPoint 프레젠테이션</vt:lpstr>
      <vt:lpstr>Pretrained Model</vt:lpstr>
      <vt:lpstr>PowerPoint 프레젠테이션</vt:lpstr>
      <vt:lpstr>Chapter 9  ConvNet architecture patterns  Depthwise Separable Convolution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10  Interpreting what ConvNets learn</vt:lpstr>
      <vt:lpstr>PowerPoint 프레젠테이션</vt:lpstr>
      <vt:lpstr>PowerPoint 프레젠테이션</vt:lpstr>
      <vt:lpstr> Chapter 11. Image Segmentation </vt:lpstr>
      <vt:lpstr>PowerPoint 프레젠테이션</vt:lpstr>
      <vt:lpstr>PowerPoint 프레젠테이션</vt:lpstr>
      <vt:lpstr>PowerPoint 프레젠테이션</vt:lpstr>
      <vt:lpstr>PowerPoint 프레젠테이션</vt:lpstr>
      <vt:lpstr>FCN(Fully Convolutional Network)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Classification &amp; Location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203</cp:revision>
  <dcterms:created xsi:type="dcterms:W3CDTF">2026-04-06T01:00:39Z</dcterms:created>
  <dcterms:modified xsi:type="dcterms:W3CDTF">2026-09-29T21:37:35Z</dcterms:modified>
  <cp:version/>
</cp:coreProperties>
</file>