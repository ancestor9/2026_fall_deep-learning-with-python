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2"/>
  </p:notesMasterIdLst>
  <p:handoutMasterIdLst>
    <p:handoutMasterId r:id="rId73"/>
  </p:handoutMasterIdLst>
  <p:sldIdLst>
    <p:sldId id="256" r:id="rId2"/>
    <p:sldId id="1243" r:id="rId3"/>
    <p:sldId id="1134" r:id="rId4"/>
    <p:sldId id="1174" r:id="rId5"/>
    <p:sldId id="1195" r:id="rId6"/>
    <p:sldId id="1196" r:id="rId7"/>
    <p:sldId id="1216" r:id="rId8"/>
    <p:sldId id="1170" r:id="rId9"/>
    <p:sldId id="1172" r:id="rId10"/>
    <p:sldId id="1203" r:id="rId11"/>
    <p:sldId id="1228" r:id="rId12"/>
    <p:sldId id="1204" r:id="rId13"/>
    <p:sldId id="1124" r:id="rId14"/>
    <p:sldId id="1209" r:id="rId15"/>
    <p:sldId id="1211" r:id="rId16"/>
    <p:sldId id="1212" r:id="rId17"/>
    <p:sldId id="1173" r:id="rId18"/>
    <p:sldId id="1224" r:id="rId19"/>
    <p:sldId id="1213" r:id="rId20"/>
    <p:sldId id="1106" r:id="rId21"/>
    <p:sldId id="1141" r:id="rId22"/>
    <p:sldId id="1225" r:id="rId23"/>
    <p:sldId id="1180" r:id="rId24"/>
    <p:sldId id="1226" r:id="rId25"/>
    <p:sldId id="1183" r:id="rId26"/>
    <p:sldId id="1227" r:id="rId27"/>
    <p:sldId id="1166" r:id="rId28"/>
    <p:sldId id="1139" r:id="rId29"/>
    <p:sldId id="1164" r:id="rId30"/>
    <p:sldId id="1179" r:id="rId31"/>
    <p:sldId id="1147" r:id="rId32"/>
    <p:sldId id="1152" r:id="rId33"/>
    <p:sldId id="1231" r:id="rId34"/>
    <p:sldId id="1229" r:id="rId35"/>
    <p:sldId id="1230" r:id="rId36"/>
    <p:sldId id="1190" r:id="rId37"/>
    <p:sldId id="1232" r:id="rId38"/>
    <p:sldId id="1167" r:id="rId39"/>
    <p:sldId id="1131" r:id="rId40"/>
    <p:sldId id="1132" r:id="rId41"/>
    <p:sldId id="1187" r:id="rId42"/>
    <p:sldId id="1137" r:id="rId43"/>
    <p:sldId id="1197" r:id="rId44"/>
    <p:sldId id="1188" r:id="rId45"/>
    <p:sldId id="1135" r:id="rId46"/>
    <p:sldId id="1235" r:id="rId47"/>
    <p:sldId id="1246" r:id="rId48"/>
    <p:sldId id="1238" r:id="rId49"/>
    <p:sldId id="1140" r:id="rId50"/>
    <p:sldId id="1149" r:id="rId51"/>
    <p:sldId id="1151" r:id="rId52"/>
    <p:sldId id="1237" r:id="rId53"/>
    <p:sldId id="1198" r:id="rId54"/>
    <p:sldId id="1200" r:id="rId55"/>
    <p:sldId id="1201" r:id="rId56"/>
    <p:sldId id="1242" r:id="rId57"/>
    <p:sldId id="1240" r:id="rId58"/>
    <p:sldId id="1155" r:id="rId59"/>
    <p:sldId id="1241" r:id="rId60"/>
    <p:sldId id="1142" r:id="rId61"/>
    <p:sldId id="1125" r:id="rId62"/>
    <p:sldId id="1143" r:id="rId63"/>
    <p:sldId id="1148" r:id="rId64"/>
    <p:sldId id="1244" r:id="rId65"/>
    <p:sldId id="1245" r:id="rId66"/>
    <p:sldId id="1153" r:id="rId67"/>
    <p:sldId id="1146" r:id="rId68"/>
    <p:sldId id="1157" r:id="rId69"/>
    <p:sldId id="1144" r:id="rId70"/>
    <p:sldId id="1145" r:id="rId7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43"/>
            <p14:sldId id="1134"/>
            <p14:sldId id="1174"/>
            <p14:sldId id="1195"/>
            <p14:sldId id="1196"/>
            <p14:sldId id="1216"/>
            <p14:sldId id="1170"/>
            <p14:sldId id="1172"/>
            <p14:sldId id="1203"/>
            <p14:sldId id="1228"/>
            <p14:sldId id="1204"/>
            <p14:sldId id="1124"/>
            <p14:sldId id="1209"/>
            <p14:sldId id="1211"/>
            <p14:sldId id="1212"/>
            <p14:sldId id="1173"/>
            <p14:sldId id="1224"/>
            <p14:sldId id="1213"/>
            <p14:sldId id="1106"/>
            <p14:sldId id="1141"/>
            <p14:sldId id="1225"/>
            <p14:sldId id="1180"/>
            <p14:sldId id="1226"/>
            <p14:sldId id="1183"/>
            <p14:sldId id="1227"/>
            <p14:sldId id="1166"/>
            <p14:sldId id="1139"/>
            <p14:sldId id="1164"/>
            <p14:sldId id="1179"/>
            <p14:sldId id="1147"/>
            <p14:sldId id="1152"/>
            <p14:sldId id="1231"/>
            <p14:sldId id="1229"/>
            <p14:sldId id="1230"/>
            <p14:sldId id="1190"/>
            <p14:sldId id="1232"/>
            <p14:sldId id="1167"/>
            <p14:sldId id="1131"/>
            <p14:sldId id="1132"/>
            <p14:sldId id="1187"/>
            <p14:sldId id="1137"/>
            <p14:sldId id="1197"/>
            <p14:sldId id="1188"/>
            <p14:sldId id="1135"/>
            <p14:sldId id="1235"/>
            <p14:sldId id="1246"/>
            <p14:sldId id="1238"/>
            <p14:sldId id="1140"/>
            <p14:sldId id="1149"/>
            <p14:sldId id="1151"/>
            <p14:sldId id="1237"/>
            <p14:sldId id="1198"/>
            <p14:sldId id="1200"/>
            <p14:sldId id="1201"/>
            <p14:sldId id="1242"/>
            <p14:sldId id="1240"/>
            <p14:sldId id="1155"/>
            <p14:sldId id="1241"/>
            <p14:sldId id="1142"/>
            <p14:sldId id="1125"/>
            <p14:sldId id="1143"/>
            <p14:sldId id="1148"/>
            <p14:sldId id="1244"/>
            <p14:sldId id="1245"/>
            <p14:sldId id="1153"/>
            <p14:sldId id="1146"/>
            <p14:sldId id="1157"/>
            <p14:sldId id="1144"/>
            <p14:sldId id="114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>
        <p:scale>
          <a:sx n="66" d="100"/>
          <a:sy n="66" d="100"/>
        </p:scale>
        <p:origin x="1416" y="36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476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2026-10-01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2026-10-01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8E22F-2FC4-A3D8-3ABC-B652D8E9C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BC9854-8E07-3023-89D4-225C49811F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69A3AF-3639-1162-491E-71A735C0E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6033E-40EA-490A-F69F-2BB306DA97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068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E1E8C-BD6D-B67D-B4BC-F09BED7AF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867DB12-E0E7-86B6-6FBC-9661583748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33CFDE-A253-BAD6-A6F4-9CBA331C4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EB34EF-3E3E-A9B3-8B92-52FF2820CC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42772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38B8-BB2C-A8B7-16A4-3F8EACD4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B57CA-BA10-3352-19EA-D3CAC9567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564292-8FEE-4D10-C74E-D63D0920C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79169-D6EC-9329-6FEA-95C8DCE7E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33524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38B8-BB2C-A8B7-16A4-3F8EACD4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B57CA-BA10-3352-19EA-D3CAC9567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564292-8FEE-4D10-C74E-D63D0920C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79169-D6EC-9329-6FEA-95C8DCE7E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33524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38B8-BB2C-A8B7-16A4-3F8EACD4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B57CA-BA10-3352-19EA-D3CAC9567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564292-8FEE-4D10-C74E-D63D0920C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79169-D6EC-9329-6FEA-95C8DCE7E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33524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23637-6D26-5C2B-5F41-53A5609E1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5C7929-F9CB-F1E1-E55D-97F3EE67B9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97132A-F221-649C-3ED5-4E8D7628E8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814F78-A372-A7DF-2EC9-F07EEEC2B2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51407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F0BA9-2DD1-5EAF-2019-A48EAF53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F95FB-0E21-C50E-21E9-D5E89F314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BFB427-F338-47A9-F760-63DDEA83D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5ED02E-56A1-B79A-9AA9-ED5B24EE7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64868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A0F5F-3F93-3DE6-3B52-086B91C3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45E67C-15BD-4917-7A03-727477F66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C32002-6BC7-91E1-210F-9CEBCD431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78B4F-DBCD-71E4-8E49-6B16DA8DF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934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C130B-1B93-A09C-0297-DC5D3B7BC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7407BA-EB0B-B884-E05F-DA41827EC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E0CD82-80F1-C67C-279B-AF5C3D8EF1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4D8790-5B2E-5BDF-5283-9BEE4805C1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1644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2026-10-01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10/1/2026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2026-10-01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sv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5.jpe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analytics-vidhya/talented-mr-1x1-comprehensive-look-at-1x1-convolution-in-deep-learning-f6b355825578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hyperlink" Target="https://www.bpesquet.fr/mlhandbook/algorithms/convolutional_neural_networks.html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svg"/><Relationship Id="rId3" Type="http://schemas.openxmlformats.org/officeDocument/2006/relationships/image" Target="../media/image53.svg"/><Relationship Id="rId7" Type="http://schemas.openxmlformats.org/officeDocument/2006/relationships/image" Target="../media/image57.sv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11" Type="http://schemas.openxmlformats.org/officeDocument/2006/relationships/image" Target="../media/image61.svg"/><Relationship Id="rId5" Type="http://schemas.openxmlformats.org/officeDocument/2006/relationships/image" Target="../media/image55.svg"/><Relationship Id="rId15" Type="http://schemas.openxmlformats.org/officeDocument/2006/relationships/image" Target="../media/image65.sv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svg"/><Relationship Id="rId14" Type="http://schemas.openxmlformats.org/officeDocument/2006/relationships/image" Target="../media/image64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2.png"/><Relationship Id="rId3" Type="http://schemas.openxmlformats.org/officeDocument/2006/relationships/image" Target="../media/image53.svg"/><Relationship Id="rId7" Type="http://schemas.openxmlformats.org/officeDocument/2006/relationships/image" Target="../media/image57.svg"/><Relationship Id="rId12" Type="http://schemas.openxmlformats.org/officeDocument/2006/relationships/image" Target="../media/image61.svg"/><Relationship Id="rId2" Type="http://schemas.openxmlformats.org/officeDocument/2006/relationships/image" Target="../media/image52.png"/><Relationship Id="rId16" Type="http://schemas.openxmlformats.org/officeDocument/2006/relationships/image" Target="../media/image65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11" Type="http://schemas.openxmlformats.org/officeDocument/2006/relationships/image" Target="../media/image60.png"/><Relationship Id="rId5" Type="http://schemas.openxmlformats.org/officeDocument/2006/relationships/image" Target="../media/image55.svg"/><Relationship Id="rId15" Type="http://schemas.openxmlformats.org/officeDocument/2006/relationships/image" Target="../media/image64.png"/><Relationship Id="rId10" Type="http://schemas.openxmlformats.org/officeDocument/2006/relationships/image" Target="../media/image66.png"/><Relationship Id="rId4" Type="http://schemas.openxmlformats.org/officeDocument/2006/relationships/image" Target="../media/image54.png"/><Relationship Id="rId9" Type="http://schemas.openxmlformats.org/officeDocument/2006/relationships/image" Target="../media/image59.svg"/><Relationship Id="rId14" Type="http://schemas.openxmlformats.org/officeDocument/2006/relationships/image" Target="../media/image63.sv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eron/handson-ml3/blob/main/14_deep_computer_vision_with_cnns.ipynb" TargetMode="Externa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svg"/><Relationship Id="rId7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0.png"/><Relationship Id="rId5" Type="http://schemas.openxmlformats.org/officeDocument/2006/relationships/image" Target="../media/image72.svg"/><Relationship Id="rId4" Type="http://schemas.openxmlformats.org/officeDocument/2006/relationships/image" Target="../media/image7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sv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2.svg"/><Relationship Id="rId4" Type="http://schemas.openxmlformats.org/officeDocument/2006/relationships/image" Target="../media/image7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arxiv.org/pdf/1506.02640" TargetMode="Externa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hyperlink" Target="https://www.youtube.com/watch?v=BRS9bEP8rhA" TargetMode="External"/><Relationship Id="rId7" Type="http://schemas.openxmlformats.org/officeDocument/2006/relationships/image" Target="../media/image89.sv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Relationship Id="rId9" Type="http://schemas.openxmlformats.org/officeDocument/2006/relationships/image" Target="../media/image9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800" b="1" dirty="0">
                <a:solidFill>
                  <a:schemeClr val="bg1"/>
                </a:solidFill>
              </a:rPr>
              <a:t>Deep Learning for Image</a:t>
            </a:r>
            <a:br>
              <a:rPr lang="en-US" altLang="ko-KR" sz="4800" dirty="0">
                <a:solidFill>
                  <a:schemeClr val="bg1"/>
                </a:solidFill>
              </a:rPr>
            </a:br>
            <a:r>
              <a:rPr lang="en-US" altLang="ko-KR" sz="3600" dirty="0">
                <a:solidFill>
                  <a:schemeClr val="bg1"/>
                </a:solidFill>
              </a:rPr>
              <a:t>Chapter 8 ~ Chapter 11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D5772-CEB7-48FF-8E59-9DE2D0CEC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4C703F-8632-5AB1-7E9A-BAC280014A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Introduction to Convnet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35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The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origin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of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C4F3568-A0BC-9406-11E3-B7DB57B43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267" y="1719436"/>
            <a:ext cx="6056283" cy="39032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EE1792-1D00-C545-6334-847EE471A5CF}"/>
              </a:ext>
            </a:extLst>
          </p:cNvPr>
          <p:cNvSpPr txBox="1"/>
          <p:nvPr/>
        </p:nvSpPr>
        <p:spPr>
          <a:xfrm>
            <a:off x="590550" y="562268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1959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Torsten Wiesel&amp; David Hubel</a:t>
            </a:r>
            <a:r>
              <a:rPr lang="ko-KR" altLang="en-US" sz="1600" i="0" dirty="0">
                <a:solidFill>
                  <a:srgbClr val="21252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시각 피질 실험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22835D-DA21-D0A7-893E-6444C9BD3C9F}"/>
              </a:ext>
            </a:extLst>
          </p:cNvPr>
          <p:cNvSpPr txBox="1"/>
          <p:nvPr/>
        </p:nvSpPr>
        <p:spPr>
          <a:xfrm>
            <a:off x="6801107" y="1703751"/>
            <a:ext cx="5057775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뇌는 단순한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특정 방향의 막대나 직선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반응한다는 사실을 우연히 발견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뇌가 시각 정보를 처리할 때 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 같은 기본 요소로 먼저 분해한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조합해 복잡한 형상을 인식한다는 사실을 증명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원리는 현대 인공지능의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(CNN, Convolutional Neural Networks)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및 컴퓨터 비전 알고리즘이 이미지의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추출해 사물을 인식하는 기본 구조의 토대</a:t>
            </a: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50" y="1296152"/>
            <a:ext cx="10747649" cy="50194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672826" y="6361342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47C51-23DB-28C1-1E78-8F101F819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F33B163-95F3-2E67-9FC6-A060E8C18A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9CBFFD-FC32-7932-EC6D-0294B33036D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BC393D8-E4EF-8E8F-747B-12B59340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9C1C3F05-A9CD-2C76-4752-C5F47FCA1C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41577AE9-6300-598D-B26F-5839B23C6265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AE795B4-5CB2-0B73-062E-FD141E330813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D1FEBA-5F96-50A8-2DEF-BB43ADF5AF78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82E782-901F-4F98-F79A-1679180BBA63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9C6B80B-C91C-940C-7317-450257E119BD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779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7004F-D407-CA00-E5C7-19BB76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8088FE-0930-15B2-B1A9-FD861FE554E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AB8D45-08A2-3432-520B-D82158DD53DA}"/>
              </a:ext>
            </a:extLst>
          </p:cNvPr>
          <p:cNvSpPr txBox="1"/>
          <p:nvPr/>
        </p:nvSpPr>
        <p:spPr>
          <a:xfrm>
            <a:off x="590550" y="1438922"/>
            <a:ext cx="6238875" cy="43527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 특성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368E1D6-01B6-DFA8-F5C2-00C539C9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F80E1F-DA80-2E1A-C6FD-E4C8D3446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E34136-8ECF-648E-7796-300ED0FF461F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777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2CDA-E736-FB99-F6B7-519245847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정육면체 24">
            <a:extLst>
              <a:ext uri="{FF2B5EF4-FFF2-40B4-BE49-F238E27FC236}">
                <a16:creationId xmlns:a16="http://schemas.microsoft.com/office/drawing/2014/main" id="{E12853B8-00C0-F9AB-725C-51FBA5136604}"/>
              </a:ext>
            </a:extLst>
          </p:cNvPr>
          <p:cNvSpPr/>
          <p:nvPr/>
        </p:nvSpPr>
        <p:spPr>
          <a:xfrm>
            <a:off x="5574645" y="5289862"/>
            <a:ext cx="774974" cy="766439"/>
          </a:xfrm>
          <a:prstGeom prst="cube">
            <a:avLst>
              <a:gd name="adj" fmla="val 47525"/>
            </a:avLst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EFF9522-6823-2033-DD45-0858ADF6E7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vs. FCNN : Kernels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8E60AD5-E2DD-50D3-FFA2-0FFAEC7DB8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Example: classifying the MNIST dataset – Research Computing">
            <a:extLst>
              <a:ext uri="{FF2B5EF4-FFF2-40B4-BE49-F238E27FC236}">
                <a16:creationId xmlns:a16="http://schemas.microsoft.com/office/drawing/2014/main" id="{3963C4E1-C2FD-E47F-412F-E20E34DCE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226" y="2704592"/>
            <a:ext cx="2128838" cy="2120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BD5D6052-A0D0-E91D-C45E-F67E564BCE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522400"/>
              </p:ext>
            </p:extLst>
          </p:nvPr>
        </p:nvGraphicFramePr>
        <p:xfrm>
          <a:off x="4927600" y="1354195"/>
          <a:ext cx="20828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055163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881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37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3359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341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5527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4111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6237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914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201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922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507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42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36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11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868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38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4413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7009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97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1687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35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016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188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9679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290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44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63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200" dirty="0"/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775975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D4679E-F0CB-C214-BA73-E00808190A34}"/>
              </a:ext>
            </a:extLst>
          </p:cNvPr>
          <p:cNvSpPr/>
          <p:nvPr/>
        </p:nvSpPr>
        <p:spPr>
          <a:xfrm>
            <a:off x="620808" y="2727452"/>
            <a:ext cx="388620" cy="3581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5E08BA-C800-9F27-805E-B671250BABA7}"/>
              </a:ext>
            </a:extLst>
          </p:cNvPr>
          <p:cNvSpPr txBox="1"/>
          <p:nvPr/>
        </p:nvSpPr>
        <p:spPr>
          <a:xfrm>
            <a:off x="3416576" y="1918208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784 = 28 x 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54671-3D4F-96E0-4593-DD752F4B8AA7}"/>
              </a:ext>
            </a:extLst>
          </p:cNvPr>
          <p:cNvSpPr txBox="1"/>
          <p:nvPr/>
        </p:nvSpPr>
        <p:spPr>
          <a:xfrm>
            <a:off x="3416576" y="5334528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600 = 5 x 5 x 24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82A41C3F-DD41-354C-B252-9794F695B9AE}"/>
              </a:ext>
            </a:extLst>
          </p:cNvPr>
          <p:cNvSpPr/>
          <p:nvPr/>
        </p:nvSpPr>
        <p:spPr>
          <a:xfrm>
            <a:off x="6781802" y="165608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27F0676E-5566-A7BF-263D-B6643B111537}"/>
              </a:ext>
            </a:extLst>
          </p:cNvPr>
          <p:cNvSpPr/>
          <p:nvPr/>
        </p:nvSpPr>
        <p:spPr>
          <a:xfrm>
            <a:off x="6781802" y="191820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859541DC-3A0C-EC47-A5F6-00DF40401CA3}"/>
              </a:ext>
            </a:extLst>
          </p:cNvPr>
          <p:cNvSpPr/>
          <p:nvPr/>
        </p:nvSpPr>
        <p:spPr>
          <a:xfrm>
            <a:off x="6781802" y="218033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2E309CAA-ECCB-CD59-562E-3C1C1ECE0FA5}"/>
              </a:ext>
            </a:extLst>
          </p:cNvPr>
          <p:cNvSpPr/>
          <p:nvPr/>
        </p:nvSpPr>
        <p:spPr>
          <a:xfrm>
            <a:off x="6781802" y="244246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CCACB0FF-6405-4C43-7D08-39ECDCC7BEAF}"/>
              </a:ext>
            </a:extLst>
          </p:cNvPr>
          <p:cNvSpPr/>
          <p:nvPr/>
        </p:nvSpPr>
        <p:spPr>
          <a:xfrm>
            <a:off x="6781802" y="270459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AED63C57-AF3F-3738-9A64-A46B63B796E1}"/>
              </a:ext>
            </a:extLst>
          </p:cNvPr>
          <p:cNvSpPr/>
          <p:nvPr/>
        </p:nvSpPr>
        <p:spPr>
          <a:xfrm>
            <a:off x="6781802" y="296672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81E551-D590-2511-794F-80D9E30A9E97}"/>
              </a:ext>
            </a:extLst>
          </p:cNvPr>
          <p:cNvSpPr/>
          <p:nvPr/>
        </p:nvSpPr>
        <p:spPr>
          <a:xfrm>
            <a:off x="6781802" y="3228848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560D5597-4A96-71F2-CA53-A613E6427E3A}"/>
              </a:ext>
            </a:extLst>
          </p:cNvPr>
          <p:cNvSpPr/>
          <p:nvPr/>
        </p:nvSpPr>
        <p:spPr>
          <a:xfrm>
            <a:off x="6781802" y="3490976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D41D54E7-3D3F-12CA-8CE8-0C9887EB0D23}"/>
              </a:ext>
            </a:extLst>
          </p:cNvPr>
          <p:cNvSpPr/>
          <p:nvPr/>
        </p:nvSpPr>
        <p:spPr>
          <a:xfrm>
            <a:off x="6781802" y="3753104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37924957-7BA1-97DB-E431-E82D67400704}"/>
              </a:ext>
            </a:extLst>
          </p:cNvPr>
          <p:cNvSpPr/>
          <p:nvPr/>
        </p:nvSpPr>
        <p:spPr>
          <a:xfrm>
            <a:off x="6781802" y="4015232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D362817F-57A9-6ADF-410C-45EC98B312F2}"/>
              </a:ext>
            </a:extLst>
          </p:cNvPr>
          <p:cNvSpPr/>
          <p:nvPr/>
        </p:nvSpPr>
        <p:spPr>
          <a:xfrm>
            <a:off x="6781802" y="4277360"/>
            <a:ext cx="208280" cy="2082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C575B23-A968-DB8E-36F5-930FADBCE10B}"/>
              </a:ext>
            </a:extLst>
          </p:cNvPr>
          <p:cNvSpPr/>
          <p:nvPr/>
        </p:nvSpPr>
        <p:spPr>
          <a:xfrm>
            <a:off x="6705600" y="1574800"/>
            <a:ext cx="350522" cy="300736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B954979-3D1B-AE7A-D70A-86B64273443F}"/>
              </a:ext>
            </a:extLst>
          </p:cNvPr>
          <p:cNvSpPr txBox="1"/>
          <p:nvPr/>
        </p:nvSpPr>
        <p:spPr>
          <a:xfrm>
            <a:off x="7085454" y="1882694"/>
            <a:ext cx="1540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11 nodes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0A396-6845-9929-F2E1-FC6FCB8D5A1E}"/>
              </a:ext>
            </a:extLst>
          </p:cNvPr>
          <p:cNvSpPr txBox="1"/>
          <p:nvPr/>
        </p:nvSpPr>
        <p:spPr>
          <a:xfrm>
            <a:off x="8134271" y="2319111"/>
            <a:ext cx="3065503" cy="113877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FCNN Trainable Parameters</a:t>
            </a:r>
          </a:p>
          <a:p>
            <a:r>
              <a:rPr lang="en-US" altLang="ko-KR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(Kernel Parameters)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8,645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784 x 11 + 11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840D6F-3453-17C8-FED3-10D5F509E237}"/>
              </a:ext>
            </a:extLst>
          </p:cNvPr>
          <p:cNvSpPr txBox="1"/>
          <p:nvPr/>
        </p:nvSpPr>
        <p:spPr>
          <a:xfrm>
            <a:off x="8139231" y="5237244"/>
            <a:ext cx="3065503" cy="113877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CNN Trainable Parameters</a:t>
            </a:r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(Kernel Parameters)</a:t>
            </a:r>
          </a:p>
          <a:p>
            <a:endParaRPr lang="en-US" altLang="ko-KR" sz="18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600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5 x 5 x 24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5216102-BF5F-75CB-E21C-ED8E946DB855}"/>
              </a:ext>
            </a:extLst>
          </p:cNvPr>
          <p:cNvSpPr/>
          <p:nvPr/>
        </p:nvSpPr>
        <p:spPr>
          <a:xfrm>
            <a:off x="3416576" y="1317736"/>
            <a:ext cx="8216624" cy="35489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24AD6AA-4F38-B570-8B21-0E62B8D366EC}"/>
              </a:ext>
            </a:extLst>
          </p:cNvPr>
          <p:cNvSpPr/>
          <p:nvPr/>
        </p:nvSpPr>
        <p:spPr>
          <a:xfrm>
            <a:off x="3416576" y="5145358"/>
            <a:ext cx="8216624" cy="13292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1153D1E-1575-8154-C460-28AB6C0C9C43}"/>
              </a:ext>
            </a:extLst>
          </p:cNvPr>
          <p:cNvCxnSpPr/>
          <p:nvPr/>
        </p:nvCxnSpPr>
        <p:spPr>
          <a:xfrm flipV="1">
            <a:off x="2817136" y="2312134"/>
            <a:ext cx="365760" cy="370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02B78EDC-E83B-E6AA-CE6B-8C3056B46324}"/>
              </a:ext>
            </a:extLst>
          </p:cNvPr>
          <p:cNvCxnSpPr>
            <a:cxnSpLocks/>
          </p:cNvCxnSpPr>
          <p:nvPr/>
        </p:nvCxnSpPr>
        <p:spPr>
          <a:xfrm>
            <a:off x="2770008" y="4885380"/>
            <a:ext cx="365760" cy="276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0880CDC-6ABA-6E73-F568-29342A378AF8}"/>
              </a:ext>
            </a:extLst>
          </p:cNvPr>
          <p:cNvCxnSpPr>
            <a:cxnSpLocks/>
          </p:cNvCxnSpPr>
          <p:nvPr/>
        </p:nvCxnSpPr>
        <p:spPr>
          <a:xfrm>
            <a:off x="5218545" y="15748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B74A4C3-D431-8AE5-B853-3029253BA3D6}"/>
              </a:ext>
            </a:extLst>
          </p:cNvPr>
          <p:cNvCxnSpPr>
            <a:cxnSpLocks/>
          </p:cNvCxnSpPr>
          <p:nvPr/>
        </p:nvCxnSpPr>
        <p:spPr>
          <a:xfrm>
            <a:off x="5218545" y="17272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086D60CD-C51C-A359-822D-7FF6BDFAA9E6}"/>
              </a:ext>
            </a:extLst>
          </p:cNvPr>
          <p:cNvCxnSpPr>
            <a:cxnSpLocks/>
          </p:cNvCxnSpPr>
          <p:nvPr/>
        </p:nvCxnSpPr>
        <p:spPr>
          <a:xfrm>
            <a:off x="5218545" y="18796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3AF1D80-F8AB-33DA-899A-319C911AE370}"/>
              </a:ext>
            </a:extLst>
          </p:cNvPr>
          <p:cNvCxnSpPr>
            <a:cxnSpLocks/>
          </p:cNvCxnSpPr>
          <p:nvPr/>
        </p:nvCxnSpPr>
        <p:spPr>
          <a:xfrm>
            <a:off x="5218545" y="20320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DA98637-551D-4785-CE3D-653BC6B78687}"/>
              </a:ext>
            </a:extLst>
          </p:cNvPr>
          <p:cNvCxnSpPr>
            <a:cxnSpLocks/>
          </p:cNvCxnSpPr>
          <p:nvPr/>
        </p:nvCxnSpPr>
        <p:spPr>
          <a:xfrm>
            <a:off x="5218545" y="21844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390A921-BDAE-B485-39C5-C0F4DEAEB982}"/>
              </a:ext>
            </a:extLst>
          </p:cNvPr>
          <p:cNvCxnSpPr>
            <a:cxnSpLocks/>
          </p:cNvCxnSpPr>
          <p:nvPr/>
        </p:nvCxnSpPr>
        <p:spPr>
          <a:xfrm>
            <a:off x="5218545" y="2336800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484EF658-3C45-41E7-32C3-F1931F38A1EA}"/>
              </a:ext>
            </a:extLst>
          </p:cNvPr>
          <p:cNvCxnSpPr>
            <a:cxnSpLocks/>
          </p:cNvCxnSpPr>
          <p:nvPr/>
        </p:nvCxnSpPr>
        <p:spPr>
          <a:xfrm flipV="1">
            <a:off x="5244180" y="36365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D0930D88-FA1B-A0B2-0640-590A6C37421F}"/>
              </a:ext>
            </a:extLst>
          </p:cNvPr>
          <p:cNvCxnSpPr>
            <a:cxnSpLocks/>
          </p:cNvCxnSpPr>
          <p:nvPr/>
        </p:nvCxnSpPr>
        <p:spPr>
          <a:xfrm flipV="1">
            <a:off x="5244180" y="37889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2FFC9F2-E3B5-AA10-F605-2D8067D63924}"/>
              </a:ext>
            </a:extLst>
          </p:cNvPr>
          <p:cNvCxnSpPr>
            <a:cxnSpLocks/>
          </p:cNvCxnSpPr>
          <p:nvPr/>
        </p:nvCxnSpPr>
        <p:spPr>
          <a:xfrm flipV="1">
            <a:off x="5244180" y="39413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C67F9A15-2583-FB71-65F2-5437ADC5C628}"/>
              </a:ext>
            </a:extLst>
          </p:cNvPr>
          <p:cNvCxnSpPr>
            <a:cxnSpLocks/>
          </p:cNvCxnSpPr>
          <p:nvPr/>
        </p:nvCxnSpPr>
        <p:spPr>
          <a:xfrm flipV="1">
            <a:off x="5244180" y="40937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D0653FC-CDC8-3211-8BA9-6550C896C739}"/>
              </a:ext>
            </a:extLst>
          </p:cNvPr>
          <p:cNvCxnSpPr>
            <a:cxnSpLocks/>
          </p:cNvCxnSpPr>
          <p:nvPr/>
        </p:nvCxnSpPr>
        <p:spPr>
          <a:xfrm flipV="1">
            <a:off x="5244180" y="4246143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1C1E83-1ACC-9943-5BF8-EE7C0245FE23}"/>
              </a:ext>
            </a:extLst>
          </p:cNvPr>
          <p:cNvCxnSpPr>
            <a:cxnSpLocks/>
          </p:cNvCxnSpPr>
          <p:nvPr/>
        </p:nvCxnSpPr>
        <p:spPr>
          <a:xfrm flipV="1">
            <a:off x="5251875" y="19506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F16A1753-D809-9DD9-F188-34817A8C4F54}"/>
              </a:ext>
            </a:extLst>
          </p:cNvPr>
          <p:cNvCxnSpPr>
            <a:cxnSpLocks/>
          </p:cNvCxnSpPr>
          <p:nvPr/>
        </p:nvCxnSpPr>
        <p:spPr>
          <a:xfrm flipV="1">
            <a:off x="5251875" y="21030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48EC5D7E-84AD-1DD2-C3B1-607B004CD3FA}"/>
              </a:ext>
            </a:extLst>
          </p:cNvPr>
          <p:cNvCxnSpPr>
            <a:cxnSpLocks/>
          </p:cNvCxnSpPr>
          <p:nvPr/>
        </p:nvCxnSpPr>
        <p:spPr>
          <a:xfrm flipV="1">
            <a:off x="5251875" y="22554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477EBAA6-8A4E-C017-44A4-B54DC37DC36F}"/>
              </a:ext>
            </a:extLst>
          </p:cNvPr>
          <p:cNvCxnSpPr>
            <a:cxnSpLocks/>
          </p:cNvCxnSpPr>
          <p:nvPr/>
        </p:nvCxnSpPr>
        <p:spPr>
          <a:xfrm flipV="1">
            <a:off x="5251875" y="24078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18888B73-C2C3-F3AD-117C-0763B83240DD}"/>
              </a:ext>
            </a:extLst>
          </p:cNvPr>
          <p:cNvCxnSpPr>
            <a:cxnSpLocks/>
          </p:cNvCxnSpPr>
          <p:nvPr/>
        </p:nvCxnSpPr>
        <p:spPr>
          <a:xfrm flipV="1">
            <a:off x="5251875" y="2560216"/>
            <a:ext cx="1347307" cy="40376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C36AB32-ED62-CF08-DF45-61B85819C488}"/>
              </a:ext>
            </a:extLst>
          </p:cNvPr>
          <p:cNvCxnSpPr>
            <a:cxnSpLocks/>
          </p:cNvCxnSpPr>
          <p:nvPr/>
        </p:nvCxnSpPr>
        <p:spPr>
          <a:xfrm>
            <a:off x="5250873" y="36298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80C6FFB9-D3F4-85CB-6154-7F0DBEFCF95B}"/>
              </a:ext>
            </a:extLst>
          </p:cNvPr>
          <p:cNvCxnSpPr>
            <a:cxnSpLocks/>
          </p:cNvCxnSpPr>
          <p:nvPr/>
        </p:nvCxnSpPr>
        <p:spPr>
          <a:xfrm>
            <a:off x="5250873" y="37822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3692700B-1261-84AD-FA48-86001B8B7185}"/>
              </a:ext>
            </a:extLst>
          </p:cNvPr>
          <p:cNvCxnSpPr>
            <a:cxnSpLocks/>
          </p:cNvCxnSpPr>
          <p:nvPr/>
        </p:nvCxnSpPr>
        <p:spPr>
          <a:xfrm>
            <a:off x="5250873" y="39346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F214EC02-7913-E92F-9107-97E3AC9E6213}"/>
              </a:ext>
            </a:extLst>
          </p:cNvPr>
          <p:cNvCxnSpPr>
            <a:cxnSpLocks/>
          </p:cNvCxnSpPr>
          <p:nvPr/>
        </p:nvCxnSpPr>
        <p:spPr>
          <a:xfrm>
            <a:off x="5250873" y="4087087"/>
            <a:ext cx="1394691" cy="34340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1116CCE-36A3-D147-F5DB-1425B5DE8B69}"/>
              </a:ext>
            </a:extLst>
          </p:cNvPr>
          <p:cNvSpPr txBox="1"/>
          <p:nvPr/>
        </p:nvSpPr>
        <p:spPr>
          <a:xfrm>
            <a:off x="5454847" y="3068649"/>
            <a:ext cx="1518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Kernels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DB48C1-A2E1-1227-4344-4B09C6E98F7F}"/>
              </a:ext>
            </a:extLst>
          </p:cNvPr>
          <p:cNvSpPr txBox="1"/>
          <p:nvPr/>
        </p:nvSpPr>
        <p:spPr>
          <a:xfrm>
            <a:off x="5471718" y="6148407"/>
            <a:ext cx="15183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Kernels</a:t>
            </a:r>
            <a:endParaRPr lang="ko-KR" alt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565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666750" y="1639891"/>
            <a:ext cx="66579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4464" y="3010916"/>
            <a:ext cx="5557836" cy="267957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414465" y="5764337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372350" y="3010916"/>
            <a:ext cx="4305557" cy="19983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EFA82-E2EF-258E-60A1-694A8E02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FBA94-2148-9657-929E-B1922F54BD6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DD64A-4029-76D0-BF74-FBF0A32334CD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6819980-C4B4-6D39-D6C0-9AE0C57B0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30" y="2040095"/>
            <a:ext cx="10097369" cy="4299409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73EB0BF-52BF-9DB4-462E-1461F219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2307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244F2-423D-71A4-BB38-75900F4C3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CF9361-368A-4C38-0B0F-2F2E79C9F9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Convnet Mechanism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606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27451-D0A4-643E-6102-68CD8B6F8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545AEC-26F9-D773-D4F0-7FF39CEFE8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398E34-FCD2-FF36-DA2A-03BC71C20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6174" y="3021510"/>
            <a:ext cx="6291951" cy="2170723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D6F7D6-EA8F-B538-9E59-9DFD008F49D5}"/>
              </a:ext>
            </a:extLst>
          </p:cNvPr>
          <p:cNvSpPr txBox="1"/>
          <p:nvPr/>
        </p:nvSpPr>
        <p:spPr>
          <a:xfrm>
            <a:off x="5869779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D3E41964-2214-6560-593A-35485C6FCBF6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6869177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5DA438-524D-6241-5DB5-B876099E5D83}"/>
              </a:ext>
            </a:extLst>
          </p:cNvPr>
          <p:cNvSpPr txBox="1"/>
          <p:nvPr/>
        </p:nvSpPr>
        <p:spPr>
          <a:xfrm>
            <a:off x="4518141" y="5429230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8DF25-46FC-EFB8-7446-EC209039F938}"/>
              </a:ext>
            </a:extLst>
          </p:cNvPr>
          <p:cNvSpPr txBox="1"/>
          <p:nvPr/>
        </p:nvSpPr>
        <p:spPr>
          <a:xfrm>
            <a:off x="732626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3D7373-00CE-1708-CD9E-9D75B8BC9A76}"/>
              </a:ext>
            </a:extLst>
          </p:cNvPr>
          <p:cNvSpPr txBox="1"/>
          <p:nvPr/>
        </p:nvSpPr>
        <p:spPr>
          <a:xfrm>
            <a:off x="9502289" y="5500559"/>
            <a:ext cx="21186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895B86-AA4C-70FD-A7F1-104E2CE72B11}"/>
              </a:ext>
            </a:extLst>
          </p:cNvPr>
          <p:cNvSpPr txBox="1"/>
          <p:nvPr/>
        </p:nvSpPr>
        <p:spPr>
          <a:xfrm>
            <a:off x="9502288" y="2345023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317CC6E-35DE-6BF7-8A25-E8A85F05A31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1F305593-B8B1-EE1D-3449-335A384A8B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907" y="2724681"/>
            <a:ext cx="3010630" cy="34222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694458" y="226807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00035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AE90B-FA53-E760-B053-2F4FE9FF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F975182-D15F-69E4-C9D3-DDE5CB09881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Activation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E75BC0B-B10E-5088-CAEA-27E9DBA7DBCA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CF1DFA-9FAD-0542-39D3-ED54C84939CD}"/>
              </a:ext>
            </a:extLst>
          </p:cNvPr>
          <p:cNvSpPr txBox="1"/>
          <p:nvPr/>
        </p:nvSpPr>
        <p:spPr>
          <a:xfrm>
            <a:off x="618811" y="1563567"/>
            <a:ext cx="10887389" cy="88081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After having convolution layer, we use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to break up linearity.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Increase nonlinearity. Because images are non linear.</a:t>
            </a:r>
          </a:p>
        </p:txBody>
      </p:sp>
      <p:pic>
        <p:nvPicPr>
          <p:cNvPr id="2050" name="Picture 2" descr="RELU">
            <a:extLst>
              <a:ext uri="{FF2B5EF4-FFF2-40B4-BE49-F238E27FC236}">
                <a16:creationId xmlns:a16="http://schemas.microsoft.com/office/drawing/2014/main" id="{521AF12E-A6A8-AEFB-6175-2D959120A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1891" y="3218227"/>
            <a:ext cx="7286171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0926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C0740-8744-BFFF-F3A0-35E0AA000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16C79B-E437-54E8-0586-29998CF96D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Max Pooling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29BA06-D6D3-5650-C97E-65FF587199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91009-267E-FE77-D5A8-EFBEF2BBB643}"/>
              </a:ext>
            </a:extLst>
          </p:cNvPr>
          <p:cNvSpPr txBox="1"/>
          <p:nvPr/>
        </p:nvSpPr>
        <p:spPr>
          <a:xfrm>
            <a:off x="604245" y="1287472"/>
            <a:ext cx="11159130" cy="116249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down-sampling or sub-sampling (Reduces the number of parameters)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makes the detection of features invariant to scale or orientation changes.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It reduce the amounts of parameters and computation in the network, and hence to also control overfitting.</a:t>
            </a:r>
          </a:p>
        </p:txBody>
      </p:sp>
      <p:pic>
        <p:nvPicPr>
          <p:cNvPr id="4098" name="Picture 2" descr="maxpool">
            <a:extLst>
              <a:ext uri="{FF2B5EF4-FFF2-40B4-BE49-F238E27FC236}">
                <a16:creationId xmlns:a16="http://schemas.microsoft.com/office/drawing/2014/main" id="{B7D268ED-69D9-09D0-5B96-5572D2B81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975" y="2781300"/>
            <a:ext cx="7617858" cy="3451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0277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166B-E2A8-FA61-6243-35FD182CD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C1277C-75A3-E9C8-3C02-9E1C897DC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Flattening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E54BDE5-DC77-92EA-9DA2-49CCC4A1FD2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E44D6E7-5401-39A1-378E-429150BB9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197" y="2678343"/>
            <a:ext cx="4802658" cy="271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734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00D407-3221-7B47-031A-0CF089D3CAC6}"/>
              </a:ext>
            </a:extLst>
          </p:cNvPr>
          <p:cNvSpPr/>
          <p:nvPr/>
        </p:nvSpPr>
        <p:spPr>
          <a:xfrm>
            <a:off x="780532" y="287655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99B9F48-2914-4726-D554-47A5123FFB03}"/>
              </a:ext>
            </a:extLst>
          </p:cNvPr>
          <p:cNvSpPr/>
          <p:nvPr/>
        </p:nvSpPr>
        <p:spPr>
          <a:xfrm>
            <a:off x="780532" y="4724400"/>
            <a:ext cx="10096500" cy="685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E2AE60-B5A4-F632-4EC3-8B1EE41AF8C3}"/>
              </a:ext>
            </a:extLst>
          </p:cNvPr>
          <p:cNvSpPr/>
          <p:nvPr/>
        </p:nvSpPr>
        <p:spPr>
          <a:xfrm>
            <a:off x="780532" y="3658894"/>
            <a:ext cx="10096500" cy="9702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3493F7E9-DA64-DC61-9440-2663605A1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4D4B3-E7F7-EE07-41AB-8C7898556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70B52-B595-5697-F4EE-C8596D2B9A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FAD44869-8DFC-8C10-F455-0AAE951FF38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6BC58AF3-E597-C3DA-02C6-FD40F00DFB48}"/>
              </a:ext>
            </a:extLst>
          </p:cNvPr>
          <p:cNvCxnSpPr>
            <a:cxnSpLocks/>
          </p:cNvCxnSpPr>
          <p:nvPr/>
        </p:nvCxnSpPr>
        <p:spPr>
          <a:xfrm>
            <a:off x="1323975" y="3985260"/>
            <a:ext cx="311978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E327174-DD70-F86A-BB61-EBA5DC13CCA8}"/>
              </a:ext>
            </a:extLst>
          </p:cNvPr>
          <p:cNvCxnSpPr>
            <a:cxnSpLocks/>
          </p:cNvCxnSpPr>
          <p:nvPr/>
        </p:nvCxnSpPr>
        <p:spPr>
          <a:xfrm>
            <a:off x="6438900" y="3985260"/>
            <a:ext cx="191011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160A2307-A4C8-B23C-1065-C468C4F029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4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41C7E6C-02F1-6AB7-1081-CC75A6F0C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9749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A674A51F-7D72-E97C-26CF-E862A3649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7033" y="2119313"/>
            <a:ext cx="2951680" cy="311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20519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A960-2396-754F-3F3E-CB2F5AF02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9DB1BB-BCA5-58D6-6472-9463C882E4C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7. Convnet Architecture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1002F28-97C3-4A86-005E-FC72E6AFE8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124" name="Picture 4" descr="gec2">
            <a:extLst>
              <a:ext uri="{FF2B5EF4-FFF2-40B4-BE49-F238E27FC236}">
                <a16:creationId xmlns:a16="http://schemas.microsoft.com/office/drawing/2014/main" id="{4CDB6F1E-56D0-F136-7924-567A4AB11A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662" y="1966913"/>
            <a:ext cx="11022676" cy="3595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F073BF5-F6D6-D486-1809-AA7535178558}"/>
              </a:ext>
            </a:extLst>
          </p:cNvPr>
          <p:cNvSpPr txBox="1"/>
          <p:nvPr/>
        </p:nvSpPr>
        <p:spPr>
          <a:xfrm>
            <a:off x="4722471" y="5988439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82B672-7F6A-5A98-E8DA-C76973E7A82D}"/>
              </a:ext>
            </a:extLst>
          </p:cNvPr>
          <p:cNvSpPr txBox="1"/>
          <p:nvPr/>
        </p:nvSpPr>
        <p:spPr>
          <a:xfrm>
            <a:off x="9508867" y="5988439"/>
            <a:ext cx="19800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08908F0-18BD-0C6F-7CCE-198B3BD90D56}"/>
              </a:ext>
            </a:extLst>
          </p:cNvPr>
          <p:cNvSpPr/>
          <p:nvPr/>
        </p:nvSpPr>
        <p:spPr>
          <a:xfrm>
            <a:off x="2558005" y="5845215"/>
            <a:ext cx="6389225" cy="578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2B9A5BF-A2CA-19AC-3F41-08ED3F8C21DC}"/>
              </a:ext>
            </a:extLst>
          </p:cNvPr>
          <p:cNvSpPr/>
          <p:nvPr/>
        </p:nvSpPr>
        <p:spPr>
          <a:xfrm>
            <a:off x="9633995" y="5845215"/>
            <a:ext cx="1729775" cy="578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0211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4744016" cy="28150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5EB9-826C-E844-135A-60A4E4CB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35DC5-A84F-1F2A-25EF-17BD03C508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Data</a:t>
            </a:r>
            <a:r>
              <a:rPr lang="ko-KR" altLang="en-US" sz="4400" dirty="0">
                <a:solidFill>
                  <a:schemeClr val="bg1"/>
                </a:solidFill>
              </a:rPr>
              <a:t> </a:t>
            </a:r>
            <a:r>
              <a:rPr lang="en-US" altLang="ko-KR" sz="4400" dirty="0">
                <a:solidFill>
                  <a:schemeClr val="bg1"/>
                </a:solidFill>
              </a:rPr>
              <a:t>Augmentation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8662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5EB9-826C-E844-135A-60A4E4CB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35DC5-A84F-1F2A-25EF-17BD03C508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Pretrained Model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1096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218595"/>
            <a:ext cx="6191250" cy="4272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5EB9-826C-E844-135A-60A4E4CB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35DC5-A84F-1F2A-25EF-17BD03C508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 fontScale="90000"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br>
              <a:rPr lang="en-US" altLang="ko-KR" sz="4400" dirty="0">
                <a:solidFill>
                  <a:schemeClr val="bg1"/>
                </a:solidFill>
              </a:rPr>
            </a:b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ko-KR" altLang="en-US" sz="3600" dirty="0" err="1">
                <a:solidFill>
                  <a:schemeClr val="bg1"/>
                </a:solidFill>
              </a:rPr>
              <a:t>Depthwise</a:t>
            </a:r>
            <a:r>
              <a:rPr lang="ko-KR" altLang="en-US" sz="3600" dirty="0">
                <a:solidFill>
                  <a:schemeClr val="bg1"/>
                </a:solidFill>
              </a:rPr>
              <a:t> </a:t>
            </a:r>
            <a:r>
              <a:rPr lang="ko-KR" altLang="en-US" sz="3600" dirty="0" err="1">
                <a:solidFill>
                  <a:schemeClr val="bg1"/>
                </a:solidFill>
              </a:rPr>
              <a:t>Separable</a:t>
            </a:r>
            <a:r>
              <a:rPr lang="ko-KR" altLang="en-US" sz="3600" dirty="0">
                <a:solidFill>
                  <a:schemeClr val="bg1"/>
                </a:solidFill>
              </a:rPr>
              <a:t> </a:t>
            </a:r>
            <a:r>
              <a:rPr lang="ko-KR" altLang="en-US" sz="3600" dirty="0" err="1">
                <a:solidFill>
                  <a:schemeClr val="bg1"/>
                </a:solidFill>
              </a:rPr>
              <a:t>Convolution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01053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8B4B-C519-0507-B5EA-6E264BA5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84DF45-0B41-134B-25EB-DE58166860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10771-E400-FC74-39AE-142EF07DD8C0}"/>
              </a:ext>
            </a:extLst>
          </p:cNvPr>
          <p:cNvSpPr txBox="1"/>
          <p:nvPr/>
        </p:nvSpPr>
        <p:spPr>
          <a:xfrm>
            <a:off x="557070" y="119678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8F4B4D9-5AF6-8C19-38E1-1E07EA8D6102}"/>
              </a:ext>
            </a:extLst>
          </p:cNvPr>
          <p:cNvGraphicFramePr>
            <a:graphicFrameLocks noGrp="1"/>
          </p:cNvGraphicFramePr>
          <p:nvPr/>
        </p:nvGraphicFramePr>
        <p:xfrm>
          <a:off x="1889760" y="35981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F6A647-3230-1FEC-3B2B-3431104DA1D1}"/>
              </a:ext>
            </a:extLst>
          </p:cNvPr>
          <p:cNvGraphicFramePr>
            <a:graphicFrameLocks noGrp="1"/>
          </p:cNvGraphicFramePr>
          <p:nvPr/>
        </p:nvGraphicFramePr>
        <p:xfrm>
          <a:off x="2042160" y="37505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251CB82-6C9D-533B-8D05-D5F6526E366B}"/>
              </a:ext>
            </a:extLst>
          </p:cNvPr>
          <p:cNvGraphicFramePr>
            <a:graphicFrameLocks noGrp="1"/>
          </p:cNvGraphicFramePr>
          <p:nvPr/>
        </p:nvGraphicFramePr>
        <p:xfrm>
          <a:off x="2194560" y="39029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C1736A8-0665-C9B6-ED3F-3AEE0572685A}"/>
              </a:ext>
            </a:extLst>
          </p:cNvPr>
          <p:cNvGraphicFramePr>
            <a:graphicFrameLocks noGrp="1"/>
          </p:cNvGraphicFramePr>
          <p:nvPr/>
        </p:nvGraphicFramePr>
        <p:xfrm>
          <a:off x="5052162" y="251989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3AA6C6-AF63-F19B-7A3D-2B7F293030CE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26570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74F403-CDEE-4885-3DE0-5B2D81301F48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28094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E5877134-28D6-1E88-C1F9-E524FE8A1953}"/>
              </a:ext>
            </a:extLst>
          </p:cNvPr>
          <p:cNvGraphicFramePr>
            <a:graphicFrameLocks noGrp="1"/>
          </p:cNvGraphicFramePr>
          <p:nvPr/>
        </p:nvGraphicFramePr>
        <p:xfrm>
          <a:off x="5029302" y="421266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FA7BB14-020B-C2DE-D335-D5F0E014F390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43460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AE7141B-B821-CD09-6C3C-D1590859C75E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44984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30AD545-A0AC-4C87-51EC-0FD3FA6D94C0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0526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FBFA8F4-9315-CF4D-D2F0-761DEC108AEC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52050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B38B1CC-C672-2BA1-4B27-2C6DB30F2C75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53574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17C7E54-E637-62AB-4490-82B85D2493EE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9180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BFF2632-CA4E-CFA1-B084-A4558D7C51EF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60704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00F89C9-95F3-1B1B-DD41-5609673CE9CF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62228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23C88FE-28AC-A179-FA3B-F2874F3DE20D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33982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CDEB74F8-1E3B-4593-A647-5975D7DFCAFB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35506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C13DF14-E165-0342-956C-E4DBA45D4DF9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37030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91808C70-3914-48B0-24E5-47EBD3B45FC6}"/>
              </a:ext>
            </a:extLst>
          </p:cNvPr>
          <p:cNvGraphicFramePr>
            <a:graphicFrameLocks noGrp="1"/>
          </p:cNvGraphicFramePr>
          <p:nvPr/>
        </p:nvGraphicFramePr>
        <p:xfrm>
          <a:off x="8370428" y="3723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0523FB5E-56E5-7760-B49A-0A197FF9C4E0}"/>
              </a:ext>
            </a:extLst>
          </p:cNvPr>
          <p:cNvGraphicFramePr>
            <a:graphicFrameLocks noGrp="1"/>
          </p:cNvGraphicFramePr>
          <p:nvPr/>
        </p:nvGraphicFramePr>
        <p:xfrm>
          <a:off x="8522828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73307BF9-8F3D-9E99-2A31-FAF24A69D7A9}"/>
              </a:ext>
            </a:extLst>
          </p:cNvPr>
          <p:cNvGraphicFramePr>
            <a:graphicFrameLocks noGrp="1"/>
          </p:cNvGraphicFramePr>
          <p:nvPr/>
        </p:nvGraphicFramePr>
        <p:xfrm>
          <a:off x="8675228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4611F3C-3FD9-B7A4-A9CA-024D6E0F99EF}"/>
              </a:ext>
            </a:extLst>
          </p:cNvPr>
          <p:cNvGraphicFramePr>
            <a:graphicFrameLocks noGrp="1"/>
          </p:cNvGraphicFramePr>
          <p:nvPr/>
        </p:nvGraphicFramePr>
        <p:xfrm>
          <a:off x="8827628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C0C87D1F-3699-6AAB-B1A0-9DFF94C1B391}"/>
              </a:ext>
            </a:extLst>
          </p:cNvPr>
          <p:cNvGraphicFramePr>
            <a:graphicFrameLocks noGrp="1"/>
          </p:cNvGraphicFramePr>
          <p:nvPr/>
        </p:nvGraphicFramePr>
        <p:xfrm>
          <a:off x="8980028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B8C7ECD-2AA7-E265-C5BA-195771B4EB9E}"/>
              </a:ext>
            </a:extLst>
          </p:cNvPr>
          <p:cNvSpPr txBox="1"/>
          <p:nvPr/>
        </p:nvSpPr>
        <p:spPr>
          <a:xfrm>
            <a:off x="1812960" y="5160147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A6E60-43CD-F1F3-1AB6-A99900480325}"/>
              </a:ext>
            </a:extLst>
          </p:cNvPr>
          <p:cNvSpPr txBox="1"/>
          <p:nvPr/>
        </p:nvSpPr>
        <p:spPr>
          <a:xfrm>
            <a:off x="6090922" y="2769239"/>
            <a:ext cx="3693260" cy="7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135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(3x3x3x5) parameters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0F1872E2-2C1B-2A63-F695-4C49330EC152}"/>
              </a:ext>
            </a:extLst>
          </p:cNvPr>
          <p:cNvSpPr/>
          <p:nvPr/>
        </p:nvSpPr>
        <p:spPr>
          <a:xfrm rot="16200000">
            <a:off x="1953534" y="3539274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C3B7A5E6-4C26-05E7-5719-FD25F45807C9}"/>
              </a:ext>
            </a:extLst>
          </p:cNvPr>
          <p:cNvSpPr/>
          <p:nvPr/>
        </p:nvSpPr>
        <p:spPr>
          <a:xfrm rot="16200000">
            <a:off x="8411837" y="3680909"/>
            <a:ext cx="1146443" cy="1234339"/>
          </a:xfrm>
          <a:prstGeom prst="cube">
            <a:avLst>
              <a:gd name="adj" fmla="val 5394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F49EEC5E-A7D2-1041-CA07-486F48A0C2C5}"/>
              </a:ext>
            </a:extLst>
          </p:cNvPr>
          <p:cNvSpPr/>
          <p:nvPr/>
        </p:nvSpPr>
        <p:spPr>
          <a:xfrm rot="16200000">
            <a:off x="5091852" y="2489172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9285C7E5-2F47-448E-D25E-9CA42D1B538A}"/>
              </a:ext>
            </a:extLst>
          </p:cNvPr>
          <p:cNvSpPr/>
          <p:nvPr/>
        </p:nvSpPr>
        <p:spPr>
          <a:xfrm rot="16200000">
            <a:off x="5079201" y="336356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8D323AE5-6382-55B7-1806-D0563D348500}"/>
              </a:ext>
            </a:extLst>
          </p:cNvPr>
          <p:cNvSpPr/>
          <p:nvPr/>
        </p:nvSpPr>
        <p:spPr>
          <a:xfrm rot="16200000">
            <a:off x="5058283" y="416703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6AF2921A-43FC-0BE7-E36B-398D6FA08028}"/>
              </a:ext>
            </a:extLst>
          </p:cNvPr>
          <p:cNvSpPr/>
          <p:nvPr/>
        </p:nvSpPr>
        <p:spPr>
          <a:xfrm rot="16200000">
            <a:off x="5091852" y="501977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FC690417-52A5-D786-D58E-408E75730B59}"/>
              </a:ext>
            </a:extLst>
          </p:cNvPr>
          <p:cNvSpPr/>
          <p:nvPr/>
        </p:nvSpPr>
        <p:spPr>
          <a:xfrm rot="16200000">
            <a:off x="5079201" y="588628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957A28-F6C4-AC8D-D1F0-330E826F0FE8}"/>
              </a:ext>
            </a:extLst>
          </p:cNvPr>
          <p:cNvSpPr txBox="1"/>
          <p:nvPr/>
        </p:nvSpPr>
        <p:spPr>
          <a:xfrm>
            <a:off x="8266237" y="5111305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BFF6F84-7CDF-81D0-F06F-BAFD10188768}"/>
              </a:ext>
            </a:extLst>
          </p:cNvPr>
          <p:cNvSpPr/>
          <p:nvPr/>
        </p:nvSpPr>
        <p:spPr>
          <a:xfrm>
            <a:off x="4295191" y="2694380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8F527B3-3562-15B1-BC7C-39C5751EE2B1}"/>
              </a:ext>
            </a:extLst>
          </p:cNvPr>
          <p:cNvCxnSpPr>
            <a:cxnSpLocks/>
          </p:cNvCxnSpPr>
          <p:nvPr/>
        </p:nvCxnSpPr>
        <p:spPr>
          <a:xfrm>
            <a:off x="6372225" y="4114381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슬라이드 번호 개체 틀 3">
            <a:extLst>
              <a:ext uri="{FF2B5EF4-FFF2-40B4-BE49-F238E27FC236}">
                <a16:creationId xmlns:a16="http://schemas.microsoft.com/office/drawing/2014/main" id="{51054E1D-0F8A-C331-66EF-09C717A470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340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34858" y="1179897"/>
            <a:ext cx="11159285" cy="135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입력이미지를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공간과 채널 정보를 분리하여 각 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공간합성곱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수행하고 그 다음은 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순차적으로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(3x3x3)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(1x1x3x5) 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총 파라미터는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42(27+15)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3408040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4406207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539110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350950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/>
        </p:nvGraphicFramePr>
        <p:xfrm>
          <a:off x="5444349" y="43650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/>
        </p:nvGraphicFramePr>
        <p:xfrm>
          <a:off x="5596749" y="45174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/>
        </p:nvGraphicFramePr>
        <p:xfrm>
          <a:off x="5749149" y="46698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689077" y="305898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037559" y="6268303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342098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474076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584820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8213761" y="6262738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2580746" y="3094374"/>
            <a:ext cx="424995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(Spatial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6965103" y="3095568"/>
            <a:ext cx="421326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4386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40364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5910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7434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41888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43412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7418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8942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50466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53297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4821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6345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9635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61159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62683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341259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400373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71766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530791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93707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/>
        </p:nvGraphicFramePr>
        <p:xfrm>
          <a:off x="9132428" y="42141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/>
        </p:nvGraphicFramePr>
        <p:xfrm>
          <a:off x="9284828" y="43665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/>
        </p:nvGraphicFramePr>
        <p:xfrm>
          <a:off x="9437228" y="45189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/>
        </p:nvGraphicFramePr>
        <p:xfrm>
          <a:off x="9589628" y="46713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/>
        </p:nvGraphicFramePr>
        <p:xfrm>
          <a:off x="9742028" y="48237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/>
        </p:nvGraphicFramePr>
        <p:xfrm>
          <a:off x="9894428" y="49761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199139" y="418287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68689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333729" y="567724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714139"/>
            <a:ext cx="222365" cy="2426244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52583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656096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20983" y="4639862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2580745" y="2687671"/>
            <a:ext cx="8612349" cy="3077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C979E19-EA24-93DB-B92F-09B56A2399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5817DD-B353-120D-570F-0BB060907562}"/>
              </a:ext>
            </a:extLst>
          </p:cNvPr>
          <p:cNvSpPr/>
          <p:nvPr/>
        </p:nvSpPr>
        <p:spPr>
          <a:xfrm>
            <a:off x="2580746" y="3094375"/>
            <a:ext cx="4238974" cy="348346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09D773-1220-9B12-D8C6-C8325FB36AF6}"/>
              </a:ext>
            </a:extLst>
          </p:cNvPr>
          <p:cNvSpPr/>
          <p:nvPr/>
        </p:nvSpPr>
        <p:spPr>
          <a:xfrm>
            <a:off x="6954121" y="3094374"/>
            <a:ext cx="4238974" cy="347614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6785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8137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04878"/>
            <a:ext cx="111353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381070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647678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6010275" y="5647677"/>
            <a:ext cx="313113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이용하여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　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en-US" altLang="ko-KR" sz="1200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06EAAA9-4F3F-3FF5-D258-E08E891D64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58FFF0-EAC1-74AA-1CD1-5317395D3361}"/>
              </a:ext>
            </a:extLst>
          </p:cNvPr>
          <p:cNvSpPr txBox="1"/>
          <p:nvPr/>
        </p:nvSpPr>
        <p:spPr>
          <a:xfrm>
            <a:off x="981075" y="3686175"/>
            <a:ext cx="15837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245=(7x7x5)</a:t>
            </a:r>
            <a:endParaRPr lang="ko-KR" altLang="en-US" sz="1600" dirty="0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0EF72643-AAD7-06AB-BB1D-EB63D0B7A98A}"/>
              </a:ext>
            </a:extLst>
          </p:cNvPr>
          <p:cNvSpPr/>
          <p:nvPr/>
        </p:nvSpPr>
        <p:spPr>
          <a:xfrm>
            <a:off x="9415763" y="2571382"/>
            <a:ext cx="2598430" cy="1307610"/>
          </a:xfrm>
          <a:prstGeom prst="borderCallout2">
            <a:avLst>
              <a:gd name="adj1" fmla="val 98941"/>
              <a:gd name="adj2" fmla="val 49279"/>
              <a:gd name="adj3" fmla="val 136027"/>
              <a:gd name="adj4" fmla="val 61045"/>
              <a:gd name="adj5" fmla="val 184668"/>
              <a:gd name="adj6" fmla="val 59256"/>
            </a:avLst>
          </a:prstGeom>
          <a:solidFill>
            <a:schemeClr val="tx1"/>
          </a:solidFill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ex) Fully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같이 입력채널이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D=5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(W,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H,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(7,7,5)</a:t>
            </a:r>
          </a:p>
          <a:p>
            <a:endParaRPr lang="en-US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 : 5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(1x1x5 + 1)*5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계산하면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30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만 훈련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0751D-3D75-5569-FD5E-2EF81AC9C842}"/>
              </a:ext>
            </a:extLst>
          </p:cNvPr>
          <p:cNvSpPr txBox="1"/>
          <p:nvPr/>
        </p:nvSpPr>
        <p:spPr>
          <a:xfrm>
            <a:off x="9688204" y="4726809"/>
            <a:ext cx="8122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(1,1,5)</a:t>
            </a:r>
            <a:endParaRPr lang="ko-KR" altLang="en-US" sz="14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2F94D5C-DC24-9473-95BB-3AD8B7BC792F}"/>
              </a:ext>
            </a:extLst>
          </p:cNvPr>
          <p:cNvGrpSpPr/>
          <p:nvPr/>
        </p:nvGrpSpPr>
        <p:grpSpPr>
          <a:xfrm>
            <a:off x="10385992" y="4879028"/>
            <a:ext cx="886830" cy="869262"/>
            <a:chOff x="10293931" y="4130576"/>
            <a:chExt cx="1181101" cy="1157704"/>
          </a:xfrm>
        </p:grpSpPr>
        <p:sp>
          <p:nvSpPr>
            <p:cNvPr id="19" name="정육면체 18">
              <a:extLst>
                <a:ext uri="{FF2B5EF4-FFF2-40B4-BE49-F238E27FC236}">
                  <a16:creationId xmlns:a16="http://schemas.microsoft.com/office/drawing/2014/main" id="{9D7C6AE8-64C2-AADD-F455-D4CC0C824A8D}"/>
                </a:ext>
              </a:extLst>
            </p:cNvPr>
            <p:cNvSpPr/>
            <p:nvPr/>
          </p:nvSpPr>
          <p:spPr>
            <a:xfrm>
              <a:off x="10293931" y="41305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정육면체 21">
              <a:extLst>
                <a:ext uri="{FF2B5EF4-FFF2-40B4-BE49-F238E27FC236}">
                  <a16:creationId xmlns:a16="http://schemas.microsoft.com/office/drawing/2014/main" id="{EFA8C4B4-89D5-2969-D47E-61E0DFCF30F3}"/>
                </a:ext>
              </a:extLst>
            </p:cNvPr>
            <p:cNvSpPr/>
            <p:nvPr/>
          </p:nvSpPr>
          <p:spPr>
            <a:xfrm>
              <a:off x="10446331" y="42829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정육면체 22">
              <a:extLst>
                <a:ext uri="{FF2B5EF4-FFF2-40B4-BE49-F238E27FC236}">
                  <a16:creationId xmlns:a16="http://schemas.microsoft.com/office/drawing/2014/main" id="{28DA0519-6ED4-1235-2E3F-85DFFD140A68}"/>
                </a:ext>
              </a:extLst>
            </p:cNvPr>
            <p:cNvSpPr/>
            <p:nvPr/>
          </p:nvSpPr>
          <p:spPr>
            <a:xfrm>
              <a:off x="10598731" y="44353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E112AC1-C3AE-3B6E-EC49-013B906978CD}"/>
                </a:ext>
              </a:extLst>
            </p:cNvPr>
            <p:cNvSpPr/>
            <p:nvPr/>
          </p:nvSpPr>
          <p:spPr>
            <a:xfrm>
              <a:off x="10751131" y="45877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4786CD8B-B84E-9255-762F-4F20A229E13B}"/>
                </a:ext>
              </a:extLst>
            </p:cNvPr>
            <p:cNvSpPr/>
            <p:nvPr/>
          </p:nvSpPr>
          <p:spPr>
            <a:xfrm>
              <a:off x="10903531" y="47401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37E5901-A5BC-67E6-6B8D-D7FC598C830B}"/>
              </a:ext>
            </a:extLst>
          </p:cNvPr>
          <p:cNvSpPr txBox="1"/>
          <p:nvPr/>
        </p:nvSpPr>
        <p:spPr>
          <a:xfrm>
            <a:off x="11387251" y="5068428"/>
            <a:ext cx="4736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FE9A49-B53F-1C95-22B0-077F459639C7}"/>
              </a:ext>
            </a:extLst>
          </p:cNvPr>
          <p:cNvSpPr txBox="1"/>
          <p:nvPr/>
        </p:nvSpPr>
        <p:spPr>
          <a:xfrm rot="19519365">
            <a:off x="5102123" y="2386632"/>
            <a:ext cx="1897456" cy="2621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1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(Spatial Information)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1" name="오른쪽 중괄호 10">
            <a:extLst>
              <a:ext uri="{FF2B5EF4-FFF2-40B4-BE49-F238E27FC236}">
                <a16:creationId xmlns:a16="http://schemas.microsoft.com/office/drawing/2014/main" id="{A0FE81CC-AC1E-0CB1-D834-059DBE9F9674}"/>
              </a:ext>
            </a:extLst>
          </p:cNvPr>
          <p:cNvSpPr/>
          <p:nvPr/>
        </p:nvSpPr>
        <p:spPr>
          <a:xfrm rot="14131234">
            <a:off x="6144577" y="1919447"/>
            <a:ext cx="265942" cy="1597649"/>
          </a:xfrm>
          <a:prstGeom prst="rightBrace">
            <a:avLst>
              <a:gd name="adj1" fmla="val 71748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00928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0C2E-56A1-A50F-F55F-9D39DEA4C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E05EDD-47CD-BCAE-48FE-9DE11D0FC5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58425C60-6998-40CF-1DFA-EF0D20635C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86F919-73AC-4879-1174-FBCA3B4380DF}"/>
              </a:ext>
            </a:extLst>
          </p:cNvPr>
          <p:cNvSpPr txBox="1"/>
          <p:nvPr/>
        </p:nvSpPr>
        <p:spPr>
          <a:xfrm>
            <a:off x="1556699" y="2857747"/>
            <a:ext cx="6530027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layers.DepthwiseConv2D(3, padding="same")(x)</a:t>
            </a:r>
          </a:p>
          <a:p>
            <a:pPr rtl="0"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layers.Conv2D(5, 1, padding="same“)(x)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482E58-FA63-DDCC-0326-8113679C54A7}"/>
              </a:ext>
            </a:extLst>
          </p:cNvPr>
          <p:cNvSpPr txBox="1"/>
          <p:nvPr/>
        </p:nvSpPr>
        <p:spPr>
          <a:xfrm>
            <a:off x="1556700" y="5388068"/>
            <a:ext cx="6530026" cy="64633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layers.SeparableConv2D(5, 3, padding="same")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7FE737E-D1E4-5B5D-26FB-0DB114EFC642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4821713" y="4335075"/>
            <a:ext cx="0" cy="1052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BB8769E-1301-ADC0-2575-2904026A7839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FB22B0-A33C-A2BA-D9BA-681FCFC37753}"/>
              </a:ext>
            </a:extLst>
          </p:cNvPr>
          <p:cNvSpPr txBox="1"/>
          <p:nvPr/>
        </p:nvSpPr>
        <p:spPr>
          <a:xfrm>
            <a:off x="8295889" y="3167398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7D8AA0-4CA4-914D-6050-CDD9B8179337}"/>
              </a:ext>
            </a:extLst>
          </p:cNvPr>
          <p:cNvSpPr txBox="1"/>
          <p:nvPr/>
        </p:nvSpPr>
        <p:spPr>
          <a:xfrm>
            <a:off x="8295889" y="3992401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42666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481097" y="1222270"/>
            <a:ext cx="11229806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채널"은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서로 완전히 독립적인 정보인 경우가 많은데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63599" y="4079739"/>
            <a:ext cx="2315041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스케치북에 검은색 펜으로 캐릭터의 눈, 코, 입 같은 '형태(선화)'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F2A103-E210-3BCA-76FA-93F8D32AA3A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E94BC4-E1A3-2086-1AF2-79C143CA14B8}"/>
              </a:ext>
            </a:extLst>
          </p:cNvPr>
          <p:cNvSpPr txBox="1"/>
          <p:nvPr/>
        </p:nvSpPr>
        <p:spPr>
          <a:xfrm>
            <a:off x="7081520" y="4341952"/>
            <a:ext cx="2410504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그려진 선 안에 빨간색, 초록색, 파란색 물감으로 '색칠(채색)＇하기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RGB 채널 정보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DC9F4C-3DE9-0698-645B-5AEA3636288B}"/>
              </a:ext>
            </a:extLst>
          </p:cNvPr>
          <p:cNvSpPr txBox="1"/>
          <p:nvPr/>
        </p:nvSpPr>
        <p:spPr>
          <a:xfrm>
            <a:off x="879525" y="5889545"/>
            <a:ext cx="10459708" cy="5232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F71122F-4AB5-7C39-EE08-09BAEF84D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641" y="3593159"/>
            <a:ext cx="1821991" cy="209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7084C3-02A4-CD27-99F3-10BA310B2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2024" y="3593159"/>
            <a:ext cx="1847209" cy="21317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16E3633-8A9F-6322-D818-F3DEBD581A8F}"/>
              </a:ext>
            </a:extLst>
          </p:cNvPr>
          <p:cNvSpPr txBox="1"/>
          <p:nvPr/>
        </p:nvSpPr>
        <p:spPr>
          <a:xfrm>
            <a:off x="3171964" y="3064339"/>
            <a:ext cx="1833106" cy="5232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 그리기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(공간 정보) 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5E7E31-F8E4-2904-13D6-5549864DD54F}"/>
              </a:ext>
            </a:extLst>
          </p:cNvPr>
          <p:cNvSpPr txBox="1"/>
          <p:nvPr/>
        </p:nvSpPr>
        <p:spPr>
          <a:xfrm>
            <a:off x="9483895" y="3064339"/>
            <a:ext cx="1858475" cy="5232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(채널 정보)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170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650826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857750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공간 특징 추출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채널을 모두 낱개로 쪼갠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(Split)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채널에 독립적으로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필터를 적용하면 채널끼리 정보가 섞이지 않은 상태에서 이미지의 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공간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테두리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 집중적으로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Pointwise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채널 특징 합성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단계를 거친 결과를 다시 하나로 모은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(Concatenate)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(1, 1) Conv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연산을 통해 서로 따로 놀던 채널 간의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(RGB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색상 조합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하나로 섞어서 최종 출력을 생성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6F4437-4410-4F22-68A5-03CC5D890B4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D6D84-AC53-9F6B-F066-DA1CF3D5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3D8988-B10B-75DC-DFAC-A8B8F033B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10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Interpreting what </a:t>
            </a:r>
            <a:r>
              <a:rPr lang="en-US" altLang="ko-KR" sz="4400" dirty="0" err="1">
                <a:solidFill>
                  <a:schemeClr val="bg1"/>
                </a:solidFill>
              </a:rPr>
              <a:t>ConvNets</a:t>
            </a:r>
            <a:r>
              <a:rPr lang="en-US" altLang="ko-KR" sz="4400" dirty="0">
                <a:solidFill>
                  <a:schemeClr val="bg1"/>
                </a:solidFill>
              </a:rPr>
              <a:t> learn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98348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937CC-AAA6-68E7-A8C8-A7551C4AE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F93B26-E66E-5B91-A2B0-04F10F1FA9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8471E5-FD6A-C523-CB65-3463CF1A9B79}"/>
              </a:ext>
            </a:extLst>
          </p:cNvPr>
          <p:cNvSpPr txBox="1"/>
          <p:nvPr/>
        </p:nvSpPr>
        <p:spPr>
          <a:xfrm>
            <a:off x="682484" y="1208472"/>
            <a:ext cx="10890392" cy="1160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인간의 뇌가 이미지를 인지하는 방법은 정보 증류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(Information Distillation Pipeline)</a:t>
            </a:r>
          </a:p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층이 깊어 질 수록 이미지의 구체적인 형태를 버리고 추상적인 기하학적 형태만 남기는 것은 인간의 뇌처럼 사물의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파악하는 진짜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갖추어 가는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97EA3050-6358-B6AC-ECDB-9178B5608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0814" y="2686050"/>
            <a:ext cx="6308441" cy="3067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EEF9E2-40E1-C4FA-6338-D9426C1CEB8C}"/>
              </a:ext>
            </a:extLst>
          </p:cNvPr>
          <p:cNvSpPr txBox="1"/>
          <p:nvPr/>
        </p:nvSpPr>
        <p:spPr>
          <a:xfrm>
            <a:off x="1518676" y="6036261"/>
            <a:ext cx="87683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Left: Attempts to draw a bicycle from memory. Right: What a schematic bicycle should look like.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D70733-EB58-B56C-7C7C-437935DDE08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7670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1ACB-9734-A5C3-E507-48BA867A9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2F4A15-0D18-0B51-E66C-822E250901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heatmaps of class activation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8AAA13-6512-6F37-471C-08EBD0C40F6D}"/>
              </a:ext>
            </a:extLst>
          </p:cNvPr>
          <p:cNvSpPr txBox="1"/>
          <p:nvPr/>
        </p:nvSpPr>
        <p:spPr>
          <a:xfrm>
            <a:off x="650804" y="1191448"/>
            <a:ext cx="10890392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마지막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이미지의 공간적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가지고 있는 가장 풍부한 피처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수백 개의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있는데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코끼리의 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코끼리의 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 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바닥의 풀밭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반응해서 불이 들어와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624D308-8AEE-3397-0277-DC1640A85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2576" y="2969621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8749050D-11EB-9FB7-C22A-6BE059550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239" y="2969620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0775281D-E10D-3618-67A4-C742677BA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3" y="2969620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6AAD76-DA8F-7AEE-B0E8-ADBF719E34D3}"/>
              </a:ext>
            </a:extLst>
          </p:cNvPr>
          <p:cNvSpPr txBox="1"/>
          <p:nvPr/>
        </p:nvSpPr>
        <p:spPr>
          <a:xfrm>
            <a:off x="1450397" y="5387823"/>
            <a:ext cx="937901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신경망은 왜 이 이미지에 아프리카코끼리가 포함되어 있다고 생각했을까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아프리카코끼리는 사진 속 어느 위치에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새끼 코끼리의 귀 부분이 강력하게 활성화되었다는 점은 주목할 만한 흥미로운 부분으로 신경망은 아마도 이 부분을 보고 아프리카코끼리와 인도코끼리의 차이점을 구별해 냈을 것임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50B661C-FD6E-529E-5F9D-C8C985506A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2110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5469-5D09-03FC-4B8E-D52AC926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BEA0B-A755-D0B2-20D0-DCD9F4B12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Chapter 11. Image Segmentation</a:t>
            </a:r>
            <a:br>
              <a:rPr lang="en-US" altLang="ko-KR" sz="4400" dirty="0">
                <a:solidFill>
                  <a:schemeClr val="bg1"/>
                </a:solidFill>
              </a:rPr>
            </a:b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10178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A9C4-569E-E8BB-7ADF-685C04D2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6A0A6ED-C61B-149B-A665-AD35B27E12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B304AF1-B353-CEDE-4FFE-99EFF0E18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0840AE3-C24D-A3D3-A71B-C653A0081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9" y="1347655"/>
            <a:ext cx="6323012" cy="505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17DCB58-B3A1-E5FD-B786-C3AB699905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186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269C-6F02-3650-3E00-FC81E0DF3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E9AD25-B519-C98B-BA51-F666075A9B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Types of 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DBF0F9C-D7B7-4592-083C-FA765750B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681FA5B-337D-3B88-F827-383329A807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47139F-FC7D-4DC3-476B-3B0C33534001}"/>
              </a:ext>
            </a:extLst>
          </p:cNvPr>
          <p:cNvSpPr txBox="1"/>
          <p:nvPr/>
        </p:nvSpPr>
        <p:spPr>
          <a:xfrm>
            <a:off x="556925" y="1231098"/>
            <a:ext cx="6695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t">
              <a:spcAft>
                <a:spcPts val="0"/>
              </a:spcAft>
              <a:buNone/>
            </a:pP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분할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(Image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Segmentation)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종류</a:t>
            </a:r>
            <a:endParaRPr lang="ko-KR" altLang="en-US" sz="18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AAE77CA-633E-37C9-2EF9-E1ABBB7CA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406" y="1679169"/>
            <a:ext cx="5883114" cy="495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36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283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2082800" y="225119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206802" y="2286155"/>
            <a:ext cx="1800493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159000" y="604374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366266" y="604374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5068326" y="442997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192712" y="387996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569200" y="4178636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8668611" y="4948069"/>
            <a:ext cx="139646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574836" y="2752776"/>
            <a:ext cx="1819275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6274-C019-7634-5864-98A3FB97AF27}"/>
              </a:ext>
            </a:extLst>
          </p:cNvPr>
          <p:cNvSpPr txBox="1"/>
          <p:nvPr/>
        </p:nvSpPr>
        <p:spPr>
          <a:xfrm>
            <a:off x="548640" y="1271927"/>
            <a:ext cx="10922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Oxford-IIIT Pets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데이터셋을 활용해 각 픽셀을 전경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윤곽선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예측하는 분할 모델 구축</a:t>
            </a:r>
          </a:p>
        </p:txBody>
      </p:sp>
    </p:spTree>
    <p:extLst>
      <p:ext uri="{BB962C8B-B14F-4D97-AF65-F5344CB8AC3E}">
        <p14:creationId xmlns:p14="http://schemas.microsoft.com/office/powerpoint/2010/main" val="493868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477010" y="190272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6781987" y="1902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1762760" y="57700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6970026" y="5712914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401185" y="41243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664178" y="35528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5762625" y="2680555"/>
            <a:ext cx="3562985" cy="27880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" y="2339052"/>
            <a:ext cx="3339722" cy="32970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D5E7-1865-631C-ACB3-CA60E8E53776}"/>
              </a:ext>
            </a:extLst>
          </p:cNvPr>
          <p:cNvSpPr txBox="1"/>
          <p:nvPr/>
        </p:nvSpPr>
        <p:spPr>
          <a:xfrm>
            <a:off x="9467332" y="3235661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(foreground)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BCB71-568B-E818-35AD-C1A2189C91E7}"/>
              </a:ext>
            </a:extLst>
          </p:cNvPr>
          <p:cNvSpPr txBox="1"/>
          <p:nvPr/>
        </p:nvSpPr>
        <p:spPr>
          <a:xfrm>
            <a:off x="9467332" y="4228509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(contour)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45C5B-B0E0-E657-F51A-E6C6DAE483CF}"/>
              </a:ext>
            </a:extLst>
          </p:cNvPr>
          <p:cNvSpPr txBox="1"/>
          <p:nvPr/>
        </p:nvSpPr>
        <p:spPr>
          <a:xfrm>
            <a:off x="9467332" y="3732085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(background)</a:t>
            </a:r>
          </a:p>
        </p:txBody>
      </p:sp>
    </p:spTree>
    <p:extLst>
      <p:ext uri="{BB962C8B-B14F-4D97-AF65-F5344CB8AC3E}">
        <p14:creationId xmlns:p14="http://schemas.microsoft.com/office/powerpoint/2010/main" val="18225411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9D25F-7B06-1DA8-10F3-4BA0693AA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8778-26AC-C0F7-659D-7005508C1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bg1"/>
                </a:solidFill>
              </a:rPr>
              <a:t>FCN(Fully Convolutional Network)</a:t>
            </a:r>
            <a:endParaRPr lang="ko-KR" altLang="en-US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7266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8B4AA9-2E2C-A396-B0A9-739B4E227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356" y="1660115"/>
            <a:ext cx="5810250" cy="3867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4123B3-486E-56D6-89CE-D3E44138A12A}"/>
              </a:ext>
            </a:extLst>
          </p:cNvPr>
          <p:cNvSpPr txBox="1"/>
          <p:nvPr/>
        </p:nvSpPr>
        <p:spPr>
          <a:xfrm>
            <a:off x="523356" y="5648800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https://medium.com/analytics-vidhya/talented-mr-1x1-comprehensive-look-at-1x1-convolution-in-deep-learning-f6b355825578</a:t>
            </a:r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1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A77310D0-2215-89B1-D687-50D934CC1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5531" y="1550856"/>
            <a:ext cx="5314950" cy="32447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 차원 축소: 공간 크기(64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64)는 유지한 채 192개의 깊은 채널을 원하는 개수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및 파라미터 절감: 후속 고차원 연산 전에 채널을 먼저 압축하여 전체 계산 복잡도를 크게 낮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추어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SGD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효율 높임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단위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픽셀마다 클래스를 분류해야 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1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위치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정보는 완벽히 유지하면서 채널 특징만 합성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90410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3FA76-5385-0A0D-4286-E97D09A3A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래픽 22" descr="오른쪽으로 굽은 화살표">
            <a:extLst>
              <a:ext uri="{FF2B5EF4-FFF2-40B4-BE49-F238E27FC236}">
                <a16:creationId xmlns:a16="http://schemas.microsoft.com/office/drawing/2014/main" id="{6B8ACE28-7875-4B39-EDB8-47C45100C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2797" y="3865052"/>
            <a:ext cx="914400" cy="914400"/>
          </a:xfrm>
          <a:prstGeom prst="rect">
            <a:avLst/>
          </a:prstGeom>
        </p:spPr>
      </p:pic>
      <p:sp>
        <p:nvSpPr>
          <p:cNvPr id="17" name="정육면체 16">
            <a:extLst>
              <a:ext uri="{FF2B5EF4-FFF2-40B4-BE49-F238E27FC236}">
                <a16:creationId xmlns:a16="http://schemas.microsoft.com/office/drawing/2014/main" id="{183BAF7B-EA2A-4D41-0464-2F13F62C012E}"/>
              </a:ext>
            </a:extLst>
          </p:cNvPr>
          <p:cNvSpPr/>
          <p:nvPr/>
        </p:nvSpPr>
        <p:spPr>
          <a:xfrm>
            <a:off x="3299635" y="5083424"/>
            <a:ext cx="876300" cy="763414"/>
          </a:xfrm>
          <a:prstGeom prst="cube">
            <a:avLst>
              <a:gd name="adj" fmla="val 10369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정육면체 15">
            <a:extLst>
              <a:ext uri="{FF2B5EF4-FFF2-40B4-BE49-F238E27FC236}">
                <a16:creationId xmlns:a16="http://schemas.microsoft.com/office/drawing/2014/main" id="{2D3C747E-690D-35C2-3944-016931FACAD3}"/>
              </a:ext>
            </a:extLst>
          </p:cNvPr>
          <p:cNvSpPr/>
          <p:nvPr/>
        </p:nvSpPr>
        <p:spPr>
          <a:xfrm>
            <a:off x="3192090" y="5192755"/>
            <a:ext cx="876300" cy="763414"/>
          </a:xfrm>
          <a:prstGeom prst="cube">
            <a:avLst>
              <a:gd name="adj" fmla="val 1036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정육면체 14">
            <a:extLst>
              <a:ext uri="{FF2B5EF4-FFF2-40B4-BE49-F238E27FC236}">
                <a16:creationId xmlns:a16="http://schemas.microsoft.com/office/drawing/2014/main" id="{29736859-239E-6214-4D1F-5F61B4728902}"/>
              </a:ext>
            </a:extLst>
          </p:cNvPr>
          <p:cNvSpPr/>
          <p:nvPr/>
        </p:nvSpPr>
        <p:spPr>
          <a:xfrm>
            <a:off x="3084545" y="530208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6E9E1F0-AA2D-3EB2-D203-896E52B724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A325A9-8285-F740-A2AA-C36AB3375D1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64F82D4-2F2C-48DF-7331-A64B3BE6B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528" y="1248422"/>
            <a:ext cx="11020944" cy="745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클래스 채널 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마지막 단에서 추출된 높은 차원의 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클래스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192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클래스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데 사용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FA96D12-F747-E5E6-C8B7-25DD9388C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622" y="2278874"/>
            <a:ext cx="6495532" cy="3567964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92개 채널 (입력):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이미지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픽셀을 분석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추출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192가지의 추상적인 특징(예: 질감, 테두리, 색상, 명암 등 컴퓨터만 이해하는 정보)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클래스 채널 (출력):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최종적으로 구분하고자 하는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분류의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'사람, 자동차, 인도, 배경' 4가지를 구분하는 최종 채널 수는 4개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역할 (변환기):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위치(픽셀) 좌표는 그대로 둔 채, 각 픽셀마다 존재하는 192개의 추상적 특징들을 적절히 조합(선형결합)하여 "이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자동차'일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인도'일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확률" 등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점수로 계산해 주는 마지막 정제 작업을 수행</a:t>
            </a:r>
          </a:p>
        </p:txBody>
      </p:sp>
      <p:sp>
        <p:nvSpPr>
          <p:cNvPr id="8" name="정육면체 7">
            <a:extLst>
              <a:ext uri="{FF2B5EF4-FFF2-40B4-BE49-F238E27FC236}">
                <a16:creationId xmlns:a16="http://schemas.microsoft.com/office/drawing/2014/main" id="{328C325B-E72A-9CB3-9261-F79953058DD3}"/>
              </a:ext>
            </a:extLst>
          </p:cNvPr>
          <p:cNvSpPr/>
          <p:nvPr/>
        </p:nvSpPr>
        <p:spPr>
          <a:xfrm>
            <a:off x="706968" y="2295148"/>
            <a:ext cx="1771650" cy="1654969"/>
          </a:xfrm>
          <a:prstGeom prst="cube">
            <a:avLst>
              <a:gd name="adj" fmla="val 5992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정육면체 9">
            <a:extLst>
              <a:ext uri="{FF2B5EF4-FFF2-40B4-BE49-F238E27FC236}">
                <a16:creationId xmlns:a16="http://schemas.microsoft.com/office/drawing/2014/main" id="{2C3EBF5E-5B03-6246-4254-FD02930A72E8}"/>
              </a:ext>
            </a:extLst>
          </p:cNvPr>
          <p:cNvSpPr/>
          <p:nvPr/>
        </p:nvSpPr>
        <p:spPr>
          <a:xfrm>
            <a:off x="1967879" y="2953233"/>
            <a:ext cx="1162050" cy="1152526"/>
          </a:xfrm>
          <a:prstGeom prst="cube">
            <a:avLst>
              <a:gd name="adj" fmla="val 82444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정육면체 10">
            <a:extLst>
              <a:ext uri="{FF2B5EF4-FFF2-40B4-BE49-F238E27FC236}">
                <a16:creationId xmlns:a16="http://schemas.microsoft.com/office/drawing/2014/main" id="{47D6A941-7A4F-F016-29FB-70C5D2BFC54B}"/>
              </a:ext>
            </a:extLst>
          </p:cNvPr>
          <p:cNvSpPr/>
          <p:nvPr/>
        </p:nvSpPr>
        <p:spPr>
          <a:xfrm>
            <a:off x="1967879" y="3297080"/>
            <a:ext cx="1162050" cy="1152526"/>
          </a:xfrm>
          <a:prstGeom prst="cube">
            <a:avLst>
              <a:gd name="adj" fmla="val 82444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15509A2B-FDDB-D59D-F8F5-F86744D2905D}"/>
              </a:ext>
            </a:extLst>
          </p:cNvPr>
          <p:cNvSpPr/>
          <p:nvPr/>
        </p:nvSpPr>
        <p:spPr>
          <a:xfrm>
            <a:off x="1967879" y="3640927"/>
            <a:ext cx="1162050" cy="1152526"/>
          </a:xfrm>
          <a:prstGeom prst="cube">
            <a:avLst>
              <a:gd name="adj" fmla="val 8244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8F1EF733-9317-990C-946C-FDE0115DCAA7}"/>
              </a:ext>
            </a:extLst>
          </p:cNvPr>
          <p:cNvSpPr/>
          <p:nvPr/>
        </p:nvSpPr>
        <p:spPr>
          <a:xfrm>
            <a:off x="1967879" y="3996350"/>
            <a:ext cx="1162050" cy="1152526"/>
          </a:xfrm>
          <a:prstGeom prst="cube">
            <a:avLst>
              <a:gd name="adj" fmla="val 82444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CBB174E-2974-CB73-E9FB-DC7967B0D017}"/>
              </a:ext>
            </a:extLst>
          </p:cNvPr>
          <p:cNvSpPr/>
          <p:nvPr/>
        </p:nvSpPr>
        <p:spPr>
          <a:xfrm>
            <a:off x="2991786" y="541141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ADF50597-5FA2-BBC1-792D-288A414C13FF}"/>
              </a:ext>
            </a:extLst>
          </p:cNvPr>
          <p:cNvSpPr/>
          <p:nvPr/>
        </p:nvSpPr>
        <p:spPr>
          <a:xfrm>
            <a:off x="3243755" y="2960563"/>
            <a:ext cx="220516" cy="1491767"/>
          </a:xfrm>
          <a:prstGeom prst="rightBrace">
            <a:avLst>
              <a:gd name="adj1" fmla="val 61318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D8F1C7-EA86-937B-7F85-3D672F937A1B}"/>
              </a:ext>
            </a:extLst>
          </p:cNvPr>
          <p:cNvSpPr txBox="1"/>
          <p:nvPr/>
        </p:nvSpPr>
        <p:spPr>
          <a:xfrm>
            <a:off x="3505793" y="3033306"/>
            <a:ext cx="1516964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１ｘ１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４개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2CC53D-2A2F-7D96-D84E-7213EDB845BD}"/>
              </a:ext>
            </a:extLst>
          </p:cNvPr>
          <p:cNvSpPr txBox="1"/>
          <p:nvPr/>
        </p:nvSpPr>
        <p:spPr>
          <a:xfrm>
            <a:off x="3495241" y="4747954"/>
            <a:ext cx="1569039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클라스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채널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5CEE739B-2F90-8222-F6F0-A71160438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7879" y="6221130"/>
            <a:ext cx="2805835" cy="46166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1번 채널: 고양이일 확률 (픽셀 단위)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2번 채널: 강아지일 확률 (픽셀 단위)</a:t>
            </a:r>
          </a:p>
        </p:txBody>
      </p:sp>
    </p:spTree>
    <p:extLst>
      <p:ext uri="{BB962C8B-B14F-4D97-AF65-F5344CB8AC3E}">
        <p14:creationId xmlns:p14="http://schemas.microsoft.com/office/powerpoint/2010/main" val="2831050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6" grpId="0" animBg="1"/>
      <p:bldP spid="15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E3B9-1F2C-B55B-D98D-F1809041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B3F0A2-DADD-97EE-4631-4CBC8A6617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Limitations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8E7852-1A5B-BDFD-E4F4-0E43FE52C76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83AACBF8-E58D-A29D-6892-E944239473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718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F771E-0E41-9C72-EC20-67C1B14D9987}"/>
              </a:ext>
            </a:extLst>
          </p:cNvPr>
          <p:cNvSpPr txBox="1"/>
          <p:nvPr/>
        </p:nvSpPr>
        <p:spPr>
          <a:xfrm>
            <a:off x="581025" y="1219961"/>
            <a:ext cx="110109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LeNet, </a:t>
            </a:r>
            <a:r>
              <a:rPr lang="en-US" altLang="ko-KR" sz="1600" b="0" i="0" dirty="0" err="1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AlexNet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그 후속 모델을 포함한 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차원을 가지며 공간</a:t>
            </a:r>
            <a:r>
              <a:rPr lang="en-US" altLang="ko-KR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97055-9801-1A01-265F-DCF046CBCB20}"/>
              </a:ext>
            </a:extLst>
          </p:cNvPr>
          <p:cNvSpPr txBox="1"/>
          <p:nvPr/>
        </p:nvSpPr>
        <p:spPr>
          <a:xfrm>
            <a:off x="1214438" y="2325239"/>
            <a:ext cx="3228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convolutional_neural_networks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 descr="A convnet">
            <a:extLst>
              <a:ext uri="{FF2B5EF4-FFF2-40B4-BE49-F238E27FC236}">
                <a16:creationId xmlns:a16="http://schemas.microsoft.com/office/drawing/2014/main" id="{05E7957A-0678-D069-C6E9-D5CA3F5D6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438" y="2663793"/>
            <a:ext cx="9085421" cy="306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0EF117-77E5-74DD-17E9-2D541CFC1294}"/>
              </a:ext>
            </a:extLst>
          </p:cNvPr>
          <p:cNvSpPr txBox="1"/>
          <p:nvPr/>
        </p:nvSpPr>
        <p:spPr>
          <a:xfrm>
            <a:off x="1214438" y="58103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 layers act as feature extractors.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Dense layers use the extracted features to classify data.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74631A0-84C1-65C1-0655-CAF11E386CDB}"/>
              </a:ext>
            </a:extLst>
          </p:cNvPr>
          <p:cNvSpPr/>
          <p:nvPr/>
        </p:nvSpPr>
        <p:spPr>
          <a:xfrm>
            <a:off x="7181850" y="2662022"/>
            <a:ext cx="1171575" cy="26815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3A16B3-B25D-2D2A-08F7-03206592A964}"/>
              </a:ext>
            </a:extLst>
          </p:cNvPr>
          <p:cNvSpPr/>
          <p:nvPr/>
        </p:nvSpPr>
        <p:spPr>
          <a:xfrm>
            <a:off x="1095374" y="2662022"/>
            <a:ext cx="2673986" cy="26815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설명선: 굽은 선 4">
            <a:extLst>
              <a:ext uri="{FF2B5EF4-FFF2-40B4-BE49-F238E27FC236}">
                <a16:creationId xmlns:a16="http://schemas.microsoft.com/office/drawing/2014/main" id="{534CDA9C-150F-FC8C-D983-6528605B3124}"/>
              </a:ext>
            </a:extLst>
          </p:cNvPr>
          <p:cNvSpPr/>
          <p:nvPr/>
        </p:nvSpPr>
        <p:spPr>
          <a:xfrm>
            <a:off x="8987790" y="2047462"/>
            <a:ext cx="2624137" cy="73826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80847"/>
              <a:gd name="adj6" fmla="val -49377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이미지의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크기가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변경되면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작동이 안됨</a:t>
            </a:r>
          </a:p>
        </p:txBody>
      </p:sp>
    </p:spTree>
    <p:extLst>
      <p:ext uri="{BB962C8B-B14F-4D97-AF65-F5344CB8AC3E}">
        <p14:creationId xmlns:p14="http://schemas.microsoft.com/office/powerpoint/2010/main" val="21893676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  <a:r>
              <a:rPr lang="en-US" altLang="ko-KR" dirty="0"/>
              <a:t> 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239135"/>
            <a:ext cx="8877300" cy="14141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9440" y="1727551"/>
            <a:ext cx="3667241" cy="13849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AE90E0-3555-D5EE-0AE1-FFCB73F2091E}"/>
              </a:ext>
            </a:extLst>
          </p:cNvPr>
          <p:cNvSpPr txBox="1"/>
          <p:nvPr/>
        </p:nvSpPr>
        <p:spPr>
          <a:xfrm>
            <a:off x="8209281" y="1358219"/>
            <a:ext cx="830373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E86A80-80E0-5BD7-7FAB-B6F095E7EE1F}"/>
              </a:ext>
            </a:extLst>
          </p:cNvPr>
          <p:cNvSpPr txBox="1"/>
          <p:nvPr/>
        </p:nvSpPr>
        <p:spPr>
          <a:xfrm>
            <a:off x="8256903" y="4149151"/>
            <a:ext cx="646331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8256904" y="4518483"/>
            <a:ext cx="3677402" cy="1169551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pic>
        <p:nvPicPr>
          <p:cNvPr id="14" name="그래픽 13" descr="시계 방향으로 굽은 줄 화살표">
            <a:extLst>
              <a:ext uri="{FF2B5EF4-FFF2-40B4-BE49-F238E27FC236}">
                <a16:creationId xmlns:a16="http://schemas.microsoft.com/office/drawing/2014/main" id="{59BA96BD-A446-763C-4443-2621771E4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800244">
            <a:off x="7315200" y="4587240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B8D8FD99-2B2B-8816-CF31-459DFCC23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1474">
            <a:off x="7315200" y="2537890"/>
            <a:ext cx="914400" cy="91440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D46BF5-81AE-A72F-49EE-DD02AC3E3EEB}"/>
              </a:ext>
            </a:extLst>
          </p:cNvPr>
          <p:cNvSpPr/>
          <p:nvPr/>
        </p:nvSpPr>
        <p:spPr>
          <a:xfrm>
            <a:off x="400050" y="1773378"/>
            <a:ext cx="8877300" cy="111206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4198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366" y="1527858"/>
            <a:ext cx="5422007" cy="474125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6001196" y="1628507"/>
            <a:ext cx="5556337" cy="36009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60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FCN(Fully</a:t>
            </a:r>
            <a:r>
              <a:rPr lang="ko-KR" altLang="en-US" sz="1600" b="1" dirty="0">
                <a:solidFill>
                  <a:srgbClr val="00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Convolutional</a:t>
            </a:r>
            <a:r>
              <a:rPr lang="ko-KR" altLang="en-US" sz="1600" b="1" dirty="0">
                <a:solidFill>
                  <a:srgbClr val="00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600" b="1" dirty="0">
                <a:solidFill>
                  <a:srgbClr val="00000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Network)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를 예측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(224, 224)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이미지를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장으로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분류 예측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large image(right) :</a:t>
            </a:r>
          </a:p>
          <a:p>
            <a:pPr marL="742950" lvl="1" indent="-285750" fontAlgn="base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슬라이딩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윈도우할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필요 없이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(8,8,10)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(448, 448)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(8 by 8)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나누어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64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개 구역 격자별로 동시에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분류예측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7668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Dense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1CE5D5-4592-2CC5-45A2-DDEDE81C5025}"/>
              </a:ext>
            </a:extLst>
          </p:cNvPr>
          <p:cNvSpPr txBox="1"/>
          <p:nvPr/>
        </p:nvSpPr>
        <p:spPr>
          <a:xfrm>
            <a:off x="475645" y="1549361"/>
            <a:ext cx="5077431" cy="415498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-------------------------------------------------------------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레이어의 경우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-------------------------------------------------------------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4,900개의 입력을 받아 200개의 출력을 만드는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units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=200)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(4900, 200) 크기의 가중치 행렬 생성 및 고정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dense_layer.build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4900))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(1) 기본 크기 입력: 4,900개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((1, 4900))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out_dense_small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 # 정상 작동! -&gt; (1, 200)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(2) 큰 크기 입력: 19,600개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((1, 19600))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out_dense_large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 # 에러 발생!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except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tf.errors.InvalidArgumentError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e: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에러 발생!]")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e.message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에러 메시지: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Matrix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size-incompatible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[0]: [1,19600],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[1]: [4900,200]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9EDE32-EE98-F40E-A864-4E7C69394B24}"/>
              </a:ext>
            </a:extLst>
          </p:cNvPr>
          <p:cNvSpPr txBox="1"/>
          <p:nvPr/>
        </p:nvSpPr>
        <p:spPr>
          <a:xfrm>
            <a:off x="5652526" y="1549361"/>
            <a:ext cx="6381230" cy="304698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-------------------------------------------------------------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(FCN)의 경우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-------------------------------------------------------------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(7, 7)크기 커널, 출력채널 10개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포맷: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Width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=10,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=(7, 7))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(1)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입력: (1, 7, 7, 100)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x_conv_small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((1, 7, 7, 100))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out_conv_small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x_conv_small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 # 정상 작동! -&gt; (1, 1, 1, 10)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(2)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입력: (1, 14, 14, 100)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x_conv_large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((1, 14, 14, 100))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out_conv_large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conv_layer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x_conv_large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 # 에러 없이 정상 작동! -&gt; (1, 8, 8, 10)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("\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 성공!]")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Large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 출력 크기:",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out_conv_large.shape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([1, 8, 8, 10])</a:t>
            </a:r>
          </a:p>
        </p:txBody>
      </p:sp>
    </p:spTree>
    <p:extLst>
      <p:ext uri="{BB962C8B-B14F-4D97-AF65-F5344CB8AC3E}">
        <p14:creationId xmlns:p14="http://schemas.microsoft.com/office/powerpoint/2010/main" val="25984611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093C0-32B8-E4FC-A4A0-6B37CFE46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51DAC8-8A3B-6C7C-36D6-5E3A8BD88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bg1"/>
                </a:solidFill>
              </a:rPr>
              <a:t>Classification &amp; Location</a:t>
            </a:r>
            <a:endParaRPr lang="ko-KR" altLang="en-US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37754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613434" y="3233645"/>
            <a:ext cx="9282648" cy="12963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느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리지만 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FCF0E-8279-5950-B1BF-6EC66B29A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ED156-85F9-6361-3035-1239A3E276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Network) for Semantic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2CE9B3E-06D9-44DF-9A00-76DE6680F8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A01D30-844C-E202-00FE-42684709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53" y="1336802"/>
            <a:ext cx="10319554" cy="51306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C662D493-A15E-6095-12C4-C4746D856562}"/>
              </a:ext>
            </a:extLst>
          </p:cNvPr>
          <p:cNvSpPr/>
          <p:nvPr/>
        </p:nvSpPr>
        <p:spPr>
          <a:xfrm>
            <a:off x="9302881" y="2072607"/>
            <a:ext cx="2254652" cy="1042068"/>
          </a:xfrm>
          <a:prstGeom prst="borderCallout2">
            <a:avLst>
              <a:gd name="adj1" fmla="val 51656"/>
              <a:gd name="adj2" fmla="val -3171"/>
              <a:gd name="adj3" fmla="val 112897"/>
              <a:gd name="adj4" fmla="val -17404"/>
              <a:gd name="adj5" fmla="val 240184"/>
              <a:gd name="adj6" fmla="val -287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3D8F0D-9E88-8710-0959-0475B5207D0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5DE9B88-4D6A-25F7-D71C-1D90700F3170}"/>
              </a:ext>
            </a:extLst>
          </p:cNvPr>
          <p:cNvSpPr/>
          <p:nvPr/>
        </p:nvSpPr>
        <p:spPr>
          <a:xfrm>
            <a:off x="8562976" y="4533900"/>
            <a:ext cx="400050" cy="400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682945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AD5A0-A991-0460-C32A-935014509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직사각형 72">
            <a:extLst>
              <a:ext uri="{FF2B5EF4-FFF2-40B4-BE49-F238E27FC236}">
                <a16:creationId xmlns:a16="http://schemas.microsoft.com/office/drawing/2014/main" id="{674DAFB3-E94C-09A1-D809-9274480285B4}"/>
              </a:ext>
            </a:extLst>
          </p:cNvPr>
          <p:cNvSpPr/>
          <p:nvPr/>
        </p:nvSpPr>
        <p:spPr>
          <a:xfrm>
            <a:off x="7075316" y="2726836"/>
            <a:ext cx="4012429" cy="29017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566E74A-0D6A-8A23-86C3-3F744641BF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639CD7-C517-EC11-CED5-C6B6ADA8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33C27D-B2BA-D9DB-84F1-0DB1BA9F5D24}"/>
              </a:ext>
            </a:extLst>
          </p:cNvPr>
          <p:cNvSpPr txBox="1"/>
          <p:nvPr/>
        </p:nvSpPr>
        <p:spPr>
          <a:xfrm>
            <a:off x="542924" y="1232163"/>
            <a:ext cx="110394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Score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채널 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맞춘 이유는 분류하고자 하는 객체 클래스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자전거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식탁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오토바이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TV)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52" name="Rectangle 1">
            <a:extLst>
              <a:ext uri="{FF2B5EF4-FFF2-40B4-BE49-F238E27FC236}">
                <a16:creationId xmlns:a16="http://schemas.microsoft.com/office/drawing/2014/main" id="{8FFF56AF-6DED-F5D0-233A-7480F39A4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235" y="2763286"/>
            <a:ext cx="6046969" cy="259846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채널의 역할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채널이 21개가 되면, 출력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텐서의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각 채널</a:t>
            </a:r>
            <a:r>
              <a:rPr kumimoji="0" lang="en-US" altLang="ko-KR" sz="14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하나하나가 특정 클래스 하나에 대응하는 공간 점수 지도(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역할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예를 들어: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배경'일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비행기'일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고양이'일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02EEB1E-8C4E-94B1-2485-3DA753D43261}"/>
              </a:ext>
            </a:extLst>
          </p:cNvPr>
          <p:cNvSpPr txBox="1"/>
          <p:nvPr/>
        </p:nvSpPr>
        <p:spPr>
          <a:xfrm>
            <a:off x="8825272" y="5082111"/>
            <a:ext cx="2262473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EDAF650E-3D99-E0BA-1919-6805F41FD1C8}"/>
              </a:ext>
            </a:extLst>
          </p:cNvPr>
          <p:cNvGrpSpPr/>
          <p:nvPr/>
        </p:nvGrpSpPr>
        <p:grpSpPr>
          <a:xfrm>
            <a:off x="7075316" y="2559417"/>
            <a:ext cx="3096731" cy="3017448"/>
            <a:chOff x="7075316" y="2559417"/>
            <a:chExt cx="3096731" cy="3017448"/>
          </a:xfrm>
        </p:grpSpPr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7766290C-98D5-0176-3106-8EB001B63797}"/>
                </a:ext>
              </a:extLst>
            </p:cNvPr>
            <p:cNvGrpSpPr/>
            <p:nvPr/>
          </p:nvGrpSpPr>
          <p:grpSpPr>
            <a:xfrm>
              <a:off x="7075316" y="2559417"/>
              <a:ext cx="2813162" cy="3017448"/>
              <a:chOff x="2326335" y="2535619"/>
              <a:chExt cx="2813162" cy="3017448"/>
            </a:xfrm>
          </p:grpSpPr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F2F2A582-A009-212B-5E61-675C3150F883}"/>
                  </a:ext>
                </a:extLst>
              </p:cNvPr>
              <p:cNvSpPr/>
              <p:nvPr/>
            </p:nvSpPr>
            <p:spPr>
              <a:xfrm>
                <a:off x="4496750" y="2964815"/>
                <a:ext cx="642747" cy="634583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9F9E8E5C-6769-2C5B-F529-044CBAD7F8C4}"/>
                  </a:ext>
                </a:extLst>
              </p:cNvPr>
              <p:cNvSpPr/>
              <p:nvPr/>
            </p:nvSpPr>
            <p:spPr>
              <a:xfrm>
                <a:off x="4340922" y="3111136"/>
                <a:ext cx="642747" cy="63458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7048D004-FA28-8F64-2C74-0B7EE3EEF487}"/>
                  </a:ext>
                </a:extLst>
              </p:cNvPr>
              <p:cNvSpPr/>
              <p:nvPr/>
            </p:nvSpPr>
            <p:spPr>
              <a:xfrm>
                <a:off x="4190617" y="3270043"/>
                <a:ext cx="642747" cy="634583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B27A8B85-44A5-2477-6E9B-68FD0E93F025}"/>
                  </a:ext>
                </a:extLst>
              </p:cNvPr>
              <p:cNvSpPr/>
              <p:nvPr/>
            </p:nvSpPr>
            <p:spPr>
              <a:xfrm>
                <a:off x="3322415" y="4146355"/>
                <a:ext cx="642747" cy="63458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057B4925-5820-C973-F001-33B98032E746}"/>
                  </a:ext>
                </a:extLst>
              </p:cNvPr>
              <p:cNvSpPr/>
              <p:nvPr/>
            </p:nvSpPr>
            <p:spPr>
              <a:xfrm>
                <a:off x="3096958" y="4373580"/>
                <a:ext cx="642747" cy="6345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" name="직사각형 31">
                <a:extLst>
                  <a:ext uri="{FF2B5EF4-FFF2-40B4-BE49-F238E27FC236}">
                    <a16:creationId xmlns:a16="http://schemas.microsoft.com/office/drawing/2014/main" id="{EBE1BBC9-F5F3-BB30-8CC2-BF7AD1F1E60B}"/>
                  </a:ext>
                </a:extLst>
              </p:cNvPr>
              <p:cNvSpPr/>
              <p:nvPr/>
            </p:nvSpPr>
            <p:spPr>
              <a:xfrm>
                <a:off x="2905125" y="4553712"/>
                <a:ext cx="642747" cy="6345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04F1B561-6FBA-59FA-9D80-471099064A4C}"/>
                  </a:ext>
                </a:extLst>
              </p:cNvPr>
              <p:cNvSpPr/>
              <p:nvPr/>
            </p:nvSpPr>
            <p:spPr>
              <a:xfrm>
                <a:off x="3991449" y="3496634"/>
                <a:ext cx="642747" cy="634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정육면체 21">
                <a:extLst>
                  <a:ext uri="{FF2B5EF4-FFF2-40B4-BE49-F238E27FC236}">
                    <a16:creationId xmlns:a16="http://schemas.microsoft.com/office/drawing/2014/main" id="{7B4136E7-0347-785E-E2DE-DD713E908F8E}"/>
                  </a:ext>
                </a:extLst>
              </p:cNvPr>
              <p:cNvSpPr/>
              <p:nvPr/>
            </p:nvSpPr>
            <p:spPr>
              <a:xfrm>
                <a:off x="2905125" y="2965450"/>
                <a:ext cx="2228850" cy="2222845"/>
              </a:xfrm>
              <a:prstGeom prst="cube">
                <a:avLst>
                  <a:gd name="adj" fmla="val 71279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7" name="오른쪽 중괄호 46">
                <a:extLst>
                  <a:ext uri="{FF2B5EF4-FFF2-40B4-BE49-F238E27FC236}">
                    <a16:creationId xmlns:a16="http://schemas.microsoft.com/office/drawing/2014/main" id="{869B55E9-C794-3E51-307A-6E60A7F8926B}"/>
                  </a:ext>
                </a:extLst>
              </p:cNvPr>
              <p:cNvSpPr/>
              <p:nvPr/>
            </p:nvSpPr>
            <p:spPr>
              <a:xfrm rot="13475167">
                <a:off x="3304710" y="2535619"/>
                <a:ext cx="223691" cy="2040566"/>
              </a:xfrm>
              <a:prstGeom prst="rightBrace">
                <a:avLst>
                  <a:gd name="adj1" fmla="val 37576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B3ABA18-CC29-3AE6-9DB6-13275C1B0938}"/>
                  </a:ext>
                </a:extLst>
              </p:cNvPr>
              <p:cNvSpPr txBox="1"/>
              <p:nvPr/>
            </p:nvSpPr>
            <p:spPr>
              <a:xfrm>
                <a:off x="2326335" y="3176334"/>
                <a:ext cx="136450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21 channels</a:t>
                </a:r>
                <a:endParaRPr lang="ko-KR" altLang="en-US" sz="1400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25DA85A-761B-197D-465E-1B685482FB92}"/>
                  </a:ext>
                </a:extLst>
              </p:cNvPr>
              <p:cNvSpPr txBox="1"/>
              <p:nvPr/>
            </p:nvSpPr>
            <p:spPr>
              <a:xfrm>
                <a:off x="2497942" y="4676839"/>
                <a:ext cx="37356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endParaRPr lang="ko-KR" altLang="en-US" sz="1400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0491CA8-A265-8D70-1E2E-D487E6189A56}"/>
                  </a:ext>
                </a:extLst>
              </p:cNvPr>
              <p:cNvSpPr txBox="1"/>
              <p:nvPr/>
            </p:nvSpPr>
            <p:spPr>
              <a:xfrm>
                <a:off x="3008586" y="5245290"/>
                <a:ext cx="37356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endParaRPr lang="ko-KR" altLang="en-US" sz="1400" dirty="0"/>
              </a:p>
            </p:txBody>
          </p:sp>
        </p:grpSp>
        <p:pic>
          <p:nvPicPr>
            <p:cNvPr id="58" name="그래픽 57" descr="고양이">
              <a:extLst>
                <a:ext uri="{FF2B5EF4-FFF2-40B4-BE49-F238E27FC236}">
                  <a16:creationId xmlns:a16="http://schemas.microsoft.com/office/drawing/2014/main" id="{4070CE4D-BDD9-BF3F-9ED3-BD360A8964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8974" y="4206187"/>
              <a:ext cx="480012" cy="480012"/>
            </a:xfrm>
            <a:prstGeom prst="rect">
              <a:avLst/>
            </a:prstGeom>
          </p:spPr>
        </p:pic>
        <p:pic>
          <p:nvPicPr>
            <p:cNvPr id="60" name="그래픽 59" descr="토끼">
              <a:extLst>
                <a:ext uri="{FF2B5EF4-FFF2-40B4-BE49-F238E27FC236}">
                  <a16:creationId xmlns:a16="http://schemas.microsoft.com/office/drawing/2014/main" id="{1A1AB4BF-B0D3-361A-C0DA-E5AB523B47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197626" y="3363787"/>
              <a:ext cx="480012" cy="480012"/>
            </a:xfrm>
            <a:prstGeom prst="rect">
              <a:avLst/>
            </a:prstGeom>
          </p:spPr>
        </p:pic>
        <p:pic>
          <p:nvPicPr>
            <p:cNvPr id="62" name="그래픽 61" descr="벌새">
              <a:extLst>
                <a:ext uri="{FF2B5EF4-FFF2-40B4-BE49-F238E27FC236}">
                  <a16:creationId xmlns:a16="http://schemas.microsoft.com/office/drawing/2014/main" id="{82413AE0-E8A9-B8B2-1321-949886EDE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84670" y="2990534"/>
              <a:ext cx="480012" cy="480012"/>
            </a:xfrm>
            <a:prstGeom prst="rect">
              <a:avLst/>
            </a:prstGeom>
          </p:spPr>
        </p:pic>
        <p:pic>
          <p:nvPicPr>
            <p:cNvPr id="64" name="그래픽 63" descr="사슴">
              <a:extLst>
                <a:ext uri="{FF2B5EF4-FFF2-40B4-BE49-F238E27FC236}">
                  <a16:creationId xmlns:a16="http://schemas.microsoft.com/office/drawing/2014/main" id="{78870243-3651-6327-F0F5-ECD841543F8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692035" y="2978963"/>
              <a:ext cx="480012" cy="480012"/>
            </a:xfrm>
            <a:prstGeom prst="rect">
              <a:avLst/>
            </a:prstGeom>
          </p:spPr>
        </p:pic>
        <p:pic>
          <p:nvPicPr>
            <p:cNvPr id="68" name="그래픽 67" descr="수신기">
              <a:extLst>
                <a:ext uri="{FF2B5EF4-FFF2-40B4-BE49-F238E27FC236}">
                  <a16:creationId xmlns:a16="http://schemas.microsoft.com/office/drawing/2014/main" id="{4682A079-FCE4-6740-E100-9E4F95D3B4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8125996" y="4307177"/>
              <a:ext cx="480012" cy="480012"/>
            </a:xfrm>
            <a:prstGeom prst="rect">
              <a:avLst/>
            </a:prstGeom>
          </p:spPr>
        </p:pic>
        <p:pic>
          <p:nvPicPr>
            <p:cNvPr id="70" name="그래픽 69" descr="신발">
              <a:extLst>
                <a:ext uri="{FF2B5EF4-FFF2-40B4-BE49-F238E27FC236}">
                  <a16:creationId xmlns:a16="http://schemas.microsoft.com/office/drawing/2014/main" id="{7E49F504-3AEB-66E1-738D-71BE0BD65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797767" y="4683418"/>
              <a:ext cx="480012" cy="480012"/>
            </a:xfrm>
            <a:prstGeom prst="rect">
              <a:avLst/>
            </a:prstGeom>
          </p:spPr>
        </p:pic>
        <p:pic>
          <p:nvPicPr>
            <p:cNvPr id="72" name="그래픽 71" descr="바지">
              <a:extLst>
                <a:ext uri="{FF2B5EF4-FFF2-40B4-BE49-F238E27FC236}">
                  <a16:creationId xmlns:a16="http://schemas.microsoft.com/office/drawing/2014/main" id="{C8B85229-61FF-5923-4C0C-BDF45EF9E3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796559" y="3774777"/>
              <a:ext cx="480012" cy="4800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510669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446DE-FA5C-3049-E82A-DC1215F5D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C64D8E94-EDB7-9C92-FBA4-F8B6F6CDE11F}"/>
              </a:ext>
            </a:extLst>
          </p:cNvPr>
          <p:cNvSpPr/>
          <p:nvPr/>
        </p:nvSpPr>
        <p:spPr>
          <a:xfrm>
            <a:off x="483624" y="2381250"/>
            <a:ext cx="11281902" cy="4177330"/>
          </a:xfrm>
          <a:prstGeom prst="roundRect">
            <a:avLst>
              <a:gd name="adj" fmla="val 345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16A536A-CD1E-9122-08C8-D98A0C7760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8DC2E82-94D1-EA7D-6DEC-CE1F32458A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333638B-7163-FC3D-7489-5FE9AEAE4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573" y="1259918"/>
            <a:ext cx="11083501" cy="98264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21개 채널로 확장 및 복원된 최종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21,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]에서 각 픽셀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위치를 세로로 가로질러 21개 채널의 값을 비교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21개 값 중 가장 높은 점수를 가진 채널의 인덱스(0~20)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선택하여 최종 [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크기의 픽셀 단위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맵으로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완성(예: 7번 채널 점수가 가장 높으면 그 픽셀은 고양이로 판정)</a:t>
            </a: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CB0666AC-549E-4D2D-A77B-221E7107E628}"/>
              </a:ext>
            </a:extLst>
          </p:cNvPr>
          <p:cNvGrpSpPr/>
          <p:nvPr/>
        </p:nvGrpSpPr>
        <p:grpSpPr>
          <a:xfrm>
            <a:off x="8542000" y="2628065"/>
            <a:ext cx="3101053" cy="2595998"/>
            <a:chOff x="800634" y="2761880"/>
            <a:chExt cx="4088295" cy="3716883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86F4434-B8A9-9AC3-E129-1B5D4F4FB0A3}"/>
                </a:ext>
              </a:extLst>
            </p:cNvPr>
            <p:cNvSpPr/>
            <p:nvPr/>
          </p:nvSpPr>
          <p:spPr>
            <a:xfrm>
              <a:off x="1003264" y="3305175"/>
              <a:ext cx="3885665" cy="317358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1" name="그래픽 10" descr="고양이">
              <a:extLst>
                <a:ext uri="{FF2B5EF4-FFF2-40B4-BE49-F238E27FC236}">
                  <a16:creationId xmlns:a16="http://schemas.microsoft.com/office/drawing/2014/main" id="{8AA7D191-F9FA-3065-5622-DF78832F0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9161" y="4129885"/>
              <a:ext cx="718015" cy="718015"/>
            </a:xfrm>
            <a:prstGeom prst="rect">
              <a:avLst/>
            </a:prstGeom>
          </p:spPr>
        </p:pic>
        <p:pic>
          <p:nvPicPr>
            <p:cNvPr id="12" name="그래픽 11" descr="토끼">
              <a:extLst>
                <a:ext uri="{FF2B5EF4-FFF2-40B4-BE49-F238E27FC236}">
                  <a16:creationId xmlns:a16="http://schemas.microsoft.com/office/drawing/2014/main" id="{6B24F183-8075-8E28-929A-E36EE214F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95021" y="5290451"/>
              <a:ext cx="668448" cy="668448"/>
            </a:xfrm>
            <a:prstGeom prst="rect">
              <a:avLst/>
            </a:prstGeom>
          </p:spPr>
        </p:pic>
        <p:pic>
          <p:nvPicPr>
            <p:cNvPr id="13" name="그래픽 12" descr="벌새">
              <a:extLst>
                <a:ext uri="{FF2B5EF4-FFF2-40B4-BE49-F238E27FC236}">
                  <a16:creationId xmlns:a16="http://schemas.microsoft.com/office/drawing/2014/main" id="{8B3ED5F2-8204-04D3-D621-4A4AF4DADB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68942" y="3507904"/>
              <a:ext cx="637623" cy="637623"/>
            </a:xfrm>
            <a:prstGeom prst="rect">
              <a:avLst/>
            </a:prstGeom>
          </p:spPr>
        </p:pic>
        <p:pic>
          <p:nvPicPr>
            <p:cNvPr id="14" name="그래픽 13" descr="사슴">
              <a:extLst>
                <a:ext uri="{FF2B5EF4-FFF2-40B4-BE49-F238E27FC236}">
                  <a16:creationId xmlns:a16="http://schemas.microsoft.com/office/drawing/2014/main" id="{F8F953A7-F7D5-B999-B010-BCD847AD9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50308" y="4220378"/>
              <a:ext cx="983012" cy="983012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F4F896E-4A8D-CA0B-D282-FD5489A3757B}"/>
                </a:ext>
              </a:extLst>
            </p:cNvPr>
            <p:cNvSpPr txBox="1"/>
            <p:nvPr/>
          </p:nvSpPr>
          <p:spPr>
            <a:xfrm>
              <a:off x="800634" y="2761880"/>
              <a:ext cx="3739518" cy="4406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224 x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224 pixel,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1</a:t>
              </a:r>
              <a:r>
                <a: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 </a:t>
              </a:r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channels</a:t>
              </a:r>
              <a:endParaRPr lang="ko-KR" altLang="en-US" sz="1400" dirty="0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304A1AC-463F-0A8E-1CCB-AD5DA761BC62}"/>
                </a:ext>
              </a:extLst>
            </p:cNvPr>
            <p:cNvSpPr/>
            <p:nvPr/>
          </p:nvSpPr>
          <p:spPr>
            <a:xfrm>
              <a:off x="995237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BC96CF56-722D-70F7-3772-7E054D74FE66}"/>
                </a:ext>
              </a:extLst>
            </p:cNvPr>
            <p:cNvSpPr/>
            <p:nvPr/>
          </p:nvSpPr>
          <p:spPr>
            <a:xfrm>
              <a:off x="1259224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34DA538C-839C-CA2E-3721-119DE3A94D1B}"/>
                </a:ext>
              </a:extLst>
            </p:cNvPr>
            <p:cNvSpPr/>
            <p:nvPr/>
          </p:nvSpPr>
          <p:spPr>
            <a:xfrm>
              <a:off x="1523211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3916E692-189E-66BD-E51D-82B61DAA056F}"/>
                </a:ext>
              </a:extLst>
            </p:cNvPr>
            <p:cNvSpPr/>
            <p:nvPr/>
          </p:nvSpPr>
          <p:spPr>
            <a:xfrm>
              <a:off x="1787198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8DA07C14-8E82-5534-988D-FBB61A2572D7}"/>
                </a:ext>
              </a:extLst>
            </p:cNvPr>
            <p:cNvSpPr/>
            <p:nvPr/>
          </p:nvSpPr>
          <p:spPr>
            <a:xfrm>
              <a:off x="2051185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53405BE2-7A19-EDB9-5BB0-45DF1AFFFDFB}"/>
                </a:ext>
              </a:extLst>
            </p:cNvPr>
            <p:cNvSpPr/>
            <p:nvPr/>
          </p:nvSpPr>
          <p:spPr>
            <a:xfrm>
              <a:off x="2315172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2DDEC-EE76-D2C5-E3B1-018C1F787CD4}"/>
                </a:ext>
              </a:extLst>
            </p:cNvPr>
            <p:cNvSpPr/>
            <p:nvPr/>
          </p:nvSpPr>
          <p:spPr>
            <a:xfrm>
              <a:off x="2579161" y="3305105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7D4716BA-29CB-6551-57B9-934EBD815705}"/>
                </a:ext>
              </a:extLst>
            </p:cNvPr>
            <p:cNvSpPr/>
            <p:nvPr/>
          </p:nvSpPr>
          <p:spPr>
            <a:xfrm>
              <a:off x="995237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2DDA3A68-9F34-9244-126A-DA624B5E0E91}"/>
                </a:ext>
              </a:extLst>
            </p:cNvPr>
            <p:cNvSpPr/>
            <p:nvPr/>
          </p:nvSpPr>
          <p:spPr>
            <a:xfrm>
              <a:off x="1259224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2A8B6470-2684-DAF2-594C-608345580059}"/>
                </a:ext>
              </a:extLst>
            </p:cNvPr>
            <p:cNvSpPr/>
            <p:nvPr/>
          </p:nvSpPr>
          <p:spPr>
            <a:xfrm>
              <a:off x="1523211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D7F23E5E-21AE-0A65-C8F3-F124C2D2B5A1}"/>
                </a:ext>
              </a:extLst>
            </p:cNvPr>
            <p:cNvSpPr/>
            <p:nvPr/>
          </p:nvSpPr>
          <p:spPr>
            <a:xfrm>
              <a:off x="1787198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4247049E-7AE0-3FE2-8930-F348DDD28B9A}"/>
                </a:ext>
              </a:extLst>
            </p:cNvPr>
            <p:cNvSpPr/>
            <p:nvPr/>
          </p:nvSpPr>
          <p:spPr>
            <a:xfrm>
              <a:off x="2051185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C1A98EDF-7BB1-0044-5D1D-71E7709BE792}"/>
                </a:ext>
              </a:extLst>
            </p:cNvPr>
            <p:cNvSpPr/>
            <p:nvPr/>
          </p:nvSpPr>
          <p:spPr>
            <a:xfrm>
              <a:off x="2315172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363801F2-777B-8AE0-6BDF-51B26AEA8D05}"/>
                </a:ext>
              </a:extLst>
            </p:cNvPr>
            <p:cNvSpPr/>
            <p:nvPr/>
          </p:nvSpPr>
          <p:spPr>
            <a:xfrm>
              <a:off x="2579161" y="3581330"/>
              <a:ext cx="253199" cy="2531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67" name="그림 66">
            <a:extLst>
              <a:ext uri="{FF2B5EF4-FFF2-40B4-BE49-F238E27FC236}">
                <a16:creationId xmlns:a16="http://schemas.microsoft.com/office/drawing/2014/main" id="{F5853C91-05F4-AF08-BEBD-6CC3C54E909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97153" y="5225680"/>
            <a:ext cx="2045900" cy="1275184"/>
          </a:xfrm>
          <a:prstGeom prst="rect">
            <a:avLst/>
          </a:prstGeom>
          <a:ln>
            <a:noFill/>
          </a:ln>
        </p:spPr>
      </p:pic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0B06E35D-7105-B13B-8128-5C5348F35831}"/>
              </a:ext>
            </a:extLst>
          </p:cNvPr>
          <p:cNvGrpSpPr/>
          <p:nvPr/>
        </p:nvGrpSpPr>
        <p:grpSpPr>
          <a:xfrm>
            <a:off x="4740421" y="3380163"/>
            <a:ext cx="2692024" cy="2324075"/>
            <a:chOff x="7099397" y="2559417"/>
            <a:chExt cx="3072650" cy="2652676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5DC83272-EA8D-7350-C231-81A017DF78A1}"/>
                </a:ext>
              </a:extLst>
            </p:cNvPr>
            <p:cNvGrpSpPr/>
            <p:nvPr/>
          </p:nvGrpSpPr>
          <p:grpSpPr>
            <a:xfrm>
              <a:off x="7099397" y="2559417"/>
              <a:ext cx="2789081" cy="2652676"/>
              <a:chOff x="2350416" y="2535619"/>
              <a:chExt cx="2789081" cy="2652676"/>
            </a:xfrm>
          </p:grpSpPr>
          <p:sp>
            <p:nvSpPr>
              <p:cNvPr id="111" name="직사각형 110">
                <a:extLst>
                  <a:ext uri="{FF2B5EF4-FFF2-40B4-BE49-F238E27FC236}">
                    <a16:creationId xmlns:a16="http://schemas.microsoft.com/office/drawing/2014/main" id="{B7BDC8C8-144C-F96F-4BDF-D813B14E42F1}"/>
                  </a:ext>
                </a:extLst>
              </p:cNvPr>
              <p:cNvSpPr/>
              <p:nvPr/>
            </p:nvSpPr>
            <p:spPr>
              <a:xfrm>
                <a:off x="4496750" y="2964815"/>
                <a:ext cx="642747" cy="634583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7C637393-EE80-F2EF-2486-2AC7D87F62A8}"/>
                  </a:ext>
                </a:extLst>
              </p:cNvPr>
              <p:cNvSpPr/>
              <p:nvPr/>
            </p:nvSpPr>
            <p:spPr>
              <a:xfrm>
                <a:off x="4340922" y="3111136"/>
                <a:ext cx="642747" cy="63458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3" name="직사각형 112">
                <a:extLst>
                  <a:ext uri="{FF2B5EF4-FFF2-40B4-BE49-F238E27FC236}">
                    <a16:creationId xmlns:a16="http://schemas.microsoft.com/office/drawing/2014/main" id="{CA23F8A5-F5B9-C955-C358-FC989393E71C}"/>
                  </a:ext>
                </a:extLst>
              </p:cNvPr>
              <p:cNvSpPr/>
              <p:nvPr/>
            </p:nvSpPr>
            <p:spPr>
              <a:xfrm>
                <a:off x="4190617" y="3270043"/>
                <a:ext cx="642747" cy="634583"/>
              </a:xfrm>
              <a:prstGeom prst="rect">
                <a:avLst/>
              </a:prstGeom>
              <a:solidFill>
                <a:schemeClr val="tx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4" name="직사각형 113">
                <a:extLst>
                  <a:ext uri="{FF2B5EF4-FFF2-40B4-BE49-F238E27FC236}">
                    <a16:creationId xmlns:a16="http://schemas.microsoft.com/office/drawing/2014/main" id="{77C747CE-B4CA-281B-D265-D40ECDB3F707}"/>
                  </a:ext>
                </a:extLst>
              </p:cNvPr>
              <p:cNvSpPr/>
              <p:nvPr/>
            </p:nvSpPr>
            <p:spPr>
              <a:xfrm>
                <a:off x="3322415" y="4146355"/>
                <a:ext cx="642747" cy="63458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5" name="직사각형 114">
                <a:extLst>
                  <a:ext uri="{FF2B5EF4-FFF2-40B4-BE49-F238E27FC236}">
                    <a16:creationId xmlns:a16="http://schemas.microsoft.com/office/drawing/2014/main" id="{C5D9961F-29A3-D6B6-ECFC-69C4CB789444}"/>
                  </a:ext>
                </a:extLst>
              </p:cNvPr>
              <p:cNvSpPr/>
              <p:nvPr/>
            </p:nvSpPr>
            <p:spPr>
              <a:xfrm>
                <a:off x="3096958" y="4373580"/>
                <a:ext cx="642747" cy="63458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6" name="직사각형 115">
                <a:extLst>
                  <a:ext uri="{FF2B5EF4-FFF2-40B4-BE49-F238E27FC236}">
                    <a16:creationId xmlns:a16="http://schemas.microsoft.com/office/drawing/2014/main" id="{9BC3A6AE-C123-3478-2591-C64F23144C04}"/>
                  </a:ext>
                </a:extLst>
              </p:cNvPr>
              <p:cNvSpPr/>
              <p:nvPr/>
            </p:nvSpPr>
            <p:spPr>
              <a:xfrm>
                <a:off x="2905125" y="4553712"/>
                <a:ext cx="642747" cy="6345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직사각형 116">
                <a:extLst>
                  <a:ext uri="{FF2B5EF4-FFF2-40B4-BE49-F238E27FC236}">
                    <a16:creationId xmlns:a16="http://schemas.microsoft.com/office/drawing/2014/main" id="{D68AE5C7-3EBE-D5D6-10BE-78A5279D0480}"/>
                  </a:ext>
                </a:extLst>
              </p:cNvPr>
              <p:cNvSpPr/>
              <p:nvPr/>
            </p:nvSpPr>
            <p:spPr>
              <a:xfrm>
                <a:off x="3991449" y="3496634"/>
                <a:ext cx="642747" cy="6345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정육면체 117">
                <a:extLst>
                  <a:ext uri="{FF2B5EF4-FFF2-40B4-BE49-F238E27FC236}">
                    <a16:creationId xmlns:a16="http://schemas.microsoft.com/office/drawing/2014/main" id="{27320341-EF71-1B25-0596-95E5AB3B6C45}"/>
                  </a:ext>
                </a:extLst>
              </p:cNvPr>
              <p:cNvSpPr/>
              <p:nvPr/>
            </p:nvSpPr>
            <p:spPr>
              <a:xfrm>
                <a:off x="2905125" y="2965450"/>
                <a:ext cx="2228850" cy="2222845"/>
              </a:xfrm>
              <a:prstGeom prst="cube">
                <a:avLst>
                  <a:gd name="adj" fmla="val 71279"/>
                </a:avLst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9" name="오른쪽 중괄호 118">
                <a:extLst>
                  <a:ext uri="{FF2B5EF4-FFF2-40B4-BE49-F238E27FC236}">
                    <a16:creationId xmlns:a16="http://schemas.microsoft.com/office/drawing/2014/main" id="{36A9DFC1-0121-7A6F-DECC-1B33E598FFAD}"/>
                  </a:ext>
                </a:extLst>
              </p:cNvPr>
              <p:cNvSpPr/>
              <p:nvPr/>
            </p:nvSpPr>
            <p:spPr>
              <a:xfrm rot="13475167">
                <a:off x="3304710" y="2535619"/>
                <a:ext cx="223691" cy="2040566"/>
              </a:xfrm>
              <a:prstGeom prst="rightBrace">
                <a:avLst>
                  <a:gd name="adj1" fmla="val 37576"/>
                  <a:gd name="adj2" fmla="val 50000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58F933B-4806-4775-7930-64378416BB2A}"/>
                  </a:ext>
                </a:extLst>
              </p:cNvPr>
              <p:cNvSpPr txBox="1"/>
              <p:nvPr/>
            </p:nvSpPr>
            <p:spPr>
              <a:xfrm>
                <a:off x="2350416" y="2967209"/>
                <a:ext cx="1364503" cy="284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21 channels</a:t>
                </a:r>
                <a:endParaRPr lang="ko-KR" altLang="en-US" sz="1400" dirty="0"/>
              </a:p>
            </p:txBody>
          </p:sp>
        </p:grpSp>
        <p:pic>
          <p:nvPicPr>
            <p:cNvPr id="104" name="그래픽 103" descr="고양이">
              <a:extLst>
                <a:ext uri="{FF2B5EF4-FFF2-40B4-BE49-F238E27FC236}">
                  <a16:creationId xmlns:a16="http://schemas.microsoft.com/office/drawing/2014/main" id="{3B6B5F4E-3B46-854B-CF6D-E6C440D10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8974" y="4206187"/>
              <a:ext cx="480012" cy="480012"/>
            </a:xfrm>
            <a:prstGeom prst="rect">
              <a:avLst/>
            </a:prstGeom>
          </p:spPr>
        </p:pic>
        <p:pic>
          <p:nvPicPr>
            <p:cNvPr id="105" name="그래픽 104" descr="토끼">
              <a:extLst>
                <a:ext uri="{FF2B5EF4-FFF2-40B4-BE49-F238E27FC236}">
                  <a16:creationId xmlns:a16="http://schemas.microsoft.com/office/drawing/2014/main" id="{C3CDE7BE-16E3-C2D4-8C57-B29E41AC41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197626" y="3363787"/>
              <a:ext cx="480012" cy="480012"/>
            </a:xfrm>
            <a:prstGeom prst="rect">
              <a:avLst/>
            </a:prstGeom>
          </p:spPr>
        </p:pic>
        <p:pic>
          <p:nvPicPr>
            <p:cNvPr id="106" name="그래픽 105" descr="벌새">
              <a:extLst>
                <a:ext uri="{FF2B5EF4-FFF2-40B4-BE49-F238E27FC236}">
                  <a16:creationId xmlns:a16="http://schemas.microsoft.com/office/drawing/2014/main" id="{0C718FF5-5388-4715-A075-718B4524340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84670" y="2990534"/>
              <a:ext cx="480012" cy="480012"/>
            </a:xfrm>
            <a:prstGeom prst="rect">
              <a:avLst/>
            </a:prstGeom>
          </p:spPr>
        </p:pic>
        <p:pic>
          <p:nvPicPr>
            <p:cNvPr id="107" name="그래픽 106" descr="사슴">
              <a:extLst>
                <a:ext uri="{FF2B5EF4-FFF2-40B4-BE49-F238E27FC236}">
                  <a16:creationId xmlns:a16="http://schemas.microsoft.com/office/drawing/2014/main" id="{EDDEA459-B3B9-3251-6771-8EFFF9DF7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692035" y="2978963"/>
              <a:ext cx="480012" cy="480012"/>
            </a:xfrm>
            <a:prstGeom prst="rect">
              <a:avLst/>
            </a:prstGeom>
          </p:spPr>
        </p:pic>
        <p:pic>
          <p:nvPicPr>
            <p:cNvPr id="108" name="그래픽 107" descr="수신기">
              <a:extLst>
                <a:ext uri="{FF2B5EF4-FFF2-40B4-BE49-F238E27FC236}">
                  <a16:creationId xmlns:a16="http://schemas.microsoft.com/office/drawing/2014/main" id="{ABE4E84E-3531-5EC1-3145-9A36957E97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125996" y="4307177"/>
              <a:ext cx="480012" cy="480012"/>
            </a:xfrm>
            <a:prstGeom prst="rect">
              <a:avLst/>
            </a:prstGeom>
          </p:spPr>
        </p:pic>
        <p:pic>
          <p:nvPicPr>
            <p:cNvPr id="109" name="그래픽 108" descr="신발">
              <a:extLst>
                <a:ext uri="{FF2B5EF4-FFF2-40B4-BE49-F238E27FC236}">
                  <a16:creationId xmlns:a16="http://schemas.microsoft.com/office/drawing/2014/main" id="{F8189BFB-8A73-8295-11EF-D3C2A169C8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797767" y="4683418"/>
              <a:ext cx="480012" cy="480012"/>
            </a:xfrm>
            <a:prstGeom prst="rect">
              <a:avLst/>
            </a:prstGeom>
          </p:spPr>
        </p:pic>
        <p:pic>
          <p:nvPicPr>
            <p:cNvPr id="110" name="그래픽 109" descr="바지">
              <a:extLst>
                <a:ext uri="{FF2B5EF4-FFF2-40B4-BE49-F238E27FC236}">
                  <a16:creationId xmlns:a16="http://schemas.microsoft.com/office/drawing/2014/main" id="{F6C99EF6-ACC9-406B-BA51-CF47F61C8B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796559" y="3774777"/>
              <a:ext cx="480012" cy="480012"/>
            </a:xfrm>
            <a:prstGeom prst="rect">
              <a:avLst/>
            </a:prstGeom>
          </p:spPr>
        </p:pic>
      </p:grp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542512ED-B7BE-9B4C-6727-8393F212F409}"/>
              </a:ext>
            </a:extLst>
          </p:cNvPr>
          <p:cNvSpPr/>
          <p:nvPr/>
        </p:nvSpPr>
        <p:spPr>
          <a:xfrm>
            <a:off x="587047" y="3021839"/>
            <a:ext cx="2657233" cy="21702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D2DB599C-AEA8-DF7B-57C3-5ACE8860B168}"/>
              </a:ext>
            </a:extLst>
          </p:cNvPr>
          <p:cNvSpPr/>
          <p:nvPr/>
        </p:nvSpPr>
        <p:spPr>
          <a:xfrm>
            <a:off x="739447" y="3174239"/>
            <a:ext cx="2657233" cy="2170275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0FB0909-CD1C-B775-AECE-1D30620281CB}"/>
              </a:ext>
            </a:extLst>
          </p:cNvPr>
          <p:cNvSpPr/>
          <p:nvPr/>
        </p:nvSpPr>
        <p:spPr>
          <a:xfrm>
            <a:off x="891847" y="3326639"/>
            <a:ext cx="2657233" cy="217027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6" name="그래픽 125" descr="고양이">
            <a:extLst>
              <a:ext uri="{FF2B5EF4-FFF2-40B4-BE49-F238E27FC236}">
                <a16:creationId xmlns:a16="http://schemas.microsoft.com/office/drawing/2014/main" id="{2E47F384-CAE4-0E06-F203-E44A59E859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9628" y="3992168"/>
            <a:ext cx="718015" cy="718015"/>
          </a:xfrm>
          <a:prstGeom prst="rect">
            <a:avLst/>
          </a:prstGeom>
        </p:spPr>
      </p:pic>
      <p:pic>
        <p:nvPicPr>
          <p:cNvPr id="127" name="그래픽 126" descr="토끼">
            <a:extLst>
              <a:ext uri="{FF2B5EF4-FFF2-40B4-BE49-F238E27FC236}">
                <a16:creationId xmlns:a16="http://schemas.microsoft.com/office/drawing/2014/main" id="{03A1BBAB-7342-16AD-149C-F395048C59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13148" y="4780852"/>
            <a:ext cx="668448" cy="668448"/>
          </a:xfrm>
          <a:prstGeom prst="rect">
            <a:avLst/>
          </a:prstGeom>
        </p:spPr>
      </p:pic>
      <p:pic>
        <p:nvPicPr>
          <p:cNvPr id="128" name="그래픽 127" descr="벌새">
            <a:extLst>
              <a:ext uri="{FF2B5EF4-FFF2-40B4-BE49-F238E27FC236}">
                <a16:creationId xmlns:a16="http://schemas.microsoft.com/office/drawing/2014/main" id="{F2765090-1C98-4DA7-89BB-D7F6BEBDB7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9409" y="3370187"/>
            <a:ext cx="637623" cy="637623"/>
          </a:xfrm>
          <a:prstGeom prst="rect">
            <a:avLst/>
          </a:prstGeom>
        </p:spPr>
      </p:pic>
      <p:pic>
        <p:nvPicPr>
          <p:cNvPr id="129" name="그래픽 128" descr="사슴">
            <a:extLst>
              <a:ext uri="{FF2B5EF4-FFF2-40B4-BE49-F238E27FC236}">
                <a16:creationId xmlns:a16="http://schemas.microsoft.com/office/drawing/2014/main" id="{14515B32-9EA4-8601-94EA-1B71CB30F6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40775" y="4082661"/>
            <a:ext cx="983012" cy="98301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82920A51-7670-957F-DED4-1EF57377AA0E}"/>
              </a:ext>
            </a:extLst>
          </p:cNvPr>
          <p:cNvSpPr txBox="1"/>
          <p:nvPr/>
        </p:nvSpPr>
        <p:spPr>
          <a:xfrm>
            <a:off x="701754" y="2658962"/>
            <a:ext cx="28364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224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224 pixel,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channels</a:t>
            </a:r>
            <a:endParaRPr lang="ko-KR" altLang="en-US" sz="14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4E8AA2C2-4AA7-3BD4-D52C-6157FC01AAA8}"/>
              </a:ext>
            </a:extLst>
          </p:cNvPr>
          <p:cNvSpPr txBox="1"/>
          <p:nvPr/>
        </p:nvSpPr>
        <p:spPr>
          <a:xfrm>
            <a:off x="4604277" y="2709978"/>
            <a:ext cx="31970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1400" b="0" i="0" u="none" strike="noStrike" cap="none" normalizeH="0" baseline="0" dirty="0">
                <a:ln>
                  <a:noFill/>
                </a:ln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FCN)</a:t>
            </a:r>
            <a:endParaRPr lang="ko-KR" altLang="en-US" sz="1400" dirty="0"/>
          </a:p>
        </p:txBody>
      </p: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24D7EF3B-AAF7-345B-2872-9A5D5EB00CA0}"/>
              </a:ext>
            </a:extLst>
          </p:cNvPr>
          <p:cNvCxnSpPr>
            <a:cxnSpLocks/>
          </p:cNvCxnSpPr>
          <p:nvPr/>
        </p:nvCxnSpPr>
        <p:spPr>
          <a:xfrm>
            <a:off x="3259971" y="3021839"/>
            <a:ext cx="1974710" cy="212376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617A5DD3-D74F-CC76-AC43-24C07019B7F8}"/>
              </a:ext>
            </a:extLst>
          </p:cNvPr>
          <p:cNvCxnSpPr>
            <a:cxnSpLocks/>
          </p:cNvCxnSpPr>
          <p:nvPr/>
        </p:nvCxnSpPr>
        <p:spPr>
          <a:xfrm>
            <a:off x="3562625" y="5475172"/>
            <a:ext cx="1672056" cy="22906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E71368AC-2E34-7D16-E73A-1FE05DE37447}"/>
              </a:ext>
            </a:extLst>
          </p:cNvPr>
          <p:cNvCxnSpPr>
            <a:cxnSpLocks/>
          </p:cNvCxnSpPr>
          <p:nvPr/>
        </p:nvCxnSpPr>
        <p:spPr>
          <a:xfrm flipV="1">
            <a:off x="5798554" y="3021839"/>
            <a:ext cx="2875365" cy="2170275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직선 연결선 146">
            <a:extLst>
              <a:ext uri="{FF2B5EF4-FFF2-40B4-BE49-F238E27FC236}">
                <a16:creationId xmlns:a16="http://schemas.microsoft.com/office/drawing/2014/main" id="{CDA0F498-32B8-4BFD-3984-ECFF40A42500}"/>
              </a:ext>
            </a:extLst>
          </p:cNvPr>
          <p:cNvCxnSpPr>
            <a:cxnSpLocks/>
          </p:cNvCxnSpPr>
          <p:nvPr/>
        </p:nvCxnSpPr>
        <p:spPr>
          <a:xfrm flipV="1">
            <a:off x="5730298" y="5192114"/>
            <a:ext cx="2970239" cy="497392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335AFD14-11DC-044B-1E63-A5EE2250A105}"/>
              </a:ext>
            </a:extLst>
          </p:cNvPr>
          <p:cNvCxnSpPr>
            <a:cxnSpLocks/>
          </p:cNvCxnSpPr>
          <p:nvPr/>
        </p:nvCxnSpPr>
        <p:spPr>
          <a:xfrm>
            <a:off x="4018003" y="4641915"/>
            <a:ext cx="508237" cy="51926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6666716D-AC1C-3902-B3D5-C26BC52AC396}"/>
              </a:ext>
            </a:extLst>
          </p:cNvPr>
          <p:cNvCxnSpPr>
            <a:cxnSpLocks/>
          </p:cNvCxnSpPr>
          <p:nvPr/>
        </p:nvCxnSpPr>
        <p:spPr>
          <a:xfrm flipV="1">
            <a:off x="6951073" y="4672771"/>
            <a:ext cx="656884" cy="468987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설명선: 굽은 선 64">
            <a:extLst>
              <a:ext uri="{FF2B5EF4-FFF2-40B4-BE49-F238E27FC236}">
                <a16:creationId xmlns:a16="http://schemas.microsoft.com/office/drawing/2014/main" id="{BD692CBD-AD87-3800-1CDF-FC6629B28A14}"/>
              </a:ext>
            </a:extLst>
          </p:cNvPr>
          <p:cNvSpPr/>
          <p:nvPr/>
        </p:nvSpPr>
        <p:spPr>
          <a:xfrm>
            <a:off x="6990339" y="5669400"/>
            <a:ext cx="2645903" cy="716460"/>
          </a:xfrm>
          <a:prstGeom prst="borderCallout2">
            <a:avLst>
              <a:gd name="adj1" fmla="val -15979"/>
              <a:gd name="adj2" fmla="val 43146"/>
              <a:gd name="adj3" fmla="val -142404"/>
              <a:gd name="adj4" fmla="val 49210"/>
              <a:gd name="adj5" fmla="val -321428"/>
              <a:gd name="adj6" fmla="val 76450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224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224 = 총 50,176개의 각 픽셀 위치마다 0부터 20 사이의 정수(ID)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ko-KR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18DB91EA-3126-481B-08DB-16DD4479AE21}"/>
              </a:ext>
            </a:extLst>
          </p:cNvPr>
          <p:cNvSpPr txBox="1"/>
          <p:nvPr/>
        </p:nvSpPr>
        <p:spPr>
          <a:xfrm>
            <a:off x="3537614" y="4302272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(225, 224)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7C9FD150-CD51-C5FD-54D7-82995A4534D8}"/>
              </a:ext>
            </a:extLst>
          </p:cNvPr>
          <p:cNvSpPr txBox="1"/>
          <p:nvPr/>
        </p:nvSpPr>
        <p:spPr>
          <a:xfrm>
            <a:off x="4128393" y="5208245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C642971-C25F-16CD-6056-0B34075B2ACC}"/>
              </a:ext>
            </a:extLst>
          </p:cNvPr>
          <p:cNvSpPr txBox="1"/>
          <p:nvPr/>
        </p:nvSpPr>
        <p:spPr>
          <a:xfrm>
            <a:off x="7384065" y="4292167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(225, 224)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80A914D-EE86-0717-55CF-C31C07AB7CA5}"/>
              </a:ext>
            </a:extLst>
          </p:cNvPr>
          <p:cNvSpPr txBox="1"/>
          <p:nvPr/>
        </p:nvSpPr>
        <p:spPr>
          <a:xfrm>
            <a:off x="6455828" y="5216911"/>
            <a:ext cx="9607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7692135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92C21-BD3C-36A2-15A3-E89F21349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7997AF-D0A1-4ABE-5D01-78CE897F72E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AB1C55-C95D-A15F-E48F-E5FCD4F0EF7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C73DC4D-42B5-067C-6B0E-42731C210C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573" y="1259918"/>
            <a:ext cx="11083501" cy="98264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다중 객체를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포함하는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(224, 224)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구조를 거치며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x 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형태의 고차원 공간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추출한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다시 원본 해상도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(224, 224)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확대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(Deconvolution)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픽셀 단위로 최종 클래스를 분류하는 연산 과정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A9032BF-2404-B3DD-ADA2-0444EF13D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573" y="2584322"/>
            <a:ext cx="5932408" cy="30551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8D0E4F5-94EA-A9CA-2AE7-602FE3133E21}"/>
              </a:ext>
            </a:extLst>
          </p:cNvPr>
          <p:cNvSpPr txBox="1"/>
          <p:nvPr/>
        </p:nvSpPr>
        <p:spPr>
          <a:xfrm>
            <a:off x="565573" y="5719626"/>
            <a:ext cx="587669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networks can efficiently learn to make dense predictions for per-pixel tasks like semantic segmentation.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F5F8CC-74FA-AB85-7160-42FCB1E1FA18}"/>
              </a:ext>
            </a:extLst>
          </p:cNvPr>
          <p:cNvSpPr txBox="1"/>
          <p:nvPr/>
        </p:nvSpPr>
        <p:spPr>
          <a:xfrm>
            <a:off x="6566432" y="2577434"/>
            <a:ext cx="5149318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pixelwise prediction 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단위 예측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기존 분류 모델처럼 이미지 전체에 대해 하나의 라벨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개와 고양이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만 내놓는 것이 아니라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이미지의 모든 픽셀 하나하나마다 어떤 클래스인지 개별적으로 예측한 지도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Map/Score Map)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36F7DA-21AE-F9E0-A865-566B3FC88D86}"/>
              </a:ext>
            </a:extLst>
          </p:cNvPr>
          <p:cNvSpPr txBox="1"/>
          <p:nvPr/>
        </p:nvSpPr>
        <p:spPr>
          <a:xfrm>
            <a:off x="6566432" y="4439144"/>
            <a:ext cx="514931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segmentation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Ground Truth(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실제값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줄임말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사람이 직접 이미지 상의 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배경 영역을 정교하게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둔 실제 정답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지도를 의미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자신이 예측한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pixelwise prediction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과 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segmentation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g.t.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비교하여 학습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(backward/learning)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진행</a:t>
            </a:r>
          </a:p>
        </p:txBody>
      </p:sp>
    </p:spTree>
    <p:extLst>
      <p:ext uri="{BB962C8B-B14F-4D97-AF65-F5344CB8AC3E}">
        <p14:creationId xmlns:p14="http://schemas.microsoft.com/office/powerpoint/2010/main" val="7807925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40EE87D-1355-D2E8-BF7C-16F0609FAC0C}"/>
              </a:ext>
            </a:extLst>
          </p:cNvPr>
          <p:cNvSpPr/>
          <p:nvPr/>
        </p:nvSpPr>
        <p:spPr>
          <a:xfrm>
            <a:off x="723900" y="4147610"/>
            <a:ext cx="10791825" cy="4157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Appendix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864719" y="2022685"/>
            <a:ext cx="10462561" cy="254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(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실습코드</a:t>
            </a:r>
            <a:r>
              <a:rPr lang="en-US" altLang="ko-KR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: 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r>
              <a:rPr lang="ko-KR" altLang="en-US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</a:t>
            </a:r>
            <a:endParaRPr lang="en-US" altLang="ko-KR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8315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7534257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DEBD4-79C4-24E5-4B43-500D61BDC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50CF77-7A26-AC4C-CFEE-E636A7CC5A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1FCCAE6-BDBC-925D-F53F-EB2CF4C16D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" y="3021806"/>
            <a:ext cx="10991850" cy="18532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이미지에 존재하는지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Object(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존재한다면 무슨 객체인지 분류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하여야 하고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(Classification, Convnet)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해당 객체가 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위치하고 있는 좌표를 찾아야 하는 문제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endParaRPr kumimoji="0" lang="ko-KR" altLang="ko-K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3CB119-D8F9-3BA8-FF36-8F2401CE8EAD}"/>
              </a:ext>
            </a:extLst>
          </p:cNvPr>
          <p:cNvSpPr txBox="1"/>
          <p:nvPr/>
        </p:nvSpPr>
        <p:spPr>
          <a:xfrm>
            <a:off x="600075" y="2209800"/>
            <a:ext cx="3686175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Definition</a:t>
            </a:r>
            <a:endParaRPr lang="ko-KR" altLang="en-US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7F1C5-BC19-3DAF-F4E5-7B4A7D72566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96665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056E4E-5500-F073-9349-BFA46D479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1173" y="1525070"/>
            <a:ext cx="7454900" cy="5028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AFD7041-85D3-EA40-3B98-CC2CF18CC08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D0233-ACBE-780F-DAF3-5ED0E8F1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0522DF-C5C4-D467-71A4-067C59573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11F0DBAE-5B38-3A24-3AF9-039757924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B582C1A9-016E-6084-99BD-624BBA232A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B7F6457-F7C3-6B54-9164-970DFA15C49B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B390929-B323-98F6-753D-7F78193B0097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9724DD-0F43-CD6F-9B86-50E7CBE1AEC7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B1A16742-84C8-C89F-C377-0996B5B2A0A0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4C4BB21-D2E1-C3E3-5473-C15F2ECD9C92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23692CA-34BE-F0DA-4DFA-D9C552FEBE9A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F4F2EF01-58F7-AAC1-3219-F1178881F51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CF4181DE-F96E-7B4E-A1BA-5ACA254668E6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EA210AC7-00F5-C174-B8BB-B85133E4457F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5CA20D4B-FE12-9740-35CD-F4AF04BAB895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4D929E3E-B927-47C1-C9A4-9678226C7DD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E24F8C8-C64C-2E1A-A599-38DF2EEF070C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684E814-A039-D754-CB4E-0E8A330E54A6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43F3424-1CEC-FAA9-90D0-9DF131C6A267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BF2C29-AA0E-732C-D721-59B7168766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0924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🟦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/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/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10249809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endCxn id="24" idx="2"/>
          </p:cNvCxnSpPr>
          <p:nvPr/>
        </p:nvCxnSpPr>
        <p:spPr>
          <a:xfrm flipV="1">
            <a:off x="9634735" y="4318802"/>
            <a:ext cx="1457323" cy="443701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580240" y="2872224"/>
            <a:ext cx="5957210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B339C34-F600-A67D-CB3F-292C0C85A6F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30176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C963C-3953-067B-3CAD-188EDC828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16D4DF-92E5-A55A-2471-3B99878194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v1 Backbone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DD0DE99-BFE8-5449-E849-855EB3055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5" y="2601251"/>
            <a:ext cx="8230206" cy="33536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97FAB6-CF6E-6A19-BE37-46B2B2BE4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1897" y="2369663"/>
            <a:ext cx="5622058" cy="362484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9D81728-CCAB-1F74-4429-96E8C8201C4A}"/>
              </a:ext>
            </a:extLst>
          </p:cNvPr>
          <p:cNvCxnSpPr>
            <a:cxnSpLocks/>
          </p:cNvCxnSpPr>
          <p:nvPr/>
        </p:nvCxnSpPr>
        <p:spPr>
          <a:xfrm>
            <a:off x="6867525" y="2827980"/>
            <a:ext cx="1371600" cy="10677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13B6A21-1111-398A-5209-012C8F0CA3D1}"/>
              </a:ext>
            </a:extLst>
          </p:cNvPr>
          <p:cNvSpPr txBox="1"/>
          <p:nvPr/>
        </p:nvSpPr>
        <p:spPr>
          <a:xfrm>
            <a:off x="550099" y="1174436"/>
            <a:ext cx="11129902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24개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이미지의 특징을 추출하고, 마지막 2개 FC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레이어로 구성된 네트워크는 최종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좌표와 확률을 예측하면 원래 입력 이미지를 7×7 그리드로 나눈 각 셀(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)마다 30개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채널 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값을 예측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235736-8685-2417-D842-0694EE829DDC}"/>
              </a:ext>
            </a:extLst>
          </p:cNvPr>
          <p:cNvSpPr txBox="1"/>
          <p:nvPr/>
        </p:nvSpPr>
        <p:spPr>
          <a:xfrm>
            <a:off x="9092431" y="3082773"/>
            <a:ext cx="2844492" cy="2862322"/>
          </a:xfrm>
          <a:prstGeom prst="rect">
            <a:avLst/>
          </a:prstGeom>
          <a:solidFill>
            <a:srgbClr val="FFC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 × 7 × 1024 = 50,176개의 값을 가진 1차원 벡터로 변환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정보(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structure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이 단계에서 사라짐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완전연결층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(Fully Connected Layer)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 통과시켜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벡터로 출력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50,176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값과 출력 뉴론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4,096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가중치로 연결되는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Dense layer)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200" dirty="0"/>
              <a:t>4096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벡터를 다시 완전연결층을 통해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7×7×30 = 1470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개의 값으로 매핑하고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470개의 값을 다시 (7,7,30)형태로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reshape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D86A40-E193-DC66-9647-69D2954D258B}"/>
              </a:ext>
            </a:extLst>
          </p:cNvPr>
          <p:cNvSpPr txBox="1"/>
          <p:nvPr/>
        </p:nvSpPr>
        <p:spPr>
          <a:xfrm>
            <a:off x="5943600" y="2778313"/>
            <a:ext cx="819150" cy="7694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20(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클래스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+5(box1)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+5(box2)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30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295092-4BEE-78AE-D668-C92C6D493461}"/>
              </a:ext>
            </a:extLst>
          </p:cNvPr>
          <p:cNvSpPr txBox="1"/>
          <p:nvPr/>
        </p:nvSpPr>
        <p:spPr>
          <a:xfrm>
            <a:off x="550099" y="5954854"/>
            <a:ext cx="51219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You Only Look Once: Unified, Real-Time Object Detection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80B442-8650-5391-CDD6-D99459BA1E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69225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81175-0FC3-D420-6AEE-30BD4B7AC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AF51BDC-2642-8ADA-A94E-F835DB9CD2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010647F-2F4D-E33F-E939-34C668CEF921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이미지 준비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D9C2D6-CAA4-3181-1BF8-1734E5004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0101" y="1942296"/>
            <a:ext cx="5684159" cy="426800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7FB075BB-5D7E-7612-E337-1C2246DF3F9F}"/>
              </a:ext>
            </a:extLst>
          </p:cNvPr>
          <p:cNvSpPr/>
          <p:nvPr/>
        </p:nvSpPr>
        <p:spPr>
          <a:xfrm>
            <a:off x="2937782" y="2249151"/>
            <a:ext cx="4183439" cy="35097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슬라이드 번호 개체 틀 3">
            <a:extLst>
              <a:ext uri="{FF2B5EF4-FFF2-40B4-BE49-F238E27FC236}">
                <a16:creationId xmlns:a16="http://schemas.microsoft.com/office/drawing/2014/main" id="{F108B369-2B07-644C-9D47-7CFE452723F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8777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05E23-31B7-2E2F-817B-30CD7456F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BD8A79-DA30-5E8D-9545-8EC9279874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EBD03168-3429-9184-03A2-D78F34439CA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그리드 좌표 설정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866CB3A-B93D-682A-630B-420440C51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13" y="154113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1176818-9D2D-B125-7BA2-B656FA90E978}"/>
              </a:ext>
            </a:extLst>
          </p:cNvPr>
          <p:cNvGraphicFramePr>
            <a:graphicFrameLocks noGrp="1"/>
          </p:cNvGraphicFramePr>
          <p:nvPr/>
        </p:nvGraphicFramePr>
        <p:xfrm>
          <a:off x="722811" y="154112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pic>
        <p:nvPicPr>
          <p:cNvPr id="4" name="그림 3">
            <a:extLst>
              <a:ext uri="{FF2B5EF4-FFF2-40B4-BE49-F238E27FC236}">
                <a16:creationId xmlns:a16="http://schemas.microsoft.com/office/drawing/2014/main" id="{FC6A2AA3-432D-1708-768B-6914D7772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1504" y="1541129"/>
            <a:ext cx="6272305" cy="3416951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907F87A-6385-159B-C490-2D8D7C423B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17311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09A3-B314-CA32-17AD-3F4CF2625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CB91A7-8C7E-0704-7154-1716254DBC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2A8C47DE-DEC7-D293-8CE6-CFD7DAD1A8E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Bounding 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734071-B5BD-F248-807C-BB15034CE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93" y="2094403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C11A3CD-043D-71AB-8966-084B2852F001}"/>
              </a:ext>
            </a:extLst>
          </p:cNvPr>
          <p:cNvGraphicFramePr>
            <a:graphicFrameLocks noGrp="1"/>
          </p:cNvGraphicFramePr>
          <p:nvPr/>
        </p:nvGraphicFramePr>
        <p:xfrm>
          <a:off x="651691" y="2094402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0A96F3ED-7787-6765-6FC4-CB77BFFA9849}"/>
              </a:ext>
            </a:extLst>
          </p:cNvPr>
          <p:cNvSpPr/>
          <p:nvPr/>
        </p:nvSpPr>
        <p:spPr>
          <a:xfrm>
            <a:off x="3343114" y="2094394"/>
            <a:ext cx="446566" cy="506742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E970FA9-E94A-3079-B151-931BBDB18EDE}"/>
              </a:ext>
            </a:extLst>
          </p:cNvPr>
          <p:cNvSpPr/>
          <p:nvPr/>
        </p:nvSpPr>
        <p:spPr>
          <a:xfrm>
            <a:off x="762000" y="3052633"/>
            <a:ext cx="1666240" cy="273304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0DD36-9FD8-6B68-1CAB-1FAF5DC5085A}"/>
              </a:ext>
            </a:extLst>
          </p:cNvPr>
          <p:cNvSpPr/>
          <p:nvPr/>
        </p:nvSpPr>
        <p:spPr>
          <a:xfrm>
            <a:off x="2733276" y="2473513"/>
            <a:ext cx="2031763" cy="256032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E195A99-05DC-C8F6-4B06-9E1D7A7014B2}"/>
              </a:ext>
            </a:extLst>
          </p:cNvPr>
          <p:cNvSpPr/>
          <p:nvPr/>
        </p:nvSpPr>
        <p:spPr>
          <a:xfrm>
            <a:off x="4285887" y="3986546"/>
            <a:ext cx="601073" cy="1341927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래픽 11" descr="하트">
            <a:extLst>
              <a:ext uri="{FF2B5EF4-FFF2-40B4-BE49-F238E27FC236}">
                <a16:creationId xmlns:a16="http://schemas.microsoft.com/office/drawing/2014/main" id="{424B34AC-C73F-C9D4-4280-789FABAF3E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7484" y="3780264"/>
            <a:ext cx="457200" cy="4572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E13F0447-C12B-C37E-002A-96DB23E7AE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6421" y="2094394"/>
            <a:ext cx="4249077" cy="1611257"/>
          </a:xfrm>
          <a:prstGeom prst="rect">
            <a:avLst/>
          </a:prstGeom>
          <a:ln w="19050">
            <a:solidFill>
              <a:schemeClr val="accent2"/>
            </a:solidFill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B3BA7715-7706-8BEB-A025-757D62B695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6421" y="3867005"/>
            <a:ext cx="2287503" cy="2343295"/>
          </a:xfrm>
          <a:prstGeom prst="rect">
            <a:avLst/>
          </a:prstGeom>
          <a:ln w="28575">
            <a:solidFill>
              <a:schemeClr val="accent6"/>
            </a:solidFill>
          </a:ln>
        </p:spPr>
      </p:pic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EA157A99-B0E8-DD43-A4D0-8F6283076CE6}"/>
              </a:ext>
            </a:extLst>
          </p:cNvPr>
          <p:cNvSpPr/>
          <p:nvPr/>
        </p:nvSpPr>
        <p:spPr>
          <a:xfrm>
            <a:off x="7938896" y="3914630"/>
            <a:ext cx="3834196" cy="2524270"/>
          </a:xfrm>
          <a:prstGeom prst="borderCallout2">
            <a:avLst>
              <a:gd name="adj1" fmla="val 18267"/>
              <a:gd name="adj2" fmla="val -4809"/>
              <a:gd name="adj3" fmla="val 20199"/>
              <a:gd name="adj4" fmla="val -16813"/>
              <a:gd name="adj5" fmla="val 57144"/>
              <a:gd name="adj6" fmla="val -3113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0.65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0.571~0.714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구간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(4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칸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안에 들어가므로 </a:t>
            </a:r>
            <a:r>
              <a:rPr lang="en-US" altLang="ko-KR" sz="11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 = 4</a:t>
            </a:r>
            <a:r>
              <a:rPr lang="ko-KR" altLang="en-US" sz="11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，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round(0.65×7)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가 되어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col 5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번으로 잘못 배정 따라서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floor(0.65×7)=floor(4.55)=4 → col4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로 배정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학습을 위해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floor()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가 정수부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셀 위치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나머지 소수부가 셀 안에서의 상대 위치를 결정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 두 값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을 분리하면 신경망이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이 객체가 대략 어느 구역에　있는지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정수부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안에서 정확히 어디인지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＂(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소수부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를 나눠서 학습이 가능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387CB6-C5D3-86D7-489B-2AD0CA2AD9AE}"/>
              </a:ext>
            </a:extLst>
          </p:cNvPr>
          <p:cNvSpPr txBox="1"/>
          <p:nvPr/>
        </p:nvSpPr>
        <p:spPr>
          <a:xfrm>
            <a:off x="569049" y="1171749"/>
            <a:ext cx="11091902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폭을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0~1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정규화했을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메시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중심이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가로 방향으로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65%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지점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있다는 뜻으로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floor(x × 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그리드 크기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YOLO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라벨링의 가장 핵심적인 연산으로 회귀와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분류 학습</a:t>
            </a:r>
          </a:p>
        </p:txBody>
      </p:sp>
      <p:sp>
        <p:nvSpPr>
          <p:cNvPr id="32" name="슬라이드 번호 개체 틀 3">
            <a:extLst>
              <a:ext uri="{FF2B5EF4-FFF2-40B4-BE49-F238E27FC236}">
                <a16:creationId xmlns:a16="http://schemas.microsoft.com/office/drawing/2014/main" id="{933D221F-B0AF-4042-D40A-43EE85A83E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565057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699D0-D2A4-9077-3BB6-E3F9597C7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93941651-506B-BBF3-4C13-AF6F09FCA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66" y="1246246"/>
            <a:ext cx="4523551" cy="15541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FB686837-86E7-2112-CB65-28DD344972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06A01AEC-5DC5-FD43-A9CC-52619287B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절대 위치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상대 위치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D19530D-06C7-C04F-2FC4-3B38223D65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93" y="2677780"/>
            <a:ext cx="4629756" cy="3860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55B3B0F-5D31-A37B-80EA-45C063AFE74D}"/>
              </a:ext>
            </a:extLst>
          </p:cNvPr>
          <p:cNvGraphicFramePr>
            <a:graphicFrameLocks noGrp="1"/>
          </p:cNvGraphicFramePr>
          <p:nvPr/>
        </p:nvGraphicFramePr>
        <p:xfrm>
          <a:off x="651691" y="2677779"/>
          <a:ext cx="4629758" cy="38600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394">
                  <a:extLst>
                    <a:ext uri="{9D8B030D-6E8A-4147-A177-3AD203B41FA5}">
                      <a16:colId xmlns:a16="http://schemas.microsoft.com/office/drawing/2014/main" val="61197487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646087785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997694898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85111389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60240420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384771234"/>
                    </a:ext>
                  </a:extLst>
                </a:gridCol>
                <a:gridCol w="661394">
                  <a:extLst>
                    <a:ext uri="{9D8B030D-6E8A-4147-A177-3AD203B41FA5}">
                      <a16:colId xmlns:a16="http://schemas.microsoft.com/office/drawing/2014/main" val="3175013539"/>
                    </a:ext>
                  </a:extLst>
                </a:gridCol>
              </a:tblGrid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458696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12973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5903404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572772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5235065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7676690"/>
                  </a:ext>
                </a:extLst>
              </a:tr>
              <a:tr h="551438"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2500" dirty="0">
                        <a:ln>
                          <a:solidFill>
                            <a:schemeClr val="bg1"/>
                          </a:solidFill>
                        </a:ln>
                        <a:solidFill>
                          <a:schemeClr val="bg1"/>
                        </a:solidFill>
                      </a:endParaRPr>
                    </a:p>
                  </a:txBody>
                  <a:tcPr marL="126649" marR="126649" marT="63325" marB="63325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3926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9F25F8C7-A0D4-8D94-80D4-70F6B66E82DD}"/>
              </a:ext>
            </a:extLst>
          </p:cNvPr>
          <p:cNvSpPr txBox="1"/>
          <p:nvPr/>
        </p:nvSpPr>
        <p:spPr>
          <a:xfrm>
            <a:off x="5435598" y="1688681"/>
            <a:ext cx="5546726" cy="89498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x_rel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y_rel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객체 중심이 셀 안에서 정확히 몇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%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　지점에 있는가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0~1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사이 값으로 표현하기 위해 절대좌표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그 셀의 시작점을 빼고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셀 크기로 나눠서 셀 내부만의 좌표계로 바꾸는 것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FA5D113-7019-9676-58F1-D64A139B0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5598" y="2677779"/>
            <a:ext cx="5546726" cy="2857235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FF5E42F-1538-E35B-6A7C-BD567C2F8F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5598" y="5957573"/>
            <a:ext cx="5132662" cy="545867"/>
          </a:xfrm>
          <a:prstGeom prst="rect">
            <a:avLst/>
          </a:prstGeom>
          <a:ln>
            <a:solidFill>
              <a:schemeClr val="accent6"/>
            </a:solidFill>
          </a:ln>
        </p:spPr>
      </p:pic>
      <p:sp>
        <p:nvSpPr>
          <p:cNvPr id="25" name="슬라이드 번호 개체 틀 3">
            <a:extLst>
              <a:ext uri="{FF2B5EF4-FFF2-40B4-BE49-F238E27FC236}">
                <a16:creationId xmlns:a16="http://schemas.microsoft.com/office/drawing/2014/main" id="{31EE9F38-1BBA-D387-B611-7AFA78DC358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2255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AB847-8E6E-D46E-A260-012186E4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E7A1384-DB1B-1AF1-2622-984115F65C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Single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C48B9E7-53E5-1A9B-1E3C-80572B8D1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29" y="1609725"/>
            <a:ext cx="8354580" cy="4326988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D7942FA0-9D79-F5E2-B514-4EFAA9917415}"/>
              </a:ext>
            </a:extLst>
          </p:cNvPr>
          <p:cNvSpPr txBox="1"/>
          <p:nvPr/>
        </p:nvSpPr>
        <p:spPr>
          <a:xfrm>
            <a:off x="235044" y="5957906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Let's Visualize How YOLO Works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425C9854-91B8-190A-A9C8-1FFB0A383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0151" y="1624494"/>
            <a:ext cx="2724150" cy="443673"/>
          </a:xfrm>
          <a:prstGeom prst="rect">
            <a:avLst/>
          </a:prstGeom>
          <a:ln w="19050">
            <a:solidFill>
              <a:schemeClr val="accent5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646F9F8A-0228-B30A-307C-9C42D9ED5F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0151" y="2478007"/>
            <a:ext cx="2724147" cy="646194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82E6AA8-B4FC-9CFE-0C37-6B3288748267}"/>
              </a:ext>
            </a:extLst>
          </p:cNvPr>
          <p:cNvSpPr txBox="1"/>
          <p:nvPr/>
        </p:nvSpPr>
        <p:spPr>
          <a:xfrm>
            <a:off x="8820149" y="4953196"/>
            <a:ext cx="2724149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박스가 고양이를 얼마나 정확하게 잡고 있는가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9" name="그래픽 58" descr="조금 굽은 화살표">
            <a:extLst>
              <a:ext uri="{FF2B5EF4-FFF2-40B4-BE49-F238E27FC236}">
                <a16:creationId xmlns:a16="http://schemas.microsoft.com/office/drawing/2014/main" id="{28255D97-E806-C4B6-37F3-BDC3208EAC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5276850" y="1624494"/>
            <a:ext cx="533400" cy="533400"/>
          </a:xfrm>
          <a:prstGeom prst="rect">
            <a:avLst/>
          </a:prstGeom>
        </p:spPr>
      </p:pic>
      <p:pic>
        <p:nvPicPr>
          <p:cNvPr id="61" name="그래픽 60" descr="조금 굽은 화살표">
            <a:extLst>
              <a:ext uri="{FF2B5EF4-FFF2-40B4-BE49-F238E27FC236}">
                <a16:creationId xmlns:a16="http://schemas.microsoft.com/office/drawing/2014/main" id="{F0FCDB36-883B-E698-FAE8-C9C72B7AD7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9448381" y="2014364"/>
            <a:ext cx="533400" cy="533400"/>
          </a:xfrm>
          <a:prstGeom prst="rect">
            <a:avLst/>
          </a:prstGeom>
        </p:spPr>
      </p:pic>
      <p:pic>
        <p:nvPicPr>
          <p:cNvPr id="62" name="그래픽 61" descr="조금 굽은 화살표">
            <a:extLst>
              <a:ext uri="{FF2B5EF4-FFF2-40B4-BE49-F238E27FC236}">
                <a16:creationId xmlns:a16="http://schemas.microsoft.com/office/drawing/2014/main" id="{9D647395-F473-8464-F6A1-36BCB256E9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83480">
            <a:off x="4213486" y="2155730"/>
            <a:ext cx="533400" cy="533400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53D981AB-9DC9-E20F-1DDB-D7D5338E291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0149" y="3350685"/>
            <a:ext cx="2724148" cy="558070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E836A3CC-DB30-C78D-E97C-6EB37160AB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20149" y="4133451"/>
            <a:ext cx="2972058" cy="54868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7F7D8B2-99D8-C814-EFE7-2205318CCE0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501382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29F3F-19B9-ED1F-0456-B7375CE7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50BDE1-2F91-9E5E-5B33-D96773BF6B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466BDA95-1F66-B846-43EC-0C7CC240F2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0CAECD90-D857-D8CE-A22D-71F5B43C3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608A35B-0A86-B90B-7C3F-57AE3A1F37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896026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558D-552D-D383-59FC-8BF708379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27CB3D-A8B4-B43E-614C-6C50753028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 – Multiple Object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8F6D187-23C3-2AFC-105A-ABA8C75E8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93" y="2339464"/>
            <a:ext cx="8628132" cy="4036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E0E587-D84C-B3F0-6C4A-A1284747258E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25142F-9F2F-5A31-66A7-CC21072CE72B}"/>
              </a:ext>
            </a:extLst>
          </p:cNvPr>
          <p:cNvSpPr txBox="1"/>
          <p:nvPr/>
        </p:nvSpPr>
        <p:spPr>
          <a:xfrm>
            <a:off x="9752096" y="2802523"/>
            <a:ext cx="2116052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bounding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A62FC-096A-94B8-21D0-80A9D660335E}"/>
              </a:ext>
            </a:extLst>
          </p:cNvPr>
          <p:cNvSpPr txBox="1"/>
          <p:nvPr/>
        </p:nvSpPr>
        <p:spPr>
          <a:xfrm>
            <a:off x="505311" y="1278040"/>
            <a:ext cx="110469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원래 이미지를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x 7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그리드로 나누고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49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(7x7)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각 셀에서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Labeling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하여 훈련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훈련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dirty="0"/>
          </a:p>
        </p:txBody>
      </p:sp>
      <p:sp>
        <p:nvSpPr>
          <p:cNvPr id="11" name="오른쪽 중괄호 10">
            <a:extLst>
              <a:ext uri="{FF2B5EF4-FFF2-40B4-BE49-F238E27FC236}">
                <a16:creationId xmlns:a16="http://schemas.microsoft.com/office/drawing/2014/main" id="{47A2E846-EDF5-4FAD-7EB7-278655F44262}"/>
              </a:ext>
            </a:extLst>
          </p:cNvPr>
          <p:cNvSpPr/>
          <p:nvPr/>
        </p:nvSpPr>
        <p:spPr>
          <a:xfrm>
            <a:off x="9399672" y="2545734"/>
            <a:ext cx="211053" cy="879873"/>
          </a:xfrm>
          <a:prstGeom prst="rightBrace">
            <a:avLst>
              <a:gd name="adj1" fmla="val 47313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AD722D5-102D-DB9D-9203-895C85074A6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66622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C6BED-0815-3B0E-D72C-ECFB2709D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65B9D6-9ABF-34B1-83FD-D60CDB4B33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623948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bounding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 work?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8D788B-3530-60B8-6980-184DBA6F8C4D}"/>
              </a:ext>
            </a:extLst>
          </p:cNvPr>
          <p:cNvSpPr txBox="1"/>
          <p:nvPr/>
        </p:nvSpPr>
        <p:spPr>
          <a:xfrm>
            <a:off x="550099" y="1174436"/>
            <a:ext cx="11129902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아래　그림에서는 왼쪽의 그리드마다 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cell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마다 여러 개의 박스를 예측하는 것이 아니고 서로 크기가 다른 박스가 그리드 셀의 경계선을 넘나들면서 다양한 크기의 박스를 그리는데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이것은 어떤 의미이지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박스를 찾는 알고리즘을 설명하라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Function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(MSE,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backpropagation)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A4324FB-E4FF-7AC9-755F-351C83084C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938" y="2524670"/>
            <a:ext cx="7062788" cy="3478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1C0CDD-52E4-1EA3-CB85-41180E9D5AB9}"/>
              </a:ext>
            </a:extLst>
          </p:cNvPr>
          <p:cNvSpPr txBox="1"/>
          <p:nvPr/>
        </p:nvSpPr>
        <p:spPr>
          <a:xfrm>
            <a:off x="7858125" y="2640408"/>
            <a:ext cx="3983196" cy="9541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grid cell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 박스를 담는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박스를 예측하는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책임 주체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역할만 하고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박스 자체는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경계를 얼마든지 넘어갈 수 있음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DA9754F-90FC-D20E-62E8-0E7320B4CA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sz="1400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740693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11622</TotalTime>
  <Words>5383</Words>
  <Application>Microsoft Office PowerPoint</Application>
  <PresentationFormat>와이드스크린</PresentationFormat>
  <Paragraphs>510</Paragraphs>
  <Slides>70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70</vt:i4>
      </vt:variant>
    </vt:vector>
  </HeadingPairs>
  <TitlesOfParts>
    <vt:vector size="83" baseType="lpstr">
      <vt:lpstr>D2Coding</vt:lpstr>
      <vt:lpstr>맑은 고딕</vt:lpstr>
      <vt:lpstr>맑은 고딕 Semilight</vt:lpstr>
      <vt:lpstr>Batang</vt:lpstr>
      <vt:lpstr>Arial</vt:lpstr>
      <vt:lpstr>Cambria Math</vt:lpstr>
      <vt:lpstr>Century Gothic</vt:lpstr>
      <vt:lpstr>Lora</vt:lpstr>
      <vt:lpstr>Segoe UI Emoji</vt:lpstr>
      <vt:lpstr>Tahoma</vt:lpstr>
      <vt:lpstr>Times New Roman</vt:lpstr>
      <vt:lpstr>Wingdings</vt:lpstr>
      <vt:lpstr>WelcomeDoc</vt:lpstr>
      <vt:lpstr>Deep Learning for Image Chapter 8 ~ Chapter 11</vt:lpstr>
      <vt:lpstr>Introduction to Convnet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Convnet Mechanism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Data Augmentation</vt:lpstr>
      <vt:lpstr>PowerPoint 프레젠테이션</vt:lpstr>
      <vt:lpstr>Pretrained Model</vt:lpstr>
      <vt:lpstr>PowerPoint 프레젠테이션</vt:lpstr>
      <vt:lpstr>Chapter 9  ConvNet architecture patterns  Depthwise Separable Convolution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Chapter 10  Interpreting what ConvNets learn</vt:lpstr>
      <vt:lpstr>PowerPoint 프레젠테이션</vt:lpstr>
      <vt:lpstr>PowerPoint 프레젠테이션</vt:lpstr>
      <vt:lpstr> Chapter 11. Image Segmentation </vt:lpstr>
      <vt:lpstr>PowerPoint 프레젠테이션</vt:lpstr>
      <vt:lpstr>PowerPoint 프레젠테이션</vt:lpstr>
      <vt:lpstr>PowerPoint 프레젠테이션</vt:lpstr>
      <vt:lpstr>PowerPoint 프레젠테이션</vt:lpstr>
      <vt:lpstr>FCN(Fully Convolutional Network)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Classification &amp; Location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205</cp:revision>
  <dcterms:created xsi:type="dcterms:W3CDTF">2026-04-06T01:00:39Z</dcterms:created>
  <dcterms:modified xsi:type="dcterms:W3CDTF">2026-10-01T13:52:54Z</dcterms:modified>
  <cp:version/>
</cp:coreProperties>
</file>