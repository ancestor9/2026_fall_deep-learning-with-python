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1135" r:id="rId3"/>
    <p:sldId id="1144" r:id="rId4"/>
    <p:sldId id="1146" r:id="rId5"/>
    <p:sldId id="1147" r:id="rId6"/>
    <p:sldId id="1148" r:id="rId7"/>
    <p:sldId id="1149" r:id="rId8"/>
    <p:sldId id="1150" r:id="rId9"/>
    <p:sldId id="1151" r:id="rId10"/>
    <p:sldId id="1155" r:id="rId11"/>
    <p:sldId id="1157" r:id="rId12"/>
    <p:sldId id="1158" r:id="rId13"/>
    <p:sldId id="1152" r:id="rId14"/>
    <p:sldId id="1156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44"/>
            <p14:sldId id="1146"/>
            <p14:sldId id="1147"/>
            <p14:sldId id="1148"/>
            <p14:sldId id="1149"/>
            <p14:sldId id="1150"/>
            <p14:sldId id="1151"/>
            <p14:sldId id="1155"/>
            <p14:sldId id="1157"/>
            <p14:sldId id="1158"/>
            <p14:sldId id="1152"/>
            <p14:sldId id="115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>
        <p:scale>
          <a:sx n="75" d="100"/>
          <a:sy n="75" d="100"/>
        </p:scale>
        <p:origin x="106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2026-07-02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2026-07-02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2026-07-02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2026-07-02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atent_manifold" TargetMode="External"/><Relationship Id="rId2" Type="http://schemas.openxmlformats.org/officeDocument/2006/relationships/hyperlink" Target="https://en.wikipedia.org/wiki/High-dimensiona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hyperlink" Target="https://en.wikipedia.org/wiki/Manifold_hypothesi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5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Fundamentals of machine learning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577530" y="1248422"/>
            <a:ext cx="11233469" cy="367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altLang="ko-KR" sz="2400" dirty="0"/>
              <a:t>Understanding the tension between generalization and optimization, the fundamental issue in machine learning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Evaluation methods for machine learning models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Best practices to improve model 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Best practices to achieve better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BC892-601E-1AA8-C846-9F4AAFE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Underfitting and overfitting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37612-0BAB-AFFA-ADE9-67B7A392FC36}"/>
              </a:ext>
            </a:extLst>
          </p:cNvPr>
          <p:cNvSpPr txBox="1"/>
          <p:nvPr/>
        </p:nvSpPr>
        <p:spPr>
          <a:xfrm>
            <a:off x="475645" y="1304836"/>
            <a:ext cx="111353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훈련 데이터를 완벽하게 외우는 것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최적화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Optimization)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새로운 데이터에도 유연하게 대처하는 것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Generalization)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사이에서 가장 적절한 타협점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(Sweet Spot)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찾는 기교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(art)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500910-AFFC-C077-10B0-24F0949D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9" y="2765236"/>
            <a:ext cx="6096000" cy="327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A54093-8300-15BA-E649-61C71761690D}"/>
              </a:ext>
            </a:extLst>
          </p:cNvPr>
          <p:cNvSpPr txBox="1"/>
          <p:nvPr/>
        </p:nvSpPr>
        <p:spPr>
          <a:xfrm>
            <a:off x="2371725" y="612088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Canonical overfitting behavior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30A4-5382-86FC-1861-1DD8FA7A7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B0FA11-58F4-B4EB-9A5F-6AEF8C86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C55DC9A-C3CE-9CDB-041F-CA2EFEF503F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Noisy training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65E2B-089E-2C04-E043-8CA2F6727F73}"/>
              </a:ext>
            </a:extLst>
          </p:cNvPr>
          <p:cNvSpPr txBox="1"/>
          <p:nvPr/>
        </p:nvSpPr>
        <p:spPr>
          <a:xfrm>
            <a:off x="657225" y="5652959"/>
            <a:ext cx="4289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Some pretty weird MNIST training samples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D3A752-8342-4E6D-DFCD-39E14865A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359819"/>
            <a:ext cx="4289342" cy="312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643C296-23FA-C3BA-AC88-898224F8F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740" y="2258884"/>
            <a:ext cx="6416760" cy="151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A1BCBA-9888-959F-EECC-960A0938DAA1}"/>
              </a:ext>
            </a:extLst>
          </p:cNvPr>
          <p:cNvSpPr txBox="1"/>
          <p:nvPr/>
        </p:nvSpPr>
        <p:spPr>
          <a:xfrm>
            <a:off x="5181081" y="391561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Mislabeled MNIST training samples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0F269-A92F-74AA-014F-6A77AFE47682}"/>
              </a:ext>
            </a:extLst>
          </p:cNvPr>
          <p:cNvSpPr txBox="1"/>
          <p:nvPr/>
        </p:nvSpPr>
        <p:spPr>
          <a:xfrm>
            <a:off x="657225" y="1631825"/>
            <a:ext cx="7143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Noisy training data including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outliers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95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7C37-7308-86B0-6CF9-912448DD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DD273F-7070-BDB1-A636-01105AAB4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AC2405C-135F-9A8E-7CF7-C35205F7E0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Noisy training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A5582-A4C9-BCD5-1680-49189453C482}"/>
              </a:ext>
            </a:extLst>
          </p:cNvPr>
          <p:cNvSpPr txBox="1"/>
          <p:nvPr/>
        </p:nvSpPr>
        <p:spPr>
          <a:xfrm>
            <a:off x="657225" y="1631825"/>
            <a:ext cx="7143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Noisy training data including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outliers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4E4206-A478-59C9-475D-C9F3B6C15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286000"/>
            <a:ext cx="9163050" cy="332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CCCDB7-D1B1-5769-73A4-DBC460C287F9}"/>
              </a:ext>
            </a:extLst>
          </p:cNvPr>
          <p:cNvSpPr txBox="1"/>
          <p:nvPr/>
        </p:nvSpPr>
        <p:spPr>
          <a:xfrm>
            <a:off x="561975" y="57154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Lora" pitchFamily="2" charset="0"/>
              </a:rPr>
              <a:t>Dealing with outliers: robust fit vs. overfitting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000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B379E-4457-C721-784C-025AF4FC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6272F6-4B73-D941-B41D-C957A954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73E6F5B-9DC9-527D-6A60-6EDEC066AB5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Ambiguous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A94B4-0FE3-768A-B1F4-2B25881B9FFE}"/>
              </a:ext>
            </a:extLst>
          </p:cNvPr>
          <p:cNvSpPr txBox="1"/>
          <p:nvPr/>
        </p:nvSpPr>
        <p:spPr>
          <a:xfrm>
            <a:off x="475645" y="5713095"/>
            <a:ext cx="8125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Robust fit vs. overfitting giving an ambiguous area of the feature space</a:t>
            </a:r>
            <a:endParaRPr lang="ko-KR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6DDC088-130D-3713-7EC7-C8D88C9A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2095758"/>
            <a:ext cx="9534525" cy="35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24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D085-C2DF-26BC-3EFC-C1675219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59DAA-C635-4C9B-15AD-B9A675CB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704F75E-0DD5-2D3B-E612-32A9217387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Rare features and spurious correlations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487F5-CC48-33F5-6631-7AC6C47433DB}"/>
              </a:ext>
            </a:extLst>
          </p:cNvPr>
          <p:cNvSpPr txBox="1"/>
          <p:nvPr/>
        </p:nvSpPr>
        <p:spPr>
          <a:xfrm>
            <a:off x="571499" y="1289339"/>
            <a:ext cx="11172826" cy="490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우연히 일어난 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통계적 노이즈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절대적인 법칙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착각하는 경우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희소한 데이터의 함정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(Rare Feature Values)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성격 나쁜 고양이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마리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 한 번 등장한 단어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체리모야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 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양이 너무 적으면 편향이 생기게 되며 모델은 주어진 데이터 내에서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어떻게든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정답을 맞히려고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 한 번의 우연한 일치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체리모야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부정적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체리모야는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무조건 나쁜 뜻이구나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!＂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하고 섣부른 결론을 도출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가짜 상관관계와 통계적 노이즈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(Spurious Correlations &amp; Statistical Fluke)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 등장한 단어가 긍정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54% 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부정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46%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비율을 보인 경우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동전을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던ㅈ지면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정확히 앞면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뒷면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번이 나오기 어렵고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46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처럼 약간의 치우침이 생기기 마련이라 인간은 이를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우연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(Fluke)＇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생각하지만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수학적 최적화에만 집중하는 모델은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＂4%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차이가 있네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단어는 긍정적인 단어가 확실해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!＂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라며 의미 없는 차이에 의미를 부여하는 바로 가짜 상관관계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모델에게 데이터를 줄 때는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우연히 그렇게 보인 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진짜 규칙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구분할 수 있는 장치가 필요하며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막기 위해서 규제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(Regularization)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기법</a:t>
            </a:r>
          </a:p>
        </p:txBody>
      </p:sp>
    </p:spTree>
    <p:extLst>
      <p:ext uri="{BB962C8B-B14F-4D97-AF65-F5344CB8AC3E}">
        <p14:creationId xmlns:p14="http://schemas.microsoft.com/office/powerpoint/2010/main" val="373641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C6CF-00BF-0644-6869-CB04AB31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7A305-711A-565A-F1FA-3C557590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F91548D-BA44-AD28-9D06-E52B4D3CCC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Homework1</a:t>
            </a:r>
          </a:p>
        </p:txBody>
      </p:sp>
    </p:spTree>
    <p:extLst>
      <p:ext uri="{BB962C8B-B14F-4D97-AF65-F5344CB8AC3E}">
        <p14:creationId xmlns:p14="http://schemas.microsoft.com/office/powerpoint/2010/main" val="908308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D5F5-C4AF-0739-24BA-C8F1D4C4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C5A695-564F-1896-5C51-012FD575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001CBBD-742B-8439-582B-25A1E68B9F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Lora" pitchFamily="2" charset="0"/>
              </a:rPr>
              <a:t>Manifold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C9B22-1A95-035A-0631-7E94024D966B}"/>
              </a:ext>
            </a:extLst>
          </p:cNvPr>
          <p:cNvSpPr txBox="1"/>
          <p:nvPr/>
        </p:nvSpPr>
        <p:spPr>
          <a:xfrm>
            <a:off x="599470" y="1238161"/>
            <a:ext cx="111353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 그림처럼 종이 한 장을 떠올려 보세요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종이는 우리가 살아가는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 공간 속에 존재하는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 물체로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구부리거나 말거나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구길수 있지만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이러한 변형은 종이 자체의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(Intrinsic 2 dimension)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구조 안에서 일어납니다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이 종이가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차원 공간에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(embedded)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된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(manifold)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220" name="Picture 4" descr="3d 렌더링, 빈 페이지가 있는 추상 배경, 모서리가 말린 백서, 스크롤된 문서, 비즈니스 템플릿">
            <a:extLst>
              <a:ext uri="{FF2B5EF4-FFF2-40B4-BE49-F238E27FC236}">
                <a16:creationId xmlns:a16="http://schemas.microsoft.com/office/drawing/2014/main" id="{0091CADD-5F60-3E66-4507-BCB366991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5" y="3017707"/>
            <a:ext cx="4828656" cy="271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FC1E48-A3C7-643D-42AF-6CB23B585005}"/>
              </a:ext>
            </a:extLst>
          </p:cNvPr>
          <p:cNvSpPr txBox="1"/>
          <p:nvPr/>
        </p:nvSpPr>
        <p:spPr>
          <a:xfrm>
            <a:off x="5790680" y="3017707"/>
            <a:ext cx="5944120" cy="2752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외재 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(Extrinsic Dimension):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종이가 존재하는 공간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내재 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(Intrinsic Dimension):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종이 자체의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(Embedding):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낮은 차원의 구조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종이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더 높은 차원의 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놓여 있음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(Embedded)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(Manifold):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작은 영역에서는 평평한 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유클리드 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Locally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Linear)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처럼 보이지만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전체적으로는 구부러질 수 있는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저차원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구조 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매우 높은 차원의 공간에 존재하더라도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실제로는 그 안의 훨씬 낮은 차원의 구조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위에 분포할 수 있음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구조를 찾아냄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4273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568E-BB0A-E6FA-390F-63519107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667B48-5B62-68A0-1660-CFDEA541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DA588E4-0C77-11C8-5DC4-F3AE9EF788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 geometric interpretation of deep learning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A6A21AA-3C7B-7BBE-2090-DA22F965E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2171700"/>
            <a:ext cx="88582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D001D8-9362-68FC-DE19-9DBC61DF92D4}"/>
              </a:ext>
            </a:extLst>
          </p:cNvPr>
          <p:cNvSpPr txBox="1"/>
          <p:nvPr/>
        </p:nvSpPr>
        <p:spPr>
          <a:xfrm>
            <a:off x="1666875" y="480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Uncrumpling a complicated manifold of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836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B063-CF9E-AC1F-3D01-FFC79CF1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060A5-212E-A708-90D9-67403594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7389D23-4944-3075-CAF3-A424280476C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Lora" pitchFamily="2" charset="0"/>
              </a:rPr>
              <a:t>Manifold hypothesis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A9CA8-79D2-4E68-1CD4-50E4607721BE}"/>
              </a:ext>
            </a:extLst>
          </p:cNvPr>
          <p:cNvSpPr txBox="1"/>
          <p:nvPr/>
        </p:nvSpPr>
        <p:spPr>
          <a:xfrm>
            <a:off x="623887" y="3581102"/>
            <a:ext cx="11044238" cy="2698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울창한 숲을 걷고 있다고 상상해 보세요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처음에는 나무와 수풀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험한 지형 때문에 길이 어디로 이어지는지 알기 어렵습니다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그러나 높은 곳에 올라 전체를 내려다보면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숲속의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길들은 무질서하게 흩어져 있는 것이 아니라 능선과 계곡을 따라 연결되어 있습니다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복잡하고 고차원적인 숲 속에서도 실제 사람들이 다니는 길은 훨씬 단순한 저차원의 구조를 이루고 있는 것입니다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pPr>
              <a:lnSpc>
                <a:spcPct val="250000"/>
              </a:lnSpc>
            </a:pPr>
            <a:endParaRPr lang="en-US" altLang="ko-KR" sz="1400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50000"/>
              </a:lnSpc>
            </a:pPr>
            <a:r>
              <a:rPr lang="ko-KR" altLang="en-US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지구는 둥글지만 나는</a:t>
            </a:r>
            <a:r>
              <a:rPr lang="en-US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평평한 공간에 산다</a:t>
            </a:r>
            <a:r>
              <a:rPr lang="en-US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! (Manifold)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C46FE-46FB-AFEC-8B36-255BFA58C1B5}"/>
              </a:ext>
            </a:extLst>
          </p:cNvPr>
          <p:cNvSpPr txBox="1"/>
          <p:nvPr/>
        </p:nvSpPr>
        <p:spPr>
          <a:xfrm>
            <a:off x="623887" y="1269421"/>
            <a:ext cx="10944225" cy="171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 manifold hypothesis posits that many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 tooltip="High-dimensio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high-dimensional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data sets that occur in the real world actually lie along low-dimensional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 tooltip="Latent manifol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latent manifolds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inside that high-dimensional space.(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wikipedia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고차원 데이터 공간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(high-dimensional space)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안에서 실제 데이터는 무작위로 분포하는 것이 아니라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낮은 차원의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(manifold)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위에 집중되어 존재한다는 가설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전구">
            <a:extLst>
              <a:ext uri="{FF2B5EF4-FFF2-40B4-BE49-F238E27FC236}">
                <a16:creationId xmlns:a16="http://schemas.microsoft.com/office/drawing/2014/main" id="{E227BD1F-7020-6C27-587F-6826660BB9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887" y="3089934"/>
            <a:ext cx="648305" cy="64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05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4DCAB-6C12-2432-2B19-7D4A1D4A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1C83B-2DEC-9FE8-8E73-AE1CB38A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D1F8EFE-3B04-960A-C0E1-74D202C77F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Lora" pitchFamily="2" charset="0"/>
              </a:rPr>
              <a:t>Manifold way of perception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A429AD8-E68F-C181-4745-979C9273CC38}"/>
              </a:ext>
            </a:extLst>
          </p:cNvPr>
          <p:cNvCxnSpPr>
            <a:cxnSpLocks/>
          </p:cNvCxnSpPr>
          <p:nvPr/>
        </p:nvCxnSpPr>
        <p:spPr>
          <a:xfrm flipH="1">
            <a:off x="2143760" y="5083175"/>
            <a:ext cx="920750" cy="12376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FB2D9-01C1-1093-F063-C5E9A9A2F6D3}"/>
              </a:ext>
            </a:extLst>
          </p:cNvPr>
          <p:cNvCxnSpPr>
            <a:cxnSpLocks/>
          </p:cNvCxnSpPr>
          <p:nvPr/>
        </p:nvCxnSpPr>
        <p:spPr>
          <a:xfrm>
            <a:off x="3064510" y="5083175"/>
            <a:ext cx="21780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6E8260F-31DF-EA2D-50BD-DADFE6FCD155}"/>
              </a:ext>
            </a:extLst>
          </p:cNvPr>
          <p:cNvCxnSpPr>
            <a:cxnSpLocks/>
          </p:cNvCxnSpPr>
          <p:nvPr/>
        </p:nvCxnSpPr>
        <p:spPr>
          <a:xfrm flipV="1">
            <a:off x="3064510" y="3197225"/>
            <a:ext cx="0" cy="18859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21455FCE-DAE8-7819-6875-39EF9DCEECEA}"/>
              </a:ext>
            </a:extLst>
          </p:cNvPr>
          <p:cNvCxnSpPr>
            <a:cxnSpLocks/>
          </p:cNvCxnSpPr>
          <p:nvPr/>
        </p:nvCxnSpPr>
        <p:spPr>
          <a:xfrm flipV="1">
            <a:off x="1584960" y="4754880"/>
            <a:ext cx="3982722" cy="833120"/>
          </a:xfrm>
          <a:prstGeom prst="curvedConnector3">
            <a:avLst>
              <a:gd name="adj1" fmla="val 49490"/>
            </a:avLst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CF354381-CEE7-25B0-CF7E-8F1EEDFAA477}"/>
              </a:ext>
            </a:extLst>
          </p:cNvPr>
          <p:cNvCxnSpPr>
            <a:cxnSpLocks/>
          </p:cNvCxnSpPr>
          <p:nvPr/>
        </p:nvCxnSpPr>
        <p:spPr>
          <a:xfrm flipV="1">
            <a:off x="1584960" y="3740474"/>
            <a:ext cx="3738880" cy="1123626"/>
          </a:xfrm>
          <a:prstGeom prst="curvedConnector3">
            <a:avLst>
              <a:gd name="adj1" fmla="val 19837"/>
            </a:avLst>
          </a:prstGeom>
          <a:ln w="190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2ACAD48C-71B5-6569-7473-2A1071A81E33}"/>
              </a:ext>
            </a:extLst>
          </p:cNvPr>
          <p:cNvSpPr/>
          <p:nvPr/>
        </p:nvSpPr>
        <p:spPr>
          <a:xfrm>
            <a:off x="1981200" y="469392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5B01B60-57CB-D47E-5825-228B167C6690}"/>
              </a:ext>
            </a:extLst>
          </p:cNvPr>
          <p:cNvSpPr/>
          <p:nvPr/>
        </p:nvSpPr>
        <p:spPr>
          <a:xfrm>
            <a:off x="2265680" y="437896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3FA901A-E3C6-1D51-3FF5-B337B1EF4377}"/>
              </a:ext>
            </a:extLst>
          </p:cNvPr>
          <p:cNvSpPr/>
          <p:nvPr/>
        </p:nvSpPr>
        <p:spPr>
          <a:xfrm>
            <a:off x="2733040" y="400304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353B862-AA9D-6707-1EC1-2C6FD5F3C3A4}"/>
              </a:ext>
            </a:extLst>
          </p:cNvPr>
          <p:cNvSpPr/>
          <p:nvPr/>
        </p:nvSpPr>
        <p:spPr>
          <a:xfrm>
            <a:off x="3830320" y="490728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BDC24C8-DF1D-030D-B96A-60FBAB5F170E}"/>
              </a:ext>
            </a:extLst>
          </p:cNvPr>
          <p:cNvSpPr/>
          <p:nvPr/>
        </p:nvSpPr>
        <p:spPr>
          <a:xfrm>
            <a:off x="4704080" y="473456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3EC79F1-9BB4-4F6B-A5C1-AD6E9060AC32}"/>
              </a:ext>
            </a:extLst>
          </p:cNvPr>
          <p:cNvSpPr/>
          <p:nvPr/>
        </p:nvSpPr>
        <p:spPr>
          <a:xfrm>
            <a:off x="5222240" y="470408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F21A3A8-D10E-7CD9-5893-0C0AF76E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45" y="4506242"/>
            <a:ext cx="845893" cy="96782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B1C5FDFA-34E4-157D-57AE-2D2FD3620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64" y="2793865"/>
            <a:ext cx="815411" cy="103641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2E78040-9FBE-28B9-1255-254DB6409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783" y="3435587"/>
            <a:ext cx="845893" cy="100592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3D9D3E1-92EF-F1C8-46D6-EE531CBA8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278" y="5407349"/>
            <a:ext cx="853514" cy="96782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C0C3587-AAF5-32FB-1F77-AEA6F2FB3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487" y="5162816"/>
            <a:ext cx="838273" cy="103641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E40BF2B-0033-9A55-98CF-CC2EA0B294A4}"/>
              </a:ext>
            </a:extLst>
          </p:cNvPr>
          <p:cNvSpPr txBox="1"/>
          <p:nvPr/>
        </p:nvSpPr>
        <p:spPr>
          <a:xfrm>
            <a:off x="548640" y="1273002"/>
            <a:ext cx="1095248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사진들은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2,914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고차원이지만 이해를 돕기 위해 3차원 공간으로 축소해 표현하면 각각의 점은 얼굴의 회전 각도나 표정에 따라 점과 점 사이를 잇는 부드러운 곡선을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통해 생성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D363CA-D3BC-A6D6-FFE6-EC00D9D55074}"/>
              </a:ext>
            </a:extLst>
          </p:cNvPr>
          <p:cNvSpPr txBox="1"/>
          <p:nvPr/>
        </p:nvSpPr>
        <p:spPr>
          <a:xfrm>
            <a:off x="5606277" y="2957255"/>
            <a:ext cx="6211215" cy="2639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인공지능의 눈에 비친 세상은 복잡한 사진들의 나열이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빨간 찰흙 곡선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초록 찰흙 곡선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차원 공간 속에 아름답게 춤추고 있는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형태의 곡선 위에서 데이터를 부드럽게 미끄러지듯 이동시키며 유추하는 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(Interpolation)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일반화를 달성하는 원리이며 새로운 사진을 보고 어느 곡선에 놓여있을지 유추하여 판단하는 것은 인간의 직관과 비슷함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83F076-8FC3-BFC7-08B5-AF0D05688F0F}"/>
              </a:ext>
            </a:extLst>
          </p:cNvPr>
          <p:cNvSpPr txBox="1"/>
          <p:nvPr/>
        </p:nvSpPr>
        <p:spPr>
          <a:xfrm>
            <a:off x="5606279" y="2619233"/>
            <a:ext cx="62112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b="0" i="0" dirty="0" err="1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딥러닝의</a:t>
            </a:r>
            <a:r>
              <a:rPr lang="ko-KR" altLang="en-US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직관과 패턴 인식</a:t>
            </a:r>
            <a:r>
              <a:rPr lang="en-US" altLang="ko-KR" sz="1600" b="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(Intuition &amp; Pattern Recognition)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9747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CD20E-7318-3019-C1E6-3355EE6D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2AE0E6-0FEF-2F62-1B38-B53C84E3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A4953BE-3FAE-969C-3077-8CEA680822B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Lora" pitchFamily="2" charset="0"/>
              </a:rPr>
              <a:t>The nature of generalization in deep learning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57B68B-0990-EAC0-574E-9010E639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1" y="2853499"/>
            <a:ext cx="6457950" cy="3522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4E0AD-D3C1-780E-7298-ED0075A3E1C2}"/>
              </a:ext>
            </a:extLst>
          </p:cNvPr>
          <p:cNvSpPr txBox="1"/>
          <p:nvPr/>
        </p:nvSpPr>
        <p:spPr>
          <a:xfrm>
            <a:off x="475645" y="1304836"/>
            <a:ext cx="111353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훈련 데이터를 완벽하게 외우는 것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최적화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Optimization)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새로운 데이터에도 유연하게 대처하는 것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일반화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Generalization)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사이에서 가장 적절한 타협점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(Sweet Spot)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찾는 기교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예술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(art)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940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405F-10BD-642A-ED53-86715C0B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08A60C-C86D-7F6D-DE54-3BC7EB7C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CF7CFC9-D6A9-34AE-1DD9-917CF864312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Lora" pitchFamily="2" charset="0"/>
              </a:rPr>
              <a:t>The nature of generalization in deep learning</a:t>
            </a:r>
          </a:p>
        </p:txBody>
      </p:sp>
    </p:spTree>
    <p:extLst>
      <p:ext uri="{BB962C8B-B14F-4D97-AF65-F5344CB8AC3E}">
        <p14:creationId xmlns:p14="http://schemas.microsoft.com/office/powerpoint/2010/main" val="413848999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8896</TotalTime>
  <Words>802</Words>
  <Application>Microsoft Office PowerPoint</Application>
  <PresentationFormat>와이드스크린</PresentationFormat>
  <Paragraphs>67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Chapter 5  Fundamentals of machine learning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141</cp:revision>
  <dcterms:created xsi:type="dcterms:W3CDTF">2026-04-06T01:00:39Z</dcterms:created>
  <dcterms:modified xsi:type="dcterms:W3CDTF">2026-07-02T16:42:39Z</dcterms:modified>
  <cp:version/>
</cp:coreProperties>
</file>