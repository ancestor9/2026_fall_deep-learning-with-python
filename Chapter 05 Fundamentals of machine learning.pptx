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256" r:id="rId2"/>
    <p:sldId id="1135" r:id="rId3"/>
    <p:sldId id="1164" r:id="rId4"/>
    <p:sldId id="1144" r:id="rId5"/>
    <p:sldId id="1186" r:id="rId6"/>
    <p:sldId id="1185" r:id="rId7"/>
    <p:sldId id="1162" r:id="rId8"/>
    <p:sldId id="1146" r:id="rId9"/>
    <p:sldId id="1187" r:id="rId10"/>
    <p:sldId id="1147" r:id="rId11"/>
    <p:sldId id="1148" r:id="rId12"/>
    <p:sldId id="1149" r:id="rId13"/>
    <p:sldId id="1150" r:id="rId14"/>
    <p:sldId id="1160" r:id="rId15"/>
    <p:sldId id="1165" r:id="rId16"/>
    <p:sldId id="1156" r:id="rId17"/>
    <p:sldId id="1161" r:id="rId18"/>
    <p:sldId id="1151" r:id="rId19"/>
    <p:sldId id="1157" r:id="rId20"/>
    <p:sldId id="1166" r:id="rId21"/>
    <p:sldId id="1168" r:id="rId22"/>
    <p:sldId id="1169" r:id="rId23"/>
    <p:sldId id="1152" r:id="rId24"/>
    <p:sldId id="1170" r:id="rId25"/>
    <p:sldId id="1171" r:id="rId26"/>
    <p:sldId id="1172" r:id="rId27"/>
    <p:sldId id="1174" r:id="rId28"/>
    <p:sldId id="1175" r:id="rId29"/>
    <p:sldId id="1178" r:id="rId30"/>
    <p:sldId id="1179" r:id="rId31"/>
    <p:sldId id="1180" r:id="rId32"/>
    <p:sldId id="1176" r:id="rId33"/>
    <p:sldId id="1177" r:id="rId34"/>
    <p:sldId id="1181" r:id="rId35"/>
    <p:sldId id="1182" r:id="rId36"/>
    <p:sldId id="1183" r:id="rId37"/>
    <p:sldId id="1184" r:id="rId38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5"/>
            <p14:sldId id="1164"/>
            <p14:sldId id="1144"/>
            <p14:sldId id="1186"/>
            <p14:sldId id="1185"/>
            <p14:sldId id="1162"/>
            <p14:sldId id="1146"/>
            <p14:sldId id="1187"/>
            <p14:sldId id="1147"/>
            <p14:sldId id="1148"/>
            <p14:sldId id="1149"/>
            <p14:sldId id="1150"/>
            <p14:sldId id="1160"/>
            <p14:sldId id="1165"/>
            <p14:sldId id="1156"/>
            <p14:sldId id="1161"/>
            <p14:sldId id="1151"/>
            <p14:sldId id="1157"/>
            <p14:sldId id="1166"/>
            <p14:sldId id="1168"/>
            <p14:sldId id="1169"/>
            <p14:sldId id="1152"/>
            <p14:sldId id="1170"/>
            <p14:sldId id="1171"/>
            <p14:sldId id="1172"/>
            <p14:sldId id="1174"/>
            <p14:sldId id="1175"/>
            <p14:sldId id="1178"/>
            <p14:sldId id="1179"/>
            <p14:sldId id="1180"/>
            <p14:sldId id="1176"/>
            <p14:sldId id="1177"/>
            <p14:sldId id="1181"/>
            <p14:sldId id="1182"/>
            <p14:sldId id="1183"/>
            <p14:sldId id="1184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FF9B45"/>
    <a:srgbClr val="DD462F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>
        <p:scale>
          <a:sx n="75" d="100"/>
          <a:sy n="75" d="100"/>
        </p:scale>
        <p:origin x="1066" y="16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845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2026-09-09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2026-09-09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2026-09-09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2026-09-09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jakevdp.github.io/PythonDataScienceHandbook/05.10-manifold-learning.html" TargetMode="External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Latent_manifold" TargetMode="External"/><Relationship Id="rId2" Type="http://schemas.openxmlformats.org/officeDocument/2006/relationships/hyperlink" Target="https://en.wikipedia.org/wiki/High-dimensional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hyperlink" Target="https://en.wikipedia.org/wiki/Manifold_hypothesis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kshin.tistory.com/entry/%EC%BB%B4%ED%93%A8%ED%84%B0-%EB%B9%84%EC%A0%84-7-%EC%98%A4%ED%86%A0%EC%9D%B8%EC%BD%94%EB%8D%94AutoEncoder%EC%99%80-%EB%A7%A4%EB%8B%88%ED%8F%B4%EB%93%9C-%ED%95%99%EC%8A%B5Manifold-Learning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cikit-learn.org/stable/auto_examples/model_selection/plot_cv_indices.html" TargetMode="Externa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1025" y="1164324"/>
            <a:ext cx="11344275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Chapter 5 </a:t>
            </a:r>
            <a:br>
              <a:rPr lang="en-US" altLang="ko-KR" sz="4400" dirty="0">
                <a:solidFill>
                  <a:schemeClr val="bg1"/>
                </a:solidFill>
              </a:rPr>
            </a:br>
            <a:r>
              <a:rPr lang="en-US" altLang="ko-KR" sz="4400" dirty="0">
                <a:solidFill>
                  <a:schemeClr val="bg1"/>
                </a:solidFill>
              </a:rPr>
              <a:t>Fundamentals of machine learning</a:t>
            </a:r>
            <a:endParaRPr lang="ko-KR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20D6-5AE6-3C71-71A9-7178299E6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EE5C95C-A4CB-71BF-7C86-C9F732C977A6}"/>
              </a:ext>
            </a:extLst>
          </p:cNvPr>
          <p:cNvSpPr/>
          <p:nvPr/>
        </p:nvSpPr>
        <p:spPr>
          <a:xfrm>
            <a:off x="600075" y="1994566"/>
            <a:ext cx="8905875" cy="6057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D810985-A788-B5F8-19D5-7D75D19399E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AAB68B-A2BA-07A3-DB75-5B56921FF4A0}"/>
              </a:ext>
            </a:extLst>
          </p:cNvPr>
          <p:cNvSpPr txBox="1"/>
          <p:nvPr/>
        </p:nvSpPr>
        <p:spPr>
          <a:xfrm>
            <a:off x="770571" y="1975516"/>
            <a:ext cx="10832150" cy="2738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Generalization: The goal of machine learning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Evaluation methods for machine learning models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Best practices to improve model fitting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Best practices to achieve better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578434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03B6F-32EB-5145-FEEE-CE21E4DC3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0CD70D0D-5D49-503D-DB1C-AEA62C674D3E}"/>
              </a:ext>
            </a:extLst>
          </p:cNvPr>
          <p:cNvSpPr/>
          <p:nvPr/>
        </p:nvSpPr>
        <p:spPr>
          <a:xfrm>
            <a:off x="609083" y="2213642"/>
            <a:ext cx="8905875" cy="4152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91C7332-17F8-664F-E1A0-B2AF650ABB4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9953D5-4634-EB74-8259-F3AB4A6A6147}"/>
              </a:ext>
            </a:extLst>
          </p:cNvPr>
          <p:cNvSpPr txBox="1"/>
          <p:nvPr/>
        </p:nvSpPr>
        <p:spPr>
          <a:xfrm>
            <a:off x="1047232" y="1698106"/>
            <a:ext cx="9782175" cy="4066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Generalization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 The </a:t>
            </a:r>
            <a:r>
              <a:rPr lang="ko-KR" alt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goal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Underfitting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overfitting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oisy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Ambiguous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spurious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correlations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The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nature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generalization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deep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The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manifold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hypothesis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Interpolation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generalization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deep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paramount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67035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A25A0-07BB-CDBB-0F29-43C26D718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01BC892-601E-1AA8-C846-9F4AAFE73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4</a:t>
            </a:fld>
            <a:endParaRPr lang="en-US" sz="1400" b="1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8BA978F-02A6-660E-64AA-E1911BB0D58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Chapter 4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B5F4687-184B-996D-68CE-01360CB08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319" y="1453149"/>
            <a:ext cx="8337001" cy="492286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6881BE2-3D59-405B-50E2-50185344DA84}"/>
              </a:ext>
            </a:extLst>
          </p:cNvPr>
          <p:cNvSpPr/>
          <p:nvPr/>
        </p:nvSpPr>
        <p:spPr>
          <a:xfrm>
            <a:off x="7792720" y="2509520"/>
            <a:ext cx="1757680" cy="38608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505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A97B7-9ED5-0722-A462-7DF0DBC6B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A29D50C-3237-8341-2644-752513D489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Generalization: The goal of machine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72E9DA-8384-1AE7-0801-CBD8E4E8C4F4}"/>
              </a:ext>
            </a:extLst>
          </p:cNvPr>
          <p:cNvSpPr txBox="1"/>
          <p:nvPr/>
        </p:nvSpPr>
        <p:spPr>
          <a:xfrm>
            <a:off x="577245" y="1203236"/>
            <a:ext cx="11135330" cy="837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학습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(Learning)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와 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간의 관계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(pattern) 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혹은 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P(y/X)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가 가장 큰 값을 갖는 함수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(function)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를 찾는 것</a:t>
            </a:r>
            <a:endParaRPr lang="en-US" altLang="ko-KR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컴퓨터에게 과거데이터에 숨겨진 규칙성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패턴 등을 학습하여 일반화 모델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f(x)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을 찾는 것 </a:t>
            </a: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4E09CD35-7390-14FF-AC6F-D8DF0AE3AC38}"/>
              </a:ext>
            </a:extLst>
          </p:cNvPr>
          <p:cNvSpPr/>
          <p:nvPr/>
        </p:nvSpPr>
        <p:spPr>
          <a:xfrm>
            <a:off x="1853682" y="2871727"/>
            <a:ext cx="1812928" cy="3468816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426191D-6F6E-E251-68CB-454C375FBA3B}"/>
              </a:ext>
            </a:extLst>
          </p:cNvPr>
          <p:cNvSpPr/>
          <p:nvPr/>
        </p:nvSpPr>
        <p:spPr>
          <a:xfrm>
            <a:off x="5565083" y="2912934"/>
            <a:ext cx="1812928" cy="3468816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1DEAFFCB-B7C7-6D74-C118-FA6B0D60EEB7}"/>
              </a:ext>
            </a:extLst>
          </p:cNvPr>
          <p:cNvGraphicFramePr>
            <a:graphicFrameLocks noGrp="1"/>
          </p:cNvGraphicFramePr>
          <p:nvPr/>
        </p:nvGraphicFramePr>
        <p:xfrm>
          <a:off x="2428660" y="3206818"/>
          <a:ext cx="673100" cy="28194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673100">
                  <a:extLst>
                    <a:ext uri="{9D8B030D-6E8A-4147-A177-3AD203B41FA5}">
                      <a16:colId xmlns:a16="http://schemas.microsoft.com/office/drawing/2014/main" val="2088299463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3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81388433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6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10185304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9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556282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66389042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20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374341126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27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722408658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30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58890119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33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7522450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38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5813068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41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029361620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FA1041EF-BA1B-50BC-29F0-0C10E8FF91B5}"/>
              </a:ext>
            </a:extLst>
          </p:cNvPr>
          <p:cNvGraphicFramePr>
            <a:graphicFrameLocks noGrp="1"/>
          </p:cNvGraphicFramePr>
          <p:nvPr/>
        </p:nvGraphicFramePr>
        <p:xfrm>
          <a:off x="6098309" y="3254661"/>
          <a:ext cx="749300" cy="2819400"/>
        </p:xfrm>
        <a:graphic>
          <a:graphicData uri="http://schemas.openxmlformats.org/drawingml/2006/table">
            <a:tbl>
              <a:tblPr>
                <a:tableStyleId>{93296810-A885-4BE3-A3E7-6D5BEEA58F35}</a:tableStyleId>
              </a:tblPr>
              <a:tblGrid>
                <a:gridCol w="749300">
                  <a:extLst>
                    <a:ext uri="{9D8B030D-6E8A-4147-A177-3AD203B41FA5}">
                      <a16:colId xmlns:a16="http://schemas.microsoft.com/office/drawing/2014/main" val="3929273141"/>
                    </a:ext>
                  </a:extLst>
                </a:gridCol>
              </a:tblGrid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15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76922194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30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1531090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41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2557093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74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8673332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87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20775317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102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33785529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105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86080881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137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15249384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>
                          <a:effectLst/>
                        </a:rPr>
                        <a:t>124</a:t>
                      </a:r>
                      <a:endParaRPr lang="en-US" altLang="ko-KR" sz="1800" b="1" i="0" u="none" strike="noStrike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712822705"/>
                  </a:ext>
                </a:extLst>
              </a:tr>
              <a:tr h="22098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altLang="ko-KR" sz="1800" b="1" u="none" strike="noStrike" dirty="0">
                          <a:effectLst/>
                        </a:rPr>
                        <a:t>152</a:t>
                      </a:r>
                      <a:endParaRPr lang="en-US" altLang="ko-KR" sz="1800" b="1" i="0" u="none" strike="noStrike" dirty="0">
                        <a:solidFill>
                          <a:srgbClr val="000000"/>
                        </a:solidFill>
                        <a:effectLst/>
                        <a:latin typeface="D2Coding" panose="020B0609020101020101" pitchFamily="49" charset="-127"/>
                        <a:ea typeface="D2Coding" panose="020B0609020101020101" pitchFamily="49" charset="-127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7411910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CD107D6-517F-AEEF-8ECC-762CAC8F14DA}"/>
                  </a:ext>
                </a:extLst>
              </p:cNvPr>
              <p:cNvSpPr txBox="1"/>
              <p:nvPr/>
            </p:nvSpPr>
            <p:spPr>
              <a:xfrm>
                <a:off x="6233579" y="2343635"/>
                <a:ext cx="55816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800" b="1" i="0" smtClean="0">
                          <a:latin typeface="Cambria Math" panose="02040503050406030204" pitchFamily="18" charset="0"/>
                        </a:rPr>
                        <m:t>𝐲</m:t>
                      </m:r>
                    </m:oMath>
                  </m:oMathPara>
                </a14:m>
                <a:endParaRPr lang="ko-KR" altLang="en-US" sz="2800" b="1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A9115E-688D-A409-84B1-593612DCF3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579" y="2343635"/>
                <a:ext cx="558165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675DD81-DEF3-00E5-D40B-D08196ACDBA9}"/>
              </a:ext>
            </a:extLst>
          </p:cNvPr>
          <p:cNvCxnSpPr>
            <a:cxnSpLocks/>
          </p:cNvCxnSpPr>
          <p:nvPr/>
        </p:nvCxnSpPr>
        <p:spPr>
          <a:xfrm>
            <a:off x="3893415" y="337307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5ED432F8-6EF7-8186-4F66-D0E40EE4F322}"/>
              </a:ext>
            </a:extLst>
          </p:cNvPr>
          <p:cNvCxnSpPr>
            <a:cxnSpLocks/>
          </p:cNvCxnSpPr>
          <p:nvPr/>
        </p:nvCxnSpPr>
        <p:spPr>
          <a:xfrm>
            <a:off x="3893415" y="368739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3DE1620F-259C-4878-5B35-0EBE79F5B3C6}"/>
              </a:ext>
            </a:extLst>
          </p:cNvPr>
          <p:cNvCxnSpPr>
            <a:cxnSpLocks/>
          </p:cNvCxnSpPr>
          <p:nvPr/>
        </p:nvCxnSpPr>
        <p:spPr>
          <a:xfrm>
            <a:off x="3893415" y="400172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B8025AD3-0C1A-BCA2-B130-E792A3E6F8D9}"/>
              </a:ext>
            </a:extLst>
          </p:cNvPr>
          <p:cNvCxnSpPr>
            <a:cxnSpLocks/>
          </p:cNvCxnSpPr>
          <p:nvPr/>
        </p:nvCxnSpPr>
        <p:spPr>
          <a:xfrm>
            <a:off x="3893415" y="431604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16FCAED0-6514-99C0-DA74-51606A46636A}"/>
              </a:ext>
            </a:extLst>
          </p:cNvPr>
          <p:cNvCxnSpPr>
            <a:cxnSpLocks/>
          </p:cNvCxnSpPr>
          <p:nvPr/>
        </p:nvCxnSpPr>
        <p:spPr>
          <a:xfrm>
            <a:off x="3893415" y="463037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1297479D-9A51-923F-4A72-421CC457760F}"/>
              </a:ext>
            </a:extLst>
          </p:cNvPr>
          <p:cNvCxnSpPr>
            <a:cxnSpLocks/>
          </p:cNvCxnSpPr>
          <p:nvPr/>
        </p:nvCxnSpPr>
        <p:spPr>
          <a:xfrm>
            <a:off x="3893415" y="494469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859EED2D-45D8-B795-FAC9-045C0BAB921C}"/>
              </a:ext>
            </a:extLst>
          </p:cNvPr>
          <p:cNvCxnSpPr>
            <a:cxnSpLocks/>
          </p:cNvCxnSpPr>
          <p:nvPr/>
        </p:nvCxnSpPr>
        <p:spPr>
          <a:xfrm>
            <a:off x="3893415" y="525902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0050897-23FB-A931-C260-14B6DFBC6F9F}"/>
              </a:ext>
            </a:extLst>
          </p:cNvPr>
          <p:cNvCxnSpPr>
            <a:cxnSpLocks/>
          </p:cNvCxnSpPr>
          <p:nvPr/>
        </p:nvCxnSpPr>
        <p:spPr>
          <a:xfrm>
            <a:off x="3893415" y="5573347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1A490E51-A922-7F9B-880C-2DDFE171CD8B}"/>
              </a:ext>
            </a:extLst>
          </p:cNvPr>
          <p:cNvCxnSpPr>
            <a:cxnSpLocks/>
          </p:cNvCxnSpPr>
          <p:nvPr/>
        </p:nvCxnSpPr>
        <p:spPr>
          <a:xfrm>
            <a:off x="3893415" y="5887672"/>
            <a:ext cx="13620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1DA8B5-D5EB-82BE-F208-2C1FD674B72B}"/>
                  </a:ext>
                </a:extLst>
              </p:cNvPr>
              <p:cNvSpPr txBox="1"/>
              <p:nvPr/>
            </p:nvSpPr>
            <p:spPr>
              <a:xfrm>
                <a:off x="8561504" y="4078178"/>
                <a:ext cx="240367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:r>
                  <a:rPr lang="en-US" altLang="ko-KR" sz="3200" b="1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3200" b="1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altLang="ko-KR" sz="3200" b="1" i="0" smtClean="0">
                        <a:latin typeface="Cambria Math" panose="02040503050406030204" pitchFamily="18" charset="0"/>
                      </a:rPr>
                      <m:t>≈</m:t>
                    </m:r>
                    <m:acc>
                      <m:accPr>
                        <m:chr m:val="̂"/>
                        <m:ctrlPr>
                          <a:rPr lang="en-US" altLang="ko-KR" sz="3200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ko-KR" sz="3200" b="1" i="1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</m:acc>
                    <m:r>
                      <a:rPr lang="en-US" altLang="ko-KR" sz="3200" b="1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3200" b="1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32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3200" b="1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endParaRPr lang="ko-KR" altLang="en-US" sz="3200" b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31DA8B5-D5EB-82BE-F208-2C1FD674B7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1504" y="4078178"/>
                <a:ext cx="2403671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D408BFF-9580-714A-6C49-C3241D2D67D2}"/>
                  </a:ext>
                </a:extLst>
              </p:cNvPr>
              <p:cNvSpPr txBox="1"/>
              <p:nvPr/>
            </p:nvSpPr>
            <p:spPr>
              <a:xfrm>
                <a:off x="2423596" y="2276926"/>
                <a:ext cx="6731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600" b="1" i="1" smtClean="0">
                          <a:latin typeface="Cambria Math" panose="02040503050406030204" pitchFamily="18" charset="0"/>
                        </a:rPr>
                        <m:t>𝑿</m:t>
                      </m:r>
                    </m:oMath>
                  </m:oMathPara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EE23D2C-5B6E-E9A1-4E14-464E86ACFD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3596" y="2276926"/>
                <a:ext cx="673100" cy="64633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CBFF3B5-ADCB-CD49-0121-8881F12FB197}"/>
                  </a:ext>
                </a:extLst>
              </p:cNvPr>
              <p:cNvSpPr txBox="1"/>
              <p:nvPr/>
            </p:nvSpPr>
            <p:spPr>
              <a:xfrm>
                <a:off x="8249438" y="3206818"/>
                <a:ext cx="257996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b="1" dirty="0">
                    <a:latin typeface="D2Coding" panose="020B0609020101020101" pitchFamily="49" charset="-127"/>
                    <a:ea typeface="D2Coding" panose="020B0609020101020101" pitchFamily="49" charset="-127"/>
                    <a:sym typeface="Wingdings" panose="05000000000000000000" pitchFamily="2" charset="2"/>
                  </a:rPr>
                  <a:t> </a:t>
                </a:r>
                <a:r>
                  <a:rPr lang="en-US" altLang="ko-KR" sz="2400" i="1" dirty="0">
                    <a:latin typeface="D2Coding" panose="020B0609020101020101" pitchFamily="49" charset="-127"/>
                    <a:ea typeface="D2Coding" panose="020B0609020101020101" pitchFamily="49" charset="-127"/>
                    <a:sym typeface="Wingdings" panose="05000000000000000000" pitchFamily="2" charset="2"/>
                  </a:rPr>
                  <a:t>F</a:t>
                </a:r>
                <a:r>
                  <a:rPr lang="en-US" altLang="ko-KR" sz="2400" i="1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ind</a:t>
                </a:r>
                <a:r>
                  <a:rPr lang="en-US" altLang="ko-KR" sz="1400" dirty="0"/>
                  <a:t>  </a:t>
                </a:r>
                <a14:m>
                  <m:oMath xmlns:m="http://schemas.openxmlformats.org/officeDocument/2006/math">
                    <m:r>
                      <a:rPr lang="en-US" altLang="ko-KR" sz="3200" b="1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sz="3200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3200" b="1">
                            <a:latin typeface="Cambria Math" panose="02040503050406030204" pitchFamily="18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en-US" altLang="ko-KR" sz="3200" b="1" dirty="0"/>
                  <a:t> </a:t>
                </a:r>
                <a:endParaRPr lang="ko-KR" altLang="en-US" sz="14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CBFF3B5-ADCB-CD49-0121-8881F12FB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9438" y="3206818"/>
                <a:ext cx="2579969" cy="584775"/>
              </a:xfrm>
              <a:prstGeom prst="rect">
                <a:avLst/>
              </a:prstGeom>
              <a:blipFill>
                <a:blip r:embed="rId5"/>
                <a:stretch>
                  <a:fillRect l="-1891" b="-208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" name="그래픽 31" descr="물음표 단색으로 채워진">
            <a:extLst>
              <a:ext uri="{FF2B5EF4-FFF2-40B4-BE49-F238E27FC236}">
                <a16:creationId xmlns:a16="http://schemas.microsoft.com/office/drawing/2014/main" id="{9DC8CEC9-4338-8865-3FCD-BE76DB57C59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96277" y="3687397"/>
            <a:ext cx="910555" cy="910555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7CDE2A2-DF9F-F3DC-DA49-A744A761C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5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149498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8898A-2C6E-4D7D-F4B7-C6918EBC7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3C140C0-F110-FAC0-2ACA-7688C5A53BC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Generalization: The goal of machine learning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A909FF-EE5B-9D50-79FD-5A07523225F5}"/>
              </a:ext>
            </a:extLst>
          </p:cNvPr>
          <p:cNvSpPr txBox="1"/>
          <p:nvPr/>
        </p:nvSpPr>
        <p:spPr>
          <a:xfrm>
            <a:off x="577245" y="1203236"/>
            <a:ext cx="11135330" cy="837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머신러닝의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궁극적인 목표는 훈련 과정에서 보지 못한 새로운 데이터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(Unseen Data)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에 대해 모델이 정확한 예측이나 분류를 수행해내는 능력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F423DF2-8200-F8F0-8DB9-A2E4F998DE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245501"/>
            <a:ext cx="5956655" cy="4028243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설명선: 굽은 선 5">
                <a:extLst>
                  <a:ext uri="{FF2B5EF4-FFF2-40B4-BE49-F238E27FC236}">
                    <a16:creationId xmlns:a16="http://schemas.microsoft.com/office/drawing/2014/main" id="{DA30FD57-2E81-B3A6-53A1-68909F5211E4}"/>
                  </a:ext>
                </a:extLst>
              </p:cNvPr>
              <p:cNvSpPr/>
              <p:nvPr/>
            </p:nvSpPr>
            <p:spPr>
              <a:xfrm>
                <a:off x="4293235" y="5013711"/>
                <a:ext cx="1802765" cy="581025"/>
              </a:xfrm>
              <a:prstGeom prst="borderCallout2">
                <a:avLst>
                  <a:gd name="adj1" fmla="val 18750"/>
                  <a:gd name="adj2" fmla="val -8333"/>
                  <a:gd name="adj3" fmla="val 18750"/>
                  <a:gd name="adj4" fmla="val -16667"/>
                  <a:gd name="adj5" fmla="val -70676"/>
                  <a:gd name="adj6" fmla="val -47393"/>
                </a:avLst>
              </a:prstGeom>
              <a:solidFill>
                <a:srgbClr val="0070C0"/>
              </a:solidFill>
              <a:ln w="19050">
                <a:solidFill>
                  <a:srgbClr val="002060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1400" b="1"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en-US" altLang="ko-KR" sz="14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b="1" i="1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ko-KR" alt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4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</m:oMath>
                  </m:oMathPara>
                </a14:m>
                <a:endParaRPr lang="en-US" altLang="ko-KR" sz="14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  <a:p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 </a:t>
                </a:r>
                <a14:m>
                  <m:oMath xmlns:m="http://schemas.openxmlformats.org/officeDocument/2006/math">
                    <m:r>
                      <a:rPr lang="ko-KR" altLang="en-US" sz="140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3.37</a:t>
                </a:r>
                <a14:m>
                  <m:oMath xmlns:m="http://schemas.openxmlformats.org/officeDocument/2006/math">
                    <m:r>
                      <a:rPr lang="en-US" altLang="ko-KR" sz="1400" b="1" i="1">
                        <a:latin typeface="Cambria Math" panose="02040503050406030204" pitchFamily="18" charset="0"/>
                      </a:rPr>
                      <m:t>𝑿</m:t>
                    </m:r>
                  </m:oMath>
                </a14:m>
                <a:r>
                  <a:rPr lang="en-US" altLang="ko-KR" sz="1400" dirty="0">
                    <a:latin typeface="D2Coding" panose="020B0609020101020101" pitchFamily="49" charset="-127"/>
                    <a:ea typeface="D2Coding" panose="020B0609020101020101" pitchFamily="49" charset="-127"/>
                  </a:rPr>
                  <a:t> + 11.19</a:t>
                </a:r>
                <a:endParaRPr lang="ko-KR" altLang="en-US" sz="1400" dirty="0"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>
          <p:sp>
            <p:nvSpPr>
              <p:cNvPr id="6" name="설명선: 굽은 선 5">
                <a:extLst>
                  <a:ext uri="{FF2B5EF4-FFF2-40B4-BE49-F238E27FC236}">
                    <a16:creationId xmlns:a16="http://schemas.microsoft.com/office/drawing/2014/main" id="{DA30FD57-2E81-B3A6-53A1-68909F5211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3235" y="5013711"/>
                <a:ext cx="1802765" cy="581025"/>
              </a:xfrm>
              <a:prstGeom prst="borderCallout2">
                <a:avLst>
                  <a:gd name="adj1" fmla="val 18750"/>
                  <a:gd name="adj2" fmla="val -8333"/>
                  <a:gd name="adj3" fmla="val 18750"/>
                  <a:gd name="adj4" fmla="val -16667"/>
                  <a:gd name="adj5" fmla="val -70676"/>
                  <a:gd name="adj6" fmla="val -47393"/>
                </a:avLst>
              </a:prstGeom>
              <a:blipFill>
                <a:blip r:embed="rId3"/>
                <a:stretch>
                  <a:fillRect b="-1105"/>
                </a:stretch>
              </a:blipFill>
              <a:ln w="19050">
                <a:solidFill>
                  <a:srgbClr val="002060"/>
                </a:solidFill>
                <a:headEnd type="none" w="med" len="med"/>
                <a:tailEnd type="arrow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직사각형 7">
            <a:extLst>
              <a:ext uri="{FF2B5EF4-FFF2-40B4-BE49-F238E27FC236}">
                <a16:creationId xmlns:a16="http://schemas.microsoft.com/office/drawing/2014/main" id="{FDB9BB4F-84BE-43EC-6A84-57BEB502015F}"/>
              </a:ext>
            </a:extLst>
          </p:cNvPr>
          <p:cNvSpPr/>
          <p:nvPr/>
        </p:nvSpPr>
        <p:spPr>
          <a:xfrm>
            <a:off x="4998720" y="2591205"/>
            <a:ext cx="1719935" cy="880819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설명선: 굽은 선 8">
                <a:extLst>
                  <a:ext uri="{FF2B5EF4-FFF2-40B4-BE49-F238E27FC236}">
                    <a16:creationId xmlns:a16="http://schemas.microsoft.com/office/drawing/2014/main" id="{9A83DB91-27A2-A104-0FBF-D116BBE0D969}"/>
                  </a:ext>
                </a:extLst>
              </p:cNvPr>
              <p:cNvSpPr/>
              <p:nvPr/>
            </p:nvSpPr>
            <p:spPr>
              <a:xfrm>
                <a:off x="5573506" y="3872460"/>
                <a:ext cx="1223534" cy="257680"/>
              </a:xfrm>
              <a:prstGeom prst="borderCallout2">
                <a:avLst>
                  <a:gd name="adj1" fmla="val 27173"/>
                  <a:gd name="adj2" fmla="val -1409"/>
                  <a:gd name="adj3" fmla="val -903"/>
                  <a:gd name="adj4" fmla="val -24283"/>
                  <a:gd name="adj5" fmla="val -139759"/>
                  <a:gd name="adj6" fmla="val -36906"/>
                </a:avLst>
              </a:prstGeom>
              <a:solidFill>
                <a:schemeClr val="tx1"/>
              </a:solidFill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140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m:rPr>
                          <m:sty m:val="p"/>
                        </m:rPr>
                        <a:rPr lang="en-US" altLang="ko-KR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nseen</m:t>
                      </m:r>
                      <m:r>
                        <a:rPr lang="en-US" altLang="ko-KR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ko-KR" sz="14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Data</m:t>
                      </m:r>
                    </m:oMath>
                  </m:oMathPara>
                </a14:m>
                <a:endParaRPr lang="ko-KR" altLang="en-US" sz="1400" dirty="0">
                  <a:solidFill>
                    <a:schemeClr val="bg1"/>
                  </a:solidFill>
                  <a:latin typeface="D2Coding" panose="020B0609020101020101" pitchFamily="49" charset="-127"/>
                  <a:ea typeface="D2Coding" panose="020B0609020101020101" pitchFamily="49" charset="-127"/>
                </a:endParaRPr>
              </a:p>
            </p:txBody>
          </p:sp>
        </mc:Choice>
        <mc:Fallback>
          <p:sp>
            <p:nvSpPr>
              <p:cNvPr id="9" name="설명선: 굽은 선 8">
                <a:extLst>
                  <a:ext uri="{FF2B5EF4-FFF2-40B4-BE49-F238E27FC236}">
                    <a16:creationId xmlns:a16="http://schemas.microsoft.com/office/drawing/2014/main" id="{9A83DB91-27A2-A104-0FBF-D116BBE0D9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3506" y="3872460"/>
                <a:ext cx="1223534" cy="257680"/>
              </a:xfrm>
              <a:prstGeom prst="borderCallout2">
                <a:avLst>
                  <a:gd name="adj1" fmla="val 27173"/>
                  <a:gd name="adj2" fmla="val -1409"/>
                  <a:gd name="adj3" fmla="val -903"/>
                  <a:gd name="adj4" fmla="val -24283"/>
                  <a:gd name="adj5" fmla="val -139759"/>
                  <a:gd name="adj6" fmla="val -36906"/>
                </a:avLst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C343D66-1C71-BAD0-C36D-96CE95FACA49}"/>
              </a:ext>
            </a:extLst>
          </p:cNvPr>
          <p:cNvSpPr txBox="1"/>
          <p:nvPr/>
        </p:nvSpPr>
        <p:spPr>
          <a:xfrm>
            <a:off x="7499251" y="3171190"/>
            <a:ext cx="4032348" cy="157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Distribution shift assumption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Data Drift : P(X) shift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Concept Drift : P(Y/X) shift</a:t>
            </a: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Label Shift : P(Y) shift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EE4CE2FF-5120-4BBF-7637-F47F41FFCFEB}"/>
              </a:ext>
            </a:extLst>
          </p:cNvPr>
          <p:cNvSpPr/>
          <p:nvPr/>
        </p:nvSpPr>
        <p:spPr>
          <a:xfrm>
            <a:off x="5796915" y="3028950"/>
            <a:ext cx="100965" cy="100965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E443EF8A-97F2-DA4B-F1AF-5DBA1E769EAA}"/>
              </a:ext>
            </a:extLst>
          </p:cNvPr>
          <p:cNvSpPr/>
          <p:nvPr/>
        </p:nvSpPr>
        <p:spPr>
          <a:xfrm>
            <a:off x="5715635" y="2713990"/>
            <a:ext cx="100965" cy="100965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403C4B57-0609-E56F-1EEF-735B3B2C29DF}"/>
              </a:ext>
            </a:extLst>
          </p:cNvPr>
          <p:cNvSpPr/>
          <p:nvPr/>
        </p:nvSpPr>
        <p:spPr>
          <a:xfrm>
            <a:off x="6503035" y="3333750"/>
            <a:ext cx="100965" cy="100965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740723-3FF8-8B0B-0843-60CCCA823A97}"/>
              </a:ext>
            </a:extLst>
          </p:cNvPr>
          <p:cNvSpPr txBox="1"/>
          <p:nvPr/>
        </p:nvSpPr>
        <p:spPr>
          <a:xfrm>
            <a:off x="9403615" y="4949122"/>
            <a:ext cx="2127984" cy="705642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s-ES" altLang="ko-KR" sz="14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s-E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s-ES" altLang="ko-KR" sz="14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s-E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  <a:r>
              <a:rPr lang="es-ES" altLang="ko-KR" sz="14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s-E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= </a:t>
            </a:r>
            <a:r>
              <a:rPr lang="es-ES" altLang="ko-KR" sz="14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s-E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s-ES" altLang="ko-KR" sz="14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s-E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)⋅</a:t>
            </a:r>
            <a:r>
              <a:rPr lang="es-ES" altLang="ko-KR" sz="14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</a:t>
            </a:r>
            <a:r>
              <a:rPr lang="es-E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s-ES" altLang="ko-KR" sz="14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Y</a:t>
            </a:r>
            <a:r>
              <a:rPr lang="es-E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∣</a:t>
            </a:r>
            <a:r>
              <a:rPr lang="es-ES" altLang="ko-KR" sz="1400" b="1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X</a:t>
            </a:r>
            <a:r>
              <a:rPr lang="es-E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s-ES" altLang="ko-KR" sz="14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= P(Y)⋅P(X∣Y)</a:t>
            </a: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98F65B9-2E78-8D3C-9DA4-9282A39B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6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2440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50CE2-D24B-F343-00C9-03D3CEB1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F8CC67B-2323-2C53-AF81-B8A645006F0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Underfitting and overfitting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CCE64-4F67-11F2-F1FB-1220D59C33C0}"/>
              </a:ext>
            </a:extLst>
          </p:cNvPr>
          <p:cNvSpPr txBox="1"/>
          <p:nvPr/>
        </p:nvSpPr>
        <p:spPr>
          <a:xfrm>
            <a:off x="577245" y="1203236"/>
            <a:ext cx="11135330" cy="837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머신러닝이란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훈련 데이터를 완벽하게 외우는 것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최적화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, Optimization)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과 새로운 데이터에도 유연하게 대처하는 것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일반화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, Generalization)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사이에서 가장 적절한 타협점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(Sweet Spot)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을 찾는 기교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예술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(art)</a:t>
            </a:r>
            <a:endParaRPr lang="ko-KR" altLang="en-US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FE823E-EAE1-4857-EF59-09168DAE3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068" y="2462063"/>
            <a:ext cx="6818711" cy="3658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CF3C713-FF99-4769-2A9D-BE0344965C3B}"/>
              </a:ext>
            </a:extLst>
          </p:cNvPr>
          <p:cNvSpPr txBox="1"/>
          <p:nvPr/>
        </p:nvSpPr>
        <p:spPr>
          <a:xfrm>
            <a:off x="3562350" y="6218823"/>
            <a:ext cx="31337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Canonical overfitting behavior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30866C-8C9F-84A2-B4D5-B8A987A58A99}"/>
              </a:ext>
            </a:extLst>
          </p:cNvPr>
          <p:cNvSpPr txBox="1"/>
          <p:nvPr/>
        </p:nvSpPr>
        <p:spPr>
          <a:xfrm>
            <a:off x="7941960" y="2819437"/>
            <a:ext cx="3770615" cy="199830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Overfitting </a:t>
            </a:r>
            <a:r>
              <a:rPr lang="ko-KR" altLang="en-US" sz="14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발생</a:t>
            </a:r>
            <a:r>
              <a:rPr lang="en-US" altLang="ko-KR" sz="14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이유</a:t>
            </a:r>
            <a:endParaRPr lang="en-US" altLang="ko-KR" sz="1400" b="1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400" b="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데이터에 노이즈</a:t>
            </a:r>
            <a:r>
              <a:rPr lang="en-US" altLang="ko-KR" sz="14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(Noise)</a:t>
            </a:r>
            <a:r>
              <a:rPr lang="ko-KR" altLang="en-US" sz="14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가 많거나</a:t>
            </a:r>
            <a:r>
              <a:rPr lang="en-US" altLang="ko-KR" sz="14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불확실성</a:t>
            </a:r>
            <a:r>
              <a:rPr lang="en-US" altLang="ko-KR" sz="14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(Uncertainty)</a:t>
            </a:r>
            <a:r>
              <a:rPr lang="ko-KR" altLang="en-US" sz="14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을 포함하거나</a:t>
            </a:r>
            <a:r>
              <a:rPr lang="en-US" altLang="ko-KR" sz="14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4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드문 특성</a:t>
            </a:r>
            <a:r>
              <a:rPr lang="en-US" altLang="ko-KR" sz="14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(Rare features)</a:t>
            </a:r>
            <a:r>
              <a:rPr lang="ko-KR" altLang="en-US" sz="14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이 포함되어 있을 때 발생할 가능성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1FC742AB-C280-69FA-4EA4-8F6E2F6FB0C8}"/>
              </a:ext>
            </a:extLst>
          </p:cNvPr>
          <p:cNvSpPr/>
          <p:nvPr/>
        </p:nvSpPr>
        <p:spPr>
          <a:xfrm>
            <a:off x="4556627" y="5636586"/>
            <a:ext cx="1467374" cy="361862"/>
          </a:xfrm>
          <a:prstGeom prst="borderCallout2">
            <a:avLst>
              <a:gd name="adj1" fmla="val 27173"/>
              <a:gd name="adj2" fmla="val -1409"/>
              <a:gd name="adj3" fmla="val -6167"/>
              <a:gd name="adj4" fmla="val -39213"/>
              <a:gd name="adj5" fmla="val -176610"/>
              <a:gd name="adj6" fmla="val -88186"/>
            </a:avLst>
          </a:prstGeom>
          <a:solidFill>
            <a:schemeClr val="tx1"/>
          </a:solidFill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Sweet Spot</a:t>
            </a:r>
            <a:endParaRPr lang="ko-KR" altLang="en-US" sz="16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EE5BB54-B098-5521-1367-017B5A2F0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7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91934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30A4-5382-86FC-1861-1DD8FA7A7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C55DC9A-C3CE-9CDB-041F-CA2EFEF503F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1. Noisy training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065E2B-089E-2C04-E043-8CA2F6727F73}"/>
              </a:ext>
            </a:extLst>
          </p:cNvPr>
          <p:cNvSpPr txBox="1"/>
          <p:nvPr/>
        </p:nvSpPr>
        <p:spPr>
          <a:xfrm>
            <a:off x="3308985" y="6117794"/>
            <a:ext cx="428934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Some pretty weird MNIST training samples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6D3A752-8342-4E6D-DFCD-39E14865AC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8984" y="2760784"/>
            <a:ext cx="4676775" cy="341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980F269-A92F-74AA-014F-6A77AFE47682}"/>
              </a:ext>
            </a:extLst>
          </p:cNvPr>
          <p:cNvSpPr txBox="1"/>
          <p:nvPr/>
        </p:nvSpPr>
        <p:spPr>
          <a:xfrm>
            <a:off x="3157235" y="2411174"/>
            <a:ext cx="4990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Noisy training data including 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outliers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BADD78-83DF-8E50-79D6-D79EE139D383}"/>
              </a:ext>
            </a:extLst>
          </p:cNvPr>
          <p:cNvSpPr txBox="1"/>
          <p:nvPr/>
        </p:nvSpPr>
        <p:spPr>
          <a:xfrm>
            <a:off x="619124" y="1180763"/>
            <a:ext cx="10963275" cy="1351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</a:pPr>
            <a:r>
              <a:rPr lang="ko-KR" altLang="en-US" sz="14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사람이 봐도 어떤 숫자인지 판별하기 어려운 형체나 기호 등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잘못된 데이터까지 신경망 모델은 노이즈 데이터의 특이한 픽셀 패턴을 학습하는 순간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정상 이미지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테스트 데이터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예측할 때 잘못된 픽셀 특성을 억지로 학습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암기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하여 결과적으로 훈련 오차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(Training loss)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는 계속 줄어들지만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실제 예측 성능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(Generalization performance)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하락하는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Overfitting(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과대적합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현상 발생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261E8A7-5C43-28AA-CDCC-88E896330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8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639503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E3280-481A-BE7E-3A2E-8386D83CE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3232561-F1F5-8573-EC6B-DEA6E6BB162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1. Noisy training data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55C09A13-0DED-5856-EC89-3FA2A35E25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128" y="3529894"/>
            <a:ext cx="8834058" cy="2079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6D942E-4BCD-318A-AE22-49A222CDFC9B}"/>
              </a:ext>
            </a:extLst>
          </p:cNvPr>
          <p:cNvSpPr txBox="1"/>
          <p:nvPr/>
        </p:nvSpPr>
        <p:spPr>
          <a:xfrm>
            <a:off x="2012128" y="5806344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Mislabeled MNIST training samples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ACD702-082C-10C2-0D29-9B029B72BDF1}"/>
              </a:ext>
            </a:extLst>
          </p:cNvPr>
          <p:cNvSpPr txBox="1"/>
          <p:nvPr/>
        </p:nvSpPr>
        <p:spPr>
          <a:xfrm>
            <a:off x="3362423" y="3059668"/>
            <a:ext cx="49905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Noisy training data including 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outliers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B2B1916-B2CC-6B47-13F9-4BD4E3C4D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9</a:t>
            </a:fld>
            <a:endParaRPr lang="en-US" sz="14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2EA238-0819-09B7-2B7B-1CC98D83968D}"/>
              </a:ext>
            </a:extLst>
          </p:cNvPr>
          <p:cNvSpPr txBox="1"/>
          <p:nvPr/>
        </p:nvSpPr>
        <p:spPr>
          <a:xfrm>
            <a:off x="571499" y="1248422"/>
            <a:ext cx="11144856" cy="1531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정상 입력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+ 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잘못된 레이블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(Mislabeled Valid Inputs)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숫자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7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이미지인데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레이블이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또는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 잘못 기재된 경우는 치명적인 모델 결함</a:t>
            </a:r>
            <a:endParaRPr lang="en-US" altLang="ko-KR" sz="160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rtl="0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잘못 학습의 결과로 모델의 결정 경계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(Decision boundary)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 심각하게 뒤틀리며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실제 테스트 환경에서 깨끗한 </a:t>
            </a:r>
            <a:r>
              <a:rPr lang="en-US" altLang="ko-KR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7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이미지를 접했을 때 오답을 출력할 확률이 급격히 높아짐</a:t>
            </a:r>
            <a:endParaRPr lang="en-US" altLang="ko-KR" sz="160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0059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F7C37-7308-86B0-6CF9-912448DDB4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194E4206-A478-59C9-475D-C9F3B6C15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6357" y="2929102"/>
            <a:ext cx="9163050" cy="332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2AC2405C-135F-9A8E-7CF7-C35205F7E0D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Dealing with outliers: </a:t>
            </a:r>
            <a:r>
              <a:rPr lang="en-US" altLang="ko-KR" sz="24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robust fit vs. overfitting</a:t>
            </a:r>
            <a:endParaRPr lang="ko-KR" altLang="en-US" sz="28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3A5582-A4C9-BCD5-1680-49189453C482}"/>
              </a:ext>
            </a:extLst>
          </p:cNvPr>
          <p:cNvSpPr txBox="1"/>
          <p:nvPr/>
        </p:nvSpPr>
        <p:spPr>
          <a:xfrm>
            <a:off x="5271310" y="2929102"/>
            <a:ext cx="1953143" cy="5232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Noisy training data including </a:t>
            </a:r>
            <a:r>
              <a:rPr lang="en-US" altLang="ko-KR" sz="14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outliers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DF379-740E-DB28-5172-AF8FDDB630C0}"/>
              </a:ext>
            </a:extLst>
          </p:cNvPr>
          <p:cNvSpPr txBox="1"/>
          <p:nvPr/>
        </p:nvSpPr>
        <p:spPr>
          <a:xfrm>
            <a:off x="2800351" y="2590548"/>
            <a:ext cx="3048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일반화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(Generalization)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810391-C445-966D-1E20-46274D826D64}"/>
              </a:ext>
            </a:extLst>
          </p:cNvPr>
          <p:cNvSpPr txBox="1"/>
          <p:nvPr/>
        </p:nvSpPr>
        <p:spPr>
          <a:xfrm>
            <a:off x="7448550" y="2590548"/>
            <a:ext cx="24860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과대적합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(Overfitting) 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6A573B-8203-1B84-7FAD-A3F87CFF863B}"/>
              </a:ext>
            </a:extLst>
          </p:cNvPr>
          <p:cNvSpPr txBox="1"/>
          <p:nvPr/>
        </p:nvSpPr>
        <p:spPr>
          <a:xfrm>
            <a:off x="571498" y="1191272"/>
            <a:ext cx="11144252" cy="1028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이상치가 없다면 모델은 양성과 음성을 매끄럽고 연속적인 결정 경계(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Decision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Boundary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형성하지만 잘못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라벨링된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데이터를 억지로 맞추려 시도하면, 결정 경계가 그 단 하나의 오류 데이터 포인트를 감싸기 위해 구부러지게 학습하게 되어 새로운 데이터 정상 샘플을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오분류하여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일반화 오류(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Generalization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Error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)로 직결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1C839F6-E12F-007C-7D60-7DE5F1EA4F75}"/>
              </a:ext>
            </a:extLst>
          </p:cNvPr>
          <p:cNvSpPr/>
          <p:nvPr/>
        </p:nvSpPr>
        <p:spPr>
          <a:xfrm>
            <a:off x="3912871" y="4104774"/>
            <a:ext cx="430529" cy="41007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8E3449C-1B20-4A6F-58CC-3A2962EB15CF}"/>
              </a:ext>
            </a:extLst>
          </p:cNvPr>
          <p:cNvSpPr/>
          <p:nvPr/>
        </p:nvSpPr>
        <p:spPr>
          <a:xfrm>
            <a:off x="4351021" y="5257299"/>
            <a:ext cx="430529" cy="41007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CCA93A18-0496-60B0-12B5-716B36E4106B}"/>
              </a:ext>
            </a:extLst>
          </p:cNvPr>
          <p:cNvSpPr/>
          <p:nvPr/>
        </p:nvSpPr>
        <p:spPr>
          <a:xfrm>
            <a:off x="9027796" y="4104774"/>
            <a:ext cx="430529" cy="41007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8DF6D9F-EB73-3FEF-BC6C-D173BE4A84A1}"/>
              </a:ext>
            </a:extLst>
          </p:cNvPr>
          <p:cNvSpPr/>
          <p:nvPr/>
        </p:nvSpPr>
        <p:spPr>
          <a:xfrm>
            <a:off x="9465946" y="5257299"/>
            <a:ext cx="430529" cy="410076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7B5E93B-E659-2C3A-7DD9-A56BC8CBB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10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90004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B379E-4457-C721-784C-025AF4FC2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3E6F5B-9DC9-527D-6A60-6EDEC066AB5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2. Ambiguous features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6A94B4-0FE3-768A-B1F4-2B25881B9FFE}"/>
              </a:ext>
            </a:extLst>
          </p:cNvPr>
          <p:cNvSpPr txBox="1"/>
          <p:nvPr/>
        </p:nvSpPr>
        <p:spPr>
          <a:xfrm>
            <a:off x="1161445" y="6258681"/>
            <a:ext cx="812543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Robust fit vs. overfitting giving an ambiguous area of the feature space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6DDC088-130D-3713-7EC7-C8D88C9AC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1445" y="2714140"/>
            <a:ext cx="9534525" cy="350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1EAC260-C8B3-2FFC-F2A6-61A133A51508}"/>
              </a:ext>
            </a:extLst>
          </p:cNvPr>
          <p:cNvSpPr txBox="1"/>
          <p:nvPr/>
        </p:nvSpPr>
        <p:spPr>
          <a:xfrm>
            <a:off x="557212" y="1237834"/>
            <a:ext cx="11077575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노이즈가 데이터의 오류나 </a:t>
            </a:r>
            <a:r>
              <a:rPr lang="ko-KR" altLang="en-US" sz="16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부정확함때문에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모두 발생하는 것은 아니며</a:t>
            </a:r>
            <a:r>
              <a:rPr lang="en-US" altLang="ko-KR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데이터가 완벽히 깨끗하고 정교하게 </a:t>
            </a:r>
            <a:r>
              <a:rPr lang="ko-KR" altLang="en-US" sz="1600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라벨링되어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있더라도</a:t>
            </a:r>
            <a:r>
              <a:rPr lang="en-US" altLang="ko-KR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문제 자체에 불확실성과 모호함이 내재되어 있다면 이 역시 노이즈로 작용</a:t>
            </a:r>
            <a:endParaRPr lang="en-US" altLang="ko-KR" sz="160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rtl="0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v"/>
            </a:pP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분류 문제에서는 입력 특성 공간</a:t>
            </a:r>
            <a:r>
              <a:rPr lang="en-US" altLang="ko-KR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(feature space)</a:t>
            </a:r>
            <a:r>
              <a:rPr lang="ko-KR" altLang="en-US" sz="160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의 특정 영역이 동시에 여러 클래스에 해당하는 </a:t>
            </a:r>
            <a:r>
              <a:rPr lang="ko-KR" altLang="en-US" sz="16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흔한 경우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65F6FECF-7D9D-73B2-1164-F8D1F76A3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11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542468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B5D085-C2DF-26BC-3EFC-C16752197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704F75E-0DD5-2D3B-E612-32A9217387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3. Rare features and spurious correlations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6487F5-CC48-33F5-6631-7AC6C47433DB}"/>
              </a:ext>
            </a:extLst>
          </p:cNvPr>
          <p:cNvSpPr txBox="1"/>
          <p:nvPr/>
        </p:nvSpPr>
        <p:spPr>
          <a:xfrm>
            <a:off x="571499" y="1289339"/>
            <a:ext cx="11172826" cy="5271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우연히 일어난 일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통계적 노이즈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절대적인 법칙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으로 착각하는 경우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50000"/>
              </a:lnSpc>
            </a:pPr>
            <a:endParaRPr lang="en-US" altLang="ko-KR" sz="1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희소한 데이터의 함정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(Rare Feature Values)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성격 나쁜 고양이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마리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 한 번 등장한 단어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체리모야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’ 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데이터의 양이 너무 적으면 편향이 생기게 되며 모델은 주어진 데이터 내에서 무조건 정답을 맞히려고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단 한 번의 우연한 일치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체리모야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=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부정적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체리모야는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무조건 나쁜 뜻이구나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!”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라는 섣부른 결론을 도출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가짜 상관관계와 통계적 노이즈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(Spurious Correlations &amp; Statistical Fluke)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예시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 등장한 단어가 긍정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54% 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부정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46%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비율을 보인 경우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동전을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100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 던지면 정확히 앞면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뒷면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번이 나오기 어렵고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54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46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처럼 약간의 치우침이 생기기 마련이라 인간은 이를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우연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Fluke)”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이라고 생각하지만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수학적 최적화에만 집중하는 모델은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＂4%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의 차이가 있네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?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단어는 긍정적인 단어가 확실해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!＂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라며 의미 없는 차이에 의미를 부여하는 바로 가짜 상관관계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머신러닝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모델에게 데이터를 줄 때는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우연히 그렇게 보인 것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진짜 규칙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구분할 수 있는 장치가 필요하며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이를 막기 위해서 규제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(Regularization)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기법의 적용이 필요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7525BEC-18EE-AE3C-A549-8D289C467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12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736419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FC6CF-00BF-0644-6869-CB04AB31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F91548D-BA44-AD28-9D06-E52B4D3CCC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Homework1_spurious correlations</a:t>
            </a:r>
          </a:p>
        </p:txBody>
      </p:sp>
      <p:pic>
        <p:nvPicPr>
          <p:cNvPr id="10254" name="Picture 14">
            <a:extLst>
              <a:ext uri="{FF2B5EF4-FFF2-40B4-BE49-F238E27FC236}">
                <a16:creationId xmlns:a16="http://schemas.microsoft.com/office/drawing/2014/main" id="{6093A6B7-4C33-C6D8-4F0A-9D918B4029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31" y="1530284"/>
            <a:ext cx="6285549" cy="1446862"/>
          </a:xfrm>
          <a:prstGeom prst="rect">
            <a:avLst/>
          </a:prstGeom>
          <a:noFill/>
          <a:ln w="190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8" name="Picture 18">
            <a:extLst>
              <a:ext uri="{FF2B5EF4-FFF2-40B4-BE49-F238E27FC236}">
                <a16:creationId xmlns:a16="http://schemas.microsoft.com/office/drawing/2014/main" id="{CCFA25F7-30C9-174B-87D9-8CCF12C465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29" y="4799826"/>
            <a:ext cx="6285549" cy="1446862"/>
          </a:xfrm>
          <a:prstGeom prst="rect">
            <a:avLst/>
          </a:prstGeom>
          <a:noFill/>
          <a:ln w="19050">
            <a:solidFill>
              <a:schemeClr val="accent5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04FEE66-EE1D-C74E-6511-123884581787}"/>
              </a:ext>
            </a:extLst>
          </p:cNvPr>
          <p:cNvSpPr txBox="1"/>
          <p:nvPr/>
        </p:nvSpPr>
        <p:spPr>
          <a:xfrm>
            <a:off x="7101840" y="3165055"/>
            <a:ext cx="4622800" cy="1351973"/>
          </a:xfrm>
          <a:prstGeom prst="rect">
            <a:avLst/>
          </a:prstGeom>
          <a:noFill/>
          <a:ln w="19050">
            <a:solidFill>
              <a:srgbClr val="D24726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np.random.random((len(train_images),1716) W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noise는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레이블과 아무 관련이 없는 완전히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랜덤한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값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(white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noise)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생성하여 원래 데이터와 합치기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56" name="Picture 16">
            <a:extLst>
              <a:ext uri="{FF2B5EF4-FFF2-40B4-BE49-F238E27FC236}">
                <a16:creationId xmlns:a16="http://schemas.microsoft.com/office/drawing/2014/main" id="{72738D12-FD35-BB63-896F-A97AEC91C2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730" y="3165055"/>
            <a:ext cx="6285549" cy="1446862"/>
          </a:xfrm>
          <a:prstGeom prst="rect">
            <a:avLst/>
          </a:prstGeom>
          <a:noFill/>
          <a:ln w="19050">
            <a:solidFill>
              <a:srgbClr val="D24726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48BB812-FC4E-B2C8-0D3C-0EBCD775003F}"/>
              </a:ext>
            </a:extLst>
          </p:cNvPr>
          <p:cNvSpPr txBox="1"/>
          <p:nvPr/>
        </p:nvSpPr>
        <p:spPr>
          <a:xfrm>
            <a:off x="7101840" y="4799826"/>
            <a:ext cx="4622800" cy="70564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np.zeros((len(train_images), 1716))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Zero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정보를 생성하여 원래데이터와 합치기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CEA543C-6AB9-BBCC-5F4A-1F2FAB041674}"/>
              </a:ext>
            </a:extLst>
          </p:cNvPr>
          <p:cNvSpPr txBox="1"/>
          <p:nvPr/>
        </p:nvSpPr>
        <p:spPr>
          <a:xfrm>
            <a:off x="7101840" y="1530284"/>
            <a:ext cx="4622800" cy="30777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MNIST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원본 이미지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413559AD-0F16-D3D4-A210-07C04C75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13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9083086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A9835-85F3-2213-EEF6-B8147D9496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2A35549-9752-429B-F531-B1D598DC4DA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Homework1_spurious correlations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E884927-57A4-A84A-D36D-D7F951CD3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" y="1884948"/>
            <a:ext cx="548640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4F409DE-C93C-0141-468F-E29C78398B08}"/>
              </a:ext>
            </a:extLst>
          </p:cNvPr>
          <p:cNvSpPr txBox="1"/>
          <p:nvPr/>
        </p:nvSpPr>
        <p:spPr>
          <a:xfrm>
            <a:off x="6289040" y="1884948"/>
            <a:ext cx="5486400" cy="36141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hite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noise는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상관관계(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spurious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correlation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)를 만들어 모델이 이를 학습하여 훈련 데이터에는 잘 맞지만 새로운 검증 데이터에서는 성능이 떨어지는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과적합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overfitting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)이 발생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Zero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feature도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정보는 없지만 항상 일정하므로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분산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0)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모델이 완전히 무시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따라서 의미 없는 특징(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)이 많을수록 일반화 성능은 악화될 수 있으며, 이를 줄이기 위해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Selection이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중요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7C3832C-CA85-1147-A461-4CBC4674C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14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5908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BA47-F551-0425-1F99-E672C4B80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2CB0B0BB-A6A0-4C81-7E67-AF8A2C49C7D5}"/>
              </a:ext>
            </a:extLst>
          </p:cNvPr>
          <p:cNvSpPr/>
          <p:nvPr/>
        </p:nvSpPr>
        <p:spPr>
          <a:xfrm>
            <a:off x="609083" y="3718592"/>
            <a:ext cx="8905875" cy="41525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B7A7319D-DD6F-5656-89F9-76A6B3CA05D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B1BA10-DD1D-FA2F-7007-CD6C48B1C349}"/>
              </a:ext>
            </a:extLst>
          </p:cNvPr>
          <p:cNvSpPr txBox="1"/>
          <p:nvPr/>
        </p:nvSpPr>
        <p:spPr>
          <a:xfrm>
            <a:off x="1047232" y="1698106"/>
            <a:ext cx="9782175" cy="4066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Generalization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: The </a:t>
            </a:r>
            <a:r>
              <a:rPr lang="ko-KR" alt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goal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machine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0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endParaRPr lang="ko-KR" altLang="en-US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Underfitting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overfitting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oisy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Ambiguous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Rare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features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spurious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correlations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The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nature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generalization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deep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The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manifold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hypothesis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Interpolation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source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of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generalization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Why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deep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learning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works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200150" lvl="2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paramount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1836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9405F-10BD-642A-ED53-86715C0B3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CF7CFC9-D6A9-34AE-1DD9-917CF864312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The nature of generalization in deep learning</a:t>
            </a:r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D6A1A613-F908-DF08-70C4-E5E1FD8EF5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344" y="3018404"/>
            <a:ext cx="4328932" cy="347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42" name="Picture 6">
            <a:extLst>
              <a:ext uri="{FF2B5EF4-FFF2-40B4-BE49-F238E27FC236}">
                <a16:creationId xmlns:a16="http://schemas.microsoft.com/office/drawing/2014/main" id="{CCB0697C-BF18-BCA1-7096-180CC40389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3345" y="3018404"/>
            <a:ext cx="4527438" cy="3473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D89F46A-BE7E-D75F-06A5-C84FA5019AAF}"/>
              </a:ext>
            </a:extLst>
          </p:cNvPr>
          <p:cNvSpPr txBox="1"/>
          <p:nvPr/>
        </p:nvSpPr>
        <p:spPr>
          <a:xfrm>
            <a:off x="485804" y="1209655"/>
            <a:ext cx="11401396" cy="1351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딥러닝 모델은 표현능력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(representational power)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만 충분하다면 그 어떤 데이터라도 학습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(fit)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 가능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MNIST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데이터셋의 정답 레이블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(label)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순서를 무작위로 뒤섞은 뒤 모델을 학습시키면 입력 이미지와 뒤섞인 정답 사이에는 아무런 연관 관계가 없음에도 훈련데이터의 정확도가 아주 높음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(Memorize everything)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다만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일반화가 일어날 가능성이 전혀 없기 때문에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검증 손실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(validation loss)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전혀 개선되지 않음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B4BDBD-754C-22AB-6DEA-6BA103A63BD9}"/>
              </a:ext>
            </a:extLst>
          </p:cNvPr>
          <p:cNvSpPr txBox="1"/>
          <p:nvPr/>
        </p:nvSpPr>
        <p:spPr>
          <a:xfrm>
            <a:off x="2374255" y="4755321"/>
            <a:ext cx="345440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sz="11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1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keras.Sequential</a:t>
            </a:r>
            <a:r>
              <a:rPr lang="en-US" altLang="ko-KR" sz="11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 algn="l" latinLnBrk="0">
              <a:buNone/>
            </a:pPr>
            <a:r>
              <a:rPr lang="en-US" altLang="ko-KR" sz="11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[</a:t>
            </a:r>
          </a:p>
          <a:p>
            <a:pPr algn="l" latinLnBrk="0">
              <a:buNone/>
            </a:pPr>
            <a:r>
              <a:rPr lang="en-US" altLang="ko-KR" sz="11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1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(512, activation="</a:t>
            </a:r>
            <a:r>
              <a:rPr lang="en-US" altLang="ko-KR" sz="11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1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 algn="l" latinLnBrk="0">
              <a:buNone/>
            </a:pPr>
            <a:r>
              <a:rPr lang="en-US" altLang="ko-KR" sz="11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lang="en-US" altLang="ko-KR" sz="11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1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100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1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 algn="l">
              <a:buNone/>
            </a:pPr>
            <a:r>
              <a:rPr lang="en-US" altLang="ko-KR" sz="1100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  ]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E80B739-3F92-2F26-2CA2-62648FDCD8AB}"/>
              </a:ext>
            </a:extLst>
          </p:cNvPr>
          <p:cNvSpPr/>
          <p:nvPr/>
        </p:nvSpPr>
        <p:spPr>
          <a:xfrm>
            <a:off x="4409440" y="3018404"/>
            <a:ext cx="1259840" cy="2734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4E756B-D020-83F5-14FE-E01F7EB91BB0}"/>
              </a:ext>
            </a:extLst>
          </p:cNvPr>
          <p:cNvSpPr/>
          <p:nvPr/>
        </p:nvSpPr>
        <p:spPr>
          <a:xfrm>
            <a:off x="9347200" y="3018404"/>
            <a:ext cx="1361440" cy="2734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21CCC89-B889-81A2-B616-B3C650472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16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1384899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78CB2-58AF-781C-5F81-4B1C79705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FD536916-D349-56AA-B32F-82277BB12A1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The nature of generalization in deep learning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DD547C-32D2-0F40-A7CA-20A0B410DACC}"/>
              </a:ext>
            </a:extLst>
          </p:cNvPr>
          <p:cNvSpPr txBox="1"/>
          <p:nvPr/>
        </p:nvSpPr>
        <p:spPr>
          <a:xfrm>
            <a:off x="475645" y="1248422"/>
            <a:ext cx="11218515" cy="148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그렇다면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딥러닝이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가진 기묘하고도 흥미로운 특성인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무엇이든 외워버리는 능력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만능 암기력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, Memorize </a:t>
            </a:r>
            <a:r>
              <a:rPr lang="en-US" altLang="ko-KR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everythings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)＇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왜 실전에서는 데이터를 일반화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(Generalization)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를 할 수 있을까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?</a:t>
            </a:r>
          </a:p>
          <a:p>
            <a:pPr>
              <a:lnSpc>
                <a:spcPct val="150000"/>
              </a:lnSpc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	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딥러닝 모델이 똑똑해서 일반화를 하는 것이 아니라 실제로 데이터 자체에 규칙이 있기 때문에 일반화가 가능한 것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딥러닝 모델 일반화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(generalization)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의 핵심 원리　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　</a:t>
            </a:r>
            <a:r>
              <a:rPr lang="en-US" altLang="ko-KR" sz="1600" b="1" dirty="0">
                <a:latin typeface="Lora" pitchFamily="2" charset="0"/>
              </a:rPr>
              <a:t>Manifold hypothesis</a:t>
            </a:r>
            <a:endParaRPr lang="ko-KR" altLang="en-US" sz="1600" dirty="0"/>
          </a:p>
        </p:txBody>
      </p:sp>
      <p:pic>
        <p:nvPicPr>
          <p:cNvPr id="17410" name="Picture 2">
            <a:extLst>
              <a:ext uri="{FF2B5EF4-FFF2-40B4-BE49-F238E27FC236}">
                <a16:creationId xmlns:a16="http://schemas.microsoft.com/office/drawing/2014/main" id="{5EA31F2B-42EA-CD76-2176-9D6877994F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0410" y="3118936"/>
            <a:ext cx="4217207" cy="31103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3A33BA-0C59-816C-63D9-CA3B0C18B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769" y="3118936"/>
            <a:ext cx="3543344" cy="3110365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92F777D-0CFC-A20A-A27F-D42E2692F7A7}"/>
              </a:ext>
            </a:extLst>
          </p:cNvPr>
          <p:cNvSpPr txBox="1">
            <a:spLocks/>
          </p:cNvSpPr>
          <p:nvPr/>
        </p:nvSpPr>
        <p:spPr>
          <a:xfrm>
            <a:off x="1114393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17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0882249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BD5F5-C4AF-0739-24BA-C8F1D4C4A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001CBBD-742B-8439-582B-25A1E68B9F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Manifold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1C9B22-1A95-035A-0631-7E94024D966B}"/>
              </a:ext>
            </a:extLst>
          </p:cNvPr>
          <p:cNvSpPr txBox="1"/>
          <p:nvPr/>
        </p:nvSpPr>
        <p:spPr>
          <a:xfrm>
            <a:off x="599470" y="1207681"/>
            <a:ext cx="11135330" cy="1162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아래 그림처럼 종이 한 장을 떠올려 보세요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종이는 우리가 살아가는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공간 속에 존재하는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물체로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구부리거나 말거나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구길수 있지만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이러한 변형은 종이 자체의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(Intrinsic 2 dimension)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구조 안에서 일어나니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이 종이가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차원 공간에 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(embedded)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된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차원 </a:t>
            </a:r>
            <a:r>
              <a:rPr lang="ko-KR" altLang="en-US" sz="1600" b="1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(manifold)</a:t>
            </a:r>
            <a:endParaRPr lang="ko-KR" altLang="en-US" sz="1600" b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220" name="Picture 4" descr="3d 렌더링, 빈 페이지가 있는 추상 배경, 모서리가 말린 백서, 스크롤된 문서, 비즈니스 템플릿">
            <a:extLst>
              <a:ext uri="{FF2B5EF4-FFF2-40B4-BE49-F238E27FC236}">
                <a16:creationId xmlns:a16="http://schemas.microsoft.com/office/drawing/2014/main" id="{0091CADD-5F60-3E66-4507-BCB3669910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895" y="3017707"/>
            <a:ext cx="4828656" cy="2716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6FC1E48-A3C7-643D-42AF-6CB23B585005}"/>
              </a:ext>
            </a:extLst>
          </p:cNvPr>
          <p:cNvSpPr txBox="1"/>
          <p:nvPr/>
        </p:nvSpPr>
        <p:spPr>
          <a:xfrm>
            <a:off x="5790680" y="3017707"/>
            <a:ext cx="5944120" cy="275235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외재 차원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(Extrinsic Dimension):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종이가 존재하는 공간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내재 차원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(Intrinsic Dimension):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종이 자체의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(Embedding):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낮은 차원의 구조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종이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더 높은 차원의 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놓여 있음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(Embedded)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(Manifold):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작은 영역에서는 평평한 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유클리드 공간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Locally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Linear)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처럼 보이지만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전체적으로는 구부러질 수 있는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저차원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구조 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데이터가 매우 높은 차원의 공간에 존재하더라도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실제로는 그 안의 훨씬 낮은 차원의 구조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위에 분포할 수 있음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이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구조를 찾아냄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029697-E0DF-9299-4E7A-7D7E49C91C71}"/>
              </a:ext>
            </a:extLst>
          </p:cNvPr>
          <p:cNvSpPr txBox="1"/>
          <p:nvPr/>
        </p:nvSpPr>
        <p:spPr>
          <a:xfrm>
            <a:off x="619760" y="2651760"/>
            <a:ext cx="52116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PythonDataScienceHandbook_05.10-manifold-learning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E0F17E06-E4F2-6FDD-66BB-AD602DFC07B7}"/>
              </a:ext>
            </a:extLst>
          </p:cNvPr>
          <p:cNvSpPr txBox="1">
            <a:spLocks/>
          </p:cNvSpPr>
          <p:nvPr/>
        </p:nvSpPr>
        <p:spPr>
          <a:xfrm>
            <a:off x="1114393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18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442734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1B063-CF9E-AC1F-3D01-FFC79CF1E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389D23-4944-3075-CAF3-A424280476C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Manifold hypothesis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4A9CA8-79D2-4E68-1CD4-50E4607721BE}"/>
              </a:ext>
            </a:extLst>
          </p:cNvPr>
          <p:cNvSpPr txBox="1"/>
          <p:nvPr/>
        </p:nvSpPr>
        <p:spPr>
          <a:xfrm>
            <a:off x="623887" y="3581102"/>
            <a:ext cx="11044238" cy="26984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250000"/>
              </a:lnSpc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울창한 숲을 걷고 있다고 상상하면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처음에는 나무와 수풀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험한 지형 때문에 길이 어디로 이어지는지 알기 어렵다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그러나 높은 곳에 올라 전체를 내려다보면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숲 속의 길들은 무질서하게 흩어져 있는 것이 아니라 능선과 계곡을 따라 연결되어 있습니다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즉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복잡하고 고차원적인 숲 속에서도 실제 사람들이 다니는 길은 훨씬 단순한 저차원의 구조를 이루고 있는 것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(Manifold Hypothesis)</a:t>
            </a:r>
          </a:p>
          <a:p>
            <a:pPr>
              <a:lnSpc>
                <a:spcPct val="250000"/>
              </a:lnSpc>
            </a:pPr>
            <a:endParaRPr lang="en-US" altLang="ko-KR" sz="1400" i="1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250000"/>
              </a:lnSpc>
            </a:pPr>
            <a:r>
              <a:rPr lang="ko-KR" altLang="en-US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지구는 둥글지만 나는</a:t>
            </a:r>
            <a:r>
              <a:rPr lang="en-US" altLang="ko-KR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평평한 공간에 산다</a:t>
            </a:r>
            <a:r>
              <a:rPr lang="en-US" altLang="ko-KR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  <a:r>
              <a:rPr lang="ko-KR" altLang="en-US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400" i="1" dirty="0">
                <a:latin typeface="D2Coding" panose="020B0609020101020101" pitchFamily="49" charset="-127"/>
                <a:ea typeface="D2Coding" panose="020B0609020101020101" pitchFamily="49" charset="-127"/>
              </a:rPr>
              <a:t>! (Manifold)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9C46FE-46FB-AFEC-8B36-255BFA58C1B5}"/>
              </a:ext>
            </a:extLst>
          </p:cNvPr>
          <p:cNvSpPr txBox="1"/>
          <p:nvPr/>
        </p:nvSpPr>
        <p:spPr>
          <a:xfrm>
            <a:off x="623887" y="1218621"/>
            <a:ext cx="10944225" cy="153183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The manifold hypothesis posits that many 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High-dimension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high-dimensional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data sets that occur in the real world actually lie along low-dimensional 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 tooltip="Latent manifol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latent manifolds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 inside that high-dimensional space.(</a:t>
            </a:r>
            <a:r>
              <a:rPr lang="en-US" altLang="ko-KR" sz="1600" dirty="0" err="1">
                <a:solidFill>
                  <a:srgbClr val="76E3FF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wikipedia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: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고차원 데이터 공간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(high-dimensional space)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안에서 실제 데이터는 무작위로 분포하는 것이 아니라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낮은 차원의 </a:t>
            </a:r>
            <a:r>
              <a:rPr lang="ko-KR" altLang="en-US" sz="16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en-US" altLang="ko-KR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(manifold)</a:t>
            </a:r>
            <a:r>
              <a:rPr lang="ko-KR" altLang="en-US" sz="16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위에 집중되어 존재한다는 가설</a:t>
            </a:r>
            <a:endParaRPr lang="ko-KR" altLang="en-US" sz="16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래픽 9" descr="전구">
            <a:extLst>
              <a:ext uri="{FF2B5EF4-FFF2-40B4-BE49-F238E27FC236}">
                <a16:creationId xmlns:a16="http://schemas.microsoft.com/office/drawing/2014/main" id="{E227BD1F-7020-6C27-587F-6826660BB9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3887" y="3089934"/>
            <a:ext cx="648305" cy="648305"/>
          </a:xfrm>
          <a:prstGeom prst="rect">
            <a:avLst/>
          </a:prstGeom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2BADFFD-556B-2E47-1CD8-4D6EC972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19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4745053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F0864-257B-F1EB-4BA7-080A595ABD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C63C85-626C-0508-99F6-663C21361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7AC67D1-6142-B14C-0E9C-8C6BE34FE4B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Interpolation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as a source of generalization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DFCE80-A633-F87A-AABE-6C163E0A2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610" y="1255278"/>
            <a:ext cx="6703566" cy="343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595EAB1-4BD4-7C4F-2CBA-139820632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859" y="3032212"/>
            <a:ext cx="6703566" cy="3437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904500-79F8-D4A9-8022-1F5C721988E3}"/>
              </a:ext>
            </a:extLst>
          </p:cNvPr>
          <p:cNvSpPr txBox="1"/>
          <p:nvPr/>
        </p:nvSpPr>
        <p:spPr>
          <a:xfrm>
            <a:off x="511176" y="4523728"/>
            <a:ext cx="249555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b="0" i="0" strike="noStrike" dirty="0">
                <a:solidFill>
                  <a:srgbClr val="1155CC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Interpolation meaning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02A347E-F6F0-735C-2DF6-AF95CCF13B25}"/>
              </a:ext>
            </a:extLst>
          </p:cNvPr>
          <p:cNvSpPr/>
          <p:nvPr/>
        </p:nvSpPr>
        <p:spPr>
          <a:xfrm>
            <a:off x="3028281" y="1381760"/>
            <a:ext cx="1889832" cy="2016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C42A7903-6428-A7FC-A439-EAEF9D9C4BE2}"/>
              </a:ext>
            </a:extLst>
          </p:cNvPr>
          <p:cNvSpPr/>
          <p:nvPr/>
        </p:nvSpPr>
        <p:spPr>
          <a:xfrm>
            <a:off x="7407602" y="3167740"/>
            <a:ext cx="1870746" cy="200370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C326CB0-E8B5-518E-9FB2-92259C6C5FC3}"/>
              </a:ext>
            </a:extLst>
          </p:cNvPr>
          <p:cNvSpPr/>
          <p:nvPr/>
        </p:nvSpPr>
        <p:spPr>
          <a:xfrm>
            <a:off x="4146769" y="3561892"/>
            <a:ext cx="232191" cy="11506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003D31-841F-2D28-DD4E-2F9498D374A6}"/>
              </a:ext>
            </a:extLst>
          </p:cNvPr>
          <p:cNvSpPr/>
          <p:nvPr/>
        </p:nvSpPr>
        <p:spPr>
          <a:xfrm>
            <a:off x="8443921" y="5365066"/>
            <a:ext cx="273359" cy="1148080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79265A-4268-42E5-0198-4A6F9CAD041F}"/>
              </a:ext>
            </a:extLst>
          </p:cNvPr>
          <p:cNvSpPr txBox="1"/>
          <p:nvPr/>
        </p:nvSpPr>
        <p:spPr>
          <a:xfrm>
            <a:off x="3554940" y="4817027"/>
            <a:ext cx="1339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FF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Linear Interpolation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A63622-79E2-F214-9790-FD3B12F7EA54}"/>
              </a:ext>
            </a:extLst>
          </p:cNvPr>
          <p:cNvSpPr txBox="1"/>
          <p:nvPr/>
        </p:nvSpPr>
        <p:spPr>
          <a:xfrm>
            <a:off x="9041340" y="5946719"/>
            <a:ext cx="1339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Non Linear Interpolation</a:t>
            </a:r>
            <a:endParaRPr lang="ko-KR" altLang="en-US" sz="1400" dirty="0">
              <a:solidFill>
                <a:srgbClr val="00B0F0"/>
              </a:solidFill>
            </a:endParaRPr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279A4045-64C7-4563-65FF-FE0A8D804644}"/>
              </a:ext>
            </a:extLst>
          </p:cNvPr>
          <p:cNvSpPr txBox="1">
            <a:spLocks/>
          </p:cNvSpPr>
          <p:nvPr/>
        </p:nvSpPr>
        <p:spPr>
          <a:xfrm>
            <a:off x="1114393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20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2041181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921B-1E5B-928A-5F5A-1619376D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55DB67C-39CB-57F2-8538-06360A78AD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Interpolation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as a source of generalization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4C140241-4889-CEC8-517E-9ED29490BD61}"/>
              </a:ext>
            </a:extLst>
          </p:cNvPr>
          <p:cNvCxnSpPr>
            <a:cxnSpLocks/>
          </p:cNvCxnSpPr>
          <p:nvPr/>
        </p:nvCxnSpPr>
        <p:spPr>
          <a:xfrm flipH="1">
            <a:off x="2143760" y="5083175"/>
            <a:ext cx="920750" cy="123760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453B543C-F876-4695-B446-C2B55BB410F5}"/>
              </a:ext>
            </a:extLst>
          </p:cNvPr>
          <p:cNvCxnSpPr>
            <a:cxnSpLocks/>
          </p:cNvCxnSpPr>
          <p:nvPr/>
        </p:nvCxnSpPr>
        <p:spPr>
          <a:xfrm>
            <a:off x="3064510" y="5083175"/>
            <a:ext cx="217805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2D4725B4-E332-4534-36BF-58110C0BC194}"/>
              </a:ext>
            </a:extLst>
          </p:cNvPr>
          <p:cNvCxnSpPr>
            <a:cxnSpLocks/>
          </p:cNvCxnSpPr>
          <p:nvPr/>
        </p:nvCxnSpPr>
        <p:spPr>
          <a:xfrm flipV="1">
            <a:off x="3064510" y="3197225"/>
            <a:ext cx="0" cy="188595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연결선: 구부러짐 19">
            <a:extLst>
              <a:ext uri="{FF2B5EF4-FFF2-40B4-BE49-F238E27FC236}">
                <a16:creationId xmlns:a16="http://schemas.microsoft.com/office/drawing/2014/main" id="{6ACCEFD9-4C7E-6601-80AE-650471A262CE}"/>
              </a:ext>
            </a:extLst>
          </p:cNvPr>
          <p:cNvCxnSpPr>
            <a:cxnSpLocks/>
          </p:cNvCxnSpPr>
          <p:nvPr/>
        </p:nvCxnSpPr>
        <p:spPr>
          <a:xfrm flipV="1">
            <a:off x="1584960" y="4754880"/>
            <a:ext cx="3982722" cy="833120"/>
          </a:xfrm>
          <a:prstGeom prst="curvedConnector3">
            <a:avLst>
              <a:gd name="adj1" fmla="val 49490"/>
            </a:avLst>
          </a:prstGeom>
          <a:ln w="19050">
            <a:solidFill>
              <a:schemeClr val="accent6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연결선: 구부러짐 20">
            <a:extLst>
              <a:ext uri="{FF2B5EF4-FFF2-40B4-BE49-F238E27FC236}">
                <a16:creationId xmlns:a16="http://schemas.microsoft.com/office/drawing/2014/main" id="{487C344A-5FE2-9DF1-9F46-61131488942E}"/>
              </a:ext>
            </a:extLst>
          </p:cNvPr>
          <p:cNvCxnSpPr>
            <a:cxnSpLocks/>
          </p:cNvCxnSpPr>
          <p:nvPr/>
        </p:nvCxnSpPr>
        <p:spPr>
          <a:xfrm flipV="1">
            <a:off x="1584960" y="3740474"/>
            <a:ext cx="3738880" cy="1123626"/>
          </a:xfrm>
          <a:prstGeom prst="curvedConnector3">
            <a:avLst>
              <a:gd name="adj1" fmla="val 19837"/>
            </a:avLst>
          </a:prstGeom>
          <a:ln w="19050"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타원 30">
            <a:extLst>
              <a:ext uri="{FF2B5EF4-FFF2-40B4-BE49-F238E27FC236}">
                <a16:creationId xmlns:a16="http://schemas.microsoft.com/office/drawing/2014/main" id="{4C1A02FB-99BE-F572-A56C-576D1E5FB08C}"/>
              </a:ext>
            </a:extLst>
          </p:cNvPr>
          <p:cNvSpPr/>
          <p:nvPr/>
        </p:nvSpPr>
        <p:spPr>
          <a:xfrm>
            <a:off x="1981200" y="4693920"/>
            <a:ext cx="82874" cy="828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타원 31">
            <a:extLst>
              <a:ext uri="{FF2B5EF4-FFF2-40B4-BE49-F238E27FC236}">
                <a16:creationId xmlns:a16="http://schemas.microsoft.com/office/drawing/2014/main" id="{C1023EF7-F690-73DB-C682-0FAC9D6311EE}"/>
              </a:ext>
            </a:extLst>
          </p:cNvPr>
          <p:cNvSpPr/>
          <p:nvPr/>
        </p:nvSpPr>
        <p:spPr>
          <a:xfrm>
            <a:off x="2265680" y="4378960"/>
            <a:ext cx="82874" cy="828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74BCF1B6-48C7-96CC-A0E0-163877FA66AF}"/>
              </a:ext>
            </a:extLst>
          </p:cNvPr>
          <p:cNvSpPr/>
          <p:nvPr/>
        </p:nvSpPr>
        <p:spPr>
          <a:xfrm>
            <a:off x="2733040" y="4003040"/>
            <a:ext cx="82874" cy="828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8ADEE846-C867-E858-4710-2E2457DE93AE}"/>
              </a:ext>
            </a:extLst>
          </p:cNvPr>
          <p:cNvSpPr/>
          <p:nvPr/>
        </p:nvSpPr>
        <p:spPr>
          <a:xfrm>
            <a:off x="3830320" y="4907280"/>
            <a:ext cx="82874" cy="828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>
            <a:extLst>
              <a:ext uri="{FF2B5EF4-FFF2-40B4-BE49-F238E27FC236}">
                <a16:creationId xmlns:a16="http://schemas.microsoft.com/office/drawing/2014/main" id="{BD029958-0FF1-B49C-67FD-924D0DCB9AB5}"/>
              </a:ext>
            </a:extLst>
          </p:cNvPr>
          <p:cNvSpPr/>
          <p:nvPr/>
        </p:nvSpPr>
        <p:spPr>
          <a:xfrm>
            <a:off x="4704080" y="4734560"/>
            <a:ext cx="82874" cy="828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DA26B00E-42B9-A84C-C314-83375EA6C448}"/>
              </a:ext>
            </a:extLst>
          </p:cNvPr>
          <p:cNvSpPr/>
          <p:nvPr/>
        </p:nvSpPr>
        <p:spPr>
          <a:xfrm>
            <a:off x="5222240" y="4704080"/>
            <a:ext cx="82874" cy="8287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7E6330E2-B2D7-60ED-AC8A-692A4748C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145" y="4506242"/>
            <a:ext cx="845893" cy="96782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31475F4F-CB02-51CD-B157-67BD72C63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4464" y="2793865"/>
            <a:ext cx="815411" cy="1036410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272F4F69-408F-DC68-0167-66894B1FA5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783" y="3435587"/>
            <a:ext cx="845893" cy="100592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F7833B4B-D808-29FA-2CE7-EE5D794C26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0278" y="5407349"/>
            <a:ext cx="853514" cy="967824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FE887946-25E7-25BC-FDBB-3B80737B90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7487" y="5162816"/>
            <a:ext cx="838273" cy="103641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48E46A0-5252-C8B0-9055-E0655A52F393}"/>
              </a:ext>
            </a:extLst>
          </p:cNvPr>
          <p:cNvSpPr txBox="1"/>
          <p:nvPr/>
        </p:nvSpPr>
        <p:spPr>
          <a:xfrm>
            <a:off x="548640" y="1232362"/>
            <a:ext cx="10952480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사진들은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2,914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고차원이지만 이해를 돕기 위해 3차원 공간으로 축소해 표현하면 각각의 점은 얼굴의 회전 각도나 표정에 따라 점과 점 사이를 잇는 부드러운 곡선을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통해 생성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8A337F8-99B7-2035-0AD0-E7AF9C1E14B0}"/>
              </a:ext>
            </a:extLst>
          </p:cNvPr>
          <p:cNvSpPr txBox="1"/>
          <p:nvPr/>
        </p:nvSpPr>
        <p:spPr>
          <a:xfrm>
            <a:off x="5606277" y="3109655"/>
            <a:ext cx="6211215" cy="23214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인공지능의 눈에 비친 세상은 복잡한 사진들의 나열이 아니라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빨간 찰흙 곡선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”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＂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초록 찰흙 곡선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＂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 공간 속에 아름답게 춤추고 있는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형태의 곡선 위에서 데이터를 부드럽게 미끄러지듯 이동시키며 유추하는 것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(Interpolation)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이는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일반화를 달성하는 원리이며 새로운 사진을 보고 어느 곡선에 놓여있을지 유추하여 판단하는 것은 인간의 직관과 비슷함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832A0A3-2CC4-9C04-42B4-A8D9B419338D}"/>
              </a:ext>
            </a:extLst>
          </p:cNvPr>
          <p:cNvSpPr txBox="1"/>
          <p:nvPr/>
        </p:nvSpPr>
        <p:spPr>
          <a:xfrm>
            <a:off x="5606279" y="2771633"/>
            <a:ext cx="6211215" cy="30777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b="0" i="0" dirty="0" err="1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딥러닝의</a:t>
            </a:r>
            <a:r>
              <a:rPr lang="ko-KR" altLang="en-US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직관과 패턴 인식</a:t>
            </a:r>
            <a:r>
              <a:rPr lang="en-US" altLang="ko-KR" sz="1400" b="0" i="0" dirty="0"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(Intuition &amp; Pattern Recognition)</a:t>
            </a:r>
            <a:endParaRPr lang="ko-KR" altLang="en-US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E14F0CC-E8D5-BAC2-DABE-3B25D93F5CD3}"/>
              </a:ext>
            </a:extLst>
          </p:cNvPr>
          <p:cNvSpPr txBox="1">
            <a:spLocks/>
          </p:cNvSpPr>
          <p:nvPr/>
        </p:nvSpPr>
        <p:spPr>
          <a:xfrm>
            <a:off x="1114393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21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1739244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4222C-5861-E6F2-B3B2-6B32BD3D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AEF3D39-50FB-029E-6E6A-D5F71C57507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Why Deep Learning works?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4E9E6D2-025F-F0D4-918B-A84C828F9B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7825" y="1955294"/>
            <a:ext cx="7537696" cy="2138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67F7B7A-1FEB-3E72-691D-BE0145F441C8}"/>
              </a:ext>
            </a:extLst>
          </p:cNvPr>
          <p:cNvSpPr txBox="1"/>
          <p:nvPr/>
        </p:nvSpPr>
        <p:spPr>
          <a:xfrm>
            <a:off x="1534160" y="4329738"/>
            <a:ext cx="293624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rtl="0" fontAlgn="base">
              <a:spcBef>
                <a:spcPts val="1200"/>
              </a:spcBef>
            </a:pPr>
            <a:r>
              <a:rPr lang="ko-KR" altLang="en-US" sz="14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복잡하게 엉킨 데이터 </a:t>
            </a:r>
            <a:r>
              <a:rPr lang="ko-KR" altLang="en-US" sz="1400" b="1" i="0" u="none" strike="noStrike" dirty="0" err="1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endParaRPr lang="en-US" altLang="ko-KR" sz="140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rtl="0" fontAlgn="base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빨간색 면과 파란색 면이 복잡하게 구겨져 섞인 종이 공은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3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차원 공간상에서 단 하나의 직선이나 평면으로는 두 색상을 깔끔하게 분리할 수 없음</a:t>
            </a:r>
            <a:endParaRPr lang="en-US" altLang="ko-KR" sz="1200" b="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CE486D1-15B7-B73B-67E7-DF7FB46810D2}"/>
              </a:ext>
            </a:extLst>
          </p:cNvPr>
          <p:cNvSpPr txBox="1"/>
          <p:nvPr/>
        </p:nvSpPr>
        <p:spPr>
          <a:xfrm>
            <a:off x="4815840" y="4329738"/>
            <a:ext cx="3068318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rtl="0" fontAlgn="base">
              <a:spcBef>
                <a:spcPts val="1200"/>
              </a:spcBef>
            </a:pPr>
            <a:r>
              <a:rPr lang="ko-KR" altLang="en-US" sz="14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딥러닝</a:t>
            </a: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종이 펴기</a:t>
            </a: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(Uncrumpling)</a:t>
            </a:r>
            <a:endParaRPr lang="en-US" altLang="ko-KR" sz="1400" dirty="0">
              <a:solidFill>
                <a:srgbClr val="00000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 rtl="0" fontAlgn="base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딥러닝 신경망의 각 은닉층은 데이터를 단계적으로 회전하고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늘리고</a:t>
            </a:r>
            <a:r>
              <a:rPr lang="en-US" altLang="ko-KR" sz="12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곡면을 연속적으로 변형</a:t>
            </a:r>
            <a:endParaRPr lang="en-US" altLang="ko-KR" sz="1200" b="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F7740E9-C2D1-BB8F-96F7-28124D80915E}"/>
              </a:ext>
            </a:extLst>
          </p:cNvPr>
          <p:cNvSpPr txBox="1"/>
          <p:nvPr/>
        </p:nvSpPr>
        <p:spPr>
          <a:xfrm>
            <a:off x="1833084" y="1465194"/>
            <a:ext cx="8586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Aft>
                <a:spcPts val="1300"/>
              </a:spcAft>
              <a:buNone/>
            </a:pP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구겨진 종이 공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     [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딥러닝 레이어의 변환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    [</a:t>
            </a:r>
            <a:r>
              <a:rPr lang="ko-KR" altLang="en-US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평평하게 펴진 종이</a:t>
            </a:r>
            <a:r>
              <a:rPr lang="en-US" altLang="ko-KR" b="0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284FD33-B570-7B91-7174-AE35FA694B2A}"/>
              </a:ext>
            </a:extLst>
          </p:cNvPr>
          <p:cNvSpPr txBox="1"/>
          <p:nvPr/>
        </p:nvSpPr>
        <p:spPr>
          <a:xfrm>
            <a:off x="8087360" y="4329738"/>
            <a:ext cx="316992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딥러닝</a:t>
            </a:r>
            <a:r>
              <a:rPr lang="en-US" altLang="ko-KR" sz="1400" b="1" i="0" u="none" strike="noStrike" dirty="0">
                <a:solidFill>
                  <a:srgbClr val="000000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얽힘 해제</a:t>
            </a:r>
            <a:r>
              <a:rPr lang="en-US" altLang="ko-KR" sz="1400" b="1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(Disentangling)</a:t>
            </a:r>
          </a:p>
          <a:p>
            <a:pPr marL="285750" indent="-285750" fontAlgn="base">
              <a:spcBef>
                <a:spcPts val="1200"/>
              </a:spcBef>
              <a:buFont typeface="Wingdings" panose="05000000000000000000" pitchFamily="2" charset="2"/>
              <a:buChar char="§"/>
            </a:pP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종이가 완전히 평평하게 펼쳐지면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이제는 아주 단순한 직선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선형 경계선</a:t>
            </a:r>
            <a:r>
              <a:rPr lang="en-US" altLang="ko-KR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200" dirty="0">
                <a:solidFill>
                  <a:srgbClr val="00000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하나만 그어도 빨간색과 파란색 클래스를 완벽하게 분류</a:t>
            </a:r>
            <a:endParaRPr lang="en-US" altLang="ko-KR" sz="1200" b="0" i="0" u="none" strike="noStrike" dirty="0">
              <a:solidFill>
                <a:srgbClr val="000000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5209D3BA-6BCE-AD57-B795-1486ED97069A}"/>
              </a:ext>
            </a:extLst>
          </p:cNvPr>
          <p:cNvCxnSpPr>
            <a:cxnSpLocks/>
          </p:cNvCxnSpPr>
          <p:nvPr/>
        </p:nvCxnSpPr>
        <p:spPr>
          <a:xfrm>
            <a:off x="1188720" y="4329738"/>
            <a:ext cx="10546080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FC3F3D9D-2B91-E2C9-9FBF-C4975E21E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22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0101949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CD20E-7318-3019-C1E6-3355EE6D6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A4953BE-3FAE-969C-3077-8CEA680822B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Locally Linear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757B68B-0990-EAC0-574E-9010E6396A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0876" y="2981940"/>
            <a:ext cx="6083299" cy="331816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54E0AD-D3C1-780E-7298-ED0075A3E1C2}"/>
              </a:ext>
            </a:extLst>
          </p:cNvPr>
          <p:cNvSpPr txBox="1"/>
          <p:nvPr/>
        </p:nvSpPr>
        <p:spPr>
          <a:xfrm>
            <a:off x="475645" y="1243876"/>
            <a:ext cx="11135330" cy="15733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곡선을 확대하면 직선처럼 보이고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지구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(3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 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아주 좁게 보면 평평한 땅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차원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현실 세계의 데이터 공간이 전체적으로는 복잡하게 꼬여 있어도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가까운 유역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국소적 공간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끼리는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수학적으로 다루기 쉬운 단순한 형태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선형 공간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띠고 있음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인공지능이 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Manifold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공간을 미분과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경사하강법을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사용해 길을 찾아낼 수 있음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553775D-E3A5-FC09-632D-04BF01670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23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369409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46645-209A-4E88-7842-8560650B5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D5406D6-C036-E7BB-CC58-F2524B931E3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is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paramount</a:t>
            </a:r>
            <a:endParaRPr lang="en-US" altLang="ko-KR" sz="29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A04F75-8E57-EA69-F38E-40861E1237AE}"/>
              </a:ext>
            </a:extLst>
          </p:cNvPr>
          <p:cNvSpPr txBox="1"/>
          <p:nvPr/>
        </p:nvSpPr>
        <p:spPr>
          <a:xfrm>
            <a:off x="581025" y="1187462"/>
            <a:ext cx="11135330" cy="1229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딥러닝의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일반화는 모델 성능보다 데이터가 보간 가능한 </a:t>
            </a: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매니폴드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구조가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중요</a:t>
            </a:r>
            <a:endParaRPr lang="en-US" altLang="ko-KR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딥러닝은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 본질적으로 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'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곡선 맞춤</a:t>
            </a:r>
            <a:r>
              <a:rPr lang="en-US" altLang="ko-KR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＇</a:t>
            </a: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으로 결정 경계 주변 등의 입력 공간을 데이터로 빽빽하게 채워야 함</a:t>
            </a:r>
            <a:endParaRPr lang="en-US" altLang="ko-KR" sz="1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7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데이터가 충분히 조밀하면 추상적 추론 없이 훈련 데이터 간 보간만으로 새로운 입력을 예측</a:t>
            </a:r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C02A79DB-9A6A-D8A3-0086-23E7899D5E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1746" y="2580641"/>
            <a:ext cx="6888825" cy="4037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AC038BB-6AA2-3254-A703-44CD14A98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24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4292973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EB200-962C-A894-5DBE-DC469B0DD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76316E3-1AFE-3527-0E75-DAFC4CD97E68}"/>
              </a:ext>
            </a:extLst>
          </p:cNvPr>
          <p:cNvSpPr/>
          <p:nvPr/>
        </p:nvSpPr>
        <p:spPr>
          <a:xfrm>
            <a:off x="600075" y="2644806"/>
            <a:ext cx="8905875" cy="6057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25C5925F-A469-08CC-F4B6-9A58331E35F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28C88-59A6-4F4D-4A24-C2ABB4ED9634}"/>
              </a:ext>
            </a:extLst>
          </p:cNvPr>
          <p:cNvSpPr txBox="1"/>
          <p:nvPr/>
        </p:nvSpPr>
        <p:spPr>
          <a:xfrm>
            <a:off x="770571" y="1975516"/>
            <a:ext cx="10832150" cy="2738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Generalization: The goal of machine learning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Evaluation methods for machine learning models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Best practices to improve model fitting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Best practices to achieve better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42720198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97BF1-4DE0-F572-CB9D-DF49FB0EB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1E175F5-ED82-CA73-ECCF-73B7BD2C34D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Training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validation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, and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test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sets</a:t>
            </a:r>
            <a:endParaRPr lang="en-US" altLang="ko-KR" sz="29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CD209EB-3530-8F93-6E37-B7D9BC6E21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725" y="1871117"/>
            <a:ext cx="3782726" cy="222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A0C1FF88-DA77-6F81-179B-927A6FCBCD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5887" y="2981960"/>
            <a:ext cx="7230354" cy="29665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6D28B9-73CE-6EAB-EA0B-FEA6F4705F1F}"/>
              </a:ext>
            </a:extLst>
          </p:cNvPr>
          <p:cNvSpPr txBox="1"/>
          <p:nvPr/>
        </p:nvSpPr>
        <p:spPr>
          <a:xfrm>
            <a:off x="607725" y="1458085"/>
            <a:ext cx="63017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Visualizing cross-validation behavior in scikit-learn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C7616AA5-BAFD-D08E-1824-646EDC73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26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748102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013EF-AF55-4ACE-7657-48B748770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7F22853-2A03-96EA-55CD-096F915A6FAB}"/>
              </a:ext>
            </a:extLst>
          </p:cNvPr>
          <p:cNvSpPr/>
          <p:nvPr/>
        </p:nvSpPr>
        <p:spPr>
          <a:xfrm>
            <a:off x="600075" y="3437286"/>
            <a:ext cx="8905875" cy="6057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2644F0C-8E84-EBE0-5725-F25D584DAAB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BCA2A4-D616-D35D-145D-EBB8C08AFDAF}"/>
              </a:ext>
            </a:extLst>
          </p:cNvPr>
          <p:cNvSpPr txBox="1"/>
          <p:nvPr/>
        </p:nvSpPr>
        <p:spPr>
          <a:xfrm>
            <a:off x="770571" y="1975516"/>
            <a:ext cx="10832150" cy="2738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Generalization: The goal of machine learning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Evaluation methods for machine learning models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Best practices to improve model fitting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Best practices to achieve better generalization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8A7D0FE1-31D2-8662-E00D-05179A59C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27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1168267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0DBCD-804E-B833-B8DA-6B5034927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EFEBFDE-45ED-B7B2-A44E-0BE480B9BF7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Best practices to improve model fitting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69BAB7-BE98-DE0C-2DBD-99E50136E129}"/>
              </a:ext>
            </a:extLst>
          </p:cNvPr>
          <p:cNvSpPr txBox="1"/>
          <p:nvPr/>
        </p:nvSpPr>
        <p:spPr>
          <a:xfrm>
            <a:off x="1930400" y="2270036"/>
            <a:ext cx="7924800" cy="2205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Tuning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key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gradient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descent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Using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better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priors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Increasing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capacity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8C08A94B-8A59-16C8-2445-C8D6E5091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28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4785874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37A47-7006-6240-0CC7-430B023AC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784A097-223D-93F1-EC18-9E1CCA68F6A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Tuning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key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gradient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descent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parameters</a:t>
            </a:r>
            <a:endParaRPr lang="en-US" altLang="ko-KR" sz="29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5C6BEE-2CA3-B136-397F-9A1252683E87}"/>
              </a:ext>
            </a:extLst>
          </p:cNvPr>
          <p:cNvSpPr txBox="1"/>
          <p:nvPr/>
        </p:nvSpPr>
        <p:spPr>
          <a:xfrm>
            <a:off x="9103360" y="5644823"/>
            <a:ext cx="22430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atinLnBrk="0">
              <a:buNone/>
            </a:pPr>
            <a:r>
              <a:rPr lang="en-US" altLang="ko-KR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2217A6-A7DC-F4AF-9573-8FD770747EC8}"/>
              </a:ext>
            </a:extLst>
          </p:cNvPr>
          <p:cNvSpPr txBox="1"/>
          <p:nvPr/>
        </p:nvSpPr>
        <p:spPr>
          <a:xfrm>
            <a:off x="8939648" y="2402562"/>
            <a:ext cx="25704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altLang="ko-KR" b="0" i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learning_rate</a:t>
            </a:r>
            <a:r>
              <a:rPr lang="en-US" altLang="ko-KR" b="0" i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=1e-2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6711380-7869-02E6-2409-6F9717CD2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583" y="2124948"/>
            <a:ext cx="54006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99134B3-D619-7ED8-8516-C9E31E57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29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8037301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7D9D5-46DC-5028-D1E4-9F7453181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8ADD12-2F11-71F2-273B-3C8521659B9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Using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better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architecture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priors</a:t>
            </a:r>
            <a:endParaRPr lang="en-US" altLang="ko-KR" sz="29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8289E3-3252-16E1-29D5-5821E211442E}"/>
              </a:ext>
            </a:extLst>
          </p:cNvPr>
          <p:cNvSpPr txBox="1"/>
          <p:nvPr/>
        </p:nvSpPr>
        <p:spPr>
          <a:xfrm>
            <a:off x="558800" y="1334017"/>
            <a:ext cx="11054080" cy="2958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FNN(Feedforward Neural Network,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완전 연결 신경망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은 모든 입력 노드가 모든 출력 노드와 연결되는 가장 기본적인 구조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FNN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은 데이터의 위치 구조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순서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시간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),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긴 맥락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(Context)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을 이해하는 데 명확한 한계가 존재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FNN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의 치명적인 단점들을 극복하고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특정 형태의 데이터 패턴을 효율적으로 학습하기 위해 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</a:rPr>
              <a:t>CNN, RNN, Transformer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와 같은 전용 아키텍처를 사용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AF276E67-124F-7EF5-BA5D-27DE05A859EE}"/>
              </a:ext>
            </a:extLst>
          </p:cNvPr>
          <p:cNvSpPr txBox="1">
            <a:spLocks/>
          </p:cNvSpPr>
          <p:nvPr/>
        </p:nvSpPr>
        <p:spPr>
          <a:xfrm>
            <a:off x="1114393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sz="1400" b="1" smtClean="0"/>
              <a:pPr/>
              <a:t>30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250719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1413A-C458-9E4A-FF90-0BFA2CD7A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F73C220-721B-0668-6493-AECB73DCD634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Increasing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model</a:t>
            </a:r>
            <a:r>
              <a:rPr lang="ko-KR" altLang="en-US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2900" b="1" cap="none" dirty="0" err="1">
                <a:latin typeface="D2Coding" panose="020B0609020101020101" pitchFamily="49" charset="-127"/>
                <a:ea typeface="D2Coding" panose="020B0609020101020101" pitchFamily="49" charset="-127"/>
              </a:rPr>
              <a:t>capacity</a:t>
            </a:r>
            <a:endParaRPr lang="ko-KR" altLang="en-US" sz="29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A72F646E-7F83-31C5-17C1-F5E18554D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60" y="1940561"/>
            <a:ext cx="3662239" cy="289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CE737740-89D3-0E52-D133-5E8CDF8D2D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891" y="1940561"/>
            <a:ext cx="3662239" cy="289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05C98DB5-7DB9-7BFD-7EE4-F353AF4431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8822" y="1940561"/>
            <a:ext cx="3662239" cy="2892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B13C1D-6836-1D90-DEA4-CEFA4252E78E}"/>
              </a:ext>
            </a:extLst>
          </p:cNvPr>
          <p:cNvSpPr txBox="1"/>
          <p:nvPr/>
        </p:nvSpPr>
        <p:spPr>
          <a:xfrm>
            <a:off x="4402303" y="4791394"/>
            <a:ext cx="3619458" cy="101566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(128, activation="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(128, activation="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F33C8D-3478-CBF0-A1B0-9E050399CC06}"/>
              </a:ext>
            </a:extLst>
          </p:cNvPr>
          <p:cNvSpPr txBox="1"/>
          <p:nvPr/>
        </p:nvSpPr>
        <p:spPr>
          <a:xfrm>
            <a:off x="568958" y="4777108"/>
            <a:ext cx="3535681" cy="28713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6A7370-988B-BFE2-B7B1-53B8AB46EB04}"/>
              </a:ext>
            </a:extLst>
          </p:cNvPr>
          <p:cNvSpPr txBox="1"/>
          <p:nvPr/>
        </p:nvSpPr>
        <p:spPr>
          <a:xfrm>
            <a:off x="8238821" y="4777108"/>
            <a:ext cx="3662239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(2048, activation="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(2048, activation="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(2048, activation="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(10, activation="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softmax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394742E6-4DF2-4F87-5005-159D0F8A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31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0857457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ECD1C-A295-FD19-E1CE-BEB23EEB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AE59BB6-641D-5842-8B74-4946DFE1DAD6}"/>
              </a:ext>
            </a:extLst>
          </p:cNvPr>
          <p:cNvSpPr/>
          <p:nvPr/>
        </p:nvSpPr>
        <p:spPr>
          <a:xfrm>
            <a:off x="600075" y="4148486"/>
            <a:ext cx="8905875" cy="60575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EE6B112-A1FA-8023-6A52-C93FB60F34D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FC715F-F800-E641-BE60-83D6D4113ADD}"/>
              </a:ext>
            </a:extLst>
          </p:cNvPr>
          <p:cNvSpPr txBox="1"/>
          <p:nvPr/>
        </p:nvSpPr>
        <p:spPr>
          <a:xfrm>
            <a:off x="770571" y="1975516"/>
            <a:ext cx="10832150" cy="2738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Generalization: The goal of machine learning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Evaluation methods for machine learning models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Best practices to improve model fitting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Best practices to achieve better generalization</a:t>
            </a:r>
          </a:p>
        </p:txBody>
      </p:sp>
    </p:spTree>
    <p:extLst>
      <p:ext uri="{BB962C8B-B14F-4D97-AF65-F5344CB8AC3E}">
        <p14:creationId xmlns:p14="http://schemas.microsoft.com/office/powerpoint/2010/main" val="3112700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5192C-0C9C-652D-ABE6-591144E18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76AC355-2D33-FAA0-56AC-5AA3BC5E16A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Best practices to achieve better generalization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FC5F8F-F257-CEB1-7B05-22E69D02E344}"/>
              </a:ext>
            </a:extLst>
          </p:cNvPr>
          <p:cNvSpPr txBox="1"/>
          <p:nvPr/>
        </p:nvSpPr>
        <p:spPr>
          <a:xfrm>
            <a:off x="1950720" y="1731556"/>
            <a:ext cx="7924800" cy="36460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Dataset curation</a:t>
            </a:r>
            <a:endParaRPr lang="ko-KR" altLang="en-US" sz="2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Feature engineering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Using early stopping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400" dirty="0">
                <a:latin typeface="D2Coding" panose="020B0609020101020101" pitchFamily="49" charset="-127"/>
                <a:ea typeface="D2Coding" panose="020B0609020101020101" pitchFamily="49" charset="-127"/>
              </a:rPr>
              <a:t> Regularizing your model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Reducing the network’s size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Adding weight regularization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Adding dropout</a:t>
            </a:r>
          </a:p>
        </p:txBody>
      </p:sp>
    </p:spTree>
    <p:extLst>
      <p:ext uri="{BB962C8B-B14F-4D97-AF65-F5344CB8AC3E}">
        <p14:creationId xmlns:p14="http://schemas.microsoft.com/office/powerpoint/2010/main" val="3253893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2F795-F763-5312-4C69-D9FCF30C2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144CFE8-62E6-F41E-9DA1-E8C6E97A4C2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Feature Engineering</a:t>
            </a:r>
            <a:endParaRPr lang="ko-KR" altLang="en-US" sz="2900" b="1" cap="none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FEB0963E-3091-0438-4D2F-6C4C93652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245" y="1570972"/>
            <a:ext cx="6017260" cy="4805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09ACC2F0-2782-B5D9-B543-9E655D3C16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34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6475366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6DE873-D77B-AA49-55F1-6DED6B38C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C674F0C-C21E-139C-A5B8-830FE1C218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94979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Reducing the network’s size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2BA367-0B0B-DC06-9A5E-3042210C3278}"/>
              </a:ext>
            </a:extLst>
          </p:cNvPr>
          <p:cNvSpPr txBox="1"/>
          <p:nvPr/>
        </p:nvSpPr>
        <p:spPr>
          <a:xfrm>
            <a:off x="8046890" y="611831"/>
            <a:ext cx="3669465" cy="50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Regularizing your model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+mj-cs"/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5B327F2F-5282-1AD3-F325-E14BDE9661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681" y="2255306"/>
            <a:ext cx="5460100" cy="426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69A7D4BB-BA40-BA9C-36DC-ADF43CDED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6979" y="2255306"/>
            <a:ext cx="5319376" cy="4268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122BC0A-5300-4EF5-438F-6D41EFBDA1A3}"/>
              </a:ext>
            </a:extLst>
          </p:cNvPr>
          <p:cNvSpPr txBox="1"/>
          <p:nvPr/>
        </p:nvSpPr>
        <p:spPr>
          <a:xfrm>
            <a:off x="2358180" y="3433704"/>
            <a:ext cx="3067260" cy="717953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(16, activation="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(16, activation="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(1, activation="sigmoid"),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E39A57-6844-7029-A25C-F3A18C302660}"/>
              </a:ext>
            </a:extLst>
          </p:cNvPr>
          <p:cNvSpPr txBox="1"/>
          <p:nvPr/>
        </p:nvSpPr>
        <p:spPr>
          <a:xfrm>
            <a:off x="3153750" y="4860513"/>
            <a:ext cx="309863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(4, activation="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ts val="1575"/>
              </a:lnSpc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(4, activation="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ts val="1575"/>
              </a:lnSpc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(1, activation="sigmoid"),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8593A4-0C6D-BB72-728F-75E593C3714E}"/>
              </a:ext>
            </a:extLst>
          </p:cNvPr>
          <p:cNvSpPr txBox="1"/>
          <p:nvPr/>
        </p:nvSpPr>
        <p:spPr>
          <a:xfrm>
            <a:off x="7792153" y="3208794"/>
            <a:ext cx="3098630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(512, activation="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ts val="1575"/>
              </a:lnSpc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(512, activation="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ts val="1575"/>
              </a:lnSpc>
            </a:pP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(1, activation="sigmoid"),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40FEB82-1D74-C258-026D-320272390D64}"/>
              </a:ext>
            </a:extLst>
          </p:cNvPr>
          <p:cNvSpPr txBox="1"/>
          <p:nvPr/>
        </p:nvSpPr>
        <p:spPr>
          <a:xfrm>
            <a:off x="8938293" y="5122485"/>
            <a:ext cx="3067260" cy="717953"/>
          </a:xfrm>
          <a:prstGeom prst="rect">
            <a:avLst/>
          </a:prstGeom>
          <a:solidFill>
            <a:schemeClr val="bg1"/>
          </a:solidFill>
          <a:ln w="19050">
            <a:solidFill>
              <a:srgbClr val="FF0000"/>
            </a:solidFill>
            <a:prstDash val="sysDash"/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(16, activation="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(16, activation="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(1, activation="sigmoid"),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6C1249-5478-CEDC-05FD-7E059C94EC44}"/>
              </a:ext>
            </a:extLst>
          </p:cNvPr>
          <p:cNvSpPr txBox="1"/>
          <p:nvPr/>
        </p:nvSpPr>
        <p:spPr>
          <a:xfrm>
            <a:off x="640165" y="1197622"/>
            <a:ext cx="10904154" cy="793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모델 크기 감소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(Reducing the network's size):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신경망의 용량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파라미터 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줄이면 과적합이 시작되는 시점을 늦추고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과적합에 의한 검증 손실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(Validation Loss)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증가 폭을 크게 줄일 수 있음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6F1F6CCA-66BD-3C6D-7155-2DD80D3E9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35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9421473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B1786-7CD7-7BB6-1B66-3BB9EFB58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EE7BD870-1E1C-764A-838F-60D6C1C8433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625027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Adding weight regularization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F1EEE4-3587-8FBA-2F2A-6966D094C785}"/>
              </a:ext>
            </a:extLst>
          </p:cNvPr>
          <p:cNvSpPr txBox="1"/>
          <p:nvPr/>
        </p:nvSpPr>
        <p:spPr>
          <a:xfrm>
            <a:off x="8046890" y="611831"/>
            <a:ext cx="3669465" cy="50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Regularizing your model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+mj-cs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7720AE1-E731-3462-30CA-E457176977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313" y="1884948"/>
            <a:ext cx="581977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17CDFD-7DC7-5D65-231F-815C9F9A8A06}"/>
              </a:ext>
            </a:extLst>
          </p:cNvPr>
          <p:cNvSpPr txBox="1"/>
          <p:nvPr/>
        </p:nvSpPr>
        <p:spPr>
          <a:xfrm>
            <a:off x="6096000" y="3054714"/>
            <a:ext cx="5819775" cy="1528624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keras.Sequential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[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(16,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kernel_regularizer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=l2(0.002), activation="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(16,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kernel_regularizer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=l2(0.002), activation="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(1, activation="sigmoid"),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    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2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7935B0-EC04-2F86-99EB-EB907053DE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75572" y="4708583"/>
            <a:ext cx="4840203" cy="138499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kernel_regularizer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=l2(0.002),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각 레이어의 가중치 제곱합에 0.002를 곱한 값을 손실 함수에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더하면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가중치 값이 너무 커지지 않도록 제약하여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모델이 특정 훈련 데이터의 노이즈에 과도하게 맞추어지는 현상을 막고 일반화 성능을 </a:t>
            </a:r>
            <a:r>
              <a:rPr lang="ko-KR" altLang="en-US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높입</a:t>
            </a:r>
            <a:endParaRPr lang="ko-KR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F7A73DFB-04FE-C871-FB10-6B282C84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36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753248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7DAAA5-E97D-F2CF-A1DA-D22E45B1E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9366C17-A7DC-ABF0-4B05-9E21265382B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4949795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900" b="1" cap="none" dirty="0">
                <a:latin typeface="D2Coding" panose="020B0609020101020101" pitchFamily="49" charset="-127"/>
                <a:ea typeface="D2Coding" panose="020B0609020101020101" pitchFamily="49" charset="-127"/>
              </a:rPr>
              <a:t>Adding dropout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09C4A4-3E51-88CA-C8F9-CB1FB60E3B1B}"/>
              </a:ext>
            </a:extLst>
          </p:cNvPr>
          <p:cNvSpPr txBox="1"/>
          <p:nvPr/>
        </p:nvSpPr>
        <p:spPr>
          <a:xfrm>
            <a:off x="8046890" y="611831"/>
            <a:ext cx="3669465" cy="5067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lnSpc>
                <a:spcPct val="150000"/>
              </a:lnSpc>
            </a:pPr>
            <a:r>
              <a:rPr lang="en-US" altLang="ko-KR" sz="2000" b="1" dirty="0">
                <a:latin typeface="D2Coding" panose="020B0609020101020101" pitchFamily="49" charset="-127"/>
                <a:ea typeface="D2Coding" panose="020B0609020101020101" pitchFamily="49" charset="-127"/>
              </a:rPr>
              <a:t>Regularizing your model 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  <a:cs typeface="+mj-cs"/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A81534D-31BB-AFB4-006C-A6825B5568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298" y="1810694"/>
            <a:ext cx="602932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5277DB9-E8C4-1641-774E-9ECE2A916774}"/>
              </a:ext>
            </a:extLst>
          </p:cNvPr>
          <p:cNvSpPr txBox="1"/>
          <p:nvPr/>
        </p:nvSpPr>
        <p:spPr>
          <a:xfrm>
            <a:off x="6807201" y="1825773"/>
            <a:ext cx="3810000" cy="192860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model =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keras.Sequential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</a:p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[</a:t>
            </a:r>
          </a:p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(16, activation="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layers.Dropout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(0.5),</a:t>
            </a:r>
          </a:p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(16, activation="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relu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"),</a:t>
            </a:r>
          </a:p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layers.Dropout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(0.5),</a:t>
            </a:r>
          </a:p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    </a:t>
            </a:r>
            <a:r>
              <a:rPr lang="en-US" altLang="ko-KR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layers.Dense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(1, activation="sigmoid"),</a:t>
            </a:r>
          </a:p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    ]</a:t>
            </a:r>
          </a:p>
          <a:p>
            <a:pPr>
              <a:lnSpc>
                <a:spcPts val="1575"/>
              </a:lnSpc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6AE14A1-FEA8-DF35-D2F3-60788056D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07200" y="4227212"/>
            <a:ext cx="5039359" cy="1600438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layers.Dropout</a:t>
            </a:r>
            <a:r>
              <a:rPr lang="en-US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(0.5)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ko-KR" sz="1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학습 과정에서 매 </a:t>
            </a:r>
            <a:r>
              <a:rPr lang="ko-KR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에포크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/특성마다 무작위로 일부 노드(뉴런)의 출력을 0으로 만들어 비활성화하는 기법</a:t>
            </a:r>
            <a:r>
              <a:rPr lang="ko-KR" altLang="en-US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으로 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특정 노드 간의 과도한 상호의존성(Co-</a:t>
            </a:r>
            <a:r>
              <a:rPr lang="ko-KR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adaptation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)을 깨뜨려, 모델이 특정 특성에만 의존하지 않고 더 강건한(</a:t>
            </a:r>
            <a:r>
              <a:rPr lang="ko-KR" altLang="ko-KR" sz="1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Robust</a:t>
            </a:r>
            <a:r>
              <a:rPr lang="ko-KR" altLang="ko-KR" sz="1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특징을 학습하도록 강제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F3B82AE3-545F-B94F-8CBB-BA2FE043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393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z="1400" b="1" smtClean="0"/>
              <a:pPr/>
              <a:t>37</a:t>
            </a:fld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64311877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11391</TotalTime>
  <Words>2502</Words>
  <Application>Microsoft Office PowerPoint</Application>
  <PresentationFormat>와이드스크린</PresentationFormat>
  <Paragraphs>294</Paragraphs>
  <Slides>37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5" baseType="lpstr">
      <vt:lpstr>D2Coding</vt:lpstr>
      <vt:lpstr>맑은 고딕</vt:lpstr>
      <vt:lpstr>바탕</vt:lpstr>
      <vt:lpstr>Arial</vt:lpstr>
      <vt:lpstr>Cambria Math</vt:lpstr>
      <vt:lpstr>Lora</vt:lpstr>
      <vt:lpstr>Wingdings</vt:lpstr>
      <vt:lpstr>WelcomeDoc</vt:lpstr>
      <vt:lpstr>Chapter 5  Fundamentals of machine learning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163</cp:revision>
  <dcterms:created xsi:type="dcterms:W3CDTF">2026-04-06T01:00:39Z</dcterms:created>
  <dcterms:modified xsi:type="dcterms:W3CDTF">2026-09-10T05:05:07Z</dcterms:modified>
  <cp:version/>
</cp:coreProperties>
</file>