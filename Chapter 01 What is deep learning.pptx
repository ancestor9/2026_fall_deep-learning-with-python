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8"/>
  </p:notesMasterIdLst>
  <p:handoutMasterIdLst>
    <p:handoutMasterId r:id="rId19"/>
  </p:handoutMasterIdLst>
  <p:sldIdLst>
    <p:sldId id="256" r:id="rId2"/>
    <p:sldId id="1135" r:id="rId3"/>
    <p:sldId id="1144" r:id="rId4"/>
    <p:sldId id="1145" r:id="rId5"/>
    <p:sldId id="1146" r:id="rId6"/>
    <p:sldId id="1147" r:id="rId7"/>
    <p:sldId id="1148" r:id="rId8"/>
    <p:sldId id="1151" r:id="rId9"/>
    <p:sldId id="1152" r:id="rId10"/>
    <p:sldId id="1153" r:id="rId11"/>
    <p:sldId id="1154" r:id="rId12"/>
    <p:sldId id="1155" r:id="rId13"/>
    <p:sldId id="1156" r:id="rId14"/>
    <p:sldId id="1157" r:id="rId15"/>
    <p:sldId id="886" r:id="rId16"/>
    <p:sldId id="968" r:id="rId17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5"/>
            <p14:sldId id="1144"/>
            <p14:sldId id="1145"/>
            <p14:sldId id="1146"/>
            <p14:sldId id="1147"/>
            <p14:sldId id="1148"/>
            <p14:sldId id="1151"/>
            <p14:sldId id="1152"/>
            <p14:sldId id="1153"/>
            <p14:sldId id="1154"/>
            <p14:sldId id="1155"/>
            <p14:sldId id="1156"/>
            <p14:sldId id="1157"/>
            <p14:sldId id="886"/>
            <p14:sldId id="968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-6869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2026-07-02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2026-07-02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2026-07-02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7/2/2026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2026-07-02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6.jpeg"/><Relationship Id="rId4" Type="http://schemas.openxmlformats.org/officeDocument/2006/relationships/image" Target="../media/image15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cestor9/mathematics-for-machine-learning/blob/main/scripts/Introduction_to_deep_learning.ipynb" TargetMode="Externa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658476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1 </a:t>
            </a:r>
            <a:br>
              <a:rPr lang="en-US" altLang="ko-KR" sz="4400" dirty="0">
                <a:solidFill>
                  <a:schemeClr val="bg1"/>
                </a:solidFill>
              </a:rPr>
            </a:b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What is deep learning?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720D6-5AE6-3C71-71A9-7178299E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99687-4C48-8DA7-5F76-6B7712A59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810985-A788-B5F8-19D5-7D75D19399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AB68B-A2BA-07A3-DB75-5B56921FF4A0}"/>
              </a:ext>
            </a:extLst>
          </p:cNvPr>
          <p:cNvSpPr txBox="1"/>
          <p:nvPr/>
        </p:nvSpPr>
        <p:spPr>
          <a:xfrm>
            <a:off x="577530" y="1248422"/>
            <a:ext cx="11233469" cy="367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/>
              <a:t>This chapter covers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High-level definitions of fundamental concepts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A soft introduction to the principles behind machine learning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Deep learning’s rising popularity and future potential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578434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A25A0-07BB-CDBB-0F29-43C26D718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1BC892-601E-1AA8-C846-9F4AAFE73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BA978F-02A6-660E-64AA-E1911BB0D5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Artificial intelligence, machine learning, and deep learning</a:t>
            </a:r>
          </a:p>
        </p:txBody>
      </p:sp>
      <p:pic>
        <p:nvPicPr>
          <p:cNvPr id="10243" name="Picture 3">
            <a:extLst>
              <a:ext uri="{FF2B5EF4-FFF2-40B4-BE49-F238E27FC236}">
                <a16:creationId xmlns:a16="http://schemas.microsoft.com/office/drawing/2014/main" id="{B801C839-C8F2-B5BC-EA50-D55C798B20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4075" y="1790700"/>
            <a:ext cx="6162675" cy="4128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5505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426D2-85D4-AE03-A882-B7FD9ACA0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923616-5C30-181D-22B9-94C61131A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A38A6DE-4286-AFE7-E2C2-C436F0C41B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Human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Learning</a:t>
            </a: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AFF9B58C-FD10-DF61-063F-C751C6A242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4684" y="1235027"/>
            <a:ext cx="11008666" cy="1078842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7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머신러닝이전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시대에는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관측된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데이터에 존재하는 규칙성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(Patterns)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사람이 직접 궁리하고 발견하여 새로운 데이터를 예측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귀납법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B19C5D2-FAB7-0E44-ACB9-91BEA660CB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217" y="2261017"/>
            <a:ext cx="3420004" cy="3715900"/>
          </a:xfrm>
          <a:prstGeom prst="rect">
            <a:avLst/>
          </a:prstGeom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BDDC2668-0086-F8D5-C468-E58B9F7ACD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998" y="2480092"/>
            <a:ext cx="4582787" cy="2210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176D8D7-C21A-E8D5-1910-6945062C3FAF}"/>
              </a:ext>
            </a:extLst>
          </p:cNvPr>
          <p:cNvSpPr txBox="1"/>
          <p:nvPr/>
        </p:nvSpPr>
        <p:spPr>
          <a:xfrm>
            <a:off x="860423" y="4739780"/>
            <a:ext cx="46926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방대하고 정밀한 데이터들을 직접 수년간 궁리하고 계산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귀납법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한 끝에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행성이 원이 아닌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타원 궤도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공전한다는 규칙성을 발견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5CFB43-5663-207B-3E34-79187FA10DBD}"/>
              </a:ext>
            </a:extLst>
          </p:cNvPr>
          <p:cNvSpPr txBox="1"/>
          <p:nvPr/>
        </p:nvSpPr>
        <p:spPr>
          <a:xfrm>
            <a:off x="6643410" y="6058772"/>
            <a:ext cx="43103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변광성의 밝기가 변하는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주기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와 실제 별의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밝기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광도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)'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사이에 일정한 선형적 관계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패턴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발견</a:t>
            </a:r>
          </a:p>
        </p:txBody>
      </p:sp>
    </p:spTree>
    <p:extLst>
      <p:ext uri="{BB962C8B-B14F-4D97-AF65-F5344CB8AC3E}">
        <p14:creationId xmlns:p14="http://schemas.microsoft.com/office/powerpoint/2010/main" val="32183608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E568E-BB0A-E6FA-390F-635191070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667B48-5B62-68A0-1660-CFDEA5415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DA588E4-0C77-11C8-5DC4-F3AE9EF788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Machine learning</a:t>
            </a: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DF79BB0-8C4E-75A8-16FB-575DD52DA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178" y="1205031"/>
            <a:ext cx="10994697" cy="1095136"/>
          </a:xfrm>
        </p:spPr>
        <p:txBody>
          <a:bodyPr>
            <a:no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과거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데이터에 존재하는 규칙성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(Patterns)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을 컴퓨터가 발견하게 하여 새로운 데이터를 예측하는 것이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Machine Learning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(New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Paradigm)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258FA0E-9FDA-466C-DCDA-6597BD3EB266}"/>
              </a:ext>
            </a:extLst>
          </p:cNvPr>
          <p:cNvSpPr/>
          <p:nvPr/>
        </p:nvSpPr>
        <p:spPr>
          <a:xfrm>
            <a:off x="4493260" y="2801652"/>
            <a:ext cx="2641600" cy="1188720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Classical </a:t>
            </a:r>
          </a:p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Programming</a:t>
            </a:r>
            <a:endParaRPr lang="ko-KR" altLang="en-US" sz="2000" b="1" dirty="0">
              <a:solidFill>
                <a:schemeClr val="bg1"/>
              </a:solidFill>
              <a:ea typeface="+mj-ea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9025B06-D182-E458-A003-7F7BCF54DBDC}"/>
              </a:ext>
            </a:extLst>
          </p:cNvPr>
          <p:cNvSpPr/>
          <p:nvPr/>
        </p:nvSpPr>
        <p:spPr>
          <a:xfrm>
            <a:off x="4493260" y="4895247"/>
            <a:ext cx="2641600" cy="1188720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Machine </a:t>
            </a:r>
          </a:p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Learning</a:t>
            </a:r>
            <a:endParaRPr lang="ko-KR" altLang="en-US" sz="2000" b="1" dirty="0">
              <a:solidFill>
                <a:schemeClr val="bg1"/>
              </a:solidFill>
              <a:ea typeface="+mj-ea"/>
            </a:endParaRPr>
          </a:p>
        </p:txBody>
      </p:sp>
      <p:pic>
        <p:nvPicPr>
          <p:cNvPr id="7" name="그래픽 6" descr="줄 화살표: 일자형">
            <a:extLst>
              <a:ext uri="{FF2B5EF4-FFF2-40B4-BE49-F238E27FC236}">
                <a16:creationId xmlns:a16="http://schemas.microsoft.com/office/drawing/2014/main" id="{448E59A9-68FA-27B1-76D7-97617018F3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474401" y="2781332"/>
            <a:ext cx="701040" cy="701040"/>
          </a:xfrm>
          <a:prstGeom prst="rect">
            <a:avLst/>
          </a:prstGeom>
        </p:spPr>
      </p:pic>
      <p:pic>
        <p:nvPicPr>
          <p:cNvPr id="8" name="그래픽 7" descr="줄 화살표: 일자형">
            <a:extLst>
              <a:ext uri="{FF2B5EF4-FFF2-40B4-BE49-F238E27FC236}">
                <a16:creationId xmlns:a16="http://schemas.microsoft.com/office/drawing/2014/main" id="{2AED7377-6C03-4D01-FD8C-FEF2C6D66E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474401" y="3350293"/>
            <a:ext cx="701040" cy="701040"/>
          </a:xfrm>
          <a:prstGeom prst="rect">
            <a:avLst/>
          </a:prstGeom>
        </p:spPr>
      </p:pic>
      <p:pic>
        <p:nvPicPr>
          <p:cNvPr id="9" name="그래픽 8" descr="줄 화살표: 일자형">
            <a:extLst>
              <a:ext uri="{FF2B5EF4-FFF2-40B4-BE49-F238E27FC236}">
                <a16:creationId xmlns:a16="http://schemas.microsoft.com/office/drawing/2014/main" id="{752F3FC0-D3D6-56F0-D0BB-F2379AD716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7452679" y="3011942"/>
            <a:ext cx="701040" cy="70104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0FC5F58-87CD-EE87-CE40-AB4F327DB95D}"/>
              </a:ext>
            </a:extLst>
          </p:cNvPr>
          <p:cNvSpPr txBox="1"/>
          <p:nvPr/>
        </p:nvSpPr>
        <p:spPr>
          <a:xfrm>
            <a:off x="2276483" y="2881147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>
                <a:ea typeface="+mj-ea"/>
              </a:rPr>
              <a:t>Rules</a:t>
            </a:r>
            <a:endParaRPr lang="ko-KR" altLang="en-US" sz="2000" b="1" dirty="0">
              <a:ea typeface="+mj-ea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1418DB-21BB-27C7-FE02-452F97B07BF7}"/>
              </a:ext>
            </a:extLst>
          </p:cNvPr>
          <p:cNvSpPr txBox="1"/>
          <p:nvPr/>
        </p:nvSpPr>
        <p:spPr>
          <a:xfrm>
            <a:off x="2276483" y="3519441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Data</a:t>
            </a:r>
            <a:endParaRPr lang="ko-KR" altLang="en-US" sz="2000" dirty="0">
              <a:ea typeface="+mj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CFA8856-DB79-EEF2-9635-1C0F41308272}"/>
              </a:ext>
            </a:extLst>
          </p:cNvPr>
          <p:cNvSpPr txBox="1"/>
          <p:nvPr/>
        </p:nvSpPr>
        <p:spPr>
          <a:xfrm>
            <a:off x="8459000" y="3136935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Answer</a:t>
            </a:r>
            <a:endParaRPr lang="ko-KR" altLang="en-US" sz="2000" dirty="0">
              <a:ea typeface="+mj-ea"/>
            </a:endParaRPr>
          </a:p>
        </p:txBody>
      </p:sp>
      <p:pic>
        <p:nvPicPr>
          <p:cNvPr id="13" name="그래픽 12" descr="줄 화살표: 일자형">
            <a:extLst>
              <a:ext uri="{FF2B5EF4-FFF2-40B4-BE49-F238E27FC236}">
                <a16:creationId xmlns:a16="http://schemas.microsoft.com/office/drawing/2014/main" id="{1019C5EE-FD17-6B4D-0F52-361499B78B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474401" y="4864767"/>
            <a:ext cx="701040" cy="701040"/>
          </a:xfrm>
          <a:prstGeom prst="rect">
            <a:avLst/>
          </a:prstGeom>
        </p:spPr>
      </p:pic>
      <p:pic>
        <p:nvPicPr>
          <p:cNvPr id="14" name="그래픽 13" descr="줄 화살표: 일자형">
            <a:extLst>
              <a:ext uri="{FF2B5EF4-FFF2-40B4-BE49-F238E27FC236}">
                <a16:creationId xmlns:a16="http://schemas.microsoft.com/office/drawing/2014/main" id="{11335CAF-097D-AE4D-2DF1-8F816B5C09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474401" y="5433728"/>
            <a:ext cx="701040" cy="701040"/>
          </a:xfrm>
          <a:prstGeom prst="rect">
            <a:avLst/>
          </a:prstGeom>
        </p:spPr>
      </p:pic>
      <p:pic>
        <p:nvPicPr>
          <p:cNvPr id="15" name="그래픽 14" descr="줄 화살표: 일자형">
            <a:extLst>
              <a:ext uri="{FF2B5EF4-FFF2-40B4-BE49-F238E27FC236}">
                <a16:creationId xmlns:a16="http://schemas.microsoft.com/office/drawing/2014/main" id="{46643B84-B32E-3075-561E-CCD80BB0C1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7452679" y="5095377"/>
            <a:ext cx="701040" cy="70104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28CF443-CFD8-B6C1-EF54-AC3EE00A518A}"/>
              </a:ext>
            </a:extLst>
          </p:cNvPr>
          <p:cNvSpPr txBox="1"/>
          <p:nvPr/>
        </p:nvSpPr>
        <p:spPr>
          <a:xfrm>
            <a:off x="2276483" y="4964582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/>
              <a:t>Answer</a:t>
            </a:r>
            <a:endParaRPr lang="ko-KR" altLang="en-US" sz="2000" dirty="0">
              <a:ea typeface="+mj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DBBD5A4-956B-214C-B83E-CBBF915228BC}"/>
              </a:ext>
            </a:extLst>
          </p:cNvPr>
          <p:cNvSpPr txBox="1"/>
          <p:nvPr/>
        </p:nvSpPr>
        <p:spPr>
          <a:xfrm>
            <a:off x="2276483" y="5602876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Data</a:t>
            </a:r>
            <a:endParaRPr lang="ko-KR" altLang="en-US" sz="2000" dirty="0">
              <a:ea typeface="+mj-e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0C9BEB-63F1-1784-86E7-092301503EEA}"/>
              </a:ext>
            </a:extLst>
          </p:cNvPr>
          <p:cNvSpPr txBox="1"/>
          <p:nvPr/>
        </p:nvSpPr>
        <p:spPr>
          <a:xfrm>
            <a:off x="8459000" y="5220370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>
                <a:ea typeface="+mj-ea"/>
              </a:rPr>
              <a:t>Rules</a:t>
            </a:r>
            <a:endParaRPr lang="ko-KR" altLang="en-US" sz="2000" b="1" dirty="0"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7438360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DC73B-DA8F-7135-751E-12C7FA336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0BDC9-6B93-B4D5-318A-B7AD75127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79BEF9F-C89A-FF1C-CDCF-39304765EC9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Learning rules and representations from data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869C5BA-B2A4-F8C8-BD8C-F3D7987E61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2550" y="2280915"/>
            <a:ext cx="8972550" cy="28868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11490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C13F2-8668-AE3A-6ABA-2DAD4B9C7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63BA93-9D23-6055-742F-5C9FACCA0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36D7C3F-0958-72ED-0E18-92DBC7F919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“deep” in “deep learning”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EAEBCE4-17A1-7AC2-6506-14B44C74B3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4475" y="1971675"/>
            <a:ext cx="9163050" cy="3771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3B29F08-AA8D-55AC-F7EA-26651F498F62}"/>
              </a:ext>
            </a:extLst>
          </p:cNvPr>
          <p:cNvSpPr txBox="1"/>
          <p:nvPr/>
        </p:nvSpPr>
        <p:spPr>
          <a:xfrm>
            <a:off x="3419475" y="5851595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Lora" pitchFamily="2" charset="0"/>
              </a:rPr>
              <a:t>A deep neural network for digit classification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278244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D5C2E-10E7-67CB-3013-DED5C43E4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DEB258-1F01-FC99-8329-AFE06527E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4F084D6-18A1-153D-862F-ED6EC68EAD3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“deep” in “deep learning”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D9FBB96C-ECAC-A443-7DCD-E28FF8D01A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6462" y="1643113"/>
            <a:ext cx="7839075" cy="4393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A3E35C-2BAF-2A90-DD05-73180F7D0140}"/>
              </a:ext>
            </a:extLst>
          </p:cNvPr>
          <p:cNvSpPr txBox="1"/>
          <p:nvPr/>
        </p:nvSpPr>
        <p:spPr>
          <a:xfrm>
            <a:off x="2176462" y="6061620"/>
            <a:ext cx="76676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>
                <a:effectLst/>
                <a:latin typeface="Lora" pitchFamily="2" charset="0"/>
              </a:rPr>
              <a:t>Deep representations learned by a digit-classification model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1651413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7AEE5-CF3A-70A3-3CF6-4EA3730AA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AA737A-6975-7836-713E-9E88A5E9A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78C8CAD-7125-8703-ACBF-A297B5F163A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Understanding how deep learning works, in three figures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C7FC4584-B934-37D2-5DC3-5988E2CBB3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4038" y="1266825"/>
            <a:ext cx="8543925" cy="4324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F017EC-7466-CCCB-E4D1-CDF983C71985}"/>
              </a:ext>
            </a:extLst>
          </p:cNvPr>
          <p:cNvSpPr txBox="1"/>
          <p:nvPr/>
        </p:nvSpPr>
        <p:spPr>
          <a:xfrm>
            <a:off x="1824038" y="576845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Lora" pitchFamily="2" charset="0"/>
              </a:rPr>
              <a:t>A neural network is parameterized by its weights.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821698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B9D89-8434-43BA-568A-47F8A4E4F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1CBDF9-E052-60DD-FBF7-089E783DF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66C4D9E-E6F1-70A8-30DA-44D2A14E22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Understanding how deep learning works, in three figures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69D935F2-5BB9-DBDF-B7AF-2F5F97219C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064" y="1426161"/>
            <a:ext cx="555729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9463587-7A94-4ACA-6C8B-CD4BA0436AC8}"/>
              </a:ext>
            </a:extLst>
          </p:cNvPr>
          <p:cNvSpPr txBox="1"/>
          <p:nvPr/>
        </p:nvSpPr>
        <p:spPr>
          <a:xfrm>
            <a:off x="1643064" y="6175900"/>
            <a:ext cx="70485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>
                <a:effectLst/>
                <a:latin typeface="Lora" pitchFamily="2" charset="0"/>
              </a:rPr>
              <a:t>A loss function measures the quality of the network’s output.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1762535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E1DD8-7D2E-2445-5883-73541B9CA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369190-8194-BF12-D1BE-CA5F38D3C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B354A89-222A-434D-5565-41CBBB9BDD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Understanding how deep learning works, in three figures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B0C4D2-7A82-27CE-267E-D01376996FCC}"/>
              </a:ext>
            </a:extLst>
          </p:cNvPr>
          <p:cNvSpPr txBox="1"/>
          <p:nvPr/>
        </p:nvSpPr>
        <p:spPr>
          <a:xfrm>
            <a:off x="1643064" y="6175900"/>
            <a:ext cx="70485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/>
              <a:t>The loss score is used as a feedback signal to adjust the weights.</a:t>
            </a:r>
            <a:endParaRPr lang="ko-KR" altLang="en-US" sz="1400" dirty="0"/>
          </a:p>
        </p:txBody>
      </p:sp>
      <p:pic>
        <p:nvPicPr>
          <p:cNvPr id="9220" name="Picture 4">
            <a:extLst>
              <a:ext uri="{FF2B5EF4-FFF2-40B4-BE49-F238E27FC236}">
                <a16:creationId xmlns:a16="http://schemas.microsoft.com/office/drawing/2014/main" id="{B6F2DA4F-9641-F1A2-276A-0EB0143BD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064" y="1565800"/>
            <a:ext cx="5819307" cy="4470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77955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99B2-8D9B-F35C-4502-A2DBBC902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FA686E-3F83-7B0B-9FE6-AD5614324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9E47B6C-D78D-7851-CBB7-E4EC876E98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makes deep learning different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218012-12CA-9338-6888-FE70A06E1427}"/>
              </a:ext>
            </a:extLst>
          </p:cNvPr>
          <p:cNvSpPr txBox="1"/>
          <p:nvPr/>
        </p:nvSpPr>
        <p:spPr>
          <a:xfrm>
            <a:off x="685799" y="1510755"/>
            <a:ext cx="10906125" cy="4814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0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Simplicity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make problem solving much easier, because it automates what used to be the most crucial step in a machine learning workflow: feature engineering. 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completely automate </a:t>
            </a:r>
            <a:r>
              <a:rPr lang="en-US" altLang="ko-KR" sz="1400" i="1" dirty="0">
                <a:latin typeface="D2Coding" panose="020B0609020101020101" pitchFamily="49" charset="-127"/>
                <a:ea typeface="D2Coding" panose="020B0609020101020101" pitchFamily="49" charset="-127"/>
              </a:rPr>
              <a:t>feature engineering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step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which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has greatly simplified machine learning workflows, often replacing sophisticated multistage pipelines with a single, simple, end-to-end deep learning model.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0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Scalability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 be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highly amenable to parallelization on GPUs or more specialized machine learning hardware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0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Versatility and reusability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 be trained on additional data without restarting from scratch, making them viable for continuous online learning — an important property for very large production models. 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 be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repurposable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and thus reusable: this is the big idea behind “foundation models” — large models trained on humongous amounts of data, which can be used across many new tasks with little retraining, or even none at all.</a:t>
            </a:r>
          </a:p>
        </p:txBody>
      </p:sp>
    </p:spTree>
    <p:extLst>
      <p:ext uri="{BB962C8B-B14F-4D97-AF65-F5344CB8AC3E}">
        <p14:creationId xmlns:p14="http://schemas.microsoft.com/office/powerpoint/2010/main" val="6056222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51C36-DFCC-1F21-3F73-E9017DC24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56DE1C-385C-23A2-1AD4-1ED2CD9C7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B99B9EE-E51F-F7F0-DB6A-FE9336215B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age of generative AI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A66795-441C-DA25-A0FE-0CDFDAC05B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53974" y="1776173"/>
            <a:ext cx="3458583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2026</a:t>
            </a:r>
            <a:r>
              <a:rPr kumimoji="0" lang="ko-KR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년 </a:t>
            </a: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AI Agent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0BD82568-4AA0-ED49-F6F9-A7FA87B991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062" y="2639368"/>
            <a:ext cx="4775721" cy="29885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F99CC8F5-6B7E-15D7-1845-78AC1AA9ED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3867" y="1776173"/>
            <a:ext cx="3458583" cy="3539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2025</a:t>
            </a:r>
            <a:r>
              <a:rPr kumimoji="0" lang="ko-KR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년 생성형 </a:t>
            </a:r>
            <a:r>
              <a:rPr kumimoji="0" lang="en-US" altLang="ko-K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</a:p>
        </p:txBody>
      </p:sp>
      <p:pic>
        <p:nvPicPr>
          <p:cNvPr id="8" name="그래픽 7" descr="조금 굽은 화살표">
            <a:extLst>
              <a:ext uri="{FF2B5EF4-FFF2-40B4-BE49-F238E27FC236}">
                <a16:creationId xmlns:a16="http://schemas.microsoft.com/office/drawing/2014/main" id="{8838C9EB-1870-EED6-79A3-BCD8D999D2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62450" y="1248422"/>
            <a:ext cx="1542276" cy="1542276"/>
          </a:xfrm>
          <a:prstGeom prst="rect">
            <a:avLst/>
          </a:prstGeom>
        </p:spPr>
      </p:pic>
      <p:pic>
        <p:nvPicPr>
          <p:cNvPr id="9" name="Picture 2" descr="▲Chatgpt , Gemini 외의 대화형 생성 AI는 생소하다. &quot;한국형 AI&quot;  네이버 Clova X,  카카오 AskUp, 뤼튼 Wrtn도 애정을 가지고 활용해보자..">
            <a:extLst>
              <a:ext uri="{FF2B5EF4-FFF2-40B4-BE49-F238E27FC236}">
                <a16:creationId xmlns:a16="http://schemas.microsoft.com/office/drawing/2014/main" id="{5AA33CF6-E8CA-99D0-5A9B-AD2D0D36E3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336" y="2639368"/>
            <a:ext cx="3504427" cy="2031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71190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A0E59-1EEE-A105-3A9A-1C8D2A752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B998C9-CDCF-99D9-858D-6006B01E2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26C5E8A-DF24-7A23-FCE7-564FE738E5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Home work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4CD214-EF6F-1484-BA2C-3B9CF31EF557}"/>
              </a:ext>
            </a:extLst>
          </p:cNvPr>
          <p:cNvSpPr txBox="1"/>
          <p:nvPr/>
        </p:nvSpPr>
        <p:spPr>
          <a:xfrm>
            <a:off x="591667" y="3405093"/>
            <a:ext cx="97744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accent5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https://github.com/ancestor9/mathematics-for-machine-learning/blob/main/scripts/Introduction_to_deep_learning.ipynb</a:t>
            </a:r>
            <a:endParaRPr lang="ko-KR" altLang="en-US" sz="1400" dirty="0">
              <a:solidFill>
                <a:schemeClr val="accent5"/>
              </a:solidFill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D4B24005-7503-33D0-F6AF-C5B36FFCD7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1667" y="1556402"/>
            <a:ext cx="11008666" cy="1694600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0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실습하고 발표하기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0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기본 코드 및 개념 익히기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514350" lvl="1" indent="-285750">
              <a:lnSpc>
                <a:spcPct val="100000"/>
              </a:lnSpc>
              <a:buClr>
                <a:schemeClr val="tx1"/>
              </a:buClr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Feedforward, Backward,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autograd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stochastic gradient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descent, optimizer, neuron, layer, </a:t>
            </a:r>
            <a:r>
              <a:rPr lang="en-US" altLang="ko-KR" sz="1600">
                <a:latin typeface="D2Coding" panose="020B0609020101020101" pitchFamily="49" charset="-127"/>
                <a:ea typeface="D2Coding" panose="020B0609020101020101" pitchFamily="49" charset="-127"/>
              </a:rPr>
              <a:t>loss function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833536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212533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FCCN : 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 Neural Network (FCNN)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행렬식으로 표현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97431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44439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44439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97431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7005ECD-90F7-F8D9-E7DE-965B532432D2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 flipV="1">
            <a:off x="1464511" y="2624204"/>
            <a:ext cx="286056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DAFA676-AF72-0916-0AAC-6B4B11DF8AD2}"/>
              </a:ext>
            </a:extLst>
          </p:cNvPr>
          <p:cNvCxnSpPr>
            <a:cxnSpLocks/>
            <a:stCxn id="2" idx="6"/>
            <a:endCxn id="7" idx="2"/>
          </p:cNvCxnSpPr>
          <p:nvPr/>
        </p:nvCxnSpPr>
        <p:spPr>
          <a:xfrm>
            <a:off x="1464511" y="3154118"/>
            <a:ext cx="2860563" cy="4177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75D6BC9-B6ED-0D7A-35A1-284A46102C70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>
            <a:off x="1464511" y="3154118"/>
            <a:ext cx="2860563" cy="136539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260C829-F2C5-E49A-1BFB-5BE4D6ADAA75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 flipV="1">
            <a:off x="1464511" y="2624204"/>
            <a:ext cx="2860563" cy="1365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6781E488-706A-B873-E6DD-BEF6151CBE5F}"/>
              </a:ext>
            </a:extLst>
          </p:cNvPr>
          <p:cNvCxnSpPr>
            <a:cxnSpLocks/>
            <a:stCxn id="3" idx="6"/>
            <a:endCxn id="8" idx="2"/>
          </p:cNvCxnSpPr>
          <p:nvPr/>
        </p:nvCxnSpPr>
        <p:spPr>
          <a:xfrm>
            <a:off x="1464511" y="3989597"/>
            <a:ext cx="286056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2140B20F-3D4A-5E1D-9237-5220A9C29E48}"/>
              </a:ext>
            </a:extLst>
          </p:cNvPr>
          <p:cNvCxnSpPr>
            <a:cxnSpLocks/>
            <a:stCxn id="3" idx="6"/>
            <a:endCxn id="7" idx="2"/>
          </p:cNvCxnSpPr>
          <p:nvPr/>
        </p:nvCxnSpPr>
        <p:spPr>
          <a:xfrm flipV="1">
            <a:off x="1464511" y="3571858"/>
            <a:ext cx="2860563" cy="417739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B970888C-91D3-F4D3-A71E-32CD1322FD33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665718" y="2624204"/>
            <a:ext cx="2879531" cy="1669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6" name="직선 연결선 9215">
            <a:extLst>
              <a:ext uri="{FF2B5EF4-FFF2-40B4-BE49-F238E27FC236}">
                <a16:creationId xmlns:a16="http://schemas.microsoft.com/office/drawing/2014/main" id="{0746B69C-144B-848F-E473-03BE6A00EA4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4665718" y="2640895"/>
            <a:ext cx="2879530" cy="6150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8" name="직선 연결선 9217">
            <a:extLst>
              <a:ext uri="{FF2B5EF4-FFF2-40B4-BE49-F238E27FC236}">
                <a16:creationId xmlns:a16="http://schemas.microsoft.com/office/drawing/2014/main" id="{AC5FEAD9-7439-0FA3-8080-211FBEB0FA19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4665718" y="2640895"/>
            <a:ext cx="2887552" cy="124684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27" name="직선 연결선 9226">
            <a:extLst>
              <a:ext uri="{FF2B5EF4-FFF2-40B4-BE49-F238E27FC236}">
                <a16:creationId xmlns:a16="http://schemas.microsoft.com/office/drawing/2014/main" id="{14B5EE2C-DD21-AF7E-08DB-75BF03181C1A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4684685" y="2624204"/>
            <a:ext cx="2868585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0" name="직선 연결선 9229">
            <a:extLst>
              <a:ext uri="{FF2B5EF4-FFF2-40B4-BE49-F238E27FC236}">
                <a16:creationId xmlns:a16="http://schemas.microsoft.com/office/drawing/2014/main" id="{A7E4E79E-E8C7-DC17-23EC-DD0E175492BA}"/>
              </a:ext>
            </a:extLst>
          </p:cNvPr>
          <p:cNvCxnSpPr>
            <a:cxnSpLocks/>
            <a:stCxn id="7" idx="6"/>
            <a:endCxn id="12" idx="2"/>
          </p:cNvCxnSpPr>
          <p:nvPr/>
        </p:nvCxnSpPr>
        <p:spPr>
          <a:xfrm flipV="1">
            <a:off x="4684685" y="2624204"/>
            <a:ext cx="2860564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2" name="직선 연결선 9231">
            <a:extLst>
              <a:ext uri="{FF2B5EF4-FFF2-40B4-BE49-F238E27FC236}">
                <a16:creationId xmlns:a16="http://schemas.microsoft.com/office/drawing/2014/main" id="{C2A752F4-5609-D677-C163-0D94FCC4A02A}"/>
              </a:ext>
            </a:extLst>
          </p:cNvPr>
          <p:cNvCxnSpPr>
            <a:cxnSpLocks/>
            <a:stCxn id="7" idx="6"/>
            <a:endCxn id="9" idx="2"/>
          </p:cNvCxnSpPr>
          <p:nvPr/>
        </p:nvCxnSpPr>
        <p:spPr>
          <a:xfrm flipV="1">
            <a:off x="4684685" y="3255973"/>
            <a:ext cx="2860563" cy="31588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3" name="직선 연결선 9232">
            <a:extLst>
              <a:ext uri="{FF2B5EF4-FFF2-40B4-BE49-F238E27FC236}">
                <a16:creationId xmlns:a16="http://schemas.microsoft.com/office/drawing/2014/main" id="{FDE5058E-9D38-8806-95EF-4646F08D006C}"/>
              </a:ext>
            </a:extLst>
          </p:cNvPr>
          <p:cNvCxnSpPr>
            <a:cxnSpLocks/>
            <a:stCxn id="7" idx="6"/>
            <a:endCxn id="10" idx="2"/>
          </p:cNvCxnSpPr>
          <p:nvPr/>
        </p:nvCxnSpPr>
        <p:spPr>
          <a:xfrm>
            <a:off x="4684685" y="3571858"/>
            <a:ext cx="2868585" cy="3158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4" name="직선 연결선 9233">
            <a:extLst>
              <a:ext uri="{FF2B5EF4-FFF2-40B4-BE49-F238E27FC236}">
                <a16:creationId xmlns:a16="http://schemas.microsoft.com/office/drawing/2014/main" id="{A3CAE824-5655-C703-9F94-23DDF8A1BFAB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>
            <a:off x="4684685" y="3571858"/>
            <a:ext cx="2868585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4" name="직선 연결선 9243">
            <a:extLst>
              <a:ext uri="{FF2B5EF4-FFF2-40B4-BE49-F238E27FC236}">
                <a16:creationId xmlns:a16="http://schemas.microsoft.com/office/drawing/2014/main" id="{087E6F6E-3F1F-FE42-D673-2BA8FC1AC801}"/>
              </a:ext>
            </a:extLst>
          </p:cNvPr>
          <p:cNvCxnSpPr>
            <a:cxnSpLocks/>
            <a:stCxn id="8" idx="6"/>
            <a:endCxn id="12" idx="2"/>
          </p:cNvCxnSpPr>
          <p:nvPr/>
        </p:nvCxnSpPr>
        <p:spPr>
          <a:xfrm flipV="1">
            <a:off x="4684685" y="2624204"/>
            <a:ext cx="2860564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5" name="직선 연결선 9244">
            <a:extLst>
              <a:ext uri="{FF2B5EF4-FFF2-40B4-BE49-F238E27FC236}">
                <a16:creationId xmlns:a16="http://schemas.microsoft.com/office/drawing/2014/main" id="{EFB2D543-D01E-C14E-7DAC-701319F53EE5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263119"/>
            <a:ext cx="2822632" cy="1256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6" name="직선 연결선 9245">
            <a:extLst>
              <a:ext uri="{FF2B5EF4-FFF2-40B4-BE49-F238E27FC236}">
                <a16:creationId xmlns:a16="http://schemas.microsoft.com/office/drawing/2014/main" id="{96C9A1C2-B992-FDA5-3163-757CC1000F66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882105"/>
            <a:ext cx="2842090" cy="6374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7" name="직선 연결선 9246">
            <a:extLst>
              <a:ext uri="{FF2B5EF4-FFF2-40B4-BE49-F238E27FC236}">
                <a16:creationId xmlns:a16="http://schemas.microsoft.com/office/drawing/2014/main" id="{E4844EAC-73FF-A91C-DBF8-C62D7E13A983}"/>
              </a:ext>
            </a:extLst>
          </p:cNvPr>
          <p:cNvCxnSpPr>
            <a:cxnSpLocks/>
            <a:stCxn id="8" idx="6"/>
          </p:cNvCxnSpPr>
          <p:nvPr/>
        </p:nvCxnSpPr>
        <p:spPr>
          <a:xfrm>
            <a:off x="4684685" y="4519512"/>
            <a:ext cx="2842090" cy="2373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56" name="직선 연결선 9255">
            <a:extLst>
              <a:ext uri="{FF2B5EF4-FFF2-40B4-BE49-F238E27FC236}">
                <a16:creationId xmlns:a16="http://schemas.microsoft.com/office/drawing/2014/main" id="{CB643D58-E287-AE6D-0BEF-D4649E64BF96}"/>
              </a:ext>
            </a:extLst>
          </p:cNvPr>
          <p:cNvCxnSpPr>
            <a:cxnSpLocks/>
            <a:stCxn id="12" idx="6"/>
            <a:endCxn id="15" idx="2"/>
          </p:cNvCxnSpPr>
          <p:nvPr/>
        </p:nvCxnSpPr>
        <p:spPr>
          <a:xfrm>
            <a:off x="7904860" y="2624204"/>
            <a:ext cx="286858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9260" name="그림 9259">
            <a:extLst>
              <a:ext uri="{FF2B5EF4-FFF2-40B4-BE49-F238E27FC236}">
                <a16:creationId xmlns:a16="http://schemas.microsoft.com/office/drawing/2014/main" id="{A07A9FC6-DF4E-29FA-0FFF-BA65FF59A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511" y="4788268"/>
            <a:ext cx="1760062" cy="544446"/>
          </a:xfrm>
          <a:prstGeom prst="rect">
            <a:avLst/>
          </a:prstGeom>
        </p:spPr>
      </p:pic>
      <p:pic>
        <p:nvPicPr>
          <p:cNvPr id="9262" name="그림 9261">
            <a:extLst>
              <a:ext uri="{FF2B5EF4-FFF2-40B4-BE49-F238E27FC236}">
                <a16:creationId xmlns:a16="http://schemas.microsoft.com/office/drawing/2014/main" id="{BA1A2289-2A8F-7DEB-5AD9-F3A40F023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3217" y="4788268"/>
            <a:ext cx="2842090" cy="913070"/>
          </a:xfrm>
          <a:prstGeom prst="rect">
            <a:avLst/>
          </a:prstGeom>
        </p:spPr>
      </p:pic>
      <p:pic>
        <p:nvPicPr>
          <p:cNvPr id="9264" name="그림 9263">
            <a:extLst>
              <a:ext uri="{FF2B5EF4-FFF2-40B4-BE49-F238E27FC236}">
                <a16:creationId xmlns:a16="http://schemas.microsoft.com/office/drawing/2014/main" id="{220CC5A9-AC8B-0983-EE81-A8966A549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053" y="4788268"/>
            <a:ext cx="2263383" cy="1138122"/>
          </a:xfrm>
          <a:prstGeom prst="rect">
            <a:avLst/>
          </a:prstGeom>
        </p:spPr>
      </p:pic>
      <p:cxnSp>
        <p:nvCxnSpPr>
          <p:cNvPr id="9265" name="직선 연결선 9264">
            <a:extLst>
              <a:ext uri="{FF2B5EF4-FFF2-40B4-BE49-F238E27FC236}">
                <a16:creationId xmlns:a16="http://schemas.microsoft.com/office/drawing/2014/main" id="{9D98EAFC-EB3A-D7A1-9E2A-6E3124CF31B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912881" y="2623452"/>
            <a:ext cx="2868583" cy="136614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8" name="직선 연결선 9267">
            <a:extLst>
              <a:ext uri="{FF2B5EF4-FFF2-40B4-BE49-F238E27FC236}">
                <a16:creationId xmlns:a16="http://schemas.microsoft.com/office/drawing/2014/main" id="{D0DDA572-0297-EBBC-FC61-5AA42657A663}"/>
              </a:ext>
            </a:extLst>
          </p:cNvPr>
          <p:cNvCxnSpPr>
            <a:cxnSpLocks/>
            <a:stCxn id="9" idx="6"/>
            <a:endCxn id="15" idx="2"/>
          </p:cNvCxnSpPr>
          <p:nvPr/>
        </p:nvCxnSpPr>
        <p:spPr>
          <a:xfrm flipV="1">
            <a:off x="7904859" y="3154118"/>
            <a:ext cx="2868584" cy="10185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9" name="직선 연결선 9268">
            <a:extLst>
              <a:ext uri="{FF2B5EF4-FFF2-40B4-BE49-F238E27FC236}">
                <a16:creationId xmlns:a16="http://schemas.microsoft.com/office/drawing/2014/main" id="{C8CAD3FF-0044-B9B8-F677-82192D67F268}"/>
              </a:ext>
            </a:extLst>
          </p:cNvPr>
          <p:cNvCxnSpPr>
            <a:cxnSpLocks/>
            <a:stCxn id="9" idx="6"/>
            <a:endCxn id="13" idx="2"/>
          </p:cNvCxnSpPr>
          <p:nvPr/>
        </p:nvCxnSpPr>
        <p:spPr>
          <a:xfrm>
            <a:off x="7904859" y="3255973"/>
            <a:ext cx="2876605" cy="7336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6" name="직선 연결선 9275">
            <a:extLst>
              <a:ext uri="{FF2B5EF4-FFF2-40B4-BE49-F238E27FC236}">
                <a16:creationId xmlns:a16="http://schemas.microsoft.com/office/drawing/2014/main" id="{4CDE6AD4-1E47-14D6-17B5-06E1D3B4BBC2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7896838" y="3154118"/>
            <a:ext cx="2876605" cy="7493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7" name="직선 연결선 9276">
            <a:extLst>
              <a:ext uri="{FF2B5EF4-FFF2-40B4-BE49-F238E27FC236}">
                <a16:creationId xmlns:a16="http://schemas.microsoft.com/office/drawing/2014/main" id="{54DE2942-69C1-7B5C-0AD5-E269C565C6D3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896838" y="3903496"/>
            <a:ext cx="2884626" cy="8610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3" name="직선 연결선 9282">
            <a:extLst>
              <a:ext uri="{FF2B5EF4-FFF2-40B4-BE49-F238E27FC236}">
                <a16:creationId xmlns:a16="http://schemas.microsoft.com/office/drawing/2014/main" id="{02A0287C-6FE0-9435-78E7-4D26BD03BE09}"/>
              </a:ext>
            </a:extLst>
          </p:cNvPr>
          <p:cNvCxnSpPr>
            <a:cxnSpLocks/>
            <a:stCxn id="11" idx="6"/>
          </p:cNvCxnSpPr>
          <p:nvPr/>
        </p:nvCxnSpPr>
        <p:spPr>
          <a:xfrm flipV="1">
            <a:off x="7912881" y="3192272"/>
            <a:ext cx="2805728" cy="13272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4" name="직선 연결선 9283">
            <a:extLst>
              <a:ext uri="{FF2B5EF4-FFF2-40B4-BE49-F238E27FC236}">
                <a16:creationId xmlns:a16="http://schemas.microsoft.com/office/drawing/2014/main" id="{367806B9-1578-FF26-FE3C-C7C576614816}"/>
              </a:ext>
            </a:extLst>
          </p:cNvPr>
          <p:cNvCxnSpPr>
            <a:cxnSpLocks/>
            <a:stCxn id="11" idx="6"/>
            <a:endCxn id="13" idx="2"/>
          </p:cNvCxnSpPr>
          <p:nvPr/>
        </p:nvCxnSpPr>
        <p:spPr>
          <a:xfrm flipV="1">
            <a:off x="7912881" y="3989597"/>
            <a:ext cx="286858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289" name="TextBox 9288">
            <a:extLst>
              <a:ext uri="{FF2B5EF4-FFF2-40B4-BE49-F238E27FC236}">
                <a16:creationId xmlns:a16="http://schemas.microsoft.com/office/drawing/2014/main" id="{1A24241E-380F-D2C3-547B-9F5D8C68B62B}"/>
              </a:ext>
            </a:extLst>
          </p:cNvPr>
          <p:cNvSpPr txBox="1"/>
          <p:nvPr/>
        </p:nvSpPr>
        <p:spPr>
          <a:xfrm>
            <a:off x="1493842" y="5322157"/>
            <a:ext cx="17600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(1,2) @ (2,3) = (1,3)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0" name="TextBox 9289">
            <a:extLst>
              <a:ext uri="{FF2B5EF4-FFF2-40B4-BE49-F238E27FC236}">
                <a16:creationId xmlns:a16="http://schemas.microsoft.com/office/drawing/2014/main" id="{04C3A569-4FF4-C87E-ABDA-8042FB8FB291}"/>
              </a:ext>
            </a:extLst>
          </p:cNvPr>
          <p:cNvSpPr txBox="1"/>
          <p:nvPr/>
        </p:nvSpPr>
        <p:spPr>
          <a:xfrm>
            <a:off x="5197265" y="5701338"/>
            <a:ext cx="21245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(1,3) @ (3,4) = (1,4)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1" name="TextBox 9290">
            <a:extLst>
              <a:ext uri="{FF2B5EF4-FFF2-40B4-BE49-F238E27FC236}">
                <a16:creationId xmlns:a16="http://schemas.microsoft.com/office/drawing/2014/main" id="{43BD9FC8-ECB1-B386-5E43-ADB19B72463A}"/>
              </a:ext>
            </a:extLst>
          </p:cNvPr>
          <p:cNvSpPr txBox="1"/>
          <p:nvPr/>
        </p:nvSpPr>
        <p:spPr>
          <a:xfrm>
            <a:off x="8943010" y="5942851"/>
            <a:ext cx="18277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 @ (4,2) = (1,2)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3" name="TextBox 9292">
            <a:extLst>
              <a:ext uri="{FF2B5EF4-FFF2-40B4-BE49-F238E27FC236}">
                <a16:creationId xmlns:a16="http://schemas.microsoft.com/office/drawing/2014/main" id="{7A175B21-AA0B-37A5-44B1-4A7B24D8B789}"/>
              </a:ext>
            </a:extLst>
          </p:cNvPr>
          <p:cNvSpPr txBox="1"/>
          <p:nvPr/>
        </p:nvSpPr>
        <p:spPr>
          <a:xfrm>
            <a:off x="80154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4" name="TextBox 9293">
            <a:extLst>
              <a:ext uri="{FF2B5EF4-FFF2-40B4-BE49-F238E27FC236}">
                <a16:creationId xmlns:a16="http://schemas.microsoft.com/office/drawing/2014/main" id="{771A204D-88A8-9A56-6DAF-14EA444F77B9}"/>
              </a:ext>
            </a:extLst>
          </p:cNvPr>
          <p:cNvSpPr txBox="1"/>
          <p:nvPr/>
        </p:nvSpPr>
        <p:spPr>
          <a:xfrm>
            <a:off x="1035899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put(y)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5" name="TextBox 9294">
            <a:extLst>
              <a:ext uri="{FF2B5EF4-FFF2-40B4-BE49-F238E27FC236}">
                <a16:creationId xmlns:a16="http://schemas.microsoft.com/office/drawing/2014/main" id="{5728B3CC-2C9B-CCFC-C174-806DBFC6CEAA}"/>
              </a:ext>
            </a:extLst>
          </p:cNvPr>
          <p:cNvSpPr txBox="1"/>
          <p:nvPr/>
        </p:nvSpPr>
        <p:spPr>
          <a:xfrm>
            <a:off x="3836296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1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6" name="TextBox 9295">
            <a:extLst>
              <a:ext uri="{FF2B5EF4-FFF2-40B4-BE49-F238E27FC236}">
                <a16:creationId xmlns:a16="http://schemas.microsoft.com/office/drawing/2014/main" id="{A517200C-63F5-B913-E926-2ABDAA65B72A}"/>
              </a:ext>
            </a:extLst>
          </p:cNvPr>
          <p:cNvSpPr txBox="1"/>
          <p:nvPr/>
        </p:nvSpPr>
        <p:spPr>
          <a:xfrm>
            <a:off x="6506798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ED1E5-5843-DBEB-50F5-1EA7E7C76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5FF74-5477-22AB-43FD-DF018748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AE8BB7F-4374-94A4-96E2-5D2F81230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8332F086-37CC-9131-0AB6-DC91842D581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A3DFB2-48BA-7EB0-99DE-16C02139227D}"/>
              </a:ext>
            </a:extLst>
          </p:cNvPr>
          <p:cNvSpPr txBox="1"/>
          <p:nvPr/>
        </p:nvSpPr>
        <p:spPr>
          <a:xfrm>
            <a:off x="677670" y="1883738"/>
            <a:ext cx="5199255" cy="461664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데이터 생성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([[-2.0], [-1.0], [1.0], [2.0]],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([[0.0], [0.0], [1.0], [1.0]],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모델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0~1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확률값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__(self):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super().__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forward(self, 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이진 교차 엔트로피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최적화 도구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nn.BCELoss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model_cls.parameters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=0.1)</a:t>
            </a:r>
            <a:endParaRPr lang="ko-KR" altLang="en-US" sz="14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0191A9-AF39-DFA2-DD6E-A46ACD670F8A}"/>
              </a:ext>
            </a:extLst>
          </p:cNvPr>
          <p:cNvSpPr txBox="1"/>
          <p:nvPr/>
        </p:nvSpPr>
        <p:spPr>
          <a:xfrm>
            <a:off x="6210991" y="1883738"/>
            <a:ext cx="5314260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학습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epoch in range(500):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out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loss = criterion(out,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예측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([[-5.0]])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(-5.0):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(+5.0):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E7D529-0B99-F34C-9456-A4BCF215413E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분류는 입력 데이터가 어느 그룹에 속하는지 판단하는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작으면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0, 0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크면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이진 분류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44300631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8065</TotalTime>
  <Words>877</Words>
  <Application>Microsoft Office PowerPoint</Application>
  <PresentationFormat>와이드스크린</PresentationFormat>
  <Paragraphs>115</Paragraphs>
  <Slides>16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5" baseType="lpstr">
      <vt:lpstr>D2Coding</vt:lpstr>
      <vt:lpstr>맑은 고딕</vt:lpstr>
      <vt:lpstr>맑은 고딕 Semilight</vt:lpstr>
      <vt:lpstr>Batang</vt:lpstr>
      <vt:lpstr>ADLaM Display</vt:lpstr>
      <vt:lpstr>Arial</vt:lpstr>
      <vt:lpstr>Lora</vt:lpstr>
      <vt:lpstr>Wingdings</vt:lpstr>
      <vt:lpstr>WelcomeDoc</vt:lpstr>
      <vt:lpstr>Chapter 1   What is deep learning?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135</cp:revision>
  <dcterms:created xsi:type="dcterms:W3CDTF">2026-04-06T01:00:39Z</dcterms:created>
  <dcterms:modified xsi:type="dcterms:W3CDTF">2026-07-02T02:51:11Z</dcterms:modified>
  <cp:version/>
</cp:coreProperties>
</file>