
<file path=[Content_Types].xml><?xml version="1.0" encoding="utf-8"?>
<Types xmlns="http://schemas.openxmlformats.org/package/2006/content-types">
  <Default Extension="0&amp;ixid=M3wxMjA3fDB8MHxzZWFyY2h8MXx8aHVtYW4lMjBuZXVyb258ZW58MHx8MHx8fDA" ContentType="image/jpeg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3"/>
  </p:notesMasterIdLst>
  <p:handoutMasterIdLst>
    <p:handoutMasterId r:id="rId34"/>
  </p:handoutMasterIdLst>
  <p:sldIdLst>
    <p:sldId id="256" r:id="rId2"/>
    <p:sldId id="1135" r:id="rId3"/>
    <p:sldId id="1144" r:id="rId4"/>
    <p:sldId id="1169" r:id="rId5"/>
    <p:sldId id="1171" r:id="rId6"/>
    <p:sldId id="388" r:id="rId7"/>
    <p:sldId id="389" r:id="rId8"/>
    <p:sldId id="1145" r:id="rId9"/>
    <p:sldId id="1146" r:id="rId10"/>
    <p:sldId id="1147" r:id="rId11"/>
    <p:sldId id="1170" r:id="rId12"/>
    <p:sldId id="1202" r:id="rId13"/>
    <p:sldId id="1203" r:id="rId14"/>
    <p:sldId id="1148" r:id="rId15"/>
    <p:sldId id="1151" r:id="rId16"/>
    <p:sldId id="1199" r:id="rId17"/>
    <p:sldId id="1172" r:id="rId18"/>
    <p:sldId id="1201" r:id="rId19"/>
    <p:sldId id="1177" r:id="rId20"/>
    <p:sldId id="1178" r:id="rId21"/>
    <p:sldId id="1152" r:id="rId22"/>
    <p:sldId id="1153" r:id="rId23"/>
    <p:sldId id="1154" r:id="rId24"/>
    <p:sldId id="1155" r:id="rId25"/>
    <p:sldId id="1156" r:id="rId26"/>
    <p:sldId id="886" r:id="rId27"/>
    <p:sldId id="1200" r:id="rId28"/>
    <p:sldId id="968" r:id="rId29"/>
    <p:sldId id="1204" r:id="rId30"/>
    <p:sldId id="1205" r:id="rId31"/>
    <p:sldId id="1157" r:id="rId3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44"/>
            <p14:sldId id="1169"/>
            <p14:sldId id="1171"/>
            <p14:sldId id="388"/>
            <p14:sldId id="389"/>
            <p14:sldId id="1145"/>
            <p14:sldId id="1146"/>
            <p14:sldId id="1147"/>
            <p14:sldId id="1170"/>
            <p14:sldId id="1202"/>
            <p14:sldId id="1203"/>
            <p14:sldId id="1148"/>
            <p14:sldId id="1151"/>
            <p14:sldId id="1199"/>
            <p14:sldId id="1172"/>
            <p14:sldId id="1201"/>
            <p14:sldId id="1177"/>
            <p14:sldId id="1178"/>
            <p14:sldId id="1152"/>
            <p14:sldId id="1153"/>
            <p14:sldId id="1154"/>
            <p14:sldId id="1155"/>
            <p14:sldId id="1156"/>
            <p14:sldId id="886"/>
            <p14:sldId id="1200"/>
            <p14:sldId id="968"/>
            <p14:sldId id="1204"/>
            <p14:sldId id="1205"/>
            <p14:sldId id="115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2026-09-04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2026-09-04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2026-09-04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9/4/2026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2026-09-04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mpo/a-brief-history-of-ai-with-deep-learning-26f7948bc87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hyperlink" Target="https://www.youtube.com/watch?v=aircAruvnKk&amp;list=PLZHQObOWTQDNU6R1_67000Dx_ZCJB-3pi?start=190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Deep-Learning-with-Python/blob/main/scripts/00_sklearn_keras.ipynb" TargetMode="Externa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0&amp;ixid=M3wxMjA3fDB8MHxzZWFyY2h8MXx8aHVtYW4lMjBuZXVyb258ZW58MHx8MHx8fDA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unsplash.com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playground.tensorflow.org/" TargetMode="Externa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hyperlink" Target="https://www.youtube.com/watch?v=Cgxsv1riJhI&amp;t=29s" TargetMode="Externa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ord2vec.kr/search/" TargetMode="External"/><Relationship Id="rId4" Type="http://schemas.openxmlformats.org/officeDocument/2006/relationships/hyperlink" Target="https://www.101ai.net/text/word-embed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projector.tensorflow.org/" TargetMode="Externa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2.jpeg"/><Relationship Id="rId4" Type="http://schemas.openxmlformats.org/officeDocument/2006/relationships/image" Target="../media/image41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40.png"/><Relationship Id="rId5" Type="http://schemas.openxmlformats.org/officeDocument/2006/relationships/image" Target="../media/image430.png"/><Relationship Id="rId4" Type="http://schemas.openxmlformats.org/officeDocument/2006/relationships/image" Target="../media/image48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github.com/ancestor9/mathematics-for-machine-learning/blob/main/scripts/Introduction_to_deep_learning.ipynb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658476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1 </a:t>
            </a:r>
            <a:br>
              <a:rPr lang="en-US" altLang="ko-KR" sz="4400" dirty="0">
                <a:solidFill>
                  <a:schemeClr val="bg1"/>
                </a:solidFill>
              </a:rPr>
            </a:b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What is deep learning?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568005" y="2332321"/>
            <a:ext cx="11233469" cy="21933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High-level definitions of fundamental concepts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A soft introduction to the principles behind machine learning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Deep learning’s rising popularity and future potential</a:t>
            </a:r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25A0-07BB-CDBB-0F29-43C26D718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1BC892-601E-1AA8-C846-9F4AAFE73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BA978F-02A6-660E-64AA-E1911BB0D5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Artificial intelligence, machine learning, and deep learning</a:t>
            </a:r>
          </a:p>
        </p:txBody>
      </p:sp>
      <p:pic>
        <p:nvPicPr>
          <p:cNvPr id="10243" name="Picture 3">
            <a:extLst>
              <a:ext uri="{FF2B5EF4-FFF2-40B4-BE49-F238E27FC236}">
                <a16:creationId xmlns:a16="http://schemas.microsoft.com/office/drawing/2014/main" id="{B801C839-C8F2-B5BC-EA50-D55C798B20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4075" y="1790700"/>
            <a:ext cx="6162675" cy="4128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5505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44BF-486E-CF55-333D-077990DDD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9360DF4-4F71-F6BE-C5F9-A496011E33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2577F4F-3E3E-FB6A-7D3A-40B3DC62FDFA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620269B-01B1-0716-A10B-84E6C47416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690" y="1469766"/>
            <a:ext cx="9968619" cy="46556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109C25-95D1-4C3B-F268-661322A0D0A4}"/>
              </a:ext>
            </a:extLst>
          </p:cNvPr>
          <p:cNvSpPr txBox="1"/>
          <p:nvPr/>
        </p:nvSpPr>
        <p:spPr>
          <a:xfrm>
            <a:off x="1034776" y="6237517"/>
            <a:ext cx="3262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A-brief-history-of-ai-with-deep-learning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46E0553-FCB6-9211-B623-8555364E7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45501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D534B-08E1-8419-3857-356E0F61A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B8B7C1-764D-22ED-9281-151CA8F4DB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가 똑똑한 이유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91823A-459C-E3E3-1588-6E0DCECAECFE}"/>
              </a:ext>
            </a:extLst>
          </p:cNvPr>
          <p:cNvSpPr txBox="1"/>
          <p:nvPr/>
        </p:nvSpPr>
        <p:spPr>
          <a:xfrm>
            <a:off x="542925" y="1248422"/>
            <a:ext cx="1130617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똑똑한 이유는 엄청난 양의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사운드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초고속 컴퓨터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능력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밤낮없이 읽으면서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입력받은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모든 데이터의 패턴을 찾아냈기 때문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수능 만점자가 기출문제를 완벽하게 마스터해서 어떤 변형 문제가 나와도 맞히는 것과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비슷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074" name="Picture 2" descr="A Blog on &quot;Understanding Deep Learning&quot;​ by Kalyan Mohanty - Intern (CoE- AI Lab)">
            <a:extLst>
              <a:ext uri="{FF2B5EF4-FFF2-40B4-BE49-F238E27FC236}">
                <a16:creationId xmlns:a16="http://schemas.microsoft.com/office/drawing/2014/main" id="{69601DCC-AE13-5655-6FCA-34EEF3DD14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8394" y="2507566"/>
            <a:ext cx="6535612" cy="4036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래픽 6" descr="고속도로 장면">
            <a:extLst>
              <a:ext uri="{FF2B5EF4-FFF2-40B4-BE49-F238E27FC236}">
                <a16:creationId xmlns:a16="http://schemas.microsoft.com/office/drawing/2014/main" id="{5AF5882A-65A1-2DEB-5801-918D3C3C16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38284" y="3501607"/>
            <a:ext cx="580403" cy="580403"/>
          </a:xfrm>
          <a:prstGeom prst="rect">
            <a:avLst/>
          </a:prstGeom>
        </p:spPr>
      </p:pic>
      <p:pic>
        <p:nvPicPr>
          <p:cNvPr id="9" name="그래픽 8" descr="봉투 열기">
            <a:extLst>
              <a:ext uri="{FF2B5EF4-FFF2-40B4-BE49-F238E27FC236}">
                <a16:creationId xmlns:a16="http://schemas.microsoft.com/office/drawing/2014/main" id="{97BFBBE8-4C60-A151-E375-169FEE8D7C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96205" y="4082010"/>
            <a:ext cx="580403" cy="580403"/>
          </a:xfrm>
          <a:prstGeom prst="rect">
            <a:avLst/>
          </a:prstGeom>
        </p:spPr>
      </p:pic>
      <p:pic>
        <p:nvPicPr>
          <p:cNvPr id="11" name="그래픽 10" descr="팟캐스트">
            <a:extLst>
              <a:ext uri="{FF2B5EF4-FFF2-40B4-BE49-F238E27FC236}">
                <a16:creationId xmlns:a16="http://schemas.microsoft.com/office/drawing/2014/main" id="{84E2B080-9A0B-091C-9565-D7C4B054636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305497" y="4831462"/>
            <a:ext cx="580403" cy="58040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43F3519-D0F6-4D31-E9C0-E0AF5A640E77}"/>
              </a:ext>
            </a:extLst>
          </p:cNvPr>
          <p:cNvSpPr txBox="1"/>
          <p:nvPr/>
        </p:nvSpPr>
        <p:spPr>
          <a:xfrm>
            <a:off x="9646501" y="4690777"/>
            <a:ext cx="226240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Big Data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Computing power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Algorithm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25B7FF9-8432-EB94-D532-CA81EDD33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3335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88379-B0F0-E75F-55B5-46A9B2033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1BF6F47-E1D7-3404-6D26-B63F40AA3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0583" y="400182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Supervised Learning(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지도학습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) </a:t>
            </a:r>
            <a:endParaRPr lang="ko-KR" altLang="en-US" b="1" cap="none" dirty="0"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10CAA31-8D8A-5DC1-2D9F-A0DABDC7E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1343566"/>
            <a:ext cx="5800377" cy="4677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B7762A-F77E-C397-01D9-B049ED94B47A}"/>
              </a:ext>
            </a:extLst>
          </p:cNvPr>
          <p:cNvSpPr txBox="1"/>
          <p:nvPr/>
        </p:nvSpPr>
        <p:spPr>
          <a:xfrm>
            <a:off x="9200620" y="1343566"/>
            <a:ext cx="1143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회귀</a:t>
            </a:r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5F081-78EC-A7B8-D1D6-1CAEC7000201}"/>
              </a:ext>
            </a:extLst>
          </p:cNvPr>
          <p:cNvSpPr txBox="1"/>
          <p:nvPr/>
        </p:nvSpPr>
        <p:spPr>
          <a:xfrm>
            <a:off x="9306530" y="3888447"/>
            <a:ext cx="1143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분류</a:t>
            </a:r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5830F44-5F9D-1CF1-6475-3DCD2B29F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444" y="1343566"/>
            <a:ext cx="5537631" cy="4697617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1160586-3065-34CB-E356-1E7377D50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521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322E1-8746-1FA5-3263-79DB08BE5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6826FB85-6160-EEBB-0430-C6E64E5D7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0583" y="399196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Unsupervised Learning(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비지도학습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)</a:t>
            </a:r>
            <a:endParaRPr lang="ko-KR" altLang="en-US" b="1" cap="none" dirty="0"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379BF96-2686-6187-65D2-FFD8B245F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1852294"/>
            <a:ext cx="5698068" cy="4558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9E93246-86F7-392C-B5AA-61C126567EE0}"/>
              </a:ext>
            </a:extLst>
          </p:cNvPr>
          <p:cNvSpPr txBox="1"/>
          <p:nvPr/>
        </p:nvSpPr>
        <p:spPr>
          <a:xfrm>
            <a:off x="2353280" y="1318246"/>
            <a:ext cx="21615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cs typeface="Times New Roman" panose="02020603050405020304" pitchFamily="18" charset="0"/>
              </a:rPr>
              <a:t>Cluster(</a:t>
            </a:r>
            <a:r>
              <a:rPr lang="ko-KR" altLang="en-US" sz="2400" b="1" dirty="0">
                <a:cs typeface="Times New Roman" panose="02020603050405020304" pitchFamily="18" charset="0"/>
              </a:rPr>
              <a:t>군집</a:t>
            </a:r>
            <a:r>
              <a:rPr lang="en-US" altLang="ko-KR" sz="2400" b="1" dirty="0">
                <a:cs typeface="Times New Roman" panose="02020603050405020304" pitchFamily="18" charset="0"/>
              </a:rPr>
              <a:t>)</a:t>
            </a:r>
            <a:endParaRPr lang="ko-KR" altLang="en-US" sz="2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D76D564-A2B8-4E91-EFC8-558B15068E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668" y="1852294"/>
            <a:ext cx="5475257" cy="4584817"/>
          </a:xfrm>
          <a:prstGeom prst="rect">
            <a:avLst/>
          </a:prstGeom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77057D25-D20A-36CB-6B01-6CF77FBEB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1323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426D2-85D4-AE03-A882-B7FD9ACA0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923616-5C30-181D-22B9-94C61131A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A38A6DE-4286-AFE7-E2C2-C436F0C41B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Human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Learning</a:t>
            </a: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AFF9B58C-FD10-DF61-063F-C751C6A242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4684" y="1235027"/>
            <a:ext cx="11008666" cy="1078842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머신러닝이전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시대에는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관측된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(Patterns)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사람이 직접 궁리하고 발견하여 새로운 데이터를 예측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귀납법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B19C5D2-FAB7-0E44-ACB9-91BEA660CB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217" y="2261017"/>
            <a:ext cx="3420004" cy="3715900"/>
          </a:xfrm>
          <a:prstGeom prst="rect">
            <a:avLst/>
          </a:prstGeom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BDDC2668-0086-F8D5-C468-E58B9F7ACD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998" y="2480092"/>
            <a:ext cx="4582787" cy="2210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176D8D7-C21A-E8D5-1910-6945062C3FAF}"/>
              </a:ext>
            </a:extLst>
          </p:cNvPr>
          <p:cNvSpPr txBox="1"/>
          <p:nvPr/>
        </p:nvSpPr>
        <p:spPr>
          <a:xfrm>
            <a:off x="860423" y="4739780"/>
            <a:ext cx="46926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방대하고 정밀한 데이터들을 직접 수년간 궁리하고 계산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귀납법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한 끝에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행성이 원이 아닌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타원 궤도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공전한다는 규칙성을 발견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5CFB43-5663-207B-3E34-79187FA10DBD}"/>
              </a:ext>
            </a:extLst>
          </p:cNvPr>
          <p:cNvSpPr txBox="1"/>
          <p:nvPr/>
        </p:nvSpPr>
        <p:spPr>
          <a:xfrm>
            <a:off x="6643410" y="6058772"/>
            <a:ext cx="43103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변광성의 밝기가 변하는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주기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와 실제 별의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밝기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광도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)'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사이에 일정한 선형적 관계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패턴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발견</a:t>
            </a:r>
          </a:p>
        </p:txBody>
      </p:sp>
    </p:spTree>
    <p:extLst>
      <p:ext uri="{BB962C8B-B14F-4D97-AF65-F5344CB8AC3E}">
        <p14:creationId xmlns:p14="http://schemas.microsoft.com/office/powerpoint/2010/main" val="32183608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E568E-BB0A-E6FA-390F-635191070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667B48-5B62-68A0-1660-CFDEA5415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DA588E4-0C77-11C8-5DC4-F3AE9EF788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Machine learning</a:t>
            </a: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DF79BB0-8C4E-75A8-16FB-575DD52DA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178" y="1205031"/>
            <a:ext cx="10994697" cy="1095136"/>
          </a:xfrm>
        </p:spPr>
        <p:txBody>
          <a:bodyPr>
            <a:no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과거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(Patterns)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을 컴퓨터가 발견하게 하여 새로운 데이터를 예측하는 것이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Machine Learning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(New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Paradigm)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258FA0E-9FDA-466C-DCDA-6597BD3EB266}"/>
              </a:ext>
            </a:extLst>
          </p:cNvPr>
          <p:cNvSpPr/>
          <p:nvPr/>
        </p:nvSpPr>
        <p:spPr>
          <a:xfrm>
            <a:off x="4493260" y="2801652"/>
            <a:ext cx="2641600" cy="118872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Classical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Programming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9025B06-D182-E458-A003-7F7BCF54DBDC}"/>
              </a:ext>
            </a:extLst>
          </p:cNvPr>
          <p:cNvSpPr/>
          <p:nvPr/>
        </p:nvSpPr>
        <p:spPr>
          <a:xfrm>
            <a:off x="4493260" y="4895247"/>
            <a:ext cx="2641600" cy="118872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Machine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Learning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pic>
        <p:nvPicPr>
          <p:cNvPr id="7" name="그래픽 6" descr="줄 화살표: 일자형">
            <a:extLst>
              <a:ext uri="{FF2B5EF4-FFF2-40B4-BE49-F238E27FC236}">
                <a16:creationId xmlns:a16="http://schemas.microsoft.com/office/drawing/2014/main" id="{448E59A9-68FA-27B1-76D7-97617018F3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2781332"/>
            <a:ext cx="701040" cy="701040"/>
          </a:xfrm>
          <a:prstGeom prst="rect">
            <a:avLst/>
          </a:prstGeom>
        </p:spPr>
      </p:pic>
      <p:pic>
        <p:nvPicPr>
          <p:cNvPr id="8" name="그래픽 7" descr="줄 화살표: 일자형">
            <a:extLst>
              <a:ext uri="{FF2B5EF4-FFF2-40B4-BE49-F238E27FC236}">
                <a16:creationId xmlns:a16="http://schemas.microsoft.com/office/drawing/2014/main" id="{2AED7377-6C03-4D01-FD8C-FEF2C6D66E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3350293"/>
            <a:ext cx="701040" cy="701040"/>
          </a:xfrm>
          <a:prstGeom prst="rect">
            <a:avLst/>
          </a:prstGeom>
        </p:spPr>
      </p:pic>
      <p:pic>
        <p:nvPicPr>
          <p:cNvPr id="9" name="그래픽 8" descr="줄 화살표: 일자형">
            <a:extLst>
              <a:ext uri="{FF2B5EF4-FFF2-40B4-BE49-F238E27FC236}">
                <a16:creationId xmlns:a16="http://schemas.microsoft.com/office/drawing/2014/main" id="{752F3FC0-D3D6-56F0-D0BB-F2379AD716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7452679" y="3011942"/>
            <a:ext cx="701040" cy="7010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0FC5F58-87CD-EE87-CE40-AB4F327DB95D}"/>
              </a:ext>
            </a:extLst>
          </p:cNvPr>
          <p:cNvSpPr txBox="1"/>
          <p:nvPr/>
        </p:nvSpPr>
        <p:spPr>
          <a:xfrm>
            <a:off x="2276483" y="2881147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1418DB-21BB-27C7-FE02-452F97B07BF7}"/>
              </a:ext>
            </a:extLst>
          </p:cNvPr>
          <p:cNvSpPr txBox="1"/>
          <p:nvPr/>
        </p:nvSpPr>
        <p:spPr>
          <a:xfrm>
            <a:off x="2276483" y="3519441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FA8856-DB79-EEF2-9635-1C0F41308272}"/>
              </a:ext>
            </a:extLst>
          </p:cNvPr>
          <p:cNvSpPr txBox="1"/>
          <p:nvPr/>
        </p:nvSpPr>
        <p:spPr>
          <a:xfrm>
            <a:off x="8459000" y="3136935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Answer</a:t>
            </a:r>
            <a:endParaRPr lang="ko-KR" altLang="en-US" sz="2000" dirty="0">
              <a:ea typeface="+mj-ea"/>
            </a:endParaRPr>
          </a:p>
        </p:txBody>
      </p:sp>
      <p:pic>
        <p:nvPicPr>
          <p:cNvPr id="13" name="그래픽 12" descr="줄 화살표: 일자형">
            <a:extLst>
              <a:ext uri="{FF2B5EF4-FFF2-40B4-BE49-F238E27FC236}">
                <a16:creationId xmlns:a16="http://schemas.microsoft.com/office/drawing/2014/main" id="{1019C5EE-FD17-6B4D-0F52-361499B78B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4864767"/>
            <a:ext cx="701040" cy="701040"/>
          </a:xfrm>
          <a:prstGeom prst="rect">
            <a:avLst/>
          </a:prstGeom>
        </p:spPr>
      </p:pic>
      <p:pic>
        <p:nvPicPr>
          <p:cNvPr id="14" name="그래픽 13" descr="줄 화살표: 일자형">
            <a:extLst>
              <a:ext uri="{FF2B5EF4-FFF2-40B4-BE49-F238E27FC236}">
                <a16:creationId xmlns:a16="http://schemas.microsoft.com/office/drawing/2014/main" id="{11335CAF-097D-AE4D-2DF1-8F816B5C09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5433728"/>
            <a:ext cx="701040" cy="701040"/>
          </a:xfrm>
          <a:prstGeom prst="rect">
            <a:avLst/>
          </a:prstGeom>
        </p:spPr>
      </p:pic>
      <p:pic>
        <p:nvPicPr>
          <p:cNvPr id="15" name="그래픽 14" descr="줄 화살표: 일자형">
            <a:extLst>
              <a:ext uri="{FF2B5EF4-FFF2-40B4-BE49-F238E27FC236}">
                <a16:creationId xmlns:a16="http://schemas.microsoft.com/office/drawing/2014/main" id="{46643B84-B32E-3075-561E-CCD80BB0C1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7452679" y="5095377"/>
            <a:ext cx="701040" cy="70104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28CF443-CFD8-B6C1-EF54-AC3EE00A518A}"/>
              </a:ext>
            </a:extLst>
          </p:cNvPr>
          <p:cNvSpPr txBox="1"/>
          <p:nvPr/>
        </p:nvSpPr>
        <p:spPr>
          <a:xfrm>
            <a:off x="2276483" y="4964582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Answer</a:t>
            </a:r>
            <a:endParaRPr lang="ko-KR" altLang="en-US" sz="2000" dirty="0"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DBBD5A4-956B-214C-B83E-CBBF915228BC}"/>
              </a:ext>
            </a:extLst>
          </p:cNvPr>
          <p:cNvSpPr txBox="1"/>
          <p:nvPr/>
        </p:nvSpPr>
        <p:spPr>
          <a:xfrm>
            <a:off x="2276483" y="5602876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0C9BEB-63F1-1784-86E7-092301503EEA}"/>
              </a:ext>
            </a:extLst>
          </p:cNvPr>
          <p:cNvSpPr txBox="1"/>
          <p:nvPr/>
        </p:nvSpPr>
        <p:spPr>
          <a:xfrm>
            <a:off x="8459000" y="5220370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7438360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DC73B-DA8F-7135-751E-12C7FA336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0BDC9-6B93-B4D5-318A-B7AD75127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79BEF9F-C89A-FF1C-CDCF-39304765EC9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Learning rules and representations from data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869C5BA-B2A4-F8C8-BD8C-F3D7987E61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2550" y="2280915"/>
            <a:ext cx="8972550" cy="28868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11490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06936-C080-0D34-4C7E-58D2F60CB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571DE09-F9FE-74A3-950A-ADAE199E910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deep learning?</a:t>
            </a:r>
          </a:p>
        </p:txBody>
      </p:sp>
      <p:pic>
        <p:nvPicPr>
          <p:cNvPr id="2" name="그림 1">
            <a:hlinkClick r:id="rId2"/>
            <a:extLst>
              <a:ext uri="{FF2B5EF4-FFF2-40B4-BE49-F238E27FC236}">
                <a16:creationId xmlns:a16="http://schemas.microsoft.com/office/drawing/2014/main" id="{38311887-7539-A3E5-9349-9D1B776834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50" y="1348552"/>
            <a:ext cx="8669111" cy="488069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660A78-E863-CDFF-54AA-99809CD5E86C}"/>
              </a:ext>
            </a:extLst>
          </p:cNvPr>
          <p:cNvSpPr txBox="1"/>
          <p:nvPr/>
        </p:nvSpPr>
        <p:spPr>
          <a:xfrm>
            <a:off x="2954387" y="6277467"/>
            <a:ext cx="763938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neural network?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(start= 3 min, end = 5 min)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C0685187-DFAF-3DF6-551D-6BFE96964E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2087" y="1622081"/>
            <a:ext cx="1571309" cy="1538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7734F49-55E6-737D-87D1-EE09CAE9BA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024" y="1348551"/>
            <a:ext cx="3191365" cy="2766249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79571667-B20D-7DA4-45F8-1B7D64FC90FE}"/>
              </a:ext>
            </a:extLst>
          </p:cNvPr>
          <p:cNvSpPr/>
          <p:nvPr/>
        </p:nvSpPr>
        <p:spPr>
          <a:xfrm>
            <a:off x="4252687" y="1728259"/>
            <a:ext cx="768539" cy="62115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2FAE7469-B60E-60E2-36E4-5AA10FA30919}"/>
              </a:ext>
            </a:extLst>
          </p:cNvPr>
          <p:cNvCxnSpPr>
            <a:cxnSpLocks/>
          </p:cNvCxnSpPr>
          <p:nvPr/>
        </p:nvCxnSpPr>
        <p:spPr>
          <a:xfrm flipH="1" flipV="1">
            <a:off x="3630389" y="1307194"/>
            <a:ext cx="1390837" cy="42106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D77B65A1-24EA-48CD-744D-90B01F28E1BA}"/>
              </a:ext>
            </a:extLst>
          </p:cNvPr>
          <p:cNvCxnSpPr>
            <a:cxnSpLocks/>
          </p:cNvCxnSpPr>
          <p:nvPr/>
        </p:nvCxnSpPr>
        <p:spPr>
          <a:xfrm flipH="1">
            <a:off x="3668750" y="2390775"/>
            <a:ext cx="1352476" cy="169922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5458C62-3780-5E53-F202-8348743CDF01}"/>
              </a:ext>
            </a:extLst>
          </p:cNvPr>
          <p:cNvSpPr txBox="1"/>
          <p:nvPr/>
        </p:nvSpPr>
        <p:spPr>
          <a:xfrm>
            <a:off x="4335293" y="3160276"/>
            <a:ext cx="1522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28 x 28 pixel</a:t>
            </a:r>
          </a:p>
          <a:p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784 pixel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슬라이드 번호 개체 틀 3">
            <a:extLst>
              <a:ext uri="{FF2B5EF4-FFF2-40B4-BE49-F238E27FC236}">
                <a16:creationId xmlns:a16="http://schemas.microsoft.com/office/drawing/2014/main" id="{7C96DB4D-CEC1-72A8-8EB5-2A0699CA77DD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2219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8EF3E6-6951-6D3C-C5A8-292120BA4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DDBD1CB-673E-C08F-0E44-C0D1867FBD4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scikit-learn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vs.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deep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learning</a:t>
            </a:r>
          </a:p>
        </p:txBody>
      </p:sp>
      <p:sp>
        <p:nvSpPr>
          <p:cNvPr id="12" name="슬라이드 번호 개체 틀 3">
            <a:extLst>
              <a:ext uri="{FF2B5EF4-FFF2-40B4-BE49-F238E27FC236}">
                <a16:creationId xmlns:a16="http://schemas.microsoft.com/office/drawing/2014/main" id="{EF105439-A555-E311-0355-BD0AF53F139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3" name="그래픽 12" descr="수영">
            <a:extLst>
              <a:ext uri="{FF2B5EF4-FFF2-40B4-BE49-F238E27FC236}">
                <a16:creationId xmlns:a16="http://schemas.microsoft.com/office/drawing/2014/main" id="{CC84DAC0-B6DC-3039-D565-5A0D09D56A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05287" y="334022"/>
            <a:ext cx="914400" cy="914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BE83894-6197-0A32-D91C-CCA329CCEF37}"/>
              </a:ext>
            </a:extLst>
          </p:cNvPr>
          <p:cNvSpPr txBox="1"/>
          <p:nvPr/>
        </p:nvSpPr>
        <p:spPr>
          <a:xfrm>
            <a:off x="723900" y="2732889"/>
            <a:ext cx="8858855" cy="194219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tensorflow.keras.datasets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fashion_mnist</a:t>
            </a:r>
            <a:b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MNIST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로드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x_train_full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y_train_full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 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x_test_full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y_test_full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fashion_mnist.load_data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b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50%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만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슬라이싱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n_train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len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x_train_full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* 0.5)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n_test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len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x_test_full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* 0.5)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BA8BFE-D256-83BC-5E44-98AF85FEB80F}"/>
              </a:ext>
            </a:extLst>
          </p:cNvPr>
          <p:cNvSpPr txBox="1"/>
          <p:nvPr/>
        </p:nvSpPr>
        <p:spPr>
          <a:xfrm>
            <a:off x="600075" y="1195156"/>
            <a:ext cx="1101961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Fashion_minst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바탕으로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KNN, FNN(Feed Forward Neural Networks), CNN(Convolutional Neural Networks)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성능을 비교하자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C2E093B-2BA7-3607-2C84-3E970291B0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0307" y="3703988"/>
            <a:ext cx="3895725" cy="3154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6A75DFA-2918-AD5C-81ED-84FC2EC0F1F3}"/>
              </a:ext>
            </a:extLst>
          </p:cNvPr>
          <p:cNvSpPr txBox="1"/>
          <p:nvPr/>
        </p:nvSpPr>
        <p:spPr>
          <a:xfrm>
            <a:off x="723900" y="2425112"/>
            <a:ext cx="6109365" cy="307777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2026_Fall_Deep-Learning-with-Python/scripts/00_sklearn_keras.ipynb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322177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E6ECF-D5D4-5727-A4B3-CD7373573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4EAA7C6-5C04-2121-7289-74B62D9E5E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scikit-learn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vs.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deep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learning</a:t>
            </a:r>
          </a:p>
        </p:txBody>
      </p:sp>
      <p:sp>
        <p:nvSpPr>
          <p:cNvPr id="12" name="슬라이드 번호 개체 틀 3">
            <a:extLst>
              <a:ext uri="{FF2B5EF4-FFF2-40B4-BE49-F238E27FC236}">
                <a16:creationId xmlns:a16="http://schemas.microsoft.com/office/drawing/2014/main" id="{19A1AFB4-AE78-25F4-1AB9-8B5933BC913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3" name="그래픽 12" descr="수영">
            <a:extLst>
              <a:ext uri="{FF2B5EF4-FFF2-40B4-BE49-F238E27FC236}">
                <a16:creationId xmlns:a16="http://schemas.microsoft.com/office/drawing/2014/main" id="{789E8719-62C2-0750-B8C7-E22B625AAF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05287" y="334022"/>
            <a:ext cx="914400" cy="9144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6E8CA5A1-9984-2A7A-525F-635579CAF9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995" y="1396383"/>
            <a:ext cx="3895725" cy="3154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48AF26-2153-6730-7B92-D1E53EE569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3850" y="2862882"/>
            <a:ext cx="8009945" cy="3309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27304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C13F2-8668-AE3A-6ABA-2DAD4B9C7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63BA93-9D23-6055-742F-5C9FACCA0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36D7C3F-0958-72ED-0E18-92DBC7F919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“deep” in “deep learning”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EAEBCE4-17A1-7AC2-6506-14B44C74B3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4475" y="1971675"/>
            <a:ext cx="9163050" cy="3771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3B29F08-AA8D-55AC-F7EA-26651F498F62}"/>
              </a:ext>
            </a:extLst>
          </p:cNvPr>
          <p:cNvSpPr txBox="1"/>
          <p:nvPr/>
        </p:nvSpPr>
        <p:spPr>
          <a:xfrm>
            <a:off x="3419475" y="5851595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Lora" pitchFamily="2" charset="0"/>
              </a:rPr>
              <a:t>A deep neural network for digit classification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278244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D5C2E-10E7-67CB-3013-DED5C43E4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DEB258-1F01-FC99-8329-AFE06527E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4F084D6-18A1-153D-862F-ED6EC68EAD3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“deep” in “deep learning”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9FBB96C-ECAC-A443-7DCD-E28FF8D01A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6462" y="1643113"/>
            <a:ext cx="7839075" cy="4393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A3E35C-2BAF-2A90-DD05-73180F7D0140}"/>
              </a:ext>
            </a:extLst>
          </p:cNvPr>
          <p:cNvSpPr txBox="1"/>
          <p:nvPr/>
        </p:nvSpPr>
        <p:spPr>
          <a:xfrm>
            <a:off x="2176462" y="6061620"/>
            <a:ext cx="76676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Lora" pitchFamily="2" charset="0"/>
              </a:rPr>
              <a:t>Deep representations learned by a digit-classification model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1651413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88E67-964D-BF9B-EF2C-CA14CE24B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B73370-1ECF-A136-2224-D44EA90FC7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Human Neurons ?</a:t>
            </a:r>
          </a:p>
        </p:txBody>
      </p:sp>
      <p:pic>
        <p:nvPicPr>
          <p:cNvPr id="12" name="그림 11" descr="What Is a Neuron? Diagrams, Types, Function, and More">
            <a:extLst>
              <a:ext uri="{FF2B5EF4-FFF2-40B4-BE49-F238E27FC236}">
                <a16:creationId xmlns:a16="http://schemas.microsoft.com/office/drawing/2014/main" id="{6D05F76D-3C80-4EEE-94EE-740DF57E5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426" y="1813455"/>
            <a:ext cx="3489665" cy="2571173"/>
          </a:xfrm>
          <a:prstGeom prst="rect">
            <a:avLst/>
          </a:prstGeom>
        </p:spPr>
      </p:pic>
      <p:pic>
        <p:nvPicPr>
          <p:cNvPr id="13" name="그림 12" descr="파란색 배경 위에 빛나는 부분이 있는 파란색 뉴런. 뉴런 인터페이스와 컴퓨터 과학 개념. 3D 렌더링 복사 공간">
            <a:extLst>
              <a:ext uri="{FF2B5EF4-FFF2-40B4-BE49-F238E27FC236}">
                <a16:creationId xmlns:a16="http://schemas.microsoft.com/office/drawing/2014/main" id="{51E4D1CC-6F07-7E35-045C-8DCD0FFB3A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2091" y="1813455"/>
            <a:ext cx="6382242" cy="425482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92C67C8-3D3C-1C29-7B89-FB3AEDAFB5F0}"/>
              </a:ext>
            </a:extLst>
          </p:cNvPr>
          <p:cNvSpPr txBox="1"/>
          <p:nvPr/>
        </p:nvSpPr>
        <p:spPr>
          <a:xfrm>
            <a:off x="4054764" y="6068283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https://unsplash.com/</a:t>
            </a:r>
            <a:r>
              <a:rPr lang="ko-KR" altLang="en-US" sz="12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7F59B6-090E-ED6F-D183-B9D12E7386B2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8124C34-AEF9-61BD-450B-BB0F33834F1F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D6556314-C8F7-D28F-6A79-23DFD53CD37E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1D2BBBD2-0794-D6C4-3419-FCB7A7233732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7BDED513-D005-5279-8196-AC7023A5322B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91DAF236-8715-8190-1585-3CAD2272C42C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" name="슬라이드 번호 개체 틀 3">
            <a:extLst>
              <a:ext uri="{FF2B5EF4-FFF2-40B4-BE49-F238E27FC236}">
                <a16:creationId xmlns:a16="http://schemas.microsoft.com/office/drawing/2014/main" id="{D1FD698F-9A54-F99D-CCF6-41036FBB81FC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9F292496-119B-6EDA-5BF1-F30D33DE8064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7FB1895E-5E84-ACF7-4E72-7CA2EE0E3FA1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20618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6E96C-D44D-69EC-5614-BCF39F3CA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9F240A1-8142-C896-0DB3-16008A6D28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19C1E6-6422-40C8-54EC-EEEFA190BA12}"/>
              </a:ext>
            </a:extLst>
          </p:cNvPr>
          <p:cNvSpPr txBox="1"/>
          <p:nvPr/>
        </p:nvSpPr>
        <p:spPr>
          <a:xfrm>
            <a:off x="542925" y="1381125"/>
            <a:ext cx="41088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https://playground.tensorflow.org/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646FD34-3153-CDDD-9C29-E76067C1F1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2550" y="1883160"/>
            <a:ext cx="8248650" cy="4438412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02466EC-7BD7-D2C1-48D5-7820AFCD7F7A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04859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E0F85-A70D-8A73-AAD1-878F3776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EE57A63-7D23-B4E0-74B6-3DA2D071416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object recognition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E5C0EC4-C99D-A7E1-E31D-10CD1405008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6DFE2-9039-4569-8172-A1CF0B18DCD4}"/>
              </a:ext>
            </a:extLst>
          </p:cNvPr>
          <p:cNvSpPr txBox="1"/>
          <p:nvPr/>
        </p:nvSpPr>
        <p:spPr>
          <a:xfrm>
            <a:off x="561975" y="1638300"/>
            <a:ext cx="53953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2"/>
              </a:rPr>
              <a:t>How computers learn to recognize objects instantly</a:t>
            </a:r>
            <a:endParaRPr lang="ko-KR" altLang="en-US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98B06CD-2675-521B-22E0-E4E96C2FB4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6498" y="2165162"/>
            <a:ext cx="6243177" cy="4210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2539799-9894-7466-6235-549C1E0D00AF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https://transcranial.github.io/keras-js/#/</a:t>
            </a:r>
          </a:p>
        </p:txBody>
      </p:sp>
    </p:spTree>
    <p:extLst>
      <p:ext uri="{BB962C8B-B14F-4D97-AF65-F5344CB8AC3E}">
        <p14:creationId xmlns:p14="http://schemas.microsoft.com/office/powerpoint/2010/main" val="11783979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3BD2B-6479-2805-C72C-E63523860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F85B561-D6FE-AC27-A340-8AE1315A6C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15228DEE-783A-5EBC-8FE7-452CF92844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930" y="1805250"/>
            <a:ext cx="9240460" cy="1731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22FCFC2-22BB-2EF8-0930-D252E05D23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2930" y="4270161"/>
            <a:ext cx="5174880" cy="240771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1E5D308-B54D-E344-1BA5-05FC986C277E}"/>
              </a:ext>
            </a:extLst>
          </p:cNvPr>
          <p:cNvSpPr txBox="1"/>
          <p:nvPr/>
        </p:nvSpPr>
        <p:spPr>
          <a:xfrm>
            <a:off x="1272280" y="138398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Word Embedding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5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4A34E38-CCCD-422B-AD62-0346A558B8FE}"/>
              </a:ext>
            </a:extLst>
          </p:cNvPr>
          <p:cNvSpPr txBox="1"/>
          <p:nvPr/>
        </p:nvSpPr>
        <p:spPr>
          <a:xfrm>
            <a:off x="1272280" y="3728311"/>
            <a:ext cx="34821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https://word2vec.kr/search/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100749-1381-9AA4-9234-98F5C77377DD}"/>
              </a:ext>
            </a:extLst>
          </p:cNvPr>
          <p:cNvSpPr txBox="1"/>
          <p:nvPr/>
        </p:nvSpPr>
        <p:spPr>
          <a:xfrm>
            <a:off x="6874190" y="4270161"/>
            <a:ext cx="1727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한국-프랑스+파리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54C5F3D-3B92-0544-8648-E4F7A9E9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70326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4535C-AEDB-6E14-2E05-66E300B92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C2D724-0AC7-DE84-2E5B-829B33F7388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96E4CC-780B-2157-8AE3-8B59B1D7F437}"/>
              </a:ext>
            </a:extLst>
          </p:cNvPr>
          <p:cNvSpPr txBox="1"/>
          <p:nvPr/>
        </p:nvSpPr>
        <p:spPr>
          <a:xfrm>
            <a:off x="475645" y="1524395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tensorflow_projector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8210A7A-250D-8F17-3A7C-539977D18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2115" y="1524395"/>
            <a:ext cx="7363256" cy="469442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697BCCA-9308-B97A-4EDE-0925D53C0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2524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7AEE5-CF3A-70A3-3CF6-4EA3730AA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AA737A-6975-7836-713E-9E88A5E9A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78C8CAD-7125-8703-ACBF-A297B5F163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Understanding how deep learning works, in three figures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C7FC4584-B934-37D2-5DC3-5988E2CBB3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4038" y="1266825"/>
            <a:ext cx="8543925" cy="4324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F017EC-7466-CCCB-E4D1-CDF983C71985}"/>
              </a:ext>
            </a:extLst>
          </p:cNvPr>
          <p:cNvSpPr txBox="1"/>
          <p:nvPr/>
        </p:nvSpPr>
        <p:spPr>
          <a:xfrm>
            <a:off x="1824038" y="576845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Lora" pitchFamily="2" charset="0"/>
              </a:rPr>
              <a:t>A neural network is parameterized by its weights.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821698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B9D89-8434-43BA-568A-47F8A4E4F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1CBDF9-E052-60DD-FBF7-089E783DF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66C4D9E-E6F1-70A8-30DA-44D2A14E22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Understanding how deep learning works, in three figures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69D935F2-5BB9-DBDF-B7AF-2F5F97219C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4" y="1426161"/>
            <a:ext cx="555729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9463587-7A94-4ACA-6C8B-CD4BA0436AC8}"/>
              </a:ext>
            </a:extLst>
          </p:cNvPr>
          <p:cNvSpPr txBox="1"/>
          <p:nvPr/>
        </p:nvSpPr>
        <p:spPr>
          <a:xfrm>
            <a:off x="1643064" y="6175900"/>
            <a:ext cx="70485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Lora" pitchFamily="2" charset="0"/>
              </a:rPr>
              <a:t>A loss function measures the quality of the network’s output.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1762535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E1DD8-7D2E-2445-5883-73541B9CA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369190-8194-BF12-D1BE-CA5F38D3C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B354A89-222A-434D-5565-41CBBB9BDD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Understanding how deep learning works, in three figures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B0C4D2-7A82-27CE-267E-D01376996FCC}"/>
              </a:ext>
            </a:extLst>
          </p:cNvPr>
          <p:cNvSpPr txBox="1"/>
          <p:nvPr/>
        </p:nvSpPr>
        <p:spPr>
          <a:xfrm>
            <a:off x="1643064" y="6175900"/>
            <a:ext cx="70485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The loss score is used as a feedback signal to adjust the weights.</a:t>
            </a:r>
            <a:endParaRPr lang="ko-KR" altLang="en-US" sz="1400" dirty="0"/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B6F2DA4F-9641-F1A2-276A-0EB0143BD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4" y="1565800"/>
            <a:ext cx="5819307" cy="4470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77955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99B2-8D9B-F35C-4502-A2DBBC902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FA686E-3F83-7B0B-9FE6-AD5614324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9E47B6C-D78D-7851-CBB7-E4EC876E98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makes deep learning different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218012-12CA-9338-6888-FE70A06E1427}"/>
              </a:ext>
            </a:extLst>
          </p:cNvPr>
          <p:cNvSpPr txBox="1"/>
          <p:nvPr/>
        </p:nvSpPr>
        <p:spPr>
          <a:xfrm>
            <a:off x="685799" y="1510755"/>
            <a:ext cx="10906125" cy="4814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Simplicity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make problem solving much easier, because it automates what used to be the most crucial step in a machine learning workflow: feature engineering.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completely automate </a:t>
            </a:r>
            <a:r>
              <a:rPr lang="en-US" altLang="ko-KR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feature engineering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step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which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has greatly simplified machine learning workflows, often replacing sophisticated multistage pipelines with a single, simple, end-to-end deep learning model.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Scalability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be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highly amenable to parallelization on GPUs or more specialized machine learning hardware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Versatility and reusability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 be trained on additional data without restarting from scratch, making them viable for continuous online learning — an important property for very large production models.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be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repurposable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and thus reusable: this is the big idea behind “foundation models” — large models trained on humongous amounts of data, which can be used across many new tasks with little retraining, or even none at all.</a:t>
            </a:r>
          </a:p>
        </p:txBody>
      </p:sp>
    </p:spTree>
    <p:extLst>
      <p:ext uri="{BB962C8B-B14F-4D97-AF65-F5344CB8AC3E}">
        <p14:creationId xmlns:p14="http://schemas.microsoft.com/office/powerpoint/2010/main" val="6056222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51C36-DFCC-1F21-3F73-E9017DC24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56DE1C-385C-23A2-1AD4-1ED2CD9C7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B99B9EE-E51F-F7F0-DB6A-FE9336215B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age of generative 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A66795-441C-DA25-A0FE-0CDFDAC05B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3974" y="1776173"/>
            <a:ext cx="3458583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2026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년 </a:t>
            </a: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 Agent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0BD82568-4AA0-ED49-F6F9-A7FA87B991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062" y="2639368"/>
            <a:ext cx="4775721" cy="2988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F99CC8F5-6B7E-15D7-1845-78AC1AA9ED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3867" y="1776173"/>
            <a:ext cx="3458583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2025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년 생성형 </a:t>
            </a: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</a:p>
        </p:txBody>
      </p:sp>
      <p:pic>
        <p:nvPicPr>
          <p:cNvPr id="8" name="그래픽 7" descr="조금 굽은 화살표">
            <a:extLst>
              <a:ext uri="{FF2B5EF4-FFF2-40B4-BE49-F238E27FC236}">
                <a16:creationId xmlns:a16="http://schemas.microsoft.com/office/drawing/2014/main" id="{8838C9EB-1870-EED6-79A3-BCD8D999D2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62450" y="1248422"/>
            <a:ext cx="1542276" cy="1542276"/>
          </a:xfrm>
          <a:prstGeom prst="rect">
            <a:avLst/>
          </a:prstGeom>
        </p:spPr>
      </p:pic>
      <p:pic>
        <p:nvPicPr>
          <p:cNvPr id="9" name="Picture 2" descr="▲Chatgpt , Gemini 외의 대화형 생성 AI는 생소하다. &quot;한국형 AI&quot;  네이버 Clova X,  카카오 AskUp, 뤼튼 Wrtn도 애정을 가지고 활용해보자..">
            <a:extLst>
              <a:ext uri="{FF2B5EF4-FFF2-40B4-BE49-F238E27FC236}">
                <a16:creationId xmlns:a16="http://schemas.microsoft.com/office/drawing/2014/main" id="{5AA33CF6-E8CA-99D0-5A9B-AD2D0D36E3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336" y="2639368"/>
            <a:ext cx="3504427" cy="2031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71190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212533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FCCN : 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 Neural Network (FCNN)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행렬식으로 표현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97431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44439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44439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97431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7005ECD-90F7-F8D9-E7DE-965B532432D2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 flipV="1">
            <a:off x="1464511" y="2624204"/>
            <a:ext cx="286056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DAFA676-AF72-0916-0AAC-6B4B11DF8AD2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>
            <a:off x="1464511" y="3154118"/>
            <a:ext cx="2860563" cy="4177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75D6BC9-B6ED-0D7A-35A1-284A46102C70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>
            <a:off x="1464511" y="3154118"/>
            <a:ext cx="2860563" cy="136539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260C829-F2C5-E49A-1BFB-5BE4D6ADAA75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 flipV="1">
            <a:off x="1464511" y="2624204"/>
            <a:ext cx="2860563" cy="1365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6781E488-706A-B873-E6DD-BEF6151CBE5F}"/>
              </a:ext>
            </a:extLst>
          </p:cNvPr>
          <p:cNvCxnSpPr>
            <a:cxnSpLocks/>
            <a:stCxn id="3" idx="6"/>
            <a:endCxn id="8" idx="2"/>
          </p:cNvCxnSpPr>
          <p:nvPr/>
        </p:nvCxnSpPr>
        <p:spPr>
          <a:xfrm>
            <a:off x="1464511" y="3989597"/>
            <a:ext cx="286056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140B20F-3D4A-5E1D-9237-5220A9C29E48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 flipV="1">
            <a:off x="1464511" y="3571858"/>
            <a:ext cx="2860563" cy="41773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B970888C-91D3-F4D3-A71E-32CD1322FD33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665718" y="2624204"/>
            <a:ext cx="2879531" cy="1669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6" name="직선 연결선 9215">
            <a:extLst>
              <a:ext uri="{FF2B5EF4-FFF2-40B4-BE49-F238E27FC236}">
                <a16:creationId xmlns:a16="http://schemas.microsoft.com/office/drawing/2014/main" id="{0746B69C-144B-848F-E473-03BE6A00EA4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4665718" y="2640895"/>
            <a:ext cx="2879530" cy="6150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8" name="직선 연결선 9217">
            <a:extLst>
              <a:ext uri="{FF2B5EF4-FFF2-40B4-BE49-F238E27FC236}">
                <a16:creationId xmlns:a16="http://schemas.microsoft.com/office/drawing/2014/main" id="{AC5FEAD9-7439-0FA3-8080-211FBEB0FA19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4665718" y="2640895"/>
            <a:ext cx="2887552" cy="12468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27" name="직선 연결선 9226">
            <a:extLst>
              <a:ext uri="{FF2B5EF4-FFF2-40B4-BE49-F238E27FC236}">
                <a16:creationId xmlns:a16="http://schemas.microsoft.com/office/drawing/2014/main" id="{14B5EE2C-DD21-AF7E-08DB-75BF03181C1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4684685" y="2624204"/>
            <a:ext cx="2868585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0" name="직선 연결선 9229">
            <a:extLst>
              <a:ext uri="{FF2B5EF4-FFF2-40B4-BE49-F238E27FC236}">
                <a16:creationId xmlns:a16="http://schemas.microsoft.com/office/drawing/2014/main" id="{A7E4E79E-E8C7-DC17-23EC-DD0E175492BA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4684685" y="2624204"/>
            <a:ext cx="2860564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2" name="직선 연결선 9231">
            <a:extLst>
              <a:ext uri="{FF2B5EF4-FFF2-40B4-BE49-F238E27FC236}">
                <a16:creationId xmlns:a16="http://schemas.microsoft.com/office/drawing/2014/main" id="{C2A752F4-5609-D677-C163-0D94FCC4A02A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4684685" y="3255973"/>
            <a:ext cx="2860563" cy="31588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3" name="직선 연결선 9232">
            <a:extLst>
              <a:ext uri="{FF2B5EF4-FFF2-40B4-BE49-F238E27FC236}">
                <a16:creationId xmlns:a16="http://schemas.microsoft.com/office/drawing/2014/main" id="{FDE5058E-9D38-8806-95EF-4646F08D006C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4684685" y="3571858"/>
            <a:ext cx="2868585" cy="3158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4" name="직선 연결선 9233">
            <a:extLst>
              <a:ext uri="{FF2B5EF4-FFF2-40B4-BE49-F238E27FC236}">
                <a16:creationId xmlns:a16="http://schemas.microsoft.com/office/drawing/2014/main" id="{A3CAE824-5655-C703-9F94-23DDF8A1BFAB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4684685" y="3571858"/>
            <a:ext cx="2868585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4" name="직선 연결선 9243">
            <a:extLst>
              <a:ext uri="{FF2B5EF4-FFF2-40B4-BE49-F238E27FC236}">
                <a16:creationId xmlns:a16="http://schemas.microsoft.com/office/drawing/2014/main" id="{087E6F6E-3F1F-FE42-D673-2BA8FC1AC801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684685" y="2624204"/>
            <a:ext cx="2860564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5" name="직선 연결선 9244">
            <a:extLst>
              <a:ext uri="{FF2B5EF4-FFF2-40B4-BE49-F238E27FC236}">
                <a16:creationId xmlns:a16="http://schemas.microsoft.com/office/drawing/2014/main" id="{EFB2D543-D01E-C14E-7DAC-701319F53EE5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263119"/>
            <a:ext cx="2822632" cy="1256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6" name="직선 연결선 9245">
            <a:extLst>
              <a:ext uri="{FF2B5EF4-FFF2-40B4-BE49-F238E27FC236}">
                <a16:creationId xmlns:a16="http://schemas.microsoft.com/office/drawing/2014/main" id="{96C9A1C2-B992-FDA5-3163-757CC1000F66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882105"/>
            <a:ext cx="2842090" cy="6374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7" name="직선 연결선 9246">
            <a:extLst>
              <a:ext uri="{FF2B5EF4-FFF2-40B4-BE49-F238E27FC236}">
                <a16:creationId xmlns:a16="http://schemas.microsoft.com/office/drawing/2014/main" id="{E4844EAC-73FF-A91C-DBF8-C62D7E13A983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4684685" y="4519512"/>
            <a:ext cx="2842090" cy="2373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56" name="직선 연결선 9255">
            <a:extLst>
              <a:ext uri="{FF2B5EF4-FFF2-40B4-BE49-F238E27FC236}">
                <a16:creationId xmlns:a16="http://schemas.microsoft.com/office/drawing/2014/main" id="{CB643D58-E287-AE6D-0BEF-D4649E64BF96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7904860" y="2624204"/>
            <a:ext cx="286858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260" name="그림 9259">
            <a:extLst>
              <a:ext uri="{FF2B5EF4-FFF2-40B4-BE49-F238E27FC236}">
                <a16:creationId xmlns:a16="http://schemas.microsoft.com/office/drawing/2014/main" id="{A07A9FC6-DF4E-29FA-0FFF-BA65FF59A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511" y="4788268"/>
            <a:ext cx="1760062" cy="544446"/>
          </a:xfrm>
          <a:prstGeom prst="rect">
            <a:avLst/>
          </a:prstGeom>
        </p:spPr>
      </p:pic>
      <p:pic>
        <p:nvPicPr>
          <p:cNvPr id="9262" name="그림 9261">
            <a:extLst>
              <a:ext uri="{FF2B5EF4-FFF2-40B4-BE49-F238E27FC236}">
                <a16:creationId xmlns:a16="http://schemas.microsoft.com/office/drawing/2014/main" id="{BA1A2289-2A8F-7DEB-5AD9-F3A40F023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217" y="4788268"/>
            <a:ext cx="2842090" cy="913070"/>
          </a:xfrm>
          <a:prstGeom prst="rect">
            <a:avLst/>
          </a:prstGeom>
        </p:spPr>
      </p:pic>
      <p:pic>
        <p:nvPicPr>
          <p:cNvPr id="9264" name="그림 9263">
            <a:extLst>
              <a:ext uri="{FF2B5EF4-FFF2-40B4-BE49-F238E27FC236}">
                <a16:creationId xmlns:a16="http://schemas.microsoft.com/office/drawing/2014/main" id="{220CC5A9-AC8B-0983-EE81-A8966A549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053" y="4788268"/>
            <a:ext cx="2263383" cy="1138122"/>
          </a:xfrm>
          <a:prstGeom prst="rect">
            <a:avLst/>
          </a:prstGeom>
        </p:spPr>
      </p:pic>
      <p:cxnSp>
        <p:nvCxnSpPr>
          <p:cNvPr id="9265" name="직선 연결선 9264">
            <a:extLst>
              <a:ext uri="{FF2B5EF4-FFF2-40B4-BE49-F238E27FC236}">
                <a16:creationId xmlns:a16="http://schemas.microsoft.com/office/drawing/2014/main" id="{9D98EAFC-EB3A-D7A1-9E2A-6E3124CF31B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912881" y="2623452"/>
            <a:ext cx="2868583" cy="136614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8" name="직선 연결선 9267">
            <a:extLst>
              <a:ext uri="{FF2B5EF4-FFF2-40B4-BE49-F238E27FC236}">
                <a16:creationId xmlns:a16="http://schemas.microsoft.com/office/drawing/2014/main" id="{D0DDA572-0297-EBBC-FC61-5AA42657A663}"/>
              </a:ext>
            </a:extLst>
          </p:cNvPr>
          <p:cNvCxnSpPr>
            <a:cxnSpLocks/>
            <a:stCxn id="9" idx="6"/>
            <a:endCxn id="15" idx="2"/>
          </p:cNvCxnSpPr>
          <p:nvPr/>
        </p:nvCxnSpPr>
        <p:spPr>
          <a:xfrm flipV="1">
            <a:off x="7904859" y="3154118"/>
            <a:ext cx="2868584" cy="10185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9" name="직선 연결선 9268">
            <a:extLst>
              <a:ext uri="{FF2B5EF4-FFF2-40B4-BE49-F238E27FC236}">
                <a16:creationId xmlns:a16="http://schemas.microsoft.com/office/drawing/2014/main" id="{C8CAD3FF-0044-B9B8-F677-82192D67F26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7904859" y="3255973"/>
            <a:ext cx="2876605" cy="7336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6" name="직선 연결선 9275">
            <a:extLst>
              <a:ext uri="{FF2B5EF4-FFF2-40B4-BE49-F238E27FC236}">
                <a16:creationId xmlns:a16="http://schemas.microsoft.com/office/drawing/2014/main" id="{4CDE6AD4-1E47-14D6-17B5-06E1D3B4BBC2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7896838" y="3154118"/>
            <a:ext cx="2876605" cy="7493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7" name="직선 연결선 9276">
            <a:extLst>
              <a:ext uri="{FF2B5EF4-FFF2-40B4-BE49-F238E27FC236}">
                <a16:creationId xmlns:a16="http://schemas.microsoft.com/office/drawing/2014/main" id="{54DE2942-69C1-7B5C-0AD5-E269C565C6D3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896838" y="3903496"/>
            <a:ext cx="2884626" cy="861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3" name="직선 연결선 9282">
            <a:extLst>
              <a:ext uri="{FF2B5EF4-FFF2-40B4-BE49-F238E27FC236}">
                <a16:creationId xmlns:a16="http://schemas.microsoft.com/office/drawing/2014/main" id="{02A0287C-6FE0-9435-78E7-4D26BD03BE09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7912881" y="3192272"/>
            <a:ext cx="2805728" cy="13272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4" name="직선 연결선 9283">
            <a:extLst>
              <a:ext uri="{FF2B5EF4-FFF2-40B4-BE49-F238E27FC236}">
                <a16:creationId xmlns:a16="http://schemas.microsoft.com/office/drawing/2014/main" id="{367806B9-1578-FF26-FE3C-C7C576614816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7912881" y="3989597"/>
            <a:ext cx="286858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89" name="TextBox 9288">
            <a:extLst>
              <a:ext uri="{FF2B5EF4-FFF2-40B4-BE49-F238E27FC236}">
                <a16:creationId xmlns:a16="http://schemas.microsoft.com/office/drawing/2014/main" id="{1A24241E-380F-D2C3-547B-9F5D8C68B62B}"/>
              </a:ext>
            </a:extLst>
          </p:cNvPr>
          <p:cNvSpPr txBox="1"/>
          <p:nvPr/>
        </p:nvSpPr>
        <p:spPr>
          <a:xfrm>
            <a:off x="1493842" y="5322157"/>
            <a:ext cx="17600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@ (2,3) = (1,3)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0" name="TextBox 9289">
            <a:extLst>
              <a:ext uri="{FF2B5EF4-FFF2-40B4-BE49-F238E27FC236}">
                <a16:creationId xmlns:a16="http://schemas.microsoft.com/office/drawing/2014/main" id="{04C3A569-4FF4-C87E-ABDA-8042FB8FB291}"/>
              </a:ext>
            </a:extLst>
          </p:cNvPr>
          <p:cNvSpPr txBox="1"/>
          <p:nvPr/>
        </p:nvSpPr>
        <p:spPr>
          <a:xfrm>
            <a:off x="5197265" y="5701338"/>
            <a:ext cx="2124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(1,3) @ (3,4) = (1,4)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1" name="TextBox 9290">
            <a:extLst>
              <a:ext uri="{FF2B5EF4-FFF2-40B4-BE49-F238E27FC236}">
                <a16:creationId xmlns:a16="http://schemas.microsoft.com/office/drawing/2014/main" id="{43BD9FC8-ECB1-B386-5E43-ADB19B72463A}"/>
              </a:ext>
            </a:extLst>
          </p:cNvPr>
          <p:cNvSpPr txBox="1"/>
          <p:nvPr/>
        </p:nvSpPr>
        <p:spPr>
          <a:xfrm>
            <a:off x="8943010" y="5942851"/>
            <a:ext cx="1827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 @ (4,2) = (1,2)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3" name="TextBox 9292">
            <a:extLst>
              <a:ext uri="{FF2B5EF4-FFF2-40B4-BE49-F238E27FC236}">
                <a16:creationId xmlns:a16="http://schemas.microsoft.com/office/drawing/2014/main" id="{7A175B21-AA0B-37A5-44B1-4A7B24D8B789}"/>
              </a:ext>
            </a:extLst>
          </p:cNvPr>
          <p:cNvSpPr txBox="1"/>
          <p:nvPr/>
        </p:nvSpPr>
        <p:spPr>
          <a:xfrm>
            <a:off x="80154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4" name="TextBox 9293">
            <a:extLst>
              <a:ext uri="{FF2B5EF4-FFF2-40B4-BE49-F238E27FC236}">
                <a16:creationId xmlns:a16="http://schemas.microsoft.com/office/drawing/2014/main" id="{771A204D-88A8-9A56-6DAF-14EA444F77B9}"/>
              </a:ext>
            </a:extLst>
          </p:cNvPr>
          <p:cNvSpPr txBox="1"/>
          <p:nvPr/>
        </p:nvSpPr>
        <p:spPr>
          <a:xfrm>
            <a:off x="1035899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put(y)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5" name="TextBox 9294">
            <a:extLst>
              <a:ext uri="{FF2B5EF4-FFF2-40B4-BE49-F238E27FC236}">
                <a16:creationId xmlns:a16="http://schemas.microsoft.com/office/drawing/2014/main" id="{5728B3CC-2C9B-CCFC-C174-806DBFC6CEAA}"/>
              </a:ext>
            </a:extLst>
          </p:cNvPr>
          <p:cNvSpPr txBox="1"/>
          <p:nvPr/>
        </p:nvSpPr>
        <p:spPr>
          <a:xfrm>
            <a:off x="3836296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1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6" name="TextBox 9295">
            <a:extLst>
              <a:ext uri="{FF2B5EF4-FFF2-40B4-BE49-F238E27FC236}">
                <a16:creationId xmlns:a16="http://schemas.microsoft.com/office/drawing/2014/main" id="{A517200C-63F5-B913-E926-2ABDAA65B72A}"/>
              </a:ext>
            </a:extLst>
          </p:cNvPr>
          <p:cNvSpPr txBox="1"/>
          <p:nvPr/>
        </p:nvSpPr>
        <p:spPr>
          <a:xfrm>
            <a:off x="6506798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605F2-9C18-E013-582A-498F408F7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 descr="점들의 네트워크의 흑백 사진">
            <a:extLst>
              <a:ext uri="{FF2B5EF4-FFF2-40B4-BE49-F238E27FC236}">
                <a16:creationId xmlns:a16="http://schemas.microsoft.com/office/drawing/2014/main" id="{90AE0AA6-ADF8-1BFF-F440-9E0F92C838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3895" y="2686050"/>
            <a:ext cx="2301073" cy="2876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454672-1BAB-01F1-57C2-11F56A735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E5003D4-1996-EEFE-8BE3-214989BD8F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FCNN Architecture</a:t>
            </a: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6CA83F80-D5DA-0FBF-4240-B4CD76EC70CE}"/>
              </a:ext>
            </a:extLst>
          </p:cNvPr>
          <p:cNvSpPr/>
          <p:nvPr/>
        </p:nvSpPr>
        <p:spPr>
          <a:xfrm>
            <a:off x="1442720" y="2844800"/>
            <a:ext cx="198120" cy="19812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933AF04B-7704-FD03-609B-C5ACFC858DFD}"/>
              </a:ext>
            </a:extLst>
          </p:cNvPr>
          <p:cNvSpPr/>
          <p:nvPr/>
        </p:nvSpPr>
        <p:spPr>
          <a:xfrm>
            <a:off x="1442720" y="4135120"/>
            <a:ext cx="198120" cy="19812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82906F9-E5E4-84FF-8153-9AB5E29FC07E}"/>
              </a:ext>
            </a:extLst>
          </p:cNvPr>
          <p:cNvSpPr/>
          <p:nvPr/>
        </p:nvSpPr>
        <p:spPr>
          <a:xfrm>
            <a:off x="1442720" y="5425441"/>
            <a:ext cx="198120" cy="19812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9DC231-0434-9EB0-06B8-F842DD34D883}"/>
              </a:ext>
            </a:extLst>
          </p:cNvPr>
          <p:cNvSpPr/>
          <p:nvPr/>
        </p:nvSpPr>
        <p:spPr>
          <a:xfrm>
            <a:off x="4744720" y="2194561"/>
            <a:ext cx="488475" cy="394208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2877830-E07E-C929-4BB3-E2952E0AC881}"/>
              </a:ext>
            </a:extLst>
          </p:cNvPr>
          <p:cNvSpPr/>
          <p:nvPr/>
        </p:nvSpPr>
        <p:spPr>
          <a:xfrm>
            <a:off x="8889205" y="2194561"/>
            <a:ext cx="488475" cy="12327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6D88C569-ED61-835B-992F-0B3D357CF47E}"/>
              </a:ext>
            </a:extLst>
          </p:cNvPr>
          <p:cNvSpPr/>
          <p:nvPr/>
        </p:nvSpPr>
        <p:spPr>
          <a:xfrm>
            <a:off x="4892040" y="2289175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EFFFE80F-3837-1A31-122B-2EBCA9A87739}"/>
              </a:ext>
            </a:extLst>
          </p:cNvPr>
          <p:cNvSpPr/>
          <p:nvPr/>
        </p:nvSpPr>
        <p:spPr>
          <a:xfrm>
            <a:off x="4892040" y="5863223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E8CBCB36-E696-F2E4-17B0-8A5D90FEE7C9}"/>
              </a:ext>
            </a:extLst>
          </p:cNvPr>
          <p:cNvSpPr/>
          <p:nvPr/>
        </p:nvSpPr>
        <p:spPr>
          <a:xfrm>
            <a:off x="4892040" y="2609427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06A4A0EC-801F-475B-FC5B-8BB37781219E}"/>
              </a:ext>
            </a:extLst>
          </p:cNvPr>
          <p:cNvSpPr/>
          <p:nvPr/>
        </p:nvSpPr>
        <p:spPr>
          <a:xfrm>
            <a:off x="4892040" y="2882054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ECBF8B9-9EAE-40D1-B381-6469847DF8F9}"/>
              </a:ext>
            </a:extLst>
          </p:cNvPr>
          <p:cNvSpPr/>
          <p:nvPr/>
        </p:nvSpPr>
        <p:spPr>
          <a:xfrm>
            <a:off x="4892040" y="3154681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EF1D6504-54EC-BE41-BDFA-85092D3E611B}"/>
              </a:ext>
            </a:extLst>
          </p:cNvPr>
          <p:cNvSpPr/>
          <p:nvPr/>
        </p:nvSpPr>
        <p:spPr>
          <a:xfrm>
            <a:off x="4892040" y="3427308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68297D93-4999-C1B4-856A-FF2F3FADAA67}"/>
              </a:ext>
            </a:extLst>
          </p:cNvPr>
          <p:cNvSpPr/>
          <p:nvPr/>
        </p:nvSpPr>
        <p:spPr>
          <a:xfrm>
            <a:off x="4892040" y="3699935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C38BC522-D4F2-DE9E-6A35-B3672E80DF0D}"/>
              </a:ext>
            </a:extLst>
          </p:cNvPr>
          <p:cNvSpPr/>
          <p:nvPr/>
        </p:nvSpPr>
        <p:spPr>
          <a:xfrm>
            <a:off x="4892040" y="3972560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E54CFAFD-58AF-87DF-ECED-58D21843EE62}"/>
              </a:ext>
            </a:extLst>
          </p:cNvPr>
          <p:cNvSpPr/>
          <p:nvPr/>
        </p:nvSpPr>
        <p:spPr>
          <a:xfrm>
            <a:off x="9027160" y="2251880"/>
            <a:ext cx="198120" cy="198120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17EB039-51A8-E52F-2B7F-2BC4DD91482A}"/>
              </a:ext>
            </a:extLst>
          </p:cNvPr>
          <p:cNvSpPr/>
          <p:nvPr/>
        </p:nvSpPr>
        <p:spPr>
          <a:xfrm>
            <a:off x="9027160" y="2568787"/>
            <a:ext cx="198120" cy="198120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69AF67FD-8BF6-5121-9BF1-E1C9330CC637}"/>
              </a:ext>
            </a:extLst>
          </p:cNvPr>
          <p:cNvSpPr/>
          <p:nvPr/>
        </p:nvSpPr>
        <p:spPr>
          <a:xfrm>
            <a:off x="9027160" y="3095414"/>
            <a:ext cx="198120" cy="198120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0759407F-4DCF-CC44-3719-5726647CBAB5}"/>
              </a:ext>
            </a:extLst>
          </p:cNvPr>
          <p:cNvSpPr/>
          <p:nvPr/>
        </p:nvSpPr>
        <p:spPr>
          <a:xfrm>
            <a:off x="6458702" y="4328621"/>
            <a:ext cx="1132840" cy="113284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CDF42377-6D0E-DBE5-C763-4BBDD680E1C0}"/>
              </a:ext>
            </a:extLst>
          </p:cNvPr>
          <p:cNvSpPr/>
          <p:nvPr/>
        </p:nvSpPr>
        <p:spPr>
          <a:xfrm>
            <a:off x="9947591" y="4328621"/>
            <a:ext cx="1132840" cy="1132840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B040E58-465D-2B52-F823-AEFEFD1F5167}"/>
                  </a:ext>
                </a:extLst>
              </p:cNvPr>
              <p:cNvSpPr txBox="1"/>
              <p:nvPr/>
            </p:nvSpPr>
            <p:spPr>
              <a:xfrm>
                <a:off x="5318722" y="4541699"/>
                <a:ext cx="1706399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latinLnBrk="1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B040E58-465D-2B52-F823-AEFEFD1F5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8722" y="4541699"/>
                <a:ext cx="1706399" cy="672172"/>
              </a:xfrm>
              <a:prstGeom prst="rect">
                <a:avLst/>
              </a:prstGeom>
              <a:blipFill>
                <a:blip r:embed="rId3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0E52007-6328-99A6-656E-AC620A409686}"/>
                  </a:ext>
                </a:extLst>
              </p:cNvPr>
              <p:cNvSpPr txBox="1"/>
              <p:nvPr/>
            </p:nvSpPr>
            <p:spPr>
              <a:xfrm>
                <a:off x="6901553" y="4708508"/>
                <a:ext cx="1282281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0E52007-6328-99A6-656E-AC620A4096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1553" y="4708508"/>
                <a:ext cx="1282281" cy="338554"/>
              </a:xfrm>
              <a:prstGeom prst="rect">
                <a:avLst/>
              </a:prstGeom>
              <a:blipFill>
                <a:blip r:embed="rId4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B9549582-C890-5354-E54B-72E68751E4AE}"/>
              </a:ext>
            </a:extLst>
          </p:cNvPr>
          <p:cNvSpPr txBox="1"/>
          <p:nvPr/>
        </p:nvSpPr>
        <p:spPr>
          <a:xfrm>
            <a:off x="619125" y="1604180"/>
            <a:ext cx="14691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Input (28 * 28)</a:t>
            </a:r>
            <a:endParaRPr lang="ko-KR" altLang="en-US" sz="14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EA59847-AA9D-AE4A-9FC0-8B0F1D2FB8C9}"/>
              </a:ext>
            </a:extLst>
          </p:cNvPr>
          <p:cNvSpPr txBox="1"/>
          <p:nvPr/>
        </p:nvSpPr>
        <p:spPr>
          <a:xfrm>
            <a:off x="2509757" y="1604180"/>
            <a:ext cx="8948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Weights</a:t>
            </a:r>
            <a:endParaRPr lang="ko-KR" altLang="en-US" sz="1400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04238D-40FF-B7DE-46A3-A0C73B07F3AA}"/>
              </a:ext>
            </a:extLst>
          </p:cNvPr>
          <p:cNvSpPr/>
          <p:nvPr/>
        </p:nvSpPr>
        <p:spPr>
          <a:xfrm>
            <a:off x="6980430" y="3774726"/>
            <a:ext cx="1066164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 function</a:t>
            </a:r>
          </a:p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ko-KR" sz="1100" dirty="0" err="1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Relu</a:t>
            </a: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5A20BE-B177-78AC-97ED-F2460DE6DFE2}"/>
              </a:ext>
            </a:extLst>
          </p:cNvPr>
          <p:cNvSpPr txBox="1"/>
          <p:nvPr/>
        </p:nvSpPr>
        <p:spPr>
          <a:xfrm>
            <a:off x="6772629" y="1604180"/>
            <a:ext cx="8948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Weights</a:t>
            </a:r>
            <a:endParaRPr lang="ko-KR" altLang="en-US" sz="1400" dirty="0"/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F98F12EE-AC97-8C44-6A88-1E555F739D1A}"/>
              </a:ext>
            </a:extLst>
          </p:cNvPr>
          <p:cNvCxnSpPr>
            <a:stCxn id="24" idx="0"/>
            <a:endCxn id="24" idx="4"/>
          </p:cNvCxnSpPr>
          <p:nvPr/>
        </p:nvCxnSpPr>
        <p:spPr>
          <a:xfrm>
            <a:off x="7025122" y="4328621"/>
            <a:ext cx="0" cy="11328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4828ABBF-A0E8-A33F-DA5D-97CD482356C1}"/>
              </a:ext>
            </a:extLst>
          </p:cNvPr>
          <p:cNvSpPr txBox="1"/>
          <p:nvPr/>
        </p:nvSpPr>
        <p:spPr>
          <a:xfrm>
            <a:off x="4103369" y="1604180"/>
            <a:ext cx="23173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Layer</a:t>
            </a:r>
            <a:r>
              <a:rPr lang="ko-KR" altLang="en-US" sz="14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(Dense</a:t>
            </a:r>
            <a:r>
              <a:rPr lang="ko-KR" altLang="en-US" sz="14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=512)</a:t>
            </a:r>
            <a:endParaRPr lang="ko-KR" altLang="en-US" sz="14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5EAD0-4525-F13A-9B0A-ECA6A7E730B0}"/>
              </a:ext>
            </a:extLst>
          </p:cNvPr>
          <p:cNvSpPr txBox="1"/>
          <p:nvPr/>
        </p:nvSpPr>
        <p:spPr>
          <a:xfrm>
            <a:off x="8273020" y="1604180"/>
            <a:ext cx="1706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Layer</a:t>
            </a:r>
            <a:r>
              <a:rPr lang="ko-KR" altLang="en-US" sz="14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(Dense</a:t>
            </a:r>
            <a:r>
              <a:rPr lang="ko-KR" altLang="en-US" sz="14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=10)</a:t>
            </a:r>
            <a:endParaRPr lang="ko-KR" altLang="en-US" sz="14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011DC52-9D70-D10A-924F-D4AAE7E6FDF9}"/>
              </a:ext>
            </a:extLst>
          </p:cNvPr>
          <p:cNvSpPr/>
          <p:nvPr/>
        </p:nvSpPr>
        <p:spPr>
          <a:xfrm>
            <a:off x="6052936" y="3814329"/>
            <a:ext cx="953135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34B423E7-6F3D-A02B-A0E0-7D13A8750AFA}"/>
              </a:ext>
            </a:extLst>
          </p:cNvPr>
          <p:cNvCxnSpPr>
            <a:cxnSpLocks/>
            <a:stCxn id="25" idx="0"/>
            <a:endCxn id="25" idx="4"/>
          </p:cNvCxnSpPr>
          <p:nvPr/>
        </p:nvCxnSpPr>
        <p:spPr>
          <a:xfrm>
            <a:off x="10514011" y="4328621"/>
            <a:ext cx="0" cy="113284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C4B07E5-8CC4-EA95-8160-3D6E55A0284F}"/>
                  </a:ext>
                </a:extLst>
              </p:cNvPr>
              <p:cNvSpPr txBox="1"/>
              <p:nvPr/>
            </p:nvSpPr>
            <p:spPr>
              <a:xfrm>
                <a:off x="8732890" y="4541699"/>
                <a:ext cx="1706399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latinLnBrk="1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q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altLang="ko-KR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C4B07E5-8CC4-EA95-8160-3D6E55A028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2890" y="4541699"/>
                <a:ext cx="1706399" cy="672172"/>
              </a:xfrm>
              <a:prstGeom prst="rect">
                <a:avLst/>
              </a:prstGeom>
              <a:blipFill>
                <a:blip r:embed="rId5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FD9ED97-B32F-292F-B4E5-3EE92C758D15}"/>
                  </a:ext>
                </a:extLst>
              </p:cNvPr>
              <p:cNvSpPr txBox="1"/>
              <p:nvPr/>
            </p:nvSpPr>
            <p:spPr>
              <a:xfrm>
                <a:off x="10405952" y="4705877"/>
                <a:ext cx="1282281" cy="3518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</m:acc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FD9ED97-B32F-292F-B4E5-3EE92C758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5952" y="4705877"/>
                <a:ext cx="1282281" cy="351828"/>
              </a:xfrm>
              <a:prstGeom prst="rect">
                <a:avLst/>
              </a:prstGeom>
              <a:blipFill>
                <a:blip r:embed="rId6"/>
                <a:stretch>
                  <a:fillRect b="-517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직사각형 30">
            <a:extLst>
              <a:ext uri="{FF2B5EF4-FFF2-40B4-BE49-F238E27FC236}">
                <a16:creationId xmlns:a16="http://schemas.microsoft.com/office/drawing/2014/main" id="{4CE80BAE-9C39-7B5F-3033-26E33C692CBD}"/>
              </a:ext>
            </a:extLst>
          </p:cNvPr>
          <p:cNvSpPr/>
          <p:nvPr/>
        </p:nvSpPr>
        <p:spPr>
          <a:xfrm>
            <a:off x="10514011" y="3798194"/>
            <a:ext cx="1066164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 function</a:t>
            </a:r>
          </a:p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ko-KR" sz="1100" dirty="0" err="1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Softmax</a:t>
            </a: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1ACFA93-7D03-94BB-EA1D-FCE12074FF17}"/>
              </a:ext>
            </a:extLst>
          </p:cNvPr>
          <p:cNvSpPr/>
          <p:nvPr/>
        </p:nvSpPr>
        <p:spPr>
          <a:xfrm>
            <a:off x="9624469" y="3803293"/>
            <a:ext cx="953135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</a:t>
            </a:r>
          </a:p>
        </p:txBody>
      </p:sp>
      <p:cxnSp>
        <p:nvCxnSpPr>
          <p:cNvPr id="38" name="연결선: 구부러짐 37">
            <a:extLst>
              <a:ext uri="{FF2B5EF4-FFF2-40B4-BE49-F238E27FC236}">
                <a16:creationId xmlns:a16="http://schemas.microsoft.com/office/drawing/2014/main" id="{73F3AF5A-F092-B3AE-4DF9-CC3B8DF654BE}"/>
              </a:ext>
            </a:extLst>
          </p:cNvPr>
          <p:cNvCxnSpPr>
            <a:cxnSpLocks/>
            <a:stCxn id="12" idx="6"/>
            <a:endCxn id="8" idx="1"/>
          </p:cNvCxnSpPr>
          <p:nvPr/>
        </p:nvCxnSpPr>
        <p:spPr>
          <a:xfrm>
            <a:off x="5090160" y="2388235"/>
            <a:ext cx="962776" cy="164153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연결선: 구부러짐 41">
            <a:extLst>
              <a:ext uri="{FF2B5EF4-FFF2-40B4-BE49-F238E27FC236}">
                <a16:creationId xmlns:a16="http://schemas.microsoft.com/office/drawing/2014/main" id="{A606EA95-A2E8-B736-2FDB-ECA9A6474740}"/>
              </a:ext>
            </a:extLst>
          </p:cNvPr>
          <p:cNvCxnSpPr>
            <a:cxnSpLocks/>
            <a:stCxn id="21" idx="6"/>
            <a:endCxn id="32" idx="0"/>
          </p:cNvCxnSpPr>
          <p:nvPr/>
        </p:nvCxnSpPr>
        <p:spPr>
          <a:xfrm>
            <a:off x="9225280" y="2350940"/>
            <a:ext cx="875757" cy="1452353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26" name="Picture 2" descr="점들의 네트워크의 흑백 사진">
            <a:extLst>
              <a:ext uri="{FF2B5EF4-FFF2-40B4-BE49-F238E27FC236}">
                <a16:creationId xmlns:a16="http://schemas.microsoft.com/office/drawing/2014/main" id="{157E05C6-892A-6211-FBBA-DDE73BFDB7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5898" y="2680334"/>
            <a:ext cx="2301073" cy="2876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C0089D40-79CD-4847-4F37-527D2720CEDC}"/>
              </a:ext>
            </a:extLst>
          </p:cNvPr>
          <p:cNvCxnSpPr/>
          <p:nvPr/>
        </p:nvCxnSpPr>
        <p:spPr>
          <a:xfrm>
            <a:off x="619125" y="1946911"/>
            <a:ext cx="10961050" cy="0"/>
          </a:xfrm>
          <a:prstGeom prst="line">
            <a:avLst/>
          </a:prstGeom>
          <a:ln w="28575"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95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Keras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1E5177-DAA5-C850-B444-DBAAB3CBFC7C}"/>
              </a:ext>
            </a:extLst>
          </p:cNvPr>
          <p:cNvSpPr txBox="1"/>
          <p:nvPr/>
        </p:nvSpPr>
        <p:spPr>
          <a:xfrm>
            <a:off x="618521" y="1417509"/>
            <a:ext cx="9895490" cy="480131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sz="17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70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keras.datasets</a:t>
            </a:r>
            <a:r>
              <a:rPr lang="en-US" altLang="ko-KR" sz="17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70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mnist</a:t>
            </a:r>
            <a:endParaRPr lang="en-US" altLang="ko-KR" sz="170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7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700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train_images</a:t>
            </a:r>
            <a:r>
              <a:rPr lang="en-US" altLang="ko-KR" sz="17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700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train_labels</a:t>
            </a:r>
            <a:r>
              <a:rPr lang="en-US" altLang="ko-KR" sz="17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), (</a:t>
            </a:r>
            <a:r>
              <a:rPr lang="en-US" altLang="ko-KR" sz="1700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test_images</a:t>
            </a:r>
            <a:r>
              <a:rPr lang="en-US" altLang="ko-KR" sz="17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700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test_labels</a:t>
            </a:r>
            <a:r>
              <a:rPr lang="en-US" altLang="ko-KR" sz="17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= </a:t>
            </a:r>
            <a:r>
              <a:rPr lang="en-US" altLang="ko-KR" sz="1700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mnist.load_data</a:t>
            </a:r>
            <a:r>
              <a:rPr lang="en-US" altLang="ko-KR" sz="17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endParaRPr lang="en-US" altLang="ko-KR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</a:t>
            </a:r>
          </a:p>
          <a:p>
            <a:r>
              <a:rPr lang="en-US" altLang="ko-KR" sz="17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7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keras.Sequential</a:t>
            </a:r>
            <a:r>
              <a:rPr lang="en-US" altLang="ko-KR" sz="17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en-US" altLang="ko-KR" sz="17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7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(512, activation="</a:t>
            </a:r>
            <a:r>
              <a:rPr lang="en-US" altLang="ko-KR" sz="17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r>
              <a:rPr lang="en-US" altLang="ko-KR" sz="17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7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7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7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7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"),]</a:t>
            </a:r>
          </a:p>
          <a:p>
            <a:r>
              <a:rPr lang="en-US" altLang="ko-KR" sz="17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model.compile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optimizer="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adam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loss="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metrics=["accuracy"],</a:t>
            </a:r>
          </a:p>
          <a:p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fr-FR" altLang="ko-KR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fr-FR" altLang="ko-KR" sz="1700" dirty="0">
                <a:solidFill>
                  <a:srgbClr val="002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model.fit(train_images, train_labels, </a:t>
            </a:r>
          </a:p>
          <a:p>
            <a:r>
              <a:rPr lang="fr-FR" altLang="ko-KR" sz="1700" dirty="0">
                <a:solidFill>
                  <a:srgbClr val="002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 epochs=5, </a:t>
            </a:r>
          </a:p>
          <a:p>
            <a:r>
              <a:rPr lang="fr-FR" altLang="ko-KR" sz="1700" dirty="0">
                <a:solidFill>
                  <a:srgbClr val="002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 batch_size=128)</a:t>
            </a: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51F69-6635-CC6B-2B87-C17F2650F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F88FA7-8401-50B2-D4FE-3B2834CD5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63BC5F5-D4C2-2D2B-6273-E39FC7FB10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5FF8CE6C-465B-6D5A-AC55-0D57C1D6E4E4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scikit-learn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120C9A-1361-4D24-80B9-BB357F428FB1}"/>
              </a:ext>
            </a:extLst>
          </p:cNvPr>
          <p:cNvSpPr txBox="1"/>
          <p:nvPr/>
        </p:nvSpPr>
        <p:spPr>
          <a:xfrm>
            <a:off x="618521" y="1417509"/>
            <a:ext cx="9895490" cy="50629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fetch_openml</a:t>
            </a:r>
            <a:endParaRPr lang="en-US" altLang="ko-KR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sklearn.neural_network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MLPClassifier</a:t>
            </a:r>
            <a:endParaRPr lang="en-US" altLang="ko-KR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로드 및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(2D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이미지를 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1D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평탄화 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+ 0~1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정규화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X, y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fetch_openml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("mnist_784", version=1,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return_X_y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=True,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as_frame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=False)</a:t>
            </a:r>
          </a:p>
          <a:p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train_images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train_labels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= X[:60000] / 255.0, y[:60000].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astype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(int)</a:t>
            </a:r>
          </a:p>
          <a:p>
            <a:endParaRPr lang="en-US" altLang="ko-KR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생성 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(1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, 512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개 노드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활성화함수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MLPClassifier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hidden_layer_sizes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=(512,),  		# Dense(512)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에 대응</a:t>
            </a:r>
          </a:p>
          <a:p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activation="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",  			# activation='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</a:p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   solver="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adam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",  			# optimizer='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adam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</a:p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batch_size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=128,  			#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batch_size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=128</a:t>
            </a:r>
          </a:p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max_iter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=5,  			# epochs=5</a:t>
            </a:r>
          </a:p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=42,</a:t>
            </a:r>
          </a:p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</a:t>
            </a:r>
          </a:p>
          <a:p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model.fit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train_images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train_labels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fr-FR" altLang="ko-KR" sz="1700" dirty="0">
              <a:solidFill>
                <a:srgbClr val="00206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545859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6A602-8A7E-CD48-D909-4D3EBB5BA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BBF228-1683-0D5C-1F2E-653C5541E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BE658BD-4E6F-71F5-6EDF-CD7ED2B139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6AD521C5-EF45-6F08-2731-274BABCD11BA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scikit-learn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62BD23-AABC-B292-DB96-5AA26AD9ACA0}"/>
              </a:ext>
            </a:extLst>
          </p:cNvPr>
          <p:cNvSpPr txBox="1"/>
          <p:nvPr/>
        </p:nvSpPr>
        <p:spPr>
          <a:xfrm>
            <a:off x="608995" y="1325176"/>
            <a:ext cx="8500478" cy="489364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scipy.stats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randint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		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확률분포를 사용하여 여러 가능성 탐색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sklearn.ensemble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RandomForestClassifier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sklearn.model_selection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RandomizedSearchCV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로드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속도를 위해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10,000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샘플 사용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X, y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fetch_openml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("mnist_784", version=1,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return_X_y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=True,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as_frame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=False)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X[:10000], y[:10000].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astype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(int)</a:t>
            </a: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탐색 범위 설정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넓은 범위 설정 가능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param_dist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{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n_estimators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randint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(50, 300),  	# 50~300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사이의 무작위 정수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max_depth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[10, 20, 30, None],  	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트리의 최대 깊이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RandomizedSearchCV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객체 생성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(10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조합 무작위 추출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x 3-Fold CV =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총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회 학습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rf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RandomForestClassifier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=42)	# Bootstrap sampling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과 특성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선택의 무작위성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random_search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RandomizedSearchCV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estimator=rf,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param_distributions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param_dist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n_iter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=10,  			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시도할 무작위 조합의 개수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cv=3,  				# 3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겹 교차 검증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scoring="accuracy",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n_jobs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=-1,  			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CPU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코어 활용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=42,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verbose=1,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729775-B592-2687-28D4-E25C2DB71472}"/>
              </a:ext>
            </a:extLst>
          </p:cNvPr>
          <p:cNvSpPr txBox="1"/>
          <p:nvPr/>
        </p:nvSpPr>
        <p:spPr>
          <a:xfrm>
            <a:off x="6650484" y="4714213"/>
            <a:ext cx="5322442" cy="1754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무작위 탐색 및 교차 검증 실행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random_search.fit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5.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최적 파라미터 및 최고 검증 점수 확인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print("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최적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:",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random_search.best_params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_)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최고 교차 검증 정확도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{random_search.best_score_:.4f}")</a:t>
            </a: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최적 모델 추출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best_model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random_search.best_estimator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_</a:t>
            </a:r>
          </a:p>
        </p:txBody>
      </p:sp>
    </p:spTree>
    <p:extLst>
      <p:ext uri="{BB962C8B-B14F-4D97-AF65-F5344CB8AC3E}">
        <p14:creationId xmlns:p14="http://schemas.microsoft.com/office/powerpoint/2010/main" val="20340469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A0E59-1EEE-A105-3A9A-1C8D2A752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B998C9-CDCF-99D9-858D-6006B01E2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26C5E8A-DF24-7A23-FCE7-564FE738E5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Home work</a:t>
            </a: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D4B24005-7503-33D0-F6AF-C5B36FFCD7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667" y="1556402"/>
            <a:ext cx="11008666" cy="3187048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0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</a:t>
            </a:r>
            <a:r>
              <a:rPr lang="en-US" altLang="ko-KR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실습하고 제출하기</a:t>
            </a:r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514350" lvl="1" indent="-285750">
              <a:lnSpc>
                <a:spcPct val="10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https://github.com/ancestor9/mathematics-for-machine-learning/blob/main/scripts/Introduction_to_deep_learning.ipynb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514350" lvl="1" indent="-285750">
              <a:lnSpc>
                <a:spcPct val="10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Feedforward, Backward,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autograd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stochastic gradient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descent, optimizer, neuron, layer, loss function</a:t>
            </a:r>
          </a:p>
          <a:p>
            <a:pPr marL="514350" lvl="1" indent="-285750">
              <a:lnSpc>
                <a:spcPct val="10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vs.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 입력변수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인식하는 방법의 차이점을 설명할 수 있나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</p:txBody>
      </p:sp>
      <p:pic>
        <p:nvPicPr>
          <p:cNvPr id="2" name="그래픽 1" descr="수영">
            <a:extLst>
              <a:ext uri="{FF2B5EF4-FFF2-40B4-BE49-F238E27FC236}">
                <a16:creationId xmlns:a16="http://schemas.microsoft.com/office/drawing/2014/main" id="{8BC22EF4-87C9-8480-B1ED-2790277B26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05287" y="33402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353611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8733</TotalTime>
  <Words>1631</Words>
  <Application>Microsoft Office PowerPoint</Application>
  <PresentationFormat>와이드스크린</PresentationFormat>
  <Paragraphs>233</Paragraphs>
  <Slides>31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43" baseType="lpstr">
      <vt:lpstr>D2Coding</vt:lpstr>
      <vt:lpstr>NanumGothicExtraBold</vt:lpstr>
      <vt:lpstr>맑은 고딕</vt:lpstr>
      <vt:lpstr>맑은 고딕 Semilight</vt:lpstr>
      <vt:lpstr>Batang</vt:lpstr>
      <vt:lpstr>ADLaM Display</vt:lpstr>
      <vt:lpstr>Arial</vt:lpstr>
      <vt:lpstr>Cambria Math</vt:lpstr>
      <vt:lpstr>Lora</vt:lpstr>
      <vt:lpstr>Times New Roman</vt:lpstr>
      <vt:lpstr>Wingdings</vt:lpstr>
      <vt:lpstr>WelcomeDoc</vt:lpstr>
      <vt:lpstr>Chapter 1   What is deep learning?</vt:lpstr>
      <vt:lpstr>PowerPoint 프레젠테이션</vt:lpstr>
      <vt:lpstr>PowerPoint 프레젠테이션</vt:lpstr>
      <vt:lpstr>PowerPoint 프레젠테이션</vt:lpstr>
      <vt:lpstr>PowerPoint 프레젠테이션</vt:lpstr>
      <vt:lpstr>Supervised Learning(지도학습) </vt:lpstr>
      <vt:lpstr>Unsupervised Learning(비지도학습)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144</cp:revision>
  <dcterms:created xsi:type="dcterms:W3CDTF">2026-04-06T01:00:39Z</dcterms:created>
  <dcterms:modified xsi:type="dcterms:W3CDTF">2026-09-03T21:37:18Z</dcterms:modified>
  <cp:version/>
</cp:coreProperties>
</file>