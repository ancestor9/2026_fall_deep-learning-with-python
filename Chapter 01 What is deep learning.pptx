
<file path=[Content_Types].xml><?xml version="1.0" encoding="utf-8"?>
<Types xmlns="http://schemas.openxmlformats.org/package/2006/content-types">
  <Default Extension="0&amp;ixid=M3wxMjA3fDB8MHxzZWFyY2h8MXx8aHVtYW4lMjBuZXVyb258ZW58MHx8MHx8fDA" ContentType="image/jpeg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1"/>
  </p:notesMasterIdLst>
  <p:handoutMasterIdLst>
    <p:handoutMasterId r:id="rId32"/>
  </p:handoutMasterIdLst>
  <p:sldIdLst>
    <p:sldId id="256" r:id="rId2"/>
    <p:sldId id="1135" r:id="rId3"/>
    <p:sldId id="1144" r:id="rId4"/>
    <p:sldId id="1169" r:id="rId5"/>
    <p:sldId id="1171" r:id="rId6"/>
    <p:sldId id="388" r:id="rId7"/>
    <p:sldId id="389" r:id="rId8"/>
    <p:sldId id="1145" r:id="rId9"/>
    <p:sldId id="1146" r:id="rId10"/>
    <p:sldId id="1147" r:id="rId11"/>
    <p:sldId id="1170" r:id="rId12"/>
    <p:sldId id="1202" r:id="rId13"/>
    <p:sldId id="1203" r:id="rId14"/>
    <p:sldId id="1148" r:id="rId15"/>
    <p:sldId id="1151" r:id="rId16"/>
    <p:sldId id="1199" r:id="rId17"/>
    <p:sldId id="1172" r:id="rId18"/>
    <p:sldId id="1201" r:id="rId19"/>
    <p:sldId id="1177" r:id="rId20"/>
    <p:sldId id="1178" r:id="rId21"/>
    <p:sldId id="1152" r:id="rId22"/>
    <p:sldId id="1153" r:id="rId23"/>
    <p:sldId id="1154" r:id="rId24"/>
    <p:sldId id="1155" r:id="rId25"/>
    <p:sldId id="1156" r:id="rId26"/>
    <p:sldId id="1157" r:id="rId27"/>
    <p:sldId id="886" r:id="rId28"/>
    <p:sldId id="1200" r:id="rId29"/>
    <p:sldId id="968" r:id="rId3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69"/>
            <p14:sldId id="1171"/>
            <p14:sldId id="388"/>
            <p14:sldId id="389"/>
            <p14:sldId id="1145"/>
            <p14:sldId id="1146"/>
            <p14:sldId id="1147"/>
            <p14:sldId id="1170"/>
            <p14:sldId id="1202"/>
            <p14:sldId id="1203"/>
            <p14:sldId id="1148"/>
            <p14:sldId id="1151"/>
            <p14:sldId id="1199"/>
            <p14:sldId id="1172"/>
            <p14:sldId id="1201"/>
            <p14:sldId id="1177"/>
            <p14:sldId id="1178"/>
            <p14:sldId id="1152"/>
            <p14:sldId id="1153"/>
            <p14:sldId id="1154"/>
            <p14:sldId id="1155"/>
            <p14:sldId id="1156"/>
            <p14:sldId id="1157"/>
            <p14:sldId id="886"/>
            <p14:sldId id="1200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aircAruvnKk&amp;list=PLZHQObOWTQDNU6R1_67000Dx_ZCJB-3pi?start=190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Deep-Learning-with-Python/blob/main/scripts/00_sklearn_keras.ipynb" TargetMode="Externa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0&amp;ixid=M3wxMjA3fDB8MHxzZWFyY2h8MXx8aHVtYW4lMjBuZXVyb258ZW58MHx8MHx8fDA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unsplash.com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layground.tensorflow.org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www.youtube.com/watch?v=Cgxsv1riJhI&amp;t=29s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ord2vec.kr/search/" TargetMode="External"/><Relationship Id="rId4" Type="http://schemas.openxmlformats.org/officeDocument/2006/relationships/hyperlink" Target="https://www.101ai.net/text/word-embed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jpeg"/><Relationship Id="rId4" Type="http://schemas.openxmlformats.org/officeDocument/2006/relationships/image" Target="../media/image41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0.png"/><Relationship Id="rId4" Type="http://schemas.openxmlformats.org/officeDocument/2006/relationships/image" Target="../media/image43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68005" y="2332321"/>
            <a:ext cx="11233469" cy="219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20269B-01B1-0716-A10B-84E6C4741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109C25-95D1-4C3B-F268-661322A0D0A4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534B-08E1-8419-3857-356E0F61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B8B7C1-764D-22ED-9281-151CA8F4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1823A-459C-E3E3-1588-6E0DCECAECFE}"/>
              </a:ext>
            </a:extLst>
          </p:cNvPr>
          <p:cNvSpPr txBox="1"/>
          <p:nvPr/>
        </p:nvSpPr>
        <p:spPr>
          <a:xfrm>
            <a:off x="542925" y="1248422"/>
            <a:ext cx="1130617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똑똑한 이유는 엄청난 양의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초고속 컴퓨터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밤낮없이 읽으면서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데이터의 패턴을 찾아냈기 때문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수능 만점자가 기출문제를 완벽하게 마스터해서 어떤 변형 문제가 나와도 맞히는 것과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 descr="A Blog on &quot;Understanding Deep Learning&quot;​ by Kalyan Mohanty - Intern (CoE- AI Lab)">
            <a:extLst>
              <a:ext uri="{FF2B5EF4-FFF2-40B4-BE49-F238E27FC236}">
                <a16:creationId xmlns:a16="http://schemas.microsoft.com/office/drawing/2014/main" id="{69601DCC-AE13-5655-6FCA-34EEF3DD1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394" y="2507566"/>
            <a:ext cx="6535612" cy="403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래픽 6" descr="고속도로 장면">
            <a:extLst>
              <a:ext uri="{FF2B5EF4-FFF2-40B4-BE49-F238E27FC236}">
                <a16:creationId xmlns:a16="http://schemas.microsoft.com/office/drawing/2014/main" id="{5AF5882A-65A1-2DEB-5801-918D3C3C1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38284" y="3501607"/>
            <a:ext cx="580403" cy="580403"/>
          </a:xfrm>
          <a:prstGeom prst="rect">
            <a:avLst/>
          </a:prstGeom>
        </p:spPr>
      </p:pic>
      <p:pic>
        <p:nvPicPr>
          <p:cNvPr id="9" name="그래픽 8" descr="봉투 열기">
            <a:extLst>
              <a:ext uri="{FF2B5EF4-FFF2-40B4-BE49-F238E27FC236}">
                <a16:creationId xmlns:a16="http://schemas.microsoft.com/office/drawing/2014/main" id="{97BFBBE8-4C60-A151-E375-169FEE8D7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96205" y="4082010"/>
            <a:ext cx="580403" cy="580403"/>
          </a:xfrm>
          <a:prstGeom prst="rect">
            <a:avLst/>
          </a:prstGeom>
        </p:spPr>
      </p:pic>
      <p:pic>
        <p:nvPicPr>
          <p:cNvPr id="11" name="그래픽 10" descr="팟캐스트">
            <a:extLst>
              <a:ext uri="{FF2B5EF4-FFF2-40B4-BE49-F238E27FC236}">
                <a16:creationId xmlns:a16="http://schemas.microsoft.com/office/drawing/2014/main" id="{84E2B080-9A0B-091C-9565-D7C4B05463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305497" y="4831462"/>
            <a:ext cx="580403" cy="5804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3F3519-D0F6-4D31-E9C0-E0AF5A640E77}"/>
              </a:ext>
            </a:extLst>
          </p:cNvPr>
          <p:cNvSpPr txBox="1"/>
          <p:nvPr/>
        </p:nvSpPr>
        <p:spPr>
          <a:xfrm>
            <a:off x="9646501" y="4690777"/>
            <a:ext cx="226240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Big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Computing power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Algorithm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25B7FF9-8432-EB94-D532-CA81EDD3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333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400182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0586-3065-34CB-E356-1E7377D50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583" y="399196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7057D25-D20A-36CB-6B01-6CF77FBEB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06936-C080-0D34-4C7E-58D2F60C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571DE09-F9FE-74A3-950A-ADAE199E91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deep learning?</a:t>
            </a:r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38311887-7539-A3E5-9349-9D1B77683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1348552"/>
            <a:ext cx="8669111" cy="4880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660A78-E863-CDFF-54AA-99809CD5E86C}"/>
              </a:ext>
            </a:extLst>
          </p:cNvPr>
          <p:cNvSpPr txBox="1"/>
          <p:nvPr/>
        </p:nvSpPr>
        <p:spPr>
          <a:xfrm>
            <a:off x="2954387" y="6277467"/>
            <a:ext cx="76393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neural network?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(start= 3 min, end = 5 min)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C0685187-DFAF-3DF6-551D-6BFE96964E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571309" cy="15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734F49-55E6-737D-87D1-EE09CAE9B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24" y="1348551"/>
            <a:ext cx="3191365" cy="276624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9571667-B20D-7DA4-45F8-1B7D64FC90FE}"/>
              </a:ext>
            </a:extLst>
          </p:cNvPr>
          <p:cNvSpPr/>
          <p:nvPr/>
        </p:nvSpPr>
        <p:spPr>
          <a:xfrm>
            <a:off x="4252687" y="1728259"/>
            <a:ext cx="768539" cy="6211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AE7469-B60E-60E2-36E4-5AA10FA30919}"/>
              </a:ext>
            </a:extLst>
          </p:cNvPr>
          <p:cNvCxnSpPr>
            <a:cxnSpLocks/>
          </p:cNvCxnSpPr>
          <p:nvPr/>
        </p:nvCxnSpPr>
        <p:spPr>
          <a:xfrm flipH="1" flipV="1">
            <a:off x="3630389" y="1307194"/>
            <a:ext cx="1390837" cy="42106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77B65A1-24EA-48CD-744D-90B01F28E1BA}"/>
              </a:ext>
            </a:extLst>
          </p:cNvPr>
          <p:cNvCxnSpPr>
            <a:cxnSpLocks/>
          </p:cNvCxnSpPr>
          <p:nvPr/>
        </p:nvCxnSpPr>
        <p:spPr>
          <a:xfrm flipH="1">
            <a:off x="3668750" y="2390775"/>
            <a:ext cx="1352476" cy="169922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458C62-3780-5E53-F202-8348743CDF01}"/>
              </a:ext>
            </a:extLst>
          </p:cNvPr>
          <p:cNvSpPr txBox="1"/>
          <p:nvPr/>
        </p:nvSpPr>
        <p:spPr>
          <a:xfrm>
            <a:off x="4335293" y="3160276"/>
            <a:ext cx="1522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7C96DB4D-CEC1-72A8-8EB5-2A0699CA77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21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EF3E6-6951-6D3C-C5A8-292120BA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DBD1CB-673E-C08F-0E44-C0D1867FBD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scikit-learn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vs.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deep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EF105439-A555-E311-0355-BD0AF53F13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수영">
            <a:extLst>
              <a:ext uri="{FF2B5EF4-FFF2-40B4-BE49-F238E27FC236}">
                <a16:creationId xmlns:a16="http://schemas.microsoft.com/office/drawing/2014/main" id="{CC84DAC0-B6DC-3039-D565-5A0D09D56A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334022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BE83894-6197-0A32-D91C-CCA329CCEF37}"/>
              </a:ext>
            </a:extLst>
          </p:cNvPr>
          <p:cNvSpPr txBox="1"/>
          <p:nvPr/>
        </p:nvSpPr>
        <p:spPr>
          <a:xfrm>
            <a:off x="723900" y="2732889"/>
            <a:ext cx="8858855" cy="19421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tensorflow.keras.datasets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fashion_mnist</a:t>
            </a: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MNIST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fashion_mnist.load_data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b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50%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슬라이싱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n_train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* 0.5)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n_test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x_test_full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* 0.5)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BA8BFE-D256-83BC-5E44-98AF85FEB80F}"/>
              </a:ext>
            </a:extLst>
          </p:cNvPr>
          <p:cNvSpPr txBox="1"/>
          <p:nvPr/>
        </p:nvSpPr>
        <p:spPr>
          <a:xfrm>
            <a:off x="600075" y="1195156"/>
            <a:ext cx="1101961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Fashion_minst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KNN, FNN(Feed Forward Neural Networks), CNN(Convolutional Neural Networks)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성능을 비교하자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C2E093B-2BA7-3607-2C84-3E970291B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307" y="3703988"/>
            <a:ext cx="3895725" cy="315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A75DFA-2918-AD5C-81ED-84FC2EC0F1F3}"/>
              </a:ext>
            </a:extLst>
          </p:cNvPr>
          <p:cNvSpPr txBox="1"/>
          <p:nvPr/>
        </p:nvSpPr>
        <p:spPr>
          <a:xfrm>
            <a:off x="723900" y="2425112"/>
            <a:ext cx="6109365" cy="30777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2026_Fall_Deep-Learning-with-Python/scripts/00_sklearn_keras.ipynb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2217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E6ECF-D5D4-5727-A4B3-CD7373573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4EAA7C6-5C04-2121-7289-74B62D9E5E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scikit-learn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vs.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deep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12" name="슬라이드 번호 개체 틀 3">
            <a:extLst>
              <a:ext uri="{FF2B5EF4-FFF2-40B4-BE49-F238E27FC236}">
                <a16:creationId xmlns:a16="http://schemas.microsoft.com/office/drawing/2014/main" id="{19A1AFB4-AE78-25F4-1AB9-8B5933BC913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수영">
            <a:extLst>
              <a:ext uri="{FF2B5EF4-FFF2-40B4-BE49-F238E27FC236}">
                <a16:creationId xmlns:a16="http://schemas.microsoft.com/office/drawing/2014/main" id="{789E8719-62C2-0750-B8C7-E22B625AA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8CA5A1-9984-2A7A-525F-635579CAF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995" y="1396383"/>
            <a:ext cx="3895725" cy="315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48AF26-2153-6730-7B92-D1E53EE56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3850" y="2862882"/>
            <a:ext cx="8009945" cy="3309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730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8E67-964D-BF9B-EF2C-CA14CE24B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B73370-1ECF-A136-2224-D44EA90FC7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 Neurons ?</a:t>
            </a:r>
          </a:p>
        </p:txBody>
      </p:sp>
      <p:pic>
        <p:nvPicPr>
          <p:cNvPr id="12" name="그림 11" descr="What Is a Neuron? Diagrams, Types, Function, and More">
            <a:extLst>
              <a:ext uri="{FF2B5EF4-FFF2-40B4-BE49-F238E27FC236}">
                <a16:creationId xmlns:a16="http://schemas.microsoft.com/office/drawing/2014/main" id="{6D05F76D-3C80-4EEE-94EE-740DF57E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26" y="1813455"/>
            <a:ext cx="3489665" cy="2571173"/>
          </a:xfrm>
          <a:prstGeom prst="rect">
            <a:avLst/>
          </a:prstGeom>
        </p:spPr>
      </p:pic>
      <p:pic>
        <p:nvPicPr>
          <p:cNvPr id="13" name="그림 12" descr="파란색 배경 위에 빛나는 부분이 있는 파란색 뉴런. 뉴런 인터페이스와 컴퓨터 과학 개념. 3D 렌더링 복사 공간">
            <a:extLst>
              <a:ext uri="{FF2B5EF4-FFF2-40B4-BE49-F238E27FC236}">
                <a16:creationId xmlns:a16="http://schemas.microsoft.com/office/drawing/2014/main" id="{51E4D1CC-6F07-7E35-045C-8DCD0FFB3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091" y="1813455"/>
            <a:ext cx="6382242" cy="42548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92C67C8-3D3C-1C29-7B89-FB3AEDAFB5F0}"/>
              </a:ext>
            </a:extLst>
          </p:cNvPr>
          <p:cNvSpPr txBox="1"/>
          <p:nvPr/>
        </p:nvSpPr>
        <p:spPr>
          <a:xfrm>
            <a:off x="4054764" y="606828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https://unsplash.com/</a:t>
            </a:r>
            <a:r>
              <a:rPr lang="ko-KR" altLang="en-US" sz="12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7F59B6-090E-ED6F-D183-B9D12E7386B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124C34-AEF9-61BD-450B-BB0F33834F1F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6556314-C8F7-D28F-6A79-23DFD53CD37E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D2BBBD2-0794-D6C4-3419-FCB7A7233732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7BDED513-D005-5279-8196-AC7023A5322B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91DAF236-8715-8190-1585-3CAD2272C42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슬라이드 번호 개체 틀 3">
            <a:extLst>
              <a:ext uri="{FF2B5EF4-FFF2-40B4-BE49-F238E27FC236}">
                <a16:creationId xmlns:a16="http://schemas.microsoft.com/office/drawing/2014/main" id="{D1FD698F-9A54-F99D-CCF6-41036FBB81FC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F292496-119B-6EDA-5BF1-F30D33DE8064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7FB1895E-5E84-ACF7-4E72-7CA2EE0E3FA1}"/>
              </a:ext>
            </a:extLst>
          </p:cNvPr>
          <p:cNvSpPr txBox="1">
            <a:spLocks/>
          </p:cNvSpPr>
          <p:nvPr/>
        </p:nvSpPr>
        <p:spPr>
          <a:xfrm>
            <a:off x="11162487" y="30958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2061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E96C-D44D-69EC-5614-BCF39F3C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9F240A1-8142-C896-0DB3-16008A6D2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19C1E6-6422-40C8-54EC-EEEFA190BA12}"/>
              </a:ext>
            </a:extLst>
          </p:cNvPr>
          <p:cNvSpPr txBox="1"/>
          <p:nvPr/>
        </p:nvSpPr>
        <p:spPr>
          <a:xfrm>
            <a:off x="542925" y="1381125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https://playground.tensorflow.org/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646FD34-3153-CDDD-9C29-E76067C1F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1883160"/>
            <a:ext cx="8248650" cy="443841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2466EC-7BD7-D2C1-48D5-7820AFCD7F7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485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E0F85-A70D-8A73-AAD1-878F3776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EE57A63-7D23-B4E0-74B6-3DA2D07141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object recognition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5C0EC4-C99D-A7E1-E31D-10CD1405008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6DFE2-9039-4569-8172-A1CF0B18DCD4}"/>
              </a:ext>
            </a:extLst>
          </p:cNvPr>
          <p:cNvSpPr txBox="1"/>
          <p:nvPr/>
        </p:nvSpPr>
        <p:spPr>
          <a:xfrm>
            <a:off x="561975" y="1638300"/>
            <a:ext cx="5395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How computers learn to recognize objects instantly</a:t>
            </a:r>
            <a:endParaRPr lang="ko-KR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8B06CD-2675-521B-22E0-E4E96C2FB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498" y="2165162"/>
            <a:ext cx="6243177" cy="4210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397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3BD2B-6479-2805-C72C-E6352386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85B561-D6FE-AC27-A340-8AE1315A6C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5228DEE-783A-5EBC-8FE7-452CF9284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30" y="1805250"/>
            <a:ext cx="9240460" cy="173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22FCFC2-22BB-2EF8-0930-D252E05D2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930" y="4270161"/>
            <a:ext cx="5174880" cy="24077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5D308-B54D-E344-1BA5-05FC986C277E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A34E38-CCCD-422B-AD62-0346A558B8FE}"/>
              </a:ext>
            </a:extLst>
          </p:cNvPr>
          <p:cNvSpPr txBox="1"/>
          <p:nvPr/>
        </p:nvSpPr>
        <p:spPr>
          <a:xfrm>
            <a:off x="1272280" y="3728311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100749-1381-9AA4-9234-98F5C77377DD}"/>
              </a:ext>
            </a:extLst>
          </p:cNvPr>
          <p:cNvSpPr txBox="1"/>
          <p:nvPr/>
        </p:nvSpPr>
        <p:spPr>
          <a:xfrm>
            <a:off x="6874190" y="4270161"/>
            <a:ext cx="172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한국-프랑스+파리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54C5F3D-3B92-0544-8648-E4F7A9E9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70326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318704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제출하기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loss function</a:t>
            </a: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입력변수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인식하는 방법의 차이점을 설명할 수 있나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05F2-9C18-E013-582A-498F408F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54672-1BAB-01F1-57C2-11F56A73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5003D4-1996-EEFE-8BE3-214989BD8F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FCNN Architecture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CA83F80-D5DA-0FBF-4240-B4CD76EC70CE}"/>
              </a:ext>
            </a:extLst>
          </p:cNvPr>
          <p:cNvSpPr/>
          <p:nvPr/>
        </p:nvSpPr>
        <p:spPr>
          <a:xfrm>
            <a:off x="1442720" y="284480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33AF04B-7704-FD03-609B-C5ACFC858DFD}"/>
              </a:ext>
            </a:extLst>
          </p:cNvPr>
          <p:cNvSpPr/>
          <p:nvPr/>
        </p:nvSpPr>
        <p:spPr>
          <a:xfrm>
            <a:off x="1442720" y="413512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82906F9-E5E4-84FF-8153-9AB5E29FC07E}"/>
              </a:ext>
            </a:extLst>
          </p:cNvPr>
          <p:cNvSpPr/>
          <p:nvPr/>
        </p:nvSpPr>
        <p:spPr>
          <a:xfrm>
            <a:off x="1442720" y="5425441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9DC231-0434-9EB0-06B8-F842DD34D883}"/>
              </a:ext>
            </a:extLst>
          </p:cNvPr>
          <p:cNvSpPr/>
          <p:nvPr/>
        </p:nvSpPr>
        <p:spPr>
          <a:xfrm>
            <a:off x="4268470" y="2194561"/>
            <a:ext cx="488475" cy="39420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877830-E07E-C929-4BB3-E2952E0AC881}"/>
              </a:ext>
            </a:extLst>
          </p:cNvPr>
          <p:cNvSpPr/>
          <p:nvPr/>
        </p:nvSpPr>
        <p:spPr>
          <a:xfrm>
            <a:off x="8889205" y="2194561"/>
            <a:ext cx="488475" cy="12327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D88C569-ED61-835B-992F-0B3D357CF47E}"/>
              </a:ext>
            </a:extLst>
          </p:cNvPr>
          <p:cNvSpPr/>
          <p:nvPr/>
        </p:nvSpPr>
        <p:spPr>
          <a:xfrm>
            <a:off x="4415790" y="233680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FFE80F-3837-1A31-122B-2EBCA9A87739}"/>
              </a:ext>
            </a:extLst>
          </p:cNvPr>
          <p:cNvSpPr/>
          <p:nvPr/>
        </p:nvSpPr>
        <p:spPr>
          <a:xfrm>
            <a:off x="4415790" y="5863223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8CBCB36-E696-F2E4-17B0-8A5D90FEE7C9}"/>
              </a:ext>
            </a:extLst>
          </p:cNvPr>
          <p:cNvSpPr/>
          <p:nvPr/>
        </p:nvSpPr>
        <p:spPr>
          <a:xfrm>
            <a:off x="4415790" y="2609427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6A4A0EC-801F-475B-FC5B-8BB37781219E}"/>
              </a:ext>
            </a:extLst>
          </p:cNvPr>
          <p:cNvSpPr/>
          <p:nvPr/>
        </p:nvSpPr>
        <p:spPr>
          <a:xfrm>
            <a:off x="4415790" y="2882054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ECBF8B9-9EAE-40D1-B381-6469847DF8F9}"/>
              </a:ext>
            </a:extLst>
          </p:cNvPr>
          <p:cNvSpPr/>
          <p:nvPr/>
        </p:nvSpPr>
        <p:spPr>
          <a:xfrm>
            <a:off x="4415790" y="3154681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F1D6504-54EC-BE41-BDFA-85092D3E611B}"/>
              </a:ext>
            </a:extLst>
          </p:cNvPr>
          <p:cNvSpPr/>
          <p:nvPr/>
        </p:nvSpPr>
        <p:spPr>
          <a:xfrm>
            <a:off x="4415790" y="3427308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68297D93-4999-C1B4-856A-FF2F3FADAA67}"/>
              </a:ext>
            </a:extLst>
          </p:cNvPr>
          <p:cNvSpPr/>
          <p:nvPr/>
        </p:nvSpPr>
        <p:spPr>
          <a:xfrm>
            <a:off x="4415790" y="369993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38BC522-D4F2-DE9E-6A35-B3672E80DF0D}"/>
              </a:ext>
            </a:extLst>
          </p:cNvPr>
          <p:cNvSpPr/>
          <p:nvPr/>
        </p:nvSpPr>
        <p:spPr>
          <a:xfrm>
            <a:off x="4415790" y="397256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E54CFAFD-58AF-87DF-ECED-58D21843EE62}"/>
              </a:ext>
            </a:extLst>
          </p:cNvPr>
          <p:cNvSpPr/>
          <p:nvPr/>
        </p:nvSpPr>
        <p:spPr>
          <a:xfrm>
            <a:off x="9027160" y="2280455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17EB039-51A8-E52F-2B7F-2BC4DD91482A}"/>
              </a:ext>
            </a:extLst>
          </p:cNvPr>
          <p:cNvSpPr/>
          <p:nvPr/>
        </p:nvSpPr>
        <p:spPr>
          <a:xfrm>
            <a:off x="9027160" y="2568787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9AF67FD-8BF6-5121-9BF1-E1C9330CC637}"/>
              </a:ext>
            </a:extLst>
          </p:cNvPr>
          <p:cNvSpPr/>
          <p:nvPr/>
        </p:nvSpPr>
        <p:spPr>
          <a:xfrm>
            <a:off x="9027160" y="3095414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759407F-4DCF-CC44-3719-5726647CBAB5}"/>
              </a:ext>
            </a:extLst>
          </p:cNvPr>
          <p:cNvSpPr/>
          <p:nvPr/>
        </p:nvSpPr>
        <p:spPr>
          <a:xfrm>
            <a:off x="5982452" y="4328621"/>
            <a:ext cx="1132840" cy="11328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DF42377-6D0E-DBE5-C763-4BBDD680E1C0}"/>
              </a:ext>
            </a:extLst>
          </p:cNvPr>
          <p:cNvSpPr/>
          <p:nvPr/>
        </p:nvSpPr>
        <p:spPr>
          <a:xfrm>
            <a:off x="9947591" y="4328621"/>
            <a:ext cx="1132840" cy="113284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/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blipFill>
                <a:blip r:embed="rId2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/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B9549582-C890-5354-E54B-72E68751E4AE}"/>
              </a:ext>
            </a:extLst>
          </p:cNvPr>
          <p:cNvSpPr txBox="1"/>
          <p:nvPr/>
        </p:nvSpPr>
        <p:spPr>
          <a:xfrm>
            <a:off x="619125" y="1728005"/>
            <a:ext cx="14691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 (28 * 28)</a:t>
            </a:r>
            <a:endParaRPr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A59847-AA9D-AE4A-9FC0-8B0F1D2FB8C9}"/>
              </a:ext>
            </a:extLst>
          </p:cNvPr>
          <p:cNvSpPr txBox="1"/>
          <p:nvPr/>
        </p:nvSpPr>
        <p:spPr>
          <a:xfrm>
            <a:off x="229068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04238D-40FF-B7DE-46A3-A0C73B07F3AA}"/>
              </a:ext>
            </a:extLst>
          </p:cNvPr>
          <p:cNvSpPr/>
          <p:nvPr/>
        </p:nvSpPr>
        <p:spPr>
          <a:xfrm>
            <a:off x="6504180" y="3774726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Relu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5A20BE-B177-78AC-97ED-F2460DE6DFE2}"/>
              </a:ext>
            </a:extLst>
          </p:cNvPr>
          <p:cNvSpPr txBox="1"/>
          <p:nvPr/>
        </p:nvSpPr>
        <p:spPr>
          <a:xfrm>
            <a:off x="6667854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98F12EE-AC97-8C44-6A88-1E555F739D1A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6548872" y="4328621"/>
            <a:ext cx="0" cy="11328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828ABBF-A0E8-A33F-DA5D-97CD482356C1}"/>
              </a:ext>
            </a:extLst>
          </p:cNvPr>
          <p:cNvSpPr txBox="1"/>
          <p:nvPr/>
        </p:nvSpPr>
        <p:spPr>
          <a:xfrm>
            <a:off x="3627119" y="1728005"/>
            <a:ext cx="23173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=512)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5EAD0-4525-F13A-9B0A-ECA6A7E730B0}"/>
              </a:ext>
            </a:extLst>
          </p:cNvPr>
          <p:cNvSpPr txBox="1"/>
          <p:nvPr/>
        </p:nvSpPr>
        <p:spPr>
          <a:xfrm>
            <a:off x="8273020" y="1728005"/>
            <a:ext cx="170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11DC52-9D70-D10A-924F-D4AAE7E6FDF9}"/>
              </a:ext>
            </a:extLst>
          </p:cNvPr>
          <p:cNvSpPr/>
          <p:nvPr/>
        </p:nvSpPr>
        <p:spPr>
          <a:xfrm>
            <a:off x="5576686" y="3814329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23E7-6F3D-A02B-A0E0-7D13A8750AFA}"/>
              </a:ext>
            </a:extLst>
          </p:cNvPr>
          <p:cNvCxnSpPr>
            <a:cxnSpLocks/>
            <a:stCxn id="25" idx="0"/>
            <a:endCxn id="25" idx="4"/>
          </p:cNvCxnSpPr>
          <p:nvPr/>
        </p:nvCxnSpPr>
        <p:spPr>
          <a:xfrm>
            <a:off x="10514011" y="4328621"/>
            <a:ext cx="0" cy="113284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/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/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blipFill>
                <a:blip r:embed="rId5"/>
                <a:stretch>
                  <a:fillRect b="-51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직사각형 30">
            <a:extLst>
              <a:ext uri="{FF2B5EF4-FFF2-40B4-BE49-F238E27FC236}">
                <a16:creationId xmlns:a16="http://schemas.microsoft.com/office/drawing/2014/main" id="{4CE80BAE-9C39-7B5F-3033-26E33C692CBD}"/>
              </a:ext>
            </a:extLst>
          </p:cNvPr>
          <p:cNvSpPr/>
          <p:nvPr/>
        </p:nvSpPr>
        <p:spPr>
          <a:xfrm>
            <a:off x="10514011" y="3798194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Softmax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ACFA93-7D03-94BB-EA1D-FCE12074FF17}"/>
              </a:ext>
            </a:extLst>
          </p:cNvPr>
          <p:cNvSpPr/>
          <p:nvPr/>
        </p:nvSpPr>
        <p:spPr>
          <a:xfrm>
            <a:off x="9624469" y="3803293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73F3AF5A-F092-B3AE-4DF9-CC3B8DF654BE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4613910" y="2435860"/>
            <a:ext cx="962776" cy="15939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A606EA95-A2E8-B736-2FDB-ECA9A6474740}"/>
              </a:ext>
            </a:extLst>
          </p:cNvPr>
          <p:cNvCxnSpPr>
            <a:cxnSpLocks/>
            <a:stCxn id="21" idx="6"/>
            <a:endCxn id="32" idx="0"/>
          </p:cNvCxnSpPr>
          <p:nvPr/>
        </p:nvCxnSpPr>
        <p:spPr>
          <a:xfrm>
            <a:off x="9225280" y="2379515"/>
            <a:ext cx="875757" cy="142377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Keras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1E5177-DAA5-C850-B444-DBAAB3CBFC7C}"/>
              </a:ext>
            </a:extLst>
          </p:cNvPr>
          <p:cNvSpPr txBox="1"/>
          <p:nvPr/>
        </p:nvSpPr>
        <p:spPr>
          <a:xfrm>
            <a:off x="656619" y="1621393"/>
            <a:ext cx="10944831" cy="48481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>
              <a:lnSpc>
                <a:spcPts val="1219"/>
              </a:lnSpc>
              <a:buNone/>
            </a:pP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keras.datasets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sz="160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test_images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test_labels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[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optimizer="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loss="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metrics=["accuracy"],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219"/>
              </a:lnSpc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model.fit(train_images, train_labels, epochs=5, batch_size=128)</a:t>
            </a: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8687</TotalTime>
  <Words>1046</Words>
  <Application>Microsoft Office PowerPoint</Application>
  <PresentationFormat>와이드스크린</PresentationFormat>
  <Paragraphs>176</Paragraphs>
  <Slides>29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41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Cambria Math</vt:lpstr>
      <vt:lpstr>Lora</vt:lpstr>
      <vt:lpstr>Times New Roman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143</cp:revision>
  <dcterms:created xsi:type="dcterms:W3CDTF">2026-04-06T01:00:39Z</dcterms:created>
  <dcterms:modified xsi:type="dcterms:W3CDTF">2026-09-03T11:40:31Z</dcterms:modified>
  <cp:version/>
</cp:coreProperties>
</file>