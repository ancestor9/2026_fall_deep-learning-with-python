
<file path=[Content_Types].xml><?xml version="1.0" encoding="utf-8"?>
<Types xmlns="http://schemas.openxmlformats.org/package/2006/content-types">
  <Default Extension="0&amp;ixid=M3wxMjA3fDB8MHxzZWFyY2h8MXx8aHVtYW4lMjBuZXVyb258ZW58MHx8MHx8fDA" ContentType="image/jpeg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1135" r:id="rId3"/>
    <p:sldId id="1144" r:id="rId4"/>
    <p:sldId id="1169" r:id="rId5"/>
    <p:sldId id="1171" r:id="rId6"/>
    <p:sldId id="388" r:id="rId7"/>
    <p:sldId id="389" r:id="rId8"/>
    <p:sldId id="1145" r:id="rId9"/>
    <p:sldId id="1146" r:id="rId10"/>
    <p:sldId id="1147" r:id="rId11"/>
    <p:sldId id="1170" r:id="rId12"/>
    <p:sldId id="1202" r:id="rId13"/>
    <p:sldId id="1203" r:id="rId14"/>
    <p:sldId id="1148" r:id="rId15"/>
    <p:sldId id="1151" r:id="rId16"/>
    <p:sldId id="1199" r:id="rId17"/>
    <p:sldId id="1172" r:id="rId18"/>
    <p:sldId id="1201" r:id="rId19"/>
    <p:sldId id="1177" r:id="rId20"/>
    <p:sldId id="1178" r:id="rId21"/>
    <p:sldId id="1152" r:id="rId22"/>
    <p:sldId id="1153" r:id="rId23"/>
    <p:sldId id="1154" r:id="rId24"/>
    <p:sldId id="1155" r:id="rId25"/>
    <p:sldId id="1156" r:id="rId26"/>
    <p:sldId id="1157" r:id="rId27"/>
    <p:sldId id="886" r:id="rId28"/>
    <p:sldId id="1200" r:id="rId29"/>
    <p:sldId id="968" r:id="rId3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44"/>
            <p14:sldId id="1169"/>
            <p14:sldId id="1171"/>
            <p14:sldId id="388"/>
            <p14:sldId id="389"/>
            <p14:sldId id="1145"/>
            <p14:sldId id="1146"/>
            <p14:sldId id="1147"/>
            <p14:sldId id="1170"/>
            <p14:sldId id="1202"/>
            <p14:sldId id="1203"/>
            <p14:sldId id="1148"/>
            <p14:sldId id="1151"/>
            <p14:sldId id="1199"/>
            <p14:sldId id="1172"/>
            <p14:sldId id="1201"/>
            <p14:sldId id="1177"/>
            <p14:sldId id="1178"/>
            <p14:sldId id="1152"/>
            <p14:sldId id="1153"/>
            <p14:sldId id="1154"/>
            <p14:sldId id="1155"/>
            <p14:sldId id="1156"/>
            <p14:sldId id="1157"/>
            <p14:sldId id="886"/>
            <p14:sldId id="1200"/>
            <p14:sldId id="96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237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2026-08-18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2026-08-18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2026-08-18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mpo/a-brief-history-of-ai-with-deep-learning-26f7948bc87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www.youtube.com/watch?v=aircAruvnKk&amp;list=PLZHQObOWTQDNU6R1_67000Dx_ZCJB-3pi?start=19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0&amp;ixid=M3wxMjA3fDB8MHxzZWFyY2h8MXx8aHVtYW4lMjBuZXVyb258ZW58MHx8MHx8fDA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unsplash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playground.tensorflow.org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www.youtube.com/watch?v=Cgxsv1riJhI&amp;t=29s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ord2vec.kr/search/" TargetMode="External"/><Relationship Id="rId4" Type="http://schemas.openxmlformats.org/officeDocument/2006/relationships/hyperlink" Target="https://www.101ai.net/text/word-embe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projector.tensorflow.org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jpeg"/><Relationship Id="rId4" Type="http://schemas.openxmlformats.org/officeDocument/2006/relationships/image" Target="../media/image41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cestor9/mathematics-for-machine-learning/blob/main/scripts/Introduction_to_deep_learning.ipynb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0.png"/><Relationship Id="rId4" Type="http://schemas.openxmlformats.org/officeDocument/2006/relationships/image" Target="../media/image4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658476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1 </a:t>
            </a:r>
            <a:br>
              <a:rPr lang="en-US" altLang="ko-KR" sz="4400" dirty="0">
                <a:solidFill>
                  <a:schemeClr val="bg1"/>
                </a:solidFill>
              </a:rPr>
            </a:b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What is deep learning?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9687-4C48-8DA7-5F76-6B7712A5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568005" y="2332321"/>
            <a:ext cx="11233469" cy="219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High-level definitions of fundamental concepts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A soft introduction to the principles behind machine learning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Deep learning’s rising popularity and future potential</a:t>
            </a:r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BC892-601E-1AA8-C846-9F4AAFE7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Artificial intelligence, machine learning, and deep learning</a:t>
            </a:r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B801C839-C8F2-B5BC-EA50-D55C798B2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790700"/>
            <a:ext cx="6162675" cy="4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44BF-486E-CF55-333D-077990DD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360DF4-4F71-F6BE-C5F9-A496011E33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577F4F-3E3E-FB6A-7D3A-40B3DC62FDFA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20269B-01B1-0716-A10B-84E6C4741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90" y="1469766"/>
            <a:ext cx="9968619" cy="4655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109C25-95D1-4C3B-F268-661322A0D0A4}"/>
              </a:ext>
            </a:extLst>
          </p:cNvPr>
          <p:cNvSpPr txBox="1"/>
          <p:nvPr/>
        </p:nvSpPr>
        <p:spPr>
          <a:xfrm>
            <a:off x="1034776" y="6237517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A-brief-history-of-ai-with-deep-learning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6E0553-FCB6-9211-B623-8555364E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55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534B-08E1-8419-3857-356E0F61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B8B7C1-764D-22ED-9281-151CA8F4D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가 똑똑한 이유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1823A-459C-E3E3-1588-6E0DCECAECFE}"/>
              </a:ext>
            </a:extLst>
          </p:cNvPr>
          <p:cNvSpPr txBox="1"/>
          <p:nvPr/>
        </p:nvSpPr>
        <p:spPr>
          <a:xfrm>
            <a:off x="542925" y="1248422"/>
            <a:ext cx="11306175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똑똑한 이유는 엄청난 양의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사운드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초고속 컴퓨터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능력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밤낮없이 읽으면서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모든 데이터의 패턴을 찾아냈기 때문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수능 만점자가 기출문제를 완벽하게 마스터해서 어떤 변형 문제가 나와도 맞히는 것과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비슷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074" name="Picture 2" descr="A Blog on &quot;Understanding Deep Learning&quot;​ by Kalyan Mohanty - Intern (CoE- AI Lab)">
            <a:extLst>
              <a:ext uri="{FF2B5EF4-FFF2-40B4-BE49-F238E27FC236}">
                <a16:creationId xmlns:a16="http://schemas.microsoft.com/office/drawing/2014/main" id="{69601DCC-AE13-5655-6FCA-34EEF3DD1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394" y="2507566"/>
            <a:ext cx="6535612" cy="403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래픽 6" descr="고속도로 장면">
            <a:extLst>
              <a:ext uri="{FF2B5EF4-FFF2-40B4-BE49-F238E27FC236}">
                <a16:creationId xmlns:a16="http://schemas.microsoft.com/office/drawing/2014/main" id="{5AF5882A-65A1-2DEB-5801-918D3C3C1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8284" y="3501607"/>
            <a:ext cx="580403" cy="580403"/>
          </a:xfrm>
          <a:prstGeom prst="rect">
            <a:avLst/>
          </a:prstGeom>
        </p:spPr>
      </p:pic>
      <p:pic>
        <p:nvPicPr>
          <p:cNvPr id="9" name="그래픽 8" descr="봉투 열기">
            <a:extLst>
              <a:ext uri="{FF2B5EF4-FFF2-40B4-BE49-F238E27FC236}">
                <a16:creationId xmlns:a16="http://schemas.microsoft.com/office/drawing/2014/main" id="{97BFBBE8-4C60-A151-E375-169FEE8D7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6205" y="4082010"/>
            <a:ext cx="580403" cy="580403"/>
          </a:xfrm>
          <a:prstGeom prst="rect">
            <a:avLst/>
          </a:prstGeom>
        </p:spPr>
      </p:pic>
      <p:pic>
        <p:nvPicPr>
          <p:cNvPr id="11" name="그래픽 10" descr="팟캐스트">
            <a:extLst>
              <a:ext uri="{FF2B5EF4-FFF2-40B4-BE49-F238E27FC236}">
                <a16:creationId xmlns:a16="http://schemas.microsoft.com/office/drawing/2014/main" id="{84E2B080-9A0B-091C-9565-D7C4B05463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5497" y="4831462"/>
            <a:ext cx="580403" cy="5804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3F3519-D0F6-4D31-E9C0-E0AF5A640E77}"/>
              </a:ext>
            </a:extLst>
          </p:cNvPr>
          <p:cNvSpPr txBox="1"/>
          <p:nvPr/>
        </p:nvSpPr>
        <p:spPr>
          <a:xfrm>
            <a:off x="9646501" y="4690777"/>
            <a:ext cx="226240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Big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Computing power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Algorithm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25B7FF9-8432-EB94-D532-CA81EDD3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33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" y="400182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Supervised Learning(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지도학습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) 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343566"/>
            <a:ext cx="5800377" cy="467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7762A-F77E-C397-01D9-B049ED94B47A}"/>
              </a:ext>
            </a:extLst>
          </p:cNvPr>
          <p:cNvSpPr txBox="1"/>
          <p:nvPr/>
        </p:nvSpPr>
        <p:spPr>
          <a:xfrm>
            <a:off x="9200620" y="1343566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회귀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5F081-78EC-A7B8-D1D6-1CAEC7000201}"/>
              </a:ext>
            </a:extLst>
          </p:cNvPr>
          <p:cNvSpPr txBox="1"/>
          <p:nvPr/>
        </p:nvSpPr>
        <p:spPr>
          <a:xfrm>
            <a:off x="9306530" y="3888447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분류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830F44-5F9D-1CF1-6475-3DCD2B29F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44" y="1343566"/>
            <a:ext cx="5537631" cy="4697617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160586-3065-34CB-E356-1E7377D5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" y="399196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Unsupervised Learning(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비지도학습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)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852294"/>
            <a:ext cx="5698068" cy="455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E93246-86F7-392C-B5AA-61C126567EE0}"/>
              </a:ext>
            </a:extLst>
          </p:cNvPr>
          <p:cNvSpPr txBox="1"/>
          <p:nvPr/>
        </p:nvSpPr>
        <p:spPr>
          <a:xfrm>
            <a:off x="2353280" y="1318246"/>
            <a:ext cx="216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cs typeface="Times New Roman" panose="02020603050405020304" pitchFamily="18" charset="0"/>
              </a:rPr>
              <a:t>Cluster(</a:t>
            </a:r>
            <a:r>
              <a:rPr lang="ko-KR" altLang="en-US" sz="2400" b="1" dirty="0">
                <a:cs typeface="Times New Roman" panose="02020603050405020304" pitchFamily="18" charset="0"/>
              </a:rPr>
              <a:t>군집</a:t>
            </a:r>
            <a:r>
              <a:rPr lang="en-US" altLang="ko-KR" sz="2400" b="1" dirty="0"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76D564-A2B8-4E91-EFC8-558B15068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68" y="1852294"/>
            <a:ext cx="5475257" cy="4584817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77057D25-D20A-36CB-6B01-6CF77FBE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26D2-85D4-AE03-A882-B7FD9ACA0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923616-5C30-181D-22B9-94C61131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A38A6DE-4286-AFE7-E2C2-C436F0C41B0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Human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Learning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FF9B58C-FD10-DF61-063F-C751C6A2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684" y="1235027"/>
            <a:ext cx="11008666" cy="1078842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7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시대에는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관측된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(Patterns)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귀납법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19C5D2-FAB7-0E44-ACB9-91BEA660C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17" y="2261017"/>
            <a:ext cx="3420004" cy="37159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DDC2668-0086-F8D5-C468-E58B9F7AC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98" y="2480092"/>
            <a:ext cx="4582787" cy="221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76D8D7-C21A-E8D5-1910-6945062C3FAF}"/>
              </a:ext>
            </a:extLst>
          </p:cNvPr>
          <p:cNvSpPr txBox="1"/>
          <p:nvPr/>
        </p:nvSpPr>
        <p:spPr>
          <a:xfrm>
            <a:off x="860423" y="4739780"/>
            <a:ext cx="46926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방대하고 정밀한 데이터들을 직접 수년간 궁리하고 계산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귀납법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한 끝에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행성이 원이 아닌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타원 궤도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로 공전한다는 규칙성을 발견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CFB43-5663-207B-3E34-79187FA10DBD}"/>
              </a:ext>
            </a:extLst>
          </p:cNvPr>
          <p:cNvSpPr txBox="1"/>
          <p:nvPr/>
        </p:nvSpPr>
        <p:spPr>
          <a:xfrm>
            <a:off x="6643410" y="6058772"/>
            <a:ext cx="4310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변광성의 밝기가 변하는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주기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와 실제 별의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밝기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광도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)'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사이에 일정한 선형적 관계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패턴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발견</a:t>
            </a:r>
          </a:p>
        </p:txBody>
      </p:sp>
    </p:spTree>
    <p:extLst>
      <p:ext uri="{BB962C8B-B14F-4D97-AF65-F5344CB8AC3E}">
        <p14:creationId xmlns:p14="http://schemas.microsoft.com/office/powerpoint/2010/main" val="321836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568E-BB0A-E6FA-390F-63519107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667B48-5B62-68A0-1660-CFDEA541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DA588E4-0C77-11C8-5DC4-F3AE9EF788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Machine learning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DF79BB0-8C4E-75A8-16FB-575DD52DA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178" y="1205031"/>
            <a:ext cx="10994697" cy="1095136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Machine Learning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(New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Paradigm)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58FA0E-9FDA-466C-DCDA-6597BD3EB266}"/>
              </a:ext>
            </a:extLst>
          </p:cNvPr>
          <p:cNvSpPr/>
          <p:nvPr/>
        </p:nvSpPr>
        <p:spPr>
          <a:xfrm>
            <a:off x="4493260" y="2801652"/>
            <a:ext cx="2641600" cy="118872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025B06-D182-E458-A003-7F7BCF54DBDC}"/>
              </a:ext>
            </a:extLst>
          </p:cNvPr>
          <p:cNvSpPr/>
          <p:nvPr/>
        </p:nvSpPr>
        <p:spPr>
          <a:xfrm>
            <a:off x="4493260" y="4895247"/>
            <a:ext cx="2641600" cy="11887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Learning</a:t>
            </a:r>
            <a:endParaRPr lang="ko-KR" altLang="en-US" sz="2000" b="1" dirty="0">
              <a:solidFill>
                <a:schemeClr val="bg1"/>
              </a:solidFill>
              <a:ea typeface="+mj-ea"/>
            </a:endParaRPr>
          </a:p>
        </p:txBody>
      </p:sp>
      <p:pic>
        <p:nvPicPr>
          <p:cNvPr id="7" name="그래픽 6" descr="줄 화살표: 일자형">
            <a:extLst>
              <a:ext uri="{FF2B5EF4-FFF2-40B4-BE49-F238E27FC236}">
                <a16:creationId xmlns:a16="http://schemas.microsoft.com/office/drawing/2014/main" id="{448E59A9-68FA-27B1-76D7-97617018F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74401" y="2781332"/>
            <a:ext cx="701040" cy="701040"/>
          </a:xfrm>
          <a:prstGeom prst="rect">
            <a:avLst/>
          </a:prstGeom>
        </p:spPr>
      </p:pic>
      <p:pic>
        <p:nvPicPr>
          <p:cNvPr id="8" name="그래픽 7" descr="줄 화살표: 일자형">
            <a:extLst>
              <a:ext uri="{FF2B5EF4-FFF2-40B4-BE49-F238E27FC236}">
                <a16:creationId xmlns:a16="http://schemas.microsoft.com/office/drawing/2014/main" id="{2AED7377-6C03-4D01-FD8C-FEF2C6D66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74401" y="3350293"/>
            <a:ext cx="701040" cy="701040"/>
          </a:xfrm>
          <a:prstGeom prst="rect">
            <a:avLst/>
          </a:prstGeom>
        </p:spPr>
      </p:pic>
      <p:pic>
        <p:nvPicPr>
          <p:cNvPr id="9" name="그래픽 8" descr="줄 화살표: 일자형">
            <a:extLst>
              <a:ext uri="{FF2B5EF4-FFF2-40B4-BE49-F238E27FC236}">
                <a16:creationId xmlns:a16="http://schemas.microsoft.com/office/drawing/2014/main" id="{752F3FC0-D3D6-56F0-D0BB-F2379AD71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452679" y="3011942"/>
            <a:ext cx="701040" cy="701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FC5F58-87CD-EE87-CE40-AB4F327DB95D}"/>
              </a:ext>
            </a:extLst>
          </p:cNvPr>
          <p:cNvSpPr txBox="1"/>
          <p:nvPr/>
        </p:nvSpPr>
        <p:spPr>
          <a:xfrm>
            <a:off x="2276483" y="2881147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ea typeface="+mj-ea"/>
              </a:rPr>
              <a:t>Rules</a:t>
            </a:r>
            <a:endParaRPr lang="ko-KR" altLang="en-US" sz="2000" b="1" dirty="0"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1418DB-21BB-27C7-FE02-452F97B07BF7}"/>
              </a:ext>
            </a:extLst>
          </p:cNvPr>
          <p:cNvSpPr txBox="1"/>
          <p:nvPr/>
        </p:nvSpPr>
        <p:spPr>
          <a:xfrm>
            <a:off x="2276483" y="3519441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Data</a:t>
            </a:r>
            <a:endParaRPr lang="ko-KR" altLang="en-US" sz="2000" dirty="0"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A8856-DB79-EEF2-9635-1C0F41308272}"/>
              </a:ext>
            </a:extLst>
          </p:cNvPr>
          <p:cNvSpPr txBox="1"/>
          <p:nvPr/>
        </p:nvSpPr>
        <p:spPr>
          <a:xfrm>
            <a:off x="8459000" y="3136935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Answer</a:t>
            </a:r>
            <a:endParaRPr lang="ko-KR" altLang="en-US" sz="2000" dirty="0">
              <a:ea typeface="+mj-ea"/>
            </a:endParaRPr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1019C5EE-FD17-6B4D-0F52-361499B78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74401" y="4864767"/>
            <a:ext cx="701040" cy="701040"/>
          </a:xfrm>
          <a:prstGeom prst="rect">
            <a:avLst/>
          </a:prstGeom>
        </p:spPr>
      </p:pic>
      <p:pic>
        <p:nvPicPr>
          <p:cNvPr id="14" name="그래픽 13" descr="줄 화살표: 일자형">
            <a:extLst>
              <a:ext uri="{FF2B5EF4-FFF2-40B4-BE49-F238E27FC236}">
                <a16:creationId xmlns:a16="http://schemas.microsoft.com/office/drawing/2014/main" id="{11335CAF-097D-AE4D-2DF1-8F816B5C0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74401" y="5433728"/>
            <a:ext cx="701040" cy="701040"/>
          </a:xfrm>
          <a:prstGeom prst="rect">
            <a:avLst/>
          </a:prstGeom>
        </p:spPr>
      </p:pic>
      <p:pic>
        <p:nvPicPr>
          <p:cNvPr id="15" name="그래픽 14" descr="줄 화살표: 일자형">
            <a:extLst>
              <a:ext uri="{FF2B5EF4-FFF2-40B4-BE49-F238E27FC236}">
                <a16:creationId xmlns:a16="http://schemas.microsoft.com/office/drawing/2014/main" id="{46643B84-B32E-3075-561E-CCD80BB0C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452679" y="5095377"/>
            <a:ext cx="701040" cy="7010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8CF443-CFD8-B6C1-EF54-AC3EE00A518A}"/>
              </a:ext>
            </a:extLst>
          </p:cNvPr>
          <p:cNvSpPr txBox="1"/>
          <p:nvPr/>
        </p:nvSpPr>
        <p:spPr>
          <a:xfrm>
            <a:off x="2276483" y="4964582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Answer</a:t>
            </a:r>
            <a:endParaRPr lang="ko-KR" altLang="en-US" sz="2000" dirty="0"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BBD5A4-956B-214C-B83E-CBBF915228BC}"/>
              </a:ext>
            </a:extLst>
          </p:cNvPr>
          <p:cNvSpPr txBox="1"/>
          <p:nvPr/>
        </p:nvSpPr>
        <p:spPr>
          <a:xfrm>
            <a:off x="2276483" y="5602876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Data</a:t>
            </a:r>
            <a:endParaRPr lang="ko-KR" altLang="en-US" sz="2000" dirty="0"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0C9BEB-63F1-1784-86E7-092301503EEA}"/>
              </a:ext>
            </a:extLst>
          </p:cNvPr>
          <p:cNvSpPr txBox="1"/>
          <p:nvPr/>
        </p:nvSpPr>
        <p:spPr>
          <a:xfrm>
            <a:off x="8459000" y="5220370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ea typeface="+mj-ea"/>
              </a:rPr>
              <a:t>Rules</a:t>
            </a:r>
            <a:endParaRPr lang="ko-KR" altLang="en-US" sz="2000" b="1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4383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C73B-DA8F-7135-751E-12C7FA33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0BDC9-6B93-B4D5-318A-B7AD7512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79BEF9F-C89A-FF1C-CDCF-39304765EC9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Learning rules and representations from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69C5BA-B2A4-F8C8-BD8C-F3D7987E6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2280915"/>
            <a:ext cx="8972550" cy="2886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49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6936-C080-0D34-4C7E-58D2F60C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571DE09-F9FE-74A3-950A-ADAE199E91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deep learning?</a:t>
            </a:r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38311887-7539-A3E5-9349-9D1B77683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1348552"/>
            <a:ext cx="8669111" cy="4880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60A78-E863-CDFF-54AA-99809CD5E86C}"/>
              </a:ext>
            </a:extLst>
          </p:cNvPr>
          <p:cNvSpPr txBox="1"/>
          <p:nvPr/>
        </p:nvSpPr>
        <p:spPr>
          <a:xfrm>
            <a:off x="2954387" y="6277467"/>
            <a:ext cx="7639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neural network?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(start= 3 min, end = 5 min)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0685187-DFAF-3DF6-551D-6BFE9696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87" y="1622081"/>
            <a:ext cx="1571309" cy="153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734F49-55E6-737D-87D1-EE09CAE9BA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24" y="1348551"/>
            <a:ext cx="3191365" cy="276624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9571667-B20D-7DA4-45F8-1B7D64FC90FE}"/>
              </a:ext>
            </a:extLst>
          </p:cNvPr>
          <p:cNvSpPr/>
          <p:nvPr/>
        </p:nvSpPr>
        <p:spPr>
          <a:xfrm>
            <a:off x="4252687" y="1728259"/>
            <a:ext cx="768539" cy="6211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FAE7469-B60E-60E2-36E4-5AA10FA30919}"/>
              </a:ext>
            </a:extLst>
          </p:cNvPr>
          <p:cNvCxnSpPr>
            <a:cxnSpLocks/>
          </p:cNvCxnSpPr>
          <p:nvPr/>
        </p:nvCxnSpPr>
        <p:spPr>
          <a:xfrm flipH="1" flipV="1">
            <a:off x="3630389" y="1307194"/>
            <a:ext cx="1390837" cy="4210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77B65A1-24EA-48CD-744D-90B01F28E1BA}"/>
              </a:ext>
            </a:extLst>
          </p:cNvPr>
          <p:cNvCxnSpPr>
            <a:cxnSpLocks/>
          </p:cNvCxnSpPr>
          <p:nvPr/>
        </p:nvCxnSpPr>
        <p:spPr>
          <a:xfrm flipH="1">
            <a:off x="3668750" y="2390775"/>
            <a:ext cx="1352476" cy="169922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458C62-3780-5E53-F202-8348743CDF01}"/>
              </a:ext>
            </a:extLst>
          </p:cNvPr>
          <p:cNvSpPr txBox="1"/>
          <p:nvPr/>
        </p:nvSpPr>
        <p:spPr>
          <a:xfrm>
            <a:off x="4335293" y="3160276"/>
            <a:ext cx="1522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28 x 28 pixel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784 pixel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7C96DB4D-CEC1-72A8-8EB5-2A0699CA77D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21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F3E6-6951-6D3C-C5A8-292120BA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DDBD1CB-673E-C08F-0E44-C0D1867FBD4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scikit-learn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vs.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deep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learning</a:t>
            </a: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EF105439-A555-E311-0355-BD0AF53F139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그래픽 12" descr="수영">
            <a:extLst>
              <a:ext uri="{FF2B5EF4-FFF2-40B4-BE49-F238E27FC236}">
                <a16:creationId xmlns:a16="http://schemas.microsoft.com/office/drawing/2014/main" id="{CC84DAC0-B6DC-3039-D565-5A0D09D56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5287" y="334022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E83894-6197-0A32-D91C-CCA329CCEF37}"/>
              </a:ext>
            </a:extLst>
          </p:cNvPr>
          <p:cNvSpPr txBox="1"/>
          <p:nvPr/>
        </p:nvSpPr>
        <p:spPr>
          <a:xfrm>
            <a:off x="600075" y="2241573"/>
            <a:ext cx="8858855" cy="194219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tensorflow.keras.datasets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fashion_mnist</a:t>
            </a:r>
            <a:b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MNIST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로드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x_train_full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y_train_full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 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x_test_full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y_test_full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fashion_mnist.load_data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b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50%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만 </a:t>
            </a:r>
            <a:r>
              <a:rPr lang="ko-KR" altLang="en-US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슬라이싱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n_train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int(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x_train_full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* 0.5)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n_test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int(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x_test_full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* 0.5)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BA8BFE-D256-83BC-5E44-98AF85FEB80F}"/>
              </a:ext>
            </a:extLst>
          </p:cNvPr>
          <p:cNvSpPr txBox="1"/>
          <p:nvPr/>
        </p:nvSpPr>
        <p:spPr>
          <a:xfrm>
            <a:off x="600075" y="1195156"/>
            <a:ext cx="11019612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Fashion_minst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바탕으로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KNN, FNN(Feed Forward Neural Networks), CNN(Convolutional Neural Networks)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성능을 비교하자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2E093B-2BA7-3607-2C84-3E970291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0" y="3703988"/>
            <a:ext cx="3895725" cy="315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21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E6ECF-D5D4-5727-A4B3-CD737357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4EAA7C6-5C04-2121-7289-74B62D9E5E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scikit-learn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vs.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deep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learning</a:t>
            </a: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19A1AFB4-AE78-25F4-1AB9-8B5933BC913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그래픽 12" descr="수영">
            <a:extLst>
              <a:ext uri="{FF2B5EF4-FFF2-40B4-BE49-F238E27FC236}">
                <a16:creationId xmlns:a16="http://schemas.microsoft.com/office/drawing/2014/main" id="{789E8719-62C2-0750-B8C7-E22B625AA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5287" y="334022"/>
            <a:ext cx="914400" cy="9144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E8CA5A1-9984-2A7A-525F-635579CAF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95" y="1396383"/>
            <a:ext cx="3895725" cy="315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648AF26-2153-6730-7B92-D1E53EE56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850" y="2862882"/>
            <a:ext cx="8009945" cy="330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730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13F2-8668-AE3A-6ABA-2DAD4B9C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3BA93-9D23-6055-742F-5C9FACCA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36D7C3F-0958-72ED-0E18-92DBC7F919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“deep” in “deep learning”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AEBCE4-17A1-7AC2-6506-14B44C74B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1971675"/>
            <a:ext cx="916305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B29F08-AA8D-55AC-F7EA-26651F498F62}"/>
              </a:ext>
            </a:extLst>
          </p:cNvPr>
          <p:cNvSpPr txBox="1"/>
          <p:nvPr/>
        </p:nvSpPr>
        <p:spPr>
          <a:xfrm>
            <a:off x="3419475" y="585159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Lora" pitchFamily="2" charset="0"/>
              </a:rPr>
              <a:t>A deep neural network for digit classification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27824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D5C2E-10E7-67CB-3013-DED5C43E4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EB258-1F01-FC99-8329-AFE06527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4F084D6-18A1-153D-862F-ED6EC68EAD3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“deep” in “deep learning”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9FBB96C-ECAC-A443-7DCD-E28FF8D01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2" y="1643113"/>
            <a:ext cx="7839075" cy="439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3E35C-2BAF-2A90-DD05-73180F7D0140}"/>
              </a:ext>
            </a:extLst>
          </p:cNvPr>
          <p:cNvSpPr txBox="1"/>
          <p:nvPr/>
        </p:nvSpPr>
        <p:spPr>
          <a:xfrm>
            <a:off x="2176462" y="6061620"/>
            <a:ext cx="76676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effectLst/>
                <a:latin typeface="Lora" pitchFamily="2" charset="0"/>
              </a:rPr>
              <a:t>Deep representations learned by a digit-classification model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65141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8E67-964D-BF9B-EF2C-CA14CE24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B73370-1ECF-A136-2224-D44EA90FC7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Human Neurons ?</a:t>
            </a:r>
          </a:p>
        </p:txBody>
      </p:sp>
      <p:pic>
        <p:nvPicPr>
          <p:cNvPr id="12" name="그림 11" descr="What Is a Neuron? Diagrams, Types, Function, and More">
            <a:extLst>
              <a:ext uri="{FF2B5EF4-FFF2-40B4-BE49-F238E27FC236}">
                <a16:creationId xmlns:a16="http://schemas.microsoft.com/office/drawing/2014/main" id="{6D05F76D-3C80-4EEE-94EE-740DF57E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26" y="1813455"/>
            <a:ext cx="3489665" cy="2571173"/>
          </a:xfrm>
          <a:prstGeom prst="rect">
            <a:avLst/>
          </a:prstGeom>
        </p:spPr>
      </p:pic>
      <p:pic>
        <p:nvPicPr>
          <p:cNvPr id="13" name="그림 12" descr="파란색 배경 위에 빛나는 부분이 있는 파란색 뉴런. 뉴런 인터페이스와 컴퓨터 과학 개념. 3D 렌더링 복사 공간">
            <a:extLst>
              <a:ext uri="{FF2B5EF4-FFF2-40B4-BE49-F238E27FC236}">
                <a16:creationId xmlns:a16="http://schemas.microsoft.com/office/drawing/2014/main" id="{51E4D1CC-6F07-7E35-045C-8DCD0FFB3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091" y="1813455"/>
            <a:ext cx="6382242" cy="42548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2C67C8-3D3C-1C29-7B89-FB3AEDAFB5F0}"/>
              </a:ext>
            </a:extLst>
          </p:cNvPr>
          <p:cNvSpPr txBox="1"/>
          <p:nvPr/>
        </p:nvSpPr>
        <p:spPr>
          <a:xfrm>
            <a:off x="4054764" y="606828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https://unsplash.com/</a:t>
            </a:r>
            <a:r>
              <a:rPr lang="ko-KR" altLang="en-US" sz="12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7F59B6-090E-ED6F-D183-B9D12E7386B2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8124C34-AEF9-61BD-450B-BB0F33834F1F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6556314-C8F7-D28F-6A79-23DFD53CD37E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D2BBBD2-0794-D6C4-3419-FCB7A7233732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BDED513-D005-5279-8196-AC7023A5322B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91DAF236-8715-8190-1585-3CAD2272C42C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D1FD698F-9A54-F99D-CCF6-41036FBB81FC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F292496-119B-6EDA-5BF1-F30D33DE8064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7FB1895E-5E84-ACF7-4E72-7CA2EE0E3FA1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61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E96C-D44D-69EC-5614-BCF39F3C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9F240A1-8142-C896-0DB3-16008A6D28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9C1E6-6422-40C8-54EC-EEEFA190BA12}"/>
              </a:ext>
            </a:extLst>
          </p:cNvPr>
          <p:cNvSpPr txBox="1"/>
          <p:nvPr/>
        </p:nvSpPr>
        <p:spPr>
          <a:xfrm>
            <a:off x="542925" y="138112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https://playground.tensorflow.org/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46FD34-3153-CDDD-9C29-E76067C1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883160"/>
            <a:ext cx="8248650" cy="4438412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02466EC-7BD7-D2C1-48D5-7820AFCD7F7A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485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E0F85-A70D-8A73-AAD1-878F3776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EE57A63-7D23-B4E0-74B6-3DA2D07141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object recognition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5C0EC4-C99D-A7E1-E31D-10CD1405008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6DFE2-9039-4569-8172-A1CF0B18DCD4}"/>
              </a:ext>
            </a:extLst>
          </p:cNvPr>
          <p:cNvSpPr txBox="1"/>
          <p:nvPr/>
        </p:nvSpPr>
        <p:spPr>
          <a:xfrm>
            <a:off x="561975" y="1638300"/>
            <a:ext cx="5395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How computers learn to recognize objects instantly</a:t>
            </a:r>
            <a:endParaRPr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98B06CD-2675-521B-22E0-E4E96C2FB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498" y="2165162"/>
            <a:ext cx="6243177" cy="421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397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3BD2B-6479-2805-C72C-E6352386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85B561-D6FE-AC27-A340-8AE1315A6C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5228DEE-783A-5EBC-8FE7-452CF928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930" y="1805250"/>
            <a:ext cx="9240460" cy="173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2FCFC2-22BB-2EF8-0930-D252E05D2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30" y="4270161"/>
            <a:ext cx="5174880" cy="24077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E5D308-B54D-E344-1BA5-05FC986C277E}"/>
              </a:ext>
            </a:extLst>
          </p:cNvPr>
          <p:cNvSpPr txBox="1"/>
          <p:nvPr/>
        </p:nvSpPr>
        <p:spPr>
          <a:xfrm>
            <a:off x="1272280" y="13839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Embedding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34E38-CCCD-422B-AD62-0346A558B8FE}"/>
              </a:ext>
            </a:extLst>
          </p:cNvPr>
          <p:cNvSpPr txBox="1"/>
          <p:nvPr/>
        </p:nvSpPr>
        <p:spPr>
          <a:xfrm>
            <a:off x="1272280" y="3728311"/>
            <a:ext cx="348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00749-1381-9AA4-9234-98F5C77377DD}"/>
              </a:ext>
            </a:extLst>
          </p:cNvPr>
          <p:cNvSpPr txBox="1"/>
          <p:nvPr/>
        </p:nvSpPr>
        <p:spPr>
          <a:xfrm>
            <a:off x="6874190" y="4270161"/>
            <a:ext cx="172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한국-프랑스+파리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54C5F3D-3B92-0544-8648-E4F7A9E9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032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535C-AEDB-6E14-2E05-66E300B9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C2D724-0AC7-DE84-2E5B-829B33F7388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6E4CC-780B-2157-8AE3-8B59B1D7F437}"/>
              </a:ext>
            </a:extLst>
          </p:cNvPr>
          <p:cNvSpPr txBox="1"/>
          <p:nvPr/>
        </p:nvSpPr>
        <p:spPr>
          <a:xfrm>
            <a:off x="475645" y="152439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tensorflow_projector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210A7A-250D-8F17-3A7C-539977D18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115" y="1524395"/>
            <a:ext cx="7363256" cy="469442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697BCCA-9308-B97A-4EDE-0925D53C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2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AEE5-CF3A-70A3-3CF6-4EA3730A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AA737A-6975-7836-713E-9E88A5E9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78C8CAD-7125-8703-ACBF-A297B5F163A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Understanding how deep learning works, in three figures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7FC4584-B934-37D2-5DC3-5988E2CBB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1266825"/>
            <a:ext cx="8543925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F017EC-7466-CCCB-E4D1-CDF983C71985}"/>
              </a:ext>
            </a:extLst>
          </p:cNvPr>
          <p:cNvSpPr txBox="1"/>
          <p:nvPr/>
        </p:nvSpPr>
        <p:spPr>
          <a:xfrm>
            <a:off x="1824038" y="57684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Lora" pitchFamily="2" charset="0"/>
              </a:rPr>
              <a:t>A neural network is parameterized by its weights.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169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B9D89-8434-43BA-568A-47F8A4E4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1CBDF9-E052-60DD-FBF7-089E783D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66C4D9E-E6F1-70A8-30DA-44D2A14E22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Understanding how deep learning works, in three figures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9D935F2-5BB9-DBDF-B7AF-2F5F97219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4" y="1426161"/>
            <a:ext cx="555729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463587-7A94-4ACA-6C8B-CD4BA0436AC8}"/>
              </a:ext>
            </a:extLst>
          </p:cNvPr>
          <p:cNvSpPr txBox="1"/>
          <p:nvPr/>
        </p:nvSpPr>
        <p:spPr>
          <a:xfrm>
            <a:off x="1643064" y="6175900"/>
            <a:ext cx="7048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effectLst/>
                <a:latin typeface="Lora" pitchFamily="2" charset="0"/>
              </a:rPr>
              <a:t>A loss function measures the quality of the network’s output.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76253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E1DD8-7D2E-2445-5883-73541B9C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369190-8194-BF12-D1BE-CA5F38D3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B354A89-222A-434D-5565-41CBBB9BDD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Understanding how deep learning works, in three figures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0C4D2-7A82-27CE-267E-D01376996FCC}"/>
              </a:ext>
            </a:extLst>
          </p:cNvPr>
          <p:cNvSpPr txBox="1"/>
          <p:nvPr/>
        </p:nvSpPr>
        <p:spPr>
          <a:xfrm>
            <a:off x="1643064" y="6175900"/>
            <a:ext cx="7048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The loss score is used as a feedback signal to adjust the weights.</a:t>
            </a:r>
            <a:endParaRPr lang="ko-KR" altLang="en-US" sz="1400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6F2DA4F-9641-F1A2-276A-0EB0143BD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4" y="1565800"/>
            <a:ext cx="5819307" cy="447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795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99B2-8D9B-F35C-4502-A2DBBC90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FA686E-3F83-7B0B-9FE6-AD561432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9E47B6C-D78D-7851-CBB7-E4EC876E980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makes deep learning different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18012-12CA-9338-6888-FE70A06E1427}"/>
              </a:ext>
            </a:extLst>
          </p:cNvPr>
          <p:cNvSpPr txBox="1"/>
          <p:nvPr/>
        </p:nvSpPr>
        <p:spPr>
          <a:xfrm>
            <a:off x="685799" y="1510755"/>
            <a:ext cx="10906125" cy="4814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0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Simplicity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make problem solving much easier, because it automates what used to be the most crucial step in a machine learning workflow: feature engineering.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completely automate </a:t>
            </a:r>
            <a:r>
              <a:rPr lang="en-US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feature engineering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step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which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has greatly simplified machine learning workflows, often replacing sophisticated multistage pipelines with a single, simple, end-to-end deep learning model.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0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Scalability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 be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highly amenable to parallelization on GPUs or more specialized machine learning hardware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0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Versatility and reusability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 be trained on additional data without restarting from scratch, making them viable for continuous online learning — an important property for very large production models.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 be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repurposable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and thus reusable: this is the big idea behind “foundation models” — large models trained on humongous amounts of data, which can be used across many new tasks with little retraining, or even none at all.</a:t>
            </a:r>
          </a:p>
        </p:txBody>
      </p:sp>
    </p:spTree>
    <p:extLst>
      <p:ext uri="{BB962C8B-B14F-4D97-AF65-F5344CB8AC3E}">
        <p14:creationId xmlns:p14="http://schemas.microsoft.com/office/powerpoint/2010/main" val="605622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51C36-DFCC-1F21-3F73-E9017DC2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56DE1C-385C-23A2-1AD4-1ED2CD9C7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B99B9EE-E51F-F7F0-DB6A-FE9336215B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age of generative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A66795-441C-DA25-A0FE-0CDFDAC05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974" y="1776173"/>
            <a:ext cx="3458583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 Agent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BD82568-4AA0-ED49-F6F9-A7FA87B99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62" y="2639368"/>
            <a:ext cx="4775721" cy="29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99CC8F5-6B7E-15D7-1845-78AC1AA9E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867" y="1776173"/>
            <a:ext cx="3458583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생성형 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</p:txBody>
      </p:sp>
      <p:pic>
        <p:nvPicPr>
          <p:cNvPr id="8" name="그래픽 7" descr="조금 굽은 화살표">
            <a:extLst>
              <a:ext uri="{FF2B5EF4-FFF2-40B4-BE49-F238E27FC236}">
                <a16:creationId xmlns:a16="http://schemas.microsoft.com/office/drawing/2014/main" id="{8838C9EB-1870-EED6-79A3-BCD8D999D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2450" y="1248422"/>
            <a:ext cx="1542276" cy="1542276"/>
          </a:xfrm>
          <a:prstGeom prst="rect">
            <a:avLst/>
          </a:prstGeom>
        </p:spPr>
      </p:pic>
      <p:pic>
        <p:nvPicPr>
          <p:cNvPr id="9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5AA33CF6-E8CA-99D0-5A9B-AD2D0D36E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36" y="2639368"/>
            <a:ext cx="3504427" cy="203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119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A0E59-1EEE-A105-3A9A-1C8D2A75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B998C9-CDCF-99D9-858D-6006B01E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26C5E8A-DF24-7A23-FCE7-564FE738E56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CD214-EF6F-1484-BA2C-3B9CF31EF557}"/>
              </a:ext>
            </a:extLst>
          </p:cNvPr>
          <p:cNvSpPr txBox="1"/>
          <p:nvPr/>
        </p:nvSpPr>
        <p:spPr>
          <a:xfrm>
            <a:off x="591667" y="3405093"/>
            <a:ext cx="9774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https://github.com/ancestor9/mathematics-for-machine-learning/blob/main/scripts/Introduction_to_deep_learning.ipynb</a:t>
            </a:r>
            <a:endParaRPr lang="ko-KR" altLang="en-US" sz="1400" dirty="0">
              <a:solidFill>
                <a:schemeClr val="accent5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4B24005-7503-33D0-F6AF-C5B36FFC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67" y="1556402"/>
            <a:ext cx="11008666" cy="16946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실습하고 제출하기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기본 코드 및 개념 익히기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lvl="1" indent="-285750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Feedforward, Backward,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autograd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stochastic gradient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descent, optimizer, neuron, layer, loss function</a:t>
            </a:r>
          </a:p>
        </p:txBody>
      </p:sp>
    </p:spTree>
    <p:extLst>
      <p:ext uri="{BB962C8B-B14F-4D97-AF65-F5344CB8AC3E}">
        <p14:creationId xmlns:p14="http://schemas.microsoft.com/office/powerpoint/2010/main" val="1783353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212533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FCCN : 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Fully Connected Neural Network (FCNN)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구조를 행렬식으로 표현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97431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44439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44439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97431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7005ECD-90F7-F8D9-E7DE-965B532432D2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 flipV="1">
            <a:off x="1464511" y="2624204"/>
            <a:ext cx="286056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AFA676-AF72-0916-0AAC-6B4B11DF8AD2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>
            <a:off x="1464511" y="3154118"/>
            <a:ext cx="2860563" cy="4177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75D6BC9-B6ED-0D7A-35A1-284A46102C70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>
            <a:off x="1464511" y="3154118"/>
            <a:ext cx="2860563" cy="13653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260C829-F2C5-E49A-1BFB-5BE4D6ADAA75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464511" y="2624204"/>
            <a:ext cx="2860563" cy="1365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781E488-706A-B873-E6DD-BEF6151CBE5F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1464511" y="3989597"/>
            <a:ext cx="286056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40B20F-3D4A-5E1D-9237-5220A9C29E48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1464511" y="3571858"/>
            <a:ext cx="2860563" cy="4177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970888C-91D3-F4D3-A71E-32CD1322FD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665718" y="2624204"/>
            <a:ext cx="2879531" cy="166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6" name="직선 연결선 9215">
            <a:extLst>
              <a:ext uri="{FF2B5EF4-FFF2-40B4-BE49-F238E27FC236}">
                <a16:creationId xmlns:a16="http://schemas.microsoft.com/office/drawing/2014/main" id="{0746B69C-144B-848F-E473-03BE6A00EA4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665718" y="2640895"/>
            <a:ext cx="2879530" cy="6150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8" name="직선 연결선 9217">
            <a:extLst>
              <a:ext uri="{FF2B5EF4-FFF2-40B4-BE49-F238E27FC236}">
                <a16:creationId xmlns:a16="http://schemas.microsoft.com/office/drawing/2014/main" id="{AC5FEAD9-7439-0FA3-8080-211FBEB0FA19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665718" y="2640895"/>
            <a:ext cx="2887552" cy="1246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27" name="직선 연결선 9226">
            <a:extLst>
              <a:ext uri="{FF2B5EF4-FFF2-40B4-BE49-F238E27FC236}">
                <a16:creationId xmlns:a16="http://schemas.microsoft.com/office/drawing/2014/main" id="{14B5EE2C-DD21-AF7E-08DB-75BF03181C1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4684685" y="2624204"/>
            <a:ext cx="2868585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0" name="직선 연결선 9229">
            <a:extLst>
              <a:ext uri="{FF2B5EF4-FFF2-40B4-BE49-F238E27FC236}">
                <a16:creationId xmlns:a16="http://schemas.microsoft.com/office/drawing/2014/main" id="{A7E4E79E-E8C7-DC17-23EC-DD0E175492BA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>
          <a:xfrm flipV="1">
            <a:off x="4684685" y="2624204"/>
            <a:ext cx="2860564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2" name="직선 연결선 9231">
            <a:extLst>
              <a:ext uri="{FF2B5EF4-FFF2-40B4-BE49-F238E27FC236}">
                <a16:creationId xmlns:a16="http://schemas.microsoft.com/office/drawing/2014/main" id="{C2A752F4-5609-D677-C163-0D94FCC4A02A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684685" y="3255973"/>
            <a:ext cx="2860563" cy="3158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3" name="직선 연결선 9232">
            <a:extLst>
              <a:ext uri="{FF2B5EF4-FFF2-40B4-BE49-F238E27FC236}">
                <a16:creationId xmlns:a16="http://schemas.microsoft.com/office/drawing/2014/main" id="{FDE5058E-9D38-8806-95EF-4646F08D006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4684685" y="3571858"/>
            <a:ext cx="2868585" cy="3158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4" name="직선 연결선 9233">
            <a:extLst>
              <a:ext uri="{FF2B5EF4-FFF2-40B4-BE49-F238E27FC236}">
                <a16:creationId xmlns:a16="http://schemas.microsoft.com/office/drawing/2014/main" id="{A3CAE824-5655-C703-9F94-23DDF8A1BFAB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684685" y="3571858"/>
            <a:ext cx="2868585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4" name="직선 연결선 9243">
            <a:extLst>
              <a:ext uri="{FF2B5EF4-FFF2-40B4-BE49-F238E27FC236}">
                <a16:creationId xmlns:a16="http://schemas.microsoft.com/office/drawing/2014/main" id="{087E6F6E-3F1F-FE42-D673-2BA8FC1AC801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684685" y="2624204"/>
            <a:ext cx="2860564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5" name="직선 연결선 9244">
            <a:extLst>
              <a:ext uri="{FF2B5EF4-FFF2-40B4-BE49-F238E27FC236}">
                <a16:creationId xmlns:a16="http://schemas.microsoft.com/office/drawing/2014/main" id="{EFB2D543-D01E-C14E-7DAC-701319F53EE5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263119"/>
            <a:ext cx="2822632" cy="1256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6" name="직선 연결선 9245">
            <a:extLst>
              <a:ext uri="{FF2B5EF4-FFF2-40B4-BE49-F238E27FC236}">
                <a16:creationId xmlns:a16="http://schemas.microsoft.com/office/drawing/2014/main" id="{96C9A1C2-B992-FDA5-3163-757CC1000F66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882105"/>
            <a:ext cx="2842090" cy="6374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7" name="직선 연결선 9246">
            <a:extLst>
              <a:ext uri="{FF2B5EF4-FFF2-40B4-BE49-F238E27FC236}">
                <a16:creationId xmlns:a16="http://schemas.microsoft.com/office/drawing/2014/main" id="{E4844EAC-73FF-A91C-DBF8-C62D7E13A983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4684685" y="4519512"/>
            <a:ext cx="2842090" cy="2373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56" name="직선 연결선 9255">
            <a:extLst>
              <a:ext uri="{FF2B5EF4-FFF2-40B4-BE49-F238E27FC236}">
                <a16:creationId xmlns:a16="http://schemas.microsoft.com/office/drawing/2014/main" id="{CB643D58-E287-AE6D-0BEF-D4649E64BF96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7904860" y="2624204"/>
            <a:ext cx="286858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260" name="그림 9259">
            <a:extLst>
              <a:ext uri="{FF2B5EF4-FFF2-40B4-BE49-F238E27FC236}">
                <a16:creationId xmlns:a16="http://schemas.microsoft.com/office/drawing/2014/main" id="{A07A9FC6-DF4E-29FA-0FFF-BA65FF59A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11" y="4788268"/>
            <a:ext cx="1760062" cy="544446"/>
          </a:xfrm>
          <a:prstGeom prst="rect">
            <a:avLst/>
          </a:prstGeom>
        </p:spPr>
      </p:pic>
      <p:pic>
        <p:nvPicPr>
          <p:cNvPr id="9262" name="그림 9261">
            <a:extLst>
              <a:ext uri="{FF2B5EF4-FFF2-40B4-BE49-F238E27FC236}">
                <a16:creationId xmlns:a16="http://schemas.microsoft.com/office/drawing/2014/main" id="{BA1A2289-2A8F-7DEB-5AD9-F3A40F02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17" y="4788268"/>
            <a:ext cx="2842090" cy="913070"/>
          </a:xfrm>
          <a:prstGeom prst="rect">
            <a:avLst/>
          </a:prstGeom>
        </p:spPr>
      </p:pic>
      <p:pic>
        <p:nvPicPr>
          <p:cNvPr id="9264" name="그림 9263">
            <a:extLst>
              <a:ext uri="{FF2B5EF4-FFF2-40B4-BE49-F238E27FC236}">
                <a16:creationId xmlns:a16="http://schemas.microsoft.com/office/drawing/2014/main" id="{220CC5A9-AC8B-0983-EE81-A8966A549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053" y="4788268"/>
            <a:ext cx="2263383" cy="1138122"/>
          </a:xfrm>
          <a:prstGeom prst="rect">
            <a:avLst/>
          </a:prstGeom>
        </p:spPr>
      </p:pic>
      <p:cxnSp>
        <p:nvCxnSpPr>
          <p:cNvPr id="9265" name="직선 연결선 9264">
            <a:extLst>
              <a:ext uri="{FF2B5EF4-FFF2-40B4-BE49-F238E27FC236}">
                <a16:creationId xmlns:a16="http://schemas.microsoft.com/office/drawing/2014/main" id="{9D98EAFC-EB3A-D7A1-9E2A-6E3124CF31B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912881" y="2623452"/>
            <a:ext cx="2868583" cy="13661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8" name="직선 연결선 9267">
            <a:extLst>
              <a:ext uri="{FF2B5EF4-FFF2-40B4-BE49-F238E27FC236}">
                <a16:creationId xmlns:a16="http://schemas.microsoft.com/office/drawing/2014/main" id="{D0DDA572-0297-EBBC-FC61-5AA42657A663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7904859" y="3154118"/>
            <a:ext cx="2868584" cy="10185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9" name="직선 연결선 9268">
            <a:extLst>
              <a:ext uri="{FF2B5EF4-FFF2-40B4-BE49-F238E27FC236}">
                <a16:creationId xmlns:a16="http://schemas.microsoft.com/office/drawing/2014/main" id="{C8CAD3FF-0044-B9B8-F677-82192D67F268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7904859" y="3255973"/>
            <a:ext cx="2876605" cy="7336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6" name="직선 연결선 9275">
            <a:extLst>
              <a:ext uri="{FF2B5EF4-FFF2-40B4-BE49-F238E27FC236}">
                <a16:creationId xmlns:a16="http://schemas.microsoft.com/office/drawing/2014/main" id="{4CDE6AD4-1E47-14D6-17B5-06E1D3B4BBC2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896838" y="3154118"/>
            <a:ext cx="2876605" cy="7493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7" name="직선 연결선 9276">
            <a:extLst>
              <a:ext uri="{FF2B5EF4-FFF2-40B4-BE49-F238E27FC236}">
                <a16:creationId xmlns:a16="http://schemas.microsoft.com/office/drawing/2014/main" id="{54DE2942-69C1-7B5C-0AD5-E269C565C6D3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896838" y="3903496"/>
            <a:ext cx="2884626" cy="861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3" name="직선 연결선 9282">
            <a:extLst>
              <a:ext uri="{FF2B5EF4-FFF2-40B4-BE49-F238E27FC236}">
                <a16:creationId xmlns:a16="http://schemas.microsoft.com/office/drawing/2014/main" id="{02A0287C-6FE0-9435-78E7-4D26BD03BE09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7912881" y="3192272"/>
            <a:ext cx="2805728" cy="13272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4" name="직선 연결선 9283">
            <a:extLst>
              <a:ext uri="{FF2B5EF4-FFF2-40B4-BE49-F238E27FC236}">
                <a16:creationId xmlns:a16="http://schemas.microsoft.com/office/drawing/2014/main" id="{367806B9-1578-FF26-FE3C-C7C57661481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7912881" y="3989597"/>
            <a:ext cx="286858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89" name="TextBox 9288">
            <a:extLst>
              <a:ext uri="{FF2B5EF4-FFF2-40B4-BE49-F238E27FC236}">
                <a16:creationId xmlns:a16="http://schemas.microsoft.com/office/drawing/2014/main" id="{1A24241E-380F-D2C3-547B-9F5D8C68B62B}"/>
              </a:ext>
            </a:extLst>
          </p:cNvPr>
          <p:cNvSpPr txBox="1"/>
          <p:nvPr/>
        </p:nvSpPr>
        <p:spPr>
          <a:xfrm>
            <a:off x="1493842" y="5322157"/>
            <a:ext cx="1760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 @ (2,3) = (1,3)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0" name="TextBox 9289">
            <a:extLst>
              <a:ext uri="{FF2B5EF4-FFF2-40B4-BE49-F238E27FC236}">
                <a16:creationId xmlns:a16="http://schemas.microsoft.com/office/drawing/2014/main" id="{04C3A569-4FF4-C87E-ABDA-8042FB8FB291}"/>
              </a:ext>
            </a:extLst>
          </p:cNvPr>
          <p:cNvSpPr txBox="1"/>
          <p:nvPr/>
        </p:nvSpPr>
        <p:spPr>
          <a:xfrm>
            <a:off x="5197265" y="5701338"/>
            <a:ext cx="212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(1,3) @ (3,4) = (1,4)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1" name="TextBox 9290">
            <a:extLst>
              <a:ext uri="{FF2B5EF4-FFF2-40B4-BE49-F238E27FC236}">
                <a16:creationId xmlns:a16="http://schemas.microsoft.com/office/drawing/2014/main" id="{43BD9FC8-ECB1-B386-5E43-ADB19B72463A}"/>
              </a:ext>
            </a:extLst>
          </p:cNvPr>
          <p:cNvSpPr txBox="1"/>
          <p:nvPr/>
        </p:nvSpPr>
        <p:spPr>
          <a:xfrm>
            <a:off x="8943010" y="5942851"/>
            <a:ext cx="182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 @ (4,2) = (1,2)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3" name="TextBox 9292">
            <a:extLst>
              <a:ext uri="{FF2B5EF4-FFF2-40B4-BE49-F238E27FC236}">
                <a16:creationId xmlns:a16="http://schemas.microsoft.com/office/drawing/2014/main" id="{7A175B21-AA0B-37A5-44B1-4A7B24D8B789}"/>
              </a:ext>
            </a:extLst>
          </p:cNvPr>
          <p:cNvSpPr txBox="1"/>
          <p:nvPr/>
        </p:nvSpPr>
        <p:spPr>
          <a:xfrm>
            <a:off x="80154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4" name="TextBox 9293">
            <a:extLst>
              <a:ext uri="{FF2B5EF4-FFF2-40B4-BE49-F238E27FC236}">
                <a16:creationId xmlns:a16="http://schemas.microsoft.com/office/drawing/2014/main" id="{771A204D-88A8-9A56-6DAF-14EA444F77B9}"/>
              </a:ext>
            </a:extLst>
          </p:cNvPr>
          <p:cNvSpPr txBox="1"/>
          <p:nvPr/>
        </p:nvSpPr>
        <p:spPr>
          <a:xfrm>
            <a:off x="1035899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put(y)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5" name="TextBox 9294">
            <a:extLst>
              <a:ext uri="{FF2B5EF4-FFF2-40B4-BE49-F238E27FC236}">
                <a16:creationId xmlns:a16="http://schemas.microsoft.com/office/drawing/2014/main" id="{5728B3CC-2C9B-CCFC-C174-806DBFC6CEAA}"/>
              </a:ext>
            </a:extLst>
          </p:cNvPr>
          <p:cNvSpPr txBox="1"/>
          <p:nvPr/>
        </p:nvSpPr>
        <p:spPr>
          <a:xfrm>
            <a:off x="3836296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1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6" name="TextBox 9295">
            <a:extLst>
              <a:ext uri="{FF2B5EF4-FFF2-40B4-BE49-F238E27FC236}">
                <a16:creationId xmlns:a16="http://schemas.microsoft.com/office/drawing/2014/main" id="{A517200C-63F5-B913-E926-2ABDAA65B72A}"/>
              </a:ext>
            </a:extLst>
          </p:cNvPr>
          <p:cNvSpPr txBox="1"/>
          <p:nvPr/>
        </p:nvSpPr>
        <p:spPr>
          <a:xfrm>
            <a:off x="6506798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605F2-9C18-E013-582A-498F408F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454672-1BAB-01F1-57C2-11F56A73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E5003D4-1996-EEFE-8BE3-214989BD8FA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FCNN Architecture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CA83F80-D5DA-0FBF-4240-B4CD76EC70CE}"/>
              </a:ext>
            </a:extLst>
          </p:cNvPr>
          <p:cNvSpPr/>
          <p:nvPr/>
        </p:nvSpPr>
        <p:spPr>
          <a:xfrm>
            <a:off x="1442720" y="2844800"/>
            <a:ext cx="198120" cy="1981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33AF04B-7704-FD03-609B-C5ACFC858DFD}"/>
              </a:ext>
            </a:extLst>
          </p:cNvPr>
          <p:cNvSpPr/>
          <p:nvPr/>
        </p:nvSpPr>
        <p:spPr>
          <a:xfrm>
            <a:off x="1442720" y="4135120"/>
            <a:ext cx="198120" cy="1981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82906F9-E5E4-84FF-8153-9AB5E29FC07E}"/>
              </a:ext>
            </a:extLst>
          </p:cNvPr>
          <p:cNvSpPr/>
          <p:nvPr/>
        </p:nvSpPr>
        <p:spPr>
          <a:xfrm>
            <a:off x="1442720" y="5425441"/>
            <a:ext cx="198120" cy="1981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9DC231-0434-9EB0-06B8-F842DD34D883}"/>
              </a:ext>
            </a:extLst>
          </p:cNvPr>
          <p:cNvSpPr/>
          <p:nvPr/>
        </p:nvSpPr>
        <p:spPr>
          <a:xfrm>
            <a:off x="4268470" y="2194561"/>
            <a:ext cx="488475" cy="3942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877830-E07E-C929-4BB3-E2952E0AC881}"/>
              </a:ext>
            </a:extLst>
          </p:cNvPr>
          <p:cNvSpPr/>
          <p:nvPr/>
        </p:nvSpPr>
        <p:spPr>
          <a:xfrm>
            <a:off x="8889205" y="2194561"/>
            <a:ext cx="488475" cy="12327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D88C569-ED61-835B-992F-0B3D357CF47E}"/>
              </a:ext>
            </a:extLst>
          </p:cNvPr>
          <p:cNvSpPr/>
          <p:nvPr/>
        </p:nvSpPr>
        <p:spPr>
          <a:xfrm>
            <a:off x="4415790" y="2336800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FFFE80F-3837-1A31-122B-2EBCA9A87739}"/>
              </a:ext>
            </a:extLst>
          </p:cNvPr>
          <p:cNvSpPr/>
          <p:nvPr/>
        </p:nvSpPr>
        <p:spPr>
          <a:xfrm>
            <a:off x="4415790" y="5863223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8CBCB36-E696-F2E4-17B0-8A5D90FEE7C9}"/>
              </a:ext>
            </a:extLst>
          </p:cNvPr>
          <p:cNvSpPr/>
          <p:nvPr/>
        </p:nvSpPr>
        <p:spPr>
          <a:xfrm>
            <a:off x="4415790" y="2609427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6A4A0EC-801F-475B-FC5B-8BB37781219E}"/>
              </a:ext>
            </a:extLst>
          </p:cNvPr>
          <p:cNvSpPr/>
          <p:nvPr/>
        </p:nvSpPr>
        <p:spPr>
          <a:xfrm>
            <a:off x="4415790" y="2882054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ECBF8B9-9EAE-40D1-B381-6469847DF8F9}"/>
              </a:ext>
            </a:extLst>
          </p:cNvPr>
          <p:cNvSpPr/>
          <p:nvPr/>
        </p:nvSpPr>
        <p:spPr>
          <a:xfrm>
            <a:off x="4415790" y="3154681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F1D6504-54EC-BE41-BDFA-85092D3E611B}"/>
              </a:ext>
            </a:extLst>
          </p:cNvPr>
          <p:cNvSpPr/>
          <p:nvPr/>
        </p:nvSpPr>
        <p:spPr>
          <a:xfrm>
            <a:off x="4415790" y="3427308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8297D93-4999-C1B4-856A-FF2F3FADAA67}"/>
              </a:ext>
            </a:extLst>
          </p:cNvPr>
          <p:cNvSpPr/>
          <p:nvPr/>
        </p:nvSpPr>
        <p:spPr>
          <a:xfrm>
            <a:off x="4415790" y="3699935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38BC522-D4F2-DE9E-6A35-B3672E80DF0D}"/>
              </a:ext>
            </a:extLst>
          </p:cNvPr>
          <p:cNvSpPr/>
          <p:nvPr/>
        </p:nvSpPr>
        <p:spPr>
          <a:xfrm>
            <a:off x="4415790" y="3972560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54CFAFD-58AF-87DF-ECED-58D21843EE62}"/>
              </a:ext>
            </a:extLst>
          </p:cNvPr>
          <p:cNvSpPr/>
          <p:nvPr/>
        </p:nvSpPr>
        <p:spPr>
          <a:xfrm>
            <a:off x="9027160" y="2280455"/>
            <a:ext cx="198120" cy="19812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17EB039-51A8-E52F-2B7F-2BC4DD91482A}"/>
              </a:ext>
            </a:extLst>
          </p:cNvPr>
          <p:cNvSpPr/>
          <p:nvPr/>
        </p:nvSpPr>
        <p:spPr>
          <a:xfrm>
            <a:off x="9027160" y="2568787"/>
            <a:ext cx="198120" cy="19812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9AF67FD-8BF6-5121-9BF1-E1C9330CC637}"/>
              </a:ext>
            </a:extLst>
          </p:cNvPr>
          <p:cNvSpPr/>
          <p:nvPr/>
        </p:nvSpPr>
        <p:spPr>
          <a:xfrm>
            <a:off x="9027160" y="3095414"/>
            <a:ext cx="198120" cy="19812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759407F-4DCF-CC44-3719-5726647CBAB5}"/>
              </a:ext>
            </a:extLst>
          </p:cNvPr>
          <p:cNvSpPr/>
          <p:nvPr/>
        </p:nvSpPr>
        <p:spPr>
          <a:xfrm>
            <a:off x="5982452" y="4328621"/>
            <a:ext cx="1132840" cy="113284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DF42377-6D0E-DBE5-C763-4BBDD680E1C0}"/>
              </a:ext>
            </a:extLst>
          </p:cNvPr>
          <p:cNvSpPr/>
          <p:nvPr/>
        </p:nvSpPr>
        <p:spPr>
          <a:xfrm>
            <a:off x="9947591" y="4328621"/>
            <a:ext cx="1132840" cy="113284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B040E58-465D-2B52-F823-AEFEFD1F5167}"/>
                  </a:ext>
                </a:extLst>
              </p:cNvPr>
              <p:cNvSpPr txBox="1"/>
              <p:nvPr/>
            </p:nvSpPr>
            <p:spPr>
              <a:xfrm>
                <a:off x="4842472" y="4541699"/>
                <a:ext cx="1706399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latinLnBrk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B040E58-465D-2B52-F823-AEFEFD1F5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472" y="4541699"/>
                <a:ext cx="1706399" cy="672172"/>
              </a:xfrm>
              <a:prstGeom prst="rect">
                <a:avLst/>
              </a:prstGeom>
              <a:blipFill>
                <a:blip r:embed="rId2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E52007-6328-99A6-656E-AC620A409686}"/>
                  </a:ext>
                </a:extLst>
              </p:cNvPr>
              <p:cNvSpPr txBox="1"/>
              <p:nvPr/>
            </p:nvSpPr>
            <p:spPr>
              <a:xfrm>
                <a:off x="6425303" y="4708508"/>
                <a:ext cx="128228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E52007-6328-99A6-656E-AC620A409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303" y="4708508"/>
                <a:ext cx="1282281" cy="338554"/>
              </a:xfrm>
              <a:prstGeom prst="rect">
                <a:avLst/>
              </a:prstGeom>
              <a:blipFill>
                <a:blip r:embed="rId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B9549582-C890-5354-E54B-72E68751E4AE}"/>
              </a:ext>
            </a:extLst>
          </p:cNvPr>
          <p:cNvSpPr txBox="1"/>
          <p:nvPr/>
        </p:nvSpPr>
        <p:spPr>
          <a:xfrm>
            <a:off x="619125" y="1728005"/>
            <a:ext cx="14691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Input (28 * 28)</a:t>
            </a:r>
            <a:endParaRPr lang="ko-KR" alt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A59847-AA9D-AE4A-9FC0-8B0F1D2FB8C9}"/>
              </a:ext>
            </a:extLst>
          </p:cNvPr>
          <p:cNvSpPr txBox="1"/>
          <p:nvPr/>
        </p:nvSpPr>
        <p:spPr>
          <a:xfrm>
            <a:off x="2290682" y="1728005"/>
            <a:ext cx="894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Weights</a:t>
            </a:r>
            <a:endParaRPr lang="ko-KR" altLang="en-US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04238D-40FF-B7DE-46A3-A0C73B07F3AA}"/>
              </a:ext>
            </a:extLst>
          </p:cNvPr>
          <p:cNvSpPr/>
          <p:nvPr/>
        </p:nvSpPr>
        <p:spPr>
          <a:xfrm>
            <a:off x="6504180" y="3774726"/>
            <a:ext cx="106616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Activation function</a:t>
            </a:r>
          </a:p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1100" dirty="0" err="1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Relu</a:t>
            </a: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5A20BE-B177-78AC-97ED-F2460DE6DFE2}"/>
              </a:ext>
            </a:extLst>
          </p:cNvPr>
          <p:cNvSpPr txBox="1"/>
          <p:nvPr/>
        </p:nvSpPr>
        <p:spPr>
          <a:xfrm>
            <a:off x="6667854" y="1728005"/>
            <a:ext cx="894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Weights</a:t>
            </a:r>
            <a:endParaRPr lang="ko-KR" altLang="en-US" sz="14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98F12EE-AC97-8C44-6A88-1E555F739D1A}"/>
              </a:ext>
            </a:extLst>
          </p:cNvPr>
          <p:cNvCxnSpPr>
            <a:stCxn id="24" idx="0"/>
            <a:endCxn id="24" idx="4"/>
          </p:cNvCxnSpPr>
          <p:nvPr/>
        </p:nvCxnSpPr>
        <p:spPr>
          <a:xfrm>
            <a:off x="6548872" y="4328621"/>
            <a:ext cx="0" cy="11328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828ABBF-A0E8-A33F-DA5D-97CD482356C1}"/>
              </a:ext>
            </a:extLst>
          </p:cNvPr>
          <p:cNvSpPr txBox="1"/>
          <p:nvPr/>
        </p:nvSpPr>
        <p:spPr>
          <a:xfrm>
            <a:off x="3627119" y="1728005"/>
            <a:ext cx="2317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Layer</a:t>
            </a:r>
            <a:r>
              <a:rPr lang="ko-KR" altLang="en-US" sz="14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(Dense</a:t>
            </a:r>
            <a:r>
              <a:rPr lang="ko-KR" altLang="en-US" sz="14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=512)</a:t>
            </a:r>
            <a:endParaRPr lang="ko-KR" altLang="en-US" sz="14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5EAD0-4525-F13A-9B0A-ECA6A7E730B0}"/>
              </a:ext>
            </a:extLst>
          </p:cNvPr>
          <p:cNvSpPr txBox="1"/>
          <p:nvPr/>
        </p:nvSpPr>
        <p:spPr>
          <a:xfrm>
            <a:off x="8273020" y="1728005"/>
            <a:ext cx="170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Layer</a:t>
            </a:r>
            <a:r>
              <a:rPr lang="ko-KR" altLang="en-US" sz="14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(Dense</a:t>
            </a:r>
            <a:r>
              <a:rPr lang="ko-KR" altLang="en-US" sz="14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=10)</a:t>
            </a:r>
            <a:endParaRPr lang="ko-KR" altLang="en-US" sz="14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11DC52-9D70-D10A-924F-D4AAE7E6FDF9}"/>
              </a:ext>
            </a:extLst>
          </p:cNvPr>
          <p:cNvSpPr/>
          <p:nvPr/>
        </p:nvSpPr>
        <p:spPr>
          <a:xfrm>
            <a:off x="5576686" y="3814329"/>
            <a:ext cx="9531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Weighted Sum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4B423E7-6F3D-A02B-A0E0-7D13A8750AFA}"/>
              </a:ext>
            </a:extLst>
          </p:cNvPr>
          <p:cNvCxnSpPr>
            <a:cxnSpLocks/>
            <a:stCxn id="25" idx="0"/>
            <a:endCxn id="25" idx="4"/>
          </p:cNvCxnSpPr>
          <p:nvPr/>
        </p:nvCxnSpPr>
        <p:spPr>
          <a:xfrm>
            <a:off x="10514011" y="4328621"/>
            <a:ext cx="0" cy="11328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4B07E5-8CC4-EA95-8160-3D6E55A0284F}"/>
                  </a:ext>
                </a:extLst>
              </p:cNvPr>
              <p:cNvSpPr txBox="1"/>
              <p:nvPr/>
            </p:nvSpPr>
            <p:spPr>
              <a:xfrm>
                <a:off x="8732890" y="4541699"/>
                <a:ext cx="1706399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latinLnBrk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4B07E5-8CC4-EA95-8160-3D6E55A02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890" y="4541699"/>
                <a:ext cx="1706399" cy="672172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D9ED97-B32F-292F-B4E5-3EE92C758D15}"/>
                  </a:ext>
                </a:extLst>
              </p:cNvPr>
              <p:cNvSpPr txBox="1"/>
              <p:nvPr/>
            </p:nvSpPr>
            <p:spPr>
              <a:xfrm>
                <a:off x="10405952" y="4705877"/>
                <a:ext cx="1282281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acc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D9ED97-B32F-292F-B4E5-3EE92C758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952" y="4705877"/>
                <a:ext cx="1282281" cy="351828"/>
              </a:xfrm>
              <a:prstGeom prst="rect">
                <a:avLst/>
              </a:prstGeom>
              <a:blipFill>
                <a:blip r:embed="rId5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E80BAE-9C39-7B5F-3033-26E33C692CBD}"/>
              </a:ext>
            </a:extLst>
          </p:cNvPr>
          <p:cNvSpPr/>
          <p:nvPr/>
        </p:nvSpPr>
        <p:spPr>
          <a:xfrm>
            <a:off x="10514011" y="3798194"/>
            <a:ext cx="106616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Activation function</a:t>
            </a:r>
          </a:p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1100" dirty="0" err="1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Softmax</a:t>
            </a: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ACFA93-7D03-94BB-EA1D-FCE12074FF17}"/>
              </a:ext>
            </a:extLst>
          </p:cNvPr>
          <p:cNvSpPr/>
          <p:nvPr/>
        </p:nvSpPr>
        <p:spPr>
          <a:xfrm>
            <a:off x="9624469" y="3803293"/>
            <a:ext cx="9531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Weighted Sum</a:t>
            </a:r>
          </a:p>
        </p:txBody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73F3AF5A-F092-B3AE-4DF9-CC3B8DF654BE}"/>
              </a:ext>
            </a:extLst>
          </p:cNvPr>
          <p:cNvCxnSpPr>
            <a:cxnSpLocks/>
            <a:stCxn id="12" idx="6"/>
            <a:endCxn id="8" idx="1"/>
          </p:cNvCxnSpPr>
          <p:nvPr/>
        </p:nvCxnSpPr>
        <p:spPr>
          <a:xfrm>
            <a:off x="4613910" y="2435860"/>
            <a:ext cx="962776" cy="15939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A606EA95-A2E8-B736-2FDB-ECA9A6474740}"/>
              </a:ext>
            </a:extLst>
          </p:cNvPr>
          <p:cNvCxnSpPr>
            <a:cxnSpLocks/>
            <a:stCxn id="21" idx="6"/>
            <a:endCxn id="32" idx="0"/>
          </p:cNvCxnSpPr>
          <p:nvPr/>
        </p:nvCxnSpPr>
        <p:spPr>
          <a:xfrm>
            <a:off x="9225280" y="2379515"/>
            <a:ext cx="875757" cy="142377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9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D1E5-5843-DBEB-50F5-1EA7E7C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5FF74-5477-22AB-43FD-DF018748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8BB7F-4374-94A4-96E2-5D2F8123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8332F086-37CC-9131-0AB6-DC91842D581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Keras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1E5177-DAA5-C850-B444-DBAAB3CBFC7C}"/>
              </a:ext>
            </a:extLst>
          </p:cNvPr>
          <p:cNvSpPr txBox="1"/>
          <p:nvPr/>
        </p:nvSpPr>
        <p:spPr>
          <a:xfrm>
            <a:off x="656619" y="1621393"/>
            <a:ext cx="10944831" cy="484812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>
              <a:lnSpc>
                <a:spcPts val="1219"/>
              </a:lnSpc>
              <a:buNone/>
            </a:pPr>
            <a:r>
              <a:rPr lang="en-US" altLang="ko-KR" sz="16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keras.datasets</a:t>
            </a:r>
            <a:r>
              <a:rPr lang="en-US" altLang="ko-KR" sz="16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mnist</a:t>
            </a:r>
            <a:endParaRPr lang="en-US" altLang="ko-KR" sz="16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layers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train_images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train_labels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test_images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test_labels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mnist.load_data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keras.Sequential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[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(512,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]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model.compile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optimizer="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adam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loss="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sparse_categorical_crossentropy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metrics=["accuracy"],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219"/>
              </a:lnSpc>
            </a:pPr>
            <a:r>
              <a:rPr lang="fr-F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model.fit(train_images, train_labels, epochs=5, batch_size=128)</a:t>
            </a:r>
          </a:p>
        </p:txBody>
      </p:sp>
    </p:spTree>
    <p:extLst>
      <p:ext uri="{BB962C8B-B14F-4D97-AF65-F5344CB8AC3E}">
        <p14:creationId xmlns:p14="http://schemas.microsoft.com/office/powerpoint/2010/main" val="44430063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8679</TotalTime>
  <Words>1020</Words>
  <Application>Microsoft Office PowerPoint</Application>
  <PresentationFormat>와이드스크린</PresentationFormat>
  <Paragraphs>175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1" baseType="lpstr">
      <vt:lpstr>D2Coding</vt:lpstr>
      <vt:lpstr>NanumGothicExtraBold</vt:lpstr>
      <vt:lpstr>맑은 고딕</vt:lpstr>
      <vt:lpstr>맑은 고딕 Semilight</vt:lpstr>
      <vt:lpstr>Batang</vt:lpstr>
      <vt:lpstr>ADLaM Display</vt:lpstr>
      <vt:lpstr>Arial</vt:lpstr>
      <vt:lpstr>Cambria Math</vt:lpstr>
      <vt:lpstr>Lora</vt:lpstr>
      <vt:lpstr>Times New Roman</vt:lpstr>
      <vt:lpstr>Wingdings</vt:lpstr>
      <vt:lpstr>WelcomeDoc</vt:lpstr>
      <vt:lpstr>Chapter 1   What is deep learning?</vt:lpstr>
      <vt:lpstr>PowerPoint 프레젠테이션</vt:lpstr>
      <vt:lpstr>PowerPoint 프레젠테이션</vt:lpstr>
      <vt:lpstr>PowerPoint 프레젠테이션</vt:lpstr>
      <vt:lpstr>PowerPoint 프레젠테이션</vt:lpstr>
      <vt:lpstr>Supervised Learning(지도학습) </vt:lpstr>
      <vt:lpstr>Unsupervised Learning(비지도학습)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141</cp:revision>
  <dcterms:created xsi:type="dcterms:W3CDTF">2026-04-06T01:00:39Z</dcterms:created>
  <dcterms:modified xsi:type="dcterms:W3CDTF">2026-08-18T11:54:00Z</dcterms:modified>
  <cp:version/>
</cp:coreProperties>
</file>