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handoutMasterIdLst>
    <p:handoutMasterId r:id="rId38"/>
  </p:handoutMasterIdLst>
  <p:sldIdLst>
    <p:sldId id="256" r:id="rId2"/>
    <p:sldId id="1168" r:id="rId3"/>
    <p:sldId id="1139" r:id="rId4"/>
    <p:sldId id="1169" r:id="rId5"/>
    <p:sldId id="1165" r:id="rId6"/>
    <p:sldId id="1129" r:id="rId7"/>
    <p:sldId id="1166" r:id="rId8"/>
    <p:sldId id="1167" r:id="rId9"/>
    <p:sldId id="1175" r:id="rId10"/>
    <p:sldId id="1131" r:id="rId11"/>
    <p:sldId id="1132" r:id="rId12"/>
    <p:sldId id="1143" r:id="rId13"/>
    <p:sldId id="1138" r:id="rId14"/>
    <p:sldId id="1163" r:id="rId15"/>
    <p:sldId id="1135" r:id="rId16"/>
    <p:sldId id="1164" r:id="rId17"/>
    <p:sldId id="1170" r:id="rId18"/>
    <p:sldId id="1153" r:id="rId19"/>
    <p:sldId id="1172" r:id="rId20"/>
    <p:sldId id="1134" r:id="rId21"/>
    <p:sldId id="1176" r:id="rId22"/>
    <p:sldId id="1140" r:id="rId23"/>
    <p:sldId id="1145" r:id="rId24"/>
    <p:sldId id="1150" r:id="rId25"/>
    <p:sldId id="1177" r:id="rId26"/>
    <p:sldId id="1149" r:id="rId27"/>
    <p:sldId id="1151" r:id="rId28"/>
    <p:sldId id="1137" r:id="rId29"/>
    <p:sldId id="1136" r:id="rId30"/>
    <p:sldId id="1152" r:id="rId31"/>
    <p:sldId id="1154" r:id="rId32"/>
    <p:sldId id="1171" r:id="rId33"/>
    <p:sldId id="1121" r:id="rId34"/>
    <p:sldId id="1122" r:id="rId35"/>
    <p:sldId id="1123" r:id="rId3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68"/>
            <p14:sldId id="1139"/>
            <p14:sldId id="1169"/>
            <p14:sldId id="1165"/>
            <p14:sldId id="1129"/>
            <p14:sldId id="1166"/>
            <p14:sldId id="1167"/>
            <p14:sldId id="1175"/>
            <p14:sldId id="1131"/>
            <p14:sldId id="1132"/>
            <p14:sldId id="1143"/>
            <p14:sldId id="1138"/>
            <p14:sldId id="1163"/>
            <p14:sldId id="1135"/>
            <p14:sldId id="1164"/>
            <p14:sldId id="1170"/>
            <p14:sldId id="1153"/>
            <p14:sldId id="1172"/>
            <p14:sldId id="1134"/>
            <p14:sldId id="1176"/>
            <p14:sldId id="1140"/>
            <p14:sldId id="1145"/>
            <p14:sldId id="1150"/>
            <p14:sldId id="1177"/>
            <p14:sldId id="1149"/>
            <p14:sldId id="1151"/>
            <p14:sldId id="1137"/>
            <p14:sldId id="1136"/>
            <p14:sldId id="1152"/>
            <p14:sldId id="1154"/>
            <p14:sldId id="1171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75AC6-0B34-3DC1-8617-6B1DA1B34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AD588E-F12B-574C-3721-C28584BD8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FA4876-3C81-C56D-14FF-A176C171F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066613-EF24-18ED-0709-B7AB85BB87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484868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ADDE3-CD78-16F8-5E0C-8B05F6D53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8947EC-9392-A9FD-DC32-E648A3604F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25AFF8-1F4A-70B2-3F90-0D8E7B0ED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7489F-82CB-00EB-D4EA-B49404FDA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94557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26C14-C473-4A92-1BF8-65C1615DD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84F31D-3BAF-0EE8-73C8-97028668A7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7FAE08-BF13-4290-1380-2DBD991C9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6DFD45-8A4E-42B5-B37F-58A6ED917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9132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110E5-6E98-6857-332B-93FF44467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CA5A9C-1497-4E82-F066-617D4FC98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97EAEA-2683-6326-18EA-70E096752E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C25260-D27A-85BF-1607-BA9A3C55D5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48955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sv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geron/handson-ml3/blob/main/14_deep_computer_vision_with_cnns.ipynb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geron/handson-ml3/blob/main/14_deep_computer_vision_with_cnns.ipynb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ted.com/talks/fei_fei_li_how_we_re_teaching_computers_to_understand_pictures" TargetMode="External"/><Relationship Id="rId4" Type="http://schemas.openxmlformats.org/officeDocument/2006/relationships/hyperlink" Target="https://www.ted.com/talks/joseph_redmon_how_computers_learn_to_recognize_objects_instantl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40CAB-44CB-54E9-0E69-3359E082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A06BFBB-E516-6F2E-5AF1-FA86814FEF77}"/>
              </a:ext>
            </a:extLst>
          </p:cNvPr>
          <p:cNvSpPr/>
          <p:nvPr/>
        </p:nvSpPr>
        <p:spPr>
          <a:xfrm>
            <a:off x="600075" y="1589695"/>
            <a:ext cx="6857365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062419E-D00F-CD1E-E6AD-83F7EFABA4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3D5510F7-F5D3-A471-5A16-09B45CA745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6976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33E2F-5385-1753-108E-8E91ADD3EF4E}"/>
              </a:ext>
            </a:extLst>
          </p:cNvPr>
          <p:cNvSpPr txBox="1"/>
          <p:nvPr/>
        </p:nvSpPr>
        <p:spPr>
          <a:xfrm>
            <a:off x="860397" y="1589695"/>
            <a:ext cx="6271924" cy="1891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B977A9-1E04-0738-D8C6-21D2B1E9A448}"/>
              </a:ext>
            </a:extLst>
          </p:cNvPr>
          <p:cNvSpPr txBox="1"/>
          <p:nvPr/>
        </p:nvSpPr>
        <p:spPr>
          <a:xfrm>
            <a:off x="6165533" y="3552885"/>
            <a:ext cx="551699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C61F1D-C9B2-DA1D-B4C1-61487C4A47F8}"/>
              </a:ext>
            </a:extLst>
          </p:cNvPr>
          <p:cNvSpPr txBox="1"/>
          <p:nvPr/>
        </p:nvSpPr>
        <p:spPr>
          <a:xfrm>
            <a:off x="8183822" y="1997147"/>
            <a:ext cx="3225858" cy="46166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오른쪽 중괄호 8">
            <a:extLst>
              <a:ext uri="{FF2B5EF4-FFF2-40B4-BE49-F238E27FC236}">
                <a16:creationId xmlns:a16="http://schemas.microsoft.com/office/drawing/2014/main" id="{D0FC249A-5FDF-E4C9-80B7-5E340852D921}"/>
              </a:ext>
            </a:extLst>
          </p:cNvPr>
          <p:cNvSpPr/>
          <p:nvPr/>
        </p:nvSpPr>
        <p:spPr>
          <a:xfrm>
            <a:off x="7599680" y="1842597"/>
            <a:ext cx="259023" cy="961563"/>
          </a:xfrm>
          <a:prstGeom prst="rightBrace">
            <a:avLst>
              <a:gd name="adj1" fmla="val 5148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왼쪽 중괄호 11">
            <a:extLst>
              <a:ext uri="{FF2B5EF4-FFF2-40B4-BE49-F238E27FC236}">
                <a16:creationId xmlns:a16="http://schemas.microsoft.com/office/drawing/2014/main" id="{77A0ED2E-B983-0150-230B-22B104257F95}"/>
              </a:ext>
            </a:extLst>
          </p:cNvPr>
          <p:cNvSpPr/>
          <p:nvPr/>
        </p:nvSpPr>
        <p:spPr>
          <a:xfrm>
            <a:off x="5781040" y="3850640"/>
            <a:ext cx="355484" cy="1891736"/>
          </a:xfrm>
          <a:prstGeom prst="leftBrace">
            <a:avLst>
              <a:gd name="adj1" fmla="val 5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1182B0-E959-6AF3-DA97-DE9E33DA2801}"/>
              </a:ext>
            </a:extLst>
          </p:cNvPr>
          <p:cNvSpPr txBox="1"/>
          <p:nvPr/>
        </p:nvSpPr>
        <p:spPr>
          <a:xfrm>
            <a:off x="253884" y="4531668"/>
            <a:ext cx="5416868" cy="46166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45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6864E-BC1C-1514-F998-D23C329D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1053164" y="2132021"/>
            <a:ext cx="9460847" cy="1889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sz="2000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sz="2000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구성하였으며 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제외함</a:t>
            </a:r>
            <a:endParaRPr lang="en-US" altLang="ko-KR" sz="2000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442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395C5-6322-4439-FDCC-E67D63019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84AA71-AEB8-550F-A3A0-5EC12182BE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8D118FB-D398-1664-EE58-9C5EBBDD53A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3856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E2D9-9A95-449C-2453-B4ABC314D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9AF9F8-B402-011C-37C6-57E2340328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20D3F68-739D-492C-EB4E-8960FD5C9F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4A35593-FDE6-C3AE-0304-62633AE98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588079"/>
              </p:ext>
            </p:extLst>
          </p:nvPr>
        </p:nvGraphicFramePr>
        <p:xfrm>
          <a:off x="623094" y="2246516"/>
          <a:ext cx="10999946" cy="2945981"/>
        </p:xfrm>
        <a:graphic>
          <a:graphicData uri="http://schemas.openxmlformats.org/drawingml/2006/table">
            <a:tbl>
              <a:tblPr/>
              <a:tblGrid>
                <a:gridCol w="2536666">
                  <a:extLst>
                    <a:ext uri="{9D8B030D-6E8A-4147-A177-3AD203B41FA5}">
                      <a16:colId xmlns:a16="http://schemas.microsoft.com/office/drawing/2014/main" val="764053176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3669611965"/>
                    </a:ext>
                  </a:extLst>
                </a:gridCol>
                <a:gridCol w="2678789">
                  <a:extLst>
                    <a:ext uri="{9D8B030D-6E8A-4147-A177-3AD203B41FA5}">
                      <a16:colId xmlns:a16="http://schemas.microsoft.com/office/drawing/2014/main" val="1114369870"/>
                    </a:ext>
                  </a:extLst>
                </a:gridCol>
                <a:gridCol w="2980331">
                  <a:extLst>
                    <a:ext uri="{9D8B030D-6E8A-4147-A177-3AD203B41FA5}">
                      <a16:colId xmlns:a16="http://schemas.microsoft.com/office/drawing/2014/main" val="1655379910"/>
                    </a:ext>
                  </a:extLst>
                </a:gridCol>
              </a:tblGrid>
              <a:tr h="374764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목표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형식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실생활 적용 사례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547352"/>
                  </a:ext>
                </a:extLst>
              </a:tr>
              <a:tr h="796547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분류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 Classification)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전체를 대표하는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 태그 부여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이미지당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이상의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카테고리 라벨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구글 포토 키워드 및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태그 검색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790438"/>
                  </a:ext>
                </a:extLst>
              </a:tr>
              <a:tr h="1017536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분할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Segmentation)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모든 픽셀에 대한 영역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 마스크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(Pixel-level Mask)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화상 회의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(Zoom, Google Meet) </a:t>
                      </a: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가상 배경 설정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3487841"/>
                  </a:ext>
                </a:extLst>
              </a:tr>
              <a:tr h="736552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객체 탐지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(Object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Detection)</a:t>
                      </a: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물체의 위치 파악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경계 상자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Bounding Box) +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자율주행차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보행자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차량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표지판 감지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661545"/>
                  </a:ext>
                </a:extLst>
              </a:tr>
            </a:tbl>
          </a:graphicData>
        </a:graphic>
      </p:graphicFrame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BCB3532C-D059-825B-282D-4874855CD2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317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397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위치는 모름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모든 레이어를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하나하나의 정답을 다 채워 넣는 정밀한 이미지 분할이 비로소 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54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2A9C4-569E-E8BB-7ADF-685C04D2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6A0A6ED-C61B-149B-A665-AD35B27E12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B304AF1-B353-CEDE-4FFE-99EFF0E18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0840AE3-C24D-A3D3-A71B-C653A0081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589" y="1347655"/>
            <a:ext cx="6323012" cy="5053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17DCB58-B3A1-E5FD-B786-C3AB699905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186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8269C-6F02-3650-3E00-FC81E0DF3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E9AD25-B519-C98B-BA51-F666075A9BB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Types of 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DBF0F9C-D7B7-4592-083C-FA765750BA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681FA5B-337D-3B88-F827-383329A807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47139F-FC7D-4DC3-476B-3B0C33534001}"/>
              </a:ext>
            </a:extLst>
          </p:cNvPr>
          <p:cNvSpPr txBox="1"/>
          <p:nvPr/>
        </p:nvSpPr>
        <p:spPr>
          <a:xfrm>
            <a:off x="556925" y="1231098"/>
            <a:ext cx="6695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t">
              <a:spcAft>
                <a:spcPts val="0"/>
              </a:spcAft>
              <a:buNone/>
            </a:pP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분할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(image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Segmentation)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종류</a:t>
            </a:r>
            <a:endParaRPr lang="ko-KR" altLang="en-US" sz="18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AAE77CA-633E-37C9-2EF9-E1ABBB7CA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406" y="1679169"/>
            <a:ext cx="5883114" cy="495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23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C6947-9C1E-EE44-4875-6EDC43AAF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13CCC64-BD97-BFEC-C206-B32C33D2246A}"/>
              </a:ext>
            </a:extLst>
          </p:cNvPr>
          <p:cNvSpPr/>
          <p:nvPr/>
        </p:nvSpPr>
        <p:spPr>
          <a:xfrm>
            <a:off x="600075" y="2087535"/>
            <a:ext cx="6857365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031740-6EC6-CBA4-F90F-F40E154EC8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1B7DECF2-4379-80D9-F56C-E0314E45DE7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6976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96DCE9-F307-4660-A735-BDBE9709A577}"/>
              </a:ext>
            </a:extLst>
          </p:cNvPr>
          <p:cNvSpPr txBox="1"/>
          <p:nvPr/>
        </p:nvSpPr>
        <p:spPr>
          <a:xfrm>
            <a:off x="860397" y="1589695"/>
            <a:ext cx="6271924" cy="1891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7FB3CC-8E44-F519-4375-AADBD944E2DF}"/>
              </a:ext>
            </a:extLst>
          </p:cNvPr>
          <p:cNvSpPr txBox="1"/>
          <p:nvPr/>
        </p:nvSpPr>
        <p:spPr>
          <a:xfrm>
            <a:off x="6165533" y="3552885"/>
            <a:ext cx="551699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EC7D0-7B04-4EE8-F04F-8014A4A5CF20}"/>
              </a:ext>
            </a:extLst>
          </p:cNvPr>
          <p:cNvSpPr txBox="1"/>
          <p:nvPr/>
        </p:nvSpPr>
        <p:spPr>
          <a:xfrm>
            <a:off x="8183822" y="1997147"/>
            <a:ext cx="3225858" cy="46166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오른쪽 중괄호 8">
            <a:extLst>
              <a:ext uri="{FF2B5EF4-FFF2-40B4-BE49-F238E27FC236}">
                <a16:creationId xmlns:a16="http://schemas.microsoft.com/office/drawing/2014/main" id="{4347FBE2-D2DE-739F-2CCF-ABC035BA5CEF}"/>
              </a:ext>
            </a:extLst>
          </p:cNvPr>
          <p:cNvSpPr/>
          <p:nvPr/>
        </p:nvSpPr>
        <p:spPr>
          <a:xfrm>
            <a:off x="7599680" y="1842597"/>
            <a:ext cx="259023" cy="961563"/>
          </a:xfrm>
          <a:prstGeom prst="rightBrace">
            <a:avLst>
              <a:gd name="adj1" fmla="val 5148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왼쪽 중괄호 11">
            <a:extLst>
              <a:ext uri="{FF2B5EF4-FFF2-40B4-BE49-F238E27FC236}">
                <a16:creationId xmlns:a16="http://schemas.microsoft.com/office/drawing/2014/main" id="{FDFDED0D-5C04-2BF2-691D-2B39F6B2C0DC}"/>
              </a:ext>
            </a:extLst>
          </p:cNvPr>
          <p:cNvSpPr/>
          <p:nvPr/>
        </p:nvSpPr>
        <p:spPr>
          <a:xfrm>
            <a:off x="5781040" y="3850640"/>
            <a:ext cx="355484" cy="1891736"/>
          </a:xfrm>
          <a:prstGeom prst="leftBrace">
            <a:avLst>
              <a:gd name="adj1" fmla="val 5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8BC395-A4FA-4603-EEF8-1350D57CEFBF}"/>
              </a:ext>
            </a:extLst>
          </p:cNvPr>
          <p:cNvSpPr txBox="1"/>
          <p:nvPr/>
        </p:nvSpPr>
        <p:spPr>
          <a:xfrm>
            <a:off x="253884" y="4531668"/>
            <a:ext cx="5416868" cy="46166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8442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283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2082800" y="225119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206802" y="2286155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159000" y="604374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366266" y="6043749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5068326" y="4429977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192712" y="3879969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569200" y="417863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8011386" y="5102981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574836" y="2752776"/>
            <a:ext cx="1819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6274-C019-7634-5864-98A3FB97AF27}"/>
              </a:ext>
            </a:extLst>
          </p:cNvPr>
          <p:cNvSpPr txBox="1"/>
          <p:nvPr/>
        </p:nvSpPr>
        <p:spPr>
          <a:xfrm>
            <a:off x="548640" y="1271927"/>
            <a:ext cx="10922000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Oxford-IIIT Pets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데이터셋을 활용해 각 픽셀을 전경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윤곽선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예측하는 분할 모델 구축</a:t>
            </a:r>
          </a:p>
        </p:txBody>
      </p:sp>
    </p:spTree>
    <p:extLst>
      <p:ext uri="{BB962C8B-B14F-4D97-AF65-F5344CB8AC3E}">
        <p14:creationId xmlns:p14="http://schemas.microsoft.com/office/powerpoint/2010/main" val="49386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686560" y="21965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6810562" y="2231545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F503F-3B4E-D043-2764-B8A93F4F14EF}"/>
              </a:ext>
            </a:extLst>
          </p:cNvPr>
          <p:cNvSpPr txBox="1"/>
          <p:nvPr/>
        </p:nvSpPr>
        <p:spPr>
          <a:xfrm>
            <a:off x="9325610" y="2565916"/>
            <a:ext cx="22479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(foreground)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 (background)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1762760" y="57700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6970026" y="5712914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401185" y="41243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664178" y="35528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6206112" y="3027581"/>
            <a:ext cx="3119498" cy="24409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270" y="2860082"/>
            <a:ext cx="2811942" cy="277598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5411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" y="2802931"/>
            <a:ext cx="6998526" cy="334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4215054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Convnet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715375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88987"/>
            <a:ext cx="2657475" cy="2923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08107"/>
            <a:ext cx="2657475" cy="4924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7696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BE693-3091-B325-C411-E43BD93B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F55654F-E98B-9D3E-A328-C8EC2E30DD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Convnet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D50F0EB-5CEF-1E67-E58B-637B1054B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05500" y="3057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3696F-4C73-8636-CC93-30330B4276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FA907-C8AF-C701-6550-AB37A7848C48}"/>
              </a:ext>
            </a:extLst>
          </p:cNvPr>
          <p:cNvSpPr txBox="1"/>
          <p:nvPr/>
        </p:nvSpPr>
        <p:spPr>
          <a:xfrm>
            <a:off x="514350" y="1238856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038B90C-C3E9-2D98-4F9B-EB0F4FCA1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22" y="1554327"/>
            <a:ext cx="4918978" cy="3335928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1C04C79-4BD9-BEDC-C377-57AB55250360}"/>
              </a:ext>
            </a:extLst>
          </p:cNvPr>
          <p:cNvGraphicFramePr>
            <a:graphicFrameLocks noGrp="1"/>
          </p:cNvGraphicFramePr>
          <p:nvPr/>
        </p:nvGraphicFramePr>
        <p:xfrm>
          <a:off x="5615672" y="1880288"/>
          <a:ext cx="6232667" cy="2772992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114935">
                  <a:extLst>
                    <a:ext uri="{9D8B030D-6E8A-4147-A177-3AD203B41FA5}">
                      <a16:colId xmlns:a16="http://schemas.microsoft.com/office/drawing/2014/main" val="2755321600"/>
                    </a:ext>
                  </a:extLst>
                </a:gridCol>
                <a:gridCol w="596975">
                  <a:extLst>
                    <a:ext uri="{9D8B030D-6E8A-4147-A177-3AD203B41FA5}">
                      <a16:colId xmlns:a16="http://schemas.microsoft.com/office/drawing/2014/main" val="2295146599"/>
                    </a:ext>
                  </a:extLst>
                </a:gridCol>
                <a:gridCol w="634327">
                  <a:extLst>
                    <a:ext uri="{9D8B030D-6E8A-4147-A177-3AD203B41FA5}">
                      <a16:colId xmlns:a16="http://schemas.microsoft.com/office/drawing/2014/main" val="2307758495"/>
                    </a:ext>
                  </a:extLst>
                </a:gridCol>
                <a:gridCol w="314542">
                  <a:extLst>
                    <a:ext uri="{9D8B030D-6E8A-4147-A177-3AD203B41FA5}">
                      <a16:colId xmlns:a16="http://schemas.microsoft.com/office/drawing/2014/main" val="2917777080"/>
                    </a:ext>
                  </a:extLst>
                </a:gridCol>
                <a:gridCol w="2759087">
                  <a:extLst>
                    <a:ext uri="{9D8B030D-6E8A-4147-A177-3AD203B41FA5}">
                      <a16:colId xmlns:a16="http://schemas.microsoft.com/office/drawing/2014/main" val="2995285287"/>
                    </a:ext>
                  </a:extLst>
                </a:gridCol>
                <a:gridCol w="812801">
                  <a:extLst>
                    <a:ext uri="{9D8B030D-6E8A-4147-A177-3AD203B41FA5}">
                      <a16:colId xmlns:a16="http://schemas.microsoft.com/office/drawing/2014/main" val="2306271437"/>
                    </a:ext>
                  </a:extLst>
                </a:gridCol>
              </a:tblGrid>
              <a:tr h="22670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</a:rPr>
                        <a:t>(</a:t>
                      </a:r>
                      <a:r>
                        <a:rPr lang="en-US" sz="1000" dirty="0">
                          <a:effectLst/>
                        </a:rPr>
                        <a:t>Layer)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입력 채널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커널 크기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필터 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상세 계산 수식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파라미터 개수</a:t>
                      </a:r>
                    </a:p>
                  </a:txBody>
                  <a:tcPr marL="0" marR="0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9356482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Conv2D_1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5×5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6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{(5×5×1)+1}×6=(25+1)×6=26×6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156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769683759"/>
                  </a:ext>
                </a:extLst>
              </a:tr>
              <a:tr h="28566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MaxPooling2D_1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학습 가중치 없음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022478283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Conv2D_2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5×5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{(5×5×6)+1}×16=(150+1)×16=151×16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2,416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427524334"/>
                  </a:ext>
                </a:extLst>
              </a:tr>
              <a:tr h="28566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MaxPooling2D_2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학습 가중치 없음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18839275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Flatten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학습 가중치 없음 </a:t>
                      </a:r>
                      <a:r>
                        <a:rPr lang="en-US" altLang="ko-KR" sz="1000">
                          <a:effectLst/>
                        </a:rPr>
                        <a:t>(</a:t>
                      </a:r>
                      <a:r>
                        <a:rPr lang="ko-KR" altLang="en-US" sz="1000">
                          <a:effectLst/>
                        </a:rPr>
                        <a:t>출력 노드 수</a:t>
                      </a:r>
                      <a:r>
                        <a:rPr lang="en-US" altLang="ko-KR" sz="1000">
                          <a:effectLst/>
                        </a:rPr>
                        <a:t>: 2,704</a:t>
                      </a:r>
                      <a:r>
                        <a:rPr lang="ko-KR" altLang="en-US" sz="1000">
                          <a:effectLst/>
                        </a:rPr>
                        <a:t>개</a:t>
                      </a:r>
                      <a:r>
                        <a:rPr lang="en-US" altLang="ko-KR" sz="1000">
                          <a:effectLst/>
                        </a:rPr>
                        <a:t>)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68461832"/>
                  </a:ext>
                </a:extLst>
              </a:tr>
              <a:tr h="28566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Dense_1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2,704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120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{(2,704×1)+1}×120=(2,704+1)×120=2,705×120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324,600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146647530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Dense_2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120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84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{(120×1)+1}×84=(120+1)×84=121×84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10,164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652859773"/>
                  </a:ext>
                </a:extLst>
              </a:tr>
              <a:tr h="28566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Dense_3 (</a:t>
                      </a:r>
                      <a:r>
                        <a:rPr lang="ko-KR" altLang="en-US" sz="1000">
                          <a:effectLst/>
                        </a:rPr>
                        <a:t>출력층</a:t>
                      </a:r>
                      <a:r>
                        <a:rPr lang="en-US" altLang="ko-KR" sz="1000">
                          <a:effectLst/>
                        </a:rPr>
                        <a:t>)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84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{(84×1)+1}×10=(84+1)×10=85×10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850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5712732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총계 </a:t>
                      </a:r>
                      <a:r>
                        <a:rPr lang="en-US" altLang="ko-KR" sz="1000">
                          <a:effectLst/>
                        </a:rPr>
                        <a:t>(</a:t>
                      </a:r>
                      <a:r>
                        <a:rPr lang="en-US" sz="1000">
                          <a:effectLst/>
                        </a:rPr>
                        <a:t>Total)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156+2,416+324,600+10,164+850</a:t>
                      </a:r>
                    </a:p>
                  </a:txBody>
                  <a:tcPr marL="12228" marR="12228" marT="8152" marB="8152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338,186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5065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72168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0475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9367839" y="4879995"/>
            <a:ext cx="2518843" cy="149271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076575"/>
            <a:ext cx="8877300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7839" y="1316113"/>
            <a:ext cx="2518842" cy="169277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</p:spTree>
    <p:extLst>
      <p:ext uri="{BB962C8B-B14F-4D97-AF65-F5344CB8AC3E}">
        <p14:creationId xmlns:p14="http://schemas.microsoft.com/office/powerpoint/2010/main" val="33154198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EC4-B367-B617-1D8E-1F58E3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E6937E-1188-477D-3D5E-9BF1644CFE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188ADE-2F9A-8127-1D51-68AFD92D09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38825" y="28289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649C9B-E7B2-5444-3BEE-F381AD5327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FA9E6E0-2810-40A9-F605-954A0572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94" y="1829859"/>
            <a:ext cx="5041780" cy="31982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F4F9D1E-9110-B139-ECC9-5FF49AB52F1B}"/>
              </a:ext>
            </a:extLst>
          </p:cNvPr>
          <p:cNvSpPr txBox="1"/>
          <p:nvPr/>
        </p:nvSpPr>
        <p:spPr>
          <a:xfrm>
            <a:off x="475645" y="1407832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D3AAC76-CB6E-E7E4-263C-35835ED27EDA}"/>
              </a:ext>
            </a:extLst>
          </p:cNvPr>
          <p:cNvGraphicFramePr>
            <a:graphicFrameLocks noGrp="1"/>
          </p:cNvGraphicFramePr>
          <p:nvPr/>
        </p:nvGraphicFramePr>
        <p:xfrm>
          <a:off x="5652526" y="2049610"/>
          <a:ext cx="6165841" cy="275878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19774">
                  <a:extLst>
                    <a:ext uri="{9D8B030D-6E8A-4147-A177-3AD203B41FA5}">
                      <a16:colId xmlns:a16="http://schemas.microsoft.com/office/drawing/2014/main" val="4007595343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2846901273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627887502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982397368"/>
                    </a:ext>
                  </a:extLst>
                </a:gridCol>
                <a:gridCol w="2486025">
                  <a:extLst>
                    <a:ext uri="{9D8B030D-6E8A-4147-A177-3AD203B41FA5}">
                      <a16:colId xmlns:a16="http://schemas.microsoft.com/office/drawing/2014/main" val="3133557278"/>
                    </a:ext>
                  </a:extLst>
                </a:gridCol>
                <a:gridCol w="626492">
                  <a:extLst>
                    <a:ext uri="{9D8B030D-6E8A-4147-A177-3AD203B41FA5}">
                      <a16:colId xmlns:a16="http://schemas.microsoft.com/office/drawing/2014/main" val="2349011138"/>
                    </a:ext>
                  </a:extLst>
                </a:gridCol>
              </a:tblGrid>
              <a:tr h="34713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</a:rPr>
                        <a:t>(</a:t>
                      </a:r>
                      <a:r>
                        <a:rPr lang="en-US" sz="1000" dirty="0">
                          <a:effectLst/>
                        </a:rPr>
                        <a:t>Layer)</a:t>
                      </a: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입력 채널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커널 크기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필터 수</a:t>
                      </a:r>
                      <a:endParaRPr lang="ko-KR" alt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상세 계산 수식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파라미터 개수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3701322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Conv2D_1</a:t>
                      </a: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5×5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{(5×5×1)+1}×6=(25+1)×6=26×6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156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6151833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>
                          <a:effectLst/>
                        </a:rPr>
                        <a:t>MaxPooling2D_1</a:t>
                      </a:r>
                      <a:endParaRPr 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학습 가중치 없음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298932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Conv2D_2</a:t>
                      </a: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6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5×5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{(5×5×6)+1}×16=(150+1)×16=151×16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2,416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5425684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>
                          <a:effectLst/>
                        </a:rPr>
                        <a:t>MaxPooling2D_2</a:t>
                      </a:r>
                      <a:endParaRPr 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학습 가중치 없음</a:t>
                      </a:r>
                      <a:endParaRPr lang="ko-KR" alt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5835728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Conv2D_3 (Dense </a:t>
                      </a:r>
                      <a:r>
                        <a:rPr lang="ko-KR" altLang="en-US" sz="1000" dirty="0">
                          <a:effectLst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</a:rPr>
                        <a:t>)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5×5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120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{(5×5×16)+1}×120=(400+1)×120=401×120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48,120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8446111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Conv2D_4 (Dense </a:t>
                      </a:r>
                      <a:r>
                        <a:rPr lang="ko-KR" altLang="en-US" sz="1000" dirty="0">
                          <a:effectLst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</a:rPr>
                        <a:t>)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120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1×1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84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{(1×1×120)+1}×84=(120+1)×84=121×84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10,164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652098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Conv2D_5 (</a:t>
                      </a:r>
                      <a:r>
                        <a:rPr lang="ko-KR" altLang="en-US" sz="1000" dirty="0" err="1">
                          <a:effectLst/>
                        </a:rPr>
                        <a:t>출력층</a:t>
                      </a:r>
                      <a:r>
                        <a:rPr lang="en-US" altLang="ko-KR" sz="1000" dirty="0">
                          <a:effectLst/>
                        </a:rPr>
                        <a:t>)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84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1×1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{(1×1×84)+1}×10=(84+1)×10=85×10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850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2668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총계 </a:t>
                      </a:r>
                      <a:r>
                        <a:rPr lang="en-US" altLang="ko-KR" sz="1000">
                          <a:effectLst/>
                        </a:rPr>
                        <a:t>(</a:t>
                      </a:r>
                      <a:r>
                        <a:rPr lang="en-US" sz="1000">
                          <a:effectLst/>
                        </a:rPr>
                        <a:t>Total)</a:t>
                      </a:r>
                      <a:endParaRPr 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156+2,416+48,120+10,164+850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61,706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87190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89114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3BD37-E303-5BC3-EBFC-E038EC9D4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BCCEE9-43E6-351F-8674-500F5F3F1B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AF51F9-E863-300D-398A-F492A88B2B5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37154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B6F0E-1AD2-0815-9B8B-C08FE5EC3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E0034C-D158-9433-3E81-703E2643F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1712226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ko-KR" altLang="en-US" sz="4400" dirty="0">
                <a:solidFill>
                  <a:schemeClr val="bg1"/>
                </a:solidFill>
              </a:rPr>
              <a:t>실습하기</a:t>
            </a: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E6B5F63-4274-C3E4-9DEB-AAEDABD5730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endParaRPr lang="en-US" altLang="ko-KR" sz="20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D7E844-DE3E-FFCD-004F-B556D9016804}"/>
              </a:ext>
            </a:extLst>
          </p:cNvPr>
          <p:cNvSpPr txBox="1"/>
          <p:nvPr/>
        </p:nvSpPr>
        <p:spPr>
          <a:xfrm>
            <a:off x="838200" y="3507071"/>
            <a:ext cx="86391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O’RELLY</a:t>
            </a:r>
          </a:p>
          <a:p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sz="20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 </a:t>
            </a:r>
            <a:r>
              <a:rPr lang="en-US" altLang="ko-KR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Concepts, Tools, and Techniques to Build Intelligent Systems</a:t>
            </a:r>
            <a:endParaRPr lang="ko-KR" altLang="en-US" sz="20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2616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9D803-2FB4-8DA1-99B5-E667ACBE0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4900612-A83B-2EB1-7641-8388839DEB53}"/>
              </a:ext>
            </a:extLst>
          </p:cNvPr>
          <p:cNvSpPr/>
          <p:nvPr/>
        </p:nvSpPr>
        <p:spPr>
          <a:xfrm>
            <a:off x="6096000" y="3473651"/>
            <a:ext cx="576072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A227CA-72E4-A1B8-689B-0DF8C1180D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5819B96C-F582-EAF3-54E6-759A8064B0F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6976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0B2AF5-BC5F-1756-25CD-1C110C18952B}"/>
              </a:ext>
            </a:extLst>
          </p:cNvPr>
          <p:cNvSpPr txBox="1"/>
          <p:nvPr/>
        </p:nvSpPr>
        <p:spPr>
          <a:xfrm>
            <a:off x="860397" y="1589695"/>
            <a:ext cx="6271924" cy="14300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E061FC-52FE-8F0B-BCEE-86C30A0634A4}"/>
              </a:ext>
            </a:extLst>
          </p:cNvPr>
          <p:cNvSpPr txBox="1"/>
          <p:nvPr/>
        </p:nvSpPr>
        <p:spPr>
          <a:xfrm>
            <a:off x="6126364" y="3429000"/>
            <a:ext cx="5516996" cy="281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ABC38B-6C3B-1C43-1AEB-570C9C843FA5}"/>
              </a:ext>
            </a:extLst>
          </p:cNvPr>
          <p:cNvSpPr txBox="1"/>
          <p:nvPr/>
        </p:nvSpPr>
        <p:spPr>
          <a:xfrm>
            <a:off x="8183822" y="1997147"/>
            <a:ext cx="3225858" cy="46166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오른쪽 중괄호 8">
            <a:extLst>
              <a:ext uri="{FF2B5EF4-FFF2-40B4-BE49-F238E27FC236}">
                <a16:creationId xmlns:a16="http://schemas.microsoft.com/office/drawing/2014/main" id="{78F07070-1B95-1F17-23D7-C7FC9AAE8AC1}"/>
              </a:ext>
            </a:extLst>
          </p:cNvPr>
          <p:cNvSpPr/>
          <p:nvPr/>
        </p:nvSpPr>
        <p:spPr>
          <a:xfrm>
            <a:off x="7599680" y="1842597"/>
            <a:ext cx="259023" cy="961563"/>
          </a:xfrm>
          <a:prstGeom prst="rightBrace">
            <a:avLst>
              <a:gd name="adj1" fmla="val 5148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왼쪽 중괄호 11">
            <a:extLst>
              <a:ext uri="{FF2B5EF4-FFF2-40B4-BE49-F238E27FC236}">
                <a16:creationId xmlns:a16="http://schemas.microsoft.com/office/drawing/2014/main" id="{E8CB3FED-1928-7009-2B6D-17BAD7BF5274}"/>
              </a:ext>
            </a:extLst>
          </p:cNvPr>
          <p:cNvSpPr/>
          <p:nvPr/>
        </p:nvSpPr>
        <p:spPr>
          <a:xfrm>
            <a:off x="5770880" y="3708400"/>
            <a:ext cx="355484" cy="2245360"/>
          </a:xfrm>
          <a:prstGeom prst="leftBrace">
            <a:avLst>
              <a:gd name="adj1" fmla="val 5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78DDD2-BCE8-FC1C-3062-7D45049D8EB6}"/>
              </a:ext>
            </a:extLst>
          </p:cNvPr>
          <p:cNvSpPr txBox="1"/>
          <p:nvPr/>
        </p:nvSpPr>
        <p:spPr>
          <a:xfrm>
            <a:off x="253884" y="4531668"/>
            <a:ext cx="5416868" cy="46166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375141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47BDE7D-0486-1B18-63F2-7EB449FEE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C81296C-DF8F-7A97-7A7B-201C8C3B10E9}"/>
              </a:ext>
            </a:extLst>
          </p:cNvPr>
          <p:cNvSpPr txBox="1"/>
          <p:nvPr/>
        </p:nvSpPr>
        <p:spPr>
          <a:xfrm>
            <a:off x="7114570" y="1640711"/>
            <a:ext cx="4639280" cy="4260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15E082-60BB-666A-895A-58597F6A8AFA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2CB5DE-5333-71DA-C333-635C3D118380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85252-6121-EF21-4F72-D063C81DA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39448C6-56E0-E64E-9969-F81D435DA12C}"/>
              </a:ext>
            </a:extLst>
          </p:cNvPr>
          <p:cNvSpPr/>
          <p:nvPr/>
        </p:nvSpPr>
        <p:spPr>
          <a:xfrm>
            <a:off x="6246812" y="3581400"/>
            <a:ext cx="5599748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6A6E612-6E52-2B6B-F003-5AC41EDA2A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B0D73E7-C6EA-8449-4A75-97D015712F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6976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003AB4-5D69-994E-FE1E-C335F3E08D82}"/>
              </a:ext>
            </a:extLst>
          </p:cNvPr>
          <p:cNvSpPr txBox="1"/>
          <p:nvPr/>
        </p:nvSpPr>
        <p:spPr>
          <a:xfrm>
            <a:off x="860397" y="1589695"/>
            <a:ext cx="6271924" cy="1891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A725A6-B2D5-3348-AD72-BBB01DB52FBE}"/>
              </a:ext>
            </a:extLst>
          </p:cNvPr>
          <p:cNvSpPr txBox="1"/>
          <p:nvPr/>
        </p:nvSpPr>
        <p:spPr>
          <a:xfrm>
            <a:off x="6165533" y="3552885"/>
            <a:ext cx="551699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220FC4-5679-A5E3-763A-1CDACC9FDF72}"/>
              </a:ext>
            </a:extLst>
          </p:cNvPr>
          <p:cNvSpPr txBox="1"/>
          <p:nvPr/>
        </p:nvSpPr>
        <p:spPr>
          <a:xfrm>
            <a:off x="8183822" y="1997147"/>
            <a:ext cx="3225858" cy="46166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오른쪽 중괄호 8">
            <a:extLst>
              <a:ext uri="{FF2B5EF4-FFF2-40B4-BE49-F238E27FC236}">
                <a16:creationId xmlns:a16="http://schemas.microsoft.com/office/drawing/2014/main" id="{8FCFB429-26C2-160F-F8E3-DCD6F844A37E}"/>
              </a:ext>
            </a:extLst>
          </p:cNvPr>
          <p:cNvSpPr/>
          <p:nvPr/>
        </p:nvSpPr>
        <p:spPr>
          <a:xfrm>
            <a:off x="7599680" y="1842597"/>
            <a:ext cx="259023" cy="961563"/>
          </a:xfrm>
          <a:prstGeom prst="rightBrace">
            <a:avLst>
              <a:gd name="adj1" fmla="val 5148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왼쪽 중괄호 11">
            <a:extLst>
              <a:ext uri="{FF2B5EF4-FFF2-40B4-BE49-F238E27FC236}">
                <a16:creationId xmlns:a16="http://schemas.microsoft.com/office/drawing/2014/main" id="{6F13105E-75ED-FAE9-5D9F-2301CA923117}"/>
              </a:ext>
            </a:extLst>
          </p:cNvPr>
          <p:cNvSpPr/>
          <p:nvPr/>
        </p:nvSpPr>
        <p:spPr>
          <a:xfrm>
            <a:off x="5781040" y="3850640"/>
            <a:ext cx="355484" cy="1891736"/>
          </a:xfrm>
          <a:prstGeom prst="leftBrace">
            <a:avLst>
              <a:gd name="adj1" fmla="val 5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118B60-E2D5-2DBD-F294-78FB78E9B5FF}"/>
              </a:ext>
            </a:extLst>
          </p:cNvPr>
          <p:cNvSpPr txBox="1"/>
          <p:nvPr/>
        </p:nvSpPr>
        <p:spPr>
          <a:xfrm>
            <a:off x="253884" y="4531668"/>
            <a:ext cx="5416868" cy="46166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42414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595AC-ADC5-6ACD-3E44-AA9EA1C60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9F962D8-2575-65C6-7FBB-9AA54675104D}"/>
              </a:ext>
            </a:extLst>
          </p:cNvPr>
          <p:cNvSpPr/>
          <p:nvPr/>
        </p:nvSpPr>
        <p:spPr>
          <a:xfrm>
            <a:off x="6246812" y="4495800"/>
            <a:ext cx="5599748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C7EA27E-E015-CF48-DF22-B2E6C7A57F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16FBCFD2-AB61-8B21-E628-F13814A1CF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6976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9189DB-3B99-89E1-B61F-29BD731FAA15}"/>
              </a:ext>
            </a:extLst>
          </p:cNvPr>
          <p:cNvSpPr txBox="1"/>
          <p:nvPr/>
        </p:nvSpPr>
        <p:spPr>
          <a:xfrm>
            <a:off x="860397" y="1589695"/>
            <a:ext cx="6271924" cy="1891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607574-F15D-609A-1122-0E8285E3D7DA}"/>
              </a:ext>
            </a:extLst>
          </p:cNvPr>
          <p:cNvSpPr txBox="1"/>
          <p:nvPr/>
        </p:nvSpPr>
        <p:spPr>
          <a:xfrm>
            <a:off x="6165533" y="3552885"/>
            <a:ext cx="551699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E7A79D-31C0-3F48-7AF7-99D7DC0BF94A}"/>
              </a:ext>
            </a:extLst>
          </p:cNvPr>
          <p:cNvSpPr txBox="1"/>
          <p:nvPr/>
        </p:nvSpPr>
        <p:spPr>
          <a:xfrm>
            <a:off x="8183822" y="1997147"/>
            <a:ext cx="3225858" cy="46166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오른쪽 중괄호 8">
            <a:extLst>
              <a:ext uri="{FF2B5EF4-FFF2-40B4-BE49-F238E27FC236}">
                <a16:creationId xmlns:a16="http://schemas.microsoft.com/office/drawing/2014/main" id="{55A7139E-A3DC-BCEF-B555-2F692A68441A}"/>
              </a:ext>
            </a:extLst>
          </p:cNvPr>
          <p:cNvSpPr/>
          <p:nvPr/>
        </p:nvSpPr>
        <p:spPr>
          <a:xfrm>
            <a:off x="7599680" y="1842597"/>
            <a:ext cx="259023" cy="961563"/>
          </a:xfrm>
          <a:prstGeom prst="rightBrace">
            <a:avLst>
              <a:gd name="adj1" fmla="val 5148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왼쪽 중괄호 11">
            <a:extLst>
              <a:ext uri="{FF2B5EF4-FFF2-40B4-BE49-F238E27FC236}">
                <a16:creationId xmlns:a16="http://schemas.microsoft.com/office/drawing/2014/main" id="{A424B0FA-D479-1835-29D0-5E62E90A78FF}"/>
              </a:ext>
            </a:extLst>
          </p:cNvPr>
          <p:cNvSpPr/>
          <p:nvPr/>
        </p:nvSpPr>
        <p:spPr>
          <a:xfrm>
            <a:off x="5781040" y="3850640"/>
            <a:ext cx="355484" cy="1891736"/>
          </a:xfrm>
          <a:prstGeom prst="leftBrace">
            <a:avLst>
              <a:gd name="adj1" fmla="val 5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31BCB3-9856-E985-A7F8-8C0E5DC09CA7}"/>
              </a:ext>
            </a:extLst>
          </p:cNvPr>
          <p:cNvSpPr txBox="1"/>
          <p:nvPr/>
        </p:nvSpPr>
        <p:spPr>
          <a:xfrm>
            <a:off x="253884" y="4531668"/>
            <a:ext cx="5416868" cy="46166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3721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546759" y="3024095"/>
            <a:ext cx="9282648" cy="14300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느</a:t>
            </a:r>
            <a:r>
              <a:rPr lang="ko-KR" altLang="en-US" sz="20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리지마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F178DAC-22D0-A3E5-4A8E-FF77AE5238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3F178F-15F2-9E0D-8A95-627E0C57E062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5662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9316-11CD-EA57-8245-E63FDE19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9FC1F-25B8-EA91-927F-372CABFF2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14E7412-BACD-A2AB-F02F-EC1463D4E5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2F17F-9733-1268-A0A9-0727F2D512BD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2C0913-8CE9-A5D2-941D-2D2D0648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6E46AF95-4599-95E3-BD23-3179F05BAAC8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897AC5-4672-DFC7-463E-5C9232CAB1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0875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65" y="1569129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DCCBB-9802-7ACD-C30D-0189CA3E29CF}"/>
              </a:ext>
            </a:extLst>
          </p:cNvPr>
          <p:cNvSpPr txBox="1"/>
          <p:nvPr/>
        </p:nvSpPr>
        <p:spPr>
          <a:xfrm>
            <a:off x="628045" y="6049190"/>
            <a:ext cx="5048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3FDF5-3704-DFA1-B9BC-63309BCBCDED}"/>
              </a:ext>
            </a:extLst>
          </p:cNvPr>
          <p:cNvSpPr txBox="1"/>
          <p:nvPr/>
        </p:nvSpPr>
        <p:spPr>
          <a:xfrm>
            <a:off x="5838306" y="1329068"/>
            <a:ext cx="590601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spcAft>
                <a:spcPts val="1200"/>
              </a:spcAft>
            </a:pPr>
            <a:r>
              <a:rPr lang="en-US" altLang="ko-KR" sz="1600" b="1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Convnet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Map(7,7,100) → Dense(4900,) → Dense(200)</a:t>
            </a:r>
            <a:endParaRPr lang="ko-KR" altLang="en-US" sz="1600" dirty="0"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5857961" y="2154845"/>
            <a:ext cx="5906019" cy="4431983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FCN(Fully</a:t>
            </a:r>
            <a:r>
              <a:rPr lang="ko-KR" altLang="en-US" sz="1600" b="1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Convolutional</a:t>
            </a:r>
            <a:r>
              <a:rPr lang="ko-KR" altLang="en-US" sz="1600" b="1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Network)</a:t>
            </a:r>
            <a:endParaRPr lang="en-US" altLang="ko-KR" sz="1600" b="1" dirty="0">
              <a:solidFill>
                <a:schemeClr val="bg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small image(left)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커널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(7,7)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과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피처 맵 크기가 같으므로 최종 출력은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(1,1,10)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단일 영역의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예측값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클래스 확률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5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+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객체성 점수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+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바운딩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박스 좌표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4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개를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의미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개 필터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] → Output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small image(left) :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동일한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(7,7)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합성곱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연산 결과 피처 맵 크기는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(14-7+1)=8, (8,8,10)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모델을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(8x8)= 64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번 반복 실행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슬라이딩 윈도우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할 필요 없이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개 필터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] → Output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(8,8,10)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 (14,14)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격자로 나누어 격자별로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CNN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 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7193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AA10-ED67-0C44-9791-AB83B32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ACB4C6-5563-2522-E4DE-4DBA90D762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 </a:t>
            </a:r>
            <a:r>
              <a:rPr lang="en-US" altLang="ko-KR" b="1" cap="none" dirty="0" err="1"/>
              <a:t>Depthwise</a:t>
            </a:r>
            <a:r>
              <a:rPr lang="en-US" altLang="ko-KR" b="1" cap="none" dirty="0"/>
              <a:t> Separable Convolution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86EBB61-F4D9-19BF-97E8-D2D6CC513D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5885C9-7CD1-C6F4-01A9-EA8CEB8CB1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9478B6-AADB-76E0-48DB-DF481BD7E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917914"/>
              </p:ext>
            </p:extLst>
          </p:nvPr>
        </p:nvGraphicFramePr>
        <p:xfrm>
          <a:off x="753385" y="2417433"/>
          <a:ext cx="10685229" cy="2087890"/>
        </p:xfrm>
        <a:graphic>
          <a:graphicData uri="http://schemas.openxmlformats.org/drawingml/2006/table">
            <a:tbl>
              <a:tblPr/>
              <a:tblGrid>
                <a:gridCol w="1780950">
                  <a:extLst>
                    <a:ext uri="{9D8B030D-6E8A-4147-A177-3AD203B41FA5}">
                      <a16:colId xmlns:a16="http://schemas.microsoft.com/office/drawing/2014/main" val="700773218"/>
                    </a:ext>
                  </a:extLst>
                </a:gridCol>
                <a:gridCol w="5342536">
                  <a:extLst>
                    <a:ext uri="{9D8B030D-6E8A-4147-A177-3AD203B41FA5}">
                      <a16:colId xmlns:a16="http://schemas.microsoft.com/office/drawing/2014/main" val="1332139726"/>
                    </a:ext>
                  </a:extLst>
                </a:gridCol>
                <a:gridCol w="3561743">
                  <a:extLst>
                    <a:ext uri="{9D8B030D-6E8A-4147-A177-3AD203B41FA5}">
                      <a16:colId xmlns:a16="http://schemas.microsoft.com/office/drawing/2014/main" val="2365343045"/>
                    </a:ext>
                  </a:extLst>
                </a:gridCol>
              </a:tblGrid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FCN(Fully Convolutional Network)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Depthwise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Separable 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52102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네트워크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 설계 방식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하나의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20161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해결하는 문제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 제거로 임의 크기 입력</a:t>
                      </a: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보존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 연산량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감소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266946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대상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Dense(FC)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층을 쓰는 일반 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CNN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일반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표준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650150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FCN, U-Net, YOLO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</a:t>
                      </a:r>
                      <a:r>
                        <a:rPr lang="ko-KR" alt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출력단</a:t>
                      </a: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Xception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MobileNet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내부 블록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960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9E2B95-F1A3-51E8-BAD6-E1E3366CDAB1}"/>
              </a:ext>
            </a:extLst>
          </p:cNvPr>
          <p:cNvSpPr txBox="1"/>
          <p:nvPr/>
        </p:nvSpPr>
        <p:spPr>
          <a:xfrm>
            <a:off x="753384" y="4848910"/>
            <a:ext cx="107718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안에서도 사용될 수 있는 레이어</a:t>
            </a:r>
          </a:p>
        </p:txBody>
      </p:sp>
    </p:spTree>
    <p:extLst>
      <p:ext uri="{BB962C8B-B14F-4D97-AF65-F5344CB8AC3E}">
        <p14:creationId xmlns:p14="http://schemas.microsoft.com/office/powerpoint/2010/main" val="2760821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13FF7-3ECD-0B02-B8F7-33BE10638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D98E6E-A3C9-56B9-8B14-8CA938ACF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1712226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ko-KR" altLang="en-US" sz="4400" dirty="0">
                <a:solidFill>
                  <a:schemeClr val="bg1"/>
                </a:solidFill>
              </a:rPr>
              <a:t>실습하기</a:t>
            </a: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C8FDC4D-1B2D-393C-9B74-A9FFB46D686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endParaRPr lang="en-US" altLang="ko-KR" sz="20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B9157F-4256-77C1-B159-FE8F948317B9}"/>
              </a:ext>
            </a:extLst>
          </p:cNvPr>
          <p:cNvSpPr txBox="1"/>
          <p:nvPr/>
        </p:nvSpPr>
        <p:spPr>
          <a:xfrm>
            <a:off x="838200" y="3507071"/>
            <a:ext cx="86391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O’RELLY</a:t>
            </a:r>
          </a:p>
          <a:p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sz="20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 </a:t>
            </a:r>
            <a:r>
              <a:rPr lang="en-US" altLang="ko-KR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Concepts, Tools, and Techniques to Build Intelligent Systems</a:t>
            </a:r>
            <a:endParaRPr lang="ko-KR" altLang="en-US" sz="20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57253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271044"/>
            <a:ext cx="9153007" cy="428215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A8B57-B87B-36EE-05E7-A3D419028FD4}"/>
              </a:ext>
            </a:extLst>
          </p:cNvPr>
          <p:cNvSpPr txBox="1"/>
          <p:nvPr/>
        </p:nvSpPr>
        <p:spPr>
          <a:xfrm>
            <a:off x="552449" y="1162697"/>
            <a:ext cx="1116390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(Grid)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K-Means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 학습을 결합하여 실시간 속도와 높은 정확도를 동시에 달성한 대표적인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1-Stage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탐지 모델</a:t>
            </a:r>
          </a:p>
        </p:txBody>
      </p:sp>
    </p:spTree>
    <p:extLst>
      <p:ext uri="{BB962C8B-B14F-4D97-AF65-F5344CB8AC3E}">
        <p14:creationId xmlns:p14="http://schemas.microsoft.com/office/powerpoint/2010/main" val="38215912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3712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DF049-3986-4035-63B3-9F47E00320F1}"/>
              </a:ext>
            </a:extLst>
          </p:cNvPr>
          <p:cNvSpPr txBox="1"/>
          <p:nvPr/>
        </p:nvSpPr>
        <p:spPr>
          <a:xfrm>
            <a:off x="9296400" y="2706469"/>
            <a:ext cx="24860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/>
              </a:rPr>
              <a:t>https://www.ted.com/talks/joseph_redmon_how_computers_learn_to_recognize_objects_instantly</a:t>
            </a:r>
            <a:r>
              <a:rPr lang="ko-KR" altLang="en-US" sz="12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13EE0D-DFD6-4D4E-D203-E3CB1C3A7F0F}"/>
              </a:ext>
            </a:extLst>
          </p:cNvPr>
          <p:cNvSpPr txBox="1"/>
          <p:nvPr/>
        </p:nvSpPr>
        <p:spPr>
          <a:xfrm>
            <a:off x="9394838" y="4239310"/>
            <a:ext cx="2428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5"/>
              </a:rPr>
              <a:t>https://www.ted.com/talks/fei_fei_li_how_we_re_teaching_computers_to_understand_pictures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59652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9302</TotalTime>
  <Words>3403</Words>
  <Application>Microsoft Office PowerPoint</Application>
  <PresentationFormat>와이드스크린</PresentationFormat>
  <Paragraphs>454</Paragraphs>
  <Slides>35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5" baseType="lpstr">
      <vt:lpstr>D2Coding</vt:lpstr>
      <vt:lpstr>맑은 고딕</vt:lpstr>
      <vt:lpstr>맑은 고딕 Semilight</vt:lpstr>
      <vt:lpstr>바탕</vt:lpstr>
      <vt:lpstr>Arial</vt:lpstr>
      <vt:lpstr>Century Gothic</vt:lpstr>
      <vt:lpstr>Segoe UI Emoji</vt:lpstr>
      <vt:lpstr>Tahoma</vt:lpstr>
      <vt:lpstr>Wingdings</vt:lpstr>
      <vt:lpstr>WelcomeDoc</vt:lpstr>
      <vt:lpstr>Image Segmentation</vt:lpstr>
      <vt:lpstr>PowerPoint 프레젠테이션</vt:lpstr>
      <vt:lpstr>PowerPoint 프레젠테이션</vt:lpstr>
      <vt:lpstr>Hands-on Machine Learning with Scikit-Learn, Keras &amp; TensorFlow  Chapter 14. Deep Computer Vision Using Convolutional Neural Networks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 with Python  Chapter 11. Image Segmentation 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142</cp:revision>
  <dcterms:created xsi:type="dcterms:W3CDTF">2026-04-06T01:00:39Z</dcterms:created>
  <dcterms:modified xsi:type="dcterms:W3CDTF">2026-08-12T07:30:07Z</dcterms:modified>
  <cp:version/>
</cp:coreProperties>
</file>