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97" r:id="rId13"/>
    <p:sldId id="1196" r:id="rId14"/>
    <p:sldId id="1188" r:id="rId15"/>
    <p:sldId id="1143" r:id="rId16"/>
    <p:sldId id="1189" r:id="rId17"/>
    <p:sldId id="1138" r:id="rId18"/>
    <p:sldId id="1163" r:id="rId19"/>
    <p:sldId id="1135" r:id="rId20"/>
    <p:sldId id="1164" r:id="rId21"/>
    <p:sldId id="1152" r:id="rId22"/>
    <p:sldId id="1154" r:id="rId23"/>
    <p:sldId id="1191" r:id="rId24"/>
    <p:sldId id="1134" r:id="rId25"/>
    <p:sldId id="1192" r:id="rId26"/>
    <p:sldId id="1193" r:id="rId27"/>
    <p:sldId id="1140" r:id="rId28"/>
    <p:sldId id="1145" r:id="rId29"/>
    <p:sldId id="1150" r:id="rId30"/>
    <p:sldId id="1194" r:id="rId31"/>
    <p:sldId id="1149" r:id="rId32"/>
    <p:sldId id="1151" r:id="rId33"/>
    <p:sldId id="1195" r:id="rId34"/>
    <p:sldId id="1199" r:id="rId35"/>
    <p:sldId id="1198" r:id="rId36"/>
    <p:sldId id="1200" r:id="rId37"/>
    <p:sldId id="1201" r:id="rId38"/>
    <p:sldId id="1202" r:id="rId39"/>
    <p:sldId id="1121" r:id="rId40"/>
    <p:sldId id="1122" r:id="rId41"/>
    <p:sldId id="1123" r:id="rId42"/>
    <p:sldId id="1139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97"/>
            <p14:sldId id="1196"/>
            <p14:sldId id="1188"/>
            <p14:sldId id="1143"/>
            <p14:sldId id="1189"/>
            <p14:sldId id="1138"/>
            <p14:sldId id="1163"/>
            <p14:sldId id="1135"/>
            <p14:sldId id="1164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95"/>
            <p14:sldId id="1199"/>
            <p14:sldId id="1198"/>
            <p14:sldId id="1200"/>
            <p14:sldId id="1201"/>
            <p14:sldId id="1202"/>
            <p14:sldId id="1121"/>
            <p14:sldId id="1122"/>
            <p14:sldId id="112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37291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72A8-B21E-3F92-AE76-F73DA210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5DAAF7-4823-5C18-8D32-560E3BA28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CAE9B-637F-6A9C-4B70-692BEBFE1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6F19FC-3E38-901A-BAEE-6A9A9FE2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4071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analytics-vidhya/talented-mr-1x1-comprehensive-look-at-1x1-convolution-in-deep-learning-f6b355825578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sv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6.svg"/><Relationship Id="rId5" Type="http://schemas.openxmlformats.org/officeDocument/2006/relationships/image" Target="../media/image30.svg"/><Relationship Id="rId15" Type="http://schemas.openxmlformats.org/officeDocument/2006/relationships/image" Target="../media/image40.sv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svg"/><Relationship Id="rId1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7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12" Type="http://schemas.openxmlformats.org/officeDocument/2006/relationships/image" Target="../media/image36.svg"/><Relationship Id="rId2" Type="http://schemas.openxmlformats.org/officeDocument/2006/relationships/image" Target="../media/image27.png"/><Relationship Id="rId16" Type="http://schemas.openxmlformats.org/officeDocument/2006/relationships/image" Target="../media/image40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svg"/><Relationship Id="rId15" Type="http://schemas.openxmlformats.org/officeDocument/2006/relationships/image" Target="../media/image39.png"/><Relationship Id="rId10" Type="http://schemas.openxmlformats.org/officeDocument/2006/relationships/image" Target="../media/image41.png"/><Relationship Id="rId4" Type="http://schemas.openxmlformats.org/officeDocument/2006/relationships/image" Target="../media/image29.png"/><Relationship Id="rId9" Type="http://schemas.openxmlformats.org/officeDocument/2006/relationships/image" Target="../media/image34.svg"/><Relationship Id="rId14" Type="http://schemas.openxmlformats.org/officeDocument/2006/relationships/image" Target="../media/image38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B4AA9-2E2C-A396-B0A9-739B4E227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56" y="1660115"/>
            <a:ext cx="5810250" cy="3867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123B3-486E-56D6-89CE-D3E44138A12A}"/>
              </a:ext>
            </a:extLst>
          </p:cNvPr>
          <p:cNvSpPr txBox="1"/>
          <p:nvPr/>
        </p:nvSpPr>
        <p:spPr>
          <a:xfrm>
            <a:off x="523356" y="5648800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https://medium.com/analytics-vidhya/talented-mr-1x1-comprehensive-look-at-1x1-convolution-in-deep-learning-f6b355825578</a:t>
            </a:r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A77310D0-2215-89B1-D687-50D934CC1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5531" y="1550856"/>
            <a:ext cx="5314950" cy="3244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 차원 축소: 공간 크기(64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64)는 유지한 채 192개의 깊은 채널을 원하는 개수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및 파라미터 절감: 후속 고차원 연산 전에 채널을 먼저 압축하여 전체 계산 복잡도를 크게 낮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추어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효율 높임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픽셀마다 클래스를 분류해야 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위치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정보는 완벽히 유지하면서 채널 특징만 합성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3FA76-5385-0A0D-4286-E97D09A3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래픽 22" descr="오른쪽으로 굽은 화살표">
            <a:extLst>
              <a:ext uri="{FF2B5EF4-FFF2-40B4-BE49-F238E27FC236}">
                <a16:creationId xmlns:a16="http://schemas.microsoft.com/office/drawing/2014/main" id="{6B8ACE28-7875-4B39-EDB8-47C45100C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2797" y="3865052"/>
            <a:ext cx="914400" cy="914400"/>
          </a:xfrm>
          <a:prstGeom prst="rect">
            <a:avLst/>
          </a:prstGeom>
        </p:spPr>
      </p:pic>
      <p:sp>
        <p:nvSpPr>
          <p:cNvPr id="17" name="정육면체 16">
            <a:extLst>
              <a:ext uri="{FF2B5EF4-FFF2-40B4-BE49-F238E27FC236}">
                <a16:creationId xmlns:a16="http://schemas.microsoft.com/office/drawing/2014/main" id="{183BAF7B-EA2A-4D41-0464-2F13F62C012E}"/>
              </a:ext>
            </a:extLst>
          </p:cNvPr>
          <p:cNvSpPr/>
          <p:nvPr/>
        </p:nvSpPr>
        <p:spPr>
          <a:xfrm>
            <a:off x="3299635" y="5083424"/>
            <a:ext cx="876300" cy="763414"/>
          </a:xfrm>
          <a:prstGeom prst="cube">
            <a:avLst>
              <a:gd name="adj" fmla="val 10369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2D3C747E-690D-35C2-3944-016931FACAD3}"/>
              </a:ext>
            </a:extLst>
          </p:cNvPr>
          <p:cNvSpPr/>
          <p:nvPr/>
        </p:nvSpPr>
        <p:spPr>
          <a:xfrm>
            <a:off x="3192090" y="5192755"/>
            <a:ext cx="876300" cy="763414"/>
          </a:xfrm>
          <a:prstGeom prst="cube">
            <a:avLst>
              <a:gd name="adj" fmla="val 1036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정육면체 14">
            <a:extLst>
              <a:ext uri="{FF2B5EF4-FFF2-40B4-BE49-F238E27FC236}">
                <a16:creationId xmlns:a16="http://schemas.microsoft.com/office/drawing/2014/main" id="{29736859-239E-6214-4D1F-5F61B4728902}"/>
              </a:ext>
            </a:extLst>
          </p:cNvPr>
          <p:cNvSpPr/>
          <p:nvPr/>
        </p:nvSpPr>
        <p:spPr>
          <a:xfrm>
            <a:off x="3084545" y="530208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E9E1F0-AA2D-3EB2-D203-896E52B724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A325A9-8285-F740-A2AA-C36AB3375D1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64F82D4-2F2C-48DF-7331-A64B3BE6B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528" y="1248422"/>
            <a:ext cx="11020944" cy="745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클래스 채널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마지막 단에서 추출된 높은 차원의 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클래스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192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클래스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데 사용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FA96D12-F747-E5E6-C8B7-25DD9388C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622" y="2278874"/>
            <a:ext cx="6495532" cy="3567964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92개 채널 (입력):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이미지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픽셀을 분석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추출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192가지의 추상적인 특징(예: 질감, 테두리, 색상, 명암 등 컴퓨터만 이해하는 정보)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클래스 채널 (출력):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최종적으로 구분하고자 하는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분류의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'사람, 자동차, 인도, 배경' 4가지를 구분하는 최종 채널 수는 4개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역할 (변환기):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위치(픽셀) 좌표는 그대로 둔 채, 각 픽셀마다 존재하는 192개의 추상적 특징들을 적절히 조합(선형결합)하여 "이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자동차'일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인도'일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확률" 등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점수로 계산해 주는 마지막 정제 작업을 수행</a:t>
            </a:r>
          </a:p>
        </p:txBody>
      </p:sp>
      <p:sp>
        <p:nvSpPr>
          <p:cNvPr id="8" name="정육면체 7">
            <a:extLst>
              <a:ext uri="{FF2B5EF4-FFF2-40B4-BE49-F238E27FC236}">
                <a16:creationId xmlns:a16="http://schemas.microsoft.com/office/drawing/2014/main" id="{328C325B-E72A-9CB3-9261-F79953058DD3}"/>
              </a:ext>
            </a:extLst>
          </p:cNvPr>
          <p:cNvSpPr/>
          <p:nvPr/>
        </p:nvSpPr>
        <p:spPr>
          <a:xfrm>
            <a:off x="706968" y="2295148"/>
            <a:ext cx="1771650" cy="1654969"/>
          </a:xfrm>
          <a:prstGeom prst="cube">
            <a:avLst>
              <a:gd name="adj" fmla="val 5992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정육면체 9">
            <a:extLst>
              <a:ext uri="{FF2B5EF4-FFF2-40B4-BE49-F238E27FC236}">
                <a16:creationId xmlns:a16="http://schemas.microsoft.com/office/drawing/2014/main" id="{2C3EBF5E-5B03-6246-4254-FD02930A72E8}"/>
              </a:ext>
            </a:extLst>
          </p:cNvPr>
          <p:cNvSpPr/>
          <p:nvPr/>
        </p:nvSpPr>
        <p:spPr>
          <a:xfrm>
            <a:off x="1967879" y="2953233"/>
            <a:ext cx="1162050" cy="1152526"/>
          </a:xfrm>
          <a:prstGeom prst="cube">
            <a:avLst>
              <a:gd name="adj" fmla="val 82444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정육면체 10">
            <a:extLst>
              <a:ext uri="{FF2B5EF4-FFF2-40B4-BE49-F238E27FC236}">
                <a16:creationId xmlns:a16="http://schemas.microsoft.com/office/drawing/2014/main" id="{47D6A941-7A4F-F016-29FB-70C5D2BFC54B}"/>
              </a:ext>
            </a:extLst>
          </p:cNvPr>
          <p:cNvSpPr/>
          <p:nvPr/>
        </p:nvSpPr>
        <p:spPr>
          <a:xfrm>
            <a:off x="1967879" y="3412830"/>
            <a:ext cx="1162050" cy="1152526"/>
          </a:xfrm>
          <a:prstGeom prst="cube">
            <a:avLst>
              <a:gd name="adj" fmla="val 82444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15509A2B-FDDB-D59D-F8F5-F86744D2905D}"/>
              </a:ext>
            </a:extLst>
          </p:cNvPr>
          <p:cNvSpPr/>
          <p:nvPr/>
        </p:nvSpPr>
        <p:spPr>
          <a:xfrm>
            <a:off x="1967879" y="3872427"/>
            <a:ext cx="1162050" cy="1152526"/>
          </a:xfrm>
          <a:prstGeom prst="cube">
            <a:avLst>
              <a:gd name="adj" fmla="val 824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8F1EF733-9317-990C-946C-FDE0115DCAA7}"/>
              </a:ext>
            </a:extLst>
          </p:cNvPr>
          <p:cNvSpPr/>
          <p:nvPr/>
        </p:nvSpPr>
        <p:spPr>
          <a:xfrm>
            <a:off x="1967879" y="4332025"/>
            <a:ext cx="1162050" cy="1152526"/>
          </a:xfrm>
          <a:prstGeom prst="cube">
            <a:avLst>
              <a:gd name="adj" fmla="val 82444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CBB174E-2974-CB73-E9FB-DC7967B0D017}"/>
              </a:ext>
            </a:extLst>
          </p:cNvPr>
          <p:cNvSpPr/>
          <p:nvPr/>
        </p:nvSpPr>
        <p:spPr>
          <a:xfrm>
            <a:off x="2991786" y="541141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ADF50597-5FA2-BBC1-792D-288A414C13FF}"/>
              </a:ext>
            </a:extLst>
          </p:cNvPr>
          <p:cNvSpPr/>
          <p:nvPr/>
        </p:nvSpPr>
        <p:spPr>
          <a:xfrm>
            <a:off x="3243755" y="2983713"/>
            <a:ext cx="220516" cy="1491767"/>
          </a:xfrm>
          <a:prstGeom prst="rightBrace">
            <a:avLst>
              <a:gd name="adj1" fmla="val 6131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8F1C7-EA86-937B-7F85-3D672F937A1B}"/>
              </a:ext>
            </a:extLst>
          </p:cNvPr>
          <p:cNvSpPr txBox="1"/>
          <p:nvPr/>
        </p:nvSpPr>
        <p:spPr>
          <a:xfrm>
            <a:off x="3505793" y="3033306"/>
            <a:ext cx="1516964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１ｘ１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４개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CC53D-2A2F-7D96-D84E-7213EDB845BD}"/>
              </a:ext>
            </a:extLst>
          </p:cNvPr>
          <p:cNvSpPr txBox="1"/>
          <p:nvPr/>
        </p:nvSpPr>
        <p:spPr>
          <a:xfrm>
            <a:off x="3495241" y="4747954"/>
            <a:ext cx="1569039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클라스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채널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CEE739B-2F90-8222-F6F0-A711604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7879" y="6221130"/>
            <a:ext cx="2805835" cy="46166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1번 채널: 고양이일 확률 (픽셀 단위)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2번 채널: 강아지일 확률 (픽셀 단위)</a:t>
            </a:r>
          </a:p>
        </p:txBody>
      </p:sp>
    </p:spTree>
    <p:extLst>
      <p:ext uri="{BB962C8B-B14F-4D97-AF65-F5344CB8AC3E}">
        <p14:creationId xmlns:p14="http://schemas.microsoft.com/office/powerpoint/2010/main" val="283105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5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8CC18-4B2C-4700-AB44-3374C699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6269ED-4E3B-ACED-C13B-077C42C419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BE68D1E5-3D6C-6346-471D-98C77BC75C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5C0B39-4B51-5F94-5169-E85DDED9C3FD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46E3E6-877A-973C-BB95-83F051CA79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989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2673986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534CDA9C-150F-FC8C-D983-6528605B3124}"/>
              </a:ext>
            </a:extLst>
          </p:cNvPr>
          <p:cNvSpPr/>
          <p:nvPr/>
        </p:nvSpPr>
        <p:spPr>
          <a:xfrm>
            <a:off x="8987790" y="2047462"/>
            <a:ext cx="2624137" cy="7382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847"/>
              <a:gd name="adj6" fmla="val -49377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크기가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변경되면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작동이 안됨</a:t>
            </a:r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42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 Network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가변 크기의 입력을 받고 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단위당 분류가 가능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4928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40638C-D2EE-C32F-7C60-00E3D070B825}"/>
              </a:ext>
            </a:extLst>
          </p:cNvPr>
          <p:cNvSpPr/>
          <p:nvPr/>
        </p:nvSpPr>
        <p:spPr>
          <a:xfrm>
            <a:off x="552450" y="3724275"/>
            <a:ext cx="6899910" cy="2238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1692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35061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66608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070363"/>
              </p:ext>
            </p:extLst>
          </p:nvPr>
        </p:nvGraphicFramePr>
        <p:xfrm>
          <a:off x="5615672" y="166608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37312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75260-4FB4-8B47-4257-28E2B7262548}"/>
              </a:ext>
            </a:extLst>
          </p:cNvPr>
          <p:cNvSpPr txBox="1"/>
          <p:nvPr/>
        </p:nvSpPr>
        <p:spPr>
          <a:xfrm>
            <a:off x="637037" y="6093573"/>
            <a:ext cx="4774668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layers.GlobalAveragePooling2D()(</a:t>
            </a:r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26ECC-8559-47FF-1F1E-D89E224D6871}"/>
              </a:ext>
            </a:extLst>
          </p:cNvPr>
          <p:cNvSpPr txBox="1"/>
          <p:nvPr/>
        </p:nvSpPr>
        <p:spPr>
          <a:xfrm>
            <a:off x="640080" y="5261765"/>
            <a:ext cx="7302500" cy="738664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GlobalAveragePooling2D 사용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크기에 관계없이 채널 수(16) 크기의 1D 벡터로 해결되지만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공간정보가 모두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사라잠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정보를 유지하려면 </a:t>
            </a:r>
            <a:r>
              <a:rPr lang="en-US" altLang="ko-KR" sz="1400">
                <a:latin typeface="D2Coding" panose="020B0609020101020101" pitchFamily="49" charset="-127"/>
                <a:ea typeface="D2Coding" panose="020B0609020101020101" pitchFamily="49" charset="-127"/>
              </a:rPr>
              <a:t>FCN layer </a:t>
            </a:r>
            <a:r>
              <a:rPr lang="ko-KR" altLang="en-US" sz="140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88B784B6-07FF-BE5E-DBB3-4FE06351F1EB}"/>
              </a:ext>
            </a:extLst>
          </p:cNvPr>
          <p:cNvCxnSpPr>
            <a:endCxn id="16" idx="3"/>
          </p:cNvCxnSpPr>
          <p:nvPr/>
        </p:nvCxnSpPr>
        <p:spPr>
          <a:xfrm rot="5400000">
            <a:off x="7752512" y="4652849"/>
            <a:ext cx="1168317" cy="788179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  <a:r>
              <a:rPr lang="en-US" altLang="ko-KR" dirty="0"/>
              <a:t> 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613434" y="3233645"/>
            <a:ext cx="9282648" cy="1296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Network) for Semantic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53" y="1336802"/>
            <a:ext cx="10319554" cy="51306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9302881" y="2072607"/>
            <a:ext cx="2254652" cy="1042068"/>
          </a:xfrm>
          <a:prstGeom prst="borderCallout2">
            <a:avLst>
              <a:gd name="adj1" fmla="val 51656"/>
              <a:gd name="adj2" fmla="val -3171"/>
              <a:gd name="adj3" fmla="val 112897"/>
              <a:gd name="adj4" fmla="val -17404"/>
              <a:gd name="adj5" fmla="val 240184"/>
              <a:gd name="adj6" fmla="val -287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DE9B88-4D6A-25F7-D71C-1D90700F3170}"/>
              </a:ext>
            </a:extLst>
          </p:cNvPr>
          <p:cNvSpPr/>
          <p:nvPr/>
        </p:nvSpPr>
        <p:spPr>
          <a:xfrm>
            <a:off x="8562976" y="4533900"/>
            <a:ext cx="400050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085E-8E42-EAA1-2327-AF0809A2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1F84641-E76E-51D9-16BC-CD1742F560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4A1D01D5-DA1D-BFE3-3942-D88AD7393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FF79C-DD29-C4BD-3D8B-4DDC32EE1B3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157FA43-B461-5374-BF12-3BD81F763B9E}"/>
              </a:ext>
            </a:extLst>
          </p:cNvPr>
          <p:cNvGraphicFramePr>
            <a:graphicFrameLocks noGrp="1"/>
          </p:cNvGraphicFramePr>
          <p:nvPr/>
        </p:nvGraphicFramePr>
        <p:xfrm>
          <a:off x="1152965" y="2090073"/>
          <a:ext cx="10190869" cy="37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6309">
                  <a:extLst>
                    <a:ext uri="{9D8B030D-6E8A-4147-A177-3AD203B41FA5}">
                      <a16:colId xmlns:a16="http://schemas.microsoft.com/office/drawing/2014/main" val="940722227"/>
                    </a:ext>
                  </a:extLst>
                </a:gridCol>
                <a:gridCol w="1571644">
                  <a:extLst>
                    <a:ext uri="{9D8B030D-6E8A-4147-A177-3AD203B41FA5}">
                      <a16:colId xmlns:a16="http://schemas.microsoft.com/office/drawing/2014/main" val="1139710273"/>
                    </a:ext>
                  </a:extLst>
                </a:gridCol>
                <a:gridCol w="5111978">
                  <a:extLst>
                    <a:ext uri="{9D8B030D-6E8A-4147-A177-3AD203B41FA5}">
                      <a16:colId xmlns:a16="http://schemas.microsoft.com/office/drawing/2014/main" val="2489588790"/>
                    </a:ext>
                  </a:extLst>
                </a:gridCol>
                <a:gridCol w="3010938">
                  <a:extLst>
                    <a:ext uri="{9D8B030D-6E8A-4147-A177-3AD203B41FA5}">
                      <a16:colId xmlns:a16="http://schemas.microsoft.com/office/drawing/2014/main" val="1137752753"/>
                    </a:ext>
                  </a:extLst>
                </a:gridCol>
              </a:tblGrid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구간 명칭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연산 및 기능 요약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</a:t>
                      </a:r>
                      <a:r>
                        <a:rPr lang="ko-KR" altLang="en-US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텐서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규격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(Tensor Shape)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668676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RGB 3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 원본 이미지 입력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1045569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Conv1 Block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11x11 Conv (Stride 4) + Max Pooling (96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96, 27, 27]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8397250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5x5 Conv + Max Pooling (256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624958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Conv3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2709876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Conv4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90518307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Conv5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+ Max Pooling (256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pool5)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6, 6]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032328773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fc6 (conv6)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6x6 Conv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연산으로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전환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86053838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fc7 (conv7)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982074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Score Layer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채널로 축소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1, 1]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1723335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9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FCN-32s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32x Deconvolution (1x1 -&gt; 224x224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0744085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각 픽셀별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채널 중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값으로 클래스 결정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(Argmax)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224, 224] (Segmentation Map)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040244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AA92E73-83C0-0EC1-8499-601F8E21DBB6}"/>
              </a:ext>
            </a:extLst>
          </p:cNvPr>
          <p:cNvSpPr txBox="1"/>
          <p:nvPr/>
        </p:nvSpPr>
        <p:spPr>
          <a:xfrm>
            <a:off x="542924" y="1232163"/>
            <a:ext cx="110394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클래스의 총개수가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F0FC1E3-5C38-3B22-3D78-A4761B68AFC2}"/>
              </a:ext>
            </a:extLst>
          </p:cNvPr>
          <p:cNvSpPr/>
          <p:nvPr/>
        </p:nvSpPr>
        <p:spPr>
          <a:xfrm>
            <a:off x="847725" y="4829175"/>
            <a:ext cx="10801350" cy="4238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5505507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AD5A0-A991-0460-C32A-935014509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674DAFB3-E94C-09A1-D809-9274480285B4}"/>
              </a:ext>
            </a:extLst>
          </p:cNvPr>
          <p:cNvSpPr/>
          <p:nvPr/>
        </p:nvSpPr>
        <p:spPr>
          <a:xfrm>
            <a:off x="7075316" y="2726836"/>
            <a:ext cx="4012429" cy="29017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66E74A-0D6A-8A23-86C3-3F744641BF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639CD7-C517-EC11-CED5-C6B6ADA8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3C27D-B2BA-D9DB-84F1-0DB1BA9F5D24}"/>
              </a:ext>
            </a:extLst>
          </p:cNvPr>
          <p:cNvSpPr txBox="1"/>
          <p:nvPr/>
        </p:nvSpPr>
        <p:spPr>
          <a:xfrm>
            <a:off x="542924" y="1232163"/>
            <a:ext cx="110394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객체 클래스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자전거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오토바이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TV)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52" name="Rectangle 1">
            <a:extLst>
              <a:ext uri="{FF2B5EF4-FFF2-40B4-BE49-F238E27FC236}">
                <a16:creationId xmlns:a16="http://schemas.microsoft.com/office/drawing/2014/main" id="{8FFF56AF-6DED-F5D0-233A-7480F39A4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235" y="2763286"/>
            <a:ext cx="6046969" cy="25984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채널의 역할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채널이 21개가 되면, 출력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각 채널</a:t>
            </a:r>
            <a:r>
              <a:rPr kumimoji="0" lang="en-US" altLang="ko-KR" sz="14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하나하나가 특정 클래스 하나에 대응하는 공간 점수 지도(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역할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예를 들어: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배경'일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비행기'일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고양이'일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2EEB1E-8C4E-94B1-2485-3DA753D43261}"/>
              </a:ext>
            </a:extLst>
          </p:cNvPr>
          <p:cNvSpPr txBox="1"/>
          <p:nvPr/>
        </p:nvSpPr>
        <p:spPr>
          <a:xfrm>
            <a:off x="8825272" y="5082111"/>
            <a:ext cx="2262473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EDAF650E-3D99-E0BA-1919-6805F41FD1C8}"/>
              </a:ext>
            </a:extLst>
          </p:cNvPr>
          <p:cNvGrpSpPr/>
          <p:nvPr/>
        </p:nvGrpSpPr>
        <p:grpSpPr>
          <a:xfrm>
            <a:off x="7075316" y="2559417"/>
            <a:ext cx="3096731" cy="3017448"/>
            <a:chOff x="7075316" y="2559417"/>
            <a:chExt cx="3096731" cy="3017448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7766290C-98D5-0176-3106-8EB001B63797}"/>
                </a:ext>
              </a:extLst>
            </p:cNvPr>
            <p:cNvGrpSpPr/>
            <p:nvPr/>
          </p:nvGrpSpPr>
          <p:grpSpPr>
            <a:xfrm>
              <a:off x="7075316" y="2559417"/>
              <a:ext cx="2813162" cy="3017448"/>
              <a:chOff x="2326335" y="2535619"/>
              <a:chExt cx="2813162" cy="3017448"/>
            </a:xfrm>
          </p:grpSpPr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F2F2A582-A009-212B-5E61-675C3150F883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9F9E8E5C-6769-2C5B-F529-044CBAD7F8C4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7048D004-FA28-8F64-2C74-0B7EE3EEF487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B27A8B85-44A5-2477-6E9B-68FD0E93F025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057B4925-5820-C973-F001-33B98032E746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EBE1BBC9-F5F3-BB30-8CC2-BF7AD1F1E60B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04F1B561-6FBA-59FA-9D80-471099064A4C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정육면체 21">
                <a:extLst>
                  <a:ext uri="{FF2B5EF4-FFF2-40B4-BE49-F238E27FC236}">
                    <a16:creationId xmlns:a16="http://schemas.microsoft.com/office/drawing/2014/main" id="{7B4136E7-0347-785E-E2DE-DD713E908F8E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7" name="오른쪽 중괄호 46">
                <a:extLst>
                  <a:ext uri="{FF2B5EF4-FFF2-40B4-BE49-F238E27FC236}">
                    <a16:creationId xmlns:a16="http://schemas.microsoft.com/office/drawing/2014/main" id="{869B55E9-C794-3E51-307A-6E60A7F8926B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ABA18-CC29-3AE6-9DB6-13275C1B0938}"/>
                  </a:ext>
                </a:extLst>
              </p:cNvPr>
              <p:cNvSpPr txBox="1"/>
              <p:nvPr/>
            </p:nvSpPr>
            <p:spPr>
              <a:xfrm>
                <a:off x="2326335" y="3176334"/>
                <a:ext cx="136450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25DA85A-761B-197D-465E-1B685482FB92}"/>
                  </a:ext>
                </a:extLst>
              </p:cNvPr>
              <p:cNvSpPr txBox="1"/>
              <p:nvPr/>
            </p:nvSpPr>
            <p:spPr>
              <a:xfrm>
                <a:off x="2497942" y="4676839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0491CA8-A265-8D70-1E2E-D487E6189A56}"/>
                  </a:ext>
                </a:extLst>
              </p:cNvPr>
              <p:cNvSpPr txBox="1"/>
              <p:nvPr/>
            </p:nvSpPr>
            <p:spPr>
              <a:xfrm>
                <a:off x="3008586" y="5245290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</p:grpSp>
        <p:pic>
          <p:nvPicPr>
            <p:cNvPr id="58" name="그래픽 57" descr="고양이">
              <a:extLst>
                <a:ext uri="{FF2B5EF4-FFF2-40B4-BE49-F238E27FC236}">
                  <a16:creationId xmlns:a16="http://schemas.microsoft.com/office/drawing/2014/main" id="{4070CE4D-BDD9-BF3F-9ED3-BD360A896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60" name="그래픽 59" descr="토끼">
              <a:extLst>
                <a:ext uri="{FF2B5EF4-FFF2-40B4-BE49-F238E27FC236}">
                  <a16:creationId xmlns:a16="http://schemas.microsoft.com/office/drawing/2014/main" id="{1A1AB4BF-B0D3-361A-C0DA-E5AB523B4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62" name="그래픽 61" descr="벌새">
              <a:extLst>
                <a:ext uri="{FF2B5EF4-FFF2-40B4-BE49-F238E27FC236}">
                  <a16:creationId xmlns:a16="http://schemas.microsoft.com/office/drawing/2014/main" id="{82413AE0-E8A9-B8B2-1321-949886EDE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64" name="그래픽 63" descr="사슴">
              <a:extLst>
                <a:ext uri="{FF2B5EF4-FFF2-40B4-BE49-F238E27FC236}">
                  <a16:creationId xmlns:a16="http://schemas.microsoft.com/office/drawing/2014/main" id="{78870243-3651-6327-F0F5-ECD841543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68" name="그래픽 67" descr="수신기">
              <a:extLst>
                <a:ext uri="{FF2B5EF4-FFF2-40B4-BE49-F238E27FC236}">
                  <a16:creationId xmlns:a16="http://schemas.microsoft.com/office/drawing/2014/main" id="{4682A079-FCE4-6740-E100-9E4F95D3B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70" name="그래픽 69" descr="신발">
              <a:extLst>
                <a:ext uri="{FF2B5EF4-FFF2-40B4-BE49-F238E27FC236}">
                  <a16:creationId xmlns:a16="http://schemas.microsoft.com/office/drawing/2014/main" id="{7E49F504-3AEB-66E1-738D-71BE0BD65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72" name="그래픽 71" descr="바지">
              <a:extLst>
                <a:ext uri="{FF2B5EF4-FFF2-40B4-BE49-F238E27FC236}">
                  <a16:creationId xmlns:a16="http://schemas.microsoft.com/office/drawing/2014/main" id="{C8B85229-61FF-5923-4C0C-BDF45EF9E3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1066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446DE-FA5C-3049-E82A-DC1215F5D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C64D8E94-EDB7-9C92-FBA4-F8B6F6CDE11F}"/>
              </a:ext>
            </a:extLst>
          </p:cNvPr>
          <p:cNvSpPr/>
          <p:nvPr/>
        </p:nvSpPr>
        <p:spPr>
          <a:xfrm>
            <a:off x="483624" y="2381250"/>
            <a:ext cx="11281902" cy="4177330"/>
          </a:xfrm>
          <a:prstGeom prst="roundRect">
            <a:avLst>
              <a:gd name="adj" fmla="val 345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6A536A-CD1E-9122-08C8-D98A0C7760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8DC2E82-94D1-EA7D-6DEC-CE1F32458A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333638B-7163-FC3D-7489-5FE9AEAE4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채널로 확장 및 복원된 최종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21,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]에서 각 픽셀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위치를 세로로 가로질러 21개 채널의 값을 비교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값 중 가장 높은 점수를 가진 채널의 인덱스(0~20)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선택하여 최종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크기의 픽셀 단위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맵으로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완성(예: 7번 채널 점수가 가장 높으면 그 픽셀은 고양이로 판정)</a:t>
            </a: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CB0666AC-549E-4D2D-A77B-221E7107E628}"/>
              </a:ext>
            </a:extLst>
          </p:cNvPr>
          <p:cNvGrpSpPr/>
          <p:nvPr/>
        </p:nvGrpSpPr>
        <p:grpSpPr>
          <a:xfrm>
            <a:off x="8542000" y="2628065"/>
            <a:ext cx="3101053" cy="2595998"/>
            <a:chOff x="800634" y="2761880"/>
            <a:chExt cx="4088295" cy="3716883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86F4434-B8A9-9AC3-E129-1B5D4F4FB0A3}"/>
                </a:ext>
              </a:extLst>
            </p:cNvPr>
            <p:cNvSpPr/>
            <p:nvPr/>
          </p:nvSpPr>
          <p:spPr>
            <a:xfrm>
              <a:off x="1003264" y="3305175"/>
              <a:ext cx="3885665" cy="31735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래픽 10" descr="고양이">
              <a:extLst>
                <a:ext uri="{FF2B5EF4-FFF2-40B4-BE49-F238E27FC236}">
                  <a16:creationId xmlns:a16="http://schemas.microsoft.com/office/drawing/2014/main" id="{8AA7D191-F9FA-3065-5622-DF78832F0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9161" y="4129885"/>
              <a:ext cx="718015" cy="718015"/>
            </a:xfrm>
            <a:prstGeom prst="rect">
              <a:avLst/>
            </a:prstGeom>
          </p:spPr>
        </p:pic>
        <p:pic>
          <p:nvPicPr>
            <p:cNvPr id="12" name="그래픽 11" descr="토끼">
              <a:extLst>
                <a:ext uri="{FF2B5EF4-FFF2-40B4-BE49-F238E27FC236}">
                  <a16:creationId xmlns:a16="http://schemas.microsoft.com/office/drawing/2014/main" id="{6B24F183-8075-8E28-929A-E36EE214F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95021" y="5290451"/>
              <a:ext cx="668448" cy="668448"/>
            </a:xfrm>
            <a:prstGeom prst="rect">
              <a:avLst/>
            </a:prstGeom>
          </p:spPr>
        </p:pic>
        <p:pic>
          <p:nvPicPr>
            <p:cNvPr id="13" name="그래픽 12" descr="벌새">
              <a:extLst>
                <a:ext uri="{FF2B5EF4-FFF2-40B4-BE49-F238E27FC236}">
                  <a16:creationId xmlns:a16="http://schemas.microsoft.com/office/drawing/2014/main" id="{8B3ED5F2-8204-04D3-D621-4A4AF4DAD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68942" y="3507904"/>
              <a:ext cx="637623" cy="637623"/>
            </a:xfrm>
            <a:prstGeom prst="rect">
              <a:avLst/>
            </a:prstGeom>
          </p:spPr>
        </p:pic>
        <p:pic>
          <p:nvPicPr>
            <p:cNvPr id="14" name="그래픽 13" descr="사슴">
              <a:extLst>
                <a:ext uri="{FF2B5EF4-FFF2-40B4-BE49-F238E27FC236}">
                  <a16:creationId xmlns:a16="http://schemas.microsoft.com/office/drawing/2014/main" id="{F8F953A7-F7D5-B999-B010-BCD847AD9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50308" y="4220378"/>
              <a:ext cx="983012" cy="983012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4F896E-4A8D-CA0B-D282-FD5489A3757B}"/>
                </a:ext>
              </a:extLst>
            </p:cNvPr>
            <p:cNvSpPr txBox="1"/>
            <p:nvPr/>
          </p:nvSpPr>
          <p:spPr>
            <a:xfrm>
              <a:off x="800634" y="2761880"/>
              <a:ext cx="3739518" cy="4406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x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pixel,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1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channels</a:t>
              </a:r>
              <a:endParaRPr lang="ko-KR" altLang="en-US" sz="1400" dirty="0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304A1AC-463F-0A8E-1CCB-AD5DA761BC62}"/>
                </a:ext>
              </a:extLst>
            </p:cNvPr>
            <p:cNvSpPr/>
            <p:nvPr/>
          </p:nvSpPr>
          <p:spPr>
            <a:xfrm>
              <a:off x="995237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C96CF56-722D-70F7-3772-7E054D74FE66}"/>
                </a:ext>
              </a:extLst>
            </p:cNvPr>
            <p:cNvSpPr/>
            <p:nvPr/>
          </p:nvSpPr>
          <p:spPr>
            <a:xfrm>
              <a:off x="1259224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34DA538C-839C-CA2E-3721-119DE3A94D1B}"/>
                </a:ext>
              </a:extLst>
            </p:cNvPr>
            <p:cNvSpPr/>
            <p:nvPr/>
          </p:nvSpPr>
          <p:spPr>
            <a:xfrm>
              <a:off x="152321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916E692-189E-66BD-E51D-82B61DAA056F}"/>
                </a:ext>
              </a:extLst>
            </p:cNvPr>
            <p:cNvSpPr/>
            <p:nvPr/>
          </p:nvSpPr>
          <p:spPr>
            <a:xfrm>
              <a:off x="1787198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DA07C14-8E82-5534-988D-FBB61A2572D7}"/>
                </a:ext>
              </a:extLst>
            </p:cNvPr>
            <p:cNvSpPr/>
            <p:nvPr/>
          </p:nvSpPr>
          <p:spPr>
            <a:xfrm>
              <a:off x="2051185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3405BE2-7A19-EDB9-5BB0-45DF1AFFFDFB}"/>
                </a:ext>
              </a:extLst>
            </p:cNvPr>
            <p:cNvSpPr/>
            <p:nvPr/>
          </p:nvSpPr>
          <p:spPr>
            <a:xfrm>
              <a:off x="2315172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2DDEC-EE76-D2C5-E3B1-018C1F787CD4}"/>
                </a:ext>
              </a:extLst>
            </p:cNvPr>
            <p:cNvSpPr/>
            <p:nvPr/>
          </p:nvSpPr>
          <p:spPr>
            <a:xfrm>
              <a:off x="257916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7D4716BA-29CB-6551-57B9-934EBD815705}"/>
                </a:ext>
              </a:extLst>
            </p:cNvPr>
            <p:cNvSpPr/>
            <p:nvPr/>
          </p:nvSpPr>
          <p:spPr>
            <a:xfrm>
              <a:off x="995237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2DDA3A68-9F34-9244-126A-DA624B5E0E91}"/>
                </a:ext>
              </a:extLst>
            </p:cNvPr>
            <p:cNvSpPr/>
            <p:nvPr/>
          </p:nvSpPr>
          <p:spPr>
            <a:xfrm>
              <a:off x="1259224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2A8B6470-2684-DAF2-594C-608345580059}"/>
                </a:ext>
              </a:extLst>
            </p:cNvPr>
            <p:cNvSpPr/>
            <p:nvPr/>
          </p:nvSpPr>
          <p:spPr>
            <a:xfrm>
              <a:off x="152321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7F23E5E-21AE-0A65-C8F3-F124C2D2B5A1}"/>
                </a:ext>
              </a:extLst>
            </p:cNvPr>
            <p:cNvSpPr/>
            <p:nvPr/>
          </p:nvSpPr>
          <p:spPr>
            <a:xfrm>
              <a:off x="1787198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247049E-7AE0-3FE2-8930-F348DDD28B9A}"/>
                </a:ext>
              </a:extLst>
            </p:cNvPr>
            <p:cNvSpPr/>
            <p:nvPr/>
          </p:nvSpPr>
          <p:spPr>
            <a:xfrm>
              <a:off x="2051185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C1A98EDF-7BB1-0044-5D1D-71E7709BE792}"/>
                </a:ext>
              </a:extLst>
            </p:cNvPr>
            <p:cNvSpPr/>
            <p:nvPr/>
          </p:nvSpPr>
          <p:spPr>
            <a:xfrm>
              <a:off x="2315172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363801F2-777B-8AE0-6BDF-51B26AEA8D05}"/>
                </a:ext>
              </a:extLst>
            </p:cNvPr>
            <p:cNvSpPr/>
            <p:nvPr/>
          </p:nvSpPr>
          <p:spPr>
            <a:xfrm>
              <a:off x="257916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7" name="그림 66">
            <a:extLst>
              <a:ext uri="{FF2B5EF4-FFF2-40B4-BE49-F238E27FC236}">
                <a16:creationId xmlns:a16="http://schemas.microsoft.com/office/drawing/2014/main" id="{F5853C91-05F4-AF08-BEBD-6CC3C54E90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153" y="5225680"/>
            <a:ext cx="2045900" cy="1275184"/>
          </a:xfrm>
          <a:prstGeom prst="rect">
            <a:avLst/>
          </a:prstGeom>
          <a:ln>
            <a:noFill/>
          </a:ln>
        </p:spPr>
      </p:pic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0B06E35D-7105-B13B-8128-5C5348F35831}"/>
              </a:ext>
            </a:extLst>
          </p:cNvPr>
          <p:cNvGrpSpPr/>
          <p:nvPr/>
        </p:nvGrpSpPr>
        <p:grpSpPr>
          <a:xfrm>
            <a:off x="4740421" y="3380163"/>
            <a:ext cx="2692024" cy="2324075"/>
            <a:chOff x="7099397" y="2559417"/>
            <a:chExt cx="3072650" cy="2652676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5DC83272-EA8D-7350-C231-81A017DF78A1}"/>
                </a:ext>
              </a:extLst>
            </p:cNvPr>
            <p:cNvGrpSpPr/>
            <p:nvPr/>
          </p:nvGrpSpPr>
          <p:grpSpPr>
            <a:xfrm>
              <a:off x="7099397" y="2559417"/>
              <a:ext cx="2789081" cy="2652676"/>
              <a:chOff x="2350416" y="2535619"/>
              <a:chExt cx="2789081" cy="2652676"/>
            </a:xfrm>
          </p:grpSpPr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B7BDC8C8-144C-F96F-4BDF-D813B14E42F1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7C637393-EE80-F2EF-2486-2AC7D87F62A8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CA23F8A5-F5B9-C955-C358-FC989393E71C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77C747CE-B4CA-281B-D265-D40ECDB3F707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직사각형 114">
                <a:extLst>
                  <a:ext uri="{FF2B5EF4-FFF2-40B4-BE49-F238E27FC236}">
                    <a16:creationId xmlns:a16="http://schemas.microsoft.com/office/drawing/2014/main" id="{C5D9961F-29A3-D6B6-ECFC-69C4CB789444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6" name="직사각형 115">
                <a:extLst>
                  <a:ext uri="{FF2B5EF4-FFF2-40B4-BE49-F238E27FC236}">
                    <a16:creationId xmlns:a16="http://schemas.microsoft.com/office/drawing/2014/main" id="{9BC3A6AE-C123-3478-2591-C64F23144C04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직사각형 116">
                <a:extLst>
                  <a:ext uri="{FF2B5EF4-FFF2-40B4-BE49-F238E27FC236}">
                    <a16:creationId xmlns:a16="http://schemas.microsoft.com/office/drawing/2014/main" id="{D68AE5C7-3EBE-D5D6-10BE-78A5279D0480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정육면체 117">
                <a:extLst>
                  <a:ext uri="{FF2B5EF4-FFF2-40B4-BE49-F238E27FC236}">
                    <a16:creationId xmlns:a16="http://schemas.microsoft.com/office/drawing/2014/main" id="{27320341-EF71-1B25-0596-95E5AB3B6C45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오른쪽 중괄호 118">
                <a:extLst>
                  <a:ext uri="{FF2B5EF4-FFF2-40B4-BE49-F238E27FC236}">
                    <a16:creationId xmlns:a16="http://schemas.microsoft.com/office/drawing/2014/main" id="{36A9DFC1-0121-7A6F-DECC-1B33E598FFAD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58F933B-4806-4775-7930-64378416BB2A}"/>
                  </a:ext>
                </a:extLst>
              </p:cNvPr>
              <p:cNvSpPr txBox="1"/>
              <p:nvPr/>
            </p:nvSpPr>
            <p:spPr>
              <a:xfrm>
                <a:off x="2350416" y="2967209"/>
                <a:ext cx="1364503" cy="284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</p:grpSp>
        <p:pic>
          <p:nvPicPr>
            <p:cNvPr id="104" name="그래픽 103" descr="고양이">
              <a:extLst>
                <a:ext uri="{FF2B5EF4-FFF2-40B4-BE49-F238E27FC236}">
                  <a16:creationId xmlns:a16="http://schemas.microsoft.com/office/drawing/2014/main" id="{3B6B5F4E-3B46-854B-CF6D-E6C440D10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105" name="그래픽 104" descr="토끼">
              <a:extLst>
                <a:ext uri="{FF2B5EF4-FFF2-40B4-BE49-F238E27FC236}">
                  <a16:creationId xmlns:a16="http://schemas.microsoft.com/office/drawing/2014/main" id="{C3CDE7BE-16E3-C2D4-8C57-B29E41AC41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106" name="그래픽 105" descr="벌새">
              <a:extLst>
                <a:ext uri="{FF2B5EF4-FFF2-40B4-BE49-F238E27FC236}">
                  <a16:creationId xmlns:a16="http://schemas.microsoft.com/office/drawing/2014/main" id="{0C718FF5-5388-4715-A075-718B45243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107" name="그래픽 106" descr="사슴">
              <a:extLst>
                <a:ext uri="{FF2B5EF4-FFF2-40B4-BE49-F238E27FC236}">
                  <a16:creationId xmlns:a16="http://schemas.microsoft.com/office/drawing/2014/main" id="{EDDEA459-B3B9-3251-6771-8EFFF9D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108" name="그래픽 107" descr="수신기">
              <a:extLst>
                <a:ext uri="{FF2B5EF4-FFF2-40B4-BE49-F238E27FC236}">
                  <a16:creationId xmlns:a16="http://schemas.microsoft.com/office/drawing/2014/main" id="{ABE4E84E-3531-5EC1-3145-9A36957E9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109" name="그래픽 108" descr="신발">
              <a:extLst>
                <a:ext uri="{FF2B5EF4-FFF2-40B4-BE49-F238E27FC236}">
                  <a16:creationId xmlns:a16="http://schemas.microsoft.com/office/drawing/2014/main" id="{F8189BFB-8A73-8295-11EF-D3C2A169C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110" name="그래픽 109" descr="바지">
              <a:extLst>
                <a:ext uri="{FF2B5EF4-FFF2-40B4-BE49-F238E27FC236}">
                  <a16:creationId xmlns:a16="http://schemas.microsoft.com/office/drawing/2014/main" id="{F6C99EF6-ACC9-406B-BA51-CF47F61C8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542512ED-B7BE-9B4C-6727-8393F212F409}"/>
              </a:ext>
            </a:extLst>
          </p:cNvPr>
          <p:cNvSpPr/>
          <p:nvPr/>
        </p:nvSpPr>
        <p:spPr>
          <a:xfrm>
            <a:off x="587047" y="3021839"/>
            <a:ext cx="2657233" cy="21702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D2DB599C-AEA8-DF7B-57C3-5ACE8860B168}"/>
              </a:ext>
            </a:extLst>
          </p:cNvPr>
          <p:cNvSpPr/>
          <p:nvPr/>
        </p:nvSpPr>
        <p:spPr>
          <a:xfrm>
            <a:off x="739447" y="3174239"/>
            <a:ext cx="2657233" cy="217027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0FB0909-CD1C-B775-AECE-1D30620281CB}"/>
              </a:ext>
            </a:extLst>
          </p:cNvPr>
          <p:cNvSpPr/>
          <p:nvPr/>
        </p:nvSpPr>
        <p:spPr>
          <a:xfrm>
            <a:off x="891847" y="3326639"/>
            <a:ext cx="2657233" cy="217027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6" name="그래픽 125" descr="고양이">
            <a:extLst>
              <a:ext uri="{FF2B5EF4-FFF2-40B4-BE49-F238E27FC236}">
                <a16:creationId xmlns:a16="http://schemas.microsoft.com/office/drawing/2014/main" id="{2E47F384-CAE4-0E06-F203-E44A59E85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628" y="3992168"/>
            <a:ext cx="718015" cy="718015"/>
          </a:xfrm>
          <a:prstGeom prst="rect">
            <a:avLst/>
          </a:prstGeom>
        </p:spPr>
      </p:pic>
      <p:pic>
        <p:nvPicPr>
          <p:cNvPr id="127" name="그래픽 126" descr="토끼">
            <a:extLst>
              <a:ext uri="{FF2B5EF4-FFF2-40B4-BE49-F238E27FC236}">
                <a16:creationId xmlns:a16="http://schemas.microsoft.com/office/drawing/2014/main" id="{03A1BBAB-7342-16AD-149C-F395048C5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13148" y="4780852"/>
            <a:ext cx="668448" cy="668448"/>
          </a:xfrm>
          <a:prstGeom prst="rect">
            <a:avLst/>
          </a:prstGeom>
        </p:spPr>
      </p:pic>
      <p:pic>
        <p:nvPicPr>
          <p:cNvPr id="128" name="그래픽 127" descr="벌새">
            <a:extLst>
              <a:ext uri="{FF2B5EF4-FFF2-40B4-BE49-F238E27FC236}">
                <a16:creationId xmlns:a16="http://schemas.microsoft.com/office/drawing/2014/main" id="{F2765090-1C98-4DA7-89BB-D7F6BEBDB7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9409" y="3370187"/>
            <a:ext cx="637623" cy="637623"/>
          </a:xfrm>
          <a:prstGeom prst="rect">
            <a:avLst/>
          </a:prstGeom>
        </p:spPr>
      </p:pic>
      <p:pic>
        <p:nvPicPr>
          <p:cNvPr id="129" name="그래픽 128" descr="사슴">
            <a:extLst>
              <a:ext uri="{FF2B5EF4-FFF2-40B4-BE49-F238E27FC236}">
                <a16:creationId xmlns:a16="http://schemas.microsoft.com/office/drawing/2014/main" id="{14515B32-9EA4-8601-94EA-1B71CB30F6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40775" y="4082661"/>
            <a:ext cx="983012" cy="98301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82920A51-7670-957F-DED4-1EF57377AA0E}"/>
              </a:ext>
            </a:extLst>
          </p:cNvPr>
          <p:cNvSpPr txBox="1"/>
          <p:nvPr/>
        </p:nvSpPr>
        <p:spPr>
          <a:xfrm>
            <a:off x="701754" y="2658962"/>
            <a:ext cx="28364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pixel,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channels</a:t>
            </a:r>
            <a:endParaRPr lang="ko-KR" altLang="en-US" sz="14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4E8AA2C2-4AA7-3BD4-D52C-6157FC01AAA8}"/>
              </a:ext>
            </a:extLst>
          </p:cNvPr>
          <p:cNvSpPr txBox="1"/>
          <p:nvPr/>
        </p:nvSpPr>
        <p:spPr>
          <a:xfrm>
            <a:off x="4604277" y="2709978"/>
            <a:ext cx="3197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FCN)</a:t>
            </a:r>
            <a:endParaRPr lang="ko-KR" altLang="en-US" sz="1400" dirty="0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4D7EF3B-AAF7-345B-2872-9A5D5EB00CA0}"/>
              </a:ext>
            </a:extLst>
          </p:cNvPr>
          <p:cNvCxnSpPr>
            <a:cxnSpLocks/>
          </p:cNvCxnSpPr>
          <p:nvPr/>
        </p:nvCxnSpPr>
        <p:spPr>
          <a:xfrm>
            <a:off x="3259971" y="3021839"/>
            <a:ext cx="1974710" cy="21237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617A5DD3-D74F-CC76-AC43-24C07019B7F8}"/>
              </a:ext>
            </a:extLst>
          </p:cNvPr>
          <p:cNvCxnSpPr>
            <a:cxnSpLocks/>
          </p:cNvCxnSpPr>
          <p:nvPr/>
        </p:nvCxnSpPr>
        <p:spPr>
          <a:xfrm>
            <a:off x="3562625" y="5475172"/>
            <a:ext cx="1672056" cy="229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71368AC-2E34-7D16-E73A-1FE05DE37447}"/>
              </a:ext>
            </a:extLst>
          </p:cNvPr>
          <p:cNvCxnSpPr>
            <a:cxnSpLocks/>
          </p:cNvCxnSpPr>
          <p:nvPr/>
        </p:nvCxnSpPr>
        <p:spPr>
          <a:xfrm flipV="1">
            <a:off x="5798554" y="3021839"/>
            <a:ext cx="2875365" cy="2170275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CDA0F498-32B8-4BFD-3984-ECFF40A42500}"/>
              </a:ext>
            </a:extLst>
          </p:cNvPr>
          <p:cNvCxnSpPr>
            <a:cxnSpLocks/>
          </p:cNvCxnSpPr>
          <p:nvPr/>
        </p:nvCxnSpPr>
        <p:spPr>
          <a:xfrm flipV="1">
            <a:off x="5730298" y="5192114"/>
            <a:ext cx="2970239" cy="497392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335AFD14-11DC-044B-1E63-A5EE2250A105}"/>
              </a:ext>
            </a:extLst>
          </p:cNvPr>
          <p:cNvCxnSpPr>
            <a:cxnSpLocks/>
          </p:cNvCxnSpPr>
          <p:nvPr/>
        </p:nvCxnSpPr>
        <p:spPr>
          <a:xfrm>
            <a:off x="4018003" y="4641915"/>
            <a:ext cx="508237" cy="51926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6666716D-AC1C-3902-B3D5-C26BC52AC396}"/>
              </a:ext>
            </a:extLst>
          </p:cNvPr>
          <p:cNvCxnSpPr>
            <a:cxnSpLocks/>
          </p:cNvCxnSpPr>
          <p:nvPr/>
        </p:nvCxnSpPr>
        <p:spPr>
          <a:xfrm flipV="1">
            <a:off x="6951073" y="4672771"/>
            <a:ext cx="656884" cy="468987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설명선: 굽은 선 64">
            <a:extLst>
              <a:ext uri="{FF2B5EF4-FFF2-40B4-BE49-F238E27FC236}">
                <a16:creationId xmlns:a16="http://schemas.microsoft.com/office/drawing/2014/main" id="{BD692CBD-AD87-3800-1CDF-FC6629B28A14}"/>
              </a:ext>
            </a:extLst>
          </p:cNvPr>
          <p:cNvSpPr/>
          <p:nvPr/>
        </p:nvSpPr>
        <p:spPr>
          <a:xfrm>
            <a:off x="6990339" y="5669400"/>
            <a:ext cx="2645903" cy="716460"/>
          </a:xfrm>
          <a:prstGeom prst="borderCallout2">
            <a:avLst>
              <a:gd name="adj1" fmla="val -15979"/>
              <a:gd name="adj2" fmla="val 43146"/>
              <a:gd name="adj3" fmla="val -142404"/>
              <a:gd name="adj4" fmla="val 49210"/>
              <a:gd name="adj5" fmla="val -321428"/>
              <a:gd name="adj6" fmla="val 76450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224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224 = 총 50,176개의 각 픽셀 위치마다 0부터 20 사이의 정수(ID)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ko-KR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8DB91EA-3126-481B-08DB-16DD4479AE21}"/>
              </a:ext>
            </a:extLst>
          </p:cNvPr>
          <p:cNvSpPr txBox="1"/>
          <p:nvPr/>
        </p:nvSpPr>
        <p:spPr>
          <a:xfrm>
            <a:off x="3537614" y="4302272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7C9FD150-CD51-C5FD-54D7-82995A4534D8}"/>
              </a:ext>
            </a:extLst>
          </p:cNvPr>
          <p:cNvSpPr txBox="1"/>
          <p:nvPr/>
        </p:nvSpPr>
        <p:spPr>
          <a:xfrm>
            <a:off x="4128393" y="5208245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C642971-C25F-16CD-6056-0B34075B2ACC}"/>
              </a:ext>
            </a:extLst>
          </p:cNvPr>
          <p:cNvSpPr txBox="1"/>
          <p:nvPr/>
        </p:nvSpPr>
        <p:spPr>
          <a:xfrm>
            <a:off x="7384065" y="4292167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80A914D-EE86-0717-55CF-C31C07AB7CA5}"/>
              </a:ext>
            </a:extLst>
          </p:cNvPr>
          <p:cNvSpPr txBox="1"/>
          <p:nvPr/>
        </p:nvSpPr>
        <p:spPr>
          <a:xfrm>
            <a:off x="6455828" y="5216911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9213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92C21-BD3C-36A2-15A3-E89F2134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7997AF-D0A1-4ABE-5D01-78CE897F72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AB1C55-C95D-A15F-E48F-E5FCD4F0EF7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C73DC4D-42B5-067C-6B0E-42731C210C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다중 객체를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포함하는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(224, 224)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구조를 거치며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x 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고차원 공간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추출한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다시 원본 해상도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(224, 224)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확대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픽셀 단위로 최종 클래스를 분류하는 연산 과정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9032BF-2404-B3DD-ADA2-0444EF13D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573" y="2584322"/>
            <a:ext cx="5932408" cy="30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8D0E4F5-94EA-A9CA-2AE7-602FE3133E21}"/>
              </a:ext>
            </a:extLst>
          </p:cNvPr>
          <p:cNvSpPr txBox="1"/>
          <p:nvPr/>
        </p:nvSpPr>
        <p:spPr>
          <a:xfrm>
            <a:off x="565573" y="5719626"/>
            <a:ext cx="587669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networks can efficiently learn to make dense predictions for per-pixel tasks like semantic segmentation.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5F8CC-74FA-AB85-7160-42FCB1E1FA18}"/>
              </a:ext>
            </a:extLst>
          </p:cNvPr>
          <p:cNvSpPr txBox="1"/>
          <p:nvPr/>
        </p:nvSpPr>
        <p:spPr>
          <a:xfrm>
            <a:off x="6566432" y="2577434"/>
            <a:ext cx="5149318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기존 분류 모델처럼 이미지 전체에 대해 하나의 라벨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개와 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내놓는 것이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이미지의 모든 픽셀 하나하나마다 어떤 클래스인지 개별적으로 예측한 지도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Map/Score Map)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36F7DA-21AE-F9E0-A865-566B3FC88D86}"/>
              </a:ext>
            </a:extLst>
          </p:cNvPr>
          <p:cNvSpPr txBox="1"/>
          <p:nvPr/>
        </p:nvSpPr>
        <p:spPr>
          <a:xfrm>
            <a:off x="6566432" y="4439144"/>
            <a:ext cx="514931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Ground Truth(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실제값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줄임말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사람이 직접 이미지 상의 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배경 영역을 정교하게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둔 실제 정답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지도를 의미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자신이 예측한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비교하여 학습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(backward/learning)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진행</a:t>
            </a:r>
          </a:p>
        </p:txBody>
      </p:sp>
    </p:spTree>
    <p:extLst>
      <p:ext uri="{BB962C8B-B14F-4D97-AF65-F5344CB8AC3E}">
        <p14:creationId xmlns:p14="http://schemas.microsoft.com/office/powerpoint/2010/main" val="78079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BDD57-4C18-FF8D-A95F-A51DC0AF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DF799-83A2-2D6C-4FF2-494BE00A1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9858375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 Look Only Once</a:t>
            </a:r>
            <a:endParaRPr lang="ko-KR" altLang="en-US" sz="3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91081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Appendix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10315</TotalTime>
  <Words>4313</Words>
  <Application>Microsoft Office PowerPoint</Application>
  <PresentationFormat>와이드스크린</PresentationFormat>
  <Paragraphs>546</Paragraphs>
  <Slides>42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3" baseType="lpstr">
      <vt:lpstr>D2Coding</vt:lpstr>
      <vt:lpstr>맑은 고딕</vt:lpstr>
      <vt:lpstr>맑은 고딕 Semilight</vt:lpstr>
      <vt:lpstr>Batang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YOLO You Look Only Once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159</cp:revision>
  <dcterms:created xsi:type="dcterms:W3CDTF">2026-04-06T01:00:39Z</dcterms:created>
  <dcterms:modified xsi:type="dcterms:W3CDTF">2026-09-28T21:41:31Z</dcterms:modified>
  <cp:version/>
</cp:coreProperties>
</file>