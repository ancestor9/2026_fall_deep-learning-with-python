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38"/>
  </p:notesMasterIdLst>
  <p:handoutMasterIdLst>
    <p:handoutMasterId r:id="rId39"/>
  </p:handoutMasterIdLst>
  <p:sldIdLst>
    <p:sldId id="256" r:id="rId2"/>
    <p:sldId id="1168" r:id="rId3"/>
    <p:sldId id="1190" r:id="rId4"/>
    <p:sldId id="1166" r:id="rId5"/>
    <p:sldId id="1165" r:id="rId6"/>
    <p:sldId id="1129" r:id="rId7"/>
    <p:sldId id="1167" r:id="rId8"/>
    <p:sldId id="1131" r:id="rId9"/>
    <p:sldId id="1132" r:id="rId10"/>
    <p:sldId id="1187" r:id="rId11"/>
    <p:sldId id="1137" r:id="rId12"/>
    <p:sldId id="1188" r:id="rId13"/>
    <p:sldId id="1189" r:id="rId14"/>
    <p:sldId id="1143" r:id="rId15"/>
    <p:sldId id="1138" r:id="rId16"/>
    <p:sldId id="1163" r:id="rId17"/>
    <p:sldId id="1135" r:id="rId18"/>
    <p:sldId id="1164" r:id="rId19"/>
    <p:sldId id="1136" r:id="rId20"/>
    <p:sldId id="1152" r:id="rId21"/>
    <p:sldId id="1154" r:id="rId22"/>
    <p:sldId id="1191" r:id="rId23"/>
    <p:sldId id="1134" r:id="rId24"/>
    <p:sldId id="1192" r:id="rId25"/>
    <p:sldId id="1193" r:id="rId26"/>
    <p:sldId id="1140" r:id="rId27"/>
    <p:sldId id="1145" r:id="rId28"/>
    <p:sldId id="1150" r:id="rId29"/>
    <p:sldId id="1194" r:id="rId30"/>
    <p:sldId id="1149" r:id="rId31"/>
    <p:sldId id="1151" r:id="rId32"/>
    <p:sldId id="1139" r:id="rId33"/>
    <p:sldId id="1195" r:id="rId34"/>
    <p:sldId id="1121" r:id="rId35"/>
    <p:sldId id="1122" r:id="rId36"/>
    <p:sldId id="1123" r:id="rId37"/>
  </p:sldIdLst>
  <p:sldSz cx="12192000" cy="6858000"/>
  <p:notesSz cx="6858000" cy="9144000"/>
  <p:defaultTextStyle>
    <a:defPPr rtl="0">
      <a:defRPr lang="ko-K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감사합니다." id="{E75E278A-FF0E-49A4-B170-79828D63BBAD}">
          <p14:sldIdLst>
            <p14:sldId id="256"/>
          </p14:sldIdLst>
        </p14:section>
        <p14:section name="디자인, 모핑, 주석 달기, 공동 작업, 입력하세요" id="{B9B51309-D148-4332-87C2-07BE32FBCA3B}">
          <p14:sldIdLst>
            <p14:sldId id="1168"/>
            <p14:sldId id="1190"/>
            <p14:sldId id="1166"/>
            <p14:sldId id="1165"/>
            <p14:sldId id="1129"/>
            <p14:sldId id="1167"/>
            <p14:sldId id="1131"/>
            <p14:sldId id="1132"/>
            <p14:sldId id="1187"/>
            <p14:sldId id="1137"/>
            <p14:sldId id="1188"/>
            <p14:sldId id="1189"/>
            <p14:sldId id="1143"/>
            <p14:sldId id="1138"/>
            <p14:sldId id="1163"/>
            <p14:sldId id="1135"/>
            <p14:sldId id="1164"/>
            <p14:sldId id="1136"/>
            <p14:sldId id="1152"/>
            <p14:sldId id="1154"/>
            <p14:sldId id="1191"/>
            <p14:sldId id="1134"/>
            <p14:sldId id="1192"/>
            <p14:sldId id="1193"/>
            <p14:sldId id="1140"/>
            <p14:sldId id="1145"/>
            <p14:sldId id="1150"/>
            <p14:sldId id="1194"/>
            <p14:sldId id="1149"/>
            <p14:sldId id="1151"/>
            <p14:sldId id="1139"/>
            <p14:sldId id="1195"/>
            <p14:sldId id="1121"/>
            <p14:sldId id="1122"/>
            <p14:sldId id="1123"/>
          </p14:sldIdLst>
        </p14:section>
        <p14:section name="자세한 정보" id="{2CC34DB2-6590-42C0-AD4B-A04C6060184E}">
          <p14:sldIdLst/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3" name="만든 이" initials="오전" lastIdx="0" clrIdx="2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D462F"/>
    <a:srgbClr val="76E3FF"/>
    <a:srgbClr val="FF9B45"/>
    <a:srgbClr val="D24726"/>
    <a:srgbClr val="404040"/>
    <a:srgbClr val="F8CFB6"/>
    <a:srgbClr val="F8CAB6"/>
    <a:srgbClr val="923922"/>
    <a:srgbClr val="F5F5F5"/>
    <a:srgbClr val="F2F2F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스타일 없음, 눈금 없음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21E4AEA4-8DFA-4A89-87EB-49C32662AFE0}" styleName="보통 스타일 2 - 강조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073A0DAA-6AF3-43AB-8588-CEC1D06C72B9}" styleName="보통 스타일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F5AB1C69-6EDB-4FF4-983F-18BD219EF322}" styleName="보통 스타일 2 - 강조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93296810-A885-4BE3-A3E7-6D5BEEA58F35}" styleName="보통 스타일 2 - 강조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7DF18680-E054-41AD-8BC1-D1AEF772440D}" styleName="보통 스타일 2 - 강조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775DCB02-9BB8-47FD-8907-85C794F793BA}" styleName="테마 스타일 1 - 강조 4">
    <a:tblBg>
      <a:fillRef idx="2">
        <a:schemeClr val="accent4"/>
      </a:fillRef>
      <a:effectRef idx="1">
        <a:schemeClr val="accent4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Ref idx="1">
              <a:schemeClr val="accent4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</a:tcBdr>
        <a:fill>
          <a:solidFill>
            <a:schemeClr val="accent4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4"/>
            </a:lnRef>
          </a:left>
          <a:right>
            <a:lnRef idx="2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2">
              <a:schemeClr val="accent4"/>
            </a:lnRef>
          </a:top>
          <a:bottom>
            <a:lnRef idx="2">
              <a:schemeClr val="accent4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4"/>
          </a:solidFill>
        </a:fill>
      </a:tcStyle>
    </a:firstRow>
  </a:tblStyle>
  <a:tblStyle styleId="{08FB837D-C827-4EFA-A057-4D05807E0F7C}" styleName="테마 스타일 1 - 강조 6">
    <a:tblBg>
      <a:fillRef idx="2">
        <a:schemeClr val="accent6"/>
      </a:fillRef>
      <a:effectRef idx="1">
        <a:schemeClr val="accent6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Ref idx="1">
              <a:schemeClr val="accent6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  <a:fill>
          <a:solidFill>
            <a:schemeClr val="accent6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6"/>
            </a:lnRef>
          </a:left>
          <a:right>
            <a:lnRef idx="2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2">
              <a:schemeClr val="accent6"/>
            </a:lnRef>
          </a:top>
          <a:bottom>
            <a:lnRef idx="2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6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SorterView">
  <p:normalViewPr>
    <p:restoredLeft sz="13062" autoAdjust="0"/>
    <p:restoredTop sz="94297" autoAdjust="0"/>
  </p:normalViewPr>
  <p:slideViewPr>
    <p:cSldViewPr snapToGrid="0">
      <p:cViewPr>
        <p:scale>
          <a:sx n="75" d="100"/>
          <a:sy n="75" d="100"/>
        </p:scale>
        <p:origin x="1066" y="168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-59582"/>
    </p:cViewPr>
  </p:outlineViewPr>
  <p:notesTextViewPr>
    <p:cViewPr>
      <p:scale>
        <a:sx n="3" d="2"/>
        <a:sy n="3" d="2"/>
      </p:scale>
      <p:origin x="0" y="0"/>
    </p:cViewPr>
  </p:notesTextViewPr>
  <p:sorterViewPr>
    <p:cViewPr varScale="1">
      <p:scale>
        <a:sx n="1" d="1"/>
        <a:sy n="1" d="1"/>
      </p:scale>
      <p:origin x="0" y="-10824"/>
    </p:cViewPr>
  </p:sorterViewPr>
  <p:notesViewPr>
    <p:cSldViewPr snapToGrid="0">
      <p:cViewPr varScale="1">
        <p:scale>
          <a:sx n="64" d="100"/>
          <a:sy n="64" d="100"/>
        </p:scale>
        <p:origin x="3192" y="86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handoutMaster" Target="handoutMasters/handoutMaster1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viewProps" Target="view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commentAuthors" Target="commentAuthor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theme" Target="theme/theme1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notesMaster" Target="notesMasters/notes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3" name="날짜 개체 틀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rtl="0"/>
            <a:fld id="{424059DE-6CD5-4C59-8233-088CE5808E67}" type="datetime1">
              <a:rPr lang="ko-KR" altLang="en-US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2026-09-19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9C679768-A2FC-4D08-91F6-8DCE6C566B36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‹#›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830255166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43E1C3DD-4A19-441D-907C-380838DB51C4}" type="datetime1">
              <a:rPr lang="ko-KR" altLang="en-US" noProof="0" smtClean="0"/>
              <a:t>2026-09-19</a:t>
            </a:fld>
            <a:endParaRPr lang="ko-KR" altLang="en-US" noProof="0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rtl="0"/>
            <a:endParaRPr lang="ko-KR" altLang="en-US" noProof="0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 rtl="0"/>
            <a:r>
              <a:rPr lang="ko-KR" altLang="en-US" noProof="0" dirty="0"/>
              <a:t>마스터 텍스트 스타일을 편집하려면 클릭하세요</a:t>
            </a:r>
            <a:r>
              <a:rPr lang="en-US" altLang="ko-KR" noProof="0" dirty="0"/>
              <a:t>.</a:t>
            </a:r>
          </a:p>
          <a:p>
            <a:pPr lvl="1" rtl="0"/>
            <a:r>
              <a:rPr lang="ko-KR" altLang="en-US" noProof="0" dirty="0"/>
              <a:t>둘째 수준</a:t>
            </a:r>
          </a:p>
          <a:p>
            <a:pPr lvl="2" rtl="0"/>
            <a:r>
              <a:rPr lang="ko-KR" altLang="en-US" noProof="0" dirty="0"/>
              <a:t>셋째 수준</a:t>
            </a:r>
          </a:p>
          <a:p>
            <a:pPr lvl="3" rtl="0"/>
            <a:r>
              <a:rPr lang="ko-KR" altLang="en-US" noProof="0" dirty="0"/>
              <a:t>넷째 수준</a:t>
            </a:r>
          </a:p>
          <a:p>
            <a:pPr lvl="4" rtl="0"/>
            <a:r>
              <a:rPr lang="ko-KR" altLang="en-US" noProof="0" dirty="0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DF61EA0F-A667-4B49-8422-0062BC55E249}" type="slidenum">
              <a:rPr lang="en-US" altLang="ko-KR" noProof="0" smtClean="0"/>
              <a:pPr/>
              <a:t>‹#›</a:t>
            </a:fld>
            <a:endParaRPr lang="ko-KR" altLang="en-US" noProof="0"/>
          </a:p>
        </p:txBody>
      </p:sp>
    </p:spTree>
    <p:extLst>
      <p:ext uri="{BB962C8B-B14F-4D97-AF65-F5344CB8AC3E}">
        <p14:creationId xmlns:p14="http://schemas.microsoft.com/office/powerpoint/2010/main" val="3381910297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01176981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EF0BA9-2DD1-5EAF-2019-A48EAF5383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6EAF95FB-0E21-C50E-21E9-D5E89F3140B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31BFB427-F338-47A9-F760-63DDEA83D98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05ED02E-56A1-B79A-9AA9-ED5B24EE71A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3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16648682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4A0F5F-3F93-3DE6-3B52-086B91C37D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1E45E67C-15BD-4917-7A03-727477F662D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9EC32002-6BC7-91E1-210F-9CEBCD43139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A878B4F-DBCD-71E4-8E49-6B16DA8DFE6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10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5793495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3E2917-018D-478F-F285-A0E04DE258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CD0C3C7A-BC12-11F1-8F81-3F799CCD865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77EEA0B5-590D-91A1-DE7C-1D2F324FA30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9C97F85-D040-49F5-6215-6B80DCF54D0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22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20072451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/>
          <p:cNvSpPr/>
          <p:nvPr userDrawn="1"/>
        </p:nvSpPr>
        <p:spPr bwMode="blackWhite">
          <a:xfrm>
            <a:off x="254950" y="262784"/>
            <a:ext cx="11682101" cy="6332433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 rtlCol="0"/>
          <a:lstStyle>
            <a:lvl1pPr>
              <a:defRPr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171854949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직사각형 8"/>
          <p:cNvSpPr/>
          <p:nvPr userDrawn="1"/>
        </p:nvSpPr>
        <p:spPr>
          <a:xfrm>
            <a:off x="256032" y="265176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12" name="직선 연결선(S) 11"/>
          <p:cNvCxnSpPr/>
          <p:nvPr userDrawn="1"/>
        </p:nvCxnSpPr>
        <p:spPr>
          <a:xfrm>
            <a:off x="604434" y="1196392"/>
            <a:ext cx="10983132" cy="0"/>
          </a:xfrm>
          <a:prstGeom prst="line">
            <a:avLst/>
          </a:prstGeom>
          <a:ln w="25400">
            <a:solidFill>
              <a:srgbClr val="D2472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제목 3"/>
          <p:cNvSpPr>
            <a:spLocks noGrp="1"/>
          </p:cNvSpPr>
          <p:nvPr>
            <p:ph type="title"/>
          </p:nvPr>
        </p:nvSpPr>
        <p:spPr>
          <a:xfrm>
            <a:off x="521207" y="448056"/>
            <a:ext cx="6877119" cy="640080"/>
          </a:xfrm>
        </p:spPr>
        <p:txBody>
          <a:bodyPr rtlCol="0" anchor="b" anchorCtr="0">
            <a:normAutofit/>
          </a:bodyPr>
          <a:lstStyle>
            <a:lvl1pPr>
              <a:defRPr sz="280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quarter" idx="10" hasCustomPrompt="1"/>
          </p:nvPr>
        </p:nvSpPr>
        <p:spPr>
          <a:xfrm>
            <a:off x="539496" y="1435608"/>
            <a:ext cx="4416552" cy="397764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>
              <a:defRPr lang="en-US" sz="120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</a:lstStyle>
          <a:p>
            <a:pPr marL="0" lvl="0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marL="0" lvl="1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둘째 수준</a:t>
            </a:r>
          </a:p>
          <a:p>
            <a:pPr marL="0" lvl="2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셋째 수준</a:t>
            </a:r>
          </a:p>
          <a:p>
            <a:pPr marL="0" lvl="3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넷째 수준</a:t>
            </a:r>
          </a:p>
          <a:p>
            <a:pPr marL="0" lvl="4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다섯째 수준</a:t>
            </a:r>
          </a:p>
        </p:txBody>
      </p:sp>
      <p:sp>
        <p:nvSpPr>
          <p:cNvPr id="6" name="날짜 개체 틀 3"/>
          <p:cNvSpPr>
            <a:spLocks noGrp="1"/>
          </p:cNvSpPr>
          <p:nvPr>
            <p:ph type="dt" sz="half" idx="2"/>
          </p:nvPr>
        </p:nvSpPr>
        <p:spPr>
          <a:xfrm>
            <a:off x="53949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90475B5-67CA-4281-BDCA-DA943C3C8EB3}" type="datetime1">
              <a:rPr lang="ko-KR" altLang="en-US" noProof="0" smtClean="0"/>
              <a:t>2026-09-19</a:t>
            </a:fld>
            <a:endParaRPr lang="ko-KR" altLang="en-US" noProof="0"/>
          </a:p>
        </p:txBody>
      </p:sp>
      <p:sp>
        <p:nvSpPr>
          <p:cNvPr id="7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648200" y="6203952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8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37192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860EDB8-5305-433F-BE41-D7A86D811DB3}" type="slidenum">
              <a:rPr lang="en-US" altLang="ko-KR" noProof="0" smtClean="0"/>
              <a:pPr/>
              <a:t>‹#›</a:t>
            </a:fld>
            <a:endParaRPr lang="ko-KR" altLang="en-US" noProof="0"/>
          </a:p>
        </p:txBody>
      </p:sp>
    </p:spTree>
    <p:extLst>
      <p:ext uri="{BB962C8B-B14F-4D97-AF65-F5344CB8AC3E}">
        <p14:creationId xmlns:p14="http://schemas.microsoft.com/office/powerpoint/2010/main" val="218583654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직사각형 8"/>
          <p:cNvSpPr/>
          <p:nvPr userDrawn="1"/>
        </p:nvSpPr>
        <p:spPr>
          <a:xfrm>
            <a:off x="254951" y="262784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0" name="직사각형 9"/>
          <p:cNvSpPr/>
          <p:nvPr userDrawn="1"/>
        </p:nvSpPr>
        <p:spPr bwMode="blackWhite">
          <a:xfrm>
            <a:off x="254950" y="262784"/>
            <a:ext cx="11682101" cy="2072643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21208" y="1536192"/>
            <a:ext cx="6876288" cy="640080"/>
          </a:xfrm>
        </p:spPr>
        <p:txBody>
          <a:bodyPr rtlCol="0">
            <a:normAutofit/>
          </a:bodyPr>
          <a:lstStyle>
            <a:lvl1pPr>
              <a:defRPr sz="3600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7" name="내용 개체 틀 6"/>
          <p:cNvSpPr>
            <a:spLocks noGrp="1"/>
          </p:cNvSpPr>
          <p:nvPr>
            <p:ph sz="quarter" idx="13" hasCustomPrompt="1"/>
          </p:nvPr>
        </p:nvSpPr>
        <p:spPr>
          <a:xfrm>
            <a:off x="539496" y="2560320"/>
            <a:ext cx="9445752" cy="397764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sz="24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>
              <a:defRPr lang="en-US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</a:lstStyle>
          <a:p>
            <a:pPr marL="0" lvl="0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marL="0" lvl="1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둘째 수준</a:t>
            </a:r>
          </a:p>
          <a:p>
            <a:pPr marL="0" lvl="2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셋째 수준</a:t>
            </a:r>
          </a:p>
          <a:p>
            <a:pPr marL="0" lvl="3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넷째 수준</a:t>
            </a:r>
          </a:p>
          <a:p>
            <a:pPr marL="0" lvl="4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다섯째 수준</a:t>
            </a:r>
          </a:p>
        </p:txBody>
      </p:sp>
    </p:spTree>
    <p:extLst>
      <p:ext uri="{BB962C8B-B14F-4D97-AF65-F5344CB8AC3E}">
        <p14:creationId xmlns:p14="http://schemas.microsoft.com/office/powerpoint/2010/main" val="133565553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2_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913795" y="139083"/>
            <a:ext cx="10353762" cy="766439"/>
          </a:xfrm>
        </p:spPr>
        <p:txBody>
          <a:bodyPr rtlCol="0">
            <a:normAutofit/>
          </a:bodyPr>
          <a:lstStyle>
            <a:lvl1pPr>
              <a:defRPr sz="3200">
                <a:latin typeface="Batang" panose="02030600000101010101" pitchFamily="18" charset="-127"/>
                <a:ea typeface="Batang" panose="02030600000101010101" pitchFamily="18" charset="-127"/>
              </a:defRPr>
            </a:lvl1pPr>
          </a:lstStyle>
          <a:p>
            <a:pPr rtl="0"/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913795" y="1127464"/>
            <a:ext cx="10353762" cy="4663735"/>
          </a:xfrm>
        </p:spPr>
        <p:txBody>
          <a:bodyPr rtlCol="0"/>
          <a:lstStyle>
            <a:lvl1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1pPr>
            <a:lvl2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2pPr>
            <a:lvl3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3pPr>
            <a:lvl4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4pPr>
            <a:lvl5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5pPr>
          </a:lstStyle>
          <a:p>
            <a:pPr lvl="0" rtl="0"/>
            <a:r>
              <a:rPr lang="ko-KR" altLang="en-US" dirty="0"/>
              <a:t>마스터 텍스트 스타일을 편집하려면 클릭</a:t>
            </a:r>
          </a:p>
          <a:p>
            <a:pPr lvl="1" rtl="0"/>
            <a:r>
              <a:rPr lang="ko-KR" altLang="en-US" dirty="0"/>
              <a:t>두 번째 수준</a:t>
            </a:r>
          </a:p>
          <a:p>
            <a:pPr lvl="2" rtl="0"/>
            <a:r>
              <a:rPr lang="ko-KR" altLang="en-US" dirty="0"/>
              <a:t>세 번째 수준</a:t>
            </a:r>
          </a:p>
          <a:p>
            <a:pPr lvl="3" rtl="0"/>
            <a:r>
              <a:rPr lang="ko-KR" altLang="en-US" dirty="0"/>
              <a:t>네 번째 수준</a:t>
            </a:r>
          </a:p>
          <a:p>
            <a:pPr lvl="4" rtl="0"/>
            <a:r>
              <a:rPr lang="ko-KR" altLang="en-US" dirty="0"/>
              <a:t>다섯 번째 수준</a:t>
            </a:r>
            <a:endParaRPr lang="en-US" dirty="0"/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B4745536-17E2-EEF7-D107-B4146DE2141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5924" y="6365874"/>
            <a:ext cx="355393" cy="393576"/>
          </a:xfrm>
          <a:prstGeom prst="rect">
            <a:avLst/>
          </a:prstGeom>
        </p:spPr>
      </p:pic>
      <p:sp>
        <p:nvSpPr>
          <p:cNvPr id="4" name="Date Placeholder 4">
            <a:extLst>
              <a:ext uri="{FF2B5EF4-FFF2-40B4-BE49-F238E27FC236}">
                <a16:creationId xmlns:a16="http://schemas.microsoft.com/office/drawing/2014/main" id="{3AC7079E-4A2B-916C-C464-65DEFE43418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78737" y="6198235"/>
            <a:ext cx="2743200" cy="365125"/>
          </a:xfrm>
          <a:prstGeom prst="rect">
            <a:avLst/>
          </a:prstGeom>
        </p:spPr>
        <p:txBody>
          <a:bodyPr/>
          <a:lstStyle/>
          <a:p>
            <a:fld id="{48A87A34-81AB-432B-8DAE-1953F412C126}" type="datetimeFigureOut">
              <a:rPr lang="en-US" smtClean="0"/>
              <a:t>9/19/2026</a:t>
            </a:fld>
            <a:endParaRPr lang="en-US" dirty="0"/>
          </a:p>
        </p:txBody>
      </p:sp>
      <p:sp>
        <p:nvSpPr>
          <p:cNvPr id="5" name="Footer Placeholder 5">
            <a:extLst>
              <a:ext uri="{FF2B5EF4-FFF2-40B4-BE49-F238E27FC236}">
                <a16:creationId xmlns:a16="http://schemas.microsoft.com/office/drawing/2014/main" id="{A9D00E07-4D48-7C0C-4DF1-A39D6E8BB9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13774" y="6198235"/>
            <a:ext cx="6672887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6">
            <a:extLst>
              <a:ext uri="{FF2B5EF4-FFF2-40B4-BE49-F238E27FC236}">
                <a16:creationId xmlns:a16="http://schemas.microsoft.com/office/drawing/2014/main" id="{1DFF8BFD-50B2-6671-09A6-3F6A70B599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198235"/>
            <a:ext cx="764215" cy="365125"/>
          </a:xfrm>
          <a:prstGeom prst="rect">
            <a:avLst/>
          </a:prstGeo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6302702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/>
          <p:cNvSpPr/>
          <p:nvPr userDrawn="1"/>
        </p:nvSpPr>
        <p:spPr>
          <a:xfrm>
            <a:off x="256032" y="265176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521208" y="448056"/>
            <a:ext cx="6876288" cy="640080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rmAutofit/>
          </a:bodyPr>
          <a:lstStyle/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539496" y="1435608"/>
            <a:ext cx="4416552" cy="397764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 rtl="0"/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lvl="1" rtl="0"/>
            <a:r>
              <a:rPr lang="ko-KR" altLang="en-US" noProof="0"/>
              <a:t>둘째 수준</a:t>
            </a:r>
          </a:p>
          <a:p>
            <a:pPr lvl="2" rtl="0"/>
            <a:r>
              <a:rPr lang="ko-KR" altLang="en-US" noProof="0"/>
              <a:t>셋째 수준</a:t>
            </a:r>
          </a:p>
          <a:p>
            <a:pPr lvl="3" rtl="0"/>
            <a:r>
              <a:rPr lang="ko-KR" altLang="en-US" noProof="0"/>
              <a:t>넷째 수준</a:t>
            </a:r>
          </a:p>
          <a:p>
            <a:pPr lvl="4" rtl="0"/>
            <a:r>
              <a:rPr lang="ko-KR" altLang="en-US" noProof="0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53949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C655C81E-72E7-4D05-94B5-F45B321A525D}" type="datetime1">
              <a:rPr lang="ko-KR" altLang="en-US" noProof="0" smtClean="0"/>
              <a:t>2026-09-19</a:t>
            </a:fld>
            <a:endParaRPr lang="ko-KR" altLang="en-US" noProof="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648200" y="6203952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375904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860EDB8-5305-433F-BE41-D7A86D811DB3}" type="slidenum">
              <a:rPr lang="en-US" altLang="ko-KR" noProof="0" smtClean="0"/>
              <a:pPr/>
              <a:t>‹#›</a:t>
            </a:fld>
            <a:endParaRPr lang="ko-KR" altLang="en-US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8" name="직선 연결선(S) 7"/>
          <p:cNvCxnSpPr/>
          <p:nvPr userDrawn="1"/>
        </p:nvCxnSpPr>
        <p:spPr>
          <a:xfrm>
            <a:off x="604434" y="1196392"/>
            <a:ext cx="10983132" cy="0"/>
          </a:xfrm>
          <a:prstGeom prst="line">
            <a:avLst/>
          </a:prstGeom>
          <a:ln w="25400">
            <a:solidFill>
              <a:srgbClr val="D2472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4675494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5" r:id="rId4"/>
  </p:sldLayoutIdLst>
  <p:hf hdr="0" ftr="0" dt="0"/>
  <p:txStyles>
    <p:titleStyle>
      <a:lvl1pPr algn="l" defTabSz="914400" rtl="0" eaLnBrk="1" latinLnBrk="1" hangingPunct="1">
        <a:spcBef>
          <a:spcPct val="0"/>
        </a:spcBef>
        <a:buNone/>
        <a:defRPr sz="2800" kern="120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j-cs"/>
        </a:defRPr>
      </a:lvl1pPr>
    </p:titleStyle>
    <p:bodyStyle>
      <a:lvl1pPr marL="0" indent="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Tx/>
        <a:buNone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1pPr>
      <a:lvl2pPr marL="2286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2pPr>
      <a:lvl3pPr marL="6858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3pPr>
      <a:lvl4pPr marL="11430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4pPr>
      <a:lvl5pPr marL="16002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5pPr>
      <a:lvl6pPr marL="20574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6pPr>
      <a:lvl7pPr marL="25146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7pPr>
      <a:lvl8pPr marL="29718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8pPr>
      <a:lvl9pPr marL="3429000" indent="-228600" algn="l" defTabSz="914400" rtl="0" eaLnBrk="1" latinLnBrk="1" hangingPunct="1">
        <a:lnSpc>
          <a:spcPct val="90000"/>
        </a:lnSpc>
        <a:spcBef>
          <a:spcPct val="30000"/>
        </a:spcBef>
        <a:buFont typeface="Arial" panose="020B0604020202020204" pitchFamily="34" charset="0"/>
        <a:buNone/>
        <a:defRPr sz="12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youtube.com/watch?v=H5HGZ1wLtrk" TargetMode="External"/><Relationship Id="rId2" Type="http://schemas.openxmlformats.org/officeDocument/2006/relationships/hyperlink" Target="https://openaccess.thecvf.com/content_cvpr_2015/papers/Long_Fully_Convolutional_Networks_2015_CVPR_paper.pdf" TargetMode="External"/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jpeg"/><Relationship Id="rId2" Type="http://schemas.openxmlformats.org/officeDocument/2006/relationships/hyperlink" Target="https://www.bpesquet.fr/mlhandbook/algorithms/convolutional_neural_networks.html" TargetMode="External"/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4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14.svg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4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sv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4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4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4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4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4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4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ageron/handson-ml3/blob/main/14_deep_computer_vision_with_cnns.ipynb" TargetMode="External"/><Relationship Id="rId1" Type="http://schemas.openxmlformats.org/officeDocument/2006/relationships/slideLayout" Target="../slideLayouts/slideLayout4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4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hyperlink" Target="https://www.youtube.com/watch?v=2hAiJe8ITsE&amp;t=656s" TargetMode="External"/><Relationship Id="rId1" Type="http://schemas.openxmlformats.org/officeDocument/2006/relationships/slideLayout" Target="../slideLayouts/slideLayout4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4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hyperlink" Target="https://www.youtube.com/watch?v=ag3DLKsl2vk&amp;list=PLeo1K3hjS3uu7CxAacxVndI4bE_o3BDtO&amp;index=31" TargetMode="External"/><Relationship Id="rId1" Type="http://schemas.openxmlformats.org/officeDocument/2006/relationships/slideLayout" Target="../slideLayouts/slideLayout4.xml"/><Relationship Id="rId5" Type="http://schemas.openxmlformats.org/officeDocument/2006/relationships/hyperlink" Target="https://www.ted.com/talks/fei_fei_li_how_we_re_teaching_computers_to_understand_pictures" TargetMode="External"/><Relationship Id="rId4" Type="http://schemas.openxmlformats.org/officeDocument/2006/relationships/hyperlink" Target="https://www.ted.com/talks/joseph_redmon_how_computers_learn_to_recognize_objects_instantly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838200" y="1164324"/>
            <a:ext cx="10515600" cy="2387600"/>
          </a:xfrm>
        </p:spPr>
        <p:txBody>
          <a:bodyPr rtlCol="0" anchor="ctr" anchorCtr="0">
            <a:normAutofit/>
          </a:bodyPr>
          <a:lstStyle/>
          <a:p>
            <a:pPr rtl="0"/>
            <a:r>
              <a:rPr lang="en-US" altLang="ko-KR" sz="4800" dirty="0">
                <a:solidFill>
                  <a:schemeClr val="bg1"/>
                </a:solidFill>
              </a:rPr>
              <a:t>Image Segmentation</a:t>
            </a:r>
            <a:endParaRPr lang="ko-KR" altLang="en-US" sz="4800" dirty="0">
              <a:solidFill>
                <a:schemeClr val="bg1"/>
              </a:solidFill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D2A693FF-597D-D05E-69BD-7CA96D17F1CD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</a:rPr>
              <a:t>2026 Fall</a:t>
            </a:r>
          </a:p>
          <a:p>
            <a:r>
              <a:rPr lang="ko-KR" altLang="en-US" sz="2400" dirty="0" err="1">
                <a:solidFill>
                  <a:schemeClr val="bg1"/>
                </a:solidFill>
              </a:rPr>
              <a:t>조상구교수</a:t>
            </a:r>
            <a:endParaRPr lang="en-US" altLang="ko-KR" sz="24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7180773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140CAB-44CB-54E9-0E69-3359E08266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B062419E-D00F-CD1E-E6AD-83F7EFABA499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b="1" cap="none" dirty="0"/>
              <a:t>Goals</a:t>
            </a:r>
          </a:p>
        </p:txBody>
      </p:sp>
      <p:sp>
        <p:nvSpPr>
          <p:cNvPr id="11" name="AutoShape 2" descr="라이트박스에 표시된 선택된 이미지">
            <a:extLst>
              <a:ext uri="{FF2B5EF4-FFF2-40B4-BE49-F238E27FC236}">
                <a16:creationId xmlns:a16="http://schemas.microsoft.com/office/drawing/2014/main" id="{3D5510F7-F5D3-A471-5A16-09B45CA74543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4061815" y="4242908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0F33E2F-5385-1753-108E-8E91ADD3EF4E}"/>
              </a:ext>
            </a:extLst>
          </p:cNvPr>
          <p:cNvSpPr txBox="1"/>
          <p:nvPr/>
        </p:nvSpPr>
        <p:spPr>
          <a:xfrm>
            <a:off x="3326257" y="2051168"/>
            <a:ext cx="6271924" cy="113877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Image Segmentation</a:t>
            </a:r>
          </a:p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Semantic Segmentation</a:t>
            </a:r>
          </a:p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en-US" altLang="ko-KR" sz="1600" dirty="0">
                <a:solidFill>
                  <a:schemeClr val="bg1">
                    <a:lumMod val="50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Building a segmentation model from scratch</a:t>
            </a:r>
          </a:p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en-US" altLang="ko-KR" sz="1600" dirty="0">
                <a:solidFill>
                  <a:schemeClr val="bg1">
                    <a:lumMod val="50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Using the pretrained Segment Anything Model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7B977A9-1E04-0738-D8C6-21D2B1E9A448}"/>
              </a:ext>
            </a:extLst>
          </p:cNvPr>
          <p:cNvSpPr txBox="1"/>
          <p:nvPr/>
        </p:nvSpPr>
        <p:spPr>
          <a:xfrm>
            <a:off x="3338867" y="4699159"/>
            <a:ext cx="6271922" cy="141577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Depthwise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separable convolution layer</a:t>
            </a:r>
          </a:p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Classification &amp; location</a:t>
            </a:r>
          </a:p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Object detection</a:t>
            </a:r>
          </a:p>
          <a:p>
            <a:pPr marL="742950" lvl="1" indent="-285750" algn="just">
              <a:buFont typeface="Arial" panose="020B0604020202020204" pitchFamily="34" charset="0"/>
              <a:buChar char="•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Fully Convolutional Network(FCN)</a:t>
            </a:r>
          </a:p>
          <a:p>
            <a:pPr marL="742950" lvl="1" indent="-285750" algn="just">
              <a:buFont typeface="Arial" panose="020B0604020202020204" pitchFamily="34" charset="0"/>
              <a:buChar char="•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You Only Look Once(YOLO)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4C61F1D-C9B2-DA1D-B4C1-61487C4A47F8}"/>
              </a:ext>
            </a:extLst>
          </p:cNvPr>
          <p:cNvSpPr txBox="1"/>
          <p:nvPr/>
        </p:nvSpPr>
        <p:spPr>
          <a:xfrm>
            <a:off x="3314065" y="1774169"/>
            <a:ext cx="6296723" cy="307777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r>
              <a:rPr lang="en-US" altLang="ko-KR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Chapter 11. Image Segmentation</a:t>
            </a:r>
            <a:endParaRPr lang="ko-KR" altLang="en-US" sz="1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81182B0-E959-6AF3-DA97-DE9E33DA2801}"/>
              </a:ext>
            </a:extLst>
          </p:cNvPr>
          <p:cNvSpPr txBox="1"/>
          <p:nvPr/>
        </p:nvSpPr>
        <p:spPr>
          <a:xfrm>
            <a:off x="3338867" y="4416868"/>
            <a:ext cx="6271922" cy="307777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r>
              <a:rPr lang="en-US" altLang="ko-KR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Chapter 14. Deep Computer Vision Using Convolutional Neural Networks</a:t>
            </a:r>
            <a:endParaRPr lang="ko-KR" altLang="en-US" sz="1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517E34D7-9BDF-31C6-8F8E-69BEDA2F398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58003" y="4436371"/>
            <a:ext cx="1453697" cy="1939646"/>
          </a:xfrm>
          <a:prstGeom prst="rect">
            <a:avLst/>
          </a:prstGeom>
        </p:spPr>
      </p:pic>
      <p:pic>
        <p:nvPicPr>
          <p:cNvPr id="15" name="그림 14">
            <a:extLst>
              <a:ext uri="{FF2B5EF4-FFF2-40B4-BE49-F238E27FC236}">
                <a16:creationId xmlns:a16="http://schemas.microsoft.com/office/drawing/2014/main" id="{C396DC66-7E9A-273F-2004-FE1CB9029B8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58003" y="1747653"/>
            <a:ext cx="1453696" cy="18690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7544525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225469-5D09-03FC-4B8E-D52AC926D2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18BEA0B-A755-D0B2-20D0-DCD9F4B1295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04800" y="1164324"/>
            <a:ext cx="11978640" cy="2387600"/>
          </a:xfrm>
        </p:spPr>
        <p:txBody>
          <a:bodyPr rtlCol="0" anchor="ctr" anchorCtr="0">
            <a:noAutofit/>
          </a:bodyPr>
          <a:lstStyle/>
          <a:p>
            <a:r>
              <a:rPr lang="en-US" altLang="ko-KR" sz="3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Deep Learning with Python</a:t>
            </a:r>
            <a:b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</a:br>
            <a:b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Chapter 11. Image Segmentation</a:t>
            </a:r>
            <a:b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</a:br>
            <a:endParaRPr lang="ko-KR" altLang="en-US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723E05BD-21FB-6F39-CDD6-5F4DE1762734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</a:rPr>
              <a:t>2026 Fall</a:t>
            </a:r>
          </a:p>
          <a:p>
            <a:r>
              <a:rPr lang="ko-KR" altLang="en-US" sz="2400" dirty="0" err="1">
                <a:solidFill>
                  <a:schemeClr val="bg1"/>
                </a:solidFill>
              </a:rPr>
              <a:t>조상구교수</a:t>
            </a:r>
            <a:endParaRPr lang="en-US" altLang="ko-KR" sz="2400" dirty="0">
              <a:solidFill>
                <a:schemeClr val="bg1"/>
              </a:solidFill>
            </a:endParaRP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457192B7-2DFC-0DBC-33CA-30052925786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92227" y="3070110"/>
            <a:ext cx="2486819" cy="31973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7101781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E2A9C4-569E-E8BB-7ADF-685C04D223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D6A0A6ED-C61B-149B-A665-AD35B27E12E4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b="1" cap="none" dirty="0"/>
              <a:t>Computer vision tasks</a:t>
            </a:r>
          </a:p>
        </p:txBody>
      </p:sp>
      <p:sp>
        <p:nvSpPr>
          <p:cNvPr id="11" name="AutoShape 2" descr="라이트박스에 표시된 선택된 이미지">
            <a:extLst>
              <a:ext uri="{FF2B5EF4-FFF2-40B4-BE49-F238E27FC236}">
                <a16:creationId xmlns:a16="http://schemas.microsoft.com/office/drawing/2014/main" id="{7B304AF1-B353-CEDE-4FFE-99EFF0E18AD6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pic>
        <p:nvPicPr>
          <p:cNvPr id="4098" name="Picture 2">
            <a:extLst>
              <a:ext uri="{FF2B5EF4-FFF2-40B4-BE49-F238E27FC236}">
                <a16:creationId xmlns:a16="http://schemas.microsoft.com/office/drawing/2014/main" id="{30840AE3-C24D-A3D3-A71B-C653A008184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68589" y="1347655"/>
            <a:ext cx="6323012" cy="505373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617DCB58-B3A1-E5FD-B786-C3AB6999058A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4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5018691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89E2D9-9A95-449C-2453-B4ABC314D6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289AF9F8-B402-011C-37C6-57E234032817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b="1" cap="none" dirty="0"/>
              <a:t>Scopes</a:t>
            </a:r>
          </a:p>
        </p:txBody>
      </p:sp>
      <p:sp>
        <p:nvSpPr>
          <p:cNvPr id="11" name="AutoShape 2" descr="라이트박스에 표시된 선택된 이미지">
            <a:extLst>
              <a:ext uri="{FF2B5EF4-FFF2-40B4-BE49-F238E27FC236}">
                <a16:creationId xmlns:a16="http://schemas.microsoft.com/office/drawing/2014/main" id="{820D3F68-739D-492C-EB4E-8960FD5C9F06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graphicFrame>
        <p:nvGraphicFramePr>
          <p:cNvPr id="2" name="표 1">
            <a:extLst>
              <a:ext uri="{FF2B5EF4-FFF2-40B4-BE49-F238E27FC236}">
                <a16:creationId xmlns:a16="http://schemas.microsoft.com/office/drawing/2014/main" id="{54A35593-FDE6-C3AE-0304-62633AE98A6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80482604"/>
              </p:ext>
            </p:extLst>
          </p:nvPr>
        </p:nvGraphicFramePr>
        <p:xfrm>
          <a:off x="623094" y="2246516"/>
          <a:ext cx="10999946" cy="2945981"/>
        </p:xfrm>
        <a:graphic>
          <a:graphicData uri="http://schemas.openxmlformats.org/drawingml/2006/table">
            <a:tbl>
              <a:tblPr/>
              <a:tblGrid>
                <a:gridCol w="2536666">
                  <a:extLst>
                    <a:ext uri="{9D8B030D-6E8A-4147-A177-3AD203B41FA5}">
                      <a16:colId xmlns:a16="http://schemas.microsoft.com/office/drawing/2014/main" val="764053176"/>
                    </a:ext>
                  </a:extLst>
                </a:gridCol>
                <a:gridCol w="2804160">
                  <a:extLst>
                    <a:ext uri="{9D8B030D-6E8A-4147-A177-3AD203B41FA5}">
                      <a16:colId xmlns:a16="http://schemas.microsoft.com/office/drawing/2014/main" val="3669611965"/>
                    </a:ext>
                  </a:extLst>
                </a:gridCol>
                <a:gridCol w="2678789">
                  <a:extLst>
                    <a:ext uri="{9D8B030D-6E8A-4147-A177-3AD203B41FA5}">
                      <a16:colId xmlns:a16="http://schemas.microsoft.com/office/drawing/2014/main" val="1114369870"/>
                    </a:ext>
                  </a:extLst>
                </a:gridCol>
                <a:gridCol w="2980331">
                  <a:extLst>
                    <a:ext uri="{9D8B030D-6E8A-4147-A177-3AD203B41FA5}">
                      <a16:colId xmlns:a16="http://schemas.microsoft.com/office/drawing/2014/main" val="1655379910"/>
                    </a:ext>
                  </a:extLst>
                </a:gridCol>
              </a:tblGrid>
              <a:tr h="374764">
                <a:tc>
                  <a:txBody>
                    <a:bodyPr/>
                    <a:lstStyle/>
                    <a:p>
                      <a:pPr rtl="0" fontAlgn="t">
                        <a:spcAft>
                          <a:spcPts val="0"/>
                        </a:spcAft>
                        <a:buNone/>
                      </a:pPr>
                      <a:r>
                        <a:rPr lang="ko-KR" alt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과제</a:t>
                      </a:r>
                      <a:endParaRPr lang="ko-KR" altLang="en-US" sz="1600" b="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113630" marR="113630" marT="75753" marB="75753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458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t">
                        <a:spcAft>
                          <a:spcPts val="0"/>
                        </a:spcAft>
                        <a:buNone/>
                      </a:pPr>
                      <a:r>
                        <a:rPr lang="ko-KR" alt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주요 목표</a:t>
                      </a:r>
                      <a:endParaRPr lang="ko-KR" altLang="en-US" sz="1600" b="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113630" marR="113630" marT="75753" marB="75753">
                    <a:lnL w="8458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458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t">
                        <a:spcAft>
                          <a:spcPts val="0"/>
                        </a:spcAft>
                        <a:buNone/>
                      </a:pPr>
                      <a:r>
                        <a:rPr lang="ko-KR" alt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출력 형식</a:t>
                      </a:r>
                      <a:endParaRPr lang="ko-KR" altLang="en-US" sz="1600" b="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113630" marR="113630" marT="75753" marB="75753">
                    <a:lnL w="8458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458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t">
                        <a:spcAft>
                          <a:spcPts val="0"/>
                        </a:spcAft>
                        <a:buNone/>
                      </a:pPr>
                      <a:r>
                        <a:rPr lang="ko-KR" alt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실생활 적용 사례</a:t>
                      </a:r>
                      <a:endParaRPr lang="ko-KR" altLang="en-US" sz="1600" b="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113630" marR="113630" marT="75753" marB="75753">
                    <a:lnL w="8458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73547352"/>
                  </a:ext>
                </a:extLst>
              </a:tr>
              <a:tr h="796547">
                <a:tc>
                  <a:txBody>
                    <a:bodyPr/>
                    <a:lstStyle/>
                    <a:p>
                      <a:pPr rtl="0" fontAlgn="t">
                        <a:spcAft>
                          <a:spcPts val="0"/>
                        </a:spcAft>
                        <a:buNone/>
                      </a:pPr>
                      <a:r>
                        <a:rPr lang="ko-KR" alt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이미지 분류</a:t>
                      </a:r>
                      <a:endParaRPr lang="en-US" altLang="ko-KR" sz="1600" b="0" i="0" u="none" strike="noStrike" dirty="0">
                        <a:solidFill>
                          <a:srgbClr val="000000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  <a:p>
                      <a:pPr rtl="0" fontAlgn="t">
                        <a:spcAft>
                          <a:spcPts val="0"/>
                        </a:spcAft>
                        <a:buNone/>
                      </a:pPr>
                      <a:r>
                        <a:rPr lang="en-US" altLang="ko-KR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(Image Classification)</a:t>
                      </a:r>
                      <a:endParaRPr lang="ko-KR" altLang="en-US" sz="1600" b="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113630" marR="113630" marT="75753" marB="7575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458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458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t">
                        <a:spcAft>
                          <a:spcPts val="0"/>
                        </a:spcAft>
                        <a:buNone/>
                      </a:pPr>
                      <a:r>
                        <a:rPr lang="ko-KR" alt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이미지 전체를 대표하는 </a:t>
                      </a:r>
                      <a:endParaRPr lang="en-US" altLang="ko-KR" sz="1600" b="0" i="0" u="none" strike="noStrike" dirty="0">
                        <a:solidFill>
                          <a:srgbClr val="000000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  <a:p>
                      <a:pPr rtl="0" fontAlgn="t">
                        <a:spcAft>
                          <a:spcPts val="0"/>
                        </a:spcAft>
                        <a:buNone/>
                      </a:pPr>
                      <a:r>
                        <a:rPr lang="ko-KR" alt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클래스 태그 부여</a:t>
                      </a:r>
                      <a:endParaRPr lang="ko-KR" altLang="en-US" sz="1600" b="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113630" marR="113630" marT="75753" marB="75753" anchor="ctr">
                    <a:lnL w="8458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458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458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t">
                        <a:spcAft>
                          <a:spcPts val="0"/>
                        </a:spcAft>
                        <a:buNone/>
                      </a:pPr>
                      <a:r>
                        <a:rPr lang="ko-KR" alt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이미지당 </a:t>
                      </a:r>
                      <a:r>
                        <a:rPr lang="en-US" altLang="ko-KR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</a:t>
                      </a:r>
                      <a:r>
                        <a:rPr lang="ko-KR" alt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개 이상의 </a:t>
                      </a:r>
                      <a:endParaRPr lang="en-US" altLang="ko-KR" sz="1600" b="0" i="0" u="none" strike="noStrike" dirty="0">
                        <a:solidFill>
                          <a:srgbClr val="000000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  <a:p>
                      <a:pPr rtl="0" fontAlgn="t">
                        <a:spcAft>
                          <a:spcPts val="0"/>
                        </a:spcAft>
                        <a:buNone/>
                      </a:pPr>
                      <a:r>
                        <a:rPr lang="ko-KR" alt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카테고리 라벨</a:t>
                      </a:r>
                      <a:endParaRPr lang="ko-KR" altLang="en-US" sz="1600" b="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113630" marR="113630" marT="75753" marB="75753" anchor="ctr">
                    <a:lnL w="8458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458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458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t">
                        <a:spcAft>
                          <a:spcPts val="0"/>
                        </a:spcAft>
                        <a:buNone/>
                      </a:pPr>
                      <a:r>
                        <a:rPr lang="ko-KR" alt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구글 포토 키워드 및 </a:t>
                      </a:r>
                      <a:endParaRPr lang="en-US" altLang="ko-KR" sz="1600" b="0" i="0" u="none" strike="noStrike" dirty="0">
                        <a:solidFill>
                          <a:srgbClr val="000000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  <a:p>
                      <a:pPr rtl="0" fontAlgn="t">
                        <a:spcAft>
                          <a:spcPts val="0"/>
                        </a:spcAft>
                        <a:buNone/>
                      </a:pPr>
                      <a:r>
                        <a:rPr lang="ko-KR" alt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태그 검색</a:t>
                      </a:r>
                      <a:endParaRPr lang="ko-KR" altLang="en-US" sz="1600" b="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113630" marR="113630" marT="75753" marB="75753" anchor="ctr">
                    <a:lnL w="8458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458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76790438"/>
                  </a:ext>
                </a:extLst>
              </a:tr>
              <a:tr h="1017536">
                <a:tc>
                  <a:txBody>
                    <a:bodyPr/>
                    <a:lstStyle/>
                    <a:p>
                      <a:pPr rtl="0" fontAlgn="t">
                        <a:spcAft>
                          <a:spcPts val="0"/>
                        </a:spcAft>
                        <a:buNone/>
                      </a:pPr>
                      <a:r>
                        <a:rPr lang="ko-KR" alt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이미지 분할</a:t>
                      </a:r>
                      <a:endParaRPr lang="en-US" altLang="ko-KR" sz="1600" b="0" i="0" u="none" strike="noStrike" dirty="0">
                        <a:solidFill>
                          <a:srgbClr val="000000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  <a:p>
                      <a:pPr rtl="0" fontAlgn="t">
                        <a:spcAft>
                          <a:spcPts val="0"/>
                        </a:spcAft>
                        <a:buNone/>
                      </a:pPr>
                      <a:r>
                        <a:rPr lang="en-US" altLang="ko-KR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(Image</a:t>
                      </a:r>
                      <a:r>
                        <a:rPr lang="ko-KR" alt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 </a:t>
                      </a:r>
                      <a:r>
                        <a:rPr lang="en-US" altLang="ko-KR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Segmentation)</a:t>
                      </a:r>
                      <a:endParaRPr lang="ko-KR" altLang="en-US" sz="1600" b="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113630" marR="113630" marT="75753" marB="7575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458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458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458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t">
                        <a:spcAft>
                          <a:spcPts val="0"/>
                        </a:spcAft>
                        <a:buNone/>
                      </a:pPr>
                      <a:r>
                        <a:rPr lang="ko-KR" alt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모든 픽셀에 대한 영역 </a:t>
                      </a:r>
                      <a:endParaRPr lang="en-US" altLang="ko-KR" sz="1600" b="0" i="0" u="none" strike="noStrike" dirty="0">
                        <a:solidFill>
                          <a:srgbClr val="000000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  <a:p>
                      <a:pPr rtl="0" fontAlgn="t">
                        <a:spcAft>
                          <a:spcPts val="0"/>
                        </a:spcAft>
                        <a:buNone/>
                      </a:pPr>
                      <a:r>
                        <a:rPr lang="ko-KR" alt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구분 및 분류</a:t>
                      </a:r>
                      <a:endParaRPr lang="ko-KR" altLang="en-US" sz="1600" b="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113630" marR="113630" marT="75753" marB="75753" anchor="ctr">
                    <a:lnL w="8458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458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458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458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t">
                        <a:spcAft>
                          <a:spcPts val="0"/>
                        </a:spcAft>
                        <a:buNone/>
                      </a:pPr>
                      <a:r>
                        <a:rPr lang="ko-KR" alt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픽셀 단위 마스크</a:t>
                      </a:r>
                      <a:endParaRPr lang="en-US" altLang="ko-KR" sz="1600" b="0" i="0" u="none" strike="noStrike" dirty="0">
                        <a:solidFill>
                          <a:srgbClr val="000000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  <a:p>
                      <a:pPr rtl="0" fontAlgn="t">
                        <a:spcAft>
                          <a:spcPts val="0"/>
                        </a:spcAft>
                        <a:buNone/>
                      </a:pPr>
                      <a:r>
                        <a:rPr lang="en-US" altLang="ko-KR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(Pixel-level Mask)</a:t>
                      </a:r>
                      <a:endParaRPr lang="ko-KR" altLang="en-US" sz="1600" b="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113630" marR="113630" marT="75753" marB="75753" anchor="ctr">
                    <a:lnL w="8458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458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458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458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t">
                        <a:spcAft>
                          <a:spcPts val="0"/>
                        </a:spcAft>
                        <a:buNone/>
                      </a:pPr>
                      <a:r>
                        <a:rPr lang="ko-KR" alt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화상 회의</a:t>
                      </a:r>
                      <a:r>
                        <a:rPr lang="en-US" altLang="ko-KR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(Zoom, Google Meet) </a:t>
                      </a:r>
                    </a:p>
                    <a:p>
                      <a:pPr rtl="0" fontAlgn="t">
                        <a:spcAft>
                          <a:spcPts val="0"/>
                        </a:spcAft>
                        <a:buNone/>
                      </a:pPr>
                      <a:r>
                        <a:rPr lang="ko-KR" alt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가상 배경 설정</a:t>
                      </a:r>
                      <a:endParaRPr lang="ko-KR" altLang="en-US" sz="1600" b="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113630" marR="113630" marT="75753" marB="75753" anchor="ctr">
                    <a:lnL w="8458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458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458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23487841"/>
                  </a:ext>
                </a:extLst>
              </a:tr>
              <a:tr h="736552">
                <a:tc>
                  <a:txBody>
                    <a:bodyPr/>
                    <a:lstStyle/>
                    <a:p>
                      <a:pPr rtl="0" fontAlgn="t">
                        <a:spcAft>
                          <a:spcPts val="0"/>
                        </a:spcAft>
                        <a:buNone/>
                      </a:pPr>
                      <a:r>
                        <a:rPr lang="ko-KR" alt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객체 탐지</a:t>
                      </a:r>
                      <a:endParaRPr lang="en-US" altLang="ko-KR" sz="1600" b="0" i="0" u="none" strike="noStrike" dirty="0">
                        <a:solidFill>
                          <a:srgbClr val="000000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  <a:p>
                      <a:pPr rtl="0" fontAlgn="t">
                        <a:spcAft>
                          <a:spcPts val="0"/>
                        </a:spcAft>
                        <a:buNone/>
                      </a:pPr>
                      <a:r>
                        <a:rPr lang="en-US" altLang="ko-KR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(Object</a:t>
                      </a:r>
                      <a:r>
                        <a:rPr lang="ko-KR" alt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 </a:t>
                      </a:r>
                      <a:r>
                        <a:rPr lang="en-US" altLang="ko-KR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Detection)</a:t>
                      </a:r>
                    </a:p>
                  </a:txBody>
                  <a:tcPr marL="113630" marR="113630" marT="75753" marB="7575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458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458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t">
                        <a:spcAft>
                          <a:spcPts val="0"/>
                        </a:spcAft>
                        <a:buNone/>
                      </a:pPr>
                      <a:r>
                        <a:rPr lang="ko-KR" alt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물체의 위치 파악 및 분류</a:t>
                      </a:r>
                      <a:endParaRPr lang="ko-KR" altLang="en-US" sz="1600" b="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113630" marR="113630" marT="75753" marB="75753" anchor="ctr">
                    <a:lnL w="8458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458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458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t">
                        <a:spcAft>
                          <a:spcPts val="0"/>
                        </a:spcAft>
                        <a:buNone/>
                      </a:pPr>
                      <a:r>
                        <a:rPr lang="ko-KR" alt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경계 상자</a:t>
                      </a:r>
                      <a:r>
                        <a:rPr lang="en-US" altLang="ko-KR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</a:t>
                      </a:r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Bounding Box) + </a:t>
                      </a:r>
                      <a:r>
                        <a:rPr lang="ko-KR" alt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클래스</a:t>
                      </a:r>
                      <a:endParaRPr lang="ko-KR" altLang="en-US" sz="1600" b="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113630" marR="113630" marT="75753" marB="75753" anchor="ctr">
                    <a:lnL w="8458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458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458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t">
                        <a:spcAft>
                          <a:spcPts val="0"/>
                        </a:spcAft>
                        <a:buNone/>
                      </a:pPr>
                      <a:r>
                        <a:rPr lang="ko-KR" alt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자율주행차 보행자</a:t>
                      </a:r>
                      <a:r>
                        <a:rPr lang="en-US" altLang="ko-KR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·</a:t>
                      </a:r>
                      <a:r>
                        <a:rPr lang="ko-KR" alt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차량</a:t>
                      </a:r>
                      <a:r>
                        <a:rPr lang="en-US" altLang="ko-KR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·</a:t>
                      </a:r>
                      <a:r>
                        <a:rPr lang="ko-KR" alt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표지판 감지</a:t>
                      </a:r>
                      <a:endParaRPr lang="ko-KR" altLang="en-US" sz="1600" b="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113630" marR="113630" marT="75753" marB="75753" anchor="ctr">
                    <a:lnL w="8458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458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30661545"/>
                  </a:ext>
                </a:extLst>
              </a:tr>
            </a:tbl>
          </a:graphicData>
        </a:graphic>
      </p:graphicFrame>
      <p:sp>
        <p:nvSpPr>
          <p:cNvPr id="7" name="슬라이드 번호 개체 틀 3">
            <a:extLst>
              <a:ext uri="{FF2B5EF4-FFF2-40B4-BE49-F238E27FC236}">
                <a16:creationId xmlns:a16="http://schemas.microsoft.com/office/drawing/2014/main" id="{BCB3532C-D059-825B-282D-4874855CD271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5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9731752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6C4B0E-9215-C286-2671-09F6119953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EE610E9-D1FE-2850-B347-77F7B3CB41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6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88A18A25-A57C-1842-7548-74DD0C7F25B6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b="1" cap="none" dirty="0"/>
              <a:t>Computer vision tasks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8BBEA63-6C45-7A95-A23D-E71B44C554F8}"/>
              </a:ext>
            </a:extLst>
          </p:cNvPr>
          <p:cNvSpPr txBox="1"/>
          <p:nvPr/>
        </p:nvSpPr>
        <p:spPr>
          <a:xfrm>
            <a:off x="576262" y="1854264"/>
            <a:ext cx="11039475" cy="402482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Image Classification :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기존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CNN (Flatten + Dense) 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 사진은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95%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확률로 장미입니다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라는 결론을 내지만 </a:t>
            </a:r>
            <a:r>
              <a:rPr lang="ko-KR" altLang="en-US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위치는 모름</a:t>
            </a:r>
            <a:endParaRPr lang="en-US" altLang="ko-KR" b="1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Image Segmentation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: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기존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CNN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의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Flatten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을 없애고 </a:t>
            </a:r>
            <a:r>
              <a:rPr lang="ko-KR" altLang="en-US" b="1" dirty="0">
                <a:latin typeface="D2Coding" panose="020B0609020101020101" pitchFamily="49" charset="-127"/>
                <a:ea typeface="D2Coding" panose="020B0609020101020101" pitchFamily="49" charset="-127"/>
              </a:rPr>
              <a:t>모든 레이어를 </a:t>
            </a:r>
            <a:r>
              <a:rPr lang="ko-KR" altLang="en-US" b="1" dirty="0" err="1">
                <a:latin typeface="D2Coding" panose="020B0609020101020101" pitchFamily="49" charset="-127"/>
                <a:ea typeface="D2Coding" panose="020B0609020101020101" pitchFamily="49" charset="-127"/>
              </a:rPr>
              <a:t>합성곱으로</a:t>
            </a:r>
            <a:r>
              <a:rPr lang="ko-KR" altLang="en-US" b="1" dirty="0">
                <a:latin typeface="D2Coding" panose="020B0609020101020101" pitchFamily="49" charset="-127"/>
                <a:ea typeface="D2Coding" panose="020B0609020101020101" pitchFamily="49" charset="-127"/>
              </a:rPr>
              <a:t> 구성</a:t>
            </a:r>
            <a:endParaRPr lang="en-US" altLang="ko-KR" b="1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큰 이미지가 들어왔을 때 최종 출력이 같은 공간 특징 지도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(Heatmap)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로 확장되어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픽셀 하나 하나의 정답을 다 채워 넣는 정밀한 이미지 분할이 가능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Fully Convolutional Network, FCN)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Object Detection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: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분류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+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회귀 듀얼 출력 모델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클래스 확률도 맞추고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바운딩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박스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(x, y, w, h)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라는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4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개의 숫자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회귀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도 동시에 맞춰서 물체의 대략적인 사각형 위치를 발견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29B65F5F-42A8-2137-0CEE-F7A891BD0435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6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7754604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18269C-6F02-3650-3E00-FC81E0DF35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E0E9AD25-B519-C98B-BA51-F666075A9BB8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b="1" cap="none" dirty="0"/>
              <a:t>Types of Image segmentation</a:t>
            </a:r>
          </a:p>
        </p:txBody>
      </p:sp>
      <p:sp>
        <p:nvSpPr>
          <p:cNvPr id="11" name="AutoShape 2" descr="라이트박스에 표시된 선택된 이미지">
            <a:extLst>
              <a:ext uri="{FF2B5EF4-FFF2-40B4-BE49-F238E27FC236}">
                <a16:creationId xmlns:a16="http://schemas.microsoft.com/office/drawing/2014/main" id="{ADBF0F9C-D7B7-4592-083C-FA765750BA73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C681FA5B-337D-3B88-F827-383329A807DD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7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B47139F-FC7D-4DC3-476B-3B0C33534001}"/>
              </a:ext>
            </a:extLst>
          </p:cNvPr>
          <p:cNvSpPr txBox="1"/>
          <p:nvPr/>
        </p:nvSpPr>
        <p:spPr>
          <a:xfrm>
            <a:off x="556925" y="1231098"/>
            <a:ext cx="669544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0" fontAlgn="t">
              <a:spcAft>
                <a:spcPts val="0"/>
              </a:spcAft>
              <a:buNone/>
            </a:pPr>
            <a:r>
              <a:rPr lang="ko-KR" altLang="en-US" sz="1800" b="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이미지 분할 </a:t>
            </a:r>
            <a:r>
              <a:rPr lang="en-US" altLang="ko-KR" sz="1800" b="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(Image</a:t>
            </a:r>
            <a:r>
              <a:rPr lang="ko-KR" altLang="en-US" sz="1800" b="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800" b="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Segmentation)</a:t>
            </a:r>
            <a:r>
              <a:rPr lang="ko-KR" altLang="en-US" sz="1800" b="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의 종류</a:t>
            </a:r>
            <a:endParaRPr lang="ko-KR" altLang="en-US" sz="18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12" name="그림 11">
            <a:extLst>
              <a:ext uri="{FF2B5EF4-FFF2-40B4-BE49-F238E27FC236}">
                <a16:creationId xmlns:a16="http://schemas.microsoft.com/office/drawing/2014/main" id="{5AAE77CA-633E-37C9-2EF9-E1ABBB7CA89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76406" y="1679169"/>
            <a:ext cx="5883114" cy="49546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292362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25FC59-DF22-CAA4-9590-F2A7C90962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8F879655-DA0B-0D92-6AEF-1E2693A84A92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b="1" cap="none" dirty="0"/>
              <a:t>Semantic Segmentation</a:t>
            </a:r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EBAE1E2E-AD0B-4F4B-05B5-8A532B1DE42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06500" y="2597865"/>
            <a:ext cx="3749142" cy="33759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2" name="Picture 4">
            <a:extLst>
              <a:ext uri="{FF2B5EF4-FFF2-40B4-BE49-F238E27FC236}">
                <a16:creationId xmlns:a16="http://schemas.microsoft.com/office/drawing/2014/main" id="{C88B2388-8059-E653-E419-CC706D81F83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382283" y="2597865"/>
            <a:ext cx="3749142" cy="33759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5E8AD89D-968B-CAB5-5BB3-A3841292D078}"/>
              </a:ext>
            </a:extLst>
          </p:cNvPr>
          <p:cNvSpPr txBox="1"/>
          <p:nvPr/>
        </p:nvSpPr>
        <p:spPr>
          <a:xfrm>
            <a:off x="2082800" y="2251194"/>
            <a:ext cx="1905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Input(Feature)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372D3027-4EA0-CBC7-5C32-3151E32BE3CE}"/>
              </a:ext>
            </a:extLst>
          </p:cNvPr>
          <p:cNvSpPr txBox="1"/>
          <p:nvPr/>
        </p:nvSpPr>
        <p:spPr>
          <a:xfrm>
            <a:off x="7206802" y="2286155"/>
            <a:ext cx="1800493" cy="369332"/>
          </a:xfrm>
          <a:prstGeom prst="rect">
            <a:avLst/>
          </a:prstGeom>
          <a:solidFill>
            <a:schemeClr val="tx1"/>
          </a:solidFill>
        </p:spPr>
        <p:txBody>
          <a:bodyPr wrap="none" rtlCol="0">
            <a:spAutoFit/>
          </a:bodyPr>
          <a:lstStyle/>
          <a:p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Output(Target)</a:t>
            </a:r>
            <a:endParaRPr lang="ko-KR" altLang="en-US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2A22E2E-7D86-9E9D-D7F4-A654F5E3A205}"/>
              </a:ext>
            </a:extLst>
          </p:cNvPr>
          <p:cNvSpPr txBox="1"/>
          <p:nvPr/>
        </p:nvSpPr>
        <p:spPr>
          <a:xfrm>
            <a:off x="2159000" y="6043749"/>
            <a:ext cx="1905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X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1074CF5-DF8A-A38A-B143-DC98BA8AF675}"/>
              </a:ext>
            </a:extLst>
          </p:cNvPr>
          <p:cNvSpPr txBox="1"/>
          <p:nvPr/>
        </p:nvSpPr>
        <p:spPr>
          <a:xfrm>
            <a:off x="7366266" y="6043749"/>
            <a:ext cx="122341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y=[1,2,3]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</p:txBody>
      </p:sp>
      <p:cxnSp>
        <p:nvCxnSpPr>
          <p:cNvPr id="12" name="직선 화살표 연결선 11">
            <a:extLst>
              <a:ext uri="{FF2B5EF4-FFF2-40B4-BE49-F238E27FC236}">
                <a16:creationId xmlns:a16="http://schemas.microsoft.com/office/drawing/2014/main" id="{377C6241-EA2D-1241-0151-C525FCA699FC}"/>
              </a:ext>
            </a:extLst>
          </p:cNvPr>
          <p:cNvCxnSpPr>
            <a:cxnSpLocks/>
          </p:cNvCxnSpPr>
          <p:nvPr/>
        </p:nvCxnSpPr>
        <p:spPr>
          <a:xfrm>
            <a:off x="5068326" y="4429977"/>
            <a:ext cx="1162050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ABFF7879-1E16-CC92-2C47-6C78CFD3F782}"/>
              </a:ext>
            </a:extLst>
          </p:cNvPr>
          <p:cNvSpPr txBox="1"/>
          <p:nvPr/>
        </p:nvSpPr>
        <p:spPr>
          <a:xfrm>
            <a:off x="5192712" y="3879969"/>
            <a:ext cx="9525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f(X)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4774949D-59A1-D5DC-B848-02E54DE6F5BA}"/>
              </a:ext>
            </a:extLst>
          </p:cNvPr>
          <p:cNvSpPr txBox="1"/>
          <p:nvPr/>
        </p:nvSpPr>
        <p:spPr>
          <a:xfrm>
            <a:off x="7569200" y="4178636"/>
            <a:ext cx="1905000" cy="369332"/>
          </a:xfrm>
          <a:prstGeom prst="rect">
            <a:avLst/>
          </a:prstGeom>
          <a:solidFill>
            <a:schemeClr val="accent2">
              <a:lumMod val="75000"/>
            </a:schemeClr>
          </a:solidFill>
        </p:spPr>
        <p:txBody>
          <a:bodyPr wrap="square">
            <a:spAutoFit/>
          </a:bodyPr>
          <a:lstStyle/>
          <a:p>
            <a:pPr algn="just"/>
            <a:r>
              <a:rPr lang="en-US" altLang="ko-KR" sz="1800" b="0" i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1 (foreground)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7148C39A-A848-F4DD-CB42-672E5A5C7AF8}"/>
              </a:ext>
            </a:extLst>
          </p:cNvPr>
          <p:cNvSpPr txBox="1"/>
          <p:nvPr/>
        </p:nvSpPr>
        <p:spPr>
          <a:xfrm rot="19245108">
            <a:off x="8668611" y="4948069"/>
            <a:ext cx="1396467" cy="369332"/>
          </a:xfrm>
          <a:prstGeom prst="rect">
            <a:avLst/>
          </a:prstGeom>
          <a:solidFill>
            <a:schemeClr val="accent2">
              <a:lumMod val="75000"/>
            </a:schemeClr>
          </a:solidFill>
        </p:spPr>
        <p:txBody>
          <a:bodyPr wrap="square">
            <a:spAutoFit/>
          </a:bodyPr>
          <a:lstStyle/>
          <a:p>
            <a:pPr algn="just"/>
            <a:r>
              <a:rPr lang="en-US" altLang="ko-KR" sz="1800" b="0" i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3 (contour)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FCD1772E-DD1C-3ED5-EE3C-150D3FE8AA72}"/>
              </a:ext>
            </a:extLst>
          </p:cNvPr>
          <p:cNvSpPr txBox="1"/>
          <p:nvPr/>
        </p:nvSpPr>
        <p:spPr>
          <a:xfrm>
            <a:off x="6574836" y="2752776"/>
            <a:ext cx="1819275" cy="369332"/>
          </a:xfrm>
          <a:prstGeom prst="rect">
            <a:avLst/>
          </a:prstGeom>
          <a:solidFill>
            <a:schemeClr val="accent2">
              <a:lumMod val="75000"/>
            </a:schemeClr>
          </a:solidFill>
        </p:spPr>
        <p:txBody>
          <a:bodyPr wrap="square">
            <a:spAutoFit/>
          </a:bodyPr>
          <a:lstStyle/>
          <a:p>
            <a:pPr algn="just"/>
            <a:r>
              <a:rPr lang="en-US" altLang="ko-KR" sz="1800" b="0" i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2 (background)</a:t>
            </a:r>
          </a:p>
        </p:txBody>
      </p:sp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B31D3B61-E441-DDEE-F5BA-B4C5C5861151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8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E786274-C019-7634-5864-98A3FB97AF27}"/>
              </a:ext>
            </a:extLst>
          </p:cNvPr>
          <p:cNvSpPr txBox="1"/>
          <p:nvPr/>
        </p:nvSpPr>
        <p:spPr>
          <a:xfrm>
            <a:off x="548640" y="1271927"/>
            <a:ext cx="10922000" cy="42383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Oxford-IIIT Pets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데이터셋을 활용해 각 픽셀을 전경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(1),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배경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(2),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윤곽선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(3)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으로 예측하는 분할 모델 구축</a:t>
            </a:r>
          </a:p>
        </p:txBody>
      </p:sp>
    </p:spTree>
    <p:extLst>
      <p:ext uri="{BB962C8B-B14F-4D97-AF65-F5344CB8AC3E}">
        <p14:creationId xmlns:p14="http://schemas.microsoft.com/office/powerpoint/2010/main" val="4938686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DC7C59-423C-7C11-050C-013FB21D5B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1AC949CB-4F47-A625-F779-ACF5B5047CA9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b="1" cap="none" dirty="0"/>
              <a:t>Semantic Segmentation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77CF828-B040-95A6-01FB-989BB4ED21A5}"/>
              </a:ext>
            </a:extLst>
          </p:cNvPr>
          <p:cNvSpPr txBox="1"/>
          <p:nvPr/>
        </p:nvSpPr>
        <p:spPr>
          <a:xfrm>
            <a:off x="1477010" y="1902721"/>
            <a:ext cx="1905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Input(Feature)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3F94EAF4-ACA6-4283-37D4-4288D28B1877}"/>
              </a:ext>
            </a:extLst>
          </p:cNvPr>
          <p:cNvSpPr txBox="1"/>
          <p:nvPr/>
        </p:nvSpPr>
        <p:spPr>
          <a:xfrm>
            <a:off x="6781987" y="1902721"/>
            <a:ext cx="180049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Output(Target)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39BEF3F-882E-452F-8047-F7C760E3A455}"/>
              </a:ext>
            </a:extLst>
          </p:cNvPr>
          <p:cNvSpPr txBox="1"/>
          <p:nvPr/>
        </p:nvSpPr>
        <p:spPr>
          <a:xfrm>
            <a:off x="1762760" y="5770064"/>
            <a:ext cx="1905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X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E78E8DC-DC20-84AE-CC3E-AE72343A7C5F}"/>
              </a:ext>
            </a:extLst>
          </p:cNvPr>
          <p:cNvSpPr txBox="1"/>
          <p:nvPr/>
        </p:nvSpPr>
        <p:spPr>
          <a:xfrm>
            <a:off x="6970026" y="5712914"/>
            <a:ext cx="122341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y=[1,2,3]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</p:txBody>
      </p:sp>
      <p:cxnSp>
        <p:nvCxnSpPr>
          <p:cNvPr id="12" name="직선 화살표 연결선 11">
            <a:extLst>
              <a:ext uri="{FF2B5EF4-FFF2-40B4-BE49-F238E27FC236}">
                <a16:creationId xmlns:a16="http://schemas.microsoft.com/office/drawing/2014/main" id="{02F73698-AB14-59F1-D3DC-5E680FEBB8B5}"/>
              </a:ext>
            </a:extLst>
          </p:cNvPr>
          <p:cNvCxnSpPr>
            <a:cxnSpLocks/>
          </p:cNvCxnSpPr>
          <p:nvPr/>
        </p:nvCxnSpPr>
        <p:spPr>
          <a:xfrm>
            <a:off x="4401185" y="4124325"/>
            <a:ext cx="1162050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3368B4CA-26DE-3E3F-4E43-BBBAB5F5E7BC}"/>
              </a:ext>
            </a:extLst>
          </p:cNvPr>
          <p:cNvSpPr txBox="1"/>
          <p:nvPr/>
        </p:nvSpPr>
        <p:spPr>
          <a:xfrm>
            <a:off x="4664178" y="3552847"/>
            <a:ext cx="1905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f(X)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</p:txBody>
      </p:sp>
      <p:pic>
        <p:nvPicPr>
          <p:cNvPr id="16" name="그림 15">
            <a:extLst>
              <a:ext uri="{FF2B5EF4-FFF2-40B4-BE49-F238E27FC236}">
                <a16:creationId xmlns:a16="http://schemas.microsoft.com/office/drawing/2014/main" id="{C3C5FA06-6BA4-DE1D-831A-B45A62B2CEE2}"/>
              </a:ext>
            </a:extLst>
          </p:cNvPr>
          <p:cNvPicPr>
            <a:picLocks noChangeAspect="1"/>
          </p:cNvPicPr>
          <p:nvPr/>
        </p:nvPicPr>
        <p:blipFill>
          <a:blip r:embed="rId2">
            <a:lum bright="70000" contrast="-70000"/>
          </a:blip>
          <a:stretch>
            <a:fillRect/>
          </a:stretch>
        </p:blipFill>
        <p:spPr>
          <a:xfrm>
            <a:off x="5762625" y="2680555"/>
            <a:ext cx="3562985" cy="2788012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9" name="그림 18">
            <a:extLst>
              <a:ext uri="{FF2B5EF4-FFF2-40B4-BE49-F238E27FC236}">
                <a16:creationId xmlns:a16="http://schemas.microsoft.com/office/drawing/2014/main" id="{04B2D89F-E42E-E778-DBF6-E788F5244F6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8490" y="2339052"/>
            <a:ext cx="3339722" cy="3297014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9972E5F7-E061-D048-57B6-1FDBA5FFB9DD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9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4AAD5E7-1865-631C-ACB3-CA60E8E53776}"/>
              </a:ext>
            </a:extLst>
          </p:cNvPr>
          <p:cNvSpPr txBox="1"/>
          <p:nvPr/>
        </p:nvSpPr>
        <p:spPr>
          <a:xfrm>
            <a:off x="9467332" y="3235661"/>
            <a:ext cx="1905000" cy="369332"/>
          </a:xfrm>
          <a:prstGeom prst="rect">
            <a:avLst/>
          </a:prstGeom>
          <a:solidFill>
            <a:schemeClr val="accent2">
              <a:lumMod val="75000"/>
            </a:schemeClr>
          </a:solidFill>
        </p:spPr>
        <p:txBody>
          <a:bodyPr wrap="square">
            <a:spAutoFit/>
          </a:bodyPr>
          <a:lstStyle/>
          <a:p>
            <a:pPr algn="just"/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0</a:t>
            </a:r>
            <a:r>
              <a:rPr lang="en-US" altLang="ko-KR" sz="1800" b="0" i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(foreground)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7CBCB71-568B-E818-35AD-C1A2189C91E7}"/>
              </a:ext>
            </a:extLst>
          </p:cNvPr>
          <p:cNvSpPr txBox="1"/>
          <p:nvPr/>
        </p:nvSpPr>
        <p:spPr>
          <a:xfrm>
            <a:off x="9467332" y="4228509"/>
            <a:ext cx="1905000" cy="369332"/>
          </a:xfrm>
          <a:prstGeom prst="rect">
            <a:avLst/>
          </a:prstGeom>
          <a:solidFill>
            <a:schemeClr val="accent2">
              <a:lumMod val="75000"/>
            </a:schemeClr>
          </a:solidFill>
        </p:spPr>
        <p:txBody>
          <a:bodyPr wrap="square">
            <a:spAutoFit/>
          </a:bodyPr>
          <a:lstStyle/>
          <a:p>
            <a:pPr algn="just"/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2</a:t>
            </a:r>
            <a:r>
              <a:rPr lang="en-US" altLang="ko-KR" sz="1800" b="0" i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(contour)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AD45C5B-B0E0-E657-F51A-E6C6DAE483CF}"/>
              </a:ext>
            </a:extLst>
          </p:cNvPr>
          <p:cNvSpPr txBox="1"/>
          <p:nvPr/>
        </p:nvSpPr>
        <p:spPr>
          <a:xfrm>
            <a:off x="9467332" y="3732085"/>
            <a:ext cx="1905000" cy="369332"/>
          </a:xfrm>
          <a:prstGeom prst="rect">
            <a:avLst/>
          </a:prstGeom>
          <a:solidFill>
            <a:schemeClr val="accent2">
              <a:lumMod val="75000"/>
            </a:schemeClr>
          </a:solidFill>
        </p:spPr>
        <p:txBody>
          <a:bodyPr wrap="square">
            <a:spAutoFit/>
          </a:bodyPr>
          <a:lstStyle/>
          <a:p>
            <a:pPr algn="just"/>
            <a:r>
              <a:rPr lang="en-US" altLang="ko-KR" sz="1800" b="0" i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1 (background)</a:t>
            </a:r>
          </a:p>
        </p:txBody>
      </p:sp>
    </p:spTree>
    <p:extLst>
      <p:ext uri="{BB962C8B-B14F-4D97-AF65-F5344CB8AC3E}">
        <p14:creationId xmlns:p14="http://schemas.microsoft.com/office/powerpoint/2010/main" val="182254110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89D25F-7B06-1DA8-10F3-4BA0693AA5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0AF8778-26AC-C0F7-659D-7005508C19E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04800" y="1164324"/>
            <a:ext cx="11978640" cy="2387600"/>
          </a:xfrm>
        </p:spPr>
        <p:txBody>
          <a:bodyPr rtlCol="0" anchor="ctr" anchorCtr="0">
            <a:noAutofit/>
          </a:bodyPr>
          <a:lstStyle/>
          <a:p>
            <a:r>
              <a:rPr lang="en-US" altLang="ko-KR" sz="4000" dirty="0">
                <a:solidFill>
                  <a:schemeClr val="bg1"/>
                </a:solidFill>
              </a:rPr>
              <a:t>FCN(Fully Convolutional Network)</a:t>
            </a:r>
            <a:endParaRPr lang="ko-KR" altLang="en-US" sz="4000" dirty="0">
              <a:solidFill>
                <a:schemeClr val="bg1"/>
              </a:solidFill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C2BE0A34-09B4-AD0D-ECFE-CA550B37C528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</a:rPr>
              <a:t>2026 Fall</a:t>
            </a:r>
          </a:p>
          <a:p>
            <a:r>
              <a:rPr lang="ko-KR" altLang="en-US" sz="2400" dirty="0" err="1">
                <a:solidFill>
                  <a:schemeClr val="bg1"/>
                </a:solidFill>
              </a:rPr>
              <a:t>조상구교수</a:t>
            </a:r>
            <a:endParaRPr lang="en-US" altLang="ko-KR" sz="24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20572663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0FFF8B-40F1-4D0A-E6A9-F4456A74A7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C141A5FC-D7AB-48F0-CFCB-643A4E36D02C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b="1" cap="none" dirty="0"/>
              <a:t>FCN(Fully Convolutional Network)</a:t>
            </a:r>
          </a:p>
        </p:txBody>
      </p:sp>
      <p:sp>
        <p:nvSpPr>
          <p:cNvPr id="11" name="AutoShape 2" descr="라이트박스에 표시된 선택된 이미지">
            <a:extLst>
              <a:ext uri="{FF2B5EF4-FFF2-40B4-BE49-F238E27FC236}">
                <a16:creationId xmlns:a16="http://schemas.microsoft.com/office/drawing/2014/main" id="{8F178DAC-22D0-A3E5-4A8E-FF77AE523841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AA3F178F-15F2-9E0D-8A95-627E0C57E062}"/>
              </a:ext>
            </a:extLst>
          </p:cNvPr>
          <p:cNvSpPr txBox="1"/>
          <p:nvPr/>
        </p:nvSpPr>
        <p:spPr>
          <a:xfrm>
            <a:off x="561976" y="1687933"/>
            <a:ext cx="11372330" cy="29583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2015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년 논문 </a:t>
            </a:r>
            <a:r>
              <a:rPr lang="en-US" altLang="ko-KR" dirty="0" err="1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Long_Fully_Convolutional_Networks</a:t>
            </a:r>
            <a:r>
              <a:rPr lang="en-US" altLang="ko-KR" dirty="0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완전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합성곱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신경망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(FCN)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은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밀집층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(Dense Layer)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을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합성곱층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(Convolutional Layer)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으로 전환하여 이미지 크기에 제약을 받지 않고 한 번의 연산으로 고속 슬라이딩 윈도우 효과를 얻는 혁신적 기술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FCN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은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CNN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을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“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이미지 분류기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(Classifier)”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에서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“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픽셀 단위 분류기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Segmenter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)”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로 확장한 딥러닝 구조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이후 발표된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U-Net, 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SegNet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, 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DeepLab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등 다양한 모델이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FCN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의 개념을 확장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·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개선하여 응용분야는 의료 영상 분석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,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자율주행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,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위성 영상 등 다양한 응용 분야에서 핵심적인 기술적 기반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</a:t>
            </a:r>
            <a:r>
              <a:rPr lang="en-US" altLang="ko-KR" dirty="0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FCN_</a:t>
            </a:r>
            <a:r>
              <a:rPr lang="ko-KR" altLang="en-US" dirty="0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유튜브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)</a:t>
            </a: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59D38F7D-66DC-AD4C-5088-47140E3809A8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11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8904100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A5E3B9-1F2C-B55B-D98D-F18090414A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A8B3F0A2-DADD-97EE-4631-4CBC8A661780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Limitations of Convnet</a:t>
            </a: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C78E7852-1A5B-BDFD-E4F4-0E43FE52C76C}"/>
              </a:ext>
            </a:extLst>
          </p:cNvPr>
          <p:cNvSpPr txBox="1">
            <a:spLocks/>
          </p:cNvSpPr>
          <p:nvPr/>
        </p:nvSpPr>
        <p:spPr>
          <a:xfrm>
            <a:off x="11162487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12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sp>
        <p:nvSpPr>
          <p:cNvPr id="4" name="AutoShape 4" descr="Schematic diagram of a basic convolutional neural network (CNN) architecture [26].">
            <a:extLst>
              <a:ext uri="{FF2B5EF4-FFF2-40B4-BE49-F238E27FC236}">
                <a16:creationId xmlns:a16="http://schemas.microsoft.com/office/drawing/2014/main" id="{83AACBF8-E58D-A29D-6892-E9442394735E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37185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0BF771E-0E41-9C72-EC20-67C1B14D9987}"/>
              </a:ext>
            </a:extLst>
          </p:cNvPr>
          <p:cNvSpPr txBox="1"/>
          <p:nvPr/>
        </p:nvSpPr>
        <p:spPr>
          <a:xfrm>
            <a:off x="581025" y="1219961"/>
            <a:ext cx="11010900" cy="7931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600" b="0" i="0" dirty="0">
                <a:solidFill>
                  <a:srgbClr val="232323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LeNet, </a:t>
            </a:r>
            <a:r>
              <a:rPr lang="en-US" altLang="ko-KR" sz="1600" b="0" i="0" dirty="0" err="1">
                <a:solidFill>
                  <a:srgbClr val="232323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AlexNet</a:t>
            </a:r>
            <a:r>
              <a:rPr lang="en-US" altLang="ko-KR" sz="1600" b="0" i="0" dirty="0">
                <a:solidFill>
                  <a:srgbClr val="232323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b="0" i="0" dirty="0">
                <a:solidFill>
                  <a:srgbClr val="232323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및 그 후속 모델을 포함한 </a:t>
            </a:r>
            <a:r>
              <a:rPr lang="en-US" altLang="ko-KR" sz="1600" b="0" i="0" dirty="0">
                <a:solidFill>
                  <a:srgbClr val="232323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Convnet</a:t>
            </a:r>
            <a:r>
              <a:rPr lang="ko-KR" altLang="en-US" sz="1600" b="0" i="0" dirty="0">
                <a:solidFill>
                  <a:srgbClr val="232323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는 고정 크기의 입력을 받고 비공간적 출력을 생성하여</a:t>
            </a:r>
            <a:r>
              <a:rPr lang="en-US" altLang="ko-KR" sz="1600" b="0" i="0" dirty="0">
                <a:solidFill>
                  <a:srgbClr val="232323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b="0" i="0" dirty="0">
                <a:solidFill>
                  <a:srgbClr val="232323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네트워크의 완전 연결 층은 </a:t>
            </a:r>
            <a:r>
              <a:rPr lang="ko-KR" altLang="en-US" sz="1600" b="1" i="0" dirty="0">
                <a:solidFill>
                  <a:srgbClr val="232323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고정된 차원을 가지며 공간</a:t>
            </a:r>
            <a:r>
              <a:rPr lang="en-US" altLang="ko-KR" sz="1600" b="1" i="0" dirty="0">
                <a:solidFill>
                  <a:srgbClr val="232323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/</a:t>
            </a:r>
            <a:r>
              <a:rPr lang="ko-KR" altLang="en-US" sz="1600" b="1" i="0" dirty="0">
                <a:solidFill>
                  <a:srgbClr val="232323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위치 좌표를 잃어버리게 됨</a:t>
            </a:r>
            <a:endParaRPr lang="ko-KR" altLang="en-US" sz="1600" b="1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CD97055-9801-1A01-265F-DCF046CBCB20}"/>
              </a:ext>
            </a:extLst>
          </p:cNvPr>
          <p:cNvSpPr txBox="1"/>
          <p:nvPr/>
        </p:nvSpPr>
        <p:spPr>
          <a:xfrm>
            <a:off x="1214438" y="2325239"/>
            <a:ext cx="3228975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convolutional_neural_networks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2050" name="Picture 2" descr="A convnet">
            <a:extLst>
              <a:ext uri="{FF2B5EF4-FFF2-40B4-BE49-F238E27FC236}">
                <a16:creationId xmlns:a16="http://schemas.microsoft.com/office/drawing/2014/main" id="{05E7957A-0678-D069-C6E9-D5CA3F5D65A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14438" y="2663793"/>
            <a:ext cx="9085421" cy="306949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710EF117-77E5-74DD-17E9-2D541CFC1294}"/>
              </a:ext>
            </a:extLst>
          </p:cNvPr>
          <p:cNvSpPr txBox="1"/>
          <p:nvPr/>
        </p:nvSpPr>
        <p:spPr>
          <a:xfrm>
            <a:off x="1214438" y="5810362"/>
            <a:ext cx="60960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l">
              <a:buFont typeface="Wingdings" panose="05000000000000000000" pitchFamily="2" charset="2"/>
              <a:buChar char="§"/>
            </a:pPr>
            <a:r>
              <a:rPr lang="en-US" altLang="ko-KR" sz="1200" i="0" dirty="0">
                <a:solidFill>
                  <a:srgbClr val="22283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Convolution layers act as feature extractors.</a:t>
            </a:r>
          </a:p>
          <a:p>
            <a:pPr marL="285750" indent="-285750" algn="l">
              <a:buFont typeface="Wingdings" panose="05000000000000000000" pitchFamily="2" charset="2"/>
              <a:buChar char="§"/>
            </a:pPr>
            <a:r>
              <a:rPr lang="en-US" altLang="ko-KR" sz="1200" i="0" dirty="0">
                <a:solidFill>
                  <a:srgbClr val="22283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Dense layers use the extracted features to classify data.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A74631A0-84C1-65C1-0655-CAF11E386CDB}"/>
              </a:ext>
            </a:extLst>
          </p:cNvPr>
          <p:cNvSpPr/>
          <p:nvPr/>
        </p:nvSpPr>
        <p:spPr>
          <a:xfrm>
            <a:off x="7181850" y="2662022"/>
            <a:ext cx="1171575" cy="2681504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FF3A16B3-B25D-2D2A-08F7-03206592A964}"/>
              </a:ext>
            </a:extLst>
          </p:cNvPr>
          <p:cNvSpPr/>
          <p:nvPr/>
        </p:nvSpPr>
        <p:spPr>
          <a:xfrm>
            <a:off x="1095374" y="2662022"/>
            <a:ext cx="1323975" cy="2681503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8936764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CD36FC-9D02-38B8-2636-A32E3D8E19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>
            <a:extLst>
              <a:ext uri="{FF2B5EF4-FFF2-40B4-BE49-F238E27FC236}">
                <a16:creationId xmlns:a16="http://schemas.microsoft.com/office/drawing/2014/main" id="{F303CA1C-4B8A-4533-0523-27415E83E54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33549" y="2238374"/>
            <a:ext cx="8424433" cy="4029077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3" name="제목 1">
            <a:extLst>
              <a:ext uri="{FF2B5EF4-FFF2-40B4-BE49-F238E27FC236}">
                <a16:creationId xmlns:a16="http://schemas.microsoft.com/office/drawing/2014/main" id="{E5ED48E6-2D79-B4B6-F285-9313E6C66852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FCN overcomes the limitation of Convnet</a:t>
            </a: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79D33DDE-52FB-6D89-2844-9C4D54027451}"/>
              </a:ext>
            </a:extLst>
          </p:cNvPr>
          <p:cNvSpPr txBox="1">
            <a:spLocks/>
          </p:cNvSpPr>
          <p:nvPr/>
        </p:nvSpPr>
        <p:spPr>
          <a:xfrm>
            <a:off x="11162487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13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sp>
        <p:nvSpPr>
          <p:cNvPr id="4" name="AutoShape 4" descr="Schematic diagram of a basic convolutional neural network (CNN) architecture [26].">
            <a:extLst>
              <a:ext uri="{FF2B5EF4-FFF2-40B4-BE49-F238E27FC236}">
                <a16:creationId xmlns:a16="http://schemas.microsoft.com/office/drawing/2014/main" id="{061124A3-71A2-1023-BE8A-B2B6E4ECC053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581775" y="4010025"/>
            <a:ext cx="266649" cy="26664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62B83BD0-F520-35EE-A2D6-4C9B1F7F77DC}"/>
              </a:ext>
            </a:extLst>
          </p:cNvPr>
          <p:cNvSpPr/>
          <p:nvPr/>
        </p:nvSpPr>
        <p:spPr>
          <a:xfrm>
            <a:off x="6034541" y="2238374"/>
            <a:ext cx="4123441" cy="4029076"/>
          </a:xfrm>
          <a:prstGeom prst="rect">
            <a:avLst/>
          </a:prstGeom>
          <a:noFill/>
          <a:ln w="28575"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0A94CAC9-4A5D-06E0-1862-A224382A5A6A}"/>
              </a:ext>
            </a:extLst>
          </p:cNvPr>
          <p:cNvSpPr/>
          <p:nvPr/>
        </p:nvSpPr>
        <p:spPr>
          <a:xfrm>
            <a:off x="1733549" y="2238374"/>
            <a:ext cx="4123442" cy="4029077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7EDA78A-ECEE-8447-C074-4B277E1A6EF1}"/>
              </a:ext>
            </a:extLst>
          </p:cNvPr>
          <p:cNvSpPr txBox="1"/>
          <p:nvPr/>
        </p:nvSpPr>
        <p:spPr>
          <a:xfrm>
            <a:off x="561975" y="1219847"/>
            <a:ext cx="11087100" cy="7914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600" i="0" dirty="0">
                <a:solidFill>
                  <a:srgbClr val="232323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Convnet</a:t>
            </a:r>
            <a:r>
              <a:rPr lang="ko-KR" altLang="en-US" sz="1600" i="0" dirty="0">
                <a:solidFill>
                  <a:srgbClr val="232323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는 고정 크기의 입력을 받고 비공간적 출력을 생성하여</a:t>
            </a:r>
            <a:r>
              <a:rPr lang="en-US" altLang="ko-KR" sz="1600" i="0" dirty="0">
                <a:solidFill>
                  <a:srgbClr val="232323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i="0" dirty="0">
                <a:solidFill>
                  <a:srgbClr val="232323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네트워크의 완전 연결 층은 고정된 차원을 가지며 공간</a:t>
            </a:r>
            <a:r>
              <a:rPr lang="en-US" altLang="ko-KR" sz="1600" i="0" dirty="0">
                <a:solidFill>
                  <a:srgbClr val="232323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/</a:t>
            </a:r>
            <a:r>
              <a:rPr lang="ko-KR" altLang="en-US" sz="1600" i="0" dirty="0">
                <a:solidFill>
                  <a:srgbClr val="232323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위치 좌표를 잃어버리게 됨</a:t>
            </a:r>
            <a:endParaRPr lang="ko-KR" altLang="en-US" sz="1600" dirty="0"/>
          </a:p>
        </p:txBody>
      </p:sp>
    </p:spTree>
    <p:extLst>
      <p:ext uri="{BB962C8B-B14F-4D97-AF65-F5344CB8AC3E}">
        <p14:creationId xmlns:p14="http://schemas.microsoft.com/office/powerpoint/2010/main" val="238262776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6EAB7D-B27E-9334-4DBB-8EAE42AB64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E0B579A3-858F-ED6D-3438-F62A6F425B6F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b="1" cap="none" dirty="0"/>
              <a:t>Image Segmentation</a:t>
            </a:r>
          </a:p>
        </p:txBody>
      </p:sp>
      <p:sp>
        <p:nvSpPr>
          <p:cNvPr id="11" name="AutoShape 2" descr="라이트박스에 표시된 선택된 이미지">
            <a:extLst>
              <a:ext uri="{FF2B5EF4-FFF2-40B4-BE49-F238E27FC236}">
                <a16:creationId xmlns:a16="http://schemas.microsoft.com/office/drawing/2014/main" id="{6583F638-7692-FD83-49FC-74023AD4C519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AEA3A7D7-EC01-C9DA-55A2-2E94A26722B7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14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2052" name="Picture 4">
            <a:extLst>
              <a:ext uri="{FF2B5EF4-FFF2-40B4-BE49-F238E27FC236}">
                <a16:creationId xmlns:a16="http://schemas.microsoft.com/office/drawing/2014/main" id="{5E27426D-1C7D-66BC-6877-CF007AAAD4F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42950" y="2802931"/>
            <a:ext cx="6998526" cy="3345449"/>
          </a:xfrm>
          <a:prstGeom prst="rect">
            <a:avLst/>
          </a:prstGeom>
          <a:noFill/>
          <a:ln>
            <a:solidFill>
              <a:schemeClr val="tx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7A183BDA-69FB-75D0-D840-A344BC1E0CDD}"/>
              </a:ext>
            </a:extLst>
          </p:cNvPr>
          <p:cNvSpPr txBox="1"/>
          <p:nvPr/>
        </p:nvSpPr>
        <p:spPr>
          <a:xfrm>
            <a:off x="585932" y="1219847"/>
            <a:ext cx="11130423" cy="11624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한 장의 이미지에 여러 개의 도형이 있다면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Fully Connected(Dense)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레이어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한 개의 이미지만 구별하여 분류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를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합성곱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(Conv2D)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레이어로 대체하여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(64x64)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원본 이미지 내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4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개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사분면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도형 위치를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(9x9)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격자 지도로 분류하는 </a:t>
            </a:r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FCN(Fully Convolutional Network)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을 사용하여 이미지를 구분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(segmentation) 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14" name="그래픽 13" descr="수영">
            <a:extLst>
              <a:ext uri="{FF2B5EF4-FFF2-40B4-BE49-F238E27FC236}">
                <a16:creationId xmlns:a16="http://schemas.microsoft.com/office/drawing/2014/main" id="{122335B6-90EF-DA89-8E5F-14B29C7FBC9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643133" y="334022"/>
            <a:ext cx="914400" cy="914400"/>
          </a:xfrm>
          <a:prstGeom prst="rect">
            <a:avLst/>
          </a:prstGeom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03934D9A-72A2-BEDB-1A71-A9B93AC7DEAE}"/>
              </a:ext>
            </a:extLst>
          </p:cNvPr>
          <p:cNvSpPr txBox="1"/>
          <p:nvPr/>
        </p:nvSpPr>
        <p:spPr>
          <a:xfrm>
            <a:off x="8414282" y="2802931"/>
            <a:ext cx="3302073" cy="2123658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 marL="285750" indent="-285750">
              <a:buFont typeface="Wingdings" panose="05000000000000000000" pitchFamily="2" charset="2"/>
              <a:buChar char="v"/>
            </a:pP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일반</a:t>
            </a:r>
            <a:r>
              <a:rPr lang="ko-KR" altLang="en-US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CNN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이 이미지 전체를 하나의 클래스로 분류하는 거라면</a:t>
            </a:r>
            <a:r>
              <a:rPr lang="en-US" altLang="ko-KR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, </a:t>
            </a:r>
          </a:p>
          <a:p>
            <a:pPr marL="285750" indent="-285750">
              <a:buFont typeface="Wingdings" panose="05000000000000000000" pitchFamily="2" charset="2"/>
              <a:buChar char="v"/>
            </a:pPr>
            <a:endParaRPr lang="en-US" altLang="ko-KR" sz="1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pPr marL="285750" indent="-285750">
              <a:buFont typeface="Wingdings" panose="05000000000000000000" pitchFamily="2" charset="2"/>
              <a:buChar char="v"/>
            </a:pPr>
            <a:r>
              <a:rPr lang="en-US" altLang="ko-KR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FCN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은 각 픽셀마다 클래스를 예측하도록 만든 구조</a:t>
            </a:r>
            <a:endParaRPr lang="en-US" altLang="ko-KR" sz="1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pPr marL="285750" indent="-285750">
              <a:buFont typeface="Wingdings" panose="05000000000000000000" pitchFamily="2" charset="2"/>
              <a:buChar char="v"/>
            </a:pPr>
            <a:endParaRPr lang="en-US" altLang="ko-KR" sz="1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pPr marL="285750" indent="-285750">
              <a:buFont typeface="Wingdings" panose="05000000000000000000" pitchFamily="2" charset="2"/>
              <a:buChar char="v"/>
            </a:pPr>
            <a:r>
              <a:rPr lang="en-US" altLang="ko-KR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fully connected layer 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를 없애고 </a:t>
            </a:r>
            <a:r>
              <a:rPr lang="en-US" altLang="ko-KR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convolution 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만 사용해서</a:t>
            </a:r>
            <a:r>
              <a:rPr lang="en-US" altLang="ko-KR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입력 이미지 크기에 관계없이 동작</a:t>
            </a:r>
          </a:p>
        </p:txBody>
      </p:sp>
    </p:spTree>
    <p:extLst>
      <p:ext uri="{BB962C8B-B14F-4D97-AF65-F5344CB8AC3E}">
        <p14:creationId xmlns:p14="http://schemas.microsoft.com/office/powerpoint/2010/main" val="421505463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D5FB5F-5B3D-A32D-052A-8D50221D5C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EC1C53F9-1DCA-64E0-F05D-1AB467F4E958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b="1" cap="none" dirty="0"/>
              <a:t>Convnet Fails</a:t>
            </a:r>
          </a:p>
        </p:txBody>
      </p:sp>
      <p:sp>
        <p:nvSpPr>
          <p:cNvPr id="11" name="AutoShape 2" descr="라이트박스에 표시된 선택된 이미지">
            <a:extLst>
              <a:ext uri="{FF2B5EF4-FFF2-40B4-BE49-F238E27FC236}">
                <a16:creationId xmlns:a16="http://schemas.microsoft.com/office/drawing/2014/main" id="{E26E5A47-9B5B-7A82-B532-B5B245F4B88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EF4049D-52E7-A828-C76E-2153CAECB410}"/>
              </a:ext>
            </a:extLst>
          </p:cNvPr>
          <p:cNvSpPr txBox="1"/>
          <p:nvPr/>
        </p:nvSpPr>
        <p:spPr>
          <a:xfrm>
            <a:off x="628650" y="1325175"/>
            <a:ext cx="8486775" cy="5262979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def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build_traditional_cnn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():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# 원래 LeNet-5는 (32, 32, 1) 기준으로 가중치 모양이 고정됨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inputs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keras.Input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shape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=(64, 64, 1))  # 크기가 다른 (64, 64) 입력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# 특징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추출부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(LeNet-5 구조)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= layers.Conv2D(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filters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=6,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kernel_size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=5,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padding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="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valid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",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activation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="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")(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inputs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= layers.MaxPooling2D(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pool_size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=2,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strides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=2)(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= layers.Conv2D(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filters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=16,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kernel_size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=5,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padding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="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valid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",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activation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="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")(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= layers.MaxPooling2D(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pool_size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=2,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strides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=2)(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layers.Flatten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()(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     # ❌ 문제의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Flatten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단계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# 원래 (32,32) 입력이었다면 400개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노드여야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하지만, (64,64)라 2704개가 되어 들어옴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layers.Dense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(120,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activation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="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")(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 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layers.Dense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(84,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activation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="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")(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outputs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layers.Dense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(10,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activation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="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softmax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")(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return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keras.Model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inputs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inputs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outputs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outputs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cnn_model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build_traditional_cnn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()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#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가상의 (64, 64, 1) 이미지 1장 생성해서 통과 시도</a:t>
            </a:r>
          </a:p>
          <a:p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mock_input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tf.random.normal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([1, 64, 64, 1])</a:t>
            </a:r>
          </a:p>
          <a:p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prediction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cnn_model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mock_input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print(f"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👉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Traditional CNN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최종 출력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Matrix Formation (Shape): {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prediction.shape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}")</a:t>
            </a: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25E44F44-2228-7818-8854-A2E61A3E3C43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15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F7FAFA51-00A8-2056-D8FF-CBCD27BE1B58}"/>
              </a:ext>
            </a:extLst>
          </p:cNvPr>
          <p:cNvSpPr/>
          <p:nvPr/>
        </p:nvSpPr>
        <p:spPr>
          <a:xfrm>
            <a:off x="400050" y="3076575"/>
            <a:ext cx="8867256" cy="1323975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3FA6D80-3069-8A6F-224F-F03907FD6AD4}"/>
              </a:ext>
            </a:extLst>
          </p:cNvPr>
          <p:cNvSpPr txBox="1"/>
          <p:nvPr/>
        </p:nvSpPr>
        <p:spPr>
          <a:xfrm>
            <a:off x="9267306" y="3069937"/>
            <a:ext cx="2657475" cy="292388"/>
          </a:xfrm>
          <a:prstGeom prst="rect">
            <a:avLst/>
          </a:prstGeom>
          <a:solidFill>
            <a:srgbClr val="DD462F"/>
          </a:solidFill>
        </p:spPr>
        <p:txBody>
          <a:bodyPr wrap="square">
            <a:spAutoFit/>
          </a:bodyPr>
          <a:lstStyle/>
          <a:p>
            <a:r>
              <a:rPr lang="en-US" altLang="ko-KR" sz="1300" dirty="0">
                <a:solidFill>
                  <a:schemeClr val="bg1"/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Fully Connected(Dense) </a:t>
            </a:r>
            <a:r>
              <a:rPr lang="ko-KR" altLang="en-US" sz="1300" dirty="0">
                <a:solidFill>
                  <a:schemeClr val="bg1"/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레이어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28966D7-27A0-CAFB-2B17-46DD10345FBF}"/>
              </a:ext>
            </a:extLst>
          </p:cNvPr>
          <p:cNvSpPr txBox="1"/>
          <p:nvPr/>
        </p:nvSpPr>
        <p:spPr>
          <a:xfrm>
            <a:off x="9276831" y="3917632"/>
            <a:ext cx="2657475" cy="492443"/>
          </a:xfrm>
          <a:prstGeom prst="rect">
            <a:avLst/>
          </a:prstGeom>
          <a:solidFill>
            <a:srgbClr val="DD462F"/>
          </a:solidFill>
        </p:spPr>
        <p:txBody>
          <a:bodyPr wrap="square">
            <a:spAutoFit/>
          </a:bodyPr>
          <a:lstStyle/>
          <a:p>
            <a:r>
              <a:rPr lang="ko-KR" altLang="en-US" sz="1300" dirty="0">
                <a:solidFill>
                  <a:schemeClr val="bg1"/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공간정보를 모두 제거하고 이미지를 분류</a:t>
            </a:r>
            <a:r>
              <a:rPr lang="en-US" altLang="ko-KR" sz="1300" dirty="0">
                <a:solidFill>
                  <a:schemeClr val="bg1"/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(classification)</a:t>
            </a:r>
            <a:endParaRPr lang="ko-KR" altLang="en-US" sz="1300" dirty="0">
              <a:solidFill>
                <a:schemeClr val="bg1"/>
              </a:solidFill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5BAFCBD8-B7B2-1753-B700-0EC48B96251D}"/>
              </a:ext>
            </a:extLst>
          </p:cNvPr>
          <p:cNvSpPr/>
          <p:nvPr/>
        </p:nvSpPr>
        <p:spPr>
          <a:xfrm>
            <a:off x="400050" y="1538888"/>
            <a:ext cx="8867256" cy="292389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4769658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BBE693-3091-B325-C411-E43BD93B15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1F55654F-E98B-9D3E-A328-C8EC2E30DDE1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b="1" cap="none" dirty="0"/>
              <a:t>Convnet </a:t>
            </a:r>
            <a:r>
              <a:rPr lang="en-US" altLang="ko-KR" b="1" cap="none" dirty="0">
                <a:sym typeface="Wingdings" panose="05000000000000000000" pitchFamily="2" charset="2"/>
              </a:rPr>
              <a:t>Fails</a:t>
            </a:r>
            <a:endParaRPr lang="en-US" altLang="ko-KR" b="1" cap="none" dirty="0"/>
          </a:p>
        </p:txBody>
      </p:sp>
      <p:sp>
        <p:nvSpPr>
          <p:cNvPr id="11" name="AutoShape 2" descr="라이트박스에 표시된 선택된 이미지">
            <a:extLst>
              <a:ext uri="{FF2B5EF4-FFF2-40B4-BE49-F238E27FC236}">
                <a16:creationId xmlns:a16="http://schemas.microsoft.com/office/drawing/2014/main" id="{9D50F0EB-5CEF-1E67-E58B-637B1054BC3F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05500" y="3667125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5433696F-4C73-8636-CC93-30330B427660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16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1FFA907-C8AF-C701-6550-AB37A7848C48}"/>
              </a:ext>
            </a:extLst>
          </p:cNvPr>
          <p:cNvSpPr txBox="1"/>
          <p:nvPr/>
        </p:nvSpPr>
        <p:spPr>
          <a:xfrm>
            <a:off x="514350" y="1848456"/>
            <a:ext cx="6096000" cy="31547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575"/>
              </a:lnSpc>
              <a:buNone/>
            </a:pPr>
            <a:r>
              <a:rPr lang="en-US" altLang="ko-KR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cnn_model.summary</a:t>
            </a:r>
            <a:r>
              <a:rPr lang="en-US" altLang="ko-KR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()</a:t>
            </a:r>
          </a:p>
        </p:txBody>
      </p:sp>
      <p:pic>
        <p:nvPicPr>
          <p:cNvPr id="12" name="그림 11">
            <a:extLst>
              <a:ext uri="{FF2B5EF4-FFF2-40B4-BE49-F238E27FC236}">
                <a16:creationId xmlns:a16="http://schemas.microsoft.com/office/drawing/2014/main" id="{7038B90C-C3E9-2D98-4F9B-EB0F4FCA1EA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5522" y="2163927"/>
            <a:ext cx="4918978" cy="3335928"/>
          </a:xfrm>
          <a:prstGeom prst="rect">
            <a:avLst/>
          </a:prstGeom>
        </p:spPr>
      </p:pic>
      <p:graphicFrame>
        <p:nvGraphicFramePr>
          <p:cNvPr id="13" name="표 12">
            <a:extLst>
              <a:ext uri="{FF2B5EF4-FFF2-40B4-BE49-F238E27FC236}">
                <a16:creationId xmlns:a16="http://schemas.microsoft.com/office/drawing/2014/main" id="{81C04C79-4BD9-BEDC-C377-57AB5525036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9572656"/>
              </p:ext>
            </p:extLst>
          </p:nvPr>
        </p:nvGraphicFramePr>
        <p:xfrm>
          <a:off x="5615672" y="2163927"/>
          <a:ext cx="6232667" cy="3317868"/>
        </p:xfrm>
        <a:graphic>
          <a:graphicData uri="http://schemas.openxmlformats.org/drawingml/2006/table">
            <a:tbl>
              <a:tblPr>
                <a:tableStyleId>{08FB837D-C827-4EFA-A057-4D05807E0F7C}</a:tableStyleId>
              </a:tblPr>
              <a:tblGrid>
                <a:gridCol w="1114935">
                  <a:extLst>
                    <a:ext uri="{9D8B030D-6E8A-4147-A177-3AD203B41FA5}">
                      <a16:colId xmlns:a16="http://schemas.microsoft.com/office/drawing/2014/main" val="2755321600"/>
                    </a:ext>
                  </a:extLst>
                </a:gridCol>
                <a:gridCol w="596975">
                  <a:extLst>
                    <a:ext uri="{9D8B030D-6E8A-4147-A177-3AD203B41FA5}">
                      <a16:colId xmlns:a16="http://schemas.microsoft.com/office/drawing/2014/main" val="2295146599"/>
                    </a:ext>
                  </a:extLst>
                </a:gridCol>
                <a:gridCol w="634327">
                  <a:extLst>
                    <a:ext uri="{9D8B030D-6E8A-4147-A177-3AD203B41FA5}">
                      <a16:colId xmlns:a16="http://schemas.microsoft.com/office/drawing/2014/main" val="2307758495"/>
                    </a:ext>
                  </a:extLst>
                </a:gridCol>
                <a:gridCol w="314542">
                  <a:extLst>
                    <a:ext uri="{9D8B030D-6E8A-4147-A177-3AD203B41FA5}">
                      <a16:colId xmlns:a16="http://schemas.microsoft.com/office/drawing/2014/main" val="2917777080"/>
                    </a:ext>
                  </a:extLst>
                </a:gridCol>
                <a:gridCol w="2688729">
                  <a:extLst>
                    <a:ext uri="{9D8B030D-6E8A-4147-A177-3AD203B41FA5}">
                      <a16:colId xmlns:a16="http://schemas.microsoft.com/office/drawing/2014/main" val="2995285287"/>
                    </a:ext>
                  </a:extLst>
                </a:gridCol>
                <a:gridCol w="883159">
                  <a:extLst>
                    <a:ext uri="{9D8B030D-6E8A-4147-A177-3AD203B41FA5}">
                      <a16:colId xmlns:a16="http://schemas.microsoft.com/office/drawing/2014/main" val="2306271437"/>
                    </a:ext>
                  </a:extLst>
                </a:gridCol>
              </a:tblGrid>
              <a:tr h="315043">
                <a:tc>
                  <a:txBody>
                    <a:bodyPr/>
                    <a:lstStyle/>
                    <a:p>
                      <a:pPr marL="0" algn="ctr" defTabSz="914400" rtl="0" eaLnBrk="1" fontAlgn="b" latinLnBrk="1" hangingPunct="1">
                        <a:buNone/>
                      </a:pPr>
                      <a:r>
                        <a:rPr lang="ko-KR" altLang="en-US" sz="1000" kern="1200" dirty="0">
                          <a:solidFill>
                            <a:schemeClr val="bg1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레이어 </a:t>
                      </a:r>
                      <a:r>
                        <a:rPr lang="en-US" altLang="ko-KR" sz="1000" kern="1200" dirty="0">
                          <a:solidFill>
                            <a:schemeClr val="bg1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</a:t>
                      </a:r>
                      <a:r>
                        <a:rPr lang="en-US" sz="1000" kern="1200" dirty="0">
                          <a:solidFill>
                            <a:schemeClr val="bg1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Layer)</a:t>
                      </a:r>
                      <a:endParaRPr lang="en-US" sz="1000" kern="1200" dirty="0">
                        <a:solidFill>
                          <a:schemeClr val="bg1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  <a:cs typeface="+mn-cs"/>
                      </a:endParaRPr>
                    </a:p>
                  </a:txBody>
                  <a:tcPr marL="12228" marR="12228" marT="8152" marB="8152" anchor="b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1" hangingPunct="1">
                        <a:buNone/>
                      </a:pPr>
                      <a:r>
                        <a:rPr lang="ko-KR" altLang="en-US" sz="1000" kern="1200" dirty="0">
                          <a:solidFill>
                            <a:schemeClr val="bg1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입력 채널</a:t>
                      </a:r>
                      <a:endParaRPr lang="ko-KR" altLang="en-US" sz="1000" kern="1200" dirty="0">
                        <a:solidFill>
                          <a:schemeClr val="bg1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  <a:cs typeface="+mn-cs"/>
                      </a:endParaRPr>
                    </a:p>
                  </a:txBody>
                  <a:tcPr marL="12228" marR="12228" marT="8152" marB="8152" anchor="b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1" hangingPunct="1">
                        <a:buNone/>
                      </a:pPr>
                      <a:r>
                        <a:rPr lang="ko-KR" altLang="en-US" sz="1000" kern="1200" dirty="0">
                          <a:solidFill>
                            <a:schemeClr val="bg1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커널 크기</a:t>
                      </a:r>
                      <a:endParaRPr lang="ko-KR" altLang="en-US" sz="1000" kern="1200" dirty="0">
                        <a:solidFill>
                          <a:schemeClr val="bg1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  <a:cs typeface="+mn-cs"/>
                      </a:endParaRPr>
                    </a:p>
                  </a:txBody>
                  <a:tcPr marL="12228" marR="12228" marT="8152" marB="8152" anchor="b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1" hangingPunct="1">
                        <a:buNone/>
                      </a:pPr>
                      <a:r>
                        <a:rPr lang="ko-KR" altLang="en-US" sz="1000" kern="1200" dirty="0">
                          <a:solidFill>
                            <a:schemeClr val="bg1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필터 </a:t>
                      </a:r>
                      <a:endParaRPr lang="ko-KR" altLang="en-US" sz="1000" kern="1200" dirty="0">
                        <a:solidFill>
                          <a:schemeClr val="bg1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  <a:cs typeface="+mn-cs"/>
                      </a:endParaRPr>
                    </a:p>
                  </a:txBody>
                  <a:tcPr marL="12228" marR="12228" marT="8152" marB="8152" anchor="b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1" hangingPunct="1">
                        <a:buNone/>
                      </a:pPr>
                      <a:r>
                        <a:rPr lang="ko-KR" altLang="en-US" sz="1000" kern="1200" dirty="0">
                          <a:solidFill>
                            <a:schemeClr val="bg1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상세 계산 수식</a:t>
                      </a:r>
                      <a:endParaRPr lang="ko-KR" altLang="en-US" sz="1000" kern="1200" dirty="0">
                        <a:solidFill>
                          <a:schemeClr val="bg1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  <a:cs typeface="+mn-cs"/>
                      </a:endParaRPr>
                    </a:p>
                  </a:txBody>
                  <a:tcPr marL="12228" marR="12228" marT="8152" marB="8152" anchor="b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1" hangingPunct="1">
                        <a:buNone/>
                      </a:pPr>
                      <a:r>
                        <a:rPr lang="ko-KR" altLang="en-US" sz="1000" kern="1200" dirty="0">
                          <a:solidFill>
                            <a:schemeClr val="bg1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파라미터 개수</a:t>
                      </a:r>
                      <a:endParaRPr lang="ko-KR" altLang="en-US" sz="1000" kern="1200" dirty="0">
                        <a:solidFill>
                          <a:schemeClr val="bg1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  <a:cs typeface="+mn-cs"/>
                      </a:endParaRPr>
                    </a:p>
                  </a:txBody>
                  <a:tcPr marL="0" marR="0" marT="8152" marB="8152" anchor="b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39356482"/>
                  </a:ext>
                </a:extLst>
              </a:tr>
              <a:tr h="277649"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en-US" sz="1000" dirty="0">
                          <a:solidFill>
                            <a:schemeClr val="bg1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 </a:t>
                      </a:r>
                      <a:r>
                        <a:rPr lang="en-US" sz="1000" dirty="0" err="1">
                          <a:solidFill>
                            <a:schemeClr val="bg1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Input_layer</a:t>
                      </a:r>
                      <a:endParaRPr lang="en-US" sz="1000" dirty="0">
                        <a:solidFill>
                          <a:schemeClr val="bg1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12228" marR="12228" marT="8152" marB="8152" anchor="b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endParaRPr lang="en-US" altLang="ko-KR" sz="1000" dirty="0">
                        <a:solidFill>
                          <a:schemeClr val="bg1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12228" marR="12228" marT="8152" marB="8152" anchor="b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endParaRPr lang="en-US" altLang="ko-KR" sz="1000" dirty="0">
                        <a:solidFill>
                          <a:schemeClr val="bg1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12228" marR="12228" marT="8152" marB="8152" anchor="b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endParaRPr lang="en-US" altLang="ko-KR" sz="1000" dirty="0">
                        <a:solidFill>
                          <a:schemeClr val="bg1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12228" marR="12228" marT="8152" marB="8152" anchor="b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endParaRPr lang="en-US" altLang="ko-KR" sz="1000" dirty="0">
                        <a:solidFill>
                          <a:schemeClr val="bg1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12228" marR="12228" marT="8152" marB="8152" anchor="b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endParaRPr lang="en-US" altLang="ko-KR" sz="1000" dirty="0">
                        <a:solidFill>
                          <a:schemeClr val="bg1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12228" marR="12228" marT="8152" marB="8152" anchor="b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69683759"/>
                  </a:ext>
                </a:extLst>
              </a:tr>
              <a:tr h="277649"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en-US" sz="1000" dirty="0">
                          <a:solidFill>
                            <a:schemeClr val="bg1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 Conv2D</a:t>
                      </a:r>
                    </a:p>
                  </a:txBody>
                  <a:tcPr marL="12228" marR="12228" marT="8152" marB="8152" anchor="b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000" dirty="0">
                          <a:solidFill>
                            <a:schemeClr val="bg1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</a:t>
                      </a:r>
                    </a:p>
                  </a:txBody>
                  <a:tcPr marL="12228" marR="12228" marT="8152" marB="8152" anchor="b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000" dirty="0">
                          <a:solidFill>
                            <a:schemeClr val="bg1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5×5</a:t>
                      </a:r>
                    </a:p>
                  </a:txBody>
                  <a:tcPr marL="12228" marR="12228" marT="8152" marB="8152" anchor="b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000" dirty="0">
                          <a:solidFill>
                            <a:schemeClr val="bg1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6</a:t>
                      </a:r>
                    </a:p>
                  </a:txBody>
                  <a:tcPr marL="12228" marR="12228" marT="8152" marB="8152" anchor="b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000" dirty="0">
                          <a:solidFill>
                            <a:schemeClr val="bg1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{(5×5×1) + 1} × 6 = (25 + 1) × 6 = 26 × 6</a:t>
                      </a:r>
                    </a:p>
                  </a:txBody>
                  <a:tcPr marL="12228" marR="12228" marT="8152" marB="8152" anchor="b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000" dirty="0">
                          <a:solidFill>
                            <a:schemeClr val="bg1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156</a:t>
                      </a:r>
                    </a:p>
                  </a:txBody>
                  <a:tcPr marL="12228" marR="12228" marT="8152" marB="8152" anchor="b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89136435"/>
                  </a:ext>
                </a:extLst>
              </a:tr>
              <a:tr h="277649"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en-US" sz="1000" dirty="0">
                          <a:solidFill>
                            <a:schemeClr val="bg1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 MaxPooling2D</a:t>
                      </a:r>
                    </a:p>
                  </a:txBody>
                  <a:tcPr marL="12228" marR="12228" marT="8152" marB="8152" anchor="b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000" dirty="0">
                          <a:solidFill>
                            <a:schemeClr val="bg1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6</a:t>
                      </a:r>
                    </a:p>
                  </a:txBody>
                  <a:tcPr marL="12228" marR="12228" marT="8152" marB="8152" anchor="b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000">
                          <a:solidFill>
                            <a:schemeClr val="bg1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-</a:t>
                      </a:r>
                    </a:p>
                  </a:txBody>
                  <a:tcPr marL="12228" marR="12228" marT="8152" marB="8152" anchor="b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000">
                          <a:solidFill>
                            <a:schemeClr val="bg1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-</a:t>
                      </a:r>
                    </a:p>
                  </a:txBody>
                  <a:tcPr marL="12228" marR="12228" marT="8152" marB="8152" anchor="b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000" dirty="0">
                          <a:solidFill>
                            <a:schemeClr val="bg1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(2 x 2) </a:t>
                      </a:r>
                      <a:r>
                        <a:rPr lang="en-US" altLang="ko-KR" sz="1000" dirty="0" err="1">
                          <a:solidFill>
                            <a:schemeClr val="bg1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max_pooling</a:t>
                      </a:r>
                      <a:r>
                        <a:rPr lang="ko-KR" altLang="en-US" sz="1000" dirty="0">
                          <a:solidFill>
                            <a:schemeClr val="bg1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 학습 가중치 없음</a:t>
                      </a:r>
                    </a:p>
                  </a:txBody>
                  <a:tcPr marL="12228" marR="12228" marT="8152" marB="8152" anchor="b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000">
                          <a:solidFill>
                            <a:schemeClr val="bg1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0</a:t>
                      </a:r>
                    </a:p>
                  </a:txBody>
                  <a:tcPr marL="12228" marR="12228" marT="8152" marB="8152" anchor="b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22478283"/>
                  </a:ext>
                </a:extLst>
              </a:tr>
              <a:tr h="277649"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en-US" sz="1000" dirty="0">
                          <a:solidFill>
                            <a:schemeClr val="bg1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 Conv2D_1</a:t>
                      </a:r>
                    </a:p>
                  </a:txBody>
                  <a:tcPr marL="12228" marR="12228" marT="8152" marB="8152" anchor="b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000" dirty="0">
                          <a:solidFill>
                            <a:schemeClr val="bg1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6</a:t>
                      </a:r>
                    </a:p>
                  </a:txBody>
                  <a:tcPr marL="12228" marR="12228" marT="8152" marB="8152" anchor="b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000" dirty="0">
                          <a:solidFill>
                            <a:schemeClr val="bg1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5×5</a:t>
                      </a:r>
                    </a:p>
                  </a:txBody>
                  <a:tcPr marL="12228" marR="12228" marT="8152" marB="8152" anchor="b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000" dirty="0">
                          <a:solidFill>
                            <a:schemeClr val="bg1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16</a:t>
                      </a:r>
                    </a:p>
                  </a:txBody>
                  <a:tcPr marL="12228" marR="12228" marT="8152" marB="8152" anchor="b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000" dirty="0">
                          <a:solidFill>
                            <a:schemeClr val="bg1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{(5×5×6) + 1} × 16 = (150+1) × 16=151×16</a:t>
                      </a:r>
                    </a:p>
                  </a:txBody>
                  <a:tcPr marL="12228" marR="12228" marT="8152" marB="8152" anchor="b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000">
                          <a:solidFill>
                            <a:schemeClr val="bg1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2,416</a:t>
                      </a:r>
                    </a:p>
                  </a:txBody>
                  <a:tcPr marL="12228" marR="12228" marT="8152" marB="8152" anchor="b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27524334"/>
                  </a:ext>
                </a:extLst>
              </a:tr>
              <a:tr h="277649"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en-US" sz="1000" dirty="0">
                          <a:solidFill>
                            <a:schemeClr val="bg1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 MaxPooling2D_1</a:t>
                      </a:r>
                    </a:p>
                  </a:txBody>
                  <a:tcPr marL="12228" marR="12228" marT="8152" marB="8152" anchor="b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000" dirty="0">
                          <a:solidFill>
                            <a:schemeClr val="bg1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16</a:t>
                      </a:r>
                    </a:p>
                  </a:txBody>
                  <a:tcPr marL="12228" marR="12228" marT="8152" marB="8152" anchor="b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000" dirty="0">
                          <a:solidFill>
                            <a:schemeClr val="bg1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-</a:t>
                      </a:r>
                    </a:p>
                  </a:txBody>
                  <a:tcPr marL="12228" marR="12228" marT="8152" marB="8152" anchor="b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000" dirty="0">
                          <a:solidFill>
                            <a:schemeClr val="bg1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-</a:t>
                      </a:r>
                    </a:p>
                  </a:txBody>
                  <a:tcPr marL="12228" marR="12228" marT="8152" marB="8152" anchor="b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000" dirty="0">
                          <a:solidFill>
                            <a:schemeClr val="bg1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(2 x 2) </a:t>
                      </a:r>
                      <a:r>
                        <a:rPr lang="en-US" altLang="ko-KR" sz="1000" dirty="0" err="1">
                          <a:solidFill>
                            <a:schemeClr val="bg1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max_pooling</a:t>
                      </a:r>
                      <a:r>
                        <a:rPr lang="en-US" altLang="ko-KR" sz="1000" dirty="0">
                          <a:solidFill>
                            <a:schemeClr val="bg1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 </a:t>
                      </a:r>
                      <a:r>
                        <a:rPr lang="ko-KR" altLang="en-US" sz="1000" dirty="0">
                          <a:solidFill>
                            <a:schemeClr val="bg1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학습 가중치 없음</a:t>
                      </a:r>
                    </a:p>
                  </a:txBody>
                  <a:tcPr marL="12228" marR="12228" marT="8152" marB="8152" anchor="b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000" dirty="0">
                          <a:solidFill>
                            <a:schemeClr val="bg1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0</a:t>
                      </a:r>
                    </a:p>
                  </a:txBody>
                  <a:tcPr marL="12228" marR="12228" marT="8152" marB="8152" anchor="b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18839275"/>
                  </a:ext>
                </a:extLst>
              </a:tr>
              <a:tr h="277649"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en-US" sz="1000" dirty="0">
                          <a:solidFill>
                            <a:schemeClr val="bg1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 Flatten</a:t>
                      </a:r>
                    </a:p>
                  </a:txBody>
                  <a:tcPr marL="12228" marR="12228" marT="8152" marB="8152" anchor="b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000">
                          <a:solidFill>
                            <a:schemeClr val="bg1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-</a:t>
                      </a:r>
                    </a:p>
                  </a:txBody>
                  <a:tcPr marL="12228" marR="12228" marT="8152" marB="8152" anchor="b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000" dirty="0">
                          <a:solidFill>
                            <a:schemeClr val="bg1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-</a:t>
                      </a:r>
                    </a:p>
                  </a:txBody>
                  <a:tcPr marL="12228" marR="12228" marT="8152" marB="8152" anchor="b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000" dirty="0">
                          <a:solidFill>
                            <a:schemeClr val="bg1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-</a:t>
                      </a:r>
                    </a:p>
                  </a:txBody>
                  <a:tcPr marL="12228" marR="12228" marT="8152" marB="8152" anchor="b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000" dirty="0">
                          <a:solidFill>
                            <a:schemeClr val="bg1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 2,704</a:t>
                      </a:r>
                      <a:r>
                        <a:rPr lang="ko-KR" altLang="en-US" sz="1000" dirty="0">
                          <a:solidFill>
                            <a:schemeClr val="bg1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개</a:t>
                      </a:r>
                      <a:r>
                        <a:rPr lang="en-US" altLang="ko-KR" sz="1000" dirty="0">
                          <a:solidFill>
                            <a:schemeClr val="bg1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= 13x13x16 (</a:t>
                      </a:r>
                      <a:r>
                        <a:rPr lang="ko-KR" altLang="en-US" sz="1000" dirty="0">
                          <a:solidFill>
                            <a:schemeClr val="bg1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학습 가중치 없음</a:t>
                      </a:r>
                      <a:r>
                        <a:rPr lang="en-US" altLang="ko-KR" sz="1000" dirty="0">
                          <a:solidFill>
                            <a:schemeClr val="bg1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)</a:t>
                      </a:r>
                    </a:p>
                  </a:txBody>
                  <a:tcPr marL="12228" marR="12228" marT="8152" marB="8152" anchor="b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000">
                          <a:solidFill>
                            <a:schemeClr val="bg1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0</a:t>
                      </a:r>
                    </a:p>
                  </a:txBody>
                  <a:tcPr marL="12228" marR="12228" marT="8152" marB="8152" anchor="b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68461832"/>
                  </a:ext>
                </a:extLst>
              </a:tr>
              <a:tr h="277649"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en-US" sz="1000" dirty="0">
                          <a:solidFill>
                            <a:schemeClr val="bg1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 Dense</a:t>
                      </a:r>
                    </a:p>
                  </a:txBody>
                  <a:tcPr marL="12228" marR="12228" marT="8152" marB="8152" anchor="b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000" dirty="0">
                          <a:solidFill>
                            <a:schemeClr val="bg1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2,704</a:t>
                      </a:r>
                    </a:p>
                  </a:txBody>
                  <a:tcPr marL="12228" marR="12228" marT="8152" marB="8152" anchor="b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000" dirty="0">
                          <a:solidFill>
                            <a:schemeClr val="bg1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-</a:t>
                      </a:r>
                    </a:p>
                  </a:txBody>
                  <a:tcPr marL="12228" marR="12228" marT="8152" marB="8152" anchor="b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000" dirty="0">
                          <a:solidFill>
                            <a:schemeClr val="bg1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120</a:t>
                      </a:r>
                    </a:p>
                  </a:txBody>
                  <a:tcPr marL="12228" marR="12228" marT="8152" marB="8152" anchor="b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000" dirty="0">
                          <a:solidFill>
                            <a:schemeClr val="bg1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(2,704 × 120) + 120</a:t>
                      </a:r>
                    </a:p>
                  </a:txBody>
                  <a:tcPr marL="12228" marR="12228" marT="8152" marB="8152" anchor="b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000">
                          <a:solidFill>
                            <a:schemeClr val="bg1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324,600</a:t>
                      </a:r>
                    </a:p>
                  </a:txBody>
                  <a:tcPr marL="12228" marR="12228" marT="8152" marB="8152" anchor="b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6647530"/>
                  </a:ext>
                </a:extLst>
              </a:tr>
              <a:tr h="277649"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en-US" sz="1000" dirty="0">
                          <a:solidFill>
                            <a:schemeClr val="bg1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 Dense_1</a:t>
                      </a:r>
                    </a:p>
                  </a:txBody>
                  <a:tcPr marL="12228" marR="12228" marT="8152" marB="8152" anchor="b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000" dirty="0">
                          <a:solidFill>
                            <a:schemeClr val="bg1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120</a:t>
                      </a:r>
                    </a:p>
                  </a:txBody>
                  <a:tcPr marL="12228" marR="12228" marT="8152" marB="8152" anchor="b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000" dirty="0">
                          <a:solidFill>
                            <a:schemeClr val="bg1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-</a:t>
                      </a:r>
                    </a:p>
                  </a:txBody>
                  <a:tcPr marL="12228" marR="12228" marT="8152" marB="8152" anchor="b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000" dirty="0">
                          <a:solidFill>
                            <a:schemeClr val="bg1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84</a:t>
                      </a:r>
                    </a:p>
                  </a:txBody>
                  <a:tcPr marL="12228" marR="12228" marT="8152" marB="8152" anchor="b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000" dirty="0">
                          <a:solidFill>
                            <a:schemeClr val="bg1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(120 x 84) + 84</a:t>
                      </a:r>
                    </a:p>
                  </a:txBody>
                  <a:tcPr marL="12228" marR="12228" marT="8152" marB="8152" anchor="b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000">
                          <a:solidFill>
                            <a:schemeClr val="bg1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10,164</a:t>
                      </a:r>
                    </a:p>
                  </a:txBody>
                  <a:tcPr marL="12228" marR="12228" marT="8152" marB="8152" anchor="b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52859773"/>
                  </a:ext>
                </a:extLst>
              </a:tr>
              <a:tr h="277649"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en-US" sz="1000" dirty="0">
                          <a:solidFill>
                            <a:schemeClr val="bg1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 Dense_2 (</a:t>
                      </a:r>
                      <a:r>
                        <a:rPr lang="ko-KR" altLang="en-US" sz="1000" dirty="0" err="1">
                          <a:solidFill>
                            <a:schemeClr val="bg1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출력층</a:t>
                      </a:r>
                      <a:r>
                        <a:rPr lang="en-US" altLang="ko-KR" sz="1000" dirty="0">
                          <a:solidFill>
                            <a:schemeClr val="bg1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)</a:t>
                      </a:r>
                    </a:p>
                  </a:txBody>
                  <a:tcPr marL="12228" marR="12228" marT="8152" marB="8152" anchor="b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000" dirty="0">
                          <a:solidFill>
                            <a:schemeClr val="bg1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84</a:t>
                      </a:r>
                    </a:p>
                  </a:txBody>
                  <a:tcPr marL="12228" marR="12228" marT="8152" marB="8152" anchor="b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000" dirty="0">
                          <a:solidFill>
                            <a:schemeClr val="bg1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-</a:t>
                      </a:r>
                    </a:p>
                  </a:txBody>
                  <a:tcPr marL="12228" marR="12228" marT="8152" marB="8152" anchor="b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000" dirty="0">
                          <a:solidFill>
                            <a:schemeClr val="bg1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10</a:t>
                      </a:r>
                    </a:p>
                  </a:txBody>
                  <a:tcPr marL="12228" marR="12228" marT="8152" marB="8152" anchor="b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000" dirty="0">
                          <a:solidFill>
                            <a:schemeClr val="bg1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(84 × 10) + 10</a:t>
                      </a:r>
                    </a:p>
                  </a:txBody>
                  <a:tcPr marL="12228" marR="12228" marT="8152" marB="8152" anchor="b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000">
                          <a:solidFill>
                            <a:schemeClr val="bg1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850</a:t>
                      </a:r>
                    </a:p>
                  </a:txBody>
                  <a:tcPr marL="12228" marR="12228" marT="8152" marB="8152" anchor="b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5712732"/>
                  </a:ext>
                </a:extLst>
              </a:tr>
              <a:tr h="364434"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endParaRPr lang="en-US" altLang="ko-KR" sz="1000" dirty="0">
                        <a:solidFill>
                          <a:schemeClr val="bg1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  <a:p>
                      <a:pPr rtl="0" fontAlgn="b">
                        <a:buNone/>
                      </a:pPr>
                      <a:endParaRPr lang="en-US" altLang="ko-KR" sz="1200" dirty="0">
                        <a:solidFill>
                          <a:schemeClr val="bg1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  <a:p>
                      <a:pPr rtl="0" fontAlgn="b">
                        <a:buNone/>
                      </a:pPr>
                      <a:r>
                        <a:rPr lang="ko-KR" altLang="en-US" sz="1000" dirty="0">
                          <a:solidFill>
                            <a:schemeClr val="bg1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 총계 </a:t>
                      </a:r>
                      <a:r>
                        <a:rPr lang="en-US" altLang="ko-KR" sz="1000" dirty="0">
                          <a:solidFill>
                            <a:schemeClr val="bg1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</a:t>
                      </a:r>
                      <a:r>
                        <a:rPr lang="en-US" sz="1000" dirty="0">
                          <a:solidFill>
                            <a:schemeClr val="bg1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Total)</a:t>
                      </a:r>
                    </a:p>
                  </a:txBody>
                  <a:tcPr marL="12228" marR="12228" marT="8152" marB="8152" anchor="b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000" dirty="0">
                          <a:solidFill>
                            <a:schemeClr val="bg1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-</a:t>
                      </a:r>
                    </a:p>
                  </a:txBody>
                  <a:tcPr marL="12228" marR="12228" marT="8152" marB="8152" anchor="b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000" dirty="0">
                          <a:solidFill>
                            <a:schemeClr val="bg1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-</a:t>
                      </a:r>
                    </a:p>
                  </a:txBody>
                  <a:tcPr marL="12228" marR="12228" marT="8152" marB="8152" anchor="b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000" dirty="0">
                          <a:solidFill>
                            <a:schemeClr val="bg1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-</a:t>
                      </a:r>
                    </a:p>
                  </a:txBody>
                  <a:tcPr marL="12228" marR="12228" marT="8152" marB="8152" anchor="b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000" dirty="0">
                          <a:solidFill>
                            <a:schemeClr val="bg1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156+2,416+324,600+10,164+850</a:t>
                      </a:r>
                    </a:p>
                  </a:txBody>
                  <a:tcPr marL="12228" marR="12228" marT="8152" marB="8152" anchor="b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000" dirty="0">
                          <a:solidFill>
                            <a:schemeClr val="bg1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338,186</a:t>
                      </a:r>
                    </a:p>
                  </a:txBody>
                  <a:tcPr marL="12228" marR="12228" marT="8152" marB="8152" anchor="b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25065565"/>
                  </a:ext>
                </a:extLst>
              </a:tr>
            </a:tbl>
          </a:graphicData>
        </a:graphic>
      </p:graphicFrame>
      <p:sp>
        <p:nvSpPr>
          <p:cNvPr id="4" name="직사각형 3">
            <a:extLst>
              <a:ext uri="{FF2B5EF4-FFF2-40B4-BE49-F238E27FC236}">
                <a16:creationId xmlns:a16="http://schemas.microsoft.com/office/drawing/2014/main" id="{E451B018-C59C-99E4-7B52-D2012F5C2DE8}"/>
              </a:ext>
            </a:extLst>
          </p:cNvPr>
          <p:cNvSpPr/>
          <p:nvPr/>
        </p:nvSpPr>
        <p:spPr>
          <a:xfrm>
            <a:off x="5614426" y="3870960"/>
            <a:ext cx="6232667" cy="108966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8721688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AEEC00-2CE5-3A47-71C2-446F304CD1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5994C095-FA13-5B37-3A73-7D9219AC29D0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b="1" cap="none" dirty="0"/>
              <a:t>FCN(Fully Convolutional Network)</a:t>
            </a:r>
          </a:p>
        </p:txBody>
      </p:sp>
      <p:sp>
        <p:nvSpPr>
          <p:cNvPr id="11" name="AutoShape 2" descr="라이트박스에 표시된 선택된 이미지">
            <a:extLst>
              <a:ext uri="{FF2B5EF4-FFF2-40B4-BE49-F238E27FC236}">
                <a16:creationId xmlns:a16="http://schemas.microsoft.com/office/drawing/2014/main" id="{285DBDB0-F214-75E6-61AB-2A7FC38CDD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30290B9-2470-CEB5-D79C-DCB3E7CE4019}"/>
              </a:ext>
            </a:extLst>
          </p:cNvPr>
          <p:cNvSpPr txBox="1"/>
          <p:nvPr/>
        </p:nvSpPr>
        <p:spPr>
          <a:xfrm>
            <a:off x="628650" y="1325175"/>
            <a:ext cx="8648700" cy="5262979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def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build_fcn_model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():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inputs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keras.Input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(shape=(64, 64, 1))  #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동일한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(64, 64)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입력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특징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추출부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(LeNet-5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구조 그대로 유지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x = layers.Conv2D(filters=6,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kernel_size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=5, padding="valid", activation="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")(inputs)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x = layers.MaxPooling2D(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pool_size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=2, strides=2)(x)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x = layers.Conv2D(filters=16,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kernel_size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=5, padding="valid", activation="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")(x)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x = layers.MaxPooling2D(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pool_size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=2, strides=2)(x)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</a:p>
          <a:p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#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⭕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[FCN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핵심 변환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]: Dense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층들을 전부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Conv2D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로 대체합니다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.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#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원래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(32,32)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입력 시 이 자리의 특성 맵 크기가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5x5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였으므로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kernel_size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=5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로 지정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x = layers.Conv2D(filters=120,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kernel_size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=5, padding="valid", activation="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")(x)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#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이후의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Dense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층들은 가로세로가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1x1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인 상태이므로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kernel_size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=1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필터로 대체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x = layers.Conv2D(filters=84,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kernel_size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=1, activation="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")(x)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outputs = layers.Conv2D(filters=10,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kernel_size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=1, activation="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softmax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")(x)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return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keras.Model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(inputs=inputs, outputs=outputs)</a:t>
            </a:r>
          </a:p>
          <a:p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# FCN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테스트 실행</a:t>
            </a:r>
          </a:p>
          <a:p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fcn_model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build_fcn_model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()</a:t>
            </a:r>
          </a:p>
          <a:p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mock_input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tf.random.normal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([1, 64, 64, 1])</a:t>
            </a:r>
          </a:p>
          <a:p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fcn_prediction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fcn_model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mock_input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print(f"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👉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FCN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최종 출력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Matrix Formation (Shape): {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fcn_prediction.shape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}")</a:t>
            </a: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57308D83-8009-1CC0-0425-B41C43367DE9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17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9DF99A5B-A81E-A8DC-25EC-C0A40CC349F6}"/>
              </a:ext>
            </a:extLst>
          </p:cNvPr>
          <p:cNvSpPr/>
          <p:nvPr/>
        </p:nvSpPr>
        <p:spPr>
          <a:xfrm>
            <a:off x="400050" y="3239135"/>
            <a:ext cx="8877300" cy="1414145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Rectangle 2">
            <a:extLst>
              <a:ext uri="{FF2B5EF4-FFF2-40B4-BE49-F238E27FC236}">
                <a16:creationId xmlns:a16="http://schemas.microsoft.com/office/drawing/2014/main" id="{0BF69C62-F79A-0394-9D67-C13AD5C11EB0}"/>
              </a:ext>
            </a:extLst>
          </p:cNvPr>
          <p:cNvSpPr>
            <a:spLocks noChangeArrowheads="1"/>
          </p:cNvSpPr>
          <p:nvPr/>
        </p:nvSpPr>
        <p:spPr bwMode="auto">
          <a:xfrm>
            <a:off x="8219440" y="1727551"/>
            <a:ext cx="3667241" cy="1384995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ko-KR" altLang="ko-KR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9 </a:t>
            </a:r>
            <a:r>
              <a:rPr lang="en-US" altLang="ko-KR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x</a:t>
            </a:r>
            <a:r>
              <a:rPr lang="ko-KR" altLang="ko-KR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9 그리드의 총 81개 각 칸은 64 </a:t>
            </a:r>
            <a:r>
              <a:rPr lang="en-US" altLang="ko-KR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x</a:t>
            </a:r>
            <a:r>
              <a:rPr lang="ko-KR" altLang="ko-KR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64 원본 이미지 내의 특정 국소 영역(</a:t>
            </a:r>
            <a:r>
              <a:rPr lang="ko-KR" altLang="ko-KR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수용장</a:t>
            </a:r>
            <a:r>
              <a:rPr lang="ko-KR" altLang="ko-KR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)을 뜻하며, "이미지 전체에 무엇이 있는가"가 아니라 "9x9로 나뉜 각 위치에 어떤 객체가 있는가"라는 위치 기반 예측 결과를 제공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2AE90E0-3555-D5EE-0AE1-FFCB73F2091E}"/>
              </a:ext>
            </a:extLst>
          </p:cNvPr>
          <p:cNvSpPr txBox="1"/>
          <p:nvPr/>
        </p:nvSpPr>
        <p:spPr>
          <a:xfrm>
            <a:off x="8209281" y="1358219"/>
            <a:ext cx="830373" cy="369332"/>
          </a:xfrm>
          <a:prstGeom prst="rect">
            <a:avLst/>
          </a:prstGeom>
          <a:solidFill>
            <a:srgbClr val="FF0000"/>
          </a:solidFill>
        </p:spPr>
        <p:txBody>
          <a:bodyPr wrap="square" rtlCol="0">
            <a:spAutoFit/>
          </a:bodyPr>
          <a:lstStyle/>
          <a:p>
            <a:r>
              <a:rPr lang="ko-KR" altLang="en-US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구분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DE86A80-80E0-5BD7-7FAB-B6F095E7EE1F}"/>
              </a:ext>
            </a:extLst>
          </p:cNvPr>
          <p:cNvSpPr txBox="1"/>
          <p:nvPr/>
        </p:nvSpPr>
        <p:spPr>
          <a:xfrm>
            <a:off x="8256903" y="4149151"/>
            <a:ext cx="646331" cy="369332"/>
          </a:xfrm>
          <a:prstGeom prst="rect">
            <a:avLst/>
          </a:prstGeom>
          <a:solidFill>
            <a:srgbClr val="FF0000"/>
          </a:solidFill>
        </p:spPr>
        <p:txBody>
          <a:bodyPr wrap="none" rtlCol="0">
            <a:spAutoFit/>
          </a:bodyPr>
          <a:lstStyle/>
          <a:p>
            <a:r>
              <a:rPr lang="ko-KR" altLang="en-US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위치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727A409-6D23-BBDF-FE6F-00232ACFCCF3}"/>
              </a:ext>
            </a:extLst>
          </p:cNvPr>
          <p:cNvSpPr txBox="1"/>
          <p:nvPr/>
        </p:nvSpPr>
        <p:spPr>
          <a:xfrm>
            <a:off x="8256904" y="4518483"/>
            <a:ext cx="3677402" cy="1169551"/>
          </a:xfrm>
          <a:prstGeom prst="rect">
            <a:avLst/>
          </a:prstGeom>
          <a:solidFill>
            <a:schemeClr val="tx1"/>
          </a:solidFill>
          <a:ln>
            <a:solidFill>
              <a:srgbClr val="FF0000"/>
            </a:solidFill>
          </a:ln>
        </p:spPr>
        <p:txBody>
          <a:bodyPr wrap="square">
            <a:spAutoFit/>
          </a:bodyPr>
          <a:lstStyle/>
          <a:p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사진 속 9 </a:t>
            </a:r>
            <a:r>
              <a:rPr lang="en-US" altLang="ko-KR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x 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9 세부 구역 중 '어느 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위치'에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그 숫자가 존재하는지" 픽셀 단위의 단서를 제공하는 객체 탐지(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Object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Detection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) 및 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세맨틱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분할(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Semantic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Segmentation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) 모델로 진화한 형태</a:t>
            </a:r>
          </a:p>
        </p:txBody>
      </p:sp>
      <p:pic>
        <p:nvPicPr>
          <p:cNvPr id="14" name="그래픽 13" descr="시계 방향으로 굽은 줄 화살표">
            <a:extLst>
              <a:ext uri="{FF2B5EF4-FFF2-40B4-BE49-F238E27FC236}">
                <a16:creationId xmlns:a16="http://schemas.microsoft.com/office/drawing/2014/main" id="{59BA96BD-A446-763C-4443-2621771E4BC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19800244">
            <a:off x="7315200" y="4587240"/>
            <a:ext cx="914400" cy="914400"/>
          </a:xfrm>
          <a:prstGeom prst="rect">
            <a:avLst/>
          </a:prstGeom>
        </p:spPr>
      </p:pic>
      <p:pic>
        <p:nvPicPr>
          <p:cNvPr id="15" name="그래픽 14" descr="시계 방향으로 굽은 줄 화살표">
            <a:extLst>
              <a:ext uri="{FF2B5EF4-FFF2-40B4-BE49-F238E27FC236}">
                <a16:creationId xmlns:a16="http://schemas.microsoft.com/office/drawing/2014/main" id="{B8D8FD99-2B2B-8816-CF31-459DFCC23A9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17691474">
            <a:off x="7315200" y="2537890"/>
            <a:ext cx="914400" cy="914400"/>
          </a:xfrm>
          <a:prstGeom prst="rect">
            <a:avLst/>
          </a:prstGeom>
        </p:spPr>
      </p:pic>
      <p:sp>
        <p:nvSpPr>
          <p:cNvPr id="16" name="직사각형 15">
            <a:extLst>
              <a:ext uri="{FF2B5EF4-FFF2-40B4-BE49-F238E27FC236}">
                <a16:creationId xmlns:a16="http://schemas.microsoft.com/office/drawing/2014/main" id="{EDD46BF5-81AE-A72F-49EE-DD02AC3E3EEB}"/>
              </a:ext>
            </a:extLst>
          </p:cNvPr>
          <p:cNvSpPr/>
          <p:nvPr/>
        </p:nvSpPr>
        <p:spPr>
          <a:xfrm>
            <a:off x="400050" y="1773378"/>
            <a:ext cx="8877300" cy="1112062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1541983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E46EC4-B367-B617-1D8E-1F58E3B0AB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0DE6937E-1188-477D-3D5E-9BF1644CFED7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b="1" cap="none" dirty="0"/>
              <a:t>FCN success !</a:t>
            </a:r>
          </a:p>
        </p:txBody>
      </p:sp>
      <p:sp>
        <p:nvSpPr>
          <p:cNvPr id="11" name="AutoShape 2" descr="라이트박스에 표시된 선택된 이미지">
            <a:extLst>
              <a:ext uri="{FF2B5EF4-FFF2-40B4-BE49-F238E27FC236}">
                <a16:creationId xmlns:a16="http://schemas.microsoft.com/office/drawing/2014/main" id="{8B188ADE-2F9A-8127-1D51-68AFD92D095C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838825" y="3194685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1E649C9B-E7B2-5444-3BEE-F381AD5327F9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18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14" name="그림 13">
            <a:extLst>
              <a:ext uri="{FF2B5EF4-FFF2-40B4-BE49-F238E27FC236}">
                <a16:creationId xmlns:a16="http://schemas.microsoft.com/office/drawing/2014/main" id="{CFA9E6E0-2810-40A9-F605-954A057207D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5994" y="2195619"/>
            <a:ext cx="5041780" cy="3198282"/>
          </a:xfrm>
          <a:prstGeom prst="rect">
            <a:avLst/>
          </a:prstGeom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6F4F9D1E-9110-B139-ECC9-5FF49AB52F1B}"/>
              </a:ext>
            </a:extLst>
          </p:cNvPr>
          <p:cNvSpPr txBox="1"/>
          <p:nvPr/>
        </p:nvSpPr>
        <p:spPr>
          <a:xfrm>
            <a:off x="475645" y="1773592"/>
            <a:ext cx="6096000" cy="31547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575"/>
              </a:lnSpc>
              <a:buNone/>
            </a:pPr>
            <a:r>
              <a:rPr lang="en-US" altLang="ko-KR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fcn_model.summary</a:t>
            </a:r>
            <a:r>
              <a:rPr lang="en-US" altLang="ko-KR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()</a:t>
            </a:r>
          </a:p>
        </p:txBody>
      </p:sp>
      <p:graphicFrame>
        <p:nvGraphicFramePr>
          <p:cNvPr id="17" name="표 16">
            <a:extLst>
              <a:ext uri="{FF2B5EF4-FFF2-40B4-BE49-F238E27FC236}">
                <a16:creationId xmlns:a16="http://schemas.microsoft.com/office/drawing/2014/main" id="{CD3AAC76-CB6E-E7E4-263C-35835ED27ED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6685598"/>
              </p:ext>
            </p:extLst>
          </p:nvPr>
        </p:nvGraphicFramePr>
        <p:xfrm>
          <a:off x="5652526" y="2202010"/>
          <a:ext cx="6281779" cy="3196246"/>
        </p:xfrm>
        <a:graphic>
          <a:graphicData uri="http://schemas.openxmlformats.org/drawingml/2006/table">
            <a:tbl>
              <a:tblPr>
                <a:tableStyleId>{775DCB02-9BB8-47FD-8907-85C794F793BA}</a:tableStyleId>
              </a:tblPr>
              <a:tblGrid>
                <a:gridCol w="1344590">
                  <a:extLst>
                    <a:ext uri="{9D8B030D-6E8A-4147-A177-3AD203B41FA5}">
                      <a16:colId xmlns:a16="http://schemas.microsoft.com/office/drawing/2014/main" val="4007595343"/>
                    </a:ext>
                  </a:extLst>
                </a:gridCol>
                <a:gridCol w="601654">
                  <a:extLst>
                    <a:ext uri="{9D8B030D-6E8A-4147-A177-3AD203B41FA5}">
                      <a16:colId xmlns:a16="http://schemas.microsoft.com/office/drawing/2014/main" val="2846901273"/>
                    </a:ext>
                  </a:extLst>
                </a:gridCol>
                <a:gridCol w="659879">
                  <a:extLst>
                    <a:ext uri="{9D8B030D-6E8A-4147-A177-3AD203B41FA5}">
                      <a16:colId xmlns:a16="http://schemas.microsoft.com/office/drawing/2014/main" val="2627887502"/>
                    </a:ext>
                  </a:extLst>
                </a:gridCol>
                <a:gridCol w="504613">
                  <a:extLst>
                    <a:ext uri="{9D8B030D-6E8A-4147-A177-3AD203B41FA5}">
                      <a16:colId xmlns:a16="http://schemas.microsoft.com/office/drawing/2014/main" val="2982397368"/>
                    </a:ext>
                  </a:extLst>
                </a:gridCol>
                <a:gridCol w="2316218">
                  <a:extLst>
                    <a:ext uri="{9D8B030D-6E8A-4147-A177-3AD203B41FA5}">
                      <a16:colId xmlns:a16="http://schemas.microsoft.com/office/drawing/2014/main" val="3133557278"/>
                    </a:ext>
                  </a:extLst>
                </a:gridCol>
                <a:gridCol w="854825">
                  <a:extLst>
                    <a:ext uri="{9D8B030D-6E8A-4147-A177-3AD203B41FA5}">
                      <a16:colId xmlns:a16="http://schemas.microsoft.com/office/drawing/2014/main" val="2349011138"/>
                    </a:ext>
                  </a:extLst>
                </a:gridCol>
              </a:tblGrid>
              <a:tr h="335720"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ko-KR" altLang="en-US" sz="10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레이어 </a:t>
                      </a:r>
                      <a:r>
                        <a:rPr lang="en-US" altLang="ko-KR" sz="10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</a:t>
                      </a:r>
                      <a:r>
                        <a:rPr lang="en-US" sz="10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Layer)</a:t>
                      </a:r>
                    </a:p>
                  </a:txBody>
                  <a:tcPr marL="13813" marR="13813" marT="9209" marB="9209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miter lim="800000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ko-KR" altLang="en-US" sz="10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입력 채널</a:t>
                      </a:r>
                    </a:p>
                  </a:txBody>
                  <a:tcPr marL="13813" marR="13813" marT="9209" marB="9209" anchor="b">
                    <a:lnL w="6350" cap="flat" cmpd="sng" algn="ctr">
                      <a:noFill/>
                      <a:prstDash val="solid"/>
                      <a:miter lim="800000"/>
                    </a:lnL>
                    <a:lnR w="6350" cap="flat" cmpd="sng" algn="ctr">
                      <a:noFill/>
                      <a:prstDash val="solid"/>
                      <a:miter lim="800000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ko-KR" altLang="en-US" sz="10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커널 크기</a:t>
                      </a:r>
                    </a:p>
                  </a:txBody>
                  <a:tcPr marL="13813" marR="13813" marT="9209" marB="9209" anchor="b">
                    <a:lnL w="6350" cap="flat" cmpd="sng" algn="ctr">
                      <a:noFill/>
                      <a:prstDash val="solid"/>
                      <a:miter lim="800000"/>
                    </a:lnL>
                    <a:lnR w="6350" cap="flat" cmpd="sng" algn="ctr">
                      <a:noFill/>
                      <a:prstDash val="solid"/>
                      <a:miter lim="800000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ko-KR" altLang="en-US" sz="10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필터 수</a:t>
                      </a:r>
                    </a:p>
                  </a:txBody>
                  <a:tcPr marL="13813" marR="13813" marT="9209" marB="9209" anchor="b">
                    <a:lnL w="6350" cap="flat" cmpd="sng" algn="ctr">
                      <a:noFill/>
                      <a:prstDash val="solid"/>
                      <a:miter lim="800000"/>
                    </a:lnL>
                    <a:lnR w="6350" cap="flat" cmpd="sng" algn="ctr">
                      <a:noFill/>
                      <a:prstDash val="solid"/>
                      <a:miter lim="800000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ko-KR" altLang="en-US" sz="10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상세 계산 수식</a:t>
                      </a:r>
                    </a:p>
                  </a:txBody>
                  <a:tcPr marL="13813" marR="13813" marT="9209" marB="9209" anchor="b">
                    <a:lnL w="6350" cap="flat" cmpd="sng" algn="ctr">
                      <a:noFill/>
                      <a:prstDash val="solid"/>
                      <a:miter lim="800000"/>
                    </a:lnL>
                    <a:lnR w="6350" cap="flat" cmpd="sng" algn="ctr">
                      <a:noFill/>
                      <a:prstDash val="solid"/>
                      <a:miter lim="800000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ko-KR" altLang="en-US" sz="10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파라미터 개수</a:t>
                      </a:r>
                    </a:p>
                  </a:txBody>
                  <a:tcPr marL="13813" marR="13813" marT="9209" marB="9209" anchor="b">
                    <a:lnL w="6350" cap="flat" cmpd="sng" algn="ctr">
                      <a:noFill/>
                      <a:prstDash val="solid"/>
                      <a:miter lim="800000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063701322"/>
                  </a:ext>
                </a:extLst>
              </a:tr>
              <a:tr h="518938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US" sz="10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 Input_layer_1</a:t>
                      </a:r>
                    </a:p>
                    <a:p>
                      <a:pPr algn="l" rtl="0" fontAlgn="b">
                        <a:buNone/>
                      </a:pPr>
                      <a:endParaRPr lang="en-US" sz="100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  <a:p>
                      <a:pPr algn="l" rtl="0" fontAlgn="b">
                        <a:buNone/>
                      </a:pPr>
                      <a:endParaRPr lang="en-US" sz="40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  <a:p>
                      <a:pPr algn="l" rtl="0" fontAlgn="b">
                        <a:buNone/>
                      </a:pPr>
                      <a:r>
                        <a:rPr lang="en-US" sz="10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 Conv2D_2</a:t>
                      </a:r>
                    </a:p>
                  </a:txBody>
                  <a:tcPr marL="13813" marR="13813" marT="9209" marB="9209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miter lim="800000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miter lim="800000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0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</a:t>
                      </a:r>
                    </a:p>
                  </a:txBody>
                  <a:tcPr marL="13813" marR="13813" marT="9209" marB="9209" anchor="b">
                    <a:lnL w="6350" cap="flat" cmpd="sng" algn="ctr">
                      <a:noFill/>
                      <a:prstDash val="solid"/>
                      <a:miter lim="800000"/>
                    </a:lnL>
                    <a:lnR w="6350" cap="flat" cmpd="sng" algn="ctr">
                      <a:noFill/>
                      <a:prstDash val="solid"/>
                      <a:miter lim="800000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miter lim="800000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0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5×5</a:t>
                      </a:r>
                    </a:p>
                  </a:txBody>
                  <a:tcPr marL="13813" marR="13813" marT="9209" marB="9209" anchor="b">
                    <a:lnL w="6350" cap="flat" cmpd="sng" algn="ctr">
                      <a:noFill/>
                      <a:prstDash val="solid"/>
                      <a:miter lim="800000"/>
                    </a:lnL>
                    <a:lnR w="6350" cap="flat" cmpd="sng" algn="ctr">
                      <a:noFill/>
                      <a:prstDash val="solid"/>
                      <a:miter lim="800000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miter lim="800000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0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6</a:t>
                      </a:r>
                    </a:p>
                  </a:txBody>
                  <a:tcPr marL="13813" marR="13813" marT="9209" marB="9209" anchor="b">
                    <a:lnL w="6350" cap="flat" cmpd="sng" algn="ctr">
                      <a:noFill/>
                      <a:prstDash val="solid"/>
                      <a:miter lim="800000"/>
                    </a:lnL>
                    <a:lnR w="6350" cap="flat" cmpd="sng" algn="ctr">
                      <a:noFill/>
                      <a:prstDash val="solid"/>
                      <a:miter lim="800000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miter lim="800000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0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{(5×5×1) + 1} × 6 = (25+1)×6</a:t>
                      </a:r>
                    </a:p>
                  </a:txBody>
                  <a:tcPr marL="13813" marR="13813" marT="9209" marB="9209" anchor="b">
                    <a:lnL w="6350" cap="flat" cmpd="sng" algn="ctr">
                      <a:noFill/>
                      <a:prstDash val="solid"/>
                      <a:miter lim="800000"/>
                    </a:lnL>
                    <a:lnR w="6350" cap="flat" cmpd="sng" algn="ctr">
                      <a:noFill/>
                      <a:prstDash val="solid"/>
                      <a:miter lim="800000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miter lim="800000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0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156</a:t>
                      </a:r>
                    </a:p>
                  </a:txBody>
                  <a:tcPr marL="13813" marR="13813" marT="9209" marB="9209" anchor="b">
                    <a:lnL w="6350" cap="flat" cmpd="sng" algn="ctr">
                      <a:noFill/>
                      <a:prstDash val="solid"/>
                      <a:miter lim="800000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miter lim="800000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176151833"/>
                  </a:ext>
                </a:extLst>
              </a:tr>
              <a:tr h="291545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US" sz="10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 MaxPooling2D_2</a:t>
                      </a:r>
                    </a:p>
                  </a:txBody>
                  <a:tcPr marL="13813" marR="13813" marT="9209" marB="9209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miter lim="800000"/>
                    </a:lnR>
                    <a:lnT w="6350" cap="flat" cmpd="sng" algn="ctr">
                      <a:noFill/>
                      <a:prstDash val="solid"/>
                      <a:miter lim="800000"/>
                    </a:lnT>
                    <a:lnB w="6350" cap="flat" cmpd="sng" algn="ctr">
                      <a:noFill/>
                      <a:prstDash val="solid"/>
                      <a:miter lim="800000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0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6</a:t>
                      </a:r>
                    </a:p>
                  </a:txBody>
                  <a:tcPr marL="13813" marR="13813" marT="9209" marB="9209" anchor="b">
                    <a:lnL w="6350" cap="flat" cmpd="sng" algn="ctr">
                      <a:noFill/>
                      <a:prstDash val="solid"/>
                      <a:miter lim="800000"/>
                    </a:lnL>
                    <a:lnR w="6350" cap="flat" cmpd="sng" algn="ctr">
                      <a:noFill/>
                      <a:prstDash val="solid"/>
                      <a:miter lim="800000"/>
                    </a:lnR>
                    <a:lnT w="6350" cap="flat" cmpd="sng" algn="ctr">
                      <a:noFill/>
                      <a:prstDash val="solid"/>
                      <a:miter lim="800000"/>
                    </a:lnT>
                    <a:lnB w="6350" cap="flat" cmpd="sng" algn="ctr">
                      <a:noFill/>
                      <a:prstDash val="solid"/>
                      <a:miter lim="800000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0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-</a:t>
                      </a:r>
                    </a:p>
                  </a:txBody>
                  <a:tcPr marL="13813" marR="13813" marT="9209" marB="9209" anchor="b">
                    <a:lnL w="6350" cap="flat" cmpd="sng" algn="ctr">
                      <a:noFill/>
                      <a:prstDash val="solid"/>
                      <a:miter lim="800000"/>
                    </a:lnL>
                    <a:lnR w="6350" cap="flat" cmpd="sng" algn="ctr">
                      <a:noFill/>
                      <a:prstDash val="solid"/>
                      <a:miter lim="800000"/>
                    </a:lnR>
                    <a:lnT w="6350" cap="flat" cmpd="sng" algn="ctr">
                      <a:noFill/>
                      <a:prstDash val="solid"/>
                      <a:miter lim="800000"/>
                    </a:lnT>
                    <a:lnB w="6350" cap="flat" cmpd="sng" algn="ctr">
                      <a:noFill/>
                      <a:prstDash val="solid"/>
                      <a:miter lim="800000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0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-</a:t>
                      </a:r>
                    </a:p>
                  </a:txBody>
                  <a:tcPr marL="13813" marR="13813" marT="9209" marB="9209" anchor="b">
                    <a:lnL w="6350" cap="flat" cmpd="sng" algn="ctr">
                      <a:noFill/>
                      <a:prstDash val="solid"/>
                      <a:miter lim="800000"/>
                    </a:lnL>
                    <a:lnR w="6350" cap="flat" cmpd="sng" algn="ctr">
                      <a:noFill/>
                      <a:prstDash val="solid"/>
                      <a:miter lim="800000"/>
                    </a:lnR>
                    <a:lnT w="6350" cap="flat" cmpd="sng" algn="ctr">
                      <a:noFill/>
                      <a:prstDash val="solid"/>
                      <a:miter lim="800000"/>
                    </a:lnT>
                    <a:lnB w="6350" cap="flat" cmpd="sng" algn="ctr">
                      <a:noFill/>
                      <a:prstDash val="solid"/>
                      <a:miter lim="800000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ko-KR" altLang="en-US" sz="10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학습 가중치 없음</a:t>
                      </a:r>
                    </a:p>
                  </a:txBody>
                  <a:tcPr marL="13813" marR="13813" marT="9209" marB="9209" anchor="b">
                    <a:lnL w="6350" cap="flat" cmpd="sng" algn="ctr">
                      <a:noFill/>
                      <a:prstDash val="solid"/>
                      <a:miter lim="800000"/>
                    </a:lnL>
                    <a:lnR w="6350" cap="flat" cmpd="sng" algn="ctr">
                      <a:noFill/>
                      <a:prstDash val="solid"/>
                      <a:miter lim="800000"/>
                    </a:lnR>
                    <a:lnT w="6350" cap="flat" cmpd="sng" algn="ctr">
                      <a:noFill/>
                      <a:prstDash val="solid"/>
                      <a:miter lim="800000"/>
                    </a:lnT>
                    <a:lnB w="6350" cap="flat" cmpd="sng" algn="ctr">
                      <a:noFill/>
                      <a:prstDash val="solid"/>
                      <a:miter lim="800000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0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0</a:t>
                      </a:r>
                    </a:p>
                  </a:txBody>
                  <a:tcPr marL="13813" marR="13813" marT="9209" marB="9209" anchor="b">
                    <a:lnL w="6350" cap="flat" cmpd="sng" algn="ctr">
                      <a:noFill/>
                      <a:prstDash val="solid"/>
                      <a:miter lim="800000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miter lim="800000"/>
                    </a:lnT>
                    <a:lnB w="6350" cap="flat" cmpd="sng" algn="ctr">
                      <a:noFill/>
                      <a:prstDash val="solid"/>
                      <a:miter lim="800000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104298932"/>
                  </a:ext>
                </a:extLst>
              </a:tr>
              <a:tr h="291545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US" sz="10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 Conv2D_3</a:t>
                      </a:r>
                    </a:p>
                  </a:txBody>
                  <a:tcPr marL="13813" marR="13813" marT="9209" marB="9209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miter lim="800000"/>
                    </a:lnR>
                    <a:lnT w="6350" cap="flat" cmpd="sng" algn="ctr">
                      <a:noFill/>
                      <a:prstDash val="solid"/>
                      <a:miter lim="800000"/>
                    </a:lnT>
                    <a:lnB w="6350" cap="flat" cmpd="sng" algn="ctr">
                      <a:noFill/>
                      <a:prstDash val="solid"/>
                      <a:miter lim="800000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0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6</a:t>
                      </a:r>
                    </a:p>
                  </a:txBody>
                  <a:tcPr marL="13813" marR="13813" marT="9209" marB="9209" anchor="b">
                    <a:lnL w="6350" cap="flat" cmpd="sng" algn="ctr">
                      <a:noFill/>
                      <a:prstDash val="solid"/>
                      <a:miter lim="800000"/>
                    </a:lnL>
                    <a:lnR w="6350" cap="flat" cmpd="sng" algn="ctr">
                      <a:noFill/>
                      <a:prstDash val="solid"/>
                      <a:miter lim="800000"/>
                    </a:lnR>
                    <a:lnT w="6350" cap="flat" cmpd="sng" algn="ctr">
                      <a:noFill/>
                      <a:prstDash val="solid"/>
                      <a:miter lim="800000"/>
                    </a:lnT>
                    <a:lnB w="6350" cap="flat" cmpd="sng" algn="ctr">
                      <a:noFill/>
                      <a:prstDash val="solid"/>
                      <a:miter lim="800000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0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5×5</a:t>
                      </a:r>
                    </a:p>
                  </a:txBody>
                  <a:tcPr marL="13813" marR="13813" marT="9209" marB="9209" anchor="b">
                    <a:lnL w="6350" cap="flat" cmpd="sng" algn="ctr">
                      <a:noFill/>
                      <a:prstDash val="solid"/>
                      <a:miter lim="800000"/>
                    </a:lnL>
                    <a:lnR w="6350" cap="flat" cmpd="sng" algn="ctr">
                      <a:noFill/>
                      <a:prstDash val="solid"/>
                      <a:miter lim="800000"/>
                    </a:lnR>
                    <a:lnT w="6350" cap="flat" cmpd="sng" algn="ctr">
                      <a:noFill/>
                      <a:prstDash val="solid"/>
                      <a:miter lim="800000"/>
                    </a:lnT>
                    <a:lnB w="6350" cap="flat" cmpd="sng" algn="ctr">
                      <a:noFill/>
                      <a:prstDash val="solid"/>
                      <a:miter lim="800000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0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16</a:t>
                      </a:r>
                    </a:p>
                  </a:txBody>
                  <a:tcPr marL="13813" marR="13813" marT="9209" marB="9209" anchor="b">
                    <a:lnL w="6350" cap="flat" cmpd="sng" algn="ctr">
                      <a:noFill/>
                      <a:prstDash val="solid"/>
                      <a:miter lim="800000"/>
                    </a:lnL>
                    <a:lnR w="6350" cap="flat" cmpd="sng" algn="ctr">
                      <a:noFill/>
                      <a:prstDash val="solid"/>
                      <a:miter lim="800000"/>
                    </a:lnR>
                    <a:lnT w="6350" cap="flat" cmpd="sng" algn="ctr">
                      <a:noFill/>
                      <a:prstDash val="solid"/>
                      <a:miter lim="800000"/>
                    </a:lnT>
                    <a:lnB w="6350" cap="flat" cmpd="sng" algn="ctr">
                      <a:noFill/>
                      <a:prstDash val="solid"/>
                      <a:miter lim="800000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0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{(5×5×6) + 1} × 16 = 151 × 16</a:t>
                      </a:r>
                    </a:p>
                  </a:txBody>
                  <a:tcPr marL="13813" marR="13813" marT="9209" marB="9209" anchor="b">
                    <a:lnL w="6350" cap="flat" cmpd="sng" algn="ctr">
                      <a:noFill/>
                      <a:prstDash val="solid"/>
                      <a:miter lim="800000"/>
                    </a:lnL>
                    <a:lnR w="6350" cap="flat" cmpd="sng" algn="ctr">
                      <a:noFill/>
                      <a:prstDash val="solid"/>
                      <a:miter lim="800000"/>
                    </a:lnR>
                    <a:lnT w="6350" cap="flat" cmpd="sng" algn="ctr">
                      <a:noFill/>
                      <a:prstDash val="solid"/>
                      <a:miter lim="800000"/>
                    </a:lnT>
                    <a:lnB w="6350" cap="flat" cmpd="sng" algn="ctr">
                      <a:noFill/>
                      <a:prstDash val="solid"/>
                      <a:miter lim="800000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0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2,416</a:t>
                      </a:r>
                    </a:p>
                  </a:txBody>
                  <a:tcPr marL="13813" marR="13813" marT="9209" marB="9209" anchor="b">
                    <a:lnL w="6350" cap="flat" cmpd="sng" algn="ctr">
                      <a:noFill/>
                      <a:prstDash val="solid"/>
                      <a:miter lim="800000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miter lim="800000"/>
                    </a:lnT>
                    <a:lnB w="6350" cap="flat" cmpd="sng" algn="ctr">
                      <a:noFill/>
                      <a:prstDash val="solid"/>
                      <a:miter lim="800000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535425684"/>
                  </a:ext>
                </a:extLst>
              </a:tr>
              <a:tr h="291545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US" sz="10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 MaxPooling2D_3</a:t>
                      </a:r>
                    </a:p>
                  </a:txBody>
                  <a:tcPr marL="13813" marR="13813" marT="9209" marB="9209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miter lim="800000"/>
                    </a:lnR>
                    <a:lnT w="6350" cap="flat" cmpd="sng" algn="ctr">
                      <a:noFill/>
                      <a:prstDash val="solid"/>
                      <a:miter lim="800000"/>
                    </a:lnT>
                    <a:lnB w="6350" cap="flat" cmpd="sng" algn="ctr">
                      <a:noFill/>
                      <a:prstDash val="solid"/>
                      <a:miter lim="800000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0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16</a:t>
                      </a:r>
                    </a:p>
                  </a:txBody>
                  <a:tcPr marL="13813" marR="13813" marT="9209" marB="9209" anchor="b">
                    <a:lnL w="6350" cap="flat" cmpd="sng" algn="ctr">
                      <a:noFill/>
                      <a:prstDash val="solid"/>
                      <a:miter lim="800000"/>
                    </a:lnL>
                    <a:lnR w="6350" cap="flat" cmpd="sng" algn="ctr">
                      <a:noFill/>
                      <a:prstDash val="solid"/>
                      <a:miter lim="800000"/>
                    </a:lnR>
                    <a:lnT w="6350" cap="flat" cmpd="sng" algn="ctr">
                      <a:noFill/>
                      <a:prstDash val="solid"/>
                      <a:miter lim="800000"/>
                    </a:lnT>
                    <a:lnB w="6350" cap="flat" cmpd="sng" algn="ctr">
                      <a:noFill/>
                      <a:prstDash val="solid"/>
                      <a:miter lim="800000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0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-</a:t>
                      </a:r>
                    </a:p>
                  </a:txBody>
                  <a:tcPr marL="13813" marR="13813" marT="9209" marB="9209" anchor="b">
                    <a:lnL w="6350" cap="flat" cmpd="sng" algn="ctr">
                      <a:noFill/>
                      <a:prstDash val="solid"/>
                      <a:miter lim="800000"/>
                    </a:lnL>
                    <a:lnR w="6350" cap="flat" cmpd="sng" algn="ctr">
                      <a:noFill/>
                      <a:prstDash val="solid"/>
                      <a:miter lim="800000"/>
                    </a:lnR>
                    <a:lnT w="6350" cap="flat" cmpd="sng" algn="ctr">
                      <a:noFill/>
                      <a:prstDash val="solid"/>
                      <a:miter lim="800000"/>
                    </a:lnT>
                    <a:lnB w="6350" cap="flat" cmpd="sng" algn="ctr">
                      <a:noFill/>
                      <a:prstDash val="solid"/>
                      <a:miter lim="800000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0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-</a:t>
                      </a:r>
                    </a:p>
                  </a:txBody>
                  <a:tcPr marL="13813" marR="13813" marT="9209" marB="9209" anchor="b">
                    <a:lnL w="6350" cap="flat" cmpd="sng" algn="ctr">
                      <a:noFill/>
                      <a:prstDash val="solid"/>
                      <a:miter lim="800000"/>
                    </a:lnL>
                    <a:lnR w="6350" cap="flat" cmpd="sng" algn="ctr">
                      <a:noFill/>
                      <a:prstDash val="solid"/>
                      <a:miter lim="800000"/>
                    </a:lnR>
                    <a:lnT w="6350" cap="flat" cmpd="sng" algn="ctr">
                      <a:noFill/>
                      <a:prstDash val="solid"/>
                      <a:miter lim="800000"/>
                    </a:lnT>
                    <a:lnB w="6350" cap="flat" cmpd="sng" algn="ctr">
                      <a:noFill/>
                      <a:prstDash val="solid"/>
                      <a:miter lim="800000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ko-KR" altLang="en-US" sz="10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학습 가중치 없음</a:t>
                      </a:r>
                    </a:p>
                  </a:txBody>
                  <a:tcPr marL="13813" marR="13813" marT="9209" marB="9209" anchor="b">
                    <a:lnL w="6350" cap="flat" cmpd="sng" algn="ctr">
                      <a:noFill/>
                      <a:prstDash val="solid"/>
                      <a:miter lim="800000"/>
                    </a:lnL>
                    <a:lnR w="6350" cap="flat" cmpd="sng" algn="ctr">
                      <a:noFill/>
                      <a:prstDash val="solid"/>
                      <a:miter lim="800000"/>
                    </a:lnR>
                    <a:lnT w="6350" cap="flat" cmpd="sng" algn="ctr">
                      <a:noFill/>
                      <a:prstDash val="solid"/>
                      <a:miter lim="800000"/>
                    </a:lnT>
                    <a:lnB w="6350" cap="flat" cmpd="sng" algn="ctr">
                      <a:noFill/>
                      <a:prstDash val="solid"/>
                      <a:miter lim="800000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0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0</a:t>
                      </a:r>
                    </a:p>
                  </a:txBody>
                  <a:tcPr marL="13813" marR="13813" marT="9209" marB="9209" anchor="b">
                    <a:lnL w="6350" cap="flat" cmpd="sng" algn="ctr">
                      <a:noFill/>
                      <a:prstDash val="solid"/>
                      <a:miter lim="800000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miter lim="800000"/>
                    </a:lnT>
                    <a:lnB w="6350" cap="flat" cmpd="sng" algn="ctr">
                      <a:noFill/>
                      <a:prstDash val="solid"/>
                      <a:miter lim="800000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845835728"/>
                  </a:ext>
                </a:extLst>
              </a:tr>
              <a:tr h="291545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US" sz="10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 Conv2D_4 (Dense</a:t>
                      </a:r>
                      <a:r>
                        <a:rPr lang="ko-KR" altLang="en-US" sz="10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대체</a:t>
                      </a:r>
                      <a:r>
                        <a:rPr lang="en-US" altLang="ko-KR" sz="10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)</a:t>
                      </a:r>
                    </a:p>
                  </a:txBody>
                  <a:tcPr marL="13813" marR="13813" marT="9209" marB="9209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miter lim="800000"/>
                    </a:lnR>
                    <a:lnT w="6350" cap="flat" cmpd="sng" algn="ctr">
                      <a:noFill/>
                      <a:prstDash val="solid"/>
                      <a:miter lim="800000"/>
                    </a:lnT>
                    <a:lnB w="6350" cap="flat" cmpd="sng" algn="ctr">
                      <a:noFill/>
                      <a:prstDash val="solid"/>
                      <a:miter lim="800000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0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16</a:t>
                      </a:r>
                    </a:p>
                  </a:txBody>
                  <a:tcPr marL="13813" marR="13813" marT="9209" marB="9209" anchor="b">
                    <a:lnL w="6350" cap="flat" cmpd="sng" algn="ctr">
                      <a:noFill/>
                      <a:prstDash val="solid"/>
                      <a:miter lim="800000"/>
                    </a:lnL>
                    <a:lnR w="6350" cap="flat" cmpd="sng" algn="ctr">
                      <a:noFill/>
                      <a:prstDash val="solid"/>
                      <a:miter lim="800000"/>
                    </a:lnR>
                    <a:lnT w="6350" cap="flat" cmpd="sng" algn="ctr">
                      <a:noFill/>
                      <a:prstDash val="solid"/>
                      <a:miter lim="800000"/>
                    </a:lnT>
                    <a:lnB w="6350" cap="flat" cmpd="sng" algn="ctr">
                      <a:noFill/>
                      <a:prstDash val="solid"/>
                      <a:miter lim="800000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0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5×5</a:t>
                      </a:r>
                    </a:p>
                  </a:txBody>
                  <a:tcPr marL="13813" marR="13813" marT="9209" marB="9209" anchor="b">
                    <a:lnL w="6350" cap="flat" cmpd="sng" algn="ctr">
                      <a:noFill/>
                      <a:prstDash val="solid"/>
                      <a:miter lim="800000"/>
                    </a:lnL>
                    <a:lnR w="6350" cap="flat" cmpd="sng" algn="ctr">
                      <a:noFill/>
                      <a:prstDash val="solid"/>
                      <a:miter lim="800000"/>
                    </a:lnR>
                    <a:lnT w="6350" cap="flat" cmpd="sng" algn="ctr">
                      <a:noFill/>
                      <a:prstDash val="solid"/>
                      <a:miter lim="800000"/>
                    </a:lnT>
                    <a:lnB w="6350" cap="flat" cmpd="sng" algn="ctr">
                      <a:noFill/>
                      <a:prstDash val="solid"/>
                      <a:miter lim="800000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0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120</a:t>
                      </a:r>
                    </a:p>
                  </a:txBody>
                  <a:tcPr marL="13813" marR="13813" marT="9209" marB="9209" anchor="b">
                    <a:lnL w="6350" cap="flat" cmpd="sng" algn="ctr">
                      <a:noFill/>
                      <a:prstDash val="solid"/>
                      <a:miter lim="800000"/>
                    </a:lnL>
                    <a:lnR w="6350" cap="flat" cmpd="sng" algn="ctr">
                      <a:noFill/>
                      <a:prstDash val="solid"/>
                      <a:miter lim="800000"/>
                    </a:lnR>
                    <a:lnT w="6350" cap="flat" cmpd="sng" algn="ctr">
                      <a:noFill/>
                      <a:prstDash val="solid"/>
                      <a:miter lim="800000"/>
                    </a:lnT>
                    <a:lnB w="6350" cap="flat" cmpd="sng" algn="ctr">
                      <a:noFill/>
                      <a:prstDash val="solid"/>
                      <a:miter lim="800000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0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{(5×5×16) + 1} × 120 =</a:t>
                      </a:r>
                    </a:p>
                  </a:txBody>
                  <a:tcPr marL="13813" marR="13813" marT="9209" marB="9209" anchor="b">
                    <a:lnL w="6350" cap="flat" cmpd="sng" algn="ctr">
                      <a:noFill/>
                      <a:prstDash val="solid"/>
                      <a:miter lim="800000"/>
                    </a:lnL>
                    <a:lnR w="6350" cap="flat" cmpd="sng" algn="ctr">
                      <a:noFill/>
                      <a:prstDash val="solid"/>
                      <a:miter lim="800000"/>
                    </a:lnR>
                    <a:lnT w="6350" cap="flat" cmpd="sng" algn="ctr">
                      <a:noFill/>
                      <a:prstDash val="solid"/>
                      <a:miter lim="800000"/>
                    </a:lnT>
                    <a:lnB w="6350" cap="flat" cmpd="sng" algn="ctr">
                      <a:noFill/>
                      <a:prstDash val="solid"/>
                      <a:miter lim="800000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0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48,120</a:t>
                      </a:r>
                    </a:p>
                  </a:txBody>
                  <a:tcPr marL="13813" marR="13813" marT="9209" marB="9209" anchor="b">
                    <a:lnL w="6350" cap="flat" cmpd="sng" algn="ctr">
                      <a:noFill/>
                      <a:prstDash val="solid"/>
                      <a:miter lim="800000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miter lim="800000"/>
                    </a:lnT>
                    <a:lnB w="6350" cap="flat" cmpd="sng" algn="ctr">
                      <a:noFill/>
                      <a:prstDash val="solid"/>
                      <a:miter lim="800000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788446111"/>
                  </a:ext>
                </a:extLst>
              </a:tr>
              <a:tr h="291545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US" sz="10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 Conv2D_5 (Dense</a:t>
                      </a:r>
                      <a:r>
                        <a:rPr lang="ko-KR" altLang="en-US" sz="10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대체</a:t>
                      </a:r>
                      <a:r>
                        <a:rPr lang="en-US" altLang="ko-KR" sz="10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)</a:t>
                      </a:r>
                    </a:p>
                  </a:txBody>
                  <a:tcPr marL="13813" marR="13813" marT="9209" marB="9209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miter lim="800000"/>
                    </a:lnR>
                    <a:lnT w="6350" cap="flat" cmpd="sng" algn="ctr">
                      <a:noFill/>
                      <a:prstDash val="solid"/>
                      <a:miter lim="800000"/>
                    </a:lnT>
                    <a:lnB w="6350" cap="flat" cmpd="sng" algn="ctr">
                      <a:noFill/>
                      <a:prstDash val="solid"/>
                      <a:miter lim="800000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0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120</a:t>
                      </a:r>
                    </a:p>
                  </a:txBody>
                  <a:tcPr marL="13813" marR="13813" marT="9209" marB="9209" anchor="b">
                    <a:lnL w="6350" cap="flat" cmpd="sng" algn="ctr">
                      <a:noFill/>
                      <a:prstDash val="solid"/>
                      <a:miter lim="800000"/>
                    </a:lnL>
                    <a:lnR w="6350" cap="flat" cmpd="sng" algn="ctr">
                      <a:noFill/>
                      <a:prstDash val="solid"/>
                      <a:miter lim="800000"/>
                    </a:lnR>
                    <a:lnT w="6350" cap="flat" cmpd="sng" algn="ctr">
                      <a:noFill/>
                      <a:prstDash val="solid"/>
                      <a:miter lim="800000"/>
                    </a:lnT>
                    <a:lnB w="6350" cap="flat" cmpd="sng" algn="ctr">
                      <a:noFill/>
                      <a:prstDash val="solid"/>
                      <a:miter lim="800000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0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1×1</a:t>
                      </a:r>
                    </a:p>
                  </a:txBody>
                  <a:tcPr marL="13813" marR="13813" marT="9209" marB="9209" anchor="b">
                    <a:lnL w="6350" cap="flat" cmpd="sng" algn="ctr">
                      <a:noFill/>
                      <a:prstDash val="solid"/>
                      <a:miter lim="800000"/>
                    </a:lnL>
                    <a:lnR w="6350" cap="flat" cmpd="sng" algn="ctr">
                      <a:noFill/>
                      <a:prstDash val="solid"/>
                      <a:miter lim="800000"/>
                    </a:lnR>
                    <a:lnT w="6350" cap="flat" cmpd="sng" algn="ctr">
                      <a:noFill/>
                      <a:prstDash val="solid"/>
                      <a:miter lim="800000"/>
                    </a:lnT>
                    <a:lnB w="6350" cap="flat" cmpd="sng" algn="ctr">
                      <a:noFill/>
                      <a:prstDash val="solid"/>
                      <a:miter lim="800000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0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84</a:t>
                      </a:r>
                    </a:p>
                  </a:txBody>
                  <a:tcPr marL="13813" marR="13813" marT="9209" marB="9209" anchor="b">
                    <a:lnL w="6350" cap="flat" cmpd="sng" algn="ctr">
                      <a:noFill/>
                      <a:prstDash val="solid"/>
                      <a:miter lim="800000"/>
                    </a:lnL>
                    <a:lnR w="6350" cap="flat" cmpd="sng" algn="ctr">
                      <a:noFill/>
                      <a:prstDash val="solid"/>
                      <a:miter lim="800000"/>
                    </a:lnR>
                    <a:lnT w="6350" cap="flat" cmpd="sng" algn="ctr">
                      <a:noFill/>
                      <a:prstDash val="solid"/>
                      <a:miter lim="800000"/>
                    </a:lnT>
                    <a:lnB w="6350" cap="flat" cmpd="sng" algn="ctr">
                      <a:noFill/>
                      <a:prstDash val="solid"/>
                      <a:miter lim="800000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0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{(1×1×120) + 1} × 84 =</a:t>
                      </a:r>
                    </a:p>
                  </a:txBody>
                  <a:tcPr marL="13813" marR="13813" marT="9209" marB="9209" anchor="b">
                    <a:lnL w="6350" cap="flat" cmpd="sng" algn="ctr">
                      <a:noFill/>
                      <a:prstDash val="solid"/>
                      <a:miter lim="800000"/>
                    </a:lnL>
                    <a:lnR w="6350" cap="flat" cmpd="sng" algn="ctr">
                      <a:noFill/>
                      <a:prstDash val="solid"/>
                      <a:miter lim="800000"/>
                    </a:lnR>
                    <a:lnT w="6350" cap="flat" cmpd="sng" algn="ctr">
                      <a:noFill/>
                      <a:prstDash val="solid"/>
                      <a:miter lim="800000"/>
                    </a:lnT>
                    <a:lnB w="6350" cap="flat" cmpd="sng" algn="ctr">
                      <a:noFill/>
                      <a:prstDash val="solid"/>
                      <a:miter lim="800000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0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10,164</a:t>
                      </a:r>
                    </a:p>
                  </a:txBody>
                  <a:tcPr marL="13813" marR="13813" marT="9209" marB="9209" anchor="b">
                    <a:lnL w="6350" cap="flat" cmpd="sng" algn="ctr">
                      <a:noFill/>
                      <a:prstDash val="solid"/>
                      <a:miter lim="800000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miter lim="800000"/>
                    </a:lnT>
                    <a:lnB w="6350" cap="flat" cmpd="sng" algn="ctr">
                      <a:noFill/>
                      <a:prstDash val="solid"/>
                      <a:miter lim="800000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587652098"/>
                  </a:ext>
                </a:extLst>
              </a:tr>
              <a:tr h="291545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US" sz="10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 Conv2D_6 (</a:t>
                      </a:r>
                      <a:r>
                        <a:rPr lang="ko-KR" altLang="en-US" sz="1000" dirty="0" err="1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출력층</a:t>
                      </a:r>
                      <a:r>
                        <a:rPr lang="en-US" altLang="ko-KR" sz="10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)</a:t>
                      </a:r>
                    </a:p>
                  </a:txBody>
                  <a:tcPr marL="13813" marR="13813" marT="9209" marB="9209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miter lim="800000"/>
                    </a:lnR>
                    <a:lnT w="6350" cap="flat" cmpd="sng" algn="ctr">
                      <a:noFill/>
                      <a:prstDash val="solid"/>
                      <a:miter lim="800000"/>
                    </a:lnT>
                    <a:lnB w="6350" cap="flat" cmpd="sng" algn="ctr">
                      <a:noFill/>
                      <a:prstDash val="solid"/>
                      <a:miter lim="800000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0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84</a:t>
                      </a:r>
                    </a:p>
                  </a:txBody>
                  <a:tcPr marL="13813" marR="13813" marT="9209" marB="9209" anchor="b">
                    <a:lnL w="6350" cap="flat" cmpd="sng" algn="ctr">
                      <a:noFill/>
                      <a:prstDash val="solid"/>
                      <a:miter lim="800000"/>
                    </a:lnL>
                    <a:lnR w="6350" cap="flat" cmpd="sng" algn="ctr">
                      <a:noFill/>
                      <a:prstDash val="solid"/>
                      <a:miter lim="800000"/>
                    </a:lnR>
                    <a:lnT w="6350" cap="flat" cmpd="sng" algn="ctr">
                      <a:noFill/>
                      <a:prstDash val="solid"/>
                      <a:miter lim="800000"/>
                    </a:lnT>
                    <a:lnB w="6350" cap="flat" cmpd="sng" algn="ctr">
                      <a:noFill/>
                      <a:prstDash val="solid"/>
                      <a:miter lim="800000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0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1×1</a:t>
                      </a:r>
                    </a:p>
                  </a:txBody>
                  <a:tcPr marL="13813" marR="13813" marT="9209" marB="9209" anchor="b">
                    <a:lnL w="6350" cap="flat" cmpd="sng" algn="ctr">
                      <a:noFill/>
                      <a:prstDash val="solid"/>
                      <a:miter lim="800000"/>
                    </a:lnL>
                    <a:lnR w="6350" cap="flat" cmpd="sng" algn="ctr">
                      <a:noFill/>
                      <a:prstDash val="solid"/>
                      <a:miter lim="800000"/>
                    </a:lnR>
                    <a:lnT w="6350" cap="flat" cmpd="sng" algn="ctr">
                      <a:noFill/>
                      <a:prstDash val="solid"/>
                      <a:miter lim="800000"/>
                    </a:lnT>
                    <a:lnB w="6350" cap="flat" cmpd="sng" algn="ctr">
                      <a:noFill/>
                      <a:prstDash val="solid"/>
                      <a:miter lim="800000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0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10</a:t>
                      </a:r>
                    </a:p>
                  </a:txBody>
                  <a:tcPr marL="13813" marR="13813" marT="9209" marB="9209" anchor="b">
                    <a:lnL w="6350" cap="flat" cmpd="sng" algn="ctr">
                      <a:noFill/>
                      <a:prstDash val="solid"/>
                      <a:miter lim="800000"/>
                    </a:lnL>
                    <a:lnR w="6350" cap="flat" cmpd="sng" algn="ctr">
                      <a:noFill/>
                      <a:prstDash val="solid"/>
                      <a:miter lim="800000"/>
                    </a:lnR>
                    <a:lnT w="6350" cap="flat" cmpd="sng" algn="ctr">
                      <a:noFill/>
                      <a:prstDash val="solid"/>
                      <a:miter lim="800000"/>
                    </a:lnT>
                    <a:lnB w="6350" cap="flat" cmpd="sng" algn="ctr">
                      <a:noFill/>
                      <a:prstDash val="solid"/>
                      <a:miter lim="800000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0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{(1×1×84)+ 1} × 10 =</a:t>
                      </a:r>
                    </a:p>
                  </a:txBody>
                  <a:tcPr marL="13813" marR="13813" marT="9209" marB="9209" anchor="b">
                    <a:lnL w="6350" cap="flat" cmpd="sng" algn="ctr">
                      <a:noFill/>
                      <a:prstDash val="solid"/>
                      <a:miter lim="800000"/>
                    </a:lnL>
                    <a:lnR w="6350" cap="flat" cmpd="sng" algn="ctr">
                      <a:noFill/>
                      <a:prstDash val="solid"/>
                      <a:miter lim="800000"/>
                    </a:lnR>
                    <a:lnT w="6350" cap="flat" cmpd="sng" algn="ctr">
                      <a:noFill/>
                      <a:prstDash val="solid"/>
                      <a:miter lim="800000"/>
                    </a:lnT>
                    <a:lnB w="6350" cap="flat" cmpd="sng" algn="ctr">
                      <a:noFill/>
                      <a:prstDash val="solid"/>
                      <a:miter lim="800000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0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850</a:t>
                      </a:r>
                    </a:p>
                  </a:txBody>
                  <a:tcPr marL="13813" marR="13813" marT="9209" marB="9209" anchor="b">
                    <a:lnL w="6350" cap="flat" cmpd="sng" algn="ctr">
                      <a:noFill/>
                      <a:prstDash val="solid"/>
                      <a:miter lim="800000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miter lim="800000"/>
                    </a:lnT>
                    <a:lnB w="6350" cap="flat" cmpd="sng" algn="ctr">
                      <a:noFill/>
                      <a:prstDash val="solid"/>
                      <a:miter lim="800000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324892668"/>
                  </a:ext>
                </a:extLst>
              </a:tr>
              <a:tr h="474721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ko-KR" altLang="en-US" sz="10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 </a:t>
                      </a:r>
                      <a:endParaRPr lang="en-US" altLang="ko-KR" sz="100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  <a:p>
                      <a:pPr algn="l" rtl="0" fontAlgn="b">
                        <a:buNone/>
                      </a:pPr>
                      <a:endParaRPr lang="en-US" altLang="ko-KR" sz="60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  <a:p>
                      <a:pPr algn="l" rtl="0" fontAlgn="b">
                        <a:buNone/>
                      </a:pPr>
                      <a:endParaRPr lang="en-US" altLang="ko-KR" sz="105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  <a:p>
                      <a:pPr algn="l" rtl="0" fontAlgn="b">
                        <a:buNone/>
                      </a:pPr>
                      <a:r>
                        <a:rPr lang="ko-KR" altLang="en-US" sz="10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총계 </a:t>
                      </a:r>
                      <a:r>
                        <a:rPr lang="en-US" altLang="ko-KR" sz="10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</a:t>
                      </a:r>
                      <a:r>
                        <a:rPr lang="en-US" sz="10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Total)</a:t>
                      </a:r>
                    </a:p>
                  </a:txBody>
                  <a:tcPr marL="13813" marR="13813" marT="9209" marB="9209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miter lim="800000"/>
                    </a:lnR>
                    <a:lnT w="6350" cap="flat" cmpd="sng" algn="ctr">
                      <a:noFill/>
                      <a:prstDash val="solid"/>
                      <a:miter lim="800000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0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-</a:t>
                      </a:r>
                    </a:p>
                  </a:txBody>
                  <a:tcPr marL="13813" marR="13813" marT="9209" marB="9209" anchor="b">
                    <a:lnL w="6350" cap="flat" cmpd="sng" algn="ctr">
                      <a:noFill/>
                      <a:prstDash val="solid"/>
                      <a:miter lim="800000"/>
                    </a:lnL>
                    <a:lnR w="6350" cap="flat" cmpd="sng" algn="ctr">
                      <a:noFill/>
                      <a:prstDash val="solid"/>
                      <a:miter lim="800000"/>
                    </a:lnR>
                    <a:lnT w="6350" cap="flat" cmpd="sng" algn="ctr">
                      <a:noFill/>
                      <a:prstDash val="solid"/>
                      <a:miter lim="800000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0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-</a:t>
                      </a:r>
                    </a:p>
                  </a:txBody>
                  <a:tcPr marL="13813" marR="13813" marT="9209" marB="9209" anchor="b">
                    <a:lnL w="6350" cap="flat" cmpd="sng" algn="ctr">
                      <a:noFill/>
                      <a:prstDash val="solid"/>
                      <a:miter lim="800000"/>
                    </a:lnL>
                    <a:lnR w="6350" cap="flat" cmpd="sng" algn="ctr">
                      <a:noFill/>
                      <a:prstDash val="solid"/>
                      <a:miter lim="800000"/>
                    </a:lnR>
                    <a:lnT w="6350" cap="flat" cmpd="sng" algn="ctr">
                      <a:noFill/>
                      <a:prstDash val="solid"/>
                      <a:miter lim="800000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0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-</a:t>
                      </a:r>
                    </a:p>
                  </a:txBody>
                  <a:tcPr marL="13813" marR="13813" marT="9209" marB="9209" anchor="b">
                    <a:lnL w="6350" cap="flat" cmpd="sng" algn="ctr">
                      <a:noFill/>
                      <a:prstDash val="solid"/>
                      <a:miter lim="800000"/>
                    </a:lnL>
                    <a:lnR w="6350" cap="flat" cmpd="sng" algn="ctr">
                      <a:noFill/>
                      <a:prstDash val="solid"/>
                      <a:miter lim="800000"/>
                    </a:lnR>
                    <a:lnT w="6350" cap="flat" cmpd="sng" algn="ctr">
                      <a:noFill/>
                      <a:prstDash val="solid"/>
                      <a:miter lim="800000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0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156+2,416+48,120+10,164+850</a:t>
                      </a:r>
                    </a:p>
                  </a:txBody>
                  <a:tcPr marL="13813" marR="13813" marT="9209" marB="9209" anchor="b">
                    <a:lnL w="6350" cap="flat" cmpd="sng" algn="ctr">
                      <a:noFill/>
                      <a:prstDash val="solid"/>
                      <a:miter lim="800000"/>
                    </a:lnL>
                    <a:lnR w="6350" cap="flat" cmpd="sng" algn="ctr">
                      <a:noFill/>
                      <a:prstDash val="solid"/>
                      <a:miter lim="800000"/>
                    </a:lnR>
                    <a:lnT w="6350" cap="flat" cmpd="sng" algn="ctr">
                      <a:noFill/>
                      <a:prstDash val="solid"/>
                      <a:miter lim="800000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0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61,706</a:t>
                      </a:r>
                    </a:p>
                  </a:txBody>
                  <a:tcPr marL="13813" marR="13813" marT="9209" marB="9209" anchor="b">
                    <a:lnL w="6350" cap="flat" cmpd="sng" algn="ctr">
                      <a:noFill/>
                      <a:prstDash val="solid"/>
                      <a:miter lim="800000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miter lim="800000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468719061"/>
                  </a:ext>
                </a:extLst>
              </a:tr>
            </a:tbl>
          </a:graphicData>
        </a:graphic>
      </p:graphicFrame>
      <p:sp>
        <p:nvSpPr>
          <p:cNvPr id="6" name="직사각형 5">
            <a:extLst>
              <a:ext uri="{FF2B5EF4-FFF2-40B4-BE49-F238E27FC236}">
                <a16:creationId xmlns:a16="http://schemas.microsoft.com/office/drawing/2014/main" id="{886641DA-3FC6-DEEA-7ADC-4E9A3F6DF038}"/>
              </a:ext>
            </a:extLst>
          </p:cNvPr>
          <p:cNvSpPr/>
          <p:nvPr/>
        </p:nvSpPr>
        <p:spPr>
          <a:xfrm>
            <a:off x="5652526" y="3992880"/>
            <a:ext cx="6281779" cy="86106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0891149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449316-11CD-EA57-8245-E63FDE198D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6A59FC1F-25B8-EA91-927F-372CABFF2FD7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b="1" cap="none" dirty="0"/>
              <a:t>FCN(Fully Convolutional Network)</a:t>
            </a:r>
          </a:p>
        </p:txBody>
      </p:sp>
      <p:sp>
        <p:nvSpPr>
          <p:cNvPr id="11" name="AutoShape 2" descr="라이트박스에 표시된 선택된 이미지">
            <a:extLst>
              <a:ext uri="{FF2B5EF4-FFF2-40B4-BE49-F238E27FC236}">
                <a16:creationId xmlns:a16="http://schemas.microsoft.com/office/drawing/2014/main" id="{A14E7412-BACD-A2AB-F02F-EC1463D4E5BE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E52F17F-9733-1268-A0A9-0727F2D512BD}"/>
              </a:ext>
            </a:extLst>
          </p:cNvPr>
          <p:cNvSpPr txBox="1"/>
          <p:nvPr/>
        </p:nvSpPr>
        <p:spPr>
          <a:xfrm>
            <a:off x="595009" y="1248422"/>
            <a:ext cx="11306781" cy="7833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FCN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은 마지막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Feature Map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 각 위치가 원본 이미지의 특정 영역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(Receptive Field)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을 대표하기 때문에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512×512 = 262,144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개의 픽셀을 각각 분류할 수 있는 반면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CNN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은 이미지 하나를 보고 고양이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/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 를 분류</a:t>
            </a:r>
            <a:endParaRPr lang="en-US" altLang="ko-KR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872C0913-8CE9-A5D2-941D-2D2D0648857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0785" y="2287838"/>
            <a:ext cx="8449179" cy="4200760"/>
          </a:xfrm>
          <a:prstGeom prst="rect">
            <a:avLst/>
          </a:prstGeom>
        </p:spPr>
      </p:pic>
      <p:sp>
        <p:nvSpPr>
          <p:cNvPr id="13" name="설명선: 굽은 선 12">
            <a:extLst>
              <a:ext uri="{FF2B5EF4-FFF2-40B4-BE49-F238E27FC236}">
                <a16:creationId xmlns:a16="http://schemas.microsoft.com/office/drawing/2014/main" id="{6E46AF95-4599-95E3-BD23-3179F05BAAC8}"/>
              </a:ext>
            </a:extLst>
          </p:cNvPr>
          <p:cNvSpPr/>
          <p:nvPr/>
        </p:nvSpPr>
        <p:spPr>
          <a:xfrm>
            <a:off x="8808370" y="2606007"/>
            <a:ext cx="2154905" cy="857250"/>
          </a:xfrm>
          <a:prstGeom prst="borderCallout2">
            <a:avLst>
              <a:gd name="adj1" fmla="val 18750"/>
              <a:gd name="adj2" fmla="val -8333"/>
              <a:gd name="adj3" fmla="val 18750"/>
              <a:gd name="adj4" fmla="val -16667"/>
              <a:gd name="adj5" fmla="val 275833"/>
              <a:gd name="adj6" fmla="val -64475"/>
            </a:avLst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마지막 레이어에 적힌 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21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이라는 숫자는 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21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개의 클래스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배경 포함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픽셀 단위로 분류</a:t>
            </a:r>
            <a:endParaRPr lang="ko-KR" altLang="en-US" sz="1400" dirty="0"/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4F897AC5-4672-DFC7-463E-5C9232CAB103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19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2014167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26620C-6675-39D3-3F4B-F8060C3A09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F977977A-D523-C09B-39ED-12A913D8ACBA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b="1" cap="none" dirty="0"/>
              <a:t>FCN(Fully Convolutional Network)</a:t>
            </a:r>
          </a:p>
        </p:txBody>
      </p:sp>
      <p:sp>
        <p:nvSpPr>
          <p:cNvPr id="11" name="AutoShape 2" descr="라이트박스에 표시된 선택된 이미지">
            <a:extLst>
              <a:ext uri="{FF2B5EF4-FFF2-40B4-BE49-F238E27FC236}">
                <a16:creationId xmlns:a16="http://schemas.microsoft.com/office/drawing/2014/main" id="{F654DF50-CB4A-4966-16F2-88D2D8DA6A07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475645" y="3443418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pic>
        <p:nvPicPr>
          <p:cNvPr id="15" name="그림 14">
            <a:extLst>
              <a:ext uri="{FF2B5EF4-FFF2-40B4-BE49-F238E27FC236}">
                <a16:creationId xmlns:a16="http://schemas.microsoft.com/office/drawing/2014/main" id="{8C5D59EA-8CA4-FF23-A2A0-10FE0B3AF97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2665" y="1569129"/>
            <a:ext cx="5123313" cy="4480061"/>
          </a:xfrm>
          <a:prstGeom prst="rect">
            <a:avLst/>
          </a:prstGeom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7EDDCCBB-9802-7ACD-C30D-0189CA3E29CF}"/>
              </a:ext>
            </a:extLst>
          </p:cNvPr>
          <p:cNvSpPr txBox="1"/>
          <p:nvPr/>
        </p:nvSpPr>
        <p:spPr>
          <a:xfrm>
            <a:off x="628045" y="6049190"/>
            <a:ext cx="5048855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Hands-on Machine Learning with Scikit-Learn,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Keras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&amp; TensorFlow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19B911E8-2E49-9A05-E636-99F5DC6680C4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20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183FDF5-3704-DFA1-B9BC-63309BCBCDED}"/>
              </a:ext>
            </a:extLst>
          </p:cNvPr>
          <p:cNvSpPr txBox="1"/>
          <p:nvPr/>
        </p:nvSpPr>
        <p:spPr>
          <a:xfrm>
            <a:off x="5838306" y="1329068"/>
            <a:ext cx="5906019" cy="73866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rtl="0">
              <a:spcAft>
                <a:spcPts val="1200"/>
              </a:spcAft>
            </a:pPr>
            <a:r>
              <a:rPr lang="en-US" altLang="ko-KR" sz="1600" b="1" i="0" u="none" strike="noStrike" dirty="0">
                <a:solidFill>
                  <a:srgbClr val="000000"/>
                </a:solidFill>
                <a:effectLst/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Convnet </a:t>
            </a:r>
          </a:p>
          <a:p>
            <a:pPr marL="285750" indent="-285750">
              <a:spcAft>
                <a:spcPts val="1200"/>
              </a:spcAft>
              <a:buFont typeface="Wingdings" panose="05000000000000000000" pitchFamily="2" charset="2"/>
              <a:buChar char="v"/>
            </a:pPr>
            <a:r>
              <a:rPr lang="en-US" altLang="ko-KR" sz="1600" i="0" u="none" strike="noStrike" dirty="0">
                <a:solidFill>
                  <a:srgbClr val="000000"/>
                </a:solidFill>
                <a:effectLst/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Feature Map(7,7,100) → Dense(4900,) → Dense(200)</a:t>
            </a:r>
            <a:endParaRPr lang="ko-KR" altLang="en-US" sz="1600" dirty="0">
              <a:latin typeface="Tahoma" panose="020B0604030504040204" pitchFamily="34" charset="0"/>
              <a:ea typeface="D2Coding" panose="020B0609020101020101" pitchFamily="49" charset="-127"/>
              <a:cs typeface="Tahoma" panose="020B0604030504040204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10CE510-2F4F-FAC2-CC18-17E3EECA8289}"/>
              </a:ext>
            </a:extLst>
          </p:cNvPr>
          <p:cNvSpPr txBox="1"/>
          <p:nvPr/>
        </p:nvSpPr>
        <p:spPr>
          <a:xfrm>
            <a:off x="5857961" y="2154845"/>
            <a:ext cx="5906019" cy="3693319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lang="en-US" altLang="ko-KR" sz="1400" b="1" dirty="0">
                <a:latin typeface="D2Coding" panose="020B0609020101020101" pitchFamily="49" charset="-127"/>
                <a:ea typeface="D2Coding" panose="020B0609020101020101" pitchFamily="49" charset="-127"/>
                <a:cs typeface="Tahoma" panose="020B0604030504040204" pitchFamily="34" charset="0"/>
              </a:rPr>
              <a:t>FCN(Fully</a:t>
            </a:r>
            <a:r>
              <a:rPr lang="ko-KR" altLang="en-US" sz="1400" b="1" dirty="0">
                <a:latin typeface="D2Coding" panose="020B0609020101020101" pitchFamily="49" charset="-127"/>
                <a:ea typeface="D2Coding" panose="020B0609020101020101" pitchFamily="49" charset="-127"/>
                <a:cs typeface="Tahoma" panose="020B0604030504040204" pitchFamily="34" charset="0"/>
              </a:rPr>
              <a:t> </a:t>
            </a:r>
            <a:r>
              <a:rPr lang="en-US" altLang="ko-KR" sz="1400" b="1" dirty="0">
                <a:latin typeface="D2Coding" panose="020B0609020101020101" pitchFamily="49" charset="-127"/>
                <a:ea typeface="D2Coding" panose="020B0609020101020101" pitchFamily="49" charset="-127"/>
                <a:cs typeface="Tahoma" panose="020B0604030504040204" pitchFamily="34" charset="0"/>
              </a:rPr>
              <a:t>Convolutional</a:t>
            </a:r>
            <a:r>
              <a:rPr lang="ko-KR" altLang="en-US" sz="1400" b="1" dirty="0">
                <a:latin typeface="D2Coding" panose="020B0609020101020101" pitchFamily="49" charset="-127"/>
                <a:ea typeface="D2Coding" panose="020B0609020101020101" pitchFamily="49" charset="-127"/>
                <a:cs typeface="Tahoma" panose="020B0604030504040204" pitchFamily="34" charset="0"/>
              </a:rPr>
              <a:t> </a:t>
            </a:r>
            <a:r>
              <a:rPr lang="en-US" altLang="ko-KR" sz="1400" b="1" dirty="0">
                <a:latin typeface="D2Coding" panose="020B0609020101020101" pitchFamily="49" charset="-127"/>
                <a:ea typeface="D2Coding" panose="020B0609020101020101" pitchFamily="49" charset="-127"/>
                <a:cs typeface="Tahoma" panose="020B0604030504040204" pitchFamily="34" charset="0"/>
              </a:rPr>
              <a:t>Network)</a:t>
            </a:r>
            <a:endParaRPr lang="en-US" altLang="ko-KR" sz="1400" b="1" dirty="0">
              <a:effectLst/>
              <a:latin typeface="D2Coding" panose="020B0609020101020101" pitchFamily="49" charset="-127"/>
              <a:ea typeface="D2Coding" panose="020B0609020101020101" pitchFamily="49" charset="-127"/>
              <a:cs typeface="Tahoma" panose="020B0604030504040204" pitchFamily="34" charset="0"/>
            </a:endParaRPr>
          </a:p>
          <a:p>
            <a:pPr marL="285750" indent="-285750">
              <a:buFont typeface="Wingdings" panose="05000000000000000000" pitchFamily="2" charset="2"/>
              <a:buChar char="v"/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Tahoma" panose="020B0604030504040204" pitchFamily="34" charset="0"/>
              </a:rPr>
              <a:t>small image(left) :</a:t>
            </a: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Tahoma" panose="020B0604030504040204" pitchFamily="34" charset="0"/>
              </a:rPr>
              <a:t>커널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Tahoma" panose="020B0604030504040204" pitchFamily="34" charset="0"/>
              </a:rPr>
              <a:t>(7,7)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Tahoma" panose="020B0604030504040204" pitchFamily="34" charset="0"/>
              </a:rPr>
              <a:t>과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Tahoma" panose="020B0604030504040204" pitchFamily="34" charset="0"/>
              </a:rPr>
              <a:t>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Tahoma" panose="020B0604030504040204" pitchFamily="34" charset="0"/>
              </a:rPr>
              <a:t>피처 맵 크기가 같으므로 최종 출력은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Tahoma" panose="020B0604030504040204" pitchFamily="34" charset="0"/>
              </a:rPr>
              <a:t>(1,1,10)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Tahoma" panose="020B0604030504040204" pitchFamily="34" charset="0"/>
              </a:rPr>
              <a:t>단일 영역의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Tahoma" panose="020B0604030504040204" pitchFamily="34" charset="0"/>
              </a:rPr>
              <a:t>예측값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Tahoma" panose="020B0604030504040204" pitchFamily="34" charset="0"/>
              </a:rPr>
              <a:t>(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Tahoma" panose="020B0604030504040204" pitchFamily="34" charset="0"/>
              </a:rPr>
              <a:t>클래스 확률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Tahoma" panose="020B0604030504040204" pitchFamily="34" charset="0"/>
              </a:rPr>
              <a:t>5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Tahoma" panose="020B0604030504040204" pitchFamily="34" charset="0"/>
              </a:rPr>
              <a:t>개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Tahoma" panose="020B0604030504040204" pitchFamily="34" charset="0"/>
              </a:rPr>
              <a:t>+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Tahoma" panose="020B0604030504040204" pitchFamily="34" charset="0"/>
              </a:rPr>
              <a:t>객체성 점수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Tahoma" panose="020B0604030504040204" pitchFamily="34" charset="0"/>
              </a:rPr>
              <a:t>1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Tahoma" panose="020B0604030504040204" pitchFamily="34" charset="0"/>
              </a:rPr>
              <a:t>개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Tahoma" panose="020B0604030504040204" pitchFamily="34" charset="0"/>
              </a:rPr>
              <a:t>+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Tahoma" panose="020B0604030504040204" pitchFamily="34" charset="0"/>
              </a:rPr>
              <a:t>바운딩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Tahoma" panose="020B0604030504040204" pitchFamily="34" charset="0"/>
              </a:rPr>
              <a:t> 박스 좌표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Tahoma" panose="020B0604030504040204" pitchFamily="34" charset="0"/>
              </a:rPr>
              <a:t>4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Tahoma" panose="020B0604030504040204" pitchFamily="34" charset="0"/>
              </a:rPr>
              <a:t>개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Tahoma" panose="020B0604030504040204" pitchFamily="34" charset="0"/>
              </a:rPr>
              <a:t>) 10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Tahoma" panose="020B0604030504040204" pitchFamily="34" charset="0"/>
              </a:rPr>
              <a:t>개를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Tahoma" panose="020B0604030504040204" pitchFamily="34" charset="0"/>
              </a:rPr>
              <a:t>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Tahoma" panose="020B0604030504040204" pitchFamily="34" charset="0"/>
              </a:rPr>
              <a:t>의미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  <a:cs typeface="Tahoma" panose="020B0604030504040204" pitchFamily="34" charset="0"/>
            </a:endParaRP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Tahoma" panose="020B0604030504040204" pitchFamily="34" charset="0"/>
              </a:rPr>
              <a:t>Feature Map (7,7,100) → [Conv(7,7) 10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Tahoma" panose="020B0604030504040204" pitchFamily="34" charset="0"/>
              </a:rPr>
              <a:t>개 필터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Tahoma" panose="020B0604030504040204" pitchFamily="34" charset="0"/>
              </a:rPr>
              <a:t>] → Output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Tahoma" panose="020B0604030504040204" pitchFamily="34" charset="0"/>
              </a:rPr>
              <a:t>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Tahoma" panose="020B0604030504040204" pitchFamily="34" charset="0"/>
              </a:rPr>
              <a:t>(1,1,10)</a:t>
            </a:r>
          </a:p>
          <a:p>
            <a:pPr marL="742950" lvl="1" indent="-285750">
              <a:buFont typeface="Wingdings" panose="05000000000000000000" pitchFamily="2" charset="2"/>
              <a:buChar char="v"/>
            </a:pP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  <a:cs typeface="Tahoma" panose="020B0604030504040204" pitchFamily="34" charset="0"/>
            </a:endParaRPr>
          </a:p>
          <a:p>
            <a:pPr marL="285750" indent="-285750">
              <a:buFont typeface="Wingdings" panose="05000000000000000000" pitchFamily="2" charset="2"/>
              <a:buChar char="v"/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Tahoma" panose="020B0604030504040204" pitchFamily="34" charset="0"/>
              </a:rPr>
              <a:t>small image(left) :</a:t>
            </a:r>
          </a:p>
          <a:p>
            <a:pPr marL="285750" indent="-285750" fontAlgn="base">
              <a:buFont typeface="Wingdings" panose="05000000000000000000" pitchFamily="2" charset="2"/>
              <a:buChar char="§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Tahoma" panose="020B0604030504040204" pitchFamily="34" charset="0"/>
              </a:rPr>
              <a:t>동일한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Tahoma" panose="020B0604030504040204" pitchFamily="34" charset="0"/>
              </a:rPr>
              <a:t>(7,7)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Tahoma" panose="020B0604030504040204" pitchFamily="34" charset="0"/>
              </a:rPr>
              <a:t>합성곱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Tahoma" panose="020B0604030504040204" pitchFamily="34" charset="0"/>
              </a:rPr>
              <a:t> 연산 결과 피처 맵 크기는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Tahoma" panose="020B0604030504040204" pitchFamily="34" charset="0"/>
              </a:rPr>
              <a:t>(14-7+1)=8, (8,8,10)</a:t>
            </a:r>
          </a:p>
          <a:p>
            <a:pPr marL="285750" indent="-285750" fontAlgn="base">
              <a:buFont typeface="Wingdings" panose="05000000000000000000" pitchFamily="2" charset="2"/>
              <a:buChar char="§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Tahoma" panose="020B0604030504040204" pitchFamily="34" charset="0"/>
              </a:rPr>
              <a:t>모델을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Tahoma" panose="020B0604030504040204" pitchFamily="34" charset="0"/>
              </a:rPr>
              <a:t>(8x8)= 64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Tahoma" panose="020B0604030504040204" pitchFamily="34" charset="0"/>
              </a:rPr>
              <a:t>번 반복 실행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Tahoma" panose="020B0604030504040204" pitchFamily="34" charset="0"/>
              </a:rPr>
              <a:t>(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Tahoma" panose="020B0604030504040204" pitchFamily="34" charset="0"/>
              </a:rPr>
              <a:t>슬라이딩 윈도우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Tahoma" panose="020B0604030504040204" pitchFamily="34" charset="0"/>
              </a:rPr>
              <a:t>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Tahoma" panose="020B0604030504040204" pitchFamily="34" charset="0"/>
              </a:rPr>
              <a:t>할 필요 없이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Tahoma" panose="020B0604030504040204" pitchFamily="34" charset="0"/>
              </a:rPr>
              <a:t>,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Tahoma" panose="020B0604030504040204" pitchFamily="34" charset="0"/>
              </a:rPr>
              <a:t>단 한 번의 연산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Tahoma" panose="020B0604030504040204" pitchFamily="34" charset="0"/>
              </a:rPr>
              <a:t>(Single Forward Pass)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Tahoma" panose="020B0604030504040204" pitchFamily="34" charset="0"/>
              </a:rPr>
              <a:t>으로 이미지 전체의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Tahoma" panose="020B0604030504040204" pitchFamily="34" charset="0"/>
              </a:rPr>
              <a:t>(8x8)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Tahoma" panose="020B0604030504040204" pitchFamily="34" charset="0"/>
              </a:rPr>
              <a:t>격자 영역을 동시에 탐지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  <a:cs typeface="Tahoma" panose="020B0604030504040204" pitchFamily="34" charset="0"/>
            </a:endParaRP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Tahoma" panose="020B0604030504040204" pitchFamily="34" charset="0"/>
              </a:rPr>
              <a:t>Feature Map (14,14,100) → [Conv(7,7) 10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Tahoma" panose="020B0604030504040204" pitchFamily="34" charset="0"/>
              </a:rPr>
              <a:t>개 필터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Tahoma" panose="020B0604030504040204" pitchFamily="34" charset="0"/>
              </a:rPr>
              <a:t>] → Output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Tahoma" panose="020B0604030504040204" pitchFamily="34" charset="0"/>
              </a:rPr>
              <a:t>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Tahoma" panose="020B0604030504040204" pitchFamily="34" charset="0"/>
              </a:rPr>
              <a:t>(8,8,10)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Tahoma" panose="020B0604030504040204" pitchFamily="34" charset="0"/>
                <a:sym typeface="Wingdings" panose="05000000000000000000" pitchFamily="2" charset="2"/>
              </a:rPr>
              <a:t> (14,14)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Tahoma" panose="020B0604030504040204" pitchFamily="34" charset="0"/>
                <a:sym typeface="Wingdings" panose="05000000000000000000" pitchFamily="2" charset="2"/>
              </a:rPr>
              <a:t>이미지를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Tahoma" panose="020B0604030504040204" pitchFamily="34" charset="0"/>
                <a:sym typeface="Wingdings" panose="05000000000000000000" pitchFamily="2" charset="2"/>
              </a:rPr>
              <a:t>8 by 8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Tahoma" panose="020B0604030504040204" pitchFamily="34" charset="0"/>
                <a:sym typeface="Wingdings" panose="05000000000000000000" pitchFamily="2" charset="2"/>
              </a:rPr>
              <a:t>격자로 나누어 격자별로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Tahoma" panose="020B0604030504040204" pitchFamily="34" charset="0"/>
                <a:sym typeface="Wingdings" panose="05000000000000000000" pitchFamily="2" charset="2"/>
              </a:rPr>
              <a:t>CNN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Tahoma" panose="020B0604030504040204" pitchFamily="34" charset="0"/>
                <a:sym typeface="Wingdings" panose="05000000000000000000" pitchFamily="2" charset="2"/>
              </a:rPr>
              <a:t> 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  <a:cs typeface="Tahoma" panose="020B060403050404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0507668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F8AA10-ED67-0C44-9791-AB83B324D8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F9ACB4C6-5563-2522-E4DE-4DBA90D7622D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b="1" cap="none" dirty="0"/>
              <a:t>FCN vs. </a:t>
            </a:r>
            <a:r>
              <a:rPr lang="en-US" altLang="ko-KR" b="1" cap="none" dirty="0" err="1"/>
              <a:t>Depthwise</a:t>
            </a:r>
            <a:r>
              <a:rPr lang="en-US" altLang="ko-KR" b="1" cap="none" dirty="0"/>
              <a:t> Separable Convolution </a:t>
            </a:r>
          </a:p>
        </p:txBody>
      </p:sp>
      <p:sp>
        <p:nvSpPr>
          <p:cNvPr id="11" name="AutoShape 2" descr="라이트박스에 표시된 선택된 이미지">
            <a:extLst>
              <a:ext uri="{FF2B5EF4-FFF2-40B4-BE49-F238E27FC236}">
                <a16:creationId xmlns:a16="http://schemas.microsoft.com/office/drawing/2014/main" id="{786EBB61-F4D9-19BF-97E8-D2D6CC513DD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035885C9-7CD1-C6F4-01A9-EA8CEB8CB12A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21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graphicFrame>
        <p:nvGraphicFramePr>
          <p:cNvPr id="4" name="표 3">
            <a:extLst>
              <a:ext uri="{FF2B5EF4-FFF2-40B4-BE49-F238E27FC236}">
                <a16:creationId xmlns:a16="http://schemas.microsoft.com/office/drawing/2014/main" id="{F89478B6-AADB-76E0-48DB-DF481BD7E361}"/>
              </a:ext>
            </a:extLst>
          </p:cNvPr>
          <p:cNvGraphicFramePr>
            <a:graphicFrameLocks noGrp="1"/>
          </p:cNvGraphicFramePr>
          <p:nvPr/>
        </p:nvGraphicFramePr>
        <p:xfrm>
          <a:off x="753385" y="2417433"/>
          <a:ext cx="10685229" cy="2087890"/>
        </p:xfrm>
        <a:graphic>
          <a:graphicData uri="http://schemas.openxmlformats.org/drawingml/2006/table">
            <a:tbl>
              <a:tblPr/>
              <a:tblGrid>
                <a:gridCol w="1780950">
                  <a:extLst>
                    <a:ext uri="{9D8B030D-6E8A-4147-A177-3AD203B41FA5}">
                      <a16:colId xmlns:a16="http://schemas.microsoft.com/office/drawing/2014/main" val="700773218"/>
                    </a:ext>
                  </a:extLst>
                </a:gridCol>
                <a:gridCol w="5342536">
                  <a:extLst>
                    <a:ext uri="{9D8B030D-6E8A-4147-A177-3AD203B41FA5}">
                      <a16:colId xmlns:a16="http://schemas.microsoft.com/office/drawing/2014/main" val="1332139726"/>
                    </a:ext>
                  </a:extLst>
                </a:gridCol>
                <a:gridCol w="3561743">
                  <a:extLst>
                    <a:ext uri="{9D8B030D-6E8A-4147-A177-3AD203B41FA5}">
                      <a16:colId xmlns:a16="http://schemas.microsoft.com/office/drawing/2014/main" val="2365343045"/>
                    </a:ext>
                  </a:extLst>
                </a:gridCol>
              </a:tblGrid>
              <a:tr h="417578"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ko-KR" altLang="en-US" sz="15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75062" marR="75062" marT="37531" marB="3753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5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FCN(Fully Convolutional Network)</a:t>
                      </a:r>
                    </a:p>
                  </a:txBody>
                  <a:tcPr marL="75062" marR="75062" marT="37531" marB="3753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500" dirty="0" err="1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Depthwise</a:t>
                      </a:r>
                      <a:r>
                        <a:rPr lang="en-US" sz="15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 Separable Convolution</a:t>
                      </a:r>
                    </a:p>
                  </a:txBody>
                  <a:tcPr marL="75062" marR="75062" marT="37531" marB="37531" anchor="ctr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52452102"/>
                  </a:ext>
                </a:extLst>
              </a:tr>
              <a:tr h="41757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5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정체</a:t>
                      </a:r>
                    </a:p>
                  </a:txBody>
                  <a:tcPr marL="75062" marR="75062" marT="37531" marB="3753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50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네트워크 </a:t>
                      </a:r>
                      <a:r>
                        <a:rPr lang="ko-KR" altLang="en-US" sz="1500" b="1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아키텍처 설계 방식</a:t>
                      </a:r>
                      <a:endParaRPr lang="ko-KR" altLang="en-US" sz="150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75062" marR="75062" marT="37531" marB="3753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50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하나의 </a:t>
                      </a:r>
                      <a:r>
                        <a:rPr lang="ko-KR" altLang="en-US" sz="1500" b="1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연산</a:t>
                      </a:r>
                      <a:r>
                        <a:rPr lang="en-US" altLang="ko-KR" sz="1500" b="1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</a:t>
                      </a:r>
                      <a:r>
                        <a:rPr lang="ko-KR" altLang="en-US" sz="1500" b="1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레이어</a:t>
                      </a:r>
                      <a:r>
                        <a:rPr lang="en-US" altLang="ko-KR" sz="1500" b="1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) </a:t>
                      </a:r>
                      <a:r>
                        <a:rPr lang="ko-KR" altLang="en-US" sz="1500" b="1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종류</a:t>
                      </a:r>
                      <a:endParaRPr lang="ko-KR" altLang="en-US" sz="150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75062" marR="75062" marT="37531" marB="37531" anchor="ctr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67520161"/>
                  </a:ext>
                </a:extLst>
              </a:tr>
              <a:tr h="41757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5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해결하는 문제</a:t>
                      </a:r>
                    </a:p>
                  </a:txBody>
                  <a:tcPr marL="75062" marR="75062" marT="37531" marB="3753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ko-KR" sz="15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Dense</a:t>
                      </a:r>
                      <a:r>
                        <a:rPr lang="ko-KR" altLang="en-US" sz="15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층 제거로 임의 크기 입력</a:t>
                      </a:r>
                      <a:r>
                        <a:rPr lang="en-US" altLang="ko-KR" sz="15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/</a:t>
                      </a:r>
                      <a:r>
                        <a:rPr lang="ko-KR" altLang="en-US" sz="15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공간 정보 보존</a:t>
                      </a:r>
                    </a:p>
                  </a:txBody>
                  <a:tcPr marL="75062" marR="75062" marT="37531" marB="3753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50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합성곱 연산량</a:t>
                      </a:r>
                      <a:r>
                        <a:rPr lang="en-US" altLang="ko-KR" sz="150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/</a:t>
                      </a:r>
                      <a:r>
                        <a:rPr lang="ko-KR" altLang="en-US" sz="150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파라미터 수 감소</a:t>
                      </a:r>
                    </a:p>
                  </a:txBody>
                  <a:tcPr marL="75062" marR="75062" marT="37531" marB="37531" anchor="ctr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68266946"/>
                  </a:ext>
                </a:extLst>
              </a:tr>
              <a:tr h="41757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5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비교 대상</a:t>
                      </a:r>
                    </a:p>
                  </a:txBody>
                  <a:tcPr marL="75062" marR="75062" marT="37531" marB="3753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ko-KR" sz="150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Dense(FC)</a:t>
                      </a:r>
                      <a:r>
                        <a:rPr lang="ko-KR" altLang="en-US" sz="150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층을 쓰는 일반 </a:t>
                      </a:r>
                      <a:r>
                        <a:rPr lang="en-US" altLang="ko-KR" sz="150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CNN</a:t>
                      </a:r>
                    </a:p>
                  </a:txBody>
                  <a:tcPr marL="75062" marR="75062" marT="37531" marB="3753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50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일반</a:t>
                      </a:r>
                      <a:r>
                        <a:rPr lang="en-US" altLang="ko-KR" sz="150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</a:t>
                      </a:r>
                      <a:r>
                        <a:rPr lang="ko-KR" altLang="en-US" sz="150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표준</a:t>
                      </a:r>
                      <a:r>
                        <a:rPr lang="en-US" altLang="ko-KR" sz="150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) </a:t>
                      </a:r>
                      <a:r>
                        <a:rPr lang="en-US" sz="150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Convolution</a:t>
                      </a:r>
                    </a:p>
                  </a:txBody>
                  <a:tcPr marL="75062" marR="75062" marT="37531" marB="37531" anchor="ctr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27650150"/>
                  </a:ext>
                </a:extLst>
              </a:tr>
              <a:tr h="41757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5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예시</a:t>
                      </a:r>
                    </a:p>
                  </a:txBody>
                  <a:tcPr marL="75062" marR="75062" marT="37531" marB="3753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5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FCN, U-Net, YOLO</a:t>
                      </a:r>
                      <a:r>
                        <a:rPr lang="ko-KR" altLang="en-US" sz="15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의 </a:t>
                      </a:r>
                      <a:r>
                        <a:rPr lang="ko-KR" altLang="en-US" sz="1500" dirty="0" err="1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출력단</a:t>
                      </a:r>
                      <a:endParaRPr lang="ko-KR" altLang="en-US" sz="15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75062" marR="75062" marT="37531" marB="3753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500" dirty="0" err="1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Xception</a:t>
                      </a:r>
                      <a:r>
                        <a:rPr lang="en-US" sz="15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, </a:t>
                      </a:r>
                      <a:r>
                        <a:rPr lang="en-US" sz="1500" dirty="0" err="1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MobileNet</a:t>
                      </a:r>
                      <a:r>
                        <a:rPr lang="ko-KR" altLang="en-US" sz="15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의 내부 블록</a:t>
                      </a:r>
                    </a:p>
                  </a:txBody>
                  <a:tcPr marL="75062" marR="75062" marT="37531" marB="37531" anchor="ctr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82960580"/>
                  </a:ext>
                </a:extLst>
              </a:tr>
            </a:tbl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BE9E2B95-F1A3-51E8-BAD6-E1E3366CDAB1}"/>
              </a:ext>
            </a:extLst>
          </p:cNvPr>
          <p:cNvSpPr txBox="1"/>
          <p:nvPr/>
        </p:nvSpPr>
        <p:spPr>
          <a:xfrm>
            <a:off x="753384" y="4848910"/>
            <a:ext cx="10771865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Depthwise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Separable Conv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는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FCN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안에서도 사용될 수 있는 레이어</a:t>
            </a:r>
          </a:p>
        </p:txBody>
      </p:sp>
    </p:spTree>
    <p:extLst>
      <p:ext uri="{BB962C8B-B14F-4D97-AF65-F5344CB8AC3E}">
        <p14:creationId xmlns:p14="http://schemas.microsoft.com/office/powerpoint/2010/main" val="229946173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902BFE-DB14-00AD-C52C-B4BC1D7FE1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906319F-7857-BCDC-2609-7F81D274B3A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04800" y="1164324"/>
            <a:ext cx="11978640" cy="2387600"/>
          </a:xfrm>
        </p:spPr>
        <p:txBody>
          <a:bodyPr rtlCol="0" anchor="ctr" anchorCtr="0">
            <a:noAutofit/>
          </a:bodyPr>
          <a:lstStyle/>
          <a:p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Hands-on Machine Learning with Scikit-Learn, </a:t>
            </a:r>
            <a:r>
              <a:rPr lang="en-US" altLang="ko-KR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Keras</a:t>
            </a:r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&amp; TensorFlow</a:t>
            </a:r>
            <a:b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</a:br>
            <a:b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2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Chapter 14. Deep Computer Vision Using Convolutional Neural Networks</a:t>
            </a:r>
            <a:b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</a:br>
            <a:endParaRPr lang="ko-KR" altLang="en-US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0FF70074-E1FB-9700-9E55-DB591C8B7B06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</a:rPr>
              <a:t>2026 Fall</a:t>
            </a:r>
          </a:p>
          <a:p>
            <a:r>
              <a:rPr lang="ko-KR" altLang="en-US" sz="2400" dirty="0" err="1">
                <a:solidFill>
                  <a:schemeClr val="bg1"/>
                </a:solidFill>
              </a:rPr>
              <a:t>조상구교수</a:t>
            </a:r>
            <a:endParaRPr lang="en-US" altLang="ko-KR" sz="2400" dirty="0">
              <a:solidFill>
                <a:schemeClr val="bg1"/>
              </a:solidFill>
            </a:endParaRP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9951A79B-F5FA-2600-3FB1-2870B077FA9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91226" y="3033065"/>
            <a:ext cx="2410124" cy="32157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36154923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932AB4-36DC-291C-982B-B4A6CFF9B6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>
            <a:extLst>
              <a:ext uri="{FF2B5EF4-FFF2-40B4-BE49-F238E27FC236}">
                <a16:creationId xmlns:a16="http://schemas.microsoft.com/office/drawing/2014/main" id="{BF7A96B3-4486-FCE2-605C-FD19CA09B2EE}"/>
              </a:ext>
            </a:extLst>
          </p:cNvPr>
          <p:cNvSpPr/>
          <p:nvPr/>
        </p:nvSpPr>
        <p:spPr>
          <a:xfrm>
            <a:off x="561975" y="1765518"/>
            <a:ext cx="8048625" cy="625257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3D547ED8-4C5E-8D3E-58DA-854ED8553123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b="1" cap="none" dirty="0"/>
              <a:t>Contents</a:t>
            </a:r>
          </a:p>
        </p:txBody>
      </p:sp>
      <p:sp>
        <p:nvSpPr>
          <p:cNvPr id="11" name="AutoShape 2" descr="라이트박스에 표시된 선택된 이미지">
            <a:extLst>
              <a:ext uri="{FF2B5EF4-FFF2-40B4-BE49-F238E27FC236}">
                <a16:creationId xmlns:a16="http://schemas.microsoft.com/office/drawing/2014/main" id="{CAE47E79-09BC-2D58-9A2B-098AE7747880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8D14CB4C-135D-3D5B-7C0F-5EDB5B8B013C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23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0DC3AFD-ACC4-A543-C58C-9E457996BEA6}"/>
              </a:ext>
            </a:extLst>
          </p:cNvPr>
          <p:cNvSpPr txBox="1"/>
          <p:nvPr/>
        </p:nvSpPr>
        <p:spPr>
          <a:xfrm>
            <a:off x="723900" y="1765518"/>
            <a:ext cx="10439400" cy="2628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2400" dirty="0" err="1">
                <a:latin typeface="D2Coding" panose="020B0609020101020101" pitchFamily="49" charset="-127"/>
                <a:ea typeface="D2Coding" panose="020B0609020101020101" pitchFamily="49" charset="-127"/>
                <a:cs typeface="Cascadia Code SemiLight" panose="020B0609020000020004" pitchFamily="49" charset="0"/>
              </a:rPr>
              <a:t>Depthwise</a:t>
            </a:r>
            <a:r>
              <a:rPr lang="en-US" altLang="ko-KR" sz="2400" dirty="0">
                <a:latin typeface="D2Coding" panose="020B0609020101020101" pitchFamily="49" charset="-127"/>
                <a:ea typeface="D2Coding" panose="020B0609020101020101" pitchFamily="49" charset="-127"/>
                <a:cs typeface="Cascadia Code SemiLight" panose="020B0609020000020004" pitchFamily="49" charset="0"/>
              </a:rPr>
              <a:t> separable convolution layer</a:t>
            </a:r>
          </a:p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2400" dirty="0">
                <a:latin typeface="D2Coding" panose="020B0609020101020101" pitchFamily="49" charset="-127"/>
                <a:ea typeface="D2Coding" panose="020B0609020101020101" pitchFamily="49" charset="-127"/>
                <a:cs typeface="Cascadia Code SemiLight" panose="020B0609020000020004" pitchFamily="49" charset="0"/>
              </a:rPr>
              <a:t>Classification &amp; location</a:t>
            </a:r>
          </a:p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2400" dirty="0">
                <a:latin typeface="D2Coding" panose="020B0609020101020101" pitchFamily="49" charset="-127"/>
                <a:ea typeface="D2Coding" panose="020B0609020101020101" pitchFamily="49" charset="-127"/>
                <a:cs typeface="Cascadia Code SemiLight" panose="020B0609020000020004" pitchFamily="49" charset="0"/>
              </a:rPr>
              <a:t>Object detection</a:t>
            </a:r>
          </a:p>
          <a:p>
            <a:pPr marL="914400" lvl="1" indent="-4572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  <a:cs typeface="Cascadia Code SemiLight" panose="020B0609020000020004" pitchFamily="49" charset="0"/>
              </a:rPr>
              <a:t>Fully Convolutional Network(FCN)</a:t>
            </a:r>
          </a:p>
          <a:p>
            <a:pPr marL="914400" lvl="1" indent="-4572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  <a:cs typeface="Cascadia Code SemiLight" panose="020B0609020000020004" pitchFamily="49" charset="0"/>
              </a:rPr>
              <a:t>You Only Look Once(YOLO)</a:t>
            </a:r>
            <a:endParaRPr lang="ko-KR" altLang="en-US" sz="2400" dirty="0">
              <a:latin typeface="D2Coding" panose="020B0609020101020101" pitchFamily="49" charset="-127"/>
              <a:ea typeface="D2Coding" panose="020B0609020101020101" pitchFamily="49" charset="-127"/>
              <a:cs typeface="Cascadia Code SemiLight" panose="020B06090200000200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529631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70597D-6AC1-F329-53F0-F4C31DD578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5ACAC7DF-F3E0-9C56-1F3D-AF3BF43280E1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b="1" cap="none" dirty="0" err="1"/>
              <a:t>Xception</a:t>
            </a:r>
            <a:r>
              <a:rPr lang="en-US" altLang="ko-KR" b="1" cap="none" dirty="0"/>
              <a:t> </a:t>
            </a:r>
          </a:p>
        </p:txBody>
      </p:sp>
      <p:sp>
        <p:nvSpPr>
          <p:cNvPr id="11" name="AutoShape 2" descr="라이트박스에 표시된 선택된 이미지">
            <a:extLst>
              <a:ext uri="{FF2B5EF4-FFF2-40B4-BE49-F238E27FC236}">
                <a16:creationId xmlns:a16="http://schemas.microsoft.com/office/drawing/2014/main" id="{01B4AD75-026F-A503-116E-CC5AECD01AE5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DE0AA64B-3022-A160-5C64-95CFF7E63F36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24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18" name="그림 17">
            <a:extLst>
              <a:ext uri="{FF2B5EF4-FFF2-40B4-BE49-F238E27FC236}">
                <a16:creationId xmlns:a16="http://schemas.microsoft.com/office/drawing/2014/main" id="{39383711-B6A9-1395-05B3-A1BFF2A46A3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2795" y="1774334"/>
            <a:ext cx="6379204" cy="3993216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1" name="TextBox 20">
            <a:extLst>
              <a:ext uri="{FF2B5EF4-FFF2-40B4-BE49-F238E27FC236}">
                <a16:creationId xmlns:a16="http://schemas.microsoft.com/office/drawing/2014/main" id="{C235A659-4186-399D-241A-B0B223DE24F0}"/>
              </a:ext>
            </a:extLst>
          </p:cNvPr>
          <p:cNvSpPr txBox="1"/>
          <p:nvPr/>
        </p:nvSpPr>
        <p:spPr>
          <a:xfrm>
            <a:off x="7105045" y="1774334"/>
            <a:ext cx="4639280" cy="426046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일반적인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합성곱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레이어는 공간 패턴(예: 타원형)과 채널 간 패턴(예: 입 + 코 + 눈 = 얼굴)을 동시에 포착하려는 필터를 사용하는 반면, 분리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합성곱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레이어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Depthwise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separable convolution layer)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는 공간 패턴과 채널 간 패턴을 서로 독립적으로 모델링할 수 있다는 강한 가정을 바탕으로 작동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따라서 두 단계로 구성되며 첫 번째 부분은 각 입력 피처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맵마다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단일 공간 필터를 적용하고, 두 번째 부분은 채널 간 패턴만 전담하여 탐색하는데 이는 </a:t>
            </a:r>
            <a:r>
              <a:rPr lang="en-US" altLang="ko-KR" sz="1400" b="1" dirty="0">
                <a:latin typeface="D2Coding" panose="020B0609020101020101" pitchFamily="49" charset="-127"/>
                <a:ea typeface="D2Coding" panose="020B0609020101020101" pitchFamily="49" charset="-127"/>
              </a:rPr>
              <a:t>(1,1)</a:t>
            </a:r>
            <a:r>
              <a:rPr lang="ko-KR" altLang="en-US" sz="1400" b="1" dirty="0">
                <a:latin typeface="D2Coding" panose="020B0609020101020101" pitchFamily="49" charset="-127"/>
                <a:ea typeface="D2Coding" panose="020B0609020101020101" pitchFamily="49" charset="-127"/>
              </a:rPr>
              <a:t> 필터를 사용하는 일반적인 </a:t>
            </a:r>
            <a:r>
              <a:rPr lang="ko-KR" altLang="en-US" sz="1400" b="1" dirty="0" err="1">
                <a:latin typeface="D2Coding" panose="020B0609020101020101" pitchFamily="49" charset="-127"/>
                <a:ea typeface="D2Coding" panose="020B0609020101020101" pitchFamily="49" charset="-127"/>
              </a:rPr>
              <a:t>합성곱</a:t>
            </a:r>
            <a:r>
              <a:rPr lang="ko-KR" altLang="en-US" sz="1400" b="1" dirty="0">
                <a:latin typeface="D2Coding" panose="020B0609020101020101" pitchFamily="49" charset="-127"/>
                <a:ea typeface="D2Coding" panose="020B0609020101020101" pitchFamily="49" charset="-127"/>
              </a:rPr>
              <a:t> 레이어를 적용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48D5FAA9-A196-D260-F17D-841A336FA35C}"/>
              </a:ext>
            </a:extLst>
          </p:cNvPr>
          <p:cNvSpPr txBox="1"/>
          <p:nvPr/>
        </p:nvSpPr>
        <p:spPr>
          <a:xfrm>
            <a:off x="532795" y="5819775"/>
            <a:ext cx="60960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Depthwise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separable convolutional layer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60E02367-678F-40EF-8065-30CCD4C735F6}"/>
              </a:ext>
            </a:extLst>
          </p:cNvPr>
          <p:cNvSpPr txBox="1"/>
          <p:nvPr/>
        </p:nvSpPr>
        <p:spPr>
          <a:xfrm>
            <a:off x="542320" y="6139533"/>
            <a:ext cx="5838306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Hands-on Machine Learning with Scikit-Learn,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Keras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&amp; TensorFlow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615937767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C319DB-7E22-ABDE-EAD4-452F9A266D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>
            <a:extLst>
              <a:ext uri="{FF2B5EF4-FFF2-40B4-BE49-F238E27FC236}">
                <a16:creationId xmlns:a16="http://schemas.microsoft.com/office/drawing/2014/main" id="{BA65D07C-FA9D-6C05-854D-52EC632ED4A0}"/>
              </a:ext>
            </a:extLst>
          </p:cNvPr>
          <p:cNvSpPr/>
          <p:nvPr/>
        </p:nvSpPr>
        <p:spPr>
          <a:xfrm>
            <a:off x="561975" y="2346543"/>
            <a:ext cx="8048625" cy="625257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C1B83FCE-95DE-5F2D-6BC9-3478E1C1C0D5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b="1" cap="none" dirty="0"/>
              <a:t>Contents</a:t>
            </a:r>
          </a:p>
        </p:txBody>
      </p:sp>
      <p:sp>
        <p:nvSpPr>
          <p:cNvPr id="11" name="AutoShape 2" descr="라이트박스에 표시된 선택된 이미지">
            <a:extLst>
              <a:ext uri="{FF2B5EF4-FFF2-40B4-BE49-F238E27FC236}">
                <a16:creationId xmlns:a16="http://schemas.microsoft.com/office/drawing/2014/main" id="{9772F3DC-DD20-51A9-32E5-AC126BDDA0F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39311FBA-9CF7-3769-883E-D029F7A5AFB1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25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6B9A0DC-7360-72F4-35CF-F799D100C79F}"/>
              </a:ext>
            </a:extLst>
          </p:cNvPr>
          <p:cNvSpPr txBox="1"/>
          <p:nvPr/>
        </p:nvSpPr>
        <p:spPr>
          <a:xfrm>
            <a:off x="723900" y="1765518"/>
            <a:ext cx="10439400" cy="2628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2400" dirty="0" err="1">
                <a:latin typeface="D2Coding" panose="020B0609020101020101" pitchFamily="49" charset="-127"/>
                <a:ea typeface="D2Coding" panose="020B0609020101020101" pitchFamily="49" charset="-127"/>
                <a:cs typeface="Cascadia Code SemiLight" panose="020B0609020000020004" pitchFamily="49" charset="0"/>
              </a:rPr>
              <a:t>Depthwise</a:t>
            </a:r>
            <a:r>
              <a:rPr lang="en-US" altLang="ko-KR" sz="2400" dirty="0">
                <a:latin typeface="D2Coding" panose="020B0609020101020101" pitchFamily="49" charset="-127"/>
                <a:ea typeface="D2Coding" panose="020B0609020101020101" pitchFamily="49" charset="-127"/>
                <a:cs typeface="Cascadia Code SemiLight" panose="020B0609020000020004" pitchFamily="49" charset="0"/>
              </a:rPr>
              <a:t> separable convolution layer</a:t>
            </a:r>
          </a:p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2400" dirty="0">
                <a:latin typeface="D2Coding" panose="020B0609020101020101" pitchFamily="49" charset="-127"/>
                <a:ea typeface="D2Coding" panose="020B0609020101020101" pitchFamily="49" charset="-127"/>
                <a:cs typeface="Cascadia Code SemiLight" panose="020B0609020000020004" pitchFamily="49" charset="0"/>
              </a:rPr>
              <a:t>Classification &amp; location</a:t>
            </a:r>
          </a:p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2400" dirty="0">
                <a:latin typeface="D2Coding" panose="020B0609020101020101" pitchFamily="49" charset="-127"/>
                <a:ea typeface="D2Coding" panose="020B0609020101020101" pitchFamily="49" charset="-127"/>
                <a:cs typeface="Cascadia Code SemiLight" panose="020B0609020000020004" pitchFamily="49" charset="0"/>
              </a:rPr>
              <a:t>Object detection</a:t>
            </a:r>
          </a:p>
          <a:p>
            <a:pPr marL="914400" lvl="1" indent="-4572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  <a:cs typeface="Cascadia Code SemiLight" panose="020B0609020000020004" pitchFamily="49" charset="0"/>
              </a:rPr>
              <a:t>Fully Convolutional Network(FCN)</a:t>
            </a:r>
          </a:p>
          <a:p>
            <a:pPr marL="914400" lvl="1" indent="-4572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  <a:cs typeface="Cascadia Code SemiLight" panose="020B0609020000020004" pitchFamily="49" charset="0"/>
              </a:rPr>
              <a:t>You Only Look Once(YOLO)</a:t>
            </a:r>
            <a:endParaRPr lang="ko-KR" altLang="en-US" sz="2400" dirty="0">
              <a:latin typeface="D2Coding" panose="020B0609020101020101" pitchFamily="49" charset="-127"/>
              <a:ea typeface="D2Coding" panose="020B0609020101020101" pitchFamily="49" charset="-127"/>
              <a:cs typeface="Cascadia Code SemiLight" panose="020B06090200000200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76651295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41F97E-608D-4E8D-2838-89FC50251B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2E57C508-38C5-A75A-C22F-3B860B296223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b="1" cap="none" dirty="0"/>
              <a:t>Classification and localization</a:t>
            </a:r>
          </a:p>
        </p:txBody>
      </p:sp>
      <p:sp>
        <p:nvSpPr>
          <p:cNvPr id="11" name="AutoShape 2" descr="라이트박스에 표시된 선택된 이미지">
            <a:extLst>
              <a:ext uri="{FF2B5EF4-FFF2-40B4-BE49-F238E27FC236}">
                <a16:creationId xmlns:a16="http://schemas.microsoft.com/office/drawing/2014/main" id="{A48D1A9B-8128-9367-75E6-22BF13FE69EF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EEA5EAC5-9F7F-E804-DE4A-6E3A0C0D0690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26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A2BF89F-326A-C374-F2DC-1975EDF5E04C}"/>
              </a:ext>
            </a:extLst>
          </p:cNvPr>
          <p:cNvSpPr txBox="1"/>
          <p:nvPr/>
        </p:nvSpPr>
        <p:spPr>
          <a:xfrm>
            <a:off x="585932" y="1219847"/>
            <a:ext cx="11130423" cy="7931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이미지에서 하나의 객체의 위치를 찾는 것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(Localization)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은 객체 주위에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바운딩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박스를 예측하기 위해 객체 중심의 가로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·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세로 좌표와 높이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너비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4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개를 회귀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(Regression)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작업과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Label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에 대한 분류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(classification)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을 동시에 수행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77229E7-B4D9-6AC5-A568-B646BD5255A4}"/>
              </a:ext>
            </a:extLst>
          </p:cNvPr>
          <p:cNvSpPr txBox="1"/>
          <p:nvPr/>
        </p:nvSpPr>
        <p:spPr>
          <a:xfrm>
            <a:off x="1057274" y="2211065"/>
            <a:ext cx="9544051" cy="307777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>
            <a:spAutoFit/>
          </a:bodyPr>
          <a:lstStyle/>
          <a:p>
            <a:pPr algn="ctr"/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Minimize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L_loc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= 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pred_cx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-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true_cx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)² + 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pred_cy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-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true_cy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)² + 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pred_h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-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true_h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)² + 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pred_w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-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true_w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)²</a:t>
            </a: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A1F565A1-76D9-D67F-CAFD-E30DB502276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0045" y="2682615"/>
            <a:ext cx="6410668" cy="3364345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2DD81535-9768-432F-4814-6FE3A131EB84}"/>
              </a:ext>
            </a:extLst>
          </p:cNvPr>
          <p:cNvSpPr txBox="1"/>
          <p:nvPr/>
        </p:nvSpPr>
        <p:spPr>
          <a:xfrm>
            <a:off x="1020045" y="6046960"/>
            <a:ext cx="60960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Intersection over Union 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IoU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 metric for bounding boxes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8F8526BB-DE4C-310B-9545-18F1D05321A5}"/>
              </a:ext>
            </a:extLst>
          </p:cNvPr>
          <p:cNvSpPr txBox="1"/>
          <p:nvPr/>
        </p:nvSpPr>
        <p:spPr>
          <a:xfrm>
            <a:off x="7772400" y="2984212"/>
            <a:ext cx="2314575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IoU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는 검증단계에서만 평가 지표로 사용 </a:t>
            </a:r>
            <a:endParaRPr lang="ko-KR" altLang="en-US" sz="1600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83325F73-DD41-AB72-EC35-7DF826D8F129}"/>
              </a:ext>
            </a:extLst>
          </p:cNvPr>
          <p:cNvSpPr txBox="1"/>
          <p:nvPr/>
        </p:nvSpPr>
        <p:spPr>
          <a:xfrm>
            <a:off x="1057274" y="6333168"/>
            <a:ext cx="5838306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Hands-on Machine Learning with Scikit-Learn,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Keras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&amp; TensorFlow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05916167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81135E-CB3F-6AE4-6CF9-83C1B2734D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68A23DB7-6C32-7A00-55C8-7E3A71DCF2BF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b="1" cap="none" dirty="0"/>
              <a:t>Classification and localization</a:t>
            </a:r>
          </a:p>
        </p:txBody>
      </p:sp>
      <p:sp>
        <p:nvSpPr>
          <p:cNvPr id="11" name="AutoShape 2" descr="라이트박스에 표시된 선택된 이미지">
            <a:extLst>
              <a:ext uri="{FF2B5EF4-FFF2-40B4-BE49-F238E27FC236}">
                <a16:creationId xmlns:a16="http://schemas.microsoft.com/office/drawing/2014/main" id="{D81E2BC7-3FF5-D0E7-CDE6-83F51CC81ED3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15FC18BD-AAA9-C5E8-9BC9-62546BB9E20B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27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64D1EA6-E468-92CA-F59F-CD0546F96F91}"/>
              </a:ext>
            </a:extLst>
          </p:cNvPr>
          <p:cNvSpPr txBox="1"/>
          <p:nvPr/>
        </p:nvSpPr>
        <p:spPr>
          <a:xfrm>
            <a:off x="627061" y="1295601"/>
            <a:ext cx="10983914" cy="5262979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# 1. 사전 학습된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Xception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모델 로드 (기반 모델)</a:t>
            </a:r>
          </a:p>
          <a:p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base_model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keras.applications.xception.Xception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weights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="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imagenet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", </a:t>
            </a: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include_top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=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False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 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모델 최상단의 기존 분류기(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Dense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층)를 제거하고 특성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추출기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Feature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Extractor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)만 사용</a:t>
            </a: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en-US" altLang="ko-KR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endParaRPr lang="ko-KR" altLang="en-US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# 2. 글로벌 평균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풀링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(Global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Average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Pooling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) 적용</a:t>
            </a: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# 특성 맵(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높이x너비x채널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)의 공간 차원(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높이,너비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)을 평균 내어 1차원 벡터(채널 수)로 압축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위치에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구애받지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않고 이미지 전체 특성 요약 정보 추출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ko-KR" altLang="en-US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avg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= keras.layers.GlobalAveragePooling2D()(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base_model.output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endParaRPr lang="ko-KR" altLang="en-US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# 3. [출력 1] 이미지 분류(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Classification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) 레이어</a:t>
            </a:r>
          </a:p>
          <a:p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class_output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keras.layers.Dense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n_classes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activation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="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softmax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")(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avg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) # 분류할 클래스에 속할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확률값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(합이 1)을 출력</a:t>
            </a:r>
          </a:p>
          <a:p>
            <a:endParaRPr lang="ko-KR" altLang="en-US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# 4. [출력 2] 위치 추정(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Localization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) 레이어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유닛 수 4: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바운딩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박스를 구성하는 4개 수치 (중심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, 중심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y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, 너비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w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, 높이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h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ko-KR" altLang="en-US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loc_output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keras.layers.Dense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(4)(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avg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)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연속적인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좌표값을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예측하는 회귀(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Regression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)이므로 활성화 함수를 사용하지 않음 (선형 출력)</a:t>
            </a:r>
          </a:p>
          <a:p>
            <a:endParaRPr lang="ko-KR" altLang="en-US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# 5. 다중 출력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Keras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모델 생성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inputs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Xception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모델의 입력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텐서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outputs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: 두 개의 출력 층[분류 출력, 위치 출력]을 리스트로 묶어 전달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ko-KR" altLang="en-US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model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keras.Model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inputs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=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base_model.input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outputs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=[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class_output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loc_output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])</a:t>
            </a:r>
          </a:p>
          <a:p>
            <a:endParaRPr lang="ko-KR" altLang="en-US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# 6. 모델 컴파일 (손실 함수, 가중치,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옵티마이저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설정)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loss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: 각 출력에 맞춤 적용되는 손실 함수 리스트</a:t>
            </a: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#   -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class_output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-&gt; '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sparse_categorical_crossentropy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' (다중 클래스 정수 라벨 분류용)</a:t>
            </a: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#   -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loc_output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  -&gt; '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mse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' (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Mean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Squared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Error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: 연속된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좌표값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오차 측정용)</a:t>
            </a:r>
          </a:p>
          <a:p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model.compile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loss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=["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sparse_categorical_crossentropy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", "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mse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"],</a:t>
            </a: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loss_weights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=[0.8, 0.2],  #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loss_weights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: 전체 손실 계산 시 두 손실의 비중 조절(총 손실 = 0.8 * 분류손실 + 0.2 * 위치손실)</a:t>
            </a: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optimizer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=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optimizer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metrics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=["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accuracy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"]</a:t>
            </a: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1451435238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132E70-DF29-9194-FC54-B7F398334D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178EFE2D-7005-7876-EE8B-B7E3E0075516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b="1" cap="none" dirty="0"/>
              <a:t>Classification and localization</a:t>
            </a:r>
          </a:p>
        </p:txBody>
      </p:sp>
      <p:sp>
        <p:nvSpPr>
          <p:cNvPr id="11" name="AutoShape 2" descr="라이트박스에 표시된 선택된 이미지">
            <a:extLst>
              <a:ext uri="{FF2B5EF4-FFF2-40B4-BE49-F238E27FC236}">
                <a16:creationId xmlns:a16="http://schemas.microsoft.com/office/drawing/2014/main" id="{8BC070C7-BC06-3B39-8DCF-49EF96839BE9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236555CB-E32D-AF61-2443-C944FCF27882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28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9C59090-BF1B-9411-56FB-C3A9318D5F2C}"/>
              </a:ext>
            </a:extLst>
          </p:cNvPr>
          <p:cNvSpPr txBox="1"/>
          <p:nvPr/>
        </p:nvSpPr>
        <p:spPr>
          <a:xfrm>
            <a:off x="2074773" y="3212067"/>
            <a:ext cx="8469401" cy="968407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2000" b="0" i="0" u="none" strike="noStrike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한 이미지에 여러 객체가 존재하는 경우에는 출력의 개수가 가변적이기 때문에 </a:t>
            </a:r>
            <a:r>
              <a:rPr lang="ko-KR" altLang="en-US" sz="2000" b="1" i="0" u="none" strike="noStrike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객체 탐지</a:t>
            </a:r>
            <a:r>
              <a:rPr lang="en-US" altLang="ko-KR" sz="2000" b="1" i="0" u="none" strike="noStrike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(Object Detection)</a:t>
            </a:r>
            <a:r>
              <a:rPr lang="ko-KR" altLang="en-US" sz="2000" b="0" i="0" u="none" strike="noStrike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기법을 사용</a:t>
            </a:r>
            <a:endParaRPr lang="ko-KR" altLang="en-US" sz="20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16634853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8CF02D-B903-1C35-4D7A-DCD70CAEB4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>
            <a:extLst>
              <a:ext uri="{FF2B5EF4-FFF2-40B4-BE49-F238E27FC236}">
                <a16:creationId xmlns:a16="http://schemas.microsoft.com/office/drawing/2014/main" id="{4817381C-2C65-5C3D-2AE5-EE905592EEE8}"/>
              </a:ext>
            </a:extLst>
          </p:cNvPr>
          <p:cNvSpPr/>
          <p:nvPr/>
        </p:nvSpPr>
        <p:spPr>
          <a:xfrm>
            <a:off x="561975" y="2994244"/>
            <a:ext cx="8048625" cy="42523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9C130F05-7CCD-03EE-3EE7-5D508C942A50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b="1" cap="none" dirty="0"/>
              <a:t>Contents</a:t>
            </a:r>
          </a:p>
        </p:txBody>
      </p:sp>
      <p:sp>
        <p:nvSpPr>
          <p:cNvPr id="11" name="AutoShape 2" descr="라이트박스에 표시된 선택된 이미지">
            <a:extLst>
              <a:ext uri="{FF2B5EF4-FFF2-40B4-BE49-F238E27FC236}">
                <a16:creationId xmlns:a16="http://schemas.microsoft.com/office/drawing/2014/main" id="{DCB49FDF-02EC-0765-5699-479B84793423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48DD917C-267C-EF25-D56F-C6A22AFF03B1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29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5D8832D-FE28-08F6-B677-CE71363A383F}"/>
              </a:ext>
            </a:extLst>
          </p:cNvPr>
          <p:cNvSpPr txBox="1"/>
          <p:nvPr/>
        </p:nvSpPr>
        <p:spPr>
          <a:xfrm>
            <a:off x="723900" y="1765518"/>
            <a:ext cx="10439400" cy="2628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2400" dirty="0" err="1">
                <a:latin typeface="D2Coding" panose="020B0609020101020101" pitchFamily="49" charset="-127"/>
                <a:ea typeface="D2Coding" panose="020B0609020101020101" pitchFamily="49" charset="-127"/>
                <a:cs typeface="Cascadia Code SemiLight" panose="020B0609020000020004" pitchFamily="49" charset="0"/>
              </a:rPr>
              <a:t>Depthwise</a:t>
            </a:r>
            <a:r>
              <a:rPr lang="en-US" altLang="ko-KR" sz="2400" dirty="0">
                <a:latin typeface="D2Coding" panose="020B0609020101020101" pitchFamily="49" charset="-127"/>
                <a:ea typeface="D2Coding" panose="020B0609020101020101" pitchFamily="49" charset="-127"/>
                <a:cs typeface="Cascadia Code SemiLight" panose="020B0609020000020004" pitchFamily="49" charset="0"/>
              </a:rPr>
              <a:t> separable convolution layer</a:t>
            </a:r>
          </a:p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2400" dirty="0">
                <a:latin typeface="D2Coding" panose="020B0609020101020101" pitchFamily="49" charset="-127"/>
                <a:ea typeface="D2Coding" panose="020B0609020101020101" pitchFamily="49" charset="-127"/>
                <a:cs typeface="Cascadia Code SemiLight" panose="020B0609020000020004" pitchFamily="49" charset="0"/>
              </a:rPr>
              <a:t>Classification &amp; location</a:t>
            </a:r>
          </a:p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2400" dirty="0">
                <a:latin typeface="D2Coding" panose="020B0609020101020101" pitchFamily="49" charset="-127"/>
                <a:ea typeface="D2Coding" panose="020B0609020101020101" pitchFamily="49" charset="-127"/>
                <a:cs typeface="Cascadia Code SemiLight" panose="020B0609020000020004" pitchFamily="49" charset="0"/>
              </a:rPr>
              <a:t>Object detection</a:t>
            </a:r>
          </a:p>
          <a:p>
            <a:pPr marL="914400" lvl="1" indent="-4572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  <a:cs typeface="Cascadia Code SemiLight" panose="020B0609020000020004" pitchFamily="49" charset="0"/>
              </a:rPr>
              <a:t>Fully Convolutional Network(FCN)</a:t>
            </a:r>
          </a:p>
          <a:p>
            <a:pPr marL="914400" lvl="1" indent="-4572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  <a:cs typeface="Cascadia Code SemiLight" panose="020B0609020000020004" pitchFamily="49" charset="0"/>
              </a:rPr>
              <a:t>You Only Look Once(YOLO)</a:t>
            </a:r>
            <a:endParaRPr lang="ko-KR" altLang="en-US" sz="2400" dirty="0">
              <a:latin typeface="D2Coding" panose="020B0609020101020101" pitchFamily="49" charset="-127"/>
              <a:ea typeface="D2Coding" panose="020B0609020101020101" pitchFamily="49" charset="-127"/>
              <a:cs typeface="Cascadia Code SemiLight" panose="020B0609020000020004" pitchFamily="49" charset="0"/>
            </a:endParaRP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A31A2CC7-6A5A-6391-F98E-84C1249895F5}"/>
              </a:ext>
            </a:extLst>
          </p:cNvPr>
          <p:cNvSpPr/>
          <p:nvPr/>
        </p:nvSpPr>
        <p:spPr>
          <a:xfrm>
            <a:off x="1009650" y="3495675"/>
            <a:ext cx="7581900" cy="888538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70710333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1B2C9E-825F-96BC-A390-E33717F216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A0E6B041-A80D-8012-EFBD-8E410D1E601B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b="1" cap="none" dirty="0"/>
              <a:t>Object</a:t>
            </a:r>
            <a:r>
              <a:rPr lang="ko-KR" altLang="en-US" b="1" cap="none" dirty="0"/>
              <a:t> </a:t>
            </a:r>
            <a:r>
              <a:rPr lang="en-US" altLang="ko-KR" b="1" cap="none" dirty="0"/>
              <a:t>detection</a:t>
            </a: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6C6B081A-DD79-DC98-F769-EC74CFF4BE18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30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E0B479BF-4BE2-6360-4F7A-D26109065D0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4522" y="2150148"/>
            <a:ext cx="5284659" cy="3806432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A94D25C7-034E-D2FE-FD93-62DFADB86326}"/>
              </a:ext>
            </a:extLst>
          </p:cNvPr>
          <p:cNvSpPr txBox="1"/>
          <p:nvPr/>
        </p:nvSpPr>
        <p:spPr>
          <a:xfrm>
            <a:off x="504522" y="1198397"/>
            <a:ext cx="11182955" cy="7914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b="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이미지 내에서 여러 객체를 분류하고 위치를 찾는 작업을 객체 탐지</a:t>
            </a:r>
            <a:r>
              <a:rPr lang="en-US" altLang="ko-KR" sz="1600" b="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(Object Detection)</a:t>
            </a:r>
            <a:r>
              <a:rPr lang="ko-KR" altLang="en-US" sz="1600" b="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라고 </a:t>
            </a:r>
            <a:r>
              <a:rPr lang="ko-KR" altLang="en-US" sz="1600" dirty="0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하며 </a:t>
            </a:r>
            <a:r>
              <a:rPr lang="ko-KR" altLang="en-US" sz="1600" b="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단일 객체를 분류하고 위치를 찾기</a:t>
            </a:r>
            <a:r>
              <a:rPr lang="en-US" altLang="ko-KR" sz="1600" b="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b="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위해 </a:t>
            </a:r>
            <a:r>
              <a:rPr lang="en-US" altLang="ko-KR" sz="1600" b="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pretrained</a:t>
            </a:r>
            <a:r>
              <a:rPr lang="ko-KR" altLang="en-US" sz="1600" b="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b="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CNN</a:t>
            </a:r>
            <a:r>
              <a:rPr lang="ko-KR" altLang="en-US" sz="1600" b="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을 가져와 이미지 위에서 슬라이딩</a:t>
            </a:r>
            <a:r>
              <a:rPr lang="en-US" altLang="ko-KR" sz="1600" b="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b="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슬라이딩 윈도우</a:t>
            </a:r>
            <a:r>
              <a:rPr lang="en-US" altLang="ko-KR" sz="1600" b="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b="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시키는 </a:t>
            </a:r>
            <a:r>
              <a:rPr lang="ko-KR" altLang="en-US" sz="1600" dirty="0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접근 방법</a:t>
            </a:r>
            <a:r>
              <a:rPr lang="en-US" altLang="ko-KR" sz="1600" dirty="0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 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CE622E3-34A8-1059-8A16-AB3C6F8BAA29}"/>
              </a:ext>
            </a:extLst>
          </p:cNvPr>
          <p:cNvSpPr txBox="1"/>
          <p:nvPr/>
        </p:nvSpPr>
        <p:spPr>
          <a:xfrm>
            <a:off x="373190" y="5983578"/>
            <a:ext cx="60960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Detecting multiple objects by sliding a CNN across the image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B123EE08-A26B-B5A2-1EE7-84E3F56915BD}"/>
              </a:ext>
            </a:extLst>
          </p:cNvPr>
          <p:cNvSpPr txBox="1"/>
          <p:nvPr/>
        </p:nvSpPr>
        <p:spPr>
          <a:xfrm>
            <a:off x="5828103" y="2153655"/>
            <a:ext cx="5735247" cy="366497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marL="342900" indent="-342900" fontAlgn="base">
              <a:lnSpc>
                <a:spcPct val="150000"/>
              </a:lnSpc>
              <a:buFont typeface="+mj-lt"/>
              <a:buAutoNum type="arabicPeriod"/>
            </a:pPr>
            <a:r>
              <a:rPr lang="ko-KR" altLang="en-US" sz="12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격자 분할 및 검은색 상자 </a:t>
            </a:r>
            <a:r>
              <a:rPr lang="en-US" altLang="ko-KR" sz="12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(3,3) Sliding Window:</a:t>
            </a:r>
            <a:r>
              <a:rPr lang="ko-KR" altLang="en-US" sz="12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이미지를 </a:t>
            </a:r>
            <a:r>
              <a:rPr lang="en-US" altLang="ko-KR" sz="1200" dirty="0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2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6,8) </a:t>
            </a:r>
            <a:r>
              <a:rPr lang="ko-KR" altLang="en-US" sz="12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격자로 분할한 후</a:t>
            </a:r>
            <a:r>
              <a:rPr lang="en-US" altLang="ko-KR" sz="12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2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검은색 두꺼운 </a:t>
            </a:r>
            <a:r>
              <a:rPr lang="en-US" altLang="ko-KR" sz="1200" dirty="0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(3,3)</a:t>
            </a:r>
            <a:r>
              <a:rPr lang="en-US" altLang="ko-KR" sz="12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2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영역</a:t>
            </a:r>
            <a:r>
              <a:rPr lang="en-US" altLang="ko-KR" sz="12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(CNN)</a:t>
            </a:r>
            <a:r>
              <a:rPr lang="ko-KR" altLang="en-US" sz="12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을 화살표 방향으로 한 칸씩 이동시키며 객체를 탐지</a:t>
            </a:r>
            <a:endParaRPr lang="en-US" altLang="ko-KR" sz="1200" i="0" u="none" strike="noStrike" dirty="0">
              <a:solidFill>
                <a:srgbClr val="000000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indent="-342900" rtl="0" fontAlgn="base">
              <a:lnSpc>
                <a:spcPct val="150000"/>
              </a:lnSpc>
              <a:buFont typeface="+mj-lt"/>
              <a:buAutoNum type="arabicPeriod"/>
            </a:pPr>
            <a:r>
              <a:rPr lang="ko-KR" altLang="en-US" sz="12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빨간색 </a:t>
            </a:r>
            <a:r>
              <a:rPr lang="ko-KR" altLang="en-US" sz="1200" i="0" u="none" strike="noStrike" dirty="0" err="1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바운딩</a:t>
            </a:r>
            <a:r>
              <a:rPr lang="ko-KR" altLang="en-US" sz="12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박스 </a:t>
            </a:r>
            <a:r>
              <a:rPr lang="en-US" altLang="ko-KR" sz="12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2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중복 예측 발생</a:t>
            </a:r>
            <a:r>
              <a:rPr lang="en-US" altLang="ko-KR" sz="12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):</a:t>
            </a:r>
            <a:r>
              <a:rPr lang="ko-KR" altLang="en-US" sz="12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윈도우가 이동할 때마다 동일한 꽃이 반복 검출되어 이동 경로상에 위치한 객체는 여러 개의 중복된 빨간색 상자로 감지</a:t>
            </a:r>
            <a:endParaRPr lang="en-US" altLang="ko-KR" sz="1200" i="0" u="none" strike="noStrike" dirty="0">
              <a:solidFill>
                <a:srgbClr val="000000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indent="-342900" rtl="0" fontAlgn="base">
              <a:lnSpc>
                <a:spcPct val="150000"/>
              </a:lnSpc>
              <a:buFont typeface="+mj-lt"/>
              <a:buAutoNum type="arabicPeriod"/>
            </a:pPr>
            <a:r>
              <a:rPr lang="ko-KR" altLang="en-US" sz="12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박스 두께 </a:t>
            </a:r>
            <a:r>
              <a:rPr lang="en-US" altLang="ko-KR" sz="12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200" i="0" u="none" strike="noStrike" dirty="0" err="1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Objectness</a:t>
            </a:r>
            <a:r>
              <a:rPr lang="en-US" altLang="ko-KR" sz="12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Score):</a:t>
            </a:r>
            <a:r>
              <a:rPr lang="ko-KR" altLang="en-US" sz="12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중앙 상단 장미 위의 두꺼운 빨간색 상자는 </a:t>
            </a:r>
            <a:r>
              <a:rPr lang="en-US" altLang="ko-KR" sz="12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'</a:t>
            </a:r>
            <a:r>
              <a:rPr lang="ko-KR" altLang="en-US" sz="12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객체성 점수</a:t>
            </a:r>
            <a:r>
              <a:rPr lang="en-US" altLang="ko-KR" sz="12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2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꽃이 존재할 확률</a:t>
            </a:r>
            <a:r>
              <a:rPr lang="en-US" altLang="ko-KR" sz="12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)'</a:t>
            </a:r>
            <a:r>
              <a:rPr lang="ko-KR" altLang="en-US" sz="12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가 가장 높음</a:t>
            </a:r>
            <a:endParaRPr lang="en-US" altLang="ko-KR" sz="1200" i="0" u="none" strike="noStrike" dirty="0">
              <a:solidFill>
                <a:srgbClr val="000000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indent="-342900" rtl="0" fontAlgn="base">
              <a:lnSpc>
                <a:spcPct val="150000"/>
              </a:lnSpc>
              <a:buFont typeface="+mj-lt"/>
              <a:buAutoNum type="arabicPeriod"/>
            </a:pPr>
            <a:r>
              <a:rPr lang="en-US" altLang="ko-KR" sz="12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NMS(</a:t>
            </a:r>
            <a:r>
              <a:rPr lang="ko-KR" altLang="en-US" sz="1200" i="0" u="none" strike="noStrike" dirty="0" err="1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비최대</a:t>
            </a:r>
            <a:r>
              <a:rPr lang="ko-KR" altLang="en-US" sz="12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억제</a:t>
            </a:r>
            <a:r>
              <a:rPr lang="en-US" altLang="ko-KR" sz="12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 </a:t>
            </a:r>
            <a:r>
              <a:rPr lang="ko-KR" altLang="en-US" sz="12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적용</a:t>
            </a:r>
            <a:r>
              <a:rPr lang="en-US" altLang="ko-KR" sz="12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</a:t>
            </a:r>
            <a:r>
              <a:rPr lang="ko-KR" altLang="en-US" sz="12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가장 두꺼운</a:t>
            </a:r>
            <a:r>
              <a:rPr lang="en-US" altLang="ko-KR" sz="12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2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점수가 높은</a:t>
            </a:r>
            <a:r>
              <a:rPr lang="en-US" altLang="ko-KR" sz="12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 </a:t>
            </a:r>
            <a:r>
              <a:rPr lang="ko-KR" altLang="en-US" sz="12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상자와 높은 비율</a:t>
            </a:r>
            <a:r>
              <a:rPr lang="en-US" altLang="ko-KR" sz="12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2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예</a:t>
            </a:r>
            <a:r>
              <a:rPr lang="en-US" altLang="ko-KR" sz="12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en-US" altLang="ko-KR" sz="1200" i="0" u="none" strike="noStrike" dirty="0" err="1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IoU</a:t>
            </a:r>
            <a:r>
              <a:rPr lang="en-US" altLang="ko-KR" sz="12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60% </a:t>
            </a:r>
            <a:r>
              <a:rPr lang="ko-KR" altLang="en-US" sz="12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이상</a:t>
            </a:r>
            <a:r>
              <a:rPr lang="en-US" altLang="ko-KR" sz="12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2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로 겹치는 주변의 얇은 빨간색 상자들을 순차적으로 제거하여 최종 </a:t>
            </a:r>
            <a:r>
              <a:rPr lang="en-US" altLang="ko-KR" sz="12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1</a:t>
            </a:r>
            <a:r>
              <a:rPr lang="ko-KR" altLang="en-US" sz="12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개의 상자만 남김</a:t>
            </a:r>
            <a:endParaRPr lang="en-US" altLang="ko-KR" sz="1200" i="0" u="none" strike="noStrike" dirty="0">
              <a:solidFill>
                <a:srgbClr val="000000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indent="-342900" rtl="0" fontAlgn="base">
              <a:lnSpc>
                <a:spcPct val="150000"/>
              </a:lnSpc>
              <a:spcAft>
                <a:spcPts val="1200"/>
              </a:spcAft>
              <a:buFont typeface="+mj-lt"/>
              <a:buAutoNum type="arabicPeriod"/>
            </a:pPr>
            <a:r>
              <a:rPr lang="ko-KR" altLang="en-US" sz="12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치명적 단점</a:t>
            </a:r>
            <a:r>
              <a:rPr lang="en-US" altLang="ko-KR" sz="12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</a:t>
            </a:r>
            <a:r>
              <a:rPr lang="ko-KR" altLang="en-US" sz="12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단일 이미지를 수십</a:t>
            </a:r>
            <a:r>
              <a:rPr lang="en-US" altLang="ko-KR" sz="12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~</a:t>
            </a:r>
            <a:r>
              <a:rPr lang="ko-KR" altLang="en-US" sz="12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수백 번 나누어 </a:t>
            </a:r>
            <a:r>
              <a:rPr lang="en-US" altLang="ko-KR" sz="12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CNN</a:t>
            </a:r>
            <a:r>
              <a:rPr lang="ko-KR" altLang="en-US" sz="12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에 통과시켜야 하므로 </a:t>
            </a:r>
            <a:r>
              <a:rPr lang="ko-KR" altLang="en-US" sz="1200" i="0" u="none" strike="noStrike" dirty="0" err="1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연산량이</a:t>
            </a:r>
            <a:r>
              <a:rPr lang="ko-KR" altLang="en-US" sz="12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매우 많고 속도가 느림</a:t>
            </a:r>
            <a:endParaRPr lang="en-US" altLang="ko-KR" sz="1200" i="0" u="none" strike="noStrike" dirty="0">
              <a:solidFill>
                <a:srgbClr val="000000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A20567C3-E1C3-3DFB-84D7-A0FAFF3F2AAB}"/>
              </a:ext>
            </a:extLst>
          </p:cNvPr>
          <p:cNvSpPr txBox="1"/>
          <p:nvPr/>
        </p:nvSpPr>
        <p:spPr>
          <a:xfrm>
            <a:off x="373190" y="6222128"/>
            <a:ext cx="5838306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Hands-on Machine Learning with Scikit-Learn,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Keras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&amp; TensorFlow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277264817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701291-65B8-2607-A763-35978B2EEB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A1103A78-68E8-3D11-979E-0F379E147671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b="1" cap="none" dirty="0"/>
              <a:t>Object</a:t>
            </a:r>
            <a:r>
              <a:rPr lang="ko-KR" altLang="en-US" b="1" cap="none" dirty="0"/>
              <a:t> </a:t>
            </a:r>
            <a:r>
              <a:rPr lang="en-US" altLang="ko-KR" b="1" cap="none" dirty="0"/>
              <a:t>detection</a:t>
            </a: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0F38DC3E-636F-014F-6DE4-581671C359AB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31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41AB3F19-AA13-4959-3E7B-F51CA1D700F0}"/>
              </a:ext>
            </a:extLst>
          </p:cNvPr>
          <p:cNvSpPr txBox="1"/>
          <p:nvPr/>
        </p:nvSpPr>
        <p:spPr>
          <a:xfrm>
            <a:off x="1546759" y="3024095"/>
            <a:ext cx="9282648" cy="1430071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 rtl="0">
              <a:lnSpc>
                <a:spcPct val="150000"/>
              </a:lnSpc>
              <a:spcAft>
                <a:spcPts val="1200"/>
              </a:spcAft>
              <a:buNone/>
            </a:pPr>
            <a:r>
              <a:rPr lang="ko-KR" altLang="en-US" sz="2000" b="0" i="0" u="none" strike="noStrike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단순한 객체 탐지 접근법은 잘 작동하지만</a:t>
            </a:r>
            <a:r>
              <a:rPr lang="en-US" altLang="ko-KR" sz="2000" b="0" i="0" u="none" strike="noStrike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CNN</a:t>
            </a:r>
            <a:r>
              <a:rPr lang="ko-KR" altLang="en-US" sz="2000" b="0" i="0" u="none" strike="noStrike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을 매우 많이 실행해야 하므로 속도가 상당히 </a:t>
            </a:r>
            <a:r>
              <a:rPr lang="ko-KR" altLang="en-US" sz="2000" b="0" i="0" u="none" strike="noStrike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느</a:t>
            </a:r>
            <a:r>
              <a:rPr lang="ko-KR" altLang="en-US" sz="20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리지마</a:t>
            </a:r>
            <a:r>
              <a:rPr lang="ko-KR" altLang="en-US" sz="20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2000" b="0" i="0" u="none" strike="noStrike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완전 </a:t>
            </a:r>
            <a:r>
              <a:rPr lang="ko-KR" altLang="en-US" sz="2000" b="0" i="0" u="none" strike="noStrike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합성곱</a:t>
            </a:r>
            <a:r>
              <a:rPr lang="ko-KR" altLang="en-US" sz="2000" b="0" i="0" u="none" strike="noStrike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신경망</a:t>
            </a:r>
            <a:r>
              <a:rPr lang="en-US" altLang="ko-KR" sz="2000" b="0" i="0" u="none" strike="noStrike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(FCN)</a:t>
            </a:r>
            <a:r>
              <a:rPr lang="ko-KR" altLang="en-US" sz="2000" b="0" i="0" u="none" strike="noStrike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을 사용하면 </a:t>
            </a:r>
            <a:r>
              <a:rPr lang="en-US" altLang="ko-KR" sz="2000" b="0" i="0" u="none" strike="noStrike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CNN</a:t>
            </a:r>
            <a:r>
              <a:rPr lang="ko-KR" altLang="en-US" sz="2000" b="0" i="0" u="none" strike="noStrike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을 이미지 위로 훨씬 빠르게 </a:t>
            </a:r>
            <a:r>
              <a:rPr lang="ko-KR" altLang="en-US" sz="2000" b="0" i="0" u="none" strike="noStrike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슬라이딩시킬</a:t>
            </a:r>
            <a:r>
              <a:rPr lang="ko-KR" altLang="en-US" sz="2000" b="0" i="0" u="none" strike="noStrike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수 있음</a:t>
            </a:r>
            <a:endParaRPr lang="ko-KR" altLang="en-US" sz="20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581758146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F87C48-2054-356F-D59A-A1610505F4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A40EE87D-1355-D2E8-BF7C-16F0609FAC0C}"/>
              </a:ext>
            </a:extLst>
          </p:cNvPr>
          <p:cNvSpPr/>
          <p:nvPr/>
        </p:nvSpPr>
        <p:spPr>
          <a:xfrm>
            <a:off x="723900" y="4147610"/>
            <a:ext cx="10791825" cy="415707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46F33DF2-9EF9-7B85-A8F1-4E5ECE795362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b="1" cap="none" dirty="0"/>
              <a:t>Scopes</a:t>
            </a:r>
          </a:p>
        </p:txBody>
      </p:sp>
      <p:sp>
        <p:nvSpPr>
          <p:cNvPr id="11" name="AutoShape 2" descr="라이트박스에 표시된 선택된 이미지">
            <a:extLst>
              <a:ext uri="{FF2B5EF4-FFF2-40B4-BE49-F238E27FC236}">
                <a16:creationId xmlns:a16="http://schemas.microsoft.com/office/drawing/2014/main" id="{24A5ED47-BDF3-5C20-B866-F6754BFC48DA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42BACCE-73EC-634D-67DE-20A01E2109F6}"/>
              </a:ext>
            </a:extLst>
          </p:cNvPr>
          <p:cNvSpPr txBox="1"/>
          <p:nvPr/>
        </p:nvSpPr>
        <p:spPr>
          <a:xfrm>
            <a:off x="864719" y="2022685"/>
            <a:ext cx="10462561" cy="25406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just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dirty="0">
                <a:latin typeface="Century Gothic" panose="020B050202020202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“Hands-on Machine Learning with Scikit-Learn, </a:t>
            </a:r>
            <a:r>
              <a:rPr lang="en-US" altLang="ko-KR" dirty="0" err="1">
                <a:latin typeface="Century Gothic" panose="020B050202020202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Keras</a:t>
            </a:r>
            <a:r>
              <a:rPr lang="en-US" altLang="ko-KR" dirty="0">
                <a:latin typeface="Century Gothic" panose="020B050202020202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 &amp; TensorFlow”</a:t>
            </a:r>
            <a:r>
              <a:rPr lang="ko-KR" altLang="en-US" dirty="0">
                <a:latin typeface="Century Gothic" panose="020B0502020202020204" pitchFamily="34" charset="0"/>
                <a:ea typeface="D2Coding" panose="020B0609020101020101" pitchFamily="49" charset="-127"/>
                <a:cs typeface="Calibri Light" panose="020F0302020204030204" pitchFamily="34" charset="0"/>
              </a:rPr>
              <a:t>의</a:t>
            </a:r>
            <a:r>
              <a:rPr lang="en-US" altLang="ko-KR" dirty="0">
                <a:latin typeface="Century Gothic" panose="020B050202020202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 CHAPTER 14 Deep Computer Vision Using Convolutional Neural Networks</a:t>
            </a:r>
            <a:r>
              <a:rPr lang="ko-KR" altLang="en-US" dirty="0">
                <a:latin typeface="Century Gothic" panose="020B0502020202020204" pitchFamily="34" charset="0"/>
                <a:ea typeface="D2Coding" panose="020B0609020101020101" pitchFamily="49" charset="-127"/>
                <a:cs typeface="Calibri Light" panose="020F0302020204030204" pitchFamily="34" charset="0"/>
              </a:rPr>
              <a:t>의 </a:t>
            </a:r>
            <a:r>
              <a:rPr lang="en-US" altLang="ko-KR" b="1" dirty="0">
                <a:latin typeface="Century Gothic" panose="020B050202020202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Classification and Localization, Object Detection, Fully Convolutional Networks </a:t>
            </a:r>
            <a:r>
              <a:rPr lang="ko-KR" altLang="en-US" dirty="0">
                <a:latin typeface="Century Gothic" panose="020B0502020202020204" pitchFamily="34" charset="0"/>
                <a:ea typeface="D2Coding" panose="020B0609020101020101" pitchFamily="49" charset="-127"/>
                <a:cs typeface="Calibri Light" panose="020F0302020204030204" pitchFamily="34" charset="0"/>
              </a:rPr>
              <a:t>의 내용을 </a:t>
            </a:r>
            <a:r>
              <a:rPr lang="en-US" altLang="ko-KR" dirty="0">
                <a:latin typeface="Century Gothic" panose="020B050202020202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merge</a:t>
            </a:r>
            <a:r>
              <a:rPr lang="ko-KR" altLang="en-US" dirty="0">
                <a:latin typeface="Century Gothic" panose="020B0502020202020204" pitchFamily="34" charset="0"/>
                <a:ea typeface="D2Coding" panose="020B0609020101020101" pitchFamily="49" charset="-127"/>
                <a:cs typeface="Calibri Light" panose="020F0302020204030204" pitchFamily="34" charset="0"/>
              </a:rPr>
              <a:t>하여 구성</a:t>
            </a:r>
            <a:r>
              <a:rPr lang="en-US" altLang="ko-KR" dirty="0">
                <a:latin typeface="Century Gothic" panose="020B0502020202020204" pitchFamily="34" charset="0"/>
                <a:ea typeface="D2Coding" panose="020B0609020101020101" pitchFamily="49" charset="-127"/>
                <a:cs typeface="Calibri Light" panose="020F0302020204030204" pitchFamily="34" charset="0"/>
              </a:rPr>
              <a:t>(</a:t>
            </a:r>
            <a:r>
              <a:rPr lang="en-US" altLang="ko-KR" dirty="0">
                <a:latin typeface="Century Gothic" panose="020B050202020202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YOLO</a:t>
            </a:r>
            <a:r>
              <a:rPr lang="ko-KR" altLang="en-US" dirty="0">
                <a:latin typeface="Century Gothic" panose="020B0502020202020204" pitchFamily="34" charset="0"/>
                <a:ea typeface="D2Coding" panose="020B0609020101020101" pitchFamily="49" charset="-127"/>
                <a:cs typeface="Calibri Light" panose="020F0302020204030204" pitchFamily="34" charset="0"/>
              </a:rPr>
              <a:t>는 제외</a:t>
            </a:r>
            <a:r>
              <a:rPr lang="en-US" altLang="ko-KR" dirty="0">
                <a:latin typeface="Century Gothic" panose="020B0502020202020204" pitchFamily="34" charset="0"/>
                <a:ea typeface="D2Coding" panose="020B0609020101020101" pitchFamily="49" charset="-127"/>
                <a:cs typeface="Calibri Light" panose="020F0302020204030204" pitchFamily="34" charset="0"/>
              </a:rPr>
              <a:t>)</a:t>
            </a:r>
          </a:p>
          <a:p>
            <a:pPr marL="285750" indent="-285750" algn="just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dirty="0">
              <a:latin typeface="Century Gothic" panose="020B0502020202020204" pitchFamily="34" charset="0"/>
              <a:ea typeface="D2Coding" panose="020B0609020101020101" pitchFamily="49" charset="-127"/>
              <a:cs typeface="Calibri Light" panose="020F0302020204030204" pitchFamily="34" charset="0"/>
            </a:endParaRPr>
          </a:p>
          <a:p>
            <a:pPr marL="285750" indent="-285750" algn="just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dirty="0">
              <a:latin typeface="Century Gothic" panose="020B0502020202020204" pitchFamily="34" charset="0"/>
              <a:ea typeface="D2Coding" panose="020B0609020101020101" pitchFamily="49" charset="-127"/>
              <a:cs typeface="Calibri Light" panose="020F0302020204030204" pitchFamily="34" charset="0"/>
            </a:endParaRPr>
          </a:p>
          <a:p>
            <a:pPr marL="285750" indent="-285750" algn="just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Century Gothic" panose="020B0502020202020204" pitchFamily="34" charset="0"/>
                <a:ea typeface="D2Coding" panose="020B0609020101020101" pitchFamily="49" charset="-127"/>
                <a:cs typeface="Calibri Light" panose="020F0302020204030204" pitchFamily="34" charset="0"/>
              </a:rPr>
              <a:t>실습코드</a:t>
            </a:r>
            <a:r>
              <a:rPr lang="en-US" altLang="ko-KR" b="0" i="0" dirty="0">
                <a:effectLst/>
                <a:latin typeface="Century Gothic" panose="020B0502020202020204" pitchFamily="34" charset="0"/>
                <a:ea typeface="D2Coding" panose="020B0609020101020101" pitchFamily="49" charset="-127"/>
                <a:cs typeface="Calibri Light" panose="020F0302020204030204" pitchFamily="34" charset="0"/>
              </a:rPr>
              <a:t> : </a:t>
            </a:r>
            <a:r>
              <a:rPr lang="en-US" altLang="ko-KR" dirty="0">
                <a:solidFill>
                  <a:schemeClr val="accent1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Chapter 14 – Deep Computer Vision Using Convolutional Neural Networks</a:t>
            </a:r>
            <a:r>
              <a:rPr lang="ko-KR" altLang="en-US" b="0" i="0" dirty="0">
                <a:effectLst/>
                <a:latin typeface="Century Gothic" panose="020B0502020202020204" pitchFamily="34" charset="0"/>
                <a:ea typeface="D2Coding" panose="020B0609020101020101" pitchFamily="49" charset="-127"/>
                <a:cs typeface="Calibri Light" panose="020F0302020204030204" pitchFamily="34" charset="0"/>
              </a:rPr>
              <a:t> </a:t>
            </a:r>
            <a:endParaRPr lang="en-US" altLang="ko-KR" b="0" i="0" dirty="0">
              <a:effectLst/>
              <a:latin typeface="Century Gothic" panose="020B0502020202020204" pitchFamily="34" charset="0"/>
              <a:ea typeface="Calibri Light" panose="020F0302020204030204" pitchFamily="34" charset="0"/>
              <a:cs typeface="Calibri Light" panose="020F03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36083154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DFCF0E-8279-5950-B1BF-6EC66B29AC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917ED156-85F9-6361-3035-1239A3E2769F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1. FCN(Fully Convolutional Network)</a:t>
            </a:r>
          </a:p>
        </p:txBody>
      </p:sp>
      <p:sp>
        <p:nvSpPr>
          <p:cNvPr id="11" name="AutoShape 2" descr="라이트박스에 표시된 선택된 이미지">
            <a:extLst>
              <a:ext uri="{FF2B5EF4-FFF2-40B4-BE49-F238E27FC236}">
                <a16:creationId xmlns:a16="http://schemas.microsoft.com/office/drawing/2014/main" id="{D2CE9B3E-06D9-44DF-9A00-76DE6680F8F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1D1608F-8CF6-C5EC-D05C-B1B11B113B23}"/>
              </a:ext>
            </a:extLst>
          </p:cNvPr>
          <p:cNvSpPr txBox="1"/>
          <p:nvPr/>
        </p:nvSpPr>
        <p:spPr>
          <a:xfrm>
            <a:off x="595009" y="1248422"/>
            <a:ext cx="11306781" cy="7833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FCN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은 마지막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Feature Map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 각 위치가 원본 이미지의 특정 영역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(Receptive Field)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을 대표하기 때문에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512×512 = 262,144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개의 픽셀을 각각 분류할 수 있는 반면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CNN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은 이미지 하나를 보고 고양이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/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 를 분류</a:t>
            </a:r>
            <a:endParaRPr lang="en-US" altLang="ko-KR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53A01D30-844C-E202-00FE-426847097A0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0785" y="2287838"/>
            <a:ext cx="8449179" cy="4200760"/>
          </a:xfrm>
          <a:prstGeom prst="rect">
            <a:avLst/>
          </a:prstGeom>
        </p:spPr>
      </p:pic>
      <p:sp>
        <p:nvSpPr>
          <p:cNvPr id="13" name="설명선: 굽은 선 12">
            <a:extLst>
              <a:ext uri="{FF2B5EF4-FFF2-40B4-BE49-F238E27FC236}">
                <a16:creationId xmlns:a16="http://schemas.microsoft.com/office/drawing/2014/main" id="{C662D493-A15E-6095-12C4-C4746D856562}"/>
              </a:ext>
            </a:extLst>
          </p:cNvPr>
          <p:cNvSpPr/>
          <p:nvPr/>
        </p:nvSpPr>
        <p:spPr>
          <a:xfrm>
            <a:off x="8808370" y="2606007"/>
            <a:ext cx="2154905" cy="857250"/>
          </a:xfrm>
          <a:prstGeom prst="borderCallout2">
            <a:avLst>
              <a:gd name="adj1" fmla="val 18750"/>
              <a:gd name="adj2" fmla="val -8333"/>
              <a:gd name="adj3" fmla="val 18750"/>
              <a:gd name="adj4" fmla="val -16667"/>
              <a:gd name="adj5" fmla="val 275833"/>
              <a:gd name="adj6" fmla="val -64475"/>
            </a:avLst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마지막 레이어에 적힌 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21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이라는 숫자는 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21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개의 클래스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배경 포함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픽셀 단위로 분류</a:t>
            </a:r>
            <a:endParaRPr lang="ko-KR" altLang="en-US" sz="1400" dirty="0"/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2F3D8F0D-9E88-8710-0959-0475B5207D08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33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82945924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802734-AA6A-E730-3531-0054C5EEA8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2DFADB4A-FE33-2CB5-920A-08149AB4CC44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2. YOLO: </a:t>
            </a:r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YOLO Object Detection</a:t>
            </a:r>
            <a:endParaRPr lang="ko-KR" altLang="en-US" sz="2800" cap="none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16" name="그림 15">
            <a:extLst>
              <a:ext uri="{FF2B5EF4-FFF2-40B4-BE49-F238E27FC236}">
                <a16:creationId xmlns:a16="http://schemas.microsoft.com/office/drawing/2014/main" id="{2686F96D-48F0-A770-6A20-E3AC1FC846E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76400" y="2271044"/>
            <a:ext cx="9153007" cy="4282156"/>
          </a:xfrm>
          <a:prstGeom prst="rect">
            <a:avLst/>
          </a:prstGeom>
        </p:spPr>
      </p:pic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24D42A75-55A6-D0EA-687B-4F1DEE0F17DC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34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ACA8B57-B87B-36EE-05E7-A3D419028FD4}"/>
              </a:ext>
            </a:extLst>
          </p:cNvPr>
          <p:cNvSpPr txBox="1"/>
          <p:nvPr/>
        </p:nvSpPr>
        <p:spPr>
          <a:xfrm>
            <a:off x="552449" y="1162697"/>
            <a:ext cx="11163905" cy="8808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격자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(Grid)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기반 예측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, K-Means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앵커 박스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다중 스케일 학습을 결합하여 실시간 속도와 높은 정확도를 동시에 달성한 대표적인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1-Stage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객체 탐지 모델</a:t>
            </a:r>
          </a:p>
        </p:txBody>
      </p:sp>
    </p:spTree>
    <p:extLst>
      <p:ext uri="{BB962C8B-B14F-4D97-AF65-F5344CB8AC3E}">
        <p14:creationId xmlns:p14="http://schemas.microsoft.com/office/powerpoint/2010/main" val="3821591206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B326FB-150E-BE96-08E2-0796224620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FCBB2FC7-ABBB-6EF3-A901-A983D707DAD0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YOLO</a:t>
            </a:r>
            <a:endParaRPr lang="ko-KR" altLang="en-US" sz="2800" cap="none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17" name="그림 16">
            <a:extLst>
              <a:ext uri="{FF2B5EF4-FFF2-40B4-BE49-F238E27FC236}">
                <a16:creationId xmlns:a16="http://schemas.microsoft.com/office/drawing/2014/main" id="{AE399E9D-0E06-6644-28CE-43E6B82352B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68356" y="1685745"/>
            <a:ext cx="9600234" cy="4562655"/>
          </a:xfrm>
          <a:prstGeom prst="rect">
            <a:avLst/>
          </a:prstGeom>
        </p:spPr>
      </p:pic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16B6FE93-8F9C-2CD9-9720-9166D0930C2F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35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28371270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04C44D-F297-6601-F332-F8D92566EC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9F4A44E6-D3E3-3C22-7F65-FB46DBF44792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YOLO: </a:t>
            </a:r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What is YOLO algorithm?</a:t>
            </a:r>
            <a:endParaRPr lang="ko-KR" altLang="en-US" sz="2800" cap="none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42EE9355-BCE3-59B9-FB09-0D84B020EFD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82724" y="1483553"/>
            <a:ext cx="7635902" cy="4892464"/>
          </a:xfrm>
          <a:prstGeom prst="rect">
            <a:avLst/>
          </a:prstGeom>
        </p:spPr>
      </p:pic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C055DAF3-2BDD-C656-D925-22A8DC1FB2F6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36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B3DF049-3986-4035-63B3-9F47E00320F1}"/>
              </a:ext>
            </a:extLst>
          </p:cNvPr>
          <p:cNvSpPr txBox="1"/>
          <p:nvPr/>
        </p:nvSpPr>
        <p:spPr>
          <a:xfrm>
            <a:off x="9296400" y="2706469"/>
            <a:ext cx="248602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200" dirty="0">
                <a:hlinkClick r:id="rId4"/>
              </a:rPr>
              <a:t>https://www.ted.com/talks/joseph_redmon_how_computers_learn_to_recognize_objects_instantly</a:t>
            </a:r>
            <a:r>
              <a:rPr lang="ko-KR" altLang="en-US" sz="1200" dirty="0"/>
              <a:t> 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C13EE0D-DFD6-4D4E-D203-E3CB1C3A7F0F}"/>
              </a:ext>
            </a:extLst>
          </p:cNvPr>
          <p:cNvSpPr txBox="1"/>
          <p:nvPr/>
        </p:nvSpPr>
        <p:spPr>
          <a:xfrm>
            <a:off x="9394838" y="4239310"/>
            <a:ext cx="242887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200" dirty="0">
                <a:hlinkClick r:id="rId5"/>
              </a:rPr>
              <a:t>https://www.ted.com/talks/fei_fei_li_how_we_re_teaching_computers_to_understand_pictures</a:t>
            </a:r>
            <a:r>
              <a:rPr lang="ko-KR" altLang="en-US" sz="120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279596523"/>
      </p:ext>
    </p:extLst>
  </p:cSld>
  <p:clrMapOvr>
    <a:masterClrMapping/>
  </p:clrMapOvr>
</p:sld>
</file>

<file path=ppt/theme/theme1.xml><?xml version="1.0" encoding="utf-8"?>
<a:theme xmlns:a="http://schemas.openxmlformats.org/drawingml/2006/main" name="WelcomeDoc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Segoe UI">
      <a:majorFont>
        <a:latin typeface="Segoe UI Light"/>
        <a:ea typeface=""/>
        <a:cs typeface=""/>
      </a:majorFont>
      <a:minorFont>
        <a:latin typeface="Segoe U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_60957323_TF10001108_Win32.potx" id="{89E2DA47-811B-41FC-8101-7BA0FB62AE2C}" vid="{0AAAB8A4-2457-4279-BA92-56392840B1F0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{9FD8D820-F221-4C2D-97F8-71B66FDCF583}TF2989475c-5427-4edb-9ec1-00f4ce72165be756b0ce_win32-2ff1dad8fff0</Template>
  <TotalTime>9558</TotalTime>
  <Words>3352</Words>
  <Application>Microsoft Office PowerPoint</Application>
  <PresentationFormat>와이드스크린</PresentationFormat>
  <Paragraphs>436</Paragraphs>
  <Slides>36</Slides>
  <Notes>4</Notes>
  <HiddenSlides>0</HiddenSlides>
  <MMClips>0</MMClips>
  <ScaleCrop>false</ScaleCrop>
  <HeadingPairs>
    <vt:vector size="6" baseType="variant">
      <vt:variant>
        <vt:lpstr>사용한 글꼴</vt:lpstr>
      </vt:variant>
      <vt:variant>
        <vt:i4>10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36</vt:i4>
      </vt:variant>
    </vt:vector>
  </HeadingPairs>
  <TitlesOfParts>
    <vt:vector size="47" baseType="lpstr">
      <vt:lpstr>D2Coding</vt:lpstr>
      <vt:lpstr>맑은 고딕</vt:lpstr>
      <vt:lpstr>맑은 고딕 Semilight</vt:lpstr>
      <vt:lpstr>Batang</vt:lpstr>
      <vt:lpstr>Arial</vt:lpstr>
      <vt:lpstr>Century Gothic</vt:lpstr>
      <vt:lpstr>Segoe UI Emoji</vt:lpstr>
      <vt:lpstr>Tahoma</vt:lpstr>
      <vt:lpstr>Times New Roman</vt:lpstr>
      <vt:lpstr>Wingdings</vt:lpstr>
      <vt:lpstr>WelcomeDoc</vt:lpstr>
      <vt:lpstr>Image Segmentation</vt:lpstr>
      <vt:lpstr>PowerPoint 프레젠테이션</vt:lpstr>
      <vt:lpstr>Deep Learning with Python  Chapter 11. Image Segmentation 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FCN(Fully Convolutional Network)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Hands-on Machine Learning with Scikit-Learn, Keras &amp; TensorFlow  Chapter 14. Deep Computer Vision Using Convolutional Neural Networks 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조상구</dc:creator>
  <cp:keywords/>
  <cp:lastModifiedBy>Sanggoo Cho</cp:lastModifiedBy>
  <cp:revision>150</cp:revision>
  <dcterms:created xsi:type="dcterms:W3CDTF">2026-04-06T01:00:39Z</dcterms:created>
  <dcterms:modified xsi:type="dcterms:W3CDTF">2026-09-19T05:39:49Z</dcterms:modified>
  <cp:version/>
</cp:coreProperties>
</file>