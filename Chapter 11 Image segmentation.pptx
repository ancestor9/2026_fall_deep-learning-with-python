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2"/>
  </p:notesMasterIdLst>
  <p:handoutMasterIdLst>
    <p:handoutMasterId r:id="rId33"/>
  </p:handoutMasterIdLst>
  <p:sldIdLst>
    <p:sldId id="256" r:id="rId2"/>
    <p:sldId id="1139" r:id="rId3"/>
    <p:sldId id="1133" r:id="rId4"/>
    <p:sldId id="1153" r:id="rId5"/>
    <p:sldId id="1134" r:id="rId6"/>
    <p:sldId id="1159" r:id="rId7"/>
    <p:sldId id="1140" r:id="rId8"/>
    <p:sldId id="1145" r:id="rId9"/>
    <p:sldId id="1150" r:id="rId10"/>
    <p:sldId id="1160" r:id="rId11"/>
    <p:sldId id="1149" r:id="rId12"/>
    <p:sldId id="1151" r:id="rId13"/>
    <p:sldId id="1137" r:id="rId14"/>
    <p:sldId id="1136" r:id="rId15"/>
    <p:sldId id="1152" r:id="rId16"/>
    <p:sldId id="1154" r:id="rId17"/>
    <p:sldId id="1121" r:id="rId18"/>
    <p:sldId id="1122" r:id="rId19"/>
    <p:sldId id="1123" r:id="rId20"/>
    <p:sldId id="1161" r:id="rId21"/>
    <p:sldId id="1131" r:id="rId22"/>
    <p:sldId id="1132" r:id="rId23"/>
    <p:sldId id="1162" r:id="rId24"/>
    <p:sldId id="1143" r:id="rId25"/>
    <p:sldId id="1138" r:id="rId26"/>
    <p:sldId id="1163" r:id="rId27"/>
    <p:sldId id="1135" r:id="rId28"/>
    <p:sldId id="1164" r:id="rId29"/>
    <p:sldId id="1129" r:id="rId30"/>
    <p:sldId id="1130" r:id="rId31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9"/>
            <p14:sldId id="1133"/>
            <p14:sldId id="1153"/>
            <p14:sldId id="1134"/>
            <p14:sldId id="1159"/>
            <p14:sldId id="1140"/>
            <p14:sldId id="1145"/>
            <p14:sldId id="1150"/>
            <p14:sldId id="1160"/>
            <p14:sldId id="1149"/>
            <p14:sldId id="1151"/>
            <p14:sldId id="1137"/>
            <p14:sldId id="1136"/>
            <p14:sldId id="1152"/>
            <p14:sldId id="1154"/>
            <p14:sldId id="1121"/>
            <p14:sldId id="1122"/>
            <p14:sldId id="1123"/>
            <p14:sldId id="1161"/>
            <p14:sldId id="1131"/>
            <p14:sldId id="1132"/>
            <p14:sldId id="1162"/>
            <p14:sldId id="1143"/>
            <p14:sldId id="1138"/>
            <p14:sldId id="1163"/>
            <p14:sldId id="1135"/>
            <p14:sldId id="1164"/>
            <p14:sldId id="1129"/>
            <p14:sldId id="1130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D462F"/>
    <a:srgbClr val="FF9B45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775DCB02-9BB8-47FD-8907-85C794F793BA}" styleName="테마 스타일 1 - 강조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>
        <p:scale>
          <a:sx n="75" d="100"/>
          <a:sy n="75" d="100"/>
        </p:scale>
        <p:origin x="1066" y="16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-696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handoutMaster" Target="handoutMasters/handout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2026-08-12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2026-08-12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26C14-C473-4A92-1BF8-65C1615DD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984F31D-3BAF-0EE8-73C8-97028668A7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47FAE08-BF13-4290-1380-2DBD991C9D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6DFD45-8A4E-42B5-B37F-58A6ED917D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391326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2026-08-12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8/12/2026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2026-08-12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geron/handson-ml3/blob/main/14_deep_computer_vision_with_cnns.ipynb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H5HGZ1wLtrk" TargetMode="External"/><Relationship Id="rId2" Type="http://schemas.openxmlformats.org/officeDocument/2006/relationships/hyperlink" Target="https://openaccess.thecvf.com/content_cvpr_2015/papers/Long_Fully_Convolutional_Networks_2015_CVPR_paper.pdf" TargetMode="Externa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www.youtube.com/watch?v=ag3DLKsl2vk&amp;list=PLeo1K3hjS3uu7CxAacxVndI4bE_o3BDtO&amp;index=31" TargetMode="External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www.ted.com/talks/fei_fei_li_how_we_re_teaching_computers_to_understand_pictures" TargetMode="External"/><Relationship Id="rId4" Type="http://schemas.openxmlformats.org/officeDocument/2006/relationships/hyperlink" Target="https://www.ted.com/talks/joseph_redmon_how_computers_learn_to_recognize_objects_instantly" TargetMode="Externa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sv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deeplearningwithpython.io/chapters/chapter11_image-segmentation/" TargetMode="External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Image Segmentation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87C48-2054-356F-D59A-A1610505F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406864E-BC1C-1514-F998-D23C329DC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6F33DF2-9EF9-7B85-A8F1-4E5ECE79536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Scopes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24A5ED47-BDF3-5C20-B866-F6754BFC48D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2BACCE-73EC-634D-67DE-20A01E2109F6}"/>
              </a:ext>
            </a:extLst>
          </p:cNvPr>
          <p:cNvSpPr txBox="1"/>
          <p:nvPr/>
        </p:nvSpPr>
        <p:spPr>
          <a:xfrm>
            <a:off x="1053164" y="2132021"/>
            <a:ext cx="9460847" cy="1889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“Hands-on Machine Learning with Scikit-Learn, </a:t>
            </a:r>
            <a:r>
              <a:rPr lang="en-US" altLang="ko-KR" sz="2000" dirty="0" err="1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Keras</a:t>
            </a:r>
            <a:r>
              <a:rPr lang="en-US" altLang="ko-KR" sz="2000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&amp; TensorFlow”</a:t>
            </a:r>
            <a:r>
              <a:rPr lang="ko-KR" altLang="en-US" sz="2000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의</a:t>
            </a:r>
            <a:r>
              <a:rPr lang="en-US" altLang="ko-KR" sz="2000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CHAPTER 14 Deep Computer Vision Using Convolutional Neural Networks</a:t>
            </a:r>
            <a:r>
              <a:rPr lang="ko-KR" altLang="en-US" sz="2000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의 </a:t>
            </a:r>
            <a:r>
              <a:rPr lang="en-US" altLang="ko-KR" sz="2000" b="1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Classification and Localization, Object Detection, Fully Convolutional Networks </a:t>
            </a:r>
            <a:r>
              <a:rPr lang="ko-KR" altLang="en-US" sz="2000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의 내용을 </a:t>
            </a:r>
            <a:r>
              <a:rPr lang="en-US" altLang="ko-KR" sz="2000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merge</a:t>
            </a:r>
            <a:r>
              <a:rPr lang="ko-KR" altLang="en-US" sz="2000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하여 구성하였으며 </a:t>
            </a:r>
            <a:r>
              <a:rPr lang="en-US" altLang="ko-KR" sz="2000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YOLO</a:t>
            </a:r>
            <a:r>
              <a:rPr lang="ko-KR" altLang="en-US" sz="2000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는 제외함</a:t>
            </a:r>
            <a:endParaRPr lang="en-US" altLang="ko-KR" sz="2000" b="0" i="0" dirty="0">
              <a:effectLst/>
              <a:latin typeface="Century Gothic" panose="020B050202020202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04425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09033-6C62-0A20-DF03-7A8B8CA31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BDCAF466-95DC-49E2-F87A-7F37070A0C9F}"/>
              </a:ext>
            </a:extLst>
          </p:cNvPr>
          <p:cNvSpPr/>
          <p:nvPr/>
        </p:nvSpPr>
        <p:spPr>
          <a:xfrm>
            <a:off x="400050" y="1637320"/>
            <a:ext cx="10687050" cy="50580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8F351C-5017-1771-4471-D354081351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A5DF695-2B93-476F-B205-8A605F7F094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Goals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2EF4FE02-7852-A22B-BE70-43B1218B6E8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265BF9-EB5D-97D1-CFCF-3F9DC25B2F2B}"/>
              </a:ext>
            </a:extLst>
          </p:cNvPr>
          <p:cNvSpPr txBox="1"/>
          <p:nvPr/>
        </p:nvSpPr>
        <p:spPr>
          <a:xfrm>
            <a:off x="860396" y="1589695"/>
            <a:ext cx="10030387" cy="46617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 layer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Classification &amp; location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Object detection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Fully Convolutional Network(FCN)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You Only Look Once(YOLO)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Segmentation 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Image Segmentation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FCN for semantic segmentation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Building a segmentation model from scratch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Using the pretrained Segment Anything Model</a:t>
            </a:r>
          </a:p>
        </p:txBody>
      </p:sp>
    </p:spTree>
    <p:extLst>
      <p:ext uri="{BB962C8B-B14F-4D97-AF65-F5344CB8AC3E}">
        <p14:creationId xmlns:p14="http://schemas.microsoft.com/office/powerpoint/2010/main" val="38158108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8B6F0E-1AD2-0815-9B8B-C08FE5EC39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E0034C-D158-9433-3E81-703E2643FB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1712226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ko-KR" altLang="en-US" sz="4400" dirty="0">
                <a:solidFill>
                  <a:schemeClr val="bg1"/>
                </a:solidFill>
              </a:rPr>
              <a:t>실습하기</a:t>
            </a: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5E6B5F63-4274-C3E4-9DEB-AAEDABD5730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000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Chapter 14 – Deep Computer Vision Using Convolutional Neural Networks</a:t>
            </a:r>
            <a:endParaRPr lang="en-US" altLang="ko-KR" sz="2000" dirty="0">
              <a:solidFill>
                <a:srgbClr val="FFFF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D7E844-DE3E-FFCD-004F-B556D9016804}"/>
              </a:ext>
            </a:extLst>
          </p:cNvPr>
          <p:cNvSpPr txBox="1"/>
          <p:nvPr/>
        </p:nvSpPr>
        <p:spPr>
          <a:xfrm>
            <a:off x="838200" y="3507071"/>
            <a:ext cx="8639175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O’RELLY</a:t>
            </a:r>
          </a:p>
          <a:p>
            <a:r>
              <a:rPr lang="en-US" altLang="ko-KR" sz="2000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Hands-on Machine Learning with Scikit-Learn, </a:t>
            </a:r>
            <a:r>
              <a:rPr lang="en-US" altLang="ko-KR" sz="2000" dirty="0" err="1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2000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&amp; TensorFlow </a:t>
            </a:r>
            <a:r>
              <a:rPr lang="en-US" altLang="ko-KR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Concepts, Tools, and Techniques to Build Intelligent Systems</a:t>
            </a:r>
            <a:endParaRPr lang="ko-KR" altLang="en-US" sz="2000" dirty="0">
              <a:solidFill>
                <a:srgbClr val="FFFF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726165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32AB4-36DC-291C-982B-B4A6CFF9B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D547ED8-4C5E-8D3E-58DA-854ED855312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 err="1"/>
              <a:t>Xception</a:t>
            </a:r>
            <a:r>
              <a:rPr lang="en-US" altLang="ko-KR" b="1" cap="none" dirty="0"/>
              <a:t> 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CAE47E79-09BC-2D58-9A2B-098AE774788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D14CB4C-135D-3D5B-7C0F-5EDB5B8B013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A47BDE7D-0486-1B18-63F2-7EB449FEEC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795" y="1774334"/>
            <a:ext cx="6379204" cy="3993216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CC81296C-DF8F-7A97-7A7B-201C8C3B10E9}"/>
              </a:ext>
            </a:extLst>
          </p:cNvPr>
          <p:cNvSpPr txBox="1"/>
          <p:nvPr/>
        </p:nvSpPr>
        <p:spPr>
          <a:xfrm>
            <a:off x="7114570" y="1640711"/>
            <a:ext cx="4639280" cy="42604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일반적인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레이어는 공간 패턴(예: 타원형)과 채널 간 패턴(예: 입 + 코 + 눈 = 얼굴)을 동시에 포착하려는 필터를 사용하는 반면, 분리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 layer)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는 공간 패턴과 채널 간 패턴을 서로 독립적으로 모델링할 수 있다는 강한 가정을 바탕으로 작동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따라서 두 단계로 구성되며 첫 번째 부분은 각 입력 피처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맵마다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단일 공간 필터를 적용하고, 두 번째 부분은 채널 간 패턴만 전담하여 탐색하는데 이는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(1,1)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필터를 사용하는 일반적인 </a:t>
            </a: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레이어를 적용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415E082-60BB-666A-895A-58597F6A8AFA}"/>
              </a:ext>
            </a:extLst>
          </p:cNvPr>
          <p:cNvSpPr txBox="1"/>
          <p:nvPr/>
        </p:nvSpPr>
        <p:spPr>
          <a:xfrm>
            <a:off x="532795" y="581977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convolutional layer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72CB5DE-5333-71DA-C333-635C3D118380}"/>
              </a:ext>
            </a:extLst>
          </p:cNvPr>
          <p:cNvSpPr txBox="1"/>
          <p:nvPr/>
        </p:nvSpPr>
        <p:spPr>
          <a:xfrm>
            <a:off x="542320" y="6139533"/>
            <a:ext cx="583830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Hands-on Machine Learning with Scikit-Learn,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TensorFlow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52963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0B2A7-BA41-6DC8-DC13-0CBA662A6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009C3C62-77DA-3C5F-D720-2C2208D82E60}"/>
              </a:ext>
            </a:extLst>
          </p:cNvPr>
          <p:cNvSpPr/>
          <p:nvPr/>
        </p:nvSpPr>
        <p:spPr>
          <a:xfrm>
            <a:off x="400050" y="2104045"/>
            <a:ext cx="10687050" cy="50580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5AAC3EA-932D-D18D-D368-F788B2760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AB19D9E-CE16-DA64-B5C0-15209FE143A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Goals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8BCF418F-1F4E-CCAE-2B0A-25195A8DFE0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EBC782-DD8A-1FC0-C9CD-5FCEAACCF8C4}"/>
              </a:ext>
            </a:extLst>
          </p:cNvPr>
          <p:cNvSpPr txBox="1"/>
          <p:nvPr/>
        </p:nvSpPr>
        <p:spPr>
          <a:xfrm>
            <a:off x="860396" y="1589695"/>
            <a:ext cx="10030387" cy="46617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 layer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Classification &amp; location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Object detection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Fully Convolutional Network(FCN)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You Only Look Once(YOLO)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Segmentation 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Image Segmentation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FCN for semantic segmentation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Building a segmentation model from scratch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Using the pretrained Segment Anything Model</a:t>
            </a:r>
          </a:p>
        </p:txBody>
      </p:sp>
    </p:spTree>
    <p:extLst>
      <p:ext uri="{BB962C8B-B14F-4D97-AF65-F5344CB8AC3E}">
        <p14:creationId xmlns:p14="http://schemas.microsoft.com/office/powerpoint/2010/main" val="31951551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1F97E-608D-4E8D-2838-89FC50251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E57C508-38C5-A75A-C22F-3B860B29622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Classification and localization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A48D1A9B-8128-9367-75E6-22BF13FE69E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EA5EAC5-9F7F-E804-DE4A-6E3A0C0D069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2BF89F-326A-C374-F2DC-1975EDF5E04C}"/>
              </a:ext>
            </a:extLst>
          </p:cNvPr>
          <p:cNvSpPr txBox="1"/>
          <p:nvPr/>
        </p:nvSpPr>
        <p:spPr>
          <a:xfrm>
            <a:off x="585932" y="1219847"/>
            <a:ext cx="11130423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이미지에서 하나의 객체의 위치를 찾는 것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(Localization)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객체 주위에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박스를 예측하기 위해 객체 중심의 가로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세로 좌표와 높이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너비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개를 회귀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(Regression)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작업과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Label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대한 분류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(classification)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동시에 수행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7229E7-B4D9-6AC5-A568-B646BD5255A4}"/>
              </a:ext>
            </a:extLst>
          </p:cNvPr>
          <p:cNvSpPr txBox="1"/>
          <p:nvPr/>
        </p:nvSpPr>
        <p:spPr>
          <a:xfrm>
            <a:off x="1057274" y="2211065"/>
            <a:ext cx="9544051" cy="3077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Minimize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L_loc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pred_cx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true_cx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)² +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pred_cy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true_cy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)² +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pred_h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)² +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pred_w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)²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1F565A1-76D9-D67F-CAFD-E30DB50227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45" y="2682615"/>
            <a:ext cx="6410668" cy="336434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DD81535-9768-432F-4814-6FE3A131EB84}"/>
              </a:ext>
            </a:extLst>
          </p:cNvPr>
          <p:cNvSpPr txBox="1"/>
          <p:nvPr/>
        </p:nvSpPr>
        <p:spPr>
          <a:xfrm>
            <a:off x="1020045" y="6046960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Intersection over Union 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metric for bounding boxes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8526BB-DE4C-310B-9545-18F1D05321A5}"/>
              </a:ext>
            </a:extLst>
          </p:cNvPr>
          <p:cNvSpPr txBox="1"/>
          <p:nvPr/>
        </p:nvSpPr>
        <p:spPr>
          <a:xfrm>
            <a:off x="7772400" y="2984212"/>
            <a:ext cx="231457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검증단계에서만 평가 지표로 사용 </a:t>
            </a:r>
            <a:endParaRPr lang="ko-KR" altLang="en-US" sz="16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3325F73-DD41-AB72-EC35-7DF826D8F129}"/>
              </a:ext>
            </a:extLst>
          </p:cNvPr>
          <p:cNvSpPr txBox="1"/>
          <p:nvPr/>
        </p:nvSpPr>
        <p:spPr>
          <a:xfrm>
            <a:off x="1057274" y="6333168"/>
            <a:ext cx="583830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Hands-on Machine Learning with Scikit-Learn,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TensorFlow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59161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1135E-CB3F-6AE4-6CF9-83C1B2734D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8A23DB7-6C32-7A00-55C8-7E3A71DCF2B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Classification and localization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D81E2BC7-3FF5-D0E7-CDE6-83F51CC81ED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5FC18BD-AAA9-C5E8-9BC9-62546BB9E20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4D1EA6-E468-92CA-F59F-CD0546F96F91}"/>
              </a:ext>
            </a:extLst>
          </p:cNvPr>
          <p:cNvSpPr txBox="1"/>
          <p:nvPr/>
        </p:nvSpPr>
        <p:spPr>
          <a:xfrm>
            <a:off x="627061" y="1295601"/>
            <a:ext cx="10983914" cy="526297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1. 사전 학습된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모델 로드 (기반 모델)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base_model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keras.applications.xception.Xception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weights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imagenet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include_top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False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 최상단의 기존 분류기(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Dense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층)를 제거하고 특성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추출기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Extractor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)만 사용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2. 글로벌 평균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(Global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Average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적용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특성 맵(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높이x너비x채널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)의 공간 차원(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높이,너비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)을 평균 내어 1차원 벡터(채널 수)로 압축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위치에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구애받지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않고 이미지 전체 특성 요약 정보 추출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keras.layers.GlobalAveragePooling2D()(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base_model.output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3. [출력 1] 이미지 분류(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Classification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레이어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keras.layers.Dense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n_classes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# 분류할 클래스에 속할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확률값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(합이 1)을 출력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4. [출력 2] 위치 추정(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Localization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레이어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유닛 수 4: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박스를 구성하는 4개 수치 (중심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중심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너비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높이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loc_output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keras.layers.Dense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(4)(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연속적인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좌표값을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예측하는 회귀(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Regression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)이므로 활성화 함수를 사용하지 않음 (선형 출력)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5. 다중 출력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모델 생성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모델의 입력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두 개의 출력 층[분류 출력, 위치 출력]을 리스트로 묶어 전달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base_model.input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=[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loc_output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6. 모델 컴파일 (손실 함수, 가중치,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옵티마이저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설정)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각 출력에 맞춤 적용되는 손실 함수 리스트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  -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-&gt; '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sparse_categorical_crossentropy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 (다중 클래스 정수 라벨 분류용)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  -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loc_output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-&gt; '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 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Mean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Squared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Error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연속된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좌표값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오차 측정용)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model.compile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=["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sparse_categorical_crossentropy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"],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loss_weights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=[0.8, 0.2],  #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loss_weights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전체 손실 계산 시 두 손실의 비중 조절(총 손실 = 0.8 * 분류손실 + 0.2 * 위치손실)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metrics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=["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accuracy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"]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4514352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132E70-DF29-9194-FC54-B7F398334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78EFE2D-7005-7876-EE8B-B7E3E007551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Classification and localization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8BC070C7-BC06-3B39-8DCF-49EF96839BE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36555CB-E32D-AF61-2443-C944FCF2788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C59090-BF1B-9411-56FB-C3A9318D5F2C}"/>
              </a:ext>
            </a:extLst>
          </p:cNvPr>
          <p:cNvSpPr txBox="1"/>
          <p:nvPr/>
        </p:nvSpPr>
        <p:spPr>
          <a:xfrm>
            <a:off x="2074773" y="3212067"/>
            <a:ext cx="8469401" cy="96840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한 이미지에 여러 객체가 존재하는 경우에는 출력의 개수가 가변적이기 때문에 </a:t>
            </a:r>
            <a:r>
              <a:rPr lang="ko-KR" altLang="en-US" sz="2000" b="1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객체 탐지</a:t>
            </a:r>
            <a:r>
              <a:rPr lang="en-US" altLang="ko-KR" sz="2000" b="1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(Object Detection)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기법을 사용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66348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B3F4E-16B6-5C5D-80E4-F642C662C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3A461147-82D2-0426-47F2-9074E55B2183}"/>
              </a:ext>
            </a:extLst>
          </p:cNvPr>
          <p:cNvSpPr/>
          <p:nvPr/>
        </p:nvSpPr>
        <p:spPr>
          <a:xfrm>
            <a:off x="400050" y="2551720"/>
            <a:ext cx="10687050" cy="50580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84091B-B2F4-753E-BF4D-E62274959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7DF61BA-0389-D7D1-84E1-65507033E68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Goals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6E191E97-F54A-5E5C-D6E8-278CFCADACA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740239-C5DA-9CE7-2533-D98AE602699E}"/>
              </a:ext>
            </a:extLst>
          </p:cNvPr>
          <p:cNvSpPr txBox="1"/>
          <p:nvPr/>
        </p:nvSpPr>
        <p:spPr>
          <a:xfrm>
            <a:off x="860396" y="1589695"/>
            <a:ext cx="10030387" cy="46617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 layer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Classification &amp; location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Object detection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Fully Convolutional Network(FCN)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You Only Look Once(YOLO)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Segmentation 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Image Segmentation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FCN for semantic segmentation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Building a segmentation model from scratch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Using the pretrained Segment Anything Model</a:t>
            </a:r>
          </a:p>
        </p:txBody>
      </p:sp>
    </p:spTree>
    <p:extLst>
      <p:ext uri="{BB962C8B-B14F-4D97-AF65-F5344CB8AC3E}">
        <p14:creationId xmlns:p14="http://schemas.microsoft.com/office/powerpoint/2010/main" val="4418417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B2C9E-825F-96BC-A390-E33717F21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0E6B041-A80D-8012-EFBD-8E410D1E601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Object</a:t>
            </a:r>
            <a:r>
              <a:rPr lang="ko-KR" altLang="en-US" b="1" cap="none" dirty="0"/>
              <a:t> </a:t>
            </a:r>
            <a:r>
              <a:rPr lang="en-US" altLang="ko-KR" b="1" cap="none" dirty="0"/>
              <a:t>detection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C6B081A-DD79-DC98-F769-EC74CFF4BE1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0B479BF-4BE2-6360-4F7A-D26109065D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522" y="2150148"/>
            <a:ext cx="5284659" cy="380643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94D25C7-034E-D2FE-FD93-62DFADB86326}"/>
              </a:ext>
            </a:extLst>
          </p:cNvPr>
          <p:cNvSpPr txBox="1"/>
          <p:nvPr/>
        </p:nvSpPr>
        <p:spPr>
          <a:xfrm>
            <a:off x="504522" y="1198397"/>
            <a:ext cx="11182955" cy="7914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내에서 여러 객체를 분류하고 위치를 찾는 작업을 객체 탐지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(Object Detection)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라고 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하며 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단일 객체를 분류하고 위치를 찾기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위해 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pretrained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가져와 이미지 위에서 슬라이딩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슬라이딩 윈도우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시키는 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접근 방법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CE622E3-34A8-1059-8A16-AB3C6F8BAA29}"/>
              </a:ext>
            </a:extLst>
          </p:cNvPr>
          <p:cNvSpPr txBox="1"/>
          <p:nvPr/>
        </p:nvSpPr>
        <p:spPr>
          <a:xfrm>
            <a:off x="373190" y="5983578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Detecting multiple objects by sliding a CNN across the image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23EE08-A26B-B5A2-1EE7-84E3F56915BD}"/>
              </a:ext>
            </a:extLst>
          </p:cNvPr>
          <p:cNvSpPr txBox="1"/>
          <p:nvPr/>
        </p:nvSpPr>
        <p:spPr>
          <a:xfrm>
            <a:off x="5828103" y="2153655"/>
            <a:ext cx="5735247" cy="366497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342900" indent="-342900" fontAlgn="base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격자 분할 및 검은색 상자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(3,3) Sliding Window: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이미지를 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6,8)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격자로 분할한 후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검은색 두꺼운 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영역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(CNN)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화살표 방향으로 한 칸씩 이동시키며 객체를 탐지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 fontAlgn="base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빨간색 </a:t>
            </a:r>
            <a:r>
              <a:rPr lang="ko-KR" altLang="en-US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박스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중복 예측 발생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윈도우가 이동할 때마다 동일한 꽃이 반복 검출되어 이동 경로상에 위치한 객체는 여러 개의 중복된 빨간색 상자로 감지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 fontAlgn="base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박스 두께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Objectness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Score):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중앙 상단 장미 위의 두꺼운 빨간색 상자는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객체성 점수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꽃이 존재할 확률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)'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 가장 높음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 fontAlgn="base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NMS(</a:t>
            </a:r>
            <a:r>
              <a:rPr lang="ko-KR" altLang="en-US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비최대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억제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적용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가장 두꺼운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점수가 높은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상자와 높은 비율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60%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이상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로 겹치는 주변의 얇은 빨간색 상자들을 순차적으로 제거하여 최종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개의 상자만 남김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 fontAlgn="base">
              <a:lnSpc>
                <a:spcPct val="150000"/>
              </a:lnSpc>
              <a:spcAft>
                <a:spcPts val="1200"/>
              </a:spcAft>
              <a:buFont typeface="+mj-lt"/>
              <a:buAutoNum type="arabicPeriod"/>
            </a:pP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치명적 단점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단일 이미지를 수십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~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수백 번 나누어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통과시켜야 하므로 </a:t>
            </a:r>
            <a:r>
              <a:rPr lang="ko-KR" altLang="en-US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연산량이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매우 많고 속도가 느림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20567C3-E1C3-3DFB-84D7-A0FAFF3F2AAB}"/>
              </a:ext>
            </a:extLst>
          </p:cNvPr>
          <p:cNvSpPr txBox="1"/>
          <p:nvPr/>
        </p:nvSpPr>
        <p:spPr>
          <a:xfrm>
            <a:off x="373190" y="6222128"/>
            <a:ext cx="583830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Hands-on Machine Learning with Scikit-Learn,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TensorFlow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772648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01291-65B8-2607-A763-35978B2EE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1103A78-68E8-3D11-979E-0F379E14767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Object</a:t>
            </a:r>
            <a:r>
              <a:rPr lang="ko-KR" altLang="en-US" b="1" cap="none" dirty="0"/>
              <a:t> </a:t>
            </a:r>
            <a:r>
              <a:rPr lang="en-US" altLang="ko-KR" b="1" cap="none" dirty="0"/>
              <a:t>detection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F38DC3E-636F-014F-6DE4-581671C359A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1AB3F19-AA13-4959-3E7B-F51CA1D700F0}"/>
              </a:ext>
            </a:extLst>
          </p:cNvPr>
          <p:cNvSpPr txBox="1"/>
          <p:nvPr/>
        </p:nvSpPr>
        <p:spPr>
          <a:xfrm>
            <a:off x="1546759" y="3024095"/>
            <a:ext cx="9282648" cy="143007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rtl="0">
              <a:lnSpc>
                <a:spcPct val="150000"/>
              </a:lnSpc>
              <a:spcAft>
                <a:spcPts val="1200"/>
              </a:spcAft>
              <a:buNone/>
            </a:pP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단순한 객체 탐지 접근법은 잘 작동하지만</a:t>
            </a:r>
            <a:r>
              <a:rPr lang="en-US" altLang="ko-KR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CNN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매우 많이 실행해야 하므로 속도가 상당히 </a:t>
            </a:r>
            <a:r>
              <a:rPr lang="ko-KR" altLang="en-US" sz="2000" b="0" i="0" u="none" strike="noStrike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느</a:t>
            </a:r>
            <a:r>
              <a:rPr lang="ko-KR" altLang="en-US" sz="20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리지마</a:t>
            </a:r>
            <a:r>
              <a:rPr lang="ko-KR" altLang="en-US" sz="2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완전 </a:t>
            </a:r>
            <a:r>
              <a:rPr lang="ko-KR" altLang="en-US" sz="2000" b="0" i="0" u="none" strike="noStrike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신경망</a:t>
            </a:r>
            <a:r>
              <a:rPr lang="en-US" altLang="ko-KR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(FCN)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사용하면 </a:t>
            </a:r>
            <a:r>
              <a:rPr lang="en-US" altLang="ko-KR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이미지 위로 훨씬 빠르게 </a:t>
            </a:r>
            <a:r>
              <a:rPr lang="ko-KR" altLang="en-US" sz="2000" b="0" i="0" u="none" strike="noStrike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슬라이딩시킬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수 있음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817581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0FFF8B-40F1-4D0A-E6A9-F4456A74A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141A5FC-D7AB-48F0-CFCB-643A4E36D02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FCN(Fully Convolutional Network)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8F178DAC-22D0-A3E5-4A8E-FF77AE52384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3F178F-15F2-9E0D-8A95-627E0C57E062}"/>
              </a:ext>
            </a:extLst>
          </p:cNvPr>
          <p:cNvSpPr txBox="1"/>
          <p:nvPr/>
        </p:nvSpPr>
        <p:spPr>
          <a:xfrm>
            <a:off x="561976" y="1687933"/>
            <a:ext cx="11372330" cy="2958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2015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년 논문 </a:t>
            </a:r>
            <a:r>
              <a:rPr lang="en-US" altLang="ko-KR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Long_Fully_Convolutional_Networks</a:t>
            </a:r>
            <a:r>
              <a:rPr lang="en-US" altLang="ko-KR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완전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신경망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(FCN)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은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밀집층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(Dense Layer)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을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합성곱층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(Convolutional Layer)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으로 전환하여 이미지 크기에 제약을 받지 않고 한 번의 연산으로 고속 슬라이딩 윈도우 효과를 얻는 혁신적 기술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이미지 분류기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(Classifier)”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픽셀 단위 분류기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Segmenter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)”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로 확장한 딥러닝 구조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이후 발표된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U-Net,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SegNet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DeepLab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등 다양한 모델이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개념을 확장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·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개선하여 응용분야는 의료 영상 분석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자율주행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위성 영상 등 다양한 응용 분야에서 핵심적인 기술적 기반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FCN_</a:t>
            </a:r>
            <a:r>
              <a:rPr lang="ko-KR" altLang="en-US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유튜브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9D38F7D-66DC-AD4C-5088-47140E3809A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45662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449316-11CD-EA57-8245-E63FDE198D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A59FC1F-25B8-EA91-927F-372CABFF2F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FCN(Fully Convolutional Network)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A14E7412-BACD-A2AB-F02F-EC1463D4E5B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52F17F-9733-1268-A0A9-0727F2D512BD}"/>
              </a:ext>
            </a:extLst>
          </p:cNvPr>
          <p:cNvSpPr txBox="1"/>
          <p:nvPr/>
        </p:nvSpPr>
        <p:spPr>
          <a:xfrm>
            <a:off x="595009" y="1248422"/>
            <a:ext cx="11306781" cy="783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FCN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마지막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각 위치가 원본 이미지의 특정 영역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(Receptive Field)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대표하기 때문에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512×512 = 262,144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픽셀을 각각 분류할 수 있는 반면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CNN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이미지 하나를 보고 고양이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/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를 분류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72C0913-8CE9-A5D2-941D-2D2D064885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785" y="2287838"/>
            <a:ext cx="8449179" cy="4200760"/>
          </a:xfrm>
          <a:prstGeom prst="rect">
            <a:avLst/>
          </a:prstGeom>
        </p:spPr>
      </p:pic>
      <p:sp>
        <p:nvSpPr>
          <p:cNvPr id="13" name="설명선: 굽은 선 12">
            <a:extLst>
              <a:ext uri="{FF2B5EF4-FFF2-40B4-BE49-F238E27FC236}">
                <a16:creationId xmlns:a16="http://schemas.microsoft.com/office/drawing/2014/main" id="{6E46AF95-4599-95E3-BD23-3179F05BAAC8}"/>
              </a:ext>
            </a:extLst>
          </p:cNvPr>
          <p:cNvSpPr/>
          <p:nvPr/>
        </p:nvSpPr>
        <p:spPr>
          <a:xfrm>
            <a:off x="8808370" y="2606007"/>
            <a:ext cx="2154905" cy="857250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275833"/>
              <a:gd name="adj6" fmla="val -64475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마지막 레이어에 적힌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21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이라는 숫자는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21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클래스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배경 포함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픽셀 단위로 분류</a:t>
            </a:r>
            <a:endParaRPr lang="ko-KR" altLang="en-US" sz="1400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F897AC5-4672-DFC7-463E-5C9232CAB10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90875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26620C-6675-39D3-3F4B-F8060C3A0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977977A-D523-C09B-39ED-12A913D8ACB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FCN(Fully Convolutional Network)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F654DF50-CB4A-4966-16F2-88D2D8DA6A0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75645" y="3443418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8C5D59EA-8CA4-FF23-A2A0-10FE0B3AF9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665" y="1569129"/>
            <a:ext cx="5123313" cy="4480061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EDDCCBB-9802-7ACD-C30D-0189CA3E29CF}"/>
              </a:ext>
            </a:extLst>
          </p:cNvPr>
          <p:cNvSpPr txBox="1"/>
          <p:nvPr/>
        </p:nvSpPr>
        <p:spPr>
          <a:xfrm>
            <a:off x="628045" y="6049190"/>
            <a:ext cx="504885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Hands-on Machine Learning with Scikit-Learn,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TensorFlow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9B911E8-2E49-9A05-E636-99F5DC6680C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183FDF5-3704-DFA1-B9BC-63309BCBCDED}"/>
              </a:ext>
            </a:extLst>
          </p:cNvPr>
          <p:cNvSpPr txBox="1"/>
          <p:nvPr/>
        </p:nvSpPr>
        <p:spPr>
          <a:xfrm>
            <a:off x="5838306" y="1329068"/>
            <a:ext cx="5906019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rtl="0">
              <a:spcAft>
                <a:spcPts val="1200"/>
              </a:spcAft>
            </a:pPr>
            <a:r>
              <a:rPr lang="en-US" altLang="ko-KR" sz="1600" b="1" i="0" u="none" strike="noStrike" dirty="0">
                <a:solidFill>
                  <a:srgbClr val="000000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Convnet </a:t>
            </a:r>
          </a:p>
          <a:p>
            <a:pPr marL="285750" indent="-285750">
              <a:spcAft>
                <a:spcPts val="1200"/>
              </a:spcAft>
              <a:buFont typeface="Wingdings" panose="05000000000000000000" pitchFamily="2" charset="2"/>
              <a:buChar char="v"/>
            </a:pPr>
            <a:r>
              <a:rPr lang="en-US" altLang="ko-KR" sz="1600" i="0" u="none" strike="noStrike" dirty="0">
                <a:solidFill>
                  <a:srgbClr val="000000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Feature Map(7,7,100) → Dense(4900,) → Dense(200)</a:t>
            </a:r>
            <a:endParaRPr lang="ko-KR" altLang="en-US" sz="1600" dirty="0">
              <a:latin typeface="Tahoma" panose="020B0604030504040204" pitchFamily="34" charset="0"/>
              <a:ea typeface="D2Coding" panose="020B0609020101020101" pitchFamily="49" charset="-127"/>
              <a:cs typeface="Tahoma" panose="020B060403050404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0CE510-2F4F-FAC2-CC18-17E3EECA8289}"/>
              </a:ext>
            </a:extLst>
          </p:cNvPr>
          <p:cNvSpPr txBox="1"/>
          <p:nvPr/>
        </p:nvSpPr>
        <p:spPr>
          <a:xfrm>
            <a:off x="5857961" y="2154845"/>
            <a:ext cx="5906019" cy="4431983"/>
          </a:xfrm>
          <a:prstGeom prst="rect">
            <a:avLst/>
          </a:prstGeom>
          <a:solidFill>
            <a:schemeClr val="accent5"/>
          </a:solidFill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altLang="ko-KR" sz="1600" b="1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FCN(Fully</a:t>
            </a:r>
            <a:r>
              <a:rPr lang="ko-KR" altLang="en-US" sz="1600" b="1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 </a:t>
            </a:r>
            <a:r>
              <a:rPr lang="en-US" altLang="ko-KR" sz="1600" b="1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Convolutional</a:t>
            </a:r>
            <a:r>
              <a:rPr lang="ko-KR" altLang="en-US" sz="1600" b="1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 </a:t>
            </a:r>
            <a:r>
              <a:rPr lang="en-US" altLang="ko-KR" sz="1600" b="1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Network)</a:t>
            </a:r>
            <a:endParaRPr lang="en-US" altLang="ko-KR" sz="1600" b="1" dirty="0">
              <a:solidFill>
                <a:schemeClr val="bg1"/>
              </a:solidFill>
              <a:effectLst/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small image(left) 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커널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(7,7)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과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피처 맵 크기가 같으므로 최종 출력은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(1,1,10) 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단일 영역의 </a:t>
            </a:r>
            <a:r>
              <a:rPr lang="ko-KR" altLang="en-US" sz="1600" dirty="0" err="1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예측값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(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클래스 확률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5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개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+ 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객체성 점수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1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개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+ </a:t>
            </a:r>
            <a:r>
              <a:rPr lang="ko-KR" altLang="en-US" sz="1600" dirty="0" err="1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바운딩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 박스 좌표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4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개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) 10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개를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 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의미</a:t>
            </a:r>
            <a:endParaRPr lang="en-US" altLang="ko-KR" sz="1600" dirty="0">
              <a:solidFill>
                <a:schemeClr val="bg1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Feature Map (7,7,100) → [Conv(7,7) 10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개 필터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] → Output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(1,1,10)</a:t>
            </a:r>
          </a:p>
          <a:p>
            <a:pPr marL="742950" lvl="1" indent="-285750">
              <a:buFont typeface="Wingdings" panose="05000000000000000000" pitchFamily="2" charset="2"/>
              <a:buChar char="v"/>
            </a:pPr>
            <a:endParaRPr lang="en-US" altLang="ko-KR" sz="1600" dirty="0">
              <a:solidFill>
                <a:schemeClr val="bg1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small image(left) :</a:t>
            </a:r>
          </a:p>
          <a:p>
            <a:pPr marL="285750" indent="-285750" fontAlgn="base">
              <a:buFont typeface="Wingdings" panose="05000000000000000000" pitchFamily="2" charset="2"/>
              <a:buChar char="§"/>
            </a:pP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동일한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(7,7) </a:t>
            </a:r>
            <a:r>
              <a:rPr lang="ko-KR" altLang="en-US" sz="1600" dirty="0" err="1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합성곱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 연산 결과 피처 맵 크기는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(14-7+1)=8, (8,8,10)</a:t>
            </a:r>
          </a:p>
          <a:p>
            <a:pPr marL="285750" indent="-285750" fontAlgn="base">
              <a:buFont typeface="Wingdings" panose="05000000000000000000" pitchFamily="2" charset="2"/>
              <a:buChar char="§"/>
            </a:pP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모델을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(8x8)= 64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번 반복 실행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(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슬라이딩 윈도우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)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할 필요 없이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, 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단 한 번의 연산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(Single Forward Pass)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으로 이미지 전체의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(8x8)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D2Coding" panose="020B0609020101020101" pitchFamily="49" charset="-127"/>
                <a:cs typeface="Tahoma" panose="020B0604030504040204" pitchFamily="34" charset="0"/>
              </a:rPr>
              <a:t>격자 영역을 동시에 탐지</a:t>
            </a:r>
            <a:endParaRPr lang="en-US" altLang="ko-KR" sz="1600" dirty="0">
              <a:solidFill>
                <a:schemeClr val="bg1"/>
              </a:solidFill>
              <a:latin typeface="Tahoma" panose="020B0604030504040204" pitchFamily="34" charset="0"/>
              <a:ea typeface="D2Coding" panose="020B0609020101020101" pitchFamily="49" charset="-127"/>
              <a:cs typeface="Tahoma" panose="020B060403050404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Feature Map (14,14,100) → [Conv(7,7) 10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개 필터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] → Output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(8,8,10)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Wingdings" panose="05000000000000000000" pitchFamily="2" charset="2"/>
              </a:rPr>
              <a:t> (14,14)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Wingdings" panose="05000000000000000000" pitchFamily="2" charset="2"/>
              </a:rPr>
              <a:t>이미지를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Wingdings" panose="05000000000000000000" pitchFamily="2" charset="2"/>
              </a:rPr>
              <a:t>8 by 8 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Wingdings" panose="05000000000000000000" pitchFamily="2" charset="2"/>
              </a:rPr>
              <a:t>격자로 나누어 격자별로 </a:t>
            </a:r>
            <a:r>
              <a:rPr lang="en-US" altLang="ko-KR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Wingdings" panose="05000000000000000000" pitchFamily="2" charset="2"/>
              </a:rPr>
              <a:t>CNN</a:t>
            </a:r>
            <a:r>
              <a:rPr lang="ko-KR" altLang="en-US" sz="16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Wingdings" panose="05000000000000000000" pitchFamily="2" charset="2"/>
              </a:rPr>
              <a:t> </a:t>
            </a:r>
            <a:endParaRPr lang="en-US" altLang="ko-KR" sz="1600" dirty="0">
              <a:solidFill>
                <a:schemeClr val="bg1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87193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8AA10-ED67-0C44-9791-AB83B324D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9ACB4C6-5563-2522-E4DE-4DBA90D7622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 vs. </a:t>
            </a:r>
            <a:r>
              <a:rPr lang="en-US" altLang="ko-KR" b="1" cap="none" dirty="0" err="1"/>
              <a:t>Depthwise</a:t>
            </a:r>
            <a:r>
              <a:rPr lang="en-US" altLang="ko-KR" b="1" cap="none" dirty="0"/>
              <a:t> Separable Convolution 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786EBB61-F4D9-19BF-97E8-D2D6CC513DD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35885C9-7CD1-C6F4-01A9-EA8CEB8CB12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F89478B6-AADB-76E0-48DB-DF481BD7E3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9917914"/>
              </p:ext>
            </p:extLst>
          </p:nvPr>
        </p:nvGraphicFramePr>
        <p:xfrm>
          <a:off x="753385" y="2417433"/>
          <a:ext cx="10685229" cy="2087890"/>
        </p:xfrm>
        <a:graphic>
          <a:graphicData uri="http://schemas.openxmlformats.org/drawingml/2006/table">
            <a:tbl>
              <a:tblPr/>
              <a:tblGrid>
                <a:gridCol w="1780950">
                  <a:extLst>
                    <a:ext uri="{9D8B030D-6E8A-4147-A177-3AD203B41FA5}">
                      <a16:colId xmlns:a16="http://schemas.microsoft.com/office/drawing/2014/main" val="700773218"/>
                    </a:ext>
                  </a:extLst>
                </a:gridCol>
                <a:gridCol w="5342536">
                  <a:extLst>
                    <a:ext uri="{9D8B030D-6E8A-4147-A177-3AD203B41FA5}">
                      <a16:colId xmlns:a16="http://schemas.microsoft.com/office/drawing/2014/main" val="1332139726"/>
                    </a:ext>
                  </a:extLst>
                </a:gridCol>
                <a:gridCol w="3561743">
                  <a:extLst>
                    <a:ext uri="{9D8B030D-6E8A-4147-A177-3AD203B41FA5}">
                      <a16:colId xmlns:a16="http://schemas.microsoft.com/office/drawing/2014/main" val="2365343045"/>
                    </a:ext>
                  </a:extLst>
                </a:gridCol>
              </a:tblGrid>
              <a:tr h="41757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altLang="en-US" sz="15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FCN(Fully Convolutional Network)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Depthwise</a:t>
                      </a:r>
                      <a:r>
                        <a:rPr 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Separable Convolution</a:t>
                      </a:r>
                    </a:p>
                  </a:txBody>
                  <a:tcPr marL="75062" marR="75062" marT="37531" marB="37531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2452102"/>
                  </a:ext>
                </a:extLst>
              </a:tr>
              <a:tr h="4175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정체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네트워크 </a:t>
                      </a:r>
                      <a:r>
                        <a:rPr lang="ko-KR" altLang="en-US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아키텍처 설계 방식</a:t>
                      </a:r>
                      <a:endParaRPr lang="ko-KR" altLang="en-US" sz="150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하나의 </a:t>
                      </a:r>
                      <a:r>
                        <a:rPr lang="ko-KR" altLang="en-US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연산</a:t>
                      </a:r>
                      <a:r>
                        <a:rPr lang="en-US" altLang="ko-KR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</a:t>
                      </a:r>
                      <a:r>
                        <a:rPr lang="en-US" altLang="ko-KR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 </a:t>
                      </a:r>
                      <a:r>
                        <a:rPr lang="ko-KR" altLang="en-US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종류</a:t>
                      </a:r>
                      <a:endParaRPr lang="ko-KR" altLang="en-US" sz="150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5062" marR="75062" marT="37531" marB="37531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7520161"/>
                  </a:ext>
                </a:extLst>
              </a:tr>
              <a:tr h="4175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해결하는 문제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</a:t>
                      </a: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층 제거로 임의 크기 입력</a:t>
                      </a:r>
                      <a:r>
                        <a:rPr lang="en-US" altLang="ko-KR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공간 정보 보존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합성곱 연산량</a:t>
                      </a:r>
                      <a:r>
                        <a:rPr lang="en-US" altLang="ko-KR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수 감소</a:t>
                      </a:r>
                    </a:p>
                  </a:txBody>
                  <a:tcPr marL="75062" marR="75062" marT="37531" marB="37531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8266946"/>
                  </a:ext>
                </a:extLst>
              </a:tr>
              <a:tr h="4175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비교 대상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Dense(FC)</a:t>
                      </a: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층을 쓰는 일반 </a:t>
                      </a:r>
                      <a:r>
                        <a:rPr lang="en-US" altLang="ko-KR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CNN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일반</a:t>
                      </a:r>
                      <a:r>
                        <a:rPr lang="en-US" altLang="ko-KR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표준</a:t>
                      </a:r>
                      <a:r>
                        <a:rPr lang="en-US" altLang="ko-KR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 </a:t>
                      </a:r>
                      <a:r>
                        <a:rPr 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Convolution</a:t>
                      </a:r>
                    </a:p>
                  </a:txBody>
                  <a:tcPr marL="75062" marR="75062" marT="37531" marB="37531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7650150"/>
                  </a:ext>
                </a:extLst>
              </a:tr>
              <a:tr h="4175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예시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FCN, U-Net, YOLO</a:t>
                      </a: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의 </a:t>
                      </a:r>
                      <a:r>
                        <a:rPr lang="ko-KR" altLang="en-US" sz="15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출력단</a:t>
                      </a:r>
                      <a:endParaRPr lang="ko-KR" altLang="en-US" sz="15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Xception</a:t>
                      </a:r>
                      <a:r>
                        <a:rPr 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en-US" sz="15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MobileNet</a:t>
                      </a: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의 내부 블록</a:t>
                      </a:r>
                    </a:p>
                  </a:txBody>
                  <a:tcPr marL="75062" marR="75062" marT="37531" marB="37531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2960580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BE9E2B95-F1A3-51E8-BAD6-E1E3366CDAB1}"/>
              </a:ext>
            </a:extLst>
          </p:cNvPr>
          <p:cNvSpPr txBox="1"/>
          <p:nvPr/>
        </p:nvSpPr>
        <p:spPr>
          <a:xfrm>
            <a:off x="753384" y="4848910"/>
            <a:ext cx="1077186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FCN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안에서도 사용될 수 있는 레이어</a:t>
            </a:r>
          </a:p>
        </p:txBody>
      </p:sp>
    </p:spTree>
    <p:extLst>
      <p:ext uri="{BB962C8B-B14F-4D97-AF65-F5344CB8AC3E}">
        <p14:creationId xmlns:p14="http://schemas.microsoft.com/office/powerpoint/2010/main" val="27608215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02734-AA6A-E730-3531-0054C5EEA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DFADB4A-FE33-2CB5-920A-08149AB4CC4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2686F96D-48F0-A770-6A20-E3AC1FC846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6400" y="2271044"/>
            <a:ext cx="9153007" cy="4282156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4D42A75-55A6-D0EA-687B-4F1DEE0F17D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CA8B57-B87B-36EE-05E7-A3D419028FD4}"/>
              </a:ext>
            </a:extLst>
          </p:cNvPr>
          <p:cNvSpPr txBox="1"/>
          <p:nvPr/>
        </p:nvSpPr>
        <p:spPr>
          <a:xfrm>
            <a:off x="552449" y="1162697"/>
            <a:ext cx="1116390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격자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(Grid)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기반 예측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K-Means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앵커 박스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다중 스케일 학습을 결합하여 실시간 속도와 높은 정확도를 동시에 달성한 대표적인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1-Stage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객체 탐지 모델</a:t>
            </a:r>
          </a:p>
        </p:txBody>
      </p:sp>
    </p:spTree>
    <p:extLst>
      <p:ext uri="{BB962C8B-B14F-4D97-AF65-F5344CB8AC3E}">
        <p14:creationId xmlns:p14="http://schemas.microsoft.com/office/powerpoint/2010/main" val="38215912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326FB-150E-BE96-08E2-079622462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CBB2FC7-ABBB-6EF3-A901-A983D707DA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AE399E9D-0E06-6644-28CE-43E6B82352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8356" y="1685745"/>
            <a:ext cx="9600234" cy="4562655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6B6FE93-8F9C-2CD9-9720-9166D0930C2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83712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4C44D-F297-6601-F332-F8D92566E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F4A44E6-D3E3-3C22-7F65-FB46DBF447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YOLO algorithm?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2EE9355-BCE3-59B9-FB09-0D84B020EF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2724" y="1483553"/>
            <a:ext cx="7635902" cy="4892464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055DAF3-2BDD-C656-D925-22A8DC1FB2F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3DF049-3986-4035-63B3-9F47E00320F1}"/>
              </a:ext>
            </a:extLst>
          </p:cNvPr>
          <p:cNvSpPr txBox="1"/>
          <p:nvPr/>
        </p:nvSpPr>
        <p:spPr>
          <a:xfrm>
            <a:off x="9296400" y="2706469"/>
            <a:ext cx="24860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4"/>
              </a:rPr>
              <a:t>https://www.ted.com/talks/joseph_redmon_how_computers_learn_to_recognize_objects_instantly</a:t>
            </a:r>
            <a:r>
              <a:rPr lang="ko-KR" altLang="en-US" sz="1200" dirty="0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13EE0D-DFD6-4D4E-D203-E3CB1C3A7F0F}"/>
              </a:ext>
            </a:extLst>
          </p:cNvPr>
          <p:cNvSpPr txBox="1"/>
          <p:nvPr/>
        </p:nvSpPr>
        <p:spPr>
          <a:xfrm>
            <a:off x="9394838" y="4239310"/>
            <a:ext cx="24288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5"/>
              </a:rPr>
              <a:t>https://www.ted.com/talks/fei_fei_li_how_we_re_teaching_computers_to_understand_pictures</a:t>
            </a:r>
            <a:r>
              <a:rPr lang="ko-KR" altLang="en-US" sz="1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795965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05A7AE-E41E-40B3-9B87-AF01449BD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E0923476-D92B-4171-CE79-8DF2B49A5DCB}"/>
              </a:ext>
            </a:extLst>
          </p:cNvPr>
          <p:cNvSpPr/>
          <p:nvPr/>
        </p:nvSpPr>
        <p:spPr>
          <a:xfrm>
            <a:off x="400050" y="3923320"/>
            <a:ext cx="10687050" cy="50580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3FBC5A-B74F-08A2-450D-D90B5323C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484ED6E-93BB-7482-0DB8-A202315C04A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Goals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715EDA9E-5702-7DF0-5BE0-5D2DD731026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9B5B63-881E-6FAA-BE09-4A2EEDCD1362}"/>
              </a:ext>
            </a:extLst>
          </p:cNvPr>
          <p:cNvSpPr txBox="1"/>
          <p:nvPr/>
        </p:nvSpPr>
        <p:spPr>
          <a:xfrm>
            <a:off x="860396" y="1589695"/>
            <a:ext cx="10030387" cy="46617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 layer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Classification &amp; location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Object detection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Fully Convolutional Network(FCN)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You Only Look Once(YOLO)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Segmentation 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Image Segmentation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FCN for semantic segmentation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Building a segmentation model from scratch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Using the pretrained Segment Anything Model</a:t>
            </a:r>
          </a:p>
        </p:txBody>
      </p:sp>
    </p:spTree>
    <p:extLst>
      <p:ext uri="{BB962C8B-B14F-4D97-AF65-F5344CB8AC3E}">
        <p14:creationId xmlns:p14="http://schemas.microsoft.com/office/powerpoint/2010/main" val="17529065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5FC59-DF22-CAA4-9590-F2A7C90962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406A9F-C8BA-67A4-E9BD-47141DF8C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F879655-DA0B-0D92-6AEF-1E2693A84A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Semantic Segmentation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EBAE1E2E-AD0B-4F4B-05B5-8A532B1DE4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4900" y="2790905"/>
            <a:ext cx="3749142" cy="337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C88B2388-8059-E653-E419-CC706D81F8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0683" y="2790905"/>
            <a:ext cx="3749142" cy="337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8AD89D-968B-CAB5-5BB3-A3841292D078}"/>
              </a:ext>
            </a:extLst>
          </p:cNvPr>
          <p:cNvSpPr txBox="1"/>
          <p:nvPr/>
        </p:nvSpPr>
        <p:spPr>
          <a:xfrm>
            <a:off x="1981200" y="2444234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Input(Feature)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2D3027-4EA0-CBC7-5C32-3151E32BE3CE}"/>
              </a:ext>
            </a:extLst>
          </p:cNvPr>
          <p:cNvSpPr txBox="1"/>
          <p:nvPr/>
        </p:nvSpPr>
        <p:spPr>
          <a:xfrm>
            <a:off x="7105202" y="2479195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Output(Target)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A22E2E-7D86-9E9D-D7F4-A654F5E3A205}"/>
              </a:ext>
            </a:extLst>
          </p:cNvPr>
          <p:cNvSpPr txBox="1"/>
          <p:nvPr/>
        </p:nvSpPr>
        <p:spPr>
          <a:xfrm>
            <a:off x="2057400" y="6236789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1074CF5-DF8A-A38A-B143-DC98BA8AF675}"/>
              </a:ext>
            </a:extLst>
          </p:cNvPr>
          <p:cNvSpPr txBox="1"/>
          <p:nvPr/>
        </p:nvSpPr>
        <p:spPr>
          <a:xfrm>
            <a:off x="7264666" y="6236789"/>
            <a:ext cx="1223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y=[1,2,3]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377C6241-EA2D-1241-0151-C525FCA699FC}"/>
              </a:ext>
            </a:extLst>
          </p:cNvPr>
          <p:cNvCxnSpPr>
            <a:cxnSpLocks/>
          </p:cNvCxnSpPr>
          <p:nvPr/>
        </p:nvCxnSpPr>
        <p:spPr>
          <a:xfrm>
            <a:off x="4966726" y="4623017"/>
            <a:ext cx="116205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BFF7879-1E16-CC92-2C47-6C78CFD3F782}"/>
              </a:ext>
            </a:extLst>
          </p:cNvPr>
          <p:cNvSpPr txBox="1"/>
          <p:nvPr/>
        </p:nvSpPr>
        <p:spPr>
          <a:xfrm>
            <a:off x="5091112" y="4073009"/>
            <a:ext cx="952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f(X)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774949D-59A1-D5DC-B848-02E54DE6F5BA}"/>
              </a:ext>
            </a:extLst>
          </p:cNvPr>
          <p:cNvSpPr txBox="1"/>
          <p:nvPr/>
        </p:nvSpPr>
        <p:spPr>
          <a:xfrm>
            <a:off x="7467600" y="4371676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1 (foreground)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148C39A-A848-F4DD-CB42-672E5A5C7AF8}"/>
              </a:ext>
            </a:extLst>
          </p:cNvPr>
          <p:cNvSpPr txBox="1"/>
          <p:nvPr/>
        </p:nvSpPr>
        <p:spPr>
          <a:xfrm rot="19245108">
            <a:off x="7909786" y="5296021"/>
            <a:ext cx="13964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3 (contour)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CD1772E-DD1C-3ED5-EE3C-150D3FE8AA72}"/>
              </a:ext>
            </a:extLst>
          </p:cNvPr>
          <p:cNvSpPr txBox="1"/>
          <p:nvPr/>
        </p:nvSpPr>
        <p:spPr>
          <a:xfrm>
            <a:off x="6473236" y="2945816"/>
            <a:ext cx="18192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 (background)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B31D3B61-E441-DDEE-F5BA-B4C5C586115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52103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C7C59-423C-7C11-050C-013FB21D5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AC949CB-4F47-A625-F779-ACF5B5047CA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Semantic Segmentation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7CF828-B040-95A6-01FB-989BB4ED21A5}"/>
              </a:ext>
            </a:extLst>
          </p:cNvPr>
          <p:cNvSpPr txBox="1"/>
          <p:nvPr/>
        </p:nvSpPr>
        <p:spPr>
          <a:xfrm>
            <a:off x="1981200" y="1891784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Input(Feature)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F94EAF4-ACA6-4283-37D4-4288D28B1877}"/>
              </a:ext>
            </a:extLst>
          </p:cNvPr>
          <p:cNvSpPr txBox="1"/>
          <p:nvPr/>
        </p:nvSpPr>
        <p:spPr>
          <a:xfrm>
            <a:off x="7105202" y="1926745"/>
            <a:ext cx="16905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Output(Target)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EF503F-3B4E-D043-2764-B8A93F4F14EF}"/>
              </a:ext>
            </a:extLst>
          </p:cNvPr>
          <p:cNvSpPr txBox="1"/>
          <p:nvPr/>
        </p:nvSpPr>
        <p:spPr>
          <a:xfrm>
            <a:off x="9620250" y="2261116"/>
            <a:ext cx="22479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buFont typeface="Wingdings" panose="05000000000000000000" pitchFamily="2" charset="2"/>
              <a:buChar char="§"/>
            </a:pPr>
            <a:r>
              <a:rPr lang="en-US" altLang="ko-KR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 (foreground)</a:t>
            </a:r>
          </a:p>
          <a:p>
            <a:pPr marL="285750" indent="-285750" algn="just">
              <a:buFont typeface="Wingdings" panose="05000000000000000000" pitchFamily="2" charset="2"/>
              <a:buChar char="§"/>
            </a:pPr>
            <a:r>
              <a:rPr lang="en-US" altLang="ko-KR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 (background)</a:t>
            </a:r>
          </a:p>
          <a:p>
            <a:pPr marL="285750" indent="-285750" algn="just">
              <a:buFont typeface="Wingdings" panose="05000000000000000000" pitchFamily="2" charset="2"/>
              <a:buChar char="§"/>
            </a:pPr>
            <a:r>
              <a:rPr lang="en-US" altLang="ko-KR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 (contour)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9BEF3F-882E-452F-8047-F7C760E3A455}"/>
              </a:ext>
            </a:extLst>
          </p:cNvPr>
          <p:cNvSpPr txBox="1"/>
          <p:nvPr/>
        </p:nvSpPr>
        <p:spPr>
          <a:xfrm>
            <a:off x="2057400" y="5465264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78E8DC-DC20-84AE-CC3E-AE72343A7C5F}"/>
              </a:ext>
            </a:extLst>
          </p:cNvPr>
          <p:cNvSpPr txBox="1"/>
          <p:nvPr/>
        </p:nvSpPr>
        <p:spPr>
          <a:xfrm>
            <a:off x="7264666" y="5408114"/>
            <a:ext cx="10278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y=[1,2,3]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02F73698-AB14-59F1-D3DC-5E680FEBB8B5}"/>
              </a:ext>
            </a:extLst>
          </p:cNvPr>
          <p:cNvCxnSpPr>
            <a:cxnSpLocks/>
          </p:cNvCxnSpPr>
          <p:nvPr/>
        </p:nvCxnSpPr>
        <p:spPr>
          <a:xfrm>
            <a:off x="4695825" y="3819525"/>
            <a:ext cx="116205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368B4CA-26DE-3E3F-4E43-BBBAB5F5E7BC}"/>
              </a:ext>
            </a:extLst>
          </p:cNvPr>
          <p:cNvSpPr txBox="1"/>
          <p:nvPr/>
        </p:nvSpPr>
        <p:spPr>
          <a:xfrm>
            <a:off x="4958818" y="3248047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f(X)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C3C5FA06-6BA4-DE1D-831A-B45A62B2CEE2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</a:blip>
          <a:stretch>
            <a:fillRect/>
          </a:stretch>
        </p:blipFill>
        <p:spPr>
          <a:xfrm>
            <a:off x="6500752" y="2722781"/>
            <a:ext cx="3119498" cy="2440986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04B2D89F-E42E-E778-DBF6-E788F5244F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0910" y="2555282"/>
            <a:ext cx="2811942" cy="2775983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972E5F7-E061-D048-57B6-1FDBA5FFB9D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20819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7A238-2861-DC74-DCEA-9CD36117C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B2FE1379-4DCE-E57B-F1C2-EC738E22E91E}"/>
              </a:ext>
            </a:extLst>
          </p:cNvPr>
          <p:cNvSpPr/>
          <p:nvPr/>
        </p:nvSpPr>
        <p:spPr>
          <a:xfrm>
            <a:off x="400050" y="4380520"/>
            <a:ext cx="10687050" cy="50580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0CE06A-15E5-F3EF-35A7-5953347330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B006B94-6528-281A-EDCC-D444DCBA929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Goals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B54E5409-996E-C153-FB08-641FF2951E4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BFB0A9-193C-BEB3-C457-2039388A3BB7}"/>
              </a:ext>
            </a:extLst>
          </p:cNvPr>
          <p:cNvSpPr txBox="1"/>
          <p:nvPr/>
        </p:nvSpPr>
        <p:spPr>
          <a:xfrm>
            <a:off x="860396" y="1589695"/>
            <a:ext cx="10030387" cy="46617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 layer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Classification &amp; location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Object detection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Fully Convolutional Network(FCN)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You Only Look Once(YOLO)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Segmentation 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Image Segmentation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FCN for semantic segmentation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Building a segmentation model from scratch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Using the pretrained Segment Anything Model</a:t>
            </a:r>
          </a:p>
        </p:txBody>
      </p:sp>
    </p:spTree>
    <p:extLst>
      <p:ext uri="{BB962C8B-B14F-4D97-AF65-F5344CB8AC3E}">
        <p14:creationId xmlns:p14="http://schemas.microsoft.com/office/powerpoint/2010/main" val="15380900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EAB7D-B27E-9334-4DBB-8EAE42AB6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0B579A3-858F-ED6D-3438-F62A6F425B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Image Segmentation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6583F638-7692-FD83-49FC-74023AD4C51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EA3A7D7-EC01-C9DA-55A2-2E94A26722B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5E27426D-1C7D-66BC-6877-CF007AAAD4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750" y="2802931"/>
            <a:ext cx="6998526" cy="33454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A183BDA-69FB-75D0-D840-A344BC1E0CDD}"/>
              </a:ext>
            </a:extLst>
          </p:cNvPr>
          <p:cNvSpPr txBox="1"/>
          <p:nvPr/>
        </p:nvSpPr>
        <p:spPr>
          <a:xfrm>
            <a:off x="585932" y="1219847"/>
            <a:ext cx="11130423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 장의 이미지에 여러 개의 도형이 있다면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Fully Connected(Dense)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 개의 이미지만 구별하여 분류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(Conv2D)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레이어로 대체하여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(64x64)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 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사분면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도형 위치를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(9x9)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격자 지도로 분류하는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FCN(Fully Convolutional Network)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사용하여 이미지를 구분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(segmentation)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4" name="그래픽 13" descr="수영">
            <a:extLst>
              <a:ext uri="{FF2B5EF4-FFF2-40B4-BE49-F238E27FC236}">
                <a16:creationId xmlns:a16="http://schemas.microsoft.com/office/drawing/2014/main" id="{122335B6-90EF-DA89-8E5F-14B29C7FBC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43133" y="334022"/>
            <a:ext cx="914400" cy="9144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3934D9A-72A2-BEDB-1A71-A9B93AC7DEAE}"/>
              </a:ext>
            </a:extLst>
          </p:cNvPr>
          <p:cNvSpPr txBox="1"/>
          <p:nvPr/>
        </p:nvSpPr>
        <p:spPr>
          <a:xfrm>
            <a:off x="8414282" y="2802931"/>
            <a:ext cx="3302073" cy="212365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일반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CNN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 이미지 전체를 하나의 클래스로 분류하는 거라면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은 각 픽셀마다 클래스를 예측하도록 만든 구조</a:t>
            </a: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fully connected layer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를 없애고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convolution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만 사용해서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입력 이미지 크기에 관계없이 동작</a:t>
            </a:r>
          </a:p>
        </p:txBody>
      </p:sp>
    </p:spTree>
    <p:extLst>
      <p:ext uri="{BB962C8B-B14F-4D97-AF65-F5344CB8AC3E}">
        <p14:creationId xmlns:p14="http://schemas.microsoft.com/office/powerpoint/2010/main" val="35035814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5FB5F-5B3D-A32D-052A-8D50221D5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C1C53F9-1DCA-64E0-F05D-1AB467F4E95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Convnet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E26E5A47-9B5B-7A82-B532-B5B245F4B88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F4049D-52E7-A828-C76E-2153CAECB410}"/>
              </a:ext>
            </a:extLst>
          </p:cNvPr>
          <p:cNvSpPr txBox="1"/>
          <p:nvPr/>
        </p:nvSpPr>
        <p:spPr>
          <a:xfrm>
            <a:off x="628650" y="1325175"/>
            <a:ext cx="8486775" cy="526297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build_traditional_cnn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원래 LeNet-5는 (32, 32, 1) 기준으로 가중치 모양이 고정됨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shape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=(64, 64, 1))  # 크기가 다른 (64, 64) 입력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특징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추출부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(LeNet-5 구조)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layers.Conv2D(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=6,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layers.MaxPooling2D(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layers.Conv2D(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=16,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layers.MaxPooling2D(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layers.Flatten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    # ❌ 문제의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단계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원래 (32,32) 입력이었다면 400개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노드여야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하지만, (64,64)라 2704개가 되어 들어옴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(120,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(84,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(10,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cnn_model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build_traditional_cnn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가상의 (64, 64, 1) 이미지 1장 생성해서 통과 시도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mock_input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tf.random.normal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([1, 64, 64, 1])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prediction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cnn_model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mock_input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👉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Traditional CNN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최종 출력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Matrix Formation (Shape):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prediction.shape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5E44F44-2228-7818-8854-A2E61A3E3C4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7FAFA51-00A8-2056-D8FF-CBCD27BE1B58}"/>
              </a:ext>
            </a:extLst>
          </p:cNvPr>
          <p:cNvSpPr/>
          <p:nvPr/>
        </p:nvSpPr>
        <p:spPr>
          <a:xfrm>
            <a:off x="400050" y="3076575"/>
            <a:ext cx="8715375" cy="132397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3FA6D80-3069-8A6F-224F-F03907FD6AD4}"/>
              </a:ext>
            </a:extLst>
          </p:cNvPr>
          <p:cNvSpPr txBox="1"/>
          <p:nvPr/>
        </p:nvSpPr>
        <p:spPr>
          <a:xfrm>
            <a:off x="9267306" y="3088987"/>
            <a:ext cx="2657475" cy="29238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Fully Connected(Dense) </a:t>
            </a:r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레이어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8966D7-27A0-CAFB-2B17-46DD10345FBF}"/>
              </a:ext>
            </a:extLst>
          </p:cNvPr>
          <p:cNvSpPr txBox="1"/>
          <p:nvPr/>
        </p:nvSpPr>
        <p:spPr>
          <a:xfrm>
            <a:off x="9276831" y="3908107"/>
            <a:ext cx="2657475" cy="49244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공간정보를 모두 제거하고 이미지를 분류</a:t>
            </a:r>
            <a:r>
              <a:rPr lang="en-US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endParaRPr lang="ko-KR" altLang="en-US" sz="1300" dirty="0">
              <a:solidFill>
                <a:schemeClr val="bg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022071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BE693-3091-B325-C411-E43BD93B1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F55654F-E98B-9D3E-A328-C8EC2E30DD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Convnet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9D50F0EB-5CEF-1E67-E58B-637B1054BC3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05500" y="3057525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433696F-4C73-8636-CC93-30330B42766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FFA907-C8AF-C701-6550-AB37A7848C48}"/>
              </a:ext>
            </a:extLst>
          </p:cNvPr>
          <p:cNvSpPr txBox="1"/>
          <p:nvPr/>
        </p:nvSpPr>
        <p:spPr>
          <a:xfrm>
            <a:off x="514350" y="1238856"/>
            <a:ext cx="6096000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cnn_model.summary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7038B90C-C3E9-2D98-4F9B-EB0F4FCA1E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522" y="1554327"/>
            <a:ext cx="4918978" cy="3335928"/>
          </a:xfrm>
          <a:prstGeom prst="rect">
            <a:avLst/>
          </a:prstGeom>
        </p:spPr>
      </p:pic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81C04C79-4BD9-BEDC-C377-57AB552503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498998"/>
              </p:ext>
            </p:extLst>
          </p:nvPr>
        </p:nvGraphicFramePr>
        <p:xfrm>
          <a:off x="5615672" y="1880288"/>
          <a:ext cx="6232667" cy="2772992"/>
        </p:xfrm>
        <a:graphic>
          <a:graphicData uri="http://schemas.openxmlformats.org/drawingml/2006/table">
            <a:tbl>
              <a:tblPr>
                <a:tableStyleId>{775DCB02-9BB8-47FD-8907-85C794F793BA}</a:tableStyleId>
              </a:tblPr>
              <a:tblGrid>
                <a:gridCol w="1114935">
                  <a:extLst>
                    <a:ext uri="{9D8B030D-6E8A-4147-A177-3AD203B41FA5}">
                      <a16:colId xmlns:a16="http://schemas.microsoft.com/office/drawing/2014/main" val="2755321600"/>
                    </a:ext>
                  </a:extLst>
                </a:gridCol>
                <a:gridCol w="596975">
                  <a:extLst>
                    <a:ext uri="{9D8B030D-6E8A-4147-A177-3AD203B41FA5}">
                      <a16:colId xmlns:a16="http://schemas.microsoft.com/office/drawing/2014/main" val="2295146599"/>
                    </a:ext>
                  </a:extLst>
                </a:gridCol>
                <a:gridCol w="634327">
                  <a:extLst>
                    <a:ext uri="{9D8B030D-6E8A-4147-A177-3AD203B41FA5}">
                      <a16:colId xmlns:a16="http://schemas.microsoft.com/office/drawing/2014/main" val="2307758495"/>
                    </a:ext>
                  </a:extLst>
                </a:gridCol>
                <a:gridCol w="314542">
                  <a:extLst>
                    <a:ext uri="{9D8B030D-6E8A-4147-A177-3AD203B41FA5}">
                      <a16:colId xmlns:a16="http://schemas.microsoft.com/office/drawing/2014/main" val="2917777080"/>
                    </a:ext>
                  </a:extLst>
                </a:gridCol>
                <a:gridCol w="2759087">
                  <a:extLst>
                    <a:ext uri="{9D8B030D-6E8A-4147-A177-3AD203B41FA5}">
                      <a16:colId xmlns:a16="http://schemas.microsoft.com/office/drawing/2014/main" val="2995285287"/>
                    </a:ext>
                  </a:extLst>
                </a:gridCol>
                <a:gridCol w="812801">
                  <a:extLst>
                    <a:ext uri="{9D8B030D-6E8A-4147-A177-3AD203B41FA5}">
                      <a16:colId xmlns:a16="http://schemas.microsoft.com/office/drawing/2014/main" val="2306271437"/>
                    </a:ext>
                  </a:extLst>
                </a:gridCol>
              </a:tblGrid>
              <a:tr h="226704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000" dirty="0">
                          <a:effectLst/>
                        </a:rPr>
                        <a:t>레이어 </a:t>
                      </a:r>
                      <a:r>
                        <a:rPr lang="en-US" altLang="ko-KR" sz="1000" dirty="0">
                          <a:effectLst/>
                        </a:rPr>
                        <a:t>(</a:t>
                      </a:r>
                      <a:r>
                        <a:rPr lang="en-US" sz="1000" dirty="0">
                          <a:effectLst/>
                        </a:rPr>
                        <a:t>Layer)</a:t>
                      </a:r>
                    </a:p>
                  </a:txBody>
                  <a:tcPr marL="12228" marR="12228" marT="8152" marB="8152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000" dirty="0">
                          <a:effectLst/>
                        </a:rPr>
                        <a:t>입력 채널</a:t>
                      </a:r>
                    </a:p>
                  </a:txBody>
                  <a:tcPr marL="12228" marR="12228" marT="8152" marB="8152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000" dirty="0">
                          <a:effectLst/>
                        </a:rPr>
                        <a:t>커널 크기</a:t>
                      </a:r>
                    </a:p>
                  </a:txBody>
                  <a:tcPr marL="12228" marR="12228" marT="8152" marB="8152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000" dirty="0">
                          <a:effectLst/>
                        </a:rPr>
                        <a:t>필터 </a:t>
                      </a:r>
                    </a:p>
                  </a:txBody>
                  <a:tcPr marL="12228" marR="12228" marT="8152" marB="8152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000" dirty="0">
                          <a:effectLst/>
                        </a:rPr>
                        <a:t>상세 계산 수식</a:t>
                      </a:r>
                    </a:p>
                  </a:txBody>
                  <a:tcPr marL="12228" marR="12228" marT="8152" marB="8152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000" dirty="0">
                          <a:effectLst/>
                        </a:rPr>
                        <a:t>파라미터 개수</a:t>
                      </a:r>
                    </a:p>
                  </a:txBody>
                  <a:tcPr marL="0" marR="0" marT="8152" marB="8152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39356482"/>
                  </a:ext>
                </a:extLst>
              </a:tr>
              <a:tr h="280728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effectLst/>
                        </a:rPr>
                        <a:t>Conv2D_1</a:t>
                      </a:r>
                    </a:p>
                  </a:txBody>
                  <a:tcPr marL="12228" marR="12228" marT="8152" marB="8152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1</a:t>
                      </a:r>
                    </a:p>
                  </a:txBody>
                  <a:tcPr marL="12228" marR="12228" marT="8152" marB="8152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5×5</a:t>
                      </a:r>
                    </a:p>
                  </a:txBody>
                  <a:tcPr marL="12228" marR="12228" marT="8152" marB="8152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6</a:t>
                      </a:r>
                    </a:p>
                  </a:txBody>
                  <a:tcPr marL="12228" marR="12228" marT="8152" marB="8152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{(5×5×1)+1}×6=(25+1)×6=26×6</a:t>
                      </a:r>
                    </a:p>
                  </a:txBody>
                  <a:tcPr marL="12228" marR="12228" marT="8152" marB="8152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156</a:t>
                      </a:r>
                    </a:p>
                  </a:txBody>
                  <a:tcPr marL="12228" marR="12228" marT="8152" marB="8152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769683759"/>
                  </a:ext>
                </a:extLst>
              </a:tr>
              <a:tr h="28566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>
                          <a:effectLst/>
                        </a:rPr>
                        <a:t>MaxPooling2D_1</a:t>
                      </a:r>
                    </a:p>
                  </a:txBody>
                  <a:tcPr marL="12228" marR="12228" marT="8152" marB="8152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6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-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-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000" dirty="0">
                          <a:effectLst/>
                        </a:rPr>
                        <a:t>학습 가중치 없음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0</a:t>
                      </a:r>
                    </a:p>
                  </a:txBody>
                  <a:tcPr marL="12228" marR="12228" marT="8152" marB="8152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4022478283"/>
                  </a:ext>
                </a:extLst>
              </a:tr>
              <a:tr h="280728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>
                          <a:effectLst/>
                        </a:rPr>
                        <a:t>Conv2D_2</a:t>
                      </a:r>
                    </a:p>
                  </a:txBody>
                  <a:tcPr marL="12228" marR="12228" marT="8152" marB="8152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6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5×5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16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{(5×5×6)+1}×16=(150+1)×16=151×16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2,416</a:t>
                      </a:r>
                    </a:p>
                  </a:txBody>
                  <a:tcPr marL="12228" marR="12228" marT="8152" marB="8152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427524334"/>
                  </a:ext>
                </a:extLst>
              </a:tr>
              <a:tr h="28566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>
                          <a:effectLst/>
                        </a:rPr>
                        <a:t>MaxPooling2D_2</a:t>
                      </a:r>
                    </a:p>
                  </a:txBody>
                  <a:tcPr marL="12228" marR="12228" marT="8152" marB="8152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16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-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-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000">
                          <a:effectLst/>
                        </a:rPr>
                        <a:t>학습 가중치 없음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0</a:t>
                      </a:r>
                    </a:p>
                  </a:txBody>
                  <a:tcPr marL="12228" marR="12228" marT="8152" marB="8152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618839275"/>
                  </a:ext>
                </a:extLst>
              </a:tr>
              <a:tr h="280728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>
                          <a:effectLst/>
                        </a:rPr>
                        <a:t>Flatten</a:t>
                      </a:r>
                    </a:p>
                  </a:txBody>
                  <a:tcPr marL="12228" marR="12228" marT="8152" marB="8152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-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-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-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000">
                          <a:effectLst/>
                        </a:rPr>
                        <a:t>학습 가중치 없음 </a:t>
                      </a:r>
                      <a:r>
                        <a:rPr lang="en-US" altLang="ko-KR" sz="1000">
                          <a:effectLst/>
                        </a:rPr>
                        <a:t>(</a:t>
                      </a:r>
                      <a:r>
                        <a:rPr lang="ko-KR" altLang="en-US" sz="1000">
                          <a:effectLst/>
                        </a:rPr>
                        <a:t>출력 노드 수</a:t>
                      </a:r>
                      <a:r>
                        <a:rPr lang="en-US" altLang="ko-KR" sz="1000">
                          <a:effectLst/>
                        </a:rPr>
                        <a:t>: 2,704</a:t>
                      </a:r>
                      <a:r>
                        <a:rPr lang="ko-KR" altLang="en-US" sz="1000">
                          <a:effectLst/>
                        </a:rPr>
                        <a:t>개</a:t>
                      </a:r>
                      <a:r>
                        <a:rPr lang="en-US" altLang="ko-KR" sz="1000">
                          <a:effectLst/>
                        </a:rPr>
                        <a:t>)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0</a:t>
                      </a:r>
                    </a:p>
                  </a:txBody>
                  <a:tcPr marL="12228" marR="12228" marT="8152" marB="8152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68461832"/>
                  </a:ext>
                </a:extLst>
              </a:tr>
              <a:tr h="28566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>
                          <a:effectLst/>
                        </a:rPr>
                        <a:t>Dense_1</a:t>
                      </a:r>
                    </a:p>
                  </a:txBody>
                  <a:tcPr marL="12228" marR="12228" marT="8152" marB="8152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2,704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-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120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{(2,704×1)+1}×120=(2,704+1)×120=2,705×120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324,600</a:t>
                      </a:r>
                    </a:p>
                  </a:txBody>
                  <a:tcPr marL="12228" marR="12228" marT="8152" marB="8152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146647530"/>
                  </a:ext>
                </a:extLst>
              </a:tr>
              <a:tr h="280728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>
                          <a:effectLst/>
                        </a:rPr>
                        <a:t>Dense_2</a:t>
                      </a:r>
                    </a:p>
                  </a:txBody>
                  <a:tcPr marL="12228" marR="12228" marT="8152" marB="8152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120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-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84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{(120×1)+1}×84=(120+1)×84=121×84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10,164</a:t>
                      </a:r>
                    </a:p>
                  </a:txBody>
                  <a:tcPr marL="12228" marR="12228" marT="8152" marB="8152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652859773"/>
                  </a:ext>
                </a:extLst>
              </a:tr>
              <a:tr h="28566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>
                          <a:effectLst/>
                        </a:rPr>
                        <a:t>Dense_3 (</a:t>
                      </a:r>
                      <a:r>
                        <a:rPr lang="ko-KR" altLang="en-US" sz="1000">
                          <a:effectLst/>
                        </a:rPr>
                        <a:t>출력층</a:t>
                      </a:r>
                      <a:r>
                        <a:rPr lang="en-US" altLang="ko-KR" sz="1000">
                          <a:effectLst/>
                        </a:rPr>
                        <a:t>)</a:t>
                      </a:r>
                    </a:p>
                  </a:txBody>
                  <a:tcPr marL="12228" marR="12228" marT="8152" marB="8152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84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-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10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{(84×1)+1}×10=(84+1)×10=85×10</a:t>
                      </a:r>
                    </a:p>
                  </a:txBody>
                  <a:tcPr marL="12228" marR="12228" marT="8152" marB="8152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850</a:t>
                      </a:r>
                    </a:p>
                  </a:txBody>
                  <a:tcPr marL="12228" marR="12228" marT="8152" marB="8152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15712732"/>
                  </a:ext>
                </a:extLst>
              </a:tr>
              <a:tr h="280728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000">
                          <a:effectLst/>
                        </a:rPr>
                        <a:t>총계 </a:t>
                      </a:r>
                      <a:r>
                        <a:rPr lang="en-US" altLang="ko-KR" sz="1000">
                          <a:effectLst/>
                        </a:rPr>
                        <a:t>(</a:t>
                      </a:r>
                      <a:r>
                        <a:rPr lang="en-US" sz="1000">
                          <a:effectLst/>
                        </a:rPr>
                        <a:t>Total)</a:t>
                      </a:r>
                    </a:p>
                  </a:txBody>
                  <a:tcPr marL="12228" marR="12228" marT="8152" marB="8152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-</a:t>
                      </a:r>
                    </a:p>
                  </a:txBody>
                  <a:tcPr marL="12228" marR="12228" marT="8152" marB="8152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-</a:t>
                      </a:r>
                    </a:p>
                  </a:txBody>
                  <a:tcPr marL="12228" marR="12228" marT="8152" marB="8152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-</a:t>
                      </a:r>
                    </a:p>
                  </a:txBody>
                  <a:tcPr marL="12228" marR="12228" marT="8152" marB="8152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156+2,416+324,600+10,164+850</a:t>
                      </a:r>
                    </a:p>
                  </a:txBody>
                  <a:tcPr marL="12228" marR="12228" marT="8152" marB="8152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338,186</a:t>
                      </a:r>
                    </a:p>
                  </a:txBody>
                  <a:tcPr marL="12228" marR="12228" marT="8152" marB="8152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25065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512639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AEEC00-2CE5-3A47-71C2-446F304CD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994C095-FA13-5B37-3A73-7D9219AC29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FCN(Fully Convolutional Network)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285DBDB0-F214-75E6-61AB-2A7FC38CDD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0290B9-2470-CEB5-D79C-DCB3E7CE4019}"/>
              </a:ext>
            </a:extLst>
          </p:cNvPr>
          <p:cNvSpPr txBox="1"/>
          <p:nvPr/>
        </p:nvSpPr>
        <p:spPr>
          <a:xfrm>
            <a:off x="628650" y="1325175"/>
            <a:ext cx="8648700" cy="504753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build_fcn_model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inputs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(shape=(64, 64, 1)) 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동일한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(64, 64)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특징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추출부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(LeNet-5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구조 그대로 유지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layers.Conv2D(filters=6,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padding="valid",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")(inputs)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=2, strides=2)(x)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layers.Conv2D(filters=16,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padding="valid",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=2, strides=2)(x)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⭕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[FCN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핵심 변환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]: Dense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층들을 전부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Conv2D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대체합니다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원래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(32,32)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시 이 자리의 특성 맵 크기가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5x5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였으므로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지정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layers.Conv2D(filters=120,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padding="valid",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이후의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Dense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층들은 가로세로가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1x1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인 상태이므로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필터로 대체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layers.Conv2D(filters=84,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outputs = layers.Conv2D(filters=10,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return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FCN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테스트 실행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fcn_model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build_fcn_model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mock_input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tf.random.normal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([1, 64, 64, 1])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fcn_prediction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fcn_model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mock_input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👉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FCN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최종 출력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Matrix Formation (Shape):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fcn_prediction.shape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27A409-6D23-BBDF-FE6F-00232ACFCCF3}"/>
              </a:ext>
            </a:extLst>
          </p:cNvPr>
          <p:cNvSpPr txBox="1"/>
          <p:nvPr/>
        </p:nvSpPr>
        <p:spPr>
          <a:xfrm>
            <a:off x="9367839" y="4879995"/>
            <a:ext cx="2518843" cy="149271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사진 속 9 </a:t>
            </a:r>
            <a:r>
              <a:rPr lang="en-US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 </a:t>
            </a:r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9 세부 구역 중 '어느 </a:t>
            </a:r>
            <a:r>
              <a:rPr lang="ko-KR" altLang="en-US" sz="1300" dirty="0" err="1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위치'에</a:t>
            </a:r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그 숫자가 존재하는지" 픽셀 단위의 단서를 제공하는 객체 탐지(</a:t>
            </a:r>
            <a:r>
              <a:rPr lang="ko-KR" altLang="en-US" sz="1300" dirty="0" err="1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Object</a:t>
            </a:r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300" dirty="0" err="1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Detection</a:t>
            </a:r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및 </a:t>
            </a:r>
            <a:r>
              <a:rPr lang="ko-KR" altLang="en-US" sz="1300" dirty="0" err="1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세맨틱</a:t>
            </a:r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분할(</a:t>
            </a:r>
            <a:r>
              <a:rPr lang="ko-KR" altLang="en-US" sz="1300" dirty="0" err="1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Semantic</a:t>
            </a:r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300" dirty="0" err="1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Segmentation</a:t>
            </a:r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모델로 진화한 형태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7308D83-8009-1CC0-0425-B41C43367DE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DF99A5B-A81E-A8DC-25EC-C0A40CC349F6}"/>
              </a:ext>
            </a:extLst>
          </p:cNvPr>
          <p:cNvSpPr/>
          <p:nvPr/>
        </p:nvSpPr>
        <p:spPr>
          <a:xfrm>
            <a:off x="400050" y="3076575"/>
            <a:ext cx="8877300" cy="132397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Rectangle 2">
            <a:extLst>
              <a:ext uri="{FF2B5EF4-FFF2-40B4-BE49-F238E27FC236}">
                <a16:creationId xmlns:a16="http://schemas.microsoft.com/office/drawing/2014/main" id="{0BF69C62-F79A-0394-9D67-C13AD5C11E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67839" y="1316113"/>
            <a:ext cx="2518842" cy="169277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9 </a:t>
            </a:r>
            <a:r>
              <a:rPr lang="en-US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9 그리드의 총 81개 각 칸은 64 </a:t>
            </a:r>
            <a:r>
              <a:rPr lang="en-US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64 원본 이미지 내의 특정 국소 영역(</a:t>
            </a:r>
            <a:r>
              <a:rPr lang="ko-KR" altLang="ko-KR" sz="1300" dirty="0" err="1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수용장</a:t>
            </a:r>
            <a:r>
              <a:rPr lang="ko-KR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)을 뜻하며, "이미지 전체에 무엇이 있는가"가 아니라 "9x9로 나뉜 각 위치에 어떤 객체가 있는가"라는 위치 기반 예측 결과를 제공</a:t>
            </a:r>
          </a:p>
        </p:txBody>
      </p:sp>
    </p:spTree>
    <p:extLst>
      <p:ext uri="{BB962C8B-B14F-4D97-AF65-F5344CB8AC3E}">
        <p14:creationId xmlns:p14="http://schemas.microsoft.com/office/powerpoint/2010/main" val="42397587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46EC4-B367-B617-1D8E-1F58E3B0A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DE6937E-1188-477D-3D5E-9BF1644CFE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FCN(Fully Convolutional Network)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8B188ADE-2F9A-8127-1D51-68AFD92D095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838825" y="2828925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E649C9B-E7B2-5444-3BEE-F381AD5327F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CFA9E6E0-2810-40A9-F605-954A057207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994" y="1829859"/>
            <a:ext cx="5041780" cy="319828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6F4F9D1E-9110-B139-ECC9-5FF49AB52F1B}"/>
              </a:ext>
            </a:extLst>
          </p:cNvPr>
          <p:cNvSpPr txBox="1"/>
          <p:nvPr/>
        </p:nvSpPr>
        <p:spPr>
          <a:xfrm>
            <a:off x="475645" y="1407832"/>
            <a:ext cx="6096000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fcn_model.summary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</p:txBody>
      </p:sp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CD3AAC76-CB6E-E7E4-263C-35835ED27E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4715122"/>
              </p:ext>
            </p:extLst>
          </p:nvPr>
        </p:nvGraphicFramePr>
        <p:xfrm>
          <a:off x="5652526" y="2049610"/>
          <a:ext cx="6165841" cy="2758780"/>
        </p:xfrm>
        <a:graphic>
          <a:graphicData uri="http://schemas.openxmlformats.org/drawingml/2006/table">
            <a:tbl>
              <a:tblPr>
                <a:tableStyleId>{775DCB02-9BB8-47FD-8907-85C794F793BA}</a:tableStyleId>
              </a:tblPr>
              <a:tblGrid>
                <a:gridCol w="1319774">
                  <a:extLst>
                    <a:ext uri="{9D8B030D-6E8A-4147-A177-3AD203B41FA5}">
                      <a16:colId xmlns:a16="http://schemas.microsoft.com/office/drawing/2014/main" val="4007595343"/>
                    </a:ext>
                  </a:extLst>
                </a:gridCol>
                <a:gridCol w="590550">
                  <a:extLst>
                    <a:ext uri="{9D8B030D-6E8A-4147-A177-3AD203B41FA5}">
                      <a16:colId xmlns:a16="http://schemas.microsoft.com/office/drawing/2014/main" val="2846901273"/>
                    </a:ext>
                  </a:extLst>
                </a:gridCol>
                <a:gridCol w="647700">
                  <a:extLst>
                    <a:ext uri="{9D8B030D-6E8A-4147-A177-3AD203B41FA5}">
                      <a16:colId xmlns:a16="http://schemas.microsoft.com/office/drawing/2014/main" val="2627887502"/>
                    </a:ext>
                  </a:extLst>
                </a:gridCol>
                <a:gridCol w="495300">
                  <a:extLst>
                    <a:ext uri="{9D8B030D-6E8A-4147-A177-3AD203B41FA5}">
                      <a16:colId xmlns:a16="http://schemas.microsoft.com/office/drawing/2014/main" val="2982397368"/>
                    </a:ext>
                  </a:extLst>
                </a:gridCol>
                <a:gridCol w="2486025">
                  <a:extLst>
                    <a:ext uri="{9D8B030D-6E8A-4147-A177-3AD203B41FA5}">
                      <a16:colId xmlns:a16="http://schemas.microsoft.com/office/drawing/2014/main" val="3133557278"/>
                    </a:ext>
                  </a:extLst>
                </a:gridCol>
                <a:gridCol w="626492">
                  <a:extLst>
                    <a:ext uri="{9D8B030D-6E8A-4147-A177-3AD203B41FA5}">
                      <a16:colId xmlns:a16="http://schemas.microsoft.com/office/drawing/2014/main" val="2349011138"/>
                    </a:ext>
                  </a:extLst>
                </a:gridCol>
              </a:tblGrid>
              <a:tr h="347132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ko-KR" altLang="en-US" sz="1000" dirty="0">
                          <a:effectLst/>
                        </a:rPr>
                        <a:t>레이어 </a:t>
                      </a:r>
                      <a:r>
                        <a:rPr lang="en-US" altLang="ko-KR" sz="1000" dirty="0">
                          <a:effectLst/>
                        </a:rPr>
                        <a:t>(</a:t>
                      </a:r>
                      <a:r>
                        <a:rPr lang="en-US" sz="1000" dirty="0">
                          <a:effectLst/>
                        </a:rPr>
                        <a:t>Layer)</a:t>
                      </a:r>
                      <a:endParaRPr lang="en-US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ko-KR" altLang="en-US" sz="1000" dirty="0">
                          <a:effectLst/>
                        </a:rPr>
                        <a:t>입력 채널</a:t>
                      </a:r>
                      <a:endParaRPr lang="ko-KR" altLang="en-US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ko-KR" altLang="en-US" sz="1000" dirty="0">
                          <a:effectLst/>
                        </a:rPr>
                        <a:t>커널 크기</a:t>
                      </a:r>
                      <a:endParaRPr lang="ko-KR" altLang="en-US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ko-KR" altLang="en-US" sz="1000">
                          <a:effectLst/>
                        </a:rPr>
                        <a:t>필터 수</a:t>
                      </a:r>
                      <a:endParaRPr lang="ko-KR" altLang="en-US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ko-KR" altLang="en-US" sz="1000" dirty="0">
                          <a:effectLst/>
                        </a:rPr>
                        <a:t>상세 계산 수식</a:t>
                      </a:r>
                      <a:endParaRPr lang="ko-KR" altLang="en-US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ko-KR" altLang="en-US" sz="1000" dirty="0">
                          <a:effectLst/>
                        </a:rPr>
                        <a:t>파라미터 개수</a:t>
                      </a:r>
                      <a:endParaRPr lang="ko-KR" altLang="en-US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63701322"/>
                  </a:ext>
                </a:extLst>
              </a:tr>
              <a:tr h="301456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</a:rPr>
                        <a:t>Conv2D_1</a:t>
                      </a:r>
                      <a:endParaRPr lang="en-US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1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5×5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6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{(5×5×1)+1}×6=(25+1)×6=26×6</a:t>
                      </a:r>
                      <a:endParaRPr lang="en-US" altLang="ko-KR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156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76151833"/>
                  </a:ext>
                </a:extLst>
              </a:tr>
              <a:tr h="301456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>
                          <a:effectLst/>
                        </a:rPr>
                        <a:t>MaxPooling2D_1</a:t>
                      </a:r>
                      <a:endParaRPr lang="en-US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6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-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-</a:t>
                      </a:r>
                      <a:endParaRPr lang="en-US" altLang="ko-KR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ko-KR" altLang="en-US" sz="1000" dirty="0">
                          <a:effectLst/>
                        </a:rPr>
                        <a:t>학습 가중치 없음</a:t>
                      </a:r>
                      <a:endParaRPr lang="ko-KR" altLang="en-US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0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04298932"/>
                  </a:ext>
                </a:extLst>
              </a:tr>
              <a:tr h="301456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</a:rPr>
                        <a:t>Conv2D_2</a:t>
                      </a:r>
                      <a:endParaRPr lang="en-US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6</a:t>
                      </a:r>
                      <a:endParaRPr lang="en-US" altLang="ko-KR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5×5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16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{(5×5×6)+1}×16=(150+1)×16=151×16</a:t>
                      </a:r>
                      <a:endParaRPr lang="en-US" altLang="ko-KR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2,416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35425684"/>
                  </a:ext>
                </a:extLst>
              </a:tr>
              <a:tr h="301456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>
                          <a:effectLst/>
                        </a:rPr>
                        <a:t>MaxPooling2D_2</a:t>
                      </a:r>
                      <a:endParaRPr lang="en-US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16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-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-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ko-KR" altLang="en-US" sz="1000">
                          <a:effectLst/>
                        </a:rPr>
                        <a:t>학습 가중치 없음</a:t>
                      </a:r>
                      <a:endParaRPr lang="ko-KR" altLang="en-US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0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45835728"/>
                  </a:ext>
                </a:extLst>
              </a:tr>
              <a:tr h="301456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</a:rPr>
                        <a:t>Conv2D_3 (Dense </a:t>
                      </a:r>
                      <a:r>
                        <a:rPr lang="ko-KR" altLang="en-US" sz="1000" dirty="0">
                          <a:effectLst/>
                        </a:rPr>
                        <a:t>대체</a:t>
                      </a:r>
                      <a:r>
                        <a:rPr lang="en-US" altLang="ko-KR" sz="1000" dirty="0">
                          <a:effectLst/>
                        </a:rPr>
                        <a:t>)</a:t>
                      </a:r>
                      <a:endParaRPr lang="en-US" altLang="ko-KR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16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5×5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120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{(5×5×16)+1}×120=(400+1)×120=401×120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48,120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88446111"/>
                  </a:ext>
                </a:extLst>
              </a:tr>
              <a:tr h="301456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</a:rPr>
                        <a:t>Conv2D_4 (Dense </a:t>
                      </a:r>
                      <a:r>
                        <a:rPr lang="ko-KR" altLang="en-US" sz="1000" dirty="0">
                          <a:effectLst/>
                        </a:rPr>
                        <a:t>대체</a:t>
                      </a:r>
                      <a:r>
                        <a:rPr lang="en-US" altLang="ko-KR" sz="1000" dirty="0">
                          <a:effectLst/>
                        </a:rPr>
                        <a:t>)</a:t>
                      </a:r>
                      <a:endParaRPr lang="en-US" altLang="ko-KR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120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1×1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84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{(1×1×120)+1}×84=(120+1)×84=121×84</a:t>
                      </a:r>
                      <a:endParaRPr lang="en-US" altLang="ko-KR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10,164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87652098"/>
                  </a:ext>
                </a:extLst>
              </a:tr>
              <a:tr h="301456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</a:rPr>
                        <a:t>Conv2D_5 (</a:t>
                      </a:r>
                      <a:r>
                        <a:rPr lang="ko-KR" altLang="en-US" sz="1000" dirty="0" err="1">
                          <a:effectLst/>
                        </a:rPr>
                        <a:t>출력층</a:t>
                      </a:r>
                      <a:r>
                        <a:rPr lang="en-US" altLang="ko-KR" sz="1000" dirty="0">
                          <a:effectLst/>
                        </a:rPr>
                        <a:t>)</a:t>
                      </a:r>
                      <a:endParaRPr lang="en-US" altLang="ko-KR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84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1×1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10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{(1×1×84)+1}×10=(84+1)×10=85×10</a:t>
                      </a:r>
                      <a:endParaRPr lang="en-US" altLang="ko-KR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850</a:t>
                      </a:r>
                      <a:endParaRPr lang="en-US" altLang="ko-KR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24892668"/>
                  </a:ext>
                </a:extLst>
              </a:tr>
              <a:tr h="301456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ko-KR" altLang="en-US" sz="1000">
                          <a:effectLst/>
                        </a:rPr>
                        <a:t>총계 </a:t>
                      </a:r>
                      <a:r>
                        <a:rPr lang="en-US" altLang="ko-KR" sz="1000">
                          <a:effectLst/>
                        </a:rPr>
                        <a:t>(</a:t>
                      </a:r>
                      <a:r>
                        <a:rPr lang="en-US" sz="1000">
                          <a:effectLst/>
                        </a:rPr>
                        <a:t>Total)</a:t>
                      </a:r>
                      <a:endParaRPr lang="en-US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-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-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-</a:t>
                      </a:r>
                      <a:endParaRPr lang="en-US" altLang="ko-KR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>
                          <a:effectLst/>
                        </a:rPr>
                        <a:t>156+2,416+48,120+10,164+850</a:t>
                      </a:r>
                      <a:endParaRPr lang="en-US" altLang="ko-KR" sz="10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ko-KR" sz="1000" dirty="0">
                          <a:effectLst/>
                        </a:rPr>
                        <a:t>61,706</a:t>
                      </a:r>
                      <a:endParaRPr lang="en-US" altLang="ko-KR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687190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9808526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C4B0E-9215-C286-2671-09F611995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E610E9-D1FE-2850-B347-77F7B3CB4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8A18A25-A57C-1842-7548-74DD0C7F25B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Computer vision tasks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8BBEA63-6C45-7A95-A23D-E71B44C554F8}"/>
              </a:ext>
            </a:extLst>
          </p:cNvPr>
          <p:cNvSpPr txBox="1"/>
          <p:nvPr/>
        </p:nvSpPr>
        <p:spPr>
          <a:xfrm>
            <a:off x="576262" y="1854264"/>
            <a:ext cx="11039475" cy="3978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 Classification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기존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 (Flatten + Dense)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사진은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95%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확률로 장미입니다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라는 결론을 내지만 위치는 모름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 Segmentation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기존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없애고 모든 레이어를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합성곱으로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구성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큰 이미지가 들어왔을 때 최종 출력이 같은 공간 특징 지도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(Heatmap)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확장되어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 하나하나의 정답을 다 채워 넣는 정밀한 이미지 분할이 비로소 가능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Object Detection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분류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+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회귀 듀얼 출력 모델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클래스 확률도 맞추고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박스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(x, y, w, h)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개의 숫자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회귀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도 동시에 맞춰서 물체의 대략적인 사각형 위치를 발견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9B65F5F-42A8-2137-0CEE-F7A891BD043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384325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969A9-4F04-718A-5AEF-7E99F11A4B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E903B85-7A47-27F7-9AE1-D7D3668480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251CB9C-2FC1-374C-0EDA-DC9AE809DF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Image Segmentation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F07FDF2-1C66-6ADC-C706-F8EC2BFDCA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6518" y="2091967"/>
            <a:ext cx="5090957" cy="430941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B3A10FE-64CB-2E00-71D1-DC1362550BBC}"/>
              </a:ext>
            </a:extLst>
          </p:cNvPr>
          <p:cNvSpPr txBox="1"/>
          <p:nvPr/>
        </p:nvSpPr>
        <p:spPr>
          <a:xfrm>
            <a:off x="609600" y="1384566"/>
            <a:ext cx="8518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Deep Learning with Python : chapter11_image-segmentation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참고하여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slide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작성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FDF81F09-31E2-BFCA-A33A-12AA850BA99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3145862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8975</TotalTime>
  <Words>3100</Words>
  <Application>Microsoft Office PowerPoint</Application>
  <PresentationFormat>와이드스크린</PresentationFormat>
  <Paragraphs>401</Paragraphs>
  <Slides>30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30</vt:i4>
      </vt:variant>
    </vt:vector>
  </HeadingPairs>
  <TitlesOfParts>
    <vt:vector size="40" baseType="lpstr">
      <vt:lpstr>D2Coding</vt:lpstr>
      <vt:lpstr>맑은 고딕</vt:lpstr>
      <vt:lpstr>맑은 고딕 Semilight</vt:lpstr>
      <vt:lpstr>바탕</vt:lpstr>
      <vt:lpstr>Arial</vt:lpstr>
      <vt:lpstr>Century Gothic</vt:lpstr>
      <vt:lpstr>Segoe UI Emoji</vt:lpstr>
      <vt:lpstr>Tahoma</vt:lpstr>
      <vt:lpstr>Wingdings</vt:lpstr>
      <vt:lpstr>WelcomeDoc</vt:lpstr>
      <vt:lpstr>Image Segmentation</vt:lpstr>
      <vt:lpstr>PowerPoint 프레젠테이션</vt:lpstr>
      <vt:lpstr>PowerPoint 프레젠테이션</vt:lpstr>
      <vt:lpstr>실습하기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139</cp:revision>
  <dcterms:created xsi:type="dcterms:W3CDTF">2026-04-06T01:00:39Z</dcterms:created>
  <dcterms:modified xsi:type="dcterms:W3CDTF">2026-08-12T02:03:15Z</dcterms:modified>
  <cp:version/>
</cp:coreProperties>
</file>