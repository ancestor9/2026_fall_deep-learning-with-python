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8"/>
  </p:notesMasterIdLst>
  <p:handoutMasterIdLst>
    <p:handoutMasterId r:id="rId39"/>
  </p:handoutMasterIdLst>
  <p:sldIdLst>
    <p:sldId id="256" r:id="rId2"/>
    <p:sldId id="1168" r:id="rId3"/>
    <p:sldId id="1190" r:id="rId4"/>
    <p:sldId id="1166" r:id="rId5"/>
    <p:sldId id="1165" r:id="rId6"/>
    <p:sldId id="1129" r:id="rId7"/>
    <p:sldId id="1167" r:id="rId8"/>
    <p:sldId id="1131" r:id="rId9"/>
    <p:sldId id="1132" r:id="rId10"/>
    <p:sldId id="1187" r:id="rId11"/>
    <p:sldId id="1137" r:id="rId12"/>
    <p:sldId id="1188" r:id="rId13"/>
    <p:sldId id="1189" r:id="rId14"/>
    <p:sldId id="1143" r:id="rId15"/>
    <p:sldId id="1138" r:id="rId16"/>
    <p:sldId id="1163" r:id="rId17"/>
    <p:sldId id="1135" r:id="rId18"/>
    <p:sldId id="1164" r:id="rId19"/>
    <p:sldId id="1136" r:id="rId20"/>
    <p:sldId id="1152" r:id="rId21"/>
    <p:sldId id="1154" r:id="rId22"/>
    <p:sldId id="1191" r:id="rId23"/>
    <p:sldId id="1134" r:id="rId24"/>
    <p:sldId id="1192" r:id="rId25"/>
    <p:sldId id="1193" r:id="rId26"/>
    <p:sldId id="1140" r:id="rId27"/>
    <p:sldId id="1145" r:id="rId28"/>
    <p:sldId id="1150" r:id="rId29"/>
    <p:sldId id="1194" r:id="rId30"/>
    <p:sldId id="1149" r:id="rId31"/>
    <p:sldId id="1151" r:id="rId32"/>
    <p:sldId id="1139" r:id="rId33"/>
    <p:sldId id="1195" r:id="rId34"/>
    <p:sldId id="1121" r:id="rId35"/>
    <p:sldId id="1122" r:id="rId36"/>
    <p:sldId id="1123" r:id="rId3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68"/>
            <p14:sldId id="1190"/>
            <p14:sldId id="1166"/>
            <p14:sldId id="1165"/>
            <p14:sldId id="1129"/>
            <p14:sldId id="1167"/>
            <p14:sldId id="1131"/>
            <p14:sldId id="1132"/>
            <p14:sldId id="1187"/>
            <p14:sldId id="1137"/>
            <p14:sldId id="1188"/>
            <p14:sldId id="1189"/>
            <p14:sldId id="1143"/>
            <p14:sldId id="1138"/>
            <p14:sldId id="1163"/>
            <p14:sldId id="1135"/>
            <p14:sldId id="1164"/>
            <p14:sldId id="1136"/>
            <p14:sldId id="1152"/>
            <p14:sldId id="1154"/>
            <p14:sldId id="1191"/>
            <p14:sldId id="1134"/>
            <p14:sldId id="1192"/>
            <p14:sldId id="1193"/>
            <p14:sldId id="1140"/>
            <p14:sldId id="1145"/>
            <p14:sldId id="1150"/>
            <p14:sldId id="1194"/>
            <p14:sldId id="1149"/>
            <p14:sldId id="1151"/>
            <p14:sldId id="1139"/>
            <p14:sldId id="1195"/>
            <p14:sldId id="1121"/>
            <p14:sldId id="1122"/>
            <p14:sldId id="1123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F0BA9-2DD1-5EAF-2019-A48EAF538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EAF95FB-0E21-C50E-21E9-D5E89F3140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1BFB427-F338-47A9-F760-63DDEA83D9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5ED02E-56A1-B79A-9AA9-ED5B24EE7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64868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A0F5F-3F93-3DE6-3B52-086B91C37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45E67C-15BD-4917-7A03-727477F66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C32002-6BC7-91E1-210F-9CEBCD431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878B4F-DBCD-71E4-8E49-6B16DA8DFE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79349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E2917-018D-478F-F285-A0E04DE25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0C3C7A-BC12-11F1-8F81-3F799CCD86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7EEA0B5-590D-91A1-DE7C-1D2F324FA3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C97F85-D040-49F5-6215-6B80DCF54D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07245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5HGZ1wLtrk" TargetMode="External"/><Relationship Id="rId2" Type="http://schemas.openxmlformats.org/officeDocument/2006/relationships/hyperlink" Target="https://openaccess.thecvf.com/content_cvpr_2015/papers/Long_Fully_Convolutional_Networks_2015_CVPR_paper.pdf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hyperlink" Target="https://www.bpesquet.fr/mlhandbook/algorithms/convolutional_neural_networks.html" TargetMode="Externa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sv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geron/handson-ml3/blob/main/14_deep_computer_vision_with_cnns.ipynb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ted.com/talks/fei_fei_li_how_we_re_teaching_computers_to_understand_pictures" TargetMode="External"/><Relationship Id="rId4" Type="http://schemas.openxmlformats.org/officeDocument/2006/relationships/hyperlink" Target="https://www.ted.com/talks/joseph_redmon_how_computers_learn_to_recognize_objects_instantl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Segmentation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40CAB-44CB-54E9-0E69-3359E0826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062419E-D00F-CD1E-E6AD-83F7EFABA4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3D5510F7-F5D3-A471-5A16-09B45CA7454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061815" y="424290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F33E2F-5385-1753-108E-8E91ADD3EF4E}"/>
              </a:ext>
            </a:extLst>
          </p:cNvPr>
          <p:cNvSpPr txBox="1"/>
          <p:nvPr/>
        </p:nvSpPr>
        <p:spPr>
          <a:xfrm>
            <a:off x="3326257" y="2051168"/>
            <a:ext cx="6271924" cy="11387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Semantic Segmentation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B977A9-1E04-0738-D8C6-21D2B1E9A448}"/>
              </a:ext>
            </a:extLst>
          </p:cNvPr>
          <p:cNvSpPr txBox="1"/>
          <p:nvPr/>
        </p:nvSpPr>
        <p:spPr>
          <a:xfrm>
            <a:off x="3338867" y="4699159"/>
            <a:ext cx="6271922" cy="14157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&amp; location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You Only Look Once(YOLO)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C61F1D-C9B2-DA1D-B4C1-61487C4A47F8}"/>
              </a:ext>
            </a:extLst>
          </p:cNvPr>
          <p:cNvSpPr txBox="1"/>
          <p:nvPr/>
        </p:nvSpPr>
        <p:spPr>
          <a:xfrm>
            <a:off x="3314065" y="1774169"/>
            <a:ext cx="6296723" cy="30777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11. Image Segmentation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1182B0-E959-6AF3-DA97-DE9E33DA2801}"/>
              </a:ext>
            </a:extLst>
          </p:cNvPr>
          <p:cNvSpPr txBox="1"/>
          <p:nvPr/>
        </p:nvSpPr>
        <p:spPr>
          <a:xfrm>
            <a:off x="3338867" y="4416868"/>
            <a:ext cx="6271922" cy="30777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14. Deep Computer Vision Using Convolutional Neural Networks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17E34D7-9BDF-31C6-8F8E-69BEDA2F3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003" y="4436371"/>
            <a:ext cx="1453697" cy="193964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396DC66-7E9A-273F-2004-FE1CB9029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03" y="1747653"/>
            <a:ext cx="1453696" cy="1869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445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25469-5D09-03FC-4B8E-D52AC926D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8BEA0B-A755-D0B2-20D0-DCD9F4B129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Deep Learning with Python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11. Image Segmentation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23E05BD-21FB-6F39-CDD6-5F4DE1762734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57192B7-2DFC-0DBC-33CA-300529257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227" y="3070110"/>
            <a:ext cx="2486819" cy="3197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017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2A9C4-569E-E8BB-7ADF-685C04D22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6A0A6ED-C61B-149B-A665-AD35B27E12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B304AF1-B353-CEDE-4FFE-99EFF0E18A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0840AE3-C24D-A3D3-A71B-C653A0081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8589" y="1347655"/>
            <a:ext cx="6323012" cy="5053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17DCB58-B3A1-E5FD-B786-C3AB699905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01869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9E2D9-9A95-449C-2453-B4ABC314D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89AF9F8-B402-011C-37C6-57E2340328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Scopes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20D3F68-739D-492C-EB4E-8960FD5C9F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4A35593-FDE6-C3AE-0304-62633AE98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0482604"/>
              </p:ext>
            </p:extLst>
          </p:nvPr>
        </p:nvGraphicFramePr>
        <p:xfrm>
          <a:off x="623094" y="2246516"/>
          <a:ext cx="10999946" cy="2945981"/>
        </p:xfrm>
        <a:graphic>
          <a:graphicData uri="http://schemas.openxmlformats.org/drawingml/2006/table">
            <a:tbl>
              <a:tblPr/>
              <a:tblGrid>
                <a:gridCol w="2536666">
                  <a:extLst>
                    <a:ext uri="{9D8B030D-6E8A-4147-A177-3AD203B41FA5}">
                      <a16:colId xmlns:a16="http://schemas.microsoft.com/office/drawing/2014/main" val="764053176"/>
                    </a:ext>
                  </a:extLst>
                </a:gridCol>
                <a:gridCol w="2804160">
                  <a:extLst>
                    <a:ext uri="{9D8B030D-6E8A-4147-A177-3AD203B41FA5}">
                      <a16:colId xmlns:a16="http://schemas.microsoft.com/office/drawing/2014/main" val="3669611965"/>
                    </a:ext>
                  </a:extLst>
                </a:gridCol>
                <a:gridCol w="2678789">
                  <a:extLst>
                    <a:ext uri="{9D8B030D-6E8A-4147-A177-3AD203B41FA5}">
                      <a16:colId xmlns:a16="http://schemas.microsoft.com/office/drawing/2014/main" val="1114369870"/>
                    </a:ext>
                  </a:extLst>
                </a:gridCol>
                <a:gridCol w="2980331">
                  <a:extLst>
                    <a:ext uri="{9D8B030D-6E8A-4147-A177-3AD203B41FA5}">
                      <a16:colId xmlns:a16="http://schemas.microsoft.com/office/drawing/2014/main" val="1655379910"/>
                    </a:ext>
                  </a:extLst>
                </a:gridCol>
              </a:tblGrid>
              <a:tr h="374764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과제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목표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형식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실생활 적용 사례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3547352"/>
                  </a:ext>
                </a:extLst>
              </a:tr>
              <a:tr h="796547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분류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 Classification)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전체를 대표하는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클래스 태그 부여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이미지당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 이상의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카테고리 라벨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구글 포토 키워드 및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태그 검색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6790438"/>
                  </a:ext>
                </a:extLst>
              </a:tr>
              <a:tr h="1017536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분할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Segmentation)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모든 픽셀에 대한 영역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 및 분류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 마스크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(Pixel-level Mask)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화상 회의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(Zoom, Google Meet) </a:t>
                      </a: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가상 배경 설정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3487841"/>
                  </a:ext>
                </a:extLst>
              </a:tr>
              <a:tr h="736552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객체 탐지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(Object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Detection)</a:t>
                      </a: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물체의 위치 파악 및 분류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경계 상자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Bounding Box) + 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클래스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자율주행차 보행자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차량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표지판 감지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661545"/>
                  </a:ext>
                </a:extLst>
              </a:tr>
            </a:tbl>
          </a:graphicData>
        </a:graphic>
      </p:graphicFrame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BCB3532C-D059-825B-282D-4874855CD2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7317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610E9-D1FE-2850-B347-77F7B3CB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854264"/>
            <a:ext cx="11039475" cy="40248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Classification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(Flatten + Dense)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사진은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95%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확률로 장미입니다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결론을 내지만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위치는 모름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없애고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모든 레이어를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구성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큰 이미지가 들어왔을 때 최종 출력이 같은 공간 특징 지도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(Heatmap)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확장되어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하나 하나의 정답을 다 채워 넣는 정밀한 이미지 분할이 가능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Network, FCN)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분류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회귀 듀얼 출력 모델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확률도 맞추고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(x, y, w, 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 동시에 맞춰서 물체의 대략적인 사각형 위치를 발견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9B65F5F-42A8-2137-0CEE-F7A891BD043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7546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8269C-6F02-3650-3E00-FC81E0DF3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0E9AD25-B519-C98B-BA51-F666075A9BB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Types of Image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DBF0F9C-D7B7-4592-083C-FA765750BA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681FA5B-337D-3B88-F827-383329A807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47139F-FC7D-4DC3-476B-3B0C33534001}"/>
              </a:ext>
            </a:extLst>
          </p:cNvPr>
          <p:cNvSpPr txBox="1"/>
          <p:nvPr/>
        </p:nvSpPr>
        <p:spPr>
          <a:xfrm>
            <a:off x="556925" y="1231098"/>
            <a:ext cx="6695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 fontAlgn="t">
              <a:spcAft>
                <a:spcPts val="0"/>
              </a:spcAft>
              <a:buNone/>
            </a:pP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분할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(Image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Segmentation)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종류</a:t>
            </a:r>
            <a:endParaRPr lang="ko-KR" altLang="en-US" sz="18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AAE77CA-633E-37C9-2EF9-E1ABBB7CA8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406" y="1679169"/>
            <a:ext cx="5883114" cy="4954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23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5FC59-DF22-CAA4-9590-F2A7C9096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F879655-DA0B-0D92-6AEF-1E2693A84A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BAE1E2E-AD0B-4F4B-05B5-8A532B1DE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500" y="2597865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C88B2388-8059-E653-E419-CC706D81F8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283" y="2597865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8AD89D-968B-CAB5-5BB3-A3841292D078}"/>
              </a:ext>
            </a:extLst>
          </p:cNvPr>
          <p:cNvSpPr txBox="1"/>
          <p:nvPr/>
        </p:nvSpPr>
        <p:spPr>
          <a:xfrm>
            <a:off x="2082800" y="225119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2D3027-4EA0-CBC7-5C32-3151E32BE3CE}"/>
              </a:ext>
            </a:extLst>
          </p:cNvPr>
          <p:cNvSpPr txBox="1"/>
          <p:nvPr/>
        </p:nvSpPr>
        <p:spPr>
          <a:xfrm>
            <a:off x="7206802" y="2286155"/>
            <a:ext cx="1800493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A22E2E-7D86-9E9D-D7F4-A654F5E3A205}"/>
              </a:ext>
            </a:extLst>
          </p:cNvPr>
          <p:cNvSpPr txBox="1"/>
          <p:nvPr/>
        </p:nvSpPr>
        <p:spPr>
          <a:xfrm>
            <a:off x="2159000" y="6043749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074CF5-DF8A-A38A-B143-DC98BA8AF675}"/>
              </a:ext>
            </a:extLst>
          </p:cNvPr>
          <p:cNvSpPr txBox="1"/>
          <p:nvPr/>
        </p:nvSpPr>
        <p:spPr>
          <a:xfrm>
            <a:off x="7366266" y="6043749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377C6241-EA2D-1241-0151-C525FCA699FC}"/>
              </a:ext>
            </a:extLst>
          </p:cNvPr>
          <p:cNvCxnSpPr>
            <a:cxnSpLocks/>
          </p:cNvCxnSpPr>
          <p:nvPr/>
        </p:nvCxnSpPr>
        <p:spPr>
          <a:xfrm>
            <a:off x="5068326" y="4429977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FF7879-1E16-CC92-2C47-6C78CFD3F782}"/>
              </a:ext>
            </a:extLst>
          </p:cNvPr>
          <p:cNvSpPr txBox="1"/>
          <p:nvPr/>
        </p:nvSpPr>
        <p:spPr>
          <a:xfrm>
            <a:off x="5192712" y="3879969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74949D-59A1-D5DC-B848-02E54DE6F5BA}"/>
              </a:ext>
            </a:extLst>
          </p:cNvPr>
          <p:cNvSpPr txBox="1"/>
          <p:nvPr/>
        </p:nvSpPr>
        <p:spPr>
          <a:xfrm>
            <a:off x="7569200" y="4178636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 (foreground)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48C39A-A848-F4DD-CB42-672E5A5C7AF8}"/>
              </a:ext>
            </a:extLst>
          </p:cNvPr>
          <p:cNvSpPr txBox="1"/>
          <p:nvPr/>
        </p:nvSpPr>
        <p:spPr>
          <a:xfrm rot="19245108">
            <a:off x="8668611" y="4948069"/>
            <a:ext cx="1396467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CD1772E-DD1C-3ED5-EE3C-150D3FE8AA72}"/>
              </a:ext>
            </a:extLst>
          </p:cNvPr>
          <p:cNvSpPr txBox="1"/>
          <p:nvPr/>
        </p:nvSpPr>
        <p:spPr>
          <a:xfrm>
            <a:off x="6574836" y="2752776"/>
            <a:ext cx="1819275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 (background)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31D3B61-E441-DDEE-F5BA-B4C5C58611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786274-C019-7634-5864-98A3FB97AF27}"/>
              </a:ext>
            </a:extLst>
          </p:cNvPr>
          <p:cNvSpPr txBox="1"/>
          <p:nvPr/>
        </p:nvSpPr>
        <p:spPr>
          <a:xfrm>
            <a:off x="548640" y="1271927"/>
            <a:ext cx="10922000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Oxford-IIIT Pets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데이터셋을 활용해 각 픽셀을 전경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윤곽선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예측하는 분할 모델 구축</a:t>
            </a:r>
          </a:p>
        </p:txBody>
      </p:sp>
    </p:spTree>
    <p:extLst>
      <p:ext uri="{BB962C8B-B14F-4D97-AF65-F5344CB8AC3E}">
        <p14:creationId xmlns:p14="http://schemas.microsoft.com/office/powerpoint/2010/main" val="49386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C7C59-423C-7C11-050C-013FB21D5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AC949CB-4F47-A625-F779-ACF5B5047CA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CF828-B040-95A6-01FB-989BB4ED21A5}"/>
              </a:ext>
            </a:extLst>
          </p:cNvPr>
          <p:cNvSpPr txBox="1"/>
          <p:nvPr/>
        </p:nvSpPr>
        <p:spPr>
          <a:xfrm>
            <a:off x="1477010" y="1902721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94EAF4-ACA6-4283-37D4-4288D28B1877}"/>
              </a:ext>
            </a:extLst>
          </p:cNvPr>
          <p:cNvSpPr txBox="1"/>
          <p:nvPr/>
        </p:nvSpPr>
        <p:spPr>
          <a:xfrm>
            <a:off x="6781987" y="190272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9BEF3F-882E-452F-8047-F7C760E3A455}"/>
              </a:ext>
            </a:extLst>
          </p:cNvPr>
          <p:cNvSpPr txBox="1"/>
          <p:nvPr/>
        </p:nvSpPr>
        <p:spPr>
          <a:xfrm>
            <a:off x="1762760" y="57700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78E8DC-DC20-84AE-CC3E-AE72343A7C5F}"/>
              </a:ext>
            </a:extLst>
          </p:cNvPr>
          <p:cNvSpPr txBox="1"/>
          <p:nvPr/>
        </p:nvSpPr>
        <p:spPr>
          <a:xfrm>
            <a:off x="6970026" y="5712914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02F73698-AB14-59F1-D3DC-5E680FEBB8B5}"/>
              </a:ext>
            </a:extLst>
          </p:cNvPr>
          <p:cNvCxnSpPr>
            <a:cxnSpLocks/>
          </p:cNvCxnSpPr>
          <p:nvPr/>
        </p:nvCxnSpPr>
        <p:spPr>
          <a:xfrm>
            <a:off x="4401185" y="4124325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368B4CA-26DE-3E3F-4E43-BBBAB5F5E7BC}"/>
              </a:ext>
            </a:extLst>
          </p:cNvPr>
          <p:cNvSpPr txBox="1"/>
          <p:nvPr/>
        </p:nvSpPr>
        <p:spPr>
          <a:xfrm>
            <a:off x="4664178" y="3552847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3C5FA06-6BA4-DE1D-831A-B45A62B2CEE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5762625" y="2680555"/>
            <a:ext cx="3562985" cy="278801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04B2D89F-E42E-E778-DBF6-E788F5244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" y="2339052"/>
            <a:ext cx="3339722" cy="329701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972E5F7-E061-D048-57B6-1FDBA5FFB9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AAD5E7-1865-631C-ACB3-CA60E8E53776}"/>
              </a:ext>
            </a:extLst>
          </p:cNvPr>
          <p:cNvSpPr txBox="1"/>
          <p:nvPr/>
        </p:nvSpPr>
        <p:spPr>
          <a:xfrm>
            <a:off x="9467332" y="3235661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</a:t>
            </a:r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(foreground)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CBCB71-568B-E818-35AD-C1A2189C91E7}"/>
              </a:ext>
            </a:extLst>
          </p:cNvPr>
          <p:cNvSpPr txBox="1"/>
          <p:nvPr/>
        </p:nvSpPr>
        <p:spPr>
          <a:xfrm>
            <a:off x="9467332" y="4228509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(contour)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D45C5B-B0E0-E657-F51A-E6C6DAE483CF}"/>
              </a:ext>
            </a:extLst>
          </p:cNvPr>
          <p:cNvSpPr txBox="1"/>
          <p:nvPr/>
        </p:nvSpPr>
        <p:spPr>
          <a:xfrm>
            <a:off x="9467332" y="3732085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 (background)</a:t>
            </a:r>
          </a:p>
        </p:txBody>
      </p:sp>
    </p:spTree>
    <p:extLst>
      <p:ext uri="{BB962C8B-B14F-4D97-AF65-F5344CB8AC3E}">
        <p14:creationId xmlns:p14="http://schemas.microsoft.com/office/powerpoint/2010/main" val="1822541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9D25F-7B06-1DA8-10F3-4BA0693AA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F8778-26AC-C0F7-659D-7005508C1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4000" dirty="0">
                <a:solidFill>
                  <a:schemeClr val="bg1"/>
                </a:solidFill>
              </a:rPr>
              <a:t>FCN(Fully Convolutional Network)</a:t>
            </a:r>
            <a:endParaRPr lang="ko-KR" altLang="en-US" sz="40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2BE0A34-09B4-AD0D-ECFE-CA550B37C528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57266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FFF8B-40F1-4D0A-E6A9-F4456A74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141A5FC-D7AB-48F0-CFCB-643A4E36D0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F178DAC-22D0-A3E5-4A8E-FF77AE5238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3F178F-15F2-9E0D-8A95-627E0C57E062}"/>
              </a:ext>
            </a:extLst>
          </p:cNvPr>
          <p:cNvSpPr txBox="1"/>
          <p:nvPr/>
        </p:nvSpPr>
        <p:spPr>
          <a:xfrm>
            <a:off x="561976" y="1687933"/>
            <a:ext cx="11372330" cy="2958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2015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년 논문 </a:t>
            </a:r>
            <a:r>
              <a:rPr lang="en-US" altLang="ko-KR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Long_Fully_Convolutional_Networks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완전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신경망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(FCN)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밀집층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(Dense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(Convolutional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으로 전환하여 이미지 크기에 제약을 받지 않고 한 번의 연산으로 고속 슬라이딩 윈도우 효과를 얻는 혁신적 기술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이미지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(Classifier)”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픽셀 단위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Segmenter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로 확장한 딥러닝 구조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이후 발표된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U-Net,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SegNet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DeepLab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등 다양한 모델이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개념을 확장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·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개선하여 응용분야는 의료 영상 분석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자율주행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위성 영상 등 다양한 응용 분야에서 핵심적인 기술적 기반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FCN_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유튜브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9D38F7D-66DC-AD4C-5088-47140E3809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90410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5E3B9-1F2C-B55B-D98D-F18090414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B3F0A2-DADD-97EE-4631-4CBC8A6617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Limitations of Convnet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8E7852-1A5B-BDFD-E4F4-0E43FE52C76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83AACBF8-E58D-A29D-6892-E944239473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3718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BF771E-0E41-9C72-EC20-67C1B14D9987}"/>
              </a:ext>
            </a:extLst>
          </p:cNvPr>
          <p:cNvSpPr txBox="1"/>
          <p:nvPr/>
        </p:nvSpPr>
        <p:spPr>
          <a:xfrm>
            <a:off x="581025" y="1219961"/>
            <a:ext cx="1101090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LeNet, </a:t>
            </a:r>
            <a:r>
              <a:rPr lang="en-US" altLang="ko-KR" sz="1600" b="0" i="0" dirty="0" err="1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AlexNet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및 그 후속 모델을 포함한 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고정 크기의 입력을 받고 비공간적 출력을 생성하여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네트워크의 완전 연결 층은 </a:t>
            </a:r>
            <a:r>
              <a:rPr lang="ko-KR" altLang="en-US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고정된 차원을 가지며 공간</a:t>
            </a:r>
            <a:r>
              <a:rPr lang="en-US" altLang="ko-KR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 좌표를 잃어버리게 됨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D97055-9801-1A01-265F-DCF046CBCB20}"/>
              </a:ext>
            </a:extLst>
          </p:cNvPr>
          <p:cNvSpPr txBox="1"/>
          <p:nvPr/>
        </p:nvSpPr>
        <p:spPr>
          <a:xfrm>
            <a:off x="1214438" y="2325239"/>
            <a:ext cx="32289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convolutional_neural_networks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0" name="Picture 2" descr="A convnet">
            <a:extLst>
              <a:ext uri="{FF2B5EF4-FFF2-40B4-BE49-F238E27FC236}">
                <a16:creationId xmlns:a16="http://schemas.microsoft.com/office/drawing/2014/main" id="{05E7957A-0678-D069-C6E9-D5CA3F5D6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4438" y="2663793"/>
            <a:ext cx="9085421" cy="3069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0EF117-77E5-74DD-17E9-2D541CFC1294}"/>
              </a:ext>
            </a:extLst>
          </p:cNvPr>
          <p:cNvSpPr txBox="1"/>
          <p:nvPr/>
        </p:nvSpPr>
        <p:spPr>
          <a:xfrm>
            <a:off x="1214438" y="581036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200" i="0" dirty="0">
                <a:solidFill>
                  <a:srgbClr val="22283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Convolution layers act as feature extractors.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200" i="0" dirty="0">
                <a:solidFill>
                  <a:srgbClr val="22283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Dense layers use the extracted features to classify data.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74631A0-84C1-65C1-0655-CAF11E386CDB}"/>
              </a:ext>
            </a:extLst>
          </p:cNvPr>
          <p:cNvSpPr/>
          <p:nvPr/>
        </p:nvSpPr>
        <p:spPr>
          <a:xfrm>
            <a:off x="7181850" y="2662022"/>
            <a:ext cx="1171575" cy="268150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3A16B3-B25D-2D2A-08F7-03206592A964}"/>
              </a:ext>
            </a:extLst>
          </p:cNvPr>
          <p:cNvSpPr/>
          <p:nvPr/>
        </p:nvSpPr>
        <p:spPr>
          <a:xfrm>
            <a:off x="1095374" y="2662022"/>
            <a:ext cx="1323975" cy="26815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9367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D36FC-9D02-38B8-2636-A32E3D8E1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F303CA1C-4B8A-4533-0523-27415E83E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49" y="2238374"/>
            <a:ext cx="8424433" cy="402907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5ED48E6-2D79-B4B6-F285-9313E6C668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 overcomes the limitation of Convnet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D33DDE-52FB-6D89-2844-9C4D5402745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061124A3-71A2-1023-BE8A-B2B6E4ECC05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581775" y="4010025"/>
            <a:ext cx="266649" cy="266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B83BD0-F520-35EE-A2D6-4C9B1F7F77DC}"/>
              </a:ext>
            </a:extLst>
          </p:cNvPr>
          <p:cNvSpPr/>
          <p:nvPr/>
        </p:nvSpPr>
        <p:spPr>
          <a:xfrm>
            <a:off x="6034541" y="2238374"/>
            <a:ext cx="4123441" cy="4029076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4CAC9-4A5D-06E0-1862-A224382A5A6A}"/>
              </a:ext>
            </a:extLst>
          </p:cNvPr>
          <p:cNvSpPr/>
          <p:nvPr/>
        </p:nvSpPr>
        <p:spPr>
          <a:xfrm>
            <a:off x="1733549" y="2238374"/>
            <a:ext cx="4123442" cy="40290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EDA78A-ECEE-8447-C074-4B277E1A6EF1}"/>
              </a:ext>
            </a:extLst>
          </p:cNvPr>
          <p:cNvSpPr txBox="1"/>
          <p:nvPr/>
        </p:nvSpPr>
        <p:spPr>
          <a:xfrm>
            <a:off x="561975" y="1219847"/>
            <a:ext cx="11087100" cy="79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고정 크기의 입력을 받고 비공간적 출력을 생성하여</a:t>
            </a:r>
            <a:r>
              <a:rPr lang="en-US" altLang="ko-KR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네트워크의 완전 연결 층은 고정된 차원을 가지며 공간</a:t>
            </a:r>
            <a:r>
              <a:rPr lang="en-US" altLang="ko-KR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 좌표를 잃어버리게 됨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382627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EAB7D-B27E-9334-4DBB-8EAE42AB6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0B579A3-858F-ED6D-3438-F62A6F425B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Image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6583F638-7692-FD83-49FC-74023AD4C5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EA3A7D7-EC01-C9DA-55A2-2E94A26722B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E27426D-1C7D-66BC-6877-CF007AAAD4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950" y="2802931"/>
            <a:ext cx="6998526" cy="3345449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A183BDA-69FB-75D0-D840-A344BC1E0CDD}"/>
              </a:ext>
            </a:extLst>
          </p:cNvPr>
          <p:cNvSpPr txBox="1"/>
          <p:nvPr/>
        </p:nvSpPr>
        <p:spPr>
          <a:xfrm>
            <a:off x="585932" y="1219847"/>
            <a:ext cx="11130423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장의 이미지에 여러 개의 도형이 있다면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Connected(Dense)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개의 이미지만 구별하여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레이어로 대체하여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(64x64)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 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사분면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도형 위치를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(9x9)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지도로 분류하는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FCN(Fully Convolutional Network)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사용하여 이미지를 구분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(segmentation)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수영">
            <a:extLst>
              <a:ext uri="{FF2B5EF4-FFF2-40B4-BE49-F238E27FC236}">
                <a16:creationId xmlns:a16="http://schemas.microsoft.com/office/drawing/2014/main" id="{122335B6-90EF-DA89-8E5F-14B29C7FBC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43133" y="334022"/>
            <a:ext cx="914400" cy="9144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3934D9A-72A2-BEDB-1A71-A9B93AC7DEAE}"/>
              </a:ext>
            </a:extLst>
          </p:cNvPr>
          <p:cNvSpPr txBox="1"/>
          <p:nvPr/>
        </p:nvSpPr>
        <p:spPr>
          <a:xfrm>
            <a:off x="8414282" y="2802931"/>
            <a:ext cx="3302073" cy="212365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일반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 이미지 전체를 하나의 클래스로 분류하는 거라면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각 픽셀마다 클래스를 예측하도록 만든 구조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fully connected layer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없애고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convolution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 사용해서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입력 이미지 크기에 관계없이 동작</a:t>
            </a:r>
          </a:p>
        </p:txBody>
      </p:sp>
    </p:spTree>
    <p:extLst>
      <p:ext uri="{BB962C8B-B14F-4D97-AF65-F5344CB8AC3E}">
        <p14:creationId xmlns:p14="http://schemas.microsoft.com/office/powerpoint/2010/main" val="42150546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5FB5F-5B3D-A32D-052A-8D50221D5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C1C53F9-1DCA-64E0-F05D-1AB467F4E9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Convnet Fails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E26E5A47-9B5B-7A82-B532-B5B245F4B88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F4049D-52E7-A828-C76E-2153CAECB410}"/>
              </a:ext>
            </a:extLst>
          </p:cNvPr>
          <p:cNvSpPr txBox="1"/>
          <p:nvPr/>
        </p:nvSpPr>
        <p:spPr>
          <a:xfrm>
            <a:off x="628650" y="1325175"/>
            <a:ext cx="848677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LeNet-5는 (32, 32, 1) 기준으로 가중치 모양이 고정됨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=(64, 64, 1))  # 크기가 다른 (64, 64) 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(LeNet-5 구조)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    # ❌ 문제의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(32,32) 입력이었다면 400개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노드여야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하지만, (64,64)라 2704개가 되어 들어옴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(120,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(84,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가상의 (64, 64, 1) 이미지 1장 생성해서 통과 시도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Traditional 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E44F44-2228-7818-8854-A2E61A3E3C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7FAFA51-00A8-2056-D8FF-CBCD27BE1B58}"/>
              </a:ext>
            </a:extLst>
          </p:cNvPr>
          <p:cNvSpPr/>
          <p:nvPr/>
        </p:nvSpPr>
        <p:spPr>
          <a:xfrm>
            <a:off x="400050" y="3076575"/>
            <a:ext cx="8867256" cy="13239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FA6D80-3069-8A6F-224F-F03907FD6AD4}"/>
              </a:ext>
            </a:extLst>
          </p:cNvPr>
          <p:cNvSpPr txBox="1"/>
          <p:nvPr/>
        </p:nvSpPr>
        <p:spPr>
          <a:xfrm>
            <a:off x="9267306" y="3069937"/>
            <a:ext cx="2657475" cy="292388"/>
          </a:xfrm>
          <a:prstGeom prst="rect">
            <a:avLst/>
          </a:prstGeom>
          <a:solidFill>
            <a:srgbClr val="DD462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Connected(Dense) 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레이어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66D7-27A0-CAFB-2B17-46DD10345FBF}"/>
              </a:ext>
            </a:extLst>
          </p:cNvPr>
          <p:cNvSpPr txBox="1"/>
          <p:nvPr/>
        </p:nvSpPr>
        <p:spPr>
          <a:xfrm>
            <a:off x="9276831" y="3917632"/>
            <a:ext cx="2657475" cy="492443"/>
          </a:xfrm>
          <a:prstGeom prst="rect">
            <a:avLst/>
          </a:prstGeom>
          <a:solidFill>
            <a:srgbClr val="DD462F"/>
          </a:solidFill>
        </p:spPr>
        <p:txBody>
          <a:bodyPr wrap="square">
            <a:spAutoFit/>
          </a:bodyPr>
          <a:lstStyle/>
          <a:p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공간정보를 모두 제거하고 이미지를 분류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endParaRPr lang="ko-KR" altLang="en-US" sz="1300" dirty="0">
              <a:solidFill>
                <a:schemeClr val="bg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BAFCBD8-B7B2-1753-B700-0EC48B96251D}"/>
              </a:ext>
            </a:extLst>
          </p:cNvPr>
          <p:cNvSpPr/>
          <p:nvPr/>
        </p:nvSpPr>
        <p:spPr>
          <a:xfrm>
            <a:off x="400050" y="1538888"/>
            <a:ext cx="8867256" cy="29238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76965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BE693-3091-B325-C411-E43BD93B1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F55654F-E98B-9D3E-A328-C8EC2E30DD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Convnet </a:t>
            </a:r>
            <a:r>
              <a:rPr lang="en-US" altLang="ko-KR" b="1" cap="none" dirty="0">
                <a:sym typeface="Wingdings" panose="05000000000000000000" pitchFamily="2" charset="2"/>
              </a:rPr>
              <a:t>Fails</a:t>
            </a:r>
            <a:endParaRPr lang="en-US" altLang="ko-KR" b="1" cap="none" dirty="0"/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9D50F0EB-5CEF-1E67-E58B-637B1054BC3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05500" y="366712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3696F-4C73-8636-CC93-30330B4276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FFA907-C8AF-C701-6550-AB37A7848C48}"/>
              </a:ext>
            </a:extLst>
          </p:cNvPr>
          <p:cNvSpPr txBox="1"/>
          <p:nvPr/>
        </p:nvSpPr>
        <p:spPr>
          <a:xfrm>
            <a:off x="514350" y="1848456"/>
            <a:ext cx="6096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cnn_model.summary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038B90C-C3E9-2D98-4F9B-EB0F4FCA1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22" y="2163927"/>
            <a:ext cx="4918978" cy="3335928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81C04C79-4BD9-BEDC-C377-57AB552503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4080375"/>
              </p:ext>
            </p:extLst>
          </p:nvPr>
        </p:nvGraphicFramePr>
        <p:xfrm>
          <a:off x="5615672" y="2489888"/>
          <a:ext cx="6232667" cy="2772992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114935">
                  <a:extLst>
                    <a:ext uri="{9D8B030D-6E8A-4147-A177-3AD203B41FA5}">
                      <a16:colId xmlns:a16="http://schemas.microsoft.com/office/drawing/2014/main" val="2755321600"/>
                    </a:ext>
                  </a:extLst>
                </a:gridCol>
                <a:gridCol w="596975">
                  <a:extLst>
                    <a:ext uri="{9D8B030D-6E8A-4147-A177-3AD203B41FA5}">
                      <a16:colId xmlns:a16="http://schemas.microsoft.com/office/drawing/2014/main" val="2295146599"/>
                    </a:ext>
                  </a:extLst>
                </a:gridCol>
                <a:gridCol w="634327">
                  <a:extLst>
                    <a:ext uri="{9D8B030D-6E8A-4147-A177-3AD203B41FA5}">
                      <a16:colId xmlns:a16="http://schemas.microsoft.com/office/drawing/2014/main" val="2307758495"/>
                    </a:ext>
                  </a:extLst>
                </a:gridCol>
                <a:gridCol w="314542">
                  <a:extLst>
                    <a:ext uri="{9D8B030D-6E8A-4147-A177-3AD203B41FA5}">
                      <a16:colId xmlns:a16="http://schemas.microsoft.com/office/drawing/2014/main" val="2917777080"/>
                    </a:ext>
                  </a:extLst>
                </a:gridCol>
                <a:gridCol w="2759087">
                  <a:extLst>
                    <a:ext uri="{9D8B030D-6E8A-4147-A177-3AD203B41FA5}">
                      <a16:colId xmlns:a16="http://schemas.microsoft.com/office/drawing/2014/main" val="2995285287"/>
                    </a:ext>
                  </a:extLst>
                </a:gridCol>
                <a:gridCol w="812801">
                  <a:extLst>
                    <a:ext uri="{9D8B030D-6E8A-4147-A177-3AD203B41FA5}">
                      <a16:colId xmlns:a16="http://schemas.microsoft.com/office/drawing/2014/main" val="2306271437"/>
                    </a:ext>
                  </a:extLst>
                </a:gridCol>
              </a:tblGrid>
              <a:tr h="226704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레이어 </a:t>
                      </a:r>
                      <a:r>
                        <a:rPr lang="en-US" altLang="ko-KR" sz="1000" dirty="0">
                          <a:effectLst/>
                        </a:rPr>
                        <a:t>(</a:t>
                      </a:r>
                      <a:r>
                        <a:rPr lang="en-US" sz="1000" dirty="0">
                          <a:effectLst/>
                        </a:rPr>
                        <a:t>Layer)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입력 채널</a:t>
                      </a:r>
                    </a:p>
                  </a:txBody>
                  <a:tcPr marL="12228" marR="12228" marT="8152" marB="8152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커널 크기</a:t>
                      </a:r>
                    </a:p>
                  </a:txBody>
                  <a:tcPr marL="12228" marR="12228" marT="8152" marB="8152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필터 </a:t>
                      </a:r>
                    </a:p>
                  </a:txBody>
                  <a:tcPr marL="12228" marR="12228" marT="8152" marB="8152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상세 계산 수식</a:t>
                      </a:r>
                    </a:p>
                  </a:txBody>
                  <a:tcPr marL="12228" marR="12228" marT="8152" marB="8152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파라미터 개수</a:t>
                      </a:r>
                    </a:p>
                  </a:txBody>
                  <a:tcPr marL="0" marR="0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9356482"/>
                  </a:ext>
                </a:extLst>
              </a:tr>
              <a:tr h="280728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Conv2D_1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</a:t>
                      </a:r>
                    </a:p>
                  </a:txBody>
                  <a:tcPr marL="12228" marR="12228" marT="8152" marB="8152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5×5</a:t>
                      </a:r>
                    </a:p>
                  </a:txBody>
                  <a:tcPr marL="12228" marR="12228" marT="8152" marB="8152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6</a:t>
                      </a:r>
                    </a:p>
                  </a:txBody>
                  <a:tcPr marL="12228" marR="12228" marT="8152" marB="8152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{(5×5×1)+1}×6=(25+1)×6=26×6</a:t>
                      </a:r>
                    </a:p>
                  </a:txBody>
                  <a:tcPr marL="12228" marR="12228" marT="8152" marB="8152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156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769683759"/>
                  </a:ext>
                </a:extLst>
              </a:tr>
              <a:tr h="28566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MaxPooling2D_1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6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학습 가중치 없음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0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022478283"/>
                  </a:ext>
                </a:extLst>
              </a:tr>
              <a:tr h="280728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Conv2D_2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6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5×5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16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{(5×5×6)+1}×16=(150+1)×16=151×16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2,416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427524334"/>
                  </a:ext>
                </a:extLst>
              </a:tr>
              <a:tr h="28566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MaxPooling2D_2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16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>
                          <a:effectLst/>
                        </a:rPr>
                        <a:t>학습 가중치 없음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0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18839275"/>
                  </a:ext>
                </a:extLst>
              </a:tr>
              <a:tr h="280728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Flatten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학습 가중치 없음 </a:t>
                      </a:r>
                      <a:r>
                        <a:rPr lang="en-US" altLang="ko-KR" sz="1000" dirty="0">
                          <a:effectLst/>
                        </a:rPr>
                        <a:t>(</a:t>
                      </a:r>
                      <a:r>
                        <a:rPr lang="ko-KR" altLang="en-US" sz="1000" dirty="0">
                          <a:effectLst/>
                        </a:rPr>
                        <a:t>출력 노드 수</a:t>
                      </a:r>
                      <a:r>
                        <a:rPr lang="en-US" altLang="ko-KR" sz="1000" dirty="0">
                          <a:effectLst/>
                        </a:rPr>
                        <a:t>: 2,704</a:t>
                      </a:r>
                      <a:r>
                        <a:rPr lang="ko-KR" altLang="en-US" sz="1000" dirty="0">
                          <a:effectLst/>
                        </a:rPr>
                        <a:t>개</a:t>
                      </a:r>
                      <a:r>
                        <a:rPr lang="en-US" altLang="ko-KR" sz="1000" dirty="0">
                          <a:effectLst/>
                        </a:rPr>
                        <a:t>)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0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68461832"/>
                  </a:ext>
                </a:extLst>
              </a:tr>
              <a:tr h="28566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Dense_1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2,704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120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{(2,704×1)+1}×120=(2,704+1)×120=2,705×120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324,600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146647530"/>
                  </a:ext>
                </a:extLst>
              </a:tr>
              <a:tr h="280728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Dense_2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120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84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{(120×1)+1}×84=(120+1)×84=121×84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10,164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652859773"/>
                  </a:ext>
                </a:extLst>
              </a:tr>
              <a:tr h="28566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Dense_3 (</a:t>
                      </a:r>
                      <a:r>
                        <a:rPr lang="ko-KR" altLang="en-US" sz="1000">
                          <a:effectLst/>
                        </a:rPr>
                        <a:t>출력층</a:t>
                      </a:r>
                      <a:r>
                        <a:rPr lang="en-US" altLang="ko-KR" sz="1000">
                          <a:effectLst/>
                        </a:rPr>
                        <a:t>)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84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10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{(84×1)+1}×10=(84+1)×10=85×10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850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15712732"/>
                  </a:ext>
                </a:extLst>
              </a:tr>
              <a:tr h="280728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000">
                          <a:effectLst/>
                        </a:rPr>
                        <a:t>총계 </a:t>
                      </a:r>
                      <a:r>
                        <a:rPr lang="en-US" altLang="ko-KR" sz="1000">
                          <a:effectLst/>
                        </a:rPr>
                        <a:t>(</a:t>
                      </a:r>
                      <a:r>
                        <a:rPr lang="en-US" sz="1000">
                          <a:effectLst/>
                        </a:rPr>
                        <a:t>Total)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156+2,416+324,600+10,164+850</a:t>
                      </a:r>
                    </a:p>
                  </a:txBody>
                  <a:tcPr marL="12228" marR="12228" marT="8152" marB="8152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338,186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5065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72168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EEC00-2CE5-3A47-71C2-446F304CD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94C095-FA13-5B37-3A73-7D9219AC29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85DBDB0-F214-75E6-61AB-2A7FC38CDD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0290B9-2470-CEB5-D79C-DCB3E7CE4019}"/>
              </a:ext>
            </a:extLst>
          </p:cNvPr>
          <p:cNvSpPr txBox="1"/>
          <p:nvPr/>
        </p:nvSpPr>
        <p:spPr>
          <a:xfrm>
            <a:off x="628650" y="1325175"/>
            <a:ext cx="8648700" cy="504753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(shape=(64, 64, 1))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동일한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(64, 64)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(LeNet-5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구조 그대로 유지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⭕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핵심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]: 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층들을 전부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대체합니다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(32,32)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시 이 자리의 특성 맵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5x5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였으므로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지정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layers.Conv2D(filters=120,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이후의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층들은 가로세로가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1x1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 상태이므로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필터로 대체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layers.Conv2D(filters=84,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layers.Conv2D(filters=10,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27A409-6D23-BBDF-FE6F-00232ACFCCF3}"/>
              </a:ext>
            </a:extLst>
          </p:cNvPr>
          <p:cNvSpPr txBox="1"/>
          <p:nvPr/>
        </p:nvSpPr>
        <p:spPr>
          <a:xfrm>
            <a:off x="9367839" y="4879995"/>
            <a:ext cx="2518843" cy="149271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사진 속 9 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 세부 구역 중 '어느 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위치'에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그 숫자가 존재하는지" 픽셀 단위의 단서를 제공하는 객체 탐지(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Object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Detection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및 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세맨틱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분할(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Semantic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Segmentation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모델로 진화한 형태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7308D83-8009-1CC0-0425-B41C43367D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F99A5B-A81E-A8DC-25EC-C0A40CC349F6}"/>
              </a:ext>
            </a:extLst>
          </p:cNvPr>
          <p:cNvSpPr/>
          <p:nvPr/>
        </p:nvSpPr>
        <p:spPr>
          <a:xfrm>
            <a:off x="400050" y="3076575"/>
            <a:ext cx="8877300" cy="13239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0BF69C62-F79A-0394-9D67-C13AD5C11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67839" y="1316113"/>
            <a:ext cx="2518842" cy="169277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 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9 그리드의 총 81개 각 칸은 64 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64 원본 이미지 내의 특정 국소 영역(</a:t>
            </a:r>
            <a:r>
              <a:rPr lang="ko-KR" altLang="ko-KR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수용장</a:t>
            </a:r>
            <a:r>
              <a:rPr lang="ko-KR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)을 뜻하며, "이미지 전체에 무엇이 있는가"가 아니라 "9x9로 나뉜 각 위치에 어떤 객체가 있는가"라는 위치 기반 예측 결과를 제공</a:t>
            </a:r>
          </a:p>
        </p:txBody>
      </p:sp>
    </p:spTree>
    <p:extLst>
      <p:ext uri="{BB962C8B-B14F-4D97-AF65-F5344CB8AC3E}">
        <p14:creationId xmlns:p14="http://schemas.microsoft.com/office/powerpoint/2010/main" val="33154198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46EC4-B367-B617-1D8E-1F58E3B0A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E6937E-1188-477D-3D5E-9BF1644CFE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 success !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188ADE-2F9A-8127-1D51-68AFD92D095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38825" y="282892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E649C9B-E7B2-5444-3BEE-F381AD5327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FA9E6E0-2810-40A9-F605-954A057207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94" y="1829859"/>
            <a:ext cx="5041780" cy="319828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F4F9D1E-9110-B139-ECC9-5FF49AB52F1B}"/>
              </a:ext>
            </a:extLst>
          </p:cNvPr>
          <p:cNvSpPr txBox="1"/>
          <p:nvPr/>
        </p:nvSpPr>
        <p:spPr>
          <a:xfrm>
            <a:off x="475645" y="1407832"/>
            <a:ext cx="6096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fcn_model.summary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CD3AAC76-CB6E-E7E4-263C-35835ED27EDA}"/>
              </a:ext>
            </a:extLst>
          </p:cNvPr>
          <p:cNvGraphicFramePr>
            <a:graphicFrameLocks noGrp="1"/>
          </p:cNvGraphicFramePr>
          <p:nvPr/>
        </p:nvGraphicFramePr>
        <p:xfrm>
          <a:off x="5652526" y="2049610"/>
          <a:ext cx="6165841" cy="275878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319774">
                  <a:extLst>
                    <a:ext uri="{9D8B030D-6E8A-4147-A177-3AD203B41FA5}">
                      <a16:colId xmlns:a16="http://schemas.microsoft.com/office/drawing/2014/main" val="4007595343"/>
                    </a:ext>
                  </a:extLst>
                </a:gridCol>
                <a:gridCol w="590550">
                  <a:extLst>
                    <a:ext uri="{9D8B030D-6E8A-4147-A177-3AD203B41FA5}">
                      <a16:colId xmlns:a16="http://schemas.microsoft.com/office/drawing/2014/main" val="2846901273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627887502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982397368"/>
                    </a:ext>
                  </a:extLst>
                </a:gridCol>
                <a:gridCol w="2486025">
                  <a:extLst>
                    <a:ext uri="{9D8B030D-6E8A-4147-A177-3AD203B41FA5}">
                      <a16:colId xmlns:a16="http://schemas.microsoft.com/office/drawing/2014/main" val="3133557278"/>
                    </a:ext>
                  </a:extLst>
                </a:gridCol>
                <a:gridCol w="626492">
                  <a:extLst>
                    <a:ext uri="{9D8B030D-6E8A-4147-A177-3AD203B41FA5}">
                      <a16:colId xmlns:a16="http://schemas.microsoft.com/office/drawing/2014/main" val="2349011138"/>
                    </a:ext>
                  </a:extLst>
                </a:gridCol>
              </a:tblGrid>
              <a:tr h="347132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레이어 </a:t>
                      </a:r>
                      <a:r>
                        <a:rPr lang="en-US" altLang="ko-KR" sz="1000" dirty="0">
                          <a:effectLst/>
                        </a:rPr>
                        <a:t>(</a:t>
                      </a:r>
                      <a:r>
                        <a:rPr lang="en-US" sz="1000" dirty="0">
                          <a:effectLst/>
                        </a:rPr>
                        <a:t>Layer)</a:t>
                      </a:r>
                      <a:endParaRPr 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입력 채널</a:t>
                      </a:r>
                      <a:endParaRPr lang="ko-KR" alt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커널 크기</a:t>
                      </a:r>
                      <a:endParaRPr lang="ko-KR" alt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>
                          <a:effectLst/>
                        </a:rPr>
                        <a:t>필터 수</a:t>
                      </a:r>
                      <a:endParaRPr lang="ko-KR" altLang="en-US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상세 계산 수식</a:t>
                      </a:r>
                      <a:endParaRPr lang="ko-KR" alt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파라미터 개수</a:t>
                      </a:r>
                      <a:endParaRPr lang="ko-KR" alt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63701322"/>
                  </a:ext>
                </a:extLst>
              </a:tr>
              <a:tr h="301456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Conv2D_1</a:t>
                      </a:r>
                      <a:endParaRPr 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5×5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6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{(5×5×1)+1}×6=(25+1)×6=26×6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156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76151833"/>
                  </a:ext>
                </a:extLst>
              </a:tr>
              <a:tr h="301456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>
                          <a:effectLst/>
                        </a:rPr>
                        <a:t>MaxPooling2D_1</a:t>
                      </a:r>
                      <a:endParaRPr lang="en-US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6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-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학습 가중치 없음</a:t>
                      </a:r>
                      <a:endParaRPr lang="ko-KR" alt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0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4298932"/>
                  </a:ext>
                </a:extLst>
              </a:tr>
              <a:tr h="301456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Conv2D_2</a:t>
                      </a:r>
                      <a:endParaRPr 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6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5×5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16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{(5×5×6)+1}×16=(150+1)×16=151×16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2,416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35425684"/>
                  </a:ext>
                </a:extLst>
              </a:tr>
              <a:tr h="301456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>
                          <a:effectLst/>
                        </a:rPr>
                        <a:t>MaxPooling2D_2</a:t>
                      </a:r>
                      <a:endParaRPr lang="en-US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16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>
                          <a:effectLst/>
                        </a:rPr>
                        <a:t>학습 가중치 없음</a:t>
                      </a:r>
                      <a:endParaRPr lang="ko-KR" altLang="en-US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0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45835728"/>
                  </a:ext>
                </a:extLst>
              </a:tr>
              <a:tr h="301456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Conv2D_3 (Dense </a:t>
                      </a:r>
                      <a:r>
                        <a:rPr lang="ko-KR" altLang="en-US" sz="1000" dirty="0">
                          <a:effectLst/>
                        </a:rPr>
                        <a:t>대체</a:t>
                      </a:r>
                      <a:r>
                        <a:rPr lang="en-US" altLang="ko-KR" sz="1000" dirty="0">
                          <a:effectLst/>
                        </a:rPr>
                        <a:t>)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16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5×5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120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{(5×5×16)+1}×120=(400+1)×120=401×120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48,120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88446111"/>
                  </a:ext>
                </a:extLst>
              </a:tr>
              <a:tr h="301456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Conv2D_4 (Dense </a:t>
                      </a:r>
                      <a:r>
                        <a:rPr lang="ko-KR" altLang="en-US" sz="1000" dirty="0">
                          <a:effectLst/>
                        </a:rPr>
                        <a:t>대체</a:t>
                      </a:r>
                      <a:r>
                        <a:rPr lang="en-US" altLang="ko-KR" sz="1000" dirty="0">
                          <a:effectLst/>
                        </a:rPr>
                        <a:t>)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120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1×1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84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{(1×1×120)+1}×84=(120+1)×84=121×84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10,164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87652098"/>
                  </a:ext>
                </a:extLst>
              </a:tr>
              <a:tr h="301456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Conv2D_5 (</a:t>
                      </a:r>
                      <a:r>
                        <a:rPr lang="ko-KR" altLang="en-US" sz="1000" dirty="0" err="1">
                          <a:effectLst/>
                        </a:rPr>
                        <a:t>출력층</a:t>
                      </a:r>
                      <a:r>
                        <a:rPr lang="en-US" altLang="ko-KR" sz="1000" dirty="0">
                          <a:effectLst/>
                        </a:rPr>
                        <a:t>)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84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1×1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10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{(1×1×84)+1}×10=(84+1)×10=85×10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850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4892668"/>
                  </a:ext>
                </a:extLst>
              </a:tr>
              <a:tr h="301456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>
                          <a:effectLst/>
                        </a:rPr>
                        <a:t>총계 </a:t>
                      </a:r>
                      <a:r>
                        <a:rPr lang="en-US" altLang="ko-KR" sz="1000">
                          <a:effectLst/>
                        </a:rPr>
                        <a:t>(</a:t>
                      </a:r>
                      <a:r>
                        <a:rPr lang="en-US" sz="1000">
                          <a:effectLst/>
                        </a:rPr>
                        <a:t>Total)</a:t>
                      </a:r>
                      <a:endParaRPr lang="en-US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-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156+2,416+48,120+10,164+850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61,706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687190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89114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49316-11CD-EA57-8245-E63FDE198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9FC1F-25B8-EA91-927F-372CABFF2F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14E7412-BACD-A2AB-F02F-EC1463D4E5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52F17F-9733-1268-A0A9-0727F2D512BD}"/>
              </a:ext>
            </a:extLst>
          </p:cNvPr>
          <p:cNvSpPr txBox="1"/>
          <p:nvPr/>
        </p:nvSpPr>
        <p:spPr>
          <a:xfrm>
            <a:off x="595009" y="1248422"/>
            <a:ext cx="1130678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 위치가 원본 이미지의 특정 영역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(Receptive Field)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대표하기 때문에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512×512 = 262,144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픽셀을 각각 분류할 수 있는 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이미지 하나를 보고 고양이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를 분류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2C0913-8CE9-A5D2-941D-2D2D06488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85" y="2287838"/>
            <a:ext cx="8449179" cy="4200760"/>
          </a:xfrm>
          <a:prstGeom prst="rect">
            <a:avLst/>
          </a:prstGeom>
        </p:spPr>
      </p:pic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6E46AF95-4599-95E3-BD23-3179F05BAAC8}"/>
              </a:ext>
            </a:extLst>
          </p:cNvPr>
          <p:cNvSpPr/>
          <p:nvPr/>
        </p:nvSpPr>
        <p:spPr>
          <a:xfrm>
            <a:off x="8808370" y="2606007"/>
            <a:ext cx="2154905" cy="85725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75833"/>
              <a:gd name="adj6" fmla="val -64475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레이어에 적힌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숫자는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클래스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배경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픽셀 단위로 분류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897AC5-4672-DFC7-463E-5C9232CAB10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01416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6620C-6675-39D3-3F4B-F8060C3A0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77977A-D523-C09B-39ED-12A913D8ACB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F654DF50-CB4A-4966-16F2-88D2D8DA6A0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5645" y="344341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C5D59EA-8CA4-FF23-A2A0-10FE0B3AF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665" y="1569129"/>
            <a:ext cx="5123313" cy="448006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EDDCCBB-9802-7ACD-C30D-0189CA3E29CF}"/>
              </a:ext>
            </a:extLst>
          </p:cNvPr>
          <p:cNvSpPr txBox="1"/>
          <p:nvPr/>
        </p:nvSpPr>
        <p:spPr>
          <a:xfrm>
            <a:off x="628045" y="6049190"/>
            <a:ext cx="50488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B911E8-2E49-9A05-E636-99F5DC6680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83FDF5-3704-DFA1-B9BC-63309BCBCDED}"/>
              </a:ext>
            </a:extLst>
          </p:cNvPr>
          <p:cNvSpPr txBox="1"/>
          <p:nvPr/>
        </p:nvSpPr>
        <p:spPr>
          <a:xfrm>
            <a:off x="5838306" y="1329068"/>
            <a:ext cx="590601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rtl="0">
              <a:spcAft>
                <a:spcPts val="1200"/>
              </a:spcAft>
            </a:pPr>
            <a:r>
              <a:rPr lang="en-US" altLang="ko-KR" sz="1600" b="1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Convnet 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v"/>
            </a:pP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Feature Map(7,7,100) → Dense(4900,) → Dense(200)</a:t>
            </a:r>
            <a:endParaRPr lang="ko-KR" altLang="en-US" sz="1600" dirty="0">
              <a:latin typeface="Tahoma" panose="020B0604030504040204" pitchFamily="34" charset="0"/>
              <a:ea typeface="D2Coding" panose="020B0609020101020101" pitchFamily="49" charset="-127"/>
              <a:cs typeface="Tahoma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0CE510-2F4F-FAC2-CC18-17E3EECA8289}"/>
              </a:ext>
            </a:extLst>
          </p:cNvPr>
          <p:cNvSpPr txBox="1"/>
          <p:nvPr/>
        </p:nvSpPr>
        <p:spPr>
          <a:xfrm>
            <a:off x="5857961" y="2154845"/>
            <a:ext cx="5906019" cy="369331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FCN(Fully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Convolutional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Network)</a:t>
            </a:r>
            <a:endParaRPr lang="en-US" altLang="ko-KR" sz="1400" b="1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small image(left)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커널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(7,7)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피처 맵 크기가 같으므로 최종 출력은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(1,1,10)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단일 영역의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예측값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클래스 확률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+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객체성 점수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바운딩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박스 좌표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의미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Feature Map (7,7,100) → [Conv(7,7)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필터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] → 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(1,1,10)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small image(left) :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동일한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(7,7)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연산 결과 피처 맵 크기는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(14-7+1)=8, (8,8,10)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모델을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(8x8)= 64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번 반복 실행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슬라이딩 윈도우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할 필요 없이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단 한 번의 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(Single Forward Pass)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으로 이미지 전체의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(8x8)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격자 영역을 동시에 탐지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Feature Map (14,14,100) → [Conv(7,7)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필터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] → 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(8,8,10)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 (14,14)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이미지를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8 by 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격자로 나누어 격자별로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50766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8AA10-ED67-0C44-9791-AB83B324D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ACB4C6-5563-2522-E4DE-4DBA90D762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 vs. </a:t>
            </a:r>
            <a:r>
              <a:rPr lang="en-US" altLang="ko-KR" b="1" cap="none" dirty="0" err="1"/>
              <a:t>Depthwise</a:t>
            </a:r>
            <a:r>
              <a:rPr lang="en-US" altLang="ko-KR" b="1" cap="none" dirty="0"/>
              <a:t> Separable Convolution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86EBB61-F4D9-19BF-97E8-D2D6CC513DD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5885C9-7CD1-C6F4-01A9-EA8CEB8CB1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89478B6-AADB-76E0-48DB-DF481BD7E361}"/>
              </a:ext>
            </a:extLst>
          </p:cNvPr>
          <p:cNvGraphicFramePr>
            <a:graphicFrameLocks noGrp="1"/>
          </p:cNvGraphicFramePr>
          <p:nvPr/>
        </p:nvGraphicFramePr>
        <p:xfrm>
          <a:off x="753385" y="2417433"/>
          <a:ext cx="10685229" cy="2087890"/>
        </p:xfrm>
        <a:graphic>
          <a:graphicData uri="http://schemas.openxmlformats.org/drawingml/2006/table">
            <a:tbl>
              <a:tblPr/>
              <a:tblGrid>
                <a:gridCol w="1780950">
                  <a:extLst>
                    <a:ext uri="{9D8B030D-6E8A-4147-A177-3AD203B41FA5}">
                      <a16:colId xmlns:a16="http://schemas.microsoft.com/office/drawing/2014/main" val="700773218"/>
                    </a:ext>
                  </a:extLst>
                </a:gridCol>
                <a:gridCol w="5342536">
                  <a:extLst>
                    <a:ext uri="{9D8B030D-6E8A-4147-A177-3AD203B41FA5}">
                      <a16:colId xmlns:a16="http://schemas.microsoft.com/office/drawing/2014/main" val="1332139726"/>
                    </a:ext>
                  </a:extLst>
                </a:gridCol>
                <a:gridCol w="3561743">
                  <a:extLst>
                    <a:ext uri="{9D8B030D-6E8A-4147-A177-3AD203B41FA5}">
                      <a16:colId xmlns:a16="http://schemas.microsoft.com/office/drawing/2014/main" val="2365343045"/>
                    </a:ext>
                  </a:extLst>
                </a:gridCol>
              </a:tblGrid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FCN(Fully Convolutional Network)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Depthwise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Separable 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2452102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네트워크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아키텍처 설계 방식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하나의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종류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7520161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해결하는 문제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 제거로 임의 크기 입력</a:t>
                      </a: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보존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 연산량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 감소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8266946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비교 대상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Dense(FC)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층을 쓰는 일반 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CNN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일반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표준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650150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FCN, U-Net, YOLO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</a:t>
                      </a:r>
                      <a:r>
                        <a:rPr lang="ko-KR" alt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출력단</a:t>
                      </a: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Xception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MobileNet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내부 블록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296058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E9E2B95-F1A3-51E8-BAD6-E1E3366CDAB1}"/>
              </a:ext>
            </a:extLst>
          </p:cNvPr>
          <p:cNvSpPr txBox="1"/>
          <p:nvPr/>
        </p:nvSpPr>
        <p:spPr>
          <a:xfrm>
            <a:off x="753384" y="4848910"/>
            <a:ext cx="107718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안에서도 사용될 수 있는 레이어</a:t>
            </a:r>
          </a:p>
        </p:txBody>
      </p:sp>
    </p:spTree>
    <p:extLst>
      <p:ext uri="{BB962C8B-B14F-4D97-AF65-F5344CB8AC3E}">
        <p14:creationId xmlns:p14="http://schemas.microsoft.com/office/powerpoint/2010/main" val="22994617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02BFE-DB14-00AD-C52C-B4BC1D7FE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6319F-7857-BCDC-2609-7F81D274B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Hands-on Machine Learning with Scikit-Learn,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TensorFlow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14. Deep Computer Vision Using Convolutional Neural Networks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0FF70074-E1FB-9700-9E55-DB591C8B7B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951A79B-F5FA-2600-3FB1-2870B077FA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1226" y="3033065"/>
            <a:ext cx="2410124" cy="321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1549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2AB4-36DC-291C-982B-B4A6CFF9B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F7A96B3-4486-FCE2-605C-FD19CA09B2EE}"/>
              </a:ext>
            </a:extLst>
          </p:cNvPr>
          <p:cNvSpPr/>
          <p:nvPr/>
        </p:nvSpPr>
        <p:spPr>
          <a:xfrm>
            <a:off x="561975" y="1765518"/>
            <a:ext cx="8048625" cy="62525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D547ED8-4C5E-8D3E-58DA-854ED8553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CAE47E79-09BC-2D58-9A2B-098AE77478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14CB4C-135D-3D5B-7C0F-5EDB5B8B013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C3AFD-ACC4-A543-C58C-9E457996BEA6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2963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0597D-6AC1-F329-53F0-F4C31DD57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ACAC7DF-F3E0-9C56-1F3D-AF3BF4328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 err="1"/>
              <a:t>Xception</a:t>
            </a:r>
            <a:r>
              <a:rPr lang="en-US" altLang="ko-KR" b="1" cap="none" dirty="0"/>
              <a:t>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01B4AD75-026F-A503-116E-CC5AECD01A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E0AA64B-3022-A160-5C64-95CFF7E63F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39383711-B6A9-1395-05B3-A1BFF2A46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5" y="1774334"/>
            <a:ext cx="6379204" cy="39932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235A659-4186-399D-241A-B0B223DE24F0}"/>
              </a:ext>
            </a:extLst>
          </p:cNvPr>
          <p:cNvSpPr txBox="1"/>
          <p:nvPr/>
        </p:nvSpPr>
        <p:spPr>
          <a:xfrm>
            <a:off x="7105045" y="1774334"/>
            <a:ext cx="4639280" cy="4260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공간 패턴(예: 타원형)과 채널 간 패턴(예: 입 + 코 + 눈 = 얼굴)을 동시에 포착하려는 필터를 사용하는 반면, 분리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공간 패턴과 채널 간 패턴을 서로 독립적으로 모델링할 수 있다는 강한 가정을 바탕으로 작동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두 단계로 구성되며 첫 번째 부분은 각 입력 피처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맵마다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단일 공간 필터를 적용하고, 두 번째 부분은 채널 간 패턴만 전담하여 탐색하는데 이는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필터를 사용하는 일반적인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적용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D5FAA9-A196-D260-F17D-841A336FA35C}"/>
              </a:ext>
            </a:extLst>
          </p:cNvPr>
          <p:cNvSpPr txBox="1"/>
          <p:nvPr/>
        </p:nvSpPr>
        <p:spPr>
          <a:xfrm>
            <a:off x="532795" y="581977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convolutional layer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E02367-678F-40EF-8065-30CCD4C735F6}"/>
              </a:ext>
            </a:extLst>
          </p:cNvPr>
          <p:cNvSpPr txBox="1"/>
          <p:nvPr/>
        </p:nvSpPr>
        <p:spPr>
          <a:xfrm>
            <a:off x="542320" y="6139533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59377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319DB-7E22-ABDE-EAD4-452F9A266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A65D07C-FA9D-6C05-854D-52EC632ED4A0}"/>
              </a:ext>
            </a:extLst>
          </p:cNvPr>
          <p:cNvSpPr/>
          <p:nvPr/>
        </p:nvSpPr>
        <p:spPr>
          <a:xfrm>
            <a:off x="561975" y="2346543"/>
            <a:ext cx="8048625" cy="62525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1B83FCE-95DE-5F2D-6BC9-3478E1C1C0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9772F3DC-DD20-51A9-32E5-AC126BDDA0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311FBA-9CF7-3769-883E-D029F7A5AFB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B9A0DC-7360-72F4-35CF-F799D100C79F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66512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1F97E-608D-4E8D-2838-89FC50251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57C508-38C5-A75A-C22F-3B860B2962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48D1A9B-8128-9367-75E6-22BF13FE69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EA5EAC5-9F7F-E804-DE4A-6E3A0C0D069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2BF89F-326A-C374-F2DC-1975EDF5E04C}"/>
              </a:ext>
            </a:extLst>
          </p:cNvPr>
          <p:cNvSpPr txBox="1"/>
          <p:nvPr/>
        </p:nvSpPr>
        <p:spPr>
          <a:xfrm>
            <a:off x="585932" y="1219847"/>
            <a:ext cx="1113042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이미지에서 하나의 객체의 위치를 찾는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(Localization)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객체 주위에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예측하기 위해 객체 중심의 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좌표와 높이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작업과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Label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대한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수행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7229E7-B4D9-6AC5-A568-B646BD5255A4}"/>
              </a:ext>
            </a:extLst>
          </p:cNvPr>
          <p:cNvSpPr txBox="1"/>
          <p:nvPr/>
        </p:nvSpPr>
        <p:spPr>
          <a:xfrm>
            <a:off x="1057274" y="2211065"/>
            <a:ext cx="9544051" cy="3077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Minimize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L_loc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1F565A1-76D9-D67F-CAFD-E30DB5022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45" y="2682615"/>
            <a:ext cx="6410668" cy="33643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DD81535-9768-432F-4814-6FE3A131EB84}"/>
              </a:ext>
            </a:extLst>
          </p:cNvPr>
          <p:cNvSpPr txBox="1"/>
          <p:nvPr/>
        </p:nvSpPr>
        <p:spPr>
          <a:xfrm>
            <a:off x="1020045" y="604696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Intersection over Union 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metric for bounding boxes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8526BB-DE4C-310B-9545-18F1D05321A5}"/>
              </a:ext>
            </a:extLst>
          </p:cNvPr>
          <p:cNvSpPr txBox="1"/>
          <p:nvPr/>
        </p:nvSpPr>
        <p:spPr>
          <a:xfrm>
            <a:off x="7772400" y="2984212"/>
            <a:ext cx="23145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검증단계에서만 평가 지표로 사용 </a:t>
            </a:r>
            <a:endParaRPr lang="ko-KR" alt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325F73-DD41-AB72-EC35-7DF826D8F129}"/>
              </a:ext>
            </a:extLst>
          </p:cNvPr>
          <p:cNvSpPr txBox="1"/>
          <p:nvPr/>
        </p:nvSpPr>
        <p:spPr>
          <a:xfrm>
            <a:off x="1057274" y="633316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9161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1135E-CB3F-6AE4-6CF9-83C1B2734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A23DB7-6C32-7A00-55C8-7E3A71DCF2B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81E2BC7-3FF5-D0E7-CDE6-83F51CC81ED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FC18BD-AAA9-C5E8-9BC9-62546BB9E2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4D1EA6-E468-92CA-F59F-CD0546F96F91}"/>
              </a:ext>
            </a:extLst>
          </p:cNvPr>
          <p:cNvSpPr txBox="1"/>
          <p:nvPr/>
        </p:nvSpPr>
        <p:spPr>
          <a:xfrm>
            <a:off x="627061" y="1295601"/>
            <a:ext cx="10983914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1. 사전 학습된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로드 (기반 모델)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keras.applications.xception.Xception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include_top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최상단의 기존 분류기(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층)를 제거하고 특성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추출기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Extractor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)만 사용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2. 글로벌 평균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적용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특성 맵(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높이x너비x채널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)의 공간 차원(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높이,너비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)을 평균 내어 1차원 벡터(채널 수)로 압축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위치에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구애받지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않고 이미지 전체 특성 요약 정보 추출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keras.layers.GlobalAveragePooling2D()(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3. [출력 1] 이미지 분류(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n_classes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# 분류할 클래스에 속할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확률값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(합이 1)을 출력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[출력 2] 위치 추정(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Localization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유닛 수 4: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구성하는 4개 수치 (중심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너비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높이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(4)(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예측하는 회귀(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Regression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)이므로 활성화 함수를 사용하지 않음 (선형 출력)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5. 다중 출력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생성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모델의 입력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두 개의 출력 층[분류 출력, 위치 출력]을 리스트로 묶어 전달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6. 모델 컴파일 (손실 함수, 가중치,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옵티마이저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각 출력에 맞춤 적용되는 손실 함수 리스트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(다중 클래스 정수 라벨 분류용)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Squared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연속된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오차 측정용)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model.compile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=[0.8, 0.2],  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전체 손실 계산 시 두 손실의 비중 조절(총 손실 = 0.8 * 분류손실 + 0.2 * 위치손실)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metrics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accuracy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514352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32E70-DF29-9194-FC54-B7F398334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8EFE2D-7005-7876-EE8B-B7E3E00755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C070C7-BC06-3B39-8DCF-49EF96839B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6555CB-E32D-AF61-2443-C944FCF278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C59090-BF1B-9411-56FB-C3A9318D5F2C}"/>
              </a:ext>
            </a:extLst>
          </p:cNvPr>
          <p:cNvSpPr txBox="1"/>
          <p:nvPr/>
        </p:nvSpPr>
        <p:spPr>
          <a:xfrm>
            <a:off x="2074773" y="3212067"/>
            <a:ext cx="8469401" cy="96840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한 이미지에 여러 객체가 존재하는 경우에는 출력의 개수가 가변적이기 때문에 </a:t>
            </a:r>
            <a:r>
              <a:rPr lang="ko-KR" altLang="en-US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 탐지</a:t>
            </a:r>
            <a:r>
              <a:rPr lang="en-US" altLang="ko-KR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기법을 사용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66348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CF02D-B903-1C35-4D7A-DCD70CAEB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4817381C-2C65-5C3D-2AE5-EE905592EEE8}"/>
              </a:ext>
            </a:extLst>
          </p:cNvPr>
          <p:cNvSpPr/>
          <p:nvPr/>
        </p:nvSpPr>
        <p:spPr>
          <a:xfrm>
            <a:off x="561975" y="2994244"/>
            <a:ext cx="8048625" cy="4252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C130F05-7CCD-03EE-3EE7-5D508C942A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CB49FDF-02EC-0765-5699-479B8479342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DD917C-267C-EF25-D56F-C6A22AFF03B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D8832D-FE28-08F6-B677-CE71363A383F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31A2CC7-6A5A-6391-F98E-84C1249895F5}"/>
              </a:ext>
            </a:extLst>
          </p:cNvPr>
          <p:cNvSpPr/>
          <p:nvPr/>
        </p:nvSpPr>
        <p:spPr>
          <a:xfrm>
            <a:off x="1009650" y="3495675"/>
            <a:ext cx="7581900" cy="8885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07103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B2C9E-825F-96BC-A390-E33717F21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E6B041-A80D-8012-EFBD-8E410D1E60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6B081A-DD79-DC98-F769-EC74CFF4BE1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B479BF-4BE2-6360-4F7A-D26109065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22" y="2150148"/>
            <a:ext cx="5284659" cy="38064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4D25C7-034E-D2FE-FD93-62DFADB86326}"/>
              </a:ext>
            </a:extLst>
          </p:cNvPr>
          <p:cNvSpPr txBox="1"/>
          <p:nvPr/>
        </p:nvSpPr>
        <p:spPr>
          <a:xfrm>
            <a:off x="504522" y="1198397"/>
            <a:ext cx="11182955" cy="7914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내에서 여러 객체를 분류하고 위치를 찾는 작업을 객체 탐지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라고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하며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단일 객체를 분류하고 위치를 찾기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가져와 이미지 위에서 슬라이딩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 윈도우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시키는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접근 방법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E622E3-34A8-1059-8A16-AB3C6F8BAA29}"/>
              </a:ext>
            </a:extLst>
          </p:cNvPr>
          <p:cNvSpPr txBox="1"/>
          <p:nvPr/>
        </p:nvSpPr>
        <p:spPr>
          <a:xfrm>
            <a:off x="373190" y="598357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Detecting multiple objects by sliding a CNN across the image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23EE08-A26B-B5A2-1EE7-84E3F56915BD}"/>
              </a:ext>
            </a:extLst>
          </p:cNvPr>
          <p:cNvSpPr txBox="1"/>
          <p:nvPr/>
        </p:nvSpPr>
        <p:spPr>
          <a:xfrm>
            <a:off x="5828103" y="2153655"/>
            <a:ext cx="5735247" cy="366497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 분할 및 검은색 상자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(3,3) Sliding Window: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이미지를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6,8)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격자로 분할한 후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검은색 두꺼운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(CNN)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화살표 방향으로 한 칸씩 이동시키며 객체를 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빨간색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박스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중복 예측 발생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윈도우가 이동할 때마다 동일한 꽃이 반복 검출되어 이동 경로상에 위치한 객체는 여러 개의 중복된 빨간색 상자로 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박스 두께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Score):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중앙 상단 장미 위의 두꺼운 빨간색 상자는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객체성 점수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꽃이 존재할 확률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가장 높음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NMS(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비최대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억제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가장 두꺼운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점수가 높은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상자와 높은 비율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60%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겹치는 주변의 얇은 빨간색 상자들을 순차적으로 제거하여 최종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상자만 남김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spcAft>
                <a:spcPts val="1200"/>
              </a:spcAft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치명적 단점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단일 이미지를 수십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~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수백 번 나누어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통과시켜야 하므로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매우 많고 속도가 느림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0567C3-E1C3-3DFB-84D7-A0FAFF3F2AAB}"/>
              </a:ext>
            </a:extLst>
          </p:cNvPr>
          <p:cNvSpPr txBox="1"/>
          <p:nvPr/>
        </p:nvSpPr>
        <p:spPr>
          <a:xfrm>
            <a:off x="373190" y="622212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72648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01291-65B8-2607-A763-35978B2EE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103A78-68E8-3D11-979E-0F379E14767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F38DC3E-636F-014F-6DE4-581671C359A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AB3F19-AA13-4959-3E7B-F51CA1D700F0}"/>
              </a:ext>
            </a:extLst>
          </p:cNvPr>
          <p:cNvSpPr txBox="1"/>
          <p:nvPr/>
        </p:nvSpPr>
        <p:spPr>
          <a:xfrm>
            <a:off x="1546759" y="3024095"/>
            <a:ext cx="9282648" cy="143007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lnSpc>
                <a:spcPct val="150000"/>
              </a:lnSpc>
              <a:spcAft>
                <a:spcPts val="1200"/>
              </a:spcAft>
              <a:buNone/>
            </a:pP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단순한 객체 탐지 접근법은 잘 작동하지만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CNN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매우 많이 실행해야 하므로 속도가 상당히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느</a:t>
            </a:r>
            <a:r>
              <a:rPr lang="ko-KR" altLang="en-US" sz="20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리지마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완전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(FCN)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사용하면 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이미지 위로 훨씬 빠르게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슬라이딩시킬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수 있음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17581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87C48-2054-356F-D59A-A1610505F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40EE87D-1355-D2E8-BF7C-16F0609FAC0C}"/>
              </a:ext>
            </a:extLst>
          </p:cNvPr>
          <p:cNvSpPr/>
          <p:nvPr/>
        </p:nvSpPr>
        <p:spPr>
          <a:xfrm>
            <a:off x="723900" y="4147610"/>
            <a:ext cx="10791825" cy="4157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6F33DF2-9EF9-7B85-A8F1-4E5ECE7953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Scopes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4A5ED47-BDF3-5C20-B866-F6754BFC48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2BACCE-73EC-634D-67DE-20A01E2109F6}"/>
              </a:ext>
            </a:extLst>
          </p:cNvPr>
          <p:cNvSpPr txBox="1"/>
          <p:nvPr/>
        </p:nvSpPr>
        <p:spPr>
          <a:xfrm>
            <a:off x="864719" y="2022685"/>
            <a:ext cx="10462561" cy="2540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“Hands-on Machine Learning with Scikit-Learn, </a:t>
            </a:r>
            <a:r>
              <a:rPr lang="en-US" altLang="ko-KR" dirty="0" err="1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Keras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&amp; TensorFlow”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CHAPTER 14 Deep Computer Vision Using Convolutional Neural Networks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</a:t>
            </a:r>
            <a:r>
              <a:rPr lang="en-US" altLang="ko-KR" b="1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Classification and Localization, Object Detection, Fully Convolutional Networks 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내용을 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merge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하여 구성</a:t>
            </a:r>
            <a:r>
              <a:rPr lang="en-US" altLang="ko-KR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(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YOLO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는 제외</a:t>
            </a:r>
            <a:r>
              <a:rPr lang="en-US" altLang="ko-KR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)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Century Gothic" panose="020B050202020202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Century Gothic" panose="020B050202020202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실습코드</a:t>
            </a:r>
            <a:r>
              <a:rPr lang="en-US" altLang="ko-KR" b="0" i="0" dirty="0">
                <a:effectLst/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 : </a:t>
            </a:r>
            <a:r>
              <a:rPr lang="en-US" altLang="ko-KR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Chapter 14 – Deep Computer Vision Using Convolutional Neural Networks</a:t>
            </a:r>
            <a:r>
              <a:rPr lang="ko-KR" altLang="en-US" b="0" i="0" dirty="0">
                <a:effectLst/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 </a:t>
            </a:r>
            <a:endParaRPr lang="en-US" altLang="ko-KR" b="0" i="0" dirty="0">
              <a:effectLst/>
              <a:latin typeface="Century Gothic" panose="020B050202020202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60831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FCF0E-8279-5950-B1BF-6EC66B29A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ED156-85F9-6361-3035-1239A3E276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2CE9B3E-06D9-44DF-9A00-76DE6680F8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D1608F-8CF6-C5EC-D05C-B1B11B113B23}"/>
              </a:ext>
            </a:extLst>
          </p:cNvPr>
          <p:cNvSpPr txBox="1"/>
          <p:nvPr/>
        </p:nvSpPr>
        <p:spPr>
          <a:xfrm>
            <a:off x="595009" y="1248422"/>
            <a:ext cx="1130678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 위치가 원본 이미지의 특정 영역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(Receptive Field)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대표하기 때문에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512×512 = 262,144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픽셀을 각각 분류할 수 있는 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이미지 하나를 보고 고양이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를 분류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3A01D30-844C-E202-00FE-426847097A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85" y="2287838"/>
            <a:ext cx="8449179" cy="4200760"/>
          </a:xfrm>
          <a:prstGeom prst="rect">
            <a:avLst/>
          </a:prstGeom>
        </p:spPr>
      </p:pic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C662D493-A15E-6095-12C4-C4746D856562}"/>
              </a:ext>
            </a:extLst>
          </p:cNvPr>
          <p:cNvSpPr/>
          <p:nvPr/>
        </p:nvSpPr>
        <p:spPr>
          <a:xfrm>
            <a:off x="8808370" y="2606007"/>
            <a:ext cx="2154905" cy="85725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75833"/>
              <a:gd name="adj6" fmla="val -64475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레이어에 적힌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숫자는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클래스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배경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픽셀 단위로 분류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F3D8F0D-9E88-8710-0959-0475B5207D0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29459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2271044"/>
            <a:ext cx="9153007" cy="428215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D42A75-55A6-D0EA-687B-4F1DEE0F17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CA8B57-B87B-36EE-05E7-A3D419028FD4}"/>
              </a:ext>
            </a:extLst>
          </p:cNvPr>
          <p:cNvSpPr txBox="1"/>
          <p:nvPr/>
        </p:nvSpPr>
        <p:spPr>
          <a:xfrm>
            <a:off x="552449" y="1162697"/>
            <a:ext cx="1116390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(Grid)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K-Means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다중 스케일 학습을 결합하여 실시간 속도와 높은 정확도를 동시에 달성한 대표적인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1-Stage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객체 탐지 모델</a:t>
            </a:r>
          </a:p>
        </p:txBody>
      </p:sp>
    </p:spTree>
    <p:extLst>
      <p:ext uri="{BB962C8B-B14F-4D97-AF65-F5344CB8AC3E}">
        <p14:creationId xmlns:p14="http://schemas.microsoft.com/office/powerpoint/2010/main" val="38215912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6B6FE93-8F9C-2CD9-9720-9166D0930C2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83712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055DAF3-2BDD-C656-D925-22A8DC1FB2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3DF049-3986-4035-63B3-9F47E00320F1}"/>
              </a:ext>
            </a:extLst>
          </p:cNvPr>
          <p:cNvSpPr txBox="1"/>
          <p:nvPr/>
        </p:nvSpPr>
        <p:spPr>
          <a:xfrm>
            <a:off x="9296400" y="2706469"/>
            <a:ext cx="24860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4"/>
              </a:rPr>
              <a:t>https://www.ted.com/talks/joseph_redmon_how_computers_learn_to_recognize_objects_instantly</a:t>
            </a:r>
            <a:r>
              <a:rPr lang="ko-KR" altLang="en-US" sz="1200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13EE0D-DFD6-4D4E-D203-E3CB1C3A7F0F}"/>
              </a:ext>
            </a:extLst>
          </p:cNvPr>
          <p:cNvSpPr txBox="1"/>
          <p:nvPr/>
        </p:nvSpPr>
        <p:spPr>
          <a:xfrm>
            <a:off x="9394838" y="4239310"/>
            <a:ext cx="24288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5"/>
              </a:rPr>
              <a:t>https://www.ted.com/talks/fei_fei_li_how_we_re_teaching_computers_to_understand_pictures</a:t>
            </a:r>
            <a:r>
              <a:rPr lang="ko-KR" alt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7959652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9389</TotalTime>
  <Words>3308</Words>
  <Application>Microsoft Office PowerPoint</Application>
  <PresentationFormat>와이드스크린</PresentationFormat>
  <Paragraphs>424</Paragraphs>
  <Slides>36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7" baseType="lpstr">
      <vt:lpstr>D2Coding</vt:lpstr>
      <vt:lpstr>맑은 고딕</vt:lpstr>
      <vt:lpstr>맑은 고딕 Semilight</vt:lpstr>
      <vt:lpstr>Batang</vt:lpstr>
      <vt:lpstr>Arial</vt:lpstr>
      <vt:lpstr>Century Gothic</vt:lpstr>
      <vt:lpstr>Segoe UI Emoji</vt:lpstr>
      <vt:lpstr>Tahoma</vt:lpstr>
      <vt:lpstr>Times New Roman</vt:lpstr>
      <vt:lpstr>Wingdings</vt:lpstr>
      <vt:lpstr>WelcomeDoc</vt:lpstr>
      <vt:lpstr>Image Segmentation</vt:lpstr>
      <vt:lpstr>PowerPoint 프레젠테이션</vt:lpstr>
      <vt:lpstr>Deep Learning with Python  Chapter 11. Image Segmentation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FCN(Fully Convolutional Network)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Hands-on Machine Learning with Scikit-Learn, Keras &amp; TensorFlow  Chapter 14. Deep Computer Vision Using Convolutional Neural Networks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144</cp:revision>
  <dcterms:created xsi:type="dcterms:W3CDTF">2026-04-06T01:00:39Z</dcterms:created>
  <dcterms:modified xsi:type="dcterms:W3CDTF">2026-09-18T23:14:05Z</dcterms:modified>
  <cp:version/>
</cp:coreProperties>
</file>