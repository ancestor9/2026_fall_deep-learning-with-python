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5"/>
  </p:notesMasterIdLst>
  <p:handoutMasterIdLst>
    <p:handoutMasterId r:id="rId46"/>
  </p:handoutMasterIdLst>
  <p:sldIdLst>
    <p:sldId id="256" r:id="rId2"/>
    <p:sldId id="1168" r:id="rId3"/>
    <p:sldId id="1190" r:id="rId4"/>
    <p:sldId id="1166" r:id="rId5"/>
    <p:sldId id="1165" r:id="rId6"/>
    <p:sldId id="1129" r:id="rId7"/>
    <p:sldId id="1167" r:id="rId8"/>
    <p:sldId id="1131" r:id="rId9"/>
    <p:sldId id="1132" r:id="rId10"/>
    <p:sldId id="1187" r:id="rId11"/>
    <p:sldId id="1137" r:id="rId12"/>
    <p:sldId id="1197" r:id="rId13"/>
    <p:sldId id="1196" r:id="rId14"/>
    <p:sldId id="1188" r:id="rId15"/>
    <p:sldId id="1143" r:id="rId16"/>
    <p:sldId id="1189" r:id="rId17"/>
    <p:sldId id="1138" r:id="rId18"/>
    <p:sldId id="1163" r:id="rId19"/>
    <p:sldId id="1135" r:id="rId20"/>
    <p:sldId id="1164" r:id="rId21"/>
    <p:sldId id="1235" r:id="rId22"/>
    <p:sldId id="1152" r:id="rId23"/>
    <p:sldId id="1154" r:id="rId24"/>
    <p:sldId id="1191" r:id="rId25"/>
    <p:sldId id="1134" r:id="rId26"/>
    <p:sldId id="1192" r:id="rId27"/>
    <p:sldId id="1193" r:id="rId28"/>
    <p:sldId id="1140" r:id="rId29"/>
    <p:sldId id="1145" r:id="rId30"/>
    <p:sldId id="1150" r:id="rId31"/>
    <p:sldId id="1194" r:id="rId32"/>
    <p:sldId id="1149" r:id="rId33"/>
    <p:sldId id="1151" r:id="rId34"/>
    <p:sldId id="1195" r:id="rId35"/>
    <p:sldId id="1199" r:id="rId36"/>
    <p:sldId id="1198" r:id="rId37"/>
    <p:sldId id="1200" r:id="rId38"/>
    <p:sldId id="1201" r:id="rId39"/>
    <p:sldId id="1202" r:id="rId40"/>
    <p:sldId id="1121" r:id="rId41"/>
    <p:sldId id="1122" r:id="rId42"/>
    <p:sldId id="1123" r:id="rId43"/>
    <p:sldId id="1139" r:id="rId44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68"/>
            <p14:sldId id="1190"/>
            <p14:sldId id="1166"/>
            <p14:sldId id="1165"/>
            <p14:sldId id="1129"/>
            <p14:sldId id="1167"/>
            <p14:sldId id="1131"/>
            <p14:sldId id="1132"/>
            <p14:sldId id="1187"/>
            <p14:sldId id="1137"/>
            <p14:sldId id="1197"/>
            <p14:sldId id="1196"/>
            <p14:sldId id="1188"/>
            <p14:sldId id="1143"/>
            <p14:sldId id="1189"/>
            <p14:sldId id="1138"/>
            <p14:sldId id="1163"/>
            <p14:sldId id="1135"/>
            <p14:sldId id="1164"/>
            <p14:sldId id="1235"/>
            <p14:sldId id="1152"/>
            <p14:sldId id="1154"/>
            <p14:sldId id="1191"/>
            <p14:sldId id="1134"/>
            <p14:sldId id="1192"/>
            <p14:sldId id="1193"/>
            <p14:sldId id="1140"/>
            <p14:sldId id="1145"/>
            <p14:sldId id="1150"/>
            <p14:sldId id="1194"/>
            <p14:sldId id="1149"/>
            <p14:sldId id="1151"/>
            <p14:sldId id="1195"/>
            <p14:sldId id="1199"/>
            <p14:sldId id="1198"/>
            <p14:sldId id="1200"/>
            <p14:sldId id="1201"/>
            <p14:sldId id="1202"/>
            <p14:sldId id="1121"/>
            <p14:sldId id="1122"/>
            <p14:sldId id="1123"/>
            <p14:sldId id="1139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D462F"/>
    <a:srgbClr val="FF9B45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6413"/>
    </p:cViewPr>
  </p:sorterViewPr>
  <p:notesViewPr>
    <p:cSldViewPr snapToGrid="0">
      <p:cViewPr varScale="1">
        <p:scale>
          <a:sx n="64" d="100"/>
          <a:sy n="64" d="100"/>
        </p:scale>
        <p:origin x="3192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2026-10-01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2026-10-01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F0BA9-2DD1-5EAF-2019-A48EAF538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AF95FB-0E21-C50E-21E9-D5E89F3140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BFB427-F338-47A9-F760-63DDEA83D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5ED02E-56A1-B79A-9AA9-ED5B24EE71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6486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A0F5F-3F93-3DE6-3B52-086B91C37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45E67C-15BD-4917-7A03-727477F66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C32002-6BC7-91E1-210F-9CEBCD431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878B4F-DBCD-71E4-8E49-6B16DA8DFE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934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E2917-018D-478F-F285-A0E04DE25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0C3C7A-BC12-11F1-8F81-3F799CCD8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EEA0B5-590D-91A1-DE7C-1D2F324FA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C97F85-D040-49F5-6215-6B80DCF54D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0724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72A8-B21E-3F92-AE76-F73DA2109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5DAAF7-4823-5C18-8D32-560E3BA286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6CAE9B-637F-6A9C-4B70-692BEBFE1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6F19FC-3E38-901A-BAEE-6A9A9FE247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4071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2026-10-01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2026-10-01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analytics-vidhya/talented-mr-1x1-comprehensive-look-at-1x1-convolution-in-deep-learning-f6b355825578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5HGZ1wLtrk" TargetMode="External"/><Relationship Id="rId2" Type="http://schemas.openxmlformats.org/officeDocument/2006/relationships/hyperlink" Target="https://openaccess.thecvf.com/content_cvpr_2015/papers/Long_Fully_Convolutional_Networks_2015_CVPR_paper.pdf" TargetMode="Externa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https://www.bpesquet.fr/mlhandbook/algorithms/convolutional_neural_networks.html" TargetMode="Externa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sv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5" Type="http://schemas.openxmlformats.org/officeDocument/2006/relationships/image" Target="../media/image4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Relationship Id="rId1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7.pn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12" Type="http://schemas.openxmlformats.org/officeDocument/2006/relationships/image" Target="../media/image36.svg"/><Relationship Id="rId2" Type="http://schemas.openxmlformats.org/officeDocument/2006/relationships/image" Target="../media/image27.png"/><Relationship Id="rId16" Type="http://schemas.openxmlformats.org/officeDocument/2006/relationships/image" Target="../media/image40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5" Type="http://schemas.openxmlformats.org/officeDocument/2006/relationships/image" Target="../media/image30.svg"/><Relationship Id="rId15" Type="http://schemas.openxmlformats.org/officeDocument/2006/relationships/image" Target="../media/image39.png"/><Relationship Id="rId10" Type="http://schemas.openxmlformats.org/officeDocument/2006/relationships/image" Target="../media/image41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Relationship Id="rId14" Type="http://schemas.openxmlformats.org/officeDocument/2006/relationships/image" Target="../media/image38.sv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www.youtube.com/watch?v=2hAiJe8ITsE&amp;t=656s" TargetMode="Externa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s://www.youtube.com/watch?v=ag3DLKsl2vk&amp;list=PLeo1K3hjS3uu7CxAacxVndI4bE_o3BDtO&amp;index=31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ted.com/talks/fei_fei_li_how_we_re_teaching_computers_to_understand_pictures" TargetMode="External"/><Relationship Id="rId4" Type="http://schemas.openxmlformats.org/officeDocument/2006/relationships/hyperlink" Target="https://www.ted.com/talks/joseph_redmon_how_computers_learn_to_recognize_objects_instantly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geron/handson-ml3/blob/main/14_deep_computer_vision_with_cnns.ipynb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Image Segmentation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40CAB-44CB-54E9-0E69-3359E0826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062419E-D00F-CD1E-E6AD-83F7EFABA49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Goals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3D5510F7-F5D3-A471-5A16-09B45CA745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61815" y="424290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F33E2F-5385-1753-108E-8E91ADD3EF4E}"/>
              </a:ext>
            </a:extLst>
          </p:cNvPr>
          <p:cNvSpPr txBox="1"/>
          <p:nvPr/>
        </p:nvSpPr>
        <p:spPr>
          <a:xfrm>
            <a:off x="3326257" y="2051168"/>
            <a:ext cx="6271924" cy="1138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Image Segmentation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Semantic Segmentation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Building a segmentation model from scratch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Using the pretrained Segment Anything Model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B977A9-1E04-0738-D8C6-21D2B1E9A448}"/>
              </a:ext>
            </a:extLst>
          </p:cNvPr>
          <p:cNvSpPr txBox="1"/>
          <p:nvPr/>
        </p:nvSpPr>
        <p:spPr>
          <a:xfrm>
            <a:off x="3338867" y="4699159"/>
            <a:ext cx="6271922" cy="14157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Depthwise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separable convolution layer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Classification &amp; location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Object detection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Fully Convolutional Network(FCN)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You Only Look Once(YOLO)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C61F1D-C9B2-DA1D-B4C1-61487C4A47F8}"/>
              </a:ext>
            </a:extLst>
          </p:cNvPr>
          <p:cNvSpPr txBox="1"/>
          <p:nvPr/>
        </p:nvSpPr>
        <p:spPr>
          <a:xfrm>
            <a:off x="3314065" y="1774169"/>
            <a:ext cx="6296723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Chapter 11. Image Segmentation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1182B0-E959-6AF3-DA97-DE9E33DA2801}"/>
              </a:ext>
            </a:extLst>
          </p:cNvPr>
          <p:cNvSpPr txBox="1"/>
          <p:nvPr/>
        </p:nvSpPr>
        <p:spPr>
          <a:xfrm>
            <a:off x="3338867" y="4416868"/>
            <a:ext cx="6271922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Chapter 14. Deep Computer Vision Using Convolutional Neural Networks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17E34D7-9BDF-31C6-8F8E-69BEDA2F3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003" y="4436371"/>
            <a:ext cx="1453697" cy="193964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396DC66-7E9A-273F-2004-FE1CB9029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003" y="1747653"/>
            <a:ext cx="1453696" cy="186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445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25469-5D09-03FC-4B8E-D52AC926D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8BEA0B-A755-D0B2-20D0-DCD9F4B12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164324"/>
            <a:ext cx="11978640" cy="2387600"/>
          </a:xfrm>
        </p:spPr>
        <p:txBody>
          <a:bodyPr rtlCol="0" anchor="ctr" anchorCtr="0">
            <a:no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Deep Learning with Python</a:t>
            </a:r>
            <a:b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Chapter 11. Image Segmentation</a:t>
            </a:r>
            <a:b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723E05BD-21FB-6F39-CDD6-5F4DE1762734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57192B7-2DFC-0DBC-33CA-300529257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227" y="3070110"/>
            <a:ext cx="2486819" cy="319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017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2A9C4-569E-E8BB-7ADF-685C04D22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6A0A6ED-C61B-149B-A665-AD35B27E12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Computer vision tasks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7B304AF1-B353-CEDE-4FFE-99EFF0E18A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0840AE3-C24D-A3D3-A71B-C653A0081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589" y="1347655"/>
            <a:ext cx="6323012" cy="505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17DCB58-B3A1-E5FD-B786-C3AB6999058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186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9E2D9-9A95-449C-2453-B4ABC314D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89AF9F8-B402-011C-37C6-57E23403281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Scopes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820D3F68-739D-492C-EB4E-8960FD5C9F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4A35593-FDE6-C3AE-0304-62633AE98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482604"/>
              </p:ext>
            </p:extLst>
          </p:nvPr>
        </p:nvGraphicFramePr>
        <p:xfrm>
          <a:off x="623094" y="2246516"/>
          <a:ext cx="10999946" cy="2945981"/>
        </p:xfrm>
        <a:graphic>
          <a:graphicData uri="http://schemas.openxmlformats.org/drawingml/2006/table">
            <a:tbl>
              <a:tblPr/>
              <a:tblGrid>
                <a:gridCol w="2536666">
                  <a:extLst>
                    <a:ext uri="{9D8B030D-6E8A-4147-A177-3AD203B41FA5}">
                      <a16:colId xmlns:a16="http://schemas.microsoft.com/office/drawing/2014/main" val="764053176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3669611965"/>
                    </a:ext>
                  </a:extLst>
                </a:gridCol>
                <a:gridCol w="2678789">
                  <a:extLst>
                    <a:ext uri="{9D8B030D-6E8A-4147-A177-3AD203B41FA5}">
                      <a16:colId xmlns:a16="http://schemas.microsoft.com/office/drawing/2014/main" val="1114369870"/>
                    </a:ext>
                  </a:extLst>
                </a:gridCol>
                <a:gridCol w="2980331">
                  <a:extLst>
                    <a:ext uri="{9D8B030D-6E8A-4147-A177-3AD203B41FA5}">
                      <a16:colId xmlns:a16="http://schemas.microsoft.com/office/drawing/2014/main" val="1655379910"/>
                    </a:ext>
                  </a:extLst>
                </a:gridCol>
              </a:tblGrid>
              <a:tr h="374764">
                <a:tc>
                  <a:txBody>
                    <a:bodyPr/>
                    <a:lstStyle/>
                    <a:p>
                      <a:pPr rtl="0" fontAlgn="t"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과제</a:t>
                      </a:r>
                      <a:endParaRPr lang="ko-KR" altLang="en-US" sz="16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13630" marR="113630" marT="75753" marB="7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주요 목표</a:t>
                      </a:r>
                      <a:endParaRPr lang="ko-KR" altLang="en-US" sz="16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13630" marR="113630" marT="75753" marB="75753">
                    <a:lnL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출력 형식</a:t>
                      </a:r>
                      <a:endParaRPr lang="ko-KR" altLang="en-US" sz="16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13630" marR="113630" marT="75753" marB="75753">
                    <a:lnL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실생활 적용 사례</a:t>
                      </a:r>
                      <a:endParaRPr lang="ko-KR" altLang="en-US" sz="16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13630" marR="113630" marT="75753" marB="75753">
                    <a:lnL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547352"/>
                  </a:ext>
                </a:extLst>
              </a:tr>
              <a:tr h="796547">
                <a:tc>
                  <a:txBody>
                    <a:bodyPr/>
                    <a:lstStyle/>
                    <a:p>
                      <a:pPr rtl="0" fontAlgn="t"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이미지 분류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spcAft>
                          <a:spcPts val="0"/>
                        </a:spcAft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(Image Classification)</a:t>
                      </a:r>
                      <a:endParaRPr lang="ko-KR" altLang="en-US" sz="16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13630" marR="113630" marT="75753" marB="757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이미지 전체를 대표하는 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클래스 태그 부여</a:t>
                      </a:r>
                      <a:endParaRPr lang="ko-KR" altLang="en-US" sz="16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13630" marR="113630" marT="75753" marB="75753" anchor="ctr">
                    <a:lnL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이미지당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 이상의 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카테고리 라벨</a:t>
                      </a:r>
                      <a:endParaRPr lang="ko-KR" altLang="en-US" sz="16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13630" marR="113630" marT="75753" marB="75753" anchor="ctr">
                    <a:lnL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구글 포토 키워드 및 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태그 검색</a:t>
                      </a:r>
                      <a:endParaRPr lang="ko-KR" altLang="en-US" sz="16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13630" marR="113630" marT="75753" marB="75753" anchor="ctr">
                    <a:lnL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6790438"/>
                  </a:ext>
                </a:extLst>
              </a:tr>
              <a:tr h="1017536">
                <a:tc>
                  <a:txBody>
                    <a:bodyPr/>
                    <a:lstStyle/>
                    <a:p>
                      <a:pPr rtl="0" fontAlgn="t"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이미지 분할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spcAft>
                          <a:spcPts val="0"/>
                        </a:spcAft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(Image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Segmentation)</a:t>
                      </a:r>
                      <a:endParaRPr lang="ko-KR" altLang="en-US" sz="16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13630" marR="113630" marT="75753" marB="757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모든 픽셀에 대한 영역 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구분 및 분류</a:t>
                      </a:r>
                      <a:endParaRPr lang="ko-KR" altLang="en-US" sz="16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13630" marR="113630" marT="75753" marB="75753" anchor="ctr">
                    <a:lnL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픽셀 단위 마스크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spcAft>
                          <a:spcPts val="0"/>
                        </a:spcAft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(Pixel-level Mask)</a:t>
                      </a:r>
                      <a:endParaRPr lang="ko-KR" altLang="en-US" sz="16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13630" marR="113630" marT="75753" marB="75753" anchor="ctr">
                    <a:lnL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화상 회의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(Zoom, Google Meet) </a:t>
                      </a:r>
                    </a:p>
                    <a:p>
                      <a:pPr rtl="0" fontAlgn="t"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가상 배경 설정</a:t>
                      </a:r>
                      <a:endParaRPr lang="ko-KR" altLang="en-US" sz="16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13630" marR="113630" marT="75753" marB="75753" anchor="ctr">
                    <a:lnL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487841"/>
                  </a:ext>
                </a:extLst>
              </a:tr>
              <a:tr h="736552">
                <a:tc>
                  <a:txBody>
                    <a:bodyPr/>
                    <a:lstStyle/>
                    <a:p>
                      <a:pPr rtl="0" fontAlgn="t"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객체 탐지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spcAft>
                          <a:spcPts val="0"/>
                        </a:spcAft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(Object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Detection)</a:t>
                      </a:r>
                    </a:p>
                  </a:txBody>
                  <a:tcPr marL="113630" marR="113630" marT="75753" marB="757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물체의 위치 파악 및 분류</a:t>
                      </a:r>
                      <a:endParaRPr lang="ko-KR" altLang="en-US" sz="16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13630" marR="113630" marT="75753" marB="75753" anchor="ctr">
                    <a:lnL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경계 상자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Bounding Box) +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클래스</a:t>
                      </a:r>
                      <a:endParaRPr lang="ko-KR" altLang="en-US" sz="16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13630" marR="113630" marT="75753" marB="75753" anchor="ctr">
                    <a:lnL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자율주행차 보행자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차량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표지판 감지</a:t>
                      </a:r>
                      <a:endParaRPr lang="ko-KR" altLang="en-US" sz="16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13630" marR="113630" marT="75753" marB="75753" anchor="ctr">
                    <a:lnL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58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661545"/>
                  </a:ext>
                </a:extLst>
              </a:tr>
            </a:tbl>
          </a:graphicData>
        </a:graphic>
      </p:graphicFrame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BCB3532C-D059-825B-282D-4874855CD27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317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C4B0E-9215-C286-2671-09F611995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E610E9-D1FE-2850-B347-77F7B3CB4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8A18A25-A57C-1842-7548-74DD0C7F25B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Computer vision tasks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BBEA63-6C45-7A95-A23D-E71B44C554F8}"/>
              </a:ext>
            </a:extLst>
          </p:cNvPr>
          <p:cNvSpPr txBox="1"/>
          <p:nvPr/>
        </p:nvSpPr>
        <p:spPr>
          <a:xfrm>
            <a:off x="576262" y="1854264"/>
            <a:ext cx="11039475" cy="40248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Image Classification 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기존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CNN (Flatten + Dense)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사진은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95%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확률로 장미입니다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라는 결론을 내지만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위치는 모름</a:t>
            </a:r>
            <a:endParaRPr lang="en-US" altLang="ko-KR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Image Segmentation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기존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CNN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Flatten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없애고 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모든 레이어를 </a:t>
            </a:r>
            <a:r>
              <a:rPr lang="ko-KR" altLang="en-US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합성곱으로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 구성</a:t>
            </a:r>
            <a:endParaRPr lang="en-US" altLang="ko-KR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큰 이미지가 들어왔을 때 최종 출력이 같은 공간 특징 지도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(Heatmap)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확장되어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픽셀 하나 하나의 정답을 다 채워 넣는 정밀한 이미지 분할이 가능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Fully Convolutional Network, FCN)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Object Detection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분류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회귀 듀얼 출력 모델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클래스 확률도 맞추고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바운딩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박스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(x, y, w, h)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라는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개의 숫자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회귀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도 동시에 맞춰서 물체의 대략적인 사각형 위치를 발견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9B65F5F-42A8-2137-0CEE-F7A891BD043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546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8269C-6F02-3650-3E00-FC81E0DF3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0E9AD25-B519-C98B-BA51-F666075A9BB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Types of Image segmentation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ADBF0F9C-D7B7-4592-083C-FA765750BA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C681FA5B-337D-3B88-F827-383329A807D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47139F-FC7D-4DC3-476B-3B0C33534001}"/>
              </a:ext>
            </a:extLst>
          </p:cNvPr>
          <p:cNvSpPr txBox="1"/>
          <p:nvPr/>
        </p:nvSpPr>
        <p:spPr>
          <a:xfrm>
            <a:off x="556925" y="1231098"/>
            <a:ext cx="669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t">
              <a:spcAft>
                <a:spcPts val="0"/>
              </a:spcAft>
              <a:buNone/>
            </a:pP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이미지 분할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(Image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Segmentation)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종류</a:t>
            </a:r>
            <a:endParaRPr lang="ko-KR" altLang="en-US" sz="18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AAE77CA-633E-37C9-2EF9-E1ABBB7CA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406" y="1679169"/>
            <a:ext cx="5883114" cy="495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23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5FC59-DF22-CAA4-9590-F2A7C9096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F879655-DA0B-0D92-6AEF-1E2693A84A9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Semantic Segmentation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BAE1E2E-AD0B-4F4B-05B5-8A532B1DE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2597865"/>
            <a:ext cx="3749142" cy="337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C88B2388-8059-E653-E419-CC706D81F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283" y="2597865"/>
            <a:ext cx="3749142" cy="337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8AD89D-968B-CAB5-5BB3-A3841292D078}"/>
              </a:ext>
            </a:extLst>
          </p:cNvPr>
          <p:cNvSpPr txBox="1"/>
          <p:nvPr/>
        </p:nvSpPr>
        <p:spPr>
          <a:xfrm>
            <a:off x="2082800" y="2251194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Input(Feature)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2D3027-4EA0-CBC7-5C32-3151E32BE3CE}"/>
              </a:ext>
            </a:extLst>
          </p:cNvPr>
          <p:cNvSpPr txBox="1"/>
          <p:nvPr/>
        </p:nvSpPr>
        <p:spPr>
          <a:xfrm>
            <a:off x="7206802" y="2286155"/>
            <a:ext cx="1800493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Output(Target)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A22E2E-7D86-9E9D-D7F4-A654F5E3A205}"/>
              </a:ext>
            </a:extLst>
          </p:cNvPr>
          <p:cNvSpPr txBox="1"/>
          <p:nvPr/>
        </p:nvSpPr>
        <p:spPr>
          <a:xfrm>
            <a:off x="2159000" y="6043749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074CF5-DF8A-A38A-B143-DC98BA8AF675}"/>
              </a:ext>
            </a:extLst>
          </p:cNvPr>
          <p:cNvSpPr txBox="1"/>
          <p:nvPr/>
        </p:nvSpPr>
        <p:spPr>
          <a:xfrm>
            <a:off x="7366266" y="6043749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y=[1,2,3]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377C6241-EA2D-1241-0151-C525FCA699FC}"/>
              </a:ext>
            </a:extLst>
          </p:cNvPr>
          <p:cNvCxnSpPr>
            <a:cxnSpLocks/>
          </p:cNvCxnSpPr>
          <p:nvPr/>
        </p:nvCxnSpPr>
        <p:spPr>
          <a:xfrm>
            <a:off x="5068326" y="4429977"/>
            <a:ext cx="11620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FF7879-1E16-CC92-2C47-6C78CFD3F782}"/>
              </a:ext>
            </a:extLst>
          </p:cNvPr>
          <p:cNvSpPr txBox="1"/>
          <p:nvPr/>
        </p:nvSpPr>
        <p:spPr>
          <a:xfrm>
            <a:off x="5192712" y="3879969"/>
            <a:ext cx="95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f(X)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74949D-59A1-D5DC-B848-02E54DE6F5BA}"/>
              </a:ext>
            </a:extLst>
          </p:cNvPr>
          <p:cNvSpPr txBox="1"/>
          <p:nvPr/>
        </p:nvSpPr>
        <p:spPr>
          <a:xfrm>
            <a:off x="7569200" y="4178636"/>
            <a:ext cx="1905000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ko-KR" sz="18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1 (foreground)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48C39A-A848-F4DD-CB42-672E5A5C7AF8}"/>
              </a:ext>
            </a:extLst>
          </p:cNvPr>
          <p:cNvSpPr txBox="1"/>
          <p:nvPr/>
        </p:nvSpPr>
        <p:spPr>
          <a:xfrm rot="19245108">
            <a:off x="8668611" y="4948069"/>
            <a:ext cx="1396467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ko-KR" sz="18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3 (contour)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D1772E-DD1C-3ED5-EE3C-150D3FE8AA72}"/>
              </a:ext>
            </a:extLst>
          </p:cNvPr>
          <p:cNvSpPr txBox="1"/>
          <p:nvPr/>
        </p:nvSpPr>
        <p:spPr>
          <a:xfrm>
            <a:off x="6574836" y="2752776"/>
            <a:ext cx="1819275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ko-KR" sz="18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2 (background)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B31D3B61-E441-DDEE-F5BA-B4C5C586115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786274-C019-7634-5864-98A3FB97AF27}"/>
              </a:ext>
            </a:extLst>
          </p:cNvPr>
          <p:cNvSpPr txBox="1"/>
          <p:nvPr/>
        </p:nvSpPr>
        <p:spPr>
          <a:xfrm>
            <a:off x="548640" y="1271927"/>
            <a:ext cx="10922000" cy="42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Oxford-IIIT Pets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데이터셋을 활용해 각 픽셀을 전경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배경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(2),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윤곽선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 예측하는 분할 모델 구축</a:t>
            </a:r>
          </a:p>
        </p:txBody>
      </p:sp>
    </p:spTree>
    <p:extLst>
      <p:ext uri="{BB962C8B-B14F-4D97-AF65-F5344CB8AC3E}">
        <p14:creationId xmlns:p14="http://schemas.microsoft.com/office/powerpoint/2010/main" val="49386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C7C59-423C-7C11-050C-013FB21D5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AC949CB-4F47-A625-F779-ACF5B5047CA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Semantic Segmentation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7CF828-B040-95A6-01FB-989BB4ED21A5}"/>
              </a:ext>
            </a:extLst>
          </p:cNvPr>
          <p:cNvSpPr txBox="1"/>
          <p:nvPr/>
        </p:nvSpPr>
        <p:spPr>
          <a:xfrm>
            <a:off x="1477010" y="1902721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Input(Feature)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94EAF4-ACA6-4283-37D4-4288D28B1877}"/>
              </a:ext>
            </a:extLst>
          </p:cNvPr>
          <p:cNvSpPr txBox="1"/>
          <p:nvPr/>
        </p:nvSpPr>
        <p:spPr>
          <a:xfrm>
            <a:off x="6781987" y="190272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Output(Target)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9BEF3F-882E-452F-8047-F7C760E3A455}"/>
              </a:ext>
            </a:extLst>
          </p:cNvPr>
          <p:cNvSpPr txBox="1"/>
          <p:nvPr/>
        </p:nvSpPr>
        <p:spPr>
          <a:xfrm>
            <a:off x="1762760" y="5770064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78E8DC-DC20-84AE-CC3E-AE72343A7C5F}"/>
              </a:ext>
            </a:extLst>
          </p:cNvPr>
          <p:cNvSpPr txBox="1"/>
          <p:nvPr/>
        </p:nvSpPr>
        <p:spPr>
          <a:xfrm>
            <a:off x="6970026" y="5712914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y=[1,2,3]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2F73698-AB14-59F1-D3DC-5E680FEBB8B5}"/>
              </a:ext>
            </a:extLst>
          </p:cNvPr>
          <p:cNvCxnSpPr>
            <a:cxnSpLocks/>
          </p:cNvCxnSpPr>
          <p:nvPr/>
        </p:nvCxnSpPr>
        <p:spPr>
          <a:xfrm>
            <a:off x="4401185" y="4124325"/>
            <a:ext cx="11620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368B4CA-26DE-3E3F-4E43-BBBAB5F5E7BC}"/>
              </a:ext>
            </a:extLst>
          </p:cNvPr>
          <p:cNvSpPr txBox="1"/>
          <p:nvPr/>
        </p:nvSpPr>
        <p:spPr>
          <a:xfrm>
            <a:off x="4664178" y="3552847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f(X)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3C5FA06-6BA4-DE1D-831A-B45A62B2CEE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5762625" y="2680555"/>
            <a:ext cx="3562985" cy="27880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4B2D89F-E42E-E778-DBF6-E788F5244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0" y="2339052"/>
            <a:ext cx="3339722" cy="32970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972E5F7-E061-D048-57B6-1FDBA5FFB9D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AAD5E7-1865-631C-ACB3-CA60E8E53776}"/>
              </a:ext>
            </a:extLst>
          </p:cNvPr>
          <p:cNvSpPr txBox="1"/>
          <p:nvPr/>
        </p:nvSpPr>
        <p:spPr>
          <a:xfrm>
            <a:off x="9467332" y="3235661"/>
            <a:ext cx="1905000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0</a:t>
            </a:r>
            <a:r>
              <a:rPr lang="en-US" altLang="ko-KR" sz="18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(foreground)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CBCB71-568B-E818-35AD-C1A2189C91E7}"/>
              </a:ext>
            </a:extLst>
          </p:cNvPr>
          <p:cNvSpPr txBox="1"/>
          <p:nvPr/>
        </p:nvSpPr>
        <p:spPr>
          <a:xfrm>
            <a:off x="9467332" y="4228509"/>
            <a:ext cx="1905000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2</a:t>
            </a:r>
            <a:r>
              <a:rPr lang="en-US" altLang="ko-KR" sz="18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(contour)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D45C5B-B0E0-E657-F51A-E6C6DAE483CF}"/>
              </a:ext>
            </a:extLst>
          </p:cNvPr>
          <p:cNvSpPr txBox="1"/>
          <p:nvPr/>
        </p:nvSpPr>
        <p:spPr>
          <a:xfrm>
            <a:off x="9467332" y="3732085"/>
            <a:ext cx="1905000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ko-KR" sz="18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1 (background)</a:t>
            </a:r>
          </a:p>
        </p:txBody>
      </p:sp>
    </p:spTree>
    <p:extLst>
      <p:ext uri="{BB962C8B-B14F-4D97-AF65-F5344CB8AC3E}">
        <p14:creationId xmlns:p14="http://schemas.microsoft.com/office/powerpoint/2010/main" val="1822541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9D25F-7B06-1DA8-10F3-4BA0693AA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F8778-26AC-C0F7-659D-7005508C1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164324"/>
            <a:ext cx="11978640" cy="2387600"/>
          </a:xfrm>
        </p:spPr>
        <p:txBody>
          <a:bodyPr rtlCol="0" anchor="ctr" anchorCtr="0">
            <a:noAutofit/>
          </a:bodyPr>
          <a:lstStyle/>
          <a:p>
            <a:r>
              <a:rPr lang="en-US" altLang="ko-KR" sz="4000" dirty="0">
                <a:solidFill>
                  <a:schemeClr val="bg1"/>
                </a:solidFill>
              </a:rPr>
              <a:t>FCN(Fully Convolutional Network)</a:t>
            </a:r>
            <a:endParaRPr lang="ko-KR" altLang="en-US" sz="40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C2BE0A34-09B4-AD0D-ECFE-CA550B37C528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726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FFF8B-40F1-4D0A-E6A9-F4456A74A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141A5FC-D7AB-48F0-CFCB-643A4E36D02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1 x</a:t>
            </a:r>
            <a:r>
              <a:rPr lang="ko-KR" altLang="en-US" b="1" cap="none" dirty="0"/>
              <a:t> </a:t>
            </a:r>
            <a:r>
              <a:rPr lang="en-US" altLang="ko-KR" b="1" cap="none" dirty="0"/>
              <a:t>1 Convolution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9D38F7D-66DC-AD4C-5088-47140E3809A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78B4AA9-2E2C-A396-B0A9-739B4E227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56" y="1660115"/>
            <a:ext cx="5810250" cy="3867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4123B3-486E-56D6-89CE-D3E44138A12A}"/>
              </a:ext>
            </a:extLst>
          </p:cNvPr>
          <p:cNvSpPr txBox="1"/>
          <p:nvPr/>
        </p:nvSpPr>
        <p:spPr>
          <a:xfrm>
            <a:off x="523356" y="5648800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dirty="0">
                <a:solidFill>
                  <a:schemeClr val="accent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https://medium.com/analytics-vidhya/talented-mr-1x1-comprehensive-look-at-1x1-convolution-in-deep-learning-f6b355825578</a:t>
            </a:r>
            <a:r>
              <a:rPr lang="en-US" altLang="ko-KR" sz="1100" b="0" i="0" dirty="0">
                <a:solidFill>
                  <a:schemeClr val="accent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1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77310D0-2215-89B1-D687-50D934CC1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5531" y="1550856"/>
            <a:ext cx="5314950" cy="3244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채널 차원 축소: 공간 크기(64 </a:t>
            </a: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64)는 유지한 채 192개의 깊은 채널을 원하는 개수</a:t>
            </a: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</a:t>
            </a:r>
            <a:r>
              <a:rPr kumimoji="0" lang="ko-KR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Filter)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kumimoji="0" lang="ko-KR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축소</a:t>
            </a: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ko-KR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연산량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및 파라미터 절감: 후속 고차원 연산 전에 채널을 먼저 압축하여 전체 계산 복잡도를 크게 낮</a:t>
            </a:r>
            <a:r>
              <a:rPr kumimoji="0" lang="ko-KR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추어</a:t>
            </a: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SGD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효율 높임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픽셀 단위 연산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세그멘테이션은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모든 픽셀마다 클래스를 분류해야 하므로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1 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합성곱을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통해 위치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공간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정보는 완벽히 유지하면서 채널 특징만 합성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9041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3FA76-5385-0A0D-4286-E97D09A3A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래픽 22" descr="오른쪽으로 굽은 화살표">
            <a:extLst>
              <a:ext uri="{FF2B5EF4-FFF2-40B4-BE49-F238E27FC236}">
                <a16:creationId xmlns:a16="http://schemas.microsoft.com/office/drawing/2014/main" id="{6B8ACE28-7875-4B39-EDB8-47C45100C8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2797" y="3865052"/>
            <a:ext cx="914400" cy="914400"/>
          </a:xfrm>
          <a:prstGeom prst="rect">
            <a:avLst/>
          </a:prstGeom>
        </p:spPr>
      </p:pic>
      <p:sp>
        <p:nvSpPr>
          <p:cNvPr id="17" name="정육면체 16">
            <a:extLst>
              <a:ext uri="{FF2B5EF4-FFF2-40B4-BE49-F238E27FC236}">
                <a16:creationId xmlns:a16="http://schemas.microsoft.com/office/drawing/2014/main" id="{183BAF7B-EA2A-4D41-0464-2F13F62C012E}"/>
              </a:ext>
            </a:extLst>
          </p:cNvPr>
          <p:cNvSpPr/>
          <p:nvPr/>
        </p:nvSpPr>
        <p:spPr>
          <a:xfrm>
            <a:off x="3299635" y="5083424"/>
            <a:ext cx="876300" cy="763414"/>
          </a:xfrm>
          <a:prstGeom prst="cube">
            <a:avLst>
              <a:gd name="adj" fmla="val 10369"/>
            </a:avLst>
          </a:prstGeom>
          <a:solidFill>
            <a:srgbClr val="76E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정육면체 15">
            <a:extLst>
              <a:ext uri="{FF2B5EF4-FFF2-40B4-BE49-F238E27FC236}">
                <a16:creationId xmlns:a16="http://schemas.microsoft.com/office/drawing/2014/main" id="{2D3C747E-690D-35C2-3944-016931FACAD3}"/>
              </a:ext>
            </a:extLst>
          </p:cNvPr>
          <p:cNvSpPr/>
          <p:nvPr/>
        </p:nvSpPr>
        <p:spPr>
          <a:xfrm>
            <a:off x="3192090" y="5192755"/>
            <a:ext cx="876300" cy="763414"/>
          </a:xfrm>
          <a:prstGeom prst="cube">
            <a:avLst>
              <a:gd name="adj" fmla="val 10369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정육면체 14">
            <a:extLst>
              <a:ext uri="{FF2B5EF4-FFF2-40B4-BE49-F238E27FC236}">
                <a16:creationId xmlns:a16="http://schemas.microsoft.com/office/drawing/2014/main" id="{29736859-239E-6214-4D1F-5F61B4728902}"/>
              </a:ext>
            </a:extLst>
          </p:cNvPr>
          <p:cNvSpPr/>
          <p:nvPr/>
        </p:nvSpPr>
        <p:spPr>
          <a:xfrm>
            <a:off x="3084545" y="5302086"/>
            <a:ext cx="876300" cy="763414"/>
          </a:xfrm>
          <a:prstGeom prst="cube">
            <a:avLst>
              <a:gd name="adj" fmla="val 10369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6E9E1F0-AA2D-3EB2-D203-896E52B7246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1 x</a:t>
            </a:r>
            <a:r>
              <a:rPr lang="ko-KR" altLang="en-US" b="1" cap="none" dirty="0"/>
              <a:t> </a:t>
            </a:r>
            <a:r>
              <a:rPr lang="en-US" altLang="ko-KR" b="1" cap="none" dirty="0"/>
              <a:t>1 Convolution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0A325A9-8285-F740-A2AA-C36AB3375D1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64F82D4-2F2C-48DF-7331-A64B3BE6B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528" y="1248422"/>
            <a:ext cx="11020944" cy="745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최종 클래스 채널 변환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네트워크 마지막 단에서 추출된 높은 차원의 특징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맵을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세그멘테이션할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클래스 개수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192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채널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클래스 채널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맞추는 데 사용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FA96D12-F747-E5E6-C8B7-25DD9388C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622" y="2278874"/>
            <a:ext cx="6495532" cy="3567964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92개 채널 (입력):</a:t>
            </a: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모델이 이미지</a:t>
            </a:r>
            <a:r>
              <a:rPr kumimoji="0" lang="ko-KR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　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픽셀을 분석</a:t>
            </a:r>
            <a:r>
              <a:rPr kumimoji="0" lang="ko-KR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하여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추출</a:t>
            </a:r>
            <a:r>
              <a:rPr kumimoji="0" lang="ko-KR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한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192가지의 추상적인 특징(예: 질감, 테두리, 색상, 명암 등 컴퓨터만 이해하는 정보)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C개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클래스 채널 (출력):</a:t>
            </a: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최종적으로 구분하고자 하는 </a:t>
            </a:r>
            <a:r>
              <a:rPr kumimoji="0" lang="ko-KR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분류의 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'사람, 자동차, 인도, 배경' 4가지를 구분하는 최종 채널 수는 4개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1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합성곱의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역할 (변환기):</a:t>
            </a: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위치(픽셀) 좌표는 그대로 둔 채, 각 픽셀마다 존재하는 192개의 추상적 특징들을 적절히 조합(선형결합)하여 "이 픽셀이 '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사람'일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확률, '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자동차'일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확률, '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인도'일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확률" 등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C개의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점수로 계산해 주는 마지막 정제 작업을 수행</a:t>
            </a:r>
          </a:p>
        </p:txBody>
      </p:sp>
      <p:sp>
        <p:nvSpPr>
          <p:cNvPr id="8" name="정육면체 7">
            <a:extLst>
              <a:ext uri="{FF2B5EF4-FFF2-40B4-BE49-F238E27FC236}">
                <a16:creationId xmlns:a16="http://schemas.microsoft.com/office/drawing/2014/main" id="{328C325B-E72A-9CB3-9261-F79953058DD3}"/>
              </a:ext>
            </a:extLst>
          </p:cNvPr>
          <p:cNvSpPr/>
          <p:nvPr/>
        </p:nvSpPr>
        <p:spPr>
          <a:xfrm>
            <a:off x="706968" y="2295148"/>
            <a:ext cx="1771650" cy="1654969"/>
          </a:xfrm>
          <a:prstGeom prst="cube">
            <a:avLst>
              <a:gd name="adj" fmla="val 599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정육면체 9">
            <a:extLst>
              <a:ext uri="{FF2B5EF4-FFF2-40B4-BE49-F238E27FC236}">
                <a16:creationId xmlns:a16="http://schemas.microsoft.com/office/drawing/2014/main" id="{2C3EBF5E-5B03-6246-4254-FD02930A72E8}"/>
              </a:ext>
            </a:extLst>
          </p:cNvPr>
          <p:cNvSpPr/>
          <p:nvPr/>
        </p:nvSpPr>
        <p:spPr>
          <a:xfrm>
            <a:off x="1967879" y="2953233"/>
            <a:ext cx="1162050" cy="1152526"/>
          </a:xfrm>
          <a:prstGeom prst="cube">
            <a:avLst>
              <a:gd name="adj" fmla="val 82444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정육면체 10">
            <a:extLst>
              <a:ext uri="{FF2B5EF4-FFF2-40B4-BE49-F238E27FC236}">
                <a16:creationId xmlns:a16="http://schemas.microsoft.com/office/drawing/2014/main" id="{47D6A941-7A4F-F016-29FB-70C5D2BFC54B}"/>
              </a:ext>
            </a:extLst>
          </p:cNvPr>
          <p:cNvSpPr/>
          <p:nvPr/>
        </p:nvSpPr>
        <p:spPr>
          <a:xfrm>
            <a:off x="1967879" y="3412830"/>
            <a:ext cx="1162050" cy="1152526"/>
          </a:xfrm>
          <a:prstGeom prst="cube">
            <a:avLst>
              <a:gd name="adj" fmla="val 82444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정육면체 11">
            <a:extLst>
              <a:ext uri="{FF2B5EF4-FFF2-40B4-BE49-F238E27FC236}">
                <a16:creationId xmlns:a16="http://schemas.microsoft.com/office/drawing/2014/main" id="{15509A2B-FDDB-D59D-F8F5-F86744D2905D}"/>
              </a:ext>
            </a:extLst>
          </p:cNvPr>
          <p:cNvSpPr/>
          <p:nvPr/>
        </p:nvSpPr>
        <p:spPr>
          <a:xfrm>
            <a:off x="1967879" y="3872427"/>
            <a:ext cx="1162050" cy="1152526"/>
          </a:xfrm>
          <a:prstGeom prst="cube">
            <a:avLst>
              <a:gd name="adj" fmla="val 82444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정육면체 12">
            <a:extLst>
              <a:ext uri="{FF2B5EF4-FFF2-40B4-BE49-F238E27FC236}">
                <a16:creationId xmlns:a16="http://schemas.microsoft.com/office/drawing/2014/main" id="{8F1EF733-9317-990C-946C-FDE0115DCAA7}"/>
              </a:ext>
            </a:extLst>
          </p:cNvPr>
          <p:cNvSpPr/>
          <p:nvPr/>
        </p:nvSpPr>
        <p:spPr>
          <a:xfrm>
            <a:off x="1967879" y="4332025"/>
            <a:ext cx="1162050" cy="1152526"/>
          </a:xfrm>
          <a:prstGeom prst="cube">
            <a:avLst>
              <a:gd name="adj" fmla="val 82444"/>
            </a:avLst>
          </a:prstGeom>
          <a:solidFill>
            <a:srgbClr val="76E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정육면체 13">
            <a:extLst>
              <a:ext uri="{FF2B5EF4-FFF2-40B4-BE49-F238E27FC236}">
                <a16:creationId xmlns:a16="http://schemas.microsoft.com/office/drawing/2014/main" id="{FCBB174E-2974-CB73-E9FB-DC7967B0D017}"/>
              </a:ext>
            </a:extLst>
          </p:cNvPr>
          <p:cNvSpPr/>
          <p:nvPr/>
        </p:nvSpPr>
        <p:spPr>
          <a:xfrm>
            <a:off x="2991786" y="5411416"/>
            <a:ext cx="876300" cy="763414"/>
          </a:xfrm>
          <a:prstGeom prst="cube">
            <a:avLst>
              <a:gd name="adj" fmla="val 10369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오른쪽 중괄호 17">
            <a:extLst>
              <a:ext uri="{FF2B5EF4-FFF2-40B4-BE49-F238E27FC236}">
                <a16:creationId xmlns:a16="http://schemas.microsoft.com/office/drawing/2014/main" id="{ADF50597-5FA2-BBC1-792D-288A414C13FF}"/>
              </a:ext>
            </a:extLst>
          </p:cNvPr>
          <p:cNvSpPr/>
          <p:nvPr/>
        </p:nvSpPr>
        <p:spPr>
          <a:xfrm>
            <a:off x="3243755" y="2983713"/>
            <a:ext cx="220516" cy="1491767"/>
          </a:xfrm>
          <a:prstGeom prst="rightBrace">
            <a:avLst>
              <a:gd name="adj1" fmla="val 61318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D8F1C7-EA86-937B-7F85-3D672F937A1B}"/>
              </a:ext>
            </a:extLst>
          </p:cNvPr>
          <p:cNvSpPr txBox="1"/>
          <p:nvPr/>
        </p:nvSpPr>
        <p:spPr>
          <a:xfrm>
            <a:off x="3505793" y="3033306"/>
            <a:ext cx="1516964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１ｘ１　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　４개</a:t>
            </a:r>
            <a:r>
              <a:rPr lang="ko-KR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2CC53D-2A2F-7D96-D84E-7213EDB845BD}"/>
              </a:ext>
            </a:extLst>
          </p:cNvPr>
          <p:cNvSpPr txBox="1"/>
          <p:nvPr/>
        </p:nvSpPr>
        <p:spPr>
          <a:xfrm>
            <a:off x="3495241" y="4747954"/>
            <a:ext cx="1569039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클라스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　채널</a:t>
            </a:r>
            <a:r>
              <a:rPr lang="ko-KR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5CEE739B-2F90-8222-F6F0-A71160438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7879" y="6221130"/>
            <a:ext cx="2805835" cy="46166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ko-KR" altLang="ko-KR" sz="1200">
                <a:solidFill>
                  <a:schemeClr val="bg1"/>
                </a:solidFill>
              </a:rPr>
              <a:t>1번 채널: 고양이일 확률 (픽셀 단위)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ko-KR" altLang="ko-KR" sz="1200">
                <a:solidFill>
                  <a:schemeClr val="bg1"/>
                </a:solidFill>
              </a:rPr>
              <a:t>2번 채널: 강아지일 확률 (픽셀 단위)</a:t>
            </a:r>
          </a:p>
        </p:txBody>
      </p:sp>
    </p:spTree>
    <p:extLst>
      <p:ext uri="{BB962C8B-B14F-4D97-AF65-F5344CB8AC3E}">
        <p14:creationId xmlns:p14="http://schemas.microsoft.com/office/powerpoint/2010/main" val="2831050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6" grpId="0" animBg="1"/>
      <p:bldP spid="15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8CC18-4B2C-4700-AB44-3374C6994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96269ED-4E3B-ACED-C13B-077C42C419F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FCN(Fully Convolutional Network)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BE68D1E5-3D6C-6346-471D-98C77BC75C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5C0B39-4B51-5F94-5169-E85DDED9C3FD}"/>
              </a:ext>
            </a:extLst>
          </p:cNvPr>
          <p:cNvSpPr txBox="1"/>
          <p:nvPr/>
        </p:nvSpPr>
        <p:spPr>
          <a:xfrm>
            <a:off x="561976" y="1687933"/>
            <a:ext cx="11372330" cy="2958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2015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년 논문 </a:t>
            </a:r>
            <a:r>
              <a:rPr lang="en-US" altLang="ko-KR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Long_Fully_Convolutional_Networks</a:t>
            </a:r>
            <a:r>
              <a:rPr lang="en-US" altLang="ko-KR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완전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합성곱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신경망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(FCN)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은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밀집층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(Dense Layer)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을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합성곱층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(Convolutional Layer)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으로 전환하여 이미지 크기에 제약을 받지 않고 한 번의 연산으로 고속 슬라이딩 윈도우 효과를 얻는 혁신적 기술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FCN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CNN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을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“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이미지 분류기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(Classifier)”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에서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“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픽셀 단위 분류기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Segmenter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)”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로 확장한 딥러닝 구조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이후 발표된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U-Net,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SegNet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DeepLab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등 다양한 모델이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FCN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개념을 확장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·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개선하여 응용분야는 의료 영상 분석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자율주행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위성 영상 등 다양한 응용 분야에서 핵심적인 기술적 기반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FCN_</a:t>
            </a:r>
            <a:r>
              <a:rPr lang="ko-KR" altLang="en-US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유튜브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546E3E6-877A-973C-BB95-83F051CA793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989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5E3B9-1F2C-B55B-D98D-F18090414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8B3F0A2-DADD-97EE-4631-4CBC8A66178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Limitations of Convnet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78E7852-1A5B-BDFD-E4F4-0E43FE52C76C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AutoShape 4" descr="Schematic diagram of a basic convolutional neural network (CNN) architecture [26].">
            <a:extLst>
              <a:ext uri="{FF2B5EF4-FFF2-40B4-BE49-F238E27FC236}">
                <a16:creationId xmlns:a16="http://schemas.microsoft.com/office/drawing/2014/main" id="{83AACBF8-E58D-A29D-6892-E944239473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3718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F771E-0E41-9C72-EC20-67C1B14D9987}"/>
              </a:ext>
            </a:extLst>
          </p:cNvPr>
          <p:cNvSpPr txBox="1"/>
          <p:nvPr/>
        </p:nvSpPr>
        <p:spPr>
          <a:xfrm>
            <a:off x="581025" y="1219961"/>
            <a:ext cx="11010900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0" i="0" dirty="0">
                <a:solidFill>
                  <a:srgbClr val="23232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LeNet, </a:t>
            </a:r>
            <a:r>
              <a:rPr lang="en-US" altLang="ko-KR" sz="1600" b="0" i="0" dirty="0" err="1">
                <a:solidFill>
                  <a:srgbClr val="23232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AlexNet</a:t>
            </a:r>
            <a:r>
              <a:rPr lang="en-US" altLang="ko-KR" sz="1600" b="0" i="0" dirty="0">
                <a:solidFill>
                  <a:srgbClr val="23232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b="0" i="0" dirty="0">
                <a:solidFill>
                  <a:srgbClr val="23232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및 그 후속 모델을 포함한 </a:t>
            </a:r>
            <a:r>
              <a:rPr lang="en-US" altLang="ko-KR" sz="1600" b="0" i="0" dirty="0">
                <a:solidFill>
                  <a:srgbClr val="23232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ko-KR" altLang="en-US" sz="1600" b="0" i="0" dirty="0">
                <a:solidFill>
                  <a:srgbClr val="23232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는 고정 크기의 입력을 받고 비공간적 출력을 생성하여</a:t>
            </a:r>
            <a:r>
              <a:rPr lang="en-US" altLang="ko-KR" sz="1600" b="0" i="0" dirty="0">
                <a:solidFill>
                  <a:srgbClr val="23232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b="0" i="0" dirty="0">
                <a:solidFill>
                  <a:srgbClr val="23232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네트워크의 완전 연결 층은 </a:t>
            </a:r>
            <a:r>
              <a:rPr lang="ko-KR" altLang="en-US" sz="1600" b="1" i="0" dirty="0">
                <a:solidFill>
                  <a:srgbClr val="23232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고정된 차원을 가지며 공간</a:t>
            </a:r>
            <a:r>
              <a:rPr lang="en-US" altLang="ko-KR" sz="1600" b="1" i="0" dirty="0">
                <a:solidFill>
                  <a:srgbClr val="23232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b="1" i="0" dirty="0">
                <a:solidFill>
                  <a:srgbClr val="23232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위치 좌표를 잃어버리게 됨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D97055-9801-1A01-265F-DCF046CBCB20}"/>
              </a:ext>
            </a:extLst>
          </p:cNvPr>
          <p:cNvSpPr txBox="1"/>
          <p:nvPr/>
        </p:nvSpPr>
        <p:spPr>
          <a:xfrm>
            <a:off x="1214438" y="2325239"/>
            <a:ext cx="32289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convolutional_neural_networks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050" name="Picture 2" descr="A convnet">
            <a:extLst>
              <a:ext uri="{FF2B5EF4-FFF2-40B4-BE49-F238E27FC236}">
                <a16:creationId xmlns:a16="http://schemas.microsoft.com/office/drawing/2014/main" id="{05E7957A-0678-D069-C6E9-D5CA3F5D6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2663793"/>
            <a:ext cx="9085421" cy="3069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0EF117-77E5-74DD-17E9-2D541CFC1294}"/>
              </a:ext>
            </a:extLst>
          </p:cNvPr>
          <p:cNvSpPr txBox="1"/>
          <p:nvPr/>
        </p:nvSpPr>
        <p:spPr>
          <a:xfrm>
            <a:off x="1214438" y="581036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1200" i="0" dirty="0">
                <a:solidFill>
                  <a:srgbClr val="22283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Convolution layers act as feature extractors.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1200" i="0" dirty="0">
                <a:solidFill>
                  <a:srgbClr val="22283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Dense layers use the extracted features to classify data.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74631A0-84C1-65C1-0655-CAF11E386CDB}"/>
              </a:ext>
            </a:extLst>
          </p:cNvPr>
          <p:cNvSpPr/>
          <p:nvPr/>
        </p:nvSpPr>
        <p:spPr>
          <a:xfrm>
            <a:off x="7181850" y="2662022"/>
            <a:ext cx="1171575" cy="26815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F3A16B3-B25D-2D2A-08F7-03206592A964}"/>
              </a:ext>
            </a:extLst>
          </p:cNvPr>
          <p:cNvSpPr/>
          <p:nvPr/>
        </p:nvSpPr>
        <p:spPr>
          <a:xfrm>
            <a:off x="1095374" y="2662022"/>
            <a:ext cx="2673986" cy="26815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설명선: 굽은 선 4">
            <a:extLst>
              <a:ext uri="{FF2B5EF4-FFF2-40B4-BE49-F238E27FC236}">
                <a16:creationId xmlns:a16="http://schemas.microsoft.com/office/drawing/2014/main" id="{534CDA9C-150F-FC8C-D983-6528605B3124}"/>
              </a:ext>
            </a:extLst>
          </p:cNvPr>
          <p:cNvSpPr/>
          <p:nvPr/>
        </p:nvSpPr>
        <p:spPr>
          <a:xfrm>
            <a:off x="8987790" y="2047462"/>
            <a:ext cx="2624137" cy="73826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80847"/>
              <a:gd name="adj6" fmla="val -49377"/>
            </a:avLst>
          </a:prstGeom>
          <a:solidFill>
            <a:srgbClr val="FF0000"/>
          </a:solidFill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입력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이미지의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크기가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변경되면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flatten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layer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작동이 안됨</a:t>
            </a:r>
          </a:p>
        </p:txBody>
      </p:sp>
    </p:spTree>
    <p:extLst>
      <p:ext uri="{BB962C8B-B14F-4D97-AF65-F5344CB8AC3E}">
        <p14:creationId xmlns:p14="http://schemas.microsoft.com/office/powerpoint/2010/main" val="2189367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EAB7D-B27E-9334-4DBB-8EAE42AB6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0B579A3-858F-ED6D-3438-F62A6F425B6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Image Segmentation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6583F638-7692-FD83-49FC-74023AD4C5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EA3A7D7-EC01-C9DA-55A2-2E94A26722B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E27426D-1C7D-66BC-6877-CF007AAAD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2802931"/>
            <a:ext cx="6998526" cy="334544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183BDA-69FB-75D0-D840-A344BC1E0CDD}"/>
              </a:ext>
            </a:extLst>
          </p:cNvPr>
          <p:cNvSpPr txBox="1"/>
          <p:nvPr/>
        </p:nvSpPr>
        <p:spPr>
          <a:xfrm>
            <a:off x="585932" y="1219847"/>
            <a:ext cx="11130423" cy="1162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한 장의 이미지에 여러 개의 도형이 있다면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Fully Connected(Dense)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레이어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한 개의 이미지만 구별하여 분류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(Conv2D)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레이어로 대체하여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(64x64)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원본 이미지 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사분면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도형 위치를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(9x9)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격자 지도로 분류하는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FCN(Fully Convolutional Network)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사용하여 이미지를 구분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(segmentation) 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4" name="그래픽 13" descr="수영">
            <a:extLst>
              <a:ext uri="{FF2B5EF4-FFF2-40B4-BE49-F238E27FC236}">
                <a16:creationId xmlns:a16="http://schemas.microsoft.com/office/drawing/2014/main" id="{122335B6-90EF-DA89-8E5F-14B29C7FBC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43133" y="334022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3934D9A-72A2-BEDB-1A71-A9B93AC7DEAE}"/>
              </a:ext>
            </a:extLst>
          </p:cNvPr>
          <p:cNvSpPr txBox="1"/>
          <p:nvPr/>
        </p:nvSpPr>
        <p:spPr>
          <a:xfrm>
            <a:off x="8414282" y="2802931"/>
            <a:ext cx="3302073" cy="212365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일반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CNN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이 이미지 전체를 하나의 클래스로 분류하는 거라면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FCN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은 각 픽셀마다 클래스를 예측하도록 만든 구조</a:t>
            </a:r>
            <a:endParaRPr lang="en-US" altLang="ko-KR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fully connected layer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를 없애고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convolution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만 사용해서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입력 이미지 크기에 관계없이 동작</a:t>
            </a:r>
          </a:p>
        </p:txBody>
      </p:sp>
    </p:spTree>
    <p:extLst>
      <p:ext uri="{BB962C8B-B14F-4D97-AF65-F5344CB8AC3E}">
        <p14:creationId xmlns:p14="http://schemas.microsoft.com/office/powerpoint/2010/main" val="4215054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D36FC-9D02-38B8-2636-A32E3D8E1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303CA1C-4B8A-4533-0523-27415E83E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49" y="2238374"/>
            <a:ext cx="8424433" cy="40290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E5ED48E6-2D79-B4B6-F285-9313E6C6685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FCN overcomes the limitation of Convnet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9D33DDE-52FB-6D89-2844-9C4D54027451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AutoShape 4" descr="Schematic diagram of a basic convolutional neural network (CNN) architecture [26].">
            <a:extLst>
              <a:ext uri="{FF2B5EF4-FFF2-40B4-BE49-F238E27FC236}">
                <a16:creationId xmlns:a16="http://schemas.microsoft.com/office/drawing/2014/main" id="{061124A3-71A2-1023-BE8A-B2B6E4ECC0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81775" y="4010025"/>
            <a:ext cx="266649" cy="26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2B83BD0-F520-35EE-A2D6-4C9B1F7F77DC}"/>
              </a:ext>
            </a:extLst>
          </p:cNvPr>
          <p:cNvSpPr/>
          <p:nvPr/>
        </p:nvSpPr>
        <p:spPr>
          <a:xfrm>
            <a:off x="6034541" y="2238374"/>
            <a:ext cx="4123441" cy="4029076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94CAC9-4A5D-06E0-1862-A224382A5A6A}"/>
              </a:ext>
            </a:extLst>
          </p:cNvPr>
          <p:cNvSpPr/>
          <p:nvPr/>
        </p:nvSpPr>
        <p:spPr>
          <a:xfrm>
            <a:off x="1733549" y="2238374"/>
            <a:ext cx="4123442" cy="40290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EDA78A-ECEE-8447-C074-4B277E1A6EF1}"/>
              </a:ext>
            </a:extLst>
          </p:cNvPr>
          <p:cNvSpPr txBox="1"/>
          <p:nvPr/>
        </p:nvSpPr>
        <p:spPr>
          <a:xfrm>
            <a:off x="561975" y="1219847"/>
            <a:ext cx="11087100" cy="42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232323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Fully</a:t>
            </a:r>
            <a:r>
              <a:rPr lang="ko-KR" altLang="en-US" sz="1600" dirty="0">
                <a:solidFill>
                  <a:srgbClr val="232323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232323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Convolution Network</a:t>
            </a:r>
            <a:r>
              <a:rPr lang="ko-KR" altLang="en-US" sz="1600" i="0" dirty="0">
                <a:solidFill>
                  <a:srgbClr val="23232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는 가변 크기의 입력을 받고 공간적 출력을 생성하여</a:t>
            </a:r>
            <a:r>
              <a:rPr lang="en-US" altLang="ko-KR" sz="1600" i="0" dirty="0">
                <a:solidFill>
                  <a:srgbClr val="23232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i="0" dirty="0">
                <a:solidFill>
                  <a:srgbClr val="23232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픽셀</a:t>
            </a:r>
            <a:r>
              <a:rPr lang="ko-KR" altLang="en-US" sz="1600" dirty="0">
                <a:solidFill>
                  <a:srgbClr val="232323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단위당 분류가 가능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82627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5FB5F-5B3D-A32D-052A-8D50221D5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C1C53F9-1DCA-64E0-F05D-1AB467F4E95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1. Convnet Fails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E26E5A47-9B5B-7A82-B532-B5B245F4B8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F4049D-52E7-A828-C76E-2153CAECB410}"/>
              </a:ext>
            </a:extLst>
          </p:cNvPr>
          <p:cNvSpPr txBox="1"/>
          <p:nvPr/>
        </p:nvSpPr>
        <p:spPr>
          <a:xfrm>
            <a:off x="628650" y="1325175"/>
            <a:ext cx="8486775" cy="5262979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build_traditional_cnn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원래 LeNet-5는 (32, 32, 1) 기준으로 가중치 모양이 고정됨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keras.Input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shape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=(64, 64, 1))  # 크기가 다른 (64, 64) 입력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특징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추출부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(LeNet-5 구조)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layers.Conv2D(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filters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=6,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=5,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padding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valid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layers.MaxPooling2D(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=2,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strides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=2)(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layers.Conv2D(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filters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=16,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=5,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padding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valid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layers.MaxPooling2D(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=2,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strides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=2)(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layers.Flatten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    # ❌ 문제의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Flatten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단계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원래 (32,32) 입력이었다면 400개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노드여야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하지만, (64,64)라 2704개가 되어 들어옴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(120,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(84,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(10,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keras.Model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cnn_model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build_traditional_cnn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가상의 (64, 64, 1) 이미지 1장 생성해서 통과 시도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mock_input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tf.random.normal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([1, 64, 64, 1])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prediction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cnn_model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mock_input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👉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Traditional CNN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최종 출력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Matrix Formation (Shape):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prediction.shape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5E44F44-2228-7818-8854-A2E61A3E3C4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7FAFA51-00A8-2056-D8FF-CBCD27BE1B58}"/>
              </a:ext>
            </a:extLst>
          </p:cNvPr>
          <p:cNvSpPr/>
          <p:nvPr/>
        </p:nvSpPr>
        <p:spPr>
          <a:xfrm>
            <a:off x="400050" y="3076575"/>
            <a:ext cx="8867256" cy="13239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FA6D80-3069-8A6F-224F-F03907FD6AD4}"/>
              </a:ext>
            </a:extLst>
          </p:cNvPr>
          <p:cNvSpPr txBox="1"/>
          <p:nvPr/>
        </p:nvSpPr>
        <p:spPr>
          <a:xfrm>
            <a:off x="9267306" y="3069937"/>
            <a:ext cx="2657475" cy="292388"/>
          </a:xfrm>
          <a:prstGeom prst="rect">
            <a:avLst/>
          </a:prstGeom>
          <a:solidFill>
            <a:srgbClr val="DD462F"/>
          </a:solidFill>
        </p:spPr>
        <p:txBody>
          <a:bodyPr wrap="square">
            <a:spAutoFit/>
          </a:bodyPr>
          <a:lstStyle/>
          <a:p>
            <a:r>
              <a:rPr lang="en-US" altLang="ko-KR" sz="1300" dirty="0">
                <a:solidFill>
                  <a:schemeClr val="bg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Fully Connected(Dense) </a:t>
            </a:r>
            <a:r>
              <a:rPr lang="ko-KR" altLang="en-US" sz="1300" dirty="0">
                <a:solidFill>
                  <a:schemeClr val="bg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레이어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8966D7-27A0-CAFB-2B17-46DD10345FBF}"/>
              </a:ext>
            </a:extLst>
          </p:cNvPr>
          <p:cNvSpPr txBox="1"/>
          <p:nvPr/>
        </p:nvSpPr>
        <p:spPr>
          <a:xfrm>
            <a:off x="9276831" y="3917632"/>
            <a:ext cx="2657475" cy="492443"/>
          </a:xfrm>
          <a:prstGeom prst="rect">
            <a:avLst/>
          </a:prstGeom>
          <a:solidFill>
            <a:srgbClr val="DD462F"/>
          </a:solidFill>
        </p:spPr>
        <p:txBody>
          <a:bodyPr wrap="square">
            <a:spAutoFit/>
          </a:bodyPr>
          <a:lstStyle/>
          <a:p>
            <a:r>
              <a:rPr lang="ko-KR" altLang="en-US" sz="1300" dirty="0">
                <a:solidFill>
                  <a:schemeClr val="bg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공간정보를 모두 제거하고 이미지를 분류</a:t>
            </a:r>
            <a:r>
              <a:rPr lang="en-US" altLang="ko-KR" sz="1300" dirty="0">
                <a:solidFill>
                  <a:schemeClr val="bg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(classification)</a:t>
            </a:r>
            <a:endParaRPr lang="ko-KR" altLang="en-US" sz="1300" dirty="0">
              <a:solidFill>
                <a:schemeClr val="bg1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AFCBD8-B7B2-1753-B700-0EC48B96251D}"/>
              </a:ext>
            </a:extLst>
          </p:cNvPr>
          <p:cNvSpPr/>
          <p:nvPr/>
        </p:nvSpPr>
        <p:spPr>
          <a:xfrm>
            <a:off x="400050" y="1538888"/>
            <a:ext cx="8867256" cy="49282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440638C-D2EE-C32F-7C60-00E3D070B825}"/>
              </a:ext>
            </a:extLst>
          </p:cNvPr>
          <p:cNvSpPr/>
          <p:nvPr/>
        </p:nvSpPr>
        <p:spPr>
          <a:xfrm>
            <a:off x="552450" y="3724275"/>
            <a:ext cx="6899910" cy="2238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7696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BE693-3091-B325-C411-E43BD93B1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F55654F-E98B-9D3E-A328-C8EC2E30DDE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1. Convnet </a:t>
            </a:r>
            <a:r>
              <a:rPr lang="en-US" altLang="ko-KR" b="1" cap="none" dirty="0">
                <a:sym typeface="Wingdings" panose="05000000000000000000" pitchFamily="2" charset="2"/>
              </a:rPr>
              <a:t>Fails</a:t>
            </a:r>
            <a:endParaRPr lang="en-US" altLang="ko-KR" b="1" cap="none" dirty="0"/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9D50F0EB-5CEF-1E67-E58B-637B1054BC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05500" y="316928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433696F-4C73-8636-CC93-30330B42766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FFA907-C8AF-C701-6550-AB37A7848C48}"/>
              </a:ext>
            </a:extLst>
          </p:cNvPr>
          <p:cNvSpPr txBox="1"/>
          <p:nvPr/>
        </p:nvSpPr>
        <p:spPr>
          <a:xfrm>
            <a:off x="514350" y="1350616"/>
            <a:ext cx="6096000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cnn_model.summary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038B90C-C3E9-2D98-4F9B-EB0F4FCA1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22" y="1666087"/>
            <a:ext cx="4918978" cy="3335928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1C04C79-4BD9-BEDC-C377-57AB55250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070363"/>
              </p:ext>
            </p:extLst>
          </p:nvPr>
        </p:nvGraphicFramePr>
        <p:xfrm>
          <a:off x="5615672" y="1666087"/>
          <a:ext cx="6232667" cy="3317868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114935">
                  <a:extLst>
                    <a:ext uri="{9D8B030D-6E8A-4147-A177-3AD203B41FA5}">
                      <a16:colId xmlns:a16="http://schemas.microsoft.com/office/drawing/2014/main" val="2755321600"/>
                    </a:ext>
                  </a:extLst>
                </a:gridCol>
                <a:gridCol w="596975">
                  <a:extLst>
                    <a:ext uri="{9D8B030D-6E8A-4147-A177-3AD203B41FA5}">
                      <a16:colId xmlns:a16="http://schemas.microsoft.com/office/drawing/2014/main" val="2295146599"/>
                    </a:ext>
                  </a:extLst>
                </a:gridCol>
                <a:gridCol w="634327">
                  <a:extLst>
                    <a:ext uri="{9D8B030D-6E8A-4147-A177-3AD203B41FA5}">
                      <a16:colId xmlns:a16="http://schemas.microsoft.com/office/drawing/2014/main" val="2307758495"/>
                    </a:ext>
                  </a:extLst>
                </a:gridCol>
                <a:gridCol w="314542">
                  <a:extLst>
                    <a:ext uri="{9D8B030D-6E8A-4147-A177-3AD203B41FA5}">
                      <a16:colId xmlns:a16="http://schemas.microsoft.com/office/drawing/2014/main" val="2917777080"/>
                    </a:ext>
                  </a:extLst>
                </a:gridCol>
                <a:gridCol w="2688729">
                  <a:extLst>
                    <a:ext uri="{9D8B030D-6E8A-4147-A177-3AD203B41FA5}">
                      <a16:colId xmlns:a16="http://schemas.microsoft.com/office/drawing/2014/main" val="2995285287"/>
                    </a:ext>
                  </a:extLst>
                </a:gridCol>
                <a:gridCol w="883159">
                  <a:extLst>
                    <a:ext uri="{9D8B030D-6E8A-4147-A177-3AD203B41FA5}">
                      <a16:colId xmlns:a16="http://schemas.microsoft.com/office/drawing/2014/main" val="2306271437"/>
                    </a:ext>
                  </a:extLst>
                </a:gridCol>
              </a:tblGrid>
              <a:tr h="315043"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레이어 </a:t>
                      </a:r>
                      <a:r>
                        <a:rPr lang="en-US" altLang="ko-KR" sz="1000" kern="12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Layer)</a:t>
                      </a:r>
                      <a:endParaRPr lang="en-US" sz="1000" kern="1200" dirty="0">
                        <a:solidFill>
                          <a:schemeClr val="bg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입력 채널</a:t>
                      </a:r>
                      <a:endParaRPr lang="ko-KR" altLang="en-US" sz="1000" kern="1200" dirty="0">
                        <a:solidFill>
                          <a:schemeClr val="bg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커널 크기</a:t>
                      </a:r>
                      <a:endParaRPr lang="ko-KR" altLang="en-US" sz="1000" kern="1200" dirty="0">
                        <a:solidFill>
                          <a:schemeClr val="bg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필터 </a:t>
                      </a:r>
                      <a:endParaRPr lang="ko-KR" altLang="en-US" sz="1000" kern="1200" dirty="0">
                        <a:solidFill>
                          <a:schemeClr val="bg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상세 계산 수식</a:t>
                      </a:r>
                      <a:endParaRPr lang="ko-KR" altLang="en-US" sz="1000" kern="1200" dirty="0">
                        <a:solidFill>
                          <a:schemeClr val="bg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파라미터 개수</a:t>
                      </a:r>
                      <a:endParaRPr lang="ko-KR" altLang="en-US" sz="1000" kern="1200" dirty="0">
                        <a:solidFill>
                          <a:schemeClr val="bg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 marL="0" marR="0" marT="8152" marB="8152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356482"/>
                  </a:ext>
                </a:extLst>
              </a:tr>
              <a:tr h="27764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Input_layer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altLang="ko-KR" sz="1000" dirty="0">
                        <a:solidFill>
                          <a:schemeClr val="bg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altLang="ko-KR" sz="1000" dirty="0">
                        <a:solidFill>
                          <a:schemeClr val="bg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altLang="ko-KR" sz="1000" dirty="0">
                        <a:solidFill>
                          <a:schemeClr val="bg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altLang="ko-KR" sz="1000" dirty="0">
                        <a:solidFill>
                          <a:schemeClr val="bg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altLang="ko-KR" sz="1000" dirty="0">
                        <a:solidFill>
                          <a:schemeClr val="bg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683759"/>
                  </a:ext>
                </a:extLst>
              </a:tr>
              <a:tr h="27764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Conv2D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5×5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6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{(5×5×1) + 1} × 6 = (25 + 1) × 6 = 26 × 6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156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136435"/>
                  </a:ext>
                </a:extLst>
              </a:tr>
              <a:tr h="27764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MaxPooling2D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6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(2 x 2) </a:t>
                      </a:r>
                      <a:r>
                        <a:rPr lang="en-US" altLang="ko-KR" sz="1000" dirty="0" err="1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max_pooling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학습 가중치 없음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00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478283"/>
                  </a:ext>
                </a:extLst>
              </a:tr>
              <a:tr h="27764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Conv2D_1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6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5×5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16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{(5×5×6) + 1} × 16 = (150+1) × 16=151×16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00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2,416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524334"/>
                  </a:ext>
                </a:extLst>
              </a:tr>
              <a:tr h="27764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MaxPooling2D_1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16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(2 x 2) </a:t>
                      </a:r>
                      <a:r>
                        <a:rPr lang="en-US" altLang="ko-KR" sz="1000" dirty="0" err="1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max_pooling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학습 가중치 없음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839275"/>
                  </a:ext>
                </a:extLst>
              </a:tr>
              <a:tr h="27764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Flatten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2,704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= 13x13x16 (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학습 가중치 없음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00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461832"/>
                  </a:ext>
                </a:extLst>
              </a:tr>
              <a:tr h="27764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Dense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2,704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120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(2,704 × 120) + 120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00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324,600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647530"/>
                  </a:ext>
                </a:extLst>
              </a:tr>
              <a:tr h="27764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Dense_1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120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84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(120 x 84) + 84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00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10,164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859773"/>
                  </a:ext>
                </a:extLst>
              </a:tr>
              <a:tr h="27764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Dense_2 (</a:t>
                      </a:r>
                      <a:r>
                        <a:rPr lang="ko-KR" altLang="en-US" sz="1000" dirty="0" err="1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출력층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84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10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(84 × 10) + 10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00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850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12732"/>
                  </a:ext>
                </a:extLst>
              </a:tr>
              <a:tr h="36443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altLang="ko-KR" sz="1000" dirty="0">
                        <a:solidFill>
                          <a:schemeClr val="bg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b">
                        <a:buNone/>
                      </a:pPr>
                      <a:endParaRPr lang="en-US" altLang="ko-KR" sz="1200" dirty="0">
                        <a:solidFill>
                          <a:schemeClr val="bg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ko-KR" altLang="en-US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총계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Total)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156+2,416+324,600+10,164+850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338,186</a:t>
                      </a:r>
                    </a:p>
                  </a:txBody>
                  <a:tcPr marL="12228" marR="12228" marT="8152" marB="8152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065565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E451B018-C59C-99E4-7B52-D2012F5C2DE8}"/>
              </a:ext>
            </a:extLst>
          </p:cNvPr>
          <p:cNvSpPr/>
          <p:nvPr/>
        </p:nvSpPr>
        <p:spPr>
          <a:xfrm>
            <a:off x="5614426" y="3373120"/>
            <a:ext cx="6232667" cy="10896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F75260-4FB4-8B47-4257-28E2B7262548}"/>
              </a:ext>
            </a:extLst>
          </p:cNvPr>
          <p:cNvSpPr txBox="1"/>
          <p:nvPr/>
        </p:nvSpPr>
        <p:spPr>
          <a:xfrm>
            <a:off x="637037" y="6093573"/>
            <a:ext cx="4774668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layers.GlobalAveragePooling2D()(</a:t>
            </a:r>
            <a:r>
              <a:rPr lang="ko-KR" altLang="en-US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A26ECC-8559-47FF-1F1E-D89E224D6871}"/>
              </a:ext>
            </a:extLst>
          </p:cNvPr>
          <p:cNvSpPr txBox="1"/>
          <p:nvPr/>
        </p:nvSpPr>
        <p:spPr>
          <a:xfrm>
            <a:off x="640080" y="5261765"/>
            <a:ext cx="7302500" cy="738664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Flatten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대신 GlobalAveragePooling2D 사용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피처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맵의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Spatial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크기에 관계없이 채널 수(16) 크기의 1D 벡터로 해결되지만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공간정보가 모두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사라잠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So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공간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정보를 유지하려면 </a:t>
            </a:r>
            <a:r>
              <a:rPr lang="en-US" altLang="ko-KR" sz="1400">
                <a:latin typeface="D2Coding" panose="020B0609020101020101" pitchFamily="49" charset="-127"/>
                <a:ea typeface="D2Coding" panose="020B0609020101020101" pitchFamily="49" charset="-127"/>
              </a:rPr>
              <a:t>FCN layer </a:t>
            </a:r>
            <a:r>
              <a:rPr lang="ko-KR" altLang="en-US" sz="1400">
                <a:latin typeface="D2Coding" panose="020B0609020101020101" pitchFamily="49" charset="-127"/>
                <a:ea typeface="D2Coding" panose="020B0609020101020101" pitchFamily="49" charset="-127"/>
              </a:rPr>
              <a:t>사용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88B784B6-07FF-BE5E-DBB3-4FE06351F1EB}"/>
              </a:ext>
            </a:extLst>
          </p:cNvPr>
          <p:cNvCxnSpPr>
            <a:endCxn id="16" idx="3"/>
          </p:cNvCxnSpPr>
          <p:nvPr/>
        </p:nvCxnSpPr>
        <p:spPr>
          <a:xfrm rot="5400000">
            <a:off x="7752512" y="4652849"/>
            <a:ext cx="1168317" cy="788179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216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EEC00-2CE5-3A47-71C2-446F304CD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994C095-FA13-5B37-3A73-7D9219AC29D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2. FCN succeed</a:t>
            </a:r>
            <a:r>
              <a:rPr lang="en-US" altLang="ko-KR" dirty="0"/>
              <a:t> </a:t>
            </a:r>
            <a:endParaRPr lang="en-US" altLang="ko-KR" b="1" cap="none" dirty="0"/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285DBDB0-F214-75E6-61AB-2A7FC38CDD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0290B9-2470-CEB5-D79C-DCB3E7CE4019}"/>
              </a:ext>
            </a:extLst>
          </p:cNvPr>
          <p:cNvSpPr txBox="1"/>
          <p:nvPr/>
        </p:nvSpPr>
        <p:spPr>
          <a:xfrm>
            <a:off x="628650" y="1325175"/>
            <a:ext cx="8648700" cy="5262979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build_fcn_model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inputs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keras.Input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(shape=(64, 64, 1))  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동일한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(64, 64)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특징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추출부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(LeNet-5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구조 그대로 유지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x = layers.Conv2D(filters=6,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=5, padding="valid", activation="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")(inputs)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x = layers.MaxPooling2D(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=2, strides=2)(x)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x = layers.Conv2D(filters=16,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=5, padding="valid", activation="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x = layers.MaxPooling2D(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=2, strides=2)(x)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⭕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[FCN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핵심 변환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]: Dense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층들을 전부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Conv2D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대체합니다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원래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(32,32)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 시 이 자리의 특성 맵 크기가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5x5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였으므로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지정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x = layers.Conv2D(filters=120,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=5, padding="valid", activation="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이후의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Dense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층들은 가로세로가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1x1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인 상태이므로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=1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필터로 대체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x = layers.Conv2D(filters=84,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=1, activation="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outputs = layers.Conv2D(filters=10,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=1, activation="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return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(inputs=inputs, outputs=outputs)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FCN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테스트 실행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fcn_model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build_fcn_model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mock_input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tf.random.normal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([1, 64, 64, 1])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fcn_prediction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fcn_model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mock_input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👉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FCN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최종 출력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Matrix Formation (Shape):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fcn_prediction.shape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7308D83-8009-1CC0-0425-B41C43367DE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DF99A5B-A81E-A8DC-25EC-C0A40CC349F6}"/>
              </a:ext>
            </a:extLst>
          </p:cNvPr>
          <p:cNvSpPr/>
          <p:nvPr/>
        </p:nvSpPr>
        <p:spPr>
          <a:xfrm>
            <a:off x="400050" y="3239135"/>
            <a:ext cx="8877300" cy="141414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BF69C62-F79A-0394-9D67-C13AD5C11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9440" y="1727551"/>
            <a:ext cx="3667241" cy="138499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9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</a:t>
            </a:r>
            <a:r>
              <a:rPr lang="ko-KR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9 그리드의 총 81개 각 칸은 64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</a:t>
            </a:r>
            <a:r>
              <a:rPr lang="ko-KR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64 원본 이미지 내의 특정 국소 영역(</a:t>
            </a:r>
            <a:r>
              <a:rPr lang="ko-KR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수용장</a:t>
            </a:r>
            <a:r>
              <a:rPr lang="ko-KR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)을 뜻하며, "이미지 전체에 무엇이 있는가"가 아니라 "9x9로 나뉜 각 위치에 어떤 객체가 있는가"라는 위치 기반 예측 결과를 제공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AE90E0-3555-D5EE-0AE1-FFCB73F2091E}"/>
              </a:ext>
            </a:extLst>
          </p:cNvPr>
          <p:cNvSpPr txBox="1"/>
          <p:nvPr/>
        </p:nvSpPr>
        <p:spPr>
          <a:xfrm>
            <a:off x="8209281" y="1358219"/>
            <a:ext cx="830373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E86A80-80E0-5BD7-7FAB-B6F095E7EE1F}"/>
              </a:ext>
            </a:extLst>
          </p:cNvPr>
          <p:cNvSpPr txBox="1"/>
          <p:nvPr/>
        </p:nvSpPr>
        <p:spPr>
          <a:xfrm>
            <a:off x="8256903" y="4149151"/>
            <a:ext cx="646331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위치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27A409-6D23-BBDF-FE6F-00232ACFCCF3}"/>
              </a:ext>
            </a:extLst>
          </p:cNvPr>
          <p:cNvSpPr txBox="1"/>
          <p:nvPr/>
        </p:nvSpPr>
        <p:spPr>
          <a:xfrm>
            <a:off x="8256904" y="4518483"/>
            <a:ext cx="3677402" cy="1169551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사진 속 9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9 세부 구역 중 '어느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위치'에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그 숫자가 존재하는지" 픽셀 단위의 단서를 제공하는 객체 탐지(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Object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Detection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 및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세맨틱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분할(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Semantic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Segmentation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 모델로 진화한 형태</a:t>
            </a:r>
          </a:p>
        </p:txBody>
      </p:sp>
      <p:pic>
        <p:nvPicPr>
          <p:cNvPr id="14" name="그래픽 13" descr="시계 방향으로 굽은 줄 화살표">
            <a:extLst>
              <a:ext uri="{FF2B5EF4-FFF2-40B4-BE49-F238E27FC236}">
                <a16:creationId xmlns:a16="http://schemas.microsoft.com/office/drawing/2014/main" id="{59BA96BD-A446-763C-4443-2621771E4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800244">
            <a:off x="7315200" y="4587240"/>
            <a:ext cx="914400" cy="914400"/>
          </a:xfrm>
          <a:prstGeom prst="rect">
            <a:avLst/>
          </a:prstGeom>
        </p:spPr>
      </p:pic>
      <p:pic>
        <p:nvPicPr>
          <p:cNvPr id="15" name="그래픽 14" descr="시계 방향으로 굽은 줄 화살표">
            <a:extLst>
              <a:ext uri="{FF2B5EF4-FFF2-40B4-BE49-F238E27FC236}">
                <a16:creationId xmlns:a16="http://schemas.microsoft.com/office/drawing/2014/main" id="{B8D8FD99-2B2B-8816-CF31-459DFCC23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7691474">
            <a:off x="7315200" y="2537890"/>
            <a:ext cx="914400" cy="91440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EDD46BF5-81AE-A72F-49EE-DD02AC3E3EEB}"/>
              </a:ext>
            </a:extLst>
          </p:cNvPr>
          <p:cNvSpPr/>
          <p:nvPr/>
        </p:nvSpPr>
        <p:spPr>
          <a:xfrm>
            <a:off x="400050" y="1773378"/>
            <a:ext cx="8877300" cy="111206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419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46EC4-B367-B617-1D8E-1F58E3B0A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DE6937E-1188-477D-3D5E-9BF1644CFED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2. FCN succeed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8B188ADE-2F9A-8127-1D51-68AFD92D09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38825" y="319468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E649C9B-E7B2-5444-3BEE-F381AD5327F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FA9E6E0-2810-40A9-F605-954A05720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94" y="2195619"/>
            <a:ext cx="5041780" cy="319828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F4F9D1E-9110-B139-ECC9-5FF49AB52F1B}"/>
              </a:ext>
            </a:extLst>
          </p:cNvPr>
          <p:cNvSpPr txBox="1"/>
          <p:nvPr/>
        </p:nvSpPr>
        <p:spPr>
          <a:xfrm>
            <a:off x="475645" y="1773592"/>
            <a:ext cx="6096000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fcn_model.summary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CD3AAC76-CB6E-E7E4-263C-35835ED27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85598"/>
              </p:ext>
            </p:extLst>
          </p:nvPr>
        </p:nvGraphicFramePr>
        <p:xfrm>
          <a:off x="5652526" y="2202010"/>
          <a:ext cx="6281779" cy="3196246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344590">
                  <a:extLst>
                    <a:ext uri="{9D8B030D-6E8A-4147-A177-3AD203B41FA5}">
                      <a16:colId xmlns:a16="http://schemas.microsoft.com/office/drawing/2014/main" val="4007595343"/>
                    </a:ext>
                  </a:extLst>
                </a:gridCol>
                <a:gridCol w="601654">
                  <a:extLst>
                    <a:ext uri="{9D8B030D-6E8A-4147-A177-3AD203B41FA5}">
                      <a16:colId xmlns:a16="http://schemas.microsoft.com/office/drawing/2014/main" val="2846901273"/>
                    </a:ext>
                  </a:extLst>
                </a:gridCol>
                <a:gridCol w="659879">
                  <a:extLst>
                    <a:ext uri="{9D8B030D-6E8A-4147-A177-3AD203B41FA5}">
                      <a16:colId xmlns:a16="http://schemas.microsoft.com/office/drawing/2014/main" val="2627887502"/>
                    </a:ext>
                  </a:extLst>
                </a:gridCol>
                <a:gridCol w="504613">
                  <a:extLst>
                    <a:ext uri="{9D8B030D-6E8A-4147-A177-3AD203B41FA5}">
                      <a16:colId xmlns:a16="http://schemas.microsoft.com/office/drawing/2014/main" val="2982397368"/>
                    </a:ext>
                  </a:extLst>
                </a:gridCol>
                <a:gridCol w="2316218">
                  <a:extLst>
                    <a:ext uri="{9D8B030D-6E8A-4147-A177-3AD203B41FA5}">
                      <a16:colId xmlns:a16="http://schemas.microsoft.com/office/drawing/2014/main" val="3133557278"/>
                    </a:ext>
                  </a:extLst>
                </a:gridCol>
                <a:gridCol w="854825">
                  <a:extLst>
                    <a:ext uri="{9D8B030D-6E8A-4147-A177-3AD203B41FA5}">
                      <a16:colId xmlns:a16="http://schemas.microsoft.com/office/drawing/2014/main" val="2349011138"/>
                    </a:ext>
                  </a:extLst>
                </a:gridCol>
              </a:tblGrid>
              <a:tr h="33572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레이어 </a:t>
                      </a:r>
                      <a:r>
                        <a:rPr lang="en-US" altLang="ko-KR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Layer)</a:t>
                      </a:r>
                    </a:p>
                  </a:txBody>
                  <a:tcPr marL="13813" marR="13813" marT="9209" marB="920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입력 채널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커널 크기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필터 수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상세 계산 수식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파라미터 개수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3701322"/>
                  </a:ext>
                </a:extLst>
              </a:tr>
              <a:tr h="51893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Input_layer_1</a:t>
                      </a:r>
                    </a:p>
                    <a:p>
                      <a:pPr algn="l" rtl="0" fontAlgn="b">
                        <a:buNone/>
                      </a:pPr>
                      <a:endParaRPr lang="en-US" sz="10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l" rtl="0" fontAlgn="b">
                        <a:buNone/>
                      </a:pPr>
                      <a:endParaRPr lang="en-US" sz="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l" rtl="0" fontAlgn="b">
                        <a:buNone/>
                      </a:pPr>
                      <a:r>
                        <a:rPr lang="en-US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Conv2D_2</a:t>
                      </a:r>
                    </a:p>
                  </a:txBody>
                  <a:tcPr marL="13813" marR="13813" marT="9209" marB="920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5×5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6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{(5×5×1) + 1} × 6 = (25+1)×6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156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76151833"/>
                  </a:ext>
                </a:extLst>
              </a:tr>
              <a:tr h="29154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MaxPooling2D_2</a:t>
                      </a:r>
                    </a:p>
                  </a:txBody>
                  <a:tcPr marL="13813" marR="13813" marT="9209" marB="920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6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학습 가중치 없음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4298932"/>
                  </a:ext>
                </a:extLst>
              </a:tr>
              <a:tr h="29154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Conv2D_3</a:t>
                      </a:r>
                    </a:p>
                  </a:txBody>
                  <a:tcPr marL="13813" marR="13813" marT="9209" marB="920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6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5×5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16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{(5×5×6) + 1} × 16 = 151 × 16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2,416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5425684"/>
                  </a:ext>
                </a:extLst>
              </a:tr>
              <a:tr h="29154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MaxPooling2D_3</a:t>
                      </a:r>
                    </a:p>
                  </a:txBody>
                  <a:tcPr marL="13813" marR="13813" marT="9209" marB="920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16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학습 가중치 없음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5835728"/>
                  </a:ext>
                </a:extLst>
              </a:tr>
              <a:tr h="29154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Conv2D_4 (Dense</a:t>
                      </a:r>
                      <a:r>
                        <a:rPr lang="ko-KR" altLang="en-US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대체</a:t>
                      </a:r>
                      <a:r>
                        <a:rPr lang="en-US" altLang="ko-KR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13813" marR="13813" marT="9209" marB="920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16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5×5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120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{(5×5×16) + 1} × 120 =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48,120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88446111"/>
                  </a:ext>
                </a:extLst>
              </a:tr>
              <a:tr h="29154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Conv2D_5 (Dense</a:t>
                      </a:r>
                      <a:r>
                        <a:rPr lang="ko-KR" altLang="en-US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대체</a:t>
                      </a:r>
                      <a:r>
                        <a:rPr lang="en-US" altLang="ko-KR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13813" marR="13813" marT="9209" marB="920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120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1×1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84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{(1×1×120) + 1} × 84 =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10,164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7652098"/>
                  </a:ext>
                </a:extLst>
              </a:tr>
              <a:tr h="29154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Conv2D_6 (</a:t>
                      </a:r>
                      <a:r>
                        <a:rPr lang="ko-KR" altLang="en-US" sz="10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출력층</a:t>
                      </a:r>
                      <a:r>
                        <a:rPr lang="en-US" altLang="ko-KR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13813" marR="13813" marT="9209" marB="920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84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1×1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10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{(1×1×84)+ 1} × 10 =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850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4892668"/>
                  </a:ext>
                </a:extLst>
              </a:tr>
              <a:tr h="47472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ko-KR" altLang="en-US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endParaRPr lang="en-US" altLang="ko-KR" sz="10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l" rtl="0" fontAlgn="b">
                        <a:buNone/>
                      </a:pPr>
                      <a:endParaRPr lang="en-US" altLang="ko-KR" sz="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l" rtl="0" fontAlgn="b">
                        <a:buNone/>
                      </a:pPr>
                      <a:endParaRPr lang="en-US" altLang="ko-KR" sz="105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l" rtl="0" fontAlgn="b">
                        <a:buNone/>
                      </a:pPr>
                      <a:r>
                        <a:rPr lang="ko-KR" altLang="en-US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총계 </a:t>
                      </a:r>
                      <a:r>
                        <a:rPr lang="en-US" altLang="ko-KR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Total)</a:t>
                      </a:r>
                    </a:p>
                  </a:txBody>
                  <a:tcPr marL="13813" marR="13813" marT="9209" marB="920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156+2,416+48,120+10,164+850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0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61,706</a:t>
                      </a:r>
                    </a:p>
                  </a:txBody>
                  <a:tcPr marL="13813" marR="13813" marT="9209" marB="9209" anchor="b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8719061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886641DA-3FC6-DEEA-7ADC-4E9A3F6DF038}"/>
              </a:ext>
            </a:extLst>
          </p:cNvPr>
          <p:cNvSpPr/>
          <p:nvPr/>
        </p:nvSpPr>
        <p:spPr>
          <a:xfrm>
            <a:off x="5652526" y="3992880"/>
            <a:ext cx="6281779" cy="8610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911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6620C-6675-39D3-3F4B-F8060C3A0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977977A-D523-C09B-39ED-12A913D8ACB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FCN(Fully Convolutional Network)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F654DF50-CB4A-4966-16F2-88D2D8DA6A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5645" y="344341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C5D59EA-8CA4-FF23-A2A0-10FE0B3AF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66" y="1527858"/>
            <a:ext cx="5422007" cy="4741253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9B911E8-2E49-9A05-E636-99F5DC6680C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0CE510-2F4F-FAC2-CC18-17E3EECA8289}"/>
              </a:ext>
            </a:extLst>
          </p:cNvPr>
          <p:cNvSpPr txBox="1"/>
          <p:nvPr/>
        </p:nvSpPr>
        <p:spPr>
          <a:xfrm>
            <a:off x="6001196" y="1626048"/>
            <a:ext cx="5556337" cy="39395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ko-KR" sz="16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FCN(Fully</a:t>
            </a:r>
            <a:r>
              <a:rPr lang="ko-KR" altLang="en-US" sz="1600" b="1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6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Convolutional</a:t>
            </a:r>
            <a:r>
              <a:rPr lang="ko-KR" altLang="en-US" sz="1600" b="1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6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Network)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small image(left) 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Feature Map (7,7,100) → [Conv(7,7) 10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개 필터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] → Output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(1,1,10)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) 10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개 채널별로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class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를 예측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cs typeface="Tahoma" panose="020B060403050404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(224, 224)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이미지를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 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장으로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CNN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분류 예측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cs typeface="Tahoma" panose="020B060403050404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cs typeface="Tahom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large image(right) :</a:t>
            </a:r>
          </a:p>
          <a:p>
            <a:pPr marL="742950" lvl="1" indent="-285750" fontAlgn="base"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  <a:sym typeface="Wingdings" panose="05000000000000000000" pitchFamily="2" charset="2"/>
              </a:rPr>
              <a:t>8 by 8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  <a:sym typeface="Wingdings" panose="05000000000000000000" pitchFamily="2" charset="2"/>
              </a:rPr>
              <a:t>격자로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슬라이딩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윈도우할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 필요 없이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단 한 번의 연산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(Single Forward Pass)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으로 이미지 전체의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(8x8)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격자 영역을 동시에 탐지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cs typeface="Tahoma" panose="020B060403050404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Feature Map (14,14,100) → [Conv(7,7) 10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개 필터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] → Output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(8,8,10)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  <a:sym typeface="Wingdings" panose="05000000000000000000" pitchFamily="2" charset="2"/>
              </a:rPr>
              <a:t>(448, 448)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  <a:sym typeface="Wingdings" panose="05000000000000000000" pitchFamily="2" charset="2"/>
              </a:rPr>
              <a:t>이미지를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  <a:sym typeface="Wingdings" panose="05000000000000000000" pitchFamily="2" charset="2"/>
              </a:rPr>
              <a:t>(8 by 8)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  <a:sym typeface="Wingdings" panose="05000000000000000000" pitchFamily="2" charset="2"/>
              </a:rPr>
              <a:t>격자로 나누어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  <a:sym typeface="Wingdings" panose="05000000000000000000" pitchFamily="2" charset="2"/>
              </a:rPr>
              <a:t>64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  <a:sym typeface="Wingdings" panose="05000000000000000000" pitchFamily="2" charset="2"/>
              </a:rPr>
              <a:t>개 구역 격자별로 동시에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  <a:sym typeface="Wingdings" panose="05000000000000000000" pitchFamily="2" charset="2"/>
              </a:rPr>
              <a:t> CNN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  <a:sym typeface="Wingdings" panose="05000000000000000000" pitchFamily="2" charset="2"/>
              </a:rPr>
              <a:t> 분류예측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10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6620C-6675-39D3-3F4B-F8060C3A0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977977A-D523-C09B-39ED-12A913D8ACB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FCN vs.</a:t>
            </a:r>
            <a:r>
              <a:rPr lang="ko-KR" altLang="en-US" b="1" cap="none" dirty="0"/>
              <a:t> </a:t>
            </a:r>
            <a:r>
              <a:rPr lang="en-US" altLang="ko-KR" b="1" cap="none" dirty="0"/>
              <a:t>Dense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9B911E8-2E49-9A05-E636-99F5DC6680C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1CE5D5-4592-2CC5-45A2-DDEDE81C5025}"/>
              </a:ext>
            </a:extLst>
          </p:cNvPr>
          <p:cNvSpPr txBox="1"/>
          <p:nvPr/>
        </p:nvSpPr>
        <p:spPr>
          <a:xfrm>
            <a:off x="475645" y="1549361"/>
            <a:ext cx="5077431" cy="4154984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tensorflow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tensorflow.keras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-------------------------------------------------------------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Dense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Fully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Connected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레이어의 경우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-------------------------------------------------------------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4,900개의 입력을 받아 200개의 출력을 만드는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Dense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</a:t>
            </a:r>
          </a:p>
          <a:p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dense_layer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units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=200)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(4900, 200) 크기의 가중치 행렬 생성 및 고정</a:t>
            </a:r>
          </a:p>
          <a:p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dense_layer.build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input_shape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=(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None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4900))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(1) 기본 크기 입력: 4,900개</a:t>
            </a:r>
          </a:p>
          <a:p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x_small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tf.random.normal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((1, 4900))</a:t>
            </a:r>
          </a:p>
          <a:p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out_dense_small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dense_layer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x_small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 # 정상 작동! -&gt; (1, 200)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(2) 큰 크기 입력: 19,600개</a:t>
            </a:r>
          </a:p>
          <a:p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x_large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tf.random.normal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((1, 19600))</a:t>
            </a:r>
          </a:p>
          <a:p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out_dense_large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dense_layer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x_large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 # 에러 발생!</a:t>
            </a:r>
          </a:p>
          <a:p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except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tf.errors.InvalidArgumentError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e: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("[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Dense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 에러 발생!]")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e.message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# 에러 메시지: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Matrix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size-incompatible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[0]: [1,19600],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[1]: [4900,200]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9EDE32-EE98-F40E-A864-4E7C69394B24}"/>
              </a:ext>
            </a:extLst>
          </p:cNvPr>
          <p:cNvSpPr txBox="1"/>
          <p:nvPr/>
        </p:nvSpPr>
        <p:spPr>
          <a:xfrm>
            <a:off x="5652526" y="1549361"/>
            <a:ext cx="6381230" cy="304698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-------------------------------------------------------------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Convolution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 (FCN)의 경우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-------------------------------------------------------------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(7, 7)크기 커널, 출력채널 10개 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기본 포맷: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Batch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Height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Width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Channels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conv_layer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layers.Conv2D(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filters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=10,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=(7, 7))</a:t>
            </a:r>
          </a:p>
          <a:p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(1)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small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feature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map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입력: (1, 7, 7, 100)</a:t>
            </a:r>
          </a:p>
          <a:p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x_conv_small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tf.random.normal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((1, 7, 7, 100))</a:t>
            </a:r>
          </a:p>
          <a:p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out_conv_small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conv_layer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x_conv_small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 # 정상 작동! -&gt; (1, 1, 1, 10)</a:t>
            </a:r>
          </a:p>
          <a:p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(2)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large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feature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map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입력: (1, 14, 14, 100)</a:t>
            </a:r>
          </a:p>
          <a:p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x_conv_large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tf.random.normal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((1, 14, 14, 100))</a:t>
            </a:r>
          </a:p>
          <a:p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out_conv_large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conv_layer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x_conv_large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 # 에러 없이 정상 작동! -&gt; (1, 8, 8, 10)</a:t>
            </a:r>
          </a:p>
          <a:p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("\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 성공!]")</a:t>
            </a:r>
          </a:p>
          <a:p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Large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입력 출력 크기:",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out_conv_large.shape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 #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TensorShape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([1, 8, 8, 10])</a:t>
            </a:r>
          </a:p>
        </p:txBody>
      </p:sp>
    </p:spTree>
    <p:extLst>
      <p:ext uri="{BB962C8B-B14F-4D97-AF65-F5344CB8AC3E}">
        <p14:creationId xmlns:p14="http://schemas.microsoft.com/office/powerpoint/2010/main" val="4205076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8AA10-ED67-0C44-9791-AB83B324D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9ACB4C6-5563-2522-E4DE-4DBA90D7622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FCN vs. </a:t>
            </a:r>
            <a:r>
              <a:rPr lang="en-US" altLang="ko-KR" b="1" cap="none" dirty="0" err="1"/>
              <a:t>Depthwise</a:t>
            </a:r>
            <a:r>
              <a:rPr lang="en-US" altLang="ko-KR" b="1" cap="none" dirty="0"/>
              <a:t> Separable Convolution 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786EBB61-F4D9-19BF-97E8-D2D6CC513D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35885C9-7CD1-C6F4-01A9-EA8CEB8CB12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89478B6-AADB-76E0-48DB-DF481BD7E361}"/>
              </a:ext>
            </a:extLst>
          </p:cNvPr>
          <p:cNvGraphicFramePr>
            <a:graphicFrameLocks noGrp="1"/>
          </p:cNvGraphicFramePr>
          <p:nvPr/>
        </p:nvGraphicFramePr>
        <p:xfrm>
          <a:off x="753385" y="2417433"/>
          <a:ext cx="10685229" cy="2087890"/>
        </p:xfrm>
        <a:graphic>
          <a:graphicData uri="http://schemas.openxmlformats.org/drawingml/2006/table">
            <a:tbl>
              <a:tblPr/>
              <a:tblGrid>
                <a:gridCol w="1780950">
                  <a:extLst>
                    <a:ext uri="{9D8B030D-6E8A-4147-A177-3AD203B41FA5}">
                      <a16:colId xmlns:a16="http://schemas.microsoft.com/office/drawing/2014/main" val="700773218"/>
                    </a:ext>
                  </a:extLst>
                </a:gridCol>
                <a:gridCol w="5342536">
                  <a:extLst>
                    <a:ext uri="{9D8B030D-6E8A-4147-A177-3AD203B41FA5}">
                      <a16:colId xmlns:a16="http://schemas.microsoft.com/office/drawing/2014/main" val="1332139726"/>
                    </a:ext>
                  </a:extLst>
                </a:gridCol>
                <a:gridCol w="3561743">
                  <a:extLst>
                    <a:ext uri="{9D8B030D-6E8A-4147-A177-3AD203B41FA5}">
                      <a16:colId xmlns:a16="http://schemas.microsoft.com/office/drawing/2014/main" val="2365343045"/>
                    </a:ext>
                  </a:extLst>
                </a:gridCol>
              </a:tblGrid>
              <a:tr h="41757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5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5062" marR="75062" marT="37531" marB="37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FCN(Fully Convolutional Network)</a:t>
                      </a:r>
                    </a:p>
                  </a:txBody>
                  <a:tcPr marL="75062" marR="75062" marT="37531" marB="37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Depthwise</a:t>
                      </a:r>
                      <a:r>
                        <a:rPr lang="en-US" sz="15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Separable Convolution</a:t>
                      </a:r>
                    </a:p>
                  </a:txBody>
                  <a:tcPr marL="75062" marR="75062" marT="37531" marB="37531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452102"/>
                  </a:ext>
                </a:extLst>
              </a:tr>
              <a:tr h="4175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정체</a:t>
                      </a:r>
                    </a:p>
                  </a:txBody>
                  <a:tcPr marL="75062" marR="75062" marT="37531" marB="37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네트워크 </a:t>
                      </a:r>
                      <a:r>
                        <a:rPr lang="ko-KR" altLang="en-US" sz="1500" b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아키텍처 설계 방식</a:t>
                      </a:r>
                      <a:endParaRPr lang="ko-KR" altLang="en-US" sz="150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5062" marR="75062" marT="37531" marB="37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하나의 </a:t>
                      </a:r>
                      <a:r>
                        <a:rPr lang="ko-KR" altLang="en-US" sz="1500" b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연산</a:t>
                      </a:r>
                      <a:r>
                        <a:rPr lang="en-US" altLang="ko-KR" sz="1500" b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500" b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레이어</a:t>
                      </a:r>
                      <a:r>
                        <a:rPr lang="en-US" altLang="ko-KR" sz="1500" b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 </a:t>
                      </a:r>
                      <a:r>
                        <a:rPr lang="ko-KR" altLang="en-US" sz="1500" b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종류</a:t>
                      </a:r>
                      <a:endParaRPr lang="ko-KR" altLang="en-US" sz="150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5062" marR="75062" marT="37531" marB="37531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20161"/>
                  </a:ext>
                </a:extLst>
              </a:tr>
              <a:tr h="4175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해결하는 문제</a:t>
                      </a:r>
                    </a:p>
                  </a:txBody>
                  <a:tcPr marL="75062" marR="75062" marT="37531" marB="37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5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Dense</a:t>
                      </a:r>
                      <a:r>
                        <a:rPr lang="ko-KR" altLang="en-US" sz="15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층 제거로 임의 크기 입력</a:t>
                      </a:r>
                      <a:r>
                        <a:rPr lang="en-US" altLang="ko-KR" sz="15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5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공간 정보 보존</a:t>
                      </a:r>
                    </a:p>
                  </a:txBody>
                  <a:tcPr marL="75062" marR="75062" marT="37531" marB="37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합성곱 연산량</a:t>
                      </a:r>
                      <a:r>
                        <a:rPr lang="en-US" altLang="ko-KR" sz="15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5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파라미터 수 감소</a:t>
                      </a:r>
                    </a:p>
                  </a:txBody>
                  <a:tcPr marL="75062" marR="75062" marT="37531" marB="37531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266946"/>
                  </a:ext>
                </a:extLst>
              </a:tr>
              <a:tr h="4175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비교 대상</a:t>
                      </a:r>
                    </a:p>
                  </a:txBody>
                  <a:tcPr marL="75062" marR="75062" marT="37531" marB="37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5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Dense(FC)</a:t>
                      </a:r>
                      <a:r>
                        <a:rPr lang="ko-KR" altLang="en-US" sz="15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층을 쓰는 일반 </a:t>
                      </a:r>
                      <a:r>
                        <a:rPr lang="en-US" altLang="ko-KR" sz="15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CNN</a:t>
                      </a:r>
                    </a:p>
                  </a:txBody>
                  <a:tcPr marL="75062" marR="75062" marT="37531" marB="37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일반</a:t>
                      </a:r>
                      <a:r>
                        <a:rPr lang="en-US" altLang="ko-KR" sz="15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5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표준</a:t>
                      </a:r>
                      <a:r>
                        <a:rPr lang="en-US" altLang="ko-KR" sz="15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 </a:t>
                      </a:r>
                      <a:r>
                        <a:rPr lang="en-US" sz="15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Convolution</a:t>
                      </a:r>
                    </a:p>
                  </a:txBody>
                  <a:tcPr marL="75062" marR="75062" marT="37531" marB="37531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650150"/>
                  </a:ext>
                </a:extLst>
              </a:tr>
              <a:tr h="4175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예시</a:t>
                      </a:r>
                    </a:p>
                  </a:txBody>
                  <a:tcPr marL="75062" marR="75062" marT="37531" marB="37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FCN, U-Net, YOLO</a:t>
                      </a:r>
                      <a:r>
                        <a:rPr lang="ko-KR" altLang="en-US" sz="15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의 </a:t>
                      </a:r>
                      <a:r>
                        <a:rPr lang="ko-KR" altLang="en-US" sz="15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출력단</a:t>
                      </a:r>
                      <a:endParaRPr lang="ko-KR" altLang="en-US" sz="15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5062" marR="75062" marT="37531" marB="37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Xception</a:t>
                      </a:r>
                      <a:r>
                        <a:rPr lang="en-US" sz="15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en-US" sz="15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MobileNet</a:t>
                      </a:r>
                      <a:r>
                        <a:rPr lang="ko-KR" altLang="en-US" sz="15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의 내부 블록</a:t>
                      </a:r>
                    </a:p>
                  </a:txBody>
                  <a:tcPr marL="75062" marR="75062" marT="37531" marB="37531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9605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E9E2B95-F1A3-51E8-BAD6-E1E3366CDAB1}"/>
              </a:ext>
            </a:extLst>
          </p:cNvPr>
          <p:cNvSpPr txBox="1"/>
          <p:nvPr/>
        </p:nvSpPr>
        <p:spPr>
          <a:xfrm>
            <a:off x="753384" y="4848910"/>
            <a:ext cx="107718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Depthwise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Separable Conv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FCN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안에서도 사용될 수 있는 레이어</a:t>
            </a:r>
          </a:p>
        </p:txBody>
      </p:sp>
    </p:spTree>
    <p:extLst>
      <p:ext uri="{BB962C8B-B14F-4D97-AF65-F5344CB8AC3E}">
        <p14:creationId xmlns:p14="http://schemas.microsoft.com/office/powerpoint/2010/main" val="2299461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02BFE-DB14-00AD-C52C-B4BC1D7FE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06319F-7857-BCDC-2609-7F81D274B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164324"/>
            <a:ext cx="11978640" cy="2387600"/>
          </a:xfrm>
        </p:spPr>
        <p:txBody>
          <a:bodyPr rtlCol="0" anchor="ctr" anchorCtr="0">
            <a:no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Hands-on Machine Learning with Scikit-Learn, 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&amp; TensorFlow</a:t>
            </a:r>
            <a:b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Chapter 14. Deep Computer Vision Using Convolutional Neural Networks</a:t>
            </a:r>
            <a:b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0FF70074-E1FB-9700-9E55-DB591C8B7B06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951A79B-F5FA-2600-3FB1-2870B077F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226" y="3033065"/>
            <a:ext cx="2410124" cy="321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1549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32AB4-36DC-291C-982B-B4A6CFF9B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F7A96B3-4486-FCE2-605C-FD19CA09B2EE}"/>
              </a:ext>
            </a:extLst>
          </p:cNvPr>
          <p:cNvSpPr/>
          <p:nvPr/>
        </p:nvSpPr>
        <p:spPr>
          <a:xfrm>
            <a:off x="561975" y="1765518"/>
            <a:ext cx="8048625" cy="6252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D547ED8-4C5E-8D3E-58DA-854ED855312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Contents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CAE47E79-09BC-2D58-9A2B-098AE77478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D14CB4C-135D-3D5B-7C0F-5EDB5B8B013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C3AFD-ACC4-A543-C58C-9E457996BEA6}"/>
              </a:ext>
            </a:extLst>
          </p:cNvPr>
          <p:cNvSpPr txBox="1"/>
          <p:nvPr/>
        </p:nvSpPr>
        <p:spPr>
          <a:xfrm>
            <a:off x="723900" y="1765518"/>
            <a:ext cx="10439400" cy="262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 err="1">
                <a:latin typeface="D2Coding" panose="020B0609020101020101" pitchFamily="49" charset="-127"/>
                <a:ea typeface="D2Coding" panose="020B0609020101020101" pitchFamily="49" charset="-127"/>
                <a:cs typeface="Cascadia Code SemiLight" panose="020B0609020000020004" pitchFamily="49" charset="0"/>
              </a:rPr>
              <a:t>Depthwise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  <a:cs typeface="Cascadia Code SemiLight" panose="020B0609020000020004" pitchFamily="49" charset="0"/>
              </a:rPr>
              <a:t> separable convolution layer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  <a:cs typeface="Cascadia Code SemiLight" panose="020B0609020000020004" pitchFamily="49" charset="0"/>
              </a:rPr>
              <a:t>Classification &amp; location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  <a:cs typeface="Cascadia Code SemiLight" panose="020B0609020000020004" pitchFamily="49" charset="0"/>
              </a:rPr>
              <a:t>Object detection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Cascadia Code SemiLight" panose="020B0609020000020004" pitchFamily="49" charset="0"/>
              </a:rPr>
              <a:t>Fully Convolutional Network(FCN)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Cascadia Code SemiLight" panose="020B0609020000020004" pitchFamily="49" charset="0"/>
              </a:rPr>
              <a:t>You Only Look Once(YOLO)</a:t>
            </a:r>
            <a:endParaRPr lang="ko-KR" altLang="en-US" sz="2400" dirty="0">
              <a:latin typeface="D2Coding" panose="020B0609020101020101" pitchFamily="49" charset="-127"/>
              <a:ea typeface="D2Coding" panose="020B0609020101020101" pitchFamily="49" charset="-127"/>
              <a:cs typeface="Cascadia Code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963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0597D-6AC1-F329-53F0-F4C31DD57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ACAC7DF-F3E0-9C56-1F3D-AF3BF43280E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 err="1"/>
              <a:t>Xception</a:t>
            </a:r>
            <a:r>
              <a:rPr lang="en-US" altLang="ko-KR" b="1" cap="none" dirty="0"/>
              <a:t> 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01B4AD75-026F-A503-116E-CC5AECD01A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E0AA64B-3022-A160-5C64-95CFF7E63F3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9383711-B6A9-1395-05B3-A1BFF2A46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95" y="1774334"/>
            <a:ext cx="6379204" cy="39932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235A659-4186-399D-241A-B0B223DE24F0}"/>
              </a:ext>
            </a:extLst>
          </p:cNvPr>
          <p:cNvSpPr txBox="1"/>
          <p:nvPr/>
        </p:nvSpPr>
        <p:spPr>
          <a:xfrm>
            <a:off x="7105045" y="1774334"/>
            <a:ext cx="4639280" cy="42604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일반적인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레이어는 공간 패턴(예: 타원형)과 채널 간 패턴(예: 입 + 코 + 눈 = 얼굴)을 동시에 포착하려는 필터를 사용하는 반면, 분리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Depthwise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separable convolution layer)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는 공간 패턴과 채널 간 패턴을 서로 독립적으로 모델링할 수 있다는 강한 가정을 바탕으로 작동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따라서 두 단계로 구성되며 첫 번째 부분은 각 입력 피처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맵마다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단일 공간 필터를 적용하고, 두 번째 부분은 채널 간 패턴만 전담하여 탐색하는데 이는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(1,1)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필터를 사용하는 일반적인 </a:t>
            </a:r>
            <a:r>
              <a:rPr lang="ko-KR" altLang="en-US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레이어를 적용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D5FAA9-A196-D260-F17D-841A336FA35C}"/>
              </a:ext>
            </a:extLst>
          </p:cNvPr>
          <p:cNvSpPr txBox="1"/>
          <p:nvPr/>
        </p:nvSpPr>
        <p:spPr>
          <a:xfrm>
            <a:off x="532795" y="581977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Depthwise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separable convolutional layer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E02367-678F-40EF-8065-30CCD4C735F6}"/>
              </a:ext>
            </a:extLst>
          </p:cNvPr>
          <p:cNvSpPr txBox="1"/>
          <p:nvPr/>
        </p:nvSpPr>
        <p:spPr>
          <a:xfrm>
            <a:off x="542320" y="6139533"/>
            <a:ext cx="58383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Hands-on Machine Learning with Scikit-Learn,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Keras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TensorFlow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59377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319DB-7E22-ABDE-EAD4-452F9A266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A65D07C-FA9D-6C05-854D-52EC632ED4A0}"/>
              </a:ext>
            </a:extLst>
          </p:cNvPr>
          <p:cNvSpPr/>
          <p:nvPr/>
        </p:nvSpPr>
        <p:spPr>
          <a:xfrm>
            <a:off x="561975" y="2346543"/>
            <a:ext cx="8048625" cy="6252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1B83FCE-95DE-5F2D-6BC9-3478E1C1C0D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Contents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9772F3DC-DD20-51A9-32E5-AC126BDDA0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9311FBA-9CF7-3769-883E-D029F7A5AFB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B9A0DC-7360-72F4-35CF-F799D100C79F}"/>
              </a:ext>
            </a:extLst>
          </p:cNvPr>
          <p:cNvSpPr txBox="1"/>
          <p:nvPr/>
        </p:nvSpPr>
        <p:spPr>
          <a:xfrm>
            <a:off x="723900" y="1765518"/>
            <a:ext cx="10439400" cy="262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 err="1">
                <a:latin typeface="D2Coding" panose="020B0609020101020101" pitchFamily="49" charset="-127"/>
                <a:ea typeface="D2Coding" panose="020B0609020101020101" pitchFamily="49" charset="-127"/>
                <a:cs typeface="Cascadia Code SemiLight" panose="020B0609020000020004" pitchFamily="49" charset="0"/>
              </a:rPr>
              <a:t>Depthwise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  <a:cs typeface="Cascadia Code SemiLight" panose="020B0609020000020004" pitchFamily="49" charset="0"/>
              </a:rPr>
              <a:t> separable convolution layer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  <a:cs typeface="Cascadia Code SemiLight" panose="020B0609020000020004" pitchFamily="49" charset="0"/>
              </a:rPr>
              <a:t>Classification &amp; location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  <a:cs typeface="Cascadia Code SemiLight" panose="020B0609020000020004" pitchFamily="49" charset="0"/>
              </a:rPr>
              <a:t>Object detection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Cascadia Code SemiLight" panose="020B0609020000020004" pitchFamily="49" charset="0"/>
              </a:rPr>
              <a:t>Fully Convolutional Network(FCN)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Cascadia Code SemiLight" panose="020B0609020000020004" pitchFamily="49" charset="0"/>
              </a:rPr>
              <a:t>You Only Look Once(YOLO)</a:t>
            </a:r>
            <a:endParaRPr lang="ko-KR" altLang="en-US" sz="2400" dirty="0">
              <a:latin typeface="D2Coding" panose="020B0609020101020101" pitchFamily="49" charset="-127"/>
              <a:ea typeface="D2Coding" panose="020B0609020101020101" pitchFamily="49" charset="-127"/>
              <a:cs typeface="Cascadia Code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6512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1F97E-608D-4E8D-2838-89FC50251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E57C508-38C5-A75A-C22F-3B860B29622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Classification and localization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A48D1A9B-8128-9367-75E6-22BF13FE69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EA5EAC5-9F7F-E804-DE4A-6E3A0C0D069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2BF89F-326A-C374-F2DC-1975EDF5E04C}"/>
              </a:ext>
            </a:extLst>
          </p:cNvPr>
          <p:cNvSpPr txBox="1"/>
          <p:nvPr/>
        </p:nvSpPr>
        <p:spPr>
          <a:xfrm>
            <a:off x="585932" y="1219847"/>
            <a:ext cx="11130423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이미지에서 하나의 객체의 위치를 찾는 것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(Localization)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객체 주위에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바운딩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박스를 예측하기 위해 객체 중심의 가로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세로 좌표와 높이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너비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개를 회귀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(Regression)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작업과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Label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대한 분류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(classification)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동시에 수행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7229E7-B4D9-6AC5-A568-B646BD5255A4}"/>
              </a:ext>
            </a:extLst>
          </p:cNvPr>
          <p:cNvSpPr txBox="1"/>
          <p:nvPr/>
        </p:nvSpPr>
        <p:spPr>
          <a:xfrm>
            <a:off x="1057274" y="2211065"/>
            <a:ext cx="9544051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Minimize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L_loc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pred_cx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true_cx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)² +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pred_cy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true_cy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)² +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pred_h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true_h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)² +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pred_w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true_w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)²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1F565A1-76D9-D67F-CAFD-E30DB5022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45" y="2682615"/>
            <a:ext cx="6410668" cy="33643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D81535-9768-432F-4814-6FE3A131EB84}"/>
              </a:ext>
            </a:extLst>
          </p:cNvPr>
          <p:cNvSpPr txBox="1"/>
          <p:nvPr/>
        </p:nvSpPr>
        <p:spPr>
          <a:xfrm>
            <a:off x="1020045" y="604696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Intersection over Union 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metric for bounding boxes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8526BB-DE4C-310B-9545-18F1D05321A5}"/>
              </a:ext>
            </a:extLst>
          </p:cNvPr>
          <p:cNvSpPr txBox="1"/>
          <p:nvPr/>
        </p:nvSpPr>
        <p:spPr>
          <a:xfrm>
            <a:off x="7772400" y="2984212"/>
            <a:ext cx="23145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검증단계에서만 평가 지표로 사용 </a:t>
            </a:r>
            <a:endParaRPr lang="ko-KR" alt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325F73-DD41-AB72-EC35-7DF826D8F129}"/>
              </a:ext>
            </a:extLst>
          </p:cNvPr>
          <p:cNvSpPr txBox="1"/>
          <p:nvPr/>
        </p:nvSpPr>
        <p:spPr>
          <a:xfrm>
            <a:off x="1057274" y="6333168"/>
            <a:ext cx="58383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Hands-on Machine Learning with Scikit-Learn,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Keras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TensorFlow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9161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1135E-CB3F-6AE4-6CF9-83C1B2734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8A23DB7-6C32-7A00-55C8-7E3A71DCF2B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Classification and localization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D81E2BC7-3FF5-D0E7-CDE6-83F51CC81E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5FC18BD-AAA9-C5E8-9BC9-62546BB9E20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4D1EA6-E468-92CA-F59F-CD0546F96F91}"/>
              </a:ext>
            </a:extLst>
          </p:cNvPr>
          <p:cNvSpPr txBox="1"/>
          <p:nvPr/>
        </p:nvSpPr>
        <p:spPr>
          <a:xfrm>
            <a:off x="627061" y="1295601"/>
            <a:ext cx="10983914" cy="5262979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1. 사전 학습된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Xception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모델 로드 (기반 모델)</a:t>
            </a:r>
          </a:p>
          <a:p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base_model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keras.applications.xception.Xception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weights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imagenet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include_top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False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모델 최상단의 기존 분류기(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Dense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층)를 제거하고 특성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추출기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Feature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Extractor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)만 사용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2. 글로벌 평균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풀링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(Global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Average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Pooling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적용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특성 맵(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높이x너비x채널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)의 공간 차원(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높이,너비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)을 평균 내어 1차원 벡터(채널 수)로 압축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위치에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구애받지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않고 이미지 전체 특성 요약 정보 추출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avg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keras.layers.GlobalAveragePooling2D()(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base_model.output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3. [출력 1] 이미지 분류(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Classification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레이어</a:t>
            </a:r>
          </a:p>
          <a:p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class_output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keras.layers.Dense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n_classes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")(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avg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# 분류할 클래스에 속할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확률값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(합이 1)을 출력</a:t>
            </a:r>
          </a:p>
          <a:p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4. [출력 2] 위치 추정(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Localization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레이어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유닛 수 4: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바운딩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박스를 구성하는 4개 수치 (중심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중심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너비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높이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loc_output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keras.layers.Dense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(4)(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avg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연속적인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좌표값을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예측하는 회귀(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Regression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)이므로 활성화 함수를 사용하지 않음 (선형 출력)</a:t>
            </a:r>
          </a:p>
          <a:p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5. 다중 출력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모델 생성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Xception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모델의 입력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텐서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두 개의 출력 층[분류 출력, 위치 출력]을 리스트로 묶어 전달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keras.Model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base_model.input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=[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class_output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loc_output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])</a:t>
            </a:r>
          </a:p>
          <a:p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6. 모델 컴파일 (손실 함수, 가중치,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옵티마이저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설정)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각 출력에 맞춤 적용되는 손실 함수 리스트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  -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class_output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-&gt; '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sparse_categorical_crossentropy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' (다중 클래스 정수 라벨 분류용)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  -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loc_output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-&gt; '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mse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' 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Mean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Squared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Error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연속된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좌표값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오차 측정용)</a:t>
            </a:r>
          </a:p>
          <a:p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model.compile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=["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sparse_categorical_crossentropy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mse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"],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loss_weights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=[0.8, 0.2],  #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loss_weights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전체 손실 계산 시 두 손실의 비중 조절(총 손실 = 0.8 * 분류손실 + 0.2 * 위치손실)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metrics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=["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accuracy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"]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514352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32E70-DF29-9194-FC54-B7F398334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78EFE2D-7005-7876-EE8B-B7E3E007551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Classification and localization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8BC070C7-BC06-3B39-8DCF-49EF96839B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36555CB-E32D-AF61-2443-C944FCF27882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C59090-BF1B-9411-56FB-C3A9318D5F2C}"/>
              </a:ext>
            </a:extLst>
          </p:cNvPr>
          <p:cNvSpPr txBox="1"/>
          <p:nvPr/>
        </p:nvSpPr>
        <p:spPr>
          <a:xfrm>
            <a:off x="2074773" y="3212067"/>
            <a:ext cx="8469401" cy="9684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한 이미지에 여러 객체가 존재하는 경우에는 출력의 개수가 가변적이기 때문에 </a:t>
            </a:r>
            <a:r>
              <a:rPr lang="ko-KR" altLang="en-US" sz="2000" b="1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객체 탐지</a:t>
            </a:r>
            <a:r>
              <a:rPr lang="en-US" altLang="ko-KR" sz="2000" b="1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(Object Detection)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기법을 사용</a:t>
            </a:r>
            <a:endParaRPr lang="ko-KR" altLang="en-US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6348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CF02D-B903-1C35-4D7A-DCD70CAEB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817381C-2C65-5C3D-2AE5-EE905592EEE8}"/>
              </a:ext>
            </a:extLst>
          </p:cNvPr>
          <p:cNvSpPr/>
          <p:nvPr/>
        </p:nvSpPr>
        <p:spPr>
          <a:xfrm>
            <a:off x="561975" y="2994244"/>
            <a:ext cx="8048625" cy="4252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C130F05-7CCD-03EE-3EE7-5D508C942A5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Contents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DCB49FDF-02EC-0765-5699-479B847934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8DD917C-267C-EF25-D56F-C6A22AFF03B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D8832D-FE28-08F6-B677-CE71363A383F}"/>
              </a:ext>
            </a:extLst>
          </p:cNvPr>
          <p:cNvSpPr txBox="1"/>
          <p:nvPr/>
        </p:nvSpPr>
        <p:spPr>
          <a:xfrm>
            <a:off x="723900" y="1765518"/>
            <a:ext cx="10439400" cy="262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 err="1">
                <a:latin typeface="D2Coding" panose="020B0609020101020101" pitchFamily="49" charset="-127"/>
                <a:ea typeface="D2Coding" panose="020B0609020101020101" pitchFamily="49" charset="-127"/>
                <a:cs typeface="Cascadia Code SemiLight" panose="020B0609020000020004" pitchFamily="49" charset="0"/>
              </a:rPr>
              <a:t>Depthwise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  <a:cs typeface="Cascadia Code SemiLight" panose="020B0609020000020004" pitchFamily="49" charset="0"/>
              </a:rPr>
              <a:t> separable convolution layer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  <a:cs typeface="Cascadia Code SemiLight" panose="020B0609020000020004" pitchFamily="49" charset="0"/>
              </a:rPr>
              <a:t>Classification &amp; location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  <a:cs typeface="Cascadia Code SemiLight" panose="020B0609020000020004" pitchFamily="49" charset="0"/>
              </a:rPr>
              <a:t>Object detection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Cascadia Code SemiLight" panose="020B0609020000020004" pitchFamily="49" charset="0"/>
              </a:rPr>
              <a:t>Fully Convolutional Network(FCN)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Cascadia Code SemiLight" panose="020B0609020000020004" pitchFamily="49" charset="0"/>
              </a:rPr>
              <a:t>You Only Look Once(YOLO)</a:t>
            </a:r>
            <a:endParaRPr lang="ko-KR" altLang="en-US" sz="2400" dirty="0">
              <a:latin typeface="D2Coding" panose="020B0609020101020101" pitchFamily="49" charset="-127"/>
              <a:ea typeface="D2Coding" panose="020B0609020101020101" pitchFamily="49" charset="-127"/>
              <a:cs typeface="Cascadia Code SemiLight" panose="020B06090200000200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1A2CC7-6A5A-6391-F98E-84C1249895F5}"/>
              </a:ext>
            </a:extLst>
          </p:cNvPr>
          <p:cNvSpPr/>
          <p:nvPr/>
        </p:nvSpPr>
        <p:spPr>
          <a:xfrm>
            <a:off x="1009650" y="3495675"/>
            <a:ext cx="7581900" cy="8885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7103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B2C9E-825F-96BC-A390-E33717F21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0E6B041-A80D-8012-EFBD-8E410D1E601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Object</a:t>
            </a:r>
            <a:r>
              <a:rPr lang="ko-KR" altLang="en-US" b="1" cap="none" dirty="0"/>
              <a:t> </a:t>
            </a:r>
            <a:r>
              <a:rPr lang="en-US" altLang="ko-KR" b="1" cap="none" dirty="0"/>
              <a:t>detection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C6B081A-DD79-DC98-F769-EC74CFF4BE1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0B479BF-4BE2-6360-4F7A-D26109065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22" y="2150148"/>
            <a:ext cx="5284659" cy="38064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4D25C7-034E-D2FE-FD93-62DFADB86326}"/>
              </a:ext>
            </a:extLst>
          </p:cNvPr>
          <p:cNvSpPr txBox="1"/>
          <p:nvPr/>
        </p:nvSpPr>
        <p:spPr>
          <a:xfrm>
            <a:off x="504522" y="1198397"/>
            <a:ext cx="11182955" cy="791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이미지 내에서 여러 객체를 분류하고 위치를 찾는 작업을 객체 탐지</a:t>
            </a:r>
            <a: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(Object Detection)</a:t>
            </a:r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라고 </a:t>
            </a: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하며 </a:t>
            </a:r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단일 객체를 분류하고 위치를 찾기</a:t>
            </a:r>
            <a: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위해 </a:t>
            </a:r>
            <a: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pretrained</a:t>
            </a:r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CNN</a:t>
            </a:r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을 가져와 이미지 위에서 슬라이딩</a:t>
            </a:r>
            <a: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슬라이딩 윈도우</a:t>
            </a:r>
            <a: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시키는 </a:t>
            </a: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접근 방법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E622E3-34A8-1059-8A16-AB3C6F8BAA29}"/>
              </a:ext>
            </a:extLst>
          </p:cNvPr>
          <p:cNvSpPr txBox="1"/>
          <p:nvPr/>
        </p:nvSpPr>
        <p:spPr>
          <a:xfrm>
            <a:off x="373190" y="598357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Detecting multiple objects by sliding a CNN across the image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23EE08-A26B-B5A2-1EE7-84E3F56915BD}"/>
              </a:ext>
            </a:extLst>
          </p:cNvPr>
          <p:cNvSpPr txBox="1"/>
          <p:nvPr/>
        </p:nvSpPr>
        <p:spPr>
          <a:xfrm>
            <a:off x="5828103" y="2153655"/>
            <a:ext cx="5735247" cy="36649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격자 분할 및 검은색 상자 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(3,3) Sliding Window: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이미지를 </a:t>
            </a:r>
            <a:r>
              <a:rPr lang="en-US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6,8) 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격자로 분할한 후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검은색 두꺼운 </a:t>
            </a:r>
            <a:r>
              <a:rPr lang="en-US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(3,3)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영역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(CNN)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을 화살표 방향으로 한 칸씩 이동시키며 객체를 탐지</a:t>
            </a:r>
            <a:endParaRPr lang="en-US" altLang="ko-KR" sz="1200" i="0" u="none" strike="noStrike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 rtl="0" fontAlgn="base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빨간색 </a:t>
            </a:r>
            <a:r>
              <a:rPr lang="ko-KR" altLang="en-US" sz="1200" i="0" u="none" strike="noStrike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바운딩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박스 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중복 예측 발생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윈도우가 이동할 때마다 동일한 꽃이 반복 검출되어 이동 경로상에 위치한 객체는 여러 개의 중복된 빨간색 상자로 감지</a:t>
            </a:r>
            <a:endParaRPr lang="en-US" altLang="ko-KR" sz="1200" i="0" u="none" strike="noStrike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 rtl="0" fontAlgn="base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박스 두께 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i="0" u="none" strike="noStrike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Objectness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Score):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중앙 상단 장미 위의 두꺼운 빨간색 상자는 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객체성 점수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꽃이 존재할 확률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)'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 가장 높음</a:t>
            </a:r>
            <a:endParaRPr lang="en-US" altLang="ko-KR" sz="1200" i="0" u="none" strike="noStrike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 rtl="0" fontAlgn="base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NMS(</a:t>
            </a:r>
            <a:r>
              <a:rPr lang="ko-KR" altLang="en-US" sz="1200" i="0" u="none" strike="noStrike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비최대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억제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적용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가장 두꺼운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점수가 높은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상자와 높은 비율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i="0" u="none" strike="noStrike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60% 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이상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 겹치는 주변의 얇은 빨간색 상자들을 순차적으로 제거하여 최종 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개의 상자만 남김</a:t>
            </a:r>
            <a:endParaRPr lang="en-US" altLang="ko-KR" sz="1200" i="0" u="none" strike="noStrike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 rtl="0" fontAlgn="base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치명적 단점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단일 이미지를 수십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~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수백 번 나누어 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CNN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 통과시켜야 하므로 </a:t>
            </a:r>
            <a:r>
              <a:rPr lang="ko-KR" altLang="en-US" sz="1200" i="0" u="none" strike="noStrike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연산량이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매우 많고 속도가 느림</a:t>
            </a:r>
            <a:endParaRPr lang="en-US" altLang="ko-KR" sz="1200" i="0" u="none" strike="noStrike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0567C3-E1C3-3DFB-84D7-A0FAFF3F2AAB}"/>
              </a:ext>
            </a:extLst>
          </p:cNvPr>
          <p:cNvSpPr txBox="1"/>
          <p:nvPr/>
        </p:nvSpPr>
        <p:spPr>
          <a:xfrm>
            <a:off x="373190" y="6222128"/>
            <a:ext cx="58383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Hands-on Machine Learning with Scikit-Learn,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Keras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TensorFlow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72648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01291-65B8-2607-A763-35978B2EE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1103A78-68E8-3D11-979E-0F379E14767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Object</a:t>
            </a:r>
            <a:r>
              <a:rPr lang="ko-KR" altLang="en-US" b="1" cap="none" dirty="0"/>
              <a:t> </a:t>
            </a:r>
            <a:r>
              <a:rPr lang="en-US" altLang="ko-KR" b="1" cap="none" dirty="0"/>
              <a:t>detection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F38DC3E-636F-014F-6DE4-581671C359A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AB3F19-AA13-4959-3E7B-F51CA1D700F0}"/>
              </a:ext>
            </a:extLst>
          </p:cNvPr>
          <p:cNvSpPr txBox="1"/>
          <p:nvPr/>
        </p:nvSpPr>
        <p:spPr>
          <a:xfrm>
            <a:off x="1613434" y="3233645"/>
            <a:ext cx="9282648" cy="129631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spcAft>
                <a:spcPts val="1200"/>
              </a:spcAft>
              <a:buNone/>
            </a:pP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단순한 객체 탐지 접근법은 잘 작동하지만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CNN</a:t>
            </a: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을 매우 많이 실행해야 하므로 속도가 상당히 느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리지만 </a:t>
            </a: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완전 </a:t>
            </a:r>
            <a:r>
              <a:rPr lang="ko-KR" altLang="en-US" b="0" i="0" u="none" strike="noStrike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신경망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(FCN)</a:t>
            </a: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을 사용하면 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CNN</a:t>
            </a: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을 이미지 위로 훨씬 빠르게 </a:t>
            </a:r>
            <a:r>
              <a:rPr lang="ko-KR" altLang="en-US" b="0" i="0" u="none" strike="noStrike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슬라이딩시킬</a:t>
            </a: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수 있음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17581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FCF0E-8279-5950-B1BF-6EC66B29A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17ED156-85F9-6361-3035-1239A3E2769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FCN(Fully Convolutional Network) for Semantic Segmentation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D2CE9B3E-06D9-44DF-9A00-76DE6680F8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3A01D30-844C-E202-00FE-426847097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53" y="1336802"/>
            <a:ext cx="10319554" cy="51306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설명선: 굽은 선 12">
            <a:extLst>
              <a:ext uri="{FF2B5EF4-FFF2-40B4-BE49-F238E27FC236}">
                <a16:creationId xmlns:a16="http://schemas.microsoft.com/office/drawing/2014/main" id="{C662D493-A15E-6095-12C4-C4746D856562}"/>
              </a:ext>
            </a:extLst>
          </p:cNvPr>
          <p:cNvSpPr/>
          <p:nvPr/>
        </p:nvSpPr>
        <p:spPr>
          <a:xfrm>
            <a:off x="9302881" y="2072607"/>
            <a:ext cx="2254652" cy="1042068"/>
          </a:xfrm>
          <a:prstGeom prst="borderCallout2">
            <a:avLst>
              <a:gd name="adj1" fmla="val 51656"/>
              <a:gd name="adj2" fmla="val -3171"/>
              <a:gd name="adj3" fmla="val 112897"/>
              <a:gd name="adj4" fmla="val -17404"/>
              <a:gd name="adj5" fmla="val 240184"/>
              <a:gd name="adj6" fmla="val -28713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마지막 레이어에 적힌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21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이라는 숫자는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21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클래스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배경 포함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픽셀 단위로 분류</a:t>
            </a:r>
            <a:endParaRPr lang="ko-KR" altLang="en-US" sz="1400" dirty="0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F3D8F0D-9E88-8710-0959-0475B5207D0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5DE9B88-4D6A-25F7-D71C-1D90700F3170}"/>
              </a:ext>
            </a:extLst>
          </p:cNvPr>
          <p:cNvSpPr/>
          <p:nvPr/>
        </p:nvSpPr>
        <p:spPr>
          <a:xfrm>
            <a:off x="8562976" y="4533900"/>
            <a:ext cx="400050" cy="4000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682945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0085E-8E42-EAA1-2327-AF0809A20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1F84641-E76E-51D9-16BC-CD1742F5603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FCN-</a:t>
            </a:r>
            <a:r>
              <a:rPr lang="en-US" altLang="ko-KR" sz="2800" cap="none" dirty="0" err="1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AlexNet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4A1D01D5-DA1D-BFE3-3942-D88AD7393A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5BFF79C-DD29-C4BD-3D8B-4DDC32EE1B3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57FA43-B461-5374-BF12-3BD81F763B9E}"/>
              </a:ext>
            </a:extLst>
          </p:cNvPr>
          <p:cNvGraphicFramePr>
            <a:graphicFrameLocks noGrp="1"/>
          </p:cNvGraphicFramePr>
          <p:nvPr/>
        </p:nvGraphicFramePr>
        <p:xfrm>
          <a:off x="1152965" y="2090073"/>
          <a:ext cx="10190869" cy="3752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6309">
                  <a:extLst>
                    <a:ext uri="{9D8B030D-6E8A-4147-A177-3AD203B41FA5}">
                      <a16:colId xmlns:a16="http://schemas.microsoft.com/office/drawing/2014/main" val="940722227"/>
                    </a:ext>
                  </a:extLst>
                </a:gridCol>
                <a:gridCol w="1571644">
                  <a:extLst>
                    <a:ext uri="{9D8B030D-6E8A-4147-A177-3AD203B41FA5}">
                      <a16:colId xmlns:a16="http://schemas.microsoft.com/office/drawing/2014/main" val="1139710273"/>
                    </a:ext>
                  </a:extLst>
                </a:gridCol>
                <a:gridCol w="5111978">
                  <a:extLst>
                    <a:ext uri="{9D8B030D-6E8A-4147-A177-3AD203B41FA5}">
                      <a16:colId xmlns:a16="http://schemas.microsoft.com/office/drawing/2014/main" val="2489588790"/>
                    </a:ext>
                  </a:extLst>
                </a:gridCol>
                <a:gridCol w="3010938">
                  <a:extLst>
                    <a:ext uri="{9D8B030D-6E8A-4147-A177-3AD203B41FA5}">
                      <a16:colId xmlns:a16="http://schemas.microsoft.com/office/drawing/2014/main" val="1137752753"/>
                    </a:ext>
                  </a:extLst>
                </a:gridCol>
              </a:tblGrid>
              <a:tr h="3127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단계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레이어</a:t>
                      </a: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구간 명칭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주요 연산 및 기능 요약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출력 </a:t>
                      </a:r>
                      <a:r>
                        <a:rPr lang="ko-KR" altLang="en-US" sz="1400" u="none" strike="noStrike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텐서</a:t>
                      </a: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규격 </a:t>
                      </a: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(Tensor Shape)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6686765"/>
                  </a:ext>
                </a:extLst>
              </a:tr>
              <a:tr h="3127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RGB 3</a:t>
                      </a:r>
                      <a:r>
                        <a:rPr lang="ko-KR" altLang="en-US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채널 원본 이미지 입력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[B, 3, 224, 224]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10455691"/>
                  </a:ext>
                </a:extLst>
              </a:tr>
              <a:tr h="3127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Conv1 Block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11x11 Conv (Stride 4) + Max Pooling (96</a:t>
                      </a:r>
                      <a:r>
                        <a:rPr lang="ko-KR" altLang="en-US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채널</a:t>
                      </a:r>
                      <a:r>
                        <a:rPr lang="en-US" altLang="ko-KR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[B, 96, 27, 27]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83972508"/>
                  </a:ext>
                </a:extLst>
              </a:tr>
              <a:tr h="3127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Conv2 Block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5x5 Conv + Max Pooling (256</a:t>
                      </a:r>
                      <a:r>
                        <a:rPr lang="ko-KR" altLang="en-US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채널</a:t>
                      </a:r>
                      <a:r>
                        <a:rPr lang="en-US" altLang="ko-KR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[B, 256, 13, 13]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6249581"/>
                  </a:ext>
                </a:extLst>
              </a:tr>
              <a:tr h="3127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Conv3 Block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3x3 Conv (384</a:t>
                      </a:r>
                      <a:r>
                        <a:rPr lang="ko-KR" altLang="en-US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채널</a:t>
                      </a:r>
                      <a:r>
                        <a:rPr lang="en-US" altLang="ko-KR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[B, 384, 13, 13]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27098761"/>
                  </a:ext>
                </a:extLst>
              </a:tr>
              <a:tr h="3127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Conv4 Block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3x3 Conv (384</a:t>
                      </a:r>
                      <a:r>
                        <a:rPr lang="ko-KR" altLang="en-US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채널</a:t>
                      </a:r>
                      <a:r>
                        <a:rPr lang="en-US" altLang="ko-KR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[B, 384, 13, 13]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90518307"/>
                  </a:ext>
                </a:extLst>
              </a:tr>
              <a:tr h="3127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Conv5 Block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3x3 Conv + Max Pooling (256</a:t>
                      </a: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채널</a:t>
                      </a: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pool5)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[B, 256, 6, 6]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32328773"/>
                  </a:ext>
                </a:extLst>
              </a:tr>
              <a:tr h="3127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fc6 (conv6)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6x6 Conv </a:t>
                      </a:r>
                      <a:r>
                        <a:rPr lang="ko-KR" altLang="en-US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연산으로 </a:t>
                      </a:r>
                      <a:r>
                        <a:rPr lang="en-US" altLang="ko-KR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FC </a:t>
                      </a:r>
                      <a:r>
                        <a:rPr lang="ko-KR" altLang="en-US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레이어 전환 </a:t>
                      </a:r>
                      <a:r>
                        <a:rPr lang="en-US" altLang="ko-KR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(4096</a:t>
                      </a:r>
                      <a:r>
                        <a:rPr lang="ko-KR" altLang="en-US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채널</a:t>
                      </a:r>
                      <a:r>
                        <a:rPr lang="en-US" altLang="ko-KR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[B, 4096, 1, 1]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60538386"/>
                  </a:ext>
                </a:extLst>
              </a:tr>
              <a:tr h="3127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7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fc7 (conv7)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1x1 Conv </a:t>
                      </a: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적용 </a:t>
                      </a: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(4096</a:t>
                      </a: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채널</a:t>
                      </a: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[B, 4096, 1, 1]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9820748"/>
                  </a:ext>
                </a:extLst>
              </a:tr>
              <a:tr h="3127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8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Score Layer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1x1 Conv </a:t>
                      </a: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적용 </a:t>
                      </a: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(21</a:t>
                      </a: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채널로 축소</a:t>
                      </a: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[B, 21, 1, 1]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17233355"/>
                  </a:ext>
                </a:extLst>
              </a:tr>
              <a:tr h="3127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9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FCN-32s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32x Deconvolution (1x1 -&gt; 224x224 </a:t>
                      </a: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복원</a:t>
                      </a: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[B, 21, 224, 224]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707440856"/>
                  </a:ext>
                </a:extLst>
              </a:tr>
              <a:tr h="3127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Output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각 픽셀별 </a:t>
                      </a: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21</a:t>
                      </a: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 채널 중 </a:t>
                      </a: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Max </a:t>
                      </a:r>
                      <a:r>
                        <a:rPr lang="ko-KR" altLang="en-US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값으로 클래스 결정 </a:t>
                      </a:r>
                      <a:r>
                        <a:rPr lang="en-US" altLang="ko-K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(Argmax)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u="none" strike="noStrike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[B, 224, 224] (Segmentation Map)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040244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AA92E73-83C0-0EC1-8499-601F8E21DBB6}"/>
              </a:ext>
            </a:extLst>
          </p:cNvPr>
          <p:cNvSpPr txBox="1"/>
          <p:nvPr/>
        </p:nvSpPr>
        <p:spPr>
          <a:xfrm>
            <a:off x="542924" y="1232163"/>
            <a:ext cx="11039475" cy="42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Score Layer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채널 수를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개로 맞춘 이유는 분류하고자 하는 클래스의 총개수가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F0FC1E3-5C38-3B22-3D78-A4761B68AFC2}"/>
              </a:ext>
            </a:extLst>
          </p:cNvPr>
          <p:cNvSpPr/>
          <p:nvPr/>
        </p:nvSpPr>
        <p:spPr>
          <a:xfrm>
            <a:off x="847725" y="4829175"/>
            <a:ext cx="10801350" cy="4238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5505507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AD5A0-A991-0460-C32A-935014509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직사각형 72">
            <a:extLst>
              <a:ext uri="{FF2B5EF4-FFF2-40B4-BE49-F238E27FC236}">
                <a16:creationId xmlns:a16="http://schemas.microsoft.com/office/drawing/2014/main" id="{674DAFB3-E94C-09A1-D809-9274480285B4}"/>
              </a:ext>
            </a:extLst>
          </p:cNvPr>
          <p:cNvSpPr/>
          <p:nvPr/>
        </p:nvSpPr>
        <p:spPr>
          <a:xfrm>
            <a:off x="7075316" y="2726836"/>
            <a:ext cx="4012429" cy="29017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566E74A-0D6A-8A23-86C3-3F744641BF6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FCN-</a:t>
            </a:r>
            <a:r>
              <a:rPr lang="en-US" altLang="ko-KR" sz="2800" cap="none" dirty="0" err="1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AlexNet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F639CD7-C517-EC11-CED5-C6B6ADA8C5F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33C27D-B2BA-D9DB-84F1-0DB1BA9F5D24}"/>
              </a:ext>
            </a:extLst>
          </p:cNvPr>
          <p:cNvSpPr txBox="1"/>
          <p:nvPr/>
        </p:nvSpPr>
        <p:spPr>
          <a:xfrm>
            <a:off x="542924" y="1232163"/>
            <a:ext cx="1103947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Score Layer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채널 수를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개로 맞춘 이유는 분류하고자 하는 객체 클래스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비행기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자전거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병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버스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자동차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고양이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식탁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오토바이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화분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양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소파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TV) +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배경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</a:p>
        </p:txBody>
      </p:sp>
      <p:sp>
        <p:nvSpPr>
          <p:cNvPr id="52" name="Rectangle 1">
            <a:extLst>
              <a:ext uri="{FF2B5EF4-FFF2-40B4-BE49-F238E27FC236}">
                <a16:creationId xmlns:a16="http://schemas.microsoft.com/office/drawing/2014/main" id="{8FFF56AF-6DED-F5D0-233A-7480F39A4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235" y="2763286"/>
            <a:ext cx="6046969" cy="25984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채널의 역할 (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Score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Map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Heatmap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채널이 21개가 되면, 출력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텐서의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각 채널</a:t>
            </a:r>
            <a:r>
              <a:rPr kumimoji="0" lang="en-US" altLang="ko-KR" sz="14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하나하나가 특정 클래스 하나에 대응하는 공간 점수 지도(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Score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Map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역할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예를 들어:</a:t>
            </a: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0번 채널: 해당 픽셀이 '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배경'일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확률/점수</a:t>
            </a: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1번 채널: 해당 픽셀이 '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비행기'일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확률/점수</a:t>
            </a: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7번 채널: 해당 픽셀이 '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고양이'일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확률/점수</a:t>
            </a: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...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02EEB1E-8C4E-94B1-2485-3DA753D43261}"/>
              </a:ext>
            </a:extLst>
          </p:cNvPr>
          <p:cNvSpPr txBox="1"/>
          <p:nvPr/>
        </p:nvSpPr>
        <p:spPr>
          <a:xfrm>
            <a:off x="8825272" y="5082111"/>
            <a:ext cx="2262473" cy="42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Score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Map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/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Heatmap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EDAF650E-3D99-E0BA-1919-6805F41FD1C8}"/>
              </a:ext>
            </a:extLst>
          </p:cNvPr>
          <p:cNvGrpSpPr/>
          <p:nvPr/>
        </p:nvGrpSpPr>
        <p:grpSpPr>
          <a:xfrm>
            <a:off x="7075316" y="2559417"/>
            <a:ext cx="3096731" cy="3017448"/>
            <a:chOff x="7075316" y="2559417"/>
            <a:chExt cx="3096731" cy="3017448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7766290C-98D5-0176-3106-8EB001B63797}"/>
                </a:ext>
              </a:extLst>
            </p:cNvPr>
            <p:cNvGrpSpPr/>
            <p:nvPr/>
          </p:nvGrpSpPr>
          <p:grpSpPr>
            <a:xfrm>
              <a:off x="7075316" y="2559417"/>
              <a:ext cx="2813162" cy="3017448"/>
              <a:chOff x="2326335" y="2535619"/>
              <a:chExt cx="2813162" cy="3017448"/>
            </a:xfrm>
          </p:grpSpPr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F2F2A582-A009-212B-5E61-675C3150F883}"/>
                  </a:ext>
                </a:extLst>
              </p:cNvPr>
              <p:cNvSpPr/>
              <p:nvPr/>
            </p:nvSpPr>
            <p:spPr>
              <a:xfrm>
                <a:off x="4496750" y="2964815"/>
                <a:ext cx="642747" cy="634583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9F9E8E5C-6769-2C5B-F529-044CBAD7F8C4}"/>
                  </a:ext>
                </a:extLst>
              </p:cNvPr>
              <p:cNvSpPr/>
              <p:nvPr/>
            </p:nvSpPr>
            <p:spPr>
              <a:xfrm>
                <a:off x="4340922" y="3111136"/>
                <a:ext cx="642747" cy="634583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7048D004-FA28-8F64-2C74-0B7EE3EEF487}"/>
                  </a:ext>
                </a:extLst>
              </p:cNvPr>
              <p:cNvSpPr/>
              <p:nvPr/>
            </p:nvSpPr>
            <p:spPr>
              <a:xfrm>
                <a:off x="4190617" y="3270043"/>
                <a:ext cx="642747" cy="634583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B27A8B85-44A5-2477-6E9B-68FD0E93F025}"/>
                  </a:ext>
                </a:extLst>
              </p:cNvPr>
              <p:cNvSpPr/>
              <p:nvPr/>
            </p:nvSpPr>
            <p:spPr>
              <a:xfrm>
                <a:off x="3322415" y="4146355"/>
                <a:ext cx="642747" cy="63458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057B4925-5820-C973-F001-33B98032E746}"/>
                  </a:ext>
                </a:extLst>
              </p:cNvPr>
              <p:cNvSpPr/>
              <p:nvPr/>
            </p:nvSpPr>
            <p:spPr>
              <a:xfrm>
                <a:off x="3096958" y="4373580"/>
                <a:ext cx="642747" cy="63458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EBE1BBC9-F5F3-BB30-8CC2-BF7AD1F1E60B}"/>
                  </a:ext>
                </a:extLst>
              </p:cNvPr>
              <p:cNvSpPr/>
              <p:nvPr/>
            </p:nvSpPr>
            <p:spPr>
              <a:xfrm>
                <a:off x="2905125" y="4553712"/>
                <a:ext cx="642747" cy="63458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04F1B561-6FBA-59FA-9D80-471099064A4C}"/>
                  </a:ext>
                </a:extLst>
              </p:cNvPr>
              <p:cNvSpPr/>
              <p:nvPr/>
            </p:nvSpPr>
            <p:spPr>
              <a:xfrm>
                <a:off x="3991449" y="3496634"/>
                <a:ext cx="642747" cy="63458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정육면체 21">
                <a:extLst>
                  <a:ext uri="{FF2B5EF4-FFF2-40B4-BE49-F238E27FC236}">
                    <a16:creationId xmlns:a16="http://schemas.microsoft.com/office/drawing/2014/main" id="{7B4136E7-0347-785E-E2DE-DD713E908F8E}"/>
                  </a:ext>
                </a:extLst>
              </p:cNvPr>
              <p:cNvSpPr/>
              <p:nvPr/>
            </p:nvSpPr>
            <p:spPr>
              <a:xfrm>
                <a:off x="2905125" y="2965450"/>
                <a:ext cx="2228850" cy="2222845"/>
              </a:xfrm>
              <a:prstGeom prst="cube">
                <a:avLst>
                  <a:gd name="adj" fmla="val 71279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오른쪽 중괄호 46">
                <a:extLst>
                  <a:ext uri="{FF2B5EF4-FFF2-40B4-BE49-F238E27FC236}">
                    <a16:creationId xmlns:a16="http://schemas.microsoft.com/office/drawing/2014/main" id="{869B55E9-C794-3E51-307A-6E60A7F8926B}"/>
                  </a:ext>
                </a:extLst>
              </p:cNvPr>
              <p:cNvSpPr/>
              <p:nvPr/>
            </p:nvSpPr>
            <p:spPr>
              <a:xfrm rot="13475167">
                <a:off x="3304710" y="2535619"/>
                <a:ext cx="223691" cy="2040566"/>
              </a:xfrm>
              <a:prstGeom prst="rightBrace">
                <a:avLst>
                  <a:gd name="adj1" fmla="val 37576"/>
                  <a:gd name="adj2" fmla="val 50000"/>
                </a:avLst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3ABA18-CC29-3AE6-9DB6-13275C1B0938}"/>
                  </a:ext>
                </a:extLst>
              </p:cNvPr>
              <p:cNvSpPr txBox="1"/>
              <p:nvPr/>
            </p:nvSpPr>
            <p:spPr>
              <a:xfrm>
                <a:off x="2326335" y="3176334"/>
                <a:ext cx="136450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21 channels</a:t>
                </a:r>
                <a:endParaRPr lang="ko-KR" altLang="en-US" sz="1400" dirty="0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25DA85A-761B-197D-465E-1B685482FB92}"/>
                  </a:ext>
                </a:extLst>
              </p:cNvPr>
              <p:cNvSpPr txBox="1"/>
              <p:nvPr/>
            </p:nvSpPr>
            <p:spPr>
              <a:xfrm>
                <a:off x="2497942" y="4676839"/>
                <a:ext cx="3735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1</a:t>
                </a:r>
                <a:endParaRPr lang="ko-KR" altLang="en-US" sz="1400" dirty="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0491CA8-A265-8D70-1E2E-D487E6189A56}"/>
                  </a:ext>
                </a:extLst>
              </p:cNvPr>
              <p:cNvSpPr txBox="1"/>
              <p:nvPr/>
            </p:nvSpPr>
            <p:spPr>
              <a:xfrm>
                <a:off x="3008586" y="5245290"/>
                <a:ext cx="3735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1</a:t>
                </a:r>
                <a:endParaRPr lang="ko-KR" altLang="en-US" sz="1400" dirty="0"/>
              </a:p>
            </p:txBody>
          </p:sp>
        </p:grpSp>
        <p:pic>
          <p:nvPicPr>
            <p:cNvPr id="58" name="그래픽 57" descr="고양이">
              <a:extLst>
                <a:ext uri="{FF2B5EF4-FFF2-40B4-BE49-F238E27FC236}">
                  <a16:creationId xmlns:a16="http://schemas.microsoft.com/office/drawing/2014/main" id="{4070CE4D-BDD9-BF3F-9ED3-BD360A896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98974" y="4206187"/>
              <a:ext cx="480012" cy="480012"/>
            </a:xfrm>
            <a:prstGeom prst="rect">
              <a:avLst/>
            </a:prstGeom>
          </p:spPr>
        </p:pic>
        <p:pic>
          <p:nvPicPr>
            <p:cNvPr id="60" name="그래픽 59" descr="토끼">
              <a:extLst>
                <a:ext uri="{FF2B5EF4-FFF2-40B4-BE49-F238E27FC236}">
                  <a16:creationId xmlns:a16="http://schemas.microsoft.com/office/drawing/2014/main" id="{1A1AB4BF-B0D3-361A-C0DA-E5AB523B4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97626" y="3363787"/>
              <a:ext cx="480012" cy="480012"/>
            </a:xfrm>
            <a:prstGeom prst="rect">
              <a:avLst/>
            </a:prstGeom>
          </p:spPr>
        </p:pic>
        <p:pic>
          <p:nvPicPr>
            <p:cNvPr id="62" name="그래픽 61" descr="벌새">
              <a:extLst>
                <a:ext uri="{FF2B5EF4-FFF2-40B4-BE49-F238E27FC236}">
                  <a16:creationId xmlns:a16="http://schemas.microsoft.com/office/drawing/2014/main" id="{82413AE0-E8A9-B8B2-1321-949886EDEF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084670" y="2990534"/>
              <a:ext cx="480012" cy="480012"/>
            </a:xfrm>
            <a:prstGeom prst="rect">
              <a:avLst/>
            </a:prstGeom>
          </p:spPr>
        </p:pic>
        <p:pic>
          <p:nvPicPr>
            <p:cNvPr id="64" name="그래픽 63" descr="사슴">
              <a:extLst>
                <a:ext uri="{FF2B5EF4-FFF2-40B4-BE49-F238E27FC236}">
                  <a16:creationId xmlns:a16="http://schemas.microsoft.com/office/drawing/2014/main" id="{78870243-3651-6327-F0F5-ECD841543F8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692035" y="2978963"/>
              <a:ext cx="480012" cy="480012"/>
            </a:xfrm>
            <a:prstGeom prst="rect">
              <a:avLst/>
            </a:prstGeom>
          </p:spPr>
        </p:pic>
        <p:pic>
          <p:nvPicPr>
            <p:cNvPr id="68" name="그래픽 67" descr="수신기">
              <a:extLst>
                <a:ext uri="{FF2B5EF4-FFF2-40B4-BE49-F238E27FC236}">
                  <a16:creationId xmlns:a16="http://schemas.microsoft.com/office/drawing/2014/main" id="{4682A079-FCE4-6740-E100-9E4F95D3B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125996" y="4307177"/>
              <a:ext cx="480012" cy="480012"/>
            </a:xfrm>
            <a:prstGeom prst="rect">
              <a:avLst/>
            </a:prstGeom>
          </p:spPr>
        </p:pic>
        <p:pic>
          <p:nvPicPr>
            <p:cNvPr id="70" name="그래픽 69" descr="신발">
              <a:extLst>
                <a:ext uri="{FF2B5EF4-FFF2-40B4-BE49-F238E27FC236}">
                  <a16:creationId xmlns:a16="http://schemas.microsoft.com/office/drawing/2014/main" id="{7E49F504-3AEB-66E1-738D-71BE0BD65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797767" y="4683418"/>
              <a:ext cx="480012" cy="480012"/>
            </a:xfrm>
            <a:prstGeom prst="rect">
              <a:avLst/>
            </a:prstGeom>
          </p:spPr>
        </p:pic>
        <p:pic>
          <p:nvPicPr>
            <p:cNvPr id="72" name="그래픽 71" descr="바지">
              <a:extLst>
                <a:ext uri="{FF2B5EF4-FFF2-40B4-BE49-F238E27FC236}">
                  <a16:creationId xmlns:a16="http://schemas.microsoft.com/office/drawing/2014/main" id="{C8B85229-61FF-5923-4C0C-BDF45EF9E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796559" y="3774777"/>
              <a:ext cx="480012" cy="4800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510669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446DE-FA5C-3049-E82A-DC1215F5D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사각형: 둥근 모서리 166">
            <a:extLst>
              <a:ext uri="{FF2B5EF4-FFF2-40B4-BE49-F238E27FC236}">
                <a16:creationId xmlns:a16="http://schemas.microsoft.com/office/drawing/2014/main" id="{C64D8E94-EDB7-9C92-FBA4-F8B6F6CDE11F}"/>
              </a:ext>
            </a:extLst>
          </p:cNvPr>
          <p:cNvSpPr/>
          <p:nvPr/>
        </p:nvSpPr>
        <p:spPr>
          <a:xfrm>
            <a:off x="483624" y="2381250"/>
            <a:ext cx="11281902" cy="4177330"/>
          </a:xfrm>
          <a:prstGeom prst="roundRect">
            <a:avLst>
              <a:gd name="adj" fmla="val 345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16A536A-CD1E-9122-08C8-D98A0C77608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AlexNet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8DC2E82-94D1-EA7D-6DEC-CE1F32458AC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333638B-7163-FC3D-7489-5FE9AEAE4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573" y="1259918"/>
            <a:ext cx="11083501" cy="98264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21개 채널로 확장 및 복원된 최종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텐서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[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21,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]에서 각 픽셀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위치를 세로로 가로질러 21개 채널의 값을 비교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하여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21개 값 중 가장 높은 점수를 가진 채널의 인덱스(0~20)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선택하여 최종 [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 크기의 픽셀 단위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맵으로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완성(예: 7번 채널 점수가 가장 높으면 그 픽셀은 고양이로 판정)</a:t>
            </a:r>
          </a:p>
        </p:txBody>
      </p: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CB0666AC-549E-4D2D-A77B-221E7107E628}"/>
              </a:ext>
            </a:extLst>
          </p:cNvPr>
          <p:cNvGrpSpPr/>
          <p:nvPr/>
        </p:nvGrpSpPr>
        <p:grpSpPr>
          <a:xfrm>
            <a:off x="8542000" y="2628065"/>
            <a:ext cx="3101053" cy="2595998"/>
            <a:chOff x="800634" y="2761880"/>
            <a:chExt cx="4088295" cy="3716883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86F4434-B8A9-9AC3-E129-1B5D4F4FB0A3}"/>
                </a:ext>
              </a:extLst>
            </p:cNvPr>
            <p:cNvSpPr/>
            <p:nvPr/>
          </p:nvSpPr>
          <p:spPr>
            <a:xfrm>
              <a:off x="1003264" y="3305175"/>
              <a:ext cx="3885665" cy="31735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1" name="그래픽 10" descr="고양이">
              <a:extLst>
                <a:ext uri="{FF2B5EF4-FFF2-40B4-BE49-F238E27FC236}">
                  <a16:creationId xmlns:a16="http://schemas.microsoft.com/office/drawing/2014/main" id="{8AA7D191-F9FA-3065-5622-DF78832F0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69161" y="4129885"/>
              <a:ext cx="718015" cy="718015"/>
            </a:xfrm>
            <a:prstGeom prst="rect">
              <a:avLst/>
            </a:prstGeom>
          </p:spPr>
        </p:pic>
        <p:pic>
          <p:nvPicPr>
            <p:cNvPr id="12" name="그래픽 11" descr="토끼">
              <a:extLst>
                <a:ext uri="{FF2B5EF4-FFF2-40B4-BE49-F238E27FC236}">
                  <a16:creationId xmlns:a16="http://schemas.microsoft.com/office/drawing/2014/main" id="{6B24F183-8075-8E28-929A-E36EE214FB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95021" y="5290451"/>
              <a:ext cx="668448" cy="668448"/>
            </a:xfrm>
            <a:prstGeom prst="rect">
              <a:avLst/>
            </a:prstGeom>
          </p:spPr>
        </p:pic>
        <p:pic>
          <p:nvPicPr>
            <p:cNvPr id="13" name="그래픽 12" descr="벌새">
              <a:extLst>
                <a:ext uri="{FF2B5EF4-FFF2-40B4-BE49-F238E27FC236}">
                  <a16:creationId xmlns:a16="http://schemas.microsoft.com/office/drawing/2014/main" id="{8B3ED5F2-8204-04D3-D621-4A4AF4DAD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68942" y="3507904"/>
              <a:ext cx="637623" cy="637623"/>
            </a:xfrm>
            <a:prstGeom prst="rect">
              <a:avLst/>
            </a:prstGeom>
          </p:spPr>
        </p:pic>
        <p:pic>
          <p:nvPicPr>
            <p:cNvPr id="14" name="그래픽 13" descr="사슴">
              <a:extLst>
                <a:ext uri="{FF2B5EF4-FFF2-40B4-BE49-F238E27FC236}">
                  <a16:creationId xmlns:a16="http://schemas.microsoft.com/office/drawing/2014/main" id="{F8F953A7-F7D5-B999-B010-BCD847AD9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150308" y="4220378"/>
              <a:ext cx="983012" cy="983012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4F896E-4A8D-CA0B-D282-FD5489A3757B}"/>
                </a:ext>
              </a:extLst>
            </p:cNvPr>
            <p:cNvSpPr txBox="1"/>
            <p:nvPr/>
          </p:nvSpPr>
          <p:spPr>
            <a:xfrm>
              <a:off x="800634" y="2761880"/>
              <a:ext cx="3739518" cy="440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224 x</a:t>
              </a:r>
              <a:r>
                <a:rPr lang="ko-KR" altLang="en-US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224 pixel,</a:t>
              </a:r>
              <a:r>
                <a:rPr lang="ko-KR" altLang="en-US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1</a:t>
              </a:r>
              <a:r>
                <a:rPr lang="ko-KR" altLang="en-US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channels</a:t>
              </a:r>
              <a:endParaRPr lang="ko-KR" altLang="en-US" sz="1400" dirty="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304A1AC-463F-0A8E-1CCB-AD5DA761BC62}"/>
                </a:ext>
              </a:extLst>
            </p:cNvPr>
            <p:cNvSpPr/>
            <p:nvPr/>
          </p:nvSpPr>
          <p:spPr>
            <a:xfrm>
              <a:off x="995237" y="3305105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C96CF56-722D-70F7-3772-7E054D74FE66}"/>
                </a:ext>
              </a:extLst>
            </p:cNvPr>
            <p:cNvSpPr/>
            <p:nvPr/>
          </p:nvSpPr>
          <p:spPr>
            <a:xfrm>
              <a:off x="1259224" y="3305105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34DA538C-839C-CA2E-3721-119DE3A94D1B}"/>
                </a:ext>
              </a:extLst>
            </p:cNvPr>
            <p:cNvSpPr/>
            <p:nvPr/>
          </p:nvSpPr>
          <p:spPr>
            <a:xfrm>
              <a:off x="1523211" y="3305105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3916E692-189E-66BD-E51D-82B61DAA056F}"/>
                </a:ext>
              </a:extLst>
            </p:cNvPr>
            <p:cNvSpPr/>
            <p:nvPr/>
          </p:nvSpPr>
          <p:spPr>
            <a:xfrm>
              <a:off x="1787198" y="3305105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8DA07C14-8E82-5534-988D-FBB61A2572D7}"/>
                </a:ext>
              </a:extLst>
            </p:cNvPr>
            <p:cNvSpPr/>
            <p:nvPr/>
          </p:nvSpPr>
          <p:spPr>
            <a:xfrm>
              <a:off x="2051185" y="3305105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53405BE2-7A19-EDB9-5BB0-45DF1AFFFDFB}"/>
                </a:ext>
              </a:extLst>
            </p:cNvPr>
            <p:cNvSpPr/>
            <p:nvPr/>
          </p:nvSpPr>
          <p:spPr>
            <a:xfrm>
              <a:off x="2315172" y="3305105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AF2DDEC-EE76-D2C5-E3B1-018C1F787CD4}"/>
                </a:ext>
              </a:extLst>
            </p:cNvPr>
            <p:cNvSpPr/>
            <p:nvPr/>
          </p:nvSpPr>
          <p:spPr>
            <a:xfrm>
              <a:off x="2579161" y="3305105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7D4716BA-29CB-6551-57B9-934EBD815705}"/>
                </a:ext>
              </a:extLst>
            </p:cNvPr>
            <p:cNvSpPr/>
            <p:nvPr/>
          </p:nvSpPr>
          <p:spPr>
            <a:xfrm>
              <a:off x="995237" y="3581330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2DDA3A68-9F34-9244-126A-DA624B5E0E91}"/>
                </a:ext>
              </a:extLst>
            </p:cNvPr>
            <p:cNvSpPr/>
            <p:nvPr/>
          </p:nvSpPr>
          <p:spPr>
            <a:xfrm>
              <a:off x="1259224" y="3581330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2A8B6470-2684-DAF2-594C-608345580059}"/>
                </a:ext>
              </a:extLst>
            </p:cNvPr>
            <p:cNvSpPr/>
            <p:nvPr/>
          </p:nvSpPr>
          <p:spPr>
            <a:xfrm>
              <a:off x="1523211" y="3581330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7F23E5E-21AE-0A65-C8F3-F124C2D2B5A1}"/>
                </a:ext>
              </a:extLst>
            </p:cNvPr>
            <p:cNvSpPr/>
            <p:nvPr/>
          </p:nvSpPr>
          <p:spPr>
            <a:xfrm>
              <a:off x="1787198" y="3581330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4247049E-7AE0-3FE2-8930-F348DDD28B9A}"/>
                </a:ext>
              </a:extLst>
            </p:cNvPr>
            <p:cNvSpPr/>
            <p:nvPr/>
          </p:nvSpPr>
          <p:spPr>
            <a:xfrm>
              <a:off x="2051185" y="3581330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C1A98EDF-7BB1-0044-5D1D-71E7709BE792}"/>
                </a:ext>
              </a:extLst>
            </p:cNvPr>
            <p:cNvSpPr/>
            <p:nvPr/>
          </p:nvSpPr>
          <p:spPr>
            <a:xfrm>
              <a:off x="2315172" y="3581330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363801F2-777B-8AE0-6BDF-51B26AEA8D05}"/>
                </a:ext>
              </a:extLst>
            </p:cNvPr>
            <p:cNvSpPr/>
            <p:nvPr/>
          </p:nvSpPr>
          <p:spPr>
            <a:xfrm>
              <a:off x="2579161" y="3581330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67" name="그림 66">
            <a:extLst>
              <a:ext uri="{FF2B5EF4-FFF2-40B4-BE49-F238E27FC236}">
                <a16:creationId xmlns:a16="http://schemas.microsoft.com/office/drawing/2014/main" id="{F5853C91-05F4-AF08-BEBD-6CC3C54E90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7153" y="5225680"/>
            <a:ext cx="2045900" cy="1275184"/>
          </a:xfrm>
          <a:prstGeom prst="rect">
            <a:avLst/>
          </a:prstGeom>
          <a:ln>
            <a:noFill/>
          </a:ln>
        </p:spPr>
      </p:pic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0B06E35D-7105-B13B-8128-5C5348F35831}"/>
              </a:ext>
            </a:extLst>
          </p:cNvPr>
          <p:cNvGrpSpPr/>
          <p:nvPr/>
        </p:nvGrpSpPr>
        <p:grpSpPr>
          <a:xfrm>
            <a:off x="4740421" y="3380163"/>
            <a:ext cx="2692024" cy="2324075"/>
            <a:chOff x="7099397" y="2559417"/>
            <a:chExt cx="3072650" cy="2652676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5DC83272-EA8D-7350-C231-81A017DF78A1}"/>
                </a:ext>
              </a:extLst>
            </p:cNvPr>
            <p:cNvGrpSpPr/>
            <p:nvPr/>
          </p:nvGrpSpPr>
          <p:grpSpPr>
            <a:xfrm>
              <a:off x="7099397" y="2559417"/>
              <a:ext cx="2789081" cy="2652676"/>
              <a:chOff x="2350416" y="2535619"/>
              <a:chExt cx="2789081" cy="2652676"/>
            </a:xfrm>
          </p:grpSpPr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B7BDC8C8-144C-F96F-4BDF-D813B14E42F1}"/>
                  </a:ext>
                </a:extLst>
              </p:cNvPr>
              <p:cNvSpPr/>
              <p:nvPr/>
            </p:nvSpPr>
            <p:spPr>
              <a:xfrm>
                <a:off x="4496750" y="2964815"/>
                <a:ext cx="642747" cy="634583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7C637393-EE80-F2EF-2486-2AC7D87F62A8}"/>
                  </a:ext>
                </a:extLst>
              </p:cNvPr>
              <p:cNvSpPr/>
              <p:nvPr/>
            </p:nvSpPr>
            <p:spPr>
              <a:xfrm>
                <a:off x="4340922" y="3111136"/>
                <a:ext cx="642747" cy="634583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CA23F8A5-F5B9-C955-C358-FC989393E71C}"/>
                  </a:ext>
                </a:extLst>
              </p:cNvPr>
              <p:cNvSpPr/>
              <p:nvPr/>
            </p:nvSpPr>
            <p:spPr>
              <a:xfrm>
                <a:off x="4190617" y="3270043"/>
                <a:ext cx="642747" cy="634583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77C747CE-B4CA-281B-D265-D40ECDB3F707}"/>
                  </a:ext>
                </a:extLst>
              </p:cNvPr>
              <p:cNvSpPr/>
              <p:nvPr/>
            </p:nvSpPr>
            <p:spPr>
              <a:xfrm>
                <a:off x="3322415" y="4146355"/>
                <a:ext cx="642747" cy="63458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C5D9961F-29A3-D6B6-ECFC-69C4CB789444}"/>
                  </a:ext>
                </a:extLst>
              </p:cNvPr>
              <p:cNvSpPr/>
              <p:nvPr/>
            </p:nvSpPr>
            <p:spPr>
              <a:xfrm>
                <a:off x="3096958" y="4373580"/>
                <a:ext cx="642747" cy="63458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6" name="직사각형 115">
                <a:extLst>
                  <a:ext uri="{FF2B5EF4-FFF2-40B4-BE49-F238E27FC236}">
                    <a16:creationId xmlns:a16="http://schemas.microsoft.com/office/drawing/2014/main" id="{9BC3A6AE-C123-3478-2591-C64F23144C04}"/>
                  </a:ext>
                </a:extLst>
              </p:cNvPr>
              <p:cNvSpPr/>
              <p:nvPr/>
            </p:nvSpPr>
            <p:spPr>
              <a:xfrm>
                <a:off x="2905125" y="4553712"/>
                <a:ext cx="642747" cy="63458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7" name="직사각형 116">
                <a:extLst>
                  <a:ext uri="{FF2B5EF4-FFF2-40B4-BE49-F238E27FC236}">
                    <a16:creationId xmlns:a16="http://schemas.microsoft.com/office/drawing/2014/main" id="{D68AE5C7-3EBE-D5D6-10BE-78A5279D0480}"/>
                  </a:ext>
                </a:extLst>
              </p:cNvPr>
              <p:cNvSpPr/>
              <p:nvPr/>
            </p:nvSpPr>
            <p:spPr>
              <a:xfrm>
                <a:off x="3991449" y="3496634"/>
                <a:ext cx="642747" cy="63458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8" name="정육면체 117">
                <a:extLst>
                  <a:ext uri="{FF2B5EF4-FFF2-40B4-BE49-F238E27FC236}">
                    <a16:creationId xmlns:a16="http://schemas.microsoft.com/office/drawing/2014/main" id="{27320341-EF71-1B25-0596-95E5AB3B6C45}"/>
                  </a:ext>
                </a:extLst>
              </p:cNvPr>
              <p:cNvSpPr/>
              <p:nvPr/>
            </p:nvSpPr>
            <p:spPr>
              <a:xfrm>
                <a:off x="2905125" y="2965450"/>
                <a:ext cx="2228850" cy="2222845"/>
              </a:xfrm>
              <a:prstGeom prst="cube">
                <a:avLst>
                  <a:gd name="adj" fmla="val 71279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9" name="오른쪽 중괄호 118">
                <a:extLst>
                  <a:ext uri="{FF2B5EF4-FFF2-40B4-BE49-F238E27FC236}">
                    <a16:creationId xmlns:a16="http://schemas.microsoft.com/office/drawing/2014/main" id="{36A9DFC1-0121-7A6F-DECC-1B33E598FFAD}"/>
                  </a:ext>
                </a:extLst>
              </p:cNvPr>
              <p:cNvSpPr/>
              <p:nvPr/>
            </p:nvSpPr>
            <p:spPr>
              <a:xfrm rot="13475167">
                <a:off x="3304710" y="2535619"/>
                <a:ext cx="223691" cy="2040566"/>
              </a:xfrm>
              <a:prstGeom prst="rightBrace">
                <a:avLst>
                  <a:gd name="adj1" fmla="val 37576"/>
                  <a:gd name="adj2" fmla="val 50000"/>
                </a:avLst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358F933B-4806-4775-7930-64378416BB2A}"/>
                  </a:ext>
                </a:extLst>
              </p:cNvPr>
              <p:cNvSpPr txBox="1"/>
              <p:nvPr/>
            </p:nvSpPr>
            <p:spPr>
              <a:xfrm>
                <a:off x="2350416" y="2967209"/>
                <a:ext cx="1364503" cy="2848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21 channels</a:t>
                </a:r>
                <a:endParaRPr lang="ko-KR" altLang="en-US" sz="1400" dirty="0"/>
              </a:p>
            </p:txBody>
          </p:sp>
        </p:grpSp>
        <p:pic>
          <p:nvPicPr>
            <p:cNvPr id="104" name="그래픽 103" descr="고양이">
              <a:extLst>
                <a:ext uri="{FF2B5EF4-FFF2-40B4-BE49-F238E27FC236}">
                  <a16:creationId xmlns:a16="http://schemas.microsoft.com/office/drawing/2014/main" id="{3B6B5F4E-3B46-854B-CF6D-E6C440D10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98974" y="4206187"/>
              <a:ext cx="480012" cy="480012"/>
            </a:xfrm>
            <a:prstGeom prst="rect">
              <a:avLst/>
            </a:prstGeom>
          </p:spPr>
        </p:pic>
        <p:pic>
          <p:nvPicPr>
            <p:cNvPr id="105" name="그래픽 104" descr="토끼">
              <a:extLst>
                <a:ext uri="{FF2B5EF4-FFF2-40B4-BE49-F238E27FC236}">
                  <a16:creationId xmlns:a16="http://schemas.microsoft.com/office/drawing/2014/main" id="{C3CDE7BE-16E3-C2D4-8C57-B29E41AC4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97626" y="3363787"/>
              <a:ext cx="480012" cy="480012"/>
            </a:xfrm>
            <a:prstGeom prst="rect">
              <a:avLst/>
            </a:prstGeom>
          </p:spPr>
        </p:pic>
        <p:pic>
          <p:nvPicPr>
            <p:cNvPr id="106" name="그래픽 105" descr="벌새">
              <a:extLst>
                <a:ext uri="{FF2B5EF4-FFF2-40B4-BE49-F238E27FC236}">
                  <a16:creationId xmlns:a16="http://schemas.microsoft.com/office/drawing/2014/main" id="{0C718FF5-5388-4715-A075-718B45243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084670" y="2990534"/>
              <a:ext cx="480012" cy="480012"/>
            </a:xfrm>
            <a:prstGeom prst="rect">
              <a:avLst/>
            </a:prstGeom>
          </p:spPr>
        </p:pic>
        <p:pic>
          <p:nvPicPr>
            <p:cNvPr id="107" name="그래픽 106" descr="사슴">
              <a:extLst>
                <a:ext uri="{FF2B5EF4-FFF2-40B4-BE49-F238E27FC236}">
                  <a16:creationId xmlns:a16="http://schemas.microsoft.com/office/drawing/2014/main" id="{EDDEA459-B3B9-3251-6771-8EFFF9DF7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692035" y="2978963"/>
              <a:ext cx="480012" cy="480012"/>
            </a:xfrm>
            <a:prstGeom prst="rect">
              <a:avLst/>
            </a:prstGeom>
          </p:spPr>
        </p:pic>
        <p:pic>
          <p:nvPicPr>
            <p:cNvPr id="108" name="그래픽 107" descr="수신기">
              <a:extLst>
                <a:ext uri="{FF2B5EF4-FFF2-40B4-BE49-F238E27FC236}">
                  <a16:creationId xmlns:a16="http://schemas.microsoft.com/office/drawing/2014/main" id="{ABE4E84E-3531-5EC1-3145-9A36957E9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125996" y="4307177"/>
              <a:ext cx="480012" cy="480012"/>
            </a:xfrm>
            <a:prstGeom prst="rect">
              <a:avLst/>
            </a:prstGeom>
          </p:spPr>
        </p:pic>
        <p:pic>
          <p:nvPicPr>
            <p:cNvPr id="109" name="그래픽 108" descr="신발">
              <a:extLst>
                <a:ext uri="{FF2B5EF4-FFF2-40B4-BE49-F238E27FC236}">
                  <a16:creationId xmlns:a16="http://schemas.microsoft.com/office/drawing/2014/main" id="{F8189BFB-8A73-8295-11EF-D3C2A169C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797767" y="4683418"/>
              <a:ext cx="480012" cy="480012"/>
            </a:xfrm>
            <a:prstGeom prst="rect">
              <a:avLst/>
            </a:prstGeom>
          </p:spPr>
        </p:pic>
        <p:pic>
          <p:nvPicPr>
            <p:cNvPr id="110" name="그래픽 109" descr="바지">
              <a:extLst>
                <a:ext uri="{FF2B5EF4-FFF2-40B4-BE49-F238E27FC236}">
                  <a16:creationId xmlns:a16="http://schemas.microsoft.com/office/drawing/2014/main" id="{F6C99EF6-ACC9-406B-BA51-CF47F61C8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8796559" y="3774777"/>
              <a:ext cx="480012" cy="480012"/>
            </a:xfrm>
            <a:prstGeom prst="rect">
              <a:avLst/>
            </a:prstGeom>
          </p:spPr>
        </p:pic>
      </p:grp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542512ED-B7BE-9B4C-6727-8393F212F409}"/>
              </a:ext>
            </a:extLst>
          </p:cNvPr>
          <p:cNvSpPr/>
          <p:nvPr/>
        </p:nvSpPr>
        <p:spPr>
          <a:xfrm>
            <a:off x="587047" y="3021839"/>
            <a:ext cx="2657233" cy="21702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D2DB599C-AEA8-DF7B-57C3-5ACE8860B168}"/>
              </a:ext>
            </a:extLst>
          </p:cNvPr>
          <p:cNvSpPr/>
          <p:nvPr/>
        </p:nvSpPr>
        <p:spPr>
          <a:xfrm>
            <a:off x="739447" y="3174239"/>
            <a:ext cx="2657233" cy="21702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D0FB0909-CD1C-B775-AECE-1D30620281CB}"/>
              </a:ext>
            </a:extLst>
          </p:cNvPr>
          <p:cNvSpPr/>
          <p:nvPr/>
        </p:nvSpPr>
        <p:spPr>
          <a:xfrm>
            <a:off x="891847" y="3326639"/>
            <a:ext cx="2657233" cy="21702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6" name="그래픽 125" descr="고양이">
            <a:extLst>
              <a:ext uri="{FF2B5EF4-FFF2-40B4-BE49-F238E27FC236}">
                <a16:creationId xmlns:a16="http://schemas.microsoft.com/office/drawing/2014/main" id="{2E47F384-CAE4-0E06-F203-E44A59E85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628" y="3992168"/>
            <a:ext cx="718015" cy="718015"/>
          </a:xfrm>
          <a:prstGeom prst="rect">
            <a:avLst/>
          </a:prstGeom>
        </p:spPr>
      </p:pic>
      <p:pic>
        <p:nvPicPr>
          <p:cNvPr id="127" name="그래픽 126" descr="토끼">
            <a:extLst>
              <a:ext uri="{FF2B5EF4-FFF2-40B4-BE49-F238E27FC236}">
                <a16:creationId xmlns:a16="http://schemas.microsoft.com/office/drawing/2014/main" id="{03A1BBAB-7342-16AD-149C-F395048C59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13148" y="4780852"/>
            <a:ext cx="668448" cy="668448"/>
          </a:xfrm>
          <a:prstGeom prst="rect">
            <a:avLst/>
          </a:prstGeom>
        </p:spPr>
      </p:pic>
      <p:pic>
        <p:nvPicPr>
          <p:cNvPr id="128" name="그래픽 127" descr="벌새">
            <a:extLst>
              <a:ext uri="{FF2B5EF4-FFF2-40B4-BE49-F238E27FC236}">
                <a16:creationId xmlns:a16="http://schemas.microsoft.com/office/drawing/2014/main" id="{F2765090-1C98-4DA7-89BB-D7F6BEBDB7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59409" y="3370187"/>
            <a:ext cx="637623" cy="637623"/>
          </a:xfrm>
          <a:prstGeom prst="rect">
            <a:avLst/>
          </a:prstGeom>
        </p:spPr>
      </p:pic>
      <p:pic>
        <p:nvPicPr>
          <p:cNvPr id="129" name="그래픽 128" descr="사슴">
            <a:extLst>
              <a:ext uri="{FF2B5EF4-FFF2-40B4-BE49-F238E27FC236}">
                <a16:creationId xmlns:a16="http://schemas.microsoft.com/office/drawing/2014/main" id="{14515B32-9EA4-8601-94EA-1B71CB30F6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40775" y="4082661"/>
            <a:ext cx="983012" cy="983012"/>
          </a:xfrm>
          <a:prstGeom prst="rect">
            <a:avLst/>
          </a:prstGeom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82920A51-7670-957F-DED4-1EF57377AA0E}"/>
              </a:ext>
            </a:extLst>
          </p:cNvPr>
          <p:cNvSpPr txBox="1"/>
          <p:nvPr/>
        </p:nvSpPr>
        <p:spPr>
          <a:xfrm>
            <a:off x="701754" y="2658962"/>
            <a:ext cx="28364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224 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224 pixel,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channels</a:t>
            </a:r>
            <a:endParaRPr lang="ko-KR" altLang="en-US" sz="14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E8AA2C2-4AA7-3BD4-D52C-6157FC01AAA8}"/>
              </a:ext>
            </a:extLst>
          </p:cNvPr>
          <p:cNvSpPr txBox="1"/>
          <p:nvPr/>
        </p:nvSpPr>
        <p:spPr>
          <a:xfrm>
            <a:off x="4604277" y="2709978"/>
            <a:ext cx="31970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Fully Convolutional Network(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FCN)</a:t>
            </a:r>
            <a:endParaRPr lang="ko-KR" altLang="en-US" sz="1400" dirty="0"/>
          </a:p>
        </p:txBody>
      </p: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24D7EF3B-AAF7-345B-2872-9A5D5EB00CA0}"/>
              </a:ext>
            </a:extLst>
          </p:cNvPr>
          <p:cNvCxnSpPr>
            <a:cxnSpLocks/>
          </p:cNvCxnSpPr>
          <p:nvPr/>
        </p:nvCxnSpPr>
        <p:spPr>
          <a:xfrm>
            <a:off x="3259971" y="3021839"/>
            <a:ext cx="1974710" cy="212376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617A5DD3-D74F-CC76-AC43-24C07019B7F8}"/>
              </a:ext>
            </a:extLst>
          </p:cNvPr>
          <p:cNvCxnSpPr>
            <a:cxnSpLocks/>
          </p:cNvCxnSpPr>
          <p:nvPr/>
        </p:nvCxnSpPr>
        <p:spPr>
          <a:xfrm>
            <a:off x="3562625" y="5475172"/>
            <a:ext cx="1672056" cy="22906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71368AC-2E34-7D16-E73A-1FE05DE37447}"/>
              </a:ext>
            </a:extLst>
          </p:cNvPr>
          <p:cNvCxnSpPr>
            <a:cxnSpLocks/>
          </p:cNvCxnSpPr>
          <p:nvPr/>
        </p:nvCxnSpPr>
        <p:spPr>
          <a:xfrm flipV="1">
            <a:off x="5798554" y="3021839"/>
            <a:ext cx="2875365" cy="2170275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CDA0F498-32B8-4BFD-3984-ECFF40A42500}"/>
              </a:ext>
            </a:extLst>
          </p:cNvPr>
          <p:cNvCxnSpPr>
            <a:cxnSpLocks/>
          </p:cNvCxnSpPr>
          <p:nvPr/>
        </p:nvCxnSpPr>
        <p:spPr>
          <a:xfrm flipV="1">
            <a:off x="5730298" y="5192114"/>
            <a:ext cx="2970239" cy="497392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335AFD14-11DC-044B-1E63-A5EE2250A105}"/>
              </a:ext>
            </a:extLst>
          </p:cNvPr>
          <p:cNvCxnSpPr>
            <a:cxnSpLocks/>
          </p:cNvCxnSpPr>
          <p:nvPr/>
        </p:nvCxnSpPr>
        <p:spPr>
          <a:xfrm>
            <a:off x="4018003" y="4641915"/>
            <a:ext cx="508237" cy="51926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6666716D-AC1C-3902-B3D5-C26BC52AC396}"/>
              </a:ext>
            </a:extLst>
          </p:cNvPr>
          <p:cNvCxnSpPr>
            <a:cxnSpLocks/>
          </p:cNvCxnSpPr>
          <p:nvPr/>
        </p:nvCxnSpPr>
        <p:spPr>
          <a:xfrm flipV="1">
            <a:off x="6951073" y="4672771"/>
            <a:ext cx="656884" cy="468987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설명선: 굽은 선 64">
            <a:extLst>
              <a:ext uri="{FF2B5EF4-FFF2-40B4-BE49-F238E27FC236}">
                <a16:creationId xmlns:a16="http://schemas.microsoft.com/office/drawing/2014/main" id="{BD692CBD-AD87-3800-1CDF-FC6629B28A14}"/>
              </a:ext>
            </a:extLst>
          </p:cNvPr>
          <p:cNvSpPr/>
          <p:nvPr/>
        </p:nvSpPr>
        <p:spPr>
          <a:xfrm>
            <a:off x="6990339" y="5669400"/>
            <a:ext cx="2645903" cy="716460"/>
          </a:xfrm>
          <a:prstGeom prst="borderCallout2">
            <a:avLst>
              <a:gd name="adj1" fmla="val -15979"/>
              <a:gd name="adj2" fmla="val 43146"/>
              <a:gd name="adj3" fmla="val -142404"/>
              <a:gd name="adj4" fmla="val 49210"/>
              <a:gd name="adj5" fmla="val -321428"/>
              <a:gd name="adj6" fmla="val 76450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224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224 = 총 50,176개의 각 픽셀 위치마다 0부터 20 사이의 정수(ID)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</a:t>
            </a:r>
            <a:endParaRPr lang="ko-KR" altLang="ko-KR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8DB91EA-3126-481B-08DB-16DD4479AE21}"/>
              </a:ext>
            </a:extLst>
          </p:cNvPr>
          <p:cNvSpPr txBox="1"/>
          <p:nvPr/>
        </p:nvSpPr>
        <p:spPr>
          <a:xfrm>
            <a:off x="3537614" y="4302272"/>
            <a:ext cx="9607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(225, 224)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2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7C9FD150-CD51-C5FD-54D7-82995A4534D8}"/>
              </a:ext>
            </a:extLst>
          </p:cNvPr>
          <p:cNvSpPr txBox="1"/>
          <p:nvPr/>
        </p:nvSpPr>
        <p:spPr>
          <a:xfrm>
            <a:off x="4128393" y="5208245"/>
            <a:ext cx="9607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(1, 1)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200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C642971-C25F-16CD-6056-0B34075B2ACC}"/>
              </a:ext>
            </a:extLst>
          </p:cNvPr>
          <p:cNvSpPr txBox="1"/>
          <p:nvPr/>
        </p:nvSpPr>
        <p:spPr>
          <a:xfrm>
            <a:off x="7384065" y="4292167"/>
            <a:ext cx="9607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(225, 224)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200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180A914D-EE86-0717-55CF-C31C07AB7CA5}"/>
              </a:ext>
            </a:extLst>
          </p:cNvPr>
          <p:cNvSpPr txBox="1"/>
          <p:nvPr/>
        </p:nvSpPr>
        <p:spPr>
          <a:xfrm>
            <a:off x="6455828" y="5216911"/>
            <a:ext cx="9607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(1, 1)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769213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92C21-BD3C-36A2-15A3-E89F21349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F7997AF-D0A1-4ABE-5D01-78CE897F72E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FCN-</a:t>
            </a:r>
            <a:r>
              <a:rPr lang="en-US" altLang="ko-KR" sz="2800" cap="none" dirty="0" err="1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AlexNet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4AB1C55-C95D-A15F-E48F-E5FCD4F0EF7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C73DC4D-42B5-067C-6B0E-42731C210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573" y="1259918"/>
            <a:ext cx="11083501" cy="98264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다중 객체를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포함하는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(224, 224)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원본 이미지를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Fully Convolutional Network(FCN)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구조를 거치며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 x 1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형태의 고차원 공간 특징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(21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채널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으로 추출한 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이를 다시 원본 해상도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(224, 224)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32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배 확대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(Deconvolution)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하여 픽셀 단위로 최종 클래스를 분류하는 연산 과정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A9032BF-2404-B3DD-ADA2-0444EF13D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73" y="2584322"/>
            <a:ext cx="5932408" cy="30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8D0E4F5-94EA-A9CA-2AE7-602FE3133E21}"/>
              </a:ext>
            </a:extLst>
          </p:cNvPr>
          <p:cNvSpPr txBox="1"/>
          <p:nvPr/>
        </p:nvSpPr>
        <p:spPr>
          <a:xfrm>
            <a:off x="565573" y="5719626"/>
            <a:ext cx="58766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Fully convolutional networks can efficiently learn to make dense predictions for per-pixel tasks like semantic segmentation.</a:t>
            </a:r>
            <a:endParaRPr lang="ko-KR" altLang="en-US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F5F8CC-74FA-AB85-7160-42FCB1E1FA18}"/>
              </a:ext>
            </a:extLst>
          </p:cNvPr>
          <p:cNvSpPr txBox="1"/>
          <p:nvPr/>
        </p:nvSpPr>
        <p:spPr>
          <a:xfrm>
            <a:off x="6566432" y="2577434"/>
            <a:ext cx="5149318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pixelwise prediction 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픽셀 단위 예측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기존 분류 모델처럼 이미지 전체에 대해 하나의 라벨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"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개와 고양이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만 내놓는 것이 아니라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원본 이미지의 모든 픽셀 하나하나마다 어떤 클래스인지 개별적으로 예측한 지도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(Feature Map/Score Map)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36F7DA-21AE-F9E0-A865-566B3FC88D86}"/>
              </a:ext>
            </a:extLst>
          </p:cNvPr>
          <p:cNvSpPr txBox="1"/>
          <p:nvPr/>
        </p:nvSpPr>
        <p:spPr>
          <a:xfrm>
            <a:off x="6566432" y="4439144"/>
            <a:ext cx="514931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segmentation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g.t.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세그멘테이션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정답 데이터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g.t.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Ground Truth(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정답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실제값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의 줄임말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사람이 직접 이미지 상의 개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고양이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배경 영역을 정교하게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라벨링해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둔 실제 정답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세그멘테이션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지도를 의미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모델은 자신이 예측한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pixelwise prediction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과 이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segmentation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g.t.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를 비교하여 학습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(backward/learning)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을 진행</a:t>
            </a:r>
          </a:p>
        </p:txBody>
      </p:sp>
    </p:spTree>
    <p:extLst>
      <p:ext uri="{BB962C8B-B14F-4D97-AF65-F5344CB8AC3E}">
        <p14:creationId xmlns:p14="http://schemas.microsoft.com/office/powerpoint/2010/main" val="7807925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BDD57-4C18-FF8D-A95F-A51DC0AFA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DF799-83A2-2D6C-4FF2-494BE00A1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164324"/>
            <a:ext cx="9858375" cy="2387600"/>
          </a:xfrm>
        </p:spPr>
        <p:txBody>
          <a:bodyPr rtlCol="0" anchor="ctr" anchorCtr="0">
            <a:no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YOLO</a:t>
            </a:r>
            <a:br>
              <a:rPr lang="en-US" altLang="ko-KR" sz="3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3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You Look Only Once</a:t>
            </a:r>
            <a:endParaRPr lang="ko-KR" altLang="en-US" sz="3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91081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02734-AA6A-E730-3531-0054C5EEA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DFADB4A-FE33-2CB5-920A-08149AB4CC4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2. YOLO: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YOLO Object Detection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686F96D-48F0-A770-6A20-E3AC1FC84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2271044"/>
            <a:ext cx="9153007" cy="4282156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4D42A75-55A6-D0EA-687B-4F1DEE0F17D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CA8B57-B87B-36EE-05E7-A3D419028FD4}"/>
              </a:ext>
            </a:extLst>
          </p:cNvPr>
          <p:cNvSpPr txBox="1"/>
          <p:nvPr/>
        </p:nvSpPr>
        <p:spPr>
          <a:xfrm>
            <a:off x="552449" y="1162697"/>
            <a:ext cx="11163905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격자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(Grid)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기반 예측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K-Means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앵커 박스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다중 스케일 학습을 결합하여 실시간 속도와 높은 정확도를 동시에 달성한 대표적인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1-Stage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객체 탐지 모델</a:t>
            </a:r>
          </a:p>
        </p:txBody>
      </p:sp>
    </p:spTree>
    <p:extLst>
      <p:ext uri="{BB962C8B-B14F-4D97-AF65-F5344CB8AC3E}">
        <p14:creationId xmlns:p14="http://schemas.microsoft.com/office/powerpoint/2010/main" val="38215912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326FB-150E-BE96-08E2-07962246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CBB2FC7-ABBB-6EF3-A901-A983D707DAD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E399E9D-0E06-6644-28CE-43E6B8235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356" y="1685745"/>
            <a:ext cx="9600234" cy="4562655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6B6FE93-8F9C-2CD9-9720-9166D0930C2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3712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4C44D-F297-6601-F332-F8D92566E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F4A44E6-D3E3-3C22-7F65-FB46DBF4479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YOLO: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YOLO algorithm?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EE9355-BCE3-59B9-FB09-0D84B020E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724" y="1483553"/>
            <a:ext cx="7635902" cy="4892464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055DAF3-2BDD-C656-D925-22A8DC1FB2F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3DF049-3986-4035-63B3-9F47E00320F1}"/>
              </a:ext>
            </a:extLst>
          </p:cNvPr>
          <p:cNvSpPr txBox="1"/>
          <p:nvPr/>
        </p:nvSpPr>
        <p:spPr>
          <a:xfrm>
            <a:off x="9296400" y="2706469"/>
            <a:ext cx="24860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hlinkClick r:id="rId4"/>
              </a:rPr>
              <a:t>https://www.ted.com/talks/joseph_redmon_how_computers_learn_to_recognize_objects_instantly</a:t>
            </a:r>
            <a:r>
              <a:rPr lang="ko-KR" altLang="en-US" sz="12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13EE0D-DFD6-4D4E-D203-E3CB1C3A7F0F}"/>
              </a:ext>
            </a:extLst>
          </p:cNvPr>
          <p:cNvSpPr txBox="1"/>
          <p:nvPr/>
        </p:nvSpPr>
        <p:spPr>
          <a:xfrm>
            <a:off x="9394838" y="4239310"/>
            <a:ext cx="2428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hlinkClick r:id="rId5"/>
              </a:rPr>
              <a:t>https://www.ted.com/talks/fei_fei_li_how_we_re_teaching_computers_to_understand_pictures</a:t>
            </a:r>
            <a:r>
              <a:rPr lang="ko-KR" alt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795965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87C48-2054-356F-D59A-A1610505F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40EE87D-1355-D2E8-BF7C-16F0609FAC0C}"/>
              </a:ext>
            </a:extLst>
          </p:cNvPr>
          <p:cNvSpPr/>
          <p:nvPr/>
        </p:nvSpPr>
        <p:spPr>
          <a:xfrm>
            <a:off x="723900" y="4147610"/>
            <a:ext cx="10791825" cy="4157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6F33DF2-9EF9-7B85-A8F1-4E5ECE79536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Appendix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24A5ED47-BDF3-5C20-B866-F6754BFC48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2BACCE-73EC-634D-67DE-20A01E2109F6}"/>
              </a:ext>
            </a:extLst>
          </p:cNvPr>
          <p:cNvSpPr txBox="1"/>
          <p:nvPr/>
        </p:nvSpPr>
        <p:spPr>
          <a:xfrm>
            <a:off x="864719" y="2022685"/>
            <a:ext cx="10462561" cy="254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Century Gothic" panose="020B0502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“Hands-on Machine Learning with Scikit-Learn, </a:t>
            </a:r>
            <a:r>
              <a:rPr lang="en-US" altLang="ko-KR" dirty="0" err="1">
                <a:latin typeface="Century Gothic" panose="020B0502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Keras</a:t>
            </a:r>
            <a:r>
              <a:rPr lang="en-US" altLang="ko-KR" dirty="0">
                <a:latin typeface="Century Gothic" panose="020B0502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&amp; TensorFlow”</a:t>
            </a:r>
            <a:r>
              <a:rPr lang="ko-KR" altLang="en-US" dirty="0">
                <a:latin typeface="Century Gothic" panose="020B0502020202020204" pitchFamily="34" charset="0"/>
                <a:ea typeface="D2Coding" panose="020B0609020101020101" pitchFamily="49" charset="-127"/>
                <a:cs typeface="Calibri Light" panose="020F0302020204030204" pitchFamily="34" charset="0"/>
              </a:rPr>
              <a:t>의</a:t>
            </a:r>
            <a:r>
              <a:rPr lang="en-US" altLang="ko-KR" dirty="0">
                <a:latin typeface="Century Gothic" panose="020B0502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CHAPTER 14 Deep Computer Vision Using Convolutional Neural Networks</a:t>
            </a:r>
            <a:r>
              <a:rPr lang="ko-KR" altLang="en-US" dirty="0">
                <a:latin typeface="Century Gothic" panose="020B0502020202020204" pitchFamily="34" charset="0"/>
                <a:ea typeface="D2Coding" panose="020B0609020101020101" pitchFamily="49" charset="-127"/>
                <a:cs typeface="Calibri Light" panose="020F0302020204030204" pitchFamily="34" charset="0"/>
              </a:rPr>
              <a:t>의 </a:t>
            </a:r>
            <a:r>
              <a:rPr lang="en-US" altLang="ko-KR" b="1" dirty="0">
                <a:latin typeface="Century Gothic" panose="020B0502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Classification and Localization, Object Detection, Fully Convolutional Networks </a:t>
            </a:r>
            <a:r>
              <a:rPr lang="ko-KR" altLang="en-US" dirty="0">
                <a:latin typeface="Century Gothic" panose="020B0502020202020204" pitchFamily="34" charset="0"/>
                <a:ea typeface="D2Coding" panose="020B0609020101020101" pitchFamily="49" charset="-127"/>
                <a:cs typeface="Calibri Light" panose="020F0302020204030204" pitchFamily="34" charset="0"/>
              </a:rPr>
              <a:t>의 내용을 </a:t>
            </a:r>
            <a:r>
              <a:rPr lang="en-US" altLang="ko-KR" dirty="0">
                <a:latin typeface="Century Gothic" panose="020B0502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merge</a:t>
            </a:r>
            <a:r>
              <a:rPr lang="ko-KR" altLang="en-US" dirty="0">
                <a:latin typeface="Century Gothic" panose="020B0502020202020204" pitchFamily="34" charset="0"/>
                <a:ea typeface="D2Coding" panose="020B0609020101020101" pitchFamily="49" charset="-127"/>
                <a:cs typeface="Calibri Light" panose="020F0302020204030204" pitchFamily="34" charset="0"/>
              </a:rPr>
              <a:t>하여 구성</a:t>
            </a:r>
            <a:r>
              <a:rPr lang="en-US" altLang="ko-KR" dirty="0">
                <a:latin typeface="Century Gothic" panose="020B0502020202020204" pitchFamily="34" charset="0"/>
                <a:ea typeface="D2Coding" panose="020B0609020101020101" pitchFamily="49" charset="-127"/>
                <a:cs typeface="Calibri Light" panose="020F0302020204030204" pitchFamily="34" charset="0"/>
              </a:rPr>
              <a:t>(</a:t>
            </a:r>
            <a:r>
              <a:rPr lang="en-US" altLang="ko-KR" dirty="0">
                <a:latin typeface="Century Gothic" panose="020B0502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YOLO</a:t>
            </a:r>
            <a:r>
              <a:rPr lang="ko-KR" altLang="en-US" dirty="0">
                <a:latin typeface="Century Gothic" panose="020B0502020202020204" pitchFamily="34" charset="0"/>
                <a:ea typeface="D2Coding" panose="020B0609020101020101" pitchFamily="49" charset="-127"/>
                <a:cs typeface="Calibri Light" panose="020F0302020204030204" pitchFamily="34" charset="0"/>
              </a:rPr>
              <a:t>는 제외</a:t>
            </a:r>
            <a:r>
              <a:rPr lang="en-US" altLang="ko-KR" dirty="0">
                <a:latin typeface="Century Gothic" panose="020B0502020202020204" pitchFamily="34" charset="0"/>
                <a:ea typeface="D2Coding" panose="020B0609020101020101" pitchFamily="49" charset="-127"/>
                <a:cs typeface="Calibri Light" panose="020F0302020204030204" pitchFamily="34" charset="0"/>
              </a:rPr>
              <a:t>)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Century Gothic" panose="020B0502020202020204" pitchFamily="34" charset="0"/>
              <a:ea typeface="D2Coding" panose="020B0609020101020101" pitchFamily="49" charset="-127"/>
              <a:cs typeface="Calibri Light" panose="020F03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Century Gothic" panose="020B0502020202020204" pitchFamily="34" charset="0"/>
              <a:ea typeface="D2Coding" panose="020B0609020101020101" pitchFamily="49" charset="-127"/>
              <a:cs typeface="Calibri Light" panose="020F03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Century Gothic" panose="020B0502020202020204" pitchFamily="34" charset="0"/>
                <a:ea typeface="D2Coding" panose="020B0609020101020101" pitchFamily="49" charset="-127"/>
                <a:cs typeface="Calibri Light" panose="020F0302020204030204" pitchFamily="34" charset="0"/>
              </a:rPr>
              <a:t>실습코드</a:t>
            </a:r>
            <a:r>
              <a:rPr lang="en-US" altLang="ko-KR" b="0" i="0" dirty="0">
                <a:effectLst/>
                <a:latin typeface="Century Gothic" panose="020B0502020202020204" pitchFamily="34" charset="0"/>
                <a:ea typeface="D2Coding" panose="020B0609020101020101" pitchFamily="49" charset="-127"/>
                <a:cs typeface="Calibri Light" panose="020F0302020204030204" pitchFamily="34" charset="0"/>
              </a:rPr>
              <a:t> : </a:t>
            </a:r>
            <a:r>
              <a:rPr lang="en-US" altLang="ko-KR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Chapter 14 – Deep Computer Vision Using Convolutional Neural Networks</a:t>
            </a:r>
            <a:r>
              <a:rPr lang="ko-KR" altLang="en-US" b="0" i="0" dirty="0">
                <a:effectLst/>
                <a:latin typeface="Century Gothic" panose="020B0502020202020204" pitchFamily="34" charset="0"/>
                <a:ea typeface="D2Coding" panose="020B0609020101020101" pitchFamily="49" charset="-127"/>
                <a:cs typeface="Calibri Light" panose="020F0302020204030204" pitchFamily="34" charset="0"/>
              </a:rPr>
              <a:t> </a:t>
            </a:r>
            <a:endParaRPr lang="en-US" altLang="ko-KR" b="0" i="0" dirty="0">
              <a:effectLst/>
              <a:latin typeface="Century Gothic" panose="020B05020202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083154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10321</TotalTime>
  <Words>4704</Words>
  <Application>Microsoft Office PowerPoint</Application>
  <PresentationFormat>와이드스크린</PresentationFormat>
  <Paragraphs>584</Paragraphs>
  <Slides>43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54" baseType="lpstr">
      <vt:lpstr>D2Coding</vt:lpstr>
      <vt:lpstr>맑은 고딕</vt:lpstr>
      <vt:lpstr>맑은 고딕 Semilight</vt:lpstr>
      <vt:lpstr>Batang</vt:lpstr>
      <vt:lpstr>Arial</vt:lpstr>
      <vt:lpstr>Century Gothic</vt:lpstr>
      <vt:lpstr>Segoe UI Emoji</vt:lpstr>
      <vt:lpstr>Tahoma</vt:lpstr>
      <vt:lpstr>Times New Roman</vt:lpstr>
      <vt:lpstr>Wingdings</vt:lpstr>
      <vt:lpstr>WelcomeDoc</vt:lpstr>
      <vt:lpstr>Image Segmentation</vt:lpstr>
      <vt:lpstr>PowerPoint 프레젠테이션</vt:lpstr>
      <vt:lpstr>Deep Learning with Python  Chapter 11. Image Segmentation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FCN(Fully Convolutional Network)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Hands-on Machine Learning with Scikit-Learn, Keras &amp; TensorFlow  Chapter 14. Deep Computer Vision Using Convolutional Neural Networks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YOLO You Look Only Once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161</cp:revision>
  <dcterms:created xsi:type="dcterms:W3CDTF">2026-04-06T01:00:39Z</dcterms:created>
  <dcterms:modified xsi:type="dcterms:W3CDTF">2026-10-01T13:51:40Z</dcterms:modified>
  <cp:version/>
</cp:coreProperties>
</file>