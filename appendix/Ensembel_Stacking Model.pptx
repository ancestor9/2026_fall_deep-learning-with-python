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1149" r:id="rId3"/>
    <p:sldId id="1165" r:id="rId4"/>
    <p:sldId id="1166" r:id="rId5"/>
    <p:sldId id="1167" r:id="rId6"/>
    <p:sldId id="1168" r:id="rId7"/>
    <p:sldId id="1174" r:id="rId8"/>
    <p:sldId id="1171" r:id="rId9"/>
    <p:sldId id="1175" r:id="rId10"/>
    <p:sldId id="1176" r:id="rId11"/>
    <p:sldId id="1173" r:id="rId12"/>
    <p:sldId id="1177" r:id="rId13"/>
    <p:sldId id="1172" r:id="rId14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49"/>
            <p14:sldId id="1165"/>
            <p14:sldId id="1166"/>
            <p14:sldId id="1167"/>
            <p14:sldId id="1168"/>
            <p14:sldId id="1174"/>
            <p14:sldId id="1171"/>
            <p14:sldId id="1175"/>
            <p14:sldId id="1176"/>
            <p14:sldId id="1173"/>
            <p14:sldId id="1177"/>
            <p14:sldId id="1172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FF9B45"/>
    <a:srgbClr val="DD462F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6" autoAdjust="0"/>
    <p:restoredTop sz="94297" autoAdjust="0"/>
  </p:normalViewPr>
  <p:slideViewPr>
    <p:cSldViewPr snapToGrid="0">
      <p:cViewPr varScale="1">
        <p:scale>
          <a:sx n="102" d="100"/>
          <a:sy n="102" d="100"/>
        </p:scale>
        <p:origin x="144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2026-09-03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2026-09-03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2026-09-03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2026-09-03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mlu-explain.github.io/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Workflow</a:t>
            </a:r>
            <a:r>
              <a:rPr lang="ko-KR" altLang="en-US" sz="4400" dirty="0">
                <a:solidFill>
                  <a:schemeClr val="bg1"/>
                </a:solidFill>
              </a:rPr>
              <a:t> </a:t>
            </a:r>
            <a:r>
              <a:rPr lang="en-US" altLang="ko-KR" sz="4400" dirty="0">
                <a:solidFill>
                  <a:schemeClr val="bg1"/>
                </a:solidFill>
              </a:rPr>
              <a:t>Automation</a:t>
            </a:r>
            <a:r>
              <a:rPr lang="ko-KR" altLang="en-US" sz="4400" dirty="0">
                <a:solidFill>
                  <a:schemeClr val="bg1"/>
                </a:solidFill>
              </a:rPr>
              <a:t> </a:t>
            </a:r>
            <a:r>
              <a:rPr lang="en-US" altLang="ko-KR" sz="4400" dirty="0">
                <a:solidFill>
                  <a:schemeClr val="bg1"/>
                </a:solidFill>
              </a:rPr>
              <a:t>with</a:t>
            </a:r>
            <a:r>
              <a:rPr lang="ko-KR" altLang="en-US" sz="4400" dirty="0">
                <a:solidFill>
                  <a:schemeClr val="bg1"/>
                </a:solidFill>
              </a:rPr>
              <a:t> </a:t>
            </a:r>
            <a:r>
              <a:rPr lang="en-US" altLang="ko-KR" sz="4400" dirty="0">
                <a:solidFill>
                  <a:schemeClr val="bg1"/>
                </a:solidFill>
              </a:rPr>
              <a:t>AI Agents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>
                <a:solidFill>
                  <a:schemeClr val="bg1"/>
                </a:solidFill>
              </a:rPr>
              <a:t>조상구 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806B-3677-1D38-9F7D-896DBF02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B71861-A105-753E-F5E8-C57C8BA9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059EA3-E600-8D96-DF93-F92E75733D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B32EC-3117-37D9-7774-7F4DAE2BF2FA}"/>
              </a:ext>
            </a:extLst>
          </p:cNvPr>
          <p:cNvSpPr txBox="1"/>
          <p:nvPr/>
        </p:nvSpPr>
        <p:spPr>
          <a:xfrm>
            <a:off x="577530" y="1248422"/>
            <a:ext cx="11233469" cy="5160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Automation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Orchestrate</a:t>
            </a:r>
            <a:r>
              <a:rPr lang="ko-KR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with python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Orchestrate</a:t>
            </a:r>
            <a:r>
              <a:rPr lang="ko-KR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with Prefect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Orchestrate</a:t>
            </a:r>
            <a:r>
              <a:rPr lang="ko-KR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with python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ko-KR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386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B077B-E28F-73EC-C1D7-B2EA3FEA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0229F8-3676-5162-4BFC-4CBACF59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1AB300F-7327-F9B0-01A6-A49824467EA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Ensemble Models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93B8892-5FE9-9936-351B-D135256FB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656" y="1847934"/>
            <a:ext cx="2402663" cy="127704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ct val="100000"/>
              </a:lnSpc>
              <a:buFontTx/>
              <a:buNone/>
            </a:pPr>
            <a:endParaRPr lang="ko-KR" altLang="en-US" sz="700">
              <a:latin typeface="D2Coding" panose="020B0609020101020101" pitchFamily="49" charset="-127"/>
              <a:ea typeface="D2Coding" panose="020B0609020101020101" pitchFamily="49" charset="-127"/>
              <a:cs typeface="Arial Unicode MS" panose="020B0604020202020204" pitchFamily="50" charset="-127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D086A72-6319-4A23-0095-31606D59F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092" y="2317228"/>
            <a:ext cx="1682507" cy="3366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ct val="100000"/>
              </a:lnSpc>
              <a:buFontTx/>
              <a:buNone/>
            </a:pPr>
            <a:r>
              <a:rPr lang="ko-KR" altLang="en-US">
                <a:latin typeface="D2Coding" panose="020B0609020101020101" pitchFamily="49" charset="-127"/>
                <a:ea typeface="D2Coding" panose="020B0609020101020101" pitchFamily="49" charset="-127"/>
                <a:cs typeface="Arial Unicode MS" panose="020B0604020202020204" pitchFamily="50" charset="-127"/>
              </a:rPr>
              <a:t>병렬 결합</a:t>
            </a:r>
            <a:endParaRPr lang="en-US" altLang="ko-KR">
              <a:latin typeface="D2Coding" panose="020B0609020101020101" pitchFamily="49" charset="-127"/>
              <a:ea typeface="D2Coding" panose="020B0609020101020101" pitchFamily="49" charset="-127"/>
              <a:cs typeface="Arial Unicode MS" panose="020B0604020202020204" pitchFamily="50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CEFF50-8275-B29A-0F1E-4A3CE7D57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9659" y="1932318"/>
            <a:ext cx="2126109" cy="3009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ct val="100000"/>
              </a:lnSpc>
              <a:buFontTx/>
              <a:buNone/>
            </a:pPr>
            <a:r>
              <a:rPr lang="en-US" altLang="ko-KR" sz="1100">
                <a:latin typeface="D2Coding" panose="020B0609020101020101" pitchFamily="49" charset="-127"/>
                <a:ea typeface="D2Coding" panose="020B0609020101020101" pitchFamily="49" charset="-127"/>
                <a:cs typeface="Arial Unicode MS" panose="020B0604020202020204" pitchFamily="50" charset="-127"/>
              </a:rPr>
              <a:t>Bagging</a:t>
            </a:r>
            <a:endParaRPr lang="ko-KR" altLang="en-US" sz="900">
              <a:latin typeface="D2Coding" panose="020B0609020101020101" pitchFamily="49" charset="-127"/>
              <a:ea typeface="D2Coding" panose="020B0609020101020101" pitchFamily="49" charset="-127"/>
              <a:cs typeface="Arial Unicode MS" panose="020B06040202020202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BD73369-6DB5-0D9F-6C1D-76189C18FF76}"/>
              </a:ext>
            </a:extLst>
          </p:cNvPr>
          <p:cNvCxnSpPr>
            <a:stCxn id="6" idx="3"/>
            <a:endCxn id="5" idx="1"/>
          </p:cNvCxnSpPr>
          <p:nvPr/>
        </p:nvCxnSpPr>
        <p:spPr bwMode="auto">
          <a:xfrm>
            <a:off x="3397599" y="2485533"/>
            <a:ext cx="438057" cy="9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Dot"/>
            <a:round/>
            <a:headEnd type="none" w="med" len="med"/>
            <a:tailEnd type="triangle"/>
          </a:ln>
          <a:effectLst/>
        </p:spPr>
      </p:cxnSp>
      <p:sp>
        <p:nvSpPr>
          <p:cNvPr id="9" name="Rectangle 6">
            <a:extLst>
              <a:ext uri="{FF2B5EF4-FFF2-40B4-BE49-F238E27FC236}">
                <a16:creationId xmlns:a16="http://schemas.microsoft.com/office/drawing/2014/main" id="{6D107FA7-E957-DCB6-CC1F-4AD3CB23E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595" y="2326109"/>
            <a:ext cx="2126109" cy="3009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ct val="100000"/>
              </a:lnSpc>
              <a:buFontTx/>
              <a:buNone/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Arial Unicode MS" panose="020B0604020202020204" pitchFamily="50" charset="-127"/>
              </a:rPr>
              <a:t>Random Forests, Extra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Arial Unicode MS" panose="020B0604020202020204" pitchFamily="50" charset="-127"/>
              </a:rPr>
              <a:t>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Arial Unicode MS" panose="020B0604020202020204" pitchFamily="50" charset="-127"/>
              </a:rPr>
              <a:t>trees</a:t>
            </a:r>
            <a:endParaRPr lang="ko-KR" altLang="en-US" sz="900" dirty="0">
              <a:latin typeface="D2Coding" panose="020B0609020101020101" pitchFamily="49" charset="-127"/>
              <a:ea typeface="D2Coding" panose="020B0609020101020101" pitchFamily="49" charset="-127"/>
              <a:cs typeface="Arial Unicode MS" panose="020B0604020202020204" pitchFamily="50" charset="-127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F8929CFA-79B5-FEEC-1B46-1F4C8BF05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6280" y="2719901"/>
            <a:ext cx="2126109" cy="3009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ct val="100000"/>
              </a:lnSpc>
              <a:buFontTx/>
              <a:buNone/>
            </a:pPr>
            <a:r>
              <a:rPr lang="en-US" altLang="ko-KR" sz="1100">
                <a:latin typeface="D2Coding" panose="020B0609020101020101" pitchFamily="49" charset="-127"/>
                <a:ea typeface="D2Coding" panose="020B0609020101020101" pitchFamily="49" charset="-127"/>
                <a:cs typeface="Arial Unicode MS" panose="020B0604020202020204" pitchFamily="50" charset="-127"/>
              </a:rPr>
              <a:t>Voting</a:t>
            </a:r>
            <a:endParaRPr lang="ko-KR" altLang="en-US" sz="1100">
              <a:latin typeface="D2Coding" panose="020B0609020101020101" pitchFamily="49" charset="-127"/>
              <a:ea typeface="D2Coding" panose="020B0609020101020101" pitchFamily="49" charset="-127"/>
              <a:cs typeface="Arial Unicode MS" panose="020B0604020202020204" pitchFamily="50" charset="-127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9B124FDB-43A6-8BD2-CA0D-23A694D1E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656" y="3491514"/>
            <a:ext cx="2402663" cy="917231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ct val="100000"/>
              </a:lnSpc>
              <a:buFontTx/>
              <a:buNone/>
            </a:pPr>
            <a:endParaRPr lang="ko-KR" altLang="en-US" sz="700">
              <a:latin typeface="D2Coding" panose="020B0609020101020101" pitchFamily="49" charset="-127"/>
              <a:ea typeface="D2Coding" panose="020B0609020101020101" pitchFamily="49" charset="-127"/>
              <a:cs typeface="Arial Unicode MS" panose="020B0604020202020204" pitchFamily="50" charset="-127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D69E4189-BB1A-B9ED-D76C-73AD53865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292" y="3779240"/>
            <a:ext cx="1682507" cy="3366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ct val="100000"/>
              </a:lnSpc>
              <a:buFontTx/>
              <a:buNone/>
            </a:pPr>
            <a:r>
              <a:rPr lang="en-US" altLang="ko-KR">
                <a:latin typeface="D2Coding" panose="020B0609020101020101" pitchFamily="49" charset="-127"/>
                <a:ea typeface="D2Coding" panose="020B0609020101020101" pitchFamily="49" charset="-127"/>
                <a:cs typeface="Arial Unicode MS" panose="020B0604020202020204" pitchFamily="50" charset="-127"/>
              </a:rPr>
              <a:t>Boosting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79537C95-A4CB-C530-ACD2-582B21C10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9659" y="3590994"/>
            <a:ext cx="2126109" cy="3009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ct val="100000"/>
              </a:lnSpc>
              <a:buFontTx/>
              <a:buNone/>
            </a:pPr>
            <a:r>
              <a:rPr lang="en-US" altLang="ko-KR" sz="1100" err="1">
                <a:latin typeface="D2Coding" panose="020B0609020101020101" pitchFamily="49" charset="-127"/>
                <a:ea typeface="D2Coding" panose="020B0609020101020101" pitchFamily="49" charset="-127"/>
                <a:cs typeface="Arial Unicode MS" panose="020B0604020202020204" pitchFamily="50" charset="-127"/>
              </a:rPr>
              <a:t>AdaBoost</a:t>
            </a:r>
            <a:endParaRPr lang="ko-KR" altLang="en-US" sz="900">
              <a:latin typeface="D2Coding" panose="020B0609020101020101" pitchFamily="49" charset="-127"/>
              <a:ea typeface="D2Coding" panose="020B0609020101020101" pitchFamily="49" charset="-127"/>
              <a:cs typeface="Arial Unicode MS" panose="020B06040202020202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F9D10E6-2177-3806-B1D1-1C95E8558312}"/>
              </a:ext>
            </a:extLst>
          </p:cNvPr>
          <p:cNvCxnSpPr>
            <a:stCxn id="12" idx="3"/>
            <a:endCxn id="11" idx="1"/>
          </p:cNvCxnSpPr>
          <p:nvPr/>
        </p:nvCxnSpPr>
        <p:spPr bwMode="auto">
          <a:xfrm>
            <a:off x="3438799" y="3947545"/>
            <a:ext cx="396857" cy="25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Dot"/>
            <a:round/>
            <a:headEnd type="none" w="med" len="med"/>
            <a:tailEnd type="triangle"/>
          </a:ln>
          <a:effectLst/>
        </p:spPr>
      </p:cxnSp>
      <p:sp>
        <p:nvSpPr>
          <p:cNvPr id="15" name="Rectangle 6">
            <a:extLst>
              <a:ext uri="{FF2B5EF4-FFF2-40B4-BE49-F238E27FC236}">
                <a16:creationId xmlns:a16="http://schemas.microsoft.com/office/drawing/2014/main" id="{8E8E5FB5-9EFA-8AE2-2F8E-5FFFCABFD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9659" y="4004204"/>
            <a:ext cx="2126109" cy="3009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ct val="100000"/>
              </a:lnSpc>
              <a:buFontTx/>
              <a:buNone/>
            </a:pPr>
            <a:r>
              <a:rPr lang="en-US" altLang="ko-KR" sz="1100">
                <a:latin typeface="D2Coding" panose="020B0609020101020101" pitchFamily="49" charset="-127"/>
                <a:ea typeface="D2Coding" panose="020B0609020101020101" pitchFamily="49" charset="-127"/>
                <a:cs typeface="Arial Unicode MS" panose="020B0604020202020204" pitchFamily="50" charset="-127"/>
              </a:rPr>
              <a:t>Gradient Boost</a:t>
            </a:r>
            <a:endParaRPr lang="ko-KR" altLang="en-US" sz="900">
              <a:latin typeface="D2Coding" panose="020B0609020101020101" pitchFamily="49" charset="-127"/>
              <a:ea typeface="D2Coding" panose="020B0609020101020101" pitchFamily="49" charset="-127"/>
              <a:cs typeface="Arial Unicode MS" panose="020B06040202020202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6E741A-57C0-6B88-7C95-ADC8091DC86B}"/>
              </a:ext>
            </a:extLst>
          </p:cNvPr>
          <p:cNvSpPr txBox="1"/>
          <p:nvPr/>
        </p:nvSpPr>
        <p:spPr>
          <a:xfrm>
            <a:off x="1451047" y="2632352"/>
            <a:ext cx="2186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  <a:cs typeface="Arial Unicode MS" panose="020B0604020202020204" pitchFamily="50" charset="-127"/>
              </a:rPr>
              <a:t>Parallel</a:t>
            </a:r>
            <a:endParaRPr lang="ko-KR" altLang="en-US" sz="1400">
              <a:latin typeface="D2Coding" panose="020B0609020101020101" pitchFamily="49" charset="-127"/>
              <a:ea typeface="D2Coding" panose="020B0609020101020101" pitchFamily="49" charset="-127"/>
              <a:cs typeface="Arial Unicode MS" panose="020B06040202020202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4C6AD-99BF-1487-4430-BAC900419BC5}"/>
              </a:ext>
            </a:extLst>
          </p:cNvPr>
          <p:cNvSpPr txBox="1"/>
          <p:nvPr/>
        </p:nvSpPr>
        <p:spPr>
          <a:xfrm>
            <a:off x="1459235" y="4098384"/>
            <a:ext cx="2186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  <a:cs typeface="Arial Unicode MS" panose="020B0604020202020204" pitchFamily="50" charset="-127"/>
              </a:rPr>
              <a:t>Serial</a:t>
            </a:r>
            <a:endParaRPr lang="ko-KR" altLang="en-US" sz="1400">
              <a:latin typeface="D2Coding" panose="020B0609020101020101" pitchFamily="49" charset="-127"/>
              <a:ea typeface="D2Coding" panose="020B0609020101020101" pitchFamily="49" charset="-127"/>
              <a:cs typeface="Arial Unicode MS" panose="020B06040202020202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53326C4-A8EB-8176-3C92-FDBD9F400C8B}"/>
              </a:ext>
            </a:extLst>
          </p:cNvPr>
          <p:cNvSpPr/>
          <p:nvPr/>
        </p:nvSpPr>
        <p:spPr>
          <a:xfrm>
            <a:off x="7284975" y="3992557"/>
            <a:ext cx="333307" cy="3399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endParaRPr lang="ko-KR" altLang="en-US" sz="8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B20F47C-ADBA-7911-11C1-B18591322467}"/>
              </a:ext>
            </a:extLst>
          </p:cNvPr>
          <p:cNvSpPr/>
          <p:nvPr/>
        </p:nvSpPr>
        <p:spPr>
          <a:xfrm>
            <a:off x="8036674" y="3992557"/>
            <a:ext cx="333307" cy="3399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endParaRPr lang="ko-KR" altLang="en-US" sz="8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B08E328-92A5-FDE3-945C-F920DC4633F5}"/>
              </a:ext>
            </a:extLst>
          </p:cNvPr>
          <p:cNvSpPr/>
          <p:nvPr/>
        </p:nvSpPr>
        <p:spPr>
          <a:xfrm>
            <a:off x="7320493" y="2129565"/>
            <a:ext cx="333307" cy="3399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endParaRPr lang="ko-KR" altLang="en-US" sz="9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F03E858-4FC1-B695-FB7D-3A8B2DACD2BF}"/>
              </a:ext>
            </a:extLst>
          </p:cNvPr>
          <p:cNvSpPr/>
          <p:nvPr/>
        </p:nvSpPr>
        <p:spPr>
          <a:xfrm>
            <a:off x="7299422" y="2739164"/>
            <a:ext cx="333307" cy="3399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endParaRPr lang="ko-KR" altLang="en-US" sz="9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4812818-2416-D507-230D-A630959872EB}"/>
              </a:ext>
            </a:extLst>
          </p:cNvPr>
          <p:cNvGrpSpPr/>
          <p:nvPr/>
        </p:nvGrpSpPr>
        <p:grpSpPr>
          <a:xfrm>
            <a:off x="8750463" y="3990360"/>
            <a:ext cx="816782" cy="369501"/>
            <a:chOff x="7725946" y="2936522"/>
            <a:chExt cx="914400" cy="568677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C11FDB2-DD16-E71E-1885-0C8E60F54DCC}"/>
                </a:ext>
              </a:extLst>
            </p:cNvPr>
            <p:cNvSpPr/>
            <p:nvPr/>
          </p:nvSpPr>
          <p:spPr bwMode="auto">
            <a:xfrm>
              <a:off x="7725946" y="2936522"/>
              <a:ext cx="914400" cy="568677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126D906-A8E4-FE1D-FD35-6EE214AD8BB2}"/>
                </a:ext>
              </a:extLst>
            </p:cNvPr>
            <p:cNvSpPr/>
            <p:nvPr/>
          </p:nvSpPr>
          <p:spPr>
            <a:xfrm>
              <a:off x="7798350" y="3066971"/>
              <a:ext cx="759469" cy="4026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100">
                  <a:latin typeface="D2Coding" panose="020B0609020101020101" pitchFamily="49" charset="-127"/>
                  <a:ea typeface="D2Coding" panose="020B0609020101020101" pitchFamily="49" charset="-127"/>
                </a:rPr>
                <a:t>predict</a:t>
              </a:r>
              <a:endParaRPr lang="ko-KR" altLang="en-US" sz="110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8096E3C-3BB6-0B27-5D20-1624BE00D5E7}"/>
              </a:ext>
            </a:extLst>
          </p:cNvPr>
          <p:cNvGrpSpPr/>
          <p:nvPr/>
        </p:nvGrpSpPr>
        <p:grpSpPr>
          <a:xfrm>
            <a:off x="8787665" y="2353213"/>
            <a:ext cx="816782" cy="369501"/>
            <a:chOff x="7725946" y="2936522"/>
            <a:chExt cx="914400" cy="568677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4CCEACB-620F-C2E5-BDA7-8C920C739652}"/>
                </a:ext>
              </a:extLst>
            </p:cNvPr>
            <p:cNvSpPr/>
            <p:nvPr/>
          </p:nvSpPr>
          <p:spPr bwMode="auto">
            <a:xfrm>
              <a:off x="7725946" y="2936522"/>
              <a:ext cx="914400" cy="568677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FDC7CC8-637B-09D5-37F8-3000F025F7DF}"/>
                </a:ext>
              </a:extLst>
            </p:cNvPr>
            <p:cNvSpPr/>
            <p:nvPr/>
          </p:nvSpPr>
          <p:spPr>
            <a:xfrm>
              <a:off x="7798350" y="3066971"/>
              <a:ext cx="759469" cy="4026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100">
                  <a:latin typeface="D2Coding" panose="020B0609020101020101" pitchFamily="49" charset="-127"/>
                  <a:ea typeface="D2Coding" panose="020B0609020101020101" pitchFamily="49" charset="-127"/>
                </a:rPr>
                <a:t>predict</a:t>
              </a:r>
              <a:endParaRPr lang="ko-KR" altLang="en-US" sz="110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4EEF473-4523-33F4-7C1B-880EA05CA3B6}"/>
              </a:ext>
            </a:extLst>
          </p:cNvPr>
          <p:cNvCxnSpPr>
            <a:endCxn id="18" idx="1"/>
          </p:cNvCxnSpPr>
          <p:nvPr/>
        </p:nvCxnSpPr>
        <p:spPr bwMode="auto">
          <a:xfrm>
            <a:off x="6954910" y="3779534"/>
            <a:ext cx="378877" cy="2628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31EF154-1F7C-50D8-77AC-62E1840C43CF}"/>
              </a:ext>
            </a:extLst>
          </p:cNvPr>
          <p:cNvCxnSpPr>
            <a:stCxn id="18" idx="6"/>
            <a:endCxn id="19" idx="2"/>
          </p:cNvCxnSpPr>
          <p:nvPr/>
        </p:nvCxnSpPr>
        <p:spPr bwMode="auto">
          <a:xfrm>
            <a:off x="7618282" y="4162551"/>
            <a:ext cx="41839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EC3727C-81F7-4F34-1F4E-6336484FE742}"/>
              </a:ext>
            </a:extLst>
          </p:cNvPr>
          <p:cNvCxnSpPr>
            <a:stCxn id="19" idx="6"/>
            <a:endCxn id="23" idx="1"/>
          </p:cNvCxnSpPr>
          <p:nvPr/>
        </p:nvCxnSpPr>
        <p:spPr bwMode="auto">
          <a:xfrm>
            <a:off x="8369981" y="4162551"/>
            <a:ext cx="380482" cy="125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769A88C-CF5B-9EC9-4015-AF4C8D1F71D7}"/>
              </a:ext>
            </a:extLst>
          </p:cNvPr>
          <p:cNvSpPr/>
          <p:nvPr/>
        </p:nvSpPr>
        <p:spPr>
          <a:xfrm>
            <a:off x="6687405" y="3517924"/>
            <a:ext cx="5196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endParaRPr lang="ko-KR" altLang="en-US" sz="105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DECBE88-4AD2-116B-1547-7491AF4E54B6}"/>
              </a:ext>
            </a:extLst>
          </p:cNvPr>
          <p:cNvSpPr/>
          <p:nvPr/>
        </p:nvSpPr>
        <p:spPr>
          <a:xfrm>
            <a:off x="6785047" y="1769061"/>
            <a:ext cx="5196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endParaRPr lang="ko-KR" altLang="en-US" sz="105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4E49546-2CAD-8EB6-73A4-F90EAA9DED67}"/>
              </a:ext>
            </a:extLst>
          </p:cNvPr>
          <p:cNvSpPr/>
          <p:nvPr/>
        </p:nvSpPr>
        <p:spPr>
          <a:xfrm>
            <a:off x="6785047" y="2378661"/>
            <a:ext cx="5196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endParaRPr lang="ko-KR" altLang="en-US" sz="105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144349D-EDF2-5364-437E-38F99C16A4AD}"/>
              </a:ext>
            </a:extLst>
          </p:cNvPr>
          <p:cNvCxnSpPr>
            <a:stCxn id="32" idx="2"/>
            <a:endCxn id="20" idx="1"/>
          </p:cNvCxnSpPr>
          <p:nvPr/>
        </p:nvCxnSpPr>
        <p:spPr bwMode="auto">
          <a:xfrm>
            <a:off x="7044894" y="2030671"/>
            <a:ext cx="324411" cy="1486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14E9876-13F9-72E1-B150-0F4C1B1A8224}"/>
              </a:ext>
            </a:extLst>
          </p:cNvPr>
          <p:cNvCxnSpPr>
            <a:stCxn id="33" idx="2"/>
            <a:endCxn id="21" idx="1"/>
          </p:cNvCxnSpPr>
          <p:nvPr/>
        </p:nvCxnSpPr>
        <p:spPr bwMode="auto">
          <a:xfrm>
            <a:off x="7044894" y="2640272"/>
            <a:ext cx="303340" cy="1486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4EE710CB-441A-BB24-4D3A-836406C5EC29}"/>
              </a:ext>
            </a:extLst>
          </p:cNvPr>
          <p:cNvCxnSpPr>
            <a:stCxn id="20" idx="6"/>
            <a:endCxn id="26" idx="1"/>
          </p:cNvCxnSpPr>
          <p:nvPr/>
        </p:nvCxnSpPr>
        <p:spPr bwMode="auto">
          <a:xfrm>
            <a:off x="7653800" y="2299559"/>
            <a:ext cx="1133865" cy="238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AD90BBD-4630-329F-9406-49498B716997}"/>
              </a:ext>
            </a:extLst>
          </p:cNvPr>
          <p:cNvCxnSpPr>
            <a:stCxn id="21" idx="6"/>
            <a:endCxn id="26" idx="1"/>
          </p:cNvCxnSpPr>
          <p:nvPr/>
        </p:nvCxnSpPr>
        <p:spPr bwMode="auto">
          <a:xfrm flipV="1">
            <a:off x="7632729" y="2537964"/>
            <a:ext cx="1154936" cy="3711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Rectangle 6">
            <a:extLst>
              <a:ext uri="{FF2B5EF4-FFF2-40B4-BE49-F238E27FC236}">
                <a16:creationId xmlns:a16="http://schemas.microsoft.com/office/drawing/2014/main" id="{8D46C65A-3118-AEB2-53FC-76BCA787B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094" y="5047338"/>
            <a:ext cx="2402663" cy="42969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ct val="100000"/>
              </a:lnSpc>
              <a:buFontTx/>
              <a:buNone/>
            </a:pPr>
            <a:endParaRPr lang="ko-KR" altLang="en-US" sz="700">
              <a:latin typeface="D2Coding" panose="020B0609020101020101" pitchFamily="49" charset="-127"/>
              <a:ea typeface="D2Coding" panose="020B0609020101020101" pitchFamily="49" charset="-127"/>
              <a:cs typeface="Arial Unicode MS" panose="020B0604020202020204" pitchFamily="50" charset="-127"/>
            </a:endParaRPr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BDA6E678-108F-8A21-638F-C93E81D92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3730" y="5093720"/>
            <a:ext cx="1682507" cy="3366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ct val="100000"/>
              </a:lnSpc>
              <a:buFontTx/>
              <a:buNone/>
            </a:pPr>
            <a:r>
              <a:rPr lang="en-US" altLang="ko-KR">
                <a:latin typeface="D2Coding" panose="020B0609020101020101" pitchFamily="49" charset="-127"/>
                <a:ea typeface="D2Coding" panose="020B0609020101020101" pitchFamily="49" charset="-127"/>
                <a:cs typeface="Arial Unicode MS" panose="020B0604020202020204" pitchFamily="50" charset="-127"/>
              </a:rPr>
              <a:t>Stacking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AFF4BA7-B159-D474-12D5-29C135E8580A}"/>
              </a:ext>
            </a:extLst>
          </p:cNvPr>
          <p:cNvCxnSpPr>
            <a:stCxn id="39" idx="3"/>
            <a:endCxn id="38" idx="1"/>
          </p:cNvCxnSpPr>
          <p:nvPr/>
        </p:nvCxnSpPr>
        <p:spPr bwMode="auto">
          <a:xfrm>
            <a:off x="3436237" y="5262025"/>
            <a:ext cx="396857" cy="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Dot"/>
            <a:round/>
            <a:headEnd type="none" w="med" len="med"/>
            <a:tailEnd type="triangle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F1480BD-03ED-3AAC-5DB7-EE97AB80D59C}"/>
              </a:ext>
            </a:extLst>
          </p:cNvPr>
          <p:cNvSpPr txBox="1"/>
          <p:nvPr/>
        </p:nvSpPr>
        <p:spPr>
          <a:xfrm>
            <a:off x="1456673" y="5411217"/>
            <a:ext cx="2186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  <a:cs typeface="Arial Unicode MS" panose="020B0604020202020204" pitchFamily="50" charset="-127"/>
              </a:rPr>
              <a:t>Hetero + Meta model</a:t>
            </a:r>
            <a:endParaRPr lang="ko-KR" altLang="en-US" sz="1400">
              <a:latin typeface="D2Coding" panose="020B0609020101020101" pitchFamily="49" charset="-127"/>
              <a:ea typeface="D2Coding" panose="020B0609020101020101" pitchFamily="49" charset="-127"/>
              <a:cs typeface="Arial Unicode MS" panose="020B0604020202020204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BDB75C05-9B7F-9183-E754-C5454D8F3867}"/>
              </a:ext>
            </a:extLst>
          </p:cNvPr>
          <p:cNvSpPr/>
          <p:nvPr/>
        </p:nvSpPr>
        <p:spPr>
          <a:xfrm>
            <a:off x="7307119" y="5086674"/>
            <a:ext cx="333307" cy="3399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endParaRPr lang="ko-KR" altLang="en-US" sz="9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371A4C61-C249-7217-C571-BCF5FADBDC23}"/>
              </a:ext>
            </a:extLst>
          </p:cNvPr>
          <p:cNvSpPr/>
          <p:nvPr/>
        </p:nvSpPr>
        <p:spPr>
          <a:xfrm>
            <a:off x="7286048" y="5696273"/>
            <a:ext cx="333307" cy="3399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endParaRPr lang="ko-KR" altLang="en-US" sz="9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582C4C80-950F-3AC4-0197-CD1E13785BA6}"/>
              </a:ext>
            </a:extLst>
          </p:cNvPr>
          <p:cNvGrpSpPr/>
          <p:nvPr/>
        </p:nvGrpSpPr>
        <p:grpSpPr>
          <a:xfrm>
            <a:off x="8765244" y="5310704"/>
            <a:ext cx="816782" cy="369501"/>
            <a:chOff x="7725946" y="2936522"/>
            <a:chExt cx="914400" cy="568677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323FE34-2962-8029-E727-0E935C689717}"/>
                </a:ext>
              </a:extLst>
            </p:cNvPr>
            <p:cNvSpPr/>
            <p:nvPr/>
          </p:nvSpPr>
          <p:spPr bwMode="auto">
            <a:xfrm>
              <a:off x="7725946" y="2936522"/>
              <a:ext cx="914400" cy="568677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0736BBF7-2FC3-2DB6-6728-47059AF5E92E}"/>
                </a:ext>
              </a:extLst>
            </p:cNvPr>
            <p:cNvSpPr/>
            <p:nvPr/>
          </p:nvSpPr>
          <p:spPr>
            <a:xfrm>
              <a:off x="7798350" y="3066971"/>
              <a:ext cx="759469" cy="4026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100">
                  <a:latin typeface="D2Coding" panose="020B0609020101020101" pitchFamily="49" charset="-127"/>
                  <a:ea typeface="D2Coding" panose="020B0609020101020101" pitchFamily="49" charset="-127"/>
                </a:rPr>
                <a:t>predict</a:t>
              </a:r>
              <a:endParaRPr lang="ko-KR" altLang="en-US" sz="110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7045CD0-140B-5E97-4FF0-EE15C38DA9A2}"/>
              </a:ext>
            </a:extLst>
          </p:cNvPr>
          <p:cNvSpPr/>
          <p:nvPr/>
        </p:nvSpPr>
        <p:spPr>
          <a:xfrm>
            <a:off x="6771673" y="4726170"/>
            <a:ext cx="5196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endParaRPr lang="ko-KR" altLang="en-US" sz="105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DF2DA88-B04E-C374-FD7D-0DA6DC7C2C91}"/>
              </a:ext>
            </a:extLst>
          </p:cNvPr>
          <p:cNvSpPr/>
          <p:nvPr/>
        </p:nvSpPr>
        <p:spPr>
          <a:xfrm>
            <a:off x="6771673" y="5335770"/>
            <a:ext cx="5196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endParaRPr lang="ko-KR" altLang="en-US" sz="105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B1585C4-BD05-6D0D-3BE6-A44F3D25FC61}"/>
              </a:ext>
            </a:extLst>
          </p:cNvPr>
          <p:cNvCxnSpPr>
            <a:stCxn id="47" idx="2"/>
            <a:endCxn id="42" idx="1"/>
          </p:cNvCxnSpPr>
          <p:nvPr/>
        </p:nvCxnSpPr>
        <p:spPr bwMode="auto">
          <a:xfrm>
            <a:off x="7031520" y="4987780"/>
            <a:ext cx="324411" cy="1486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AB1A984F-2CE8-B142-3903-98AD3BE54573}"/>
              </a:ext>
            </a:extLst>
          </p:cNvPr>
          <p:cNvCxnSpPr>
            <a:stCxn id="48" idx="2"/>
            <a:endCxn id="43" idx="1"/>
          </p:cNvCxnSpPr>
          <p:nvPr/>
        </p:nvCxnSpPr>
        <p:spPr bwMode="auto">
          <a:xfrm>
            <a:off x="7031520" y="5597381"/>
            <a:ext cx="303340" cy="1486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5A92214-D3F6-348C-C52C-059484CEF128}"/>
              </a:ext>
            </a:extLst>
          </p:cNvPr>
          <p:cNvCxnSpPr>
            <a:stCxn id="42" idx="6"/>
            <a:endCxn id="53" idx="1"/>
          </p:cNvCxnSpPr>
          <p:nvPr/>
        </p:nvCxnSpPr>
        <p:spPr bwMode="auto">
          <a:xfrm>
            <a:off x="7640426" y="5256668"/>
            <a:ext cx="481301" cy="1189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D767F8B8-CB48-FE8E-DECC-C1A479930996}"/>
              </a:ext>
            </a:extLst>
          </p:cNvPr>
          <p:cNvCxnSpPr>
            <a:stCxn id="43" idx="6"/>
            <a:endCxn id="53" idx="3"/>
          </p:cNvCxnSpPr>
          <p:nvPr/>
        </p:nvCxnSpPr>
        <p:spPr bwMode="auto">
          <a:xfrm flipV="1">
            <a:off x="7619355" y="5616031"/>
            <a:ext cx="502372" cy="2502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B569A05D-1AC3-C8BD-A546-546B95B6097A}"/>
              </a:ext>
            </a:extLst>
          </p:cNvPr>
          <p:cNvSpPr/>
          <p:nvPr/>
        </p:nvSpPr>
        <p:spPr>
          <a:xfrm>
            <a:off x="8072915" y="5325833"/>
            <a:ext cx="333307" cy="3399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</a:t>
            </a:r>
            <a:endParaRPr lang="ko-KR" altLang="en-US" sz="9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ED722AC-BFD7-4782-BE9E-C6FB93FA4E8B}"/>
              </a:ext>
            </a:extLst>
          </p:cNvPr>
          <p:cNvCxnSpPr>
            <a:stCxn id="53" idx="6"/>
            <a:endCxn id="45" idx="1"/>
          </p:cNvCxnSpPr>
          <p:nvPr/>
        </p:nvCxnSpPr>
        <p:spPr bwMode="auto">
          <a:xfrm flipV="1">
            <a:off x="8406222" y="5495455"/>
            <a:ext cx="359022" cy="3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5" name="Rectangle 6">
            <a:extLst>
              <a:ext uri="{FF2B5EF4-FFF2-40B4-BE49-F238E27FC236}">
                <a16:creationId xmlns:a16="http://schemas.microsoft.com/office/drawing/2014/main" id="{6EE2A957-A0A7-5BE3-F928-DB974E024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865" y="5106212"/>
            <a:ext cx="2126109" cy="3009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ct val="100000"/>
              </a:lnSpc>
              <a:buFontTx/>
              <a:buNone/>
            </a:pPr>
            <a:r>
              <a:rPr lang="en-US" altLang="ko-KR" sz="1100">
                <a:latin typeface="D2Coding" panose="020B0609020101020101" pitchFamily="49" charset="-127"/>
                <a:ea typeface="D2Coding" panose="020B0609020101020101" pitchFamily="49" charset="-127"/>
                <a:cs typeface="Arial Unicode MS" panose="020B0604020202020204" pitchFamily="50" charset="-127"/>
              </a:rPr>
              <a:t>Hetero models + meta model</a:t>
            </a:r>
            <a:endParaRPr lang="ko-KR" altLang="en-US" sz="900">
              <a:latin typeface="D2Coding" panose="020B0609020101020101" pitchFamily="49" charset="-127"/>
              <a:ea typeface="D2Coding" panose="020B0609020101020101" pitchFamily="49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6593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10F19-06A6-6236-C51D-1AC7E907A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CC2BE5-A8BB-BE4E-5120-801AAE8E8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ED8EAE3-17E1-849E-E28F-C3FEA7E19EA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Ensemble Models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061B00D-863F-644C-2A18-587FDEBF0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625" y="1481209"/>
            <a:ext cx="4114319" cy="2394844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D97257F8-9631-FE99-FE6D-0B875C010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417" y="4148209"/>
            <a:ext cx="4106008" cy="2305127"/>
          </a:xfrm>
          <a:prstGeom prst="rect">
            <a:avLst/>
          </a:prstGeom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A97E160A-D663-35FE-02AF-69C01AA5984B}"/>
              </a:ext>
            </a:extLst>
          </p:cNvPr>
          <p:cNvSpPr/>
          <p:nvPr/>
        </p:nvSpPr>
        <p:spPr>
          <a:xfrm>
            <a:off x="6738734" y="2730276"/>
            <a:ext cx="15599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>
                <a:latin typeface="Arial Black" panose="020B0A04020102020204" pitchFamily="34" charset="0"/>
              </a:rPr>
              <a:t>Bagging</a:t>
            </a:r>
            <a:endParaRPr lang="ko-KR" altLang="en-US" sz="2400">
              <a:latin typeface="Arial Black" panose="020B0A04020102020204" pitchFamily="34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7DD0249-5C1E-F61B-DB7E-BAA2010C6B48}"/>
              </a:ext>
            </a:extLst>
          </p:cNvPr>
          <p:cNvSpPr/>
          <p:nvPr/>
        </p:nvSpPr>
        <p:spPr>
          <a:xfrm>
            <a:off x="6738734" y="4998077"/>
            <a:ext cx="1670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>
                <a:latin typeface="Arial Black" panose="020B0A04020102020204" pitchFamily="34" charset="0"/>
              </a:rPr>
              <a:t>Boosting</a:t>
            </a:r>
            <a:endParaRPr lang="ko-KR" altLang="en-US" sz="2400">
              <a:latin typeface="Arial Black" panose="020B0A04020102020204" pitchFamily="34" charset="0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743D86C5-9B93-6BA6-80C2-265FD9FAEDB5}"/>
              </a:ext>
            </a:extLst>
          </p:cNvPr>
          <p:cNvCxnSpPr/>
          <p:nvPr/>
        </p:nvCxnSpPr>
        <p:spPr bwMode="auto">
          <a:xfrm>
            <a:off x="5876225" y="2961108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F12AFB51-41F2-2904-E6E7-82C6AAEE9A45}"/>
              </a:ext>
            </a:extLst>
          </p:cNvPr>
          <p:cNvCxnSpPr/>
          <p:nvPr/>
        </p:nvCxnSpPr>
        <p:spPr bwMode="auto">
          <a:xfrm>
            <a:off x="5914325" y="5193600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D57DAAE-8889-A396-E4EA-922CFA29C1E5}"/>
              </a:ext>
            </a:extLst>
          </p:cNvPr>
          <p:cNvSpPr/>
          <p:nvPr/>
        </p:nvSpPr>
        <p:spPr>
          <a:xfrm>
            <a:off x="1355513" y="3876053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/>
              <a:t>https://becominghuman.ai/ensemble-learning-bagging-and-boosting-d20f38be9b1e</a:t>
            </a:r>
          </a:p>
        </p:txBody>
      </p:sp>
    </p:spTree>
    <p:extLst>
      <p:ext uri="{BB962C8B-B14F-4D97-AF65-F5344CB8AC3E}">
        <p14:creationId xmlns:p14="http://schemas.microsoft.com/office/powerpoint/2010/main" val="3017154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22695-9C63-3324-A499-F21842B42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9A5CE5-CDE0-2375-C494-E5F03A28F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B06C2C6-B417-E489-8997-01B00ECE136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Randomforest</a:t>
            </a:r>
            <a:r>
              <a:rPr lang="en-US" altLang="ko-KR" sz="2800" b="1" cap="none" dirty="0">
                <a:latin typeface="Lora" pitchFamily="2" charset="0"/>
              </a:rPr>
              <a:t>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7E75AB-658A-9643-B43A-CBB1301CEE6A}"/>
              </a:ext>
            </a:extLst>
          </p:cNvPr>
          <p:cNvSpPr txBox="1"/>
          <p:nvPr/>
        </p:nvSpPr>
        <p:spPr>
          <a:xfrm>
            <a:off x="609600" y="1551709"/>
            <a:ext cx="6301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Visual explanations of core machine learning concepts</a:t>
            </a:r>
            <a:endParaRPr lang="ko-KR" altLang="en-US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4762C9A-CE1F-C414-C398-945F11915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893" y="2492466"/>
            <a:ext cx="8726118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12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6F4CD-8E55-11F1-44E6-17D7F6A3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4DBAA9-5563-424C-E931-BB4B86418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40E9F93-00EE-52DC-A0A2-8A67320603E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Adaboost</a:t>
            </a:r>
            <a:r>
              <a:rPr lang="en-US" altLang="ko-KR" sz="2800" b="1" cap="none" dirty="0">
                <a:latin typeface="Lora" pitchFamily="2" charset="0"/>
              </a:rPr>
              <a:t> Models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1B077D-C89F-39F1-F492-86C0CE892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855" y="2734658"/>
            <a:ext cx="6784836" cy="366672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3390CF2-B2C2-36CF-8C86-A4DBE71A5869}"/>
              </a:ext>
            </a:extLst>
          </p:cNvPr>
          <p:cNvSpPr/>
          <p:nvPr/>
        </p:nvSpPr>
        <p:spPr>
          <a:xfrm>
            <a:off x="558298" y="1248422"/>
            <a:ext cx="1070925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base">
              <a:buFont typeface="Wingdings" panose="05000000000000000000" pitchFamily="2" charset="2"/>
              <a:buChar char="§"/>
            </a:pPr>
            <a:r>
              <a:rPr lang="ko-KR" altLang="en-US" sz="1600" kern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후행 분류기가 선행 분류기를 차례로 학습</a:t>
            </a:r>
            <a:endParaRPr lang="en-US" altLang="ko-KR" sz="1600" kern="0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altLang="ko-KR" sz="1600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Reduces</a:t>
            </a:r>
            <a:r>
              <a:rPr lang="ko-KR" altLang="en-US" sz="1600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bias of the base learners</a:t>
            </a:r>
            <a:endParaRPr lang="en-US" altLang="ko-KR" sz="1600" b="1" kern="0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algn="just" fontAlgn="base">
              <a:buFont typeface="Wingdings" panose="05000000000000000000" pitchFamily="2" charset="2"/>
              <a:buChar char="§"/>
            </a:pPr>
            <a:r>
              <a:rPr lang="ko-KR" altLang="en-US" sz="1600" kern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여러 약한 분류기가 선행 분류기가 </a:t>
            </a:r>
            <a:r>
              <a:rPr lang="ko-KR" altLang="en-US" sz="1600" b="1" kern="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잘못 분류한 자료에 가중치를 부여하여 </a:t>
            </a:r>
            <a:r>
              <a:rPr lang="ko-KR" altLang="en-US" sz="1600" kern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후속 분류기가 계속 학습</a:t>
            </a:r>
            <a:endParaRPr lang="en-US" altLang="ko-KR" sz="1600" kern="0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algn="just" fontAlgn="base">
              <a:buFont typeface="Wingdings" panose="05000000000000000000" pitchFamily="2" charset="2"/>
              <a:buChar char="§"/>
            </a:pPr>
            <a:r>
              <a:rPr lang="en-US" altLang="ko-KR" sz="1600" kern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Boosting is a gradient descent on function space.</a:t>
            </a:r>
            <a:endParaRPr lang="ko-KR" altLang="en-US" sz="1600" kern="0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C4C80B-7628-0544-60D9-66F5FB5298EF}"/>
                  </a:ext>
                </a:extLst>
              </p:cNvPr>
              <p:cNvSpPr txBox="1"/>
              <p:nvPr/>
            </p:nvSpPr>
            <p:spPr>
              <a:xfrm>
                <a:off x="7895890" y="2734658"/>
                <a:ext cx="3499819" cy="784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l-GR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ko-KR" sz="1600" i="1" smtClean="0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 ∗ 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C4C80B-7628-0544-60D9-66F5FB529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890" y="2734658"/>
                <a:ext cx="3499819" cy="7846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124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3867F-DC39-1392-F3BC-0D78D35FD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ABCEC6-95DD-E2D9-0678-3269FEA49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047B114-2661-DF2A-0C99-1B69CDAD8CC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Gradient Boost Models</a:t>
            </a:r>
          </a:p>
        </p:txBody>
      </p:sp>
      <p:pic>
        <p:nvPicPr>
          <p:cNvPr id="6" name="_x296427000" descr="EMB000003b8ca4b">
            <a:extLst>
              <a:ext uri="{FF2B5EF4-FFF2-40B4-BE49-F238E27FC236}">
                <a16:creationId xmlns:a16="http://schemas.microsoft.com/office/drawing/2014/main" id="{EB04CDAC-8D62-7661-F4F4-8AAFB33BC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015" y="1248422"/>
            <a:ext cx="5255630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34D7943-070E-A95C-09E7-C29DC0B86FDE}"/>
              </a:ext>
            </a:extLst>
          </p:cNvPr>
          <p:cNvSpPr/>
          <p:nvPr/>
        </p:nvSpPr>
        <p:spPr>
          <a:xfrm>
            <a:off x="639134" y="6376017"/>
            <a:ext cx="1002678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Hands-on Machine Learning with Scikit-Learn, </a:t>
            </a:r>
            <a:r>
              <a:rPr lang="en-US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Keras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, and TensorFlow </a:t>
            </a:r>
            <a:r>
              <a:rPr lang="en-US" altLang="ko-KR" sz="1100" i="1" dirty="0"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Concepts, Tools, and Techniques to Build Intelligent Systems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2E6D1D-6E3B-9E58-87C8-923ED7DB90E2}"/>
                  </a:ext>
                </a:extLst>
              </p:cNvPr>
              <p:cNvSpPr txBox="1"/>
              <p:nvPr/>
            </p:nvSpPr>
            <p:spPr>
              <a:xfrm>
                <a:off x="8862061" y="1756789"/>
                <a:ext cx="199505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1</a:t>
                </a:r>
                <a:r>
                  <a:rPr lang="ko-KR" altLang="en-US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번 </a:t>
                </a:r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나무만의 </a:t>
                </a:r>
                <a:r>
                  <a:rPr lang="ko-KR" altLang="ko-KR" sz="12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예측값</a:t>
                </a:r>
                <a:endParaRPr lang="en-US" altLang="ko-KR" sz="12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(</a:t>
                </a:r>
                <a14:m>
                  <m:oMath xmlns:m="http://schemas.openxmlformats.org/officeDocument/2006/math">
                    <m:r>
                      <a:rPr lang="ko-KR" altLang="en-US" sz="1200" i="1"/>
                      <m:t>ℎ</m:t>
                    </m:r>
                    <m:d>
                      <m:dPr>
                        <m:ctrlPr>
                          <a:rPr lang="ko-KR" altLang="en-US" sz="1200" i="1"/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/>
                            </m:ctrlPr>
                          </m:sSubPr>
                          <m:e>
                            <m:r>
                              <a:rPr lang="ko-KR" altLang="en-US" sz="1200" i="1"/>
                              <m:t>𝑥</m:t>
                            </m:r>
                          </m:e>
                          <m:sub>
                            <m:r>
                              <a:rPr lang="ko-KR" altLang="en-US" sz="1200"/>
                              <m:t>1</m:t>
                            </m:r>
                          </m:sub>
                        </m:sSub>
                      </m:e>
                    </m:d>
                    <m:r>
                      <a:rPr lang="ko-KR" altLang="en-US" sz="1200"/>
                      <m:t>=</m:t>
                    </m:r>
                    <m:sSub>
                      <m:sSubPr>
                        <m:ctrlPr>
                          <a:rPr lang="ko-KR" altLang="en-US" sz="1200" i="1"/>
                        </m:ctrlPr>
                      </m:sSubPr>
                      <m:e>
                        <m:r>
                          <a:rPr lang="ko-KR" altLang="en-US" sz="1200" i="1"/>
                          <m:t>ℎ</m:t>
                        </m:r>
                      </m:e>
                      <m:sub>
                        <m:r>
                          <a:rPr lang="ko-KR" altLang="en-US" sz="1200"/>
                          <m:t>1</m:t>
                        </m:r>
                      </m:sub>
                    </m:sSub>
                    <m:d>
                      <m:dPr>
                        <m:ctrlPr>
                          <a:rPr lang="ko-KR" altLang="en-US" sz="1200" i="1"/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/>
                            </m:ctrlPr>
                          </m:sSubPr>
                          <m:e>
                            <m:r>
                              <a:rPr lang="ko-KR" altLang="en-US" sz="1200" i="1"/>
                              <m:t>𝑥</m:t>
                            </m:r>
                          </m:e>
                          <m:sub>
                            <m:r>
                              <a:rPr lang="ko-KR" altLang="en-US" sz="1200"/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).</a:t>
                </a:r>
                <a:endParaRPr lang="ko-KR" altLang="en-US" sz="12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2E6D1D-6E3B-9E58-87C8-923ED7DB9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061" y="1756789"/>
                <a:ext cx="1995054" cy="461665"/>
              </a:xfrm>
              <a:prstGeom prst="rect">
                <a:avLst/>
              </a:prstGeom>
              <a:blipFill>
                <a:blip r:embed="rId3"/>
                <a:stretch>
                  <a:fillRect l="-306" t="-1316"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13D29B-B295-A4C6-303C-59D927E9AE72}"/>
                  </a:ext>
                </a:extLst>
              </p:cNvPr>
              <p:cNvSpPr txBox="1"/>
              <p:nvPr/>
            </p:nvSpPr>
            <p:spPr>
              <a:xfrm>
                <a:off x="8862061" y="3336185"/>
                <a:ext cx="272033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1번 나무와 2번 나무의 </a:t>
                </a:r>
                <a:r>
                  <a:rPr lang="ko-KR" altLang="ko-KR" sz="12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예측값을</a:t>
                </a:r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합쳐 오차를 보완 </a:t>
                </a:r>
                <a:endParaRPr lang="en-US" altLang="ko-KR" sz="12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200" i="1" smtClean="0"/>
                      <m:t>ℎ</m:t>
                    </m:r>
                    <m:d>
                      <m:dPr>
                        <m:ctrlPr>
                          <a:rPr lang="ko-KR" altLang="en-US" sz="1200" i="1"/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/>
                            </m:ctrlPr>
                          </m:sSubPr>
                          <m:e>
                            <m:r>
                              <a:rPr lang="ko-KR" altLang="en-US" sz="1200" i="1"/>
                              <m:t>𝑥</m:t>
                            </m:r>
                          </m:e>
                          <m:sub>
                            <m:r>
                              <a:rPr lang="ko-KR" altLang="en-US" sz="1200" i="0"/>
                              <m:t>1</m:t>
                            </m:r>
                          </m:sub>
                        </m:sSub>
                      </m:e>
                    </m:d>
                    <m:r>
                      <a:rPr lang="ko-KR" altLang="en-US" sz="1200" i="0"/>
                      <m:t>=</m:t>
                    </m:r>
                    <m:sSub>
                      <m:sSubPr>
                        <m:ctrlPr>
                          <a:rPr lang="ko-KR" altLang="en-US" sz="1200" i="1"/>
                        </m:ctrlPr>
                      </m:sSubPr>
                      <m:e>
                        <m:r>
                          <a:rPr lang="ko-KR" altLang="en-US" sz="1200" i="1"/>
                          <m:t>ℎ</m:t>
                        </m:r>
                      </m:e>
                      <m:sub>
                        <m:r>
                          <a:rPr lang="ko-KR" altLang="en-US" sz="1200" i="0"/>
                          <m:t>1</m:t>
                        </m:r>
                      </m:sub>
                    </m:sSub>
                    <m:d>
                      <m:dPr>
                        <m:ctrlPr>
                          <a:rPr lang="ko-KR" altLang="en-US" sz="1200" i="1"/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/>
                            </m:ctrlPr>
                          </m:sSubPr>
                          <m:e>
                            <m:r>
                              <a:rPr lang="ko-KR" altLang="en-US" sz="1200" i="1"/>
                              <m:t>𝑥</m:t>
                            </m:r>
                          </m:e>
                          <m:sub>
                            <m:r>
                              <a:rPr lang="ko-KR" altLang="en-US" sz="1200" i="0"/>
                              <m:t>1</m:t>
                            </m:r>
                          </m:sub>
                        </m:sSub>
                      </m:e>
                    </m:d>
                    <m:r>
                      <a:rPr lang="ko-KR" altLang="en-US" sz="1200" i="0"/>
                      <m:t>+</m:t>
                    </m:r>
                    <m:sSub>
                      <m:sSubPr>
                        <m:ctrlPr>
                          <a:rPr lang="ko-KR" altLang="en-US" sz="1200" i="1"/>
                        </m:ctrlPr>
                      </m:sSubPr>
                      <m:e>
                        <m:r>
                          <a:rPr lang="ko-KR" altLang="en-US" sz="1200" i="1"/>
                          <m:t>ℎ</m:t>
                        </m:r>
                      </m:e>
                      <m:sub>
                        <m:r>
                          <a:rPr lang="ko-KR" altLang="en-US" sz="1200" i="0"/>
                          <m:t>2</m:t>
                        </m:r>
                      </m:sub>
                    </m:sSub>
                    <m:d>
                      <m:dPr>
                        <m:ctrlPr>
                          <a:rPr lang="ko-KR" altLang="en-US" sz="1200" i="1"/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/>
                            </m:ctrlPr>
                          </m:sSubPr>
                          <m:e>
                            <m:r>
                              <a:rPr lang="ko-KR" altLang="en-US" sz="1200" i="1"/>
                              <m:t>𝑥</m:t>
                            </m:r>
                          </m:e>
                          <m:sub>
                            <m:r>
                              <a:rPr lang="ko-KR" altLang="en-US" sz="1200" i="0"/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).</a:t>
                </a:r>
                <a:endParaRPr lang="ko-KR" altLang="en-US" sz="12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13D29B-B295-A4C6-303C-59D927E9A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061" y="3336185"/>
                <a:ext cx="2720339" cy="646331"/>
              </a:xfrm>
              <a:prstGeom prst="rect">
                <a:avLst/>
              </a:prstGeom>
              <a:blipFill>
                <a:blip r:embed="rId4"/>
                <a:stretch>
                  <a:fillRect l="-224" t="-943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A78AB0-01C7-6E7B-4C36-B5CF57BBE3B1}"/>
                  </a:ext>
                </a:extLst>
              </p:cNvPr>
              <p:cNvSpPr txBox="1"/>
              <p:nvPr/>
            </p:nvSpPr>
            <p:spPr>
              <a:xfrm>
                <a:off x="8862061" y="4959644"/>
                <a:ext cx="297200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3번 나무까지 모두 더하여 </a:t>
                </a:r>
                <a:endParaRPr lang="en-US" altLang="ko-KR" sz="12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200" i="1" smtClean="0"/>
                      <m:t>ℎ</m:t>
                    </m:r>
                    <m:d>
                      <m:dPr>
                        <m:ctrlPr>
                          <a:rPr lang="ko-KR" altLang="en-US" sz="1200" i="1"/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/>
                            </m:ctrlPr>
                          </m:sSubPr>
                          <m:e>
                            <m:r>
                              <a:rPr lang="ko-KR" altLang="en-US" sz="1200" i="1"/>
                              <m:t>𝑥</m:t>
                            </m:r>
                          </m:e>
                          <m:sub>
                            <m:r>
                              <a:rPr lang="ko-KR" altLang="en-US" sz="1200" i="0"/>
                              <m:t>1</m:t>
                            </m:r>
                          </m:sub>
                        </m:sSub>
                      </m:e>
                    </m:d>
                    <m:r>
                      <a:rPr lang="ko-KR" altLang="en-US" sz="1200" i="0"/>
                      <m:t>=</m:t>
                    </m:r>
                    <m:sSub>
                      <m:sSubPr>
                        <m:ctrlPr>
                          <a:rPr lang="ko-KR" altLang="en-US" sz="1200" i="1"/>
                        </m:ctrlPr>
                      </m:sSubPr>
                      <m:e>
                        <m:r>
                          <a:rPr lang="ko-KR" altLang="en-US" sz="1200" i="1"/>
                          <m:t>ℎ</m:t>
                        </m:r>
                      </m:e>
                      <m:sub>
                        <m:r>
                          <a:rPr lang="ko-KR" altLang="en-US" sz="1200" i="0"/>
                          <m:t>1</m:t>
                        </m:r>
                      </m:sub>
                    </m:sSub>
                    <m:d>
                      <m:dPr>
                        <m:ctrlPr>
                          <a:rPr lang="ko-KR" altLang="en-US" sz="1200" i="1"/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/>
                            </m:ctrlPr>
                          </m:sSubPr>
                          <m:e>
                            <m:r>
                              <a:rPr lang="ko-KR" altLang="en-US" sz="1200" i="1"/>
                              <m:t>𝑥</m:t>
                            </m:r>
                          </m:e>
                          <m:sub>
                            <m:r>
                              <a:rPr lang="ko-KR" altLang="en-US" sz="1200" i="0"/>
                              <m:t>1</m:t>
                            </m:r>
                          </m:sub>
                        </m:sSub>
                      </m:e>
                    </m:d>
                    <m:r>
                      <a:rPr lang="ko-KR" altLang="en-US" sz="1200" i="0"/>
                      <m:t>+</m:t>
                    </m:r>
                    <m:sSub>
                      <m:sSubPr>
                        <m:ctrlPr>
                          <a:rPr lang="ko-KR" altLang="en-US" sz="1200" i="1"/>
                        </m:ctrlPr>
                      </m:sSubPr>
                      <m:e>
                        <m:r>
                          <a:rPr lang="ko-KR" altLang="en-US" sz="1200" i="1"/>
                          <m:t>ℎ</m:t>
                        </m:r>
                      </m:e>
                      <m:sub>
                        <m:r>
                          <a:rPr lang="ko-KR" altLang="en-US" sz="1200" i="0"/>
                          <m:t>2</m:t>
                        </m:r>
                      </m:sub>
                    </m:sSub>
                    <m:d>
                      <m:dPr>
                        <m:ctrlPr>
                          <a:rPr lang="ko-KR" altLang="en-US" sz="1200" i="1"/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/>
                            </m:ctrlPr>
                          </m:sSubPr>
                          <m:e>
                            <m:r>
                              <a:rPr lang="ko-KR" altLang="en-US" sz="1200" i="1"/>
                              <m:t>𝑥</m:t>
                            </m:r>
                          </m:e>
                          <m:sub>
                            <m:r>
                              <a:rPr lang="ko-KR" altLang="en-US" sz="1200" i="0"/>
                              <m:t>1</m:t>
                            </m:r>
                          </m:sub>
                        </m:sSub>
                      </m:e>
                    </m:d>
                    <m:r>
                      <a:rPr lang="ko-KR" altLang="en-US" sz="1200" i="0"/>
                      <m:t>+</m:t>
                    </m:r>
                    <m:sSub>
                      <m:sSubPr>
                        <m:ctrlPr>
                          <a:rPr lang="ko-KR" altLang="en-US" sz="1200" i="1"/>
                        </m:ctrlPr>
                      </m:sSubPr>
                      <m:e>
                        <m:r>
                          <a:rPr lang="ko-KR" altLang="en-US" sz="1200" i="1"/>
                          <m:t>ℎ</m:t>
                        </m:r>
                      </m:e>
                      <m:sub>
                        <m:r>
                          <a:rPr lang="ko-KR" altLang="en-US" sz="1200" i="0"/>
                          <m:t>3</m:t>
                        </m:r>
                      </m:sub>
                    </m:sSub>
                    <m:d>
                      <m:dPr>
                        <m:ctrlPr>
                          <a:rPr lang="ko-KR" altLang="en-US" sz="1200" i="1"/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/>
                            </m:ctrlPr>
                          </m:sSubPr>
                          <m:e>
                            <m:r>
                              <a:rPr lang="ko-KR" altLang="en-US" sz="1200" i="1"/>
                              <m:t>𝑥</m:t>
                            </m:r>
                          </m:e>
                          <m:sub>
                            <m:r>
                              <a:rPr lang="ko-KR" altLang="en-US" sz="1200" i="0"/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), </a:t>
                </a:r>
                <a:endParaRPr lang="en-US" altLang="ko-KR" sz="12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실제 데이터 곡선 패턴에 훨씬 정교하게 부합하는 최종 결합 모델</a:t>
                </a:r>
                <a:endParaRPr lang="ko-KR" altLang="en-US" sz="12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A78AB0-01C7-6E7B-4C36-B5CF57BBE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061" y="4959644"/>
                <a:ext cx="2972003" cy="830997"/>
              </a:xfrm>
              <a:prstGeom prst="rect">
                <a:avLst/>
              </a:prstGeom>
              <a:blipFill>
                <a:blip r:embed="rId5"/>
                <a:stretch>
                  <a:fillRect l="-205" t="-1471" b="-44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461E3F-F2FB-62E3-9FAB-6EC3B70EDC78}"/>
                  </a:ext>
                </a:extLst>
              </p:cNvPr>
              <p:cNvSpPr txBox="1"/>
              <p:nvPr/>
            </p:nvSpPr>
            <p:spPr>
              <a:xfrm>
                <a:off x="710375" y="1693861"/>
                <a:ext cx="269242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첫 번째 의사결정 나무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ko-KR" altLang="en-US" sz="1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ko-KR" alt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ko-KR" alt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이 원본 데이터(</a:t>
                </a:r>
                <a:r>
                  <a:rPr lang="ko-KR" altLang="ko-KR" sz="12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Blue</a:t>
                </a:r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ko-KR" sz="12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dots</a:t>
                </a:r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)를 직접 학습</a:t>
                </a:r>
                <a:endParaRPr lang="ko-KR" altLang="en-US" sz="12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461E3F-F2FB-62E3-9FAB-6EC3B70ED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75" y="1693861"/>
                <a:ext cx="2692428" cy="646331"/>
              </a:xfrm>
              <a:prstGeom prst="rect">
                <a:avLst/>
              </a:prstGeom>
              <a:blipFill>
                <a:blip r:embed="rId6"/>
                <a:stretch>
                  <a:fillRect l="-227" t="-1887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EE0852-6631-F7DF-4427-5A72C2F47FB3}"/>
                  </a:ext>
                </a:extLst>
              </p:cNvPr>
              <p:cNvSpPr txBox="1"/>
              <p:nvPr/>
            </p:nvSpPr>
            <p:spPr>
              <a:xfrm>
                <a:off x="710375" y="3197685"/>
                <a:ext cx="277173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첫 번째 나무의 예측 오차인 </a:t>
                </a:r>
                <a:r>
                  <a:rPr lang="ko-KR" altLang="ko-KR" sz="12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잔차</a:t>
                </a:r>
                <a:r>
                  <a:rPr lang="en-US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:r>
                  <a:rPr lang="ko-KR" altLang="ko-KR" sz="12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y</a:t>
                </a:r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ko-KR" altLang="en-US" sz="1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ko-KR" alt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를 계산하고, 두 번째 나무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ko-KR" altLang="en-US" sz="1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ko-KR" alt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ko-KR" alt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가 이 오차(Black </a:t>
                </a:r>
                <a:r>
                  <a:rPr lang="ko-KR" altLang="ko-KR" sz="12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crosses</a:t>
                </a:r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ko-KR" sz="12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를</a:t>
                </a:r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예측하도록 학습</a:t>
                </a:r>
                <a:endParaRPr lang="ko-KR" altLang="en-US" sz="12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EE0852-6631-F7DF-4427-5A72C2F47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75" y="3197685"/>
                <a:ext cx="2771732" cy="830997"/>
              </a:xfrm>
              <a:prstGeom prst="rect">
                <a:avLst/>
              </a:prstGeom>
              <a:blipFill>
                <a:blip r:embed="rId7"/>
                <a:stretch>
                  <a:fillRect l="-220" t="-1471" b="-44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E7CECD-DCD8-707E-AFC4-151F9E1FB33C}"/>
                  </a:ext>
                </a:extLst>
              </p:cNvPr>
              <p:cNvSpPr txBox="1"/>
              <p:nvPr/>
            </p:nvSpPr>
            <p:spPr>
              <a:xfrm>
                <a:off x="710375" y="5051976"/>
                <a:ext cx="281009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두 나무를 거치고도 남아있는 </a:t>
                </a:r>
                <a:r>
                  <a:rPr lang="ko-KR" altLang="ko-KR" sz="12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잔차</a:t>
                </a:r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y-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ko-KR" altLang="en-US" sz="1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ko-KR" alt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ko-KR" alt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ko-KR" altLang="en-US" sz="1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ko-KR" alt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를 세 번째 나무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ko-KR" altLang="en-US" sz="12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ko-KR" alt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ko-KR" alt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ko-KR" sz="12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가 다시 학습</a:t>
                </a:r>
                <a:endParaRPr lang="ko-KR" altLang="en-US" sz="12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E7CECD-DCD8-707E-AFC4-151F9E1FB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75" y="5051976"/>
                <a:ext cx="2810094" cy="646331"/>
              </a:xfrm>
              <a:prstGeom prst="rect">
                <a:avLst/>
              </a:prstGeom>
              <a:blipFill>
                <a:blip r:embed="rId8"/>
                <a:stretch>
                  <a:fillRect l="-217" t="-1887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9881E0-ECCA-30EE-8763-5812A1469703}"/>
              </a:ext>
            </a:extLst>
          </p:cNvPr>
          <p:cNvSpPr/>
          <p:nvPr/>
        </p:nvSpPr>
        <p:spPr>
          <a:xfrm>
            <a:off x="609600" y="1391011"/>
            <a:ext cx="10982036" cy="123436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3904CE-4BBE-9AF0-7749-9E45AB720F03}"/>
              </a:ext>
            </a:extLst>
          </p:cNvPr>
          <p:cNvSpPr/>
          <p:nvPr/>
        </p:nvSpPr>
        <p:spPr>
          <a:xfrm>
            <a:off x="609600" y="3104034"/>
            <a:ext cx="10982036" cy="123436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8B3E3E-FEDA-EA61-9A7D-2C264282718D}"/>
              </a:ext>
            </a:extLst>
          </p:cNvPr>
          <p:cNvSpPr/>
          <p:nvPr/>
        </p:nvSpPr>
        <p:spPr>
          <a:xfrm>
            <a:off x="600364" y="4706392"/>
            <a:ext cx="10982036" cy="132986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9" name="그래픽 28" descr="왼쪽으로 굽은 화살표 단색으로 채워진">
            <a:extLst>
              <a:ext uri="{FF2B5EF4-FFF2-40B4-BE49-F238E27FC236}">
                <a16:creationId xmlns:a16="http://schemas.microsoft.com/office/drawing/2014/main" id="{00DD4A83-18C3-7CC3-CA51-3B0CDC96E7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9360300">
            <a:off x="200232" y="2597543"/>
            <a:ext cx="550825" cy="550825"/>
          </a:xfrm>
          <a:prstGeom prst="rect">
            <a:avLst/>
          </a:prstGeom>
        </p:spPr>
      </p:pic>
      <p:pic>
        <p:nvPicPr>
          <p:cNvPr id="31" name="그래픽 30" descr="왼쪽으로 굽은 화살표 단색으로 채워진">
            <a:extLst>
              <a:ext uri="{FF2B5EF4-FFF2-40B4-BE49-F238E27FC236}">
                <a16:creationId xmlns:a16="http://schemas.microsoft.com/office/drawing/2014/main" id="{B324D225-FBF9-70DB-05F9-62764853AA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9360300">
            <a:off x="200231" y="4298225"/>
            <a:ext cx="550825" cy="55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11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FC8C5-78D5-A0AC-5060-8439D8B4A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AD622-0743-C05B-EA59-273ED20D2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7BEB81A-EDEC-4D75-213D-B98FAF34CDA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Ensemble Stacking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Model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98EA235-DFD0-DA27-50D4-DE10861F9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493" y="2636968"/>
            <a:ext cx="562348" cy="729199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8E53F0CB-307A-4A7A-3E3E-4CA80F21EE73}"/>
              </a:ext>
            </a:extLst>
          </p:cNvPr>
          <p:cNvGrpSpPr/>
          <p:nvPr/>
        </p:nvGrpSpPr>
        <p:grpSpPr>
          <a:xfrm>
            <a:off x="4335187" y="3252638"/>
            <a:ext cx="1680791" cy="426940"/>
            <a:chOff x="4720243" y="3485503"/>
            <a:chExt cx="1680791" cy="42694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6C4926C-6CFB-9650-A971-4CFE6A0E2421}"/>
                </a:ext>
              </a:extLst>
            </p:cNvPr>
            <p:cNvSpPr/>
            <p:nvPr/>
          </p:nvSpPr>
          <p:spPr>
            <a:xfrm>
              <a:off x="4720243" y="3485503"/>
              <a:ext cx="1680791" cy="4269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9112B22-5E7C-07A3-2BF4-489420594706}"/>
                </a:ext>
              </a:extLst>
            </p:cNvPr>
            <p:cNvSpPr/>
            <p:nvPr/>
          </p:nvSpPr>
          <p:spPr>
            <a:xfrm>
              <a:off x="4720244" y="3558672"/>
              <a:ext cx="168079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b="1" spc="-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 Unicode MS" panose="020B0604020202020204" pitchFamily="50" charset="-127"/>
                </a:rPr>
                <a:t> </a:t>
              </a:r>
              <a:r>
                <a:rPr lang="en-US" altLang="ko-KR" sz="1400" b="1" spc="-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 Unicode MS" panose="020B0604020202020204" pitchFamily="50" charset="-127"/>
                </a:rPr>
                <a:t>Base Learner 1</a:t>
              </a:r>
              <a:endParaRPr lang="ko-KR" altLang="en-US" sz="1400" b="1">
                <a:solidFill>
                  <a:schemeClr val="bg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44F97077-16EA-4021-FA8A-A3D7C82D2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842" y="4377861"/>
            <a:ext cx="898156" cy="83322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69BAF750-97A4-8460-38C1-62F68AECD7A8}"/>
              </a:ext>
            </a:extLst>
          </p:cNvPr>
          <p:cNvGrpSpPr/>
          <p:nvPr/>
        </p:nvGrpSpPr>
        <p:grpSpPr>
          <a:xfrm>
            <a:off x="4335187" y="4125830"/>
            <a:ext cx="1680791" cy="426940"/>
            <a:chOff x="4720243" y="3485503"/>
            <a:chExt cx="1680791" cy="42694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79248E5-0503-EB60-B441-D750F8FBD152}"/>
                </a:ext>
              </a:extLst>
            </p:cNvPr>
            <p:cNvSpPr/>
            <p:nvPr/>
          </p:nvSpPr>
          <p:spPr>
            <a:xfrm>
              <a:off x="4720243" y="3485503"/>
              <a:ext cx="1680791" cy="4269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F6964A2-A87F-1A06-CC35-DAA88A558439}"/>
                </a:ext>
              </a:extLst>
            </p:cNvPr>
            <p:cNvSpPr/>
            <p:nvPr/>
          </p:nvSpPr>
          <p:spPr>
            <a:xfrm>
              <a:off x="4720244" y="3558672"/>
              <a:ext cx="168079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b="1" spc="-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 Unicode MS" panose="020B0604020202020204" pitchFamily="50" charset="-127"/>
                </a:rPr>
                <a:t> </a:t>
              </a:r>
              <a:r>
                <a:rPr lang="en-US" altLang="ko-KR" sz="1400" b="1" spc="-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 Unicode MS" panose="020B0604020202020204" pitchFamily="50" charset="-127"/>
                </a:rPr>
                <a:t>Base Learner 1</a:t>
              </a:r>
              <a:endParaRPr lang="ko-KR" altLang="en-US" sz="1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57F6892-142E-F471-4E3C-A3C1F131BB3E}"/>
              </a:ext>
            </a:extLst>
          </p:cNvPr>
          <p:cNvGrpSpPr/>
          <p:nvPr/>
        </p:nvGrpSpPr>
        <p:grpSpPr>
          <a:xfrm>
            <a:off x="4335187" y="4999022"/>
            <a:ext cx="1680791" cy="426940"/>
            <a:chOff x="4720243" y="3485503"/>
            <a:chExt cx="1680791" cy="42694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70559EF-CDB9-3884-FF41-5433B479743D}"/>
                </a:ext>
              </a:extLst>
            </p:cNvPr>
            <p:cNvSpPr/>
            <p:nvPr/>
          </p:nvSpPr>
          <p:spPr>
            <a:xfrm>
              <a:off x="4720243" y="3485503"/>
              <a:ext cx="1680791" cy="4269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C7D5073-022B-7DB4-F2D4-6A56E6DDF3D2}"/>
                </a:ext>
              </a:extLst>
            </p:cNvPr>
            <p:cNvSpPr/>
            <p:nvPr/>
          </p:nvSpPr>
          <p:spPr>
            <a:xfrm>
              <a:off x="4720244" y="3558672"/>
              <a:ext cx="168079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b="1" spc="-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 Unicode MS" panose="020B0604020202020204" pitchFamily="50" charset="-127"/>
                </a:rPr>
                <a:t> </a:t>
              </a:r>
              <a:r>
                <a:rPr lang="en-US" altLang="ko-KR" sz="1400" b="1" spc="-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 Unicode MS" panose="020B0604020202020204" pitchFamily="50" charset="-127"/>
                </a:rPr>
                <a:t>Base Learner 1</a:t>
              </a:r>
              <a:endParaRPr lang="ko-KR" altLang="en-US" sz="1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B12FE24-99AF-841F-7CEE-1496A758B039}"/>
              </a:ext>
            </a:extLst>
          </p:cNvPr>
          <p:cNvGrpSpPr/>
          <p:nvPr/>
        </p:nvGrpSpPr>
        <p:grpSpPr>
          <a:xfrm>
            <a:off x="4335187" y="5872214"/>
            <a:ext cx="1680791" cy="426940"/>
            <a:chOff x="4720243" y="3485503"/>
            <a:chExt cx="1680791" cy="42694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879F0D4-6003-5781-4CED-A551ED987F0B}"/>
                </a:ext>
              </a:extLst>
            </p:cNvPr>
            <p:cNvSpPr/>
            <p:nvPr/>
          </p:nvSpPr>
          <p:spPr>
            <a:xfrm>
              <a:off x="4720243" y="3485503"/>
              <a:ext cx="1680791" cy="4269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32B6B6C-B871-AA33-41E8-E88C065D7134}"/>
                </a:ext>
              </a:extLst>
            </p:cNvPr>
            <p:cNvSpPr/>
            <p:nvPr/>
          </p:nvSpPr>
          <p:spPr>
            <a:xfrm>
              <a:off x="4720244" y="3558672"/>
              <a:ext cx="168079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b="1" spc="-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 Unicode MS" panose="020B0604020202020204" pitchFamily="50" charset="-127"/>
                </a:rPr>
                <a:t> </a:t>
              </a:r>
              <a:r>
                <a:rPr lang="en-US" altLang="ko-KR" sz="1400" b="1" spc="-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 Unicode MS" panose="020B0604020202020204" pitchFamily="50" charset="-127"/>
                </a:rPr>
                <a:t>Base Learner 1</a:t>
              </a:r>
              <a:endParaRPr lang="ko-KR" altLang="en-US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D333FE-A662-99D9-6F04-F30D08002E0B}"/>
              </a:ext>
            </a:extLst>
          </p:cNvPr>
          <p:cNvSpPr/>
          <p:nvPr/>
        </p:nvSpPr>
        <p:spPr>
          <a:xfrm>
            <a:off x="2003081" y="5311457"/>
            <a:ext cx="5036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latin typeface="Arial Narrow" panose="020B0606020202030204" pitchFamily="34" charset="0"/>
              </a:rPr>
              <a:t>Data</a:t>
            </a:r>
            <a:endParaRPr lang="ko-KR" altLang="en-US" sz="1400" b="1">
              <a:latin typeface="Arial Narrow" panose="020B0606020202030204" pitchFamily="34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03D0ED9-D128-A9AD-6612-C2440563DA90}"/>
              </a:ext>
            </a:extLst>
          </p:cNvPr>
          <p:cNvCxnSpPr>
            <a:endCxn id="7" idx="1"/>
          </p:cNvCxnSpPr>
          <p:nvPr/>
        </p:nvCxnSpPr>
        <p:spPr bwMode="auto">
          <a:xfrm flipV="1">
            <a:off x="2665813" y="3479696"/>
            <a:ext cx="1669375" cy="7193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6BED1FC-F7B3-67D1-E3FC-39D504C3E94F}"/>
              </a:ext>
            </a:extLst>
          </p:cNvPr>
          <p:cNvCxnSpPr>
            <a:endCxn id="14" idx="1"/>
          </p:cNvCxnSpPr>
          <p:nvPr/>
        </p:nvCxnSpPr>
        <p:spPr bwMode="auto">
          <a:xfrm>
            <a:off x="2788360" y="4984254"/>
            <a:ext cx="1546828" cy="2418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64DE905-8FA3-B2F1-220E-2C3DE01A6B93}"/>
              </a:ext>
            </a:extLst>
          </p:cNvPr>
          <p:cNvCxnSpPr/>
          <p:nvPr/>
        </p:nvCxnSpPr>
        <p:spPr bwMode="auto">
          <a:xfrm flipV="1">
            <a:off x="2803286" y="4283961"/>
            <a:ext cx="1516976" cy="3925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CB50FE6-6D3F-1509-FDC1-59AA5E4978FE}"/>
              </a:ext>
            </a:extLst>
          </p:cNvPr>
          <p:cNvCxnSpPr>
            <a:endCxn id="16" idx="1"/>
          </p:cNvCxnSpPr>
          <p:nvPr/>
        </p:nvCxnSpPr>
        <p:spPr bwMode="auto">
          <a:xfrm>
            <a:off x="2665813" y="5311457"/>
            <a:ext cx="1669374" cy="7742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5E29397-D30E-3A7C-B804-1682AFE9271F}"/>
              </a:ext>
            </a:extLst>
          </p:cNvPr>
          <p:cNvGrpSpPr/>
          <p:nvPr/>
        </p:nvGrpSpPr>
        <p:grpSpPr>
          <a:xfrm>
            <a:off x="7378796" y="4588095"/>
            <a:ext cx="1680791" cy="426940"/>
            <a:chOff x="4720243" y="3485503"/>
            <a:chExt cx="1680791" cy="426940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A268564-F58A-4B2D-EFA1-977E30EFD554}"/>
                </a:ext>
              </a:extLst>
            </p:cNvPr>
            <p:cNvSpPr/>
            <p:nvPr/>
          </p:nvSpPr>
          <p:spPr>
            <a:xfrm>
              <a:off x="4720243" y="3485503"/>
              <a:ext cx="1680791" cy="4269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42AC442-EADA-6448-D30A-19B39511F52B}"/>
                </a:ext>
              </a:extLst>
            </p:cNvPr>
            <p:cNvSpPr/>
            <p:nvPr/>
          </p:nvSpPr>
          <p:spPr>
            <a:xfrm>
              <a:off x="4720244" y="3558672"/>
              <a:ext cx="168079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spc="-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 Unicode MS" panose="020B0604020202020204" pitchFamily="50" charset="-127"/>
                </a:rPr>
                <a:t>Meta Learner</a:t>
              </a:r>
              <a:endParaRPr lang="ko-KR" altLang="en-US" sz="14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85C32D5-E7C4-D112-4B3D-A3CAAD448ED8}"/>
              </a:ext>
            </a:extLst>
          </p:cNvPr>
          <p:cNvCxnSpPr>
            <a:stCxn id="7" idx="3"/>
          </p:cNvCxnSpPr>
          <p:nvPr/>
        </p:nvCxnSpPr>
        <p:spPr bwMode="auto">
          <a:xfrm>
            <a:off x="6015978" y="3479696"/>
            <a:ext cx="1324954" cy="9989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08AA47E-E46D-906E-014E-66362142ABE6}"/>
              </a:ext>
            </a:extLst>
          </p:cNvPr>
          <p:cNvCxnSpPr>
            <a:stCxn id="10" idx="3"/>
          </p:cNvCxnSpPr>
          <p:nvPr/>
        </p:nvCxnSpPr>
        <p:spPr bwMode="auto">
          <a:xfrm>
            <a:off x="6015978" y="4339300"/>
            <a:ext cx="1169506" cy="3555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99EB922-C040-7673-8F21-4A86832A5A55}"/>
              </a:ext>
            </a:extLst>
          </p:cNvPr>
          <p:cNvCxnSpPr>
            <a:stCxn id="14" idx="3"/>
          </p:cNvCxnSpPr>
          <p:nvPr/>
        </p:nvCxnSpPr>
        <p:spPr bwMode="auto">
          <a:xfrm flipV="1">
            <a:off x="6015978" y="4924877"/>
            <a:ext cx="1169506" cy="3012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ED569CC-C883-BA47-FD2C-46E31A8EE2B3}"/>
              </a:ext>
            </a:extLst>
          </p:cNvPr>
          <p:cNvCxnSpPr>
            <a:stCxn id="17" idx="3"/>
          </p:cNvCxnSpPr>
          <p:nvPr/>
        </p:nvCxnSpPr>
        <p:spPr bwMode="auto">
          <a:xfrm flipV="1">
            <a:off x="6015978" y="5128745"/>
            <a:ext cx="1401154" cy="9705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21B16E6-92EA-93BB-B11D-3B78A26A406C}"/>
              </a:ext>
            </a:extLst>
          </p:cNvPr>
          <p:cNvCxnSpPr>
            <a:stCxn id="25" idx="3"/>
          </p:cNvCxnSpPr>
          <p:nvPr/>
        </p:nvCxnSpPr>
        <p:spPr bwMode="auto">
          <a:xfrm flipV="1">
            <a:off x="9059587" y="4815152"/>
            <a:ext cx="1143000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140F324-9C0A-FC01-B884-C6B0801950A0}"/>
              </a:ext>
            </a:extLst>
          </p:cNvPr>
          <p:cNvSpPr/>
          <p:nvPr/>
        </p:nvSpPr>
        <p:spPr>
          <a:xfrm rot="2443711">
            <a:off x="6234247" y="3676835"/>
            <a:ext cx="10294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latin typeface="Arial Narrow" panose="020B0606020202030204" pitchFamily="34" charset="0"/>
              </a:rPr>
              <a:t>Prediction 1</a:t>
            </a:r>
            <a:endParaRPr lang="ko-KR" altLang="en-US" sz="1400" b="1">
              <a:latin typeface="Arial Narrow" panose="020B060602020203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E2DBDD7-00E1-1075-9FED-505B0DD7275A}"/>
              </a:ext>
            </a:extLst>
          </p:cNvPr>
          <p:cNvSpPr/>
          <p:nvPr/>
        </p:nvSpPr>
        <p:spPr>
          <a:xfrm rot="975765">
            <a:off x="6086006" y="4205452"/>
            <a:ext cx="10294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latin typeface="Arial Narrow" panose="020B0606020202030204" pitchFamily="34" charset="0"/>
              </a:rPr>
              <a:t>Prediction 2</a:t>
            </a:r>
            <a:endParaRPr lang="ko-KR" altLang="en-US" sz="1400" b="1">
              <a:latin typeface="Arial Narrow" panose="020B060602020203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6CE0CAB-13E9-B03E-CC5B-3AD5A7BA6FC8}"/>
              </a:ext>
            </a:extLst>
          </p:cNvPr>
          <p:cNvSpPr/>
          <p:nvPr/>
        </p:nvSpPr>
        <p:spPr>
          <a:xfrm rot="20851280">
            <a:off x="6022145" y="4754605"/>
            <a:ext cx="10294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latin typeface="Arial Narrow" panose="020B0606020202030204" pitchFamily="34" charset="0"/>
              </a:rPr>
              <a:t>Prediction 3</a:t>
            </a:r>
            <a:endParaRPr lang="ko-KR" altLang="en-US" sz="1400" b="1">
              <a:latin typeface="Arial Narrow" panose="020B060602020203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AFA4C0E-2AA7-C2B3-C77F-550683014EDD}"/>
              </a:ext>
            </a:extLst>
          </p:cNvPr>
          <p:cNvSpPr/>
          <p:nvPr/>
        </p:nvSpPr>
        <p:spPr>
          <a:xfrm rot="19490027">
            <a:off x="6122211" y="5368948"/>
            <a:ext cx="10294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latin typeface="Arial Narrow" panose="020B0606020202030204" pitchFamily="34" charset="0"/>
              </a:rPr>
              <a:t>Prediction 4</a:t>
            </a:r>
            <a:endParaRPr lang="ko-KR" altLang="en-US" sz="1400" b="1">
              <a:latin typeface="Arial Narrow" panose="020B060602020203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7D5B66C-58F5-8910-7381-F08554432417}"/>
              </a:ext>
            </a:extLst>
          </p:cNvPr>
          <p:cNvSpPr/>
          <p:nvPr/>
        </p:nvSpPr>
        <p:spPr>
          <a:xfrm>
            <a:off x="9059587" y="4283187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latin typeface="Arial Narrow" panose="020B0606020202030204" pitchFamily="34" charset="0"/>
              </a:rPr>
              <a:t>Final</a:t>
            </a:r>
          </a:p>
          <a:p>
            <a:r>
              <a:rPr lang="en-US" altLang="ko-KR" sz="1400" b="1">
                <a:latin typeface="Arial Narrow" panose="020B0606020202030204" pitchFamily="34" charset="0"/>
              </a:rPr>
              <a:t>Prediction</a:t>
            </a:r>
            <a:endParaRPr lang="ko-KR" altLang="en-US" sz="1400" b="1">
              <a:latin typeface="Arial Narrow" panose="020B0606020202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3C0E4C-BB42-806B-5991-5AD5683211F4}"/>
              </a:ext>
            </a:extLst>
          </p:cNvPr>
          <p:cNvSpPr txBox="1"/>
          <p:nvPr/>
        </p:nvSpPr>
        <p:spPr>
          <a:xfrm>
            <a:off x="621383" y="1166635"/>
            <a:ext cx="10949234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계층적 구조, 승자독식 방식이 아님, 다양성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이전 계층 모델들의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예측값이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다음 계층의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입력값으로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사용됨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모델들이 이러한 입력 데이터를 바탕으로 학습하여 최종 결과를 산출함</a:t>
            </a:r>
          </a:p>
        </p:txBody>
      </p:sp>
    </p:spTree>
    <p:extLst>
      <p:ext uri="{BB962C8B-B14F-4D97-AF65-F5344CB8AC3E}">
        <p14:creationId xmlns:p14="http://schemas.microsoft.com/office/powerpoint/2010/main" val="3478818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B76B9-8F23-8D08-22C6-FFB3E35A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DDC906-AF63-CCC3-EFD2-4F86C26A2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9E641AB-5B7F-9A10-E6E8-7DA81377E47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Ensemble Stacking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Model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D3B05372-2B65-CF3C-EA22-81BFC55FF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00" y="1741839"/>
            <a:ext cx="9466990" cy="420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58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A5D9D-97B7-8E12-5B68-500849E56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1ACC9D-285A-B913-4350-C6B5BDAC4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DE55FDC-F022-42D5-0CE7-CACC89BCBD2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Ensemble Stacking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Model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EDBC613C-5636-891C-7859-DDC41083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607" y="2509325"/>
            <a:ext cx="8064107" cy="40971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1872AD-2B2F-7D5C-FF87-F5FF7FEC360E}"/>
              </a:ext>
            </a:extLst>
          </p:cNvPr>
          <p:cNvSpPr txBox="1"/>
          <p:nvPr/>
        </p:nvSpPr>
        <p:spPr>
          <a:xfrm>
            <a:off x="646153" y="1183767"/>
            <a:ext cx="10899694" cy="111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스태킹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일반화(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Stacked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generalization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)는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추정기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estimator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)들을 결합하여 이들의 편향(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bias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)을 줄이는 방법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각 개별 추정기의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예측값을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함께 쌓아서(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stack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최종 예측을 계산하기 위한 최종 추정기의 입력으로 사용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최종 추정기는 교차 검증(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cross-validation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)을 통해 학습</a:t>
            </a:r>
          </a:p>
        </p:txBody>
      </p:sp>
    </p:spTree>
    <p:extLst>
      <p:ext uri="{BB962C8B-B14F-4D97-AF65-F5344CB8AC3E}">
        <p14:creationId xmlns:p14="http://schemas.microsoft.com/office/powerpoint/2010/main" val="3996417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7ECC1-600E-398D-8C2D-3BB393C29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95B41E-E0D2-3379-055D-85C3BB9C2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12FCA5C-EFD7-066A-8125-5683299245C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Ensemble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8E282-E84C-14CF-ED75-7324088B7D4B}"/>
              </a:ext>
            </a:extLst>
          </p:cNvPr>
          <p:cNvSpPr txBox="1"/>
          <p:nvPr/>
        </p:nvSpPr>
        <p:spPr>
          <a:xfrm>
            <a:off x="591125" y="1265724"/>
            <a:ext cx="10834255" cy="477053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sklearn.datasets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load_wine</a:t>
            </a:r>
            <a:endParaRPr lang="ko-KR" altLang="ko-KR" sz="16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load_wine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df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pd.DataFrame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data.data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columns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['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feature_names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’])</a:t>
            </a:r>
            <a:r>
              <a:rPr lang="en-US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df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['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'] =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data.target</a:t>
            </a:r>
            <a:endParaRPr lang="ko-KR" altLang="ko-KR" sz="16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df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[100::2].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df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['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'] == 2, '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']  = 0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df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[101::2].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df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['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'] == 2, '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']  = 1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df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['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feature_names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’]]</a:t>
            </a:r>
            <a:r>
              <a:rPr lang="en-US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;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df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['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']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X_test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y_test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train_test_split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test_size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=0.2,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stratify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ko-KR" altLang="ko-KR" sz="16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=11)</a:t>
            </a:r>
            <a:endParaRPr lang="en-US" altLang="ko-KR" sz="16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clf1 =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ensemble.RandomForestClassifier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n_estimators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=10,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=5)</a:t>
            </a:r>
          </a:p>
          <a:p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clf2 =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StandardScaler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(), SVC(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=5))</a:t>
            </a:r>
          </a:p>
          <a:p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clf3 =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GaussianNB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clf4 =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StandardScaler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KNeighborsClassifier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estimators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[</a:t>
            </a:r>
          </a:p>
          <a:p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('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rf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RandomForestClassifier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n_estimators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=10,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=5)),</a:t>
            </a:r>
          </a:p>
          <a:p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('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svr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StandardScaler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(),SVC(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=5))),</a:t>
            </a:r>
          </a:p>
          <a:p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('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gnb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GaussianNB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('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knn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StandardScaler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KNeighborsClassifier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())))</a:t>
            </a:r>
          </a:p>
          <a:p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7699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71AAF-81F4-0BE7-214B-76A29D85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34491C-B7E1-9BE6-89BC-85F39D947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3490EFC-A3A4-BC5B-CBAE-8EBF6FF9F4B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Ensemble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1448E-177D-F03C-24C9-DD0ABDE354EC}"/>
              </a:ext>
            </a:extLst>
          </p:cNvPr>
          <p:cNvSpPr txBox="1"/>
          <p:nvPr/>
        </p:nvSpPr>
        <p:spPr>
          <a:xfrm>
            <a:off x="720435" y="1597665"/>
            <a:ext cx="10834255" cy="4031873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meta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StackingClassifier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estimators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estimators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final_estimator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LogisticRegression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()) 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model_selection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zip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([clf1, clf2, clf3, clf4,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meta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], </a:t>
            </a:r>
          </a:p>
          <a:p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['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RandomForest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', 'SVC', '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GaussianNB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', 'KNN', '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Stacking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’])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scores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model_selection.cross_val_score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cv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=3)</a:t>
            </a:r>
          </a:p>
          <a:p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f'모델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}의 정확도(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Accuracy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: {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scores.mean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()}')</a:t>
            </a:r>
          </a:p>
          <a:p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#y_predict =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classifier.fit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).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predict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X_test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#print(classification_report(y_test,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y_predict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('*'*70)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y_predict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meta.fit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).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predict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X_test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classification_report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y_test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y_predict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843009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560C4-3513-0CD9-F747-7742EE898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5689B0-9C40-30D5-AF9B-BF4E4470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8448291-DAE1-27CF-F119-A1141A9AD62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AutoGluon</a:t>
            </a:r>
            <a:endParaRPr lang="en-US" altLang="ko-KR" sz="2800" b="1" cap="none" dirty="0">
              <a:latin typeface="Lora" pitchFamily="2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05F1A93-51B5-DAA4-5CE9-CAC777E89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619" y="1299819"/>
            <a:ext cx="5438274" cy="527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9607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9791</TotalTime>
  <Words>829</Words>
  <Application>Microsoft Office PowerPoint</Application>
  <PresentationFormat>와이드스크린</PresentationFormat>
  <Paragraphs>133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D2Coding</vt:lpstr>
      <vt:lpstr>맑은 고딕</vt:lpstr>
      <vt:lpstr>Batang</vt:lpstr>
      <vt:lpstr>Arial</vt:lpstr>
      <vt:lpstr>Arial Black</vt:lpstr>
      <vt:lpstr>Arial Narrow</vt:lpstr>
      <vt:lpstr>Cambria Math</vt:lpstr>
      <vt:lpstr>Lora</vt:lpstr>
      <vt:lpstr>Wingdings</vt:lpstr>
      <vt:lpstr>WelcomeDoc</vt:lpstr>
      <vt:lpstr>Workflow Automation with AI Agents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161</cp:revision>
  <dcterms:created xsi:type="dcterms:W3CDTF">2026-04-06T01:00:39Z</dcterms:created>
  <dcterms:modified xsi:type="dcterms:W3CDTF">2026-09-03T07:29:29Z</dcterms:modified>
  <cp:version/>
</cp:coreProperties>
</file>