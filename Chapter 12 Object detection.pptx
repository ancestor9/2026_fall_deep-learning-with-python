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40"/>
  </p:notesMasterIdLst>
  <p:handoutMasterIdLst>
    <p:handoutMasterId r:id="rId41"/>
  </p:handoutMasterIdLst>
  <p:sldIdLst>
    <p:sldId id="256" r:id="rId2"/>
    <p:sldId id="1156" r:id="rId3"/>
    <p:sldId id="1155" r:id="rId4"/>
    <p:sldId id="1124" r:id="rId5"/>
    <p:sldId id="1161" r:id="rId6"/>
    <p:sldId id="1154" r:id="rId7"/>
    <p:sldId id="1158" r:id="rId8"/>
    <p:sldId id="1142" r:id="rId9"/>
    <p:sldId id="1125" r:id="rId10"/>
    <p:sldId id="1128" r:id="rId11"/>
    <p:sldId id="1129" r:id="rId12"/>
    <p:sldId id="1139" r:id="rId13"/>
    <p:sldId id="1130" r:id="rId14"/>
    <p:sldId id="1143" r:id="rId15"/>
    <p:sldId id="1140" r:id="rId16"/>
    <p:sldId id="1127" r:id="rId17"/>
    <p:sldId id="1133" r:id="rId18"/>
    <p:sldId id="1135" r:id="rId19"/>
    <p:sldId id="1136" r:id="rId20"/>
    <p:sldId id="1159" r:id="rId21"/>
    <p:sldId id="1148" r:id="rId22"/>
    <p:sldId id="1151" r:id="rId23"/>
    <p:sldId id="1152" r:id="rId24"/>
    <p:sldId id="1153" r:id="rId25"/>
    <p:sldId id="1149" r:id="rId26"/>
    <p:sldId id="1146" r:id="rId27"/>
    <p:sldId id="1157" r:id="rId28"/>
    <p:sldId id="1144" r:id="rId29"/>
    <p:sldId id="1145" r:id="rId30"/>
    <p:sldId id="1147" r:id="rId31"/>
    <p:sldId id="1121" r:id="rId32"/>
    <p:sldId id="1132" r:id="rId33"/>
    <p:sldId id="1122" r:id="rId34"/>
    <p:sldId id="1137" r:id="rId35"/>
    <p:sldId id="1123" r:id="rId36"/>
    <p:sldId id="1160" r:id="rId37"/>
    <p:sldId id="1141" r:id="rId38"/>
    <p:sldId id="1138" r:id="rId39"/>
  </p:sldIdLst>
  <p:sldSz cx="12192000" cy="6858000"/>
  <p:notesSz cx="6858000" cy="9144000"/>
  <p:defaultTextStyle>
    <a:defPPr rtl="0">
      <a:defRPr lang="ko-K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감사합니다." id="{E75E278A-FF0E-49A4-B170-79828D63BBAD}">
          <p14:sldIdLst>
            <p14:sldId id="256"/>
          </p14:sldIdLst>
        </p14:section>
        <p14:section name="디자인, 모핑, 주석 달기, 공동 작업, 입력하세요" id="{B9B51309-D148-4332-87C2-07BE32FBCA3B}">
          <p14:sldIdLst/>
        </p14:section>
        <p14:section name="자세한 정보" id="{2CC34DB2-6590-42C0-AD4B-A04C6060184E}">
          <p14:sldIdLst>
            <p14:sldId id="1156"/>
            <p14:sldId id="1155"/>
            <p14:sldId id="1124"/>
            <p14:sldId id="1161"/>
            <p14:sldId id="1154"/>
            <p14:sldId id="1158"/>
            <p14:sldId id="1142"/>
            <p14:sldId id="1125"/>
            <p14:sldId id="1128"/>
            <p14:sldId id="1129"/>
            <p14:sldId id="1139"/>
            <p14:sldId id="1130"/>
            <p14:sldId id="1143"/>
            <p14:sldId id="1140"/>
            <p14:sldId id="1127"/>
            <p14:sldId id="1133"/>
            <p14:sldId id="1135"/>
            <p14:sldId id="1136"/>
            <p14:sldId id="1159"/>
            <p14:sldId id="1148"/>
            <p14:sldId id="1151"/>
            <p14:sldId id="1152"/>
            <p14:sldId id="1153"/>
            <p14:sldId id="1149"/>
            <p14:sldId id="1146"/>
            <p14:sldId id="1157"/>
            <p14:sldId id="1144"/>
            <p14:sldId id="1145"/>
            <p14:sldId id="1147"/>
            <p14:sldId id="1121"/>
            <p14:sldId id="1132"/>
            <p14:sldId id="1122"/>
            <p14:sldId id="1137"/>
            <p14:sldId id="1123"/>
            <p14:sldId id="1160"/>
            <p14:sldId id="1141"/>
            <p14:sldId id="1138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3" name="만든 이" initials="오전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D462F"/>
    <a:srgbClr val="76E3FF"/>
    <a:srgbClr val="404040"/>
    <a:srgbClr val="FF9B45"/>
    <a:srgbClr val="D24726"/>
    <a:srgbClr val="F8CFB6"/>
    <a:srgbClr val="F8CAB6"/>
    <a:srgbClr val="923922"/>
    <a:srgbClr val="F5F5F5"/>
    <a:srgbClr val="F2F2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1E4AEA4-8DFA-4A89-87EB-49C32662AFE0}" styleName="보통 스타일 2 - 강조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93296810-A885-4BE3-A3E7-6D5BEEA58F35}" styleName="보통 스타일 2 - 강조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7DF18680-E054-41AD-8BC1-D1AEF772440D}" styleName="보통 스타일 2 - 강조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062" autoAdjust="0"/>
    <p:restoredTop sz="94297" autoAdjust="0"/>
  </p:normalViewPr>
  <p:slideViewPr>
    <p:cSldViewPr snapToGrid="0">
      <p:cViewPr varScale="1">
        <p:scale>
          <a:sx n="104" d="100"/>
          <a:sy n="104" d="100"/>
        </p:scale>
        <p:origin x="984" y="108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-59582"/>
    </p:cViewPr>
  </p:outlin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>
      <p:cViewPr varScale="1">
        <p:scale>
          <a:sx n="104" d="100"/>
          <a:sy n="104" d="100"/>
        </p:scale>
        <p:origin x="4608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commentAuthors" Target="commentAuthor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notesMaster" Target="notesMasters/notesMaster1.xml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424059DE-6CD5-4C59-8233-088CE5808E67}" type="datetime1">
              <a:rPr lang="ko-KR" altLang="en-US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2026-09-28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9C679768-A2FC-4D08-91F6-8DCE6C566B36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‹#›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830255166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noProof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43E1C3DD-4A19-441D-907C-380838DB51C4}" type="datetime1">
              <a:rPr lang="ko-KR" altLang="en-US" noProof="0" smtClean="0"/>
              <a:t>2026-09-28</a:t>
            </a:fld>
            <a:endParaRPr lang="ko-KR" altLang="en-US" noProof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ko-KR" altLang="en-US" noProof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ko-KR" altLang="en-US" noProof="0" dirty="0"/>
              <a:t>마스터 텍스트 스타일을 편집하려면 클릭하세요</a:t>
            </a:r>
            <a:r>
              <a:rPr lang="en-US" altLang="ko-KR" noProof="0" dirty="0"/>
              <a:t>.</a:t>
            </a:r>
          </a:p>
          <a:p>
            <a:pPr lvl="1" rtl="0"/>
            <a:r>
              <a:rPr lang="ko-KR" altLang="en-US" noProof="0" dirty="0"/>
              <a:t>둘째 수준</a:t>
            </a:r>
          </a:p>
          <a:p>
            <a:pPr lvl="2" rtl="0"/>
            <a:r>
              <a:rPr lang="ko-KR" altLang="en-US" noProof="0" dirty="0"/>
              <a:t>셋째 수준</a:t>
            </a:r>
          </a:p>
          <a:p>
            <a:pPr lvl="3" rtl="0"/>
            <a:r>
              <a:rPr lang="ko-KR" altLang="en-US" noProof="0" dirty="0"/>
              <a:t>넷째 수준</a:t>
            </a:r>
          </a:p>
          <a:p>
            <a:pPr lvl="4" rtl="0"/>
            <a:r>
              <a:rPr lang="ko-KR" altLang="en-US" noProof="0" dirty="0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noProof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DF61EA0F-A667-4B49-8422-0062BC55E249}" type="slidenum">
              <a:rPr lang="en-US" altLang="ko-KR" noProof="0" smtClean="0"/>
              <a:pPr/>
              <a:t>‹#›</a:t>
            </a:fld>
            <a:endParaRPr lang="ko-KR" altLang="en-US" noProof="0"/>
          </a:p>
        </p:txBody>
      </p:sp>
    </p:spTree>
    <p:extLst>
      <p:ext uri="{BB962C8B-B14F-4D97-AF65-F5344CB8AC3E}">
        <p14:creationId xmlns:p14="http://schemas.microsoft.com/office/powerpoint/2010/main" val="3381910297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DF61EA0F-A667-4B49-8422-0062BC55E249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0117698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29DB8D-2DC4-6DCE-8AA4-10A29D953A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30C1DC0-3D57-D995-7A15-F02FEA8C30A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47CC2AB-545D-A8C5-00BD-6BA071BE1DA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E35BCFD-467B-DA35-4873-78F6C22CF9F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DF61EA0F-A667-4B49-8422-0062BC55E249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7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12065438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70EDA7-BCB8-B656-F9DA-4620EE5142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6EF5A1A-D9E9-3054-F10A-FD4981A056D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6EB45DA-DE44-F890-69E8-8831AD0BC0C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215BA72-89DF-CC64-0313-DA066552B4B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DF61EA0F-A667-4B49-8422-0062BC55E249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20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32778789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438D3F-3410-4389-058D-6B608F0210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1C38403-75F8-31A3-2BA4-C41EF3FFB58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895DFC8-939C-6668-BAD0-4AB064F0CF0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C9F84DE-EF7F-B317-FD2F-733D8BEEA02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DF61EA0F-A667-4B49-8422-0062BC55E249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36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2782005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/>
          <p:cNvSpPr/>
          <p:nvPr userDrawn="1"/>
        </p:nvSpPr>
        <p:spPr bwMode="blackWhite">
          <a:xfrm>
            <a:off x="254950" y="262784"/>
            <a:ext cx="11682101" cy="6332433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ko-KR" altLang="en-US" sz="1800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17185494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/>
          <p:cNvSpPr/>
          <p:nvPr userDrawn="1"/>
        </p:nvSpPr>
        <p:spPr>
          <a:xfrm>
            <a:off x="256032" y="265176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ctr" rtl="0"/>
            <a:endParaRPr lang="ko-KR" altLang="en-US" sz="1800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12" name="직선 연결선(S) 11"/>
          <p:cNvCxnSpPr/>
          <p:nvPr userDrawn="1"/>
        </p:nvCxnSpPr>
        <p:spPr>
          <a:xfrm>
            <a:off x="604434" y="1196392"/>
            <a:ext cx="10983132" cy="0"/>
          </a:xfrm>
          <a:prstGeom prst="line">
            <a:avLst/>
          </a:prstGeom>
          <a:ln w="25400">
            <a:solidFill>
              <a:srgbClr val="D2472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제목 3"/>
          <p:cNvSpPr>
            <a:spLocks noGrp="1"/>
          </p:cNvSpPr>
          <p:nvPr>
            <p:ph type="title"/>
          </p:nvPr>
        </p:nvSpPr>
        <p:spPr>
          <a:xfrm>
            <a:off x="521207" y="448056"/>
            <a:ext cx="6877119" cy="640080"/>
          </a:xfrm>
        </p:spPr>
        <p:txBody>
          <a:bodyPr rtlCol="0" anchor="b" anchorCtr="0">
            <a:normAutofit/>
          </a:bodyPr>
          <a:lstStyle>
            <a:lvl1pPr>
              <a:defRPr sz="2800"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quarter" idx="10" hasCustomPrompt="1"/>
          </p:nvPr>
        </p:nvSpPr>
        <p:spPr>
          <a:xfrm>
            <a:off x="539496" y="1435608"/>
            <a:ext cx="4416552" cy="39776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>
              <a:defRPr lang="en-US" sz="12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</a:lstStyle>
          <a:p>
            <a:pPr marL="0" lvl="0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마스터 텍스트 스타일을 편집하려면 클릭하세요</a:t>
            </a:r>
            <a:r>
              <a:rPr lang="en-US" altLang="ko-KR" noProof="0"/>
              <a:t>.</a:t>
            </a:r>
          </a:p>
          <a:p>
            <a:pPr marL="0" lvl="1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둘째 수준</a:t>
            </a:r>
          </a:p>
          <a:p>
            <a:pPr marL="0" lvl="2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셋째 수준</a:t>
            </a:r>
          </a:p>
          <a:p>
            <a:pPr marL="0" lvl="3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넷째 수준</a:t>
            </a:r>
          </a:p>
          <a:p>
            <a:pPr marL="0" lvl="4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다섯째 수준</a:t>
            </a:r>
          </a:p>
        </p:txBody>
      </p:sp>
      <p:sp>
        <p:nvSpPr>
          <p:cNvPr id="6" name="날짜 개체 틀 3"/>
          <p:cNvSpPr>
            <a:spLocks noGrp="1"/>
          </p:cNvSpPr>
          <p:nvPr>
            <p:ph type="dt" sz="half" idx="2"/>
          </p:nvPr>
        </p:nvSpPr>
        <p:spPr>
          <a:xfrm>
            <a:off x="539496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990475B5-67CA-4281-BDCA-DA943C3C8EB3}" type="datetime1">
              <a:rPr lang="ko-KR" altLang="en-US" noProof="0" smtClean="0"/>
              <a:t>2026-09-28</a:t>
            </a:fld>
            <a:endParaRPr lang="ko-KR" altLang="en-US" noProof="0"/>
          </a:p>
        </p:txBody>
      </p:sp>
      <p:sp>
        <p:nvSpPr>
          <p:cNvPr id="7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648200" y="62039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noProof="0"/>
          </a:p>
        </p:txBody>
      </p:sp>
      <p:sp>
        <p:nvSpPr>
          <p:cNvPr id="8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371926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9860EDB8-5305-433F-BE41-D7A86D811DB3}" type="slidenum">
              <a:rPr lang="en-US" altLang="ko-KR" noProof="0" smtClean="0"/>
              <a:pPr/>
              <a:t>‹#›</a:t>
            </a:fld>
            <a:endParaRPr lang="ko-KR" altLang="en-US" noProof="0"/>
          </a:p>
        </p:txBody>
      </p:sp>
    </p:spTree>
    <p:extLst>
      <p:ext uri="{BB962C8B-B14F-4D97-AF65-F5344CB8AC3E}">
        <p14:creationId xmlns:p14="http://schemas.microsoft.com/office/powerpoint/2010/main" val="21858365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/>
          <p:cNvSpPr/>
          <p:nvPr userDrawn="1"/>
        </p:nvSpPr>
        <p:spPr>
          <a:xfrm>
            <a:off x="254951" y="262784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ko-KR" altLang="en-US" sz="1800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" name="직사각형 9"/>
          <p:cNvSpPr/>
          <p:nvPr userDrawn="1"/>
        </p:nvSpPr>
        <p:spPr bwMode="blackWhite">
          <a:xfrm>
            <a:off x="254950" y="262784"/>
            <a:ext cx="11682101" cy="2072643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ko-KR" altLang="en-US" sz="1800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21208" y="1536192"/>
            <a:ext cx="6876288" cy="640080"/>
          </a:xfrm>
        </p:spPr>
        <p:txBody>
          <a:bodyPr rtlCol="0">
            <a:normAutofit/>
          </a:bodyPr>
          <a:lstStyle>
            <a:lvl1pPr>
              <a:defRPr sz="360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마스터 제목 스타일 편집</a:t>
            </a:r>
          </a:p>
        </p:txBody>
      </p:sp>
      <p:sp>
        <p:nvSpPr>
          <p:cNvPr id="7" name="내용 개체 틀 6"/>
          <p:cNvSpPr>
            <a:spLocks noGrp="1"/>
          </p:cNvSpPr>
          <p:nvPr>
            <p:ph sz="quarter" idx="13" hasCustomPrompt="1"/>
          </p:nvPr>
        </p:nvSpPr>
        <p:spPr>
          <a:xfrm>
            <a:off x="539496" y="2560320"/>
            <a:ext cx="9445752" cy="39776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24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>
              <a:def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</a:lstStyle>
          <a:p>
            <a:pPr marL="0" lvl="0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마스터 텍스트 스타일을 편집하려면 클릭하세요</a:t>
            </a:r>
            <a:r>
              <a:rPr lang="en-US" altLang="ko-KR" noProof="0"/>
              <a:t>.</a:t>
            </a:r>
          </a:p>
          <a:p>
            <a:pPr marL="0" lvl="1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둘째 수준</a:t>
            </a:r>
          </a:p>
          <a:p>
            <a:pPr marL="0" lvl="2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셋째 수준</a:t>
            </a:r>
          </a:p>
          <a:p>
            <a:pPr marL="0" lvl="3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넷째 수준</a:t>
            </a:r>
          </a:p>
          <a:p>
            <a:pPr marL="0" lvl="4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13356555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2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913795" y="139083"/>
            <a:ext cx="10353762" cy="766439"/>
          </a:xfrm>
        </p:spPr>
        <p:txBody>
          <a:bodyPr rtlCol="0">
            <a:normAutofit/>
          </a:bodyPr>
          <a:lstStyle>
            <a:lvl1pPr>
              <a:defRPr sz="3200">
                <a:latin typeface="Batang" panose="02030600000101010101" pitchFamily="18" charset="-127"/>
                <a:ea typeface="Batang" panose="02030600000101010101" pitchFamily="18" charset="-127"/>
              </a:defRPr>
            </a:lvl1pPr>
          </a:lstStyle>
          <a:p>
            <a:pPr rtl="0"/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913795" y="1127464"/>
            <a:ext cx="10353762" cy="4663735"/>
          </a:xfrm>
        </p:spPr>
        <p:txBody>
          <a:bodyPr rtlCol="0"/>
          <a:lstStyle>
            <a:lvl1pPr>
              <a:defRPr>
                <a:latin typeface="Batang" panose="02030600000101010101" pitchFamily="18" charset="-127"/>
                <a:ea typeface="Batang" panose="02030600000101010101" pitchFamily="18" charset="-127"/>
              </a:defRPr>
            </a:lvl1pPr>
            <a:lvl2pPr>
              <a:defRPr>
                <a:latin typeface="Batang" panose="02030600000101010101" pitchFamily="18" charset="-127"/>
                <a:ea typeface="Batang" panose="02030600000101010101" pitchFamily="18" charset="-127"/>
              </a:defRPr>
            </a:lvl2pPr>
            <a:lvl3pPr>
              <a:defRPr>
                <a:latin typeface="Batang" panose="02030600000101010101" pitchFamily="18" charset="-127"/>
                <a:ea typeface="Batang" panose="02030600000101010101" pitchFamily="18" charset="-127"/>
              </a:defRPr>
            </a:lvl3pPr>
            <a:lvl4pPr>
              <a:defRPr>
                <a:latin typeface="Batang" panose="02030600000101010101" pitchFamily="18" charset="-127"/>
                <a:ea typeface="Batang" panose="02030600000101010101" pitchFamily="18" charset="-127"/>
              </a:defRPr>
            </a:lvl4pPr>
            <a:lvl5pPr>
              <a:defRPr>
                <a:latin typeface="Batang" panose="02030600000101010101" pitchFamily="18" charset="-127"/>
                <a:ea typeface="Batang" panose="02030600000101010101" pitchFamily="18" charset="-127"/>
              </a:defRPr>
            </a:lvl5pPr>
          </a:lstStyle>
          <a:p>
            <a:pPr lvl="0" rtl="0"/>
            <a:r>
              <a:rPr lang="ko-KR" altLang="en-US" dirty="0"/>
              <a:t>마스터 텍스트 스타일을 편집하려면 클릭</a:t>
            </a:r>
          </a:p>
          <a:p>
            <a:pPr lvl="1" rtl="0"/>
            <a:r>
              <a:rPr lang="ko-KR" altLang="en-US" dirty="0"/>
              <a:t>두 번째 수준</a:t>
            </a:r>
          </a:p>
          <a:p>
            <a:pPr lvl="2" rtl="0"/>
            <a:r>
              <a:rPr lang="ko-KR" altLang="en-US" dirty="0"/>
              <a:t>세 번째 수준</a:t>
            </a:r>
          </a:p>
          <a:p>
            <a:pPr lvl="3" rtl="0"/>
            <a:r>
              <a:rPr lang="ko-KR" altLang="en-US" dirty="0"/>
              <a:t>네 번째 수준</a:t>
            </a:r>
          </a:p>
          <a:p>
            <a:pPr lvl="4" rtl="0"/>
            <a:r>
              <a:rPr lang="ko-KR" altLang="en-US" dirty="0"/>
              <a:t>다섯 번째 수준</a:t>
            </a:r>
            <a:endParaRPr lang="en-US" dirty="0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B4745536-17E2-EEF7-D107-B4146DE2141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5924" y="6365874"/>
            <a:ext cx="355393" cy="393576"/>
          </a:xfrm>
          <a:prstGeom prst="rect">
            <a:avLst/>
          </a:prstGeom>
        </p:spPr>
      </p:pic>
      <p:sp>
        <p:nvSpPr>
          <p:cNvPr id="4" name="Date Placeholder 4">
            <a:extLst>
              <a:ext uri="{FF2B5EF4-FFF2-40B4-BE49-F238E27FC236}">
                <a16:creationId xmlns:a16="http://schemas.microsoft.com/office/drawing/2014/main" id="{3AC7079E-4A2B-916C-C464-65DEFE43418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78737" y="6198235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smtClean="0"/>
              <a:t>9/28/2026</a:t>
            </a:fld>
            <a:endParaRPr lang="en-US" dirty="0"/>
          </a:p>
        </p:txBody>
      </p:sp>
      <p:sp>
        <p:nvSpPr>
          <p:cNvPr id="5" name="Footer Placeholder 5">
            <a:extLst>
              <a:ext uri="{FF2B5EF4-FFF2-40B4-BE49-F238E27FC236}">
                <a16:creationId xmlns:a16="http://schemas.microsoft.com/office/drawing/2014/main" id="{A9D00E07-4D48-7C0C-4DF1-A39D6E8BB9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13774" y="6198235"/>
            <a:ext cx="6672887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6">
            <a:extLst>
              <a:ext uri="{FF2B5EF4-FFF2-40B4-BE49-F238E27FC236}">
                <a16:creationId xmlns:a16="http://schemas.microsoft.com/office/drawing/2014/main" id="{1DFF8BFD-50B2-6671-09A6-3F6A70B599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198235"/>
            <a:ext cx="764215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30270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/>
          <p:cNvSpPr/>
          <p:nvPr userDrawn="1"/>
        </p:nvSpPr>
        <p:spPr>
          <a:xfrm>
            <a:off x="256032" y="265176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ctr" rtl="0"/>
            <a:endParaRPr lang="ko-KR" altLang="en-US" sz="1800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521208" y="448056"/>
            <a:ext cx="6876288" cy="640080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rmAutofit/>
          </a:bodyPr>
          <a:lstStyle/>
          <a:p>
            <a:pPr rtl="0"/>
            <a:r>
              <a:rPr lang="ko-KR" altLang="en-US" noProof="0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39496" y="1435608"/>
            <a:ext cx="4416552" cy="39776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ko-KR" altLang="en-US" noProof="0"/>
              <a:t>마스터 텍스트 스타일을 편집하려면 클릭하세요</a:t>
            </a:r>
            <a:r>
              <a:rPr lang="en-US" altLang="ko-KR" noProof="0"/>
              <a:t>.</a:t>
            </a:r>
          </a:p>
          <a:p>
            <a:pPr lvl="1" rtl="0"/>
            <a:r>
              <a:rPr lang="ko-KR" altLang="en-US" noProof="0"/>
              <a:t>둘째 수준</a:t>
            </a:r>
          </a:p>
          <a:p>
            <a:pPr lvl="2" rtl="0"/>
            <a:r>
              <a:rPr lang="ko-KR" altLang="en-US" noProof="0"/>
              <a:t>셋째 수준</a:t>
            </a:r>
          </a:p>
          <a:p>
            <a:pPr lvl="3" rtl="0"/>
            <a:r>
              <a:rPr lang="ko-KR" altLang="en-US" noProof="0"/>
              <a:t>넷째 수준</a:t>
            </a:r>
          </a:p>
          <a:p>
            <a:pPr lvl="4" rtl="0"/>
            <a:r>
              <a:rPr lang="ko-KR" altLang="en-US" noProof="0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539496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C655C81E-72E7-4D05-94B5-F45B321A525D}" type="datetime1">
              <a:rPr lang="ko-KR" altLang="en-US" noProof="0" smtClean="0"/>
              <a:t>2026-09-28</a:t>
            </a:fld>
            <a:endParaRPr lang="ko-KR" altLang="en-US" noProof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648200" y="62039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375904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9860EDB8-5305-433F-BE41-D7A86D811DB3}" type="slidenum">
              <a:rPr lang="en-US" altLang="ko-KR" noProof="0" smtClean="0"/>
              <a:pPr/>
              <a:t>‹#›</a:t>
            </a:fld>
            <a:endParaRPr lang="ko-KR" altLang="en-US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8" name="직선 연결선(S) 7"/>
          <p:cNvCxnSpPr/>
          <p:nvPr userDrawn="1"/>
        </p:nvCxnSpPr>
        <p:spPr>
          <a:xfrm>
            <a:off x="604434" y="1196392"/>
            <a:ext cx="10983132" cy="0"/>
          </a:xfrm>
          <a:prstGeom prst="line">
            <a:avLst/>
          </a:prstGeom>
          <a:ln w="25400">
            <a:solidFill>
              <a:srgbClr val="D2472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467549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5" r:id="rId4"/>
  </p:sldLayoutIdLst>
  <p:hf hdr="0" ftr="0" dt="0"/>
  <p:txStyles>
    <p:titleStyle>
      <a:lvl1pPr algn="l" defTabSz="914400" rtl="0" eaLnBrk="1" latinLnBrk="1" hangingPunct="1">
        <a:spcBef>
          <a:spcPct val="0"/>
        </a:spcBef>
        <a:buNone/>
        <a:defRPr sz="2800" kern="12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j-cs"/>
        </a:defRPr>
      </a:lvl1pPr>
    </p:titleStyle>
    <p:bodyStyle>
      <a:lvl1pPr marL="0" indent="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Tx/>
        <a:buNone/>
        <a:defRPr lang="en-US" sz="1200" kern="1200" dirty="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1pPr>
      <a:lvl2pPr marL="228600" indent="-22860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2pPr>
      <a:lvl3pPr marL="685800" indent="-22860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3pPr>
      <a:lvl4pPr marL="1143000" indent="-22860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4pPr>
      <a:lvl5pPr marL="1600200" indent="-22860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5pPr>
      <a:lvl6pPr marL="2057400" indent="-22860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6pPr>
      <a:lvl7pPr marL="2514600" indent="-22860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7pPr>
      <a:lvl8pPr marL="2971800" indent="-22860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8pPr>
      <a:lvl9pPr marL="3429000" indent="-228600" algn="l" defTabSz="914400" rtl="0" eaLnBrk="1" latinLnBrk="1" hangingPunct="1">
        <a:lnSpc>
          <a:spcPct val="90000"/>
        </a:lnSpc>
        <a:spcBef>
          <a:spcPct val="30000"/>
        </a:spcBef>
        <a:buFont typeface="Arial" panose="020B0604020202020204" pitchFamily="34" charset="0"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s://www.rizwanai.com/yolo26-litert?utm_source=chatgpt.com" TargetMode="Externa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VOC3huqHrss" TargetMode="External"/><Relationship Id="rId2" Type="http://schemas.openxmlformats.org/officeDocument/2006/relationships/hyperlink" Target="https://pjreddie.com/darknet/yolo/" TargetMode="Externa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7" Type="http://schemas.openxmlformats.org/officeDocument/2006/relationships/image" Target="../media/image70.png"/><Relationship Id="rId2" Type="http://schemas.openxmlformats.org/officeDocument/2006/relationships/image" Target="../media/image4.sv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6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sv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sv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XdsmlBGOK-k" TargetMode="External"/><Relationship Id="rId2" Type="http://schemas.openxmlformats.org/officeDocument/2006/relationships/image" Target="../media/image6.sv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youtube.com/watch?v=XdsmlBGOK-k" TargetMode="Externa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Relationship Id="rId4" Type="http://schemas.openxmlformats.org/officeDocument/2006/relationships/hyperlink" Target="https://arxiv.org/pdf/1506.02640" TargetMode="Externa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6.sv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1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0.png"/><Relationship Id="rId3" Type="http://schemas.openxmlformats.org/officeDocument/2006/relationships/image" Target="../media/image10.png"/><Relationship Id="rId7" Type="http://schemas.openxmlformats.org/officeDocument/2006/relationships/image" Target="../media/image170.png"/><Relationship Id="rId2" Type="http://schemas.openxmlformats.org/officeDocument/2006/relationships/hyperlink" Target="https://www.youtube.com/watch?v=2hAiJe8ITsE&amp;t=656s" TargetMode="External"/><Relationship Id="rId1" Type="http://schemas.openxmlformats.org/officeDocument/2006/relationships/slideLayout" Target="../slideLayouts/slideLayout4.xml"/><Relationship Id="rId11" Type="http://schemas.openxmlformats.org/officeDocument/2006/relationships/image" Target="../media/image210.png"/><Relationship Id="rId5" Type="http://schemas.openxmlformats.org/officeDocument/2006/relationships/image" Target="../media/image4.svg"/><Relationship Id="rId10" Type="http://schemas.openxmlformats.org/officeDocument/2006/relationships/image" Target="../media/image12.png"/><Relationship Id="rId4" Type="http://schemas.openxmlformats.org/officeDocument/2006/relationships/image" Target="../media/image11.png"/><Relationship Id="rId9" Type="http://schemas.openxmlformats.org/officeDocument/2006/relationships/image" Target="../media/image190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hyperlink" Target="https://www.youtube.com/watch?v=BRS9bEP8rhA" TargetMode="External"/><Relationship Id="rId7" Type="http://schemas.openxmlformats.org/officeDocument/2006/relationships/image" Target="../media/image26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5.sv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7" Type="http://schemas.openxmlformats.org/officeDocument/2006/relationships/image" Target="../media/image37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hyperlink" Target="https://www.youtube.com/watch?v=2hAiJe8ITsE&amp;t=656s" TargetMode="External"/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hyperlink" Target="https://roboflow.com/" TargetMode="External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hyperlink" Target="https://www.youtube.com/watch?v=2hAiJe8ITsE&amp;t=656s" TargetMode="External"/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hyperlink" Target="https://www.youtube.com/watch?v=ag3DLKsl2vk&amp;list=PLeo1K3hjS3uu7CxAacxVndI4bE_o3BDtO&amp;index=31" TargetMode="External"/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Layout" Target="../slideLayouts/slideLayout4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6.sv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838200" y="1164324"/>
            <a:ext cx="10515600" cy="2387600"/>
          </a:xfrm>
        </p:spPr>
        <p:txBody>
          <a:bodyPr rtlCol="0" anchor="ctr" anchorCtr="0">
            <a:normAutofit/>
          </a:bodyPr>
          <a:lstStyle/>
          <a:p>
            <a:pPr rtl="0"/>
            <a:r>
              <a:rPr lang="en-US" altLang="ko-KR" sz="4800" dirty="0">
                <a:solidFill>
                  <a:schemeClr val="bg1"/>
                </a:solidFill>
              </a:rPr>
              <a:t>Object</a:t>
            </a:r>
            <a:r>
              <a:rPr lang="ko-KR" altLang="en-US" sz="4800" dirty="0">
                <a:solidFill>
                  <a:schemeClr val="bg1"/>
                </a:solidFill>
              </a:rPr>
              <a:t> </a:t>
            </a:r>
            <a:r>
              <a:rPr lang="en-US" altLang="ko-KR" sz="4800" dirty="0">
                <a:solidFill>
                  <a:schemeClr val="bg1"/>
                </a:solidFill>
              </a:rPr>
              <a:t>detection</a:t>
            </a:r>
            <a:endParaRPr lang="ko-KR" altLang="en-US" sz="4800" dirty="0">
              <a:solidFill>
                <a:schemeClr val="bg1"/>
              </a:solidFill>
            </a:endParaRPr>
          </a:p>
        </p:txBody>
      </p:sp>
      <p:sp>
        <p:nvSpPr>
          <p:cNvPr id="5" name="부제목 2">
            <a:extLst>
              <a:ext uri="{FF2B5EF4-FFF2-40B4-BE49-F238E27FC236}">
                <a16:creationId xmlns:a16="http://schemas.microsoft.com/office/drawing/2014/main" id="{D2A693FF-597D-D05E-69BD-7CA96D17F1CD}"/>
              </a:ext>
            </a:extLst>
          </p:cNvPr>
          <p:cNvSpPr txBox="1">
            <a:spLocks/>
          </p:cNvSpPr>
          <p:nvPr/>
        </p:nvSpPr>
        <p:spPr>
          <a:xfrm>
            <a:off x="855620" y="4555883"/>
            <a:ext cx="9582736" cy="1137793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0" indent="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Tx/>
              <a:buNone/>
              <a:defRPr lang="en-US" sz="1200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2286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2pPr>
            <a:lvl3pPr marL="6858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3pPr>
            <a:lvl4pPr marL="11430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4pPr>
            <a:lvl5pPr marL="16002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5pPr>
            <a:lvl6pPr marL="20574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5146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9718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429000" indent="-228600" algn="l" defTabSz="914400" rtl="0" eaLnBrk="1" latinLnBrk="1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2400" dirty="0">
                <a:solidFill>
                  <a:schemeClr val="bg1"/>
                </a:solidFill>
              </a:rPr>
              <a:t>2026 Fall</a:t>
            </a:r>
          </a:p>
          <a:p>
            <a:r>
              <a:rPr lang="ko-KR" altLang="en-US" sz="2400" dirty="0" err="1">
                <a:solidFill>
                  <a:schemeClr val="bg1"/>
                </a:solidFill>
              </a:rPr>
              <a:t>조상구교수</a:t>
            </a:r>
            <a:endParaRPr lang="en-US" altLang="ko-KR" sz="2400" dirty="0">
              <a:solidFill>
                <a:schemeClr val="bg1"/>
              </a:solidFill>
            </a:endParaRP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CEA871C7-AFC2-7D62-C991-3C4E005FFED3}"/>
              </a:ext>
            </a:extLst>
          </p:cNvPr>
          <p:cNvSpPr txBox="1">
            <a:spLocks/>
          </p:cNvSpPr>
          <p:nvPr/>
        </p:nvSpPr>
        <p:spPr>
          <a:xfrm>
            <a:off x="857250" y="3279534"/>
            <a:ext cx="9582736" cy="63524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Tx/>
              <a:buNone/>
              <a:defRPr lang="en-US" sz="1200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2286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2pPr>
            <a:lvl3pPr marL="6858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3pPr>
            <a:lvl4pPr marL="11430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4pPr>
            <a:lvl5pPr marL="16002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5pPr>
            <a:lvl6pPr marL="20574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5146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9718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429000" indent="-228600" algn="l" defTabSz="914400" rtl="0" eaLnBrk="1" latinLnBrk="1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2400" dirty="0">
                <a:solidFill>
                  <a:schemeClr val="bg1"/>
                </a:solidFill>
              </a:rPr>
              <a:t>YOLO(You</a:t>
            </a:r>
            <a:r>
              <a:rPr lang="ko-KR" altLang="en-US" sz="2400" dirty="0">
                <a:solidFill>
                  <a:schemeClr val="bg1"/>
                </a:solidFill>
              </a:rPr>
              <a:t> </a:t>
            </a:r>
            <a:r>
              <a:rPr lang="en-US" altLang="ko-KR" sz="2400" dirty="0">
                <a:solidFill>
                  <a:schemeClr val="bg1"/>
                </a:solidFill>
              </a:rPr>
              <a:t>Only Look Once)</a:t>
            </a:r>
          </a:p>
        </p:txBody>
      </p:sp>
    </p:spTree>
    <p:extLst>
      <p:ext uri="{BB962C8B-B14F-4D97-AF65-F5344CB8AC3E}">
        <p14:creationId xmlns:p14="http://schemas.microsoft.com/office/powerpoint/2010/main" val="24718077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FEDBDF-4942-26B7-ECF8-D411863DF1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2435B2F8-E85B-6FAB-4AFA-6E1F580B27D7}"/>
              </a:ext>
            </a:extLst>
          </p:cNvPr>
          <p:cNvSpPr/>
          <p:nvPr/>
        </p:nvSpPr>
        <p:spPr>
          <a:xfrm>
            <a:off x="577530" y="2066925"/>
            <a:ext cx="10776270" cy="62865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32F42C0-07C8-1960-872A-C341FE529F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C83E9E23-F77D-44D2-EB8C-9981740FAE83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Goals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0CB7729-09DC-4690-5139-CD2649D9221F}"/>
              </a:ext>
            </a:extLst>
          </p:cNvPr>
          <p:cNvSpPr txBox="1"/>
          <p:nvPr/>
        </p:nvSpPr>
        <p:spPr>
          <a:xfrm>
            <a:off x="577530" y="1248422"/>
            <a:ext cx="9661845" cy="38129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2400" dirty="0"/>
              <a:t>This chapter covers</a:t>
            </a:r>
          </a:p>
          <a:p>
            <a:pPr marL="800100" lvl="1" indent="-34290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altLang="ko-KR" sz="2000" dirty="0"/>
              <a:t>Interpreting how </a:t>
            </a:r>
            <a:r>
              <a:rPr lang="en-US" altLang="ko-KR" sz="2000" dirty="0" err="1"/>
              <a:t>ConvNets</a:t>
            </a:r>
            <a:r>
              <a:rPr lang="en-US" altLang="ko-KR" sz="2000" dirty="0"/>
              <a:t> decompose an input image</a:t>
            </a:r>
          </a:p>
          <a:p>
            <a:pPr marL="800100" lvl="1" indent="-34290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altLang="ko-KR" sz="2000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Visualizing intermediate activations</a:t>
            </a:r>
            <a:endParaRPr lang="en-US" altLang="ko-KR" sz="2000" dirty="0"/>
          </a:p>
          <a:p>
            <a:pPr marL="800100" lvl="1" indent="-34290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altLang="ko-KR" sz="2000" dirty="0"/>
              <a:t>Visualizing the filters learned by </a:t>
            </a:r>
            <a:r>
              <a:rPr lang="en-US" altLang="ko-KR" sz="2000" dirty="0" err="1"/>
              <a:t>ConvNets</a:t>
            </a:r>
            <a:endParaRPr lang="en-US" altLang="ko-KR" sz="2000" dirty="0"/>
          </a:p>
          <a:p>
            <a:pPr marL="800100" lvl="1" indent="-34290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altLang="ko-KR" sz="2000" dirty="0"/>
              <a:t>Visualizing areas in an image responsible for a certain classification decision</a:t>
            </a:r>
          </a:p>
          <a:p>
            <a:pPr marL="800100" lvl="1" indent="-342900">
              <a:lnSpc>
                <a:spcPct val="200000"/>
              </a:lnSpc>
              <a:buFont typeface="Wingdings" panose="05000000000000000000" pitchFamily="2" charset="2"/>
              <a:buChar char="v"/>
            </a:pPr>
            <a:endParaRPr lang="en-US" altLang="ko-KR" sz="2000" dirty="0"/>
          </a:p>
        </p:txBody>
      </p:sp>
    </p:spTree>
    <p:extLst>
      <p:ext uri="{BB962C8B-B14F-4D97-AF65-F5344CB8AC3E}">
        <p14:creationId xmlns:p14="http://schemas.microsoft.com/office/powerpoint/2010/main" val="28270702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BDEBD4-79C4-24E5-4B43-500D61BDC6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8F50CF77-7A26-AC4C-CFEE-E636A7CC5AA4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4629755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Yolo</a:t>
            </a:r>
            <a:endParaRPr lang="ko-KR" altLang="en-US" sz="2800" cap="none" dirty="0"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51FCCAE6-BDBC-925D-F53F-EB2CF4C16D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0075" y="3021806"/>
            <a:ext cx="10991850" cy="1853264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lang="ko-KR" altLang="en-US" sz="20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어떤 </a:t>
            </a:r>
            <a:r>
              <a:rPr lang="en-US" altLang="ko-KR" sz="20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Object</a:t>
            </a:r>
            <a:r>
              <a:rPr lang="ko-KR" altLang="en-US" sz="20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가 이미지에 존재하는지</a:t>
            </a:r>
            <a:r>
              <a:rPr lang="en-US" altLang="ko-KR" sz="20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?</a:t>
            </a: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ko-KR" sz="20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Object(</a:t>
            </a:r>
            <a:r>
              <a:rPr kumimoji="0" lang="ko-KR" altLang="en-US" sz="20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객체</a:t>
            </a:r>
            <a:r>
              <a:rPr kumimoji="0" lang="en-US" altLang="ko-KR" sz="20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r>
              <a:rPr kumimoji="0" lang="ko-KR" altLang="en-US" sz="20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가</a:t>
            </a:r>
            <a:r>
              <a:rPr kumimoji="0" lang="en-US" altLang="ko-KR" sz="20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kumimoji="0" lang="ko-KR" altLang="en-US" sz="20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존재한다면 무슨 객체인지 분류</a:t>
            </a:r>
            <a:r>
              <a:rPr lang="ko-KR" altLang="en-US" sz="20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하여야 하고 </a:t>
            </a:r>
            <a:r>
              <a:rPr lang="en-US" altLang="ko-KR" sz="20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(Classification, Convnet)</a:t>
            </a: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ko-KR" altLang="en-US" sz="20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해당 객체가 </a:t>
            </a:r>
            <a:r>
              <a:rPr lang="ko-KR" altLang="en-US" sz="20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위치하고 있는 좌표를 찾아야 하는 문제 </a:t>
            </a:r>
            <a:r>
              <a:rPr lang="en-US" altLang="ko-KR" sz="20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(Regression)</a:t>
            </a:r>
            <a:endParaRPr kumimoji="0" lang="ko-KR" altLang="ko-KR" sz="200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C3CB119-D8F9-3BA8-FF36-8F2401CE8EAD}"/>
              </a:ext>
            </a:extLst>
          </p:cNvPr>
          <p:cNvSpPr txBox="1"/>
          <p:nvPr/>
        </p:nvSpPr>
        <p:spPr>
          <a:xfrm>
            <a:off x="600075" y="2209800"/>
            <a:ext cx="3686175" cy="461665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r>
              <a:rPr lang="en-US" altLang="ko-KR" sz="2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Problem</a:t>
            </a:r>
            <a:r>
              <a:rPr lang="ko-KR" altLang="en-US" sz="2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2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Definition</a:t>
            </a:r>
            <a:endParaRPr lang="ko-KR" altLang="en-US" sz="2400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287F1C5-BC19-3DAF-F4E5-7B4A7D72566F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sz="1400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3</a:t>
            </a:fld>
            <a:endParaRPr lang="en-US" sz="1400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196665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DE4972-28F5-DDDE-EF05-0276932E05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6058BAD7-3F25-F1A5-A63C-72FD413EF47B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4629755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Object Detection</a:t>
            </a:r>
            <a:endParaRPr lang="ko-KR" altLang="en-US" sz="2800" cap="none" dirty="0"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A8056E4E-5500-F073-9349-BFA46D4799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91173" y="1525070"/>
            <a:ext cx="7454900" cy="50281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슬라이드 번호 개체 틀 3">
            <a:extLst>
              <a:ext uri="{FF2B5EF4-FFF2-40B4-BE49-F238E27FC236}">
                <a16:creationId xmlns:a16="http://schemas.microsoft.com/office/drawing/2014/main" id="{DAFD7041-85D3-EA40-3B98-CC2CF18CC08C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sz="1400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4</a:t>
            </a:fld>
            <a:endParaRPr lang="en-US" sz="1400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643286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C8AF7F-1671-BE9A-C93E-87BCFE22DB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C0B2436A-5743-0B7F-E664-0837A0D02ABB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4629755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Object Detection</a:t>
            </a:r>
            <a:endParaRPr lang="ko-KR" altLang="en-US" sz="2800" cap="none" dirty="0"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7" name="슬라이드 번호 개체 틀 3">
            <a:extLst>
              <a:ext uri="{FF2B5EF4-FFF2-40B4-BE49-F238E27FC236}">
                <a16:creationId xmlns:a16="http://schemas.microsoft.com/office/drawing/2014/main" id="{94F59391-C9A9-D4A8-E985-469B88727103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sz="1400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5</a:t>
            </a:fld>
            <a:endParaRPr lang="en-US" sz="1400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42FBF4E-C059-787B-9FFB-9808EE87CD04}"/>
              </a:ext>
            </a:extLst>
          </p:cNvPr>
          <p:cNvSpPr txBox="1"/>
          <p:nvPr/>
        </p:nvSpPr>
        <p:spPr>
          <a:xfrm>
            <a:off x="1274619" y="2964874"/>
            <a:ext cx="90281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  <a:hlinkClick r:id="rId2"/>
              </a:rPr>
              <a:t>My YOLO</a:t>
            </a:r>
            <a:endParaRPr lang="ko-KR" altLang="en-US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6D1B7321-F9D9-3B8A-40B2-B12A080EF9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23929" y="1724009"/>
            <a:ext cx="6164290" cy="4676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31779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A851B3-B5E2-4186-06FF-299F462DCA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DCF496FC-6172-5341-1EBF-4BA239515B03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4629755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Yolo</a:t>
            </a:r>
            <a:endParaRPr lang="ko-KR" altLang="en-US" sz="2800" cap="none" dirty="0"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B21266A7-74CC-D6DC-77FB-071F01213D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57275" y="1982416"/>
            <a:ext cx="10325100" cy="16079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3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ko-KR" altLang="ko-K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공식 프로젝트 웹사이트 (</a:t>
            </a:r>
            <a:r>
              <a:rPr kumimoji="0" lang="ko-KR" altLang="ko-KR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Darknet</a:t>
            </a:r>
            <a:r>
              <a:rPr kumimoji="0" lang="ko-KR" altLang="ko-K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/ YOLO):</a:t>
            </a: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kumimoji="0" lang="ko-KR" altLang="ko-K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  <a:hlinkClick r:id="rId2"/>
              </a:rPr>
              <a:t>pjreddie.com</a:t>
            </a: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  <a:hlinkClick r:id="rId2"/>
              </a:rPr>
              <a:t>/</a:t>
            </a:r>
            <a:r>
              <a:rPr kumimoji="0" lang="ko-KR" altLang="ko-K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  <a:hlinkClick r:id="rId2"/>
              </a:rPr>
              <a:t>darknet</a:t>
            </a: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  <a:hlinkClick r:id="rId2"/>
              </a:rPr>
              <a:t>/</a:t>
            </a:r>
            <a:r>
              <a:rPr kumimoji="0" lang="ko-KR" altLang="ko-K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  <a:hlinkClick r:id="rId2"/>
              </a:rPr>
              <a:t>yolo</a:t>
            </a: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  <a:hlinkClick r:id="rId2"/>
              </a:rPr>
              <a:t>/</a:t>
            </a:r>
            <a:endParaRPr kumimoji="0" lang="ko-KR" altLang="ko-K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3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ko-KR" altLang="ko-KR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YouTube</a:t>
            </a:r>
            <a:r>
              <a:rPr kumimoji="0" lang="ko-KR" altLang="ko-K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실시간 탐지 데모 영상:</a:t>
            </a: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kumimoji="0" lang="ko-KR" altLang="ko-K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  <a:hlinkClick r:id="rId3"/>
              </a:rPr>
              <a:t>YouTube</a:t>
            </a: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  <a:hlinkClick r:id="rId3"/>
              </a:rPr>
              <a:t>: YOLO </a:t>
            </a:r>
            <a:r>
              <a:rPr kumimoji="0" lang="ko-KR" altLang="ko-K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  <a:hlinkClick r:id="rId3"/>
              </a:rPr>
              <a:t>Real</a:t>
            </a: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  <a:hlinkClick r:id="rId3"/>
              </a:rPr>
              <a:t>-Time </a:t>
            </a:r>
            <a:r>
              <a:rPr kumimoji="0" lang="ko-KR" altLang="ko-K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  <a:hlinkClick r:id="rId3"/>
              </a:rPr>
              <a:t>Object</a:t>
            </a: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  <a:hlinkClick r:id="rId3"/>
              </a:rPr>
              <a:t> </a:t>
            </a:r>
            <a:r>
              <a:rPr kumimoji="0" lang="ko-KR" altLang="ko-K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  <a:hlinkClick r:id="rId3"/>
              </a:rPr>
              <a:t>Detection</a:t>
            </a:r>
            <a:endParaRPr kumimoji="0" lang="ko-KR" altLang="ko-K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4F0C6EBA-003A-17B9-2DEB-09CFCEA283A1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sz="1400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6</a:t>
            </a:fld>
            <a:endParaRPr lang="en-US" sz="1400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63854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0A1DAD-FB1B-4C33-F6A4-04E5240FF8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33DC132-F3C5-CF92-B12B-6D04266E4A5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200" y="1164324"/>
            <a:ext cx="10515600" cy="2387600"/>
          </a:xfrm>
        </p:spPr>
        <p:txBody>
          <a:bodyPr rtlCol="0" anchor="ctr" anchorCtr="0">
            <a:normAutofit/>
          </a:bodyPr>
          <a:lstStyle/>
          <a:p>
            <a:pPr rtl="0"/>
            <a:r>
              <a:rPr lang="en-US" altLang="ko-KR" sz="4800" dirty="0">
                <a:solidFill>
                  <a:schemeClr val="bg1"/>
                </a:solidFill>
              </a:rPr>
              <a:t>Simple Object</a:t>
            </a:r>
            <a:r>
              <a:rPr lang="ko-KR" altLang="en-US" sz="4800" dirty="0">
                <a:solidFill>
                  <a:schemeClr val="bg1"/>
                </a:solidFill>
              </a:rPr>
              <a:t> </a:t>
            </a:r>
            <a:r>
              <a:rPr lang="en-US" altLang="ko-KR" sz="4800" dirty="0">
                <a:solidFill>
                  <a:schemeClr val="bg1"/>
                </a:solidFill>
              </a:rPr>
              <a:t>detection</a:t>
            </a:r>
            <a:endParaRPr lang="ko-KR" altLang="en-US" sz="4800" dirty="0">
              <a:solidFill>
                <a:schemeClr val="bg1"/>
              </a:solidFill>
            </a:endParaRP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D3889A4D-EDBC-4FE0-FCCA-7842B41ECFD4}"/>
              </a:ext>
            </a:extLst>
          </p:cNvPr>
          <p:cNvSpPr txBox="1">
            <a:spLocks/>
          </p:cNvSpPr>
          <p:nvPr/>
        </p:nvSpPr>
        <p:spPr>
          <a:xfrm>
            <a:off x="857250" y="3279534"/>
            <a:ext cx="9582736" cy="63524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Tx/>
              <a:buNone/>
              <a:defRPr lang="en-US" sz="1200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2286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2pPr>
            <a:lvl3pPr marL="6858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3pPr>
            <a:lvl4pPr marL="11430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4pPr>
            <a:lvl5pPr marL="16002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5pPr>
            <a:lvl6pPr marL="20574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5146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9718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429000" indent="-228600" algn="l" defTabSz="914400" rtl="0" eaLnBrk="1" latinLnBrk="1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2400" dirty="0">
                <a:solidFill>
                  <a:schemeClr val="bg1"/>
                </a:solidFill>
              </a:rPr>
              <a:t>How does YOLO learn and predict?</a:t>
            </a:r>
          </a:p>
        </p:txBody>
      </p:sp>
    </p:spTree>
    <p:extLst>
      <p:ext uri="{BB962C8B-B14F-4D97-AF65-F5344CB8AC3E}">
        <p14:creationId xmlns:p14="http://schemas.microsoft.com/office/powerpoint/2010/main" val="25577340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BD0233-ACBE-780F-DAF3-5ED0E8F17E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C30522DF-C5C4-D467-71A4-067C59573305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4629755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YOLO</a:t>
            </a:r>
            <a:endParaRPr lang="ko-KR" altLang="en-US" sz="2800" cap="none" dirty="0"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pic>
        <p:nvPicPr>
          <p:cNvPr id="6" name="그래픽 5" descr="자동차">
            <a:extLst>
              <a:ext uri="{FF2B5EF4-FFF2-40B4-BE49-F238E27FC236}">
                <a16:creationId xmlns:a16="http://schemas.microsoft.com/office/drawing/2014/main" id="{11F0DBAE-5B38-3A24-3AF9-03975792439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983984" y="3330345"/>
            <a:ext cx="1997857" cy="1997857"/>
          </a:xfrm>
          <a:prstGeom prst="rect">
            <a:avLst/>
          </a:prstGeom>
        </p:spPr>
      </p:pic>
      <p:pic>
        <p:nvPicPr>
          <p:cNvPr id="12" name="그래픽 11" descr="비행기">
            <a:extLst>
              <a:ext uri="{FF2B5EF4-FFF2-40B4-BE49-F238E27FC236}">
                <a16:creationId xmlns:a16="http://schemas.microsoft.com/office/drawing/2014/main" id="{B582C1A9-016E-6084-99BD-624BBA232A6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755096" y="3263895"/>
            <a:ext cx="2114233" cy="2114233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7B7F6457-F7C3-6B54-9164-970DFA15C49B}"/>
              </a:ext>
            </a:extLst>
          </p:cNvPr>
          <p:cNvSpPr txBox="1"/>
          <p:nvPr/>
        </p:nvSpPr>
        <p:spPr>
          <a:xfrm>
            <a:off x="589944" y="1210360"/>
            <a:ext cx="9639905" cy="157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이미지 데이터를 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X, y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를 입력하는 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y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 벡터는 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(class, x, y, w, h)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로 입력</a:t>
            </a:r>
            <a:endParaRPr lang="en-US" altLang="ko-KR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클래스 : 2개 (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Car는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1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Airplane은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0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이미지 전체 가로 대비 중심점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x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비율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이미지 전체 세로 대비 중심점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y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비율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이미지 전체 가로 대비 상자 너비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w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비율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이미지 전체 세로 대비 상자 높이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h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비율</a:t>
            </a:r>
            <a:endParaRPr lang="ko-KR" altLang="en-US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CB390929-B323-98F6-753D-7F78193B0097}"/>
                  </a:ext>
                </a:extLst>
              </p:cNvPr>
              <p:cNvSpPr txBox="1"/>
              <p:nvPr/>
            </p:nvSpPr>
            <p:spPr>
              <a:xfrm>
                <a:off x="3238500" y="5537877"/>
                <a:ext cx="3495675" cy="39299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ko-KR" altLang="en-US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ko-KR" altLang="en-US" sz="200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ko-KR" altLang="en-US" sz="2000" i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ko-KR" altLang="en-US" dirty="0"/>
                  <a:t> </a:t>
                </a:r>
                <a:r>
                  <a:rPr lang="en-US" altLang="ko-KR" dirty="0"/>
                  <a:t>=</a:t>
                </a:r>
                <a:r>
                  <a:rPr lang="ko-KR" altLang="en-US" dirty="0"/>
                  <a:t> </a:t>
                </a:r>
                <a:r>
                  <a:rPr lang="en-US" altLang="ko-KR" dirty="0"/>
                  <a:t>[1,</a:t>
                </a:r>
                <a:r>
                  <a:rPr lang="ko-KR" altLang="en-US" dirty="0"/>
                  <a:t>  0.5</a:t>
                </a:r>
                <a:r>
                  <a:rPr lang="en-US" altLang="ko-KR" dirty="0"/>
                  <a:t>,</a:t>
                </a:r>
                <a:r>
                  <a:rPr lang="ko-KR" altLang="en-US" dirty="0"/>
                  <a:t>  0.5</a:t>
                </a:r>
                <a:r>
                  <a:rPr lang="en-US" altLang="ko-KR" dirty="0"/>
                  <a:t>,</a:t>
                </a:r>
                <a:r>
                  <a:rPr lang="ko-KR" altLang="en-US" dirty="0"/>
                  <a:t>  0.64</a:t>
                </a:r>
                <a:r>
                  <a:rPr lang="en-US" altLang="ko-KR" dirty="0"/>
                  <a:t>,</a:t>
                </a:r>
                <a:r>
                  <a:rPr lang="ko-KR" altLang="en-US" dirty="0"/>
                  <a:t>  0.42</a:t>
                </a:r>
                <a:r>
                  <a:rPr lang="en-US" altLang="ko-KR" dirty="0"/>
                  <a:t>]</a:t>
                </a:r>
                <a:endParaRPr lang="ko-KR" altLang="en-US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A3366570-8352-F2DF-D5CA-362F89035D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38500" y="5537877"/>
                <a:ext cx="3495675" cy="392993"/>
              </a:xfrm>
              <a:prstGeom prst="rect">
                <a:avLst/>
              </a:prstGeom>
              <a:blipFill>
                <a:blip r:embed="rId6"/>
                <a:stretch>
                  <a:fillRect t="-1538" b="-2307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A29724DD-0F43-CD6F-9B86-50E7CBE1AEC7}"/>
                  </a:ext>
                </a:extLst>
              </p:cNvPr>
              <p:cNvSpPr txBox="1"/>
              <p:nvPr/>
            </p:nvSpPr>
            <p:spPr>
              <a:xfrm>
                <a:off x="7972425" y="5537877"/>
                <a:ext cx="3609975" cy="39299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ko-KR" alt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ko-KR" altLang="en-US" sz="20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ko-KR" dirty="0"/>
                  <a:t> = [0,</a:t>
                </a:r>
                <a:r>
                  <a:rPr lang="ko-KR" altLang="en-US" dirty="0"/>
                  <a:t>  0.5</a:t>
                </a:r>
                <a:r>
                  <a:rPr lang="en-US" altLang="ko-KR" dirty="0"/>
                  <a:t>,</a:t>
                </a:r>
                <a:r>
                  <a:rPr lang="ko-KR" altLang="en-US" dirty="0"/>
                  <a:t>  0.5</a:t>
                </a:r>
                <a:r>
                  <a:rPr lang="en-US" altLang="ko-KR" dirty="0"/>
                  <a:t>,</a:t>
                </a:r>
                <a:r>
                  <a:rPr lang="ko-KR" altLang="en-US" dirty="0"/>
                  <a:t>  0.4</a:t>
                </a:r>
                <a:r>
                  <a:rPr lang="en-US" altLang="ko-KR" dirty="0"/>
                  <a:t>2,</a:t>
                </a:r>
                <a:r>
                  <a:rPr lang="ko-KR" altLang="en-US" dirty="0"/>
                  <a:t>  0.</a:t>
                </a:r>
                <a:r>
                  <a:rPr lang="en-US" altLang="ko-KR" dirty="0"/>
                  <a:t>64]</a:t>
                </a:r>
                <a:endParaRPr lang="ko-KR" altLang="en-US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7DF6B22E-AF13-7813-5F89-771918857A2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72425" y="5537877"/>
                <a:ext cx="3609975" cy="392993"/>
              </a:xfrm>
              <a:prstGeom prst="rect">
                <a:avLst/>
              </a:prstGeom>
              <a:blipFill>
                <a:blip r:embed="rId7"/>
                <a:stretch>
                  <a:fillRect t="-1538" b="-2307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직사각형 22">
            <a:extLst>
              <a:ext uri="{FF2B5EF4-FFF2-40B4-BE49-F238E27FC236}">
                <a16:creationId xmlns:a16="http://schemas.microsoft.com/office/drawing/2014/main" id="{B1A16742-84C8-C89F-C377-0996B5B2A0A0}"/>
              </a:ext>
            </a:extLst>
          </p:cNvPr>
          <p:cNvSpPr/>
          <p:nvPr/>
        </p:nvSpPr>
        <p:spPr>
          <a:xfrm>
            <a:off x="1839912" y="3194602"/>
            <a:ext cx="2266950" cy="2266950"/>
          </a:xfrm>
          <a:prstGeom prst="rect">
            <a:avLst/>
          </a:prstGeom>
          <a:noFill/>
          <a:ln w="19050">
            <a:solidFill>
              <a:srgbClr val="40404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A4C4BB21-D2E1-C3E3-5473-C15F2ECD9C92}"/>
              </a:ext>
            </a:extLst>
          </p:cNvPr>
          <p:cNvSpPr/>
          <p:nvPr/>
        </p:nvSpPr>
        <p:spPr>
          <a:xfrm>
            <a:off x="7664047" y="3194602"/>
            <a:ext cx="2266950" cy="2266950"/>
          </a:xfrm>
          <a:prstGeom prst="rect">
            <a:avLst/>
          </a:prstGeom>
          <a:noFill/>
          <a:ln w="19050">
            <a:solidFill>
              <a:srgbClr val="40404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cxnSp>
        <p:nvCxnSpPr>
          <p:cNvPr id="26" name="직선 화살표 연결선 25">
            <a:extLst>
              <a:ext uri="{FF2B5EF4-FFF2-40B4-BE49-F238E27FC236}">
                <a16:creationId xmlns:a16="http://schemas.microsoft.com/office/drawing/2014/main" id="{923692CA-34BE-F0DA-4DFA-D9C552FEBE9A}"/>
              </a:ext>
            </a:extLst>
          </p:cNvPr>
          <p:cNvCxnSpPr>
            <a:cxnSpLocks/>
          </p:cNvCxnSpPr>
          <p:nvPr/>
        </p:nvCxnSpPr>
        <p:spPr>
          <a:xfrm>
            <a:off x="1695450" y="3859048"/>
            <a:ext cx="0" cy="923925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" name="직선 화살표 연결선 26">
            <a:extLst>
              <a:ext uri="{FF2B5EF4-FFF2-40B4-BE49-F238E27FC236}">
                <a16:creationId xmlns:a16="http://schemas.microsoft.com/office/drawing/2014/main" id="{F4F2EF01-58F7-AAC1-3219-F1178881F511}"/>
              </a:ext>
            </a:extLst>
          </p:cNvPr>
          <p:cNvCxnSpPr>
            <a:cxnSpLocks/>
          </p:cNvCxnSpPr>
          <p:nvPr/>
        </p:nvCxnSpPr>
        <p:spPr>
          <a:xfrm flipH="1">
            <a:off x="2081211" y="4924425"/>
            <a:ext cx="1803401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0" name="곱하기 기호 29">
            <a:extLst>
              <a:ext uri="{FF2B5EF4-FFF2-40B4-BE49-F238E27FC236}">
                <a16:creationId xmlns:a16="http://schemas.microsoft.com/office/drawing/2014/main" id="{CF4181DE-F96E-7B4E-A1BA-5ACA254668E6}"/>
              </a:ext>
            </a:extLst>
          </p:cNvPr>
          <p:cNvSpPr/>
          <p:nvPr/>
        </p:nvSpPr>
        <p:spPr>
          <a:xfrm>
            <a:off x="2830650" y="4248150"/>
            <a:ext cx="238429" cy="238125"/>
          </a:xfrm>
          <a:prstGeom prst="mathMultiply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32" name="직선 화살표 연결선 31">
            <a:extLst>
              <a:ext uri="{FF2B5EF4-FFF2-40B4-BE49-F238E27FC236}">
                <a16:creationId xmlns:a16="http://schemas.microsoft.com/office/drawing/2014/main" id="{EA210AC7-00F5-C174-B8BB-B85133E4457F}"/>
              </a:ext>
            </a:extLst>
          </p:cNvPr>
          <p:cNvCxnSpPr>
            <a:cxnSpLocks/>
          </p:cNvCxnSpPr>
          <p:nvPr/>
        </p:nvCxnSpPr>
        <p:spPr>
          <a:xfrm flipV="1">
            <a:off x="7396320" y="3481387"/>
            <a:ext cx="0" cy="175260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4" name="직선 화살표 연결선 33">
            <a:extLst>
              <a:ext uri="{FF2B5EF4-FFF2-40B4-BE49-F238E27FC236}">
                <a16:creationId xmlns:a16="http://schemas.microsoft.com/office/drawing/2014/main" id="{5CA20D4B-FE12-9740-35CD-F4AF04BAB895}"/>
              </a:ext>
            </a:extLst>
          </p:cNvPr>
          <p:cNvCxnSpPr>
            <a:cxnSpLocks/>
          </p:cNvCxnSpPr>
          <p:nvPr/>
        </p:nvCxnSpPr>
        <p:spPr>
          <a:xfrm flipH="1">
            <a:off x="7956158" y="3311295"/>
            <a:ext cx="1645042" cy="3377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7" name="곱하기 기호 36">
            <a:extLst>
              <a:ext uri="{FF2B5EF4-FFF2-40B4-BE49-F238E27FC236}">
                <a16:creationId xmlns:a16="http://schemas.microsoft.com/office/drawing/2014/main" id="{4D929E3E-B927-47C1-C9A4-9678226C7DDD}"/>
              </a:ext>
            </a:extLst>
          </p:cNvPr>
          <p:cNvSpPr/>
          <p:nvPr/>
        </p:nvSpPr>
        <p:spPr>
          <a:xfrm>
            <a:off x="8698050" y="4219575"/>
            <a:ext cx="238429" cy="238125"/>
          </a:xfrm>
          <a:prstGeom prst="mathMultiply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2E24F8C8-C64C-2E1A-A599-38DF2EEF070C}"/>
              </a:ext>
            </a:extLst>
          </p:cNvPr>
          <p:cNvSpPr/>
          <p:nvPr/>
        </p:nvSpPr>
        <p:spPr>
          <a:xfrm>
            <a:off x="1983984" y="3752850"/>
            <a:ext cx="1997857" cy="1066800"/>
          </a:xfrm>
          <a:prstGeom prst="rect">
            <a:avLst/>
          </a:prstGeom>
          <a:noFill/>
          <a:ln w="381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E684E814-A039-D754-CB4E-0E8A330E54A6}"/>
              </a:ext>
            </a:extLst>
          </p:cNvPr>
          <p:cNvSpPr/>
          <p:nvPr/>
        </p:nvSpPr>
        <p:spPr>
          <a:xfrm>
            <a:off x="7989691" y="3410047"/>
            <a:ext cx="1645042" cy="1848398"/>
          </a:xfrm>
          <a:prstGeom prst="rect">
            <a:avLst/>
          </a:prstGeom>
          <a:noFill/>
          <a:ln w="3810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0" name="제목 1">
            <a:extLst>
              <a:ext uri="{FF2B5EF4-FFF2-40B4-BE49-F238E27FC236}">
                <a16:creationId xmlns:a16="http://schemas.microsoft.com/office/drawing/2014/main" id="{043F3424-1CEC-FAA9-90D0-9DF131C6A267}"/>
              </a:ext>
            </a:extLst>
          </p:cNvPr>
          <p:cNvSpPr txBox="1">
            <a:spLocks/>
          </p:cNvSpPr>
          <p:nvPr/>
        </p:nvSpPr>
        <p:spPr>
          <a:xfrm>
            <a:off x="7031196" y="647700"/>
            <a:ext cx="4629755" cy="60072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r"/>
            <a:r>
              <a:rPr lang="en-US" altLang="ko-KR" sz="2000" cap="none" dirty="0"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1. </a:t>
            </a:r>
            <a:r>
              <a:rPr lang="ko-KR" altLang="en-US" sz="2000" cap="none" dirty="0"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데이터 준비</a:t>
            </a:r>
          </a:p>
        </p:txBody>
      </p:sp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3ABF2C29-AA0E-732C-D721-59B716876698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sz="1400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8</a:t>
            </a:fld>
            <a:endParaRPr lang="en-US" sz="1400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109247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" grpId="0" animBg="1"/>
      <p:bldP spid="39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1BBEC8-E42D-9D5F-006D-A535BEB0E9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BC9484CF-47AC-1DC5-3A4C-B9E939CE2544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YOLO</a:t>
            </a:r>
            <a:endParaRPr lang="ko-KR" altLang="en-US" sz="2800" cap="none" dirty="0"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FF3748E-3EB4-9B21-08A1-941961A932A9}"/>
              </a:ext>
            </a:extLst>
          </p:cNvPr>
          <p:cNvSpPr txBox="1"/>
          <p:nvPr/>
        </p:nvSpPr>
        <p:spPr>
          <a:xfrm>
            <a:off x="571802" y="1248422"/>
            <a:ext cx="9181797" cy="12943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YOLO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: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"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우리 모델의 기준 틀은 이 두 형상을 대변하는 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2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개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(Anchor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Box)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로 정하자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!"</a:t>
            </a:r>
          </a:p>
          <a:p>
            <a:pPr lvl="1">
              <a:lnSpc>
                <a:spcPct val="150000"/>
              </a:lnSpc>
            </a:pP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🟨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앵커 박스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1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번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: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가로가 긴 네모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자동차용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pPr lvl="1">
              <a:lnSpc>
                <a:spcPct val="150000"/>
              </a:lnSpc>
            </a:pP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🟦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앵커 박스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2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번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: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세로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/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정방형 네모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비행기용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</p:txBody>
      </p:sp>
      <p:graphicFrame>
        <p:nvGraphicFramePr>
          <p:cNvPr id="13" name="표 12">
            <a:extLst>
              <a:ext uri="{FF2B5EF4-FFF2-40B4-BE49-F238E27FC236}">
                <a16:creationId xmlns:a16="http://schemas.microsoft.com/office/drawing/2014/main" id="{72048F18-8266-CB85-DE41-C11920F6763C}"/>
              </a:ext>
            </a:extLst>
          </p:cNvPr>
          <p:cNvGraphicFramePr>
            <a:graphicFrameLocks noGrp="1"/>
          </p:cNvGraphicFramePr>
          <p:nvPr/>
        </p:nvGraphicFramePr>
        <p:xfrm>
          <a:off x="1670050" y="3754526"/>
          <a:ext cx="2625726" cy="221964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75242">
                  <a:extLst>
                    <a:ext uri="{9D8B030D-6E8A-4147-A177-3AD203B41FA5}">
                      <a16:colId xmlns:a16="http://schemas.microsoft.com/office/drawing/2014/main" val="1961843274"/>
                    </a:ext>
                  </a:extLst>
                </a:gridCol>
                <a:gridCol w="875242">
                  <a:extLst>
                    <a:ext uri="{9D8B030D-6E8A-4147-A177-3AD203B41FA5}">
                      <a16:colId xmlns:a16="http://schemas.microsoft.com/office/drawing/2014/main" val="2923400843"/>
                    </a:ext>
                  </a:extLst>
                </a:gridCol>
                <a:gridCol w="875242">
                  <a:extLst>
                    <a:ext uri="{9D8B030D-6E8A-4147-A177-3AD203B41FA5}">
                      <a16:colId xmlns:a16="http://schemas.microsoft.com/office/drawing/2014/main" val="2951067763"/>
                    </a:ext>
                  </a:extLst>
                </a:gridCol>
              </a:tblGrid>
              <a:tr h="739882">
                <a:tc>
                  <a:txBody>
                    <a:bodyPr/>
                    <a:lstStyle/>
                    <a:p>
                      <a:pPr latinLnBrk="1"/>
                      <a:endParaRPr lang="ko-KR" altLang="en-US" sz="1100"/>
                    </a:p>
                  </a:txBody>
                  <a:tcPr marL="60119" marR="60119" marT="30059" marB="30059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dirty="0"/>
                    </a:p>
                  </a:txBody>
                  <a:tcPr marL="60119" marR="60119" marT="30059" marB="30059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/>
                    </a:p>
                  </a:txBody>
                  <a:tcPr marL="60119" marR="60119" marT="30059" marB="30059"/>
                </a:tc>
                <a:extLst>
                  <a:ext uri="{0D108BD9-81ED-4DB2-BD59-A6C34878D82A}">
                    <a16:rowId xmlns:a16="http://schemas.microsoft.com/office/drawing/2014/main" val="844891742"/>
                  </a:ext>
                </a:extLst>
              </a:tr>
              <a:tr h="739882">
                <a:tc>
                  <a:txBody>
                    <a:bodyPr/>
                    <a:lstStyle/>
                    <a:p>
                      <a:pPr latinLnBrk="1"/>
                      <a:endParaRPr lang="ko-KR" altLang="en-US" sz="1100"/>
                    </a:p>
                  </a:txBody>
                  <a:tcPr marL="60119" marR="60119" marT="30059" marB="30059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dirty="0"/>
                    </a:p>
                  </a:txBody>
                  <a:tcPr marL="60119" marR="60119" marT="30059" marB="30059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/>
                    </a:p>
                  </a:txBody>
                  <a:tcPr marL="60119" marR="60119" marT="30059" marB="30059"/>
                </a:tc>
                <a:extLst>
                  <a:ext uri="{0D108BD9-81ED-4DB2-BD59-A6C34878D82A}">
                    <a16:rowId xmlns:a16="http://schemas.microsoft.com/office/drawing/2014/main" val="4097710734"/>
                  </a:ext>
                </a:extLst>
              </a:tr>
              <a:tr h="739882">
                <a:tc>
                  <a:txBody>
                    <a:bodyPr/>
                    <a:lstStyle/>
                    <a:p>
                      <a:pPr latinLnBrk="1"/>
                      <a:endParaRPr lang="ko-KR" altLang="en-US" sz="1100"/>
                    </a:p>
                  </a:txBody>
                  <a:tcPr marL="60119" marR="60119" marT="30059" marB="30059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/>
                    </a:p>
                  </a:txBody>
                  <a:tcPr marL="60119" marR="60119" marT="30059" marB="30059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dirty="0"/>
                    </a:p>
                  </a:txBody>
                  <a:tcPr marL="60119" marR="60119" marT="30059" marB="30059"/>
                </a:tc>
                <a:extLst>
                  <a:ext uri="{0D108BD9-81ED-4DB2-BD59-A6C34878D82A}">
                    <a16:rowId xmlns:a16="http://schemas.microsoft.com/office/drawing/2014/main" val="3232772719"/>
                  </a:ext>
                </a:extLst>
              </a:tr>
            </a:tbl>
          </a:graphicData>
        </a:graphic>
      </p:graphicFrame>
      <p:pic>
        <p:nvPicPr>
          <p:cNvPr id="14" name="그래픽 13" descr="자동차">
            <a:extLst>
              <a:ext uri="{FF2B5EF4-FFF2-40B4-BE49-F238E27FC236}">
                <a16:creationId xmlns:a16="http://schemas.microsoft.com/office/drawing/2014/main" id="{E25806FF-A758-49F9-CD68-916A6763263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993509" y="3949470"/>
            <a:ext cx="1997857" cy="1997857"/>
          </a:xfrm>
          <a:prstGeom prst="rect">
            <a:avLst/>
          </a:prstGeom>
        </p:spPr>
      </p:pic>
      <p:graphicFrame>
        <p:nvGraphicFramePr>
          <p:cNvPr id="15" name="표 14">
            <a:extLst>
              <a:ext uri="{FF2B5EF4-FFF2-40B4-BE49-F238E27FC236}">
                <a16:creationId xmlns:a16="http://schemas.microsoft.com/office/drawing/2014/main" id="{77158E83-58E7-AE40-50CA-1763B3D3CC6A}"/>
              </a:ext>
            </a:extLst>
          </p:cNvPr>
          <p:cNvGraphicFramePr>
            <a:graphicFrameLocks noGrp="1"/>
          </p:cNvGraphicFramePr>
          <p:nvPr/>
        </p:nvGraphicFramePr>
        <p:xfrm>
          <a:off x="7499350" y="3754526"/>
          <a:ext cx="2625726" cy="221964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75242">
                  <a:extLst>
                    <a:ext uri="{9D8B030D-6E8A-4147-A177-3AD203B41FA5}">
                      <a16:colId xmlns:a16="http://schemas.microsoft.com/office/drawing/2014/main" val="1961843274"/>
                    </a:ext>
                  </a:extLst>
                </a:gridCol>
                <a:gridCol w="875242">
                  <a:extLst>
                    <a:ext uri="{9D8B030D-6E8A-4147-A177-3AD203B41FA5}">
                      <a16:colId xmlns:a16="http://schemas.microsoft.com/office/drawing/2014/main" val="2923400843"/>
                    </a:ext>
                  </a:extLst>
                </a:gridCol>
                <a:gridCol w="875242">
                  <a:extLst>
                    <a:ext uri="{9D8B030D-6E8A-4147-A177-3AD203B41FA5}">
                      <a16:colId xmlns:a16="http://schemas.microsoft.com/office/drawing/2014/main" val="2951067763"/>
                    </a:ext>
                  </a:extLst>
                </a:gridCol>
              </a:tblGrid>
              <a:tr h="739882">
                <a:tc>
                  <a:txBody>
                    <a:bodyPr/>
                    <a:lstStyle/>
                    <a:p>
                      <a:pPr latinLnBrk="1"/>
                      <a:endParaRPr lang="ko-KR" altLang="en-US" sz="1100"/>
                    </a:p>
                  </a:txBody>
                  <a:tcPr marL="60119" marR="60119" marT="30059" marB="30059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dirty="0"/>
                    </a:p>
                  </a:txBody>
                  <a:tcPr marL="60119" marR="60119" marT="30059" marB="30059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/>
                    </a:p>
                  </a:txBody>
                  <a:tcPr marL="60119" marR="60119" marT="30059" marB="30059"/>
                </a:tc>
                <a:extLst>
                  <a:ext uri="{0D108BD9-81ED-4DB2-BD59-A6C34878D82A}">
                    <a16:rowId xmlns:a16="http://schemas.microsoft.com/office/drawing/2014/main" val="844891742"/>
                  </a:ext>
                </a:extLst>
              </a:tr>
              <a:tr h="739882">
                <a:tc>
                  <a:txBody>
                    <a:bodyPr/>
                    <a:lstStyle/>
                    <a:p>
                      <a:pPr latinLnBrk="1"/>
                      <a:endParaRPr lang="ko-KR" altLang="en-US" sz="1100"/>
                    </a:p>
                  </a:txBody>
                  <a:tcPr marL="60119" marR="60119" marT="30059" marB="30059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dirty="0"/>
                    </a:p>
                  </a:txBody>
                  <a:tcPr marL="60119" marR="60119" marT="30059" marB="30059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/>
                    </a:p>
                  </a:txBody>
                  <a:tcPr marL="60119" marR="60119" marT="30059" marB="30059"/>
                </a:tc>
                <a:extLst>
                  <a:ext uri="{0D108BD9-81ED-4DB2-BD59-A6C34878D82A}">
                    <a16:rowId xmlns:a16="http://schemas.microsoft.com/office/drawing/2014/main" val="4097710734"/>
                  </a:ext>
                </a:extLst>
              </a:tr>
              <a:tr h="739882">
                <a:tc>
                  <a:txBody>
                    <a:bodyPr/>
                    <a:lstStyle/>
                    <a:p>
                      <a:pPr latinLnBrk="1"/>
                      <a:endParaRPr lang="ko-KR" altLang="en-US" sz="1100"/>
                    </a:p>
                  </a:txBody>
                  <a:tcPr marL="60119" marR="60119" marT="30059" marB="30059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dirty="0"/>
                    </a:p>
                  </a:txBody>
                  <a:tcPr marL="60119" marR="60119" marT="30059" marB="30059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dirty="0"/>
                    </a:p>
                  </a:txBody>
                  <a:tcPr marL="60119" marR="60119" marT="30059" marB="30059"/>
                </a:tc>
                <a:extLst>
                  <a:ext uri="{0D108BD9-81ED-4DB2-BD59-A6C34878D82A}">
                    <a16:rowId xmlns:a16="http://schemas.microsoft.com/office/drawing/2014/main" val="3232772719"/>
                  </a:ext>
                </a:extLst>
              </a:tr>
            </a:tbl>
          </a:graphicData>
        </a:graphic>
      </p:graphicFrame>
      <p:pic>
        <p:nvPicPr>
          <p:cNvPr id="16" name="그래픽 15" descr="비행기">
            <a:extLst>
              <a:ext uri="{FF2B5EF4-FFF2-40B4-BE49-F238E27FC236}">
                <a16:creationId xmlns:a16="http://schemas.microsoft.com/office/drawing/2014/main" id="{C1885EE2-FE2D-BFD3-B181-AC4DDAD8E3B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764621" y="3806820"/>
            <a:ext cx="2114233" cy="2114233"/>
          </a:xfrm>
          <a:prstGeom prst="rect">
            <a:avLst/>
          </a:prstGeom>
        </p:spPr>
      </p:pic>
      <p:sp>
        <p:nvSpPr>
          <p:cNvPr id="17" name="직사각형 16">
            <a:extLst>
              <a:ext uri="{FF2B5EF4-FFF2-40B4-BE49-F238E27FC236}">
                <a16:creationId xmlns:a16="http://schemas.microsoft.com/office/drawing/2014/main" id="{B35206C9-1D79-6791-B243-45E9E653CC56}"/>
              </a:ext>
            </a:extLst>
          </p:cNvPr>
          <p:cNvSpPr/>
          <p:nvPr/>
        </p:nvSpPr>
        <p:spPr>
          <a:xfrm>
            <a:off x="1983984" y="4371975"/>
            <a:ext cx="1997857" cy="1066800"/>
          </a:xfrm>
          <a:prstGeom prst="rect">
            <a:avLst/>
          </a:prstGeom>
          <a:noFill/>
          <a:ln w="381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79CE5849-A00F-6ECC-4413-F04B04D7A17A}"/>
              </a:ext>
            </a:extLst>
          </p:cNvPr>
          <p:cNvSpPr/>
          <p:nvPr/>
        </p:nvSpPr>
        <p:spPr>
          <a:xfrm>
            <a:off x="7989691" y="3943349"/>
            <a:ext cx="1645042" cy="1858021"/>
          </a:xfrm>
          <a:prstGeom prst="rect">
            <a:avLst/>
          </a:prstGeom>
          <a:noFill/>
          <a:ln w="3810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2A397AF-A0EB-E581-D352-979F0199EED5}"/>
              </a:ext>
            </a:extLst>
          </p:cNvPr>
          <p:cNvSpPr txBox="1"/>
          <p:nvPr/>
        </p:nvSpPr>
        <p:spPr>
          <a:xfrm>
            <a:off x="4716675" y="3949470"/>
            <a:ext cx="168449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dirty="0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Anchor</a:t>
            </a:r>
            <a:r>
              <a:rPr lang="ko-KR" altLang="en-US" dirty="0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dirty="0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Box</a:t>
            </a:r>
            <a:endParaRPr lang="ko-KR" altLang="en-US" dirty="0">
              <a:solidFill>
                <a:srgbClr val="FF0000"/>
              </a:solidFill>
            </a:endParaRPr>
          </a:p>
        </p:txBody>
      </p:sp>
      <p:cxnSp>
        <p:nvCxnSpPr>
          <p:cNvPr id="22" name="연결선: 꺾임 21">
            <a:extLst>
              <a:ext uri="{FF2B5EF4-FFF2-40B4-BE49-F238E27FC236}">
                <a16:creationId xmlns:a16="http://schemas.microsoft.com/office/drawing/2014/main" id="{F5E8C1DA-1FFA-3A1C-B4FD-DFCFB67E4458}"/>
              </a:ext>
            </a:extLst>
          </p:cNvPr>
          <p:cNvCxnSpPr>
            <a:cxnSpLocks/>
            <a:stCxn id="17" idx="3"/>
            <a:endCxn id="20" idx="2"/>
          </p:cNvCxnSpPr>
          <p:nvPr/>
        </p:nvCxnSpPr>
        <p:spPr>
          <a:xfrm flipV="1">
            <a:off x="3981841" y="4318802"/>
            <a:ext cx="1577083" cy="586573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DD812E43-DB8D-3C7F-940B-35E0CED061AE}"/>
              </a:ext>
            </a:extLst>
          </p:cNvPr>
          <p:cNvSpPr txBox="1"/>
          <p:nvPr/>
        </p:nvSpPr>
        <p:spPr>
          <a:xfrm>
            <a:off x="10249809" y="3949470"/>
            <a:ext cx="168449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dirty="0">
                <a:solidFill>
                  <a:schemeClr val="accent5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Anchor</a:t>
            </a:r>
            <a:r>
              <a:rPr lang="ko-KR" altLang="en-US" dirty="0">
                <a:solidFill>
                  <a:schemeClr val="accent5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dirty="0">
                <a:solidFill>
                  <a:schemeClr val="accent5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Box</a:t>
            </a:r>
            <a:endParaRPr lang="ko-KR" altLang="en-US" dirty="0">
              <a:solidFill>
                <a:schemeClr val="accent5"/>
              </a:solidFill>
            </a:endParaRPr>
          </a:p>
        </p:txBody>
      </p:sp>
      <p:cxnSp>
        <p:nvCxnSpPr>
          <p:cNvPr id="25" name="연결선: 꺾임 24">
            <a:extLst>
              <a:ext uri="{FF2B5EF4-FFF2-40B4-BE49-F238E27FC236}">
                <a16:creationId xmlns:a16="http://schemas.microsoft.com/office/drawing/2014/main" id="{2A3E4D01-9F66-7E18-94EB-F51D5C34FA4B}"/>
              </a:ext>
            </a:extLst>
          </p:cNvPr>
          <p:cNvCxnSpPr>
            <a:cxnSpLocks/>
            <a:endCxn id="24" idx="2"/>
          </p:cNvCxnSpPr>
          <p:nvPr/>
        </p:nvCxnSpPr>
        <p:spPr>
          <a:xfrm flipV="1">
            <a:off x="9634735" y="4318802"/>
            <a:ext cx="1457323" cy="443701"/>
          </a:xfrm>
          <a:prstGeom prst="bentConnector2">
            <a:avLst/>
          </a:prstGeom>
          <a:ln>
            <a:solidFill>
              <a:srgbClr val="0070C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9B78025F-5C14-CD9D-57A0-CDE06BF2C614}"/>
              </a:ext>
            </a:extLst>
          </p:cNvPr>
          <p:cNvSpPr txBox="1"/>
          <p:nvPr/>
        </p:nvSpPr>
        <p:spPr>
          <a:xfrm>
            <a:off x="1580240" y="2872224"/>
            <a:ext cx="5957210" cy="523220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 marL="171450" indent="-171450">
              <a:buFont typeface="Wingdings" panose="05000000000000000000" pitchFamily="2" charset="2"/>
              <a:buChar char="§"/>
            </a:pPr>
            <a:r>
              <a:rPr lang="en-US" altLang="ko-KR" sz="1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Anchor Box</a:t>
            </a:r>
            <a:r>
              <a:rPr lang="ko-KR" altLang="en-US" sz="1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의 기하학적 유형은 입력데이터의 평균 유형</a:t>
            </a:r>
            <a:endParaRPr lang="en-US" altLang="ko-KR" sz="1400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en-US" altLang="ko-KR" sz="1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Class </a:t>
            </a:r>
            <a:r>
              <a:rPr lang="ko-KR" altLang="en-US" sz="1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별로 앵커박스가</a:t>
            </a:r>
            <a:r>
              <a:rPr lang="en-US" altLang="ko-KR" sz="1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4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필요없음</a:t>
            </a:r>
            <a:r>
              <a:rPr lang="en-US" altLang="ko-KR" sz="1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(class</a:t>
            </a:r>
            <a:r>
              <a:rPr lang="ko-KR" altLang="en-US" sz="1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가</a:t>
            </a:r>
            <a:r>
              <a:rPr lang="en-US" altLang="ko-KR" sz="1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100</a:t>
            </a:r>
            <a:r>
              <a:rPr lang="ko-KR" altLang="en-US" sz="1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개</a:t>
            </a:r>
            <a:r>
              <a:rPr lang="en-US" altLang="ko-KR" sz="1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sz="1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앵커박스는 </a:t>
            </a:r>
            <a:r>
              <a:rPr lang="en-US" altLang="ko-KR" sz="1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5</a:t>
            </a:r>
            <a:r>
              <a:rPr lang="ko-KR" altLang="en-US" sz="1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개</a:t>
            </a:r>
            <a:r>
              <a:rPr lang="en-US" altLang="ko-KR" sz="1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endParaRPr lang="ko-KR" altLang="en-US" sz="1400" dirty="0">
              <a:solidFill>
                <a:schemeClr val="bg1"/>
              </a:solidFill>
            </a:endParaRPr>
          </a:p>
        </p:txBody>
      </p:sp>
      <p:sp>
        <p:nvSpPr>
          <p:cNvPr id="30" name="제목 1">
            <a:extLst>
              <a:ext uri="{FF2B5EF4-FFF2-40B4-BE49-F238E27FC236}">
                <a16:creationId xmlns:a16="http://schemas.microsoft.com/office/drawing/2014/main" id="{3AEBD48E-EEFD-46FD-E8B2-022BFAE93558}"/>
              </a:ext>
            </a:extLst>
          </p:cNvPr>
          <p:cNvSpPr txBox="1">
            <a:spLocks/>
          </p:cNvSpPr>
          <p:nvPr/>
        </p:nvSpPr>
        <p:spPr>
          <a:xfrm>
            <a:off x="7031196" y="647700"/>
            <a:ext cx="4629755" cy="60072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r"/>
            <a:r>
              <a:rPr lang="en-US" altLang="ko-KR" sz="2000" cap="none" dirty="0"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2. Anchor</a:t>
            </a:r>
            <a:r>
              <a:rPr lang="ko-KR" altLang="en-US" sz="2000" cap="none" dirty="0"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 </a:t>
            </a:r>
            <a:r>
              <a:rPr lang="en-US" altLang="ko-KR" sz="2000" cap="none" dirty="0"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box</a:t>
            </a:r>
            <a:endParaRPr lang="ko-KR" altLang="en-US" sz="2000" cap="none" dirty="0"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FB339C34-F600-A67D-CB3F-292C0C85A6F7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sz="1400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9</a:t>
            </a:fld>
            <a:endParaRPr lang="en-US" sz="1400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230176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D6F22A-8CEE-D46B-1B35-515AF76D15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8E5E77C4-60A1-4515-1BC2-EE1EC4F57885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YOLO</a:t>
            </a:r>
            <a:endParaRPr lang="ko-KR" altLang="en-US" sz="2800" cap="none" dirty="0"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6065B33-71F2-8E1A-35C7-6F9B3D2A2E09}"/>
              </a:ext>
            </a:extLst>
          </p:cNvPr>
          <p:cNvSpPr txBox="1"/>
          <p:nvPr/>
        </p:nvSpPr>
        <p:spPr>
          <a:xfrm>
            <a:off x="571802" y="1248422"/>
            <a:ext cx="11144553" cy="7931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YOLO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는 새로운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이미지가 들어오면 가상의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3 by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3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격자를 바탕으로 각 칸마다 물체의 중심이 있는지를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CNN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을 수행하여 각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Cell(gird)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에 물체가 있을 확률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시그모이드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값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을 구하여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P(Object)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값을 생성</a:t>
            </a: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6" name="제목 1">
            <a:extLst>
              <a:ext uri="{FF2B5EF4-FFF2-40B4-BE49-F238E27FC236}">
                <a16:creationId xmlns:a16="http://schemas.microsoft.com/office/drawing/2014/main" id="{BD05EC23-678F-AA72-AC21-6E047DE7E5FF}"/>
              </a:ext>
            </a:extLst>
          </p:cNvPr>
          <p:cNvSpPr txBox="1">
            <a:spLocks/>
          </p:cNvSpPr>
          <p:nvPr/>
        </p:nvSpPr>
        <p:spPr>
          <a:xfrm>
            <a:off x="7031196" y="647700"/>
            <a:ext cx="4629755" cy="60072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r"/>
            <a:r>
              <a:rPr lang="en-US" altLang="ko-KR" sz="2000" cap="none" dirty="0"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3. </a:t>
            </a:r>
            <a:r>
              <a:rPr lang="ko-KR" altLang="en-US" sz="2000" cap="none" dirty="0"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새로운 데이터 격자로 나누기</a:t>
            </a:r>
          </a:p>
        </p:txBody>
      </p:sp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40CD7434-7F05-3333-F747-1FBC47252150}"/>
              </a:ext>
            </a:extLst>
          </p:cNvPr>
          <p:cNvGraphicFramePr>
            <a:graphicFrameLocks noGrp="1"/>
          </p:cNvGraphicFramePr>
          <p:nvPr/>
        </p:nvGraphicFramePr>
        <p:xfrm>
          <a:off x="5219697" y="3090009"/>
          <a:ext cx="3790953" cy="320466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63651">
                  <a:extLst>
                    <a:ext uri="{9D8B030D-6E8A-4147-A177-3AD203B41FA5}">
                      <a16:colId xmlns:a16="http://schemas.microsoft.com/office/drawing/2014/main" val="1961843274"/>
                    </a:ext>
                  </a:extLst>
                </a:gridCol>
                <a:gridCol w="1263651">
                  <a:extLst>
                    <a:ext uri="{9D8B030D-6E8A-4147-A177-3AD203B41FA5}">
                      <a16:colId xmlns:a16="http://schemas.microsoft.com/office/drawing/2014/main" val="2923400843"/>
                    </a:ext>
                  </a:extLst>
                </a:gridCol>
                <a:gridCol w="1263651">
                  <a:extLst>
                    <a:ext uri="{9D8B030D-6E8A-4147-A177-3AD203B41FA5}">
                      <a16:colId xmlns:a16="http://schemas.microsoft.com/office/drawing/2014/main" val="2951067763"/>
                    </a:ext>
                  </a:extLst>
                </a:gridCol>
              </a:tblGrid>
              <a:tr h="1068221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>
                          <a:solidFill>
                            <a:srgbClr val="FF0000"/>
                          </a:solidFill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P(Object)=0</a:t>
                      </a:r>
                      <a:endParaRPr lang="ko-KR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 marL="86797" marR="86797" marT="43397" marB="43397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D2Coding" panose="020B0609020101020101" pitchFamily="49" charset="-127"/>
                          <a:ea typeface="D2Coding" panose="020B0609020101020101" pitchFamily="49" charset="-127"/>
                          <a:cs typeface="+mn-cs"/>
                        </a:rPr>
                        <a:t>P(Object)=0</a:t>
                      </a:r>
                      <a:endParaRPr kumimoji="0" lang="ko-KR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Segoe UI"/>
                        <a:ea typeface="+mn-ea"/>
                        <a:cs typeface="+mn-cs"/>
                      </a:endParaRPr>
                    </a:p>
                  </a:txBody>
                  <a:tcPr marL="86797" marR="86797" marT="43397" marB="43397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D2Coding" panose="020B0609020101020101" pitchFamily="49" charset="-127"/>
                          <a:ea typeface="D2Coding" panose="020B0609020101020101" pitchFamily="49" charset="-127"/>
                          <a:cs typeface="+mn-cs"/>
                        </a:rPr>
                        <a:t>P(Object)=0</a:t>
                      </a:r>
                      <a:endParaRPr kumimoji="0" lang="ko-KR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Segoe UI"/>
                        <a:ea typeface="+mn-ea"/>
                        <a:cs typeface="+mn-cs"/>
                      </a:endParaRPr>
                    </a:p>
                  </a:txBody>
                  <a:tcPr marL="86797" marR="86797" marT="43397" marB="43397"/>
                </a:tc>
                <a:extLst>
                  <a:ext uri="{0D108BD9-81ED-4DB2-BD59-A6C34878D82A}">
                    <a16:rowId xmlns:a16="http://schemas.microsoft.com/office/drawing/2014/main" val="844891742"/>
                  </a:ext>
                </a:extLst>
              </a:tr>
              <a:tr h="106822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D2Coding" panose="020B0609020101020101" pitchFamily="49" charset="-127"/>
                          <a:ea typeface="D2Coding" panose="020B0609020101020101" pitchFamily="49" charset="-127"/>
                          <a:cs typeface="+mn-cs"/>
                        </a:rPr>
                        <a:t>P(Object)=0</a:t>
                      </a:r>
                      <a:endParaRPr kumimoji="0" lang="ko-KR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Segoe UI"/>
                        <a:ea typeface="+mn-ea"/>
                        <a:cs typeface="+mn-cs"/>
                      </a:endParaRPr>
                    </a:p>
                  </a:txBody>
                  <a:tcPr marL="86797" marR="86797" marT="43397" marB="43397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D2Coding" panose="020B0609020101020101" pitchFamily="49" charset="-127"/>
                          <a:ea typeface="D2Coding" panose="020B0609020101020101" pitchFamily="49" charset="-127"/>
                          <a:cs typeface="+mn-cs"/>
                        </a:rPr>
                        <a:t>P(Object)=0</a:t>
                      </a:r>
                      <a:endParaRPr kumimoji="0" lang="ko-KR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Segoe UI"/>
                        <a:ea typeface="+mn-ea"/>
                        <a:cs typeface="+mn-cs"/>
                      </a:endParaRPr>
                    </a:p>
                  </a:txBody>
                  <a:tcPr marL="86797" marR="86797" marT="43397" marB="43397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D2Coding" panose="020B0609020101020101" pitchFamily="49" charset="-127"/>
                          <a:ea typeface="D2Coding" panose="020B0609020101020101" pitchFamily="49" charset="-127"/>
                          <a:cs typeface="+mn-cs"/>
                        </a:rPr>
                        <a:t>P(Object)=0</a:t>
                      </a:r>
                      <a:endParaRPr kumimoji="0" lang="ko-KR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Segoe UI"/>
                        <a:ea typeface="+mn-ea"/>
                        <a:cs typeface="+mn-cs"/>
                      </a:endParaRPr>
                    </a:p>
                  </a:txBody>
                  <a:tcPr marL="86797" marR="86797" marT="43397" marB="43397"/>
                </a:tc>
                <a:extLst>
                  <a:ext uri="{0D108BD9-81ED-4DB2-BD59-A6C34878D82A}">
                    <a16:rowId xmlns:a16="http://schemas.microsoft.com/office/drawing/2014/main" val="4097710734"/>
                  </a:ext>
                </a:extLst>
              </a:tr>
              <a:tr h="106822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D2Coding" panose="020B0609020101020101" pitchFamily="49" charset="-127"/>
                          <a:ea typeface="D2Coding" panose="020B0609020101020101" pitchFamily="49" charset="-127"/>
                          <a:cs typeface="+mn-cs"/>
                        </a:rPr>
                        <a:t>P(Object)=0</a:t>
                      </a:r>
                      <a:endParaRPr kumimoji="0" lang="ko-KR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Segoe UI"/>
                        <a:ea typeface="+mn-ea"/>
                        <a:cs typeface="+mn-cs"/>
                      </a:endParaRPr>
                    </a:p>
                  </a:txBody>
                  <a:tcPr marL="86797" marR="86797" marT="43397" marB="43397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D2Coding" panose="020B0609020101020101" pitchFamily="49" charset="-127"/>
                          <a:ea typeface="D2Coding" panose="020B0609020101020101" pitchFamily="49" charset="-127"/>
                          <a:cs typeface="+mn-cs"/>
                        </a:rPr>
                        <a:t>P(Object)=0</a:t>
                      </a:r>
                      <a:endParaRPr kumimoji="0" lang="ko-KR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Segoe UI"/>
                        <a:ea typeface="+mn-ea"/>
                        <a:cs typeface="+mn-cs"/>
                      </a:endParaRPr>
                    </a:p>
                  </a:txBody>
                  <a:tcPr marL="86797" marR="86797" marT="43397" marB="43397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D2Coding" panose="020B0609020101020101" pitchFamily="49" charset="-127"/>
                          <a:ea typeface="D2Coding" panose="020B0609020101020101" pitchFamily="49" charset="-127"/>
                          <a:cs typeface="+mn-cs"/>
                        </a:rPr>
                        <a:t>P(Object)=1</a:t>
                      </a:r>
                      <a:endParaRPr kumimoji="0" lang="ko-KR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Segoe UI"/>
                        <a:ea typeface="+mn-ea"/>
                        <a:cs typeface="+mn-cs"/>
                      </a:endParaRPr>
                    </a:p>
                  </a:txBody>
                  <a:tcPr marL="86797" marR="86797" marT="43397" marB="43397"/>
                </a:tc>
                <a:extLst>
                  <a:ext uri="{0D108BD9-81ED-4DB2-BD59-A6C34878D82A}">
                    <a16:rowId xmlns:a16="http://schemas.microsoft.com/office/drawing/2014/main" val="3232772719"/>
                  </a:ext>
                </a:extLst>
              </a:tr>
            </a:tbl>
          </a:graphicData>
        </a:graphic>
      </p:graphicFrame>
      <p:pic>
        <p:nvPicPr>
          <p:cNvPr id="8" name="그래픽 7" descr="트럭">
            <a:extLst>
              <a:ext uri="{FF2B5EF4-FFF2-40B4-BE49-F238E27FC236}">
                <a16:creationId xmlns:a16="http://schemas.microsoft.com/office/drawing/2014/main" id="{8EA9DE97-9A3E-F82F-9B18-B0F4B1E06E6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837844" y="5313781"/>
            <a:ext cx="1047565" cy="1047565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198FEA32-7B87-4278-BDCB-75A6D62C5150}"/>
              </a:ext>
            </a:extLst>
          </p:cNvPr>
          <p:cNvSpPr txBox="1"/>
          <p:nvPr/>
        </p:nvSpPr>
        <p:spPr>
          <a:xfrm>
            <a:off x="5219696" y="2647934"/>
            <a:ext cx="379095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(3, 3) grid 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  <a:sym typeface="Wingdings" panose="05000000000000000000" pitchFamily="2" charset="2"/>
              </a:rPr>
              <a:t> P(Object)</a:t>
            </a:r>
            <a:endParaRPr lang="ko-KR" altLang="en-US" dirty="0"/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AA960F75-AC5A-0A92-4EAE-D7680A179134}"/>
              </a:ext>
            </a:extLst>
          </p:cNvPr>
          <p:cNvGraphicFramePr>
            <a:graphicFrameLocks noGrp="1"/>
          </p:cNvGraphicFramePr>
          <p:nvPr/>
        </p:nvGraphicFramePr>
        <p:xfrm>
          <a:off x="871395" y="3090008"/>
          <a:ext cx="3790953" cy="320466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63651">
                  <a:extLst>
                    <a:ext uri="{9D8B030D-6E8A-4147-A177-3AD203B41FA5}">
                      <a16:colId xmlns:a16="http://schemas.microsoft.com/office/drawing/2014/main" val="1961843274"/>
                    </a:ext>
                  </a:extLst>
                </a:gridCol>
                <a:gridCol w="1263651">
                  <a:extLst>
                    <a:ext uri="{9D8B030D-6E8A-4147-A177-3AD203B41FA5}">
                      <a16:colId xmlns:a16="http://schemas.microsoft.com/office/drawing/2014/main" val="2923400843"/>
                    </a:ext>
                  </a:extLst>
                </a:gridCol>
                <a:gridCol w="1263651">
                  <a:extLst>
                    <a:ext uri="{9D8B030D-6E8A-4147-A177-3AD203B41FA5}">
                      <a16:colId xmlns:a16="http://schemas.microsoft.com/office/drawing/2014/main" val="2951067763"/>
                    </a:ext>
                  </a:extLst>
                </a:gridCol>
              </a:tblGrid>
              <a:tr h="1068221">
                <a:tc>
                  <a:txBody>
                    <a:bodyPr/>
                    <a:lstStyle/>
                    <a:p>
                      <a:pPr latinLnBrk="1"/>
                      <a:endParaRPr lang="ko-KR" altLang="en-US" sz="1500"/>
                    </a:p>
                  </a:txBody>
                  <a:tcPr marL="86797" marR="86797" marT="43397" marB="4339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 dirty="0"/>
                    </a:p>
                  </a:txBody>
                  <a:tcPr marL="86797" marR="86797" marT="43397" marB="43397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/>
                    </a:p>
                  </a:txBody>
                  <a:tcPr marL="86797" marR="86797" marT="43397" marB="43397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844891742"/>
                  </a:ext>
                </a:extLst>
              </a:tr>
              <a:tr h="1068221">
                <a:tc>
                  <a:txBody>
                    <a:bodyPr/>
                    <a:lstStyle/>
                    <a:p>
                      <a:pPr latinLnBrk="1"/>
                      <a:endParaRPr lang="ko-KR" altLang="en-US" sz="1500"/>
                    </a:p>
                  </a:txBody>
                  <a:tcPr marL="86797" marR="86797" marT="43397" marB="4339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 dirty="0"/>
                    </a:p>
                  </a:txBody>
                  <a:tcPr marL="86797" marR="86797" marT="43397" marB="43397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 dirty="0"/>
                    </a:p>
                  </a:txBody>
                  <a:tcPr marL="86797" marR="86797" marT="43397" marB="43397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097710734"/>
                  </a:ext>
                </a:extLst>
              </a:tr>
              <a:tr h="1068221">
                <a:tc>
                  <a:txBody>
                    <a:bodyPr/>
                    <a:lstStyle/>
                    <a:p>
                      <a:pPr latinLnBrk="1"/>
                      <a:endParaRPr lang="ko-KR" altLang="en-US" sz="1500"/>
                    </a:p>
                  </a:txBody>
                  <a:tcPr marL="86797" marR="86797" marT="43397" marB="4339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 dirty="0"/>
                    </a:p>
                  </a:txBody>
                  <a:tcPr marL="86797" marR="86797" marT="43397" marB="43397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500" dirty="0"/>
                    </a:p>
                  </a:txBody>
                  <a:tcPr marL="86797" marR="86797" marT="43397" marB="43397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232772719"/>
                  </a:ext>
                </a:extLst>
              </a:tr>
            </a:tbl>
          </a:graphicData>
        </a:graphic>
      </p:graphicFrame>
      <p:pic>
        <p:nvPicPr>
          <p:cNvPr id="7" name="그래픽 6" descr="트럭">
            <a:extLst>
              <a:ext uri="{FF2B5EF4-FFF2-40B4-BE49-F238E27FC236}">
                <a16:creationId xmlns:a16="http://schemas.microsoft.com/office/drawing/2014/main" id="{C49C51BB-9B05-4EB8-3851-26F56B850E5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481195" y="5290752"/>
            <a:ext cx="1047565" cy="104756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1415CB45-AA07-C19C-1B0E-C46705816A65}"/>
              </a:ext>
            </a:extLst>
          </p:cNvPr>
          <p:cNvSpPr txBox="1"/>
          <p:nvPr/>
        </p:nvSpPr>
        <p:spPr>
          <a:xfrm>
            <a:off x="803739" y="2592192"/>
            <a:ext cx="210387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new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data</a:t>
            </a:r>
            <a:endParaRPr lang="ko-KR" alt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90DEF21-DD89-D679-AA0E-C6904E2C9323}"/>
              </a:ext>
            </a:extLst>
          </p:cNvPr>
          <p:cNvSpPr txBox="1"/>
          <p:nvPr/>
        </p:nvSpPr>
        <p:spPr>
          <a:xfrm>
            <a:off x="9094624" y="3090008"/>
            <a:ext cx="182765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격자 크기는 연구자가 결정</a:t>
            </a:r>
            <a:endParaRPr lang="ko-KR" altLang="en-US" sz="16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61E178B-AE3A-7F13-F919-7614F770271A}"/>
              </a:ext>
            </a:extLst>
          </p:cNvPr>
          <p:cNvSpPr txBox="1"/>
          <p:nvPr/>
        </p:nvSpPr>
        <p:spPr>
          <a:xfrm>
            <a:off x="9094624" y="3912603"/>
            <a:ext cx="2838773" cy="212365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marL="171450" indent="-171450">
              <a:buFont typeface="Wingdings" panose="05000000000000000000" pitchFamily="2" charset="2"/>
              <a:buChar char="§"/>
            </a:pPr>
            <a:r>
              <a:rPr lang="ko-KR" altLang="en-US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CNN은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 물체가 있는지 </a:t>
            </a:r>
            <a:r>
              <a:rPr lang="ko-KR" altLang="en-US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없는지만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 구하는 것이 아니라, "내 구역에 물체가 있을 확률은 95%이고</a:t>
            </a:r>
            <a:endParaRPr lang="en-US" altLang="ko-KR" sz="12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171450" indent="-171450">
              <a:buFont typeface="Wingdings" panose="05000000000000000000" pitchFamily="2" charset="2"/>
              <a:buChar char="§"/>
            </a:pPr>
            <a:endParaRPr lang="en-US" altLang="ko-KR" sz="12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그 물체의 정체는 자동차일 확률이 높으며, 정확한 위치(</a:t>
            </a:r>
            <a:r>
              <a:rPr lang="ko-KR" altLang="en-US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x,y,w,h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) </a:t>
            </a:r>
            <a:r>
              <a:rPr lang="ko-KR" altLang="en-US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여기야!"라는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 종합 답변 세트를 단 한 번의 연산으로 동시에 출력하는</a:t>
            </a:r>
            <a:endParaRPr lang="en-US" altLang="ko-KR" sz="12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171450" indent="-171450">
              <a:buFont typeface="Wingdings" panose="05000000000000000000" pitchFamily="2" charset="2"/>
              <a:buChar char="§"/>
            </a:pPr>
            <a:endParaRPr lang="en-US" altLang="ko-KR" sz="12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ko-KR" altLang="en-US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원샷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(One-</a:t>
            </a:r>
            <a:r>
              <a:rPr lang="ko-KR" altLang="en-US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shot</a:t>
            </a: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,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You Look Only Once)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알고리즘</a:t>
            </a:r>
          </a:p>
        </p:txBody>
      </p:sp>
      <p:sp>
        <p:nvSpPr>
          <p:cNvPr id="5" name="슬라이드 번호 개체 틀 3">
            <a:extLst>
              <a:ext uri="{FF2B5EF4-FFF2-40B4-BE49-F238E27FC236}">
                <a16:creationId xmlns:a16="http://schemas.microsoft.com/office/drawing/2014/main" id="{801076DF-4CED-3D83-F486-DCD299281C2D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sz="1400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10</a:t>
            </a:fld>
            <a:endParaRPr lang="en-US" sz="1400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476906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  <p:bldP spid="15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F21F56-7291-3F36-290F-1C2D2BE2CF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8EF96920-1500-FDA8-C51C-F9DEA024F097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YOLO</a:t>
            </a:r>
            <a:endParaRPr lang="ko-KR" altLang="en-US" sz="2800" cap="none" dirty="0"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B0BB98B-886D-B350-120C-11A113DC1F25}"/>
              </a:ext>
            </a:extLst>
          </p:cNvPr>
          <p:cNvSpPr txBox="1"/>
          <p:nvPr/>
        </p:nvSpPr>
        <p:spPr>
          <a:xfrm>
            <a:off x="571802" y="1248422"/>
            <a:ext cx="11144553" cy="8808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앵커 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1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번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앵커 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2</a:t>
            </a:r>
            <a:r>
              <a:rPr lang="ko-KR" altLang="en-US" dirty="0" err="1">
                <a:latin typeface="D2Coding" panose="020B0609020101020101" pitchFamily="49" charset="-127"/>
                <a:ea typeface="D2Coding" panose="020B0609020101020101" pitchFamily="49" charset="-127"/>
              </a:rPr>
              <a:t>번를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 꺼내어 이 트럭 덩어리와 </a:t>
            </a:r>
            <a:r>
              <a:rPr lang="en-US" altLang="ko-KR" dirty="0" err="1">
                <a:latin typeface="D2Coding" panose="020B0609020101020101" pitchFamily="49" charset="-127"/>
                <a:ea typeface="D2Coding" panose="020B0609020101020101" pitchFamily="49" charset="-127"/>
              </a:rPr>
              <a:t>IoU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로 대조하여 어떤 앵커일지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결정하는 과정으로 격자안에 물체가 있는지 없는 지를 확률로 구하는 과정으로 어떤 물체인지는 아직 예측하지 않음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</a:p>
        </p:txBody>
      </p:sp>
      <p:sp>
        <p:nvSpPr>
          <p:cNvPr id="6" name="제목 1">
            <a:extLst>
              <a:ext uri="{FF2B5EF4-FFF2-40B4-BE49-F238E27FC236}">
                <a16:creationId xmlns:a16="http://schemas.microsoft.com/office/drawing/2014/main" id="{56A72794-4AA8-92D7-FA96-31DA24EB4713}"/>
              </a:ext>
            </a:extLst>
          </p:cNvPr>
          <p:cNvSpPr txBox="1">
            <a:spLocks/>
          </p:cNvSpPr>
          <p:nvPr/>
        </p:nvSpPr>
        <p:spPr>
          <a:xfrm>
            <a:off x="7031196" y="647700"/>
            <a:ext cx="4629755" cy="60072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r"/>
            <a:r>
              <a:rPr lang="en-US" altLang="ko-KR" sz="2000" cap="none" dirty="0"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4. </a:t>
            </a:r>
            <a:r>
              <a:rPr lang="en-US" altLang="ko-KR" sz="2000" cap="none" dirty="0" err="1"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IoU</a:t>
            </a:r>
            <a:r>
              <a:rPr lang="en-US" altLang="ko-KR" sz="2000" cap="none" dirty="0"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(Intersection over Union)</a:t>
            </a:r>
          </a:p>
        </p:txBody>
      </p:sp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6CD29CA0-51B8-D2B0-CDC5-D0000D596FF6}"/>
              </a:ext>
            </a:extLst>
          </p:cNvPr>
          <p:cNvGraphicFramePr>
            <a:graphicFrameLocks noGrp="1"/>
          </p:cNvGraphicFramePr>
          <p:nvPr/>
        </p:nvGraphicFramePr>
        <p:xfrm>
          <a:off x="742947" y="2831598"/>
          <a:ext cx="2610918" cy="2207127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70306">
                  <a:extLst>
                    <a:ext uri="{9D8B030D-6E8A-4147-A177-3AD203B41FA5}">
                      <a16:colId xmlns:a16="http://schemas.microsoft.com/office/drawing/2014/main" val="1961843274"/>
                    </a:ext>
                  </a:extLst>
                </a:gridCol>
                <a:gridCol w="870306">
                  <a:extLst>
                    <a:ext uri="{9D8B030D-6E8A-4147-A177-3AD203B41FA5}">
                      <a16:colId xmlns:a16="http://schemas.microsoft.com/office/drawing/2014/main" val="2923400843"/>
                    </a:ext>
                  </a:extLst>
                </a:gridCol>
                <a:gridCol w="870306">
                  <a:extLst>
                    <a:ext uri="{9D8B030D-6E8A-4147-A177-3AD203B41FA5}">
                      <a16:colId xmlns:a16="http://schemas.microsoft.com/office/drawing/2014/main" val="2951067763"/>
                    </a:ext>
                  </a:extLst>
                </a:gridCol>
              </a:tblGrid>
              <a:tr h="735709"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solidFill>
                          <a:srgbClr val="FF0000"/>
                        </a:solidFill>
                      </a:endParaRPr>
                    </a:p>
                  </a:txBody>
                  <a:tcPr marL="59779" marR="59779" marT="29889" marB="29889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Segoe UI"/>
                        <a:ea typeface="+mn-ea"/>
                        <a:cs typeface="+mn-cs"/>
                      </a:endParaRPr>
                    </a:p>
                  </a:txBody>
                  <a:tcPr marL="59779" marR="59779" marT="29889" marB="29889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Segoe UI"/>
                        <a:ea typeface="+mn-ea"/>
                        <a:cs typeface="+mn-cs"/>
                      </a:endParaRPr>
                    </a:p>
                  </a:txBody>
                  <a:tcPr marL="59779" marR="59779" marT="29889" marB="29889"/>
                </a:tc>
                <a:extLst>
                  <a:ext uri="{0D108BD9-81ED-4DB2-BD59-A6C34878D82A}">
                    <a16:rowId xmlns:a16="http://schemas.microsoft.com/office/drawing/2014/main" val="844891742"/>
                  </a:ext>
                </a:extLst>
              </a:tr>
              <a:tr h="73570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Segoe UI"/>
                        <a:ea typeface="+mn-ea"/>
                        <a:cs typeface="+mn-cs"/>
                      </a:endParaRPr>
                    </a:p>
                  </a:txBody>
                  <a:tcPr marL="59779" marR="59779" marT="29889" marB="29889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Segoe UI"/>
                        <a:ea typeface="+mn-ea"/>
                        <a:cs typeface="+mn-cs"/>
                      </a:endParaRPr>
                    </a:p>
                  </a:txBody>
                  <a:tcPr marL="59779" marR="59779" marT="29889" marB="29889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Segoe UI"/>
                        <a:ea typeface="+mn-ea"/>
                        <a:cs typeface="+mn-cs"/>
                      </a:endParaRPr>
                    </a:p>
                  </a:txBody>
                  <a:tcPr marL="59779" marR="59779" marT="29889" marB="29889"/>
                </a:tc>
                <a:extLst>
                  <a:ext uri="{0D108BD9-81ED-4DB2-BD59-A6C34878D82A}">
                    <a16:rowId xmlns:a16="http://schemas.microsoft.com/office/drawing/2014/main" val="4097710734"/>
                  </a:ext>
                </a:extLst>
              </a:tr>
              <a:tr h="73570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Segoe UI"/>
                        <a:ea typeface="+mn-ea"/>
                        <a:cs typeface="+mn-cs"/>
                      </a:endParaRPr>
                    </a:p>
                  </a:txBody>
                  <a:tcPr marL="59779" marR="59779" marT="29889" marB="29889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Segoe UI"/>
                        <a:ea typeface="+mn-ea"/>
                        <a:cs typeface="+mn-cs"/>
                      </a:endParaRPr>
                    </a:p>
                  </a:txBody>
                  <a:tcPr marL="59779" marR="59779" marT="29889" marB="29889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D2Coding" panose="020B0609020101020101" pitchFamily="49" charset="-127"/>
                          <a:ea typeface="D2Coding" panose="020B0609020101020101" pitchFamily="49" charset="-127"/>
                          <a:cs typeface="+mn-cs"/>
                        </a:rPr>
                        <a:t>P(Object)=1</a:t>
                      </a:r>
                      <a:endParaRPr kumimoji="0" lang="ko-KR" alt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Segoe UI"/>
                        <a:ea typeface="+mn-ea"/>
                        <a:cs typeface="+mn-cs"/>
                      </a:endParaRPr>
                    </a:p>
                  </a:txBody>
                  <a:tcPr marL="59779" marR="59779" marT="29889" marB="29889"/>
                </a:tc>
                <a:extLst>
                  <a:ext uri="{0D108BD9-81ED-4DB2-BD59-A6C34878D82A}">
                    <a16:rowId xmlns:a16="http://schemas.microsoft.com/office/drawing/2014/main" val="3232772719"/>
                  </a:ext>
                </a:extLst>
              </a:tr>
            </a:tbl>
          </a:graphicData>
        </a:graphic>
      </p:graphicFrame>
      <p:pic>
        <p:nvPicPr>
          <p:cNvPr id="8" name="그래픽 7" descr="트럭">
            <a:extLst>
              <a:ext uri="{FF2B5EF4-FFF2-40B4-BE49-F238E27FC236}">
                <a16:creationId xmlns:a16="http://schemas.microsoft.com/office/drawing/2014/main" id="{8574492B-663C-D47F-8651-CD5EA5D91B2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532419" y="4407670"/>
            <a:ext cx="721483" cy="721483"/>
          </a:xfrm>
          <a:prstGeom prst="rect">
            <a:avLst/>
          </a:prstGeom>
        </p:spPr>
      </p:pic>
      <p:sp>
        <p:nvSpPr>
          <p:cNvPr id="5" name="직사각형 4">
            <a:extLst>
              <a:ext uri="{FF2B5EF4-FFF2-40B4-BE49-F238E27FC236}">
                <a16:creationId xmlns:a16="http://schemas.microsoft.com/office/drawing/2014/main" id="{EA8CBF8E-0B4E-DEA3-7B83-3520A74D6103}"/>
              </a:ext>
            </a:extLst>
          </p:cNvPr>
          <p:cNvSpPr/>
          <p:nvPr/>
        </p:nvSpPr>
        <p:spPr>
          <a:xfrm>
            <a:off x="5178342" y="2858031"/>
            <a:ext cx="1099812" cy="587269"/>
          </a:xfrm>
          <a:prstGeom prst="rect">
            <a:avLst/>
          </a:prstGeom>
          <a:noFill/>
          <a:ln w="381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CAA1E178-33FE-C93D-7A63-33444F95A974}"/>
              </a:ext>
            </a:extLst>
          </p:cNvPr>
          <p:cNvSpPr/>
          <p:nvPr/>
        </p:nvSpPr>
        <p:spPr>
          <a:xfrm>
            <a:off x="8681907" y="2647314"/>
            <a:ext cx="905588" cy="1022833"/>
          </a:xfrm>
          <a:prstGeom prst="rect">
            <a:avLst/>
          </a:prstGeom>
          <a:noFill/>
          <a:ln w="3810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15" name="그래픽 14" descr="트럭">
            <a:extLst>
              <a:ext uri="{FF2B5EF4-FFF2-40B4-BE49-F238E27FC236}">
                <a16:creationId xmlns:a16="http://schemas.microsoft.com/office/drawing/2014/main" id="{E58D32DD-27BC-F9D8-DDF2-0FD2165BA0E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045957" y="2495311"/>
            <a:ext cx="1202443" cy="1202443"/>
          </a:xfrm>
          <a:prstGeom prst="rect">
            <a:avLst/>
          </a:prstGeom>
        </p:spPr>
      </p:pic>
      <p:pic>
        <p:nvPicPr>
          <p:cNvPr id="17" name="그래픽 16" descr="트럭">
            <a:extLst>
              <a:ext uri="{FF2B5EF4-FFF2-40B4-BE49-F238E27FC236}">
                <a16:creationId xmlns:a16="http://schemas.microsoft.com/office/drawing/2014/main" id="{39E28A96-36F3-F65A-AD4D-54F40A69A8C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322557" y="2467704"/>
            <a:ext cx="1202443" cy="1202443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E0591AB3-6198-575D-E30D-1A5CD6263D74}"/>
              </a:ext>
            </a:extLst>
          </p:cNvPr>
          <p:cNvSpPr txBox="1"/>
          <p:nvPr/>
        </p:nvSpPr>
        <p:spPr>
          <a:xfrm>
            <a:off x="5045957" y="3902672"/>
            <a:ext cx="278548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IoU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= 0.88</a:t>
            </a:r>
            <a:endParaRPr lang="ko-KR" altLang="en-US" sz="160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B7B1400-7336-76F1-C458-773799FB0C71}"/>
              </a:ext>
            </a:extLst>
          </p:cNvPr>
          <p:cNvSpPr txBox="1"/>
          <p:nvPr/>
        </p:nvSpPr>
        <p:spPr>
          <a:xfrm>
            <a:off x="8164341" y="3902672"/>
            <a:ext cx="136065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IoU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= 0.15</a:t>
            </a:r>
            <a:endParaRPr lang="ko-KR" altLang="en-US" sz="16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C5245FC-B441-6404-FF4F-423F522CD1A2}"/>
              </a:ext>
            </a:extLst>
          </p:cNvPr>
          <p:cNvSpPr txBox="1"/>
          <p:nvPr/>
        </p:nvSpPr>
        <p:spPr>
          <a:xfrm>
            <a:off x="5045957" y="4188008"/>
            <a:ext cx="1926343" cy="1160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Confidence = P(Object)*</a:t>
            </a:r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IoU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= 0.88</a:t>
            </a:r>
            <a:endParaRPr lang="ko-KR" altLang="en-US" sz="1600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7FD1C7C-C611-D167-498D-6B1ADD1BA898}"/>
              </a:ext>
            </a:extLst>
          </p:cNvPr>
          <p:cNvSpPr txBox="1"/>
          <p:nvPr/>
        </p:nvSpPr>
        <p:spPr>
          <a:xfrm>
            <a:off x="8275089" y="4188008"/>
            <a:ext cx="1926343" cy="1160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Confidence = P(Object)*</a:t>
            </a:r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IoU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= 0.15</a:t>
            </a:r>
            <a:endParaRPr lang="ko-KR" altLang="en-US" sz="1600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DFA3BEC-768E-5DE5-918D-D508F5E68F7B}"/>
              </a:ext>
            </a:extLst>
          </p:cNvPr>
          <p:cNvSpPr txBox="1"/>
          <p:nvPr/>
        </p:nvSpPr>
        <p:spPr>
          <a:xfrm>
            <a:off x="4306716" y="5609578"/>
            <a:ext cx="6096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"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좋아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이 칸에 있는 덩어리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(Object)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는 가로로 길쭉하니까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1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번 앵커 박스 네가 대장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(Responsible)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을 맡아서 수선해라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!</a:t>
            </a:r>
            <a:endParaRPr lang="ko-KR" altLang="en-US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pic>
        <p:nvPicPr>
          <p:cNvPr id="27" name="그래픽 26" descr="조금 굽은 줄 화살표">
            <a:extLst>
              <a:ext uri="{FF2B5EF4-FFF2-40B4-BE49-F238E27FC236}">
                <a16:creationId xmlns:a16="http://schemas.microsoft.com/office/drawing/2014/main" id="{62E1249C-F798-210B-2766-FE307BDBFD2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44291" y="5319389"/>
            <a:ext cx="914400" cy="914400"/>
          </a:xfrm>
          <a:prstGeom prst="rect">
            <a:avLst/>
          </a:prstGeom>
        </p:spPr>
      </p:pic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945DDC35-8CCB-73E1-7677-89FBFD098198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sz="1400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11</a:t>
            </a:fld>
            <a:endParaRPr lang="en-US" sz="1400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869393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39B18E-3E0A-C274-ECC9-295768CA36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985C62E8-1853-E1FD-CC3A-8330CB4CCB9E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YOLO</a:t>
            </a:r>
            <a:endParaRPr lang="ko-KR" altLang="en-US" sz="2800" cap="none" dirty="0"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A973E14-6083-A110-3707-58B8308316AF}"/>
              </a:ext>
            </a:extLst>
          </p:cNvPr>
          <p:cNvSpPr txBox="1"/>
          <p:nvPr/>
        </p:nvSpPr>
        <p:spPr>
          <a:xfrm>
            <a:off x="571802" y="1248422"/>
            <a:ext cx="11144553" cy="8784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/>
              <a:t>결정된 앵커를 바탕으로 실제 이미지에 대해 </a:t>
            </a:r>
            <a:r>
              <a:rPr lang="en-US" altLang="ko-KR" dirty="0"/>
              <a:t>CNN </a:t>
            </a:r>
            <a:r>
              <a:rPr lang="ko-KR" altLang="en-US" dirty="0"/>
              <a:t>필터가 이 칸의 시각적 특징을 분석하여 클래스 분류 확률을 </a:t>
            </a:r>
            <a:r>
              <a:rPr lang="en-US" altLang="ko-KR" dirty="0"/>
              <a:t>Car=0.95, Airplane=0.05 </a:t>
            </a:r>
            <a:r>
              <a:rPr lang="ko-KR" altLang="en-US" dirty="0"/>
              <a:t>구하여 판정</a:t>
            </a:r>
            <a:endParaRPr lang="en-US" altLang="ko-KR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6" name="제목 1">
            <a:extLst>
              <a:ext uri="{FF2B5EF4-FFF2-40B4-BE49-F238E27FC236}">
                <a16:creationId xmlns:a16="http://schemas.microsoft.com/office/drawing/2014/main" id="{6EFF6E6B-E87D-FEE1-4D00-50253A6816A6}"/>
              </a:ext>
            </a:extLst>
          </p:cNvPr>
          <p:cNvSpPr txBox="1">
            <a:spLocks/>
          </p:cNvSpPr>
          <p:nvPr/>
        </p:nvSpPr>
        <p:spPr>
          <a:xfrm>
            <a:off x="7031196" y="647700"/>
            <a:ext cx="4629755" cy="60072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r"/>
            <a:r>
              <a:rPr lang="en-US" altLang="ko-KR" sz="2000" cap="none" dirty="0"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5. CNN(Convolutional Neural Network)</a:t>
            </a:r>
            <a:r>
              <a:rPr lang="ko-KR" altLang="en-US" sz="2000" cap="none" dirty="0"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 </a:t>
            </a:r>
          </a:p>
        </p:txBody>
      </p:sp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95A11E39-F9F4-0DDE-2DB3-146C2BA27C44}"/>
              </a:ext>
            </a:extLst>
          </p:cNvPr>
          <p:cNvGraphicFramePr>
            <a:graphicFrameLocks noGrp="1"/>
          </p:cNvGraphicFramePr>
          <p:nvPr/>
        </p:nvGraphicFramePr>
        <p:xfrm>
          <a:off x="742947" y="2831598"/>
          <a:ext cx="3790953" cy="320466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63651">
                  <a:extLst>
                    <a:ext uri="{9D8B030D-6E8A-4147-A177-3AD203B41FA5}">
                      <a16:colId xmlns:a16="http://schemas.microsoft.com/office/drawing/2014/main" val="1961843274"/>
                    </a:ext>
                  </a:extLst>
                </a:gridCol>
                <a:gridCol w="1263651">
                  <a:extLst>
                    <a:ext uri="{9D8B030D-6E8A-4147-A177-3AD203B41FA5}">
                      <a16:colId xmlns:a16="http://schemas.microsoft.com/office/drawing/2014/main" val="2923400843"/>
                    </a:ext>
                  </a:extLst>
                </a:gridCol>
                <a:gridCol w="1263651">
                  <a:extLst>
                    <a:ext uri="{9D8B030D-6E8A-4147-A177-3AD203B41FA5}">
                      <a16:colId xmlns:a16="http://schemas.microsoft.com/office/drawing/2014/main" val="2951067763"/>
                    </a:ext>
                  </a:extLst>
                </a:gridCol>
              </a:tblGrid>
              <a:tr h="1068221">
                <a:tc>
                  <a:txBody>
                    <a:bodyPr/>
                    <a:lstStyle/>
                    <a:p>
                      <a:pPr latinLnBrk="1"/>
                      <a:endParaRPr lang="ko-KR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 marL="86797" marR="86797" marT="43397" marB="43397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Segoe UI"/>
                        <a:ea typeface="+mn-ea"/>
                        <a:cs typeface="+mn-cs"/>
                      </a:endParaRPr>
                    </a:p>
                  </a:txBody>
                  <a:tcPr marL="86797" marR="86797" marT="43397" marB="43397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Segoe UI"/>
                        <a:ea typeface="+mn-ea"/>
                        <a:cs typeface="+mn-cs"/>
                      </a:endParaRPr>
                    </a:p>
                  </a:txBody>
                  <a:tcPr marL="86797" marR="86797" marT="43397" marB="43397"/>
                </a:tc>
                <a:extLst>
                  <a:ext uri="{0D108BD9-81ED-4DB2-BD59-A6C34878D82A}">
                    <a16:rowId xmlns:a16="http://schemas.microsoft.com/office/drawing/2014/main" val="844891742"/>
                  </a:ext>
                </a:extLst>
              </a:tr>
              <a:tr h="106822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Segoe UI"/>
                        <a:ea typeface="+mn-ea"/>
                        <a:cs typeface="+mn-cs"/>
                      </a:endParaRPr>
                    </a:p>
                  </a:txBody>
                  <a:tcPr marL="86797" marR="86797" marT="43397" marB="43397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Segoe UI"/>
                        <a:ea typeface="+mn-ea"/>
                        <a:cs typeface="+mn-cs"/>
                      </a:endParaRPr>
                    </a:p>
                  </a:txBody>
                  <a:tcPr marL="86797" marR="86797" marT="43397" marB="43397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Segoe UI"/>
                        <a:ea typeface="+mn-ea"/>
                        <a:cs typeface="+mn-cs"/>
                      </a:endParaRPr>
                    </a:p>
                  </a:txBody>
                  <a:tcPr marL="86797" marR="86797" marT="43397" marB="43397"/>
                </a:tc>
                <a:extLst>
                  <a:ext uri="{0D108BD9-81ED-4DB2-BD59-A6C34878D82A}">
                    <a16:rowId xmlns:a16="http://schemas.microsoft.com/office/drawing/2014/main" val="4097710734"/>
                  </a:ext>
                </a:extLst>
              </a:tr>
              <a:tr h="106822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Segoe UI"/>
                        <a:ea typeface="+mn-ea"/>
                        <a:cs typeface="+mn-cs"/>
                      </a:endParaRPr>
                    </a:p>
                  </a:txBody>
                  <a:tcPr marL="86797" marR="86797" marT="43397" marB="43397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Segoe UI"/>
                        <a:ea typeface="+mn-ea"/>
                        <a:cs typeface="+mn-cs"/>
                      </a:endParaRPr>
                    </a:p>
                  </a:txBody>
                  <a:tcPr marL="86797" marR="86797" marT="43397" marB="43397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D2Coding" panose="020B0609020101020101" pitchFamily="49" charset="-127"/>
                          <a:ea typeface="D2Coding" panose="020B0609020101020101" pitchFamily="49" charset="-127"/>
                          <a:cs typeface="+mn-cs"/>
                        </a:rPr>
                        <a:t>P(Object)=1</a:t>
                      </a:r>
                      <a:endParaRPr kumimoji="0" lang="ko-KR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Segoe UI"/>
                        <a:ea typeface="+mn-ea"/>
                        <a:cs typeface="+mn-cs"/>
                      </a:endParaRPr>
                    </a:p>
                  </a:txBody>
                  <a:tcPr marL="86797" marR="86797" marT="43397" marB="43397"/>
                </a:tc>
                <a:extLst>
                  <a:ext uri="{0D108BD9-81ED-4DB2-BD59-A6C34878D82A}">
                    <a16:rowId xmlns:a16="http://schemas.microsoft.com/office/drawing/2014/main" val="3232772719"/>
                  </a:ext>
                </a:extLst>
              </a:tr>
            </a:tbl>
          </a:graphicData>
        </a:graphic>
      </p:graphicFrame>
      <p:pic>
        <p:nvPicPr>
          <p:cNvPr id="8" name="그래픽 7" descr="트럭">
            <a:extLst>
              <a:ext uri="{FF2B5EF4-FFF2-40B4-BE49-F238E27FC236}">
                <a16:creationId xmlns:a16="http://schemas.microsoft.com/office/drawing/2014/main" id="{28460220-777E-3C0C-B16C-BA571BA5F20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361094" y="5055370"/>
            <a:ext cx="1047565" cy="104756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F57FCBC-EFCE-E994-1881-03EFF3498D1B}"/>
              </a:ext>
            </a:extLst>
          </p:cNvPr>
          <p:cNvSpPr txBox="1"/>
          <p:nvPr/>
        </p:nvSpPr>
        <p:spPr>
          <a:xfrm>
            <a:off x="5242950" y="3429000"/>
            <a:ext cx="6310875" cy="232146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YOLO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의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Backbone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과 최종 출력단은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FC Layer(Fully Connected Layer,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전결합층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)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를 버리고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,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모든 레이어를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Convolution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으로만 구성한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FCN(Fully Convolutional Network,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전합성곱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 신경망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)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구조를 사용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  <a:sym typeface="Wingdings" panose="05000000000000000000" pitchFamily="2" charset="2"/>
              </a:rPr>
              <a:t>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  <a:sym typeface="Wingdings" panose="05000000000000000000" pitchFamily="2" charset="2"/>
                <a:hlinkClick r:id="rId3"/>
              </a:rPr>
              <a:t>C4W3L04 Convolutional Implementation Sliding Windows</a:t>
            </a:r>
            <a:endParaRPr lang="en-US" altLang="ko-KR" sz="1400" dirty="0"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endParaRPr lang="en-US" altLang="ko-KR" sz="1400" dirty="0"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Filer map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으로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Object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가 있는지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,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각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 Object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의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width, height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등을 알 수 있음</a:t>
            </a:r>
          </a:p>
        </p:txBody>
      </p:sp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8F5F6C43-CA97-FC5C-B9BC-C77D3326F215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sz="1400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12</a:t>
            </a:fld>
            <a:endParaRPr lang="en-US" sz="1400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830840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49FD04-6707-491D-94E5-5D283BBFB7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1C0125AD-F562-9BF3-3149-9536F58013DB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YOLO</a:t>
            </a:r>
            <a:endParaRPr lang="ko-KR" altLang="en-US" sz="2800" cap="none" dirty="0"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9062503-D9BC-80F8-E72A-F6D6C0798CD6}"/>
              </a:ext>
            </a:extLst>
          </p:cNvPr>
          <p:cNvSpPr txBox="1"/>
          <p:nvPr/>
        </p:nvSpPr>
        <p:spPr>
          <a:xfrm>
            <a:off x="571802" y="1591322"/>
            <a:ext cx="11144553" cy="30091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YOLO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는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“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합성곱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슬라이딩 윈도우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  <a:sym typeface="Wingdings" panose="05000000000000000000" pitchFamily="2" charset="2"/>
                <a:hlinkClick r:id="rId2"/>
              </a:rPr>
              <a:t>Convolutional Implementation Sliding Windows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  <a:sym typeface="Wingdings" panose="05000000000000000000" pitchFamily="2" charset="2"/>
              </a:rPr>
              <a:t>)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"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의 아이디어를 극대화하고 변형한 것으로 두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방식의 공통점은 이미지를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크롭하지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않고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CNN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에 통째로 한 번만 통과시켜 최종 출력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텐서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(Tensor)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를 얻음</a:t>
            </a: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YOLO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는 겹치는 윈도우를 돌리는 대신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이미지를 명확한 그리드 격자로 나누고 각 격자가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[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물체 존재 확률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정확한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바운딩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박스 좌표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클래스 확률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]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을 동시에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뱉어내도록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아키텍처</a:t>
            </a: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YOLO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는 슬라이딩 윈도우 방식보다 훨씬 정밀하게 물체의 경계선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(Bounding Box)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을 찾아내면서도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, '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단 한 번만 보면 된다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(You Only Look Once)'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는 이름에 걸맞게 실시간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(FPS 45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이상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으로 작동하는 엄청난 속도</a:t>
            </a: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6" name="제목 1">
            <a:extLst>
              <a:ext uri="{FF2B5EF4-FFF2-40B4-BE49-F238E27FC236}">
                <a16:creationId xmlns:a16="http://schemas.microsoft.com/office/drawing/2014/main" id="{5BBB1417-2155-3FD1-5795-B79DDE6B1CE0}"/>
              </a:ext>
            </a:extLst>
          </p:cNvPr>
          <p:cNvSpPr txBox="1">
            <a:spLocks/>
          </p:cNvSpPr>
          <p:nvPr/>
        </p:nvSpPr>
        <p:spPr>
          <a:xfrm>
            <a:off x="5848350" y="647700"/>
            <a:ext cx="5812601" cy="60072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r"/>
            <a:r>
              <a:rPr lang="en-US" altLang="ko-KR" sz="2000" cap="none" dirty="0"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Convolutional</a:t>
            </a:r>
            <a:r>
              <a:rPr lang="ko-KR" altLang="en-US" sz="2000" cap="none" dirty="0"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 </a:t>
            </a:r>
            <a:r>
              <a:rPr lang="en-US" altLang="ko-KR" sz="2000" cap="none" dirty="0"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Implementation</a:t>
            </a:r>
            <a:r>
              <a:rPr lang="ko-KR" altLang="en-US" sz="2000" cap="none" dirty="0"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 </a:t>
            </a:r>
            <a:r>
              <a:rPr lang="en-US" altLang="ko-KR" sz="2000" cap="none" dirty="0"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Sliding Windows</a:t>
            </a:r>
            <a:r>
              <a:rPr lang="ko-KR" altLang="en-US" sz="2000" cap="none" dirty="0"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 </a:t>
            </a:r>
          </a:p>
        </p:txBody>
      </p:sp>
      <p:sp>
        <p:nvSpPr>
          <p:cNvPr id="5" name="화살표: 줄무늬가 있는 오른쪽 4">
            <a:extLst>
              <a:ext uri="{FF2B5EF4-FFF2-40B4-BE49-F238E27FC236}">
                <a16:creationId xmlns:a16="http://schemas.microsoft.com/office/drawing/2014/main" id="{4D67FE0F-4DC2-404F-6F22-44F7A09B816C}"/>
              </a:ext>
            </a:extLst>
          </p:cNvPr>
          <p:cNvSpPr/>
          <p:nvPr/>
        </p:nvSpPr>
        <p:spPr>
          <a:xfrm>
            <a:off x="2162175" y="4905375"/>
            <a:ext cx="1819275" cy="971550"/>
          </a:xfrm>
          <a:prstGeom prst="striped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CNN</a:t>
            </a:r>
            <a:endParaRPr lang="ko-KR" altLang="en-US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9" name="화살표: 줄무늬가 있는 오른쪽 8">
            <a:extLst>
              <a:ext uri="{FF2B5EF4-FFF2-40B4-BE49-F238E27FC236}">
                <a16:creationId xmlns:a16="http://schemas.microsoft.com/office/drawing/2014/main" id="{8ED3DA13-E072-EACF-44BD-CD51A95A352D}"/>
              </a:ext>
            </a:extLst>
          </p:cNvPr>
          <p:cNvSpPr/>
          <p:nvPr/>
        </p:nvSpPr>
        <p:spPr>
          <a:xfrm>
            <a:off x="4364040" y="4905375"/>
            <a:ext cx="2114550" cy="971550"/>
          </a:xfrm>
          <a:prstGeom prst="striped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FCN</a:t>
            </a:r>
            <a:endParaRPr lang="ko-KR" altLang="en-US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12" name="화살표: 줄무늬가 있는 오른쪽 11">
            <a:extLst>
              <a:ext uri="{FF2B5EF4-FFF2-40B4-BE49-F238E27FC236}">
                <a16:creationId xmlns:a16="http://schemas.microsoft.com/office/drawing/2014/main" id="{1B48C2D7-1CFE-27E0-A5CA-99E4B2094216}"/>
              </a:ext>
            </a:extLst>
          </p:cNvPr>
          <p:cNvSpPr/>
          <p:nvPr/>
        </p:nvSpPr>
        <p:spPr>
          <a:xfrm>
            <a:off x="6770686" y="4905375"/>
            <a:ext cx="2230439" cy="971550"/>
          </a:xfrm>
          <a:prstGeom prst="striped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YOLO</a:t>
            </a:r>
            <a:endParaRPr lang="ko-KR" altLang="en-US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14B63C3-40E3-4674-73DF-19766371227A}"/>
              </a:ext>
            </a:extLst>
          </p:cNvPr>
          <p:cNvSpPr txBox="1"/>
          <p:nvPr/>
        </p:nvSpPr>
        <p:spPr>
          <a:xfrm>
            <a:off x="4057650" y="5902523"/>
            <a:ext cx="298132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Fully Convolutional Network</a:t>
            </a:r>
            <a:endParaRPr lang="ko-KR" altLang="en-US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187EEC42-0BA5-2A1C-AD58-437DBA3023BB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sz="1400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13</a:t>
            </a:fld>
            <a:endParaRPr lang="en-US" sz="1400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0800260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EC963C-3953-067B-3CAD-188EDC828D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C316D4DF-92E5-A55A-2471-3B998781947F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4629755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Yolo</a:t>
            </a:r>
            <a:r>
              <a:rPr lang="ko-KR" altLang="en-US" sz="2800" cap="none" dirty="0"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 </a:t>
            </a:r>
            <a:r>
              <a:rPr lang="en-US" altLang="ko-KR" sz="2800" cap="none" dirty="0"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v1 Backbone</a:t>
            </a:r>
            <a:r>
              <a:rPr lang="ko-KR" altLang="en-US" sz="2800" cap="none" dirty="0"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 </a:t>
            </a: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0DD0DE99-BFE8-5449-E849-855EB3055A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145" y="2601251"/>
            <a:ext cx="8230206" cy="3353603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1E97FAB6-CF6E-6A19-BE37-46B2B2BE4C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1897" y="2369663"/>
            <a:ext cx="5622058" cy="362484"/>
          </a:xfrm>
          <a:prstGeom prst="rect">
            <a:avLst/>
          </a:prstGeom>
          <a:ln>
            <a:solidFill>
              <a:schemeClr val="tx1"/>
            </a:solidFill>
          </a:ln>
        </p:spPr>
      </p:pic>
      <p:cxnSp>
        <p:nvCxnSpPr>
          <p:cNvPr id="14" name="직선 화살표 연결선 13">
            <a:extLst>
              <a:ext uri="{FF2B5EF4-FFF2-40B4-BE49-F238E27FC236}">
                <a16:creationId xmlns:a16="http://schemas.microsoft.com/office/drawing/2014/main" id="{09D81728-CCAB-1F74-4429-96E8C8201C4A}"/>
              </a:ext>
            </a:extLst>
          </p:cNvPr>
          <p:cNvCxnSpPr>
            <a:cxnSpLocks/>
          </p:cNvCxnSpPr>
          <p:nvPr/>
        </p:nvCxnSpPr>
        <p:spPr>
          <a:xfrm>
            <a:off x="6867525" y="2827980"/>
            <a:ext cx="1371600" cy="106774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713B6A21-1111-398A-5209-012C8F0CA3D1}"/>
              </a:ext>
            </a:extLst>
          </p:cNvPr>
          <p:cNvSpPr txBox="1"/>
          <p:nvPr/>
        </p:nvSpPr>
        <p:spPr>
          <a:xfrm>
            <a:off x="550099" y="1174436"/>
            <a:ext cx="11129902" cy="1028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GoogLeNet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아키텍처를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바탕으로 24개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Conv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레이어로 이미지의 특징을 추출하고, 마지막 2개 FC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(Fully Connected)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레이어로 구성된 네트워크는 최종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바운딩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박스 좌표와 확률을 예측하면 원래 입력 이미지를 7×7 그리드로 나눈 각 셀(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cell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)마다 30개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최종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레이어 채널 수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의 값을 예측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3235736-8685-2417-D842-0694EE829DDC}"/>
              </a:ext>
            </a:extLst>
          </p:cNvPr>
          <p:cNvSpPr txBox="1"/>
          <p:nvPr/>
        </p:nvSpPr>
        <p:spPr>
          <a:xfrm>
            <a:off x="9092431" y="3082773"/>
            <a:ext cx="2844492" cy="2862322"/>
          </a:xfrm>
          <a:prstGeom prst="rect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7 × 7 × 1024 = 50,176개의 값을 가진 1차원 벡터로 변환 </a:t>
            </a: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: 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공간 정보(</a:t>
            </a:r>
            <a:r>
              <a:rPr lang="ko-KR" altLang="en-US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spatial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structure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)는 이 단계에서 사라짐</a:t>
            </a:r>
            <a:endParaRPr lang="en-US" altLang="ko-KR" sz="12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Flatten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된 </a:t>
            </a: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50,176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차원 벡터를 완전연결층</a:t>
            </a: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(Fully Connected Layer)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에 통과시켜 </a:t>
            </a: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4096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차원의 벡터로 출력</a:t>
            </a: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입력 뉴론 </a:t>
            </a: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50,176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개 값과 출력 뉴론 </a:t>
            </a: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4,096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개가 각각 가중치로 연결되는 </a:t>
            </a: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Dense layer)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altLang="ko-KR" sz="1200" dirty="0"/>
              <a:t>4096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차원 벡터를 다시 완전연결층을 통해 </a:t>
            </a: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7×7×30 = 1470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개의 값으로 매핑하고 </a:t>
            </a: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1,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470개의 값을 다시 (7,7,30)형태로 </a:t>
            </a:r>
            <a:r>
              <a:rPr lang="ko-KR" altLang="en-US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reshape</a:t>
            </a:r>
            <a:endParaRPr lang="en-US" altLang="ko-KR" sz="12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50D86A40-E193-DC66-9647-69D2954D258B}"/>
              </a:ext>
            </a:extLst>
          </p:cNvPr>
          <p:cNvSpPr txBox="1"/>
          <p:nvPr/>
        </p:nvSpPr>
        <p:spPr>
          <a:xfrm>
            <a:off x="5943600" y="2778313"/>
            <a:ext cx="819150" cy="769441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en-US" altLang="ko-KR" sz="11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20(</a:t>
            </a:r>
            <a:r>
              <a:rPr lang="ko-KR" altLang="en-US" sz="11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클래스</a:t>
            </a:r>
            <a:r>
              <a:rPr lang="en-US" altLang="ko-KR" sz="11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r>
              <a:rPr lang="en-US" altLang="ko-KR" sz="11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+5(box1)</a:t>
            </a:r>
          </a:p>
          <a:p>
            <a:r>
              <a:rPr lang="en-US" altLang="ko-KR" sz="11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+5(box2)</a:t>
            </a:r>
          </a:p>
          <a:p>
            <a:r>
              <a:rPr lang="en-US" altLang="ko-KR" sz="11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= 30</a:t>
            </a:r>
            <a:r>
              <a:rPr lang="ko-KR" altLang="en-US" sz="11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개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F295092-4BEE-78AE-D668-C92C6D493461}"/>
              </a:ext>
            </a:extLst>
          </p:cNvPr>
          <p:cNvSpPr txBox="1"/>
          <p:nvPr/>
        </p:nvSpPr>
        <p:spPr>
          <a:xfrm>
            <a:off x="550099" y="5954854"/>
            <a:ext cx="512191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hlinkClick r:id="rId4"/>
              </a:rPr>
              <a:t>You Only Look Once: Unified, Real-Time Object Detection</a:t>
            </a:r>
            <a:endParaRPr lang="ko-KR" altLang="en-US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7F80B442-8650-5391-CDD6-D99459BA1E73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sz="1400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14</a:t>
            </a:fld>
            <a:endParaRPr lang="en-US" sz="1400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2692258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1B69DC-2798-102A-758D-0633F85E6A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DFAEFCED-6CBC-D29B-2168-981B87593790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YOLO</a:t>
            </a:r>
            <a:endParaRPr lang="ko-KR" altLang="en-US" sz="2800" cap="none" dirty="0"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C99E99B-7916-877A-FEAB-B136620D58E8}"/>
              </a:ext>
            </a:extLst>
          </p:cNvPr>
          <p:cNvSpPr txBox="1"/>
          <p:nvPr/>
        </p:nvSpPr>
        <p:spPr>
          <a:xfrm>
            <a:off x="571802" y="1315097"/>
            <a:ext cx="11144553" cy="42604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ko-KR" altLang="en-US" sz="1400" b="1" dirty="0">
                <a:latin typeface="D2Coding" panose="020B0609020101020101" pitchFamily="49" charset="-127"/>
                <a:ea typeface="D2Coding" panose="020B0609020101020101" pitchFamily="49" charset="-127"/>
              </a:rPr>
              <a:t>연산의 효율화</a:t>
            </a:r>
            <a:r>
              <a:rPr lang="en-US" altLang="ko-KR" sz="1400" b="1" dirty="0">
                <a:latin typeface="D2Coding" panose="020B0609020101020101" pitchFamily="49" charset="-127"/>
                <a:ea typeface="D2Coding" panose="020B0609020101020101" pitchFamily="49" charset="-127"/>
              </a:rPr>
              <a:t>: '</a:t>
            </a:r>
            <a:r>
              <a:rPr lang="ko-KR" altLang="en-US" sz="1400" b="1" dirty="0">
                <a:latin typeface="D2Coding" panose="020B0609020101020101" pitchFamily="49" charset="-127"/>
                <a:ea typeface="D2Coding" panose="020B0609020101020101" pitchFamily="49" charset="-127"/>
              </a:rPr>
              <a:t>이미지</a:t>
            </a:r>
            <a:r>
              <a:rPr lang="en-US" altLang="ko-KR" sz="1400" b="1" dirty="0">
                <a:latin typeface="D2Coding" panose="020B0609020101020101" pitchFamily="49" charset="-127"/>
                <a:ea typeface="D2Coding" panose="020B0609020101020101" pitchFamily="49" charset="-127"/>
              </a:rPr>
              <a:t>'</a:t>
            </a:r>
            <a:r>
              <a:rPr lang="ko-KR" altLang="en-US" sz="1400" b="1" dirty="0">
                <a:latin typeface="D2Coding" panose="020B0609020101020101" pitchFamily="49" charset="-127"/>
                <a:ea typeface="D2Coding" panose="020B0609020101020101" pitchFamily="49" charset="-127"/>
              </a:rPr>
              <a:t>가 아닌 </a:t>
            </a:r>
            <a:r>
              <a:rPr lang="en-US" altLang="ko-KR" sz="1400" b="1" dirty="0">
                <a:latin typeface="D2Coding" panose="020B0609020101020101" pitchFamily="49" charset="-127"/>
                <a:ea typeface="D2Coding" panose="020B0609020101020101" pitchFamily="49" charset="-127"/>
              </a:rPr>
              <a:t>'</a:t>
            </a:r>
            <a:r>
              <a:rPr lang="ko-KR" altLang="en-US" sz="1400" b="1" dirty="0">
                <a:latin typeface="D2Coding" panose="020B0609020101020101" pitchFamily="49" charset="-127"/>
                <a:ea typeface="D2Coding" panose="020B0609020101020101" pitchFamily="49" charset="-127"/>
              </a:rPr>
              <a:t>특징 맵</a:t>
            </a:r>
            <a:r>
              <a:rPr lang="en-US" altLang="ko-KR" sz="1400" b="1" dirty="0">
                <a:latin typeface="D2Coding" panose="020B0609020101020101" pitchFamily="49" charset="-127"/>
                <a:ea typeface="D2Coding" panose="020B0609020101020101" pitchFamily="49" charset="-127"/>
              </a:rPr>
              <a:t>' </a:t>
            </a:r>
            <a:r>
              <a:rPr lang="ko-KR" altLang="en-US" sz="1400" b="1" dirty="0">
                <a:latin typeface="D2Coding" panose="020B0609020101020101" pitchFamily="49" charset="-127"/>
                <a:ea typeface="D2Coding" panose="020B0609020101020101" pitchFamily="49" charset="-127"/>
              </a:rPr>
              <a:t>위의 슬라이딩 윈도우</a:t>
            </a:r>
          </a:p>
          <a:p>
            <a:pPr marL="800100" lvl="1" indent="-342900">
              <a:lnSpc>
                <a:spcPct val="150000"/>
              </a:lnSpc>
              <a:buFont typeface="+mj-lt"/>
              <a:buAutoNum type="arabicPeriod"/>
            </a:pP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과거 원본 이미지를 수없이 잘라내어 매번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CNN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을 돌리던 무식한 방식을 탈피</a:t>
            </a:r>
            <a:endParaRPr lang="en-US" altLang="ko-KR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800100" lvl="1" indent="-342900">
              <a:lnSpc>
                <a:spcPct val="150000"/>
              </a:lnSpc>
              <a:buFont typeface="+mj-lt"/>
              <a:buAutoNum type="arabicPeriod"/>
            </a:pP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이미지 전체를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CNN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에 한 번만 통과시켜 압축된 특징 맵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(Feature Map)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을 추출한 뒤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그 위에서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합성곱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필터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(1x1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또는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3x3 Conv)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를 이동시키는 방식으로 슬라이딩 윈도우를 효율적으로 구현</a:t>
            </a:r>
            <a:endParaRPr lang="en-US" altLang="ko-KR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800100" lvl="1" indent="-342900">
              <a:lnSpc>
                <a:spcPct val="150000"/>
              </a:lnSpc>
              <a:buFont typeface="+mj-lt"/>
              <a:buAutoNum type="arabicPeriod"/>
            </a:pPr>
            <a:endParaRPr lang="en-US" altLang="ko-KR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ko-KR" altLang="en-US" sz="1400" b="1" dirty="0">
                <a:latin typeface="D2Coding" panose="020B0609020101020101" pitchFamily="49" charset="-127"/>
                <a:ea typeface="D2Coding" panose="020B0609020101020101" pitchFamily="49" charset="-127"/>
              </a:rPr>
              <a:t>가상의 틀 도입</a:t>
            </a:r>
            <a:r>
              <a:rPr lang="en-US" altLang="ko-KR" sz="1400" b="1" dirty="0">
                <a:latin typeface="D2Coding" panose="020B0609020101020101" pitchFamily="49" charset="-127"/>
                <a:ea typeface="D2Coding" panose="020B0609020101020101" pitchFamily="49" charset="-127"/>
              </a:rPr>
              <a:t>: </a:t>
            </a:r>
            <a:r>
              <a:rPr lang="ko-KR" altLang="en-US" sz="1400" b="1" dirty="0">
                <a:latin typeface="D2Coding" panose="020B0609020101020101" pitchFamily="49" charset="-127"/>
                <a:ea typeface="D2Coding" panose="020B0609020101020101" pitchFamily="49" charset="-127"/>
              </a:rPr>
              <a:t>격자점별 멀티 앵커 박스</a:t>
            </a:r>
            <a:r>
              <a:rPr lang="en-US" altLang="ko-KR" sz="1400" b="1" dirty="0">
                <a:latin typeface="D2Coding" panose="020B0609020101020101" pitchFamily="49" charset="-127"/>
                <a:ea typeface="D2Coding" panose="020B0609020101020101" pitchFamily="49" charset="-127"/>
              </a:rPr>
              <a:t>(Anchor Box)</a:t>
            </a:r>
          </a:p>
          <a:p>
            <a:pPr marL="800100" lvl="1" indent="-342900">
              <a:lnSpc>
                <a:spcPct val="150000"/>
              </a:lnSpc>
              <a:buFont typeface="+mj-lt"/>
              <a:buAutoNum type="arabicPeriod"/>
            </a:pP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특징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맵의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각 격자마다 다양한 크기와 비율을 가진 </a:t>
            </a:r>
            <a:r>
              <a:rPr lang="ko-KR" altLang="en-US" sz="1400" b="1" dirty="0">
                <a:latin typeface="D2Coding" panose="020B0609020101020101" pitchFamily="49" charset="-127"/>
                <a:ea typeface="D2Coding" panose="020B0609020101020101" pitchFamily="49" charset="-127"/>
              </a:rPr>
              <a:t>가상의 창인 </a:t>
            </a:r>
            <a:r>
              <a:rPr lang="en-US" altLang="ko-KR" sz="1400" b="1" dirty="0">
                <a:latin typeface="D2Coding" panose="020B0609020101020101" pitchFamily="49" charset="-127"/>
                <a:ea typeface="D2Coding" panose="020B0609020101020101" pitchFamily="49" charset="-127"/>
              </a:rPr>
              <a:t>'</a:t>
            </a:r>
            <a:r>
              <a:rPr lang="ko-KR" altLang="en-US" sz="1400" b="1" dirty="0">
                <a:latin typeface="D2Coding" panose="020B0609020101020101" pitchFamily="49" charset="-127"/>
                <a:ea typeface="D2Coding" panose="020B0609020101020101" pitchFamily="49" charset="-127"/>
              </a:rPr>
              <a:t>앵커 박스</a:t>
            </a:r>
            <a:r>
              <a:rPr lang="en-US" altLang="ko-KR" sz="1400" b="1" dirty="0">
                <a:latin typeface="D2Coding" panose="020B0609020101020101" pitchFamily="49" charset="-127"/>
                <a:ea typeface="D2Coding" panose="020B0609020101020101" pitchFamily="49" charset="-127"/>
              </a:rPr>
              <a:t>'</a:t>
            </a:r>
            <a:r>
              <a:rPr lang="ko-KR" altLang="en-US" sz="1400" b="1" dirty="0">
                <a:latin typeface="D2Coding" panose="020B0609020101020101" pitchFamily="49" charset="-127"/>
                <a:ea typeface="D2Coding" panose="020B0609020101020101" pitchFamily="49" charset="-127"/>
              </a:rPr>
              <a:t>들을 미리 정의하여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이를 통해 단일 격자점에서도 서로 다른 형태의 다양한 물체 후보군을 동시에 훑고 탐색</a:t>
            </a:r>
            <a:endParaRPr lang="en-US" altLang="ko-KR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800100" lvl="1" indent="-342900">
              <a:lnSpc>
                <a:spcPct val="150000"/>
              </a:lnSpc>
              <a:buFont typeface="+mj-lt"/>
              <a:buAutoNum type="arabicPeriod"/>
            </a:pPr>
            <a:endParaRPr lang="en-US" altLang="ko-KR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ko-KR" altLang="en-US" sz="1400" b="1" dirty="0" err="1">
                <a:latin typeface="D2Coding" panose="020B0609020101020101" pitchFamily="49" charset="-127"/>
                <a:ea typeface="D2Coding" panose="020B0609020101020101" pitchFamily="49" charset="-127"/>
              </a:rPr>
              <a:t>멀티태스크</a:t>
            </a:r>
            <a:r>
              <a:rPr lang="ko-KR" altLang="en-US" sz="1400" b="1" dirty="0">
                <a:latin typeface="D2Coding" panose="020B0609020101020101" pitchFamily="49" charset="-127"/>
                <a:ea typeface="D2Coding" panose="020B0609020101020101" pitchFamily="49" charset="-127"/>
              </a:rPr>
              <a:t> 학습</a:t>
            </a:r>
            <a:r>
              <a:rPr lang="en-US" altLang="ko-KR" sz="1400" b="1" dirty="0">
                <a:latin typeface="D2Coding" panose="020B0609020101020101" pitchFamily="49" charset="-127"/>
                <a:ea typeface="D2Coding" panose="020B0609020101020101" pitchFamily="49" charset="-127"/>
              </a:rPr>
              <a:t>: </a:t>
            </a:r>
            <a:r>
              <a:rPr lang="ko-KR" altLang="en-US" sz="1400" b="1" dirty="0">
                <a:latin typeface="D2Coding" panose="020B0609020101020101" pitchFamily="49" charset="-127"/>
                <a:ea typeface="D2Coding" panose="020B0609020101020101" pitchFamily="49" charset="-127"/>
              </a:rPr>
              <a:t>분류</a:t>
            </a:r>
            <a:r>
              <a:rPr lang="en-US" altLang="ko-KR" sz="1400" b="1" dirty="0">
                <a:latin typeface="D2Coding" panose="020B0609020101020101" pitchFamily="49" charset="-127"/>
                <a:ea typeface="D2Coding" panose="020B0609020101020101" pitchFamily="49" charset="-127"/>
              </a:rPr>
              <a:t>(Classification)</a:t>
            </a:r>
            <a:r>
              <a:rPr lang="ko-KR" altLang="en-US" sz="1400" b="1" dirty="0">
                <a:latin typeface="D2Coding" panose="020B0609020101020101" pitchFamily="49" charset="-127"/>
                <a:ea typeface="D2Coding" panose="020B0609020101020101" pitchFamily="49" charset="-127"/>
              </a:rPr>
              <a:t>와 회귀</a:t>
            </a:r>
            <a:r>
              <a:rPr lang="en-US" altLang="ko-KR" sz="1400" b="1" dirty="0">
                <a:latin typeface="D2Coding" panose="020B0609020101020101" pitchFamily="49" charset="-127"/>
                <a:ea typeface="D2Coding" panose="020B0609020101020101" pitchFamily="49" charset="-127"/>
              </a:rPr>
              <a:t>(Regression)</a:t>
            </a:r>
            <a:r>
              <a:rPr lang="ko-KR" altLang="en-US" sz="1400" b="1" dirty="0">
                <a:latin typeface="D2Coding" panose="020B0609020101020101" pitchFamily="49" charset="-127"/>
                <a:ea typeface="D2Coding" panose="020B0609020101020101" pitchFamily="49" charset="-127"/>
              </a:rPr>
              <a:t>의 결합</a:t>
            </a:r>
          </a:p>
          <a:p>
            <a:pPr marL="800100" lvl="1" indent="-342900">
              <a:lnSpc>
                <a:spcPct val="150000"/>
              </a:lnSpc>
              <a:buFont typeface="+mj-lt"/>
              <a:buAutoNum type="arabicPeriod"/>
            </a:pP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앵커 박스가 지나갈 때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합성곱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연산을 통해 두 가지 정밀 작업을 동시에 수행</a:t>
            </a:r>
            <a:endParaRPr lang="en-US" altLang="ko-KR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800100" lvl="1" indent="-342900">
              <a:lnSpc>
                <a:spcPct val="150000"/>
              </a:lnSpc>
              <a:buFont typeface="+mj-lt"/>
              <a:buAutoNum type="arabicPeriod"/>
            </a:pPr>
            <a:r>
              <a:rPr lang="ko-KR" altLang="en-US" sz="1400" b="1" dirty="0">
                <a:latin typeface="D2Coding" panose="020B0609020101020101" pitchFamily="49" charset="-127"/>
                <a:ea typeface="D2Coding" panose="020B0609020101020101" pitchFamily="49" charset="-127"/>
              </a:rPr>
              <a:t>분류</a:t>
            </a:r>
            <a:r>
              <a:rPr lang="en-US" altLang="ko-KR" sz="1400" b="1" dirty="0">
                <a:latin typeface="D2Coding" panose="020B0609020101020101" pitchFamily="49" charset="-127"/>
                <a:ea typeface="D2Coding" panose="020B0609020101020101" pitchFamily="49" charset="-127"/>
              </a:rPr>
              <a:t>: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해당 앵커 박스 내에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"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물체가 존재하는지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또는 어떤 클래스인지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)"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확률을 예측</a:t>
            </a:r>
            <a:endParaRPr lang="en-US" altLang="ko-KR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800100" lvl="1" indent="-342900">
              <a:lnSpc>
                <a:spcPct val="150000"/>
              </a:lnSpc>
              <a:buFont typeface="+mj-lt"/>
              <a:buAutoNum type="arabicPeriod"/>
            </a:pPr>
            <a:r>
              <a:rPr lang="ko-KR" altLang="en-US" sz="1400" b="1" dirty="0">
                <a:latin typeface="D2Coding" panose="020B0609020101020101" pitchFamily="49" charset="-127"/>
                <a:ea typeface="D2Coding" panose="020B0609020101020101" pitchFamily="49" charset="-127"/>
              </a:rPr>
              <a:t>회귀</a:t>
            </a:r>
            <a:r>
              <a:rPr lang="en-US" altLang="ko-KR" sz="1400" b="1" dirty="0">
                <a:latin typeface="D2Coding" panose="020B0609020101020101" pitchFamily="49" charset="-127"/>
                <a:ea typeface="D2Coding" panose="020B0609020101020101" pitchFamily="49" charset="-127"/>
              </a:rPr>
              <a:t>: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앵커 박스의 위치와 크기를 실제 물체의 경계선에 딱 맞게 미세 조정하는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오차값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Δx,Δy,Δw,Δh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)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계산</a:t>
            </a:r>
            <a:endParaRPr lang="en-US" altLang="ko-KR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6" name="제목 1">
            <a:extLst>
              <a:ext uri="{FF2B5EF4-FFF2-40B4-BE49-F238E27FC236}">
                <a16:creationId xmlns:a16="http://schemas.microsoft.com/office/drawing/2014/main" id="{6D9EBA5D-FD2E-C1B8-3DF0-D7EB79A5EF6C}"/>
              </a:ext>
            </a:extLst>
          </p:cNvPr>
          <p:cNvSpPr txBox="1">
            <a:spLocks/>
          </p:cNvSpPr>
          <p:nvPr/>
        </p:nvSpPr>
        <p:spPr>
          <a:xfrm>
            <a:off x="5848350" y="647700"/>
            <a:ext cx="5812601" cy="60072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r"/>
            <a:r>
              <a:rPr lang="en-US" altLang="ko-KR" sz="2000" cap="none" dirty="0"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Convolutional</a:t>
            </a:r>
            <a:r>
              <a:rPr lang="ko-KR" altLang="en-US" sz="2000" cap="none" dirty="0"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 </a:t>
            </a:r>
            <a:r>
              <a:rPr lang="en-US" altLang="ko-KR" sz="2000" cap="none" dirty="0"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Implementation</a:t>
            </a:r>
            <a:r>
              <a:rPr lang="ko-KR" altLang="en-US" sz="2000" cap="none" dirty="0"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 </a:t>
            </a:r>
            <a:r>
              <a:rPr lang="en-US" altLang="ko-KR" sz="2000" cap="none" dirty="0"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Sliding Windows</a:t>
            </a:r>
            <a:r>
              <a:rPr lang="ko-KR" altLang="en-US" sz="2000" cap="none" dirty="0"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 </a:t>
            </a:r>
          </a:p>
        </p:txBody>
      </p:sp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6B608BD9-AE9E-B52A-87EB-0AF46431AFB0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sz="1400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15</a:t>
            </a:fld>
            <a:endParaRPr lang="en-US" sz="1400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8299483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EA1402-08FA-1414-7D39-D22F4CF6B8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EE8183F6-0D1A-6079-23B6-B90F1B8280D7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YOLO</a:t>
            </a:r>
            <a:endParaRPr lang="ko-KR" altLang="en-US" sz="2800" cap="none" dirty="0"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945D10D-4BEF-867B-D596-D0C787F6736E}"/>
              </a:ext>
            </a:extLst>
          </p:cNvPr>
          <p:cNvSpPr txBox="1"/>
          <p:nvPr/>
        </p:nvSpPr>
        <p:spPr>
          <a:xfrm>
            <a:off x="571802" y="1219847"/>
            <a:ext cx="11144553" cy="7931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YOLO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는 격자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(3, 3)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에 모든 연산의 결과는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(3, 3, 12)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크기의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3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차원 숫자 행렬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(tensor)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로 생성하게 되어 행과 열이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3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과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3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인 격자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tensor[3,3 :]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를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제외한 모든 격자에는 모두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0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이 입력</a:t>
            </a: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6" name="제목 1">
            <a:extLst>
              <a:ext uri="{FF2B5EF4-FFF2-40B4-BE49-F238E27FC236}">
                <a16:creationId xmlns:a16="http://schemas.microsoft.com/office/drawing/2014/main" id="{60B4B1F8-2BD4-DC3C-8D06-46C224D7D958}"/>
              </a:ext>
            </a:extLst>
          </p:cNvPr>
          <p:cNvSpPr txBox="1">
            <a:spLocks/>
          </p:cNvSpPr>
          <p:nvPr/>
        </p:nvSpPr>
        <p:spPr>
          <a:xfrm>
            <a:off x="7031196" y="647700"/>
            <a:ext cx="4629755" cy="60072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r"/>
            <a:r>
              <a:rPr lang="en-US" altLang="ko-KR" sz="2000" cap="none" dirty="0"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6. </a:t>
            </a:r>
            <a:r>
              <a:rPr lang="ko-KR" altLang="en-US" sz="2000" cap="none" dirty="0"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예측 결과 행렬</a:t>
            </a:r>
          </a:p>
        </p:txBody>
      </p:sp>
      <p:graphicFrame>
        <p:nvGraphicFramePr>
          <p:cNvPr id="16" name="표 15">
            <a:extLst>
              <a:ext uri="{FF2B5EF4-FFF2-40B4-BE49-F238E27FC236}">
                <a16:creationId xmlns:a16="http://schemas.microsoft.com/office/drawing/2014/main" id="{F347C981-92AA-3BDF-EC34-00E01ECF6E01}"/>
              </a:ext>
            </a:extLst>
          </p:cNvPr>
          <p:cNvGraphicFramePr>
            <a:graphicFrameLocks noGrp="1"/>
          </p:cNvGraphicFramePr>
          <p:nvPr/>
        </p:nvGraphicFramePr>
        <p:xfrm>
          <a:off x="742947" y="2507748"/>
          <a:ext cx="3790953" cy="320466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63651">
                  <a:extLst>
                    <a:ext uri="{9D8B030D-6E8A-4147-A177-3AD203B41FA5}">
                      <a16:colId xmlns:a16="http://schemas.microsoft.com/office/drawing/2014/main" val="1961843274"/>
                    </a:ext>
                  </a:extLst>
                </a:gridCol>
                <a:gridCol w="1263651">
                  <a:extLst>
                    <a:ext uri="{9D8B030D-6E8A-4147-A177-3AD203B41FA5}">
                      <a16:colId xmlns:a16="http://schemas.microsoft.com/office/drawing/2014/main" val="2923400843"/>
                    </a:ext>
                  </a:extLst>
                </a:gridCol>
                <a:gridCol w="1263651">
                  <a:extLst>
                    <a:ext uri="{9D8B030D-6E8A-4147-A177-3AD203B41FA5}">
                      <a16:colId xmlns:a16="http://schemas.microsoft.com/office/drawing/2014/main" val="2951067763"/>
                    </a:ext>
                  </a:extLst>
                </a:gridCol>
              </a:tblGrid>
              <a:tr h="1068221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[0,0,0,0,</a:t>
                      </a:r>
                    </a:p>
                    <a:p>
                      <a:pPr latinLnBrk="1"/>
                      <a:r>
                        <a:rPr lang="en-US" altLang="ko-KR" sz="14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0,0,0,0,</a:t>
                      </a:r>
                    </a:p>
                    <a:p>
                      <a:pPr latinLnBrk="1"/>
                      <a:r>
                        <a:rPr lang="en-US" altLang="ko-KR" sz="14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0,0,0,0]</a:t>
                      </a:r>
                      <a:endParaRPr lang="ko-KR" altLang="en-US" sz="1400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marL="86797" marR="86797" marT="43397" marB="43397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Segoe UI"/>
                          <a:ea typeface="+mn-ea"/>
                          <a:cs typeface="+mn-cs"/>
                        </a:rPr>
                        <a:t>[0,0,0,0,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Segoe UI"/>
                          <a:ea typeface="+mn-ea"/>
                          <a:cs typeface="+mn-cs"/>
                        </a:rPr>
                        <a:t>0,0,0,0,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Segoe UI"/>
                          <a:ea typeface="+mn-ea"/>
                          <a:cs typeface="+mn-cs"/>
                        </a:rPr>
                        <a:t>0,0,0,0]</a:t>
                      </a:r>
                      <a:endParaRPr kumimoji="0" lang="ko-KR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uLnTx/>
                        <a:uFillTx/>
                        <a:latin typeface="Segoe UI"/>
                        <a:ea typeface="+mn-ea"/>
                        <a:cs typeface="+mn-cs"/>
                      </a:endParaRPr>
                    </a:p>
                  </a:txBody>
                  <a:tcPr marL="86797" marR="86797" marT="43397" marB="43397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Segoe UI"/>
                          <a:ea typeface="+mn-ea"/>
                          <a:cs typeface="+mn-cs"/>
                        </a:rPr>
                        <a:t>[0,0,0,0,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Segoe UI"/>
                          <a:ea typeface="+mn-ea"/>
                          <a:cs typeface="+mn-cs"/>
                        </a:rPr>
                        <a:t>0,0,0,0,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Segoe UI"/>
                          <a:ea typeface="+mn-ea"/>
                          <a:cs typeface="+mn-cs"/>
                        </a:rPr>
                        <a:t>0,0,0,0]</a:t>
                      </a:r>
                      <a:endParaRPr kumimoji="0" lang="ko-KR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uLnTx/>
                        <a:uFillTx/>
                        <a:latin typeface="Segoe UI"/>
                        <a:ea typeface="+mn-ea"/>
                        <a:cs typeface="+mn-cs"/>
                      </a:endParaRPr>
                    </a:p>
                  </a:txBody>
                  <a:tcPr marL="86797" marR="86797" marT="43397" marB="43397"/>
                </a:tc>
                <a:extLst>
                  <a:ext uri="{0D108BD9-81ED-4DB2-BD59-A6C34878D82A}">
                    <a16:rowId xmlns:a16="http://schemas.microsoft.com/office/drawing/2014/main" val="844891742"/>
                  </a:ext>
                </a:extLst>
              </a:tr>
              <a:tr h="106822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Segoe UI"/>
                          <a:ea typeface="+mn-ea"/>
                          <a:cs typeface="+mn-cs"/>
                        </a:rPr>
                        <a:t>[0,0,0,0,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Segoe UI"/>
                          <a:ea typeface="+mn-ea"/>
                          <a:cs typeface="+mn-cs"/>
                        </a:rPr>
                        <a:t>0,0,0,0,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Segoe UI"/>
                          <a:ea typeface="+mn-ea"/>
                          <a:cs typeface="+mn-cs"/>
                        </a:rPr>
                        <a:t>0,0,0,0]</a:t>
                      </a:r>
                      <a:endParaRPr kumimoji="0" lang="ko-KR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uLnTx/>
                        <a:uFillTx/>
                        <a:latin typeface="Segoe UI"/>
                        <a:ea typeface="+mn-ea"/>
                        <a:cs typeface="+mn-cs"/>
                      </a:endParaRPr>
                    </a:p>
                  </a:txBody>
                  <a:tcPr marL="86797" marR="86797" marT="43397" marB="43397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Segoe UI"/>
                          <a:ea typeface="+mn-ea"/>
                          <a:cs typeface="+mn-cs"/>
                        </a:rPr>
                        <a:t>[0,0,0,0,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Segoe UI"/>
                          <a:ea typeface="+mn-ea"/>
                          <a:cs typeface="+mn-cs"/>
                        </a:rPr>
                        <a:t>0,0,0,0,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Segoe UI"/>
                          <a:ea typeface="+mn-ea"/>
                          <a:cs typeface="+mn-cs"/>
                        </a:rPr>
                        <a:t>0,0,0,0]</a:t>
                      </a:r>
                      <a:endParaRPr kumimoji="0" lang="ko-KR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uLnTx/>
                        <a:uFillTx/>
                        <a:latin typeface="Segoe UI"/>
                        <a:ea typeface="+mn-ea"/>
                        <a:cs typeface="+mn-cs"/>
                      </a:endParaRPr>
                    </a:p>
                  </a:txBody>
                  <a:tcPr marL="86797" marR="86797" marT="43397" marB="43397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Segoe UI"/>
                          <a:ea typeface="+mn-ea"/>
                          <a:cs typeface="+mn-cs"/>
                        </a:rPr>
                        <a:t>[0,0,0,0,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Segoe UI"/>
                          <a:ea typeface="+mn-ea"/>
                          <a:cs typeface="+mn-cs"/>
                        </a:rPr>
                        <a:t>0,0,0,0,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Segoe UI"/>
                          <a:ea typeface="+mn-ea"/>
                          <a:cs typeface="+mn-cs"/>
                        </a:rPr>
                        <a:t>0,0,0,0]</a:t>
                      </a:r>
                      <a:endParaRPr kumimoji="0" lang="ko-KR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uLnTx/>
                        <a:uFillTx/>
                        <a:latin typeface="Segoe UI"/>
                        <a:ea typeface="+mn-ea"/>
                        <a:cs typeface="+mn-cs"/>
                      </a:endParaRPr>
                    </a:p>
                  </a:txBody>
                  <a:tcPr marL="86797" marR="86797" marT="43397" marB="43397"/>
                </a:tc>
                <a:extLst>
                  <a:ext uri="{0D108BD9-81ED-4DB2-BD59-A6C34878D82A}">
                    <a16:rowId xmlns:a16="http://schemas.microsoft.com/office/drawing/2014/main" val="4097710734"/>
                  </a:ext>
                </a:extLst>
              </a:tr>
              <a:tr h="106822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Segoe UI"/>
                          <a:ea typeface="+mn-ea"/>
                          <a:cs typeface="+mn-cs"/>
                        </a:rPr>
                        <a:t>[0,0,0,0,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Segoe UI"/>
                          <a:ea typeface="+mn-ea"/>
                          <a:cs typeface="+mn-cs"/>
                        </a:rPr>
                        <a:t>0,0,0,0,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Segoe UI"/>
                          <a:ea typeface="+mn-ea"/>
                          <a:cs typeface="+mn-cs"/>
                        </a:rPr>
                        <a:t>0,0,0,0]</a:t>
                      </a:r>
                      <a:endParaRPr kumimoji="0" lang="ko-KR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uLnTx/>
                        <a:uFillTx/>
                        <a:latin typeface="Segoe UI"/>
                        <a:ea typeface="+mn-ea"/>
                        <a:cs typeface="+mn-cs"/>
                      </a:endParaRPr>
                    </a:p>
                  </a:txBody>
                  <a:tcPr marL="86797" marR="86797" marT="43397" marB="43397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[0,0,0,0,</a:t>
                      </a:r>
                    </a:p>
                    <a:p>
                      <a:pPr latinLnBrk="1"/>
                      <a:r>
                        <a:rPr lang="en-US" altLang="ko-KR" sz="14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0,0,0,0,</a:t>
                      </a:r>
                    </a:p>
                    <a:p>
                      <a:pPr latinLnBrk="1"/>
                      <a:r>
                        <a:rPr lang="en-US" altLang="ko-KR" sz="14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0,0,0,0]</a:t>
                      </a:r>
                      <a:endParaRPr lang="ko-KR" altLang="en-US" sz="1400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uLnTx/>
                        <a:uFillTx/>
                        <a:latin typeface="Segoe UI"/>
                        <a:ea typeface="+mn-ea"/>
                        <a:cs typeface="+mn-cs"/>
                      </a:endParaRPr>
                    </a:p>
                  </a:txBody>
                  <a:tcPr marL="86797" marR="86797" marT="43397" marB="43397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Segoe UI"/>
                        <a:ea typeface="+mn-ea"/>
                        <a:cs typeface="+mn-cs"/>
                      </a:endParaRPr>
                    </a:p>
                  </a:txBody>
                  <a:tcPr marL="86797" marR="86797" marT="43397" marB="43397"/>
                </a:tc>
                <a:extLst>
                  <a:ext uri="{0D108BD9-81ED-4DB2-BD59-A6C34878D82A}">
                    <a16:rowId xmlns:a16="http://schemas.microsoft.com/office/drawing/2014/main" val="3232772719"/>
                  </a:ext>
                </a:extLst>
              </a:tr>
            </a:tbl>
          </a:graphicData>
        </a:graphic>
      </p:graphicFrame>
      <p:pic>
        <p:nvPicPr>
          <p:cNvPr id="17" name="그래픽 16" descr="트럭">
            <a:extLst>
              <a:ext uri="{FF2B5EF4-FFF2-40B4-BE49-F238E27FC236}">
                <a16:creationId xmlns:a16="http://schemas.microsoft.com/office/drawing/2014/main" id="{67DAE3B8-38BA-9DF2-0C8C-6B0E375406C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361094" y="4731520"/>
            <a:ext cx="1047565" cy="1047565"/>
          </a:xfrm>
          <a:prstGeom prst="rect">
            <a:avLst/>
          </a:prstGeom>
        </p:spPr>
      </p:pic>
      <p:grpSp>
        <p:nvGrpSpPr>
          <p:cNvPr id="24" name="그룹 23">
            <a:extLst>
              <a:ext uri="{FF2B5EF4-FFF2-40B4-BE49-F238E27FC236}">
                <a16:creationId xmlns:a16="http://schemas.microsoft.com/office/drawing/2014/main" id="{7A71C663-CECD-3C91-0E31-D92F6C2969EB}"/>
              </a:ext>
            </a:extLst>
          </p:cNvPr>
          <p:cNvGrpSpPr/>
          <p:nvPr/>
        </p:nvGrpSpPr>
        <p:grpSpPr>
          <a:xfrm>
            <a:off x="4734108" y="5036124"/>
            <a:ext cx="6463832" cy="632558"/>
            <a:chOff x="4146500" y="2118065"/>
            <a:chExt cx="7553595" cy="739204"/>
          </a:xfrm>
        </p:grpSpPr>
        <p:pic>
          <p:nvPicPr>
            <p:cNvPr id="21" name="그림 20">
              <a:extLst>
                <a:ext uri="{FF2B5EF4-FFF2-40B4-BE49-F238E27FC236}">
                  <a16:creationId xmlns:a16="http://schemas.microsoft.com/office/drawing/2014/main" id="{7C3878D2-1CF4-FCEB-FFB0-1845386CEE1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146500" y="2140327"/>
              <a:ext cx="6501224" cy="712564"/>
            </a:xfrm>
            <a:prstGeom prst="rect">
              <a:avLst/>
            </a:prstGeom>
          </p:spPr>
        </p:pic>
        <p:pic>
          <p:nvPicPr>
            <p:cNvPr id="23" name="그림 22">
              <a:extLst>
                <a:ext uri="{FF2B5EF4-FFF2-40B4-BE49-F238E27FC236}">
                  <a16:creationId xmlns:a16="http://schemas.microsoft.com/office/drawing/2014/main" id="{DC9335D3-2E15-C112-E230-E722EF653BE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0634771" y="2118065"/>
              <a:ext cx="1065324" cy="739204"/>
            </a:xfrm>
            <a:prstGeom prst="rect">
              <a:avLst/>
            </a:prstGeom>
          </p:spPr>
        </p:pic>
      </p:grpSp>
      <p:sp>
        <p:nvSpPr>
          <p:cNvPr id="30" name="TextBox 29">
            <a:extLst>
              <a:ext uri="{FF2B5EF4-FFF2-40B4-BE49-F238E27FC236}">
                <a16:creationId xmlns:a16="http://schemas.microsoft.com/office/drawing/2014/main" id="{911B19B7-5598-F929-A03D-F603088DA936}"/>
              </a:ext>
            </a:extLst>
          </p:cNvPr>
          <p:cNvSpPr txBox="1"/>
          <p:nvPr/>
        </p:nvSpPr>
        <p:spPr>
          <a:xfrm>
            <a:off x="4898973" y="2515692"/>
            <a:ext cx="6817381" cy="138499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marL="285750" indent="-285750" rtl="0">
              <a:buFont typeface="Wingdings" panose="05000000000000000000" pitchFamily="2" charset="2"/>
              <a:buChar char="§"/>
            </a:pPr>
            <a:r>
              <a:rPr lang="en-US" altLang="ko-KR" sz="140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Tensor[3, 3, :]</a:t>
            </a:r>
            <a:r>
              <a:rPr lang="ko-KR" altLang="en-US" sz="140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은 </a:t>
            </a:r>
            <a:r>
              <a:rPr lang="en-US" altLang="ko-KR" sz="140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3×3 </a:t>
            </a:r>
            <a:r>
              <a:rPr lang="ko-KR" altLang="en-US" sz="140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격자판</a:t>
            </a:r>
            <a:r>
              <a:rPr lang="ko-KR" altLang="en-US" sz="140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중에서 트럭은 우측 하단 방문을 열면 </a:t>
            </a:r>
            <a:r>
              <a:rPr lang="en-US" altLang="ko-KR" sz="140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12</a:t>
            </a:r>
            <a:r>
              <a:rPr lang="ko-KR" altLang="en-US" sz="140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개의 숫자가 들어있는데</a:t>
            </a:r>
            <a:r>
              <a:rPr lang="en-US" altLang="ko-KR" sz="140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sz="140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그 숫자들이 각각 </a:t>
            </a:r>
            <a:r>
              <a:rPr lang="en-US" altLang="ko-KR" sz="140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'</a:t>
            </a:r>
            <a:r>
              <a:rPr lang="ko-KR" altLang="en-US" sz="140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가로 상자 정보 </a:t>
            </a:r>
            <a:r>
              <a:rPr lang="en-US" altLang="ko-KR" sz="140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5</a:t>
            </a:r>
            <a:r>
              <a:rPr lang="ko-KR" altLang="en-US" sz="140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개</a:t>
            </a:r>
            <a:r>
              <a:rPr lang="en-US" altLang="ko-KR" sz="140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', '</a:t>
            </a:r>
            <a:r>
              <a:rPr lang="ko-KR" altLang="en-US" sz="140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세로 상자 정보 </a:t>
            </a:r>
            <a:r>
              <a:rPr lang="en-US" altLang="ko-KR" sz="140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5</a:t>
            </a:r>
            <a:r>
              <a:rPr lang="ko-KR" altLang="en-US" sz="140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개</a:t>
            </a:r>
            <a:r>
              <a:rPr lang="en-US" altLang="ko-KR" sz="140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', '</a:t>
            </a:r>
            <a:r>
              <a:rPr lang="ko-KR" altLang="en-US" sz="140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이게 비행기인지 자동차인지 알려주는 정체 정보 </a:t>
            </a:r>
            <a:r>
              <a:rPr lang="en-US" altLang="ko-KR" sz="140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2</a:t>
            </a:r>
            <a:r>
              <a:rPr lang="ko-KR" altLang="en-US" sz="140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개</a:t>
            </a:r>
            <a:r>
              <a:rPr lang="en-US" altLang="ko-KR" sz="140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’</a:t>
            </a:r>
            <a:r>
              <a:rPr lang="ko-KR" altLang="en-US" sz="140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를 보여줌</a:t>
            </a:r>
            <a:endParaRPr lang="en-US" altLang="ko-KR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285750" indent="-285750" rtl="0">
              <a:buFont typeface="Wingdings" panose="05000000000000000000" pitchFamily="2" charset="2"/>
              <a:buChar char="§"/>
            </a:pPr>
            <a:endParaRPr lang="en-US" altLang="ko-KR" sz="1400" dirty="0"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285750" indent="-285750" rtl="0">
              <a:buFont typeface="Wingdings" panose="05000000000000000000" pitchFamily="2" charset="2"/>
              <a:buChar char="§"/>
            </a:pPr>
            <a:r>
              <a:rPr lang="en-US" altLang="ko-KR" sz="140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YOLO</a:t>
            </a:r>
            <a:r>
              <a:rPr lang="ko-KR" altLang="en-US" sz="140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는 이 </a:t>
            </a:r>
            <a:r>
              <a:rPr lang="en-US" altLang="ko-KR" sz="140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12</a:t>
            </a:r>
            <a:r>
              <a:rPr lang="ko-KR" altLang="en-US" sz="140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개의 숫자를 보고 </a:t>
            </a:r>
            <a:r>
              <a:rPr lang="en-US" altLang="ko-KR" sz="140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'</a:t>
            </a:r>
            <a:r>
              <a:rPr lang="ko-KR" altLang="en-US" sz="140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아</a:t>
            </a:r>
            <a:r>
              <a:rPr lang="en-US" altLang="ko-KR" sz="140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! 3</a:t>
            </a:r>
            <a:r>
              <a:rPr lang="ko-KR" altLang="en-US" sz="140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행 </a:t>
            </a:r>
            <a:r>
              <a:rPr lang="en-US" altLang="ko-KR" sz="140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3</a:t>
            </a:r>
            <a:r>
              <a:rPr lang="ko-KR" altLang="en-US" sz="140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열에 </a:t>
            </a:r>
            <a:r>
              <a:rPr lang="en-US" altLang="ko-KR" sz="140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88%</a:t>
            </a:r>
            <a:r>
              <a:rPr lang="ko-KR" altLang="en-US" sz="140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짜리</a:t>
            </a:r>
            <a:r>
              <a:rPr lang="ko-KR" altLang="en-US" sz="140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가로 상자를 치고</a:t>
            </a:r>
            <a:r>
              <a:rPr lang="en-US" altLang="ko-KR" sz="140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sz="140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정체는 자동차라고 </a:t>
            </a:r>
            <a:r>
              <a:rPr lang="ko-KR" altLang="en-US" sz="140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띄워야겠구나</a:t>
            </a:r>
            <a:r>
              <a:rPr lang="en-US" altLang="ko-KR" sz="140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!' </a:t>
            </a:r>
            <a:r>
              <a:rPr lang="ko-KR" altLang="en-US" sz="140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하고 최종 화면을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그려서 예측</a:t>
            </a:r>
            <a:endParaRPr lang="en-US" altLang="ko-KR" sz="1400" dirty="0"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C85CFC59-8DE1-BC50-80E4-5B0461586215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sz="1400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16</a:t>
            </a:fld>
            <a:endParaRPr lang="en-US" sz="1400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453513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508830-D819-D25F-AB4C-FBB5ACD20A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612D1010-6371-3BEA-32BD-CD0BB50827CC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YOLO: </a:t>
            </a:r>
            <a:r>
              <a:rPr lang="en-US" altLang="ko-KR" sz="2800" cap="none" dirty="0"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YOLO Object Detection</a:t>
            </a:r>
            <a:endParaRPr lang="ko-KR" altLang="en-US" sz="2800" cap="none" dirty="0"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FAA0612-FCB5-F296-ABEE-CFFF8EE4E96C}"/>
              </a:ext>
            </a:extLst>
          </p:cNvPr>
          <p:cNvSpPr txBox="1"/>
          <p:nvPr/>
        </p:nvSpPr>
        <p:spPr>
          <a:xfrm>
            <a:off x="553752" y="1216773"/>
            <a:ext cx="11039177" cy="1028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400" dirty="0">
                <a:solidFill>
                  <a:srgbClr val="1F1F1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Bounding Box</a:t>
            </a:r>
            <a:r>
              <a:rPr lang="ko-KR" altLang="en-US" sz="1400" dirty="0">
                <a:solidFill>
                  <a:srgbClr val="1F1F1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를 </a:t>
            </a:r>
            <a:r>
              <a:rPr lang="ko-KR" altLang="en-US" sz="1400" i="0" dirty="0">
                <a:solidFill>
                  <a:srgbClr val="1F1F1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그리는 과정은 나의 체형에 가장 잘 맞는 </a:t>
            </a:r>
            <a:r>
              <a:rPr lang="ko-KR" altLang="en-US" sz="1400" dirty="0">
                <a:solidFill>
                  <a:srgbClr val="1F1F1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기성복 사이즈</a:t>
            </a:r>
            <a:r>
              <a:rPr lang="en-US" altLang="ko-KR" sz="1400" dirty="0">
                <a:solidFill>
                  <a:srgbClr val="1F1F1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(Anchor Box)</a:t>
            </a:r>
            <a:r>
              <a:rPr lang="ko-KR" altLang="en-US" sz="1400" dirty="0">
                <a:solidFill>
                  <a:srgbClr val="1F1F1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을</a:t>
            </a:r>
            <a:r>
              <a:rPr lang="en-US" altLang="ko-KR" sz="1400" dirty="0">
                <a:solidFill>
                  <a:srgbClr val="1F1F1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400" i="0" dirty="0">
                <a:solidFill>
                  <a:srgbClr val="1F1F1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고른 뒤</a:t>
            </a:r>
            <a:r>
              <a:rPr lang="en-US" altLang="ko-KR" sz="1400" i="0" dirty="0">
                <a:solidFill>
                  <a:srgbClr val="1F1F1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sz="1400" i="0" dirty="0">
                <a:solidFill>
                  <a:srgbClr val="1F1F1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팔 길이나 품을 미세하게 수선해서</a:t>
            </a:r>
            <a:r>
              <a:rPr lang="en-US" altLang="ko-KR" sz="1400" dirty="0">
                <a:solidFill>
                  <a:srgbClr val="1F1F1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(gradient descent)</a:t>
            </a:r>
            <a:r>
              <a:rPr lang="ko-KR" altLang="en-US" sz="1400" i="0" dirty="0">
                <a:solidFill>
                  <a:srgbClr val="1F1F1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몸에 딱 맞게</a:t>
            </a:r>
            <a:r>
              <a:rPr lang="en-US" altLang="ko-KR" sz="1400" i="0" dirty="0">
                <a:solidFill>
                  <a:srgbClr val="1F1F1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sz="1400" i="0" dirty="0">
                <a:solidFill>
                  <a:srgbClr val="1F1F1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신뢰도가 최대가 되게 </a:t>
            </a:r>
            <a:r>
              <a:rPr lang="en-US" altLang="ko-KR" sz="1400" i="0" dirty="0">
                <a:solidFill>
                  <a:srgbClr val="1F1F1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0.88</a:t>
            </a:r>
            <a:r>
              <a:rPr lang="ko-KR" altLang="en-US" sz="1400" i="0" dirty="0">
                <a:solidFill>
                  <a:srgbClr val="1F1F1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에서</a:t>
            </a:r>
            <a:r>
              <a:rPr lang="en-US" altLang="ko-KR" sz="1400" i="0" dirty="0">
                <a:solidFill>
                  <a:srgbClr val="1F1F1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1.00</a:t>
            </a:r>
            <a:r>
              <a:rPr lang="ko-KR" altLang="en-US" sz="1400" i="0" dirty="0">
                <a:solidFill>
                  <a:srgbClr val="1F1F1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까지</a:t>
            </a:r>
            <a:r>
              <a:rPr lang="en-US" altLang="ko-KR" sz="1400" i="0" dirty="0">
                <a:solidFill>
                  <a:srgbClr val="1F1F1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r>
              <a:rPr lang="ko-KR" altLang="en-US" sz="1400" i="0" dirty="0">
                <a:solidFill>
                  <a:srgbClr val="1F1F1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1400" dirty="0">
                <a:solidFill>
                  <a:srgbClr val="1F1F1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Regression </a:t>
            </a:r>
            <a:r>
              <a:rPr lang="ko-KR" altLang="en-US" sz="1400" dirty="0">
                <a:solidFill>
                  <a:srgbClr val="1F1F1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손실함수를 최소로 하는 최종 맞춤복</a:t>
            </a:r>
            <a:r>
              <a:rPr lang="en-US" altLang="ko-KR" sz="1400" dirty="0">
                <a:solidFill>
                  <a:srgbClr val="1F1F1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(Bounding Box)</a:t>
            </a:r>
            <a:r>
              <a:rPr lang="ko-KR" altLang="en-US" sz="1400" dirty="0">
                <a:solidFill>
                  <a:srgbClr val="1F1F1F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을 구하는 것과 유사</a:t>
            </a:r>
            <a:endParaRPr lang="en-US" altLang="ko-KR" sz="1400" i="0" dirty="0">
              <a:solidFill>
                <a:srgbClr val="1F1F1F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7F2303C9-E1C8-DDD5-4BB5-662B9A16C74D}"/>
              </a:ext>
            </a:extLst>
          </p:cNvPr>
          <p:cNvGrpSpPr/>
          <p:nvPr/>
        </p:nvGrpSpPr>
        <p:grpSpPr>
          <a:xfrm>
            <a:off x="695325" y="5386833"/>
            <a:ext cx="6385803" cy="624922"/>
            <a:chOff x="705033" y="3681004"/>
            <a:chExt cx="6463832" cy="632558"/>
          </a:xfrm>
        </p:grpSpPr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DD39FDEA-C717-CF9F-E35C-B639C84D822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05033" y="3700054"/>
              <a:ext cx="5563287" cy="609761"/>
            </a:xfrm>
            <a:prstGeom prst="rect">
              <a:avLst/>
            </a:prstGeom>
          </p:spPr>
        </p:pic>
        <p:pic>
          <p:nvPicPr>
            <p:cNvPr id="8" name="그림 7">
              <a:extLst>
                <a:ext uri="{FF2B5EF4-FFF2-40B4-BE49-F238E27FC236}">
                  <a16:creationId xmlns:a16="http://schemas.microsoft.com/office/drawing/2014/main" id="{3A97F7EA-3D02-822C-F03A-4C0F1B07D69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257236" y="3681004"/>
              <a:ext cx="911629" cy="632558"/>
            </a:xfrm>
            <a:prstGeom prst="rect">
              <a:avLst/>
            </a:prstGeom>
          </p:spPr>
        </p:pic>
      </p:grp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B92D002C-45C1-44AD-CD55-B683ECC4F301}"/>
              </a:ext>
            </a:extLst>
          </p:cNvPr>
          <p:cNvGrpSpPr/>
          <p:nvPr/>
        </p:nvGrpSpPr>
        <p:grpSpPr>
          <a:xfrm>
            <a:off x="620270" y="3342136"/>
            <a:ext cx="2883229" cy="1341080"/>
            <a:chOff x="1060059" y="3447380"/>
            <a:chExt cx="4391735" cy="2042732"/>
          </a:xfrm>
        </p:grpSpPr>
        <p:pic>
          <p:nvPicPr>
            <p:cNvPr id="9" name="그래픽 8" descr="자동차">
              <a:extLst>
                <a:ext uri="{FF2B5EF4-FFF2-40B4-BE49-F238E27FC236}">
                  <a16:creationId xmlns:a16="http://schemas.microsoft.com/office/drawing/2014/main" id="{87023EC9-73D2-EE4F-FA69-97F617997B7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1261944" y="3482595"/>
              <a:ext cx="1527992" cy="1527992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AADF4AEB-33E8-64BB-60C6-068B2AAB030B}"/>
                    </a:ext>
                  </a:extLst>
                </p:cNvPr>
                <p:cNvSpPr txBox="1"/>
                <p:nvPr/>
              </p:nvSpPr>
              <p:spPr>
                <a:xfrm>
                  <a:off x="1133611" y="4937215"/>
                  <a:ext cx="4318183" cy="55289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14:m>
                    <m:oMath xmlns:m="http://schemas.openxmlformats.org/officeDocument/2006/math">
                      <m:sSub>
                        <m:sSubPr>
                          <m:ctrlPr>
                            <a:rPr lang="ko-KR" alt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en-US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ko-KR" altLang="en-US" i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a14:m>
                  <a:r>
                    <a:rPr lang="ko-KR" altLang="en-US" sz="1600" dirty="0"/>
                    <a:t> </a:t>
                  </a:r>
                  <a:r>
                    <a:rPr lang="en-US" altLang="ko-KR" sz="1600" dirty="0"/>
                    <a:t>=</a:t>
                  </a:r>
                  <a:r>
                    <a:rPr lang="ko-KR" altLang="en-US" sz="1600" dirty="0"/>
                    <a:t> </a:t>
                  </a:r>
                  <a:r>
                    <a:rPr lang="en-US" altLang="ko-KR" sz="1600" dirty="0"/>
                    <a:t>[1,</a:t>
                  </a:r>
                  <a:r>
                    <a:rPr lang="ko-KR" altLang="en-US" sz="1600" dirty="0"/>
                    <a:t>  0.5</a:t>
                  </a:r>
                  <a:r>
                    <a:rPr lang="en-US" altLang="ko-KR" sz="1600" dirty="0"/>
                    <a:t>,</a:t>
                  </a:r>
                  <a:r>
                    <a:rPr lang="ko-KR" altLang="en-US" sz="1600" dirty="0"/>
                    <a:t> 0.5</a:t>
                  </a:r>
                  <a:r>
                    <a:rPr lang="en-US" altLang="ko-KR" sz="1600" dirty="0"/>
                    <a:t>,</a:t>
                  </a:r>
                  <a:r>
                    <a:rPr lang="ko-KR" altLang="en-US" sz="1600" dirty="0"/>
                    <a:t> 0.64</a:t>
                  </a:r>
                  <a:r>
                    <a:rPr lang="en-US" altLang="ko-KR" sz="1600" dirty="0"/>
                    <a:t>,</a:t>
                  </a:r>
                  <a:r>
                    <a:rPr lang="ko-KR" altLang="en-US" sz="1600" dirty="0"/>
                    <a:t> 0.42</a:t>
                  </a:r>
                  <a:r>
                    <a:rPr lang="en-US" altLang="ko-KR" sz="1600" dirty="0"/>
                    <a:t>]</a:t>
                  </a:r>
                  <a:endParaRPr lang="ko-KR" altLang="en-US" sz="1600" dirty="0"/>
                </a:p>
              </p:txBody>
            </p:sp>
          </mc:Choice>
          <mc:Fallback xmlns=""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AADF4AEB-33E8-64BB-60C6-068B2AAB030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33611" y="4937215"/>
                  <a:ext cx="4318183" cy="552897"/>
                </a:xfrm>
                <a:prstGeom prst="rect">
                  <a:avLst/>
                </a:prstGeom>
                <a:blipFill>
                  <a:blip r:embed="rId7"/>
                  <a:stretch>
                    <a:fillRect b="-20339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DA6ED7E8-1330-13E7-3D47-9D20214DD6A9}"/>
                </a:ext>
              </a:extLst>
            </p:cNvPr>
            <p:cNvSpPr/>
            <p:nvPr/>
          </p:nvSpPr>
          <p:spPr>
            <a:xfrm>
              <a:off x="1060059" y="3447380"/>
              <a:ext cx="1729877" cy="1374301"/>
            </a:xfrm>
            <a:prstGeom prst="rect">
              <a:avLst/>
            </a:prstGeom>
            <a:noFill/>
            <a:ln w="19050">
              <a:solidFill>
                <a:srgbClr val="40404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4" name="곱하기 기호 13">
              <a:extLst>
                <a:ext uri="{FF2B5EF4-FFF2-40B4-BE49-F238E27FC236}">
                  <a16:creationId xmlns:a16="http://schemas.microsoft.com/office/drawing/2014/main" id="{B77C880E-312C-4A17-8819-0AFD934BFD4D}"/>
                </a:ext>
              </a:extLst>
            </p:cNvPr>
            <p:cNvSpPr/>
            <p:nvPr/>
          </p:nvSpPr>
          <p:spPr>
            <a:xfrm>
              <a:off x="1906725" y="4211494"/>
              <a:ext cx="238429" cy="238125"/>
            </a:xfrm>
            <a:prstGeom prst="mathMultiply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AA8D5C15-3FC1-E032-7C77-1ABCBD17ADF4}"/>
                  </a:ext>
                </a:extLst>
              </p:cNvPr>
              <p:cNvSpPr txBox="1"/>
              <p:nvPr/>
            </p:nvSpPr>
            <p:spPr>
              <a:xfrm>
                <a:off x="620270" y="2830702"/>
                <a:ext cx="1977800" cy="33855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>
                <a:spAutoFit/>
              </a:bodyPr>
              <a:lstStyle/>
              <a:p>
                <a:r>
                  <a:rPr lang="en-US" altLang="ko-KR" sz="1600" i="0" dirty="0">
                    <a:solidFill>
                      <a:srgbClr val="1F1F1F"/>
                    </a:solidFill>
                    <a:effectLst/>
                    <a:latin typeface="D2Coding" panose="020B0609020101020101" pitchFamily="49" charset="-127"/>
                    <a:ea typeface="D2Coding" panose="020B0609020101020101" pitchFamily="49" charset="-127"/>
                  </a:rPr>
                  <a:t>Ground Truth (</a:t>
                </a:r>
                <a14:m>
                  <m:oMath xmlns:m="http://schemas.openxmlformats.org/officeDocument/2006/math">
                    <m:r>
                      <a:rPr lang="ko-KR" altLang="en-US" sz="1600" i="1" dirty="0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altLang="ko-KR" sz="1600" dirty="0"/>
                  <a:t>)</a:t>
                </a:r>
                <a:endParaRPr lang="ko-KR" altLang="en-US" sz="1600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AA8D5C15-3FC1-E032-7C77-1ABCBD17ADF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0270" y="2830702"/>
                <a:ext cx="1977800" cy="338554"/>
              </a:xfrm>
              <a:prstGeom prst="rect">
                <a:avLst/>
              </a:prstGeom>
              <a:blipFill>
                <a:blip r:embed="rId8"/>
                <a:stretch>
                  <a:fillRect l="-1534" t="-6897" b="-17241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51E43FF6-D02F-A36E-D393-85800054E9F3}"/>
                  </a:ext>
                </a:extLst>
              </p:cNvPr>
              <p:cNvSpPr txBox="1"/>
              <p:nvPr/>
            </p:nvSpPr>
            <p:spPr>
              <a:xfrm>
                <a:off x="620270" y="4947898"/>
                <a:ext cx="1977800" cy="33855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>
                <a:spAutoFit/>
              </a:bodyPr>
              <a:lstStyle/>
              <a:p>
                <a:r>
                  <a:rPr lang="ko-KR" altLang="en-US" sz="1600" dirty="0">
                    <a:solidFill>
                      <a:srgbClr val="1F1F1F"/>
                    </a:solidFill>
                    <a:latin typeface="D2Coding" panose="020B0609020101020101" pitchFamily="49" charset="-127"/>
                    <a:ea typeface="D2Coding" panose="020B0609020101020101" pitchFamily="49" charset="-127"/>
                  </a:rPr>
                  <a:t>예측 </a:t>
                </a:r>
                <a:r>
                  <a:rPr lang="en-US" altLang="ko-KR" sz="1600" dirty="0">
                    <a:solidFill>
                      <a:srgbClr val="1F1F1F"/>
                    </a:solidFill>
                    <a:latin typeface="D2Coding" panose="020B0609020101020101" pitchFamily="49" charset="-127"/>
                    <a:ea typeface="D2Coding" panose="020B0609020101020101" pitchFamily="49" charset="-127"/>
                  </a:rPr>
                  <a:t>tensor (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ko-KR" altLang="en-US" sz="1600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ko-KR" altLang="en-US" sz="1600" i="1" dirty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</m:oMath>
                </a14:m>
                <a:r>
                  <a:rPr lang="en-US" altLang="ko-KR" sz="1600" dirty="0"/>
                  <a:t>)</a:t>
                </a:r>
                <a:endParaRPr lang="ko-KR" altLang="en-US" sz="1600" dirty="0"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51E43FF6-D02F-A36E-D393-85800054E9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0270" y="4947898"/>
                <a:ext cx="1977800" cy="338554"/>
              </a:xfrm>
              <a:prstGeom prst="rect">
                <a:avLst/>
              </a:prstGeom>
              <a:blipFill>
                <a:blip r:embed="rId9"/>
                <a:stretch>
                  <a:fillRect l="-1534" t="-7018" b="-19298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4" name="그림 23">
            <a:extLst>
              <a:ext uri="{FF2B5EF4-FFF2-40B4-BE49-F238E27FC236}">
                <a16:creationId xmlns:a16="http://schemas.microsoft.com/office/drawing/2014/main" id="{12449356-9BDC-36E8-AB8C-77C85169F8CB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235609" y="3457480"/>
            <a:ext cx="6370020" cy="1324069"/>
          </a:xfrm>
          <a:prstGeom prst="rect">
            <a:avLst/>
          </a:prstGeom>
          <a:ln>
            <a:solidFill>
              <a:srgbClr val="FF0000"/>
            </a:solidFill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6D2012E5-1C3F-5EC9-868A-D0A43A6AECC2}"/>
                  </a:ext>
                </a:extLst>
              </p:cNvPr>
              <p:cNvSpPr txBox="1"/>
              <p:nvPr/>
            </p:nvSpPr>
            <p:spPr>
              <a:xfrm>
                <a:off x="5238954" y="3004392"/>
                <a:ext cx="3076371" cy="369332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>
                <a:spAutoFit/>
              </a:bodyPr>
              <a:lstStyle/>
              <a:p>
                <a:r>
                  <a:rPr lang="en-US" altLang="ko-KR" dirty="0">
                    <a:solidFill>
                      <a:srgbClr val="1F1F1F"/>
                    </a:solidFill>
                    <a:latin typeface="D2Coding" panose="020B0609020101020101" pitchFamily="49" charset="-127"/>
                    <a:ea typeface="D2Coding" panose="020B0609020101020101" pitchFamily="49" charset="-127"/>
                  </a:rPr>
                  <a:t>Loss Function 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i="1" smtClean="0">
                            <a:solidFill>
                              <a:srgbClr val="1F1F1F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ko-KR" i="1" smtClean="0">
                                <a:solidFill>
                                  <a:srgbClr val="1F1F1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i="1" smtClean="0">
                                <a:solidFill>
                                  <a:srgbClr val="1F1F1F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  <m:r>
                              <a:rPr lang="en-US" altLang="ko-KR" i="0" smtClean="0">
                                <a:solidFill>
                                  <a:srgbClr val="1F1F1F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acc>
                              <m:accPr>
                                <m:chr m:val="̂"/>
                                <m:ctrlPr>
                                  <a:rPr lang="en-US" altLang="ko-KR" i="1" smtClean="0">
                                    <a:solidFill>
                                      <a:srgbClr val="1F1F1F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ko-KR" i="1" smtClean="0">
                                    <a:solidFill>
                                      <a:srgbClr val="1F1F1F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acc>
                          </m:e>
                        </m:d>
                      </m:e>
                      <m:sup>
                        <m:r>
                          <a:rPr lang="en-US" altLang="ko-KR" i="0" smtClean="0">
                            <a:solidFill>
                              <a:srgbClr val="1F1F1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6D2012E5-1C3F-5EC9-868A-D0A43A6AEC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38954" y="3004392"/>
                <a:ext cx="3076371" cy="369332"/>
              </a:xfrm>
              <a:prstGeom prst="rect">
                <a:avLst/>
              </a:prstGeom>
              <a:blipFill>
                <a:blip r:embed="rId11"/>
                <a:stretch>
                  <a:fillRect l="-1381" t="-8065" b="-24194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직사각형 25">
            <a:extLst>
              <a:ext uri="{FF2B5EF4-FFF2-40B4-BE49-F238E27FC236}">
                <a16:creationId xmlns:a16="http://schemas.microsoft.com/office/drawing/2014/main" id="{32A6BF45-0E70-4B14-07C9-DF50968D1BC2}"/>
              </a:ext>
            </a:extLst>
          </p:cNvPr>
          <p:cNvSpPr/>
          <p:nvPr/>
        </p:nvSpPr>
        <p:spPr>
          <a:xfrm>
            <a:off x="1510597" y="4351515"/>
            <a:ext cx="1718378" cy="306765"/>
          </a:xfrm>
          <a:prstGeom prst="rect">
            <a:avLst/>
          </a:prstGeom>
          <a:noFill/>
          <a:ln w="19050">
            <a:solidFill>
              <a:schemeClr val="accent5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7A59B06B-68F6-D3BE-4D12-F49FE015F6B4}"/>
              </a:ext>
            </a:extLst>
          </p:cNvPr>
          <p:cNvSpPr/>
          <p:nvPr/>
        </p:nvSpPr>
        <p:spPr>
          <a:xfrm>
            <a:off x="2195459" y="5359428"/>
            <a:ext cx="1472011" cy="338555"/>
          </a:xfrm>
          <a:prstGeom prst="rect">
            <a:avLst/>
          </a:prstGeom>
          <a:noFill/>
          <a:ln w="19050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31" name="연결선: 꺾임 30">
            <a:extLst>
              <a:ext uri="{FF2B5EF4-FFF2-40B4-BE49-F238E27FC236}">
                <a16:creationId xmlns:a16="http://schemas.microsoft.com/office/drawing/2014/main" id="{1A366F8C-36AF-693B-BA7F-521090A07468}"/>
              </a:ext>
            </a:extLst>
          </p:cNvPr>
          <p:cNvCxnSpPr>
            <a:cxnSpLocks/>
            <a:stCxn id="20" idx="3"/>
            <a:endCxn id="21" idx="3"/>
          </p:cNvCxnSpPr>
          <p:nvPr/>
        </p:nvCxnSpPr>
        <p:spPr>
          <a:xfrm>
            <a:off x="2598070" y="2999979"/>
            <a:ext cx="12700" cy="2117196"/>
          </a:xfrm>
          <a:prstGeom prst="bentConnector3">
            <a:avLst>
              <a:gd name="adj1" fmla="val 11625000"/>
            </a:avLst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7" name="연결선: 꺾임 36">
            <a:extLst>
              <a:ext uri="{FF2B5EF4-FFF2-40B4-BE49-F238E27FC236}">
                <a16:creationId xmlns:a16="http://schemas.microsoft.com/office/drawing/2014/main" id="{D58D26AC-4854-FFD3-6F0A-F9CB3E060E3D}"/>
              </a:ext>
            </a:extLst>
          </p:cNvPr>
          <p:cNvCxnSpPr>
            <a:stCxn id="25" idx="1"/>
          </p:cNvCxnSpPr>
          <p:nvPr/>
        </p:nvCxnSpPr>
        <p:spPr>
          <a:xfrm rot="10800000" flipV="1">
            <a:off x="4076700" y="3189057"/>
            <a:ext cx="1162254" cy="811061"/>
          </a:xfrm>
          <a:prstGeom prst="bentConnector3">
            <a:avLst/>
          </a:prstGeom>
          <a:ln>
            <a:headEnd type="arrow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4F753F80-6FF2-87AE-B2EA-DEFFC748915A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sz="1400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17</a:t>
            </a:fld>
            <a:endParaRPr lang="en-US" sz="1400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6954518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0A392C-D73D-D148-7BEB-416C2B757A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EA29283D-A348-34F5-820F-7A89CCA15617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YOLO: </a:t>
            </a:r>
            <a:r>
              <a:rPr lang="ko-KR" altLang="en-US" sz="2800" cap="none" dirty="0"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학습 시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714B95D-8603-950A-4D8F-C5D08212F8D2}"/>
              </a:ext>
            </a:extLst>
          </p:cNvPr>
          <p:cNvSpPr txBox="1"/>
          <p:nvPr/>
        </p:nvSpPr>
        <p:spPr>
          <a:xfrm>
            <a:off x="3071250" y="1440761"/>
            <a:ext cx="5586973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ko-KR" altLang="en-US" dirty="0" err="1">
                <a:latin typeface="D2Coding" panose="020B0609020101020101" pitchFamily="49" charset="-127"/>
                <a:ea typeface="D2Coding" panose="020B0609020101020101" pitchFamily="49" charset="-127"/>
              </a:rPr>
              <a:t>Ground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dirty="0" err="1">
                <a:latin typeface="D2Coding" panose="020B0609020101020101" pitchFamily="49" charset="-127"/>
                <a:ea typeface="D2Coding" panose="020B0609020101020101" pitchFamily="49" charset="-127"/>
              </a:rPr>
              <a:t>Truth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(트럭 정답지 박스) 입력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375CC89-CC96-6ADD-2122-34AF5C2AF1E7}"/>
              </a:ext>
            </a:extLst>
          </p:cNvPr>
          <p:cNvSpPr txBox="1"/>
          <p:nvPr/>
        </p:nvSpPr>
        <p:spPr>
          <a:xfrm>
            <a:off x="3071251" y="2120422"/>
            <a:ext cx="5586974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트럭 중심점이 속한 3×3 그리드 셀 지정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B7204E1-EC75-B6A5-B09E-00D3F55C80BA}"/>
              </a:ext>
            </a:extLst>
          </p:cNvPr>
          <p:cNvSpPr txBox="1"/>
          <p:nvPr/>
        </p:nvSpPr>
        <p:spPr>
          <a:xfrm>
            <a:off x="3071251" y="2828658"/>
            <a:ext cx="5586974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해당 그리드가 가진 2개의 고정 </a:t>
            </a:r>
            <a:r>
              <a:rPr lang="ko-KR" altLang="en-US" dirty="0" err="1">
                <a:latin typeface="D2Coding" panose="020B0609020101020101" pitchFamily="49" charset="-127"/>
                <a:ea typeface="D2Coding" panose="020B0609020101020101" pitchFamily="49" charset="-127"/>
              </a:rPr>
              <a:t>Anchor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dirty="0" err="1">
                <a:latin typeface="D2Coding" panose="020B0609020101020101" pitchFamily="49" charset="-127"/>
                <a:ea typeface="D2Coding" panose="020B0609020101020101" pitchFamily="49" charset="-127"/>
              </a:rPr>
              <a:t>Box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 호출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7228B6A-1C00-D15E-CF70-00E6A3D12821}"/>
              </a:ext>
            </a:extLst>
          </p:cNvPr>
          <p:cNvSpPr txBox="1"/>
          <p:nvPr/>
        </p:nvSpPr>
        <p:spPr>
          <a:xfrm>
            <a:off x="742949" y="4051244"/>
            <a:ext cx="5162549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ko-KR" altLang="en-US" dirty="0" err="1">
                <a:latin typeface="D2Coding" panose="020B0609020101020101" pitchFamily="49" charset="-127"/>
                <a:ea typeface="D2Coding" panose="020B0609020101020101" pitchFamily="49" charset="-127"/>
              </a:rPr>
              <a:t>Anchor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 1 (</a:t>
            </a:r>
            <a:r>
              <a:rPr lang="ko-KR" altLang="en-US" dirty="0" err="1">
                <a:latin typeface="D2Coding" panose="020B0609020101020101" pitchFamily="49" charset="-127"/>
                <a:ea typeface="D2Coding" panose="020B0609020101020101" pitchFamily="49" charset="-127"/>
              </a:rPr>
              <a:t>IoU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=0.83)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1A89B76-6DE4-E5B3-0409-39D76DEB4D13}"/>
              </a:ext>
            </a:extLst>
          </p:cNvPr>
          <p:cNvSpPr txBox="1"/>
          <p:nvPr/>
        </p:nvSpPr>
        <p:spPr>
          <a:xfrm>
            <a:off x="742950" y="4921405"/>
            <a:ext cx="5162550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ko-KR" altLang="en-US" dirty="0" err="1">
                <a:latin typeface="D2Coding" panose="020B0609020101020101" pitchFamily="49" charset="-127"/>
                <a:ea typeface="D2Coding" panose="020B0609020101020101" pitchFamily="49" charset="-127"/>
              </a:rPr>
              <a:t>Anchor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 1 선택 (이 트럭의 예측 책임자로 임명)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868CD83-0591-827F-13C5-83124305D8FD}"/>
              </a:ext>
            </a:extLst>
          </p:cNvPr>
          <p:cNvSpPr txBox="1"/>
          <p:nvPr/>
        </p:nvSpPr>
        <p:spPr>
          <a:xfrm>
            <a:off x="742950" y="5791567"/>
            <a:ext cx="5162550" cy="64633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ko-KR" altLang="en-US" dirty="0" err="1">
                <a:latin typeface="D2Coding" panose="020B0609020101020101" pitchFamily="49" charset="-127"/>
                <a:ea typeface="D2Coding" panose="020B0609020101020101" pitchFamily="49" charset="-127"/>
              </a:rPr>
              <a:t>Anchor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 1의 </a:t>
            </a:r>
            <a:r>
              <a:rPr lang="ko-KR" altLang="en-US" dirty="0" err="1">
                <a:latin typeface="D2Coding" panose="020B0609020101020101" pitchFamily="49" charset="-127"/>
                <a:ea typeface="D2Coding" panose="020B0609020101020101" pitchFamily="49" charset="-127"/>
              </a:rPr>
              <a:t>예측값과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dirty="0" err="1">
                <a:latin typeface="D2Coding" panose="020B0609020101020101" pitchFamily="49" charset="-127"/>
                <a:ea typeface="D2Coding" panose="020B0609020101020101" pitchFamily="49" charset="-127"/>
              </a:rPr>
              <a:t>Ground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dirty="0" err="1">
                <a:latin typeface="D2Coding" panose="020B0609020101020101" pitchFamily="49" charset="-127"/>
                <a:ea typeface="D2Coding" panose="020B0609020101020101" pitchFamily="49" charset="-127"/>
              </a:rPr>
              <a:t>Truth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 간의 오차(</a:t>
            </a:r>
            <a:r>
              <a:rPr lang="ko-KR" altLang="en-US" dirty="0" err="1">
                <a:latin typeface="D2Coding" panose="020B0609020101020101" pitchFamily="49" charset="-127"/>
                <a:ea typeface="D2Coding" panose="020B0609020101020101" pitchFamily="49" charset="-127"/>
              </a:rPr>
              <a:t>Loss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) 계산 및 학습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79C0550-16F1-A1AD-28BD-25E06B4F9863}"/>
              </a:ext>
            </a:extLst>
          </p:cNvPr>
          <p:cNvSpPr txBox="1"/>
          <p:nvPr/>
        </p:nvSpPr>
        <p:spPr>
          <a:xfrm>
            <a:off x="7780336" y="4051587"/>
            <a:ext cx="2733675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ko-KR" altLang="en-US" dirty="0" err="1">
                <a:latin typeface="D2Coding" panose="020B0609020101020101" pitchFamily="49" charset="-127"/>
                <a:ea typeface="D2Coding" panose="020B0609020101020101" pitchFamily="49" charset="-127"/>
              </a:rPr>
              <a:t>Anchor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 2 (</a:t>
            </a:r>
            <a:r>
              <a:rPr lang="ko-KR" altLang="en-US" dirty="0" err="1">
                <a:latin typeface="D2Coding" panose="020B0609020101020101" pitchFamily="49" charset="-127"/>
                <a:ea typeface="D2Coding" panose="020B0609020101020101" pitchFamily="49" charset="-127"/>
              </a:rPr>
              <a:t>IoU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=0.39)</a:t>
            </a:r>
          </a:p>
        </p:txBody>
      </p:sp>
      <p:cxnSp>
        <p:nvCxnSpPr>
          <p:cNvPr id="22" name="직선 화살표 연결선 21">
            <a:extLst>
              <a:ext uri="{FF2B5EF4-FFF2-40B4-BE49-F238E27FC236}">
                <a16:creationId xmlns:a16="http://schemas.microsoft.com/office/drawing/2014/main" id="{D8CA16CC-F0D8-0A02-CB22-6F5B5EEEE803}"/>
              </a:ext>
            </a:extLst>
          </p:cNvPr>
          <p:cNvCxnSpPr>
            <a:stCxn id="7" idx="2"/>
            <a:endCxn id="9" idx="0"/>
          </p:cNvCxnSpPr>
          <p:nvPr/>
        </p:nvCxnSpPr>
        <p:spPr>
          <a:xfrm>
            <a:off x="5864737" y="1810093"/>
            <a:ext cx="1" cy="31032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" name="직선 화살표 연결선 22">
            <a:extLst>
              <a:ext uri="{FF2B5EF4-FFF2-40B4-BE49-F238E27FC236}">
                <a16:creationId xmlns:a16="http://schemas.microsoft.com/office/drawing/2014/main" id="{AA5E7E48-3B4D-F26F-9347-98BAC65EDBC7}"/>
              </a:ext>
            </a:extLst>
          </p:cNvPr>
          <p:cNvCxnSpPr>
            <a:cxnSpLocks/>
            <a:stCxn id="9" idx="2"/>
            <a:endCxn id="11" idx="0"/>
          </p:cNvCxnSpPr>
          <p:nvPr/>
        </p:nvCxnSpPr>
        <p:spPr>
          <a:xfrm>
            <a:off x="5864738" y="2489754"/>
            <a:ext cx="0" cy="33890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" name="연결선: 꺾임 26">
            <a:extLst>
              <a:ext uri="{FF2B5EF4-FFF2-40B4-BE49-F238E27FC236}">
                <a16:creationId xmlns:a16="http://schemas.microsoft.com/office/drawing/2014/main" id="{E07B488B-7E4B-D151-890E-3E14EC18F72C}"/>
              </a:ext>
            </a:extLst>
          </p:cNvPr>
          <p:cNvCxnSpPr>
            <a:cxnSpLocks/>
            <a:stCxn id="11" idx="2"/>
            <a:endCxn id="13" idx="0"/>
          </p:cNvCxnSpPr>
          <p:nvPr/>
        </p:nvCxnSpPr>
        <p:spPr>
          <a:xfrm rot="5400000">
            <a:off x="4167854" y="2354360"/>
            <a:ext cx="853254" cy="2540514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" name="연결선: 꺾임 27">
            <a:extLst>
              <a:ext uri="{FF2B5EF4-FFF2-40B4-BE49-F238E27FC236}">
                <a16:creationId xmlns:a16="http://schemas.microsoft.com/office/drawing/2014/main" id="{975C9583-F42F-E4E0-C1B9-463FAD485FF9}"/>
              </a:ext>
            </a:extLst>
          </p:cNvPr>
          <p:cNvCxnSpPr>
            <a:cxnSpLocks/>
            <a:stCxn id="11" idx="2"/>
            <a:endCxn id="20" idx="0"/>
          </p:cNvCxnSpPr>
          <p:nvPr/>
        </p:nvCxnSpPr>
        <p:spPr>
          <a:xfrm rot="16200000" flipH="1">
            <a:off x="7079158" y="1983570"/>
            <a:ext cx="853597" cy="3282436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" name="직선 화살표 연결선 30">
            <a:extLst>
              <a:ext uri="{FF2B5EF4-FFF2-40B4-BE49-F238E27FC236}">
                <a16:creationId xmlns:a16="http://schemas.microsoft.com/office/drawing/2014/main" id="{65C443F0-BF90-7A15-BD60-492A591179D4}"/>
              </a:ext>
            </a:extLst>
          </p:cNvPr>
          <p:cNvCxnSpPr>
            <a:cxnSpLocks/>
            <a:stCxn id="13" idx="2"/>
            <a:endCxn id="15" idx="0"/>
          </p:cNvCxnSpPr>
          <p:nvPr/>
        </p:nvCxnSpPr>
        <p:spPr>
          <a:xfrm>
            <a:off x="3324224" y="4420576"/>
            <a:ext cx="1" cy="50082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4" name="직선 화살표 연결선 33">
            <a:extLst>
              <a:ext uri="{FF2B5EF4-FFF2-40B4-BE49-F238E27FC236}">
                <a16:creationId xmlns:a16="http://schemas.microsoft.com/office/drawing/2014/main" id="{9FC3A9A9-988A-B71B-3036-C47B853CB609}"/>
              </a:ext>
            </a:extLst>
          </p:cNvPr>
          <p:cNvCxnSpPr>
            <a:cxnSpLocks/>
            <a:stCxn id="15" idx="2"/>
          </p:cNvCxnSpPr>
          <p:nvPr/>
        </p:nvCxnSpPr>
        <p:spPr>
          <a:xfrm>
            <a:off x="3324225" y="5290737"/>
            <a:ext cx="0" cy="50048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AEA87C6C-B906-B205-AB55-1ED2D60EB29F}"/>
              </a:ext>
            </a:extLst>
          </p:cNvPr>
          <p:cNvSpPr txBox="1"/>
          <p:nvPr/>
        </p:nvSpPr>
        <p:spPr>
          <a:xfrm>
            <a:off x="7680340" y="5001740"/>
            <a:ext cx="3768709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IoU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계산 부분은 모델이 학습할 때 어떤 앵커 박스에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'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정답 책임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'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을 부여하는 흐름도</a:t>
            </a:r>
          </a:p>
        </p:txBody>
      </p:sp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9CD795C3-D49D-13FF-05DF-8B21F6FDE4EC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sz="1400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18</a:t>
            </a:fld>
            <a:endParaRPr lang="en-US" sz="1400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2894322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67B388-39AA-E0A2-0017-71F7F3C9EA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2" name="직선 화살표 연결선 41">
            <a:extLst>
              <a:ext uri="{FF2B5EF4-FFF2-40B4-BE49-F238E27FC236}">
                <a16:creationId xmlns:a16="http://schemas.microsoft.com/office/drawing/2014/main" id="{CE90C49D-AB57-9AA2-21E0-9A78DEAE5570}"/>
              </a:ext>
            </a:extLst>
          </p:cNvPr>
          <p:cNvCxnSpPr>
            <a:stCxn id="8" idx="2"/>
            <a:endCxn id="33" idx="0"/>
          </p:cNvCxnSpPr>
          <p:nvPr/>
        </p:nvCxnSpPr>
        <p:spPr>
          <a:xfrm>
            <a:off x="5417569" y="1800253"/>
            <a:ext cx="82512" cy="419984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FB955799-49DB-29C0-45D8-EE9C45C70E97}"/>
              </a:ext>
            </a:extLst>
          </p:cNvPr>
          <p:cNvSpPr/>
          <p:nvPr/>
        </p:nvSpPr>
        <p:spPr>
          <a:xfrm>
            <a:off x="647700" y="3676651"/>
            <a:ext cx="9620250" cy="103799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1A37BC71-4E6B-4145-5B2D-2F2113DA9659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YOLO: </a:t>
            </a:r>
            <a:r>
              <a:rPr lang="ko-KR" altLang="en-US" sz="2800" cap="none" dirty="0"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새로운 데이터 </a:t>
            </a:r>
            <a:r>
              <a:rPr lang="ko-KR" altLang="en-US" sz="2800" cap="none" dirty="0" err="1"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입력시</a:t>
            </a:r>
            <a:endParaRPr lang="ko-KR" altLang="en-US" sz="2800" cap="none" dirty="0"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1BB619F-0062-510C-891B-7E12324BAB3B}"/>
              </a:ext>
            </a:extLst>
          </p:cNvPr>
          <p:cNvSpPr txBox="1"/>
          <p:nvPr/>
        </p:nvSpPr>
        <p:spPr>
          <a:xfrm>
            <a:off x="2342545" y="1461699"/>
            <a:ext cx="6150047" cy="33855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입력 이미지(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Truck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70B6023-9906-B77E-F400-0ACA04ABE54A}"/>
              </a:ext>
            </a:extLst>
          </p:cNvPr>
          <p:cNvSpPr txBox="1"/>
          <p:nvPr/>
        </p:nvSpPr>
        <p:spPr>
          <a:xfrm>
            <a:off x="2342545" y="1934754"/>
            <a:ext cx="6150047" cy="33855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CNN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Backbone</a:t>
            </a:r>
            <a:endParaRPr lang="ko-KR" altLang="en-US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E4A0911-DFC8-1CE4-4438-69E5B5DBFBE1}"/>
              </a:ext>
            </a:extLst>
          </p:cNvPr>
          <p:cNvSpPr txBox="1"/>
          <p:nvPr/>
        </p:nvSpPr>
        <p:spPr>
          <a:xfrm>
            <a:off x="2342545" y="2407809"/>
            <a:ext cx="6150047" cy="33855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Feature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Map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생성 (3×3 그리드의 공간 정보가 한 번에 계산됨)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0052CC3-348B-F575-F5B9-047B23F72F01}"/>
              </a:ext>
            </a:extLst>
          </p:cNvPr>
          <p:cNvSpPr txBox="1"/>
          <p:nvPr/>
        </p:nvSpPr>
        <p:spPr>
          <a:xfrm>
            <a:off x="2342545" y="3052313"/>
            <a:ext cx="6150047" cy="33855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[CNN 최종 레이어의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원샷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(One-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shot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) 동시 예측]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099F1FA-4165-EEEB-EBDC-E107054392C5}"/>
              </a:ext>
            </a:extLst>
          </p:cNvPr>
          <p:cNvSpPr txBox="1"/>
          <p:nvPr/>
        </p:nvSpPr>
        <p:spPr>
          <a:xfrm>
            <a:off x="863987" y="3776668"/>
            <a:ext cx="2526506" cy="58477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Objectness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점수 예측</a:t>
            </a: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algn="ctr"/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물체가 있을 확률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P_c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) 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16106AA-7D2F-6509-4834-392F2AB307DE}"/>
              </a:ext>
            </a:extLst>
          </p:cNvPr>
          <p:cNvSpPr txBox="1"/>
          <p:nvPr/>
        </p:nvSpPr>
        <p:spPr>
          <a:xfrm>
            <a:off x="2345756" y="4913429"/>
            <a:ext cx="6308651" cy="33855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미리 정의된 2개의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Anchor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Box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비율에 (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tx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ty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tw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th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를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곱함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AF1C64F-7C2D-88FA-7E26-9442F3EE751A}"/>
              </a:ext>
            </a:extLst>
          </p:cNvPr>
          <p:cNvSpPr txBox="1"/>
          <p:nvPr/>
        </p:nvSpPr>
        <p:spPr>
          <a:xfrm>
            <a:off x="2345756" y="5456764"/>
            <a:ext cx="6308651" cy="33855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Bounding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Box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최종 복원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5DD48AD6-2F49-9014-3FAE-B6F9E3D8B5A3}"/>
              </a:ext>
            </a:extLst>
          </p:cNvPr>
          <p:cNvSpPr txBox="1"/>
          <p:nvPr/>
        </p:nvSpPr>
        <p:spPr>
          <a:xfrm>
            <a:off x="2345755" y="6000099"/>
            <a:ext cx="6308651" cy="33855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NMS 알고리즘 (중복 박스 제거 및 최종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Detection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2E3E4DD-439A-9175-0EF6-9BAC6B1ADEBA}"/>
              </a:ext>
            </a:extLst>
          </p:cNvPr>
          <p:cNvSpPr txBox="1"/>
          <p:nvPr/>
        </p:nvSpPr>
        <p:spPr>
          <a:xfrm>
            <a:off x="4321239" y="3776668"/>
            <a:ext cx="2621755" cy="58477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Class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확률 예측</a:t>
            </a: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algn="ctr"/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Car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인지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Airplane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인지)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C8D458F1-E636-A79E-2F7C-E81BF7E2C9BB}"/>
              </a:ext>
            </a:extLst>
          </p:cNvPr>
          <p:cNvSpPr txBox="1"/>
          <p:nvPr/>
        </p:nvSpPr>
        <p:spPr>
          <a:xfrm>
            <a:off x="7873739" y="3776668"/>
            <a:ext cx="2108461" cy="86177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Bounding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Box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위치 미세조정 값 예측</a:t>
            </a: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algn="ctr"/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tx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ty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tw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th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CD89F926-22E0-909C-2834-1D6D8680FFFB}"/>
              </a:ext>
            </a:extLst>
          </p:cNvPr>
          <p:cNvSpPr txBox="1"/>
          <p:nvPr/>
        </p:nvSpPr>
        <p:spPr>
          <a:xfrm>
            <a:off x="8635356" y="1384754"/>
            <a:ext cx="3242319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새로운 이미지가 들어왔을 때 컴퓨터가 단 한 번에 모든 것을 찍어내는 실시간 구동 흐름</a:t>
            </a:r>
          </a:p>
        </p:txBody>
      </p:sp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7BFD1CD0-31EF-46C1-FA4D-A064BEDAB4F6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sz="1400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19</a:t>
            </a:fld>
            <a:endParaRPr lang="en-US" sz="1400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8942927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696E7F-B17D-7E97-AAF3-FD36654E4B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C6E374A-6372-350B-0879-96705906C96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200" y="1164324"/>
            <a:ext cx="10515600" cy="2387600"/>
          </a:xfrm>
        </p:spPr>
        <p:txBody>
          <a:bodyPr rtlCol="0" anchor="ctr" anchorCtr="0">
            <a:normAutofit/>
          </a:bodyPr>
          <a:lstStyle/>
          <a:p>
            <a:pPr rtl="0"/>
            <a:r>
              <a:rPr lang="en-US" altLang="ko-KR" sz="4800" dirty="0">
                <a:solidFill>
                  <a:schemeClr val="bg1"/>
                </a:solidFill>
              </a:rPr>
              <a:t>Object</a:t>
            </a:r>
            <a:r>
              <a:rPr lang="ko-KR" altLang="en-US" sz="4800" dirty="0">
                <a:solidFill>
                  <a:schemeClr val="bg1"/>
                </a:solidFill>
              </a:rPr>
              <a:t> </a:t>
            </a:r>
            <a:r>
              <a:rPr lang="en-US" altLang="ko-KR" sz="4800" dirty="0">
                <a:solidFill>
                  <a:schemeClr val="bg1"/>
                </a:solidFill>
              </a:rPr>
              <a:t>detection</a:t>
            </a:r>
            <a:endParaRPr lang="ko-KR" altLang="en-US" sz="4800" dirty="0">
              <a:solidFill>
                <a:schemeClr val="bg1"/>
              </a:solidFill>
            </a:endParaRP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7CD9F581-4D2F-8FA0-655C-93839C016BCC}"/>
              </a:ext>
            </a:extLst>
          </p:cNvPr>
          <p:cNvSpPr txBox="1">
            <a:spLocks/>
          </p:cNvSpPr>
          <p:nvPr/>
        </p:nvSpPr>
        <p:spPr>
          <a:xfrm>
            <a:off x="857250" y="3279534"/>
            <a:ext cx="9582736" cy="63524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Tx/>
              <a:buNone/>
              <a:defRPr lang="en-US" sz="1200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2286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2pPr>
            <a:lvl3pPr marL="6858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3pPr>
            <a:lvl4pPr marL="11430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4pPr>
            <a:lvl5pPr marL="16002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5pPr>
            <a:lvl6pPr marL="20574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5146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9718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429000" indent="-228600" algn="l" defTabSz="914400" rtl="0" eaLnBrk="1" latinLnBrk="1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2400" dirty="0">
                <a:solidFill>
                  <a:schemeClr val="bg1"/>
                </a:solidFill>
              </a:rPr>
              <a:t>YOLO(You</a:t>
            </a:r>
            <a:r>
              <a:rPr lang="ko-KR" altLang="en-US" sz="2400" dirty="0">
                <a:solidFill>
                  <a:schemeClr val="bg1"/>
                </a:solidFill>
              </a:rPr>
              <a:t> </a:t>
            </a:r>
            <a:r>
              <a:rPr lang="en-US" altLang="ko-KR" sz="2400" dirty="0">
                <a:solidFill>
                  <a:schemeClr val="bg1"/>
                </a:solidFill>
              </a:rPr>
              <a:t>Only Look Once)</a:t>
            </a:r>
          </a:p>
        </p:txBody>
      </p:sp>
    </p:spTree>
    <p:extLst>
      <p:ext uri="{BB962C8B-B14F-4D97-AF65-F5344CB8AC3E}">
        <p14:creationId xmlns:p14="http://schemas.microsoft.com/office/powerpoint/2010/main" val="23063789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181175-0FC3-D420-6AEE-30BD4B7ACF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DAF51BDC-2642-8ADA-A94E-F835DB9CD2EC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4629755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Yolo</a:t>
            </a:r>
            <a:endParaRPr lang="ko-KR" altLang="en-US" sz="2800" cap="none" dirty="0"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40" name="제목 1">
            <a:extLst>
              <a:ext uri="{FF2B5EF4-FFF2-40B4-BE49-F238E27FC236}">
                <a16:creationId xmlns:a16="http://schemas.microsoft.com/office/drawing/2014/main" id="{8010647F-2F4D-E33F-E939-34C668CEF921}"/>
              </a:ext>
            </a:extLst>
          </p:cNvPr>
          <p:cNvSpPr txBox="1">
            <a:spLocks/>
          </p:cNvSpPr>
          <p:nvPr/>
        </p:nvSpPr>
        <p:spPr>
          <a:xfrm>
            <a:off x="7031196" y="647700"/>
            <a:ext cx="4629755" cy="60072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r"/>
            <a:r>
              <a:rPr lang="en-US" altLang="ko-KR" sz="2000" cap="none" dirty="0"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1. </a:t>
            </a:r>
            <a:r>
              <a:rPr lang="ko-KR" altLang="en-US" sz="2000" cap="none" dirty="0"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이미지 준비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E3D9C2D6-CAA4-3181-1BF8-1734E50043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90101" y="1942296"/>
            <a:ext cx="5684159" cy="4268004"/>
          </a:xfrm>
          <a:prstGeom prst="rect">
            <a:avLst/>
          </a:prstGeom>
        </p:spPr>
      </p:pic>
      <p:sp>
        <p:nvSpPr>
          <p:cNvPr id="15" name="직사각형 14">
            <a:extLst>
              <a:ext uri="{FF2B5EF4-FFF2-40B4-BE49-F238E27FC236}">
                <a16:creationId xmlns:a16="http://schemas.microsoft.com/office/drawing/2014/main" id="{7FB075BB-5D7E-7612-E337-1C2246DF3F9F}"/>
              </a:ext>
            </a:extLst>
          </p:cNvPr>
          <p:cNvSpPr/>
          <p:nvPr/>
        </p:nvSpPr>
        <p:spPr>
          <a:xfrm>
            <a:off x="2937782" y="2249151"/>
            <a:ext cx="4183439" cy="350972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9" name="슬라이드 번호 개체 틀 3">
            <a:extLst>
              <a:ext uri="{FF2B5EF4-FFF2-40B4-BE49-F238E27FC236}">
                <a16:creationId xmlns:a16="http://schemas.microsoft.com/office/drawing/2014/main" id="{F108B369-2B07-644C-9D47-7CFE452723FC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sz="1400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21</a:t>
            </a:fld>
            <a:endParaRPr lang="en-US" sz="1400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8787773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505E23-31B7-2E2F-817B-30CD7456FF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3EBD8A79-DA30-5E8D-9545-8EC9279874A8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4629755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Yolo</a:t>
            </a:r>
            <a:endParaRPr lang="ko-KR" altLang="en-US" sz="2800" cap="none" dirty="0"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40" name="제목 1">
            <a:extLst>
              <a:ext uri="{FF2B5EF4-FFF2-40B4-BE49-F238E27FC236}">
                <a16:creationId xmlns:a16="http://schemas.microsoft.com/office/drawing/2014/main" id="{EBD03168-3429-9184-03A2-D78F34439CA2}"/>
              </a:ext>
            </a:extLst>
          </p:cNvPr>
          <p:cNvSpPr txBox="1">
            <a:spLocks/>
          </p:cNvSpPr>
          <p:nvPr/>
        </p:nvSpPr>
        <p:spPr>
          <a:xfrm>
            <a:off x="7031196" y="647700"/>
            <a:ext cx="4629755" cy="60072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r"/>
            <a:r>
              <a:rPr lang="en-US" altLang="ko-KR" sz="2000" cap="none" dirty="0"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2. </a:t>
            </a:r>
            <a:r>
              <a:rPr lang="ko-KR" altLang="en-US" sz="2000" cap="none" dirty="0"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그리드 좌표 설정</a:t>
            </a: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D866CB3A-B93D-682A-630B-420440C51F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2813" y="1541130"/>
            <a:ext cx="4629756" cy="3860073"/>
          </a:xfrm>
          <a:prstGeom prst="rect">
            <a:avLst/>
          </a:prstGeom>
          <a:ln w="38100">
            <a:solidFill>
              <a:srgbClr val="FF0000"/>
            </a:solidFill>
          </a:ln>
        </p:spPr>
      </p:pic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51176818-9D2D-B125-7BA2-B656FA90E97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14420925"/>
              </p:ext>
            </p:extLst>
          </p:nvPr>
        </p:nvGraphicFramePr>
        <p:xfrm>
          <a:off x="722811" y="1541129"/>
          <a:ext cx="4629758" cy="386006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61394">
                  <a:extLst>
                    <a:ext uri="{9D8B030D-6E8A-4147-A177-3AD203B41FA5}">
                      <a16:colId xmlns:a16="http://schemas.microsoft.com/office/drawing/2014/main" val="611974878"/>
                    </a:ext>
                  </a:extLst>
                </a:gridCol>
                <a:gridCol w="661394">
                  <a:extLst>
                    <a:ext uri="{9D8B030D-6E8A-4147-A177-3AD203B41FA5}">
                      <a16:colId xmlns:a16="http://schemas.microsoft.com/office/drawing/2014/main" val="646087785"/>
                    </a:ext>
                  </a:extLst>
                </a:gridCol>
                <a:gridCol w="661394">
                  <a:extLst>
                    <a:ext uri="{9D8B030D-6E8A-4147-A177-3AD203B41FA5}">
                      <a16:colId xmlns:a16="http://schemas.microsoft.com/office/drawing/2014/main" val="3997694898"/>
                    </a:ext>
                  </a:extLst>
                </a:gridCol>
                <a:gridCol w="661394">
                  <a:extLst>
                    <a:ext uri="{9D8B030D-6E8A-4147-A177-3AD203B41FA5}">
                      <a16:colId xmlns:a16="http://schemas.microsoft.com/office/drawing/2014/main" val="3851113890"/>
                    </a:ext>
                  </a:extLst>
                </a:gridCol>
                <a:gridCol w="661394">
                  <a:extLst>
                    <a:ext uri="{9D8B030D-6E8A-4147-A177-3AD203B41FA5}">
                      <a16:colId xmlns:a16="http://schemas.microsoft.com/office/drawing/2014/main" val="360240420"/>
                    </a:ext>
                  </a:extLst>
                </a:gridCol>
                <a:gridCol w="661394">
                  <a:extLst>
                    <a:ext uri="{9D8B030D-6E8A-4147-A177-3AD203B41FA5}">
                      <a16:colId xmlns:a16="http://schemas.microsoft.com/office/drawing/2014/main" val="3384771234"/>
                    </a:ext>
                  </a:extLst>
                </a:gridCol>
                <a:gridCol w="661394">
                  <a:extLst>
                    <a:ext uri="{9D8B030D-6E8A-4147-A177-3AD203B41FA5}">
                      <a16:colId xmlns:a16="http://schemas.microsoft.com/office/drawing/2014/main" val="3175013539"/>
                    </a:ext>
                  </a:extLst>
                </a:gridCol>
              </a:tblGrid>
              <a:tr h="551438">
                <a:tc>
                  <a:txBody>
                    <a:bodyPr/>
                    <a:lstStyle/>
                    <a:p>
                      <a:pPr latinLnBrk="1"/>
                      <a:endParaRPr lang="ko-KR" altLang="en-US" sz="2500" dirty="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</a:endParaRPr>
                    </a:p>
                  </a:txBody>
                  <a:tcPr marL="126649" marR="126649" marT="63325" marB="63325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2500" dirty="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</a:endParaRPr>
                    </a:p>
                  </a:txBody>
                  <a:tcPr marL="126649" marR="126649" marT="63325" marB="63325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2500" dirty="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</a:endParaRPr>
                    </a:p>
                  </a:txBody>
                  <a:tcPr marL="126649" marR="126649" marT="63325" marB="63325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250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</a:endParaRPr>
                    </a:p>
                  </a:txBody>
                  <a:tcPr marL="126649" marR="126649" marT="63325" marB="63325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2500" dirty="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</a:endParaRPr>
                    </a:p>
                  </a:txBody>
                  <a:tcPr marL="126649" marR="126649" marT="63325" marB="63325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250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</a:endParaRPr>
                    </a:p>
                  </a:txBody>
                  <a:tcPr marL="126649" marR="126649" marT="63325" marB="63325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250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</a:endParaRPr>
                    </a:p>
                  </a:txBody>
                  <a:tcPr marL="126649" marR="126649" marT="63325" marB="63325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23458696"/>
                  </a:ext>
                </a:extLst>
              </a:tr>
              <a:tr h="551438">
                <a:tc>
                  <a:txBody>
                    <a:bodyPr/>
                    <a:lstStyle/>
                    <a:p>
                      <a:pPr latinLnBrk="1"/>
                      <a:endParaRPr lang="ko-KR" altLang="en-US" sz="250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</a:endParaRPr>
                    </a:p>
                  </a:txBody>
                  <a:tcPr marL="126649" marR="126649" marT="63325" marB="63325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250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</a:endParaRPr>
                    </a:p>
                  </a:txBody>
                  <a:tcPr marL="126649" marR="126649" marT="63325" marB="63325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250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</a:endParaRPr>
                    </a:p>
                  </a:txBody>
                  <a:tcPr marL="126649" marR="126649" marT="63325" marB="63325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250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</a:endParaRPr>
                    </a:p>
                  </a:txBody>
                  <a:tcPr marL="126649" marR="126649" marT="63325" marB="63325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2500" dirty="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</a:endParaRPr>
                    </a:p>
                  </a:txBody>
                  <a:tcPr marL="126649" marR="126649" marT="63325" marB="63325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2500" dirty="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</a:endParaRPr>
                    </a:p>
                  </a:txBody>
                  <a:tcPr marL="126649" marR="126649" marT="63325" marB="63325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250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</a:endParaRPr>
                    </a:p>
                  </a:txBody>
                  <a:tcPr marL="126649" marR="126649" marT="63325" marB="63325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30129730"/>
                  </a:ext>
                </a:extLst>
              </a:tr>
              <a:tr h="551438">
                <a:tc>
                  <a:txBody>
                    <a:bodyPr/>
                    <a:lstStyle/>
                    <a:p>
                      <a:pPr latinLnBrk="1"/>
                      <a:endParaRPr lang="ko-KR" altLang="en-US" sz="250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</a:endParaRPr>
                    </a:p>
                  </a:txBody>
                  <a:tcPr marL="126649" marR="126649" marT="63325" marB="63325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250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</a:endParaRPr>
                    </a:p>
                  </a:txBody>
                  <a:tcPr marL="126649" marR="126649" marT="63325" marB="63325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250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</a:endParaRPr>
                    </a:p>
                  </a:txBody>
                  <a:tcPr marL="126649" marR="126649" marT="63325" marB="63325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250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</a:endParaRPr>
                    </a:p>
                  </a:txBody>
                  <a:tcPr marL="126649" marR="126649" marT="63325" marB="63325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250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</a:endParaRPr>
                    </a:p>
                  </a:txBody>
                  <a:tcPr marL="126649" marR="126649" marT="63325" marB="63325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2500" dirty="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</a:endParaRPr>
                    </a:p>
                  </a:txBody>
                  <a:tcPr marL="126649" marR="126649" marT="63325" marB="63325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2500" dirty="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</a:endParaRPr>
                    </a:p>
                  </a:txBody>
                  <a:tcPr marL="126649" marR="126649" marT="63325" marB="63325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35903404"/>
                  </a:ext>
                </a:extLst>
              </a:tr>
              <a:tr h="551438">
                <a:tc>
                  <a:txBody>
                    <a:bodyPr/>
                    <a:lstStyle/>
                    <a:p>
                      <a:pPr latinLnBrk="1"/>
                      <a:endParaRPr lang="ko-KR" altLang="en-US" sz="250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</a:endParaRPr>
                    </a:p>
                  </a:txBody>
                  <a:tcPr marL="126649" marR="126649" marT="63325" marB="63325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250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</a:endParaRPr>
                    </a:p>
                  </a:txBody>
                  <a:tcPr marL="126649" marR="126649" marT="63325" marB="63325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250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</a:endParaRPr>
                    </a:p>
                  </a:txBody>
                  <a:tcPr marL="126649" marR="126649" marT="63325" marB="63325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250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</a:endParaRPr>
                    </a:p>
                  </a:txBody>
                  <a:tcPr marL="126649" marR="126649" marT="63325" marB="63325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2500" dirty="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</a:endParaRPr>
                    </a:p>
                  </a:txBody>
                  <a:tcPr marL="126649" marR="126649" marT="63325" marB="63325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2500" dirty="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</a:endParaRPr>
                    </a:p>
                  </a:txBody>
                  <a:tcPr marL="126649" marR="126649" marT="63325" marB="63325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2500" dirty="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</a:endParaRPr>
                    </a:p>
                  </a:txBody>
                  <a:tcPr marL="126649" marR="126649" marT="63325" marB="63325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19572772"/>
                  </a:ext>
                </a:extLst>
              </a:tr>
              <a:tr h="551438">
                <a:tc>
                  <a:txBody>
                    <a:bodyPr/>
                    <a:lstStyle/>
                    <a:p>
                      <a:pPr latinLnBrk="1"/>
                      <a:endParaRPr lang="ko-KR" altLang="en-US" sz="250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</a:endParaRPr>
                    </a:p>
                  </a:txBody>
                  <a:tcPr marL="126649" marR="126649" marT="63325" marB="63325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250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</a:endParaRPr>
                    </a:p>
                  </a:txBody>
                  <a:tcPr marL="126649" marR="126649" marT="63325" marB="63325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2500" dirty="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</a:endParaRPr>
                    </a:p>
                  </a:txBody>
                  <a:tcPr marL="126649" marR="126649" marT="63325" marB="63325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250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</a:endParaRPr>
                    </a:p>
                  </a:txBody>
                  <a:tcPr marL="126649" marR="126649" marT="63325" marB="63325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2500" dirty="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</a:endParaRPr>
                    </a:p>
                  </a:txBody>
                  <a:tcPr marL="126649" marR="126649" marT="63325" marB="63325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250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</a:endParaRPr>
                    </a:p>
                  </a:txBody>
                  <a:tcPr marL="126649" marR="126649" marT="63325" marB="63325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2500" dirty="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</a:endParaRPr>
                    </a:p>
                  </a:txBody>
                  <a:tcPr marL="126649" marR="126649" marT="63325" marB="63325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05235065"/>
                  </a:ext>
                </a:extLst>
              </a:tr>
              <a:tr h="551438">
                <a:tc>
                  <a:txBody>
                    <a:bodyPr/>
                    <a:lstStyle/>
                    <a:p>
                      <a:pPr latinLnBrk="1"/>
                      <a:endParaRPr lang="ko-KR" altLang="en-US" sz="250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</a:endParaRPr>
                    </a:p>
                  </a:txBody>
                  <a:tcPr marL="126649" marR="126649" marT="63325" marB="63325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250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</a:endParaRPr>
                    </a:p>
                  </a:txBody>
                  <a:tcPr marL="126649" marR="126649" marT="63325" marB="63325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250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</a:endParaRPr>
                    </a:p>
                  </a:txBody>
                  <a:tcPr marL="126649" marR="126649" marT="63325" marB="63325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250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</a:endParaRPr>
                    </a:p>
                  </a:txBody>
                  <a:tcPr marL="126649" marR="126649" marT="63325" marB="63325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250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</a:endParaRPr>
                    </a:p>
                  </a:txBody>
                  <a:tcPr marL="126649" marR="126649" marT="63325" marB="63325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250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</a:endParaRPr>
                    </a:p>
                  </a:txBody>
                  <a:tcPr marL="126649" marR="126649" marT="63325" marB="63325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2500" dirty="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</a:endParaRPr>
                    </a:p>
                  </a:txBody>
                  <a:tcPr marL="126649" marR="126649" marT="63325" marB="63325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7676690"/>
                  </a:ext>
                </a:extLst>
              </a:tr>
              <a:tr h="551438">
                <a:tc>
                  <a:txBody>
                    <a:bodyPr/>
                    <a:lstStyle/>
                    <a:p>
                      <a:pPr latinLnBrk="1"/>
                      <a:endParaRPr lang="ko-KR" altLang="en-US" sz="250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</a:endParaRPr>
                    </a:p>
                  </a:txBody>
                  <a:tcPr marL="126649" marR="126649" marT="63325" marB="63325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250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</a:endParaRPr>
                    </a:p>
                  </a:txBody>
                  <a:tcPr marL="126649" marR="126649" marT="63325" marB="63325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250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</a:endParaRPr>
                    </a:p>
                  </a:txBody>
                  <a:tcPr marL="126649" marR="126649" marT="63325" marB="63325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2500" dirty="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</a:endParaRPr>
                    </a:p>
                  </a:txBody>
                  <a:tcPr marL="126649" marR="126649" marT="63325" marB="63325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250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</a:endParaRPr>
                    </a:p>
                  </a:txBody>
                  <a:tcPr marL="126649" marR="126649" marT="63325" marB="63325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2500" dirty="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</a:endParaRPr>
                    </a:p>
                  </a:txBody>
                  <a:tcPr marL="126649" marR="126649" marT="63325" marB="63325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2500" dirty="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</a:endParaRPr>
                    </a:p>
                  </a:txBody>
                  <a:tcPr marL="126649" marR="126649" marT="63325" marB="63325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56639261"/>
                  </a:ext>
                </a:extLst>
              </a:tr>
            </a:tbl>
          </a:graphicData>
        </a:graphic>
      </p:graphicFrame>
      <p:pic>
        <p:nvPicPr>
          <p:cNvPr id="4" name="그림 3">
            <a:extLst>
              <a:ext uri="{FF2B5EF4-FFF2-40B4-BE49-F238E27FC236}">
                <a16:creationId xmlns:a16="http://schemas.microsoft.com/office/drawing/2014/main" id="{FC6A2AA3-432D-1708-768B-6914D77726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91504" y="1541129"/>
            <a:ext cx="6272305" cy="3416951"/>
          </a:xfrm>
          <a:prstGeom prst="rect">
            <a:avLst/>
          </a:prstGeom>
        </p:spPr>
      </p:pic>
      <p:sp>
        <p:nvSpPr>
          <p:cNvPr id="5" name="슬라이드 번호 개체 틀 3">
            <a:extLst>
              <a:ext uri="{FF2B5EF4-FFF2-40B4-BE49-F238E27FC236}">
                <a16:creationId xmlns:a16="http://schemas.microsoft.com/office/drawing/2014/main" id="{6907F87A-6385-159B-C490-2D8D7C423B4B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sz="1400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22</a:t>
            </a:fld>
            <a:endParaRPr lang="en-US" sz="1400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7173113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7009A3-B314-CA32-17AD-3F4CF26257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0ECB91A7-8C7E-0704-7154-1716254DBC53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4629755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Yolo</a:t>
            </a:r>
            <a:endParaRPr lang="ko-KR" altLang="en-US" sz="2800" cap="none" dirty="0"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40" name="제목 1">
            <a:extLst>
              <a:ext uri="{FF2B5EF4-FFF2-40B4-BE49-F238E27FC236}">
                <a16:creationId xmlns:a16="http://schemas.microsoft.com/office/drawing/2014/main" id="{2A8C47DE-DEC7-D293-8CE6-CFD7DAD1A8E2}"/>
              </a:ext>
            </a:extLst>
          </p:cNvPr>
          <p:cNvSpPr txBox="1">
            <a:spLocks/>
          </p:cNvSpPr>
          <p:nvPr/>
        </p:nvSpPr>
        <p:spPr>
          <a:xfrm>
            <a:off x="7031196" y="647700"/>
            <a:ext cx="4629755" cy="60072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r"/>
            <a:r>
              <a:rPr lang="en-US" altLang="ko-KR" sz="2000" cap="none" dirty="0"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3. Bounding Box</a:t>
            </a:r>
            <a:endParaRPr lang="ko-KR" altLang="en-US" sz="2000" cap="none" dirty="0"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CF734071-B5BD-F248-807C-BB15034CE4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693" y="2094403"/>
            <a:ext cx="4629756" cy="3860073"/>
          </a:xfrm>
          <a:prstGeom prst="rect">
            <a:avLst/>
          </a:prstGeom>
          <a:ln w="38100">
            <a:solidFill>
              <a:srgbClr val="FF0000"/>
            </a:solidFill>
          </a:ln>
        </p:spPr>
      </p:pic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4C11A3CD-043D-71AB-8966-084B2852F00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54023030"/>
              </p:ext>
            </p:extLst>
          </p:nvPr>
        </p:nvGraphicFramePr>
        <p:xfrm>
          <a:off x="651691" y="2094402"/>
          <a:ext cx="4629758" cy="386006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61394">
                  <a:extLst>
                    <a:ext uri="{9D8B030D-6E8A-4147-A177-3AD203B41FA5}">
                      <a16:colId xmlns:a16="http://schemas.microsoft.com/office/drawing/2014/main" val="611974878"/>
                    </a:ext>
                  </a:extLst>
                </a:gridCol>
                <a:gridCol w="661394">
                  <a:extLst>
                    <a:ext uri="{9D8B030D-6E8A-4147-A177-3AD203B41FA5}">
                      <a16:colId xmlns:a16="http://schemas.microsoft.com/office/drawing/2014/main" val="646087785"/>
                    </a:ext>
                  </a:extLst>
                </a:gridCol>
                <a:gridCol w="661394">
                  <a:extLst>
                    <a:ext uri="{9D8B030D-6E8A-4147-A177-3AD203B41FA5}">
                      <a16:colId xmlns:a16="http://schemas.microsoft.com/office/drawing/2014/main" val="3997694898"/>
                    </a:ext>
                  </a:extLst>
                </a:gridCol>
                <a:gridCol w="661394">
                  <a:extLst>
                    <a:ext uri="{9D8B030D-6E8A-4147-A177-3AD203B41FA5}">
                      <a16:colId xmlns:a16="http://schemas.microsoft.com/office/drawing/2014/main" val="3851113890"/>
                    </a:ext>
                  </a:extLst>
                </a:gridCol>
                <a:gridCol w="661394">
                  <a:extLst>
                    <a:ext uri="{9D8B030D-6E8A-4147-A177-3AD203B41FA5}">
                      <a16:colId xmlns:a16="http://schemas.microsoft.com/office/drawing/2014/main" val="360240420"/>
                    </a:ext>
                  </a:extLst>
                </a:gridCol>
                <a:gridCol w="661394">
                  <a:extLst>
                    <a:ext uri="{9D8B030D-6E8A-4147-A177-3AD203B41FA5}">
                      <a16:colId xmlns:a16="http://schemas.microsoft.com/office/drawing/2014/main" val="3384771234"/>
                    </a:ext>
                  </a:extLst>
                </a:gridCol>
                <a:gridCol w="661394">
                  <a:extLst>
                    <a:ext uri="{9D8B030D-6E8A-4147-A177-3AD203B41FA5}">
                      <a16:colId xmlns:a16="http://schemas.microsoft.com/office/drawing/2014/main" val="3175013539"/>
                    </a:ext>
                  </a:extLst>
                </a:gridCol>
              </a:tblGrid>
              <a:tr h="551438">
                <a:tc>
                  <a:txBody>
                    <a:bodyPr/>
                    <a:lstStyle/>
                    <a:p>
                      <a:pPr latinLnBrk="1"/>
                      <a:endParaRPr lang="ko-KR" altLang="en-US" sz="2500" dirty="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</a:endParaRPr>
                    </a:p>
                  </a:txBody>
                  <a:tcPr marL="126649" marR="126649" marT="63325" marB="63325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2500" dirty="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</a:endParaRPr>
                    </a:p>
                  </a:txBody>
                  <a:tcPr marL="126649" marR="126649" marT="63325" marB="63325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2500" dirty="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</a:endParaRPr>
                    </a:p>
                  </a:txBody>
                  <a:tcPr marL="126649" marR="126649" marT="63325" marB="63325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250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</a:endParaRPr>
                    </a:p>
                  </a:txBody>
                  <a:tcPr marL="126649" marR="126649" marT="63325" marB="63325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2500" dirty="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</a:endParaRPr>
                    </a:p>
                  </a:txBody>
                  <a:tcPr marL="126649" marR="126649" marT="63325" marB="63325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250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</a:endParaRPr>
                    </a:p>
                  </a:txBody>
                  <a:tcPr marL="126649" marR="126649" marT="63325" marB="63325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250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</a:endParaRPr>
                    </a:p>
                  </a:txBody>
                  <a:tcPr marL="126649" marR="126649" marT="63325" marB="63325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23458696"/>
                  </a:ext>
                </a:extLst>
              </a:tr>
              <a:tr h="551438">
                <a:tc>
                  <a:txBody>
                    <a:bodyPr/>
                    <a:lstStyle/>
                    <a:p>
                      <a:pPr latinLnBrk="1"/>
                      <a:endParaRPr lang="ko-KR" altLang="en-US" sz="250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</a:endParaRPr>
                    </a:p>
                  </a:txBody>
                  <a:tcPr marL="126649" marR="126649" marT="63325" marB="63325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250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</a:endParaRPr>
                    </a:p>
                  </a:txBody>
                  <a:tcPr marL="126649" marR="126649" marT="63325" marB="63325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250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</a:endParaRPr>
                    </a:p>
                  </a:txBody>
                  <a:tcPr marL="126649" marR="126649" marT="63325" marB="63325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250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</a:endParaRPr>
                    </a:p>
                  </a:txBody>
                  <a:tcPr marL="126649" marR="126649" marT="63325" marB="63325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2500" dirty="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</a:endParaRPr>
                    </a:p>
                  </a:txBody>
                  <a:tcPr marL="126649" marR="126649" marT="63325" marB="63325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2500" dirty="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</a:endParaRPr>
                    </a:p>
                  </a:txBody>
                  <a:tcPr marL="126649" marR="126649" marT="63325" marB="63325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250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</a:endParaRPr>
                    </a:p>
                  </a:txBody>
                  <a:tcPr marL="126649" marR="126649" marT="63325" marB="63325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30129730"/>
                  </a:ext>
                </a:extLst>
              </a:tr>
              <a:tr h="551438">
                <a:tc>
                  <a:txBody>
                    <a:bodyPr/>
                    <a:lstStyle/>
                    <a:p>
                      <a:pPr latinLnBrk="1"/>
                      <a:endParaRPr lang="ko-KR" altLang="en-US" sz="250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</a:endParaRPr>
                    </a:p>
                  </a:txBody>
                  <a:tcPr marL="126649" marR="126649" marT="63325" marB="63325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2500" dirty="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</a:endParaRPr>
                    </a:p>
                  </a:txBody>
                  <a:tcPr marL="126649" marR="126649" marT="63325" marB="63325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250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</a:endParaRPr>
                    </a:p>
                  </a:txBody>
                  <a:tcPr marL="126649" marR="126649" marT="63325" marB="63325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250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</a:endParaRPr>
                    </a:p>
                  </a:txBody>
                  <a:tcPr marL="126649" marR="126649" marT="63325" marB="63325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250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</a:endParaRPr>
                    </a:p>
                  </a:txBody>
                  <a:tcPr marL="126649" marR="126649" marT="63325" marB="63325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2500" dirty="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</a:endParaRPr>
                    </a:p>
                  </a:txBody>
                  <a:tcPr marL="126649" marR="126649" marT="63325" marB="63325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2500" dirty="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</a:endParaRPr>
                    </a:p>
                  </a:txBody>
                  <a:tcPr marL="126649" marR="126649" marT="63325" marB="63325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35903404"/>
                  </a:ext>
                </a:extLst>
              </a:tr>
              <a:tr h="551438">
                <a:tc>
                  <a:txBody>
                    <a:bodyPr/>
                    <a:lstStyle/>
                    <a:p>
                      <a:pPr latinLnBrk="1"/>
                      <a:endParaRPr lang="ko-KR" altLang="en-US" sz="250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</a:endParaRPr>
                    </a:p>
                  </a:txBody>
                  <a:tcPr marL="126649" marR="126649" marT="63325" marB="63325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250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</a:endParaRPr>
                    </a:p>
                  </a:txBody>
                  <a:tcPr marL="126649" marR="126649" marT="63325" marB="63325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250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</a:endParaRPr>
                    </a:p>
                  </a:txBody>
                  <a:tcPr marL="126649" marR="126649" marT="63325" marB="63325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250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</a:endParaRPr>
                    </a:p>
                  </a:txBody>
                  <a:tcPr marL="126649" marR="126649" marT="63325" marB="63325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2500" dirty="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</a:endParaRPr>
                    </a:p>
                  </a:txBody>
                  <a:tcPr marL="126649" marR="126649" marT="63325" marB="63325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2500" dirty="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</a:endParaRPr>
                    </a:p>
                  </a:txBody>
                  <a:tcPr marL="126649" marR="126649" marT="63325" marB="63325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2500" dirty="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</a:endParaRPr>
                    </a:p>
                  </a:txBody>
                  <a:tcPr marL="126649" marR="126649" marT="63325" marB="63325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19572772"/>
                  </a:ext>
                </a:extLst>
              </a:tr>
              <a:tr h="551438">
                <a:tc>
                  <a:txBody>
                    <a:bodyPr/>
                    <a:lstStyle/>
                    <a:p>
                      <a:pPr latinLnBrk="1"/>
                      <a:endParaRPr lang="ko-KR" altLang="en-US" sz="250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</a:endParaRPr>
                    </a:p>
                  </a:txBody>
                  <a:tcPr marL="126649" marR="126649" marT="63325" marB="63325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250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</a:endParaRPr>
                    </a:p>
                  </a:txBody>
                  <a:tcPr marL="126649" marR="126649" marT="63325" marB="63325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2500" dirty="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</a:endParaRPr>
                    </a:p>
                  </a:txBody>
                  <a:tcPr marL="126649" marR="126649" marT="63325" marB="63325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250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</a:endParaRPr>
                    </a:p>
                  </a:txBody>
                  <a:tcPr marL="126649" marR="126649" marT="63325" marB="63325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2500" dirty="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</a:endParaRPr>
                    </a:p>
                  </a:txBody>
                  <a:tcPr marL="126649" marR="126649" marT="63325" marB="63325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250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</a:endParaRPr>
                    </a:p>
                  </a:txBody>
                  <a:tcPr marL="126649" marR="126649" marT="63325" marB="63325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2500" dirty="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</a:endParaRPr>
                    </a:p>
                  </a:txBody>
                  <a:tcPr marL="126649" marR="126649" marT="63325" marB="63325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05235065"/>
                  </a:ext>
                </a:extLst>
              </a:tr>
              <a:tr h="551438">
                <a:tc>
                  <a:txBody>
                    <a:bodyPr/>
                    <a:lstStyle/>
                    <a:p>
                      <a:pPr latinLnBrk="1"/>
                      <a:endParaRPr lang="ko-KR" altLang="en-US" sz="250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</a:endParaRPr>
                    </a:p>
                  </a:txBody>
                  <a:tcPr marL="126649" marR="126649" marT="63325" marB="63325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250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</a:endParaRPr>
                    </a:p>
                  </a:txBody>
                  <a:tcPr marL="126649" marR="126649" marT="63325" marB="63325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250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</a:endParaRPr>
                    </a:p>
                  </a:txBody>
                  <a:tcPr marL="126649" marR="126649" marT="63325" marB="63325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250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</a:endParaRPr>
                    </a:p>
                  </a:txBody>
                  <a:tcPr marL="126649" marR="126649" marT="63325" marB="63325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250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</a:endParaRPr>
                    </a:p>
                  </a:txBody>
                  <a:tcPr marL="126649" marR="126649" marT="63325" marB="63325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250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</a:endParaRPr>
                    </a:p>
                  </a:txBody>
                  <a:tcPr marL="126649" marR="126649" marT="63325" marB="63325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2500" dirty="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</a:endParaRPr>
                    </a:p>
                  </a:txBody>
                  <a:tcPr marL="126649" marR="126649" marT="63325" marB="63325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7676690"/>
                  </a:ext>
                </a:extLst>
              </a:tr>
              <a:tr h="551438">
                <a:tc>
                  <a:txBody>
                    <a:bodyPr/>
                    <a:lstStyle/>
                    <a:p>
                      <a:pPr latinLnBrk="1"/>
                      <a:endParaRPr lang="ko-KR" altLang="en-US" sz="250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</a:endParaRPr>
                    </a:p>
                  </a:txBody>
                  <a:tcPr marL="126649" marR="126649" marT="63325" marB="63325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250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</a:endParaRPr>
                    </a:p>
                  </a:txBody>
                  <a:tcPr marL="126649" marR="126649" marT="63325" marB="63325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250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</a:endParaRPr>
                    </a:p>
                  </a:txBody>
                  <a:tcPr marL="126649" marR="126649" marT="63325" marB="63325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2500" dirty="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</a:endParaRPr>
                    </a:p>
                  </a:txBody>
                  <a:tcPr marL="126649" marR="126649" marT="63325" marB="63325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250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</a:endParaRPr>
                    </a:p>
                  </a:txBody>
                  <a:tcPr marL="126649" marR="126649" marT="63325" marB="63325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2500" dirty="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</a:endParaRPr>
                    </a:p>
                  </a:txBody>
                  <a:tcPr marL="126649" marR="126649" marT="63325" marB="63325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2500" dirty="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</a:endParaRPr>
                    </a:p>
                  </a:txBody>
                  <a:tcPr marL="126649" marR="126649" marT="63325" marB="63325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56639261"/>
                  </a:ext>
                </a:extLst>
              </a:tr>
            </a:tbl>
          </a:graphicData>
        </a:graphic>
      </p:graphicFrame>
      <p:sp>
        <p:nvSpPr>
          <p:cNvPr id="4" name="직사각형 3">
            <a:extLst>
              <a:ext uri="{FF2B5EF4-FFF2-40B4-BE49-F238E27FC236}">
                <a16:creationId xmlns:a16="http://schemas.microsoft.com/office/drawing/2014/main" id="{0A96F3ED-7787-6765-6FC4-CB77BFFA9849}"/>
              </a:ext>
            </a:extLst>
          </p:cNvPr>
          <p:cNvSpPr/>
          <p:nvPr/>
        </p:nvSpPr>
        <p:spPr>
          <a:xfrm>
            <a:off x="3343114" y="2094394"/>
            <a:ext cx="446566" cy="506742"/>
          </a:xfrm>
          <a:prstGeom prst="rect">
            <a:avLst/>
          </a:prstGeom>
          <a:noFill/>
          <a:ln w="3810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CE970FA9-E94A-3079-B151-931BBDB18EDE}"/>
              </a:ext>
            </a:extLst>
          </p:cNvPr>
          <p:cNvSpPr/>
          <p:nvPr/>
        </p:nvSpPr>
        <p:spPr>
          <a:xfrm>
            <a:off x="762000" y="3052633"/>
            <a:ext cx="1666240" cy="2733040"/>
          </a:xfrm>
          <a:prstGeom prst="rect">
            <a:avLst/>
          </a:prstGeom>
          <a:noFill/>
          <a:ln w="3810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A6D0DD36-9FD8-6B68-1CAB-1FAF5DC5085A}"/>
              </a:ext>
            </a:extLst>
          </p:cNvPr>
          <p:cNvSpPr/>
          <p:nvPr/>
        </p:nvSpPr>
        <p:spPr>
          <a:xfrm>
            <a:off x="2733276" y="2473513"/>
            <a:ext cx="2031763" cy="2560320"/>
          </a:xfrm>
          <a:prstGeom prst="rect">
            <a:avLst/>
          </a:prstGeom>
          <a:noFill/>
          <a:ln w="3810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1E195A99-05DC-C8F6-4B06-9E1D7A7014B2}"/>
              </a:ext>
            </a:extLst>
          </p:cNvPr>
          <p:cNvSpPr/>
          <p:nvPr/>
        </p:nvSpPr>
        <p:spPr>
          <a:xfrm>
            <a:off x="4285887" y="3986546"/>
            <a:ext cx="601073" cy="1341927"/>
          </a:xfrm>
          <a:prstGeom prst="rect">
            <a:avLst/>
          </a:prstGeom>
          <a:noFill/>
          <a:ln w="3810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2" name="그래픽 11" descr="하트">
            <a:extLst>
              <a:ext uri="{FF2B5EF4-FFF2-40B4-BE49-F238E27FC236}">
                <a16:creationId xmlns:a16="http://schemas.microsoft.com/office/drawing/2014/main" id="{424B34AC-C73F-C9D4-4280-789FABAF3E7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387484" y="3780264"/>
            <a:ext cx="457200" cy="457200"/>
          </a:xfrm>
          <a:prstGeom prst="rect">
            <a:avLst/>
          </a:prstGeom>
        </p:spPr>
      </p:pic>
      <p:pic>
        <p:nvPicPr>
          <p:cNvPr id="21" name="그림 20">
            <a:extLst>
              <a:ext uri="{FF2B5EF4-FFF2-40B4-BE49-F238E27FC236}">
                <a16:creationId xmlns:a16="http://schemas.microsoft.com/office/drawing/2014/main" id="{E13F0447-C12B-C37E-002A-96DB23E7AE5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66421" y="2094394"/>
            <a:ext cx="4249077" cy="1611257"/>
          </a:xfrm>
          <a:prstGeom prst="rect">
            <a:avLst/>
          </a:prstGeom>
          <a:ln w="19050">
            <a:solidFill>
              <a:schemeClr val="accent2"/>
            </a:solidFill>
          </a:ln>
        </p:spPr>
      </p:pic>
      <p:pic>
        <p:nvPicPr>
          <p:cNvPr id="23" name="그림 22">
            <a:extLst>
              <a:ext uri="{FF2B5EF4-FFF2-40B4-BE49-F238E27FC236}">
                <a16:creationId xmlns:a16="http://schemas.microsoft.com/office/drawing/2014/main" id="{B3BA7715-7706-8BEB-A025-757D62B6954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66421" y="3867005"/>
            <a:ext cx="2287503" cy="2343295"/>
          </a:xfrm>
          <a:prstGeom prst="rect">
            <a:avLst/>
          </a:prstGeom>
          <a:ln w="28575">
            <a:solidFill>
              <a:schemeClr val="accent6"/>
            </a:solidFill>
          </a:ln>
        </p:spPr>
      </p:pic>
      <p:sp>
        <p:nvSpPr>
          <p:cNvPr id="28" name="설명선: 굽은 선 27">
            <a:extLst>
              <a:ext uri="{FF2B5EF4-FFF2-40B4-BE49-F238E27FC236}">
                <a16:creationId xmlns:a16="http://schemas.microsoft.com/office/drawing/2014/main" id="{EA157A99-B0E8-DD43-A4D0-8F6283076CE6}"/>
              </a:ext>
            </a:extLst>
          </p:cNvPr>
          <p:cNvSpPr/>
          <p:nvPr/>
        </p:nvSpPr>
        <p:spPr>
          <a:xfrm>
            <a:off x="7938896" y="3914630"/>
            <a:ext cx="3834196" cy="2524270"/>
          </a:xfrm>
          <a:prstGeom prst="borderCallout2">
            <a:avLst>
              <a:gd name="adj1" fmla="val 18267"/>
              <a:gd name="adj2" fmla="val -4809"/>
              <a:gd name="adj3" fmla="val 20199"/>
              <a:gd name="adj4" fmla="val -16813"/>
              <a:gd name="adj5" fmla="val 57144"/>
              <a:gd name="adj6" fmla="val -31131"/>
            </a:avLst>
          </a:prstGeom>
          <a:solidFill>
            <a:schemeClr val="tx1"/>
          </a:solidFill>
          <a:ln>
            <a:headEnd type="none" w="med" len="med"/>
            <a:tailEnd type="arrow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altLang="ko-KR" sz="11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0.65</a:t>
            </a:r>
            <a:r>
              <a:rPr lang="ko-KR" altLang="en-US" sz="11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는 </a:t>
            </a:r>
            <a:r>
              <a:rPr lang="en-US" altLang="ko-KR" sz="11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0.571~0.714 </a:t>
            </a:r>
            <a:r>
              <a:rPr lang="ko-KR" altLang="en-US" sz="11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구간</a:t>
            </a:r>
            <a:r>
              <a:rPr lang="en-US" altLang="ko-KR" sz="11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(4</a:t>
            </a:r>
            <a:r>
              <a:rPr lang="ko-KR" altLang="en-US" sz="11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번째 칸</a:t>
            </a:r>
            <a:r>
              <a:rPr lang="en-US" altLang="ko-KR" sz="11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 </a:t>
            </a:r>
            <a:r>
              <a:rPr lang="ko-KR" altLang="en-US" sz="11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안에 들어가므로 </a:t>
            </a:r>
            <a:r>
              <a:rPr lang="en-US" altLang="ko-KR" sz="11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col = 4</a:t>
            </a:r>
            <a:r>
              <a:rPr lang="ko-KR" altLang="en-US" sz="11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，</a:t>
            </a:r>
            <a:r>
              <a:rPr lang="en-US" altLang="ko-KR" sz="1100" dirty="0">
                <a:latin typeface="D2Coding" panose="020B0609020101020101" pitchFamily="49" charset="-127"/>
                <a:ea typeface="D2Coding" panose="020B0609020101020101" pitchFamily="49" charset="-127"/>
              </a:rPr>
              <a:t>round(0.65×7)</a:t>
            </a:r>
            <a:r>
              <a:rPr lang="ko-KR" altLang="en-US" sz="1100" dirty="0">
                <a:latin typeface="D2Coding" panose="020B0609020101020101" pitchFamily="49" charset="-127"/>
                <a:ea typeface="D2Coding" panose="020B0609020101020101" pitchFamily="49" charset="-127"/>
              </a:rPr>
              <a:t>을</a:t>
            </a:r>
            <a:r>
              <a:rPr lang="en-US" altLang="ko-KR" sz="11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100" dirty="0">
                <a:latin typeface="D2Coding" panose="020B0609020101020101" pitchFamily="49" charset="-127"/>
                <a:ea typeface="D2Coding" panose="020B0609020101020101" pitchFamily="49" charset="-127"/>
              </a:rPr>
              <a:t>하면 </a:t>
            </a:r>
            <a:r>
              <a:rPr lang="en-US" altLang="ko-KR" sz="1100" dirty="0">
                <a:latin typeface="D2Coding" panose="020B0609020101020101" pitchFamily="49" charset="-127"/>
                <a:ea typeface="D2Coding" panose="020B0609020101020101" pitchFamily="49" charset="-127"/>
              </a:rPr>
              <a:t>5</a:t>
            </a:r>
            <a:r>
              <a:rPr lang="ko-KR" altLang="en-US" sz="1100" dirty="0">
                <a:latin typeface="D2Coding" panose="020B0609020101020101" pitchFamily="49" charset="-127"/>
                <a:ea typeface="D2Coding" panose="020B0609020101020101" pitchFamily="49" charset="-127"/>
              </a:rPr>
              <a:t>가 되어 </a:t>
            </a:r>
            <a:r>
              <a:rPr lang="en-US" altLang="ko-KR" sz="1100" dirty="0">
                <a:latin typeface="D2Coding" panose="020B0609020101020101" pitchFamily="49" charset="-127"/>
                <a:ea typeface="D2Coding" panose="020B0609020101020101" pitchFamily="49" charset="-127"/>
              </a:rPr>
              <a:t>col 5</a:t>
            </a:r>
            <a:r>
              <a:rPr lang="ko-KR" altLang="en-US" sz="1100" dirty="0">
                <a:latin typeface="D2Coding" panose="020B0609020101020101" pitchFamily="49" charset="-127"/>
                <a:ea typeface="D2Coding" panose="020B0609020101020101" pitchFamily="49" charset="-127"/>
              </a:rPr>
              <a:t>번으로 잘못 배정 따라서</a:t>
            </a:r>
            <a:r>
              <a:rPr lang="en-US" altLang="ko-KR" sz="1100" dirty="0">
                <a:latin typeface="D2Coding" panose="020B0609020101020101" pitchFamily="49" charset="-127"/>
                <a:ea typeface="D2Coding" panose="020B0609020101020101" pitchFamily="49" charset="-127"/>
              </a:rPr>
              <a:t>floor(0.65×7)=floor(4.55)=4 → col4</a:t>
            </a:r>
            <a:r>
              <a:rPr lang="ko-KR" altLang="en-US" sz="1100" dirty="0">
                <a:latin typeface="D2Coding" panose="020B0609020101020101" pitchFamily="49" charset="-127"/>
                <a:ea typeface="D2Coding" panose="020B0609020101020101" pitchFamily="49" charset="-127"/>
              </a:rPr>
              <a:t>로 배정</a:t>
            </a:r>
            <a:r>
              <a:rPr lang="en-US" altLang="ko-KR" sz="11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sz="1100" dirty="0">
                <a:latin typeface="D2Coding" panose="020B0609020101020101" pitchFamily="49" charset="-127"/>
                <a:ea typeface="D2Coding" panose="020B0609020101020101" pitchFamily="49" charset="-127"/>
              </a:rPr>
              <a:t>분류 학습을 위해</a:t>
            </a:r>
            <a:r>
              <a:rPr lang="en-US" altLang="ko-KR" sz="11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altLang="ko-KR" sz="11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altLang="ko-KR" sz="1100" dirty="0">
                <a:latin typeface="D2Coding" panose="020B0609020101020101" pitchFamily="49" charset="-127"/>
                <a:ea typeface="D2Coding" panose="020B0609020101020101" pitchFamily="49" charset="-127"/>
              </a:rPr>
              <a:t>floor()</a:t>
            </a:r>
            <a:r>
              <a:rPr lang="ko-KR" altLang="en-US" sz="1100" dirty="0">
                <a:latin typeface="D2Coding" panose="020B0609020101020101" pitchFamily="49" charset="-127"/>
                <a:ea typeface="D2Coding" panose="020B0609020101020101" pitchFamily="49" charset="-127"/>
              </a:rPr>
              <a:t>가 정수부</a:t>
            </a:r>
            <a:r>
              <a:rPr lang="en-US" altLang="ko-KR" sz="11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sz="1100" dirty="0">
                <a:latin typeface="D2Coding" panose="020B0609020101020101" pitchFamily="49" charset="-127"/>
                <a:ea typeface="D2Coding" panose="020B0609020101020101" pitchFamily="49" charset="-127"/>
              </a:rPr>
              <a:t>셀 위치</a:t>
            </a:r>
            <a:r>
              <a:rPr lang="en-US" altLang="ko-KR" sz="11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r>
              <a:rPr lang="ko-KR" altLang="en-US" sz="1100" dirty="0">
                <a:latin typeface="D2Coding" panose="020B0609020101020101" pitchFamily="49" charset="-127"/>
                <a:ea typeface="D2Coding" panose="020B0609020101020101" pitchFamily="49" charset="-127"/>
              </a:rPr>
              <a:t>를</a:t>
            </a:r>
            <a:r>
              <a:rPr lang="en-US" altLang="ko-KR" sz="1100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sz="1100" dirty="0">
                <a:latin typeface="D2Coding" panose="020B0609020101020101" pitchFamily="49" charset="-127"/>
                <a:ea typeface="D2Coding" panose="020B0609020101020101" pitchFamily="49" charset="-127"/>
              </a:rPr>
              <a:t>나머지 소수부가 셀 안에서의 상대 위치를 결정</a:t>
            </a:r>
            <a:endParaRPr lang="en-US" altLang="ko-KR" sz="11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altLang="ko-KR" sz="11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ko-KR" altLang="en-US" sz="1100" dirty="0">
                <a:latin typeface="D2Coding" panose="020B0609020101020101" pitchFamily="49" charset="-127"/>
                <a:ea typeface="D2Coding" panose="020B0609020101020101" pitchFamily="49" charset="-127"/>
              </a:rPr>
              <a:t>이 두 값</a:t>
            </a:r>
            <a:r>
              <a:rPr lang="en-US" altLang="ko-KR" sz="11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sz="1100" dirty="0">
                <a:latin typeface="D2Coding" panose="020B0609020101020101" pitchFamily="49" charset="-127"/>
                <a:ea typeface="D2Coding" panose="020B0609020101020101" pitchFamily="49" charset="-127"/>
              </a:rPr>
              <a:t>정수부</a:t>
            </a:r>
            <a:r>
              <a:rPr lang="en-US" altLang="ko-KR" sz="1100" dirty="0">
                <a:latin typeface="D2Coding" panose="020B0609020101020101" pitchFamily="49" charset="-127"/>
                <a:ea typeface="D2Coding" panose="020B0609020101020101" pitchFamily="49" charset="-127"/>
              </a:rPr>
              <a:t>/</a:t>
            </a:r>
            <a:r>
              <a:rPr lang="ko-KR" altLang="en-US" sz="11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소수부</a:t>
            </a:r>
            <a:r>
              <a:rPr lang="en-US" altLang="ko-KR" sz="11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r>
              <a:rPr lang="ko-KR" altLang="en-US" sz="1100" dirty="0">
                <a:latin typeface="D2Coding" panose="020B0609020101020101" pitchFamily="49" charset="-127"/>
                <a:ea typeface="D2Coding" panose="020B0609020101020101" pitchFamily="49" charset="-127"/>
              </a:rPr>
              <a:t>을 분리하면 신경망이 </a:t>
            </a:r>
            <a:r>
              <a:rPr lang="en-US" altLang="ko-KR" sz="1100" dirty="0">
                <a:latin typeface="D2Coding" panose="020B0609020101020101" pitchFamily="49" charset="-127"/>
                <a:ea typeface="D2Coding" panose="020B0609020101020101" pitchFamily="49" charset="-127"/>
              </a:rPr>
              <a:t>＂</a:t>
            </a:r>
            <a:r>
              <a:rPr lang="ko-KR" altLang="en-US" sz="1100" dirty="0">
                <a:latin typeface="D2Coding" panose="020B0609020101020101" pitchFamily="49" charset="-127"/>
                <a:ea typeface="D2Coding" panose="020B0609020101020101" pitchFamily="49" charset="-127"/>
              </a:rPr>
              <a:t>이 객체가 대략 어느 구역에　있는지</a:t>
            </a:r>
            <a:r>
              <a:rPr lang="en-US" altLang="ko-KR" sz="1100" dirty="0">
                <a:latin typeface="D2Coding" panose="020B0609020101020101" pitchFamily="49" charset="-127"/>
                <a:ea typeface="D2Coding" panose="020B0609020101020101" pitchFamily="49" charset="-127"/>
              </a:rPr>
              <a:t>＂(</a:t>
            </a:r>
            <a:r>
              <a:rPr lang="ko-KR" altLang="en-US" sz="1100" dirty="0">
                <a:latin typeface="D2Coding" panose="020B0609020101020101" pitchFamily="49" charset="-127"/>
                <a:ea typeface="D2Coding" panose="020B0609020101020101" pitchFamily="49" charset="-127"/>
              </a:rPr>
              <a:t>정수부</a:t>
            </a:r>
            <a:r>
              <a:rPr lang="en-US" altLang="ko-KR" sz="1100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sz="1100" dirty="0">
                <a:latin typeface="D2Coding" panose="020B0609020101020101" pitchFamily="49" charset="-127"/>
                <a:ea typeface="D2Coding" panose="020B0609020101020101" pitchFamily="49" charset="-127"/>
              </a:rPr>
              <a:t>분류</a:t>
            </a:r>
            <a:r>
              <a:rPr lang="en-US" altLang="ko-KR" sz="11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r>
              <a:rPr lang="ko-KR" altLang="en-US" sz="1100" dirty="0">
                <a:latin typeface="D2Coding" panose="020B0609020101020101" pitchFamily="49" charset="-127"/>
                <a:ea typeface="D2Coding" panose="020B0609020101020101" pitchFamily="49" charset="-127"/>
              </a:rPr>
              <a:t>와 </a:t>
            </a:r>
            <a:r>
              <a:rPr lang="en-US" altLang="ko-KR" sz="1100" dirty="0">
                <a:latin typeface="D2Coding" panose="020B0609020101020101" pitchFamily="49" charset="-127"/>
                <a:ea typeface="D2Coding" panose="020B0609020101020101" pitchFamily="49" charset="-127"/>
              </a:rPr>
              <a:t>＂</a:t>
            </a:r>
            <a:r>
              <a:rPr lang="ko-KR" altLang="en-US" sz="1100" dirty="0">
                <a:latin typeface="D2Coding" panose="020B0609020101020101" pitchFamily="49" charset="-127"/>
                <a:ea typeface="D2Coding" panose="020B0609020101020101" pitchFamily="49" charset="-127"/>
              </a:rPr>
              <a:t>그 구역 안에서 정확히 어디인지</a:t>
            </a:r>
            <a:r>
              <a:rPr lang="en-US" altLang="ko-KR" sz="1100" dirty="0">
                <a:latin typeface="D2Coding" panose="020B0609020101020101" pitchFamily="49" charset="-127"/>
                <a:ea typeface="D2Coding" panose="020B0609020101020101" pitchFamily="49" charset="-127"/>
              </a:rPr>
              <a:t>＂(</a:t>
            </a:r>
            <a:r>
              <a:rPr lang="ko-KR" altLang="en-US" sz="11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소수부</a:t>
            </a:r>
            <a:r>
              <a:rPr lang="en-US" altLang="ko-KR" sz="1100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sz="1100" dirty="0">
                <a:latin typeface="D2Coding" panose="020B0609020101020101" pitchFamily="49" charset="-127"/>
                <a:ea typeface="D2Coding" panose="020B0609020101020101" pitchFamily="49" charset="-127"/>
              </a:rPr>
              <a:t>회귀</a:t>
            </a:r>
            <a:r>
              <a:rPr lang="en-US" altLang="ko-KR" sz="11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r>
              <a:rPr lang="ko-KR" altLang="en-US" sz="1100" dirty="0">
                <a:latin typeface="D2Coding" panose="020B0609020101020101" pitchFamily="49" charset="-127"/>
                <a:ea typeface="D2Coding" panose="020B0609020101020101" pitchFamily="49" charset="-127"/>
              </a:rPr>
              <a:t>를 나눠서 학습이 가능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1387CB6-C5D3-86D7-489B-2AD0CA2AD9AE}"/>
              </a:ext>
            </a:extLst>
          </p:cNvPr>
          <p:cNvSpPr txBox="1"/>
          <p:nvPr/>
        </p:nvSpPr>
        <p:spPr>
          <a:xfrm>
            <a:off x="569049" y="1171749"/>
            <a:ext cx="11091902" cy="7056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이미지 전체 가로 폭을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0~1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로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정규화했을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때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메시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바운딩박스의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중심이 </a:t>
            </a:r>
            <a:r>
              <a:rPr lang="ko-KR" altLang="en-US" sz="1400" b="1" dirty="0">
                <a:latin typeface="D2Coding" panose="020B0609020101020101" pitchFamily="49" charset="-127"/>
                <a:ea typeface="D2Coding" panose="020B0609020101020101" pitchFamily="49" charset="-127"/>
              </a:rPr>
              <a:t>가로 방향으로 </a:t>
            </a:r>
            <a:r>
              <a:rPr lang="en-US" altLang="ko-KR" sz="1400" b="1" dirty="0">
                <a:latin typeface="D2Coding" panose="020B0609020101020101" pitchFamily="49" charset="-127"/>
                <a:ea typeface="D2Coding" panose="020B0609020101020101" pitchFamily="49" charset="-127"/>
              </a:rPr>
              <a:t>65% </a:t>
            </a:r>
            <a:r>
              <a:rPr lang="ko-KR" altLang="en-US" sz="1400" b="1" dirty="0">
                <a:latin typeface="D2Coding" panose="020B0609020101020101" pitchFamily="49" charset="-127"/>
                <a:ea typeface="D2Coding" panose="020B0609020101020101" pitchFamily="49" charset="-127"/>
              </a:rPr>
              <a:t>지점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에 있다는 뜻으로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floor(x × S)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공식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(S=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그리드 크기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은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YOLO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라벨링의 가장 핵심적인 연산으로 회귀와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분류 학습</a:t>
            </a:r>
          </a:p>
        </p:txBody>
      </p:sp>
      <p:sp>
        <p:nvSpPr>
          <p:cNvPr id="32" name="슬라이드 번호 개체 틀 3">
            <a:extLst>
              <a:ext uri="{FF2B5EF4-FFF2-40B4-BE49-F238E27FC236}">
                <a16:creationId xmlns:a16="http://schemas.microsoft.com/office/drawing/2014/main" id="{933D221F-B0AF-4042-D40A-43EE85A83E03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sz="1400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23</a:t>
            </a:fld>
            <a:endParaRPr lang="en-US" sz="1400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4565057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F699D0-D2A4-9077-3BB6-E3F9597C76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그림 23">
            <a:extLst>
              <a:ext uri="{FF2B5EF4-FFF2-40B4-BE49-F238E27FC236}">
                <a16:creationId xmlns:a16="http://schemas.microsoft.com/office/drawing/2014/main" id="{93941651-506B-BBF3-4C13-AF6F09FCA3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2166" y="1246246"/>
            <a:ext cx="4523551" cy="1554104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3" name="제목 1">
            <a:extLst>
              <a:ext uri="{FF2B5EF4-FFF2-40B4-BE49-F238E27FC236}">
                <a16:creationId xmlns:a16="http://schemas.microsoft.com/office/drawing/2014/main" id="{FB686837-86E7-2112-CB65-28DD34497255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4629755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Yolo</a:t>
            </a:r>
            <a:endParaRPr lang="ko-KR" altLang="en-US" sz="2800" cap="none" dirty="0"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40" name="제목 1">
            <a:extLst>
              <a:ext uri="{FF2B5EF4-FFF2-40B4-BE49-F238E27FC236}">
                <a16:creationId xmlns:a16="http://schemas.microsoft.com/office/drawing/2014/main" id="{06A01AEC-5DC5-FD43-A9CC-52619287BC6D}"/>
              </a:ext>
            </a:extLst>
          </p:cNvPr>
          <p:cNvSpPr txBox="1">
            <a:spLocks/>
          </p:cNvSpPr>
          <p:nvPr/>
        </p:nvSpPr>
        <p:spPr>
          <a:xfrm>
            <a:off x="7031196" y="647700"/>
            <a:ext cx="4629755" cy="60072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r"/>
            <a:r>
              <a:rPr lang="en-US" altLang="ko-KR" sz="2000" cap="none" dirty="0"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4. </a:t>
            </a:r>
            <a:r>
              <a:rPr lang="ko-KR" altLang="en-US" sz="2000" cap="none" dirty="0"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절대 위치 </a:t>
            </a:r>
            <a:r>
              <a:rPr lang="en-US" altLang="ko-KR" sz="2000" cap="none" dirty="0"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  <a:sym typeface="Wingdings" panose="05000000000000000000" pitchFamily="2" charset="2"/>
              </a:rPr>
              <a:t> </a:t>
            </a:r>
            <a:r>
              <a:rPr lang="ko-KR" altLang="en-US" sz="2000" cap="none" dirty="0"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  <a:sym typeface="Wingdings" panose="05000000000000000000" pitchFamily="2" charset="2"/>
              </a:rPr>
              <a:t>상대 위치</a:t>
            </a:r>
            <a:endParaRPr lang="ko-KR" altLang="en-US" sz="2000" cap="none" dirty="0"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8D19530D-06C7-C04F-2FC4-3B38223D65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693" y="2677780"/>
            <a:ext cx="4629756" cy="3860073"/>
          </a:xfrm>
          <a:prstGeom prst="rect">
            <a:avLst/>
          </a:prstGeom>
          <a:ln w="38100">
            <a:solidFill>
              <a:srgbClr val="FF0000"/>
            </a:solidFill>
          </a:ln>
        </p:spPr>
      </p:pic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A55B3B0F-5D31-A37B-80EA-45C063AFE74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23291773"/>
              </p:ext>
            </p:extLst>
          </p:nvPr>
        </p:nvGraphicFramePr>
        <p:xfrm>
          <a:off x="651691" y="2677779"/>
          <a:ext cx="4629758" cy="386006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61394">
                  <a:extLst>
                    <a:ext uri="{9D8B030D-6E8A-4147-A177-3AD203B41FA5}">
                      <a16:colId xmlns:a16="http://schemas.microsoft.com/office/drawing/2014/main" val="611974878"/>
                    </a:ext>
                  </a:extLst>
                </a:gridCol>
                <a:gridCol w="661394">
                  <a:extLst>
                    <a:ext uri="{9D8B030D-6E8A-4147-A177-3AD203B41FA5}">
                      <a16:colId xmlns:a16="http://schemas.microsoft.com/office/drawing/2014/main" val="646087785"/>
                    </a:ext>
                  </a:extLst>
                </a:gridCol>
                <a:gridCol w="661394">
                  <a:extLst>
                    <a:ext uri="{9D8B030D-6E8A-4147-A177-3AD203B41FA5}">
                      <a16:colId xmlns:a16="http://schemas.microsoft.com/office/drawing/2014/main" val="3997694898"/>
                    </a:ext>
                  </a:extLst>
                </a:gridCol>
                <a:gridCol w="661394">
                  <a:extLst>
                    <a:ext uri="{9D8B030D-6E8A-4147-A177-3AD203B41FA5}">
                      <a16:colId xmlns:a16="http://schemas.microsoft.com/office/drawing/2014/main" val="3851113890"/>
                    </a:ext>
                  </a:extLst>
                </a:gridCol>
                <a:gridCol w="661394">
                  <a:extLst>
                    <a:ext uri="{9D8B030D-6E8A-4147-A177-3AD203B41FA5}">
                      <a16:colId xmlns:a16="http://schemas.microsoft.com/office/drawing/2014/main" val="360240420"/>
                    </a:ext>
                  </a:extLst>
                </a:gridCol>
                <a:gridCol w="661394">
                  <a:extLst>
                    <a:ext uri="{9D8B030D-6E8A-4147-A177-3AD203B41FA5}">
                      <a16:colId xmlns:a16="http://schemas.microsoft.com/office/drawing/2014/main" val="3384771234"/>
                    </a:ext>
                  </a:extLst>
                </a:gridCol>
                <a:gridCol w="661394">
                  <a:extLst>
                    <a:ext uri="{9D8B030D-6E8A-4147-A177-3AD203B41FA5}">
                      <a16:colId xmlns:a16="http://schemas.microsoft.com/office/drawing/2014/main" val="3175013539"/>
                    </a:ext>
                  </a:extLst>
                </a:gridCol>
              </a:tblGrid>
              <a:tr h="551438">
                <a:tc>
                  <a:txBody>
                    <a:bodyPr/>
                    <a:lstStyle/>
                    <a:p>
                      <a:pPr latinLnBrk="1"/>
                      <a:endParaRPr lang="ko-KR" altLang="en-US" sz="2500" dirty="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</a:endParaRPr>
                    </a:p>
                  </a:txBody>
                  <a:tcPr marL="126649" marR="126649" marT="63325" marB="63325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2500" dirty="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</a:endParaRPr>
                    </a:p>
                  </a:txBody>
                  <a:tcPr marL="126649" marR="126649" marT="63325" marB="63325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2500" dirty="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</a:endParaRPr>
                    </a:p>
                  </a:txBody>
                  <a:tcPr marL="126649" marR="126649" marT="63325" marB="63325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250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</a:endParaRPr>
                    </a:p>
                  </a:txBody>
                  <a:tcPr marL="126649" marR="126649" marT="63325" marB="63325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2500" dirty="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</a:endParaRPr>
                    </a:p>
                  </a:txBody>
                  <a:tcPr marL="126649" marR="126649" marT="63325" marB="63325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250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</a:endParaRPr>
                    </a:p>
                  </a:txBody>
                  <a:tcPr marL="126649" marR="126649" marT="63325" marB="63325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250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</a:endParaRPr>
                    </a:p>
                  </a:txBody>
                  <a:tcPr marL="126649" marR="126649" marT="63325" marB="63325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23458696"/>
                  </a:ext>
                </a:extLst>
              </a:tr>
              <a:tr h="551438">
                <a:tc>
                  <a:txBody>
                    <a:bodyPr/>
                    <a:lstStyle/>
                    <a:p>
                      <a:pPr latinLnBrk="1"/>
                      <a:endParaRPr lang="ko-KR" altLang="en-US" sz="250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</a:endParaRPr>
                    </a:p>
                  </a:txBody>
                  <a:tcPr marL="126649" marR="126649" marT="63325" marB="63325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250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</a:endParaRPr>
                    </a:p>
                  </a:txBody>
                  <a:tcPr marL="126649" marR="126649" marT="63325" marB="63325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250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</a:endParaRPr>
                    </a:p>
                  </a:txBody>
                  <a:tcPr marL="126649" marR="126649" marT="63325" marB="63325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250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</a:endParaRPr>
                    </a:p>
                  </a:txBody>
                  <a:tcPr marL="126649" marR="126649" marT="63325" marB="63325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2500" dirty="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</a:endParaRPr>
                    </a:p>
                  </a:txBody>
                  <a:tcPr marL="126649" marR="126649" marT="63325" marB="63325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2500" dirty="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</a:endParaRPr>
                    </a:p>
                  </a:txBody>
                  <a:tcPr marL="126649" marR="126649" marT="63325" marB="63325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250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</a:endParaRPr>
                    </a:p>
                  </a:txBody>
                  <a:tcPr marL="126649" marR="126649" marT="63325" marB="63325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30129730"/>
                  </a:ext>
                </a:extLst>
              </a:tr>
              <a:tr h="551438">
                <a:tc>
                  <a:txBody>
                    <a:bodyPr/>
                    <a:lstStyle/>
                    <a:p>
                      <a:pPr latinLnBrk="1"/>
                      <a:endParaRPr lang="ko-KR" altLang="en-US" sz="250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</a:endParaRPr>
                    </a:p>
                  </a:txBody>
                  <a:tcPr marL="126649" marR="126649" marT="63325" marB="63325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2500" dirty="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</a:endParaRPr>
                    </a:p>
                  </a:txBody>
                  <a:tcPr marL="126649" marR="126649" marT="63325" marB="63325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250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</a:endParaRPr>
                    </a:p>
                  </a:txBody>
                  <a:tcPr marL="126649" marR="126649" marT="63325" marB="63325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250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</a:endParaRPr>
                    </a:p>
                  </a:txBody>
                  <a:tcPr marL="126649" marR="126649" marT="63325" marB="63325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250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</a:endParaRPr>
                    </a:p>
                  </a:txBody>
                  <a:tcPr marL="126649" marR="126649" marT="63325" marB="63325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2500" dirty="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</a:endParaRPr>
                    </a:p>
                  </a:txBody>
                  <a:tcPr marL="126649" marR="126649" marT="63325" marB="63325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2500" dirty="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</a:endParaRPr>
                    </a:p>
                  </a:txBody>
                  <a:tcPr marL="126649" marR="126649" marT="63325" marB="63325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35903404"/>
                  </a:ext>
                </a:extLst>
              </a:tr>
              <a:tr h="551438">
                <a:tc>
                  <a:txBody>
                    <a:bodyPr/>
                    <a:lstStyle/>
                    <a:p>
                      <a:pPr latinLnBrk="1"/>
                      <a:endParaRPr lang="ko-KR" altLang="en-US" sz="250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</a:endParaRPr>
                    </a:p>
                  </a:txBody>
                  <a:tcPr marL="126649" marR="126649" marT="63325" marB="63325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250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</a:endParaRPr>
                    </a:p>
                  </a:txBody>
                  <a:tcPr marL="126649" marR="126649" marT="63325" marB="63325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250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</a:endParaRPr>
                    </a:p>
                  </a:txBody>
                  <a:tcPr marL="126649" marR="126649" marT="63325" marB="63325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250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</a:endParaRPr>
                    </a:p>
                  </a:txBody>
                  <a:tcPr marL="126649" marR="126649" marT="63325" marB="63325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2500" dirty="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</a:endParaRPr>
                    </a:p>
                  </a:txBody>
                  <a:tcPr marL="126649" marR="126649" marT="63325" marB="63325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2500" dirty="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</a:endParaRPr>
                    </a:p>
                  </a:txBody>
                  <a:tcPr marL="126649" marR="126649" marT="63325" marB="63325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2500" dirty="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</a:endParaRPr>
                    </a:p>
                  </a:txBody>
                  <a:tcPr marL="126649" marR="126649" marT="63325" marB="63325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19572772"/>
                  </a:ext>
                </a:extLst>
              </a:tr>
              <a:tr h="551438">
                <a:tc>
                  <a:txBody>
                    <a:bodyPr/>
                    <a:lstStyle/>
                    <a:p>
                      <a:pPr latinLnBrk="1"/>
                      <a:endParaRPr lang="ko-KR" altLang="en-US" sz="250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</a:endParaRPr>
                    </a:p>
                  </a:txBody>
                  <a:tcPr marL="126649" marR="126649" marT="63325" marB="63325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250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</a:endParaRPr>
                    </a:p>
                  </a:txBody>
                  <a:tcPr marL="126649" marR="126649" marT="63325" marB="63325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2500" dirty="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</a:endParaRPr>
                    </a:p>
                  </a:txBody>
                  <a:tcPr marL="126649" marR="126649" marT="63325" marB="63325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250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</a:endParaRPr>
                    </a:p>
                  </a:txBody>
                  <a:tcPr marL="126649" marR="126649" marT="63325" marB="63325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2500" dirty="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</a:endParaRPr>
                    </a:p>
                  </a:txBody>
                  <a:tcPr marL="126649" marR="126649" marT="63325" marB="63325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250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</a:endParaRPr>
                    </a:p>
                  </a:txBody>
                  <a:tcPr marL="126649" marR="126649" marT="63325" marB="63325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2500" dirty="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</a:endParaRPr>
                    </a:p>
                  </a:txBody>
                  <a:tcPr marL="126649" marR="126649" marT="63325" marB="63325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05235065"/>
                  </a:ext>
                </a:extLst>
              </a:tr>
              <a:tr h="551438">
                <a:tc>
                  <a:txBody>
                    <a:bodyPr/>
                    <a:lstStyle/>
                    <a:p>
                      <a:pPr latinLnBrk="1"/>
                      <a:endParaRPr lang="ko-KR" altLang="en-US" sz="250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</a:endParaRPr>
                    </a:p>
                  </a:txBody>
                  <a:tcPr marL="126649" marR="126649" marT="63325" marB="63325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250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</a:endParaRPr>
                    </a:p>
                  </a:txBody>
                  <a:tcPr marL="126649" marR="126649" marT="63325" marB="63325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250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</a:endParaRPr>
                    </a:p>
                  </a:txBody>
                  <a:tcPr marL="126649" marR="126649" marT="63325" marB="63325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250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</a:endParaRPr>
                    </a:p>
                  </a:txBody>
                  <a:tcPr marL="126649" marR="126649" marT="63325" marB="63325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250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</a:endParaRPr>
                    </a:p>
                  </a:txBody>
                  <a:tcPr marL="126649" marR="126649" marT="63325" marB="63325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250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</a:endParaRPr>
                    </a:p>
                  </a:txBody>
                  <a:tcPr marL="126649" marR="126649" marT="63325" marB="63325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2500" dirty="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</a:endParaRPr>
                    </a:p>
                  </a:txBody>
                  <a:tcPr marL="126649" marR="126649" marT="63325" marB="63325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7676690"/>
                  </a:ext>
                </a:extLst>
              </a:tr>
              <a:tr h="551438">
                <a:tc>
                  <a:txBody>
                    <a:bodyPr/>
                    <a:lstStyle/>
                    <a:p>
                      <a:pPr latinLnBrk="1"/>
                      <a:endParaRPr lang="ko-KR" altLang="en-US" sz="250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</a:endParaRPr>
                    </a:p>
                  </a:txBody>
                  <a:tcPr marL="126649" marR="126649" marT="63325" marB="63325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250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</a:endParaRPr>
                    </a:p>
                  </a:txBody>
                  <a:tcPr marL="126649" marR="126649" marT="63325" marB="63325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250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</a:endParaRPr>
                    </a:p>
                  </a:txBody>
                  <a:tcPr marL="126649" marR="126649" marT="63325" marB="63325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2500" dirty="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</a:endParaRPr>
                    </a:p>
                  </a:txBody>
                  <a:tcPr marL="126649" marR="126649" marT="63325" marB="63325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250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</a:endParaRPr>
                    </a:p>
                  </a:txBody>
                  <a:tcPr marL="126649" marR="126649" marT="63325" marB="63325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2500" dirty="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</a:endParaRPr>
                    </a:p>
                  </a:txBody>
                  <a:tcPr marL="126649" marR="126649" marT="63325" marB="63325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2500" dirty="0">
                        <a:ln>
                          <a:solidFill>
                            <a:schemeClr val="bg1"/>
                          </a:solidFill>
                        </a:ln>
                        <a:solidFill>
                          <a:schemeClr val="bg1"/>
                        </a:solidFill>
                      </a:endParaRPr>
                    </a:p>
                  </a:txBody>
                  <a:tcPr marL="126649" marR="126649" marT="63325" marB="63325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56639261"/>
                  </a:ext>
                </a:extLst>
              </a:tr>
            </a:tbl>
          </a:graphicData>
        </a:graphic>
      </p:graphicFrame>
      <p:sp>
        <p:nvSpPr>
          <p:cNvPr id="14" name="TextBox 13">
            <a:extLst>
              <a:ext uri="{FF2B5EF4-FFF2-40B4-BE49-F238E27FC236}">
                <a16:creationId xmlns:a16="http://schemas.microsoft.com/office/drawing/2014/main" id="{9F25F8C7-A0D4-8D94-80D4-70F6B66E82DD}"/>
              </a:ext>
            </a:extLst>
          </p:cNvPr>
          <p:cNvSpPr txBox="1"/>
          <p:nvPr/>
        </p:nvSpPr>
        <p:spPr>
          <a:xfrm>
            <a:off x="5435598" y="1688681"/>
            <a:ext cx="5546726" cy="894989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txBody>
          <a:bodyPr wrap="square">
            <a:spAutoFit/>
          </a:bodyPr>
          <a:lstStyle/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ko-KR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x_rel</a:t>
            </a: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en-US" altLang="ko-KR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y_rel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은 </a:t>
            </a: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"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객체 중심이 셀 안에서 정확히 몇 </a:t>
            </a: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%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　지점에 있는가</a:t>
            </a: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"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를 </a:t>
            </a: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0~1 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사이 값으로 표현하기 위해 절대좌표</a:t>
            </a: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이미지 전체 기준</a:t>
            </a: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에서 그 셀의 시작점을 빼고</a:t>
            </a: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셀 크기로 나눠서 셀 내부만의 좌표계로 바꾸는 것</a:t>
            </a: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8FA5D113-7019-9676-58F1-D64A139B074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35598" y="2677779"/>
            <a:ext cx="5546726" cy="2857235"/>
          </a:xfrm>
          <a:prstGeom prst="rect">
            <a:avLst/>
          </a:prstGeom>
          <a:ln>
            <a:solidFill>
              <a:srgbClr val="FF0000"/>
            </a:solidFill>
          </a:ln>
        </p:spPr>
      </p:pic>
      <p:pic>
        <p:nvPicPr>
          <p:cNvPr id="22" name="그림 21">
            <a:extLst>
              <a:ext uri="{FF2B5EF4-FFF2-40B4-BE49-F238E27FC236}">
                <a16:creationId xmlns:a16="http://schemas.microsoft.com/office/drawing/2014/main" id="{2FF5E42F-1538-E35B-6A7C-BD567C2F8FF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35598" y="5957573"/>
            <a:ext cx="5132662" cy="545867"/>
          </a:xfrm>
          <a:prstGeom prst="rect">
            <a:avLst/>
          </a:prstGeom>
          <a:ln>
            <a:solidFill>
              <a:schemeClr val="accent6"/>
            </a:solidFill>
          </a:ln>
        </p:spPr>
      </p:pic>
      <p:sp>
        <p:nvSpPr>
          <p:cNvPr id="25" name="슬라이드 번호 개체 틀 3">
            <a:extLst>
              <a:ext uri="{FF2B5EF4-FFF2-40B4-BE49-F238E27FC236}">
                <a16:creationId xmlns:a16="http://schemas.microsoft.com/office/drawing/2014/main" id="{31EE9F38-1BBA-D387-B611-7AFA78DC358E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sz="1400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24</a:t>
            </a:fld>
            <a:endParaRPr lang="en-US" sz="1400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622557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BD624A-F07A-19DE-1774-45BA687EDF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5506D3EA-2DFA-84C4-29D0-079A6E0AE7AB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4629755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Yolo</a:t>
            </a:r>
            <a:endParaRPr lang="ko-KR" altLang="en-US" sz="2800" cap="none" dirty="0"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40" name="제목 1">
            <a:extLst>
              <a:ext uri="{FF2B5EF4-FFF2-40B4-BE49-F238E27FC236}">
                <a16:creationId xmlns:a16="http://schemas.microsoft.com/office/drawing/2014/main" id="{B240BB30-15FE-4805-015F-0E8DEF3CEED5}"/>
              </a:ext>
            </a:extLst>
          </p:cNvPr>
          <p:cNvSpPr txBox="1">
            <a:spLocks/>
          </p:cNvSpPr>
          <p:nvPr/>
        </p:nvSpPr>
        <p:spPr>
          <a:xfrm>
            <a:off x="7031196" y="647700"/>
            <a:ext cx="4629755" cy="60072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r"/>
            <a:r>
              <a:rPr lang="ko-KR" altLang="en-US" sz="2000" cap="none" dirty="0"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정리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47B599B-5EC7-3F08-AA0E-D5D1146292C8}"/>
              </a:ext>
            </a:extLst>
          </p:cNvPr>
          <p:cNvSpPr txBox="1"/>
          <p:nvPr/>
        </p:nvSpPr>
        <p:spPr>
          <a:xfrm>
            <a:off x="917129" y="1458596"/>
            <a:ext cx="10589071" cy="464037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spcBef>
                <a:spcPts val="300"/>
              </a:spcBef>
              <a:buFont typeface="Wingdings" panose="05000000000000000000" pitchFamily="2" charset="2"/>
              <a:buChar char="v"/>
            </a:pPr>
            <a:r>
              <a:rPr lang="ko-KR" altLang="en-US" sz="1600" b="1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입력 데이터 </a:t>
            </a:r>
            <a:r>
              <a:rPr lang="ko-KR" altLang="en-US" sz="1600" b="1" dirty="0" err="1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라벨링</a:t>
            </a:r>
            <a:r>
              <a:rPr lang="ko-KR" altLang="en-US" sz="1600" b="1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방법 </a:t>
            </a:r>
            <a:r>
              <a:rPr lang="en-US" altLang="ko-KR" sz="1600" b="1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(Ground Truth </a:t>
            </a:r>
            <a:r>
              <a:rPr lang="ko-KR" altLang="en-US" sz="1600" b="1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인코딩</a:t>
            </a:r>
            <a:r>
              <a:rPr lang="en-US" altLang="ko-KR" sz="1600" b="1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endParaRPr lang="en-US" altLang="ko-KR" sz="500" b="1" dirty="0">
              <a:solidFill>
                <a:srgbClr val="000000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342900" indent="-342900">
              <a:lnSpc>
                <a:spcPct val="150000"/>
              </a:lnSpc>
              <a:spcBef>
                <a:spcPts val="300"/>
              </a:spcBef>
              <a:buFont typeface="+mj-lt"/>
              <a:buAutoNum type="arabicPeriod"/>
            </a:pPr>
            <a:r>
              <a:rPr lang="ko-KR" altLang="en-US" sz="1600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학습 데이터를</a:t>
            </a:r>
            <a:r>
              <a:rPr lang="en-US" altLang="ko-KR" sz="1600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crop</a:t>
            </a:r>
            <a:r>
              <a:rPr lang="ko-KR" altLang="en-US" sz="1600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한 후 </a:t>
            </a:r>
            <a:r>
              <a:rPr lang="en-US" altLang="ko-KR" sz="1600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7 by 7</a:t>
            </a:r>
            <a:r>
              <a:rPr lang="ko-KR" altLang="en-US" sz="1600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으로 </a:t>
            </a:r>
            <a:r>
              <a:rPr lang="en-US" altLang="ko-KR" sz="1600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49</a:t>
            </a:r>
            <a:r>
              <a:rPr lang="ko-KR" altLang="en-US" sz="1600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개 그리드형식으로 변환</a:t>
            </a:r>
            <a:endParaRPr lang="en-US" altLang="ko-KR" sz="1600" dirty="0">
              <a:solidFill>
                <a:srgbClr val="000000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342900" indent="-342900">
              <a:lnSpc>
                <a:spcPct val="150000"/>
              </a:lnSpc>
              <a:spcBef>
                <a:spcPts val="300"/>
              </a:spcBef>
              <a:buFont typeface="+mj-lt"/>
              <a:buAutoNum type="arabicPeriod"/>
            </a:pPr>
            <a:r>
              <a:rPr lang="en-US" altLang="ko-KR" sz="1600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49</a:t>
            </a:r>
            <a:r>
              <a:rPr lang="ko-KR" altLang="en-US" sz="1600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개 셀별로 각 객체</a:t>
            </a:r>
            <a:r>
              <a:rPr lang="en-US" altLang="ko-KR" sz="1600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600" dirty="0" err="1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bbox</a:t>
            </a:r>
            <a:r>
              <a:rPr lang="en-US" altLang="ko-KR" sz="1600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+ class)</a:t>
            </a:r>
            <a:r>
              <a:rPr lang="ko-KR" altLang="en-US" sz="1600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를 변환</a:t>
            </a:r>
            <a:endParaRPr lang="en-US" altLang="ko-KR" sz="1600" dirty="0">
              <a:solidFill>
                <a:srgbClr val="000000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342900" indent="-342900">
              <a:lnSpc>
                <a:spcPct val="150000"/>
              </a:lnSpc>
              <a:spcBef>
                <a:spcPts val="300"/>
              </a:spcBef>
              <a:buFont typeface="+mj-lt"/>
              <a:buAutoNum type="arabicPeriod"/>
            </a:pPr>
            <a:r>
              <a:rPr lang="ko-KR" altLang="en-US" sz="1600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객체의 중심 좌표 </a:t>
            </a:r>
            <a:r>
              <a:rPr lang="en-US" altLang="ko-KR" sz="1600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600" dirty="0" err="1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x_center</a:t>
            </a:r>
            <a:r>
              <a:rPr lang="en-US" altLang="ko-KR" sz="1600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en-US" altLang="ko-KR" sz="1600" dirty="0" err="1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y_center</a:t>
            </a:r>
            <a:r>
              <a:rPr lang="en-US" altLang="ko-KR" sz="1600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r>
              <a:rPr lang="ko-KR" altLang="en-US" sz="1600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가 속하는 그리드 셀 </a:t>
            </a:r>
            <a:r>
              <a:rPr lang="en-US" altLang="ko-KR" sz="1600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600" dirty="0" err="1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i</a:t>
            </a:r>
            <a:r>
              <a:rPr lang="en-US" altLang="ko-KR" sz="1600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, j)</a:t>
            </a:r>
            <a:r>
              <a:rPr lang="ko-KR" altLang="en-US" sz="1600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을 찾음</a:t>
            </a:r>
          </a:p>
          <a:p>
            <a:pPr marL="342900" indent="-342900">
              <a:lnSpc>
                <a:spcPct val="150000"/>
              </a:lnSpc>
              <a:spcBef>
                <a:spcPts val="300"/>
              </a:spcBef>
              <a:buFont typeface="+mj-lt"/>
              <a:buAutoNum type="arabicPeriod"/>
            </a:pPr>
            <a:r>
              <a:rPr lang="ko-KR" altLang="en-US" sz="1600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그 셀에 대해</a:t>
            </a:r>
            <a:r>
              <a:rPr lang="en-US" altLang="ko-KR" sz="1600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:</a:t>
            </a:r>
          </a:p>
          <a:p>
            <a:pPr marL="800100" lvl="1" indent="-342900">
              <a:lnSpc>
                <a:spcPct val="150000"/>
              </a:lnSpc>
              <a:spcBef>
                <a:spcPts val="300"/>
              </a:spcBef>
              <a:buFont typeface="Wingdings" panose="05000000000000000000" pitchFamily="2" charset="2"/>
              <a:buChar char="§"/>
            </a:pPr>
            <a:r>
              <a:rPr lang="en-US" altLang="ko-KR" sz="1400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1400" dirty="0" err="1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Pr</a:t>
            </a:r>
            <a:r>
              <a:rPr lang="en-US" altLang="ko-KR" sz="1400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(Object) = 1 (</a:t>
            </a:r>
            <a:r>
              <a:rPr lang="ko-KR" altLang="en-US" sz="1400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객체 있음</a:t>
            </a:r>
            <a:r>
              <a:rPr lang="en-US" altLang="ko-KR" sz="1400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pPr marL="800100" lvl="1" indent="-342900">
              <a:lnSpc>
                <a:spcPct val="150000"/>
              </a:lnSpc>
              <a:spcBef>
                <a:spcPts val="300"/>
              </a:spcBef>
              <a:buFont typeface="Wingdings" panose="05000000000000000000" pitchFamily="2" charset="2"/>
              <a:buChar char="§"/>
            </a:pPr>
            <a:r>
              <a:rPr lang="en-US" altLang="ko-KR" sz="1400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x, y</a:t>
            </a:r>
            <a:r>
              <a:rPr lang="ko-KR" altLang="en-US" sz="1400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는 셀 경계 기준 상대좌표로 정규화 </a:t>
            </a:r>
            <a:r>
              <a:rPr lang="en-US" altLang="ko-KR" sz="1400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(0~1)</a:t>
            </a:r>
          </a:p>
          <a:p>
            <a:pPr marL="800100" lvl="1" indent="-342900">
              <a:lnSpc>
                <a:spcPct val="150000"/>
              </a:lnSpc>
              <a:spcBef>
                <a:spcPts val="300"/>
              </a:spcBef>
              <a:buFont typeface="Wingdings" panose="05000000000000000000" pitchFamily="2" charset="2"/>
              <a:buChar char="§"/>
            </a:pPr>
            <a:r>
              <a:rPr lang="en-US" altLang="ko-KR" sz="1400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w, h</a:t>
            </a:r>
            <a:r>
              <a:rPr lang="ko-KR" altLang="en-US" sz="1400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는 이미지 전체 크기 기준으로 정규화 </a:t>
            </a:r>
            <a:r>
              <a:rPr lang="en-US" altLang="ko-KR" sz="1400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(0~1)</a:t>
            </a:r>
          </a:p>
          <a:p>
            <a:pPr marL="800100" lvl="1" indent="-342900">
              <a:lnSpc>
                <a:spcPct val="150000"/>
              </a:lnSpc>
              <a:spcBef>
                <a:spcPts val="300"/>
              </a:spcBef>
              <a:buFont typeface="Wingdings" panose="05000000000000000000" pitchFamily="2" charset="2"/>
              <a:buChar char="§"/>
            </a:pPr>
            <a:r>
              <a:rPr lang="ko-KR" altLang="en-US" sz="1400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해당 클래스의 </a:t>
            </a:r>
            <a:r>
              <a:rPr lang="en-US" altLang="ko-KR" sz="1400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one-hot </a:t>
            </a:r>
            <a:r>
              <a:rPr lang="ko-KR" altLang="en-US" sz="1400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벡터 설정</a:t>
            </a:r>
          </a:p>
          <a:p>
            <a:pPr marL="800100" lvl="1" indent="-342900">
              <a:lnSpc>
                <a:spcPct val="150000"/>
              </a:lnSpc>
              <a:spcBef>
                <a:spcPts val="300"/>
              </a:spcBef>
              <a:buFont typeface="Wingdings" panose="05000000000000000000" pitchFamily="2" charset="2"/>
              <a:buChar char="§"/>
            </a:pPr>
            <a:r>
              <a:rPr lang="ko-KR" altLang="en-US" sz="1400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객체가 없는 셀은 모든 </a:t>
            </a:r>
            <a:r>
              <a:rPr lang="en-US" altLang="ko-KR" sz="1400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confidence = 0</a:t>
            </a:r>
          </a:p>
          <a:p>
            <a:pPr marL="342900" indent="-342900">
              <a:lnSpc>
                <a:spcPct val="150000"/>
              </a:lnSpc>
              <a:spcBef>
                <a:spcPts val="300"/>
              </a:spcBef>
              <a:buFont typeface="+mj-lt"/>
              <a:buAutoNum type="arabicPeriod"/>
            </a:pPr>
            <a:r>
              <a:rPr lang="ko-KR" altLang="en-US" sz="1600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한 셀에는 하나의 </a:t>
            </a:r>
            <a:r>
              <a:rPr lang="en-US" altLang="ko-KR" sz="1600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ground truth </a:t>
            </a:r>
            <a:r>
              <a:rPr lang="ko-KR" altLang="en-US" sz="1600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객체만 할당 → 같은 셀에 작은 물체가 여러 개 겹치면 </a:t>
            </a:r>
            <a:r>
              <a:rPr lang="en-US" altLang="ko-KR" sz="1600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YOLOv1</a:t>
            </a:r>
            <a:r>
              <a:rPr lang="ko-KR" altLang="en-US" sz="1600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은 구조적으로 놓칠 수 있음 </a:t>
            </a:r>
            <a:r>
              <a:rPr lang="en-US" altLang="ko-KR" sz="1600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(v1</a:t>
            </a:r>
            <a:r>
              <a:rPr lang="ko-KR" altLang="en-US" sz="1600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의 한계</a:t>
            </a:r>
            <a:r>
              <a:rPr lang="en-US" altLang="ko-KR" sz="1600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</p:txBody>
      </p:sp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E18394AD-7C52-C37B-48BF-771A319F18D7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sz="1400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25</a:t>
            </a:fld>
            <a:endParaRPr lang="en-US" sz="1400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7024971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9AB847-8E6E-D46E-A260-012186E440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0E7A1384-DB1B-1AF1-2622-984115F65C17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4629755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Yolo – Single Object</a:t>
            </a:r>
            <a:endParaRPr lang="ko-KR" altLang="en-US" sz="2800" cap="none" dirty="0"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pic>
        <p:nvPicPr>
          <p:cNvPr id="46" name="그림 45">
            <a:extLst>
              <a:ext uri="{FF2B5EF4-FFF2-40B4-BE49-F238E27FC236}">
                <a16:creationId xmlns:a16="http://schemas.microsoft.com/office/drawing/2014/main" id="{5C48B9E7-53E5-1A9B-1E3C-80572B8D15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5229" y="1609725"/>
            <a:ext cx="8354580" cy="4326988"/>
          </a:xfrm>
          <a:prstGeom prst="rect">
            <a:avLst/>
          </a:prstGeom>
        </p:spPr>
      </p:pic>
      <p:sp>
        <p:nvSpPr>
          <p:cNvPr id="47" name="TextBox 46">
            <a:extLst>
              <a:ext uri="{FF2B5EF4-FFF2-40B4-BE49-F238E27FC236}">
                <a16:creationId xmlns:a16="http://schemas.microsoft.com/office/drawing/2014/main" id="{D7942FA0-9D79-F5E2-B514-4EFAA9917415}"/>
              </a:ext>
            </a:extLst>
          </p:cNvPr>
          <p:cNvSpPr txBox="1"/>
          <p:nvPr/>
        </p:nvSpPr>
        <p:spPr>
          <a:xfrm>
            <a:off x="235044" y="5957906"/>
            <a:ext cx="28777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hlinkClick r:id="rId3"/>
              </a:rPr>
              <a:t>Let's Visualize How YOLO Works</a:t>
            </a:r>
            <a:endParaRPr lang="ko-KR" altLang="en-US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pic>
        <p:nvPicPr>
          <p:cNvPr id="49" name="그림 48">
            <a:extLst>
              <a:ext uri="{FF2B5EF4-FFF2-40B4-BE49-F238E27FC236}">
                <a16:creationId xmlns:a16="http://schemas.microsoft.com/office/drawing/2014/main" id="{425C9854-91B8-190A-A9C8-1FFB0A383FF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20151" y="1624494"/>
            <a:ext cx="2724150" cy="443673"/>
          </a:xfrm>
          <a:prstGeom prst="rect">
            <a:avLst/>
          </a:prstGeom>
          <a:ln w="19050">
            <a:solidFill>
              <a:schemeClr val="accent5"/>
            </a:solidFill>
          </a:ln>
        </p:spPr>
      </p:pic>
      <p:pic>
        <p:nvPicPr>
          <p:cNvPr id="53" name="그림 52">
            <a:extLst>
              <a:ext uri="{FF2B5EF4-FFF2-40B4-BE49-F238E27FC236}">
                <a16:creationId xmlns:a16="http://schemas.microsoft.com/office/drawing/2014/main" id="{646F9F8A-0228-B30A-307C-9C42D9ED5F5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20151" y="2478007"/>
            <a:ext cx="2724147" cy="646194"/>
          </a:xfrm>
          <a:prstGeom prst="rect">
            <a:avLst/>
          </a:prstGeom>
          <a:ln w="28575">
            <a:solidFill>
              <a:srgbClr val="FF0000"/>
            </a:solidFill>
          </a:ln>
        </p:spPr>
      </p:pic>
      <p:sp>
        <p:nvSpPr>
          <p:cNvPr id="55" name="TextBox 54">
            <a:extLst>
              <a:ext uri="{FF2B5EF4-FFF2-40B4-BE49-F238E27FC236}">
                <a16:creationId xmlns:a16="http://schemas.microsoft.com/office/drawing/2014/main" id="{A82E6AA8-B4FC-9CFE-0C37-6B3288748267}"/>
              </a:ext>
            </a:extLst>
          </p:cNvPr>
          <p:cNvSpPr txBox="1"/>
          <p:nvPr/>
        </p:nvSpPr>
        <p:spPr>
          <a:xfrm>
            <a:off x="8820149" y="4953196"/>
            <a:ext cx="2724149" cy="92333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r>
              <a:rPr lang="en-US" altLang="ko-KR" b="1" dirty="0">
                <a:latin typeface="D2Coding" panose="020B0609020101020101" pitchFamily="49" charset="-127"/>
                <a:ea typeface="D2Coding" panose="020B0609020101020101" pitchFamily="49" charset="-127"/>
              </a:rPr>
              <a:t>"</a:t>
            </a:r>
            <a:r>
              <a:rPr lang="ko-KR" altLang="en-US" b="1" dirty="0">
                <a:latin typeface="D2Coding" panose="020B0609020101020101" pitchFamily="49" charset="-127"/>
                <a:ea typeface="D2Coding" panose="020B0609020101020101" pitchFamily="49" charset="-127"/>
              </a:rPr>
              <a:t>이 박스가 고양이를 얼마나 정확하게 잡고 있는가</a:t>
            </a:r>
            <a:r>
              <a:rPr lang="en-US" altLang="ko-KR" b="1" dirty="0">
                <a:latin typeface="D2Coding" panose="020B0609020101020101" pitchFamily="49" charset="-127"/>
                <a:ea typeface="D2Coding" panose="020B0609020101020101" pitchFamily="49" charset="-127"/>
              </a:rPr>
              <a:t>"</a:t>
            </a:r>
            <a:endParaRPr lang="ko-KR" altLang="en-US" b="1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pic>
        <p:nvPicPr>
          <p:cNvPr id="59" name="그래픽 58" descr="조금 굽은 화살표">
            <a:extLst>
              <a:ext uri="{FF2B5EF4-FFF2-40B4-BE49-F238E27FC236}">
                <a16:creationId xmlns:a16="http://schemas.microsoft.com/office/drawing/2014/main" id="{28255D97-E806-C4B6-37F3-BDC3208EACE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1983480">
            <a:off x="5276850" y="1624494"/>
            <a:ext cx="533400" cy="533400"/>
          </a:xfrm>
          <a:prstGeom prst="rect">
            <a:avLst/>
          </a:prstGeom>
        </p:spPr>
      </p:pic>
      <p:pic>
        <p:nvPicPr>
          <p:cNvPr id="61" name="그래픽 60" descr="조금 굽은 화살표">
            <a:extLst>
              <a:ext uri="{FF2B5EF4-FFF2-40B4-BE49-F238E27FC236}">
                <a16:creationId xmlns:a16="http://schemas.microsoft.com/office/drawing/2014/main" id="{F0FCDB36-883B-E698-FAE8-C9C72B7AD7B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1983480">
            <a:off x="9448381" y="2014364"/>
            <a:ext cx="533400" cy="533400"/>
          </a:xfrm>
          <a:prstGeom prst="rect">
            <a:avLst/>
          </a:prstGeom>
        </p:spPr>
      </p:pic>
      <p:pic>
        <p:nvPicPr>
          <p:cNvPr id="62" name="그래픽 61" descr="조금 굽은 화살표">
            <a:extLst>
              <a:ext uri="{FF2B5EF4-FFF2-40B4-BE49-F238E27FC236}">
                <a16:creationId xmlns:a16="http://schemas.microsoft.com/office/drawing/2014/main" id="{9D647395-F473-8464-F6A1-36BCB256E99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1983480">
            <a:off x="4213486" y="2155730"/>
            <a:ext cx="533400" cy="533400"/>
          </a:xfrm>
          <a:prstGeom prst="rect">
            <a:avLst/>
          </a:prstGeom>
        </p:spPr>
      </p:pic>
      <p:pic>
        <p:nvPicPr>
          <p:cNvPr id="64" name="그림 63">
            <a:extLst>
              <a:ext uri="{FF2B5EF4-FFF2-40B4-BE49-F238E27FC236}">
                <a16:creationId xmlns:a16="http://schemas.microsoft.com/office/drawing/2014/main" id="{53D981AB-9DC9-E20F-1DDB-D7D5338E291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820149" y="3350685"/>
            <a:ext cx="2724148" cy="558070"/>
          </a:xfrm>
          <a:prstGeom prst="rect">
            <a:avLst/>
          </a:prstGeom>
        </p:spPr>
      </p:pic>
      <p:pic>
        <p:nvPicPr>
          <p:cNvPr id="66" name="그림 65">
            <a:extLst>
              <a:ext uri="{FF2B5EF4-FFF2-40B4-BE49-F238E27FC236}">
                <a16:creationId xmlns:a16="http://schemas.microsoft.com/office/drawing/2014/main" id="{E836A3CC-DB30-C78D-E97C-6EB37160ABD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820149" y="4133451"/>
            <a:ext cx="2972058" cy="548688"/>
          </a:xfrm>
          <a:prstGeom prst="rect">
            <a:avLst/>
          </a:prstGeom>
        </p:spPr>
      </p:pic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77F7D8B2-99D8-C814-EFE7-2205318CCE0F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sz="1400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26</a:t>
            </a:fld>
            <a:endParaRPr lang="en-US" sz="1400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5501382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B29F3F-19B9-ED1F-0456-B7375CE7B5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D550BDE1-2F91-9E5E-5B33-D96773BF6B50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 err="1"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IoU</a:t>
            </a:r>
            <a:r>
              <a:rPr lang="en-US" altLang="ko-KR" sz="2800" cap="none" dirty="0"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(Intersection over Union)</a:t>
            </a:r>
            <a:endParaRPr lang="ko-KR" altLang="en-US" sz="2800" cap="none" dirty="0"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pic>
        <p:nvPicPr>
          <p:cNvPr id="6146" name="Picture 2" descr="C_2.01 IoU (Intersection over Union) and GIoU - Deep Learning Bible - 4.  Object Detection - 한글">
            <a:extLst>
              <a:ext uri="{FF2B5EF4-FFF2-40B4-BE49-F238E27FC236}">
                <a16:creationId xmlns:a16="http://schemas.microsoft.com/office/drawing/2014/main" id="{466BDA95-1F66-B846-43EC-0C7CC240F2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55512" y="2334202"/>
            <a:ext cx="6547895" cy="24759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0" name="Picture 2">
            <a:extLst>
              <a:ext uri="{FF2B5EF4-FFF2-40B4-BE49-F238E27FC236}">
                <a16:creationId xmlns:a16="http://schemas.microsoft.com/office/drawing/2014/main" id="{0CAECD90-D857-D8CE-A22D-71F5B43C3E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8045" y="2334202"/>
            <a:ext cx="4191605" cy="30748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0608A35B-0A86-B90B-7C3F-57AE3A1F37EF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sz="1400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27</a:t>
            </a:fld>
            <a:endParaRPr lang="en-US" sz="1400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4896026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65558D-552D-D383-59FC-8BF7083792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2227CB3D-A8B4-B43E-614C-6C50753028B6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4629755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Yolo – Multiple Object</a:t>
            </a:r>
            <a:endParaRPr lang="ko-KR" altLang="en-US" sz="2800" cap="none" dirty="0"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28F6D187-23C3-2AFC-105A-ABA8C75E81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9693" y="2339464"/>
            <a:ext cx="8628132" cy="403655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1E0E587-D84C-B3F0-6C4A-A1284747258E}"/>
              </a:ext>
            </a:extLst>
          </p:cNvPr>
          <p:cNvSpPr txBox="1"/>
          <p:nvPr/>
        </p:nvSpPr>
        <p:spPr>
          <a:xfrm>
            <a:off x="5638800" y="2971800"/>
            <a:ext cx="914400" cy="9144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ko-KR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525142F-9F2F-5A31-66A7-CC21072CE72B}"/>
              </a:ext>
            </a:extLst>
          </p:cNvPr>
          <p:cNvSpPr txBox="1"/>
          <p:nvPr/>
        </p:nvSpPr>
        <p:spPr>
          <a:xfrm>
            <a:off x="9752096" y="2802523"/>
            <a:ext cx="2116052" cy="338554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en-US" altLang="ko-KR" sz="16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2</a:t>
            </a:r>
            <a:r>
              <a:rPr lang="ko-KR" altLang="en-US" sz="16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개의</a:t>
            </a:r>
            <a:r>
              <a:rPr lang="en-US" altLang="ko-KR" sz="16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bounding</a:t>
            </a:r>
            <a:r>
              <a:rPr lang="ko-KR" altLang="en-US" sz="16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16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box</a:t>
            </a:r>
            <a:endParaRPr lang="ko-KR" altLang="en-US" sz="1600" dirty="0">
              <a:solidFill>
                <a:schemeClr val="bg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6EA62FC-096A-94B8-21D0-80A9D660335E}"/>
              </a:ext>
            </a:extLst>
          </p:cNvPr>
          <p:cNvSpPr txBox="1"/>
          <p:nvPr/>
        </p:nvSpPr>
        <p:spPr>
          <a:xfrm>
            <a:off x="505311" y="1278040"/>
            <a:ext cx="1104699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원래 이미지를 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7 x 7 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그리드로 나누고 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49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개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(7x7)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의 각 셀에서 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2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개의 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bounding box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와 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20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개 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Class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를 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Labeling 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하여 훈련 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(regression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과 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classification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을 동시에 훈련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  </a:t>
            </a:r>
            <a:endParaRPr lang="ko-KR" altLang="en-US" dirty="0"/>
          </a:p>
        </p:txBody>
      </p:sp>
      <p:sp>
        <p:nvSpPr>
          <p:cNvPr id="11" name="오른쪽 중괄호 10">
            <a:extLst>
              <a:ext uri="{FF2B5EF4-FFF2-40B4-BE49-F238E27FC236}">
                <a16:creationId xmlns:a16="http://schemas.microsoft.com/office/drawing/2014/main" id="{47A2E846-EDF5-4FAD-7EB7-278655F44262}"/>
              </a:ext>
            </a:extLst>
          </p:cNvPr>
          <p:cNvSpPr/>
          <p:nvPr/>
        </p:nvSpPr>
        <p:spPr>
          <a:xfrm>
            <a:off x="9399672" y="2545734"/>
            <a:ext cx="211053" cy="879873"/>
          </a:xfrm>
          <a:prstGeom prst="rightBrace">
            <a:avLst>
              <a:gd name="adj1" fmla="val 47313"/>
              <a:gd name="adj2" fmla="val 50000"/>
            </a:avLst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EAD722D5-102D-DB9D-9203-895C85074A6C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sz="1400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28</a:t>
            </a:fld>
            <a:endParaRPr lang="en-US" sz="1400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0666622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DC6BED-0815-3B0E-D72C-ECFB2709D7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5965B9D6-9ABF-34B1-83FD-D60CDB4B338B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6239480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Yolo</a:t>
            </a:r>
            <a:r>
              <a:rPr lang="ko-KR" altLang="en-US" sz="2800" cap="none" dirty="0"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 </a:t>
            </a:r>
            <a:r>
              <a:rPr lang="en-US" altLang="ko-KR" sz="2800" cap="none" dirty="0"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How bounding</a:t>
            </a:r>
            <a:r>
              <a:rPr lang="ko-KR" altLang="en-US" sz="2800" cap="none" dirty="0"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 </a:t>
            </a:r>
            <a:r>
              <a:rPr lang="en-US" altLang="ko-KR" sz="2800" cap="none" dirty="0"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box work?</a:t>
            </a:r>
            <a:r>
              <a:rPr lang="ko-KR" altLang="en-US" sz="2800" cap="none" dirty="0"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 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78D788B-3530-60B8-6980-184DBA6F8C4D}"/>
              </a:ext>
            </a:extLst>
          </p:cNvPr>
          <p:cNvSpPr txBox="1"/>
          <p:nvPr/>
        </p:nvSpPr>
        <p:spPr>
          <a:xfrm>
            <a:off x="550099" y="1174436"/>
            <a:ext cx="11129902" cy="1028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아래　그림에서는 왼쪽의 그리드마다 각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cell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마다 여러 개의 박스를 예측하는 것이 아니고 서로 크기가 다른 박스가 그리드 셀의 경계선을 넘나들면서 다양한 크기의 박스를 그리는데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?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이것은 어떤 의미이지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?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실제로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yolo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가 박스를 찾는 알고리즘을 설명하라　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sym typeface="Wingdings" panose="05000000000000000000" pitchFamily="2" charset="2"/>
              </a:rPr>
              <a:t>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　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Loss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Function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(MSE,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backpropagation)</a:t>
            </a:r>
            <a:endParaRPr lang="ko-KR" altLang="en-US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FA4324FB-E4FF-7AC9-755F-351C83084C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2938" y="2524670"/>
            <a:ext cx="7062788" cy="34784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C1C0CDD-52E4-1EA3-CB85-41180E9D5AB9}"/>
              </a:ext>
            </a:extLst>
          </p:cNvPr>
          <p:cNvSpPr txBox="1"/>
          <p:nvPr/>
        </p:nvSpPr>
        <p:spPr>
          <a:xfrm>
            <a:off x="7858125" y="2640408"/>
            <a:ext cx="3983196" cy="954107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en-US" altLang="ko-KR" sz="1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grid cell</a:t>
            </a:r>
            <a:r>
              <a:rPr lang="ko-KR" altLang="en-US" sz="1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은 박스를 담는 </a:t>
            </a:r>
            <a:r>
              <a:rPr lang="en-US" altLang="ko-KR" sz="1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</a:t>
            </a:r>
            <a:r>
              <a:rPr lang="ko-KR" altLang="en-US" sz="1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틀</a:t>
            </a:r>
            <a:r>
              <a:rPr lang="en-US" altLang="ko-KR" sz="1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</a:t>
            </a:r>
            <a:r>
              <a:rPr lang="ko-KR" altLang="en-US" sz="1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이 아니라</a:t>
            </a:r>
            <a:r>
              <a:rPr lang="en-US" altLang="ko-KR" sz="1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sz="1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박스를 예측하는 </a:t>
            </a:r>
            <a:r>
              <a:rPr lang="en-US" altLang="ko-KR" sz="1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</a:t>
            </a:r>
            <a:r>
              <a:rPr lang="ko-KR" altLang="en-US" sz="1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책임 주체</a:t>
            </a:r>
            <a:r>
              <a:rPr lang="en-US" altLang="ko-KR" sz="1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sz="1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원점</a:t>
            </a:r>
            <a:r>
              <a:rPr lang="en-US" altLang="ko-KR" sz="1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)"</a:t>
            </a:r>
            <a:r>
              <a:rPr lang="ko-KR" altLang="en-US" sz="1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역할만 하고</a:t>
            </a:r>
            <a:r>
              <a:rPr lang="en-US" altLang="ko-KR" sz="1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박스 자체는 </a:t>
            </a:r>
            <a:r>
              <a:rPr lang="en-US" altLang="ko-KR" sz="1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cell </a:t>
            </a:r>
            <a:r>
              <a:rPr lang="ko-KR" altLang="en-US" sz="1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경계를 얼마든지 넘어갈 수 있음</a:t>
            </a:r>
          </a:p>
        </p:txBody>
      </p:sp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DDA9754F-90FC-D20E-62E8-0E7320B4CA63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sz="1400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29</a:t>
            </a:fld>
            <a:endParaRPr lang="en-US" sz="1400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6740693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AC9B39-B3A3-355E-2149-99B82CF672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72236CDC-CAAA-AD41-2A86-6972FBBDB78B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4629755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Yolo</a:t>
            </a:r>
            <a:endParaRPr lang="ko-KR" altLang="en-US" sz="2800" cap="none" dirty="0"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40" name="제목 1">
            <a:extLst>
              <a:ext uri="{FF2B5EF4-FFF2-40B4-BE49-F238E27FC236}">
                <a16:creationId xmlns:a16="http://schemas.microsoft.com/office/drawing/2014/main" id="{98025F96-F6F7-51EE-4EFE-E88F89C3AC2D}"/>
              </a:ext>
            </a:extLst>
          </p:cNvPr>
          <p:cNvSpPr txBox="1">
            <a:spLocks/>
          </p:cNvSpPr>
          <p:nvPr/>
        </p:nvSpPr>
        <p:spPr>
          <a:xfrm>
            <a:off x="7031196" y="647700"/>
            <a:ext cx="4629755" cy="60072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r"/>
            <a:r>
              <a:rPr lang="ko-KR" altLang="en-US" sz="2000" cap="none" dirty="0"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손실 함수</a:t>
            </a:r>
            <a:r>
              <a:rPr lang="en-US" altLang="ko-KR" sz="2000" cap="none" dirty="0"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(Loss Function)</a:t>
            </a:r>
            <a:endParaRPr lang="ko-KR" altLang="en-US" sz="2000" cap="none" dirty="0"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7631D889-8BD3-66E2-1382-E469E8ED16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749" y="2051764"/>
            <a:ext cx="5303729" cy="3762356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9A9437C3-A91C-76C3-9E7C-7FD2BA257A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56635" y="2207635"/>
            <a:ext cx="2476715" cy="381033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C8114258-28A4-024D-2A36-DA0FBA74238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37895" y="2931559"/>
            <a:ext cx="1958510" cy="274344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F31C1BBD-DBFB-5833-8E9E-2F4E51A3084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50061" y="3665190"/>
            <a:ext cx="2484335" cy="304826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59A8536B-5F00-DE4B-B96A-CE57421EB2C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50061" y="4426353"/>
            <a:ext cx="2712955" cy="243861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6E5B3754-A62B-6430-2972-2CEC6ED0648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69485" y="5204218"/>
            <a:ext cx="2339543" cy="312447"/>
          </a:xfrm>
          <a:prstGeom prst="rect">
            <a:avLst/>
          </a:prstGeom>
        </p:spPr>
      </p:pic>
      <p:sp>
        <p:nvSpPr>
          <p:cNvPr id="16" name="오른쪽 중괄호 15">
            <a:extLst>
              <a:ext uri="{FF2B5EF4-FFF2-40B4-BE49-F238E27FC236}">
                <a16:creationId xmlns:a16="http://schemas.microsoft.com/office/drawing/2014/main" id="{E988B65A-F1A3-0DCD-6A21-61F37B9F1D9C}"/>
              </a:ext>
            </a:extLst>
          </p:cNvPr>
          <p:cNvSpPr/>
          <p:nvPr/>
        </p:nvSpPr>
        <p:spPr>
          <a:xfrm>
            <a:off x="9999364" y="2315454"/>
            <a:ext cx="264815" cy="2550007"/>
          </a:xfrm>
          <a:prstGeom prst="rightBrace">
            <a:avLst>
              <a:gd name="adj1" fmla="val 38333"/>
              <a:gd name="adj2" fmla="val 50000"/>
            </a:avLst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589D0F1-9A93-A0B8-08EA-E6E3CCC336FB}"/>
              </a:ext>
            </a:extLst>
          </p:cNvPr>
          <p:cNvSpPr txBox="1"/>
          <p:nvPr/>
        </p:nvSpPr>
        <p:spPr>
          <a:xfrm>
            <a:off x="10364941" y="3474490"/>
            <a:ext cx="1569365" cy="307777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ko-KR" altLang="en-US" sz="1400" i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회귀</a:t>
            </a:r>
            <a:r>
              <a:rPr lang="en-US" altLang="ko-KR" sz="1400" i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(Regression)</a:t>
            </a:r>
            <a:endParaRPr lang="ko-KR" altLang="en-US" sz="1400" i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F62DD07-0AFE-09C6-83F8-55F6A91F170B}"/>
              </a:ext>
            </a:extLst>
          </p:cNvPr>
          <p:cNvSpPr txBox="1"/>
          <p:nvPr/>
        </p:nvSpPr>
        <p:spPr>
          <a:xfrm>
            <a:off x="8633941" y="5238894"/>
            <a:ext cx="1953567" cy="307777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ko-KR" altLang="en-US" sz="1400" i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분류</a:t>
            </a:r>
            <a:r>
              <a:rPr lang="en-US" altLang="ko-KR" sz="1400" i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(Classification)</a:t>
            </a:r>
            <a:endParaRPr lang="ko-KR" altLang="en-US" sz="1400" i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E31FF1D-92D2-B35F-9BD8-736EBF5FAB21}"/>
              </a:ext>
            </a:extLst>
          </p:cNvPr>
          <p:cNvSpPr txBox="1"/>
          <p:nvPr/>
        </p:nvSpPr>
        <p:spPr>
          <a:xfrm>
            <a:off x="6015003" y="2508724"/>
            <a:ext cx="393980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그리드 셀 기준 </a:t>
            </a:r>
            <a:r>
              <a:rPr lang="ko-KR" altLang="en-US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바운딩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 박스 중심 좌표의 위치 오차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8C0ED5A-B7C3-A649-334F-A1E508A32D8B}"/>
              </a:ext>
            </a:extLst>
          </p:cNvPr>
          <p:cNvSpPr txBox="1"/>
          <p:nvPr/>
        </p:nvSpPr>
        <p:spPr>
          <a:xfrm>
            <a:off x="6077432" y="3166714"/>
            <a:ext cx="409763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바운딩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 박스의 너비와 높이 오차</a:t>
            </a:r>
            <a:endParaRPr lang="en-US" altLang="ko-KR" sz="12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작은 상자의 오차 비중을 높이기 위해 제곱근 적용</a:t>
            </a: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endParaRPr lang="ko-KR" altLang="en-US" sz="12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8331AF8-AF5B-FCA2-4450-28415907D570}"/>
              </a:ext>
            </a:extLst>
          </p:cNvPr>
          <p:cNvSpPr txBox="1"/>
          <p:nvPr/>
        </p:nvSpPr>
        <p:spPr>
          <a:xfrm>
            <a:off x="6027439" y="3904916"/>
            <a:ext cx="351661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객체가 있는 박스에서 예측 신뢰도가 실제 정답 박스와의 </a:t>
            </a:r>
            <a:r>
              <a:rPr lang="ko-KR" altLang="en-US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IoU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 값의 오차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F59165C-C281-3ADD-B44E-6268435FE49A}"/>
              </a:ext>
            </a:extLst>
          </p:cNvPr>
          <p:cNvSpPr txBox="1"/>
          <p:nvPr/>
        </p:nvSpPr>
        <p:spPr>
          <a:xfrm>
            <a:off x="6015003" y="4652643"/>
            <a:ext cx="3595722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100" dirty="0">
                <a:latin typeface="D2Coding" panose="020B0609020101020101" pitchFamily="49" charset="-127"/>
                <a:ea typeface="D2Coding" panose="020B0609020101020101" pitchFamily="49" charset="-127"/>
              </a:rPr>
              <a:t>객체가 없는 배경 영역의 예측 신뢰도가 </a:t>
            </a:r>
            <a:r>
              <a:rPr lang="en-US" altLang="ko-KR" sz="1100" dirty="0">
                <a:latin typeface="D2Coding" panose="020B0609020101020101" pitchFamily="49" charset="-127"/>
                <a:ea typeface="D2Coding" panose="020B0609020101020101" pitchFamily="49" charset="-127"/>
              </a:rPr>
              <a:t>0</a:t>
            </a:r>
            <a:r>
              <a:rPr lang="ko-KR" altLang="en-US" sz="1100" dirty="0">
                <a:latin typeface="D2Coding" panose="020B0609020101020101" pitchFamily="49" charset="-127"/>
                <a:ea typeface="D2Coding" panose="020B0609020101020101" pitchFamily="49" charset="-127"/>
              </a:rPr>
              <a:t>이 되도록 유도</a:t>
            </a:r>
            <a:r>
              <a:rPr lang="en-US" altLang="ko-KR" sz="1100" dirty="0">
                <a:latin typeface="D2Coding" panose="020B0609020101020101" pitchFamily="49" charset="-127"/>
                <a:ea typeface="D2Coding" panose="020B0609020101020101" pitchFamily="49" charset="-127"/>
              </a:rPr>
              <a:t>(L2 penalty)</a:t>
            </a:r>
            <a:endParaRPr lang="ko-KR" altLang="en-US" sz="11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C1E0A18-6FAB-1219-B113-90BDE9A0B9A3}"/>
              </a:ext>
            </a:extLst>
          </p:cNvPr>
          <p:cNvSpPr txBox="1"/>
          <p:nvPr/>
        </p:nvSpPr>
        <p:spPr>
          <a:xfrm>
            <a:off x="615367" y="1682432"/>
            <a:ext cx="2667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Minimize Loss</a:t>
            </a:r>
            <a:endParaRPr lang="ko-KR" altLang="en-US" dirty="0"/>
          </a:p>
        </p:txBody>
      </p:sp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4272B596-F9BB-AA46-3C67-3100E8D37857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sz="1400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30</a:t>
            </a:fld>
            <a:endParaRPr lang="en-US" sz="1400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1957416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802734-AA6A-E730-3531-0054C5EEA8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2DFADB4A-FE33-2CB5-920A-08149AB4CC44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YOLO: </a:t>
            </a:r>
            <a:r>
              <a:rPr lang="en-US" altLang="ko-KR" sz="2800" cap="none" dirty="0"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YOLO Object Detection</a:t>
            </a:r>
            <a:endParaRPr lang="ko-KR" altLang="en-US" sz="2800" cap="none" dirty="0"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pic>
        <p:nvPicPr>
          <p:cNvPr id="16" name="그림 15">
            <a:extLst>
              <a:ext uri="{FF2B5EF4-FFF2-40B4-BE49-F238E27FC236}">
                <a16:creationId xmlns:a16="http://schemas.microsoft.com/office/drawing/2014/main" id="{2686F96D-48F0-A770-6A20-E3AC1FC846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9300" y="2270463"/>
            <a:ext cx="8439526" cy="394836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25755E4-770B-BDE4-CDAA-9FB5C839D34C}"/>
              </a:ext>
            </a:extLst>
          </p:cNvPr>
          <p:cNvSpPr txBox="1"/>
          <p:nvPr/>
        </p:nvSpPr>
        <p:spPr>
          <a:xfrm>
            <a:off x="571500" y="1390110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YOLO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가 선택한 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FCN (Fully Convolutional Network)</a:t>
            </a:r>
          </a:p>
        </p:txBody>
      </p:sp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B7719AA4-C28F-B8CF-2EC6-0F6856EC9D12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sz="1400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31</a:t>
            </a:fld>
            <a:endParaRPr lang="en-US" sz="1400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3375665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67D301-B114-F827-4260-924D7C2089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1D8A7BF3-1C90-CC60-888E-27948DFAF53C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YOLO</a:t>
            </a:r>
            <a:endParaRPr lang="ko-KR" altLang="en-US" sz="2800" cap="none" dirty="0"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991A9F3B-8F15-60CA-FF37-066CA17F4A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28040" y="2178311"/>
            <a:ext cx="8244635" cy="41263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07ADC64-4751-52A0-DDEB-20843A556B71}"/>
              </a:ext>
            </a:extLst>
          </p:cNvPr>
          <p:cNvSpPr txBox="1"/>
          <p:nvPr/>
        </p:nvSpPr>
        <p:spPr>
          <a:xfrm>
            <a:off x="623140" y="1424888"/>
            <a:ext cx="111592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컴퓨터가 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Image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의 물체를 감지하고 분류 예측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(Object Detection)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: 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  <a:hlinkClick r:id="rId3"/>
              </a:rPr>
              <a:t>https://roboflow.com/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endParaRPr lang="ko-KR" altLang="en-US" dirty="0">
              <a:solidFill>
                <a:srgbClr val="0070C0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4AACBEB5-D9C6-6B11-F1F0-A616CEA2E2FB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sz="1400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32</a:t>
            </a:fld>
            <a:endParaRPr lang="en-US" sz="1400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9829206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B326FB-150E-BE96-08E2-0796224620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FCBB2FC7-ABBB-6EF3-A901-A983D707DAD0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YOLO: </a:t>
            </a:r>
            <a:r>
              <a:rPr lang="en-US" altLang="ko-KR" sz="2800" cap="none" dirty="0"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YOLO Object Detection</a:t>
            </a:r>
            <a:endParaRPr lang="ko-KR" altLang="en-US" sz="2800" cap="none" dirty="0"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pic>
        <p:nvPicPr>
          <p:cNvPr id="17" name="그림 16">
            <a:extLst>
              <a:ext uri="{FF2B5EF4-FFF2-40B4-BE49-F238E27FC236}">
                <a16:creationId xmlns:a16="http://schemas.microsoft.com/office/drawing/2014/main" id="{AE399E9D-0E06-6644-28CE-43E6B82352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8356" y="1685745"/>
            <a:ext cx="9600234" cy="4562655"/>
          </a:xfrm>
          <a:prstGeom prst="rect">
            <a:avLst/>
          </a:prstGeom>
        </p:spPr>
      </p:pic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CA14DF84-1D96-BB64-8986-29769A31BF4C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sz="1400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33</a:t>
            </a:fld>
            <a:endParaRPr lang="en-US" sz="1400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7808505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B3DCF7-1DBA-D4CB-1900-6CB1F1A108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78388F96-8C5B-F1DF-C77E-73C822A46DA6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YOLO</a:t>
            </a:r>
            <a:endParaRPr lang="ko-KR" altLang="en-US" sz="2800" cap="none" dirty="0"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13E2947-A36B-D4FB-CE58-18226E25275C}"/>
              </a:ext>
            </a:extLst>
          </p:cNvPr>
          <p:cNvSpPr txBox="1"/>
          <p:nvPr/>
        </p:nvSpPr>
        <p:spPr>
          <a:xfrm>
            <a:off x="571802" y="1474989"/>
            <a:ext cx="4114498" cy="348031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앵커 박스의 크기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(Scale)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와 비율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(Aspect Ratio)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을 사전에 세팅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직관이나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K-Means Clustering)</a:t>
            </a:r>
          </a:p>
          <a:p>
            <a:pPr>
              <a:lnSpc>
                <a:spcPct val="150000"/>
              </a:lnSpc>
            </a:pP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  <a:sym typeface="Wingdings" panose="05000000000000000000" pitchFamily="2" charset="2"/>
              </a:rPr>
              <a:t> 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아무리 미리 잘 </a:t>
            </a:r>
            <a:r>
              <a:rPr lang="ko-KR" altLang="en-US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정해둬도</a:t>
            </a: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세상 모든 물체의 크기에 딱 맞아떨어지는 앵커 박스를 만드는 것은 불가능</a:t>
            </a: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, '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회귀</a:t>
            </a: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(Regression) 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연산</a:t>
            </a: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'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을 함께 사용하여</a:t>
            </a: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사잔에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 정한 앵커 박스는 </a:t>
            </a: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＇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가장 근접한 출발선</a:t>
            </a: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＇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일 뿐이고</a:t>
            </a: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모델은 연산을 통해 그 고정된 틀을 실제 물체 크기에 맞게 수 밀리미터 단위로 미세하게 늘리거나 줄여서</a:t>
            </a: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(Delta 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값 조정</a:t>
            </a: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 최종 정답을 찾게 됨</a:t>
            </a: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1D8A8416-2307-93DC-863B-ABA03779E5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77402" y="1474989"/>
            <a:ext cx="6742796" cy="4411461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C5AB4E41-47CA-4EB5-7C66-5C6B4F8021BA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sz="1400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34</a:t>
            </a:fld>
            <a:endParaRPr lang="en-US" sz="1400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2367302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04C44D-F297-6601-F332-F8D92566EC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9F4A44E6-D3E3-3C22-7F65-FB46DBF44792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YOLO: </a:t>
            </a:r>
            <a:r>
              <a:rPr lang="en-US" altLang="ko-KR" sz="2800" cap="none" dirty="0"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What is YOLO algorithm?</a:t>
            </a:r>
            <a:endParaRPr lang="ko-KR" altLang="en-US" sz="2800" cap="none" dirty="0"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42EE9355-BCE3-59B9-FB09-0D84B020EF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2724" y="1483553"/>
            <a:ext cx="7635902" cy="4892464"/>
          </a:xfrm>
          <a:prstGeom prst="rect">
            <a:avLst/>
          </a:prstGeom>
        </p:spPr>
      </p:pic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2F26EDB3-4210-104B-C2B7-9570DC9C33A0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sz="1400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35</a:t>
            </a:fld>
            <a:endParaRPr lang="en-US" sz="1400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2754369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DC7199-E257-7147-5FEB-22189BC708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94ADBDE-C26F-7B35-7072-3279A3A1CA6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200" y="1164324"/>
            <a:ext cx="10515600" cy="2387600"/>
          </a:xfrm>
        </p:spPr>
        <p:txBody>
          <a:bodyPr rtlCol="0" anchor="ctr" anchorCtr="0">
            <a:normAutofit/>
          </a:bodyPr>
          <a:lstStyle/>
          <a:p>
            <a:pPr rtl="0"/>
            <a:r>
              <a:rPr lang="en-US" altLang="ko-KR" sz="4800" dirty="0">
                <a:solidFill>
                  <a:schemeClr val="bg1"/>
                </a:solidFill>
              </a:rPr>
              <a:t>Appendix</a:t>
            </a:r>
            <a:endParaRPr lang="ko-KR" altLang="en-US" sz="4800" dirty="0">
              <a:solidFill>
                <a:schemeClr val="bg1"/>
              </a:solidFill>
            </a:endParaRP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CF0C59B4-1A98-779E-6D07-9E3F217E4637}"/>
              </a:ext>
            </a:extLst>
          </p:cNvPr>
          <p:cNvSpPr txBox="1">
            <a:spLocks/>
          </p:cNvSpPr>
          <p:nvPr/>
        </p:nvSpPr>
        <p:spPr>
          <a:xfrm>
            <a:off x="857250" y="3279534"/>
            <a:ext cx="9582736" cy="63524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Tx/>
              <a:buNone/>
              <a:defRPr lang="en-US" sz="1200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2286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2pPr>
            <a:lvl3pPr marL="6858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3pPr>
            <a:lvl4pPr marL="11430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4pPr>
            <a:lvl5pPr marL="16002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5pPr>
            <a:lvl6pPr marL="20574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5146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9718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429000" indent="-228600" algn="l" defTabSz="914400" rtl="0" eaLnBrk="1" latinLnBrk="1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2400" dirty="0">
                <a:solidFill>
                  <a:schemeClr val="bg1"/>
                </a:solidFill>
              </a:rPr>
              <a:t>YOLO(You</a:t>
            </a:r>
            <a:r>
              <a:rPr lang="ko-KR" altLang="en-US" sz="2400" dirty="0">
                <a:solidFill>
                  <a:schemeClr val="bg1"/>
                </a:solidFill>
              </a:rPr>
              <a:t> </a:t>
            </a:r>
            <a:r>
              <a:rPr lang="en-US" altLang="ko-KR" sz="2400" dirty="0">
                <a:solidFill>
                  <a:schemeClr val="bg1"/>
                </a:solidFill>
              </a:rPr>
              <a:t>Only Look Once)</a:t>
            </a:r>
          </a:p>
        </p:txBody>
      </p:sp>
    </p:spTree>
    <p:extLst>
      <p:ext uri="{BB962C8B-B14F-4D97-AF65-F5344CB8AC3E}">
        <p14:creationId xmlns:p14="http://schemas.microsoft.com/office/powerpoint/2010/main" val="258923290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C2FD4B-C40F-5DED-FACC-738F5BC8AC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1BF66FF0-2CED-6E91-18B9-C638E564E5D6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YOLO</a:t>
            </a:r>
            <a:endParaRPr lang="ko-KR" altLang="en-US" sz="2800" cap="none" dirty="0"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DE2C951-CE28-AD38-D2E1-8D7B612630DF}"/>
              </a:ext>
            </a:extLst>
          </p:cNvPr>
          <p:cNvSpPr txBox="1"/>
          <p:nvPr/>
        </p:nvSpPr>
        <p:spPr>
          <a:xfrm>
            <a:off x="571802" y="1248422"/>
            <a:ext cx="11144553" cy="8808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YOLO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는 새로운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이미지가 들어오면 가상의 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3 by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3 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격자를 바탕으로 각 칸마다 물체의 중심이 있는지를 기계적으로 조사하여 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P(Object) 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값을 생성하고 </a:t>
            </a:r>
            <a:endParaRPr lang="en-US" altLang="ko-KR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6" name="제목 1">
            <a:extLst>
              <a:ext uri="{FF2B5EF4-FFF2-40B4-BE49-F238E27FC236}">
                <a16:creationId xmlns:a16="http://schemas.microsoft.com/office/drawing/2014/main" id="{6197DD21-36FC-BEFC-CCFD-BFB183647A41}"/>
              </a:ext>
            </a:extLst>
          </p:cNvPr>
          <p:cNvSpPr txBox="1">
            <a:spLocks/>
          </p:cNvSpPr>
          <p:nvPr/>
        </p:nvSpPr>
        <p:spPr>
          <a:xfrm>
            <a:off x="7031196" y="647700"/>
            <a:ext cx="4629755" cy="60072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r"/>
            <a:r>
              <a:rPr lang="en-US" altLang="ko-KR" sz="2000" cap="none" dirty="0"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3. </a:t>
            </a:r>
            <a:r>
              <a:rPr lang="ko-KR" altLang="en-US" sz="2000" cap="none" dirty="0"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새로운 데이터 격자로 나누기</a:t>
            </a:r>
          </a:p>
        </p:txBody>
      </p:sp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3DCB820B-BD35-5B2F-05F9-6DC922453C99}"/>
              </a:ext>
            </a:extLst>
          </p:cNvPr>
          <p:cNvGraphicFramePr>
            <a:graphicFrameLocks noGrp="1"/>
          </p:cNvGraphicFramePr>
          <p:nvPr/>
        </p:nvGraphicFramePr>
        <p:xfrm>
          <a:off x="2057397" y="3376294"/>
          <a:ext cx="2966088" cy="2430681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88696">
                  <a:extLst>
                    <a:ext uri="{9D8B030D-6E8A-4147-A177-3AD203B41FA5}">
                      <a16:colId xmlns:a16="http://schemas.microsoft.com/office/drawing/2014/main" val="1961843274"/>
                    </a:ext>
                  </a:extLst>
                </a:gridCol>
                <a:gridCol w="988696">
                  <a:extLst>
                    <a:ext uri="{9D8B030D-6E8A-4147-A177-3AD203B41FA5}">
                      <a16:colId xmlns:a16="http://schemas.microsoft.com/office/drawing/2014/main" val="2923400843"/>
                    </a:ext>
                  </a:extLst>
                </a:gridCol>
                <a:gridCol w="988696">
                  <a:extLst>
                    <a:ext uri="{9D8B030D-6E8A-4147-A177-3AD203B41FA5}">
                      <a16:colId xmlns:a16="http://schemas.microsoft.com/office/drawing/2014/main" val="2951067763"/>
                    </a:ext>
                  </a:extLst>
                </a:gridCol>
              </a:tblGrid>
              <a:tr h="810227">
                <a:tc>
                  <a:txBody>
                    <a:bodyPr/>
                    <a:lstStyle/>
                    <a:p>
                      <a:pPr algn="ctr" latinLnBrk="1"/>
                      <a:endParaRPr lang="en-US" altLang="ko-KR" sz="1200" dirty="0">
                        <a:solidFill>
                          <a:schemeClr val="tx1"/>
                        </a:solidFill>
                      </a:endParaRPr>
                    </a:p>
                    <a:p>
                      <a:pPr algn="ctr" latinLnBrk="1"/>
                      <a:endParaRPr lang="en-US" altLang="ko-KR" sz="1200" dirty="0">
                        <a:solidFill>
                          <a:schemeClr val="tx1"/>
                        </a:solidFill>
                      </a:endParaRPr>
                    </a:p>
                    <a:p>
                      <a:pPr algn="ctr" latinLnBrk="1"/>
                      <a:endParaRPr lang="en-US" altLang="ko-KR" sz="1200" dirty="0">
                        <a:solidFill>
                          <a:schemeClr val="tx1"/>
                        </a:solidFill>
                      </a:endParaRPr>
                    </a:p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</a:rPr>
                        <a:t>0.01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67388" marR="67388" marT="33693" marB="33693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Segoe UI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Segoe UI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Segoe UI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Segoe UI"/>
                          <a:ea typeface="+mn-ea"/>
                          <a:cs typeface="+mn-cs"/>
                        </a:rPr>
                        <a:t>0.15</a:t>
                      </a:r>
                      <a:endParaRPr kumimoji="0" lang="ko-KR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Segoe UI"/>
                        <a:ea typeface="+mn-ea"/>
                        <a:cs typeface="+mn-cs"/>
                      </a:endParaRPr>
                    </a:p>
                  </a:txBody>
                  <a:tcPr marL="67388" marR="67388" marT="33693" marB="33693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Segoe UI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Segoe UI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Segoe UI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Segoe UI"/>
                          <a:ea typeface="+mn-ea"/>
                          <a:cs typeface="+mn-cs"/>
                        </a:rPr>
                        <a:t>0.06</a:t>
                      </a:r>
                      <a:endParaRPr kumimoji="0" lang="ko-KR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Segoe UI"/>
                        <a:ea typeface="+mn-ea"/>
                        <a:cs typeface="+mn-cs"/>
                      </a:endParaRPr>
                    </a:p>
                  </a:txBody>
                  <a:tcPr marL="67388" marR="67388" marT="33693" marB="33693"/>
                </a:tc>
                <a:extLst>
                  <a:ext uri="{0D108BD9-81ED-4DB2-BD59-A6C34878D82A}">
                    <a16:rowId xmlns:a16="http://schemas.microsoft.com/office/drawing/2014/main" val="844891742"/>
                  </a:ext>
                </a:extLst>
              </a:tr>
              <a:tr h="81022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Segoe UI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Segoe UI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Segoe UI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Segoe UI"/>
                          <a:ea typeface="+mn-ea"/>
                          <a:cs typeface="+mn-cs"/>
                        </a:rPr>
                        <a:t>0.02</a:t>
                      </a:r>
                      <a:endParaRPr kumimoji="0" lang="ko-KR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Segoe UI"/>
                        <a:ea typeface="+mn-ea"/>
                        <a:cs typeface="+mn-cs"/>
                      </a:endParaRPr>
                    </a:p>
                  </a:txBody>
                  <a:tcPr marL="67388" marR="67388" marT="33693" marB="33693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Segoe UI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Segoe UI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Segoe UI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Segoe UI"/>
                          <a:ea typeface="+mn-ea"/>
                          <a:cs typeface="+mn-cs"/>
                        </a:rPr>
                        <a:t>0.95</a:t>
                      </a:r>
                      <a:endParaRPr kumimoji="0" lang="ko-KR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Segoe UI"/>
                        <a:ea typeface="+mn-ea"/>
                        <a:cs typeface="+mn-cs"/>
                      </a:endParaRPr>
                    </a:p>
                  </a:txBody>
                  <a:tcPr marL="67388" marR="67388" marT="33693" marB="33693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Segoe UI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Segoe UI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Segoe UI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Segoe UI"/>
                          <a:ea typeface="+mn-ea"/>
                          <a:cs typeface="+mn-cs"/>
                        </a:rPr>
                        <a:t>0.56</a:t>
                      </a:r>
                      <a:endParaRPr kumimoji="0" lang="ko-KR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Segoe UI"/>
                        <a:ea typeface="+mn-ea"/>
                        <a:cs typeface="+mn-cs"/>
                      </a:endParaRPr>
                    </a:p>
                  </a:txBody>
                  <a:tcPr marL="67388" marR="67388" marT="33693" marB="33693"/>
                </a:tc>
                <a:extLst>
                  <a:ext uri="{0D108BD9-81ED-4DB2-BD59-A6C34878D82A}">
                    <a16:rowId xmlns:a16="http://schemas.microsoft.com/office/drawing/2014/main" val="4097710734"/>
                  </a:ext>
                </a:extLst>
              </a:tr>
              <a:tr h="81022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Segoe UI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Segoe UI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Segoe UI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Segoe UI"/>
                          <a:ea typeface="+mn-ea"/>
                          <a:cs typeface="+mn-cs"/>
                        </a:rPr>
                        <a:t>0.02</a:t>
                      </a:r>
                      <a:endParaRPr kumimoji="0" lang="ko-KR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Segoe UI"/>
                        <a:ea typeface="+mn-ea"/>
                        <a:cs typeface="+mn-cs"/>
                      </a:endParaRPr>
                    </a:p>
                  </a:txBody>
                  <a:tcPr marL="67388" marR="67388" marT="33693" marB="33693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Segoe UI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Segoe UI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Segoe UI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Segoe UI"/>
                          <a:ea typeface="+mn-ea"/>
                          <a:cs typeface="+mn-cs"/>
                        </a:rPr>
                        <a:t>0.03</a:t>
                      </a:r>
                      <a:endParaRPr kumimoji="0" lang="ko-KR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Segoe UI"/>
                        <a:ea typeface="+mn-ea"/>
                        <a:cs typeface="+mn-cs"/>
                      </a:endParaRPr>
                    </a:p>
                  </a:txBody>
                  <a:tcPr marL="67388" marR="67388" marT="33693" marB="33693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Segoe UI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Segoe UI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Segoe UI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Segoe UI"/>
                          <a:ea typeface="+mn-ea"/>
                          <a:cs typeface="+mn-cs"/>
                        </a:rPr>
                        <a:t>0.01</a:t>
                      </a:r>
                      <a:endParaRPr kumimoji="0" lang="ko-KR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Segoe UI"/>
                        <a:ea typeface="+mn-ea"/>
                        <a:cs typeface="+mn-cs"/>
                      </a:endParaRPr>
                    </a:p>
                  </a:txBody>
                  <a:tcPr marL="67388" marR="67388" marT="33693" marB="33693"/>
                </a:tc>
                <a:extLst>
                  <a:ext uri="{0D108BD9-81ED-4DB2-BD59-A6C34878D82A}">
                    <a16:rowId xmlns:a16="http://schemas.microsoft.com/office/drawing/2014/main" val="3232772719"/>
                  </a:ext>
                </a:extLst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8F266889-2574-6C8D-498E-2954A5F89700}"/>
              </a:ext>
            </a:extLst>
          </p:cNvPr>
          <p:cNvSpPr txBox="1"/>
          <p:nvPr/>
        </p:nvSpPr>
        <p:spPr>
          <a:xfrm>
            <a:off x="1981197" y="2729963"/>
            <a:ext cx="283845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원래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(30, 30)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이미지를</a:t>
            </a: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algn="ctr"/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(3, 3) grid</a:t>
            </a:r>
            <a:endParaRPr lang="ko-KR" altLang="en-US" sz="1600" dirty="0"/>
          </a:p>
        </p:txBody>
      </p:sp>
      <p:pic>
        <p:nvPicPr>
          <p:cNvPr id="5" name="그래픽 4" descr="트럭">
            <a:extLst>
              <a:ext uri="{FF2B5EF4-FFF2-40B4-BE49-F238E27FC236}">
                <a16:creationId xmlns:a16="http://schemas.microsoft.com/office/drawing/2014/main" id="{F025B43B-39F6-6D9F-17C5-629B2610F7F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121757" y="3815064"/>
            <a:ext cx="1234769" cy="1234769"/>
          </a:xfrm>
          <a:prstGeom prst="rect">
            <a:avLst/>
          </a:prstGeom>
        </p:spPr>
      </p:pic>
      <p:sp>
        <p:nvSpPr>
          <p:cNvPr id="17" name="곱하기 기호 16">
            <a:extLst>
              <a:ext uri="{FF2B5EF4-FFF2-40B4-BE49-F238E27FC236}">
                <a16:creationId xmlns:a16="http://schemas.microsoft.com/office/drawing/2014/main" id="{9AFFF238-2574-8DAA-15D2-6C011A6C67C6}"/>
              </a:ext>
            </a:extLst>
          </p:cNvPr>
          <p:cNvSpPr/>
          <p:nvPr/>
        </p:nvSpPr>
        <p:spPr>
          <a:xfrm>
            <a:off x="3487876" y="4505862"/>
            <a:ext cx="185112" cy="184876"/>
          </a:xfrm>
          <a:prstGeom prst="mathMultiply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18" name="표 17">
            <a:extLst>
              <a:ext uri="{FF2B5EF4-FFF2-40B4-BE49-F238E27FC236}">
                <a16:creationId xmlns:a16="http://schemas.microsoft.com/office/drawing/2014/main" id="{DE1976F9-25E4-2257-A627-A4E3CBC2C1B7}"/>
              </a:ext>
            </a:extLst>
          </p:cNvPr>
          <p:cNvGraphicFramePr>
            <a:graphicFrameLocks noGrp="1"/>
          </p:cNvGraphicFramePr>
          <p:nvPr/>
        </p:nvGraphicFramePr>
        <p:xfrm>
          <a:off x="5819773" y="3376294"/>
          <a:ext cx="2943228" cy="248804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81076">
                  <a:extLst>
                    <a:ext uri="{9D8B030D-6E8A-4147-A177-3AD203B41FA5}">
                      <a16:colId xmlns:a16="http://schemas.microsoft.com/office/drawing/2014/main" val="1961843274"/>
                    </a:ext>
                  </a:extLst>
                </a:gridCol>
                <a:gridCol w="981076">
                  <a:extLst>
                    <a:ext uri="{9D8B030D-6E8A-4147-A177-3AD203B41FA5}">
                      <a16:colId xmlns:a16="http://schemas.microsoft.com/office/drawing/2014/main" val="2923400843"/>
                    </a:ext>
                  </a:extLst>
                </a:gridCol>
                <a:gridCol w="981076">
                  <a:extLst>
                    <a:ext uri="{9D8B030D-6E8A-4147-A177-3AD203B41FA5}">
                      <a16:colId xmlns:a16="http://schemas.microsoft.com/office/drawing/2014/main" val="2951067763"/>
                    </a:ext>
                  </a:extLst>
                </a:gridCol>
              </a:tblGrid>
              <a:tr h="829348">
                <a:tc>
                  <a:txBody>
                    <a:bodyPr/>
                    <a:lstStyle/>
                    <a:p>
                      <a:pPr algn="ctr" latinLnBrk="1"/>
                      <a:endParaRPr lang="en-US" altLang="ko-KR" sz="1200" dirty="0">
                        <a:solidFill>
                          <a:schemeClr val="tx1"/>
                        </a:solidFill>
                      </a:endParaRPr>
                    </a:p>
                    <a:p>
                      <a:pPr algn="ctr" latinLnBrk="1"/>
                      <a:endParaRPr lang="en-US" altLang="ko-KR" sz="1200" dirty="0">
                        <a:solidFill>
                          <a:schemeClr val="tx1"/>
                        </a:solidFill>
                      </a:endParaRPr>
                    </a:p>
                    <a:p>
                      <a:pPr algn="ctr" latinLnBrk="1"/>
                      <a:endParaRPr lang="en-US" altLang="ko-KR" sz="1200" dirty="0">
                        <a:solidFill>
                          <a:schemeClr val="tx1"/>
                        </a:solidFill>
                      </a:endParaRPr>
                    </a:p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</a:rPr>
                        <a:t>0.01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67388" marR="67388" marT="33693" marB="33693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Segoe UI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Segoe UI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Segoe UI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Segoe UI"/>
                          <a:ea typeface="+mn-ea"/>
                          <a:cs typeface="+mn-cs"/>
                        </a:rPr>
                        <a:t>0.15</a:t>
                      </a:r>
                      <a:endParaRPr kumimoji="0" lang="ko-KR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Segoe UI"/>
                        <a:ea typeface="+mn-ea"/>
                        <a:cs typeface="+mn-cs"/>
                      </a:endParaRPr>
                    </a:p>
                  </a:txBody>
                  <a:tcPr marL="67388" marR="67388" marT="33693" marB="33693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Segoe UI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Segoe UI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Segoe UI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Segoe UI"/>
                          <a:ea typeface="+mn-ea"/>
                          <a:cs typeface="+mn-cs"/>
                        </a:rPr>
                        <a:t>0.06</a:t>
                      </a:r>
                      <a:endParaRPr kumimoji="0" lang="ko-KR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Segoe UI"/>
                        <a:ea typeface="+mn-ea"/>
                        <a:cs typeface="+mn-cs"/>
                      </a:endParaRPr>
                    </a:p>
                  </a:txBody>
                  <a:tcPr marL="67388" marR="67388" marT="33693" marB="33693"/>
                </a:tc>
                <a:extLst>
                  <a:ext uri="{0D108BD9-81ED-4DB2-BD59-A6C34878D82A}">
                    <a16:rowId xmlns:a16="http://schemas.microsoft.com/office/drawing/2014/main" val="844891742"/>
                  </a:ext>
                </a:extLst>
              </a:tr>
              <a:tr h="82934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Segoe UI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Segoe UI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Segoe UI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Segoe UI"/>
                          <a:ea typeface="+mn-ea"/>
                          <a:cs typeface="+mn-cs"/>
                        </a:rPr>
                        <a:t>0.02</a:t>
                      </a:r>
                      <a:endParaRPr kumimoji="0" lang="ko-KR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Segoe UI"/>
                        <a:ea typeface="+mn-ea"/>
                        <a:cs typeface="+mn-cs"/>
                      </a:endParaRPr>
                    </a:p>
                  </a:txBody>
                  <a:tcPr marL="67388" marR="67388" marT="33693" marB="33693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Segoe UI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Segoe UI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Segoe UI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Segoe UI"/>
                          <a:ea typeface="+mn-ea"/>
                          <a:cs typeface="+mn-cs"/>
                        </a:rPr>
                        <a:t>0.95</a:t>
                      </a:r>
                      <a:endParaRPr kumimoji="0" lang="ko-KR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Segoe UI"/>
                        <a:ea typeface="+mn-ea"/>
                        <a:cs typeface="+mn-cs"/>
                      </a:endParaRPr>
                    </a:p>
                  </a:txBody>
                  <a:tcPr marL="67388" marR="67388" marT="33693" marB="33693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Segoe UI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Segoe UI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Segoe UI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Segoe UI"/>
                          <a:ea typeface="+mn-ea"/>
                          <a:cs typeface="+mn-cs"/>
                        </a:rPr>
                        <a:t>0.56</a:t>
                      </a:r>
                      <a:endParaRPr kumimoji="0" lang="ko-KR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Segoe UI"/>
                        <a:ea typeface="+mn-ea"/>
                        <a:cs typeface="+mn-cs"/>
                      </a:endParaRPr>
                    </a:p>
                  </a:txBody>
                  <a:tcPr marL="67388" marR="67388" marT="33693" marB="33693"/>
                </a:tc>
                <a:extLst>
                  <a:ext uri="{0D108BD9-81ED-4DB2-BD59-A6C34878D82A}">
                    <a16:rowId xmlns:a16="http://schemas.microsoft.com/office/drawing/2014/main" val="4097710734"/>
                  </a:ext>
                </a:extLst>
              </a:tr>
              <a:tr h="82934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Segoe UI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Segoe UI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Segoe UI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Segoe UI"/>
                          <a:ea typeface="+mn-ea"/>
                          <a:cs typeface="+mn-cs"/>
                        </a:rPr>
                        <a:t>0.02</a:t>
                      </a:r>
                      <a:endParaRPr kumimoji="0" lang="ko-KR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Segoe UI"/>
                        <a:ea typeface="+mn-ea"/>
                        <a:cs typeface="+mn-cs"/>
                      </a:endParaRPr>
                    </a:p>
                  </a:txBody>
                  <a:tcPr marL="67388" marR="67388" marT="33693" marB="33693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Segoe UI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Segoe UI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Segoe UI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Segoe UI"/>
                          <a:ea typeface="+mn-ea"/>
                          <a:cs typeface="+mn-cs"/>
                        </a:rPr>
                        <a:t>0.03</a:t>
                      </a:r>
                      <a:endParaRPr kumimoji="0" lang="ko-KR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Segoe UI"/>
                        <a:ea typeface="+mn-ea"/>
                        <a:cs typeface="+mn-cs"/>
                      </a:endParaRPr>
                    </a:p>
                  </a:txBody>
                  <a:tcPr marL="67388" marR="67388" marT="33693" marB="33693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Segoe UI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Segoe UI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Segoe UI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Segoe UI"/>
                          <a:ea typeface="+mn-ea"/>
                          <a:cs typeface="+mn-cs"/>
                        </a:rPr>
                        <a:t>0.01</a:t>
                      </a:r>
                      <a:endParaRPr kumimoji="0" lang="ko-KR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Segoe UI"/>
                        <a:ea typeface="+mn-ea"/>
                        <a:cs typeface="+mn-cs"/>
                      </a:endParaRPr>
                    </a:p>
                  </a:txBody>
                  <a:tcPr marL="67388" marR="67388" marT="33693" marB="33693"/>
                </a:tc>
                <a:extLst>
                  <a:ext uri="{0D108BD9-81ED-4DB2-BD59-A6C34878D82A}">
                    <a16:rowId xmlns:a16="http://schemas.microsoft.com/office/drawing/2014/main" val="3232772719"/>
                  </a:ext>
                </a:extLst>
              </a:tr>
            </a:tbl>
          </a:graphicData>
        </a:graphic>
      </p:graphicFrame>
      <p:pic>
        <p:nvPicPr>
          <p:cNvPr id="19" name="그래픽 18" descr="트럭">
            <a:extLst>
              <a:ext uri="{FF2B5EF4-FFF2-40B4-BE49-F238E27FC236}">
                <a16:creationId xmlns:a16="http://schemas.microsoft.com/office/drawing/2014/main" id="{F3413E7F-C0BD-A5C4-97D1-5D0E8C6A348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859473" y="3839388"/>
            <a:ext cx="1234769" cy="1234769"/>
          </a:xfrm>
          <a:prstGeom prst="rect">
            <a:avLst/>
          </a:prstGeom>
        </p:spPr>
      </p:pic>
      <p:sp>
        <p:nvSpPr>
          <p:cNvPr id="20" name="곱하기 기호 19">
            <a:extLst>
              <a:ext uri="{FF2B5EF4-FFF2-40B4-BE49-F238E27FC236}">
                <a16:creationId xmlns:a16="http://schemas.microsoft.com/office/drawing/2014/main" id="{EC2A791D-5EAC-8DC6-3401-265698CA4966}"/>
              </a:ext>
            </a:extLst>
          </p:cNvPr>
          <p:cNvSpPr/>
          <p:nvPr/>
        </p:nvSpPr>
        <p:spPr>
          <a:xfrm>
            <a:off x="7250251" y="4505862"/>
            <a:ext cx="185112" cy="184876"/>
          </a:xfrm>
          <a:prstGeom prst="mathMultiply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784ABF0-D5CF-8FAB-691A-53A0DA4AA826}"/>
              </a:ext>
            </a:extLst>
          </p:cNvPr>
          <p:cNvSpPr txBox="1"/>
          <p:nvPr/>
        </p:nvSpPr>
        <p:spPr>
          <a:xfrm>
            <a:off x="5595936" y="2736837"/>
            <a:ext cx="345281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Tensor[2,2,:] = 0.5,0.5,0.6,0.4 = x, y, w, h</a:t>
            </a:r>
            <a:endParaRPr lang="ko-KR" altLang="en-US" sz="1600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E8ED8A2-C278-A78F-8F42-80C8604E01C5}"/>
              </a:ext>
            </a:extLst>
          </p:cNvPr>
          <p:cNvSpPr txBox="1"/>
          <p:nvPr/>
        </p:nvSpPr>
        <p:spPr>
          <a:xfrm>
            <a:off x="9030572" y="3410979"/>
            <a:ext cx="2630379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(2,2)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셀의 왼쪽 상단을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(0,0)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으로 가정하여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x, y, w, h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를 구하라</a:t>
            </a:r>
            <a:endParaRPr lang="ko-KR" altLang="en-US" sz="1400" dirty="0"/>
          </a:p>
        </p:txBody>
      </p:sp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EC5969EF-EAA4-D5C3-BAD8-1D91A1544320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sz="1400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37</a:t>
            </a:fld>
            <a:endParaRPr lang="en-US" sz="1400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667879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21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1C4AA4-FB3F-4028-BAB6-1068F53E07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13C618B3-0B0A-4153-0F16-6CD8BC985D0E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YOLO</a:t>
            </a:r>
            <a:endParaRPr lang="ko-KR" altLang="en-US" sz="2800" cap="none" dirty="0"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06632DF-E2C3-456E-17D1-EE7B95FF96B8}"/>
              </a:ext>
            </a:extLst>
          </p:cNvPr>
          <p:cNvSpPr txBox="1"/>
          <p:nvPr/>
        </p:nvSpPr>
        <p:spPr>
          <a:xfrm>
            <a:off x="571802" y="1248422"/>
            <a:ext cx="11144553" cy="465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 err="1">
                <a:latin typeface="D2Coding" panose="020B0609020101020101" pitchFamily="49" charset="-127"/>
                <a:ea typeface="D2Coding" panose="020B0609020101020101" pitchFamily="49" charset="-127"/>
              </a:rPr>
              <a:t>사령탑셀의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 실제 픽셀 범위는 가로 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10~20, 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세로 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10~20 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영역이며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원본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(30, 30)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이미지에는 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(15,15) 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픽셀</a:t>
            </a:r>
            <a:endParaRPr lang="en-US" altLang="ko-KR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6" name="제목 1">
            <a:extLst>
              <a:ext uri="{FF2B5EF4-FFF2-40B4-BE49-F238E27FC236}">
                <a16:creationId xmlns:a16="http://schemas.microsoft.com/office/drawing/2014/main" id="{6902043F-72A8-4F16-1C1B-1E4721B19C82}"/>
              </a:ext>
            </a:extLst>
          </p:cNvPr>
          <p:cNvSpPr txBox="1">
            <a:spLocks/>
          </p:cNvSpPr>
          <p:nvPr/>
        </p:nvSpPr>
        <p:spPr>
          <a:xfrm>
            <a:off x="7031196" y="647700"/>
            <a:ext cx="4629755" cy="60072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r"/>
            <a:r>
              <a:rPr lang="en-US" altLang="ko-KR" sz="2000" cap="none" dirty="0"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3. </a:t>
            </a:r>
            <a:r>
              <a:rPr lang="ko-KR" altLang="en-US" sz="2000" cap="none" dirty="0"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새로운 데이터 격자로 나누기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32CF61F-99BB-CEC3-ACB7-57BF9F0A02CC}"/>
              </a:ext>
            </a:extLst>
          </p:cNvPr>
          <p:cNvSpPr txBox="1"/>
          <p:nvPr/>
        </p:nvSpPr>
        <p:spPr>
          <a:xfrm>
            <a:off x="5249494" y="1876127"/>
            <a:ext cx="4663048" cy="7056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X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=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(10) +(그리드 한 칸 너비(10)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x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(0.5)) =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15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픽셀</a:t>
            </a:r>
            <a:endParaRPr lang="en-US" altLang="ko-KR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Y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=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(10) +(그리드 한 칸 높이(10)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x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(0.5)) =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15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픽셀</a:t>
            </a:r>
          </a:p>
        </p:txBody>
      </p:sp>
      <p:graphicFrame>
        <p:nvGraphicFramePr>
          <p:cNvPr id="46" name="표 45">
            <a:extLst>
              <a:ext uri="{FF2B5EF4-FFF2-40B4-BE49-F238E27FC236}">
                <a16:creationId xmlns:a16="http://schemas.microsoft.com/office/drawing/2014/main" id="{B1738D25-B1C2-FA34-9984-56937D29C5A2}"/>
              </a:ext>
            </a:extLst>
          </p:cNvPr>
          <p:cNvGraphicFramePr>
            <a:graphicFrameLocks noGrp="1"/>
          </p:cNvGraphicFramePr>
          <p:nvPr/>
        </p:nvGraphicFramePr>
        <p:xfrm>
          <a:off x="684978" y="3123696"/>
          <a:ext cx="2943228" cy="248804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81076">
                  <a:extLst>
                    <a:ext uri="{9D8B030D-6E8A-4147-A177-3AD203B41FA5}">
                      <a16:colId xmlns:a16="http://schemas.microsoft.com/office/drawing/2014/main" val="1961843274"/>
                    </a:ext>
                  </a:extLst>
                </a:gridCol>
                <a:gridCol w="981076">
                  <a:extLst>
                    <a:ext uri="{9D8B030D-6E8A-4147-A177-3AD203B41FA5}">
                      <a16:colId xmlns:a16="http://schemas.microsoft.com/office/drawing/2014/main" val="2923400843"/>
                    </a:ext>
                  </a:extLst>
                </a:gridCol>
                <a:gridCol w="981076">
                  <a:extLst>
                    <a:ext uri="{9D8B030D-6E8A-4147-A177-3AD203B41FA5}">
                      <a16:colId xmlns:a16="http://schemas.microsoft.com/office/drawing/2014/main" val="2951067763"/>
                    </a:ext>
                  </a:extLst>
                </a:gridCol>
              </a:tblGrid>
              <a:tr h="829348">
                <a:tc>
                  <a:txBody>
                    <a:bodyPr/>
                    <a:lstStyle/>
                    <a:p>
                      <a:pPr algn="ctr" latinLnBrk="1"/>
                      <a:endParaRPr lang="en-US" altLang="ko-KR" sz="1200" dirty="0">
                        <a:solidFill>
                          <a:schemeClr val="tx1"/>
                        </a:solidFill>
                      </a:endParaRPr>
                    </a:p>
                    <a:p>
                      <a:pPr algn="ctr" latinLnBrk="1"/>
                      <a:endParaRPr lang="en-US" altLang="ko-KR" sz="1200" dirty="0">
                        <a:solidFill>
                          <a:schemeClr val="tx1"/>
                        </a:solidFill>
                      </a:endParaRPr>
                    </a:p>
                    <a:p>
                      <a:pPr algn="ctr" latinLnBrk="1"/>
                      <a:endParaRPr lang="en-US" altLang="ko-KR" sz="1200" dirty="0">
                        <a:solidFill>
                          <a:schemeClr val="tx1"/>
                        </a:solidFill>
                      </a:endParaRPr>
                    </a:p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</a:rPr>
                        <a:t>0.01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67388" marR="67388" marT="33693" marB="33693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Segoe UI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Segoe UI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Segoe UI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Segoe UI"/>
                          <a:ea typeface="+mn-ea"/>
                          <a:cs typeface="+mn-cs"/>
                        </a:rPr>
                        <a:t>0.15</a:t>
                      </a:r>
                      <a:endParaRPr kumimoji="0" lang="ko-KR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Segoe UI"/>
                        <a:ea typeface="+mn-ea"/>
                        <a:cs typeface="+mn-cs"/>
                      </a:endParaRPr>
                    </a:p>
                  </a:txBody>
                  <a:tcPr marL="67388" marR="67388" marT="33693" marB="33693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Segoe UI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Segoe UI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Segoe UI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Segoe UI"/>
                          <a:ea typeface="+mn-ea"/>
                          <a:cs typeface="+mn-cs"/>
                        </a:rPr>
                        <a:t>0.06</a:t>
                      </a:r>
                      <a:endParaRPr kumimoji="0" lang="ko-KR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Segoe UI"/>
                        <a:ea typeface="+mn-ea"/>
                        <a:cs typeface="+mn-cs"/>
                      </a:endParaRPr>
                    </a:p>
                  </a:txBody>
                  <a:tcPr marL="67388" marR="67388" marT="33693" marB="33693"/>
                </a:tc>
                <a:extLst>
                  <a:ext uri="{0D108BD9-81ED-4DB2-BD59-A6C34878D82A}">
                    <a16:rowId xmlns:a16="http://schemas.microsoft.com/office/drawing/2014/main" val="844891742"/>
                  </a:ext>
                </a:extLst>
              </a:tr>
              <a:tr h="82934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Segoe UI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Segoe UI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Segoe UI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Segoe UI"/>
                          <a:ea typeface="+mn-ea"/>
                          <a:cs typeface="+mn-cs"/>
                        </a:rPr>
                        <a:t>0.02</a:t>
                      </a:r>
                      <a:endParaRPr kumimoji="0" lang="ko-KR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Segoe UI"/>
                        <a:ea typeface="+mn-ea"/>
                        <a:cs typeface="+mn-cs"/>
                      </a:endParaRPr>
                    </a:p>
                  </a:txBody>
                  <a:tcPr marL="67388" marR="67388" marT="33693" marB="33693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Segoe UI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Segoe UI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Segoe UI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Segoe UI"/>
                          <a:ea typeface="+mn-ea"/>
                          <a:cs typeface="+mn-cs"/>
                        </a:rPr>
                        <a:t>0.95</a:t>
                      </a:r>
                      <a:endParaRPr kumimoji="0" lang="ko-KR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Segoe UI"/>
                        <a:ea typeface="+mn-ea"/>
                        <a:cs typeface="+mn-cs"/>
                      </a:endParaRPr>
                    </a:p>
                  </a:txBody>
                  <a:tcPr marL="67388" marR="67388" marT="33693" marB="33693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Segoe UI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Segoe UI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Segoe UI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Segoe UI"/>
                          <a:ea typeface="+mn-ea"/>
                          <a:cs typeface="+mn-cs"/>
                        </a:rPr>
                        <a:t>0.56</a:t>
                      </a:r>
                      <a:endParaRPr kumimoji="0" lang="ko-KR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Segoe UI"/>
                        <a:ea typeface="+mn-ea"/>
                        <a:cs typeface="+mn-cs"/>
                      </a:endParaRPr>
                    </a:p>
                  </a:txBody>
                  <a:tcPr marL="67388" marR="67388" marT="33693" marB="33693"/>
                </a:tc>
                <a:extLst>
                  <a:ext uri="{0D108BD9-81ED-4DB2-BD59-A6C34878D82A}">
                    <a16:rowId xmlns:a16="http://schemas.microsoft.com/office/drawing/2014/main" val="4097710734"/>
                  </a:ext>
                </a:extLst>
              </a:tr>
              <a:tr h="82934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Segoe UI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Segoe UI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Segoe UI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Segoe UI"/>
                          <a:ea typeface="+mn-ea"/>
                          <a:cs typeface="+mn-cs"/>
                        </a:rPr>
                        <a:t>0.02</a:t>
                      </a:r>
                      <a:endParaRPr kumimoji="0" lang="ko-KR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Segoe UI"/>
                        <a:ea typeface="+mn-ea"/>
                        <a:cs typeface="+mn-cs"/>
                      </a:endParaRPr>
                    </a:p>
                  </a:txBody>
                  <a:tcPr marL="67388" marR="67388" marT="33693" marB="33693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Segoe UI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Segoe UI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Segoe UI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Segoe UI"/>
                          <a:ea typeface="+mn-ea"/>
                          <a:cs typeface="+mn-cs"/>
                        </a:rPr>
                        <a:t>0.03</a:t>
                      </a:r>
                      <a:endParaRPr kumimoji="0" lang="ko-KR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Segoe UI"/>
                        <a:ea typeface="+mn-ea"/>
                        <a:cs typeface="+mn-cs"/>
                      </a:endParaRPr>
                    </a:p>
                  </a:txBody>
                  <a:tcPr marL="67388" marR="67388" marT="33693" marB="33693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Segoe UI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Segoe UI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Segoe UI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Segoe UI"/>
                          <a:ea typeface="+mn-ea"/>
                          <a:cs typeface="+mn-cs"/>
                        </a:rPr>
                        <a:t>0.01</a:t>
                      </a:r>
                      <a:endParaRPr kumimoji="0" lang="ko-KR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Segoe UI"/>
                        <a:ea typeface="+mn-ea"/>
                        <a:cs typeface="+mn-cs"/>
                      </a:endParaRPr>
                    </a:p>
                  </a:txBody>
                  <a:tcPr marL="67388" marR="67388" marT="33693" marB="33693"/>
                </a:tc>
                <a:extLst>
                  <a:ext uri="{0D108BD9-81ED-4DB2-BD59-A6C34878D82A}">
                    <a16:rowId xmlns:a16="http://schemas.microsoft.com/office/drawing/2014/main" val="3232772719"/>
                  </a:ext>
                </a:extLst>
              </a:tr>
            </a:tbl>
          </a:graphicData>
        </a:graphic>
      </p:graphicFrame>
      <p:pic>
        <p:nvPicPr>
          <p:cNvPr id="47" name="그래픽 46" descr="트럭">
            <a:extLst>
              <a:ext uri="{FF2B5EF4-FFF2-40B4-BE49-F238E27FC236}">
                <a16:creationId xmlns:a16="http://schemas.microsoft.com/office/drawing/2014/main" id="{ACC57C0E-69E3-405B-01E8-D9750FA2822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24678" y="3586790"/>
            <a:ext cx="1234769" cy="1234769"/>
          </a:xfrm>
          <a:prstGeom prst="rect">
            <a:avLst/>
          </a:prstGeom>
        </p:spPr>
      </p:pic>
      <p:sp>
        <p:nvSpPr>
          <p:cNvPr id="48" name="곱하기 기호 47">
            <a:extLst>
              <a:ext uri="{FF2B5EF4-FFF2-40B4-BE49-F238E27FC236}">
                <a16:creationId xmlns:a16="http://schemas.microsoft.com/office/drawing/2014/main" id="{C9559834-CFF6-526D-F332-255CD3C2947C}"/>
              </a:ext>
            </a:extLst>
          </p:cNvPr>
          <p:cNvSpPr/>
          <p:nvPr/>
        </p:nvSpPr>
        <p:spPr>
          <a:xfrm>
            <a:off x="2115456" y="4253264"/>
            <a:ext cx="185112" cy="184876"/>
          </a:xfrm>
          <a:prstGeom prst="mathMultiply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16DBBA98-0620-8F5F-69BD-D714A7C0DB32}"/>
              </a:ext>
            </a:extLst>
          </p:cNvPr>
          <p:cNvSpPr txBox="1"/>
          <p:nvPr/>
        </p:nvSpPr>
        <p:spPr>
          <a:xfrm>
            <a:off x="603163" y="2537062"/>
            <a:ext cx="310685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Tensor[2,2,:] = 0.5,0.5,0.6,0.4 </a:t>
            </a:r>
          </a:p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             = x, y, w, h</a:t>
            </a:r>
            <a:endParaRPr lang="ko-KR" altLang="en-US" sz="1400" dirty="0"/>
          </a:p>
        </p:txBody>
      </p:sp>
      <p:pic>
        <p:nvPicPr>
          <p:cNvPr id="51" name="그림 50">
            <a:extLst>
              <a:ext uri="{FF2B5EF4-FFF2-40B4-BE49-F238E27FC236}">
                <a16:creationId xmlns:a16="http://schemas.microsoft.com/office/drawing/2014/main" id="{39DBE5B4-746E-7F63-1528-0F71FA9206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20366" y="3097069"/>
            <a:ext cx="3122567" cy="2541084"/>
          </a:xfrm>
          <a:prstGeom prst="rect">
            <a:avLst/>
          </a:prstGeom>
        </p:spPr>
      </p:pic>
      <p:pic>
        <p:nvPicPr>
          <p:cNvPr id="56" name="그래픽 55" descr="트럭">
            <a:extLst>
              <a:ext uri="{FF2B5EF4-FFF2-40B4-BE49-F238E27FC236}">
                <a16:creationId xmlns:a16="http://schemas.microsoft.com/office/drawing/2014/main" id="{3B0ED8AE-1AEC-531B-7833-3FD2E202B9F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075044" y="3591041"/>
            <a:ext cx="1234769" cy="1234769"/>
          </a:xfrm>
          <a:prstGeom prst="rect">
            <a:avLst/>
          </a:prstGeom>
        </p:spPr>
      </p:pic>
      <p:sp>
        <p:nvSpPr>
          <p:cNvPr id="57" name="곱하기 기호 56">
            <a:extLst>
              <a:ext uri="{FF2B5EF4-FFF2-40B4-BE49-F238E27FC236}">
                <a16:creationId xmlns:a16="http://schemas.microsoft.com/office/drawing/2014/main" id="{3C3C6F8B-6E1A-C708-E8EB-563926B46851}"/>
              </a:ext>
            </a:extLst>
          </p:cNvPr>
          <p:cNvSpPr/>
          <p:nvPr/>
        </p:nvSpPr>
        <p:spPr>
          <a:xfrm>
            <a:off x="5477781" y="4262789"/>
            <a:ext cx="185112" cy="184876"/>
          </a:xfrm>
          <a:prstGeom prst="mathMultiply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60" name="연결선: 구부러짐 59">
            <a:extLst>
              <a:ext uri="{FF2B5EF4-FFF2-40B4-BE49-F238E27FC236}">
                <a16:creationId xmlns:a16="http://schemas.microsoft.com/office/drawing/2014/main" id="{2ADC0897-7A6E-B0A0-A15F-EACD2791CC12}"/>
              </a:ext>
            </a:extLst>
          </p:cNvPr>
          <p:cNvCxnSpPr>
            <a:stCxn id="57" idx="0"/>
            <a:endCxn id="9" idx="1"/>
          </p:cNvCxnSpPr>
          <p:nvPr/>
        </p:nvCxnSpPr>
        <p:spPr>
          <a:xfrm rot="10800000">
            <a:off x="5249494" y="2228948"/>
            <a:ext cx="272746" cy="2078244"/>
          </a:xfrm>
          <a:prstGeom prst="curvedConnector3">
            <a:avLst>
              <a:gd name="adj1" fmla="val 183814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2" name="TextBox 61">
            <a:extLst>
              <a:ext uri="{FF2B5EF4-FFF2-40B4-BE49-F238E27FC236}">
                <a16:creationId xmlns:a16="http://schemas.microsoft.com/office/drawing/2014/main" id="{548642A5-BA53-FAE5-6D4E-3ED5D27BC91B}"/>
              </a:ext>
            </a:extLst>
          </p:cNvPr>
          <p:cNvSpPr txBox="1"/>
          <p:nvPr/>
        </p:nvSpPr>
        <p:spPr>
          <a:xfrm>
            <a:off x="7344729" y="2860761"/>
            <a:ext cx="4663048" cy="7056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실제 박스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W =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전체가로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(30) x w(0.6) = 18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픽셀</a:t>
            </a:r>
            <a:endParaRPr lang="en-US" altLang="ko-KR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실제 박스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H =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전체가로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(30) x w(0.4) = 12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픽셀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6596442B-4C57-3304-CF84-BD991E22F215}"/>
              </a:ext>
            </a:extLst>
          </p:cNvPr>
          <p:cNvSpPr txBox="1"/>
          <p:nvPr/>
        </p:nvSpPr>
        <p:spPr>
          <a:xfrm>
            <a:off x="7581018" y="3709001"/>
            <a:ext cx="3550639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중심점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(15, 15)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에서 가로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18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픽셀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세로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12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픽셀짜리 상자를 사방으로 넓혀서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바운딩박스를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생성하면</a:t>
            </a:r>
          </a:p>
        </p:txBody>
      </p:sp>
      <p:sp>
        <p:nvSpPr>
          <p:cNvPr id="67" name="직사각형 66">
            <a:extLst>
              <a:ext uri="{FF2B5EF4-FFF2-40B4-BE49-F238E27FC236}">
                <a16:creationId xmlns:a16="http://schemas.microsoft.com/office/drawing/2014/main" id="{2EFCE97D-E3E9-5F01-4094-17FF0005381B}"/>
              </a:ext>
            </a:extLst>
          </p:cNvPr>
          <p:cNvSpPr/>
          <p:nvPr/>
        </p:nvSpPr>
        <p:spPr>
          <a:xfrm>
            <a:off x="4743265" y="3772072"/>
            <a:ext cx="1783075" cy="97028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6C72C952-38E8-B305-DABE-D7D5CCE78405}"/>
              </a:ext>
            </a:extLst>
          </p:cNvPr>
          <p:cNvSpPr txBox="1"/>
          <p:nvPr/>
        </p:nvSpPr>
        <p:spPr>
          <a:xfrm>
            <a:off x="7344729" y="4536683"/>
            <a:ext cx="4371626" cy="1351973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박스   왼쪽 끝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= X – W/2 = 15 - 18/2 = 6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픽셀</a:t>
            </a:r>
            <a:endParaRPr lang="en-US" altLang="ko-KR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박스 오른쪽 끝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= X + W/2 = 15 + 18/2 = 24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픽셀</a:t>
            </a:r>
            <a:endParaRPr lang="en-US" altLang="ko-KR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박스   위쪽 끝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= Y – H/2 = 15 – 12/2 = 9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픽셀</a:t>
            </a:r>
            <a:endParaRPr lang="en-US" altLang="ko-KR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박스 아래쪽 끝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= Y + H/2 = 15 + 12/2 = 21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픽셀</a:t>
            </a:r>
            <a:endParaRPr lang="en-US" altLang="ko-KR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cxnSp>
        <p:nvCxnSpPr>
          <p:cNvPr id="70" name="직선 연결선 69">
            <a:extLst>
              <a:ext uri="{FF2B5EF4-FFF2-40B4-BE49-F238E27FC236}">
                <a16:creationId xmlns:a16="http://schemas.microsoft.com/office/drawing/2014/main" id="{75E4ADAA-A8CD-BB1C-DFED-FC90BB8FE5DB}"/>
              </a:ext>
            </a:extLst>
          </p:cNvPr>
          <p:cNvCxnSpPr/>
          <p:nvPr/>
        </p:nvCxnSpPr>
        <p:spPr>
          <a:xfrm>
            <a:off x="6526340" y="3772072"/>
            <a:ext cx="818389" cy="764611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직선 연결선 70">
            <a:extLst>
              <a:ext uri="{FF2B5EF4-FFF2-40B4-BE49-F238E27FC236}">
                <a16:creationId xmlns:a16="http://schemas.microsoft.com/office/drawing/2014/main" id="{EE208B33-39A5-58FE-6711-8068A434BC15}"/>
              </a:ext>
            </a:extLst>
          </p:cNvPr>
          <p:cNvCxnSpPr>
            <a:cxnSpLocks/>
          </p:cNvCxnSpPr>
          <p:nvPr/>
        </p:nvCxnSpPr>
        <p:spPr>
          <a:xfrm>
            <a:off x="6526340" y="4742352"/>
            <a:ext cx="818389" cy="1146304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TextBox 75">
            <a:extLst>
              <a:ext uri="{FF2B5EF4-FFF2-40B4-BE49-F238E27FC236}">
                <a16:creationId xmlns:a16="http://schemas.microsoft.com/office/drawing/2014/main" id="{453FC2DC-7B49-3440-6687-ACAC6260105D}"/>
              </a:ext>
            </a:extLst>
          </p:cNvPr>
          <p:cNvSpPr txBox="1"/>
          <p:nvPr/>
        </p:nvSpPr>
        <p:spPr>
          <a:xfrm>
            <a:off x="1765358" y="5817739"/>
            <a:ext cx="115340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(9 by 9)</a:t>
            </a:r>
            <a:endParaRPr lang="ko-KR" altLang="en-US" dirty="0"/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CE32B1FF-F8CB-DF63-9C05-E3BE4773286F}"/>
              </a:ext>
            </a:extLst>
          </p:cNvPr>
          <p:cNvSpPr txBox="1"/>
          <p:nvPr/>
        </p:nvSpPr>
        <p:spPr>
          <a:xfrm>
            <a:off x="4827918" y="5759538"/>
            <a:ext cx="161376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(30 by 30)</a:t>
            </a:r>
            <a:endParaRPr lang="ko-KR" altLang="en-US" dirty="0"/>
          </a:p>
        </p:txBody>
      </p:sp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B3C5F8C8-C5C0-17FA-C6F6-773A7B1BEBA5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sz="1400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38</a:t>
            </a:fld>
            <a:endParaRPr lang="en-US" sz="1400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01317637"/>
      </p:ext>
    </p:extLst>
  </p:cSld>
  <p:clrMapOvr>
    <a:masterClrMapping/>
  </p:clrMapOvr>
</p:sld>
</file>

<file path=ppt/theme/theme1.xml><?xml version="1.0" encoding="utf-8"?>
<a:theme xmlns:a="http://schemas.openxmlformats.org/drawingml/2006/main" name="WelcomeDoc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Segoe UI">
      <a:majorFont>
        <a:latin typeface="Segoe UI Light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60957323_TF10001108_Win32.potx" id="{89E2DA47-811B-41FC-8101-7BA0FB62AE2C}" vid="{0AAAB8A4-2457-4279-BA92-56392840B1F0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{9FD8D820-F221-4C2D-97F8-71B66FDCF583}TF2989475c-5427-4edb-9ec1-00f4ce72165be756b0ce_win32-2ff1dad8fff0</Template>
  <TotalTime>11603</TotalTime>
  <Words>2662</Words>
  <Application>Microsoft Office PowerPoint</Application>
  <PresentationFormat>와이드스크린</PresentationFormat>
  <Paragraphs>400</Paragraphs>
  <Slides>38</Slides>
  <Notes>4</Notes>
  <HiddenSlides>0</HiddenSlides>
  <MMClips>0</MMClips>
  <ScaleCrop>false</ScaleCrop>
  <HeadingPairs>
    <vt:vector size="6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38</vt:i4>
      </vt:variant>
    </vt:vector>
  </HeadingPairs>
  <TitlesOfParts>
    <vt:vector size="47" baseType="lpstr">
      <vt:lpstr>D2Coding</vt:lpstr>
      <vt:lpstr>맑은 고딕</vt:lpstr>
      <vt:lpstr>Batang</vt:lpstr>
      <vt:lpstr>Arial</vt:lpstr>
      <vt:lpstr>Cambria Math</vt:lpstr>
      <vt:lpstr>Segoe UI</vt:lpstr>
      <vt:lpstr>Segoe UI Emoji</vt:lpstr>
      <vt:lpstr>Wingdings</vt:lpstr>
      <vt:lpstr>WelcomeDoc</vt:lpstr>
      <vt:lpstr>Object detection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Simple Object detection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Object detection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Appendix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조상구</dc:creator>
  <cp:keywords/>
  <cp:lastModifiedBy>조상구</cp:lastModifiedBy>
  <cp:revision>152</cp:revision>
  <dcterms:created xsi:type="dcterms:W3CDTF">2026-04-06T01:00:39Z</dcterms:created>
  <dcterms:modified xsi:type="dcterms:W3CDTF">2026-09-28T05:33:13Z</dcterms:modified>
  <cp:version/>
</cp:coreProperties>
</file>