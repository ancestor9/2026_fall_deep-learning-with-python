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256" r:id="rId2"/>
    <p:sldId id="1156" r:id="rId3"/>
    <p:sldId id="1124" r:id="rId4"/>
    <p:sldId id="1154" r:id="rId5"/>
    <p:sldId id="1155" r:id="rId6"/>
    <p:sldId id="1148" r:id="rId7"/>
    <p:sldId id="1151" r:id="rId8"/>
    <p:sldId id="1152" r:id="rId9"/>
    <p:sldId id="1153" r:id="rId10"/>
    <p:sldId id="1149" r:id="rId11"/>
    <p:sldId id="1146" r:id="rId12"/>
    <p:sldId id="1144" r:id="rId13"/>
    <p:sldId id="1143" r:id="rId14"/>
    <p:sldId id="1145" r:id="rId15"/>
    <p:sldId id="1147" r:id="rId16"/>
    <p:sldId id="1142" r:id="rId17"/>
    <p:sldId id="1125" r:id="rId18"/>
    <p:sldId id="1128" r:id="rId19"/>
    <p:sldId id="1129" r:id="rId20"/>
    <p:sldId id="1131" r:id="rId21"/>
    <p:sldId id="1139" r:id="rId22"/>
    <p:sldId id="1130" r:id="rId23"/>
    <p:sldId id="1140" r:id="rId24"/>
    <p:sldId id="1127" r:id="rId25"/>
    <p:sldId id="1121" r:id="rId26"/>
    <p:sldId id="1133" r:id="rId27"/>
    <p:sldId id="1135" r:id="rId28"/>
    <p:sldId id="1136" r:id="rId29"/>
    <p:sldId id="1132" r:id="rId30"/>
    <p:sldId id="1122" r:id="rId31"/>
    <p:sldId id="1137" r:id="rId32"/>
    <p:sldId id="1141" r:id="rId33"/>
    <p:sldId id="1138" r:id="rId34"/>
    <p:sldId id="1123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56"/>
            <p14:sldId id="1124"/>
            <p14:sldId id="1154"/>
            <p14:sldId id="1155"/>
            <p14:sldId id="1148"/>
            <p14:sldId id="1151"/>
            <p14:sldId id="1152"/>
            <p14:sldId id="1153"/>
            <p14:sldId id="1149"/>
            <p14:sldId id="1146"/>
            <p14:sldId id="1144"/>
            <p14:sldId id="1143"/>
            <p14:sldId id="1145"/>
            <p14:sldId id="1147"/>
            <p14:sldId id="1142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41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404040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49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OC3huqHrss" TargetMode="External"/><Relationship Id="rId2" Type="http://schemas.openxmlformats.org/officeDocument/2006/relationships/hyperlink" Target="https://pjreddie.com/darknet/yolo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www.youtube.com/watch?v=BRS9bEP8rhA" TargetMode="External"/><Relationship Id="rId7" Type="http://schemas.openxmlformats.org/officeDocument/2006/relationships/image" Target="../media/image1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pdf/1506.02640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7" Type="http://schemas.openxmlformats.org/officeDocument/2006/relationships/image" Target="../media/image7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40.png"/><Relationship Id="rId7" Type="http://schemas.openxmlformats.org/officeDocument/2006/relationships/image" Target="../media/image170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svg"/><Relationship Id="rId11" Type="http://schemas.openxmlformats.org/officeDocument/2006/relationships/image" Target="../media/image210.png"/><Relationship Id="rId5" Type="http://schemas.openxmlformats.org/officeDocument/2006/relationships/image" Target="../media/image30.png"/><Relationship Id="rId10" Type="http://schemas.openxmlformats.org/officeDocument/2006/relationships/image" Target="../media/image43.png"/><Relationship Id="rId4" Type="http://schemas.openxmlformats.org/officeDocument/2006/relationships/image" Target="../media/image41.png"/><Relationship Id="rId9" Type="http://schemas.openxmlformats.org/officeDocument/2006/relationships/image" Target="../media/image19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435B2F8-E85B-6FAB-4AFA-6E1F580B27D7}"/>
              </a:ext>
            </a:extLst>
          </p:cNvPr>
          <p:cNvSpPr/>
          <p:nvPr/>
        </p:nvSpPr>
        <p:spPr>
          <a:xfrm>
            <a:off x="577530" y="2066925"/>
            <a:ext cx="10776270" cy="6286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9661845" cy="381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056E4E-5500-F073-9349-BFA46D47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173" y="1525070"/>
            <a:ext cx="7454900" cy="502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AFD7041-85D3-EA40-3B98-CC2CF18CC08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851B3-B5E2-4186-06FF-299F462DC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CF496FC-6172-5341-1EBF-4BA239515B0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1266A7-74CC-D6DC-77FB-071F01213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7275" y="1982416"/>
            <a:ext cx="10325100" cy="1607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공식 프로젝트 웹사이트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Darknet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YOLO):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pjreddie.com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darknet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yolo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YouTube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실시간 탐지 데모 영상: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YouTube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: YOLO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Real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-Time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Object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Detection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0C6EBA-003A-17B9-2DEB-09CFCEA283A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85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EBD4-79C4-24E5-4B43-500D61BDC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50CF77-7A26-AC4C-CFEE-E636A7CC5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1FCCAE6-BDBC-925D-F53F-EB2CF4C16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" y="2412206"/>
            <a:ext cx="10991850" cy="18532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이미지에 존재하는지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Object(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존재한다면 무슨 객체인지 분류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하여야 하고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(Classification, Convnet)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해당 객체가 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위치하고 있는 좌표를 찾아야 하는 문제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kumimoji="0" lang="ko-KR" altLang="ko-K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3CB119-D8F9-3BA8-FF36-8F2401CE8EAD}"/>
              </a:ext>
            </a:extLst>
          </p:cNvPr>
          <p:cNvSpPr txBox="1"/>
          <p:nvPr/>
        </p:nvSpPr>
        <p:spPr>
          <a:xfrm>
            <a:off x="600075" y="1552575"/>
            <a:ext cx="65436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</a:t>
            </a:r>
            <a:r>
              <a:rPr lang="ko-KR" altLang="en-US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Definition</a:t>
            </a:r>
            <a:endParaRPr lang="ko-KR" altLang="en-US" sz="28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7F1C5-BC19-3DAF-F4E5-7B4A7D72566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9666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1175-0FC3-D420-6AEE-30BD4B7A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F51BDC-2642-8ADA-A94E-F835DB9CD2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010647F-2F4D-E33F-E939-34C668CEF92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이미지 준비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D9C2D6-CAA4-3181-1BF8-1734E500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101" y="1942296"/>
            <a:ext cx="5684159" cy="42680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FB075BB-5D7E-7612-E337-1C2246DF3F9F}"/>
              </a:ext>
            </a:extLst>
          </p:cNvPr>
          <p:cNvSpPr/>
          <p:nvPr/>
        </p:nvSpPr>
        <p:spPr>
          <a:xfrm>
            <a:off x="2937782" y="2249151"/>
            <a:ext cx="4183439" cy="3509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슬라이드 번호 개체 틀 3">
            <a:extLst>
              <a:ext uri="{FF2B5EF4-FFF2-40B4-BE49-F238E27FC236}">
                <a16:creationId xmlns:a16="http://schemas.microsoft.com/office/drawing/2014/main" id="{F108B369-2B07-644C-9D47-7CFE452723F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877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05E23-31B7-2E2F-817B-30CD7456F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BD8A79-DA30-5E8D-9545-8EC9279874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EBD03168-3429-9184-03A2-D78F34439CA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그리드 좌표 설정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866CB3A-B93D-682A-630B-420440C5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13" y="15411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1176818-9D2D-B125-7BA2-B656FA90E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420925"/>
              </p:ext>
            </p:extLst>
          </p:nvPr>
        </p:nvGraphicFramePr>
        <p:xfrm>
          <a:off x="722811" y="15411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FC6A2AA3-432D-1708-768B-6914D777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504" y="1541129"/>
            <a:ext cx="6272305" cy="3416951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907F87A-6385-159B-C490-2D8D7C423B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1731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09A3-B314-CA32-17AD-3F4CF262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CB91A7-8C7E-0704-7154-1716254DBC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2A8C47DE-DEC7-D293-8CE6-CFD7DAD1A8E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Bounding 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734071-B5BD-F248-807C-BB15034C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094403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C11A3CD-043D-71AB-8966-084B2852F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023030"/>
              </p:ext>
            </p:extLst>
          </p:nvPr>
        </p:nvGraphicFramePr>
        <p:xfrm>
          <a:off x="651691" y="2094402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0A96F3ED-7787-6765-6FC4-CB77BFFA9849}"/>
              </a:ext>
            </a:extLst>
          </p:cNvPr>
          <p:cNvSpPr/>
          <p:nvPr/>
        </p:nvSpPr>
        <p:spPr>
          <a:xfrm>
            <a:off x="3343114" y="2094394"/>
            <a:ext cx="446566" cy="50674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E970FA9-E94A-3079-B151-931BBDB18EDE}"/>
              </a:ext>
            </a:extLst>
          </p:cNvPr>
          <p:cNvSpPr/>
          <p:nvPr/>
        </p:nvSpPr>
        <p:spPr>
          <a:xfrm>
            <a:off x="762000" y="3052633"/>
            <a:ext cx="1666240" cy="273304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0DD36-9FD8-6B68-1CAB-1FAF5DC5085A}"/>
              </a:ext>
            </a:extLst>
          </p:cNvPr>
          <p:cNvSpPr/>
          <p:nvPr/>
        </p:nvSpPr>
        <p:spPr>
          <a:xfrm>
            <a:off x="2733276" y="2473513"/>
            <a:ext cx="2031763" cy="256032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195A99-05DC-C8F6-4B06-9E1D7A7014B2}"/>
              </a:ext>
            </a:extLst>
          </p:cNvPr>
          <p:cNvSpPr/>
          <p:nvPr/>
        </p:nvSpPr>
        <p:spPr>
          <a:xfrm>
            <a:off x="4285887" y="3986546"/>
            <a:ext cx="601073" cy="134192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래픽 11" descr="하트">
            <a:extLst>
              <a:ext uri="{FF2B5EF4-FFF2-40B4-BE49-F238E27FC236}">
                <a16:creationId xmlns:a16="http://schemas.microsoft.com/office/drawing/2014/main" id="{424B34AC-C73F-C9D4-4280-789FABAF3E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7484" y="3780264"/>
            <a:ext cx="457200" cy="4572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13F0447-C12B-C37E-002A-96DB23E7A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423" y="1985094"/>
            <a:ext cx="4765598" cy="1807123"/>
          </a:xfrm>
          <a:prstGeom prst="rect">
            <a:avLst/>
          </a:prstGeom>
          <a:ln w="19050">
            <a:solidFill>
              <a:schemeClr val="accent2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3BA7715-7706-8BEB-A025-757D62B69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421" y="3867005"/>
            <a:ext cx="2580931" cy="2643880"/>
          </a:xfrm>
          <a:prstGeom prst="rect">
            <a:avLst/>
          </a:prstGeom>
          <a:ln w="28575">
            <a:solidFill>
              <a:schemeClr val="accent6"/>
            </a:solidFill>
          </a:ln>
        </p:spPr>
      </p:pic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EA157A99-B0E8-DD43-A4D0-8F6283076CE6}"/>
              </a:ext>
            </a:extLst>
          </p:cNvPr>
          <p:cNvSpPr/>
          <p:nvPr/>
        </p:nvSpPr>
        <p:spPr>
          <a:xfrm>
            <a:off x="8260718" y="3867005"/>
            <a:ext cx="3512374" cy="2643880"/>
          </a:xfrm>
          <a:prstGeom prst="borderCallout2">
            <a:avLst>
              <a:gd name="adj1" fmla="val 18267"/>
              <a:gd name="adj2" fmla="val -4809"/>
              <a:gd name="adj3" fmla="val 20199"/>
              <a:gd name="adj4" fmla="val -16813"/>
              <a:gd name="adj5" fmla="val 59408"/>
              <a:gd name="adj6" fmla="val -2640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0.65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0.571~0.714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구간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칸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안에 들어가므로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 = 4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round(0.65×7)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되어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col 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번으로 잘못 배정 따라서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floor(0.65×7)=floor(4.55)=4 → col4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배정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floor()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셀 위치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나머지 소수부가 셀 안에서의 상대 위치를 결정하는 구조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두 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분리하면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객체가 대략 어느 구역에 있는지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분류에 가까움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안에서 정확히 어디인지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나눠서 학습이 가능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87CB6-C5D3-86D7-489B-2AD0CA2AD9AE}"/>
              </a:ext>
            </a:extLst>
          </p:cNvPr>
          <p:cNvSpPr txBox="1"/>
          <p:nvPr/>
        </p:nvSpPr>
        <p:spPr>
          <a:xfrm>
            <a:off x="569049" y="1171749"/>
            <a:ext cx="11091902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폭을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0~1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중심이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가로 방향으로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65%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있다는 뜻으로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floor(x × 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공식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라벨링의 가장 핵심적인 연산으로 회귀와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위함</a:t>
            </a:r>
          </a:p>
        </p:txBody>
      </p:sp>
      <p:sp>
        <p:nvSpPr>
          <p:cNvPr id="32" name="슬라이드 번호 개체 틀 3">
            <a:extLst>
              <a:ext uri="{FF2B5EF4-FFF2-40B4-BE49-F238E27FC236}">
                <a16:creationId xmlns:a16="http://schemas.microsoft.com/office/drawing/2014/main" id="{933D221F-B0AF-4042-D40A-43EE85A83E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6505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99D0-D2A4-9077-3BB6-E3F9597C7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686837-86E7-2112-CB65-28DD344972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6A01AEC-5DC5-FD43-A9CC-52619287B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절대 위치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상대 위치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D19530D-06C7-C04F-2FC4-3B38223D6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2015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55B3B0F-5D31-A37B-80EA-45C063AFE74D}"/>
              </a:ext>
            </a:extLst>
          </p:cNvPr>
          <p:cNvGraphicFramePr>
            <a:graphicFrameLocks noGrp="1"/>
          </p:cNvGraphicFramePr>
          <p:nvPr/>
        </p:nvGraphicFramePr>
        <p:xfrm>
          <a:off x="651691" y="22015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30ED0A52-A97B-2861-A98A-EAAF9EF0FF4E}"/>
              </a:ext>
            </a:extLst>
          </p:cNvPr>
          <p:cNvSpPr txBox="1"/>
          <p:nvPr/>
        </p:nvSpPr>
        <p:spPr>
          <a:xfrm>
            <a:off x="528794" y="1362706"/>
            <a:ext cx="5628640" cy="504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49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개 셀별 라벨 벡터 생성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25F8C7-A0D4-8D94-80D4-70F6B66E82DD}"/>
              </a:ext>
            </a:extLst>
          </p:cNvPr>
          <p:cNvSpPr txBox="1"/>
          <p:nvPr/>
        </p:nvSpPr>
        <p:spPr>
          <a:xfrm>
            <a:off x="5435598" y="1360546"/>
            <a:ext cx="6405301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x_rel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y_rel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객체 중심이 셀 안에서 정확히 몇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사이 값으로 표현하기 위해 절대좌표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기준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그 셀의 시작점을 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 크기로 나눠서 셀 내부만의 좌표계로 바꾸는 것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FA5D113-7019-9676-58F1-D64A139B0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5599" y="2481809"/>
            <a:ext cx="6405301" cy="329950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FF5E42F-1538-E35B-6A7C-BD567C2F8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033" y="5935956"/>
            <a:ext cx="5132662" cy="545867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941651-506B-BBF3-4C13-AF6F09FCA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782" y="2866933"/>
            <a:ext cx="4297576" cy="1476468"/>
          </a:xfrm>
          <a:prstGeom prst="rect">
            <a:avLst/>
          </a:prstGeom>
        </p:spPr>
      </p:pic>
      <p:sp>
        <p:nvSpPr>
          <p:cNvPr id="25" name="슬라이드 번호 개체 틀 3">
            <a:extLst>
              <a:ext uri="{FF2B5EF4-FFF2-40B4-BE49-F238E27FC236}">
                <a16:creationId xmlns:a16="http://schemas.microsoft.com/office/drawing/2014/main" id="{31EE9F38-1BBA-D387-B611-7AFA78DC358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25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D624A-F07A-19DE-1774-45BA687E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06D3EA-2DFA-84C4-29D0-079A6E0AE7A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B240BB30-15FE-4805-015F-0E8DEF3CEED5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정리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B599B-5EC7-3F08-AA0E-D5D1146292C8}"/>
              </a:ext>
            </a:extLst>
          </p:cNvPr>
          <p:cNvSpPr txBox="1"/>
          <p:nvPr/>
        </p:nvSpPr>
        <p:spPr>
          <a:xfrm>
            <a:off x="917129" y="1458596"/>
            <a:ext cx="10589071" cy="46403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v"/>
            </a:pP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 데이터 </a:t>
            </a:r>
            <a:r>
              <a:rPr lang="ko-KR" altLang="en-US" sz="1600" b="1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방법 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(Ground Truth </a:t>
            </a:r>
            <a:r>
              <a:rPr lang="ko-KR" altLang="en-US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인코딩</a:t>
            </a:r>
            <a:r>
              <a:rPr lang="en-US" altLang="ko-KR" sz="16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5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학습 데이터를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crop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후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by 7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그리드형식으로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49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셀별로 각 객체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bbox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class)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변환</a:t>
            </a:r>
            <a:endParaRPr lang="en-US" altLang="ko-KR" sz="16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객체의 중심 좌표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y_center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속하는 그리드 셀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j)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찾음</a:t>
            </a: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그 셀에 대해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(Object) = 1 (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 있음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x, y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셀 경계 기준 상대좌표로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w, h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이미지 전체 크기 기준으로 정규화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(0~1)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해당 클래스의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one-hot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벡터 설정</a:t>
            </a:r>
          </a:p>
          <a:p>
            <a:pPr marL="800100" lvl="1" indent="-342900">
              <a:lnSpc>
                <a:spcPct val="150000"/>
              </a:lnSpc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객체가 없는 셀은 모든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confidence = 0</a:t>
            </a:r>
          </a:p>
          <a:p>
            <a:pPr marL="342900" indent="-342900">
              <a:lnSpc>
                <a:spcPct val="150000"/>
              </a:lnSpc>
              <a:spcBef>
                <a:spcPts val="3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셀에는 하나의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ground truth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객체만 할당 → 같은 셀에 작은 물체가 여러 개 겹치면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YOLOv1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구조적으로 놓칠 수 있음 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(v1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한계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18394AD-7C52-C37B-48BF-771A319F18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0249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B847-8E6E-D46E-A260-012186E4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7A1384-DB1B-1AF1-2622-984115F65C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Single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C48B9E7-53E5-1A9B-1E3C-80572B8D1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29" y="1609725"/>
            <a:ext cx="8354580" cy="432698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7942FA0-9D79-F5E2-B514-4EFAA9917415}"/>
              </a:ext>
            </a:extLst>
          </p:cNvPr>
          <p:cNvSpPr txBox="1"/>
          <p:nvPr/>
        </p:nvSpPr>
        <p:spPr>
          <a:xfrm>
            <a:off x="235044" y="5957906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Let's Visualize How YOLO Works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425C9854-91B8-190A-A9C8-1FFB0A383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1" y="1624494"/>
            <a:ext cx="2724150" cy="443673"/>
          </a:xfrm>
          <a:prstGeom prst="rect">
            <a:avLst/>
          </a:prstGeom>
          <a:ln w="19050">
            <a:solidFill>
              <a:schemeClr val="accent5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6F9F8A-0228-B30A-307C-9C42D9ED5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0151" y="2478007"/>
            <a:ext cx="2724147" cy="6461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82E6AA8-B4FC-9CFE-0C37-6B3288748267}"/>
              </a:ext>
            </a:extLst>
          </p:cNvPr>
          <p:cNvSpPr txBox="1"/>
          <p:nvPr/>
        </p:nvSpPr>
        <p:spPr>
          <a:xfrm>
            <a:off x="8820149" y="4953196"/>
            <a:ext cx="2724149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박스가 고양이를 얼마나 정확하게 잡고 있는가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9" name="그래픽 58" descr="조금 굽은 화살표">
            <a:extLst>
              <a:ext uri="{FF2B5EF4-FFF2-40B4-BE49-F238E27FC236}">
                <a16:creationId xmlns:a16="http://schemas.microsoft.com/office/drawing/2014/main" id="{28255D97-E806-C4B6-37F3-BDC3208EA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5276850" y="1624494"/>
            <a:ext cx="533400" cy="533400"/>
          </a:xfrm>
          <a:prstGeom prst="rect">
            <a:avLst/>
          </a:prstGeom>
        </p:spPr>
      </p:pic>
      <p:pic>
        <p:nvPicPr>
          <p:cNvPr id="61" name="그래픽 60" descr="조금 굽은 화살표">
            <a:extLst>
              <a:ext uri="{FF2B5EF4-FFF2-40B4-BE49-F238E27FC236}">
                <a16:creationId xmlns:a16="http://schemas.microsoft.com/office/drawing/2014/main" id="{F0FCDB36-883B-E698-FAE8-C9C72B7AD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9448381" y="2014364"/>
            <a:ext cx="533400" cy="533400"/>
          </a:xfrm>
          <a:prstGeom prst="rect">
            <a:avLst/>
          </a:prstGeom>
        </p:spPr>
      </p:pic>
      <p:pic>
        <p:nvPicPr>
          <p:cNvPr id="62" name="그래픽 61" descr="조금 굽은 화살표">
            <a:extLst>
              <a:ext uri="{FF2B5EF4-FFF2-40B4-BE49-F238E27FC236}">
                <a16:creationId xmlns:a16="http://schemas.microsoft.com/office/drawing/2014/main" id="{9D647395-F473-8464-F6A1-36BCB256E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4213486" y="2155730"/>
            <a:ext cx="533400" cy="5334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3D981AB-9DC9-E20F-1DDB-D7D5338E2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0149" y="3350685"/>
            <a:ext cx="2724148" cy="558070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E836A3CC-DB30-C78D-E97C-6EB37160AB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0149" y="4133451"/>
            <a:ext cx="2972058" cy="54868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7F7D8B2-99D8-C814-EFE7-2205318CCE0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013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558D-552D-D383-59FC-8BF70837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27CB3D-A8B4-B43E-614C-6C50753028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Multiple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6D187-23C3-2AFC-105A-ABA8C75E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" y="2339464"/>
            <a:ext cx="8628132" cy="4036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E0E587-D84C-B3F0-6C4A-A1284747258E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5142F-9F2F-5A31-66A7-CC21072CE72B}"/>
              </a:ext>
            </a:extLst>
          </p:cNvPr>
          <p:cNvSpPr txBox="1"/>
          <p:nvPr/>
        </p:nvSpPr>
        <p:spPr>
          <a:xfrm>
            <a:off x="9752096" y="2802523"/>
            <a:ext cx="2116052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bounding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A62FC-096A-94B8-21D0-80A9D660335E}"/>
              </a:ext>
            </a:extLst>
          </p:cNvPr>
          <p:cNvSpPr txBox="1"/>
          <p:nvPr/>
        </p:nvSpPr>
        <p:spPr>
          <a:xfrm>
            <a:off x="505311" y="1278040"/>
            <a:ext cx="110469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원래 이미지를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x 7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그리드로 나누고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(7x7)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각 셀에서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Labeling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하여 훈련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훈련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dirty="0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47A2E846-EDF5-4FAD-7EB7-278655F44262}"/>
              </a:ext>
            </a:extLst>
          </p:cNvPr>
          <p:cNvSpPr/>
          <p:nvPr/>
        </p:nvSpPr>
        <p:spPr>
          <a:xfrm>
            <a:off x="9399672" y="2545734"/>
            <a:ext cx="211053" cy="879873"/>
          </a:xfrm>
          <a:prstGeom prst="rightBrace">
            <a:avLst>
              <a:gd name="adj1" fmla="val 4731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AD722D5-102D-DB9D-9203-895C85074A6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66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963C-3953-067B-3CAD-188EDC828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16D4DF-92E5-A55A-2471-3B99878194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v1 Backbone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DD0DE99-BFE8-5449-E849-855EB3055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4" y="2629826"/>
            <a:ext cx="8603643" cy="3505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97FAB6-CF6E-6A19-BE37-46B2B2BE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567" y="2580159"/>
            <a:ext cx="6027942" cy="388654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9D81728-CCAB-1F74-4429-96E8C8201C4A}"/>
              </a:ext>
            </a:extLst>
          </p:cNvPr>
          <p:cNvCxnSpPr>
            <a:cxnSpLocks/>
          </p:cNvCxnSpPr>
          <p:nvPr/>
        </p:nvCxnSpPr>
        <p:spPr>
          <a:xfrm>
            <a:off x="6867525" y="3018480"/>
            <a:ext cx="1371600" cy="106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3B6A21-1111-398A-5209-012C8F0CA3D1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24개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이미지의 특징을 추출하고, 마지막 2개 FC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구성된 네트워크는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좌표와 확률을 예측하면 원래 입력 이미지를 7×7 그리드로 나눈 각 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)마다 30개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채널 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값을 예측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235736-8685-2417-D842-0694EE829DDC}"/>
              </a:ext>
            </a:extLst>
          </p:cNvPr>
          <p:cNvSpPr txBox="1"/>
          <p:nvPr/>
        </p:nvSpPr>
        <p:spPr>
          <a:xfrm>
            <a:off x="9092431" y="3273273"/>
            <a:ext cx="2844492" cy="2862322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 × 7 × 1024 = 50,176개의 값을 가진 1차원 벡터로 변환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정보(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이 단계에서 사라짐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완전연결층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 Layer)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통과시켜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벡터로 출력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값과 출력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4,096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가중치로 연결되는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Dense layer)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/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다시 완전연결층을 통해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7×7×30 = 1470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개의 값으로 매핑하고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470개의 값을 다시 (7,7,30)형태로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reshape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D86A40-E193-DC66-9647-69D2954D258B}"/>
              </a:ext>
            </a:extLst>
          </p:cNvPr>
          <p:cNvSpPr txBox="1"/>
          <p:nvPr/>
        </p:nvSpPr>
        <p:spPr>
          <a:xfrm>
            <a:off x="5943600" y="2968813"/>
            <a:ext cx="819150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20(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클래스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+5(box1)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+5(box2)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95092-4BEE-78AE-D668-C92C6D493461}"/>
              </a:ext>
            </a:extLst>
          </p:cNvPr>
          <p:cNvSpPr txBox="1"/>
          <p:nvPr/>
        </p:nvSpPr>
        <p:spPr>
          <a:xfrm>
            <a:off x="475644" y="6206740"/>
            <a:ext cx="58272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You Only Look Once: Unified, Real-Time Object Detection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80B442-8650-5391-CDD6-D99459BA1E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834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C6BED-0815-3B0E-D72C-ECFB2709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65B9D6-9ABF-34B1-83FD-D60CDB4B33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3948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bounding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 work?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D788B-3530-60B8-6980-184DBA6F8C4D}"/>
              </a:ext>
            </a:extLst>
          </p:cNvPr>
          <p:cNvSpPr txBox="1"/>
          <p:nvPr/>
        </p:nvSpPr>
        <p:spPr>
          <a:xfrm>
            <a:off x="550099" y="1174436"/>
            <a:ext cx="1112990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　그림에서는 왼쪽의 그리드마다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여러 개의 박스를 예측하는 것이 아니고 서로 크기가 다른 박스가 그리드 셀의 경계선을 넘나들면서 다양한 크기의 박스를 그리는데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어떤 의미이지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박스를 찾는 알고리즘을 설명하라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Function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(MSE,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backpropagation)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4324FB-E4FF-7AC9-755F-351C83084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2781845"/>
            <a:ext cx="7062788" cy="347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1C0CDD-52E4-1EA3-CB85-41180E9D5AB9}"/>
              </a:ext>
            </a:extLst>
          </p:cNvPr>
          <p:cNvSpPr txBox="1"/>
          <p:nvPr/>
        </p:nvSpPr>
        <p:spPr>
          <a:xfrm>
            <a:off x="7829550" y="2764233"/>
            <a:ext cx="3983196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grid cell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박스를 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틀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박스를 예측하는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책임 주체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원점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역할만 하고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 자체는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경계를 얼마든지 넘어갈 수 있는 것을 이해하자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DA9754F-90FC-D20E-62E8-0E7320B4CA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7406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9B39-B3A3-355E-2149-99B82CF67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236CDC-CAAA-AD41-2A86-6972FBBDB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98025F96-F6F7-51EE-4EFE-E88F89C3AC2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손실 함수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(Loss Function)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31D889-8BD3-66E2-1382-E469E8ED1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1" y="2051763"/>
            <a:ext cx="5520918" cy="39164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A9437C3-A91C-76C3-9E7C-7FD2BA257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235" y="2207635"/>
            <a:ext cx="2476715" cy="3810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8114258-28A4-024D-2A36-DA0FBA742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495" y="3007759"/>
            <a:ext cx="1958510" cy="2743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1C1BBD-DBFB-5833-8E9E-2F4E51A308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7661" y="3750915"/>
            <a:ext cx="2484335" cy="3048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A8536B-5F00-DE4B-B96A-CE57421EB2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7661" y="4578753"/>
            <a:ext cx="2712955" cy="24386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5B3754-A62B-6430-2972-2CEC6ED064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7085" y="5289943"/>
            <a:ext cx="2339543" cy="312447"/>
          </a:xfrm>
          <a:prstGeom prst="rect">
            <a:avLst/>
          </a:prstGeom>
        </p:spPr>
      </p:pic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988B65A-F1A3-0DCD-6A21-61F37B9F1D9C}"/>
              </a:ext>
            </a:extLst>
          </p:cNvPr>
          <p:cNvSpPr/>
          <p:nvPr/>
        </p:nvSpPr>
        <p:spPr>
          <a:xfrm>
            <a:off x="9846964" y="2315454"/>
            <a:ext cx="264815" cy="2550007"/>
          </a:xfrm>
          <a:prstGeom prst="rightBrace">
            <a:avLst>
              <a:gd name="adj1" fmla="val 3833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89D0F1-9A93-A0B8-08EA-E6E3CCC336FB}"/>
              </a:ext>
            </a:extLst>
          </p:cNvPr>
          <p:cNvSpPr txBox="1"/>
          <p:nvPr/>
        </p:nvSpPr>
        <p:spPr>
          <a:xfrm>
            <a:off x="10042032" y="3421180"/>
            <a:ext cx="18917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62DD07-0AFE-09C6-83F8-55F6A91F170B}"/>
              </a:ext>
            </a:extLst>
          </p:cNvPr>
          <p:cNvSpPr txBox="1"/>
          <p:nvPr/>
        </p:nvSpPr>
        <p:spPr>
          <a:xfrm>
            <a:off x="9732664" y="5241513"/>
            <a:ext cx="21240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31FF1D-92D2-B35F-9BD8-736EBF5FAB21}"/>
              </a:ext>
            </a:extLst>
          </p:cNvPr>
          <p:cNvSpPr txBox="1"/>
          <p:nvPr/>
        </p:nvSpPr>
        <p:spPr>
          <a:xfrm>
            <a:off x="5862603" y="2508724"/>
            <a:ext cx="3939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셀 기준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중심 좌표의 위치 오차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8C0ED5A-B7C3-A649-334F-A1E508A32D8B}"/>
              </a:ext>
            </a:extLst>
          </p:cNvPr>
          <p:cNvSpPr txBox="1"/>
          <p:nvPr/>
        </p:nvSpPr>
        <p:spPr>
          <a:xfrm>
            <a:off x="5925032" y="3242914"/>
            <a:ext cx="40976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박스의 너비와 높이 오차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상자의 오차 비중을 높이기 위해 제곱근 적용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331AF8-AF5B-FCA2-4450-28415907D570}"/>
              </a:ext>
            </a:extLst>
          </p:cNvPr>
          <p:cNvSpPr txBox="1"/>
          <p:nvPr/>
        </p:nvSpPr>
        <p:spPr>
          <a:xfrm>
            <a:off x="5875039" y="3990641"/>
            <a:ext cx="35166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있는 박스에서 예측 신뢰도가 실제 정답 박스와의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값의 오차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9165C-C281-3ADD-B44E-6268435FE49A}"/>
              </a:ext>
            </a:extLst>
          </p:cNvPr>
          <p:cNvSpPr txBox="1"/>
          <p:nvPr/>
        </p:nvSpPr>
        <p:spPr>
          <a:xfrm>
            <a:off x="5862603" y="4805043"/>
            <a:ext cx="35957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객체가 없는 배경 영역의 예측 신뢰도가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되도록 유도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(L2 penalty)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C1E0A18-6FAB-1219-B113-90BDE9A0B9A3}"/>
              </a:ext>
            </a:extLst>
          </p:cNvPr>
          <p:cNvSpPr txBox="1"/>
          <p:nvPr/>
        </p:nvSpPr>
        <p:spPr>
          <a:xfrm>
            <a:off x="335261" y="1682431"/>
            <a:ext cx="266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Minimize Loss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272B596-F9BB-AA46-3C67-3100E8D378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957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0233-ACBE-780F-DAF3-5ED0E8F1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0522DF-C5C4-D467-71A4-067C59573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11F0DBAE-5B38-3A24-3AF9-03975792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B582C1A9-016E-6084-99BD-624BBA232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7F6457-F7C3-6B54-9164-970DFA15C49B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390929-B323-98F6-753D-7F78193B0097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9724DD-0F43-CD6F-9B86-50E7CBE1AEC7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B1A16742-84C8-C89F-C377-0996B5B2A0A0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C4BB21-D2E1-C3E3-5473-C15F2ECD9C92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3692CA-34BE-F0DA-4DFA-D9C552FEBE9A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4F2EF01-58F7-AAC1-3219-F1178881F51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CF4181DE-F96E-7B4E-A1BA-5ACA254668E6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A210AC7-00F5-C174-B8BB-B85133E4457F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5CA20D4B-FE12-9740-35CD-F4AF04BAB895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4D929E3E-B927-47C1-C9A4-9678226C7DD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E24F8C8-C64C-2E1A-A599-38DF2EEF070C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684E814-A039-D754-CB4E-0E8A330E54A6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43F3424-1CEC-FAA9-90D0-9DF131C6A267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BF2C29-AA0E-732C-D721-59B7168766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5900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339C34-F600-A67D-CB3F-292C0C85A6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01076DF-4CED-3D83-F486-DCD299281C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5DDC35-8CCB-73E1-7677-89FBFD0981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0A2FD-6128-7623-CF4B-5905531112E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F5F6C43-CA97-FC5C-B9BC-C77D3326F2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248150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87EEC42-0BA5-2A1C-AD58-437DBA3023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08BD9-AE9E-B52A-87EB-0AF46431AF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5CFC59-8DE1-BC50-80E4-5B04615862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7719AA4-C28F-B8CF-2EC6-0F6856EC9D1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753F80-6FF2-87AE-B2EA-DEFFC74891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CD795C3-D49D-13FF-05DF-8B21F6FDE4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BFD1CD0-31EF-46C1-FA4D-A064BEDAB4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AACBEB5-D9C6-6B11-F1F0-A616CEA2E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4DF84-1D96-BB64-8986-29769A31BF4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474989"/>
            <a:ext cx="4114498" cy="4629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박스의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(Scale)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비율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(Aspect Ratio)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사전에 세팅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직관이나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K-Means Clustering)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미리 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정해둬도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세상 모든 물체의 크기에 딱 맞아떨어지는 앵커 박스를 만드는 것은 불가능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함께 사용하여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사잔에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정한 앵커 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 근접한 출발선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 뿐이고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연산을 통해 그 고정된 틀을 실제 물체 크기에 맞게 수 밀리미터 단위로 미세하게 늘리거나 줄여서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값 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정답을 찾게 됨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D8A8416-2307-93DC-863B-ABA03779E5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7402" y="1474989"/>
            <a:ext cx="6742796" cy="4411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AB4E41-47CA-4EB5-7C66-5C6B4F8021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FD4B-C40F-5DED-FACC-738F5BC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F66FF0-2CED-6E91-18B9-C638E564E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2C951-CE28-AD38-D2E1-8D7B612630DF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197DD21-36FC-BEFC-CCFD-BFB183647A4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DCB820B-BD35-5B2F-05F9-6DC922453C99}"/>
              </a:ext>
            </a:extLst>
          </p:cNvPr>
          <p:cNvGraphicFramePr>
            <a:graphicFrameLocks noGrp="1"/>
          </p:cNvGraphicFramePr>
          <p:nvPr/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F266889-2574-6C8D-498E-2954A5F89700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F025B43B-39F6-6D9F-17C5-629B2610F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9AFFF238-2574-8DAA-15D2-6C011A6C67C6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DE1976F9-25E4-2257-A627-A4E3CBC2C1B7}"/>
              </a:ext>
            </a:extLst>
          </p:cNvPr>
          <p:cNvGraphicFramePr>
            <a:graphicFrameLocks noGrp="1"/>
          </p:cNvGraphicFramePr>
          <p:nvPr/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F3413E7F-C0BD-A5C4-97D1-5D0E8C6A3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EC2A791D-5EAC-8DC6-3401-265698CA496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84ABF0-D5CF-8FAB-691A-53A0DA4AA826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8ED8A2-C278-A78F-8F42-80C8604E01C5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C5969EF-EAA4-D5C3-BAD8-1D91A15443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07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3C5F8C8-C5C0-17FA-C6F6-773A7B1BEBA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26EDB3-4210-104B-C2B7-9570DC9C33A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11248</TotalTime>
  <Words>2645</Words>
  <Application>Microsoft Office PowerPoint</Application>
  <PresentationFormat>와이드스크린</PresentationFormat>
  <Paragraphs>389</Paragraphs>
  <Slides>34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3" baseType="lpstr">
      <vt:lpstr>D2Coding</vt:lpstr>
      <vt:lpstr>맑은 고딕</vt:lpstr>
      <vt:lpstr>Batang</vt:lpstr>
      <vt:lpstr>Arial</vt:lpstr>
      <vt:lpstr>Cambria Math</vt:lpstr>
      <vt:lpstr>Segoe UI</vt:lpstr>
      <vt:lpstr>Segoe UI Emoji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146</cp:revision>
  <dcterms:created xsi:type="dcterms:W3CDTF">2026-04-06T01:00:39Z</dcterms:created>
  <dcterms:modified xsi:type="dcterms:W3CDTF">2026-09-23T10:53:21Z</dcterms:modified>
  <cp:version/>
</cp:coreProperties>
</file>