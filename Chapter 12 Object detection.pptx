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256" r:id="rId2"/>
    <p:sldId id="1124" r:id="rId3"/>
    <p:sldId id="1154" r:id="rId4"/>
    <p:sldId id="1155" r:id="rId5"/>
    <p:sldId id="1148" r:id="rId6"/>
    <p:sldId id="1151" r:id="rId7"/>
    <p:sldId id="1152" r:id="rId8"/>
    <p:sldId id="1153" r:id="rId9"/>
    <p:sldId id="1149" r:id="rId10"/>
    <p:sldId id="1146" r:id="rId11"/>
    <p:sldId id="1144" r:id="rId12"/>
    <p:sldId id="1143" r:id="rId13"/>
    <p:sldId id="1145" r:id="rId14"/>
    <p:sldId id="1147" r:id="rId15"/>
    <p:sldId id="1142" r:id="rId16"/>
    <p:sldId id="1125" r:id="rId17"/>
    <p:sldId id="1128" r:id="rId18"/>
    <p:sldId id="1129" r:id="rId19"/>
    <p:sldId id="1131" r:id="rId20"/>
    <p:sldId id="1139" r:id="rId21"/>
    <p:sldId id="1130" r:id="rId22"/>
    <p:sldId id="1140" r:id="rId23"/>
    <p:sldId id="1127" r:id="rId24"/>
    <p:sldId id="1121" r:id="rId25"/>
    <p:sldId id="1133" r:id="rId26"/>
    <p:sldId id="1135" r:id="rId27"/>
    <p:sldId id="1136" r:id="rId28"/>
    <p:sldId id="1132" r:id="rId29"/>
    <p:sldId id="1122" r:id="rId30"/>
    <p:sldId id="1137" r:id="rId31"/>
    <p:sldId id="1141" r:id="rId32"/>
    <p:sldId id="1138" r:id="rId33"/>
    <p:sldId id="1123" r:id="rId3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24"/>
            <p14:sldId id="1154"/>
            <p14:sldId id="1155"/>
            <p14:sldId id="1148"/>
            <p14:sldId id="1151"/>
            <p14:sldId id="1152"/>
            <p14:sldId id="1153"/>
            <p14:sldId id="1149"/>
            <p14:sldId id="1146"/>
            <p14:sldId id="1144"/>
            <p14:sldId id="1143"/>
            <p14:sldId id="1145"/>
            <p14:sldId id="1147"/>
            <p14:sldId id="1142"/>
            <p14:sldId id="1125"/>
            <p14:sldId id="1128"/>
            <p14:sldId id="1129"/>
            <p14:sldId id="1131"/>
            <p14:sldId id="1139"/>
            <p14:sldId id="1130"/>
            <p14:sldId id="1140"/>
            <p14:sldId id="1127"/>
            <p14:sldId id="1121"/>
            <p14:sldId id="1133"/>
            <p14:sldId id="1135"/>
            <p14:sldId id="1136"/>
            <p14:sldId id="1132"/>
            <p14:sldId id="1122"/>
            <p14:sldId id="1137"/>
            <p14:sldId id="1141"/>
            <p14:sldId id="1138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404040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111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OC3huqHrss" TargetMode="External"/><Relationship Id="rId2" Type="http://schemas.openxmlformats.org/officeDocument/2006/relationships/hyperlink" Target="https://pjreddie.com/darknet/yolo/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hyperlink" Target="https://www.youtube.com/watch?v=BRS9bEP8rhA" TargetMode="External"/><Relationship Id="rId7" Type="http://schemas.openxmlformats.org/officeDocument/2006/relationships/image" Target="../media/image17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arxiv.org/pdf/1506.02640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7" Type="http://schemas.openxmlformats.org/officeDocument/2006/relationships/image" Target="../media/image7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dsmlBGOK-k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XdsmlBGOK-k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40.png"/><Relationship Id="rId7" Type="http://schemas.openxmlformats.org/officeDocument/2006/relationships/image" Target="../media/image170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svg"/><Relationship Id="rId11" Type="http://schemas.openxmlformats.org/officeDocument/2006/relationships/image" Target="../media/image210.png"/><Relationship Id="rId5" Type="http://schemas.openxmlformats.org/officeDocument/2006/relationships/image" Target="../media/image30.png"/><Relationship Id="rId10" Type="http://schemas.openxmlformats.org/officeDocument/2006/relationships/image" Target="../media/image43.png"/><Relationship Id="rId4" Type="http://schemas.openxmlformats.org/officeDocument/2006/relationships/image" Target="../media/image41.png"/><Relationship Id="rId9" Type="http://schemas.openxmlformats.org/officeDocument/2006/relationships/image" Target="../media/image19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B3A60B9-6AC0-A9A5-5FB2-C93A3E82D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056E4E-5500-F073-9349-BFA46D479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173" y="1525070"/>
            <a:ext cx="7454900" cy="5028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851B3-B5E2-4186-06FF-299F462DC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496FC-6172-5341-1EBF-4BA239515B0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C405417-382F-5F28-5828-232E7DE3409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21266A7-74CC-D6DC-77FB-071F01213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7275" y="1982416"/>
            <a:ext cx="10325100" cy="1607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공식 프로젝트 웹사이트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Darknet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YOLO):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pjreddie.com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darknet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yolo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YouTube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실시간 탐지 데모 영상: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YouTube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: YOLO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Real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-Time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Object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Detection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85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DEBD4-79C4-24E5-4B43-500D61BDC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50CF77-7A26-AC4C-CFEE-E636A7CC5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7E8E221D-B4AA-B1A7-FEAF-B8F4195DFA84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1FCCAE6-BDBC-925D-F53F-EB2CF4C16D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" y="2412206"/>
            <a:ext cx="10991850" cy="18532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이미지에 존재하는지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Object(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존재한다면 무슨 객체인지 분류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하여야 하고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(Classification, Convnet)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해당 객체가 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위치하고 있는 좌표를 찾아야 하는 문제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endParaRPr kumimoji="0" lang="ko-KR" altLang="ko-K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3CB119-D8F9-3BA8-FF36-8F2401CE8EAD}"/>
              </a:ext>
            </a:extLst>
          </p:cNvPr>
          <p:cNvSpPr txBox="1"/>
          <p:nvPr/>
        </p:nvSpPr>
        <p:spPr>
          <a:xfrm>
            <a:off x="600075" y="1552575"/>
            <a:ext cx="65436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</a:t>
            </a:r>
            <a:r>
              <a:rPr lang="ko-KR" altLang="en-US" sz="28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Definition</a:t>
            </a:r>
            <a:endParaRPr lang="ko-KR" altLang="en-US" sz="28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9666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81175-0FC3-D420-6AEE-30BD4B7A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AF51BDC-2642-8ADA-A94E-F835DB9CD2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010647F-2F4D-E33F-E939-34C668CEF92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D9C2D6-CAA4-3181-1BF8-1734E5004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101" y="1942296"/>
            <a:ext cx="5684159" cy="426800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FB075BB-5D7E-7612-E337-1C2246DF3F9F}"/>
              </a:ext>
            </a:extLst>
          </p:cNvPr>
          <p:cNvSpPr/>
          <p:nvPr/>
        </p:nvSpPr>
        <p:spPr>
          <a:xfrm>
            <a:off x="2937782" y="2249151"/>
            <a:ext cx="4183439" cy="35097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7877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05E23-31B7-2E2F-817B-30CD7456F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BD8A79-DA30-5E8D-9545-8EC9279874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EBD03168-3429-9184-03A2-D78F34439CA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866CB3A-B93D-682A-630B-420440C51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13" y="154113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1176818-9D2D-B125-7BA2-B656FA90E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420925"/>
              </p:ext>
            </p:extLst>
          </p:nvPr>
        </p:nvGraphicFramePr>
        <p:xfrm>
          <a:off x="722811" y="154112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FC6A2AA3-432D-1708-768B-6914D7772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504" y="1541129"/>
            <a:ext cx="6272305" cy="341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731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09A3-B314-CA32-17AD-3F4CF2625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CB91A7-8C7E-0704-7154-1716254DBC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2A8C47DE-DEC7-D293-8CE6-CFD7DAD1A8E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734071-B5BD-F248-807C-BB15034CE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93" y="2094403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C11A3CD-043D-71AB-8966-084B2852F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023030"/>
              </p:ext>
            </p:extLst>
          </p:nvPr>
        </p:nvGraphicFramePr>
        <p:xfrm>
          <a:off x="651691" y="2094402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0A96F3ED-7787-6765-6FC4-CB77BFFA9849}"/>
              </a:ext>
            </a:extLst>
          </p:cNvPr>
          <p:cNvSpPr/>
          <p:nvPr/>
        </p:nvSpPr>
        <p:spPr>
          <a:xfrm>
            <a:off x="3343114" y="2094394"/>
            <a:ext cx="446566" cy="50674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E970FA9-E94A-3079-B151-931BBDB18EDE}"/>
              </a:ext>
            </a:extLst>
          </p:cNvPr>
          <p:cNvSpPr/>
          <p:nvPr/>
        </p:nvSpPr>
        <p:spPr>
          <a:xfrm>
            <a:off x="762000" y="3052633"/>
            <a:ext cx="1666240" cy="273304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0DD36-9FD8-6B68-1CAB-1FAF5DC5085A}"/>
              </a:ext>
            </a:extLst>
          </p:cNvPr>
          <p:cNvSpPr/>
          <p:nvPr/>
        </p:nvSpPr>
        <p:spPr>
          <a:xfrm>
            <a:off x="2733276" y="2473513"/>
            <a:ext cx="2031763" cy="256032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195A99-05DC-C8F6-4B06-9E1D7A7014B2}"/>
              </a:ext>
            </a:extLst>
          </p:cNvPr>
          <p:cNvSpPr/>
          <p:nvPr/>
        </p:nvSpPr>
        <p:spPr>
          <a:xfrm>
            <a:off x="4285887" y="3986546"/>
            <a:ext cx="601073" cy="1341927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래픽 11" descr="하트">
            <a:extLst>
              <a:ext uri="{FF2B5EF4-FFF2-40B4-BE49-F238E27FC236}">
                <a16:creationId xmlns:a16="http://schemas.microsoft.com/office/drawing/2014/main" id="{424B34AC-C73F-C9D4-4280-789FABAF3E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7484" y="3780264"/>
            <a:ext cx="457200" cy="4572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13F0447-C12B-C37E-002A-96DB23E7A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6423" y="1985094"/>
            <a:ext cx="4765598" cy="1807123"/>
          </a:xfrm>
          <a:prstGeom prst="rect">
            <a:avLst/>
          </a:prstGeom>
          <a:ln w="19050">
            <a:solidFill>
              <a:schemeClr val="accent2"/>
            </a:solidFill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3BA7715-7706-8BEB-A025-757D62B695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6421" y="3867005"/>
            <a:ext cx="2580931" cy="2643880"/>
          </a:xfrm>
          <a:prstGeom prst="rect">
            <a:avLst/>
          </a:prstGeom>
          <a:ln w="28575">
            <a:solidFill>
              <a:schemeClr val="accent6"/>
            </a:solidFill>
          </a:ln>
        </p:spPr>
      </p:pic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EA157A99-B0E8-DD43-A4D0-8F6283076CE6}"/>
              </a:ext>
            </a:extLst>
          </p:cNvPr>
          <p:cNvSpPr/>
          <p:nvPr/>
        </p:nvSpPr>
        <p:spPr>
          <a:xfrm>
            <a:off x="8260718" y="3867005"/>
            <a:ext cx="3512374" cy="2643880"/>
          </a:xfrm>
          <a:prstGeom prst="borderCallout2">
            <a:avLst>
              <a:gd name="adj1" fmla="val 18267"/>
              <a:gd name="adj2" fmla="val -4809"/>
              <a:gd name="adj3" fmla="val 20199"/>
              <a:gd name="adj4" fmla="val -16813"/>
              <a:gd name="adj5" fmla="val 59408"/>
              <a:gd name="adj6" fmla="val -2640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0.65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0.571~0.714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(4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칸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안에 들어가므로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 = 4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round(0.65×7)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되어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col 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번으로 잘못 배정 따라서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floor(0.65×7)=floor(4.55)=4 → col4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배정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학습을 위해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floor()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셀 위치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나머지 소수부가 셀 안에서의 상대 위치를 결정하는 구조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두 값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분리하면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객체가 대략 어느 구역에 있는지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분류에 가까움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안에서 정확히 어디인지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나눠서 학습이 가능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87CB6-C5D3-86D7-489B-2AD0CA2AD9AE}"/>
              </a:ext>
            </a:extLst>
          </p:cNvPr>
          <p:cNvSpPr txBox="1"/>
          <p:nvPr/>
        </p:nvSpPr>
        <p:spPr>
          <a:xfrm>
            <a:off x="569049" y="1171749"/>
            <a:ext cx="11091902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폭을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0~1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정규화했을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중심이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가로 방향으로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65%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지점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있다는 뜻으로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floor(x × 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공식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라벨링의 가장 핵심적인 연산으로 회귀와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학습을 위함</a:t>
            </a:r>
          </a:p>
        </p:txBody>
      </p:sp>
    </p:spTree>
    <p:extLst>
      <p:ext uri="{BB962C8B-B14F-4D97-AF65-F5344CB8AC3E}">
        <p14:creationId xmlns:p14="http://schemas.microsoft.com/office/powerpoint/2010/main" val="2745650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699D0-D2A4-9077-3BB6-E3F9597C7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686837-86E7-2112-CB65-28DD344972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6A01AEC-5DC5-FD43-A9CC-52619287B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D19530D-06C7-C04F-2FC4-3B38223D6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93" y="220153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55B3B0F-5D31-A37B-80EA-45C063AFE74D}"/>
              </a:ext>
            </a:extLst>
          </p:cNvPr>
          <p:cNvGraphicFramePr>
            <a:graphicFrameLocks noGrp="1"/>
          </p:cNvGraphicFramePr>
          <p:nvPr/>
        </p:nvGraphicFramePr>
        <p:xfrm>
          <a:off x="651691" y="220152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0ED0A52-A97B-2861-A98A-EAAF9EF0FF4E}"/>
              </a:ext>
            </a:extLst>
          </p:cNvPr>
          <p:cNvSpPr txBox="1"/>
          <p:nvPr/>
        </p:nvSpPr>
        <p:spPr>
          <a:xfrm>
            <a:off x="528794" y="1362706"/>
            <a:ext cx="5628640" cy="504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49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개 셀별 라벨 벡터 생성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25F8C7-A0D4-8D94-80D4-70F6B66E82DD}"/>
              </a:ext>
            </a:extLst>
          </p:cNvPr>
          <p:cNvSpPr txBox="1"/>
          <p:nvPr/>
        </p:nvSpPr>
        <p:spPr>
          <a:xfrm>
            <a:off x="5435598" y="1360546"/>
            <a:ext cx="6405301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x_rel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y_rel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**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객체 중심이 셀 안에서 정확히 몇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"**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사이 값으로 표현하기 위해 절대좌표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기준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그 셀의 시작점을 빼고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 크기로 나눠서 셀 내부만의 좌표계로 바꾸는 것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FA5D113-7019-9676-58F1-D64A139B0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5599" y="2481809"/>
            <a:ext cx="6405301" cy="3299505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FF5E42F-1538-E35B-6A7C-BD567C2F8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033" y="5935956"/>
            <a:ext cx="5132662" cy="545867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3941651-506B-BBF3-4C13-AF6F09FCA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782" y="2866933"/>
            <a:ext cx="4297576" cy="147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25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D624A-F07A-19DE-1774-45BA687E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06D3EA-2DFA-84C4-29D0-079A6E0AE7A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B240BB30-15FE-4805-015F-0E8DEF3CEED5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7B599B-5EC7-3F08-AA0E-D5D1146292C8}"/>
              </a:ext>
            </a:extLst>
          </p:cNvPr>
          <p:cNvSpPr txBox="1"/>
          <p:nvPr/>
        </p:nvSpPr>
        <p:spPr>
          <a:xfrm>
            <a:off x="917129" y="1458596"/>
            <a:ext cx="9943911" cy="5068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300"/>
              </a:spcBef>
            </a:pP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 데이터 </a:t>
            </a:r>
            <a:r>
              <a:rPr lang="ko-KR" altLang="en-US" sz="1600" b="1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방법 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(Ground Truth </a:t>
            </a: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인코딩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spcBef>
                <a:spcPts val="300"/>
              </a:spcBef>
            </a:pPr>
            <a:endParaRPr lang="en-US" altLang="ko-KR" sz="5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학습 데이터를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crop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후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by 7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그리드형식으로 변환</a:t>
            </a:r>
            <a:endParaRPr lang="en-US" altLang="ko-KR" sz="16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49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셀별로 각 객체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bbox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class)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변환</a:t>
            </a:r>
            <a:endParaRPr lang="en-US" altLang="ko-KR" sz="16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객체의 중심 좌표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x_center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y_center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속하는 그리드 셀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j)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찾음</a:t>
            </a: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그 셀에 대해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(Object) = 1 (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 있음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x, y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셀 경계 기준 상대좌표로 정규화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(0~1)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w, h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이미지 전체 크기 기준으로 정규화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(0~1)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해당 클래스의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one-hot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벡터 설정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객체가 없는 셀은 모든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confidence = 0</a:t>
            </a:r>
          </a:p>
          <a:p>
            <a:pPr marL="628650" lvl="1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셀에는 하나의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ground truth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객체만 할당 → 같은 셀에 작은 물체가 여러 개 겹치면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YOLOv1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구조적으로 놓칠 수 있음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(v1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한계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0249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B847-8E6E-D46E-A260-012186E4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7A1384-DB1B-1AF1-2622-984115F65C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Single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A406B4BB-B5DA-DB08-07F0-525EB83680C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C48B9E7-53E5-1A9B-1E3C-80572B8D1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29" y="1609725"/>
            <a:ext cx="8354580" cy="4326988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D7942FA0-9D79-F5E2-B514-4EFAA9917415}"/>
              </a:ext>
            </a:extLst>
          </p:cNvPr>
          <p:cNvSpPr txBox="1"/>
          <p:nvPr/>
        </p:nvSpPr>
        <p:spPr>
          <a:xfrm>
            <a:off x="168369" y="5957906"/>
            <a:ext cx="3647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Let's Visualize How YOLO Works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425C9854-91B8-190A-A9C8-1FFB0A383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0151" y="1624494"/>
            <a:ext cx="2724150" cy="443673"/>
          </a:xfrm>
          <a:prstGeom prst="rect">
            <a:avLst/>
          </a:prstGeom>
          <a:ln w="19050">
            <a:solidFill>
              <a:schemeClr val="accent5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646F9F8A-0228-B30A-307C-9C42D9ED5F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0151" y="2478007"/>
            <a:ext cx="2724147" cy="64619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82E6AA8-B4FC-9CFE-0C37-6B3288748267}"/>
              </a:ext>
            </a:extLst>
          </p:cNvPr>
          <p:cNvSpPr txBox="1"/>
          <p:nvPr/>
        </p:nvSpPr>
        <p:spPr>
          <a:xfrm>
            <a:off x="8820149" y="4953196"/>
            <a:ext cx="2724149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박스가 고양이를 얼마나 정확하게 잡고 있는가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9" name="그래픽 58" descr="조금 굽은 화살표">
            <a:extLst>
              <a:ext uri="{FF2B5EF4-FFF2-40B4-BE49-F238E27FC236}">
                <a16:creationId xmlns:a16="http://schemas.microsoft.com/office/drawing/2014/main" id="{28255D97-E806-C4B6-37F3-BDC3208EAC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5276850" y="1624494"/>
            <a:ext cx="533400" cy="533400"/>
          </a:xfrm>
          <a:prstGeom prst="rect">
            <a:avLst/>
          </a:prstGeom>
        </p:spPr>
      </p:pic>
      <p:pic>
        <p:nvPicPr>
          <p:cNvPr id="61" name="그래픽 60" descr="조금 굽은 화살표">
            <a:extLst>
              <a:ext uri="{FF2B5EF4-FFF2-40B4-BE49-F238E27FC236}">
                <a16:creationId xmlns:a16="http://schemas.microsoft.com/office/drawing/2014/main" id="{F0FCDB36-883B-E698-FAE8-C9C72B7AD7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9448381" y="2014364"/>
            <a:ext cx="533400" cy="533400"/>
          </a:xfrm>
          <a:prstGeom prst="rect">
            <a:avLst/>
          </a:prstGeom>
        </p:spPr>
      </p:pic>
      <p:pic>
        <p:nvPicPr>
          <p:cNvPr id="62" name="그래픽 61" descr="조금 굽은 화살표">
            <a:extLst>
              <a:ext uri="{FF2B5EF4-FFF2-40B4-BE49-F238E27FC236}">
                <a16:creationId xmlns:a16="http://schemas.microsoft.com/office/drawing/2014/main" id="{9D647395-F473-8464-F6A1-36BCB256E9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4213486" y="2155730"/>
            <a:ext cx="533400" cy="533400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53D981AB-9DC9-E20F-1DDB-D7D5338E29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0149" y="3350685"/>
            <a:ext cx="2724148" cy="558070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E836A3CC-DB30-C78D-E97C-6EB37160AB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20149" y="4133451"/>
            <a:ext cx="2972058" cy="5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013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558D-552D-D383-59FC-8BF708379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27CB3D-A8B4-B43E-614C-6C50753028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Multiple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12433A5B-2F04-3220-D441-4838CCCA6DD4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8F6D187-23C3-2AFC-105A-ABA8C75E8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93" y="2339464"/>
            <a:ext cx="8628132" cy="4036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E0E587-D84C-B3F0-6C4A-A1284747258E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25142F-9F2F-5A31-66A7-CC21072CE72B}"/>
              </a:ext>
            </a:extLst>
          </p:cNvPr>
          <p:cNvSpPr txBox="1"/>
          <p:nvPr/>
        </p:nvSpPr>
        <p:spPr>
          <a:xfrm>
            <a:off x="9752096" y="2802523"/>
            <a:ext cx="2116052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bounding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A62FC-096A-94B8-21D0-80A9D660335E}"/>
              </a:ext>
            </a:extLst>
          </p:cNvPr>
          <p:cNvSpPr txBox="1"/>
          <p:nvPr/>
        </p:nvSpPr>
        <p:spPr>
          <a:xfrm>
            <a:off x="505311" y="1278040"/>
            <a:ext cx="110469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원래 이미지를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x 7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그리드로 나누고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(7x7)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각 셀에서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Labeling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하여 훈련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훈련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dirty="0"/>
          </a:p>
        </p:txBody>
      </p:sp>
      <p:sp>
        <p:nvSpPr>
          <p:cNvPr id="11" name="오른쪽 중괄호 10">
            <a:extLst>
              <a:ext uri="{FF2B5EF4-FFF2-40B4-BE49-F238E27FC236}">
                <a16:creationId xmlns:a16="http://schemas.microsoft.com/office/drawing/2014/main" id="{47A2E846-EDF5-4FAD-7EB7-278655F44262}"/>
              </a:ext>
            </a:extLst>
          </p:cNvPr>
          <p:cNvSpPr/>
          <p:nvPr/>
        </p:nvSpPr>
        <p:spPr>
          <a:xfrm>
            <a:off x="9399672" y="2545734"/>
            <a:ext cx="211053" cy="879873"/>
          </a:xfrm>
          <a:prstGeom prst="rightBrace">
            <a:avLst>
              <a:gd name="adj1" fmla="val 4731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666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C963C-3953-067B-3CAD-188EDC828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16D4DF-92E5-A55A-2471-3B99878194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v1 Backbone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3621FF9F-4C5A-A6D5-1231-5744F940B6AA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DD0DE99-BFE8-5449-E849-855EB3055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4" y="2629826"/>
            <a:ext cx="8603643" cy="350576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97FAB6-CF6E-6A19-BE37-46B2B2BE4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567" y="2580159"/>
            <a:ext cx="6027942" cy="388654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9D81728-CCAB-1F74-4429-96E8C8201C4A}"/>
              </a:ext>
            </a:extLst>
          </p:cNvPr>
          <p:cNvCxnSpPr>
            <a:cxnSpLocks/>
          </p:cNvCxnSpPr>
          <p:nvPr/>
        </p:nvCxnSpPr>
        <p:spPr>
          <a:xfrm>
            <a:off x="6867525" y="3018480"/>
            <a:ext cx="1371600" cy="10677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13B6A21-1111-398A-5209-012C8F0CA3D1}"/>
              </a:ext>
            </a:extLst>
          </p:cNvPr>
          <p:cNvSpPr txBox="1"/>
          <p:nvPr/>
        </p:nvSpPr>
        <p:spPr>
          <a:xfrm>
            <a:off x="550099" y="1174436"/>
            <a:ext cx="1112990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24개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이미지의 특징을 추출하고, 마지막 2개 FC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구성된 네트워크는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좌표와 확률을 예측하면 원래 입력 이미지를 7×7 그리드로 나눈 각 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)마다 30개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채널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값을 예측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235736-8685-2417-D842-0694EE829DDC}"/>
              </a:ext>
            </a:extLst>
          </p:cNvPr>
          <p:cNvSpPr txBox="1"/>
          <p:nvPr/>
        </p:nvSpPr>
        <p:spPr>
          <a:xfrm>
            <a:off x="9092431" y="3273273"/>
            <a:ext cx="2844492" cy="286232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 × 7 × 1024 = 50,176개의 값을 가진 1차원 벡터로 변환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정보(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structure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이 단계에서 사라짐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완전연결층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 Layer)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통과시켜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벡터로 출력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값과 출력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4,096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가중치로 연결되는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Dense layer)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/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다시 완전연결층을 통해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7×7×30 = 1470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개의 값으로 매핑하고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470개의 값을 다시 (7,7,30)형태로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reshape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D86A40-E193-DC66-9647-69D2954D258B}"/>
              </a:ext>
            </a:extLst>
          </p:cNvPr>
          <p:cNvSpPr txBox="1"/>
          <p:nvPr/>
        </p:nvSpPr>
        <p:spPr>
          <a:xfrm>
            <a:off x="5943600" y="2968813"/>
            <a:ext cx="819150" cy="7694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20(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클래스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+5(box1)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+5(box2)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30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295092-4BEE-78AE-D668-C92C6D493461}"/>
              </a:ext>
            </a:extLst>
          </p:cNvPr>
          <p:cNvSpPr txBox="1"/>
          <p:nvPr/>
        </p:nvSpPr>
        <p:spPr>
          <a:xfrm>
            <a:off x="475644" y="6206740"/>
            <a:ext cx="58272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You Only Look Once: Unified, Real-Time Object Detection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8346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C6BED-0815-3B0E-D72C-ECFB2709D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65B9D6-9ABF-34B1-83FD-D60CDB4B33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623948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bounding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 work?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CDA5AB7-13B9-51FB-F4B1-936602F3CF1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8D788B-3530-60B8-6980-184DBA6F8C4D}"/>
              </a:ext>
            </a:extLst>
          </p:cNvPr>
          <p:cNvSpPr txBox="1"/>
          <p:nvPr/>
        </p:nvSpPr>
        <p:spPr>
          <a:xfrm>
            <a:off x="550099" y="1174436"/>
            <a:ext cx="1112990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　그림에서는 왼쪽의 그리드마다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마다 여러 개의 박스를 예측하는 것이 아니고 서로 크기가 다른 박스가 그리드 셀의 경계선을 넘나들면서 다양한 크기의 박스를 그리는데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이것은 어떤 의미이지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박스를 찾는 알고리즘을 설명하라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Function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(MSE,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backpropagation)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4324FB-E4FF-7AC9-755F-351C83084C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38" y="2781845"/>
            <a:ext cx="7062788" cy="3478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1C0CDD-52E4-1EA3-CB85-41180E9D5AB9}"/>
              </a:ext>
            </a:extLst>
          </p:cNvPr>
          <p:cNvSpPr txBox="1"/>
          <p:nvPr/>
        </p:nvSpPr>
        <p:spPr>
          <a:xfrm>
            <a:off x="7829550" y="2764233"/>
            <a:ext cx="3983196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grid cell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박스를 담는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틀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박스를 예측하는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책임 주체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원점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역할만 하고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 자체는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경계를 얼마든지 넘어갈 수 있는 것을 이해하자</a:t>
            </a:r>
          </a:p>
        </p:txBody>
      </p:sp>
    </p:spTree>
    <p:extLst>
      <p:ext uri="{BB962C8B-B14F-4D97-AF65-F5344CB8AC3E}">
        <p14:creationId xmlns:p14="http://schemas.microsoft.com/office/powerpoint/2010/main" val="667406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C9B39-B3A3-355E-2149-99B82CF67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236CDC-CAAA-AD41-2A86-6972FBBDB7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98025F96-F6F7-51EE-4EFE-E88F89C3AC2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31D889-8BD3-66E2-1382-E469E8ED1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1" y="2051763"/>
            <a:ext cx="5520918" cy="39164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A9437C3-A91C-76C3-9E7C-7FD2BA257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235" y="2207635"/>
            <a:ext cx="2476715" cy="38103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8114258-28A4-024D-2A36-DA0FBA742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495" y="3007759"/>
            <a:ext cx="1958510" cy="2743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1C1BBD-DBFB-5833-8E9E-2F4E51A308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7661" y="3750915"/>
            <a:ext cx="2484335" cy="30482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A8536B-5F00-DE4B-B96A-CE57421EB2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7661" y="4578753"/>
            <a:ext cx="2712955" cy="24386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E5B3754-A62B-6430-2972-2CEC6ED064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7085" y="5289943"/>
            <a:ext cx="2339543" cy="312447"/>
          </a:xfrm>
          <a:prstGeom prst="rect">
            <a:avLst/>
          </a:prstGeom>
        </p:spPr>
      </p:pic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988B65A-F1A3-0DCD-6A21-61F37B9F1D9C}"/>
              </a:ext>
            </a:extLst>
          </p:cNvPr>
          <p:cNvSpPr/>
          <p:nvPr/>
        </p:nvSpPr>
        <p:spPr>
          <a:xfrm>
            <a:off x="9846964" y="2315454"/>
            <a:ext cx="264815" cy="2550007"/>
          </a:xfrm>
          <a:prstGeom prst="rightBrace">
            <a:avLst>
              <a:gd name="adj1" fmla="val 383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89D0F1-9A93-A0B8-08EA-E6E3CCC336FB}"/>
              </a:ext>
            </a:extLst>
          </p:cNvPr>
          <p:cNvSpPr txBox="1"/>
          <p:nvPr/>
        </p:nvSpPr>
        <p:spPr>
          <a:xfrm>
            <a:off x="10042032" y="3421180"/>
            <a:ext cx="18917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62DD07-0AFE-09C6-83F8-55F6A91F170B}"/>
              </a:ext>
            </a:extLst>
          </p:cNvPr>
          <p:cNvSpPr txBox="1"/>
          <p:nvPr/>
        </p:nvSpPr>
        <p:spPr>
          <a:xfrm>
            <a:off x="9732664" y="5241513"/>
            <a:ext cx="21240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31FF1D-92D2-B35F-9BD8-736EBF5FAB21}"/>
              </a:ext>
            </a:extLst>
          </p:cNvPr>
          <p:cNvSpPr txBox="1"/>
          <p:nvPr/>
        </p:nvSpPr>
        <p:spPr>
          <a:xfrm>
            <a:off x="5862603" y="2508724"/>
            <a:ext cx="3939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셀 기준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중심 좌표의 위치 오차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8C0ED5A-B7C3-A649-334F-A1E508A32D8B}"/>
              </a:ext>
            </a:extLst>
          </p:cNvPr>
          <p:cNvSpPr txBox="1"/>
          <p:nvPr/>
        </p:nvSpPr>
        <p:spPr>
          <a:xfrm>
            <a:off x="5925032" y="3242914"/>
            <a:ext cx="40976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박스의 너비와 높이 오차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작은 상자의 오차 비중을 높이기 위해 제곱근 적용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331AF8-AF5B-FCA2-4450-28415907D570}"/>
              </a:ext>
            </a:extLst>
          </p:cNvPr>
          <p:cNvSpPr txBox="1"/>
          <p:nvPr/>
        </p:nvSpPr>
        <p:spPr>
          <a:xfrm>
            <a:off x="5875039" y="3990641"/>
            <a:ext cx="35166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있는 박스에서 예측 신뢰도가 실제 정답 박스와의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값의 오차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59165C-C281-3ADD-B44E-6268435FE49A}"/>
              </a:ext>
            </a:extLst>
          </p:cNvPr>
          <p:cNvSpPr txBox="1"/>
          <p:nvPr/>
        </p:nvSpPr>
        <p:spPr>
          <a:xfrm>
            <a:off x="5862603" y="4805043"/>
            <a:ext cx="359572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없는 배경 영역의 예측 신뢰도가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되도록 유도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(L2 penalty)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1E0A18-6FAB-1219-B113-90BDE9A0B9A3}"/>
              </a:ext>
            </a:extLst>
          </p:cNvPr>
          <p:cNvSpPr txBox="1"/>
          <p:nvPr/>
        </p:nvSpPr>
        <p:spPr>
          <a:xfrm>
            <a:off x="335261" y="1682431"/>
            <a:ext cx="2667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Minimize Loss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574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D0233-ACBE-780F-DAF3-5ED0E8F1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583E11-9EF6-032B-C8D3-BE0C79C7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522DF-C5C4-D467-71A4-067C59573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11F0DBAE-5B38-3A24-3AF9-039757924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B582C1A9-016E-6084-99BD-624BBA232A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B7F6457-F7C3-6B54-9164-970DFA15C49B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390929-B323-98F6-753D-7F78193B0097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9724DD-0F43-CD6F-9B86-50E7CBE1AEC7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B1A16742-84C8-C89F-C377-0996B5B2A0A0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4C4BB21-D2E1-C3E3-5473-C15F2ECD9C92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23692CA-34BE-F0DA-4DFA-D9C552FEBE9A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F4F2EF01-58F7-AAC1-3219-F1178881F51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CF4181DE-F96E-7B4E-A1BA-5ACA254668E6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EA210AC7-00F5-C174-B8BB-B85133E4457F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5CA20D4B-FE12-9740-35CD-F4AF04BAB895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4D929E3E-B927-47C1-C9A4-9678226C7DD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E24F8C8-C64C-2E1A-A599-38DF2EEF070C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684E814-A039-D754-CB4E-0E8A330E54A6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43F3424-1CEC-FAA9-90D0-9DF131C6A267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</p:spTree>
    <p:extLst>
      <p:ext uri="{BB962C8B-B14F-4D97-AF65-F5344CB8AC3E}">
        <p14:creationId xmlns:p14="http://schemas.microsoft.com/office/powerpoint/2010/main" val="3035900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F62728-B165-9395-5FF9-0B4338BF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B388-1CF6-6032-709B-C508566E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0FB422-BFDA-A850-149F-13E2CC2C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5BA915-8205-C958-91A3-2C0C5BF3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9B18E-3E0A-C274-ECC9-295768CA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A7A19-64BD-F4CA-BB60-000D9462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5C62E8-1853-E1FD-CC3A-8330CB4CCB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73E14-6083-A110-3707-58B8308316AF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EFF6E6B-E87D-FEE1-4D00-50253A6816A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5A11E39-F9F4-0DDE-2DB3-146C2BA27C44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28460220-777E-3C0C-B16C-BA571BA5F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57FCBC-EFCE-E994-1881-03EFF3498D1B}"/>
              </a:ext>
            </a:extLst>
          </p:cNvPr>
          <p:cNvSpPr txBox="1"/>
          <p:nvPr/>
        </p:nvSpPr>
        <p:spPr>
          <a:xfrm>
            <a:off x="5538225" y="3429000"/>
            <a:ext cx="631087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4"/>
              </a:rPr>
              <a:t>C4W3L04 Convolutional Implementation Sliding Windows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</p:spTree>
    <p:extLst>
      <p:ext uri="{BB962C8B-B14F-4D97-AF65-F5344CB8AC3E}">
        <p14:creationId xmlns:p14="http://schemas.microsoft.com/office/powerpoint/2010/main" val="4120168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508AB-053B-0F55-054F-EA19F0D04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슬라이딩 윈도우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2"/>
              </a:rPr>
              <a:t>Convolutional Implementation Sliding Windows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)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아이디어를 극대화하고 변형한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방식의 공통점은 이미지를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크롭하지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않고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통째로 한 번만 통과시켜 최종 출력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얻음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발전은 겹치는 윈도우를 돌리는 대신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 명확한 그리드 격자로 나누고 각 격자가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물체 존재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정확한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뱉어내도록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 정립하게 되어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슬라이딩 윈도우 방식보다 훨씬 정밀하게 물체의 경계선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찾아내면서도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번만 보면 된다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(You Only Look Once)'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이름에 걸맞게 실시간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(FPS 45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작동하는 엄청난 속도를 가질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4D67FE0F-4DC2-404F-6F22-44F7A09B816C}"/>
              </a:ext>
            </a:extLst>
          </p:cNvPr>
          <p:cNvSpPr/>
          <p:nvPr/>
        </p:nvSpPr>
        <p:spPr>
          <a:xfrm>
            <a:off x="2162175" y="5524500"/>
            <a:ext cx="1819275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8ED3DA13-E072-EACF-44BD-CD51A95A352D}"/>
              </a:ext>
            </a:extLst>
          </p:cNvPr>
          <p:cNvSpPr/>
          <p:nvPr/>
        </p:nvSpPr>
        <p:spPr>
          <a:xfrm>
            <a:off x="4364040" y="5524500"/>
            <a:ext cx="2114550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FCN</a:t>
            </a:r>
            <a:endParaRPr lang="ko-KR" altLang="en-US" dirty="0"/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1B48C2D7-1CFE-27E0-A5CA-99E4B2094216}"/>
              </a:ext>
            </a:extLst>
          </p:cNvPr>
          <p:cNvSpPr/>
          <p:nvPr/>
        </p:nvSpPr>
        <p:spPr>
          <a:xfrm>
            <a:off x="6770686" y="5524500"/>
            <a:ext cx="2230439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YOLO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B63C3-40E3-4674-73DF-19766371227A}"/>
              </a:ext>
            </a:extLst>
          </p:cNvPr>
          <p:cNvSpPr txBox="1"/>
          <p:nvPr/>
        </p:nvSpPr>
        <p:spPr>
          <a:xfrm>
            <a:off x="4248150" y="6311384"/>
            <a:ext cx="29813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B69DC-2798-102A-758D-0633F85E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909ACC-26E9-738A-BAF0-C80379F8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FAEFCED-6CBC-D29B-2168-981B875937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99E99B-7916-877A-FEAB-B136620D58E8}"/>
              </a:ext>
            </a:extLst>
          </p:cNvPr>
          <p:cNvSpPr txBox="1"/>
          <p:nvPr/>
        </p:nvSpPr>
        <p:spPr>
          <a:xfrm>
            <a:off x="571802" y="1315097"/>
            <a:ext cx="11144553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연산의 효율화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 아닌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특징 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위의 슬라이딩 윈도우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 원본 이미지를 수없이 잘라내어 매번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돌리던 무식한 방식을 탈피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한 번만 통과시켜 압축된 특징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(1x1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3x3 Conv)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이동시키는 방식으로 슬라이딩 윈도우를 효율적으로 구현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틀 도입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격자점별 멀티 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각 격자마다 다양한 크기와 비율을 가진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창인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들을 미리 정의하여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통해 단일 격자점에서도 서로 다른 형태의 다양한 물체 후보군을 동시에 훑고 탐색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멀티태스크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학습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와 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결합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박스가 지나갈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연산을 통해 두 가지 정밀 작업을 동시에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해당 앵커 박스 내에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존재하는지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어떤 클래스인지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확률을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앵커 박스의 위치와 크기를 실제 물체의 경계선에 딱 맞게 미세 조정하는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오차값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Δx,Δy,Δw,Δh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게산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D9EBA5D-FD2E-C1B8-3DF0-D7EB79A5EF6C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4493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5A98A-E857-2423-C923-540092E7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C1CEE3-0649-145F-2638-11E923B7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2282E-9683-B750-B8F8-02AF06D5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61C02-DF94-8074-69E4-0F73E7F9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5FA5C7-898C-1C68-7E74-AD6760E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DCF7-1DBA-D4CB-1900-6CB1F1A1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65D88-8573-ADF0-534A-5F383AF9A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388F96-8C5B-F1DF-C77E-73C822A46D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E2947-A36B-D4FB-CE58-18226E25275C}"/>
              </a:ext>
            </a:extLst>
          </p:cNvPr>
          <p:cNvSpPr txBox="1"/>
          <p:nvPr/>
        </p:nvSpPr>
        <p:spPr>
          <a:xfrm>
            <a:off x="571802" y="1474989"/>
            <a:ext cx="4114498" cy="4629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박스의 크기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(Scale)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비율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(Aspect Ratio)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사전에 세팅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직관이나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K-Means Clustering)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미리 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정해둬도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세상 모든 물체의 크기에 딱 맞아떨어지는 앵커 박스를 만드는 것은 불가능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함께 사용하여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사잔에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정한 앵커 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 근접한 출발선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뿐이고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연산을 통해 그 고정된 틀을 실제 물체 크기에 맞게 수 밀리미터 단위로 미세하게 늘리거나 줄여서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값 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정답을 찾게 됨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D8A8416-2307-93DC-863B-ABA03779E5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402" y="1474989"/>
            <a:ext cx="6742796" cy="4411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36730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2FD4B-C40F-5DED-FACC-738F5BC8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832F23-9FCA-4B9A-2560-8A63A374C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F66FF0-2CED-6E91-18B9-C638E564E5D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E2C951-CE28-AD38-D2E1-8D7B612630DF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생성하고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197DD21-36FC-BEFC-CCFD-BFB183647A4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DCB820B-BD35-5B2F-05F9-6DC922453C99}"/>
              </a:ext>
            </a:extLst>
          </p:cNvPr>
          <p:cNvGraphicFramePr>
            <a:graphicFrameLocks noGrp="1"/>
          </p:cNvGraphicFramePr>
          <p:nvPr/>
        </p:nvGraphicFramePr>
        <p:xfrm>
          <a:off x="2057397" y="3376294"/>
          <a:ext cx="2966088" cy="24306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69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10227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F266889-2574-6C8D-498E-2954A5F89700}"/>
              </a:ext>
            </a:extLst>
          </p:cNvPr>
          <p:cNvSpPr txBox="1"/>
          <p:nvPr/>
        </p:nvSpPr>
        <p:spPr>
          <a:xfrm>
            <a:off x="1981197" y="2729963"/>
            <a:ext cx="28384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</a:t>
            </a:r>
            <a:endParaRPr lang="ko-KR" altLang="en-US" sz="1600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F025B43B-39F6-6D9F-17C5-629B2610F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1757" y="3815064"/>
            <a:ext cx="1234769" cy="1234769"/>
          </a:xfrm>
          <a:prstGeom prst="rect">
            <a:avLst/>
          </a:prstGeom>
        </p:spPr>
      </p:pic>
      <p:sp>
        <p:nvSpPr>
          <p:cNvPr id="17" name="곱하기 기호 16">
            <a:extLst>
              <a:ext uri="{FF2B5EF4-FFF2-40B4-BE49-F238E27FC236}">
                <a16:creationId xmlns:a16="http://schemas.microsoft.com/office/drawing/2014/main" id="{9AFFF238-2574-8DAA-15D2-6C011A6C67C6}"/>
              </a:ext>
            </a:extLst>
          </p:cNvPr>
          <p:cNvSpPr/>
          <p:nvPr/>
        </p:nvSpPr>
        <p:spPr>
          <a:xfrm>
            <a:off x="3487876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E1976F9-25E4-2257-A627-A4E3CBC2C1B7}"/>
              </a:ext>
            </a:extLst>
          </p:cNvPr>
          <p:cNvGraphicFramePr>
            <a:graphicFrameLocks noGrp="1"/>
          </p:cNvGraphicFramePr>
          <p:nvPr/>
        </p:nvGraphicFramePr>
        <p:xfrm>
          <a:off x="5819773" y="3376294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9" name="그래픽 18" descr="트럭">
            <a:extLst>
              <a:ext uri="{FF2B5EF4-FFF2-40B4-BE49-F238E27FC236}">
                <a16:creationId xmlns:a16="http://schemas.microsoft.com/office/drawing/2014/main" id="{F3413E7F-C0BD-A5C4-97D1-5D0E8C6A3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9473" y="3839388"/>
            <a:ext cx="1234769" cy="1234769"/>
          </a:xfrm>
          <a:prstGeom prst="rect">
            <a:avLst/>
          </a:prstGeom>
        </p:spPr>
      </p:pic>
      <p:sp>
        <p:nvSpPr>
          <p:cNvPr id="20" name="곱하기 기호 19">
            <a:extLst>
              <a:ext uri="{FF2B5EF4-FFF2-40B4-BE49-F238E27FC236}">
                <a16:creationId xmlns:a16="http://schemas.microsoft.com/office/drawing/2014/main" id="{EC2A791D-5EAC-8DC6-3401-265698CA4966}"/>
              </a:ext>
            </a:extLst>
          </p:cNvPr>
          <p:cNvSpPr/>
          <p:nvPr/>
        </p:nvSpPr>
        <p:spPr>
          <a:xfrm>
            <a:off x="7250251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84ABF0-D5CF-8FAB-691A-53A0DA4AA826}"/>
              </a:ext>
            </a:extLst>
          </p:cNvPr>
          <p:cNvSpPr txBox="1"/>
          <p:nvPr/>
        </p:nvSpPr>
        <p:spPr>
          <a:xfrm>
            <a:off x="5595936" y="2736837"/>
            <a:ext cx="3452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= x, y, w, h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8ED8A2-C278-A78F-8F42-80C8604E01C5}"/>
              </a:ext>
            </a:extLst>
          </p:cNvPr>
          <p:cNvSpPr txBox="1"/>
          <p:nvPr/>
        </p:nvSpPr>
        <p:spPr>
          <a:xfrm>
            <a:off x="9030572" y="3410979"/>
            <a:ext cx="26303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셀의 왼쪽 상단을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(0,0)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가정하여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x, y, w, 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구하라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83079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AA4-FB3F-4028-BAB6-1068F53E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DE57EB-9327-70C4-90A9-D5A05DD2E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3C618B3-0B0A-4153-0F16-6CD8BC985D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632DF-E2C3-456E-17D1-EE7B95FF96B8}"/>
              </a:ext>
            </a:extLst>
          </p:cNvPr>
          <p:cNvSpPr txBox="1"/>
          <p:nvPr/>
        </p:nvSpPr>
        <p:spPr>
          <a:xfrm>
            <a:off x="571802" y="1248422"/>
            <a:ext cx="1114455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사령탑셀의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실제 픽셀 범위는 가로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영역이며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(30, 30)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(15,15)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902043F-72A8-4F16-1C1B-1E4721B19C8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2CF61F-99BB-CEC3-ACB7-57BF9F0A02CC}"/>
              </a:ext>
            </a:extLst>
          </p:cNvPr>
          <p:cNvSpPr txBox="1"/>
          <p:nvPr/>
        </p:nvSpPr>
        <p:spPr>
          <a:xfrm>
            <a:off x="5249494" y="1876127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너비(10)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높이(10)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B1738D25-B1C2-FA34-9984-56937D29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07807"/>
              </p:ext>
            </p:extLst>
          </p:nvPr>
        </p:nvGraphicFramePr>
        <p:xfrm>
          <a:off x="684978" y="3123696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47" name="그래픽 46" descr="트럭">
            <a:extLst>
              <a:ext uri="{FF2B5EF4-FFF2-40B4-BE49-F238E27FC236}">
                <a16:creationId xmlns:a16="http://schemas.microsoft.com/office/drawing/2014/main" id="{ACC57C0E-69E3-405B-01E8-D9750FA28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678" y="3586790"/>
            <a:ext cx="1234769" cy="1234769"/>
          </a:xfrm>
          <a:prstGeom prst="rect">
            <a:avLst/>
          </a:prstGeom>
        </p:spPr>
      </p:pic>
      <p:sp>
        <p:nvSpPr>
          <p:cNvPr id="48" name="곱하기 기호 47">
            <a:extLst>
              <a:ext uri="{FF2B5EF4-FFF2-40B4-BE49-F238E27FC236}">
                <a16:creationId xmlns:a16="http://schemas.microsoft.com/office/drawing/2014/main" id="{C9559834-CFF6-526D-F332-255CD3C2947C}"/>
              </a:ext>
            </a:extLst>
          </p:cNvPr>
          <p:cNvSpPr/>
          <p:nvPr/>
        </p:nvSpPr>
        <p:spPr>
          <a:xfrm>
            <a:off x="2115456" y="4253264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BBA98-0620-8F5F-69BD-D714A7C0DB32}"/>
              </a:ext>
            </a:extLst>
          </p:cNvPr>
          <p:cNvSpPr txBox="1"/>
          <p:nvPr/>
        </p:nvSpPr>
        <p:spPr>
          <a:xfrm>
            <a:off x="603163" y="2537062"/>
            <a:ext cx="31068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= x, y, w, h</a:t>
            </a:r>
            <a:endParaRPr lang="ko-KR" altLang="en-US" sz="14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39DBE5B4-746E-7F63-1528-0F71FA920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366" y="3097069"/>
            <a:ext cx="3122567" cy="2541084"/>
          </a:xfrm>
          <a:prstGeom prst="rect">
            <a:avLst/>
          </a:prstGeom>
        </p:spPr>
      </p:pic>
      <p:pic>
        <p:nvPicPr>
          <p:cNvPr id="56" name="그래픽 55" descr="트럭">
            <a:extLst>
              <a:ext uri="{FF2B5EF4-FFF2-40B4-BE49-F238E27FC236}">
                <a16:creationId xmlns:a16="http://schemas.microsoft.com/office/drawing/2014/main" id="{3B0ED8AE-1AEC-531B-7833-3FD2E202B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5044" y="3591041"/>
            <a:ext cx="1234769" cy="1234769"/>
          </a:xfrm>
          <a:prstGeom prst="rect">
            <a:avLst/>
          </a:prstGeom>
        </p:spPr>
      </p:pic>
      <p:sp>
        <p:nvSpPr>
          <p:cNvPr id="57" name="곱하기 기호 56">
            <a:extLst>
              <a:ext uri="{FF2B5EF4-FFF2-40B4-BE49-F238E27FC236}">
                <a16:creationId xmlns:a16="http://schemas.microsoft.com/office/drawing/2014/main" id="{3C3C6F8B-6E1A-C708-E8EB-563926B46851}"/>
              </a:ext>
            </a:extLst>
          </p:cNvPr>
          <p:cNvSpPr/>
          <p:nvPr/>
        </p:nvSpPr>
        <p:spPr>
          <a:xfrm>
            <a:off x="5477781" y="4262789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연결선: 구부러짐 59">
            <a:extLst>
              <a:ext uri="{FF2B5EF4-FFF2-40B4-BE49-F238E27FC236}">
                <a16:creationId xmlns:a16="http://schemas.microsoft.com/office/drawing/2014/main" id="{2ADC0897-7A6E-B0A0-A15F-EACD2791CC12}"/>
              </a:ext>
            </a:extLst>
          </p:cNvPr>
          <p:cNvCxnSpPr>
            <a:stCxn id="57" idx="0"/>
            <a:endCxn id="9" idx="1"/>
          </p:cNvCxnSpPr>
          <p:nvPr/>
        </p:nvCxnSpPr>
        <p:spPr>
          <a:xfrm rot="10800000">
            <a:off x="5249494" y="2228948"/>
            <a:ext cx="272746" cy="2078244"/>
          </a:xfrm>
          <a:prstGeom prst="curvedConnector3">
            <a:avLst>
              <a:gd name="adj1" fmla="val 1838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48642A5-BA53-FAE5-6D4E-3ED5D27BC91B}"/>
              </a:ext>
            </a:extLst>
          </p:cNvPr>
          <p:cNvSpPr txBox="1"/>
          <p:nvPr/>
        </p:nvSpPr>
        <p:spPr>
          <a:xfrm>
            <a:off x="7344729" y="2860761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w(0.6) = 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w(0.4) = 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96442B-4C57-3304-CF84-BD991E22F215}"/>
              </a:ext>
            </a:extLst>
          </p:cNvPr>
          <p:cNvSpPr txBox="1"/>
          <p:nvPr/>
        </p:nvSpPr>
        <p:spPr>
          <a:xfrm>
            <a:off x="7581018" y="3709001"/>
            <a:ext cx="35506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중심점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(15, 15)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픽셀짜리 상자를 사방으로 넓혀서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생성하면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EFCE97D-E3E9-5F01-4094-17FF0005381B}"/>
              </a:ext>
            </a:extLst>
          </p:cNvPr>
          <p:cNvSpPr/>
          <p:nvPr/>
        </p:nvSpPr>
        <p:spPr>
          <a:xfrm>
            <a:off x="4743265" y="3772072"/>
            <a:ext cx="1783075" cy="970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72C952-38E8-B305-DABE-D7D5CCE78405}"/>
              </a:ext>
            </a:extLst>
          </p:cNvPr>
          <p:cNvSpPr txBox="1"/>
          <p:nvPr/>
        </p:nvSpPr>
        <p:spPr>
          <a:xfrm>
            <a:off x="7344729" y="4536683"/>
            <a:ext cx="4371626" cy="135197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왼쪽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– W/2 = 15 - 18/2 = 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오른쪽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+ W/2 = 15 + 18/2 = 24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위쪽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– H/2 = 15 – 12/2 = 9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아래쪽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+ H/2 = 15 + 12/2 = 21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5E4ADAA-A8CD-BB1C-DFED-FC90BB8FE5DB}"/>
              </a:ext>
            </a:extLst>
          </p:cNvPr>
          <p:cNvCxnSpPr/>
          <p:nvPr/>
        </p:nvCxnSpPr>
        <p:spPr>
          <a:xfrm>
            <a:off x="6526340" y="3772072"/>
            <a:ext cx="818389" cy="7646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E208B33-39A5-58FE-6711-8068A434BC15}"/>
              </a:ext>
            </a:extLst>
          </p:cNvPr>
          <p:cNvCxnSpPr>
            <a:cxnSpLocks/>
          </p:cNvCxnSpPr>
          <p:nvPr/>
        </p:nvCxnSpPr>
        <p:spPr>
          <a:xfrm>
            <a:off x="6526340" y="4742352"/>
            <a:ext cx="818389" cy="114630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3FC2DC-7B49-3440-6687-ACAC6260105D}"/>
              </a:ext>
            </a:extLst>
          </p:cNvPr>
          <p:cNvSpPr txBox="1"/>
          <p:nvPr/>
        </p:nvSpPr>
        <p:spPr>
          <a:xfrm>
            <a:off x="1765358" y="5817739"/>
            <a:ext cx="1153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(9 by 9)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B1FF-F8CB-DF63-9C05-E3BE4773286F}"/>
              </a:ext>
            </a:extLst>
          </p:cNvPr>
          <p:cNvSpPr txBox="1"/>
          <p:nvPr/>
        </p:nvSpPr>
        <p:spPr>
          <a:xfrm>
            <a:off x="4827918" y="5759538"/>
            <a:ext cx="1613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 by 30)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38329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10362</TotalTime>
  <Words>2625</Words>
  <Application>Microsoft Office PowerPoint</Application>
  <PresentationFormat>와이드스크린</PresentationFormat>
  <Paragraphs>378</Paragraphs>
  <Slides>33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1" baseType="lpstr">
      <vt:lpstr>D2Coding</vt:lpstr>
      <vt:lpstr>맑은 고딕</vt:lpstr>
      <vt:lpstr>Batang</vt:lpstr>
      <vt:lpstr>Arial</vt:lpstr>
      <vt:lpstr>Cambria Math</vt:lpstr>
      <vt:lpstr>Segoe UI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143</cp:revision>
  <dcterms:created xsi:type="dcterms:W3CDTF">2026-04-06T01:00:39Z</dcterms:created>
  <dcterms:modified xsi:type="dcterms:W3CDTF">2026-08-12T23:29:32Z</dcterms:modified>
  <cp:version/>
</cp:coreProperties>
</file>