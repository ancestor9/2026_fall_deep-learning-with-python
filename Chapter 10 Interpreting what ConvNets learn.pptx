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0"/>
  </p:notesMasterIdLst>
  <p:handoutMasterIdLst>
    <p:handoutMasterId r:id="rId11"/>
  </p:handoutMasterIdLst>
  <p:sldIdLst>
    <p:sldId id="256" r:id="rId2"/>
    <p:sldId id="1136" r:id="rId3"/>
    <p:sldId id="1144" r:id="rId4"/>
    <p:sldId id="1145" r:id="rId5"/>
    <p:sldId id="1138" r:id="rId6"/>
    <p:sldId id="1139" r:id="rId7"/>
    <p:sldId id="1140" r:id="rId8"/>
    <p:sldId id="1141" r:id="rId9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4"/>
            <p14:sldId id="1145"/>
            <p14:sldId id="1138"/>
            <p14:sldId id="1139"/>
            <p14:sldId id="1140"/>
            <p14:sldId id="114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B45"/>
    <a:srgbClr val="76E3FF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2026-07-09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2026-07-09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2026-07-09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2026-07-09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ily.so/designcompass/posts/n3jrk2m6r51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nature.com/articles/s41598-022-19639-x" TargetMode="Externa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10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Interpreting what </a:t>
            </a:r>
            <a:r>
              <a:rPr lang="en-US" altLang="ko-KR" sz="4400" dirty="0" err="1">
                <a:solidFill>
                  <a:schemeClr val="bg1"/>
                </a:solidFill>
              </a:rPr>
              <a:t>ConvNets</a:t>
            </a:r>
            <a:r>
              <a:rPr lang="en-US" altLang="ko-KR" sz="4400" dirty="0">
                <a:solidFill>
                  <a:schemeClr val="bg1"/>
                </a:solidFill>
              </a:rPr>
              <a:t> learn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248422"/>
            <a:ext cx="10100629" cy="3197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Interpreting how </a:t>
            </a:r>
            <a:r>
              <a:rPr lang="en-US" altLang="ko-KR" sz="2000" dirty="0" err="1"/>
              <a:t>ConvNets</a:t>
            </a:r>
            <a:r>
              <a:rPr lang="en-US" altLang="ko-KR" sz="2000" dirty="0"/>
              <a:t> decompose an input image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Visualizing the filters learned by </a:t>
            </a:r>
            <a:r>
              <a:rPr lang="en-US" altLang="ko-KR" sz="2000" dirty="0" err="1"/>
              <a:t>ConvNets</a:t>
            </a:r>
            <a:endParaRPr lang="en-US" altLang="ko-KR" sz="2000" dirty="0"/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Visualizing areas in an image responsible for a certain classification decision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59ECB-1ADE-67B3-8CAE-2F612B316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1C4870-5BBA-ABE6-D324-0BFEDE78D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7697D12-A4EA-A564-F3A4-AD0AD672A9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to recognize(perceive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classify) Image</a:t>
            </a:r>
          </a:p>
        </p:txBody>
      </p:sp>
      <p:pic>
        <p:nvPicPr>
          <p:cNvPr id="8195" name="Picture 3" descr="첨부 이미지">
            <a:extLst>
              <a:ext uri="{FF2B5EF4-FFF2-40B4-BE49-F238E27FC236}">
                <a16:creationId xmlns:a16="http://schemas.microsoft.com/office/drawing/2014/main" id="{A2FCCDA1-238F-34E5-22D1-C586254C1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00" y="2372823"/>
            <a:ext cx="4514850" cy="3156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F76525-5D8A-1C44-FEFC-E0CAE1AD0F1C}"/>
              </a:ext>
            </a:extLst>
          </p:cNvPr>
          <p:cNvSpPr txBox="1"/>
          <p:nvPr/>
        </p:nvSpPr>
        <p:spPr>
          <a:xfrm>
            <a:off x="647700" y="1923035"/>
            <a:ext cx="37753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인간의 시각 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(Visual Perception)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197" name="Picture 5" descr="Figure 3">
            <a:extLst>
              <a:ext uri="{FF2B5EF4-FFF2-40B4-BE49-F238E27FC236}">
                <a16:creationId xmlns:a16="http://schemas.microsoft.com/office/drawing/2014/main" id="{C5A09589-30A6-6317-A157-684698658B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582" y="2372823"/>
            <a:ext cx="5895393" cy="1688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43A0ABF-3D55-82A2-3B7F-CD62CD808868}"/>
              </a:ext>
            </a:extLst>
          </p:cNvPr>
          <p:cNvSpPr txBox="1"/>
          <p:nvPr/>
        </p:nvSpPr>
        <p:spPr>
          <a:xfrm>
            <a:off x="5887032" y="1923035"/>
            <a:ext cx="5266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Convnet An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이미지 인지 및 분류</a:t>
            </a:r>
          </a:p>
        </p:txBody>
      </p:sp>
    </p:spTree>
    <p:extLst>
      <p:ext uri="{BB962C8B-B14F-4D97-AF65-F5344CB8AC3E}">
        <p14:creationId xmlns:p14="http://schemas.microsoft.com/office/powerpoint/2010/main" val="4121607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C8D62-957F-BB3E-2B47-CA0AB2C71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E58852-75A2-993F-D239-6E9BBE9C4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F4F250-354D-6332-329E-B08948B969E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to recognize Image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8818DF-3622-2AF7-FAC2-4E60FDEB7CBA}"/>
              </a:ext>
            </a:extLst>
          </p:cNvPr>
          <p:cNvSpPr txBox="1"/>
          <p:nvPr/>
        </p:nvSpPr>
        <p:spPr>
          <a:xfrm>
            <a:off x="682484" y="1332297"/>
            <a:ext cx="10890392" cy="47221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인간과 컴퓨터 모두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중간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부품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상위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개념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순서로 고차원적인 추상화를 거치며 이미지를 해석하고 인지 분류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선과 경계면 찾기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초기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(V1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눈으로 들어온 시각 정보에서 가장 기본적인 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(Line),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(Edge),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명암을 인식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초기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작은 필터를 통해 이미지 픽셀에서 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대각선 등의 경계선 특징을 추출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모양과 질감 만들기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중간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(V2 ~ V4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단계의 선들을 조합하여 곡선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간단한 도형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표면의 질감과 색상을 파악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중간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추출된 선들을 결합하여 모서리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반복되는 패턴 등의 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형성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en-US" altLang="ko-KR" sz="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사물의 부분 인식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심층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(IT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피질 후방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도형들을 합쳐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바퀴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눈코입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'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동물 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같은 사물의 구체적인 부속품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(Parts)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들을 찾아냄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_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심층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넓은 영역을 보며 자동차 헤드라이트나 동물의 얼굴 형태 등 복잡하고 구체적인 객체의 특징을 활성화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분류 및 이름표 붙이기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(IT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피질 전방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전두엽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부분 정보들을 종합해 뇌 속 개념과 연결한 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이것은 고양이다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라고 최종 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Convet_FC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~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추출된 고차원 특징들을 하나로 모아 계산한 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클래스별 확률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95%)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내며 분류를 완료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625287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667BA-883A-F760-A852-480894981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25E88B-6D21-127E-3DF6-DC200AC37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0151A18-B816-E6A4-DE0E-617FB6906B4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Interpretability of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5D88C-08F5-7F76-9775-DBDAFF7DBE0E}"/>
              </a:ext>
            </a:extLst>
          </p:cNvPr>
          <p:cNvSpPr txBox="1"/>
          <p:nvPr/>
        </p:nvSpPr>
        <p:spPr>
          <a:xfrm>
            <a:off x="682484" y="1303722"/>
            <a:ext cx="10890392" cy="453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및 시각적 설명 가능성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(Interpretability)’</a:t>
            </a:r>
          </a:p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컨브넷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중간 출력(중간 활성화 단계) 시각화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컨브넷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)들이 입력을 어떻게 변환하는지 이해하고, 각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컨브넷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필터(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개별적인 의미를 파악하는 첫 단추를 끼우는 데 유용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컨브넷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필터 시각화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컨브넷의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각 필터가 정확히 어떤 시각적 패턴이나 개념에 반응(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Receptive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)하는지 정밀하게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내 클래스 활성화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히트맵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Heatmap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시각화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어느 부분이 특정 클래스로 판단되는 데 기여했는지 이해함으로써, 이미지 내에서 객체의 위치를 찾아내는(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Localization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 유용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38986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4937CC-AAA6-68E7-A8C8-A7551C4AE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025B5A-B6CE-08CE-91CB-22D6B47F8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F93B26-E66E-5B91-A2B0-04F10F1FA9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intermediate activations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8471E5-FD6A-C523-CB65-3463CF1A9B79}"/>
              </a:ext>
            </a:extLst>
          </p:cNvPr>
          <p:cNvSpPr txBox="1"/>
          <p:nvPr/>
        </p:nvSpPr>
        <p:spPr>
          <a:xfrm>
            <a:off x="682484" y="1303722"/>
            <a:ext cx="10890392" cy="11603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인간의 뇌가 이미지를 인지하는 방법은 정보 증류 파이프라인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(Information Distillation Pipeline)</a:t>
            </a:r>
          </a:p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층이 깊어 질 수록 이미지의 구체적인 형태를 버리고 추상적인 기하학적 형태만 남기는 것은 인간의 뇌처럼 사물의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본질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파악하는 진짜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갖추어 가는 과정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97EA3050-6358-B6AC-ECDB-9178B5608D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0814" y="2990850"/>
            <a:ext cx="5681661" cy="2762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7EEF9E2-40E1-C4FA-6338-D9426C1CEB8C}"/>
              </a:ext>
            </a:extLst>
          </p:cNvPr>
          <p:cNvSpPr txBox="1"/>
          <p:nvPr/>
        </p:nvSpPr>
        <p:spPr>
          <a:xfrm>
            <a:off x="1518676" y="6036261"/>
            <a:ext cx="87683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Left: Attempts to draw a bicycle from memory. Right: What a schematic bicycle should look like.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477670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0C68D-CCBD-8D06-41CB-ECE94C369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756671-450A-3D48-0887-EDE05A7DD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A4D9A82-F48E-3FD6-4333-07A73EF46E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filters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37AD34-05B4-AA3A-B361-10A6B4065714}"/>
              </a:ext>
            </a:extLst>
          </p:cNvPr>
          <p:cNvSpPr txBox="1"/>
          <p:nvPr/>
        </p:nvSpPr>
        <p:spPr>
          <a:xfrm>
            <a:off x="682484" y="1303722"/>
            <a:ext cx="10890392" cy="1531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마치 레고 블록처럼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계층적 특징 학습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(Hierarchical Feature Learning)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하는데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층 레이어는 이미지의 아주 좁은 영역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(Receptive Field)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바라보며 낱개 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경계선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색상 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층 레이어는 이를 조립해 벽면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질감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만들며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층 레이어는 최종적으로 멋진 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물체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개와 고양이 구분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완성하는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(Fourier Transform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9C2CABC-F131-372D-9CBF-61519AF86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208" y="3636938"/>
            <a:ext cx="3594926" cy="138591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8BB606D-C81D-E91E-44E2-C893D9EE6B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98" y="3636938"/>
            <a:ext cx="3566786" cy="138591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4234097-CE34-E114-18AC-CC020F9EC6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7364" y="3636938"/>
            <a:ext cx="3587891" cy="138591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D023463-0278-0938-1A4F-7F9A7218F333}"/>
              </a:ext>
            </a:extLst>
          </p:cNvPr>
          <p:cNvSpPr txBox="1"/>
          <p:nvPr/>
        </p:nvSpPr>
        <p:spPr>
          <a:xfrm>
            <a:off x="5029200" y="3167236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patterns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9571829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91ACB-9734-A5C3-E507-48BA867A9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A77A08-EF22-A402-4B32-741210658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82F4A15-0D18-0B51-E66C-822E2509015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Visualizing heatmaps of class activation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8AAA13-6512-6F37-471C-08EBD0C40F6D}"/>
              </a:ext>
            </a:extLst>
          </p:cNvPr>
          <p:cNvSpPr txBox="1"/>
          <p:nvPr/>
        </p:nvSpPr>
        <p:spPr>
          <a:xfrm>
            <a:off x="682484" y="1303722"/>
            <a:ext cx="10890392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마지막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이미지의 공간적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위치 정보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가지고 있는 가장 풍부한 피처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수백 개의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있는데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어떤 채널은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코끼리의 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반응하고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어떤 채널은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코끼리의 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또 어떤 채널은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바닥의 풀밭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반응해서 불이 들어와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활성화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A624D308-8AEE-3397-0277-DC1640A85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2576" y="2969621"/>
            <a:ext cx="2330302" cy="2330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8749050D-11EB-9FB7-C22A-6BE0595501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8239" y="2969620"/>
            <a:ext cx="2330302" cy="2330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>
            <a:extLst>
              <a:ext uri="{FF2B5EF4-FFF2-40B4-BE49-F238E27FC236}">
                <a16:creationId xmlns:a16="http://schemas.microsoft.com/office/drawing/2014/main" id="{0775281D-E10D-3618-67A4-C742677BA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3903" y="2969620"/>
            <a:ext cx="2330302" cy="2330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6AAD76-DA8F-7AEE-B0E8-ADBF719E34D3}"/>
              </a:ext>
            </a:extLst>
          </p:cNvPr>
          <p:cNvSpPr txBox="1"/>
          <p:nvPr/>
        </p:nvSpPr>
        <p:spPr>
          <a:xfrm>
            <a:off x="1450397" y="5387823"/>
            <a:ext cx="937901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+mj-lt"/>
              <a:buAutoNum type="arabicPeriod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신경망은 왜 이 이미지에 아프리카코끼리가 포함되어 있다고 생각했을까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Font typeface="+mj-lt"/>
              <a:buAutoNum type="arabicPeriod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아프리카코끼리는 사진 속 어느 위치에 있는가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</a:p>
          <a:p>
            <a:pPr>
              <a:buFont typeface="+mj-lt"/>
              <a:buAutoNum type="arabicPeriod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새끼 코끼리의 귀 부분이 강력하게 활성화되었다는 점은 주목할 만한 흥미로운 부분으로 신경망은 아마도 이 부분을 보고 아프리카코끼리와 인도코끼리의 차이점을 구별해 냈을 것임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57211076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10500</TotalTime>
  <Words>710</Words>
  <Application>Microsoft Office PowerPoint</Application>
  <PresentationFormat>와이드스크린</PresentationFormat>
  <Paragraphs>53</Paragraphs>
  <Slides>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D2Coding</vt:lpstr>
      <vt:lpstr>맑은 고딕</vt:lpstr>
      <vt:lpstr>바탕</vt:lpstr>
      <vt:lpstr>Arial</vt:lpstr>
      <vt:lpstr>Wingdings</vt:lpstr>
      <vt:lpstr>WelcomeDoc</vt:lpstr>
      <vt:lpstr>Chapter 10  Interpreting what ConvNets learn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171</cp:revision>
  <dcterms:created xsi:type="dcterms:W3CDTF">2026-04-06T01:00:39Z</dcterms:created>
  <dcterms:modified xsi:type="dcterms:W3CDTF">2026-07-09T08:09:57Z</dcterms:modified>
  <cp:version/>
</cp:coreProperties>
</file>