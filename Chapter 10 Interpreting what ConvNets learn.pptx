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256" r:id="rId2"/>
    <p:sldId id="1136" r:id="rId3"/>
    <p:sldId id="1144" r:id="rId4"/>
    <p:sldId id="1152" r:id="rId5"/>
    <p:sldId id="1153" r:id="rId6"/>
    <p:sldId id="1150" r:id="rId7"/>
    <p:sldId id="1148" r:id="rId8"/>
    <p:sldId id="1149" r:id="rId9"/>
    <p:sldId id="1139" r:id="rId10"/>
    <p:sldId id="1145" r:id="rId11"/>
    <p:sldId id="1151" r:id="rId12"/>
    <p:sldId id="1138" r:id="rId13"/>
    <p:sldId id="1140" r:id="rId14"/>
    <p:sldId id="1141" r:id="rId15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4"/>
            <p14:sldId id="1152"/>
            <p14:sldId id="1153"/>
            <p14:sldId id="1150"/>
            <p14:sldId id="1148"/>
            <p14:sldId id="1149"/>
            <p14:sldId id="1139"/>
            <p14:sldId id="1145"/>
            <p14:sldId id="1151"/>
            <p14:sldId id="1138"/>
            <p14:sldId id="1140"/>
            <p14:sldId id="1141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45"/>
    <a:srgbClr val="76E3FF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733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2026-09-18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altLang="ko-KR" noProof="0" smtClean="0"/>
              <a:pPr/>
              <a:t>13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819654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2026-09-18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9/18/2026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2026-09-18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aily.so/designcompass/posts/n3jrk2m6r51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nature.com/articles/s41598-022-19639-x" TargetMode="Externa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171575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10 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400" dirty="0">
                <a:solidFill>
                  <a:schemeClr val="bg1"/>
                </a:solidFill>
              </a:rPr>
              <a:t>Interpreting what </a:t>
            </a:r>
            <a:r>
              <a:rPr lang="en-US" altLang="ko-KR" sz="4400" dirty="0" err="1">
                <a:solidFill>
                  <a:schemeClr val="bg1"/>
                </a:solidFill>
              </a:rPr>
              <a:t>ConvNets</a:t>
            </a:r>
            <a:r>
              <a:rPr lang="en-US" altLang="ko-KR" sz="4400" dirty="0">
                <a:solidFill>
                  <a:schemeClr val="bg1"/>
                </a:solidFill>
              </a:rPr>
              <a:t> learn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435B2F8-E85B-6FAB-4AFA-6E1F580B27D7}"/>
              </a:ext>
            </a:extLst>
          </p:cNvPr>
          <p:cNvSpPr/>
          <p:nvPr/>
        </p:nvSpPr>
        <p:spPr>
          <a:xfrm>
            <a:off x="577530" y="2066925"/>
            <a:ext cx="10776270" cy="6286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B7729-09DC-4690-5139-CD2649D9221F}"/>
              </a:ext>
            </a:extLst>
          </p:cNvPr>
          <p:cNvSpPr txBox="1"/>
          <p:nvPr/>
        </p:nvSpPr>
        <p:spPr>
          <a:xfrm>
            <a:off x="577530" y="1248422"/>
            <a:ext cx="9661845" cy="381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/>
              <a:t>This chapter covers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/>
              <a:t>Interpreting how </a:t>
            </a:r>
            <a:r>
              <a:rPr lang="en-US" altLang="ko-KR" sz="2000" dirty="0" err="1"/>
              <a:t>ConvNets</a:t>
            </a:r>
            <a:r>
              <a:rPr lang="en-US" altLang="ko-KR" sz="2000" dirty="0"/>
              <a:t> decompose an input image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Visualizing intermediate activations</a:t>
            </a:r>
            <a:endParaRPr lang="en-US" altLang="ko-KR" sz="2000" dirty="0"/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/>
              <a:t>Visualizing the filters learned by </a:t>
            </a:r>
            <a:r>
              <a:rPr lang="en-US" altLang="ko-KR" sz="2000" dirty="0" err="1"/>
              <a:t>ConvNets</a:t>
            </a:r>
            <a:endParaRPr lang="en-US" altLang="ko-KR" sz="2000" dirty="0"/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/>
              <a:t>Visualizing areas in an image responsible for a certain classification decision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59ECB-1ADE-67B3-8CAE-2F612B31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7697D12-A4EA-A564-F3A4-AD0AD672A97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to recognize(perceive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&amp;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classify) Image</a:t>
            </a:r>
          </a:p>
        </p:txBody>
      </p:sp>
      <p:pic>
        <p:nvPicPr>
          <p:cNvPr id="8195" name="Picture 3" descr="첨부 이미지">
            <a:extLst>
              <a:ext uri="{FF2B5EF4-FFF2-40B4-BE49-F238E27FC236}">
                <a16:creationId xmlns:a16="http://schemas.microsoft.com/office/drawing/2014/main" id="{A2FCCDA1-238F-34E5-22D1-C586254C1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2753968"/>
            <a:ext cx="4955323" cy="3464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F76525-5D8A-1C44-FEFC-E0CAE1AD0F1C}"/>
              </a:ext>
            </a:extLst>
          </p:cNvPr>
          <p:cNvSpPr txBox="1"/>
          <p:nvPr/>
        </p:nvSpPr>
        <p:spPr>
          <a:xfrm>
            <a:off x="647700" y="6189061"/>
            <a:ext cx="33265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인간의 시각 인지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(Visual Perception)</a:t>
            </a:r>
            <a:endParaRPr lang="ko-KR" altLang="en-US" sz="1400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197" name="Picture 5" descr="Figure 3">
            <a:extLst>
              <a:ext uri="{FF2B5EF4-FFF2-40B4-BE49-F238E27FC236}">
                <a16:creationId xmlns:a16="http://schemas.microsoft.com/office/drawing/2014/main" id="{C5A09589-30A6-6317-A157-684698658B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582" y="2962102"/>
            <a:ext cx="5895393" cy="236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3A0ABF-3D55-82A2-3B7F-CD62CD808868}"/>
              </a:ext>
            </a:extLst>
          </p:cNvPr>
          <p:cNvSpPr txBox="1"/>
          <p:nvPr/>
        </p:nvSpPr>
        <p:spPr>
          <a:xfrm>
            <a:off x="5652526" y="5419517"/>
            <a:ext cx="5266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Convnet An </a:t>
            </a:r>
            <a:r>
              <a:rPr lang="en-US" altLang="ko-KR" sz="1400" dirty="0" err="1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xception</a:t>
            </a:r>
            <a:r>
              <a:rPr lang="en-US" altLang="ko-KR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model</a:t>
            </a:r>
            <a:r>
              <a:rPr lang="ko-KR" altLang="en-US" sz="1400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이미지 인지 및 분류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9645F4-C112-E9F5-2D5A-E57A24E69F4D}"/>
              </a:ext>
            </a:extLst>
          </p:cNvPr>
          <p:cNvSpPr txBox="1"/>
          <p:nvPr/>
        </p:nvSpPr>
        <p:spPr>
          <a:xfrm>
            <a:off x="546765" y="1142606"/>
            <a:ext cx="11034395" cy="1531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LGN → V1 → V2/V3/V4 → LOC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계층적 순차적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처리 과정으로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단순 시각 정보에서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형태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색상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 특징을 점차 추출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입력 이미지에서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저수준부터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고수준 특징까지 계층적으로 학습하는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과정은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인간의 시각 인지 과정과 유사한 구조</a:t>
            </a:r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B5B9BF5A-7CE8-BA6A-3A38-38B9DD1B62D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607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3F0C-586C-F785-58C0-72C41E088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F23CEDA-6494-9CB7-B00B-4F70693961C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to recognize(perceive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&amp;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classify) 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04A510-BFF1-2412-1328-EE214F2FCA88}"/>
              </a:ext>
            </a:extLst>
          </p:cNvPr>
          <p:cNvSpPr txBox="1"/>
          <p:nvPr/>
        </p:nvSpPr>
        <p:spPr>
          <a:xfrm>
            <a:off x="555772" y="1296502"/>
            <a:ext cx="11158708" cy="627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keras.applications.vgg16.VGG16(weights="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imagenet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  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					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Pretrained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model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의 각 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block </a:t>
            </a:r>
            <a:r>
              <a:rPr lang="ko-KR" altLang="en-US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별 이미지</a:t>
            </a: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110" name="Picture 14">
            <a:extLst>
              <a:ext uri="{FF2B5EF4-FFF2-40B4-BE49-F238E27FC236}">
                <a16:creationId xmlns:a16="http://schemas.microsoft.com/office/drawing/2014/main" id="{B20D5A51-F6AA-6C62-23D3-82E1060AEC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308" y="2947000"/>
            <a:ext cx="10752717" cy="361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F96B8133-6D1B-B893-BF01-A2144C0AE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183" y="1711175"/>
            <a:ext cx="1224936" cy="1516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46EB086E-A67B-A794-56A3-E75DE37BB16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24E770-6C91-F3E9-E81D-EF5EA6775ACF}"/>
              </a:ext>
            </a:extLst>
          </p:cNvPr>
          <p:cNvSpPr txBox="1"/>
          <p:nvPr/>
        </p:nvSpPr>
        <p:spPr>
          <a:xfrm>
            <a:off x="6591882" y="1923853"/>
            <a:ext cx="4066076" cy="9002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블록</a:t>
            </a:r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(Block)</a:t>
            </a:r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의 일반적인 구성 요소 하나의 블록 안에는 </a:t>
            </a:r>
            <a:r>
              <a:rPr lang="ko-KR" altLang="en-US" sz="105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 </a:t>
            </a:r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(Conv Layer):</a:t>
            </a:r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 이미지의 특징을 추출</a:t>
            </a:r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배치 정규화 </a:t>
            </a:r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/ </a:t>
            </a:r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활성화 함수 </a:t>
            </a:r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05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):</a:t>
            </a:r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 학습을 안정화하고 비선형성 추가</a:t>
            </a:r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05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풀링</a:t>
            </a:r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 </a:t>
            </a:r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(Pooling Layer):</a:t>
            </a:r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 특징 지도</a:t>
            </a:r>
            <a:r>
              <a:rPr lang="en-US" altLang="ko-KR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(Feature Map)</a:t>
            </a:r>
            <a:r>
              <a:rPr lang="ko-KR" altLang="en-US" sz="1050" dirty="0">
                <a:latin typeface="D2Coding" panose="020B0609020101020101" pitchFamily="49" charset="-127"/>
                <a:ea typeface="D2Coding" panose="020B0609020101020101" pitchFamily="49" charset="-127"/>
              </a:rPr>
              <a:t>의 크기를 줄여 핵심 정보만 요약 등 레이어를 포함하는 단위</a:t>
            </a:r>
          </a:p>
        </p:txBody>
      </p:sp>
    </p:spTree>
    <p:extLst>
      <p:ext uri="{BB962C8B-B14F-4D97-AF65-F5344CB8AC3E}">
        <p14:creationId xmlns:p14="http://schemas.microsoft.com/office/powerpoint/2010/main" val="286865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7FEF1-7447-A2B9-1656-897B14209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63412AF-20B3-D01A-AFC7-A545654BCC7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to recognize(perceive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&amp;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classify) Image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F283806-40A4-5E15-B2F3-89844A93B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16" y="2970999"/>
            <a:ext cx="2730364" cy="288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D2F1583B-A7E4-2BB1-D3B5-F05C72199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696" y="2781488"/>
            <a:ext cx="2751421" cy="30742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32E799C8-99A8-9316-561C-9FB540396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8829" y="2930360"/>
            <a:ext cx="2730364" cy="2884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0FBE0DE6-F9C5-FE50-A5E3-892EE67FD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4549" y="2930360"/>
            <a:ext cx="2800849" cy="2959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474296-18DA-8592-77A5-2E95CB6120E4}"/>
              </a:ext>
            </a:extLst>
          </p:cNvPr>
          <p:cNvSpPr txBox="1"/>
          <p:nvPr/>
        </p:nvSpPr>
        <p:spPr>
          <a:xfrm>
            <a:off x="3420010" y="5855780"/>
            <a:ext cx="266630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필터가 실제 이미지의 어디에 반응하는가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84806C-D408-1D06-9D35-85A4FECF4E94}"/>
              </a:ext>
            </a:extLst>
          </p:cNvPr>
          <p:cNvSpPr txBox="1"/>
          <p:nvPr/>
        </p:nvSpPr>
        <p:spPr>
          <a:xfrm>
            <a:off x="6312254" y="5855779"/>
            <a:ext cx="2794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필터가 이상적으로 어떤 패턴을 좋아하는가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설명선: 굽은 선 12">
            <a:extLst>
              <a:ext uri="{FF2B5EF4-FFF2-40B4-BE49-F238E27FC236}">
                <a16:creationId xmlns:a16="http://schemas.microsoft.com/office/drawing/2014/main" id="{F33BFB74-E8FF-DED4-F60D-3086D8F0D231}"/>
              </a:ext>
            </a:extLst>
          </p:cNvPr>
          <p:cNvSpPr/>
          <p:nvPr/>
        </p:nvSpPr>
        <p:spPr>
          <a:xfrm>
            <a:off x="8034547" y="1485900"/>
            <a:ext cx="2794860" cy="117956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10070"/>
              <a:gd name="adj6" fmla="val -29409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이미지 자체를 무작위 노이즈에서 시작해, block3_conv1의 0번 필터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활성값이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최대가 되도록 경사상승법으로 이미지를 갱신(출력을 최대화하도록 입력을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만들어냄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4" name="설명선: 굽은 선(강조선) 13">
            <a:extLst>
              <a:ext uri="{FF2B5EF4-FFF2-40B4-BE49-F238E27FC236}">
                <a16:creationId xmlns:a16="http://schemas.microsoft.com/office/drawing/2014/main" id="{9B8845F5-8D2B-34B8-CD3B-56417263FD7E}"/>
              </a:ext>
            </a:extLst>
          </p:cNvPr>
          <p:cNvSpPr/>
          <p:nvPr/>
        </p:nvSpPr>
        <p:spPr>
          <a:xfrm>
            <a:off x="4287519" y="1485900"/>
            <a:ext cx="2512779" cy="1179568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00066"/>
              <a:gd name="adj6" fmla="val -27863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실제 고양이 이미지를 모델에 통과시켜, block3_conv1의 0번 채널이 그 이미지의 어느 위치에서 활성화되는지를 그대로 보여주기(입력 이미지는 고정, 출력만 관찰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슬라이드 번호 개체 틀 3">
            <a:extLst>
              <a:ext uri="{FF2B5EF4-FFF2-40B4-BE49-F238E27FC236}">
                <a16:creationId xmlns:a16="http://schemas.microsoft.com/office/drawing/2014/main" id="{BC193AE4-A7EF-5119-8D12-5078C587E7E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C15AE5-B72C-3730-20E0-5D726F6D3AD7}"/>
              </a:ext>
            </a:extLst>
          </p:cNvPr>
          <p:cNvSpPr txBox="1"/>
          <p:nvPr/>
        </p:nvSpPr>
        <p:spPr>
          <a:xfrm>
            <a:off x="9148829" y="5855779"/>
            <a:ext cx="27948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최종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판단시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이미지의 결정부분</a:t>
            </a:r>
          </a:p>
        </p:txBody>
      </p:sp>
    </p:spTree>
    <p:extLst>
      <p:ext uri="{BB962C8B-B14F-4D97-AF65-F5344CB8AC3E}">
        <p14:creationId xmlns:p14="http://schemas.microsoft.com/office/powerpoint/2010/main" val="1432659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383D0-0E32-324E-67EE-1B6BE5AA8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530E05-76E5-C988-ABFC-951BE81CAF0A}"/>
              </a:ext>
            </a:extLst>
          </p:cNvPr>
          <p:cNvSpPr/>
          <p:nvPr/>
        </p:nvSpPr>
        <p:spPr>
          <a:xfrm>
            <a:off x="577530" y="2667000"/>
            <a:ext cx="10776270" cy="6286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E4DD486-A8FB-4F80-0DBD-9D75763B3EE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3E137-6F24-8E75-F750-DE793DAC6557}"/>
              </a:ext>
            </a:extLst>
          </p:cNvPr>
          <p:cNvSpPr txBox="1"/>
          <p:nvPr/>
        </p:nvSpPr>
        <p:spPr>
          <a:xfrm>
            <a:off x="577530" y="1248422"/>
            <a:ext cx="9661845" cy="381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/>
              <a:t>This chapter covers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/>
              <a:t>Interpreting how </a:t>
            </a:r>
            <a:r>
              <a:rPr lang="en-US" altLang="ko-KR" sz="2000" dirty="0" err="1"/>
              <a:t>ConvNets</a:t>
            </a:r>
            <a:r>
              <a:rPr lang="en-US" altLang="ko-KR" sz="2000" dirty="0"/>
              <a:t> decompose an input image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Visualizing intermediate activations</a:t>
            </a:r>
            <a:endParaRPr lang="en-US" altLang="ko-KR" sz="2000" dirty="0"/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/>
              <a:t>Visualizing the filters learned by </a:t>
            </a:r>
            <a:r>
              <a:rPr lang="en-US" altLang="ko-KR" sz="2000" dirty="0" err="1"/>
              <a:t>ConvNets</a:t>
            </a:r>
            <a:endParaRPr lang="en-US" altLang="ko-KR" sz="2000" dirty="0"/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/>
              <a:t>Visualizing areas in an image responsible for a certain classification decision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499110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ECD4F-9D88-52C7-A92A-BA7D5CF31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2448F53-71A9-59E9-84FE-A3F2577B1C8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Visualizing intermediate activations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AB7B2A-9FDF-CB2A-58E8-37EEDC1FD982}"/>
              </a:ext>
            </a:extLst>
          </p:cNvPr>
          <p:cNvSpPr txBox="1"/>
          <p:nvPr/>
        </p:nvSpPr>
        <p:spPr>
          <a:xfrm>
            <a:off x="514954" y="1248422"/>
            <a:ext cx="1120140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초기 레이어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Low-level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시각적 형태(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엣지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대각선, 질감 등)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상세하게 보존하며 필터가 단순 형태에 반응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후반 레이어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High-level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): 공간적 해상도는 점차 줄어들고 '눈', ＇귀＇ 등 추상적이고 고차원적인 클래스 관련 피처 위주로 활성화</a:t>
            </a: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1CC94975-91B5-E46A-C953-4A4527478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5548" y="2921527"/>
            <a:ext cx="3209186" cy="3209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DE98EB75-81A9-CC2E-1C84-FA3F4B298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603" y="2450609"/>
            <a:ext cx="3925408" cy="3925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A5E767-4915-5813-D003-683F7C550078}"/>
              </a:ext>
            </a:extLst>
          </p:cNvPr>
          <p:cNvSpPr txBox="1"/>
          <p:nvPr/>
        </p:nvSpPr>
        <p:spPr>
          <a:xfrm>
            <a:off x="2665548" y="6222128"/>
            <a:ext cx="2669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test cat picture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C70190-3F58-AFAB-426C-0B92E6901166}"/>
              </a:ext>
            </a:extLst>
          </p:cNvPr>
          <p:cNvSpPr txBox="1"/>
          <p:nvPr/>
        </p:nvSpPr>
        <p:spPr>
          <a:xfrm>
            <a:off x="6588603" y="6203380"/>
            <a:ext cx="40465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Sixth channel of the activation of the first layer on the test cat picture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82E8CD58-2738-7919-D7E0-12EE14DC622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548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04DD5-4581-9BE7-D424-90A46D988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360A21-01E1-1F1D-D427-E9C09AF705D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Visualizing intermediate activations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B865B-0686-0B7D-A2F7-BA7CAAB143E5}"/>
              </a:ext>
            </a:extLst>
          </p:cNvPr>
          <p:cNvSpPr txBox="1"/>
          <p:nvPr/>
        </p:nvSpPr>
        <p:spPr>
          <a:xfrm>
            <a:off x="514954" y="1248422"/>
            <a:ext cx="6276371" cy="522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활성화의 희소성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(Sparsity)</a:t>
            </a:r>
          </a:p>
          <a:p>
            <a:pPr marL="742950" lvl="1" indent="-28575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네트워크가 깊어질수록 반응하지 않는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(blank)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필터가 늘어나며 필터가 점차 특정 정밀 조합에만 반응하도록 특화되기 때문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정보 증류 파이프라인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(Information Distillation Pipeline)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 marL="742950" lvl="1" indent="-28575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원시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RGB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입력에서 불필요한 노이즈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디테일을 지속적으로 필터링하고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 목적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분류 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필요한 핵심 정보만 정제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증폭하는 과정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인간 시각 인지 시스템과의 유사성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 marL="742950" lvl="1" indent="-28575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인간의 뇌 역시 관찰한 장면의 세부 형태를 전부 저장하는 대신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자전거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나무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같은 상위 개념으로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추상화하여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정밀 연산 및 기억 용량을 효율화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E76230D7-84CC-4EAF-5C9D-1318EAC24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3359" y="1248422"/>
            <a:ext cx="3846048" cy="5371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DA6AE55-67C8-CF7F-DCF8-F4D12D38AE8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018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937CC-AAA6-68E7-A8C8-A7551C4AE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8F93B26-E66E-5B91-A2B0-04F10F1FA9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Visualizing intermediate activations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8471E5-FD6A-C523-CB65-3463CF1A9B79}"/>
              </a:ext>
            </a:extLst>
          </p:cNvPr>
          <p:cNvSpPr txBox="1"/>
          <p:nvPr/>
        </p:nvSpPr>
        <p:spPr>
          <a:xfrm>
            <a:off x="682484" y="1208472"/>
            <a:ext cx="10890392" cy="1160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인간의 뇌가 이미지를 인지하는 방법은 정보 증류 파이프라인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(Information Distillation Pipeline)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층이 깊어 질 수록 이미지의 구체적인 형태를 버리고 추상적인 기하학적 형태만 남기는 것은 인간의 뇌처럼 사물의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본질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파악하는 진짜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지능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갖추어 가는 과정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97EA3050-6358-B6AC-ECDB-9178B5608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814" y="2686050"/>
            <a:ext cx="6308441" cy="3067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EEF9E2-40E1-C4FA-6338-D9426C1CEB8C}"/>
              </a:ext>
            </a:extLst>
          </p:cNvPr>
          <p:cNvSpPr txBox="1"/>
          <p:nvPr/>
        </p:nvSpPr>
        <p:spPr>
          <a:xfrm>
            <a:off x="1518676" y="6036261"/>
            <a:ext cx="8768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Left: Attempts to draw a bicycle from memory. Right: What a schematic bicycle should look like.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4D70733-EB58-B56C-7C7C-437935DDE08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767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C8D62-957F-BB3E-2B47-CA0AB2C71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F4F250-354D-6332-329E-B08948B969E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to recognize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818DF-3622-2AF7-FAC2-4E60FDEB7CBA}"/>
              </a:ext>
            </a:extLst>
          </p:cNvPr>
          <p:cNvSpPr txBox="1"/>
          <p:nvPr/>
        </p:nvSpPr>
        <p:spPr>
          <a:xfrm>
            <a:off x="682484" y="1208472"/>
            <a:ext cx="10890392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인간과 컴퓨터 모두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도형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질감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중간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부품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형태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상위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개념 분류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최종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)]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순서로 고차원적인 추상화를 거치며 이미지를 해석하고 인지 분류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C872E4F-8CCC-9BCA-F039-EBDD72F1434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C1270-DC16-0A1A-6220-71692F4F40BE}"/>
              </a:ext>
            </a:extLst>
          </p:cNvPr>
          <p:cNvSpPr txBox="1"/>
          <p:nvPr/>
        </p:nvSpPr>
        <p:spPr>
          <a:xfrm>
            <a:off x="892035" y="2383640"/>
            <a:ext cx="10680841" cy="36833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선과 경계면 찾기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초기 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(V1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영역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눈으로 들어온 시각 정보에서 가장 기본적인 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(Line),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(Edge),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명암을 인식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작은 필터를 통해 이미지 픽셀에서 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세로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대각선 등의 경계선 특징을 추출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모양과 질감 만들기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중간 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(V2 ~ V4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영역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단계의 선들을 조합하여 곡선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간단한 도형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표면의 질감과 색상을 파악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중간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추출된 선들을 결합하여 모서리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원형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반복되는 패턴 등의 특징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형성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5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사물의 부분 인식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심층 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(IT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피질 후방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도형들을 합쳐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바퀴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눈코입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동물 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같은 사물의 구체적인 부속품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(Parts)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들을 찾아냄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Convet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_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심층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넓은 영역을 보며 자동차 헤드라이트나 동물의 얼굴 형태 등 복잡하고 구체적인 객체의 특징을 활성화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최종 분류 및 이름표 붙이기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출력 레이어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(IT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피질 전방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~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전두엽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부분 정보들을 종합해 뇌 속 개념과 연결한 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이것은 고양이다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자동차다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라고 최종 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Convet_FC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층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~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추출된 고차원 특징들을 하나로 모아 계산한 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각 클래스별 확률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고양이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95%)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내며 분류를 완료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5287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A7F40-6340-89BD-4503-A55A3C1FA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EC742DB-4211-04EE-3751-24316D528AA9}"/>
              </a:ext>
            </a:extLst>
          </p:cNvPr>
          <p:cNvSpPr/>
          <p:nvPr/>
        </p:nvSpPr>
        <p:spPr>
          <a:xfrm>
            <a:off x="577530" y="3257550"/>
            <a:ext cx="10776270" cy="6286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949C1E9-F52D-3990-888D-D9832E0892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A85FA2-5291-C9E5-F4C5-4DC2BFD052BF}"/>
              </a:ext>
            </a:extLst>
          </p:cNvPr>
          <p:cNvSpPr txBox="1"/>
          <p:nvPr/>
        </p:nvSpPr>
        <p:spPr>
          <a:xfrm>
            <a:off x="577530" y="1248422"/>
            <a:ext cx="9661845" cy="381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/>
              <a:t>This chapter covers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/>
              <a:t>Interpreting how </a:t>
            </a:r>
            <a:r>
              <a:rPr lang="en-US" altLang="ko-KR" sz="2000" dirty="0" err="1"/>
              <a:t>ConvNets</a:t>
            </a:r>
            <a:r>
              <a:rPr lang="en-US" altLang="ko-KR" sz="2000" dirty="0"/>
              <a:t> decompose an input image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Visualizing intermediate activations</a:t>
            </a:r>
            <a:endParaRPr lang="en-US" altLang="ko-KR" sz="2000" dirty="0"/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/>
              <a:t>Visualizing the filters learned by </a:t>
            </a:r>
            <a:r>
              <a:rPr lang="en-US" altLang="ko-KR" sz="2000" dirty="0" err="1"/>
              <a:t>ConvNets</a:t>
            </a:r>
            <a:endParaRPr lang="en-US" altLang="ko-KR" sz="2000" dirty="0"/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/>
              <a:t>Visualizing areas in an image responsible for a certain classification decision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904542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667BA-883A-F760-A852-48089498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151A18-B816-E6A4-DE0E-617FB6906B4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Interpretability of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85D88C-08F5-7F76-9775-DBDAFF7DBE0E}"/>
              </a:ext>
            </a:extLst>
          </p:cNvPr>
          <p:cNvSpPr txBox="1"/>
          <p:nvPr/>
        </p:nvSpPr>
        <p:spPr>
          <a:xfrm>
            <a:off x="682484" y="1303722"/>
            <a:ext cx="10890392" cy="453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신경망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‘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시각화 및 시각적 설명 가능성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(Interpretability)’</a:t>
            </a:r>
          </a:p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컨브넷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중간 출력(중간 활성화 단계) 시각화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연속적인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컨브넷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층(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)들이 입력을 어떻게 변환하는지 이해하고, 각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컨브넷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필터(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)의 개별적인 의미를 파악하는 첫 단추를 끼우는 데 유용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컨브넷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필터 시각화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컨브넷의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각 필터가 정확히 어떤 시각적 패턴이나 개념에 반응(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Receptive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)하는지 정밀하게 이해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내 클래스 활성화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히트맵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Heatmap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시각화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이미지의 어느 부분이 특정 클래스로 판단되는 데 기여했는지 이해함으로써, 이미지 내에서 객체의 위치를 찾아내는(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Localization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 유용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99954AE-385C-BFF4-BE90-3BFCDDBCDD0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986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0C68D-CCBD-8D06-41CB-ECE94C369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A4D9A82-F48E-3FD6-4333-07A73EF46EB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Visualizing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ConvNet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filters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7AD34-05B4-AA3A-B361-10A6B4065714}"/>
              </a:ext>
            </a:extLst>
          </p:cNvPr>
          <p:cNvSpPr txBox="1"/>
          <p:nvPr/>
        </p:nvSpPr>
        <p:spPr>
          <a:xfrm>
            <a:off x="568184" y="1207063"/>
            <a:ext cx="11014216" cy="1531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ConvNet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은 마치 레고 블록처럼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계층적 특징 학습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(Hierarchical Feature Learning)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하는데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층 레이어는 이미지의 좁은 영역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(Receptive Field)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 보고 낱개 블록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경계선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색상 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만들고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층 레이어는 이를 조립해 벽면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질감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만들며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층 레이어는 최종적으로 멋진 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물체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개와 고양이 구분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완성하는 구조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(Fourier Transform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비슷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C2CABC-F131-372D-9CBF-61519AF86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08" y="3884588"/>
            <a:ext cx="3594926" cy="138591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8BB606D-C81D-E91E-44E2-C893D9EE6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898" y="3884588"/>
            <a:ext cx="3566786" cy="138591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4234097-CE34-E114-18AC-CC020F9EC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364" y="3884588"/>
            <a:ext cx="3587891" cy="13859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023463-0278-0938-1A4F-7F9A7218F333}"/>
              </a:ext>
            </a:extLst>
          </p:cNvPr>
          <p:cNvSpPr txBox="1"/>
          <p:nvPr/>
        </p:nvSpPr>
        <p:spPr>
          <a:xfrm>
            <a:off x="5029200" y="3414886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 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filter patterns</a:t>
            </a:r>
            <a:endParaRPr lang="ko-KR" altLang="en-US" sz="1400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D40E718-D9C9-EFE2-193D-FD4BDABEF19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182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91ACB-9734-A5C3-E507-48BA867A9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2F4A15-0D18-0B51-E66C-822E2509015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Visualizing heatmaps of class activation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AAA13-6512-6F37-471C-08EBD0C40F6D}"/>
              </a:ext>
            </a:extLst>
          </p:cNvPr>
          <p:cNvSpPr txBox="1"/>
          <p:nvPr/>
        </p:nvSpPr>
        <p:spPr>
          <a:xfrm>
            <a:off x="650804" y="1191448"/>
            <a:ext cx="10890392" cy="116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마지막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컨볼루션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레이어는 이미지의 공간적 정보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위치 정보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가지고 있는 가장 풍부한 피처 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(Feature Map)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수백 개의 채널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있는데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어떤 채널은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코끼리의 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반응하고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어떤 채널은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코끼리의 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또 어떤 채널은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바닥의 풀밭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반응해서 불이 들어와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활성화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624D308-8AEE-3397-0277-DC1640A85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6" y="2969621"/>
            <a:ext cx="2330302" cy="233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8749050D-11EB-9FB7-C22A-6BE059550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239" y="2969620"/>
            <a:ext cx="2330302" cy="233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0775281D-E10D-3618-67A4-C742677BA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3903" y="2969620"/>
            <a:ext cx="2330302" cy="233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6AAD76-DA8F-7AEE-B0E8-ADBF719E34D3}"/>
              </a:ext>
            </a:extLst>
          </p:cNvPr>
          <p:cNvSpPr txBox="1"/>
          <p:nvPr/>
        </p:nvSpPr>
        <p:spPr>
          <a:xfrm>
            <a:off x="1450397" y="5387823"/>
            <a:ext cx="937901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신경망은 왜 이 이미지에 아프리카코끼리가 포함되어 있다고 생각했을까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아프리카코끼리는 사진 속 어느 위치에 있는가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>
              <a:buFont typeface="+mj-lt"/>
              <a:buAutoNum type="arabicPeriod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특히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새끼 코끼리의 귀 부분이 강력하게 활성화되었다는 점은 주목할 만한 흥미로운 부분으로 신경망은 아마도 이 부분을 보고 아프리카코끼리와 인도코끼리의 차이점을 구별해 냈을 것임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50B661C-FD6E-529E-5F9D-C8C985506A3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211076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10640</TotalTime>
  <Words>1154</Words>
  <Application>Microsoft Office PowerPoint</Application>
  <PresentationFormat>와이드스크린</PresentationFormat>
  <Paragraphs>100</Paragraphs>
  <Slides>14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D2Coding</vt:lpstr>
      <vt:lpstr>맑은 고딕</vt:lpstr>
      <vt:lpstr>Batang</vt:lpstr>
      <vt:lpstr>Arial</vt:lpstr>
      <vt:lpstr>Segoe UI Emoji</vt:lpstr>
      <vt:lpstr>Wingdings</vt:lpstr>
      <vt:lpstr>WelcomeDoc</vt:lpstr>
      <vt:lpstr>Chapter 10  Interpreting what ConvNets learn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176</cp:revision>
  <dcterms:created xsi:type="dcterms:W3CDTF">2026-04-06T01:00:39Z</dcterms:created>
  <dcterms:modified xsi:type="dcterms:W3CDTF">2026-09-18T13:33:32Z</dcterms:modified>
  <cp:version/>
</cp:coreProperties>
</file>