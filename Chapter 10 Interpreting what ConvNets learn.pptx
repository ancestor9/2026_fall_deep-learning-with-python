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"/>
  </p:notesMasterIdLst>
  <p:handoutMasterIdLst>
    <p:handoutMasterId r:id="rId12"/>
  </p:handoutMasterIdLst>
  <p:sldIdLst>
    <p:sldId id="256" r:id="rId2"/>
    <p:sldId id="1136" r:id="rId3"/>
    <p:sldId id="1138" r:id="rId4"/>
    <p:sldId id="1139" r:id="rId5"/>
    <p:sldId id="1140" r:id="rId6"/>
    <p:sldId id="1141" r:id="rId7"/>
    <p:sldId id="1142" r:id="rId8"/>
    <p:sldId id="1143" r:id="rId9"/>
    <p:sldId id="1144" r:id="rId1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39"/>
            <p14:sldId id="1140"/>
            <p14:sldId id="1141"/>
            <p14:sldId id="1142"/>
            <p14:sldId id="1143"/>
            <p14:sldId id="114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502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10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Interpreting what </a:t>
            </a:r>
            <a:r>
              <a:rPr lang="en-US" altLang="ko-KR" sz="4400" dirty="0" err="1">
                <a:solidFill>
                  <a:schemeClr val="bg1"/>
                </a:solidFill>
              </a:rPr>
              <a:t>ConvNets</a:t>
            </a:r>
            <a:r>
              <a:rPr lang="en-US" altLang="ko-KR" sz="4400" dirty="0">
                <a:solidFill>
                  <a:schemeClr val="bg1"/>
                </a:solidFill>
              </a:rPr>
              <a:t> learn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10100629" cy="3197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Interpreting how 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 decompose an input image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Visualizing the filters learned by </a:t>
            </a:r>
            <a:r>
              <a:rPr lang="en-US" altLang="ko-KR" sz="2000" dirty="0" err="1"/>
              <a:t>ConvNets</a:t>
            </a:r>
            <a:endParaRPr lang="en-US" altLang="ko-KR" sz="2000" dirty="0"/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Visualizing areas in an image responsible for a certain classification decision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Interpretability of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5D88C-08F5-7F76-9775-DBDAFF7DBE0E}"/>
              </a:ext>
            </a:extLst>
          </p:cNvPr>
          <p:cNvSpPr txBox="1"/>
          <p:nvPr/>
        </p:nvSpPr>
        <p:spPr>
          <a:xfrm>
            <a:off x="682484" y="1303722"/>
            <a:ext cx="10890392" cy="453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및 시각적 설명 가능성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(Interpretability)’</a:t>
            </a:r>
          </a:p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컨브넷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중간 출력(중간 활성화 단계) 시각화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컨브넷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)들이 입력을 어떻게 변환하는지 이해하고, 각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컨브넷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필터(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개별적인 의미를 파악하는 첫 단추를 끼우는 데 유용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컨브넷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필터 시각화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컨브넷의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각 필터가 정확히 어떤 시각적 패턴이나 개념에 반응(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Receptive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)하는지 정밀하게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내 클래스 활성화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히트맵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Heatmap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시각화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어느 부분이 특정 클래스로 판단되는 데 기여했는지 이해함으로써, 이미지 내에서 객체의 위치를 찾아내는(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 유용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937CC-AAA6-68E7-A8C8-A7551C4AE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025B5A-B6CE-08CE-91CB-22D6B47F8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F93B26-E66E-5B91-A2B0-04F10F1FA9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intermediate activations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8471E5-FD6A-C523-CB65-3463CF1A9B79}"/>
              </a:ext>
            </a:extLst>
          </p:cNvPr>
          <p:cNvSpPr txBox="1"/>
          <p:nvPr/>
        </p:nvSpPr>
        <p:spPr>
          <a:xfrm>
            <a:off x="682484" y="1303722"/>
            <a:ext cx="10890392" cy="1160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인간의 뇌가 이미지를 인지하는 방법은 정보 증류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(Information Distillation Pipeline)</a:t>
            </a:r>
          </a:p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층이 깊어 질 수록 이미지의 구체적인 형태를 버리고 추상적인 기하학적 형태만 남기는 것은 인간의 뇌처럼 사물의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파악하는 진짜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갖추어 가는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97EA3050-6358-B6AC-ECDB-9178B5608D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0814" y="2990850"/>
            <a:ext cx="5681661" cy="2762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EEF9E2-40E1-C4FA-6338-D9426C1CEB8C}"/>
              </a:ext>
            </a:extLst>
          </p:cNvPr>
          <p:cNvSpPr txBox="1"/>
          <p:nvPr/>
        </p:nvSpPr>
        <p:spPr>
          <a:xfrm>
            <a:off x="1518676" y="6036261"/>
            <a:ext cx="87683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Left: Attempts to draw a bicycle from memory. Right: What a schematic bicycle should look like.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7767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0C68D-CCBD-8D06-41CB-ECE94C369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756671-450A-3D48-0887-EDE05A7DD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A4D9A82-F48E-3FD6-4333-07A73EF46E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filters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37AD34-05B4-AA3A-B361-10A6B4065714}"/>
              </a:ext>
            </a:extLst>
          </p:cNvPr>
          <p:cNvSpPr txBox="1"/>
          <p:nvPr/>
        </p:nvSpPr>
        <p:spPr>
          <a:xfrm>
            <a:off x="682484" y="1303722"/>
            <a:ext cx="10890392" cy="1531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마치 레고 블록처럼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계층적 특징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(Hierarchical Feature Learning)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하는데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층 레이어는 이미지의 아주 좁은 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바라보며 낱개 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경계선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색상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층 레이어는 이를 조립해 벽면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층 레이어는 최종적으로 멋진 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개와 고양이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완성하는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(Fourier Transform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9C2CABC-F131-372D-9CBF-61519AF86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208" y="3636938"/>
            <a:ext cx="3594926" cy="138591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8BB606D-C81D-E91E-44E2-C893D9EE6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98" y="3636938"/>
            <a:ext cx="3566786" cy="138591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4234097-CE34-E114-18AC-CC020F9EC6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7364" y="3636938"/>
            <a:ext cx="3587891" cy="138591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D023463-0278-0938-1A4F-7F9A7218F333}"/>
              </a:ext>
            </a:extLst>
          </p:cNvPr>
          <p:cNvSpPr txBox="1"/>
          <p:nvPr/>
        </p:nvSpPr>
        <p:spPr>
          <a:xfrm>
            <a:off x="5029200" y="3167236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patterns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957182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91ACB-9734-A5C3-E507-48BA867A9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A77A08-EF22-A402-4B32-741210658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82F4A15-0D18-0B51-E66C-822E250901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heatmaps of class activation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8AAA13-6512-6F37-471C-08EBD0C40F6D}"/>
              </a:ext>
            </a:extLst>
          </p:cNvPr>
          <p:cNvSpPr txBox="1"/>
          <p:nvPr/>
        </p:nvSpPr>
        <p:spPr>
          <a:xfrm>
            <a:off x="682484" y="1303722"/>
            <a:ext cx="10890392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마지막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이미지의 공간적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가지고 있는 가장 풍부한 피처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수백 개의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있는데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어떤 채널은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코끼리의 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반응하고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어떤 채널은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코끼리의 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 어떤 채널은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바닥의 풀밭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반응해서 불이 들어와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624D308-8AEE-3397-0277-DC1640A85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2576" y="2969621"/>
            <a:ext cx="2330302" cy="2330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8749050D-11EB-9FB7-C22A-6BE0595501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8239" y="2969620"/>
            <a:ext cx="2330302" cy="2330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0775281D-E10D-3618-67A4-C742677BA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903" y="2969620"/>
            <a:ext cx="2330302" cy="2330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6AAD76-DA8F-7AEE-B0E8-ADBF719E34D3}"/>
              </a:ext>
            </a:extLst>
          </p:cNvPr>
          <p:cNvSpPr txBox="1"/>
          <p:nvPr/>
        </p:nvSpPr>
        <p:spPr>
          <a:xfrm>
            <a:off x="1450397" y="5387823"/>
            <a:ext cx="937901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신경망은 왜 이 이미지에 아프리카코끼리가 포함되어 있다고 생각했을까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아프리카코끼리는 사진 속 어느 위치에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새끼 코끼리의 귀 부분이 강력하게 활성화되었다는 점은 주목할 만한 흥미로운 부분으로 신경망은 아마도 이 부분을 보고 아프리카코끼리와 인도코끼리의 차이점을 구별해 냈을 것임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57211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9DADC-8799-0961-0B0D-A29CBDC81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C4F353-D9DB-0EBA-9F28-196E6EC6F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A41C013-C2E7-3274-2AA4-21EC56CF35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intermediate activations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98F07E-C402-FFC6-E5F0-D0D6A14E7E1D}"/>
              </a:ext>
            </a:extLst>
          </p:cNvPr>
          <p:cNvSpPr txBox="1"/>
          <p:nvPr/>
        </p:nvSpPr>
        <p:spPr>
          <a:xfrm>
            <a:off x="682484" y="1303722"/>
            <a:ext cx="10890392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및 시각적 설명 가능성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(Interpretability)’</a:t>
            </a:r>
          </a:p>
        </p:txBody>
      </p:sp>
    </p:spTree>
    <p:extLst>
      <p:ext uri="{BB962C8B-B14F-4D97-AF65-F5344CB8AC3E}">
        <p14:creationId xmlns:p14="http://schemas.microsoft.com/office/powerpoint/2010/main" val="544542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059F0-DFCF-B6C9-2E40-219D45F2E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54B979-520C-CADB-3B22-B86C5921A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3FBA54F-971F-B4E5-9F05-D24C24B785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intermediate activations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75540F-A624-4040-9666-49BEBDF779B3}"/>
              </a:ext>
            </a:extLst>
          </p:cNvPr>
          <p:cNvSpPr txBox="1"/>
          <p:nvPr/>
        </p:nvSpPr>
        <p:spPr>
          <a:xfrm>
            <a:off x="682484" y="1303722"/>
            <a:ext cx="10890392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중간 활성화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(Intermediate activations)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시각화는 특정 입력이 주어졌을 때 다양한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층과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(Pooling)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층이 반환하는 출력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값들을 보여주는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층의 출력은 흔히 활성화 함수의 출력물이라는 의미에서 활성화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(Activation),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특성맵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Map))</a:t>
            </a:r>
          </a:p>
        </p:txBody>
      </p:sp>
    </p:spTree>
    <p:extLst>
      <p:ext uri="{BB962C8B-B14F-4D97-AF65-F5344CB8AC3E}">
        <p14:creationId xmlns:p14="http://schemas.microsoft.com/office/powerpoint/2010/main" val="26115556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59ECB-1ADE-67B3-8CAE-2F612B316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1C4870-5BBA-ABE6-D324-0BFEDE78D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7697D12-A4EA-A564-F3A4-AD0AD672A9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intermediate activations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D7F2E3-19B3-5468-597A-6D03F31F32E7}"/>
              </a:ext>
            </a:extLst>
          </p:cNvPr>
          <p:cNvSpPr txBox="1"/>
          <p:nvPr/>
        </p:nvSpPr>
        <p:spPr>
          <a:xfrm>
            <a:off x="682484" y="1303722"/>
            <a:ext cx="10890392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및 시각적 설명 가능성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(Interpretability)’</a:t>
            </a:r>
          </a:p>
        </p:txBody>
      </p:sp>
    </p:spTree>
    <p:extLst>
      <p:ext uri="{BB962C8B-B14F-4D97-AF65-F5344CB8AC3E}">
        <p14:creationId xmlns:p14="http://schemas.microsoft.com/office/powerpoint/2010/main" val="310388165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10457</TotalTime>
  <Words>502</Words>
  <Application>Microsoft Office PowerPoint</Application>
  <PresentationFormat>와이드스크린</PresentationFormat>
  <Paragraphs>47</Paragraphs>
  <Slides>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D2Coding</vt:lpstr>
      <vt:lpstr>맑은 고딕</vt:lpstr>
      <vt:lpstr>Batang</vt:lpstr>
      <vt:lpstr>Arial</vt:lpstr>
      <vt:lpstr>Wingdings</vt:lpstr>
      <vt:lpstr>WelcomeDoc</vt:lpstr>
      <vt:lpstr>Chapter 10  Interpreting what ConvNets learn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168</cp:revision>
  <dcterms:created xsi:type="dcterms:W3CDTF">2026-04-06T01:00:39Z</dcterms:created>
  <dcterms:modified xsi:type="dcterms:W3CDTF">2026-07-09T07:27:23Z</dcterms:modified>
  <cp:version/>
</cp:coreProperties>
</file>