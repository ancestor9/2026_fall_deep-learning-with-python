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1"/>
  </p:notesMasterIdLst>
  <p:handoutMasterIdLst>
    <p:handoutMasterId r:id="rId12"/>
  </p:handoutMasterIdLst>
  <p:sldIdLst>
    <p:sldId id="256" r:id="rId2"/>
    <p:sldId id="1094" r:id="rId3"/>
    <p:sldId id="978" r:id="rId4"/>
    <p:sldId id="1098" r:id="rId5"/>
    <p:sldId id="1099" r:id="rId6"/>
    <p:sldId id="1100" r:id="rId7"/>
    <p:sldId id="1095" r:id="rId8"/>
    <p:sldId id="1096" r:id="rId9"/>
    <p:sldId id="1097" r:id="rId10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094"/>
            <p14:sldId id="978"/>
            <p14:sldId id="1098"/>
            <p14:sldId id="1099"/>
            <p14:sldId id="1100"/>
            <p14:sldId id="1095"/>
            <p14:sldId id="1096"/>
            <p14:sldId id="1097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D462F"/>
    <a:srgbClr val="76E3FF"/>
    <a:srgbClr val="FF9B45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3062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874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845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commentAuthors" Target="commentAuthor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handoutMaster" Target="handoutMasters/handoutMaster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2026-06-08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2026-06-08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837279-FA95-57FD-B2E0-B2C29D2843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650D63E-DC71-4D37-5D4F-468F49D2D2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F898BEE-6031-34C6-F089-690D943205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CC5BB30-C1B6-C7CA-4B6D-82E37F0006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2869789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2026-06-08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6/8/2026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2026-06-08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2387600"/>
          </a:xfrm>
        </p:spPr>
        <p:txBody>
          <a:bodyPr rtlCol="0" anchor="ctr" anchorCtr="0">
            <a:normAutofit/>
          </a:bodyPr>
          <a:lstStyle/>
          <a:p>
            <a:pPr rtl="0"/>
            <a:r>
              <a:rPr lang="en-US" altLang="ko-KR" sz="4800" dirty="0">
                <a:solidFill>
                  <a:schemeClr val="bg1"/>
                </a:solidFill>
              </a:rPr>
              <a:t>Image Classification</a:t>
            </a:r>
            <a:endParaRPr lang="ko-KR" altLang="en-US" sz="4800" dirty="0">
              <a:solidFill>
                <a:schemeClr val="bg1"/>
              </a:solidFill>
            </a:endParaRPr>
          </a:p>
        </p:txBody>
      </p:sp>
      <p:sp>
        <p:nvSpPr>
          <p:cNvPr id="3" name="부제목 2"/>
          <p:cNvSpPr>
            <a:spLocks noGrp="1"/>
          </p:cNvSpPr>
          <p:nvPr>
            <p:ph type="subTitle" idx="4294967295"/>
          </p:nvPr>
        </p:nvSpPr>
        <p:spPr>
          <a:xfrm>
            <a:off x="855620" y="2933105"/>
            <a:ext cx="9582736" cy="2210395"/>
          </a:xfrm>
        </p:spPr>
        <p:txBody>
          <a:bodyPr rtlCol="0">
            <a:normAutofit/>
          </a:bodyPr>
          <a:lstStyle/>
          <a:p>
            <a:r>
              <a:rPr lang="en-US" altLang="ko-KR" sz="2400" dirty="0">
                <a:solidFill>
                  <a:schemeClr val="bg1"/>
                </a:solidFill>
              </a:rPr>
              <a:t>CNN(convolutional neural networks, </a:t>
            </a:r>
            <a:r>
              <a:rPr lang="en-US" altLang="ko-KR" sz="2400" dirty="0" err="1">
                <a:solidFill>
                  <a:schemeClr val="bg1"/>
                </a:solidFill>
              </a:rPr>
              <a:t>ConvNets</a:t>
            </a:r>
            <a:r>
              <a:rPr lang="en-US" altLang="ko-KR" sz="2400" dirty="0">
                <a:solidFill>
                  <a:schemeClr val="bg1"/>
                </a:solidFill>
              </a:rPr>
              <a:t>)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B125F6-F24E-9FB4-6ECA-D22604C4AC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AB0C61D8-1616-C6B8-9FEC-D11B28CD4BF2}"/>
              </a:ext>
            </a:extLst>
          </p:cNvPr>
          <p:cNvSpPr/>
          <p:nvPr/>
        </p:nvSpPr>
        <p:spPr>
          <a:xfrm>
            <a:off x="1457324" y="1600201"/>
            <a:ext cx="8277225" cy="64008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A47D1732-55A1-BAC2-7A11-146984E7CE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solidFill>
                  <a:schemeClr val="tx1"/>
                </a:solidFill>
                <a:cs typeface="Segoe UI Light" panose="020B0502040204020203" pitchFamily="34" charset="0"/>
              </a:rPr>
              <a:t>Contents</a:t>
            </a:r>
            <a:endParaRPr lang="ko-KR" altLang="en-US" dirty="0">
              <a:solidFill>
                <a:schemeClr val="tx1"/>
              </a:solidFill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BD6D622-6C11-B524-84D3-DE18F25D860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</a:t>
            </a:fld>
            <a:endParaRPr lang="ko-KR" altLang="en-US" noProof="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CC1D6EC-EA81-70BB-F0CB-C30EA60FDF8D}"/>
              </a:ext>
            </a:extLst>
          </p:cNvPr>
          <p:cNvSpPr txBox="1"/>
          <p:nvPr/>
        </p:nvSpPr>
        <p:spPr>
          <a:xfrm>
            <a:off x="1957661" y="1356552"/>
            <a:ext cx="8662713" cy="42812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Autograd</a:t>
            </a: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&amp; Backpropagation : Recap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FCNN(Fully Connected Neural Network)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Regression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Classification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Dimension Reduction</a:t>
            </a:r>
          </a:p>
        </p:txBody>
      </p:sp>
    </p:spTree>
    <p:extLst>
      <p:ext uri="{BB962C8B-B14F-4D97-AF65-F5344CB8AC3E}">
        <p14:creationId xmlns:p14="http://schemas.microsoft.com/office/powerpoint/2010/main" val="7220907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FFB53F-5797-0BB2-9323-F166DE5B67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BFB5B3E-2733-6F10-C433-7C314850C9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56A9490-8D65-6528-22C1-98B7D508091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44C04B07-3781-FB4B-C4B6-15DCC17715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290" y="1493819"/>
            <a:ext cx="9199721" cy="45424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33600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C3436E-AD26-A468-3DD1-936CDE57F3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2763A47-EBF4-66BE-6CA3-D462E5AD7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D24BF91A-2317-B6DF-AF0D-C3CF326A6F6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3CDD7F5-5E7E-A439-0189-2DE625BE9D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3015" y="1717450"/>
            <a:ext cx="7982459" cy="2558726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7E8C7DD6-2189-B79E-911A-96DA77508C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5876" y="4228551"/>
            <a:ext cx="7936735" cy="19124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81482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076FEF-78EE-44A5-2AA8-B58C4EE7BB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686F614-D7E5-C32C-DBA3-8B4425D0E5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DEBB8C4-EB3A-7146-BD71-9E5A3DCDAE2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7B493024-8CAB-4316-C57C-3E230677EA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546" y="2428767"/>
            <a:ext cx="2598503" cy="2794423"/>
          </a:xfrm>
          <a:prstGeom prst="rect">
            <a:avLst/>
          </a:prstGeom>
        </p:spPr>
      </p:pic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FAC10E04-853C-47EB-871D-F4BE3414E8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21481947"/>
              </p:ext>
            </p:extLst>
          </p:nvPr>
        </p:nvGraphicFramePr>
        <p:xfrm>
          <a:off x="4720662" y="1825844"/>
          <a:ext cx="1194363" cy="104389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98121">
                  <a:extLst>
                    <a:ext uri="{9D8B030D-6E8A-4147-A177-3AD203B41FA5}">
                      <a16:colId xmlns:a16="http://schemas.microsoft.com/office/drawing/2014/main" val="2786435963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3827515645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2827207180"/>
                    </a:ext>
                  </a:extLst>
                </a:gridCol>
              </a:tblGrid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4483622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328434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2078504"/>
                  </a:ext>
                </a:extLst>
              </a:tr>
            </a:tbl>
          </a:graphicData>
        </a:graphic>
      </p:graphicFrame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98739568-9AF2-1CE4-75FB-91FB3C31356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3725685"/>
              </p:ext>
            </p:extLst>
          </p:nvPr>
        </p:nvGraphicFramePr>
        <p:xfrm>
          <a:off x="4720662" y="3537693"/>
          <a:ext cx="1194363" cy="104389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98121">
                  <a:extLst>
                    <a:ext uri="{9D8B030D-6E8A-4147-A177-3AD203B41FA5}">
                      <a16:colId xmlns:a16="http://schemas.microsoft.com/office/drawing/2014/main" val="2786435963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3827515645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2827207180"/>
                    </a:ext>
                  </a:extLst>
                </a:gridCol>
              </a:tblGrid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4483622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328434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2078504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566EDAE3-4767-EED0-CBF5-AA17C01489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40741551"/>
              </p:ext>
            </p:extLst>
          </p:nvPr>
        </p:nvGraphicFramePr>
        <p:xfrm>
          <a:off x="4720662" y="5249541"/>
          <a:ext cx="1194363" cy="104389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98121">
                  <a:extLst>
                    <a:ext uri="{9D8B030D-6E8A-4147-A177-3AD203B41FA5}">
                      <a16:colId xmlns:a16="http://schemas.microsoft.com/office/drawing/2014/main" val="2786435963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3827515645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2827207180"/>
                    </a:ext>
                  </a:extLst>
                </a:gridCol>
              </a:tblGrid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4483622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328434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2078504"/>
                  </a:ext>
                </a:extLst>
              </a:tr>
            </a:tbl>
          </a:graphicData>
        </a:graphic>
      </p:graphicFrame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309FC970-6C0C-5210-5CF8-DF8A8688AA9F}"/>
              </a:ext>
            </a:extLst>
          </p:cNvPr>
          <p:cNvCxnSpPr/>
          <p:nvPr/>
        </p:nvCxnSpPr>
        <p:spPr>
          <a:xfrm>
            <a:off x="6448425" y="2428767"/>
            <a:ext cx="6381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5" name="그림 14">
            <a:extLst>
              <a:ext uri="{FF2B5EF4-FFF2-40B4-BE49-F238E27FC236}">
                <a16:creationId xmlns:a16="http://schemas.microsoft.com/office/drawing/2014/main" id="{D7FCB08B-66F4-87B4-F20A-1C1F228A178F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269368" y="1972671"/>
            <a:ext cx="1275596" cy="932453"/>
          </a:xfrm>
          <a:prstGeom prst="rect">
            <a:avLst/>
          </a:prstGeom>
        </p:spPr>
      </p:pic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A3FF9ECC-D489-D531-04CB-660570D27766}"/>
              </a:ext>
            </a:extLst>
          </p:cNvPr>
          <p:cNvCxnSpPr/>
          <p:nvPr/>
        </p:nvCxnSpPr>
        <p:spPr>
          <a:xfrm>
            <a:off x="6448425" y="4085469"/>
            <a:ext cx="6381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7" name="그림 16">
            <a:extLst>
              <a:ext uri="{FF2B5EF4-FFF2-40B4-BE49-F238E27FC236}">
                <a16:creationId xmlns:a16="http://schemas.microsoft.com/office/drawing/2014/main" id="{ED2C4F28-A8D7-E629-52F3-B22D35BF1DBF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269368" y="3629373"/>
            <a:ext cx="1275596" cy="932453"/>
          </a:xfrm>
          <a:prstGeom prst="rect">
            <a:avLst/>
          </a:prstGeom>
        </p:spPr>
      </p:pic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076D93C3-BD31-7E72-215F-5FE172046051}"/>
              </a:ext>
            </a:extLst>
          </p:cNvPr>
          <p:cNvCxnSpPr/>
          <p:nvPr/>
        </p:nvCxnSpPr>
        <p:spPr>
          <a:xfrm>
            <a:off x="6448425" y="5724417"/>
            <a:ext cx="6381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9" name="그림 18">
            <a:extLst>
              <a:ext uri="{FF2B5EF4-FFF2-40B4-BE49-F238E27FC236}">
                <a16:creationId xmlns:a16="http://schemas.microsoft.com/office/drawing/2014/main" id="{8C2480E6-96FC-6497-206C-4BFB17FE1934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269368" y="5268321"/>
            <a:ext cx="1275596" cy="932453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FC829464-9279-84EB-6813-6716E7DE07F4}"/>
              </a:ext>
            </a:extLst>
          </p:cNvPr>
          <p:cNvSpPr txBox="1"/>
          <p:nvPr/>
        </p:nvSpPr>
        <p:spPr>
          <a:xfrm>
            <a:off x="4558164" y="1446528"/>
            <a:ext cx="189026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Horizontal/Diagonal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29C038D-B952-75DF-7487-E820508392FE}"/>
              </a:ext>
            </a:extLst>
          </p:cNvPr>
          <p:cNvSpPr txBox="1"/>
          <p:nvPr/>
        </p:nvSpPr>
        <p:spPr>
          <a:xfrm>
            <a:off x="4463200" y="3170454"/>
            <a:ext cx="9028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Vertical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7957353-B9AF-67E0-FD62-F604366BA6B8}"/>
              </a:ext>
            </a:extLst>
          </p:cNvPr>
          <p:cNvSpPr txBox="1"/>
          <p:nvPr/>
        </p:nvSpPr>
        <p:spPr>
          <a:xfrm>
            <a:off x="4457111" y="4894380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Loop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B3822090-781C-26D4-44D4-D099E1A52510}"/>
              </a:ext>
            </a:extLst>
          </p:cNvPr>
          <p:cNvCxnSpPr/>
          <p:nvPr/>
        </p:nvCxnSpPr>
        <p:spPr>
          <a:xfrm>
            <a:off x="3818936" y="4075836"/>
            <a:ext cx="6381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F29216AF-ED58-F476-6F5F-2AE0673A1E56}"/>
              </a:ext>
            </a:extLst>
          </p:cNvPr>
          <p:cNvCxnSpPr>
            <a:cxnSpLocks/>
          </p:cNvCxnSpPr>
          <p:nvPr/>
        </p:nvCxnSpPr>
        <p:spPr>
          <a:xfrm>
            <a:off x="3742736" y="5495061"/>
            <a:ext cx="543514" cy="2293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66498FB2-D6A6-1546-F077-2010C4599970}"/>
              </a:ext>
            </a:extLst>
          </p:cNvPr>
          <p:cNvCxnSpPr>
            <a:cxnSpLocks/>
          </p:cNvCxnSpPr>
          <p:nvPr/>
        </p:nvCxnSpPr>
        <p:spPr>
          <a:xfrm flipV="1">
            <a:off x="3818936" y="2428767"/>
            <a:ext cx="467314" cy="2183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화살표: 오른쪽 28">
            <a:extLst>
              <a:ext uri="{FF2B5EF4-FFF2-40B4-BE49-F238E27FC236}">
                <a16:creationId xmlns:a16="http://schemas.microsoft.com/office/drawing/2014/main" id="{874F86C5-F736-36B6-94DA-A81A5A3E5C42}"/>
              </a:ext>
            </a:extLst>
          </p:cNvPr>
          <p:cNvSpPr/>
          <p:nvPr/>
        </p:nvSpPr>
        <p:spPr>
          <a:xfrm>
            <a:off x="9187330" y="2347791"/>
            <a:ext cx="2598503" cy="3141743"/>
          </a:xfrm>
          <a:prstGeom prst="rightArrow">
            <a:avLst>
              <a:gd name="adj1" fmla="val 73016"/>
              <a:gd name="adj2" fmla="val 50000"/>
            </a:avLst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각각의</a:t>
            </a:r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Kernel (Filter)</a:t>
            </a:r>
            <a:r>
              <a:rPr lang="ko-KR" altLang="en-US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결과를 구한 후 모두 더하면</a:t>
            </a:r>
          </a:p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176815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904758-D90C-D4C6-EB41-2CB55EACEE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DAAE4BC-6ECA-D1AC-38AB-C93BACD30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4CFAE41E-0C23-D25B-F5A3-DA67C87B820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6D3A29D-2578-CF1A-0E4C-BF36B1ADF3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6805" y="2219225"/>
            <a:ext cx="5822999" cy="331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77681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B0EB1D-5085-AFC4-6F4A-DB4276604C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311C951-F23B-030B-42CD-686330B03A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3A1F8927-CE36-3EA4-0E56-63905BA37FE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257ED0FE-C673-8670-DD6B-72F756A374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5547" y="1468523"/>
            <a:ext cx="8313804" cy="50226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893441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53B718-B2C5-F0AB-9840-E7CA385C64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58BC45F-6F1B-D8CC-D6A1-D7B58965C9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D15A284-89FC-2D1A-96C3-365A0E7B71D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A6A5AC5-260A-25A4-1B81-77CB5B32F4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1200" y="1902689"/>
            <a:ext cx="9000000" cy="4473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31774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6AB736-7409-F14A-48A5-4808B97092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49DE165-9840-CCB8-9EAF-F6DB2D8AFE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67A0152-FFB9-F91B-A5A0-9CC626BCAED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4F9730E-C40F-FDBD-D9DB-C8C74C3672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0675" y="1470193"/>
            <a:ext cx="4017492" cy="49311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736219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2710</TotalTime>
  <Words>107</Words>
  <Application>Microsoft Office PowerPoint</Application>
  <PresentationFormat>와이드스크린</PresentationFormat>
  <Paragraphs>58</Paragraphs>
  <Slides>9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</vt:i4>
      </vt:variant>
    </vt:vector>
  </HeadingPairs>
  <TitlesOfParts>
    <vt:vector size="15" baseType="lpstr">
      <vt:lpstr>D2Coding</vt:lpstr>
      <vt:lpstr>맑은 고딕</vt:lpstr>
      <vt:lpstr>Batang</vt:lpstr>
      <vt:lpstr>Arial</vt:lpstr>
      <vt:lpstr>Segoe UI Light</vt:lpstr>
      <vt:lpstr>WelcomeDoc</vt:lpstr>
      <vt:lpstr>Image Classification</vt:lpstr>
      <vt:lpstr>Contents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94</cp:revision>
  <dcterms:created xsi:type="dcterms:W3CDTF">2026-04-06T01:00:39Z</dcterms:created>
  <dcterms:modified xsi:type="dcterms:W3CDTF">2026-06-08T13:00:01Z</dcterms:modified>
  <cp:version/>
</cp:coreProperties>
</file>