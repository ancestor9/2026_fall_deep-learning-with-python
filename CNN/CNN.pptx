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23"/>
  </p:notesMasterIdLst>
  <p:handoutMasterIdLst>
    <p:handoutMasterId r:id="rId24"/>
  </p:handoutMasterIdLst>
  <p:sldIdLst>
    <p:sldId id="256" r:id="rId2"/>
    <p:sldId id="1094" r:id="rId3"/>
    <p:sldId id="978" r:id="rId4"/>
    <p:sldId id="1112" r:id="rId5"/>
    <p:sldId id="1098" r:id="rId6"/>
    <p:sldId id="1099" r:id="rId7"/>
    <p:sldId id="1100" r:id="rId8"/>
    <p:sldId id="1101" r:id="rId9"/>
    <p:sldId id="1095" r:id="rId10"/>
    <p:sldId id="1096" r:id="rId11"/>
    <p:sldId id="1097" r:id="rId12"/>
    <p:sldId id="1102" r:id="rId13"/>
    <p:sldId id="1104" r:id="rId14"/>
    <p:sldId id="1105" r:id="rId15"/>
    <p:sldId id="1111" r:id="rId16"/>
    <p:sldId id="1103" r:id="rId17"/>
    <p:sldId id="1107" r:id="rId18"/>
    <p:sldId id="1106" r:id="rId19"/>
    <p:sldId id="1109" r:id="rId20"/>
    <p:sldId id="1110" r:id="rId21"/>
    <p:sldId id="1113" r:id="rId22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094"/>
            <p14:sldId id="978"/>
            <p14:sldId id="1112"/>
            <p14:sldId id="1098"/>
            <p14:sldId id="1099"/>
            <p14:sldId id="1100"/>
            <p14:sldId id="1101"/>
            <p14:sldId id="1095"/>
            <p14:sldId id="1096"/>
            <p14:sldId id="1097"/>
            <p14:sldId id="1102"/>
            <p14:sldId id="1104"/>
            <p14:sldId id="1105"/>
            <p14:sldId id="1111"/>
            <p14:sldId id="1103"/>
            <p14:sldId id="1107"/>
            <p14:sldId id="1106"/>
            <p14:sldId id="1109"/>
            <p14:sldId id="1110"/>
            <p14:sldId id="1113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D462F"/>
    <a:srgbClr val="76E3FF"/>
    <a:srgbClr val="FF9B45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3062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874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5256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commentAuthors" Target="commentAuthor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2026-06-10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2026-06-10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837279-FA95-57FD-B2E0-B2C29D2843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650D63E-DC71-4D37-5D4F-468F49D2D2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F898BEE-6031-34C6-F089-690D943205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CC5BB30-C1B6-C7CA-4B6D-82E37F0006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2869789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2026-06-10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6/10/2026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2026-06-10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jDe5BAsT2-Y?t=34" TargetMode="External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101ai.net/vision/vizdemo" TargetMode="External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101ai.net/vision/vizdemo" TargetMode="External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hyperlink" Target="https://tensorspace.org/html/playground/lenet.html" TargetMode="Externa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hyperlink" Target="https://www.pinecone.io/learn/series/image-search/cnn/" TargetMode="Externa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gif"/><Relationship Id="rId2" Type="http://schemas.openxmlformats.org/officeDocument/2006/relationships/hyperlink" Target="https://github.com/ancestor9/2025_Winter_Deep-Learning-with-TensorFlow/tree/main/20260107_03_Image%20Classification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2.gif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hyperlink" Target="https://poloclub.github.io/cnn-explainer/" TargetMode="External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hyperlink" Target="https://www.youtube.com/watch?v=V9ZYDCnItr0&amp;t=76s" TargetMode="External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hyperlink" Target="https://tensorspace.org/html/playground/alexnet.html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6.jpe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hyperlink" Target="https://stanford.edu/~shervine/teaching/cs-230/" TargetMode="Externa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2387600"/>
          </a:xfrm>
        </p:spPr>
        <p:txBody>
          <a:bodyPr rtlCol="0" anchor="ctr" anchorCtr="0">
            <a:normAutofit/>
          </a:bodyPr>
          <a:lstStyle/>
          <a:p>
            <a:pPr rtl="0"/>
            <a:r>
              <a:rPr lang="en-US" altLang="ko-KR" sz="4800" dirty="0">
                <a:solidFill>
                  <a:schemeClr val="bg1"/>
                </a:solidFill>
              </a:rPr>
              <a:t>Image Classification</a:t>
            </a:r>
            <a:endParaRPr lang="ko-KR" altLang="en-US" sz="4800" dirty="0">
              <a:solidFill>
                <a:schemeClr val="bg1"/>
              </a:solidFill>
            </a:endParaRPr>
          </a:p>
        </p:txBody>
      </p:sp>
      <p:sp>
        <p:nvSpPr>
          <p:cNvPr id="3" name="부제목 2"/>
          <p:cNvSpPr>
            <a:spLocks noGrp="1"/>
          </p:cNvSpPr>
          <p:nvPr>
            <p:ph type="subTitle" idx="4294967295"/>
          </p:nvPr>
        </p:nvSpPr>
        <p:spPr>
          <a:xfrm>
            <a:off x="855620" y="2933105"/>
            <a:ext cx="9582736" cy="2210395"/>
          </a:xfrm>
        </p:spPr>
        <p:txBody>
          <a:bodyPr rtlCol="0">
            <a:normAutofit/>
          </a:bodyPr>
          <a:lstStyle/>
          <a:p>
            <a:r>
              <a:rPr lang="en-US" altLang="ko-KR" sz="2400" dirty="0">
                <a:solidFill>
                  <a:schemeClr val="bg1"/>
                </a:solidFill>
              </a:rPr>
              <a:t>CNN(convolutional neural networks, </a:t>
            </a:r>
            <a:r>
              <a:rPr lang="en-US" altLang="ko-KR" sz="2400" dirty="0" err="1">
                <a:solidFill>
                  <a:schemeClr val="bg1"/>
                </a:solidFill>
              </a:rPr>
              <a:t>ConvNets</a:t>
            </a:r>
            <a:r>
              <a:rPr lang="en-US" altLang="ko-KR" sz="2400" dirty="0">
                <a:solidFill>
                  <a:schemeClr val="bg1"/>
                </a:solidFill>
              </a:rPr>
              <a:t>)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B125F6-F24E-9FB4-6ECA-D22604C4AC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AB0C61D8-1616-C6B8-9FEC-D11B28CD4BF2}"/>
              </a:ext>
            </a:extLst>
          </p:cNvPr>
          <p:cNvSpPr/>
          <p:nvPr/>
        </p:nvSpPr>
        <p:spPr>
          <a:xfrm>
            <a:off x="1457324" y="1600201"/>
            <a:ext cx="8277225" cy="64008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A47D1732-55A1-BAC2-7A11-146984E7CE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solidFill>
                  <a:schemeClr val="tx1"/>
                </a:solidFill>
                <a:cs typeface="Segoe UI Light" panose="020B0502040204020203" pitchFamily="34" charset="0"/>
              </a:rPr>
              <a:t>Contents</a:t>
            </a:r>
            <a:endParaRPr lang="ko-KR" altLang="en-US" dirty="0">
              <a:solidFill>
                <a:schemeClr val="tx1"/>
              </a:solidFill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BD6D622-6C11-B524-84D3-DE18F25D860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</a:t>
            </a:fld>
            <a:endParaRPr lang="ko-KR" altLang="en-US" noProof="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CC1D6EC-EA81-70BB-F0CB-C30EA60FDF8D}"/>
              </a:ext>
            </a:extLst>
          </p:cNvPr>
          <p:cNvSpPr txBox="1"/>
          <p:nvPr/>
        </p:nvSpPr>
        <p:spPr>
          <a:xfrm>
            <a:off x="1957661" y="1356552"/>
            <a:ext cx="8662713" cy="42812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Autograd</a:t>
            </a: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&amp; Backpropagation : Recap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FCNN(Fully Connected Neural Network)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Regression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Classification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Dimension Reduction</a:t>
            </a:r>
          </a:p>
        </p:txBody>
      </p:sp>
    </p:spTree>
    <p:extLst>
      <p:ext uri="{BB962C8B-B14F-4D97-AF65-F5344CB8AC3E}">
        <p14:creationId xmlns:p14="http://schemas.microsoft.com/office/powerpoint/2010/main" val="7220907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FFB53F-5797-0BB2-9323-F166DE5B67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BFB5B3E-2733-6F10-C433-7C314850C9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56A9490-8D65-6528-22C1-98B7D508091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8033DBAD-303B-F50C-DB90-0306C77C59D2}"/>
              </a:ext>
            </a:extLst>
          </p:cNvPr>
          <p:cNvCxnSpPr>
            <a:cxnSpLocks/>
          </p:cNvCxnSpPr>
          <p:nvPr/>
        </p:nvCxnSpPr>
        <p:spPr>
          <a:xfrm>
            <a:off x="3931920" y="3566160"/>
            <a:ext cx="414528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사각형: 둥근 모서리 4">
                <a:extLst>
                  <a:ext uri="{FF2B5EF4-FFF2-40B4-BE49-F238E27FC236}">
                    <a16:creationId xmlns:a16="http://schemas.microsoft.com/office/drawing/2014/main" id="{84A13EFE-75A4-70B3-FB3E-3213E1950DF7}"/>
                  </a:ext>
                </a:extLst>
              </p:cNvPr>
              <p:cNvSpPr/>
              <p:nvPr/>
            </p:nvSpPr>
            <p:spPr>
              <a:xfrm>
                <a:off x="4754880" y="2392680"/>
                <a:ext cx="2164080" cy="2346960"/>
              </a:xfrm>
              <a:prstGeom prst="roundRect">
                <a:avLst/>
              </a:prstGeom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ko-KR" altLang="en-US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/>
                      </m:d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5" name="사각형: 둥근 모서리 4">
                <a:extLst>
                  <a:ext uri="{FF2B5EF4-FFF2-40B4-BE49-F238E27FC236}">
                    <a16:creationId xmlns:a16="http://schemas.microsoft.com/office/drawing/2014/main" id="{84A13EFE-75A4-70B3-FB3E-3213E1950DF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54880" y="2392680"/>
                <a:ext cx="2164080" cy="2346960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091A3D2-A038-3704-6B65-BD466125AAA7}"/>
                  </a:ext>
                </a:extLst>
              </p:cNvPr>
              <p:cNvSpPr txBox="1"/>
              <p:nvPr/>
            </p:nvSpPr>
            <p:spPr>
              <a:xfrm>
                <a:off x="8275320" y="3136612"/>
                <a:ext cx="62484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091A3D2-A038-3704-6B65-BD466125AA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75320" y="3136612"/>
                <a:ext cx="624840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B814628-F7B1-D9D9-5860-C53F7BBA9B42}"/>
                  </a:ext>
                </a:extLst>
              </p:cNvPr>
              <p:cNvSpPr txBox="1"/>
              <p:nvPr/>
            </p:nvSpPr>
            <p:spPr>
              <a:xfrm>
                <a:off x="2966085" y="3136612"/>
                <a:ext cx="80010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B814628-F7B1-D9D9-5860-C53F7BBA9B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66085" y="3136612"/>
                <a:ext cx="800100" cy="5847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5CCF8AEC-A4E6-E83E-E569-0759140AE357}"/>
                  </a:ext>
                </a:extLst>
              </p:cNvPr>
              <p:cNvSpPr txBox="1"/>
              <p:nvPr/>
            </p:nvSpPr>
            <p:spPr>
              <a:xfrm>
                <a:off x="4526280" y="5451486"/>
                <a:ext cx="262128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ko-KR" altLang="en-US" sz="3200" i="0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sz="3200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ko-KR" altLang="en-US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sz="32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5CCF8AEC-A4E6-E83E-E569-0759140AE3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26280" y="5451486"/>
                <a:ext cx="2621280" cy="58477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533600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F56846-1533-2A55-5C19-83102AD523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0779EE00-BDC6-D7DA-8D76-F340B6DA61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2897" y="2409824"/>
            <a:ext cx="9373066" cy="3370315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1FFA10B-6ACA-8BA7-599B-B4B6398DBF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5509BE78-3730-4DA3-EF72-0324173DE45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5333C5AC-4094-D0BC-287F-D08E6335F933}"/>
              </a:ext>
            </a:extLst>
          </p:cNvPr>
          <p:cNvSpPr/>
          <p:nvPr/>
        </p:nvSpPr>
        <p:spPr>
          <a:xfrm>
            <a:off x="1542896" y="3019424"/>
            <a:ext cx="3257703" cy="276071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76774BE-B39A-B194-516F-D1E49D574F90}"/>
              </a:ext>
            </a:extLst>
          </p:cNvPr>
          <p:cNvSpPr/>
          <p:nvPr/>
        </p:nvSpPr>
        <p:spPr>
          <a:xfrm>
            <a:off x="8429785" y="3019424"/>
            <a:ext cx="2486178" cy="238125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68048C81-8986-7A52-7D93-FF046557FFC2}"/>
              </a:ext>
            </a:extLst>
          </p:cNvPr>
          <p:cNvSpPr/>
          <p:nvPr/>
        </p:nvSpPr>
        <p:spPr>
          <a:xfrm>
            <a:off x="5705635" y="3833813"/>
            <a:ext cx="1447640" cy="833438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F4B104D5-E73E-BE36-FA38-C56A539E9A42}"/>
              </a:ext>
            </a:extLst>
          </p:cNvPr>
          <p:cNvCxnSpPr>
            <a:cxnSpLocks/>
          </p:cNvCxnSpPr>
          <p:nvPr/>
        </p:nvCxnSpPr>
        <p:spPr>
          <a:xfrm>
            <a:off x="4998720" y="4832985"/>
            <a:ext cx="330708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51AD34C-4BA4-9109-9C39-F5070993A616}"/>
                  </a:ext>
                </a:extLst>
              </p:cNvPr>
              <p:cNvSpPr txBox="1"/>
              <p:nvPr/>
            </p:nvSpPr>
            <p:spPr>
              <a:xfrm>
                <a:off x="8208127" y="5684420"/>
                <a:ext cx="262128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2400" i="1" dirty="0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ko-KR" altLang="en-US" sz="2400" i="0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sz="2400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ko-KR" altLang="en-US" sz="24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51AD34C-4BA4-9109-9C39-F5070993A6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08127" y="5684420"/>
                <a:ext cx="2621280" cy="461665"/>
              </a:xfrm>
              <a:prstGeom prst="rect">
                <a:avLst/>
              </a:prstGeom>
              <a:blipFill>
                <a:blip r:embed="rId3"/>
                <a:stretch>
                  <a:fillRect b="-1973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Box 12">
            <a:extLst>
              <a:ext uri="{FF2B5EF4-FFF2-40B4-BE49-F238E27FC236}">
                <a16:creationId xmlns:a16="http://schemas.microsoft.com/office/drawing/2014/main" id="{ABD2443A-105B-89F6-33CC-FFDE5604FDEF}"/>
              </a:ext>
            </a:extLst>
          </p:cNvPr>
          <p:cNvSpPr txBox="1"/>
          <p:nvPr/>
        </p:nvSpPr>
        <p:spPr>
          <a:xfrm>
            <a:off x="552450" y="1489473"/>
            <a:ext cx="98575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입력 </a:t>
            </a:r>
            <a:r>
              <a:rPr lang="en-US" altLang="ko-KR" dirty="0"/>
              <a:t>Feature Matrix</a:t>
            </a:r>
            <a:r>
              <a:rPr lang="ko-KR" altLang="en-US" dirty="0"/>
              <a:t>는 </a:t>
            </a:r>
            <a:r>
              <a:rPr lang="en-US" altLang="ko-KR" dirty="0"/>
              <a:t>Kernel Matrix(3,3)</a:t>
            </a:r>
            <a:r>
              <a:rPr lang="ko-KR" altLang="en-US" dirty="0"/>
              <a:t>와 </a:t>
            </a:r>
            <a:r>
              <a:rPr lang="ko-KR" altLang="en-US" dirty="0" err="1"/>
              <a:t>합성곱으로</a:t>
            </a:r>
            <a:r>
              <a:rPr lang="ko-KR" altLang="en-US" dirty="0"/>
              <a:t> 출력</a:t>
            </a:r>
            <a:r>
              <a:rPr lang="en-US" altLang="ko-KR" dirty="0"/>
              <a:t> Feature Matrix</a:t>
            </a:r>
            <a:r>
              <a:rPr lang="ko-KR" altLang="en-US" dirty="0"/>
              <a:t>로 </a:t>
            </a:r>
            <a:r>
              <a:rPr lang="en-US" altLang="ko-KR" dirty="0"/>
              <a:t>Representation </a:t>
            </a:r>
            <a:r>
              <a:rPr lang="ko-KR" altLang="en-US" dirty="0"/>
              <a:t>됨</a:t>
            </a:r>
          </a:p>
        </p:txBody>
      </p:sp>
    </p:spTree>
    <p:extLst>
      <p:ext uri="{BB962C8B-B14F-4D97-AF65-F5344CB8AC3E}">
        <p14:creationId xmlns:p14="http://schemas.microsoft.com/office/powerpoint/2010/main" val="13395383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C3436E-AD26-A468-3DD1-936CDE57F3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2763A47-EBF4-66BE-6CA3-D462E5AD7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D24BF91A-2317-B6DF-AF0D-C3CF326A6F6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3CDD7F5-5E7E-A439-0189-2DE625BE9D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3015" y="1717450"/>
            <a:ext cx="7982459" cy="2558726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7E8C7DD6-2189-B79E-911A-96DA77508C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5876" y="4228551"/>
            <a:ext cx="7936735" cy="19124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81482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076FEF-78EE-44A5-2AA8-B58C4EE7BB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686F614-D7E5-C32C-DBA3-8B4425D0E5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DEBB8C4-EB3A-7146-BD71-9E5A3DCDAE2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7B493024-8CAB-4316-C57C-3E230677EA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546" y="2428767"/>
            <a:ext cx="2598503" cy="2794423"/>
          </a:xfrm>
          <a:prstGeom prst="rect">
            <a:avLst/>
          </a:prstGeom>
        </p:spPr>
      </p:pic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FAC10E04-853C-47EB-871D-F4BE3414E8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21481947"/>
              </p:ext>
            </p:extLst>
          </p:nvPr>
        </p:nvGraphicFramePr>
        <p:xfrm>
          <a:off x="4720662" y="1825844"/>
          <a:ext cx="1194363" cy="104389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98121">
                  <a:extLst>
                    <a:ext uri="{9D8B030D-6E8A-4147-A177-3AD203B41FA5}">
                      <a16:colId xmlns:a16="http://schemas.microsoft.com/office/drawing/2014/main" val="2786435963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3827515645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2827207180"/>
                    </a:ext>
                  </a:extLst>
                </a:gridCol>
              </a:tblGrid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4483622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328434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2078504"/>
                  </a:ext>
                </a:extLst>
              </a:tr>
            </a:tbl>
          </a:graphicData>
        </a:graphic>
      </p:graphicFrame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98739568-9AF2-1CE4-75FB-91FB3C31356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3725685"/>
              </p:ext>
            </p:extLst>
          </p:nvPr>
        </p:nvGraphicFramePr>
        <p:xfrm>
          <a:off x="4720662" y="3537693"/>
          <a:ext cx="1194363" cy="104389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98121">
                  <a:extLst>
                    <a:ext uri="{9D8B030D-6E8A-4147-A177-3AD203B41FA5}">
                      <a16:colId xmlns:a16="http://schemas.microsoft.com/office/drawing/2014/main" val="2786435963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3827515645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2827207180"/>
                    </a:ext>
                  </a:extLst>
                </a:gridCol>
              </a:tblGrid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4483622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328434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2078504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566EDAE3-4767-EED0-CBF5-AA17C01489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40741551"/>
              </p:ext>
            </p:extLst>
          </p:nvPr>
        </p:nvGraphicFramePr>
        <p:xfrm>
          <a:off x="4720662" y="5249541"/>
          <a:ext cx="1194363" cy="104389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98121">
                  <a:extLst>
                    <a:ext uri="{9D8B030D-6E8A-4147-A177-3AD203B41FA5}">
                      <a16:colId xmlns:a16="http://schemas.microsoft.com/office/drawing/2014/main" val="2786435963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3827515645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2827207180"/>
                    </a:ext>
                  </a:extLst>
                </a:gridCol>
              </a:tblGrid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4483622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328434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2078504"/>
                  </a:ext>
                </a:extLst>
              </a:tr>
            </a:tbl>
          </a:graphicData>
        </a:graphic>
      </p:graphicFrame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309FC970-6C0C-5210-5CF8-DF8A8688AA9F}"/>
              </a:ext>
            </a:extLst>
          </p:cNvPr>
          <p:cNvCxnSpPr/>
          <p:nvPr/>
        </p:nvCxnSpPr>
        <p:spPr>
          <a:xfrm>
            <a:off x="6448425" y="2428767"/>
            <a:ext cx="6381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5" name="그림 14">
            <a:extLst>
              <a:ext uri="{FF2B5EF4-FFF2-40B4-BE49-F238E27FC236}">
                <a16:creationId xmlns:a16="http://schemas.microsoft.com/office/drawing/2014/main" id="{D7FCB08B-66F4-87B4-F20A-1C1F228A178F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269368" y="1972671"/>
            <a:ext cx="1275596" cy="932453"/>
          </a:xfrm>
          <a:prstGeom prst="rect">
            <a:avLst/>
          </a:prstGeom>
        </p:spPr>
      </p:pic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A3FF9ECC-D489-D531-04CB-660570D27766}"/>
              </a:ext>
            </a:extLst>
          </p:cNvPr>
          <p:cNvCxnSpPr/>
          <p:nvPr/>
        </p:nvCxnSpPr>
        <p:spPr>
          <a:xfrm>
            <a:off x="6448425" y="4085469"/>
            <a:ext cx="6381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7" name="그림 16">
            <a:extLst>
              <a:ext uri="{FF2B5EF4-FFF2-40B4-BE49-F238E27FC236}">
                <a16:creationId xmlns:a16="http://schemas.microsoft.com/office/drawing/2014/main" id="{ED2C4F28-A8D7-E629-52F3-B22D35BF1DBF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269368" y="3629373"/>
            <a:ext cx="1275596" cy="932453"/>
          </a:xfrm>
          <a:prstGeom prst="rect">
            <a:avLst/>
          </a:prstGeom>
        </p:spPr>
      </p:pic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076D93C3-BD31-7E72-215F-5FE172046051}"/>
              </a:ext>
            </a:extLst>
          </p:cNvPr>
          <p:cNvCxnSpPr/>
          <p:nvPr/>
        </p:nvCxnSpPr>
        <p:spPr>
          <a:xfrm>
            <a:off x="6448425" y="5724417"/>
            <a:ext cx="6381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9" name="그림 18">
            <a:extLst>
              <a:ext uri="{FF2B5EF4-FFF2-40B4-BE49-F238E27FC236}">
                <a16:creationId xmlns:a16="http://schemas.microsoft.com/office/drawing/2014/main" id="{8C2480E6-96FC-6497-206C-4BFB17FE1934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269368" y="5268321"/>
            <a:ext cx="1275596" cy="932453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FC829464-9279-84EB-6813-6716E7DE07F4}"/>
              </a:ext>
            </a:extLst>
          </p:cNvPr>
          <p:cNvSpPr txBox="1"/>
          <p:nvPr/>
        </p:nvSpPr>
        <p:spPr>
          <a:xfrm>
            <a:off x="4558164" y="1446528"/>
            <a:ext cx="189026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Horizontal/Diagonal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29C038D-B952-75DF-7487-E820508392FE}"/>
              </a:ext>
            </a:extLst>
          </p:cNvPr>
          <p:cNvSpPr txBox="1"/>
          <p:nvPr/>
        </p:nvSpPr>
        <p:spPr>
          <a:xfrm>
            <a:off x="4463200" y="3170454"/>
            <a:ext cx="9028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Vertical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7957353-B9AF-67E0-FD62-F604366BA6B8}"/>
              </a:ext>
            </a:extLst>
          </p:cNvPr>
          <p:cNvSpPr txBox="1"/>
          <p:nvPr/>
        </p:nvSpPr>
        <p:spPr>
          <a:xfrm>
            <a:off x="4457111" y="4894380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Loop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B3822090-781C-26D4-44D4-D099E1A52510}"/>
              </a:ext>
            </a:extLst>
          </p:cNvPr>
          <p:cNvCxnSpPr/>
          <p:nvPr/>
        </p:nvCxnSpPr>
        <p:spPr>
          <a:xfrm>
            <a:off x="3818936" y="4075836"/>
            <a:ext cx="6381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F29216AF-ED58-F476-6F5F-2AE0673A1E56}"/>
              </a:ext>
            </a:extLst>
          </p:cNvPr>
          <p:cNvCxnSpPr>
            <a:cxnSpLocks/>
          </p:cNvCxnSpPr>
          <p:nvPr/>
        </p:nvCxnSpPr>
        <p:spPr>
          <a:xfrm>
            <a:off x="3742736" y="5495061"/>
            <a:ext cx="543514" cy="2293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66498FB2-D6A6-1546-F077-2010C4599970}"/>
              </a:ext>
            </a:extLst>
          </p:cNvPr>
          <p:cNvCxnSpPr>
            <a:cxnSpLocks/>
          </p:cNvCxnSpPr>
          <p:nvPr/>
        </p:nvCxnSpPr>
        <p:spPr>
          <a:xfrm flipV="1">
            <a:off x="3818936" y="2428767"/>
            <a:ext cx="467314" cy="2183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화살표: 오른쪽 28">
            <a:extLst>
              <a:ext uri="{FF2B5EF4-FFF2-40B4-BE49-F238E27FC236}">
                <a16:creationId xmlns:a16="http://schemas.microsoft.com/office/drawing/2014/main" id="{874F86C5-F736-36B6-94DA-A81A5A3E5C42}"/>
              </a:ext>
            </a:extLst>
          </p:cNvPr>
          <p:cNvSpPr/>
          <p:nvPr/>
        </p:nvSpPr>
        <p:spPr>
          <a:xfrm>
            <a:off x="9187330" y="2347791"/>
            <a:ext cx="2598503" cy="3141743"/>
          </a:xfrm>
          <a:prstGeom prst="rightArrow">
            <a:avLst>
              <a:gd name="adj1" fmla="val 73016"/>
              <a:gd name="adj2" fmla="val 50000"/>
            </a:avLst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각각의</a:t>
            </a:r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Kernel (Filter)</a:t>
            </a:r>
            <a:r>
              <a:rPr lang="ko-KR" altLang="en-US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결과를 구한 후 모두 더하면</a:t>
            </a:r>
          </a:p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176815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904758-D90C-D4C6-EB41-2CB55EACEE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DAAE4BC-6ECA-D1AC-38AB-C93BACD30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4CFAE41E-0C23-D25B-F5A3-DA67C87B820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6D3A29D-2578-CF1A-0E4C-BF36B1ADF3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6805" y="2219225"/>
            <a:ext cx="5822999" cy="331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776811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63433B-C0D4-0981-2B95-FD5877580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7DEC314-7FED-69FA-5CBC-E48F1CF6D9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9DFE7A3-DBCC-EA3B-A967-4C786A77D99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45F4F4F-5BF8-05D7-4FEB-E31A73BEC5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4444" y="1872291"/>
            <a:ext cx="9782693" cy="416397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D30DB2E-4ED6-F150-9668-12DD706B081F}"/>
              </a:ext>
            </a:extLst>
          </p:cNvPr>
          <p:cNvSpPr txBox="1"/>
          <p:nvPr/>
        </p:nvSpPr>
        <p:spPr>
          <a:xfrm>
            <a:off x="835486" y="1502959"/>
            <a:ext cx="15985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What is CNN?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3548060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B0EB1D-5085-AFC4-6F4A-DB4276604C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311C951-F23B-030B-42CD-686330B03A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3A1F8927-CE36-3EA4-0E56-63905BA37FE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257ED0FE-C673-8670-DD6B-72F756A374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5547" y="1468523"/>
            <a:ext cx="8313804" cy="50226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89344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53B718-B2C5-F0AB-9840-E7CA385C64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58BC45F-6F1B-D8CC-D6A1-D7B58965C9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D15A284-89FC-2D1A-96C3-365A0E7B71D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A6A5AC5-260A-25A4-1B81-77CB5B32F4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1200" y="1902689"/>
            <a:ext cx="9000000" cy="4473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317740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6AB736-7409-F14A-48A5-4808B97092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49DE165-9840-CCB8-9EAF-F6DB2D8AFE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67A0152-FFB9-F91B-A5A0-9CC626BCAED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4F9730E-C40F-FDBD-D9DB-C8C74C3672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0675" y="1470193"/>
            <a:ext cx="4017492" cy="49311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73621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1D9480-18CF-B9A7-CCAF-349FDA51A7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그림 35">
            <a:extLst>
              <a:ext uri="{FF2B5EF4-FFF2-40B4-BE49-F238E27FC236}">
                <a16:creationId xmlns:a16="http://schemas.microsoft.com/office/drawing/2014/main" id="{C7A2EA71-FBFE-0880-F545-5E313F254C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786" y="1426419"/>
            <a:ext cx="8575192" cy="4974967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8C1D34F-18C8-28AB-C0F1-93CE7D56EE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99144C6-22C4-6B31-706F-C163569EC23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C4B1D0B-EF63-6FF1-0A87-488C8FD4BEFA}"/>
              </a:ext>
            </a:extLst>
          </p:cNvPr>
          <p:cNvSpPr txBox="1"/>
          <p:nvPr/>
        </p:nvSpPr>
        <p:spPr>
          <a:xfrm>
            <a:off x="5061355" y="4472286"/>
            <a:ext cx="5768052" cy="880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모델구조와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합성곱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작동방식을 이해하고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tensorflow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코드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(Click)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로 실습하기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E2D62138-00D1-EFBB-712E-D7834DDFEB3F}"/>
              </a:ext>
            </a:extLst>
          </p:cNvPr>
          <p:cNvSpPr/>
          <p:nvPr/>
        </p:nvSpPr>
        <p:spPr>
          <a:xfrm>
            <a:off x="568786" y="3981450"/>
            <a:ext cx="4003214" cy="259793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1F511E3F-A021-6230-AD76-2912813CF33B}"/>
              </a:ext>
            </a:extLst>
          </p:cNvPr>
          <p:cNvSpPr/>
          <p:nvPr/>
        </p:nvSpPr>
        <p:spPr>
          <a:xfrm>
            <a:off x="4572000" y="3567143"/>
            <a:ext cx="1149812" cy="39525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131178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" grpId="0" animBg="1"/>
      <p:bldP spid="38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8DBDC2-A382-4A4D-157D-EE18505D75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F0CA468-3996-572D-81CB-6453D1224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E68A2A7A-D234-221B-8C55-A5C68FC94F7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52E3F41B-E085-7A20-6E9B-106114ADA7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09913122"/>
              </p:ext>
            </p:extLst>
          </p:nvPr>
        </p:nvGraphicFramePr>
        <p:xfrm>
          <a:off x="741182" y="1723456"/>
          <a:ext cx="11013938" cy="4244156"/>
        </p:xfrm>
        <a:graphic>
          <a:graphicData uri="http://schemas.openxmlformats.org/drawingml/2006/table">
            <a:tbl>
              <a:tblPr/>
              <a:tblGrid>
                <a:gridCol w="565509">
                  <a:extLst>
                    <a:ext uri="{9D8B030D-6E8A-4147-A177-3AD203B41FA5}">
                      <a16:colId xmlns:a16="http://schemas.microsoft.com/office/drawing/2014/main" val="1466050574"/>
                    </a:ext>
                  </a:extLst>
                </a:gridCol>
                <a:gridCol w="1761629">
                  <a:extLst>
                    <a:ext uri="{9D8B030D-6E8A-4147-A177-3AD203B41FA5}">
                      <a16:colId xmlns:a16="http://schemas.microsoft.com/office/drawing/2014/main" val="1415194089"/>
                    </a:ext>
                  </a:extLst>
                </a:gridCol>
                <a:gridCol w="1066800">
                  <a:extLst>
                    <a:ext uri="{9D8B030D-6E8A-4147-A177-3AD203B41FA5}">
                      <a16:colId xmlns:a16="http://schemas.microsoft.com/office/drawing/2014/main" val="2088953976"/>
                    </a:ext>
                  </a:extLst>
                </a:gridCol>
                <a:gridCol w="1178560">
                  <a:extLst>
                    <a:ext uri="{9D8B030D-6E8A-4147-A177-3AD203B41FA5}">
                      <a16:colId xmlns:a16="http://schemas.microsoft.com/office/drawing/2014/main" val="470009430"/>
                    </a:ext>
                  </a:extLst>
                </a:gridCol>
                <a:gridCol w="1127760">
                  <a:extLst>
                    <a:ext uri="{9D8B030D-6E8A-4147-A177-3AD203B41FA5}">
                      <a16:colId xmlns:a16="http://schemas.microsoft.com/office/drawing/2014/main" val="1352959133"/>
                    </a:ext>
                  </a:extLst>
                </a:gridCol>
                <a:gridCol w="5313680">
                  <a:extLst>
                    <a:ext uri="{9D8B030D-6E8A-4147-A177-3AD203B41FA5}">
                      <a16:colId xmlns:a16="http://schemas.microsoft.com/office/drawing/2014/main" val="2542550803"/>
                    </a:ext>
                  </a:extLst>
                </a:gridCol>
              </a:tblGrid>
              <a:tr h="29846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레이어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레이어 이름 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함수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  <a:endParaRPr lang="ko-KR" altLang="en-US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입력 형태 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Input Shape)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출력 형태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Output Shape)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가중치 초기화 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Variance </a:t>
                      </a:r>
                    </a:p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Scaling)</a:t>
                      </a:r>
                      <a:endParaRPr lang="ko-KR" altLang="en-US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주요 역할 및 특징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52553702"/>
                  </a:ext>
                </a:extLst>
              </a:tr>
              <a:tr h="333814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0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Input (</a:t>
                      </a:r>
                      <a:r>
                        <a:rPr lang="ko-KR" altLang="en-US" sz="1200" b="1" dirty="0" err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입력층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-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(28, 28, 1)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X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세로 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28, 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가로 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28, 1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채널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흑백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 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이미지 입력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41780401"/>
                  </a:ext>
                </a:extLst>
              </a:tr>
              <a:tr h="58122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1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Conv2D 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첫 번째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(28, 28, 1)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(24, 24, 8)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(5,5) </a:t>
                      </a:r>
                      <a:r>
                        <a:rPr lang="ko-KR" altLang="en-US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필터 </a:t>
                      </a:r>
                      <a:r>
                        <a:rPr lang="en-US" altLang="ko-KR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8</a:t>
                      </a:r>
                      <a:r>
                        <a:rPr lang="ko-KR" altLang="en-US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개로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이미지의 기본 특징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선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면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 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추출 및 </a:t>
                      </a:r>
                      <a:r>
                        <a:rPr lang="en-US" altLang="ko-KR" sz="1200" b="1" i="0" dirty="0" err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ReLU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적용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84792075"/>
                  </a:ext>
                </a:extLst>
              </a:tr>
              <a:tr h="58122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MaxPooling2D 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첫 번째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(24, 24, 8)</a:t>
                      </a:r>
                      <a:endParaRPr lang="ko-KR" altLang="en-US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(12, 12, 8)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X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(2,2) 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영역에서 가장 큰 값만 추출하여 이미지 크기를 절반으로 축소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9161666"/>
                  </a:ext>
                </a:extLst>
              </a:tr>
              <a:tr h="58122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3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Conv2D 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두 번째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(12, 12, 8)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(8, 8, 16)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(5,5)</a:t>
                      </a:r>
                      <a:r>
                        <a:rPr lang="ko-KR" altLang="en-US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필터 </a:t>
                      </a:r>
                      <a:r>
                        <a:rPr lang="en-US" altLang="ko-KR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16</a:t>
                      </a:r>
                      <a:r>
                        <a:rPr lang="ko-KR" altLang="en-US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개로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더 복잡하고 고차원적인 특징 추출 및 </a:t>
                      </a:r>
                      <a:r>
                        <a:rPr lang="en-US" altLang="ko-KR" sz="1200" b="1" i="0" dirty="0" err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ReLU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적용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38943306"/>
                  </a:ext>
                </a:extLst>
              </a:tr>
              <a:tr h="475194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4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MaxPooling2D 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두 번째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(8, 8, 16)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(4, 4, 16)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X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이미지 크기를 다시 한번 절반으로 축소하여 핵심 특징만 압축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50094793"/>
                  </a:ext>
                </a:extLst>
              </a:tr>
              <a:tr h="58122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5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Flatten 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평탄화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(4, 4, 16)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(256)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X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3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차원 특징 맵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(4,4,16) = 4*4*16 = 256)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을 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1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차원의 긴 벡터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줄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로 펼침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60645248"/>
                  </a:ext>
                </a:extLst>
              </a:tr>
              <a:tr h="545884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6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Dense 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출력층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(256)</a:t>
                      </a:r>
                      <a:endParaRPr lang="ko-KR" altLang="en-US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256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개의 특징을 받아 최종 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개 클래스에 대한 확률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altLang="ko-KR" sz="1200" b="1" i="0" dirty="0" err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Softmax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을 계산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859908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652952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EE6D9A-FA41-2C59-AE0E-CFB6CAB075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76C0C2E-1D6D-FA5D-9781-729FE3ADC4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6C8789F7-E6CE-8A13-8993-4DB80A7E304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475C2B3-6614-2911-5205-8AF7F278BD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028" y="2314205"/>
            <a:ext cx="7414903" cy="406181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E4D3D52-F5BF-4321-448A-4369B312C318}"/>
              </a:ext>
            </a:extLst>
          </p:cNvPr>
          <p:cNvSpPr txBox="1"/>
          <p:nvPr/>
        </p:nvSpPr>
        <p:spPr>
          <a:xfrm>
            <a:off x="558800" y="1340904"/>
            <a:ext cx="10932160" cy="465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데이터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모델구조와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합성곱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작동방식을 이해하고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tensorflow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코드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(Click)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로 실습하기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007BD27A-4D2C-F8D7-FB6E-09FF605403CA}"/>
              </a:ext>
            </a:extLst>
          </p:cNvPr>
          <p:cNvSpPr/>
          <p:nvPr/>
        </p:nvSpPr>
        <p:spPr>
          <a:xfrm>
            <a:off x="3738706" y="2666844"/>
            <a:ext cx="1818814" cy="173243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918522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939BB7-974B-332B-B2D3-8F848B699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B486036-67A2-7FAF-876B-EF23FFD76B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5FEC2FC1-D246-D6ED-7695-386F0C4FC4F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79A7F2C-B040-9181-C381-0EAF79249ED2}"/>
              </a:ext>
            </a:extLst>
          </p:cNvPr>
          <p:cNvSpPr txBox="1"/>
          <p:nvPr/>
        </p:nvSpPr>
        <p:spPr>
          <a:xfrm>
            <a:off x="644986" y="1236259"/>
            <a:ext cx="11012385" cy="4238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시각화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사이트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https://tensorspace.org/html/playground/lenet.html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7F37AE7-162E-24C9-7A48-A38714B8D7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6811" y="1799944"/>
            <a:ext cx="4032690" cy="46457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473763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6B285C-0CA6-131F-A9B2-B3596C691B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90AE04D-F73E-5763-E56E-89D4EE0C7F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1EF9E5AB-9B8D-5BDB-63A5-EF9B27F33F5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574D554-22FD-A6D7-0602-1D7924A91F94}"/>
              </a:ext>
            </a:extLst>
          </p:cNvPr>
          <p:cNvSpPr txBox="1"/>
          <p:nvPr/>
        </p:nvSpPr>
        <p:spPr>
          <a:xfrm>
            <a:off x="644986" y="1236259"/>
            <a:ext cx="11012385" cy="465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채널이 있는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컬러이미지에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대한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CNN(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image-search/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cnn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/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이해하기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7F9A623C-EB2D-129A-153E-FF04C67885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83166" y="1978293"/>
            <a:ext cx="7538720" cy="42405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813280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1F8F77-6C0A-3904-FA33-71DB87EB01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35CD0C6-E48F-5171-D0C0-42352B7620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0F803ED0-69E8-6928-5E8A-D2CF16B9459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1E901BE-AB7F-22C0-899D-4319238947C2}"/>
              </a:ext>
            </a:extLst>
          </p:cNvPr>
          <p:cNvSpPr txBox="1"/>
          <p:nvPr/>
        </p:nvSpPr>
        <p:spPr>
          <a:xfrm>
            <a:off x="644986" y="1236259"/>
            <a:ext cx="11012385" cy="465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CNN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학습사이트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https://github.com/ancestor9/Image Classification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교과수업 진행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2E898584-3848-4BB8-F2D9-0A00E87916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62688" y="2612298"/>
            <a:ext cx="3962691" cy="36190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B82832F4-B644-E38A-A3E9-D95C7FBA35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43063" y="2612298"/>
            <a:ext cx="3183791" cy="36190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0AA5B32-FCC9-8B3B-67E2-D75A02F17AE0}"/>
              </a:ext>
            </a:extLst>
          </p:cNvPr>
          <p:cNvSpPr txBox="1"/>
          <p:nvPr/>
        </p:nvSpPr>
        <p:spPr>
          <a:xfrm>
            <a:off x="1543050" y="2159141"/>
            <a:ext cx="3283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single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A011B06-493F-BCD7-F77B-C778CE2E4912}"/>
              </a:ext>
            </a:extLst>
          </p:cNvPr>
          <p:cNvSpPr txBox="1"/>
          <p:nvPr/>
        </p:nvSpPr>
        <p:spPr>
          <a:xfrm>
            <a:off x="6231792" y="2159141"/>
            <a:ext cx="3283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multiple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B641FE6-D0E5-C619-5DA7-ADF18731FA6E}"/>
              </a:ext>
            </a:extLst>
          </p:cNvPr>
          <p:cNvSpPr txBox="1"/>
          <p:nvPr/>
        </p:nvSpPr>
        <p:spPr>
          <a:xfrm>
            <a:off x="6231792" y="5808669"/>
            <a:ext cx="345322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채널별로 동일한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Kernel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합성 곱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내적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결과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(3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채널별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다시 합산하는 과정</a:t>
            </a:r>
          </a:p>
        </p:txBody>
      </p:sp>
    </p:spTree>
    <p:extLst>
      <p:ext uri="{BB962C8B-B14F-4D97-AF65-F5344CB8AC3E}">
        <p14:creationId xmlns:p14="http://schemas.microsoft.com/office/powerpoint/2010/main" val="150149320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F05597-2E63-8680-97C9-8A0379C361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2265282-DEE6-0646-E27C-CAB0D336B2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686F3F87-E80C-B7E8-19A7-5F227D10B39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714A798-1EC4-0DBB-1C3A-3CF3FAAABB82}"/>
              </a:ext>
            </a:extLst>
          </p:cNvPr>
          <p:cNvSpPr txBox="1"/>
          <p:nvPr/>
        </p:nvSpPr>
        <p:spPr>
          <a:xfrm>
            <a:off x="644986" y="1236259"/>
            <a:ext cx="11012385" cy="465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개념적이고 직관적으로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https://poloclub.github.io/cnn-explainer/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에서 이해하자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4D1AA27-A75B-37EC-B74E-57B16DF77F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425" y="1841763"/>
            <a:ext cx="9553575" cy="41944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964186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87DB1F-676C-0784-635D-DC8BC8B391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9DA331-3E36-5837-C27C-09B919AF81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02C22D0A-1313-B903-6F04-E982F4C627F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E9F0B72-DDC7-18AA-B22F-73829F19987C}"/>
              </a:ext>
            </a:extLst>
          </p:cNvPr>
          <p:cNvSpPr txBox="1"/>
          <p:nvPr/>
        </p:nvSpPr>
        <p:spPr>
          <a:xfrm>
            <a:off x="644986" y="1236259"/>
            <a:ext cx="11012385" cy="10749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유튜브 동영상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Kernel Size and Why Everyone Loves 3x3 - Neural Network Convolution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이해하자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입력데이터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(8,6,6)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8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 각 채널에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Kernel(3,3)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동일하게 적용하여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합산 값을 출력하는 것을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8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번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(8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kernel)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반복하면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출력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tensor(8,4,4)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생성하는 과정을 이해하자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C4ECD689-EE52-C02C-F285-18FE07FE3A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1586" y="2353214"/>
            <a:ext cx="6533557" cy="349513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13C82CD-F634-E04D-08CC-C281BB8C06F5}"/>
              </a:ext>
            </a:extLst>
          </p:cNvPr>
          <p:cNvSpPr txBox="1"/>
          <p:nvPr/>
        </p:nvSpPr>
        <p:spPr>
          <a:xfrm>
            <a:off x="644986" y="2703734"/>
            <a:ext cx="4147994" cy="89370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Input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tensor: (8,6,6) 8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Kernel tensor: (8,3,3),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8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kernel(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색상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Output tensor: (8,4,4) 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21F0DC8-FCD6-0460-7E81-40F156D07A60}"/>
              </a:ext>
            </a:extLst>
          </p:cNvPr>
          <p:cNvSpPr txBox="1"/>
          <p:nvPr/>
        </p:nvSpPr>
        <p:spPr>
          <a:xfrm>
            <a:off x="591646" y="4909491"/>
            <a:ext cx="4201334" cy="893706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Input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tensor: (8,6,6) 8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Kernel tensor: 20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Kernel size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Output tensor: (20,4,4) 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화살표: 아래쪽 10">
            <a:extLst>
              <a:ext uri="{FF2B5EF4-FFF2-40B4-BE49-F238E27FC236}">
                <a16:creationId xmlns:a16="http://schemas.microsoft.com/office/drawing/2014/main" id="{29CD3A76-F298-88C6-B9BA-F1D593B0FB72}"/>
              </a:ext>
            </a:extLst>
          </p:cNvPr>
          <p:cNvSpPr/>
          <p:nvPr/>
        </p:nvSpPr>
        <p:spPr>
          <a:xfrm>
            <a:off x="1657453" y="3859237"/>
            <a:ext cx="495300" cy="769620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A5A5A8A-B0F5-B4B1-8BA3-06BCBBF93A66}"/>
              </a:ext>
            </a:extLst>
          </p:cNvPr>
          <p:cNvSpPr txBox="1"/>
          <p:nvPr/>
        </p:nvSpPr>
        <p:spPr>
          <a:xfrm>
            <a:off x="2160373" y="3882097"/>
            <a:ext cx="2685947" cy="617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만약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20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Kernel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을 적용하면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</a:p>
          <a:p>
            <a:pPr>
              <a:lnSpc>
                <a:spcPct val="150000"/>
              </a:lnSpc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고차원의 특징을 추출</a:t>
            </a:r>
          </a:p>
        </p:txBody>
      </p:sp>
    </p:spTree>
    <p:extLst>
      <p:ext uri="{BB962C8B-B14F-4D97-AF65-F5344CB8AC3E}">
        <p14:creationId xmlns:p14="http://schemas.microsoft.com/office/powerpoint/2010/main" val="3751902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A03301-AE56-CCC2-E058-B6282D923E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90CF469-4F35-2832-B86C-98FE6895C4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882B39C-9C81-C646-1138-B35886C437E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0494596-39F6-615D-9013-605F03C9C1FC}"/>
              </a:ext>
            </a:extLst>
          </p:cNvPr>
          <p:cNvSpPr txBox="1"/>
          <p:nvPr/>
        </p:nvSpPr>
        <p:spPr>
          <a:xfrm>
            <a:off x="644986" y="1236259"/>
            <a:ext cx="11012385" cy="4238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시각화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사이트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https://tensorspace.org/html/playground/alexnet.html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D784A6AC-36E5-6717-E624-829B1E3EE9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1633" y="2002698"/>
            <a:ext cx="5132427" cy="3895526"/>
          </a:xfrm>
          <a:prstGeom prst="rect">
            <a:avLst/>
          </a:prstGeom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D6D5C0B1-50E1-7852-0909-A389784D92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8193" y="3079433"/>
            <a:ext cx="2162175" cy="2162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222032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81A4A9-C8E4-CEAE-D281-5907F964DB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9270069-61B1-19EE-E56A-685854865E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21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6393488-7234-FE8B-4CA8-0977643A766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B585D06-EBAA-D2AC-1891-2DBE98D5B6A3}"/>
              </a:ext>
            </a:extLst>
          </p:cNvPr>
          <p:cNvSpPr txBox="1"/>
          <p:nvPr/>
        </p:nvSpPr>
        <p:spPr>
          <a:xfrm>
            <a:off x="644986" y="1236259"/>
            <a:ext cx="11012385" cy="4238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학습 사이트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https://stanford.edu/~shervine/teaching/cs-230/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CA294C0E-8F2F-FF9B-4E00-D850332D30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2575" y="1886593"/>
            <a:ext cx="8733012" cy="4489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4056608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5114</TotalTime>
  <Words>669</Words>
  <Application>Microsoft Office PowerPoint</Application>
  <PresentationFormat>와이드스크린</PresentationFormat>
  <Paragraphs>162</Paragraphs>
  <Slides>21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21</vt:i4>
      </vt:variant>
    </vt:vector>
  </HeadingPairs>
  <TitlesOfParts>
    <vt:vector size="30" baseType="lpstr">
      <vt:lpstr>D2Coding</vt:lpstr>
      <vt:lpstr>맑은 고딕</vt:lpstr>
      <vt:lpstr>맑은 고딕 Semilight</vt:lpstr>
      <vt:lpstr>Batang</vt:lpstr>
      <vt:lpstr>Arial</vt:lpstr>
      <vt:lpstr>Cambria Math</vt:lpstr>
      <vt:lpstr>Segoe UI Light</vt:lpstr>
      <vt:lpstr>Wingdings</vt:lpstr>
      <vt:lpstr>WelcomeDoc</vt:lpstr>
      <vt:lpstr>Image Classification</vt:lpstr>
      <vt:lpstr>Contents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102</cp:revision>
  <dcterms:created xsi:type="dcterms:W3CDTF">2026-04-06T01:00:39Z</dcterms:created>
  <dcterms:modified xsi:type="dcterms:W3CDTF">2026-06-11T12:47:25Z</dcterms:modified>
  <cp:version/>
</cp:coreProperties>
</file>