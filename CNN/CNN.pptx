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7"/>
  </p:notesMasterIdLst>
  <p:handoutMasterIdLst>
    <p:handoutMasterId r:id="rId28"/>
  </p:handoutMasterIdLst>
  <p:sldIdLst>
    <p:sldId id="256" r:id="rId2"/>
    <p:sldId id="978" r:id="rId3"/>
    <p:sldId id="1117" r:id="rId4"/>
    <p:sldId id="1114" r:id="rId5"/>
    <p:sldId id="1112" r:id="rId6"/>
    <p:sldId id="1105" r:id="rId7"/>
    <p:sldId id="1095" r:id="rId8"/>
    <p:sldId id="1096" r:id="rId9"/>
    <p:sldId id="1097" r:id="rId10"/>
    <p:sldId id="1103" r:id="rId11"/>
    <p:sldId id="1107" r:id="rId12"/>
    <p:sldId id="1115" r:id="rId13"/>
    <p:sldId id="1098" r:id="rId14"/>
    <p:sldId id="1099" r:id="rId15"/>
    <p:sldId id="1100" r:id="rId16"/>
    <p:sldId id="1101" r:id="rId17"/>
    <p:sldId id="1116" r:id="rId18"/>
    <p:sldId id="1102" r:id="rId19"/>
    <p:sldId id="1104" r:id="rId20"/>
    <p:sldId id="1106" r:id="rId21"/>
    <p:sldId id="1111" r:id="rId22"/>
    <p:sldId id="1113" r:id="rId23"/>
    <p:sldId id="1109" r:id="rId24"/>
    <p:sldId id="1110" r:id="rId25"/>
    <p:sldId id="1118" r:id="rId26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978"/>
            <p14:sldId id="1117"/>
            <p14:sldId id="1114"/>
            <p14:sldId id="1112"/>
            <p14:sldId id="1105"/>
            <p14:sldId id="1095"/>
            <p14:sldId id="1096"/>
            <p14:sldId id="1097"/>
            <p14:sldId id="1103"/>
            <p14:sldId id="1107"/>
            <p14:sldId id="1115"/>
            <p14:sldId id="1098"/>
            <p14:sldId id="1099"/>
            <p14:sldId id="1100"/>
            <p14:sldId id="1101"/>
            <p14:sldId id="1116"/>
            <p14:sldId id="1102"/>
            <p14:sldId id="1104"/>
            <p14:sldId id="1106"/>
            <p14:sldId id="1111"/>
            <p14:sldId id="1113"/>
            <p14:sldId id="1109"/>
            <p14:sldId id="1110"/>
            <p14:sldId id="1118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462F"/>
    <a:srgbClr val="76E3FF"/>
    <a:srgbClr val="FF9B45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2026-06-11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2026-06-11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2026-06-11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6/11/2026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2026-06-11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deeplearningwithpython.io/chapters/chapter08_image-classification/" TargetMode="Externa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jpe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nvolution" TargetMode="External"/><Relationship Id="rId2" Type="http://schemas.openxmlformats.org/officeDocument/2006/relationships/image" Target="../media/image8.gif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www.pinecone.io/learn/series/image-search/cnn/" TargetMode="Externa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gif"/><Relationship Id="rId2" Type="http://schemas.openxmlformats.org/officeDocument/2006/relationships/hyperlink" Target="https://github.com/ancestor9/2025_Winter_Deep-Learning-with-TensorFlow/tree/main/20260107_03_Image%20Classification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gif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jDe5BAsT2-Y?t=34" TargetMode="External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hyperlink" Target="https://poloclub.github.io/cnn-explainer/" TargetMode="Externa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hyperlink" Target="https://tensorspace.org/html/playground/lenet.html" TargetMode="Externa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hyperlink" Target="https://stanford.edu/~shervine/teaching/cs-230/" TargetMode="Externa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hyperlink" Target="https://www.youtube.com/watch?v=V9ZYDCnItr0&amp;t=76s" TargetMode="Externa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hyperlink" Target="https://tensorspace.org/html/playground/alexnet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7.jpe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Image Classification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2210395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CNN(convolutional neural networks, </a:t>
            </a:r>
            <a:r>
              <a:rPr lang="en-US" altLang="ko-KR" sz="2400" dirty="0" err="1">
                <a:solidFill>
                  <a:schemeClr val="bg1"/>
                </a:solidFill>
              </a:rPr>
              <a:t>ConvNets</a:t>
            </a:r>
            <a:r>
              <a:rPr lang="en-US" altLang="ko-KR" sz="2400" dirty="0">
                <a:solidFill>
                  <a:schemeClr val="bg1"/>
                </a:solidFill>
              </a:rPr>
              <a:t>)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FB53F-5797-0BB2-9323-F166DE5B6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FB5B3E-2733-6F10-C433-7C314850C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56A9490-8D65-6528-22C1-98B7D508091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8F61AD-D5DA-FAA8-E02A-C80D22969EBB}"/>
              </a:ext>
            </a:extLst>
          </p:cNvPr>
          <p:cNvSpPr txBox="1"/>
          <p:nvPr/>
        </p:nvSpPr>
        <p:spPr>
          <a:xfrm>
            <a:off x="514350" y="1313937"/>
            <a:ext cx="10645140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은 적은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연산량으로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이미지의 공간적 특징과 위치 변화까지 완벽하게 잡아내기 때문에 이미지 처리의 표준 딥러닝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chapter08_image-classification/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431F312E-35D3-4EA8-5B39-7D3B0C79DE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9992" y="2396485"/>
            <a:ext cx="3133725" cy="4004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533600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2D2752-05C8-CFB6-7DA8-10DA216A8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7FD711-C4A0-2FFF-5BAD-5DDBCF62E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3069900-B671-31CB-2055-58036E2FAD0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6DE70F3A-EF60-8C27-5AD3-658BC4D73F72}"/>
              </a:ext>
            </a:extLst>
          </p:cNvPr>
          <p:cNvCxnSpPr>
            <a:cxnSpLocks/>
          </p:cNvCxnSpPr>
          <p:nvPr/>
        </p:nvCxnSpPr>
        <p:spPr>
          <a:xfrm>
            <a:off x="3931920" y="356616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AB64D2BE-9A99-7FA2-BD98-E1AAD636CEA7}"/>
                  </a:ext>
                </a:extLst>
              </p:cNvPr>
              <p:cNvSpPr/>
              <p:nvPr/>
            </p:nvSpPr>
            <p:spPr>
              <a:xfrm>
                <a:off x="4754880" y="2392680"/>
                <a:ext cx="2164080" cy="2346960"/>
              </a:xfrm>
              <a:prstGeom prst="roundRect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84A13EFE-75A4-70B3-FB3E-3213E1950D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4880" y="2392680"/>
                <a:ext cx="2164080" cy="234696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202658E-678D-1E26-1987-C0A4F99F0298}"/>
                  </a:ext>
                </a:extLst>
              </p:cNvPr>
              <p:cNvSpPr txBox="1"/>
              <p:nvPr/>
            </p:nvSpPr>
            <p:spPr>
              <a:xfrm>
                <a:off x="8275320" y="3136612"/>
                <a:ext cx="62484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091A3D2-A038-3704-6B65-BD466125AA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5320" y="3136612"/>
                <a:ext cx="624840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4D6254E-7548-BCD1-42FE-86ED49399E41}"/>
                  </a:ext>
                </a:extLst>
              </p:cNvPr>
              <p:cNvSpPr txBox="1"/>
              <p:nvPr/>
            </p:nvSpPr>
            <p:spPr>
              <a:xfrm>
                <a:off x="2966085" y="3136612"/>
                <a:ext cx="80010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B814628-F7B1-D9D9-5860-C53F7BBA9B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6085" y="3136612"/>
                <a:ext cx="800100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1FB287C-BBC7-C60D-0B07-AEC97349EAE9}"/>
                  </a:ext>
                </a:extLst>
              </p:cNvPr>
              <p:cNvSpPr txBox="1"/>
              <p:nvPr/>
            </p:nvSpPr>
            <p:spPr>
              <a:xfrm>
                <a:off x="9633483" y="4364295"/>
                <a:ext cx="1339317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ko-KR" altLang="en-US" sz="200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ko-KR" altLang="en-US" sz="20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0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20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1FB287C-BBC7-C60D-0B07-AEC97349EA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33483" y="4364295"/>
                <a:ext cx="1339317" cy="400110"/>
              </a:xfrm>
              <a:prstGeom prst="rect">
                <a:avLst/>
              </a:prstGeom>
              <a:blipFill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122" name="Picture 2" descr="The Matrix | 1999 Film, Cast, Plot, &amp; Facts | Britannica">
            <a:extLst>
              <a:ext uri="{FF2B5EF4-FFF2-40B4-BE49-F238E27FC236}">
                <a16:creationId xmlns:a16="http://schemas.microsoft.com/office/drawing/2014/main" id="{E44194DC-9B37-BB09-2E85-45EC4B9D0E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9956" y="2954283"/>
            <a:ext cx="2020394" cy="1534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The Matrix | 1999 Film, Cast, Plot, &amp; Facts | Britannica">
            <a:extLst>
              <a:ext uri="{FF2B5EF4-FFF2-40B4-BE49-F238E27FC236}">
                <a16:creationId xmlns:a16="http://schemas.microsoft.com/office/drawing/2014/main" id="{FD381C7F-2BC8-D416-4D7E-EAE46E0480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biLevel thresh="50000"/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98280" y="2799056"/>
            <a:ext cx="2020394" cy="1534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240662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F2F03-2928-FE0E-83C4-D1E8ADEB0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9065971-C93D-74C9-AD10-786402B26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52B6D99-966B-4EFF-1D8A-F9B8A2D6C9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099510A-1E16-86BF-F01C-8EF2FCD680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9376" y="2480571"/>
            <a:ext cx="4406613" cy="38954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436233C-FA94-F1A4-ACF9-C44CF7AEEE39}"/>
              </a:ext>
            </a:extLst>
          </p:cNvPr>
          <p:cNvSpPr txBox="1"/>
          <p:nvPr/>
        </p:nvSpPr>
        <p:spPr>
          <a:xfrm>
            <a:off x="609600" y="1238250"/>
            <a:ext cx="1097280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복사 패딩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(Replication Padding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또는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Border Padding)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적용하여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 Matrix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합성곱하면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크기가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(6, 6)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동일해지고 외곽의 정보를 보존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08DF26-3ECD-0880-B454-50F2DD311209}"/>
              </a:ext>
            </a:extLst>
          </p:cNvPr>
          <p:cNvSpPr txBox="1"/>
          <p:nvPr/>
        </p:nvSpPr>
        <p:spPr>
          <a:xfrm>
            <a:off x="3219450" y="2480571"/>
            <a:ext cx="15253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3"/>
              </a:rPr>
              <a:t>wiki/Convolution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9688388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F56846-1533-2A55-5C19-83102AD52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0779EE00-BDC6-D7DA-8D76-F340B6DA61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2897" y="2409824"/>
            <a:ext cx="9373066" cy="3370315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FFA10B-6ACA-8BA7-599B-B4B6398DB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509BE78-3730-4DA3-EF72-0324173DE4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Linear Transformation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333C5AC-4094-D0BC-287F-D08E6335F933}"/>
              </a:ext>
            </a:extLst>
          </p:cNvPr>
          <p:cNvSpPr/>
          <p:nvPr/>
        </p:nvSpPr>
        <p:spPr>
          <a:xfrm>
            <a:off x="1542896" y="3019424"/>
            <a:ext cx="3257703" cy="276071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76774BE-B39A-B194-516F-D1E49D574F90}"/>
              </a:ext>
            </a:extLst>
          </p:cNvPr>
          <p:cNvSpPr/>
          <p:nvPr/>
        </p:nvSpPr>
        <p:spPr>
          <a:xfrm>
            <a:off x="8429785" y="3019424"/>
            <a:ext cx="2486178" cy="238125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8048C81-8986-7A52-7D93-FF046557FFC2}"/>
              </a:ext>
            </a:extLst>
          </p:cNvPr>
          <p:cNvSpPr/>
          <p:nvPr/>
        </p:nvSpPr>
        <p:spPr>
          <a:xfrm>
            <a:off x="5705635" y="3833813"/>
            <a:ext cx="1447640" cy="83343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4B104D5-E73E-BE36-FA38-C56A539E9A42}"/>
              </a:ext>
            </a:extLst>
          </p:cNvPr>
          <p:cNvCxnSpPr>
            <a:cxnSpLocks/>
          </p:cNvCxnSpPr>
          <p:nvPr/>
        </p:nvCxnSpPr>
        <p:spPr>
          <a:xfrm>
            <a:off x="4998720" y="4832985"/>
            <a:ext cx="33070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BD2443A-105B-89F6-33CC-FFDE5604FDEF}"/>
              </a:ext>
            </a:extLst>
          </p:cNvPr>
          <p:cNvSpPr txBox="1"/>
          <p:nvPr/>
        </p:nvSpPr>
        <p:spPr>
          <a:xfrm>
            <a:off x="552450" y="1489473"/>
            <a:ext cx="9857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입력 </a:t>
            </a:r>
            <a:r>
              <a:rPr lang="en-US" altLang="ko-KR" dirty="0"/>
              <a:t>Feature Matrix</a:t>
            </a:r>
            <a:r>
              <a:rPr lang="ko-KR" altLang="en-US" dirty="0"/>
              <a:t>는 </a:t>
            </a:r>
            <a:r>
              <a:rPr lang="en-US" altLang="ko-KR" dirty="0"/>
              <a:t>Kernel Matrix(3,3)</a:t>
            </a:r>
            <a:r>
              <a:rPr lang="ko-KR" altLang="en-US" dirty="0"/>
              <a:t>와 </a:t>
            </a:r>
            <a:r>
              <a:rPr lang="ko-KR" altLang="en-US" dirty="0" err="1"/>
              <a:t>합성곱으로</a:t>
            </a:r>
            <a:r>
              <a:rPr lang="ko-KR" altLang="en-US" dirty="0"/>
              <a:t> 출력</a:t>
            </a:r>
            <a:r>
              <a:rPr lang="en-US" altLang="ko-KR" dirty="0"/>
              <a:t> Feature Matrix</a:t>
            </a:r>
            <a:r>
              <a:rPr lang="ko-KR" altLang="en-US" dirty="0"/>
              <a:t>로 </a:t>
            </a:r>
            <a:r>
              <a:rPr lang="en-US" altLang="ko-KR" dirty="0"/>
              <a:t>Representation </a:t>
            </a:r>
            <a:r>
              <a:rPr lang="ko-KR" altLang="en-US" dirty="0"/>
              <a:t>됨</a:t>
            </a:r>
          </a:p>
        </p:txBody>
      </p:sp>
    </p:spTree>
    <p:extLst>
      <p:ext uri="{BB962C8B-B14F-4D97-AF65-F5344CB8AC3E}">
        <p14:creationId xmlns:p14="http://schemas.microsoft.com/office/powerpoint/2010/main" val="13395383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E6D9A-FA41-2C59-AE0E-CFB6CAB07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6C0C2E-1D6D-FA5D-9781-729FE3ADC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C8789F7-E6CE-8A13-8993-4DB80A7E30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475C2B3-6614-2911-5205-8AF7F278BD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8" y="2314205"/>
            <a:ext cx="7414903" cy="40618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E4D3D52-F5BF-4321-448A-4369B312C318}"/>
              </a:ext>
            </a:extLst>
          </p:cNvPr>
          <p:cNvSpPr txBox="1"/>
          <p:nvPr/>
        </p:nvSpPr>
        <p:spPr>
          <a:xfrm>
            <a:off x="558800" y="1340904"/>
            <a:ext cx="1093216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07BD27A-4D2C-F8D7-FB6E-09FF605403CA}"/>
              </a:ext>
            </a:extLst>
          </p:cNvPr>
          <p:cNvSpPr/>
          <p:nvPr/>
        </p:nvSpPr>
        <p:spPr>
          <a:xfrm>
            <a:off x="3738706" y="2666844"/>
            <a:ext cx="1818814" cy="17324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19684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0EB1D-5085-AFC4-6F4A-DB4276604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11C951-F23B-030B-42CD-686330B03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A1F8927-CE36-3EA4-0E56-63905BA37F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57ED0FE-C673-8670-DD6B-72F756A374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5547" y="1468523"/>
            <a:ext cx="8313804" cy="5022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65545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B718-B2C5-F0AB-9840-E7CA385C6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8BC45F-6F1B-D8CC-D6A1-D7B58965C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D15A284-89FC-2D1A-96C3-365A0E7B71D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A6A5AC5-260A-25A4-1B81-77CB5B32F4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1200" y="1902689"/>
            <a:ext cx="9000000" cy="4473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36760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AB736-7409-F14A-48A5-4808B9709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9DE165-9840-CCB8-9EAF-F6DB2D8AF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67A0152-FFB9-F91B-A5A0-9CC626BCAED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F9730E-C40F-FDBD-D9DB-C8C74C3672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0675" y="1470193"/>
            <a:ext cx="4017492" cy="4931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8259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B285C-0CA6-131F-A9B2-B3596C691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0AE04D-F73E-5763-E56E-89D4EE0C7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EF9E5AB-9B8D-5BDB-63A5-EF9B27F33F5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74D554-22FD-A6D7-0602-1D7924A91F94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채널이 있는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컬러이미지에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대한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CNN(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image-search/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cnn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/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이해하기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7F9A623C-EB2D-129A-153E-FF04C6788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3166" y="1978293"/>
            <a:ext cx="7538720" cy="4240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32153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F8F77-6C0A-3904-FA33-71DB87EB0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5CD0C6-E48F-5171-D0C0-42352B762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F803ED0-69E8-6928-5E8A-D2CF16B945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1E901BE-AB7F-22C0-899D-4319238947C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학습사이트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https://github.com/ancestor9/Image Classification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교과수업 진행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E898584-3848-4BB8-F2D9-0A00E87916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2688" y="2612298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B82832F4-B644-E38A-A3E9-D95C7FBA35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3063" y="2612298"/>
            <a:ext cx="31837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AA5B32-FCC9-8B3B-67E2-D75A02F17AE0}"/>
              </a:ext>
            </a:extLst>
          </p:cNvPr>
          <p:cNvSpPr txBox="1"/>
          <p:nvPr/>
        </p:nvSpPr>
        <p:spPr>
          <a:xfrm>
            <a:off x="1543050" y="2159141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single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011B06-493F-BCD7-F77B-C778CE2E4912}"/>
              </a:ext>
            </a:extLst>
          </p:cNvPr>
          <p:cNvSpPr txBox="1"/>
          <p:nvPr/>
        </p:nvSpPr>
        <p:spPr>
          <a:xfrm>
            <a:off x="6231792" y="2159141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641FE6-D0E5-C619-5DA7-ADF18731FA6E}"/>
              </a:ext>
            </a:extLst>
          </p:cNvPr>
          <p:cNvSpPr txBox="1"/>
          <p:nvPr/>
        </p:nvSpPr>
        <p:spPr>
          <a:xfrm>
            <a:off x="6231792" y="5808669"/>
            <a:ext cx="34532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동일한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합산하는 과정</a:t>
            </a:r>
          </a:p>
        </p:txBody>
      </p:sp>
    </p:spTree>
    <p:extLst>
      <p:ext uri="{BB962C8B-B14F-4D97-AF65-F5344CB8AC3E}">
        <p14:creationId xmlns:p14="http://schemas.microsoft.com/office/powerpoint/2010/main" val="4693793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B1A72-914C-D9A7-9C3C-43C78CF7D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6A3EA8-D156-E569-5624-904753BEF2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D2313B9-0D41-55BB-F412-8D624774E36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E2CA83C4-5821-CABF-224D-F3FAC3A8F8A8}"/>
              </a:ext>
            </a:extLst>
          </p:cNvPr>
          <p:cNvCxnSpPr>
            <a:cxnSpLocks/>
          </p:cNvCxnSpPr>
          <p:nvPr/>
        </p:nvCxnSpPr>
        <p:spPr>
          <a:xfrm>
            <a:off x="1331595" y="335661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10460A90-BD6B-863B-0569-8B354DF7A77F}"/>
                  </a:ext>
                </a:extLst>
              </p:cNvPr>
              <p:cNvSpPr/>
              <p:nvPr/>
            </p:nvSpPr>
            <p:spPr>
              <a:xfrm>
                <a:off x="2154555" y="2183130"/>
                <a:ext cx="2164080" cy="2346960"/>
              </a:xfrm>
              <a:prstGeom prst="roundRect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10460A90-BD6B-863B-0569-8B354DF7A77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4555" y="2183130"/>
                <a:ext cx="2164080" cy="234696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5C0228-358D-97CF-0F36-C8E4774BFD6B}"/>
                  </a:ext>
                </a:extLst>
              </p:cNvPr>
              <p:cNvSpPr txBox="1"/>
              <p:nvPr/>
            </p:nvSpPr>
            <p:spPr>
              <a:xfrm>
                <a:off x="5674995" y="2927062"/>
                <a:ext cx="62484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5C0228-358D-97CF-0F36-C8E4774BF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4995" y="2927062"/>
                <a:ext cx="624840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8D2AEAA-159D-2B11-F5C4-60FACE8B75A0}"/>
                  </a:ext>
                </a:extLst>
              </p:cNvPr>
              <p:cNvSpPr txBox="1"/>
              <p:nvPr/>
            </p:nvSpPr>
            <p:spPr>
              <a:xfrm>
                <a:off x="365760" y="2927062"/>
                <a:ext cx="80010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8D2AEAA-159D-2B11-F5C4-60FACE8B75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60" y="2927062"/>
                <a:ext cx="800100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EC94CD0-2572-3613-84A1-AC2578F94145}"/>
                  </a:ext>
                </a:extLst>
              </p:cNvPr>
              <p:cNvSpPr txBox="1"/>
              <p:nvPr/>
            </p:nvSpPr>
            <p:spPr>
              <a:xfrm>
                <a:off x="1925955" y="5241936"/>
                <a:ext cx="262128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ko-KR" altLang="en-US" sz="32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3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EC94CD0-2572-3613-84A1-AC2578F941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5955" y="5241936"/>
                <a:ext cx="2621280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8514DCB2-562C-5519-EC21-4EA56B154772}"/>
              </a:ext>
            </a:extLst>
          </p:cNvPr>
          <p:cNvCxnSpPr>
            <a:cxnSpLocks/>
          </p:cNvCxnSpPr>
          <p:nvPr/>
        </p:nvCxnSpPr>
        <p:spPr>
          <a:xfrm>
            <a:off x="6513195" y="335661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6F007877-F8DC-32AD-8C44-2284A7DDC9C0}"/>
                  </a:ext>
                </a:extLst>
              </p:cNvPr>
              <p:cNvSpPr/>
              <p:nvPr/>
            </p:nvSpPr>
            <p:spPr>
              <a:xfrm>
                <a:off x="7431405" y="2183130"/>
                <a:ext cx="2164080" cy="2346960"/>
              </a:xfrm>
              <a:prstGeom prst="roundRect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3200" b="0" i="1" dirty="0" smtClean="0">
                          <a:latin typeface="Cambria Math" panose="02040503050406030204" pitchFamily="18" charset="0"/>
                        </a:rPr>
                        <m:t>g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6F007877-F8DC-32AD-8C44-2284A7DDC9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1405" y="2183130"/>
                <a:ext cx="2164080" cy="2346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8FB77B-439D-D464-CE17-CB12E6F8A67E}"/>
                  </a:ext>
                </a:extLst>
              </p:cNvPr>
              <p:cNvSpPr txBox="1"/>
              <p:nvPr/>
            </p:nvSpPr>
            <p:spPr>
              <a:xfrm>
                <a:off x="10890783" y="2927062"/>
                <a:ext cx="59055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8FB77B-439D-D464-CE17-CB12E6F8A6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90783" y="2927062"/>
                <a:ext cx="590550" cy="5847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C6FED0-1508-500C-4952-E3FBF47F8B3B}"/>
                  </a:ext>
                </a:extLst>
              </p:cNvPr>
              <p:cNvSpPr txBox="1"/>
              <p:nvPr/>
            </p:nvSpPr>
            <p:spPr>
              <a:xfrm>
                <a:off x="7431405" y="5213659"/>
                <a:ext cx="262128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3200" b="0" i="1" dirty="0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ko-KR" altLang="en-US" sz="32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ko-KR" sz="3200" b="0" i="1" dirty="0" smtClean="0">
                          <a:latin typeface="Cambria Math" panose="02040503050406030204" pitchFamily="18" charset="0"/>
                        </a:rPr>
                        <m:t>g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C6FED0-1508-500C-4952-E3FBF47F8B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1405" y="5213659"/>
                <a:ext cx="2621280" cy="58477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923982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3436E-AD26-A468-3DD1-936CDE57F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2763A47-EBF4-66BE-6CA3-D462E5AD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24BF91A-2317-B6DF-AF0D-C3CF326A6F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3CDD7F5-5E7E-A439-0189-2DE625BE9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015" y="1717450"/>
            <a:ext cx="7982459" cy="255872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E8C7DD6-2189-B79E-911A-96DA77508C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5876" y="4228551"/>
            <a:ext cx="7936735" cy="1912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81482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76FEF-78EE-44A5-2AA8-B58C4EE7B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86F614-D7E5-C32C-DBA3-8B4425D0E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DEBB8C4-EB3A-7146-BD71-9E5A3DCDAE2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B493024-8CAB-4316-C57C-3E230677EA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546" y="2428767"/>
            <a:ext cx="2598503" cy="2794423"/>
          </a:xfrm>
          <a:prstGeom prst="rect">
            <a:avLst/>
          </a:prstGeom>
        </p:spPr>
      </p:pic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FAC10E04-853C-47EB-871D-F4BE3414E8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1481947"/>
              </p:ext>
            </p:extLst>
          </p:nvPr>
        </p:nvGraphicFramePr>
        <p:xfrm>
          <a:off x="4720662" y="1825844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98739568-9AF2-1CE4-75FB-91FB3C3135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3725685"/>
              </p:ext>
            </p:extLst>
          </p:nvPr>
        </p:nvGraphicFramePr>
        <p:xfrm>
          <a:off x="4720662" y="3537693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566EDAE3-4767-EED0-CBF5-AA17C01489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0741551"/>
              </p:ext>
            </p:extLst>
          </p:nvPr>
        </p:nvGraphicFramePr>
        <p:xfrm>
          <a:off x="4720662" y="5249541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309FC970-6C0C-5210-5CF8-DF8A8688AA9F}"/>
              </a:ext>
            </a:extLst>
          </p:cNvPr>
          <p:cNvCxnSpPr/>
          <p:nvPr/>
        </p:nvCxnSpPr>
        <p:spPr>
          <a:xfrm>
            <a:off x="6448425" y="242876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5" name="그림 14">
            <a:extLst>
              <a:ext uri="{FF2B5EF4-FFF2-40B4-BE49-F238E27FC236}">
                <a16:creationId xmlns:a16="http://schemas.microsoft.com/office/drawing/2014/main" id="{D7FCB08B-66F4-87B4-F20A-1C1F228A178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1972671"/>
            <a:ext cx="1275596" cy="932453"/>
          </a:xfrm>
          <a:prstGeom prst="rect">
            <a:avLst/>
          </a:prstGeom>
        </p:spPr>
      </p:pic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A3FF9ECC-D489-D531-04CB-660570D27766}"/>
              </a:ext>
            </a:extLst>
          </p:cNvPr>
          <p:cNvCxnSpPr/>
          <p:nvPr/>
        </p:nvCxnSpPr>
        <p:spPr>
          <a:xfrm>
            <a:off x="6448425" y="4085469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7" name="그림 16">
            <a:extLst>
              <a:ext uri="{FF2B5EF4-FFF2-40B4-BE49-F238E27FC236}">
                <a16:creationId xmlns:a16="http://schemas.microsoft.com/office/drawing/2014/main" id="{ED2C4F28-A8D7-E629-52F3-B22D35BF1DB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3629373"/>
            <a:ext cx="1275596" cy="932453"/>
          </a:xfrm>
          <a:prstGeom prst="rect">
            <a:avLst/>
          </a:prstGeom>
        </p:spPr>
      </p:pic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076D93C3-BD31-7E72-215F-5FE172046051}"/>
              </a:ext>
            </a:extLst>
          </p:cNvPr>
          <p:cNvCxnSpPr/>
          <p:nvPr/>
        </p:nvCxnSpPr>
        <p:spPr>
          <a:xfrm>
            <a:off x="6448425" y="572441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8C2480E6-96FC-6497-206C-4BFB17FE1934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5268321"/>
            <a:ext cx="1275596" cy="93245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C829464-9279-84EB-6813-6716E7DE07F4}"/>
              </a:ext>
            </a:extLst>
          </p:cNvPr>
          <p:cNvSpPr txBox="1"/>
          <p:nvPr/>
        </p:nvSpPr>
        <p:spPr>
          <a:xfrm>
            <a:off x="4558164" y="1446528"/>
            <a:ext cx="18902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Horizontal/Diagonal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9C038D-B952-75DF-7487-E820508392FE}"/>
              </a:ext>
            </a:extLst>
          </p:cNvPr>
          <p:cNvSpPr txBox="1"/>
          <p:nvPr/>
        </p:nvSpPr>
        <p:spPr>
          <a:xfrm>
            <a:off x="4463200" y="3170454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Vertical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957353-B9AF-67E0-FD62-F604366BA6B8}"/>
              </a:ext>
            </a:extLst>
          </p:cNvPr>
          <p:cNvSpPr txBox="1"/>
          <p:nvPr/>
        </p:nvSpPr>
        <p:spPr>
          <a:xfrm>
            <a:off x="4457111" y="489438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Loop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B3822090-781C-26D4-44D4-D099E1A52510}"/>
              </a:ext>
            </a:extLst>
          </p:cNvPr>
          <p:cNvCxnSpPr/>
          <p:nvPr/>
        </p:nvCxnSpPr>
        <p:spPr>
          <a:xfrm>
            <a:off x="3818936" y="4075836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F29216AF-ED58-F476-6F5F-2AE0673A1E56}"/>
              </a:ext>
            </a:extLst>
          </p:cNvPr>
          <p:cNvCxnSpPr>
            <a:cxnSpLocks/>
          </p:cNvCxnSpPr>
          <p:nvPr/>
        </p:nvCxnSpPr>
        <p:spPr>
          <a:xfrm>
            <a:off x="3742736" y="5495061"/>
            <a:ext cx="543514" cy="2293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66498FB2-D6A6-1546-F077-2010C4599970}"/>
              </a:ext>
            </a:extLst>
          </p:cNvPr>
          <p:cNvCxnSpPr>
            <a:cxnSpLocks/>
          </p:cNvCxnSpPr>
          <p:nvPr/>
        </p:nvCxnSpPr>
        <p:spPr>
          <a:xfrm flipV="1">
            <a:off x="3818936" y="2428767"/>
            <a:ext cx="467314" cy="2183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화살표: 오른쪽 28">
            <a:extLst>
              <a:ext uri="{FF2B5EF4-FFF2-40B4-BE49-F238E27FC236}">
                <a16:creationId xmlns:a16="http://schemas.microsoft.com/office/drawing/2014/main" id="{874F86C5-F736-36B6-94DA-A81A5A3E5C42}"/>
              </a:ext>
            </a:extLst>
          </p:cNvPr>
          <p:cNvSpPr/>
          <p:nvPr/>
        </p:nvSpPr>
        <p:spPr>
          <a:xfrm>
            <a:off x="9187330" y="2347791"/>
            <a:ext cx="2598503" cy="3141743"/>
          </a:xfrm>
          <a:prstGeom prst="rightArrow">
            <a:avLst>
              <a:gd name="adj1" fmla="val 73016"/>
              <a:gd name="adj2" fmla="val 50000"/>
            </a:avLst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각각의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Kernel (Filter)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결과를 구한 후 모두 더하면</a:t>
            </a:r>
          </a:p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176815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904758-D90C-D4C6-EB41-2CB55EACE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AAE4BC-6ECA-D1AC-38AB-C93BACD30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CFAE41E-0C23-D25B-F5A3-DA67C87B820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6D3A29D-2578-CF1A-0E4C-BF36B1ADF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6805" y="2219225"/>
            <a:ext cx="5822999" cy="33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77681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3433B-C0D4-0981-2B95-FD5877580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DEC314-7FED-69FA-5CBC-E48F1CF6D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9DFE7A3-DBCC-EA3B-A967-4C786A77D9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45F4F4F-5BF8-05D7-4FEB-E31A73BEC5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2430" y="2310714"/>
            <a:ext cx="9181581" cy="390810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D30DB2E-4ED6-F150-9668-12DD706B081F}"/>
              </a:ext>
            </a:extLst>
          </p:cNvPr>
          <p:cNvSpPr txBox="1"/>
          <p:nvPr/>
        </p:nvSpPr>
        <p:spPr>
          <a:xfrm>
            <a:off x="475645" y="1248422"/>
            <a:ext cx="1129725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28 by 28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최종적으로는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4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 by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이미지로 특성을 표현한 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Connected Network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다시 표현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(Data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Rpresentation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What is CNN?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354806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7A9EA-7B98-FDFF-D632-5B74C05F4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9D6E01-CC06-45F3-0DF9-854F5E91B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5D5D00C-8810-FA27-6317-9E2B3F7CB8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AutoShape 2" descr="image">
            <a:extLst>
              <a:ext uri="{FF2B5EF4-FFF2-40B4-BE49-F238E27FC236}">
                <a16:creationId xmlns:a16="http://schemas.microsoft.com/office/drawing/2014/main" id="{91F0AC56-1AD8-E77D-393F-3FA0F42C87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B5D35AD-5B9D-3D46-8ED8-43517A6EED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490" y="1596194"/>
            <a:ext cx="9315406" cy="4518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0292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D9480-18CF-B9A7-CCAF-349FDA51A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C7A2EA71-FBFE-0880-F545-5E313F254C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786" y="1426419"/>
            <a:ext cx="8575192" cy="4974967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C1D34F-18C8-28AB-C0F1-93CE7D56E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9144C6-22C4-6B31-706F-C163569EC23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Image Classification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C4B1D0B-EF63-6FF1-0A87-488C8FD4BEFA}"/>
              </a:ext>
            </a:extLst>
          </p:cNvPr>
          <p:cNvSpPr txBox="1"/>
          <p:nvPr/>
        </p:nvSpPr>
        <p:spPr>
          <a:xfrm>
            <a:off x="5061355" y="4472286"/>
            <a:ext cx="5768052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2D62138-00D1-EFBB-712E-D7834DDFEB3F}"/>
              </a:ext>
            </a:extLst>
          </p:cNvPr>
          <p:cNvSpPr/>
          <p:nvPr/>
        </p:nvSpPr>
        <p:spPr>
          <a:xfrm>
            <a:off x="568786" y="3981450"/>
            <a:ext cx="4003214" cy="25979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1F511E3F-A021-6230-AD76-2912813CF33B}"/>
              </a:ext>
            </a:extLst>
          </p:cNvPr>
          <p:cNvSpPr/>
          <p:nvPr/>
        </p:nvSpPr>
        <p:spPr>
          <a:xfrm>
            <a:off x="4572000" y="3567143"/>
            <a:ext cx="1149812" cy="39525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13117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DBDC2-A382-4A4D-157D-EE18505D7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F0CA468-3996-572D-81CB-6453D1224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68A2A7A-D234-221B-8C55-A5C68FC94F7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Image Classification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2E3F41B-E085-7A20-6E9B-106114ADA7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9913122"/>
              </p:ext>
            </p:extLst>
          </p:nvPr>
        </p:nvGraphicFramePr>
        <p:xfrm>
          <a:off x="741182" y="1723456"/>
          <a:ext cx="11013938" cy="4244156"/>
        </p:xfrm>
        <a:graphic>
          <a:graphicData uri="http://schemas.openxmlformats.org/drawingml/2006/table">
            <a:tbl>
              <a:tblPr/>
              <a:tblGrid>
                <a:gridCol w="565509">
                  <a:extLst>
                    <a:ext uri="{9D8B030D-6E8A-4147-A177-3AD203B41FA5}">
                      <a16:colId xmlns:a16="http://schemas.microsoft.com/office/drawing/2014/main" val="1466050574"/>
                    </a:ext>
                  </a:extLst>
                </a:gridCol>
                <a:gridCol w="1761629">
                  <a:extLst>
                    <a:ext uri="{9D8B030D-6E8A-4147-A177-3AD203B41FA5}">
                      <a16:colId xmlns:a16="http://schemas.microsoft.com/office/drawing/2014/main" val="1415194089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88953976"/>
                    </a:ext>
                  </a:extLst>
                </a:gridCol>
                <a:gridCol w="1178560">
                  <a:extLst>
                    <a:ext uri="{9D8B030D-6E8A-4147-A177-3AD203B41FA5}">
                      <a16:colId xmlns:a16="http://schemas.microsoft.com/office/drawing/2014/main" val="470009430"/>
                    </a:ext>
                  </a:extLst>
                </a:gridCol>
                <a:gridCol w="1127760">
                  <a:extLst>
                    <a:ext uri="{9D8B030D-6E8A-4147-A177-3AD203B41FA5}">
                      <a16:colId xmlns:a16="http://schemas.microsoft.com/office/drawing/2014/main" val="1352959133"/>
                    </a:ext>
                  </a:extLst>
                </a:gridCol>
                <a:gridCol w="5313680">
                  <a:extLst>
                    <a:ext uri="{9D8B030D-6E8A-4147-A177-3AD203B41FA5}">
                      <a16:colId xmlns:a16="http://schemas.microsoft.com/office/drawing/2014/main" val="2542550803"/>
                    </a:ext>
                  </a:extLst>
                </a:gridCol>
              </a:tblGrid>
              <a:tr h="29846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 이름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함수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 형태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 형태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Output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가중치 초기화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Variance </a:t>
                      </a:r>
                    </a:p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Scaling)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주요 역할 및 특징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2553702"/>
                  </a:ext>
                </a:extLst>
              </a:tr>
              <a:tr h="33381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0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(</a:t>
                      </a:r>
                      <a:r>
                        <a:rPr lang="ko-KR" altLang="en-US" sz="1200" b="1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-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세로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28, 1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채널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흑백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입력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1780401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 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8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이미지의 기본 특징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면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4792075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(2,2)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영역에서 가장 큰 값만 추출하여 이미지 크기를 절반으로 축소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9161666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16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더 복잡하고 고차원적인 특징 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8943306"/>
                  </a:ext>
                </a:extLst>
              </a:tr>
              <a:tr h="47519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4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크기를 다시 한번 절반으로 축소하여 핵심 특징만 압축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0094793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5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Flatten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평탄화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 특징 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(4,4,16) = 4*4*16 = 256)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차원의 긴 벡터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줄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로 펼침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0645248"/>
                  </a:ext>
                </a:extLst>
              </a:tr>
              <a:tr h="54588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6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Dense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출력층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256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개의 특징을 받아 최종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 클래스에 대한 확률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Softmax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계산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85990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65295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05597-2E63-8680-97C9-8A0379C36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265282-DEE6-0646-E27C-CAB0D336B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86F3F87-E80C-B7E8-19A7-5F227D10B3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714A798-1EC4-0DBB-1C3A-3CF3FAAABB8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개념적이고 직관적으로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https://poloclub.github.io/cnn-explainer/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에서 이해하자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4D1AA27-A75B-37EC-B74E-57B16DF77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25" y="1841763"/>
            <a:ext cx="9553575" cy="4194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6418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39BB7-974B-332B-B2D3-8F848B699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486036-67A2-7FAF-876B-EF23FFD76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FEC2FC1-D246-D6ED-7695-386F0C4FC4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9A7F2C-B040-9181-C381-0EAF79249ED2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https://tensorspace.org/html/playground/lenet.html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7F37AE7-162E-24C9-7A48-A38714B8D7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6811" y="1799944"/>
            <a:ext cx="4032690" cy="4645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7376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1A4A9-C8E4-CEAE-D281-5907F964D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270069-61B1-19EE-E56A-685854865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6393488-7234-FE8B-4CA8-0977643A766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585D06-EBAA-D2AC-1891-2DBE98D5B6A3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https://stanford.edu/~shervine/teaching/cs-230/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A294C0E-8F2F-FF9B-4E00-D850332D30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2575" y="1886593"/>
            <a:ext cx="8733012" cy="4489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0566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7DB1F-676C-0784-635D-DC8BC8B39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9DA331-3E36-5837-C27C-09B919AF8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2C22D0A-1313-B903-6F04-E982F4C627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9F0B72-DDC7-18AA-B22F-73829F19987C}"/>
              </a:ext>
            </a:extLst>
          </p:cNvPr>
          <p:cNvSpPr txBox="1"/>
          <p:nvPr/>
        </p:nvSpPr>
        <p:spPr>
          <a:xfrm>
            <a:off x="644986" y="1236259"/>
            <a:ext cx="11012385" cy="10749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유튜브 동영상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Kernel Size and Why Everyone Loves 3x3 - Neural Network Convolution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이해하자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입력데이터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(8,6,6)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각 채널에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Kernel(3,3)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동일하게 적용하여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합산 값을 출력하는 것을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kernel)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반복하면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tensor(8,4,4)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생성하는 과정을 이해하자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4ECD689-EE52-C02C-F285-18FE07FE3A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1586" y="2353214"/>
            <a:ext cx="6533557" cy="34951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13C82CD-F634-E04D-08CC-C281BB8C06F5}"/>
              </a:ext>
            </a:extLst>
          </p:cNvPr>
          <p:cNvSpPr txBox="1"/>
          <p:nvPr/>
        </p:nvSpPr>
        <p:spPr>
          <a:xfrm>
            <a:off x="644986" y="2703734"/>
            <a:ext cx="4147994" cy="89370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(8,3,3),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kernel(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색상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(8,4,4)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1F0DC8-FCD6-0460-7E81-40F156D07A60}"/>
              </a:ext>
            </a:extLst>
          </p:cNvPr>
          <p:cNvSpPr txBox="1"/>
          <p:nvPr/>
        </p:nvSpPr>
        <p:spPr>
          <a:xfrm>
            <a:off x="591646" y="4909491"/>
            <a:ext cx="4201334" cy="893706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size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(20,4,4)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화살표: 아래쪽 10">
            <a:extLst>
              <a:ext uri="{FF2B5EF4-FFF2-40B4-BE49-F238E27FC236}">
                <a16:creationId xmlns:a16="http://schemas.microsoft.com/office/drawing/2014/main" id="{29CD3A76-F298-88C6-B9BA-F1D593B0FB72}"/>
              </a:ext>
            </a:extLst>
          </p:cNvPr>
          <p:cNvSpPr/>
          <p:nvPr/>
        </p:nvSpPr>
        <p:spPr>
          <a:xfrm>
            <a:off x="1657453" y="3859237"/>
            <a:ext cx="495300" cy="769620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5A5A8A-B0F5-B4B1-8BA3-06BCBBF93A66}"/>
              </a:ext>
            </a:extLst>
          </p:cNvPr>
          <p:cNvSpPr txBox="1"/>
          <p:nvPr/>
        </p:nvSpPr>
        <p:spPr>
          <a:xfrm>
            <a:off x="2160373" y="3882097"/>
            <a:ext cx="2685947" cy="617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만약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을 적용하면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</a:p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고차원의 특징을 추출</a:t>
            </a:r>
          </a:p>
        </p:txBody>
      </p:sp>
    </p:spTree>
    <p:extLst>
      <p:ext uri="{BB962C8B-B14F-4D97-AF65-F5344CB8AC3E}">
        <p14:creationId xmlns:p14="http://schemas.microsoft.com/office/powerpoint/2010/main" val="375190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A03301-AE56-CCC2-E058-B6282D923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90CF469-4F35-2832-B86C-98FE6895C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882B39C-9C81-C646-1138-B35886C437E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0494596-39F6-615D-9013-605F03C9C1FC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https://tensorspace.org/html/playground/alexnet.html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784A6AC-36E5-6717-E624-829B1E3EE9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1633" y="2002698"/>
            <a:ext cx="5132427" cy="3895526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D6D5C0B1-50E1-7852-0909-A389784D92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193" y="3079433"/>
            <a:ext cx="2162175" cy="2162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22203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023E6-C186-5967-405A-469653BF4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501DF0-79A4-9D88-88E3-47B8FAEBD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54753E9-190B-64FD-1066-166374E976B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A295DC-FE1F-4E93-BF82-21DBF8647E1C}"/>
              </a:ext>
            </a:extLst>
          </p:cNvPr>
          <p:cNvSpPr txBox="1"/>
          <p:nvPr/>
        </p:nvSpPr>
        <p:spPr>
          <a:xfrm>
            <a:off x="615386" y="4043238"/>
            <a:ext cx="5480613" cy="30758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conv1 = nn.Conv2d(1, 6, 5)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6 kernels (5,5) size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933C2A-CDC7-01E7-A9FB-0129F1C095B1}"/>
              </a:ext>
            </a:extLst>
          </p:cNvPr>
          <p:cNvSpPr txBox="1"/>
          <p:nvPr/>
        </p:nvSpPr>
        <p:spPr>
          <a:xfrm>
            <a:off x="4284573" y="5235941"/>
            <a:ext cx="3106268" cy="30232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 = nn.Conv2d(6, 16, 5)</a:t>
            </a:r>
            <a:endParaRPr lang="ko-KR" altLang="en-US" sz="1700" dirty="0">
              <a:solidFill>
                <a:srgbClr val="0070C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55B8366-0E8D-4FF5-CC85-F97104EC05B8}"/>
              </a:ext>
            </a:extLst>
          </p:cNvPr>
          <p:cNvSpPr txBox="1"/>
          <p:nvPr/>
        </p:nvSpPr>
        <p:spPr>
          <a:xfrm>
            <a:off x="2539648" y="4450501"/>
            <a:ext cx="5213702" cy="509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c1 = </a:t>
            </a:r>
            <a:r>
              <a:rPr lang="en-US" altLang="ko-KR" sz="17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7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(conv1(input))</a:t>
            </a:r>
          </a:p>
          <a:p>
            <a:pPr>
              <a:lnSpc>
                <a:spcPts val="1575"/>
              </a:lnSpc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s2 = max_pool2d(c1, (2, 2))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default stride 2</a:t>
            </a:r>
            <a:endParaRPr lang="en-US" altLang="ko-KR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C9410A-0A63-BE47-A995-323F026ECD29}"/>
              </a:ext>
            </a:extLst>
          </p:cNvPr>
          <p:cNvSpPr txBox="1"/>
          <p:nvPr/>
        </p:nvSpPr>
        <p:spPr>
          <a:xfrm>
            <a:off x="5652526" y="5609153"/>
            <a:ext cx="3106268" cy="509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c3 = 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(conv2(s2))</a:t>
            </a:r>
          </a:p>
          <a:p>
            <a:pPr>
              <a:lnSpc>
                <a:spcPts val="1575"/>
              </a:lnSpc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s4 = max_pool2d(c3, 2)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1FB92E3-A8B3-1860-A8D2-D3C01D75F34D}"/>
              </a:ext>
            </a:extLst>
          </p:cNvPr>
          <p:cNvSpPr txBox="1"/>
          <p:nvPr/>
        </p:nvSpPr>
        <p:spPr>
          <a:xfrm>
            <a:off x="7629878" y="4316088"/>
            <a:ext cx="2209800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f5 = 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(fc1(s4))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CDE3A0-3FAD-7D02-45A2-9581E9FB538A}"/>
              </a:ext>
            </a:extLst>
          </p:cNvPr>
          <p:cNvSpPr txBox="1"/>
          <p:nvPr/>
        </p:nvSpPr>
        <p:spPr>
          <a:xfrm>
            <a:off x="7601303" y="3984329"/>
            <a:ext cx="3725393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fc1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(16 * 5 * 5, 120)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DAB45F0-CC27-8FA1-476D-1076192763AC}"/>
              </a:ext>
            </a:extLst>
          </p:cNvPr>
          <p:cNvSpPr txBox="1"/>
          <p:nvPr/>
        </p:nvSpPr>
        <p:spPr>
          <a:xfrm>
            <a:off x="8556213" y="5051686"/>
            <a:ext cx="3048000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f6 = 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(fc2(f5))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91E201A-8E26-8118-AACB-8EB48FD819CF}"/>
              </a:ext>
            </a:extLst>
          </p:cNvPr>
          <p:cNvSpPr txBox="1"/>
          <p:nvPr/>
        </p:nvSpPr>
        <p:spPr>
          <a:xfrm>
            <a:off x="8555860" y="4740643"/>
            <a:ext cx="2807818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fc2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(120, 84)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69CA255-2078-8A4F-5EC2-BB49E33B223E}"/>
              </a:ext>
            </a:extLst>
          </p:cNvPr>
          <p:cNvSpPr txBox="1"/>
          <p:nvPr/>
        </p:nvSpPr>
        <p:spPr>
          <a:xfrm>
            <a:off x="9416374" y="5491889"/>
            <a:ext cx="2880401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fc3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(84, 10)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5E3EEAF-ECCE-33E6-4697-30873C0C8140}"/>
              </a:ext>
            </a:extLst>
          </p:cNvPr>
          <p:cNvSpPr txBox="1"/>
          <p:nvPr/>
        </p:nvSpPr>
        <p:spPr>
          <a:xfrm>
            <a:off x="9444949" y="5668033"/>
            <a:ext cx="30480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output = fc3(f6)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DC775A2-21E3-1FE0-519E-60744981280A}"/>
              </a:ext>
            </a:extLst>
          </p:cNvPr>
          <p:cNvSpPr txBox="1"/>
          <p:nvPr/>
        </p:nvSpPr>
        <p:spPr>
          <a:xfrm>
            <a:off x="153424" y="2407301"/>
            <a:ext cx="9239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157CDA5-0BF4-B589-9B91-C2BC97CA256B}"/>
              </a:ext>
            </a:extLst>
          </p:cNvPr>
          <p:cNvSpPr txBox="1"/>
          <p:nvPr/>
        </p:nvSpPr>
        <p:spPr>
          <a:xfrm>
            <a:off x="10906478" y="2407301"/>
            <a:ext cx="933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output</a:t>
            </a:r>
            <a:endParaRPr lang="ko-KR" altLang="en-US" dirty="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E6EE1B3C-BC1C-E1CA-4D4E-02977B303CBC}"/>
              </a:ext>
            </a:extLst>
          </p:cNvPr>
          <p:cNvCxnSpPr>
            <a:endCxn id="37" idx="1"/>
          </p:cNvCxnSpPr>
          <p:nvPr/>
        </p:nvCxnSpPr>
        <p:spPr>
          <a:xfrm>
            <a:off x="914400" y="2591967"/>
            <a:ext cx="99920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146" name="Picture 2" descr="convnet">
            <a:extLst>
              <a:ext uri="{FF2B5EF4-FFF2-40B4-BE49-F238E27FC236}">
                <a16:creationId xmlns:a16="http://schemas.microsoft.com/office/drawing/2014/main" id="{DD331A75-EF93-8703-2D1D-4A080F02D2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8261" y="1212407"/>
            <a:ext cx="9623988" cy="26645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BDDCEE17-4310-5899-53B6-FDB293EF6933}"/>
              </a:ext>
            </a:extLst>
          </p:cNvPr>
          <p:cNvCxnSpPr/>
          <p:nvPr/>
        </p:nvCxnSpPr>
        <p:spPr>
          <a:xfrm>
            <a:off x="6938459" y="3979175"/>
            <a:ext cx="2981325" cy="225932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0545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7" grpId="0"/>
      <p:bldP spid="21" grpId="0"/>
      <p:bldP spid="23" grpId="0"/>
      <p:bldP spid="25" grpId="0"/>
      <p:bldP spid="27" grpId="0"/>
      <p:bldP spid="29" grpId="0"/>
      <p:bldP spid="31" grpId="0"/>
      <p:bldP spid="33" grpId="0"/>
    </p:bldLst>
  </p:timing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5228</TotalTime>
  <Words>953</Words>
  <Application>Microsoft Office PowerPoint</Application>
  <PresentationFormat>와이드스크린</PresentationFormat>
  <Paragraphs>187</Paragraphs>
  <Slides>25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33" baseType="lpstr">
      <vt:lpstr>D2Coding</vt:lpstr>
      <vt:lpstr>맑은 고딕</vt:lpstr>
      <vt:lpstr>맑은 고딕 Semilight</vt:lpstr>
      <vt:lpstr>Batang</vt:lpstr>
      <vt:lpstr>Arial</vt:lpstr>
      <vt:lpstr>Cambria Math</vt:lpstr>
      <vt:lpstr>Wingdings</vt:lpstr>
      <vt:lpstr>WelcomeDoc</vt:lpstr>
      <vt:lpstr>Image Classification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104</cp:revision>
  <dcterms:created xsi:type="dcterms:W3CDTF">2026-04-06T01:00:39Z</dcterms:created>
  <dcterms:modified xsi:type="dcterms:W3CDTF">2026-06-11T14:45:04Z</dcterms:modified>
  <cp:version/>
</cp:coreProperties>
</file>