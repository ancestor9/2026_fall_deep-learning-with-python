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1"/>
  </p:notesMasterIdLst>
  <p:handoutMasterIdLst>
    <p:handoutMasterId r:id="rId42"/>
  </p:handoutMasterIdLst>
  <p:sldIdLst>
    <p:sldId id="256" r:id="rId2"/>
    <p:sldId id="1128" r:id="rId3"/>
    <p:sldId id="1129" r:id="rId4"/>
    <p:sldId id="1130" r:id="rId5"/>
    <p:sldId id="1132" r:id="rId6"/>
    <p:sldId id="1131" r:id="rId7"/>
    <p:sldId id="978" r:id="rId8"/>
    <p:sldId id="1117" r:id="rId9"/>
    <p:sldId id="1114" r:id="rId10"/>
    <p:sldId id="1112" r:id="rId11"/>
    <p:sldId id="1105" r:id="rId12"/>
    <p:sldId id="1095" r:id="rId13"/>
    <p:sldId id="1096" r:id="rId14"/>
    <p:sldId id="1097" r:id="rId15"/>
    <p:sldId id="1103" r:id="rId16"/>
    <p:sldId id="1107" r:id="rId17"/>
    <p:sldId id="1115" r:id="rId18"/>
    <p:sldId id="1098" r:id="rId19"/>
    <p:sldId id="1099" r:id="rId20"/>
    <p:sldId id="1100" r:id="rId21"/>
    <p:sldId id="1101" r:id="rId22"/>
    <p:sldId id="1127" r:id="rId23"/>
    <p:sldId id="1106" r:id="rId24"/>
    <p:sldId id="1116" r:id="rId25"/>
    <p:sldId id="1102" r:id="rId26"/>
    <p:sldId id="1104" r:id="rId27"/>
    <p:sldId id="1124" r:id="rId28"/>
    <p:sldId id="1125" r:id="rId29"/>
    <p:sldId id="1126" r:id="rId30"/>
    <p:sldId id="1111" r:id="rId31"/>
    <p:sldId id="1113" r:id="rId32"/>
    <p:sldId id="1109" r:id="rId33"/>
    <p:sldId id="1110" r:id="rId34"/>
    <p:sldId id="1118" r:id="rId35"/>
    <p:sldId id="1119" r:id="rId36"/>
    <p:sldId id="1120" r:id="rId37"/>
    <p:sldId id="1121" r:id="rId38"/>
    <p:sldId id="1122" r:id="rId39"/>
    <p:sldId id="1123" r:id="rId40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28"/>
            <p14:sldId id="1129"/>
            <p14:sldId id="1130"/>
            <p14:sldId id="1132"/>
            <p14:sldId id="1131"/>
            <p14:sldId id="978"/>
            <p14:sldId id="1117"/>
            <p14:sldId id="1114"/>
            <p14:sldId id="1112"/>
            <p14:sldId id="1105"/>
            <p14:sldId id="1095"/>
            <p14:sldId id="1096"/>
            <p14:sldId id="1097"/>
            <p14:sldId id="1103"/>
            <p14:sldId id="1107"/>
            <p14:sldId id="1115"/>
            <p14:sldId id="1098"/>
            <p14:sldId id="1099"/>
            <p14:sldId id="1100"/>
            <p14:sldId id="1101"/>
            <p14:sldId id="1127"/>
            <p14:sldId id="1106"/>
            <p14:sldId id="1116"/>
            <p14:sldId id="1102"/>
            <p14:sldId id="1104"/>
            <p14:sldId id="1124"/>
            <p14:sldId id="1125"/>
            <p14:sldId id="1126"/>
            <p14:sldId id="1111"/>
            <p14:sldId id="1113"/>
            <p14:sldId id="1109"/>
            <p14:sldId id="1110"/>
            <p14:sldId id="1118"/>
            <p14:sldId id="1119"/>
            <p14:sldId id="1120"/>
            <p14:sldId id="1121"/>
            <p14:sldId id="1122"/>
            <p14:sldId id="1123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392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handoutMaster" Target="handoutMasters/handout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commentAuthors" Target="comment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2026-06-25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2026-06-25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2026-06-25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6/25/2026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2026-06-25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deeplearningwithpython.io/chapters/chapter08_image-classification/" TargetMode="Externa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jpeg"/><Relationship Id="rId5" Type="http://schemas.openxmlformats.org/officeDocument/2006/relationships/image" Target="../media/image50.png"/><Relationship Id="rId4" Type="http://schemas.openxmlformats.org/officeDocument/2006/relationships/image" Target="../media/image4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nvolution" TargetMode="External"/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www.pinecone.io/learn/series/image-search/cnn/" TargetMode="Externa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gif"/><Relationship Id="rId2" Type="http://schemas.openxmlformats.org/officeDocument/2006/relationships/hyperlink" Target="https://github.com/ancestor9/2025_Winter_Deep-Learning-with-TensorFlow/tree/main/20260107_03_Image%20Classification" TargetMode="Externa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jDe5BAsT2-Y?t=34" TargetMode="Externa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https://poloclub.github.io/cnn-explainer/" TargetMode="Externa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gif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gif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gif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tensorspace.org/html/playground/lenet.html" TargetMode="Externa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hyperlink" Target="https://stanford.edu/~shervine/teaching/cs-230/" TargetMode="Externa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hyperlink" Target="https://www.youtube.com/watch?v=V9ZYDCnItr0&amp;t=76s" TargetMode="Externa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hyperlink" Target="https://tensorspace.org/html/playground/alexne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9.jpe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hyperlink" Target="https://www.youtube.com/watch?v=ag3DLKsl2vk&amp;list=PLeo1K3hjS3uu7CxAacxVndI4bE_o3BDtO&amp;index=31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Image Classification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2210395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CNN(convolutional neural networks, </a:t>
            </a:r>
            <a:r>
              <a:rPr lang="en-US" altLang="ko-KR" sz="2400" dirty="0" err="1">
                <a:solidFill>
                  <a:schemeClr val="bg1"/>
                </a:solidFill>
              </a:rPr>
              <a:t>ConvNets</a:t>
            </a:r>
            <a:r>
              <a:rPr lang="en-US" altLang="ko-KR" sz="2400" dirty="0">
                <a:solidFill>
                  <a:schemeClr val="bg1"/>
                </a:solidFill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5BF02-C190-10E8-815C-000469F8D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4D914B7-4A65-B108-F60D-95D5329BE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A088DC1-60C5-224A-7C6C-E0C3BCE108F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흰색 표면에 검은색 프레임 선글라스">
            <a:extLst>
              <a:ext uri="{FF2B5EF4-FFF2-40B4-BE49-F238E27FC236}">
                <a16:creationId xmlns:a16="http://schemas.microsoft.com/office/drawing/2014/main" id="{EFE2100A-1A19-C1FE-D2B3-C9FACFC56E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085" y="3427491"/>
            <a:ext cx="3347924" cy="297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white and brown corgi besides brown dog">
            <a:extLst>
              <a:ext uri="{FF2B5EF4-FFF2-40B4-BE49-F238E27FC236}">
                <a16:creationId xmlns:a16="http://schemas.microsoft.com/office/drawing/2014/main" id="{4571DAEA-99DE-30E2-9CB9-C7832EA39D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4887" y="2537772"/>
            <a:ext cx="2558728" cy="3843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259D9AB-143A-889B-F6B8-6DBEE11C7A0B}"/>
              </a:ext>
            </a:extLst>
          </p:cNvPr>
          <p:cNvSpPr txBox="1"/>
          <p:nvPr/>
        </p:nvSpPr>
        <p:spPr>
          <a:xfrm>
            <a:off x="6724084" y="2875596"/>
            <a:ext cx="30346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filters (feature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maps)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FD53392-A86B-2446-9E61-AF18ECF82CC9}"/>
              </a:ext>
            </a:extLst>
          </p:cNvPr>
          <p:cNvSpPr/>
          <p:nvPr/>
        </p:nvSpPr>
        <p:spPr>
          <a:xfrm>
            <a:off x="3771900" y="4152393"/>
            <a:ext cx="424065" cy="424381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82C1FF3-44F3-1AD3-9C4A-D011C4E933B1}"/>
              </a:ext>
            </a:extLst>
          </p:cNvPr>
          <p:cNvSpPr/>
          <p:nvPr/>
        </p:nvSpPr>
        <p:spPr>
          <a:xfrm>
            <a:off x="3419475" y="4676269"/>
            <a:ext cx="233967" cy="177468"/>
          </a:xfrm>
          <a:prstGeom prst="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D4852B9-6285-2153-E5E5-1D5AE30362F8}"/>
              </a:ext>
            </a:extLst>
          </p:cNvPr>
          <p:cNvSpPr/>
          <p:nvPr/>
        </p:nvSpPr>
        <p:spPr>
          <a:xfrm>
            <a:off x="2447925" y="5924043"/>
            <a:ext cx="307082" cy="30092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20B1AC-4C22-CD76-4133-EA014A5CB770}"/>
              </a:ext>
            </a:extLst>
          </p:cNvPr>
          <p:cNvSpPr txBox="1"/>
          <p:nvPr/>
        </p:nvSpPr>
        <p:spPr>
          <a:xfrm>
            <a:off x="600074" y="1219039"/>
            <a:ext cx="11239501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우리 눈이 세상을 바라볼 때 사물이 어디에 있든 똑같이 알아보고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들을 모아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모아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형태를 인지하듯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공간적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원본 이미지에 굴려 가중치를 공유하는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깊게 쌓아 시야를 넓히는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인간의 시각 방식을 가장 효율적으로 컴퓨터에 구현해 낸 구조</a:t>
            </a:r>
          </a:p>
        </p:txBody>
      </p:sp>
    </p:spTree>
    <p:extLst>
      <p:ext uri="{BB962C8B-B14F-4D97-AF65-F5344CB8AC3E}">
        <p14:creationId xmlns:p14="http://schemas.microsoft.com/office/powerpoint/2010/main" val="26066507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B0E-9215-C286-2671-09F61199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E610E9-D1FE-2850-B347-77F7B3CB4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A18A25-A57C-1842-7548-74DD0C7F25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E00D87-D783-4B1B-7897-CA8D1DE628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8123" y="3196935"/>
            <a:ext cx="7446954" cy="25085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8BBEA63-6C45-7A95-A23D-E71B44C554F8}"/>
              </a:ext>
            </a:extLst>
          </p:cNvPr>
          <p:cNvSpPr txBox="1"/>
          <p:nvPr/>
        </p:nvSpPr>
        <p:spPr>
          <a:xfrm>
            <a:off x="576262" y="1248422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Biological neurons in the visual cortex respond to specific patterns in small regions of the visual field called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738432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A7E62-8613-6F84-51F4-0C6CFFE1C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7BEE6D-170E-62D3-6683-F0FB3D5CD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CCC6F2-88B3-C1B8-240B-E36F1FB4A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8469B3-E488-AC77-BF05-8E4CC33B70C1}"/>
              </a:ext>
            </a:extLst>
          </p:cNvPr>
          <p:cNvSpPr txBox="1"/>
          <p:nvPr/>
        </p:nvSpPr>
        <p:spPr>
          <a:xfrm>
            <a:off x="576262" y="1248422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As the visual signal makes its way through consecutive brain modules, neurons respond to more complex patterns in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larger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E261D0-BF79-73F4-C951-2791825B668E}"/>
              </a:ext>
            </a:extLst>
          </p:cNvPr>
          <p:cNvSpPr txBox="1"/>
          <p:nvPr/>
        </p:nvSpPr>
        <p:spPr>
          <a:xfrm>
            <a:off x="737152" y="2550921"/>
            <a:ext cx="10092255" cy="1940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수평선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수직선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모서리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(edge)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같은 단순한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by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층을 지난 심층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layer(larger receptive fields)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 등 복잡한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 by 100)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더 깊은 층을 지나면 얼굴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 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object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전체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시각적으로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생물학적 시각 피질과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공유하는 핵심 아이디어</a:t>
            </a:r>
          </a:p>
        </p:txBody>
      </p:sp>
    </p:spTree>
    <p:extLst>
      <p:ext uri="{BB962C8B-B14F-4D97-AF65-F5344CB8AC3E}">
        <p14:creationId xmlns:p14="http://schemas.microsoft.com/office/powerpoint/2010/main" val="41766930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74348-38F8-FF39-D942-8ACC139F8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7CE1C0-2BA2-1A70-C807-69749AE49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5F6F800-52E7-F549-6B9E-46D3ED36FF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4F96551-9584-A655-BC70-CA878C19F636}"/>
              </a:ext>
            </a:extLst>
          </p:cNvPr>
          <p:cNvGraphicFramePr>
            <a:graphicFrameLocks noGrp="1"/>
          </p:cNvGraphicFramePr>
          <p:nvPr/>
        </p:nvGraphicFramePr>
        <p:xfrm>
          <a:off x="679452" y="3291415"/>
          <a:ext cx="2568573" cy="22086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94B09D8-86EE-09C6-55BB-3E9A5F3A29B7}"/>
              </a:ext>
            </a:extLst>
          </p:cNvPr>
          <p:cNvGraphicFramePr>
            <a:graphicFrameLocks noGrp="1"/>
          </p:cNvGraphicFramePr>
          <p:nvPr/>
        </p:nvGraphicFramePr>
        <p:xfrm>
          <a:off x="3400425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2495E26-6B37-D65A-1AC8-61AD90A0E7A8}"/>
              </a:ext>
            </a:extLst>
          </p:cNvPr>
          <p:cNvGraphicFramePr>
            <a:graphicFrameLocks noGrp="1"/>
          </p:cNvGraphicFramePr>
          <p:nvPr/>
        </p:nvGraphicFramePr>
        <p:xfrm>
          <a:off x="787400" y="3449174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A2CA27B-83AE-1BF7-1BA9-B6BC343E042D}"/>
              </a:ext>
            </a:extLst>
          </p:cNvPr>
          <p:cNvGraphicFramePr>
            <a:graphicFrameLocks noGrp="1"/>
          </p:cNvGraphicFramePr>
          <p:nvPr/>
        </p:nvGraphicFramePr>
        <p:xfrm>
          <a:off x="4594680" y="3548590"/>
          <a:ext cx="1834695" cy="15775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C33B2412-2732-0B71-15EA-0175D83667C8}"/>
              </a:ext>
            </a:extLst>
          </p:cNvPr>
          <p:cNvGraphicFramePr>
            <a:graphicFrameLocks noGrp="1"/>
          </p:cNvGraphicFramePr>
          <p:nvPr/>
        </p:nvGraphicFramePr>
        <p:xfrm>
          <a:off x="6526443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A8F30394-4F4E-4641-8C5C-D64B2025F309}"/>
              </a:ext>
            </a:extLst>
          </p:cNvPr>
          <p:cNvGraphicFramePr>
            <a:graphicFrameLocks noGrp="1"/>
          </p:cNvGraphicFramePr>
          <p:nvPr/>
        </p:nvGraphicFramePr>
        <p:xfrm>
          <a:off x="4759777" y="3680623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BFC283B2-E230-22FB-5CD9-DEEEFD5B9E06}"/>
              </a:ext>
            </a:extLst>
          </p:cNvPr>
          <p:cNvGraphicFramePr>
            <a:graphicFrameLocks noGrp="1"/>
          </p:cNvGraphicFramePr>
          <p:nvPr/>
        </p:nvGraphicFramePr>
        <p:xfrm>
          <a:off x="7807325" y="3684917"/>
          <a:ext cx="1100817" cy="9465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A65EF978-1D16-A614-B959-8EE9DA97F6BB}"/>
              </a:ext>
            </a:extLst>
          </p:cNvPr>
          <p:cNvGraphicFramePr>
            <a:graphicFrameLocks noGrp="1"/>
          </p:cNvGraphicFramePr>
          <p:nvPr/>
        </p:nvGraphicFramePr>
        <p:xfrm>
          <a:off x="9266470" y="5311422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ECD1938-1C18-D246-4196-BC8A82792E8E}"/>
              </a:ext>
            </a:extLst>
          </p:cNvPr>
          <p:cNvSpPr txBox="1"/>
          <p:nvPr/>
        </p:nvSpPr>
        <p:spPr>
          <a:xfrm>
            <a:off x="10367287" y="4093159"/>
            <a:ext cx="331335" cy="301657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latinLnBrk="1"/>
            <a:endParaRPr lang="ko-KR" altLang="en-US" sz="1800" dirty="0"/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A686CBA3-BF80-387F-7ACB-92A34D758E1D}"/>
              </a:ext>
            </a:extLst>
          </p:cNvPr>
          <p:cNvGraphicFramePr>
            <a:graphicFrameLocks noGrp="1"/>
          </p:cNvGraphicFramePr>
          <p:nvPr/>
        </p:nvGraphicFramePr>
        <p:xfrm>
          <a:off x="7957460" y="3896725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B2E84C2D-B1A4-22F3-79F3-69BDC9319642}"/>
              </a:ext>
            </a:extLst>
          </p:cNvPr>
          <p:cNvCxnSpPr/>
          <p:nvPr/>
        </p:nvCxnSpPr>
        <p:spPr>
          <a:xfrm>
            <a:off x="3476625" y="4281258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57110AB-BFCC-4230-F035-09A8E996112F}"/>
              </a:ext>
            </a:extLst>
          </p:cNvPr>
          <p:cNvCxnSpPr/>
          <p:nvPr/>
        </p:nvCxnSpPr>
        <p:spPr>
          <a:xfrm>
            <a:off x="6526443" y="4266741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3CBEE8AF-7491-C03B-78F3-5005D6925507}"/>
              </a:ext>
            </a:extLst>
          </p:cNvPr>
          <p:cNvCxnSpPr/>
          <p:nvPr/>
        </p:nvCxnSpPr>
        <p:spPr>
          <a:xfrm>
            <a:off x="9205685" y="4247232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8262FDA-FBFA-A3FF-7D1E-DCFD3F91F20D}"/>
              </a:ext>
            </a:extLst>
          </p:cNvPr>
          <p:cNvSpPr txBox="1"/>
          <p:nvPr/>
        </p:nvSpPr>
        <p:spPr>
          <a:xfrm>
            <a:off x="3387162" y="5706513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A4EE81-4344-8A2B-055A-9BAE7D6BDE5B}"/>
              </a:ext>
            </a:extLst>
          </p:cNvPr>
          <p:cNvSpPr txBox="1"/>
          <p:nvPr/>
        </p:nvSpPr>
        <p:spPr>
          <a:xfrm>
            <a:off x="516162" y="1337776"/>
            <a:ext cx="1126626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fields(3,3)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과의 내적을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sliding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지나가게 되면 마지막 값은 원본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모두 한꺼번에 보는 것과 마찬가지 효과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779F6D-6AD2-A76C-B367-3A9AD4C491C3}"/>
              </a:ext>
            </a:extLst>
          </p:cNvPr>
          <p:cNvSpPr txBox="1"/>
          <p:nvPr/>
        </p:nvSpPr>
        <p:spPr>
          <a:xfrm>
            <a:off x="899196" y="2561671"/>
            <a:ext cx="178752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Input Feature (7,7)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008C553-8742-0213-A44F-B6FF2F744998}"/>
              </a:ext>
            </a:extLst>
          </p:cNvPr>
          <p:cNvSpPr txBox="1"/>
          <p:nvPr/>
        </p:nvSpPr>
        <p:spPr>
          <a:xfrm>
            <a:off x="4264020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(5,5)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923360-8488-9BC7-1AF4-B03CEFE650C1}"/>
              </a:ext>
            </a:extLst>
          </p:cNvPr>
          <p:cNvSpPr txBox="1"/>
          <p:nvPr/>
        </p:nvSpPr>
        <p:spPr>
          <a:xfrm>
            <a:off x="6972983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83A2C6C-64DD-88B7-9A09-C6876CB61A8A}"/>
              </a:ext>
            </a:extLst>
          </p:cNvPr>
          <p:cNvSpPr txBox="1"/>
          <p:nvPr/>
        </p:nvSpPr>
        <p:spPr>
          <a:xfrm>
            <a:off x="9236307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7DF50D-23E5-2C79-7573-E1FE2CD30E10}"/>
              </a:ext>
            </a:extLst>
          </p:cNvPr>
          <p:cNvSpPr txBox="1"/>
          <p:nvPr/>
        </p:nvSpPr>
        <p:spPr>
          <a:xfrm>
            <a:off x="6483802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B409A7E-4C35-E371-19B2-DDB18E68B468}"/>
              </a:ext>
            </a:extLst>
          </p:cNvPr>
          <p:cNvSpPr txBox="1"/>
          <p:nvPr/>
        </p:nvSpPr>
        <p:spPr>
          <a:xfrm>
            <a:off x="9226777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E456E7A-8464-EE73-BC06-3DA13A08843E}"/>
              </a:ext>
            </a:extLst>
          </p:cNvPr>
          <p:cNvSpPr/>
          <p:nvPr/>
        </p:nvSpPr>
        <p:spPr>
          <a:xfrm>
            <a:off x="679452" y="3291415"/>
            <a:ext cx="1100817" cy="94655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5446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7FA94-6C7F-D510-A1A9-A89FFF48D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462FA5-0D6C-FAE8-379F-740A89DDC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A91C053-4F67-FAF1-715A-C5FDF9CB5A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D1CD4E4-19FB-7978-8605-C09D081854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8845005"/>
              </p:ext>
            </p:extLst>
          </p:nvPr>
        </p:nvGraphicFramePr>
        <p:xfrm>
          <a:off x="694870" y="3002055"/>
          <a:ext cx="1771539" cy="15232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7FD8655-ADF8-7FB6-9C63-DA6648D069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7098827"/>
              </p:ext>
            </p:extLst>
          </p:nvPr>
        </p:nvGraphicFramePr>
        <p:xfrm>
          <a:off x="2895600" y="44831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F4E3143-D630-8320-3A0A-45C7151383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6430616"/>
              </p:ext>
            </p:extLst>
          </p:nvPr>
        </p:nvGraphicFramePr>
        <p:xfrm>
          <a:off x="3832681" y="31961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FEFA4E62-26BF-E5D3-7130-664C53DBEF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008684"/>
              </p:ext>
            </p:extLst>
          </p:nvPr>
        </p:nvGraphicFramePr>
        <p:xfrm>
          <a:off x="6864350" y="33324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216080DD-C1A4-7995-0435-78D254C6768A}"/>
              </a:ext>
            </a:extLst>
          </p:cNvPr>
          <p:cNvSpPr txBox="1"/>
          <p:nvPr/>
        </p:nvSpPr>
        <p:spPr>
          <a:xfrm>
            <a:off x="9524770" y="3272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7BD1B70-CB47-25F5-8AD8-CF507A8A6DC4}"/>
              </a:ext>
            </a:extLst>
          </p:cNvPr>
          <p:cNvCxnSpPr>
            <a:cxnSpLocks/>
          </p:cNvCxnSpPr>
          <p:nvPr/>
        </p:nvCxnSpPr>
        <p:spPr>
          <a:xfrm>
            <a:off x="2905161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AE67917-8152-9EE9-C817-44D6219CB5F9}"/>
              </a:ext>
            </a:extLst>
          </p:cNvPr>
          <p:cNvCxnSpPr>
            <a:cxnSpLocks/>
          </p:cNvCxnSpPr>
          <p:nvPr/>
        </p:nvCxnSpPr>
        <p:spPr>
          <a:xfrm>
            <a:off x="5853130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8880E1DF-39B4-1088-E80C-972357683993}"/>
              </a:ext>
            </a:extLst>
          </p:cNvPr>
          <p:cNvCxnSpPr>
            <a:cxnSpLocks/>
          </p:cNvCxnSpPr>
          <p:nvPr/>
        </p:nvCxnSpPr>
        <p:spPr>
          <a:xfrm>
            <a:off x="8548460" y="3894807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7BBD83B5-C4F9-50D9-05F3-B1C409CFFC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8728948"/>
              </p:ext>
            </p:extLst>
          </p:nvPr>
        </p:nvGraphicFramePr>
        <p:xfrm>
          <a:off x="3048000" y="46355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331ACBD8-6B40-53FE-9A45-F25369CB0F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8281778"/>
              </p:ext>
            </p:extLst>
          </p:nvPr>
        </p:nvGraphicFramePr>
        <p:xfrm>
          <a:off x="3200400" y="47879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9C6C504C-124B-E8A6-E43B-A3596A1704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5429883"/>
              </p:ext>
            </p:extLst>
          </p:nvPr>
        </p:nvGraphicFramePr>
        <p:xfrm>
          <a:off x="3985081" y="33485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DE5F452D-AB1A-2625-CFBC-26CD61CF21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8412593"/>
              </p:ext>
            </p:extLst>
          </p:nvPr>
        </p:nvGraphicFramePr>
        <p:xfrm>
          <a:off x="4137481" y="35009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EB067750-EAD6-2846-4FE6-498A4466ED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8246343"/>
              </p:ext>
            </p:extLst>
          </p:nvPr>
        </p:nvGraphicFramePr>
        <p:xfrm>
          <a:off x="5943600" y="44735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B0EDA5D7-4E0B-2C7F-228F-0B7D3E68AA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5483080"/>
              </p:ext>
            </p:extLst>
          </p:nvPr>
        </p:nvGraphicFramePr>
        <p:xfrm>
          <a:off x="6096000" y="46259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B458B360-EC1F-AA5B-FD42-55D676BF6E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2742387"/>
              </p:ext>
            </p:extLst>
          </p:nvPr>
        </p:nvGraphicFramePr>
        <p:xfrm>
          <a:off x="6248400" y="47783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2" name="표 61">
            <a:extLst>
              <a:ext uri="{FF2B5EF4-FFF2-40B4-BE49-F238E27FC236}">
                <a16:creationId xmlns:a16="http://schemas.microsoft.com/office/drawing/2014/main" id="{86B8A262-8453-3BAC-5EE2-08660BFAE7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5995466"/>
              </p:ext>
            </p:extLst>
          </p:nvPr>
        </p:nvGraphicFramePr>
        <p:xfrm>
          <a:off x="6400800" y="49307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3" name="표 62">
            <a:extLst>
              <a:ext uri="{FF2B5EF4-FFF2-40B4-BE49-F238E27FC236}">
                <a16:creationId xmlns:a16="http://schemas.microsoft.com/office/drawing/2014/main" id="{92C3F91C-F43B-39EB-3523-1C716AF6C2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1659979"/>
              </p:ext>
            </p:extLst>
          </p:nvPr>
        </p:nvGraphicFramePr>
        <p:xfrm>
          <a:off x="6553200" y="50831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4" name="표 63">
            <a:extLst>
              <a:ext uri="{FF2B5EF4-FFF2-40B4-BE49-F238E27FC236}">
                <a16:creationId xmlns:a16="http://schemas.microsoft.com/office/drawing/2014/main" id="{DB8AC76A-BE2F-A398-E459-D741DD53E9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2086331"/>
              </p:ext>
            </p:extLst>
          </p:nvPr>
        </p:nvGraphicFramePr>
        <p:xfrm>
          <a:off x="7016750" y="34848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5" name="표 64">
            <a:extLst>
              <a:ext uri="{FF2B5EF4-FFF2-40B4-BE49-F238E27FC236}">
                <a16:creationId xmlns:a16="http://schemas.microsoft.com/office/drawing/2014/main" id="{6422B40D-47EE-2C2C-A2E8-317FF56B6A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9112837"/>
              </p:ext>
            </p:extLst>
          </p:nvPr>
        </p:nvGraphicFramePr>
        <p:xfrm>
          <a:off x="7169150" y="36372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6" name="표 65">
            <a:extLst>
              <a:ext uri="{FF2B5EF4-FFF2-40B4-BE49-F238E27FC236}">
                <a16:creationId xmlns:a16="http://schemas.microsoft.com/office/drawing/2014/main" id="{566D7A71-5ACB-F352-3716-5F793B100D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4748694"/>
              </p:ext>
            </p:extLst>
          </p:nvPr>
        </p:nvGraphicFramePr>
        <p:xfrm>
          <a:off x="7321550" y="37896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7" name="표 66">
            <a:extLst>
              <a:ext uri="{FF2B5EF4-FFF2-40B4-BE49-F238E27FC236}">
                <a16:creationId xmlns:a16="http://schemas.microsoft.com/office/drawing/2014/main" id="{2DB52FF7-FD90-E9D5-0376-FC21948BE0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7245527"/>
              </p:ext>
            </p:extLst>
          </p:nvPr>
        </p:nvGraphicFramePr>
        <p:xfrm>
          <a:off x="7473950" y="39420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84B4E7FC-CA21-351E-C737-DE7DD9A1A4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8109341"/>
              </p:ext>
            </p:extLst>
          </p:nvPr>
        </p:nvGraphicFramePr>
        <p:xfrm>
          <a:off x="8817201" y="4483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DAC78E3F-586F-DC34-161F-62184D2445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9201731"/>
              </p:ext>
            </p:extLst>
          </p:nvPr>
        </p:nvGraphicFramePr>
        <p:xfrm>
          <a:off x="8969601" y="4635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2F720965-D780-AD1C-366A-4F16F5AC29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3799133"/>
              </p:ext>
            </p:extLst>
          </p:nvPr>
        </p:nvGraphicFramePr>
        <p:xfrm>
          <a:off x="9122001" y="4788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1" name="표 80">
            <a:extLst>
              <a:ext uri="{FF2B5EF4-FFF2-40B4-BE49-F238E27FC236}">
                <a16:creationId xmlns:a16="http://schemas.microsoft.com/office/drawing/2014/main" id="{C4D520FA-9D82-336E-CFEB-3F76E40183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0927757"/>
              </p:ext>
            </p:extLst>
          </p:nvPr>
        </p:nvGraphicFramePr>
        <p:xfrm>
          <a:off x="9274401" y="4940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2" name="표 81">
            <a:extLst>
              <a:ext uri="{FF2B5EF4-FFF2-40B4-BE49-F238E27FC236}">
                <a16:creationId xmlns:a16="http://schemas.microsoft.com/office/drawing/2014/main" id="{BF05CDF3-6D05-1B32-CB58-99A79F51B1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3651983"/>
              </p:ext>
            </p:extLst>
          </p:nvPr>
        </p:nvGraphicFramePr>
        <p:xfrm>
          <a:off x="9426801" y="5093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3" name="표 82">
            <a:extLst>
              <a:ext uri="{FF2B5EF4-FFF2-40B4-BE49-F238E27FC236}">
                <a16:creationId xmlns:a16="http://schemas.microsoft.com/office/drawing/2014/main" id="{B2760717-F3DC-3E66-8A40-12ABDA69CA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5037547"/>
              </p:ext>
            </p:extLst>
          </p:nvPr>
        </p:nvGraphicFramePr>
        <p:xfrm>
          <a:off x="9579201" y="5245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4" name="표 83">
            <a:extLst>
              <a:ext uri="{FF2B5EF4-FFF2-40B4-BE49-F238E27FC236}">
                <a16:creationId xmlns:a16="http://schemas.microsoft.com/office/drawing/2014/main" id="{B2E70851-8BF1-62BA-7F29-DDED3D1FAA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8804512"/>
              </p:ext>
            </p:extLst>
          </p:nvPr>
        </p:nvGraphicFramePr>
        <p:xfrm>
          <a:off x="9731601" y="5397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5" name="표 84">
            <a:extLst>
              <a:ext uri="{FF2B5EF4-FFF2-40B4-BE49-F238E27FC236}">
                <a16:creationId xmlns:a16="http://schemas.microsoft.com/office/drawing/2014/main" id="{C8B70655-9E9A-5475-4955-744CB7C2CB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9637404"/>
              </p:ext>
            </p:extLst>
          </p:nvPr>
        </p:nvGraphicFramePr>
        <p:xfrm>
          <a:off x="9884001" y="5550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6" name="표 85">
            <a:extLst>
              <a:ext uri="{FF2B5EF4-FFF2-40B4-BE49-F238E27FC236}">
                <a16:creationId xmlns:a16="http://schemas.microsoft.com/office/drawing/2014/main" id="{5D94BE7C-E617-BFD3-4F6E-3325143754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3399552"/>
              </p:ext>
            </p:extLst>
          </p:nvPr>
        </p:nvGraphicFramePr>
        <p:xfrm>
          <a:off x="10036401" y="5702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7F8F904A-FD4E-18A7-C1BD-2382D2EABF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7169267"/>
              </p:ext>
            </p:extLst>
          </p:nvPr>
        </p:nvGraphicFramePr>
        <p:xfrm>
          <a:off x="10188801" y="5855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97" name="TextBox 96">
            <a:extLst>
              <a:ext uri="{FF2B5EF4-FFF2-40B4-BE49-F238E27FC236}">
                <a16:creationId xmlns:a16="http://schemas.microsoft.com/office/drawing/2014/main" id="{B8578E93-60F2-C2B7-8652-9CFD62B606ED}"/>
              </a:ext>
            </a:extLst>
          </p:cNvPr>
          <p:cNvSpPr txBox="1"/>
          <p:nvPr/>
        </p:nvSpPr>
        <p:spPr>
          <a:xfrm>
            <a:off x="9677170" y="3424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F4E400C-5F32-1185-6B2B-D42D4DD76343}"/>
              </a:ext>
            </a:extLst>
          </p:cNvPr>
          <p:cNvSpPr txBox="1"/>
          <p:nvPr/>
        </p:nvSpPr>
        <p:spPr>
          <a:xfrm>
            <a:off x="9829570" y="3577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11A8668-1BEA-9B3D-AFB0-AAA0EDFF0AC4}"/>
              </a:ext>
            </a:extLst>
          </p:cNvPr>
          <p:cNvSpPr txBox="1"/>
          <p:nvPr/>
        </p:nvSpPr>
        <p:spPr>
          <a:xfrm>
            <a:off x="9981970" y="3729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3A9316C-2D3C-4345-3431-71F0A61CF4C7}"/>
              </a:ext>
            </a:extLst>
          </p:cNvPr>
          <p:cNvSpPr txBox="1"/>
          <p:nvPr/>
        </p:nvSpPr>
        <p:spPr>
          <a:xfrm>
            <a:off x="10134370" y="3882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8C991B3-A9C0-115D-4F93-16E75282265A}"/>
              </a:ext>
            </a:extLst>
          </p:cNvPr>
          <p:cNvSpPr txBox="1"/>
          <p:nvPr/>
        </p:nvSpPr>
        <p:spPr>
          <a:xfrm>
            <a:off x="10286770" y="4034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990EB7D-7A31-2FF4-6E60-9D5741B573F2}"/>
              </a:ext>
            </a:extLst>
          </p:cNvPr>
          <p:cNvSpPr txBox="1"/>
          <p:nvPr/>
        </p:nvSpPr>
        <p:spPr>
          <a:xfrm>
            <a:off x="10439170" y="4186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6105187-F451-D92D-3C22-901EAA98987C}"/>
              </a:ext>
            </a:extLst>
          </p:cNvPr>
          <p:cNvSpPr txBox="1"/>
          <p:nvPr/>
        </p:nvSpPr>
        <p:spPr>
          <a:xfrm>
            <a:off x="10591570" y="4339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524FA1F-BC3F-08A1-24C0-08D4EE078385}"/>
              </a:ext>
            </a:extLst>
          </p:cNvPr>
          <p:cNvSpPr txBox="1"/>
          <p:nvPr/>
        </p:nvSpPr>
        <p:spPr>
          <a:xfrm>
            <a:off x="10743970" y="4491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82A98C9-7275-540B-0AD0-8F2CC945DA1F}"/>
              </a:ext>
            </a:extLst>
          </p:cNvPr>
          <p:cNvSpPr txBox="1"/>
          <p:nvPr/>
        </p:nvSpPr>
        <p:spPr>
          <a:xfrm>
            <a:off x="10896370" y="4644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E30BBB4-7D57-00FC-AFCC-AA352B57CA9B}"/>
              </a:ext>
            </a:extLst>
          </p:cNvPr>
          <p:cNvSpPr txBox="1"/>
          <p:nvPr/>
        </p:nvSpPr>
        <p:spPr>
          <a:xfrm>
            <a:off x="1261465" y="2604873"/>
            <a:ext cx="63834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(7,7)</a:t>
            </a:r>
            <a:endParaRPr lang="ko-KR" altLang="en-US" sz="16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C957AAB-4932-F972-B5C5-56BD26CC8E9E}"/>
              </a:ext>
            </a:extLst>
          </p:cNvPr>
          <p:cNvSpPr txBox="1"/>
          <p:nvPr/>
        </p:nvSpPr>
        <p:spPr>
          <a:xfrm>
            <a:off x="2826397" y="5550316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(4,3,3)</a:t>
            </a:r>
            <a:endParaRPr lang="ko-KR" altLang="en-US" sz="16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7A9FC23-A2B1-A896-22E8-C255B44CC290}"/>
              </a:ext>
            </a:extLst>
          </p:cNvPr>
          <p:cNvSpPr txBox="1"/>
          <p:nvPr/>
        </p:nvSpPr>
        <p:spPr>
          <a:xfrm>
            <a:off x="4002173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(4,5,5)</a:t>
            </a:r>
            <a:endParaRPr lang="ko-KR" altLang="en-US" sz="1600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95B3E8D-30B1-6D81-17DE-C34E3767D528}"/>
              </a:ext>
            </a:extLst>
          </p:cNvPr>
          <p:cNvSpPr txBox="1"/>
          <p:nvPr/>
        </p:nvSpPr>
        <p:spPr>
          <a:xfrm>
            <a:off x="608341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graphicFrame>
        <p:nvGraphicFramePr>
          <p:cNvPr id="111" name="표 110">
            <a:extLst>
              <a:ext uri="{FF2B5EF4-FFF2-40B4-BE49-F238E27FC236}">
                <a16:creationId xmlns:a16="http://schemas.microsoft.com/office/drawing/2014/main" id="{DFF53EC4-1101-FA81-8DA7-79AB9464CC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9610592"/>
              </p:ext>
            </p:extLst>
          </p:nvPr>
        </p:nvGraphicFramePr>
        <p:xfrm>
          <a:off x="3352800" y="49403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12" name="표 111">
            <a:extLst>
              <a:ext uri="{FF2B5EF4-FFF2-40B4-BE49-F238E27FC236}">
                <a16:creationId xmlns:a16="http://schemas.microsoft.com/office/drawing/2014/main" id="{919C39AA-4CFE-0FA8-555E-6732811A4B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4049872"/>
              </p:ext>
            </p:extLst>
          </p:nvPr>
        </p:nvGraphicFramePr>
        <p:xfrm>
          <a:off x="4289881" y="36533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sp>
        <p:nvSpPr>
          <p:cNvPr id="113" name="TextBox 112">
            <a:extLst>
              <a:ext uri="{FF2B5EF4-FFF2-40B4-BE49-F238E27FC236}">
                <a16:creationId xmlns:a16="http://schemas.microsoft.com/office/drawing/2014/main" id="{DCE0A423-5057-3434-4AFA-C52A0FE2A0EB}"/>
              </a:ext>
            </a:extLst>
          </p:cNvPr>
          <p:cNvSpPr txBox="1"/>
          <p:nvPr/>
        </p:nvSpPr>
        <p:spPr>
          <a:xfrm>
            <a:off x="6818408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0584E78-4823-23DE-18F0-8829A2504A27}"/>
              </a:ext>
            </a:extLst>
          </p:cNvPr>
          <p:cNvSpPr txBox="1"/>
          <p:nvPr/>
        </p:nvSpPr>
        <p:spPr>
          <a:xfrm>
            <a:off x="829509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(10,3,3)</a:t>
            </a:r>
            <a:endParaRPr lang="ko-KR" altLang="en-US" sz="1600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9AD84D1-7C75-1496-6032-4D3378FB9F5E}"/>
              </a:ext>
            </a:extLst>
          </p:cNvPr>
          <p:cNvSpPr txBox="1"/>
          <p:nvPr/>
        </p:nvSpPr>
        <p:spPr>
          <a:xfrm>
            <a:off x="9483534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(10,1,1)</a:t>
            </a:r>
            <a:endParaRPr lang="ko-KR" altLang="en-US" sz="16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1A845E-BA4C-D276-1343-E31AD3745B13}"/>
              </a:ext>
            </a:extLst>
          </p:cNvPr>
          <p:cNvSpPr txBox="1"/>
          <p:nvPr/>
        </p:nvSpPr>
        <p:spPr>
          <a:xfrm>
            <a:off x="516162" y="1337776"/>
            <a:ext cx="1126626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컨볼루션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층을 거치면서 이미지의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shape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점점 작아지고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(7-5-3-1)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features(1-4-5-10)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점점 많아지게 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경우는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마지막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3FEE2CE4-324A-3956-299B-575796034522}"/>
              </a:ext>
            </a:extLst>
          </p:cNvPr>
          <p:cNvSpPr txBox="1"/>
          <p:nvPr/>
        </p:nvSpPr>
        <p:spPr>
          <a:xfrm>
            <a:off x="11444425" y="4446897"/>
            <a:ext cx="246377" cy="179090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121" name="직선 화살표 연결선 120">
            <a:extLst>
              <a:ext uri="{FF2B5EF4-FFF2-40B4-BE49-F238E27FC236}">
                <a16:creationId xmlns:a16="http://schemas.microsoft.com/office/drawing/2014/main" id="{B071D4E8-3723-4176-F380-FFCA89BB82E4}"/>
              </a:ext>
            </a:extLst>
          </p:cNvPr>
          <p:cNvCxnSpPr>
            <a:cxnSpLocks/>
          </p:cNvCxnSpPr>
          <p:nvPr/>
        </p:nvCxnSpPr>
        <p:spPr>
          <a:xfrm>
            <a:off x="10754308" y="388212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23" name="그래픽 122" descr="물음표">
            <a:extLst>
              <a:ext uri="{FF2B5EF4-FFF2-40B4-BE49-F238E27FC236}">
                <a16:creationId xmlns:a16="http://schemas.microsoft.com/office/drawing/2014/main" id="{F3B42F70-48C4-004E-1535-C14E19B47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57652" y="3632057"/>
            <a:ext cx="478910" cy="478910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098DE638-D419-C336-3447-6321237955F4}"/>
              </a:ext>
            </a:extLst>
          </p:cNvPr>
          <p:cNvSpPr txBox="1"/>
          <p:nvPr/>
        </p:nvSpPr>
        <p:spPr>
          <a:xfrm>
            <a:off x="11159828" y="4928840"/>
            <a:ext cx="8155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(1,1,1)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630759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8F61AD-D5DA-FAA8-E02A-C80D22969EBB}"/>
              </a:ext>
            </a:extLst>
          </p:cNvPr>
          <p:cNvSpPr txBox="1"/>
          <p:nvPr/>
        </p:nvSpPr>
        <p:spPr>
          <a:xfrm>
            <a:off x="514350" y="1313937"/>
            <a:ext cx="1064514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 적은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연산량으로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이미지의 공간적 특징과 위치 변화까지 완벽하게 잡아내기 때문에 이미지 처리의 표준 딥러닝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chapter08_image-classification/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431F312E-35D3-4EA8-5B39-7D3B0C79D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9992" y="2396485"/>
            <a:ext cx="3133725" cy="4004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D2752-05C8-CFB6-7DA8-10DA216A8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7FD711-C4A0-2FFF-5BAD-5DDBCF62E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3069900-B671-31CB-2055-58036E2FAD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6DE70F3A-EF60-8C27-5AD3-658BC4D73F72}"/>
              </a:ext>
            </a:extLst>
          </p:cNvPr>
          <p:cNvCxnSpPr>
            <a:cxnSpLocks/>
          </p:cNvCxnSpPr>
          <p:nvPr/>
        </p:nvCxnSpPr>
        <p:spPr>
          <a:xfrm>
            <a:off x="3931920" y="356616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AB64D2BE-9A99-7FA2-BD98-E1AAD636CEA7}"/>
                  </a:ext>
                </a:extLst>
              </p:cNvPr>
              <p:cNvSpPr/>
              <p:nvPr/>
            </p:nvSpPr>
            <p:spPr>
              <a:xfrm>
                <a:off x="4754880" y="239268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84A13EFE-75A4-70B3-FB3E-3213E1950D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4880" y="239268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202658E-678D-1E26-1987-C0A4F99F0298}"/>
                  </a:ext>
                </a:extLst>
              </p:cNvPr>
              <p:cNvSpPr txBox="1"/>
              <p:nvPr/>
            </p:nvSpPr>
            <p:spPr>
              <a:xfrm>
                <a:off x="8275320" y="313661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091A3D2-A038-3704-6B65-BD466125AA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320" y="313661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4D6254E-7548-BCD1-42FE-86ED49399E41}"/>
                  </a:ext>
                </a:extLst>
              </p:cNvPr>
              <p:cNvSpPr txBox="1"/>
              <p:nvPr/>
            </p:nvSpPr>
            <p:spPr>
              <a:xfrm>
                <a:off x="2966085" y="313661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B814628-F7B1-D9D9-5860-C53F7BBA9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6085" y="313661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1FB287C-BBC7-C60D-0B07-AEC97349EAE9}"/>
                  </a:ext>
                </a:extLst>
              </p:cNvPr>
              <p:cNvSpPr txBox="1"/>
              <p:nvPr/>
            </p:nvSpPr>
            <p:spPr>
              <a:xfrm>
                <a:off x="9633483" y="4364295"/>
                <a:ext cx="1339317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sz="20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20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0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1FB287C-BBC7-C60D-0B07-AEC97349E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3483" y="4364295"/>
                <a:ext cx="1339317" cy="40011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2" name="Picture 2" descr="The Matrix | 1999 Film, Cast, Plot, &amp; Facts | Britannica">
            <a:extLst>
              <a:ext uri="{FF2B5EF4-FFF2-40B4-BE49-F238E27FC236}">
                <a16:creationId xmlns:a16="http://schemas.microsoft.com/office/drawing/2014/main" id="{E44194DC-9B37-BB09-2E85-45EC4B9D0E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9956" y="2954283"/>
            <a:ext cx="2020394" cy="153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The Matrix | 1999 Film, Cast, Plot, &amp; Facts | Britannica">
            <a:extLst>
              <a:ext uri="{FF2B5EF4-FFF2-40B4-BE49-F238E27FC236}">
                <a16:creationId xmlns:a16="http://schemas.microsoft.com/office/drawing/2014/main" id="{FD381C7F-2BC8-D416-4D7E-EAE46E0480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biLevel thresh="50000"/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8280" y="2799056"/>
            <a:ext cx="2020394" cy="153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40662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2F03-2928-FE0E-83C4-D1E8ADEB0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065971-C93D-74C9-AD10-786402B26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52B6D99-966B-4EFF-1D8A-F9B8A2D6C9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099510A-1E16-86BF-F01C-8EF2FCD680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9376" y="2480571"/>
            <a:ext cx="4406613" cy="3895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36233C-FA94-F1A4-ACF9-C44CF7AEEE39}"/>
              </a:ext>
            </a:extLst>
          </p:cNvPr>
          <p:cNvSpPr txBox="1"/>
          <p:nvPr/>
        </p:nvSpPr>
        <p:spPr>
          <a:xfrm>
            <a:off x="609600" y="1238250"/>
            <a:ext cx="1097280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복사 패딩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(Replication Padding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Border Padding)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합성곱하면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크기가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동일해지고 외곽의 정보를 보존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08DF26-3ECD-0880-B454-50F2DD311209}"/>
              </a:ext>
            </a:extLst>
          </p:cNvPr>
          <p:cNvSpPr txBox="1"/>
          <p:nvPr/>
        </p:nvSpPr>
        <p:spPr>
          <a:xfrm>
            <a:off x="3219450" y="2480571"/>
            <a:ext cx="1525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/>
              </a:rPr>
              <a:t>wiki/Convolution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9688388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56846-1533-2A55-5C19-83102AD52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779EE00-BDC6-D7DA-8D76-F340B6DA6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97" y="2409824"/>
            <a:ext cx="9373066" cy="3370315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FFA10B-6ACA-8BA7-599B-B4B6398DB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509BE78-3730-4DA3-EF72-0324173DE4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333C5AC-4094-D0BC-287F-D08E6335F933}"/>
              </a:ext>
            </a:extLst>
          </p:cNvPr>
          <p:cNvSpPr/>
          <p:nvPr/>
        </p:nvSpPr>
        <p:spPr>
          <a:xfrm>
            <a:off x="1542896" y="3019424"/>
            <a:ext cx="3257703" cy="27607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76774BE-B39A-B194-516F-D1E49D574F90}"/>
              </a:ext>
            </a:extLst>
          </p:cNvPr>
          <p:cNvSpPr/>
          <p:nvPr/>
        </p:nvSpPr>
        <p:spPr>
          <a:xfrm>
            <a:off x="8429785" y="3019424"/>
            <a:ext cx="2486178" cy="238125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8048C81-8986-7A52-7D93-FF046557FFC2}"/>
              </a:ext>
            </a:extLst>
          </p:cNvPr>
          <p:cNvSpPr/>
          <p:nvPr/>
        </p:nvSpPr>
        <p:spPr>
          <a:xfrm>
            <a:off x="5705635" y="3833813"/>
            <a:ext cx="1447640" cy="8334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4B104D5-E73E-BE36-FA38-C56A539E9A42}"/>
              </a:ext>
            </a:extLst>
          </p:cNvPr>
          <p:cNvCxnSpPr>
            <a:cxnSpLocks/>
          </p:cNvCxnSpPr>
          <p:nvPr/>
        </p:nvCxnSpPr>
        <p:spPr>
          <a:xfrm>
            <a:off x="4998720" y="4832985"/>
            <a:ext cx="33070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BD2443A-105B-89F6-33CC-FFDE5604FDEF}"/>
              </a:ext>
            </a:extLst>
          </p:cNvPr>
          <p:cNvSpPr txBox="1"/>
          <p:nvPr/>
        </p:nvSpPr>
        <p:spPr>
          <a:xfrm>
            <a:off x="552450" y="1489473"/>
            <a:ext cx="9857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입력 </a:t>
            </a:r>
            <a:r>
              <a:rPr lang="en-US" altLang="ko-KR" dirty="0"/>
              <a:t>Feature Matrix</a:t>
            </a:r>
            <a:r>
              <a:rPr lang="ko-KR" altLang="en-US" dirty="0"/>
              <a:t>는 </a:t>
            </a:r>
            <a:r>
              <a:rPr lang="en-US" altLang="ko-KR" dirty="0"/>
              <a:t>Kernel Matrix(3,3)</a:t>
            </a:r>
            <a:r>
              <a:rPr lang="ko-KR" altLang="en-US" dirty="0"/>
              <a:t>와 </a:t>
            </a:r>
            <a:r>
              <a:rPr lang="ko-KR" altLang="en-US" dirty="0" err="1"/>
              <a:t>합성곱으로</a:t>
            </a:r>
            <a:r>
              <a:rPr lang="ko-KR" altLang="en-US" dirty="0"/>
              <a:t> 출력</a:t>
            </a:r>
            <a:r>
              <a:rPr lang="en-US" altLang="ko-KR" dirty="0"/>
              <a:t> Feature Matrix</a:t>
            </a:r>
            <a:r>
              <a:rPr lang="ko-KR" altLang="en-US" dirty="0"/>
              <a:t>로 </a:t>
            </a:r>
            <a:r>
              <a:rPr lang="en-US" altLang="ko-KR" dirty="0"/>
              <a:t>Representation </a:t>
            </a:r>
            <a:r>
              <a:rPr lang="ko-KR" altLang="en-US" dirty="0"/>
              <a:t>됨</a:t>
            </a:r>
          </a:p>
        </p:txBody>
      </p:sp>
    </p:spTree>
    <p:extLst>
      <p:ext uri="{BB962C8B-B14F-4D97-AF65-F5344CB8AC3E}">
        <p14:creationId xmlns:p14="http://schemas.microsoft.com/office/powerpoint/2010/main" val="13395383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E6D9A-FA41-2C59-AE0E-CFB6CAB07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6C0C2E-1D6D-FA5D-9781-729FE3ADC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C8789F7-E6CE-8A13-8993-4DB80A7E30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475C2B3-6614-2911-5205-8AF7F278B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8" y="2314205"/>
            <a:ext cx="7414903" cy="40618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4D3D52-F5BF-4321-448A-4369B312C318}"/>
              </a:ext>
            </a:extLst>
          </p:cNvPr>
          <p:cNvSpPr txBox="1"/>
          <p:nvPr/>
        </p:nvSpPr>
        <p:spPr>
          <a:xfrm>
            <a:off x="558800" y="1340904"/>
            <a:ext cx="1093216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7BD27A-4D2C-F8D7-FB6E-09FF605403CA}"/>
              </a:ext>
            </a:extLst>
          </p:cNvPr>
          <p:cNvSpPr/>
          <p:nvPr/>
        </p:nvSpPr>
        <p:spPr>
          <a:xfrm>
            <a:off x="3738706" y="2666844"/>
            <a:ext cx="1818814" cy="1732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9684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EB1D-5085-AFC4-6F4A-DB4276604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11C951-F23B-030B-42CD-686330B03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1F8927-CE36-3EA4-0E56-63905BA37F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57ED0FE-C673-8670-DD6B-72F756A37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47" y="1468523"/>
            <a:ext cx="8313804" cy="5022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5545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B718-B2C5-F0AB-9840-E7CA385C6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8BC45F-6F1B-D8CC-D6A1-D7B58965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D15A284-89FC-2D1A-96C3-365A0E7B71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A6A5AC5-260A-25A4-1B81-77CB5B32F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200" y="1902689"/>
            <a:ext cx="9000000" cy="4473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6760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AB736-7409-F14A-48A5-4808B9709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9DE165-9840-CCB8-9EAF-F6DB2D8AF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67A0152-FFB9-F91B-A5A0-9CC626BCAE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F9730E-C40F-FDBD-D9DB-C8C74C367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0675" y="1470193"/>
            <a:ext cx="4017492" cy="4931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8259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B285C-0CA6-131F-A9B2-B3596C691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0AE04D-F73E-5763-E56E-89D4EE0C7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EF9E5AB-9B8D-5BDB-63A5-EF9B27F33F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74D554-22FD-A6D7-0602-1D7924A91F94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채널이 있는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컬러이미지에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대한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image-search/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cnn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이해하기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F9A623C-EB2D-129A-153E-FF04C6788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166" y="1978293"/>
            <a:ext cx="7538720" cy="4240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2153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F8F77-6C0A-3904-FA33-71DB87EB0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5CD0C6-E48F-5171-D0C0-42352B762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F803ED0-69E8-6928-5E8A-D2CF16B945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E901BE-AB7F-22C0-899D-4319238947C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학습사이트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https://github.com/ancestor9/Image Classification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교과수업 진행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82832F4-B644-E38A-A3E9-D95C7FBA3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8588" y="2455855"/>
            <a:ext cx="31837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A5B32-FCC9-8B3B-67E2-D75A02F17AE0}"/>
              </a:ext>
            </a:extLst>
          </p:cNvPr>
          <p:cNvSpPr txBox="1"/>
          <p:nvPr/>
        </p:nvSpPr>
        <p:spPr>
          <a:xfrm>
            <a:off x="3838575" y="2002698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single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693793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B1A72-914C-D9A7-9C3C-43C78CF7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6A3EA8-D156-E569-5624-904753BEF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D2313B9-0D41-55BB-F412-8D624774E3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2CA83C4-5821-CABF-224D-F3FAC3A8F8A8}"/>
              </a:ext>
            </a:extLst>
          </p:cNvPr>
          <p:cNvCxnSpPr>
            <a:cxnSpLocks/>
          </p:cNvCxnSpPr>
          <p:nvPr/>
        </p:nvCxnSpPr>
        <p:spPr>
          <a:xfrm>
            <a:off x="1331595" y="3356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/>
              <p:nvPr/>
            </p:nvSpPr>
            <p:spPr>
              <a:xfrm>
                <a:off x="2154555" y="218313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555" y="218313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/>
              <p:nvPr/>
            </p:nvSpPr>
            <p:spPr>
              <a:xfrm>
                <a:off x="5674995" y="292706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4995" y="292706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/>
              <p:nvPr/>
            </p:nvSpPr>
            <p:spPr>
              <a:xfrm>
                <a:off x="365760" y="292706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" y="292706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/>
              <p:nvPr/>
            </p:nvSpPr>
            <p:spPr>
              <a:xfrm>
                <a:off x="1925955" y="5241936"/>
                <a:ext cx="262128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32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3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5955" y="5241936"/>
                <a:ext cx="2621280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8514DCB2-562C-5519-EC21-4EA56B154772}"/>
              </a:ext>
            </a:extLst>
          </p:cNvPr>
          <p:cNvCxnSpPr>
            <a:cxnSpLocks/>
          </p:cNvCxnSpPr>
          <p:nvPr/>
        </p:nvCxnSpPr>
        <p:spPr>
          <a:xfrm>
            <a:off x="6513195" y="3356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/>
              <p:nvPr/>
            </p:nvSpPr>
            <p:spPr>
              <a:xfrm>
                <a:off x="7431405" y="218313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2183130"/>
                <a:ext cx="2164080" cy="2346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/>
              <p:nvPr/>
            </p:nvSpPr>
            <p:spPr>
              <a:xfrm>
                <a:off x="10890783" y="2927062"/>
                <a:ext cx="59055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90783" y="2927062"/>
                <a:ext cx="590550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/>
              <p:nvPr/>
            </p:nvSpPr>
            <p:spPr>
              <a:xfrm>
                <a:off x="7431405" y="5213659"/>
                <a:ext cx="262128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ko-KR" altLang="en-US" sz="32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5213659"/>
                <a:ext cx="2621280" cy="5847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23982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3436E-AD26-A468-3DD1-936CDE57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763A47-EBF4-66BE-6CA3-D462E5AD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24BF91A-2317-B6DF-AF0D-C3CF326A6F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CDD7F5-5E7E-A439-0189-2DE625BE9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015" y="1717450"/>
            <a:ext cx="7982459" cy="255872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E8C7DD6-2189-B79E-911A-96DA77508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876" y="4228551"/>
            <a:ext cx="7936735" cy="1912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1482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76FEF-78EE-44A5-2AA8-B58C4EE7B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86F614-D7E5-C32C-DBA3-8B4425D0E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EBB8C4-EB3A-7146-BD71-9E5A3DCDAE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B493024-8CAB-4316-C57C-3E230677E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46" y="2428767"/>
            <a:ext cx="2598503" cy="2794423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AC10E04-853C-47EB-871D-F4BE3414E8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481947"/>
              </p:ext>
            </p:extLst>
          </p:nvPr>
        </p:nvGraphicFramePr>
        <p:xfrm>
          <a:off x="4720662" y="1825844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8739568-9AF2-1CE4-75FB-91FB3C3135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3725685"/>
              </p:ext>
            </p:extLst>
          </p:nvPr>
        </p:nvGraphicFramePr>
        <p:xfrm>
          <a:off x="4720662" y="3537693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66EDAE3-4767-EED0-CBF5-AA17C01489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0741551"/>
              </p:ext>
            </p:extLst>
          </p:nvPr>
        </p:nvGraphicFramePr>
        <p:xfrm>
          <a:off x="4720662" y="5249541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09FC970-6C0C-5210-5CF8-DF8A8688AA9F}"/>
              </a:ext>
            </a:extLst>
          </p:cNvPr>
          <p:cNvCxnSpPr/>
          <p:nvPr/>
        </p:nvCxnSpPr>
        <p:spPr>
          <a:xfrm>
            <a:off x="6448425" y="242876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D7FCB08B-66F4-87B4-F20A-1C1F228A178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1972671"/>
            <a:ext cx="1275596" cy="932453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FF9ECC-D489-D531-04CB-660570D27766}"/>
              </a:ext>
            </a:extLst>
          </p:cNvPr>
          <p:cNvCxnSpPr/>
          <p:nvPr/>
        </p:nvCxnSpPr>
        <p:spPr>
          <a:xfrm>
            <a:off x="6448425" y="4085469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ED2C4F28-A8D7-E629-52F3-B22D35BF1DB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3629373"/>
            <a:ext cx="1275596" cy="932453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076D93C3-BD31-7E72-215F-5FE172046051}"/>
              </a:ext>
            </a:extLst>
          </p:cNvPr>
          <p:cNvCxnSpPr/>
          <p:nvPr/>
        </p:nvCxnSpPr>
        <p:spPr>
          <a:xfrm>
            <a:off x="6448425" y="572441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C2480E6-96FC-6497-206C-4BFB17FE193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5268321"/>
            <a:ext cx="1275596" cy="93245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C829464-9279-84EB-6813-6716E7DE07F4}"/>
              </a:ext>
            </a:extLst>
          </p:cNvPr>
          <p:cNvSpPr txBox="1"/>
          <p:nvPr/>
        </p:nvSpPr>
        <p:spPr>
          <a:xfrm>
            <a:off x="4558164" y="1446528"/>
            <a:ext cx="18902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Horizontal/Diagonal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9C038D-B952-75DF-7487-E820508392FE}"/>
              </a:ext>
            </a:extLst>
          </p:cNvPr>
          <p:cNvSpPr txBox="1"/>
          <p:nvPr/>
        </p:nvSpPr>
        <p:spPr>
          <a:xfrm>
            <a:off x="4463200" y="317045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Vertical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957353-B9AF-67E0-FD62-F604366BA6B8}"/>
              </a:ext>
            </a:extLst>
          </p:cNvPr>
          <p:cNvSpPr txBox="1"/>
          <p:nvPr/>
        </p:nvSpPr>
        <p:spPr>
          <a:xfrm>
            <a:off x="4457111" y="489438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3822090-781C-26D4-44D4-D099E1A52510}"/>
              </a:ext>
            </a:extLst>
          </p:cNvPr>
          <p:cNvCxnSpPr/>
          <p:nvPr/>
        </p:nvCxnSpPr>
        <p:spPr>
          <a:xfrm>
            <a:off x="3818936" y="4075836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29216AF-ED58-F476-6F5F-2AE0673A1E56}"/>
              </a:ext>
            </a:extLst>
          </p:cNvPr>
          <p:cNvCxnSpPr>
            <a:cxnSpLocks/>
          </p:cNvCxnSpPr>
          <p:nvPr/>
        </p:nvCxnSpPr>
        <p:spPr>
          <a:xfrm>
            <a:off x="3742736" y="5495061"/>
            <a:ext cx="543514" cy="229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6498FB2-D6A6-1546-F077-2010C4599970}"/>
              </a:ext>
            </a:extLst>
          </p:cNvPr>
          <p:cNvCxnSpPr>
            <a:cxnSpLocks/>
          </p:cNvCxnSpPr>
          <p:nvPr/>
        </p:nvCxnSpPr>
        <p:spPr>
          <a:xfrm flipV="1">
            <a:off x="3818936" y="2428767"/>
            <a:ext cx="467314" cy="218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874F86C5-F736-36B6-94DA-A81A5A3E5C42}"/>
              </a:ext>
            </a:extLst>
          </p:cNvPr>
          <p:cNvSpPr/>
          <p:nvPr/>
        </p:nvSpPr>
        <p:spPr>
          <a:xfrm>
            <a:off x="9187330" y="2347791"/>
            <a:ext cx="2598503" cy="3141743"/>
          </a:xfrm>
          <a:prstGeom prst="rightArrow">
            <a:avLst>
              <a:gd name="adj1" fmla="val 73016"/>
              <a:gd name="adj2" fmla="val 50000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각각의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Kernel (Filter)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결과를 구한 후 모두 더하면</a:t>
            </a:r>
          </a:p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76815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04758-D90C-D4C6-EB41-2CB55EACE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AAE4BC-6ECA-D1AC-38AB-C93BACD30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CFAE41E-0C23-D25B-F5A3-DA67C87B820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6D3A29D-2578-CF1A-0E4C-BF36B1ADF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6805" y="2219225"/>
            <a:ext cx="5822999" cy="33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7681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3433B-C0D4-0981-2B95-FD587758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DEC314-7FED-69FA-5CBC-E48F1CF6D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9DFE7A3-DBCC-EA3B-A967-4C786A77D9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45F4F4F-5BF8-05D7-4FEB-E31A73BEC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430" y="2310714"/>
            <a:ext cx="9181581" cy="39081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D30DB2E-4ED6-F150-9668-12DD706B081F}"/>
              </a:ext>
            </a:extLst>
          </p:cNvPr>
          <p:cNvSpPr txBox="1"/>
          <p:nvPr/>
        </p:nvSpPr>
        <p:spPr>
          <a:xfrm>
            <a:off x="475645" y="1248422"/>
            <a:ext cx="112972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28 by 28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최종적으로는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이미지로 특성을 표현한 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 Network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다시 표현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(Data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Rpresentation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What is CNN?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354806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4EA85-557B-2909-DB66-4055451DF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0445AE-C183-3910-416F-DB0B09343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317419E-04B5-153B-9DB8-F3120B3EE9B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653024-713F-9DE4-50B8-126CD14F06FB}"/>
              </a:ext>
            </a:extLst>
          </p:cNvPr>
          <p:cNvSpPr txBox="1"/>
          <p:nvPr/>
        </p:nvSpPr>
        <p:spPr>
          <a:xfrm>
            <a:off x="475645" y="1248422"/>
            <a:ext cx="1129725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통해 생성한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서브샘플링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(subsample,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 크기를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연산 부하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(computational load),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 사용량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(memory usage),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그리고 파라미터 개수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(number of parameters)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줄이는 것으로 그 결과 모델의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위험을 방지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8AB133-7A6E-A64A-2248-2F7A9BAA4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801" y="2909961"/>
            <a:ext cx="7049449" cy="299857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01F2049-E655-A9F9-92FD-1AAA28AE22C0}"/>
              </a:ext>
            </a:extLst>
          </p:cNvPr>
          <p:cNvSpPr txBox="1"/>
          <p:nvPr/>
        </p:nvSpPr>
        <p:spPr>
          <a:xfrm>
            <a:off x="9262975" y="4776248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32972D-DA00-C47B-7806-9AC805EC2938}"/>
              </a:ext>
            </a:extLst>
          </p:cNvPr>
          <p:cNvSpPr txBox="1"/>
          <p:nvPr/>
        </p:nvSpPr>
        <p:spPr>
          <a:xfrm>
            <a:off x="9263221" y="2981050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Max pooling Map</a:t>
            </a:r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981D003-6310-22A5-1BFC-F5A6FDA1FCFA}"/>
              </a:ext>
            </a:extLst>
          </p:cNvPr>
          <p:cNvCxnSpPr>
            <a:cxnSpLocks/>
          </p:cNvCxnSpPr>
          <p:nvPr/>
        </p:nvCxnSpPr>
        <p:spPr>
          <a:xfrm flipV="1">
            <a:off x="10155425" y="3396682"/>
            <a:ext cx="0" cy="1256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F2964CC-907A-79C3-EF81-7292B7588E7B}"/>
              </a:ext>
            </a:extLst>
          </p:cNvPr>
          <p:cNvSpPr txBox="1"/>
          <p:nvPr/>
        </p:nvSpPr>
        <p:spPr>
          <a:xfrm>
            <a:off x="9277326" y="3851685"/>
            <a:ext cx="2285143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402612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05597-2E63-8680-97C9-8A0379C36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265282-DEE6-0646-E27C-CAB0D336B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86F3F87-E80C-B7E8-19A7-5F227D10B3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14A798-1EC4-0DBB-1C3A-3CF3FAAABB8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개념적이고 직관적으로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https://poloclub.github.io/cnn-explainer/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에서 이해하자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4D1AA27-A75B-37EC-B74E-57B16DF77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25" y="1841763"/>
            <a:ext cx="9553575" cy="4194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6418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A9EA-7B98-FDFF-D632-5B74C05F4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9D6E01-CC06-45F3-0DF9-854F5E91B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5D5D00C-8810-FA27-6317-9E2B3F7CB8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AutoShape 2" descr="image">
            <a:extLst>
              <a:ext uri="{FF2B5EF4-FFF2-40B4-BE49-F238E27FC236}">
                <a16:creationId xmlns:a16="http://schemas.microsoft.com/office/drawing/2014/main" id="{91F0AC56-1AD8-E77D-393F-3FA0F42C87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B5D35AD-5B9D-3D46-8ED8-43517A6EED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490" y="1596194"/>
            <a:ext cx="9315406" cy="45188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A92472-7FFC-DEC8-94A2-CC8097F8CD44}"/>
              </a:ext>
            </a:extLst>
          </p:cNvPr>
          <p:cNvSpPr txBox="1"/>
          <p:nvPr/>
        </p:nvSpPr>
        <p:spPr>
          <a:xfrm>
            <a:off x="5062537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18AD35-208A-BBC6-C996-79BA16B24E7C}"/>
              </a:ext>
            </a:extLst>
          </p:cNvPr>
          <p:cNvSpPr txBox="1"/>
          <p:nvPr/>
        </p:nvSpPr>
        <p:spPr>
          <a:xfrm>
            <a:off x="8142286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20292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D9480-18CF-B9A7-CCAF-349FDA51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C7A2EA71-FBFE-0880-F545-5E313F254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86" y="1426419"/>
            <a:ext cx="8575192" cy="4974967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C1D34F-18C8-28AB-C0F1-93CE7D56E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9144C6-22C4-6B31-706F-C163569EC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B1D0B-EF63-6FF1-0A87-488C8FD4BEFA}"/>
              </a:ext>
            </a:extLst>
          </p:cNvPr>
          <p:cNvSpPr txBox="1"/>
          <p:nvPr/>
        </p:nvSpPr>
        <p:spPr>
          <a:xfrm>
            <a:off x="5061355" y="4472286"/>
            <a:ext cx="5768052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2D62138-00D1-EFBB-712E-D7834DDFEB3F}"/>
              </a:ext>
            </a:extLst>
          </p:cNvPr>
          <p:cNvSpPr/>
          <p:nvPr/>
        </p:nvSpPr>
        <p:spPr>
          <a:xfrm>
            <a:off x="568786" y="3981450"/>
            <a:ext cx="4003214" cy="25979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F511E3F-A021-6230-AD76-2912813CF33B}"/>
              </a:ext>
            </a:extLst>
          </p:cNvPr>
          <p:cNvSpPr/>
          <p:nvPr/>
        </p:nvSpPr>
        <p:spPr>
          <a:xfrm>
            <a:off x="4572000" y="3567143"/>
            <a:ext cx="1149812" cy="395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3117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BDC2-A382-4A4D-157D-EE18505D7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0CA468-3996-572D-81CB-6453D1224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68A2A7A-D234-221B-8C55-A5C68FC94F7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2E3F41B-E085-7A20-6E9B-106114ADA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9913122"/>
              </p:ext>
            </p:extLst>
          </p:nvPr>
        </p:nvGraphicFramePr>
        <p:xfrm>
          <a:off x="741182" y="1723456"/>
          <a:ext cx="11013938" cy="4244156"/>
        </p:xfrm>
        <a:graphic>
          <a:graphicData uri="http://schemas.openxmlformats.org/drawingml/2006/table">
            <a:tbl>
              <a:tblPr/>
              <a:tblGrid>
                <a:gridCol w="565509">
                  <a:extLst>
                    <a:ext uri="{9D8B030D-6E8A-4147-A177-3AD203B41FA5}">
                      <a16:colId xmlns:a16="http://schemas.microsoft.com/office/drawing/2014/main" val="1466050574"/>
                    </a:ext>
                  </a:extLst>
                </a:gridCol>
                <a:gridCol w="1761629">
                  <a:extLst>
                    <a:ext uri="{9D8B030D-6E8A-4147-A177-3AD203B41FA5}">
                      <a16:colId xmlns:a16="http://schemas.microsoft.com/office/drawing/2014/main" val="1415194089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88953976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470009430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1352959133"/>
                    </a:ext>
                  </a:extLst>
                </a:gridCol>
                <a:gridCol w="5313680">
                  <a:extLst>
                    <a:ext uri="{9D8B030D-6E8A-4147-A177-3AD203B41FA5}">
                      <a16:colId xmlns:a16="http://schemas.microsoft.com/office/drawing/2014/main" val="2542550803"/>
                    </a:ext>
                  </a:extLst>
                </a:gridCol>
              </a:tblGrid>
              <a:tr h="29846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 이름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함수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형태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 형태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Output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가중치 초기화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Variance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Scaling)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역할 및 특징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2553702"/>
                  </a:ext>
                </a:extLst>
              </a:tr>
              <a:tr h="33381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0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(</a:t>
                      </a:r>
                      <a:r>
                        <a:rPr lang="ko-KR" altLang="en-US" sz="1200" b="1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-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세로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28, 1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채널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흑백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입력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780401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 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8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이미지의 기본 특징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면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792075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(2,2)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영역에서 가장 큰 값만 추출하여 이미지 크기를 절반으로 축소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9161666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16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더 복잡하고 고차원적인 특징 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943306"/>
                  </a:ext>
                </a:extLst>
              </a:tr>
              <a:tr h="47519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4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크기를 다시 한번 절반으로 축소하여 핵심 특징만 압축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094793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5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Flatten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평탄화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 특징 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(4,4,16) = 4*4*16 = 256)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차원의 긴 벡터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줄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 펼침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645248"/>
                  </a:ext>
                </a:extLst>
              </a:tr>
              <a:tr h="54588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6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Dense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출력층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256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개의 특징을 받아 최종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 클래스에 대한 확률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Softmax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계산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5990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52952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195C9-CBD6-04D8-FBF3-C2DA3C108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433317-6503-12B5-BE98-B0C3875E3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A38AE24-0C70-B4AA-1215-8F33EBCAFC8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1041D4-64F8-978A-EE22-5E9930A7A837}"/>
              </a:ext>
            </a:extLst>
          </p:cNvPr>
          <p:cNvSpPr txBox="1"/>
          <p:nvPr/>
        </p:nvSpPr>
        <p:spPr>
          <a:xfrm>
            <a:off x="559261" y="1584070"/>
            <a:ext cx="6260639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입력 채널별로 서로 다른 가중치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(Weight)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필터를 사용하여 각각 연산한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결과들을 모두 더해서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합산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하나의 특성 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필터가 가로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평면 격자가 아니라 하지만 실제는 입력 데이터의 채널 수와 똑같은 두께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(Depth)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블록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(tensor (3,3,3))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입체블록 필터당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장이 나오고 여기에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bias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생성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F8F1156-1F00-1107-B89D-64F92419D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5AF6C3-4719-C491-25E7-A315FAF1BC48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04B1C2-BFE8-1DE2-C675-A40349A4CAD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</p:spTree>
    <p:extLst>
      <p:ext uri="{BB962C8B-B14F-4D97-AF65-F5344CB8AC3E}">
        <p14:creationId xmlns:p14="http://schemas.microsoft.com/office/powerpoint/2010/main" val="6122298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04D15-DBFC-4F83-0427-E2AD323FB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71F83A-28A0-E9E7-0E51-65E2E9D50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D330097-C40F-BB9D-A40F-9B1E0C908A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185031C-A522-6D3E-2308-3628A3B3EC40}"/>
              </a:ext>
            </a:extLst>
          </p:cNvPr>
          <p:cNvSpPr txBox="1"/>
          <p:nvPr/>
        </p:nvSpPr>
        <p:spPr>
          <a:xfrm>
            <a:off x="475645" y="2107473"/>
            <a:ext cx="6613064" cy="3378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layers require a huge amount of RAM especially during training, because the reverse pass of backpropagation requires all the intermediate values computed during the forward pass.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For example, consider a convolutional layer with 5 × 5 filters, outputting 200 feature maps of size 150 × 100, with stride 1 and "same" padding. If input is a 150 × 100 RGB image (three channels)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How many parameters to be calculated during training ?</a:t>
            </a:r>
            <a:endParaRPr lang="ko-KR" altLang="en-US" sz="16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8EB3AAF-50FF-8BBA-8A7B-8BA1F4BF67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E097B0-4136-2CBE-9F37-929DF9865E60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222F3A-BE5A-5573-B6B4-B845A81A67C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</p:spTree>
    <p:extLst>
      <p:ext uri="{BB962C8B-B14F-4D97-AF65-F5344CB8AC3E}">
        <p14:creationId xmlns:p14="http://schemas.microsoft.com/office/powerpoint/2010/main" val="36038761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22BA2-FAF4-3BB4-5F9A-124C05A4F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7AF5A7-36C6-3EF5-98CD-A8E7152EF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F03FEBC-9372-DB03-41EA-F44D2CAC02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/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CNN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파라미터 계산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(5 x 5 x 3 + 1) x 200 = 15,200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FNN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인 경우보다는 적지만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Filter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200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개이면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총 뉴런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데이터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150 x 100 x 200 = 3,000,000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컴퓨터는 이 숫자 하나를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32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비트 실수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(float32 = 4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저장하면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3,000,000 x 4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= 12,000,000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60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≈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 12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MB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blipFill>
                <a:blip r:embed="rId2"/>
                <a:stretch>
                  <a:fillRect l="-276" b="-254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B66E6CDD-E84D-4DC3-6A16-4201748656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1CC526-5FAD-A039-E81D-8BC75F9ECB19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2D8120-ED9A-27A1-E7D4-C6E606C3BED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F0CC92-FBAC-FB79-C1A0-A9E0D08DD295}"/>
              </a:ext>
            </a:extLst>
          </p:cNvPr>
          <p:cNvSpPr txBox="1"/>
          <p:nvPr/>
        </p:nvSpPr>
        <p:spPr>
          <a:xfrm>
            <a:off x="525883" y="1781576"/>
            <a:ext cx="2031539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endParaRPr lang="ko-KR" alt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2D5FD6-F697-B102-AF41-A1D21A1066BC}"/>
              </a:ext>
            </a:extLst>
          </p:cNvPr>
          <p:cNvSpPr txBox="1"/>
          <p:nvPr/>
        </p:nvSpPr>
        <p:spPr>
          <a:xfrm>
            <a:off x="714043" y="4604837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12MB, 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 묶음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 = 100) = 1.2GB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BC7E95-D4A5-05A2-F8D5-FC06CF584824}"/>
              </a:ext>
            </a:extLst>
          </p:cNvPr>
          <p:cNvSpPr txBox="1"/>
          <p:nvPr/>
        </p:nvSpPr>
        <p:spPr>
          <a:xfrm>
            <a:off x="525883" y="4267488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(100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A44078-D04C-0EE6-DC61-F5FBA7AFAE7E}"/>
              </a:ext>
            </a:extLst>
          </p:cNvPr>
          <p:cNvSpPr txBox="1"/>
          <p:nvPr/>
        </p:nvSpPr>
        <p:spPr>
          <a:xfrm>
            <a:off x="715243" y="5656539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1.2GB x 50 = 60GB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6266A9-7625-680E-D8E7-6E1BAC3CDDC2}"/>
              </a:ext>
            </a:extLst>
          </p:cNvPr>
          <p:cNvSpPr txBox="1"/>
          <p:nvPr/>
        </p:nvSpPr>
        <p:spPr>
          <a:xfrm>
            <a:off x="525883" y="5319825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50 layers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VGG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912387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39BB7-974B-332B-B2D3-8F848B699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486036-67A2-7FAF-876B-EF23FFD76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FEC2FC1-D246-D6ED-7695-386F0C4FC4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9A7F2C-B040-9181-C381-0EAF79249ED2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https://tensorspace.org/html/playground/lenet.html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7F37AE7-162E-24C9-7A48-A38714B8D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811" y="1799944"/>
            <a:ext cx="4032690" cy="4645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7376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1A4A9-C8E4-CEAE-D281-5907F964D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270069-61B1-19EE-E56A-685854865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6393488-7234-FE8B-4CA8-0977643A76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585D06-EBAA-D2AC-1891-2DBE98D5B6A3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https://stanford.edu/~shervine/teaching/cs-230/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A294C0E-8F2F-FF9B-4E00-D850332D3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575" y="1886593"/>
            <a:ext cx="8733012" cy="4489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0566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7DB1F-676C-0784-635D-DC8BC8B39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9DA331-3E36-5837-C27C-09B919AF8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2C22D0A-1313-B903-6F04-E982F4C627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9F0B72-DDC7-18AA-B22F-73829F19987C}"/>
              </a:ext>
            </a:extLst>
          </p:cNvPr>
          <p:cNvSpPr txBox="1"/>
          <p:nvPr/>
        </p:nvSpPr>
        <p:spPr>
          <a:xfrm>
            <a:off x="644986" y="1236259"/>
            <a:ext cx="11012385" cy="1074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Kernel Size and Why Everyone Loves 3x3 - Neural Network 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이해하자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(8,6,6)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각 채널에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Kernel(3,3)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동일하게 적용하여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합산 값을 출력하는 것을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kernel)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tensor(8,4,4)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생성하는 과정을 이해하자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4ECD689-EE52-C02C-F285-18FE07FE3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586" y="2353214"/>
            <a:ext cx="6533557" cy="34951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3C82CD-F634-E04D-08CC-C281BB8C06F5}"/>
              </a:ext>
            </a:extLst>
          </p:cNvPr>
          <p:cNvSpPr txBox="1"/>
          <p:nvPr/>
        </p:nvSpPr>
        <p:spPr>
          <a:xfrm>
            <a:off x="644986" y="2703734"/>
            <a:ext cx="4147994" cy="89370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(8,3,3),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kernel(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색상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(8,4,4)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F0DC8-FCD6-0460-7E81-40F156D07A60}"/>
              </a:ext>
            </a:extLst>
          </p:cNvPr>
          <p:cNvSpPr txBox="1"/>
          <p:nvPr/>
        </p:nvSpPr>
        <p:spPr>
          <a:xfrm>
            <a:off x="591646" y="4909491"/>
            <a:ext cx="4201334" cy="89370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size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(20,4,4)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29CD3A76-F298-88C6-B9BA-F1D593B0FB72}"/>
              </a:ext>
            </a:extLst>
          </p:cNvPr>
          <p:cNvSpPr/>
          <p:nvPr/>
        </p:nvSpPr>
        <p:spPr>
          <a:xfrm>
            <a:off x="1657453" y="3859237"/>
            <a:ext cx="495300" cy="76962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5A5A8A-B0F5-B4B1-8BA3-06BCBBF93A66}"/>
              </a:ext>
            </a:extLst>
          </p:cNvPr>
          <p:cNvSpPr txBox="1"/>
          <p:nvPr/>
        </p:nvSpPr>
        <p:spPr>
          <a:xfrm>
            <a:off x="2160373" y="3882097"/>
            <a:ext cx="2685947" cy="617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만약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적용하면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고차원의 특징을 추출</a:t>
            </a:r>
          </a:p>
        </p:txBody>
      </p:sp>
    </p:spTree>
    <p:extLst>
      <p:ext uri="{BB962C8B-B14F-4D97-AF65-F5344CB8AC3E}">
        <p14:creationId xmlns:p14="http://schemas.microsoft.com/office/powerpoint/2010/main" val="375190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03301-AE56-CCC2-E058-B6282D923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0CF469-4F35-2832-B86C-98FE6895C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882B39C-9C81-C646-1138-B35886C437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494596-39F6-615D-9013-605F03C9C1FC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https://tensorspace.org/html/playground/alexnet.html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784A6AC-36E5-6717-E624-829B1E3EE9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633" y="2002698"/>
            <a:ext cx="5132427" cy="3895526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D6D5C0B1-50E1-7852-0909-A389784D9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193" y="3079433"/>
            <a:ext cx="2162175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22032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23E6-C186-5967-405A-469653BF4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501DF0-79A4-9D88-88E3-47B8FAEBD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54753E9-190B-64FD-1066-166374E976B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A295DC-FE1F-4E93-BF82-21DBF8647E1C}"/>
              </a:ext>
            </a:extLst>
          </p:cNvPr>
          <p:cNvSpPr txBox="1"/>
          <p:nvPr/>
        </p:nvSpPr>
        <p:spPr>
          <a:xfrm>
            <a:off x="615386" y="404323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6 kernels (5,5) size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933C2A-CDC7-01E7-A9FB-0129F1C095B1}"/>
              </a:ext>
            </a:extLst>
          </p:cNvPr>
          <p:cNvSpPr txBox="1"/>
          <p:nvPr/>
        </p:nvSpPr>
        <p:spPr>
          <a:xfrm>
            <a:off x="4284573" y="5235941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700" dirty="0">
              <a:solidFill>
                <a:srgbClr val="0070C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5B8366-0E8D-4FF5-CC85-F97104EC05B8}"/>
              </a:ext>
            </a:extLst>
          </p:cNvPr>
          <p:cNvSpPr txBox="1"/>
          <p:nvPr/>
        </p:nvSpPr>
        <p:spPr>
          <a:xfrm>
            <a:off x="2539648" y="4450501"/>
            <a:ext cx="5213702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c1 = </a:t>
            </a:r>
            <a:r>
              <a:rPr lang="en-US" altLang="ko-KR" sz="17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(conv1(input))</a:t>
            </a:r>
          </a:p>
          <a:p>
            <a:pPr>
              <a:lnSpc>
                <a:spcPts val="1575"/>
              </a:lnSpc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s2 = max_pool2d(c1, (2, 2))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default stride 2</a:t>
            </a:r>
            <a:endParaRPr lang="en-US" altLang="ko-KR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C9410A-0A63-BE47-A995-323F026ECD29}"/>
              </a:ext>
            </a:extLst>
          </p:cNvPr>
          <p:cNvSpPr txBox="1"/>
          <p:nvPr/>
        </p:nvSpPr>
        <p:spPr>
          <a:xfrm>
            <a:off x="5652526" y="5609153"/>
            <a:ext cx="3106268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c3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(conv2(s2))</a:t>
            </a:r>
          </a:p>
          <a:p>
            <a:pPr>
              <a:lnSpc>
                <a:spcPts val="1575"/>
              </a:lnSpc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s4 = max_pool2d(c3, 2)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1FB92E3-A8B3-1860-A8D2-D3C01D75F34D}"/>
              </a:ext>
            </a:extLst>
          </p:cNvPr>
          <p:cNvSpPr txBox="1"/>
          <p:nvPr/>
        </p:nvSpPr>
        <p:spPr>
          <a:xfrm>
            <a:off x="7629878" y="4316088"/>
            <a:ext cx="22098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f5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(fc1(s4))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CDE3A0-3FAD-7D02-45A2-9581E9FB538A}"/>
              </a:ext>
            </a:extLst>
          </p:cNvPr>
          <p:cNvSpPr txBox="1"/>
          <p:nvPr/>
        </p:nvSpPr>
        <p:spPr>
          <a:xfrm>
            <a:off x="7601303" y="3984329"/>
            <a:ext cx="3725393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AB45F0-CC27-8FA1-476D-1076192763AC}"/>
              </a:ext>
            </a:extLst>
          </p:cNvPr>
          <p:cNvSpPr txBox="1"/>
          <p:nvPr/>
        </p:nvSpPr>
        <p:spPr>
          <a:xfrm>
            <a:off x="8556213" y="5051686"/>
            <a:ext cx="30480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f6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(fc2(f5))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1E201A-8E26-8118-AACB-8EB48FD819CF}"/>
              </a:ext>
            </a:extLst>
          </p:cNvPr>
          <p:cNvSpPr txBox="1"/>
          <p:nvPr/>
        </p:nvSpPr>
        <p:spPr>
          <a:xfrm>
            <a:off x="8555860" y="4740643"/>
            <a:ext cx="2807818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9CA255-2078-8A4F-5EC2-BB49E33B223E}"/>
              </a:ext>
            </a:extLst>
          </p:cNvPr>
          <p:cNvSpPr txBox="1"/>
          <p:nvPr/>
        </p:nvSpPr>
        <p:spPr>
          <a:xfrm>
            <a:off x="9416374" y="5491889"/>
            <a:ext cx="2880401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E3EEAF-ECCE-33E6-4697-30873C0C8140}"/>
              </a:ext>
            </a:extLst>
          </p:cNvPr>
          <p:cNvSpPr txBox="1"/>
          <p:nvPr/>
        </p:nvSpPr>
        <p:spPr>
          <a:xfrm>
            <a:off x="9444949" y="5668033"/>
            <a:ext cx="30480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output = fc3(f6)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C775A2-21E3-1FE0-519E-60744981280A}"/>
              </a:ext>
            </a:extLst>
          </p:cNvPr>
          <p:cNvSpPr txBox="1"/>
          <p:nvPr/>
        </p:nvSpPr>
        <p:spPr>
          <a:xfrm>
            <a:off x="153424" y="2407301"/>
            <a:ext cx="9239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57CDA5-0BF4-B589-9B91-C2BC97CA256B}"/>
              </a:ext>
            </a:extLst>
          </p:cNvPr>
          <p:cNvSpPr txBox="1"/>
          <p:nvPr/>
        </p:nvSpPr>
        <p:spPr>
          <a:xfrm>
            <a:off x="10906478" y="2407301"/>
            <a:ext cx="933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E6EE1B3C-BC1C-E1CA-4D4E-02977B303CBC}"/>
              </a:ext>
            </a:extLst>
          </p:cNvPr>
          <p:cNvCxnSpPr>
            <a:endCxn id="37" idx="1"/>
          </p:cNvCxnSpPr>
          <p:nvPr/>
        </p:nvCxnSpPr>
        <p:spPr>
          <a:xfrm>
            <a:off x="914400" y="2591967"/>
            <a:ext cx="99920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6" name="Picture 2" descr="convnet">
            <a:extLst>
              <a:ext uri="{FF2B5EF4-FFF2-40B4-BE49-F238E27FC236}">
                <a16:creationId xmlns:a16="http://schemas.microsoft.com/office/drawing/2014/main" id="{DD331A75-EF93-8703-2D1D-4A080F02D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261" y="1212407"/>
            <a:ext cx="9623988" cy="2664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DDCEE17-4310-5899-53B6-FDB293EF6933}"/>
              </a:ext>
            </a:extLst>
          </p:cNvPr>
          <p:cNvCxnSpPr/>
          <p:nvPr/>
        </p:nvCxnSpPr>
        <p:spPr>
          <a:xfrm>
            <a:off x="6938459" y="3979175"/>
            <a:ext cx="2981325" cy="225932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0545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7" grpId="0"/>
      <p:bldP spid="21" grpId="0"/>
      <p:bldP spid="23" grpId="0"/>
      <p:bldP spid="25" grpId="0"/>
      <p:bldP spid="27" grpId="0"/>
      <p:bldP spid="29" grpId="0"/>
      <p:bldP spid="31" grpId="0"/>
      <p:bldP spid="33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FC8E9-1480-D14F-3218-50A05B4B2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7837D5-6DB6-2250-2EDB-ED1007490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4D717FE-684C-8596-3AB0-D50C173A22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89358C-5555-4398-7724-9F76B86F6376}"/>
              </a:ext>
            </a:extLst>
          </p:cNvPr>
          <p:cNvSpPr txBox="1"/>
          <p:nvPr/>
        </p:nvSpPr>
        <p:spPr>
          <a:xfrm>
            <a:off x="656663" y="1353850"/>
            <a:ext cx="999172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layers,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create_lenet5_functional():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(shape=(32, 32, 1), name='INPUT')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c1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name='C1')(inputs)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s2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name='S2')(c1)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c3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name='C3')(s2)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s4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name='S4')(c3)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flatten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(name='Flatten')(s4)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f5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(units=120,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name='F5')(flatten)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f6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(units=84,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name='F6')(f5)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name='OUTPUT')(f6)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model = Model(inputs=inputs, outputs=outputs, name='LeNet-5_Functional')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create_lenet5_functional()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model.summary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252504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9F958-3BDA-3FFE-E645-A982A1A2D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9E2E4A-EB0F-287F-A2DD-C220B5D09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636AEFD-BF3F-3296-F968-799CD7094D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D57CDBD-A4CC-708E-95A2-6AF7C059CAD2}"/>
              </a:ext>
            </a:extLst>
          </p:cNvPr>
          <p:cNvSpPr txBox="1"/>
          <p:nvPr/>
        </p:nvSpPr>
        <p:spPr>
          <a:xfrm>
            <a:off x="4337121" y="4885168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700" dirty="0">
              <a:solidFill>
                <a:srgbClr val="0070C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CBC056-D535-E1B9-5DB5-A3663C96A3B1}"/>
              </a:ext>
            </a:extLst>
          </p:cNvPr>
          <p:cNvSpPr txBox="1"/>
          <p:nvPr/>
        </p:nvSpPr>
        <p:spPr>
          <a:xfrm>
            <a:off x="7601303" y="4885168"/>
            <a:ext cx="3725393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661C66-55C9-9061-F2C8-E1DA8675E487}"/>
              </a:ext>
            </a:extLst>
          </p:cNvPr>
          <p:cNvSpPr txBox="1"/>
          <p:nvPr/>
        </p:nvSpPr>
        <p:spPr>
          <a:xfrm>
            <a:off x="8270110" y="5346563"/>
            <a:ext cx="2807818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ED690-2B9B-0FA3-3AA1-F2D5557BEF1A}"/>
              </a:ext>
            </a:extLst>
          </p:cNvPr>
          <p:cNvSpPr txBox="1"/>
          <p:nvPr/>
        </p:nvSpPr>
        <p:spPr>
          <a:xfrm>
            <a:off x="9073810" y="5776484"/>
            <a:ext cx="2880401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43C8BC-5C24-0E67-DE73-D8F0DC055C0D}"/>
              </a:ext>
            </a:extLst>
          </p:cNvPr>
          <p:cNvSpPr txBox="1"/>
          <p:nvPr/>
        </p:nvSpPr>
        <p:spPr>
          <a:xfrm>
            <a:off x="615386" y="488516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Picture 2" descr="convnet">
            <a:extLst>
              <a:ext uri="{FF2B5EF4-FFF2-40B4-BE49-F238E27FC236}">
                <a16:creationId xmlns:a16="http://schemas.microsoft.com/office/drawing/2014/main" id="{9327724F-44BE-6FEA-79F4-0ED7F6EE49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261" y="2136332"/>
            <a:ext cx="9623988" cy="2664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D52EBEF-3037-B220-A219-86EC8F9139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8810" y="1614901"/>
            <a:ext cx="7381033" cy="517642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EDACD61-9235-DD25-2152-1FB6B03C2AE5}"/>
              </a:ext>
            </a:extLst>
          </p:cNvPr>
          <p:cNvSpPr txBox="1"/>
          <p:nvPr/>
        </p:nvSpPr>
        <p:spPr>
          <a:xfrm>
            <a:off x="475645" y="1220734"/>
            <a:ext cx="11022228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학습하여 추정할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단순 계산식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제외한 모든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Layer(CNN,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해당되는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4F8B3E9-6656-B670-1C20-E0BB382F03E3}"/>
              </a:ext>
            </a:extLst>
          </p:cNvPr>
          <p:cNvSpPr/>
          <p:nvPr/>
        </p:nvSpPr>
        <p:spPr>
          <a:xfrm>
            <a:off x="2590800" y="2743200"/>
            <a:ext cx="7667625" cy="51435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15F4673-6C3E-AB96-AF7E-7BDC08C3916F}"/>
              </a:ext>
            </a:extLst>
          </p:cNvPr>
          <p:cNvSpPr/>
          <p:nvPr/>
        </p:nvSpPr>
        <p:spPr>
          <a:xfrm>
            <a:off x="2590800" y="3590925"/>
            <a:ext cx="7667625" cy="51435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43411CE-70CE-5FE8-9A72-A9936CDF532D}"/>
              </a:ext>
            </a:extLst>
          </p:cNvPr>
          <p:cNvSpPr/>
          <p:nvPr/>
        </p:nvSpPr>
        <p:spPr>
          <a:xfrm>
            <a:off x="2590800" y="4705350"/>
            <a:ext cx="7667625" cy="139065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5698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02734-AA6A-E730-3531-0054C5EE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FFB6B3-4B54-5D5E-0596-98BAADA1B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DFADB4A-FE33-2CB5-920A-08149AB4CC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686F96D-48F0-A770-6A20-E3AC1FC84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099" y="1662889"/>
            <a:ext cx="9536749" cy="4461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375665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326FB-150E-BE96-08E2-07962246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74812A-4AB7-6AC8-E8CF-FBA1128EF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CBB2FC7-ABBB-6EF3-A901-A983D707DA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E399E9D-0E06-6644-28CE-43E6B8235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8356" y="1685745"/>
            <a:ext cx="9600234" cy="456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0850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C44D-F297-6601-F332-F8D92566E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FC0956-2267-AA70-ECAA-20AC1CE3B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F4A44E6-D3E3-3C22-7F65-FB46DBF447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YOLO algorithm?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2EE9355-BCE3-59B9-FB09-0D84B020E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724" y="1483553"/>
            <a:ext cx="7635902" cy="4892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4369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5463</TotalTime>
  <Words>2134</Words>
  <Application>Microsoft Office PowerPoint</Application>
  <PresentationFormat>와이드스크린</PresentationFormat>
  <Paragraphs>302</Paragraphs>
  <Slides>39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39</vt:i4>
      </vt:variant>
    </vt:vector>
  </HeadingPairs>
  <TitlesOfParts>
    <vt:vector size="47" baseType="lpstr">
      <vt:lpstr>D2Coding</vt:lpstr>
      <vt:lpstr>맑은 고딕</vt:lpstr>
      <vt:lpstr>맑은 고딕 Semilight</vt:lpstr>
      <vt:lpstr>Batang</vt:lpstr>
      <vt:lpstr>Arial</vt:lpstr>
      <vt:lpstr>Cambria Math</vt:lpstr>
      <vt:lpstr>Wingdings</vt:lpstr>
      <vt:lpstr>WelcomeDoc</vt:lpstr>
      <vt:lpstr>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113</cp:revision>
  <dcterms:created xsi:type="dcterms:W3CDTF">2026-04-06T01:00:39Z</dcterms:created>
  <dcterms:modified xsi:type="dcterms:W3CDTF">2026-06-25T02:55:45Z</dcterms:modified>
  <cp:version/>
</cp:coreProperties>
</file>