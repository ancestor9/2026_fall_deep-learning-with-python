
<file path=[Content_Types].xml><?xml version="1.0" encoding="utf-8"?>
<Types xmlns="http://schemas.openxmlformats.org/package/2006/content-types">
  <Default Extension="gif" ContentType="image/gif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19"/>
  </p:notesMasterIdLst>
  <p:handoutMasterIdLst>
    <p:handoutMasterId r:id="rId20"/>
  </p:handoutMasterIdLst>
  <p:sldIdLst>
    <p:sldId id="256" r:id="rId2"/>
    <p:sldId id="1094" r:id="rId3"/>
    <p:sldId id="978" r:id="rId4"/>
    <p:sldId id="1098" r:id="rId5"/>
    <p:sldId id="1099" r:id="rId6"/>
    <p:sldId id="1100" r:id="rId7"/>
    <p:sldId id="1101" r:id="rId8"/>
    <p:sldId id="1095" r:id="rId9"/>
    <p:sldId id="1096" r:id="rId10"/>
    <p:sldId id="1097" r:id="rId11"/>
    <p:sldId id="1102" r:id="rId12"/>
    <p:sldId id="1104" r:id="rId13"/>
    <p:sldId id="1105" r:id="rId14"/>
    <p:sldId id="1103" r:id="rId15"/>
    <p:sldId id="1107" r:id="rId16"/>
    <p:sldId id="1106" r:id="rId17"/>
    <p:sldId id="1109" r:id="rId18"/>
  </p:sldIdLst>
  <p:sldSz cx="12192000" cy="6858000"/>
  <p:notesSz cx="6858000" cy="9144000"/>
  <p:defaultTextStyle>
    <a:defPPr rtl="0">
      <a:defRPr lang="ko-K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감사합니다." id="{E75E278A-FF0E-49A4-B170-79828D63BBAD}">
          <p14:sldIdLst>
            <p14:sldId id="256"/>
          </p14:sldIdLst>
        </p14:section>
        <p14:section name="디자인, 모핑, 주석 달기, 공동 작업, 입력하세요" id="{B9B51309-D148-4332-87C2-07BE32FBCA3B}">
          <p14:sldIdLst>
            <p14:sldId id="1094"/>
            <p14:sldId id="978"/>
            <p14:sldId id="1098"/>
            <p14:sldId id="1099"/>
            <p14:sldId id="1100"/>
            <p14:sldId id="1101"/>
            <p14:sldId id="1095"/>
            <p14:sldId id="1096"/>
            <p14:sldId id="1097"/>
            <p14:sldId id="1102"/>
            <p14:sldId id="1104"/>
            <p14:sldId id="1105"/>
            <p14:sldId id="1103"/>
            <p14:sldId id="1107"/>
            <p14:sldId id="1106"/>
            <p14:sldId id="1109"/>
          </p14:sldIdLst>
        </p14:section>
        <p14:section name="자세한 정보" id="{2CC34DB2-6590-42C0-AD4B-A04C6060184E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만든 이" initials="오전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462F"/>
    <a:srgbClr val="76E3FF"/>
    <a:srgbClr val="FF9B45"/>
    <a:srgbClr val="D24726"/>
    <a:srgbClr val="404040"/>
    <a:srgbClr val="F8CFB6"/>
    <a:srgbClr val="F8CAB6"/>
    <a:srgbClr val="923922"/>
    <a:srgbClr val="F5F5F5"/>
    <a:srgbClr val="F2F2F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62" autoAdjust="0"/>
    <p:restoredTop sz="94297" autoAdjust="0"/>
  </p:normalViewPr>
  <p:slideViewPr>
    <p:cSldViewPr snapToGrid="0">
      <p:cViewPr>
        <p:scale>
          <a:sx n="100" d="100"/>
          <a:sy n="100" d="100"/>
        </p:scale>
        <p:origin x="106" y="-42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-59582"/>
    </p:cViewPr>
  </p:outlineViewPr>
  <p:notesTextViewPr>
    <p:cViewPr>
      <p:scale>
        <a:sx n="3" d="2"/>
        <a:sy n="3" d="2"/>
      </p:scale>
      <p:origin x="0" y="0"/>
    </p:cViewPr>
  </p:notesTextViewPr>
  <p:sorterViewPr>
    <p:cViewPr varScale="1">
      <p:scale>
        <a:sx n="1" d="1"/>
        <a:sy n="1" d="1"/>
      </p:scale>
      <p:origin x="0" y="-3864"/>
    </p:cViewPr>
  </p:sorterViewPr>
  <p:notesViewPr>
    <p:cSldViewPr snapToGrid="0">
      <p:cViewPr varScale="1">
        <p:scale>
          <a:sx n="104" d="100"/>
          <a:sy n="104" d="100"/>
        </p:scale>
        <p:origin x="4608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 rtl="0"/>
            <a:fld id="{424059DE-6CD5-4C59-8233-088CE5808E67}" type="datetime1">
              <a:rPr lang="ko-KR" altLang="en-US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2026-06-09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 rtl="0"/>
            <a:fld id="{9C679768-A2FC-4D08-91F6-8DCE6C566B36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‹#›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830255166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43E1C3DD-4A19-441D-907C-380838DB51C4}" type="datetime1">
              <a:rPr lang="ko-KR" altLang="en-US" noProof="0" smtClean="0"/>
              <a:t>2026-06-09</a:t>
            </a:fld>
            <a:endParaRPr lang="ko-KR" altLang="en-US" noProof="0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rt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ko-KR" altLang="en-US" noProof="0" dirty="0"/>
              <a:t>마스터 텍스트 스타일을 편집하려면 클릭하세요</a:t>
            </a:r>
            <a:r>
              <a:rPr lang="en-US" altLang="ko-KR" noProof="0" dirty="0"/>
              <a:t>.</a:t>
            </a:r>
          </a:p>
          <a:p>
            <a:pPr lvl="1" rtl="0"/>
            <a:r>
              <a:rPr lang="ko-KR" altLang="en-US" noProof="0" dirty="0"/>
              <a:t>둘째 수준</a:t>
            </a:r>
          </a:p>
          <a:p>
            <a:pPr lvl="2" rtl="0"/>
            <a:r>
              <a:rPr lang="ko-KR" altLang="en-US" noProof="0" dirty="0"/>
              <a:t>셋째 수준</a:t>
            </a:r>
          </a:p>
          <a:p>
            <a:pPr lvl="3" rtl="0"/>
            <a:r>
              <a:rPr lang="ko-KR" altLang="en-US" noProof="0" dirty="0"/>
              <a:t>넷째 수준</a:t>
            </a:r>
          </a:p>
          <a:p>
            <a:pPr lvl="4" rtl="0"/>
            <a:r>
              <a:rPr lang="ko-KR" altLang="en-US" noProof="0" dirty="0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DF61EA0F-A667-4B49-8422-0062BC55E249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3381910297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맑은 고딕" panose="020B0503020000020004" pitchFamily="50" charset="-127"/>
        <a:ea typeface="맑은 고딕" panose="020B0503020000020004" pitchFamily="50" charset="-127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 rtlCol="0"/>
          <a:lstStyle/>
          <a:p>
            <a:pPr rtl="0"/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 rtlCol="0"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1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101176981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837279-FA95-57FD-B2E0-B2C29D2843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D650D63E-DC71-4D37-5D4F-468F49D2D28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BF898BEE-6031-34C6-F089-690D943205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CC5BB30-C1B6-C7CA-4B6D-82E37F00068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rtl="0"/>
            <a:fld id="{DF61EA0F-A667-4B49-8422-0062BC55E249}" type="slidenum">
              <a:rPr lang="en-US" altLang="ko-KR" smtClean="0">
                <a:latin typeface="맑은 고딕" panose="020B0503020000020004" pitchFamily="50" charset="-127"/>
                <a:ea typeface="맑은 고딕" panose="020B0503020000020004" pitchFamily="50" charset="-127"/>
              </a:rPr>
              <a:t>2</a:t>
            </a:fld>
            <a:endParaRPr lang="ko-KR" altLang="en-US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7286978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 rtlCol="0"/>
          <a:lstStyle>
            <a:lvl1pPr>
              <a:defRPr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</p:spTree>
    <p:extLst>
      <p:ext uri="{BB962C8B-B14F-4D97-AF65-F5344CB8AC3E}">
        <p14:creationId xmlns:p14="http://schemas.microsoft.com/office/powerpoint/2010/main" val="17185494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12" name="직선 연결선(S)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제목 3"/>
          <p:cNvSpPr>
            <a:spLocks noGrp="1"/>
          </p:cNvSpPr>
          <p:nvPr>
            <p:ph type="title"/>
          </p:nvPr>
        </p:nvSpPr>
        <p:spPr>
          <a:xfrm>
            <a:off x="521207" y="448056"/>
            <a:ext cx="6877119" cy="640080"/>
          </a:xfrm>
        </p:spPr>
        <p:txBody>
          <a:bodyPr rtlCol="0" anchor="b" anchorCtr="0">
            <a:normAutofit/>
          </a:bodyPr>
          <a:lstStyle>
            <a:lvl1pPr>
              <a:defRPr sz="2800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quarter" idx="10" hasCustomPrompt="1"/>
          </p:nvPr>
        </p:nvSpPr>
        <p:spPr>
          <a:xfrm>
            <a:off x="539496" y="1435608"/>
            <a:ext cx="44165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  <p:sp>
        <p:nvSpPr>
          <p:cNvPr id="6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90475B5-67CA-4281-BDCA-DA943C3C8EB3}" type="datetime1">
              <a:rPr lang="ko-KR" altLang="en-US" noProof="0" smtClean="0"/>
              <a:t>2026-06-09</a:t>
            </a:fld>
            <a:endParaRPr lang="ko-KR" altLang="en-US" noProof="0"/>
          </a:p>
        </p:txBody>
      </p:sp>
      <p:sp>
        <p:nvSpPr>
          <p:cNvPr id="7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/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192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/>
          </a:p>
        </p:txBody>
      </p:sp>
    </p:spTree>
    <p:extLst>
      <p:ext uri="{BB962C8B-B14F-4D97-AF65-F5344CB8AC3E}">
        <p14:creationId xmlns:p14="http://schemas.microsoft.com/office/powerpoint/2010/main" val="218583654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0" name="직사각형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 rtlCol="0">
            <a:normAutofit/>
          </a:bodyPr>
          <a:lstStyle>
            <a:lvl1pPr>
              <a:defRPr sz="3600"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7" name="내용 개체 틀 6"/>
          <p:cNvSpPr>
            <a:spLocks noGrp="1"/>
          </p:cNvSpPr>
          <p:nvPr>
            <p:ph sz="quarter" idx="13" hasCustomPrompt="1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5pPr>
          </a:lstStyle>
          <a:p>
            <a:pPr marL="0" lvl="0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marL="0" lvl="1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둘째 수준</a:t>
            </a:r>
          </a:p>
          <a:p>
            <a:pPr marL="0" lvl="2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셋째 수준</a:t>
            </a:r>
          </a:p>
          <a:p>
            <a:pPr marL="0" lvl="3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넷째 수준</a:t>
            </a:r>
          </a:p>
          <a:p>
            <a:pPr marL="0" lvl="4" indent="0" rtl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ko-KR" altLang="en-US" noProof="0"/>
              <a:t>다섯째 수준</a:t>
            </a:r>
          </a:p>
        </p:txBody>
      </p:sp>
    </p:spTree>
    <p:extLst>
      <p:ext uri="{BB962C8B-B14F-4D97-AF65-F5344CB8AC3E}">
        <p14:creationId xmlns:p14="http://schemas.microsoft.com/office/powerpoint/2010/main" val="13356555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913795" y="139083"/>
            <a:ext cx="10353762" cy="766439"/>
          </a:xfrm>
        </p:spPr>
        <p:txBody>
          <a:bodyPr rtlCol="0">
            <a:normAutofit/>
          </a:bodyPr>
          <a:lstStyle>
            <a:lvl1pPr>
              <a:defRPr sz="3200">
                <a:latin typeface="Batang" panose="02030600000101010101" pitchFamily="18" charset="-127"/>
                <a:ea typeface="Batang" panose="02030600000101010101" pitchFamily="18" charset="-127"/>
              </a:defRPr>
            </a:lvl1pPr>
          </a:lstStyle>
          <a:p>
            <a:pPr rtl="0"/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913795" y="1127464"/>
            <a:ext cx="10353762" cy="4663735"/>
          </a:xfrm>
        </p:spPr>
        <p:txBody>
          <a:bodyPr rtlCol="0"/>
          <a:lstStyle>
            <a:lvl1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1pPr>
            <a:lvl2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2pPr>
            <a:lvl3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3pPr>
            <a:lvl4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4pPr>
            <a:lvl5pPr>
              <a:defRPr>
                <a:latin typeface="Batang" panose="02030600000101010101" pitchFamily="18" charset="-127"/>
                <a:ea typeface="Batang" panose="02030600000101010101" pitchFamily="18" charset="-127"/>
              </a:defRPr>
            </a:lvl5pPr>
          </a:lstStyle>
          <a:p>
            <a:pPr lvl="0" rtl="0"/>
            <a:r>
              <a:rPr lang="ko-KR" altLang="en-US" dirty="0"/>
              <a:t>마스터 텍스트 스타일을 편집하려면 클릭</a:t>
            </a:r>
          </a:p>
          <a:p>
            <a:pPr lvl="1" rtl="0"/>
            <a:r>
              <a:rPr lang="ko-KR" altLang="en-US" dirty="0"/>
              <a:t>두 번째 수준</a:t>
            </a:r>
          </a:p>
          <a:p>
            <a:pPr lvl="2" rtl="0"/>
            <a:r>
              <a:rPr lang="ko-KR" altLang="en-US" dirty="0"/>
              <a:t>세 번째 수준</a:t>
            </a:r>
          </a:p>
          <a:p>
            <a:pPr lvl="3" rtl="0"/>
            <a:r>
              <a:rPr lang="ko-KR" altLang="en-US" dirty="0"/>
              <a:t>네 번째 수준</a:t>
            </a:r>
          </a:p>
          <a:p>
            <a:pPr lvl="4" rtl="0"/>
            <a:r>
              <a:rPr lang="ko-KR" altLang="en-US" dirty="0"/>
              <a:t>다섯 번째 수준</a:t>
            </a:r>
            <a:endParaRPr lang="en-US" dirty="0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B4745536-17E2-EEF7-D107-B4146DE214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05924" y="6365874"/>
            <a:ext cx="355393" cy="393576"/>
          </a:xfrm>
          <a:prstGeom prst="rect">
            <a:avLst/>
          </a:prstGeom>
        </p:spPr>
      </p:pic>
      <p:sp>
        <p:nvSpPr>
          <p:cNvPr id="4" name="Date Placeholder 4">
            <a:extLst>
              <a:ext uri="{FF2B5EF4-FFF2-40B4-BE49-F238E27FC236}">
                <a16:creationId xmlns:a16="http://schemas.microsoft.com/office/drawing/2014/main" id="{3AC7079E-4A2B-916C-C464-65DEFE4341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678737" y="6198235"/>
            <a:ext cx="2743200" cy="365125"/>
          </a:xfrm>
          <a:prstGeom prst="rect">
            <a:avLst/>
          </a:prstGeom>
        </p:spPr>
        <p:txBody>
          <a:bodyPr/>
          <a:lstStyle/>
          <a:p>
            <a:fld id="{48A87A34-81AB-432B-8DAE-1953F412C126}" type="datetimeFigureOut">
              <a:rPr lang="en-US" smtClean="0"/>
              <a:t>6/9/2026</a:t>
            </a:fld>
            <a:endParaRPr lang="en-US" dirty="0"/>
          </a:p>
        </p:txBody>
      </p:sp>
      <p:sp>
        <p:nvSpPr>
          <p:cNvPr id="5" name="Footer Placeholder 5">
            <a:extLst>
              <a:ext uri="{FF2B5EF4-FFF2-40B4-BE49-F238E27FC236}">
                <a16:creationId xmlns:a16="http://schemas.microsoft.com/office/drawing/2014/main" id="{A9D00E07-4D48-7C0C-4DF1-A39D6E8BB9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913774" y="6198235"/>
            <a:ext cx="6672887" cy="365125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Slide Number Placeholder 6">
            <a:extLst>
              <a:ext uri="{FF2B5EF4-FFF2-40B4-BE49-F238E27FC236}">
                <a16:creationId xmlns:a16="http://schemas.microsoft.com/office/drawing/2014/main" id="{1DFF8BFD-50B2-6671-09A6-3F6A70B599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198235"/>
            <a:ext cx="764215" cy="365125"/>
          </a:xfrm>
          <a:prstGeom prst="rect">
            <a:avLst/>
          </a:prstGeom>
        </p:spPr>
        <p:txBody>
          <a:bodyPr/>
          <a:lstStyle/>
          <a:p>
            <a:fld id="{6D22F896-40B5-4ADD-8801-0D06FADFA095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30270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직사각형 6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 rtl="0"/>
            <a:endParaRPr lang="ko-KR" altLang="en-US" sz="1800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521208" y="448056"/>
            <a:ext cx="6876288" cy="640080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rmAutofit/>
          </a:bodyPr>
          <a:lstStyle/>
          <a:p>
            <a:pPr rtl="0"/>
            <a:r>
              <a:rPr lang="ko-KR" altLang="en-US" noProof="0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539496" y="1435608"/>
            <a:ext cx="4416552" cy="39776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ko-KR" altLang="en-US" noProof="0"/>
              <a:t>마스터 텍스트 스타일을 편집하려면 클릭하세요</a:t>
            </a:r>
            <a:r>
              <a:rPr lang="en-US" altLang="ko-KR" noProof="0"/>
              <a:t>.</a:t>
            </a:r>
          </a:p>
          <a:p>
            <a:pPr lvl="1" rtl="0"/>
            <a:r>
              <a:rPr lang="ko-KR" altLang="en-US" noProof="0"/>
              <a:t>둘째 수준</a:t>
            </a:r>
          </a:p>
          <a:p>
            <a:pPr lvl="2" rtl="0"/>
            <a:r>
              <a:rPr lang="ko-KR" altLang="en-US" noProof="0"/>
              <a:t>셋째 수준</a:t>
            </a:r>
          </a:p>
          <a:p>
            <a:pPr lvl="3" rtl="0"/>
            <a:r>
              <a:rPr lang="ko-KR" altLang="en-US" noProof="0"/>
              <a:t>넷째 수준</a:t>
            </a:r>
          </a:p>
          <a:p>
            <a:pPr lvl="4" rtl="0"/>
            <a:r>
              <a:rPr lang="ko-KR" altLang="en-US" noProof="0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539496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C655C81E-72E7-4D05-94B5-F45B321A525D}" type="datetime1">
              <a:rPr lang="ko-KR" altLang="en-US" noProof="0" smtClean="0"/>
              <a:t>2026-06-09</a:t>
            </a:fld>
            <a:endParaRPr lang="ko-KR" altLang="en-US" noProof="0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648200" y="6203952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375904" y="6203952"/>
            <a:ext cx="3276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fld id="{9860EDB8-5305-433F-BE41-D7A86D811DB3}" type="slidenum">
              <a:rPr lang="en-US" altLang="ko-KR" noProof="0" smtClean="0"/>
              <a:pPr/>
              <a:t>‹#›</a:t>
            </a:fld>
            <a:endParaRPr lang="ko-KR" altLang="en-US" noProof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cxnSp>
        <p:nvCxnSpPr>
          <p:cNvPr id="8" name="직선 연결선(S) 7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467549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5" r:id="rId4"/>
  </p:sldLayoutIdLst>
  <p:hf hdr="0" ftr="0" dt="0"/>
  <p:txStyles>
    <p:titleStyle>
      <a:lvl1pPr algn="l" defTabSz="914400" rtl="0" eaLnBrk="1" latinLnBrk="1" hangingPunct="1">
        <a:spcBef>
          <a:spcPct val="0"/>
        </a:spcBef>
        <a:buNone/>
        <a:defRPr sz="2800" kern="120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j-cs"/>
        </a:defRPr>
      </a:lvl1pPr>
    </p:titleStyle>
    <p:bodyStyle>
      <a:lvl1pPr marL="0" indent="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Tx/>
        <a:buNone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1pPr>
      <a:lvl2pPr marL="228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2pPr>
      <a:lvl3pPr marL="685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3pPr>
      <a:lvl4pPr marL="11430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4pPr>
      <a:lvl5pPr marL="16002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맑은 고딕" panose="020B0503020000020004" pitchFamily="50" charset="-127"/>
          <a:ea typeface="맑은 고딕" panose="020B0503020000020004" pitchFamily="50" charset="-127"/>
          <a:cs typeface="+mn-cs"/>
        </a:defRPr>
      </a:lvl5pPr>
      <a:lvl6pPr marL="20574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6pPr>
      <a:lvl7pPr marL="25146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7pPr>
      <a:lvl8pPr marL="2971800" indent="-228600" algn="l" defTabSz="914400" rtl="0" eaLnBrk="1" latinLnBrk="1" hangingPunct="1">
        <a:lnSpc>
          <a:spcPct val="150000"/>
        </a:lnSpc>
        <a:spcBef>
          <a:spcPts val="1000"/>
        </a:spcBef>
        <a:spcAft>
          <a:spcPts val="1200"/>
        </a:spcAft>
        <a:buFont typeface="Arial" panose="020B0604020202020204" pitchFamily="34" charset="0"/>
        <a:buChar char="•"/>
        <a:defRPr lang="en-US" sz="1200" kern="1200" dirty="0" smtClean="0">
          <a:solidFill>
            <a:schemeClr val="tx1"/>
          </a:solidFill>
          <a:latin typeface="+mn-lt"/>
          <a:ea typeface="+mn-ea"/>
          <a:cs typeface="+mn-cs"/>
        </a:defRPr>
      </a:lvl8pPr>
      <a:lvl9pPr marL="3429000" indent="-228600" algn="l" defTabSz="914400" rtl="0" eaLnBrk="1" latinLnBrk="1" hangingPunct="1">
        <a:lnSpc>
          <a:spcPct val="90000"/>
        </a:lnSpc>
        <a:spcBef>
          <a:spcPct val="30000"/>
        </a:spcBef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youtu.be/jDe5BAsT2-Y?t=34" TargetMode="Externa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101ai.net/vision/vizdemo" TargetMode="Externa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www.pinecone.io/learn/series/image-search/cnn/" TargetMode="Externa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gif"/><Relationship Id="rId2" Type="http://schemas.openxmlformats.org/officeDocument/2006/relationships/hyperlink" Target="https://github.com/ancestor9/2025_Winter_Deep-Learning-with-TensorFlow/tree/main/20260107_03_Image%20Classification" TargetMode="External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6.gif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hyperlink" Target="https://poloclub.github.io/cnn-explainer/" TargetMode="Externa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hyperlink" Target="https://www.youtube.com/watch?v=V9ZYDCnItr0&amp;t=76s" TargetMode="External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838200" y="1164324"/>
            <a:ext cx="10515600" cy="2387600"/>
          </a:xfrm>
        </p:spPr>
        <p:txBody>
          <a:bodyPr rtlCol="0" anchor="ctr" anchorCtr="0">
            <a:normAutofit/>
          </a:bodyPr>
          <a:lstStyle/>
          <a:p>
            <a:pPr rtl="0"/>
            <a:r>
              <a:rPr lang="en-US" altLang="ko-KR" sz="4800" dirty="0">
                <a:solidFill>
                  <a:schemeClr val="bg1"/>
                </a:solidFill>
              </a:rPr>
              <a:t>Image Classification</a:t>
            </a:r>
            <a:endParaRPr lang="ko-KR" altLang="en-US" sz="4800" dirty="0">
              <a:solidFill>
                <a:schemeClr val="bg1"/>
              </a:solidFill>
            </a:endParaRPr>
          </a:p>
        </p:txBody>
      </p:sp>
      <p:sp>
        <p:nvSpPr>
          <p:cNvPr id="3" name="부제목 2"/>
          <p:cNvSpPr>
            <a:spLocks noGrp="1"/>
          </p:cNvSpPr>
          <p:nvPr>
            <p:ph type="subTitle" idx="4294967295"/>
          </p:nvPr>
        </p:nvSpPr>
        <p:spPr>
          <a:xfrm>
            <a:off x="855620" y="2933105"/>
            <a:ext cx="9582736" cy="2210395"/>
          </a:xfrm>
        </p:spPr>
        <p:txBody>
          <a:bodyPr rtlCol="0">
            <a:normAutofit/>
          </a:bodyPr>
          <a:lstStyle/>
          <a:p>
            <a:r>
              <a:rPr lang="en-US" altLang="ko-KR" sz="2400" dirty="0">
                <a:solidFill>
                  <a:schemeClr val="bg1"/>
                </a:solidFill>
              </a:rPr>
              <a:t>CNN(convolutional neural networks, </a:t>
            </a:r>
            <a:r>
              <a:rPr lang="en-US" altLang="ko-KR" sz="2400" dirty="0" err="1">
                <a:solidFill>
                  <a:schemeClr val="bg1"/>
                </a:solidFill>
              </a:rPr>
              <a:t>ConvNets</a:t>
            </a:r>
            <a:r>
              <a:rPr lang="en-US" altLang="ko-KR" sz="2400" dirty="0">
                <a:solidFill>
                  <a:schemeClr val="bg1"/>
                </a:solidFill>
              </a:rPr>
              <a:t>)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sp>
        <p:nvSpPr>
          <p:cNvPr id="5" name="부제목 2">
            <a:extLst>
              <a:ext uri="{FF2B5EF4-FFF2-40B4-BE49-F238E27FC236}">
                <a16:creationId xmlns:a16="http://schemas.microsoft.com/office/drawing/2014/main" id="{D2A693FF-597D-D05E-69BD-7CA96D17F1CD}"/>
              </a:ext>
            </a:extLst>
          </p:cNvPr>
          <p:cNvSpPr txBox="1">
            <a:spLocks/>
          </p:cNvSpPr>
          <p:nvPr/>
        </p:nvSpPr>
        <p:spPr>
          <a:xfrm>
            <a:off x="855620" y="4555883"/>
            <a:ext cx="9582736" cy="1137793"/>
          </a:xfrm>
          <a:prstGeom prst="rect">
            <a:avLst/>
          </a:prstGeom>
        </p:spPr>
        <p:txBody>
          <a:bodyPr vert="horz" lIns="91440" tIns="45720" rIns="91440" bIns="45720" rtlCol="0">
            <a:normAutofit fontScale="85000" lnSpcReduction="20000"/>
          </a:bodyPr>
          <a:lstStyle>
            <a:lvl1pPr marL="0" indent="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Tx/>
              <a:buNone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1pPr>
            <a:lvl2pPr marL="228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2pPr>
            <a:lvl3pPr marL="685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3pPr>
            <a:lvl4pPr marL="11430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4pPr>
            <a:lvl5pPr marL="16002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+mn-cs"/>
              </a:defRPr>
            </a:lvl5pPr>
            <a:lvl6pPr marL="20574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5146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971800" indent="-228600" algn="l" defTabSz="914400" rtl="0" eaLnBrk="1" latinLnBrk="1" hangingPunct="1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Font typeface="Arial" panose="020B0604020202020204" pitchFamily="34" charset="0"/>
              <a:buChar char="•"/>
              <a:defRPr lang="en-US" sz="12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429000" indent="-228600" algn="l" defTabSz="914400" rtl="0" eaLnBrk="1" latinLnBrk="1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ko-KR" sz="2400" dirty="0">
                <a:solidFill>
                  <a:schemeClr val="bg1"/>
                </a:solidFill>
              </a:rPr>
              <a:t>2026 Fall</a:t>
            </a:r>
          </a:p>
          <a:p>
            <a:r>
              <a:rPr lang="ko-KR" altLang="en-US" sz="2400" dirty="0" err="1">
                <a:solidFill>
                  <a:schemeClr val="bg1"/>
                </a:solidFill>
              </a:rPr>
              <a:t>조상구교수</a:t>
            </a:r>
            <a:endParaRPr lang="en-US" altLang="ko-KR" sz="24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718077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B125F6-F24E-9FB4-6ECA-D22604C4AC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0C61D8-1616-C6B8-9FEC-D11B28CD4BF2}"/>
              </a:ext>
            </a:extLst>
          </p:cNvPr>
          <p:cNvSpPr/>
          <p:nvPr/>
        </p:nvSpPr>
        <p:spPr>
          <a:xfrm>
            <a:off x="1457324" y="1600201"/>
            <a:ext cx="8277225" cy="640080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8" name="제목 7">
            <a:extLst>
              <a:ext uri="{FF2B5EF4-FFF2-40B4-BE49-F238E27FC236}">
                <a16:creationId xmlns:a16="http://schemas.microsoft.com/office/drawing/2014/main" id="{A47D1732-55A1-BAC2-7A11-146984E7CE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1207" y="448056"/>
            <a:ext cx="8135613" cy="640080"/>
          </a:xfrm>
        </p:spPr>
        <p:txBody>
          <a:bodyPr rtlCol="0">
            <a:noAutofit/>
          </a:bodyPr>
          <a:lstStyle/>
          <a:p>
            <a:pPr rtl="0"/>
            <a:r>
              <a:rPr lang="en-US" altLang="ko-KR" dirty="0">
                <a:solidFill>
                  <a:schemeClr val="tx1"/>
                </a:solidFill>
                <a:cs typeface="Segoe UI Light" panose="020B0502040204020203" pitchFamily="34" charset="0"/>
              </a:rPr>
              <a:t>Contents</a:t>
            </a:r>
            <a:endParaRPr lang="ko-KR" altLang="en-US" dirty="0">
              <a:solidFill>
                <a:schemeClr val="tx1"/>
              </a:solidFill>
              <a:cs typeface="Segoe UI Light" panose="020B0502040204020203" pitchFamily="34" charset="0"/>
            </a:endParaRPr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8BD6D622-6C11-B524-84D3-DE18F25D860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9860EDB8-5305-433F-BE41-D7A86D811DB3}" type="slidenum">
              <a:rPr lang="en-US" altLang="ko-KR" noProof="0" smtClean="0"/>
              <a:pPr/>
              <a:t>2</a:t>
            </a:fld>
            <a:endParaRPr lang="ko-KR" altLang="en-US" noProof="0" dirty="0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CC1D6EC-EA81-70BB-F0CB-C30EA60FDF8D}"/>
              </a:ext>
            </a:extLst>
          </p:cNvPr>
          <p:cNvSpPr txBox="1"/>
          <p:nvPr/>
        </p:nvSpPr>
        <p:spPr>
          <a:xfrm>
            <a:off x="1957661" y="1356552"/>
            <a:ext cx="8662713" cy="42812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 err="1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Autograd</a:t>
            </a: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 &amp; Backpropagation : Recap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FCNN(Fully Connected Neural Network)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Regression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Classification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en-US" altLang="ko-KR" sz="2800" dirty="0">
                <a:latin typeface="D2Coding" panose="020B0609020101020101" pitchFamily="49" charset="-127"/>
                <a:ea typeface="D2Coding" panose="020B0609020101020101" pitchFamily="49" charset="-127"/>
                <a:cs typeface="맑은 고딕 Semilight" panose="020B0502040204020203" pitchFamily="50" charset="-127"/>
              </a:rPr>
              <a:t>Dimension Reduction</a:t>
            </a:r>
          </a:p>
        </p:txBody>
      </p:sp>
    </p:spTree>
    <p:extLst>
      <p:ext uri="{BB962C8B-B14F-4D97-AF65-F5344CB8AC3E}">
        <p14:creationId xmlns:p14="http://schemas.microsoft.com/office/powerpoint/2010/main" val="7220907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10"/>
    </mc:Choice>
    <mc:Fallback xmlns=""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FFB53F-5797-0BB2-9323-F166DE5B6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BFB5B3E-2733-6F10-C433-7C314850C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56A9490-8D65-6528-22C1-98B7D508091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44C04B07-3781-FB4B-C4B6-15DCC17715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14290" y="1493819"/>
            <a:ext cx="9199721" cy="45424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33600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C3436E-AD26-A468-3DD1-936CDE57F3B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A2763A47-EBF4-66BE-6CA3-D462E5AD72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D24BF91A-2317-B6DF-AF0D-C3CF326A6F6F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3CDD7F5-5E7E-A439-0189-2DE625BE9D6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3015" y="1717450"/>
            <a:ext cx="7982459" cy="2558726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7E8C7DD6-2189-B79E-911A-96DA77508C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55876" y="4228551"/>
            <a:ext cx="7936735" cy="19124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81482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076FEF-78EE-44A5-2AA8-B58C4EE7BB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686F614-D7E5-C32C-DBA3-8B4425D0E5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FDEBB8C4-EB3A-7146-BD71-9E5A3DCDAE21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7B493024-8CAB-4316-C57C-3E230677EA9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9546" y="2428767"/>
            <a:ext cx="2598503" cy="2794423"/>
          </a:xfrm>
          <a:prstGeom prst="rect">
            <a:avLst/>
          </a:prstGeom>
        </p:spPr>
      </p:pic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FAC10E04-853C-47EB-871D-F4BE3414E8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1481947"/>
              </p:ext>
            </p:extLst>
          </p:nvPr>
        </p:nvGraphicFramePr>
        <p:xfrm>
          <a:off x="4720662" y="1825844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9" name="표 8">
            <a:extLst>
              <a:ext uri="{FF2B5EF4-FFF2-40B4-BE49-F238E27FC236}">
                <a16:creationId xmlns:a16="http://schemas.microsoft.com/office/drawing/2014/main" id="{98739568-9AF2-1CE4-75FB-91FB3C31356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3725685"/>
              </p:ext>
            </p:extLst>
          </p:nvPr>
        </p:nvGraphicFramePr>
        <p:xfrm>
          <a:off x="4720662" y="3537693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graphicFrame>
        <p:nvGraphicFramePr>
          <p:cNvPr id="11" name="표 10">
            <a:extLst>
              <a:ext uri="{FF2B5EF4-FFF2-40B4-BE49-F238E27FC236}">
                <a16:creationId xmlns:a16="http://schemas.microsoft.com/office/drawing/2014/main" id="{566EDAE3-4767-EED0-CBF5-AA17C014893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741551"/>
              </p:ext>
            </p:extLst>
          </p:nvPr>
        </p:nvGraphicFramePr>
        <p:xfrm>
          <a:off x="4720662" y="5249541"/>
          <a:ext cx="1194363" cy="1043895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398121">
                  <a:extLst>
                    <a:ext uri="{9D8B030D-6E8A-4147-A177-3AD203B41FA5}">
                      <a16:colId xmlns:a16="http://schemas.microsoft.com/office/drawing/2014/main" val="2786435963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3827515645"/>
                    </a:ext>
                  </a:extLst>
                </a:gridCol>
                <a:gridCol w="398121">
                  <a:extLst>
                    <a:ext uri="{9D8B030D-6E8A-4147-A177-3AD203B41FA5}">
                      <a16:colId xmlns:a16="http://schemas.microsoft.com/office/drawing/2014/main" val="2827207180"/>
                    </a:ext>
                  </a:extLst>
                </a:gridCol>
              </a:tblGrid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94483622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1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4328434"/>
                  </a:ext>
                </a:extLst>
              </a:tr>
              <a:tr h="347965"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latinLnBrk="1"/>
                      <a:r>
                        <a:rPr lang="en-US" altLang="ko-KR" sz="1400" dirty="0">
                          <a:latin typeface="D2Coding" panose="020B0609020101020101" pitchFamily="49" charset="-127"/>
                          <a:ea typeface="D2Coding" panose="020B0609020101020101" pitchFamily="49" charset="-127"/>
                        </a:rPr>
                        <a:t>-5</a:t>
                      </a:r>
                      <a:endParaRPr lang="ko-KR" altLang="en-US" sz="1400" dirty="0">
                        <a:latin typeface="D2Coding" panose="020B0609020101020101" pitchFamily="49" charset="-127"/>
                        <a:ea typeface="D2Coding" panose="020B0609020101020101" pitchFamily="49" charset="-127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2078504"/>
                  </a:ext>
                </a:extLst>
              </a:tr>
            </a:tbl>
          </a:graphicData>
        </a:graphic>
      </p:graphicFrame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309FC970-6C0C-5210-5CF8-DF8A8688AA9F}"/>
              </a:ext>
            </a:extLst>
          </p:cNvPr>
          <p:cNvCxnSpPr/>
          <p:nvPr/>
        </p:nvCxnSpPr>
        <p:spPr>
          <a:xfrm>
            <a:off x="6448425" y="242876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그림 14">
            <a:extLst>
              <a:ext uri="{FF2B5EF4-FFF2-40B4-BE49-F238E27FC236}">
                <a16:creationId xmlns:a16="http://schemas.microsoft.com/office/drawing/2014/main" id="{D7FCB08B-66F4-87B4-F20A-1C1F228A178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1972671"/>
            <a:ext cx="1275596" cy="932453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3FF9ECC-D489-D531-04CB-660570D27766}"/>
              </a:ext>
            </a:extLst>
          </p:cNvPr>
          <p:cNvCxnSpPr/>
          <p:nvPr/>
        </p:nvCxnSpPr>
        <p:spPr>
          <a:xfrm>
            <a:off x="6448425" y="4085469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7" name="그림 16">
            <a:extLst>
              <a:ext uri="{FF2B5EF4-FFF2-40B4-BE49-F238E27FC236}">
                <a16:creationId xmlns:a16="http://schemas.microsoft.com/office/drawing/2014/main" id="{ED2C4F28-A8D7-E629-52F3-B22D35BF1DBF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3629373"/>
            <a:ext cx="1275596" cy="932453"/>
          </a:xfrm>
          <a:prstGeom prst="rect">
            <a:avLst/>
          </a:prstGeom>
        </p:spPr>
      </p:pic>
      <p:cxnSp>
        <p:nvCxnSpPr>
          <p:cNvPr id="18" name="직선 화살표 연결선 17">
            <a:extLst>
              <a:ext uri="{FF2B5EF4-FFF2-40B4-BE49-F238E27FC236}">
                <a16:creationId xmlns:a16="http://schemas.microsoft.com/office/drawing/2014/main" id="{076D93C3-BD31-7E72-215F-5FE172046051}"/>
              </a:ext>
            </a:extLst>
          </p:cNvPr>
          <p:cNvCxnSpPr/>
          <p:nvPr/>
        </p:nvCxnSpPr>
        <p:spPr>
          <a:xfrm>
            <a:off x="6448425" y="5724417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9" name="그림 18">
            <a:extLst>
              <a:ext uri="{FF2B5EF4-FFF2-40B4-BE49-F238E27FC236}">
                <a16:creationId xmlns:a16="http://schemas.microsoft.com/office/drawing/2014/main" id="{8C2480E6-96FC-6497-206C-4BFB17FE1934}"/>
              </a:ext>
            </a:extLst>
          </p:cNvPr>
          <p:cNvPicPr>
            <a:picLocks noChangeAspect="1"/>
          </p:cNvPicPr>
          <p:nvPr/>
        </p:nvPicPr>
        <p:blipFill>
          <a:blip r:embed="rId3">
            <a:duotone>
              <a:schemeClr val="accent5">
                <a:shade val="45000"/>
                <a:satMod val="135000"/>
              </a:schemeClr>
              <a:prstClr val="white"/>
            </a:duotone>
          </a:blip>
          <a:stretch>
            <a:fillRect/>
          </a:stretch>
        </p:blipFill>
        <p:spPr>
          <a:xfrm>
            <a:off x="7269368" y="5268321"/>
            <a:ext cx="1275596" cy="932453"/>
          </a:xfrm>
          <a:prstGeom prst="rect">
            <a:avLst/>
          </a:prstGeom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FC829464-9279-84EB-6813-6716E7DE07F4}"/>
              </a:ext>
            </a:extLst>
          </p:cNvPr>
          <p:cNvSpPr txBox="1"/>
          <p:nvPr/>
        </p:nvSpPr>
        <p:spPr>
          <a:xfrm>
            <a:off x="4558164" y="1446528"/>
            <a:ext cx="189026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Horizontal/Diagonal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29C038D-B952-75DF-7487-E820508392FE}"/>
              </a:ext>
            </a:extLst>
          </p:cNvPr>
          <p:cNvSpPr txBox="1"/>
          <p:nvPr/>
        </p:nvSpPr>
        <p:spPr>
          <a:xfrm>
            <a:off x="4463200" y="3170454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Vertical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957353-B9AF-67E0-FD62-F604366BA6B8}"/>
              </a:ext>
            </a:extLst>
          </p:cNvPr>
          <p:cNvSpPr txBox="1"/>
          <p:nvPr/>
        </p:nvSpPr>
        <p:spPr>
          <a:xfrm>
            <a:off x="4457111" y="489438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Loop</a:t>
            </a:r>
            <a:endParaRPr lang="ko-KR" altLang="en-US" sz="1400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3822090-781C-26D4-44D4-D099E1A52510}"/>
              </a:ext>
            </a:extLst>
          </p:cNvPr>
          <p:cNvCxnSpPr/>
          <p:nvPr/>
        </p:nvCxnSpPr>
        <p:spPr>
          <a:xfrm>
            <a:off x="3818936" y="4075836"/>
            <a:ext cx="63817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F29216AF-ED58-F476-6F5F-2AE0673A1E56}"/>
              </a:ext>
            </a:extLst>
          </p:cNvPr>
          <p:cNvCxnSpPr>
            <a:cxnSpLocks/>
          </p:cNvCxnSpPr>
          <p:nvPr/>
        </p:nvCxnSpPr>
        <p:spPr>
          <a:xfrm>
            <a:off x="3742736" y="5495061"/>
            <a:ext cx="543514" cy="22935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직선 화살표 연결선 24">
            <a:extLst>
              <a:ext uri="{FF2B5EF4-FFF2-40B4-BE49-F238E27FC236}">
                <a16:creationId xmlns:a16="http://schemas.microsoft.com/office/drawing/2014/main" id="{66498FB2-D6A6-1546-F077-2010C4599970}"/>
              </a:ext>
            </a:extLst>
          </p:cNvPr>
          <p:cNvCxnSpPr>
            <a:cxnSpLocks/>
          </p:cNvCxnSpPr>
          <p:nvPr/>
        </p:nvCxnSpPr>
        <p:spPr>
          <a:xfrm flipV="1">
            <a:off x="3818936" y="2428767"/>
            <a:ext cx="467314" cy="2183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9" name="화살표: 오른쪽 28">
            <a:extLst>
              <a:ext uri="{FF2B5EF4-FFF2-40B4-BE49-F238E27FC236}">
                <a16:creationId xmlns:a16="http://schemas.microsoft.com/office/drawing/2014/main" id="{874F86C5-F736-36B6-94DA-A81A5A3E5C42}"/>
              </a:ext>
            </a:extLst>
          </p:cNvPr>
          <p:cNvSpPr/>
          <p:nvPr/>
        </p:nvSpPr>
        <p:spPr>
          <a:xfrm>
            <a:off x="9187330" y="2347791"/>
            <a:ext cx="2598503" cy="3141743"/>
          </a:xfrm>
          <a:prstGeom prst="rightArrow">
            <a:avLst>
              <a:gd name="adj1" fmla="val 73016"/>
              <a:gd name="adj2" fmla="val 50000"/>
            </a:avLst>
          </a:prstGeom>
          <a:solidFill>
            <a:schemeClr val="bg1">
              <a:lumMod val="8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각각의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Kernel (Filter)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의 </a:t>
            </a:r>
            <a:r>
              <a:rPr lang="en-US" altLang="ko-KR" dirty="0" err="1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Relu</a:t>
            </a:r>
            <a:r>
              <a:rPr lang="en-US" altLang="ko-KR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solidFill>
                  <a:schemeClr val="tx1"/>
                </a:solidFill>
                <a:latin typeface="D2Coding" panose="020B0609020101020101" pitchFamily="49" charset="-127"/>
                <a:ea typeface="D2Coding" panose="020B0609020101020101" pitchFamily="49" charset="-127"/>
              </a:rPr>
              <a:t>결과를 구한 후 모두 더하면</a:t>
            </a:r>
          </a:p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71768154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904758-D90C-D4C6-EB41-2CB55EACE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DAAE4BC-6ECA-D1AC-38AB-C93BACD30E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4CFAE41E-0C23-D25B-F5A3-DA67C87B820D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C6D3A29D-2578-CF1A-0E4C-BF36B1ADF3E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06805" y="2219225"/>
            <a:ext cx="5822999" cy="33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77681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63433B-C0D4-0981-2B95-FD5877580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DEC314-7FED-69FA-5CBC-E48F1CF6D9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99DFE7A3-DBCC-EA3B-A967-4C786A77D9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F45F4F4F-5BF8-05D7-4FEB-E31A73BEC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4444" y="1872291"/>
            <a:ext cx="9782693" cy="416397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30DB2E-4ED6-F150-9668-12DD706B081F}"/>
              </a:ext>
            </a:extLst>
          </p:cNvPr>
          <p:cNvSpPr txBox="1"/>
          <p:nvPr/>
        </p:nvSpPr>
        <p:spPr>
          <a:xfrm>
            <a:off x="835486" y="1502959"/>
            <a:ext cx="15985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What is CNN?</a:t>
            </a:r>
            <a:endParaRPr lang="ko-KR" altLang="en-US" dirty="0">
              <a:latin typeface="D2Coding" panose="020B0609020101020101" pitchFamily="49" charset="-127"/>
              <a:ea typeface="D2Coding" panose="020B0609020101020101" pitchFamily="49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8354806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0EB1D-5085-AFC4-6F4A-DB4276604C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311C951-F23B-030B-42CD-686330B03A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3A1F8927-CE36-3EA4-0E56-63905BA37FE4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257ED0FE-C673-8670-DD6B-72F756A374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25547" y="1468523"/>
            <a:ext cx="8313804" cy="5022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789344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53B718-B2C5-F0AB-9840-E7CA385C64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58BC45F-6F1B-D8CC-D6A1-D7B58965C9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D15A284-89FC-2D1A-96C3-365A0E7B71D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A6A5AC5-260A-25A4-1B81-77CB5B32F43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1200" y="1902689"/>
            <a:ext cx="9000000" cy="44733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317740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6AB736-7409-F14A-48A5-4808B9709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449DE165-9840-CCB8-9EAF-F6DB2D8AFE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10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867A0152-FFB9-F91B-A5A0-9CC626BCAED8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E4F9730E-C40F-FDBD-D9DB-C8C74C3672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10675" y="1470193"/>
            <a:ext cx="4017492" cy="49311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773621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1D9480-18CF-B9A7-CCAF-349FDA51A7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그림 35">
            <a:extLst>
              <a:ext uri="{FF2B5EF4-FFF2-40B4-BE49-F238E27FC236}">
                <a16:creationId xmlns:a16="http://schemas.microsoft.com/office/drawing/2014/main" id="{C7A2EA71-FBFE-0880-F545-5E313F254C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8786" y="1426419"/>
            <a:ext cx="8575192" cy="4974967"/>
          </a:xfrm>
          <a:prstGeom prst="rect">
            <a:avLst/>
          </a:prstGeom>
        </p:spPr>
      </p:pic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8C1D34F-18C8-28AB-C0F1-93CE7D56EE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11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C99144C6-22C4-6B31-706F-C163569EC230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C4B1D0B-EF63-6FF1-0A87-488C8FD4BEFA}"/>
              </a:ext>
            </a:extLst>
          </p:cNvPr>
          <p:cNvSpPr txBox="1"/>
          <p:nvPr/>
        </p:nvSpPr>
        <p:spPr>
          <a:xfrm>
            <a:off x="5061355" y="4472286"/>
            <a:ext cx="5768052" cy="8808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E2D62138-00D1-EFBB-712E-D7834DDFEB3F}"/>
              </a:ext>
            </a:extLst>
          </p:cNvPr>
          <p:cNvSpPr/>
          <p:nvPr/>
        </p:nvSpPr>
        <p:spPr>
          <a:xfrm>
            <a:off x="568786" y="3981450"/>
            <a:ext cx="4003214" cy="259793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1F511E3F-A021-6230-AD76-2912813CF33B}"/>
              </a:ext>
            </a:extLst>
          </p:cNvPr>
          <p:cNvSpPr/>
          <p:nvPr/>
        </p:nvSpPr>
        <p:spPr>
          <a:xfrm>
            <a:off x="4572000" y="3567143"/>
            <a:ext cx="1149812" cy="39525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51311789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" grpId="0" animBg="1"/>
      <p:bldP spid="38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8DBDC2-A382-4A4D-157D-EE18505D75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F0CA468-3996-572D-81CB-6453D1224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12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E68A2A7A-D234-221B-8C55-A5C68FC94F7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2E3F41B-E085-7A20-6E9B-106114ADA74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9913122"/>
              </p:ext>
            </p:extLst>
          </p:nvPr>
        </p:nvGraphicFramePr>
        <p:xfrm>
          <a:off x="741182" y="1723456"/>
          <a:ext cx="11013938" cy="4244156"/>
        </p:xfrm>
        <a:graphic>
          <a:graphicData uri="http://schemas.openxmlformats.org/drawingml/2006/table">
            <a:tbl>
              <a:tblPr/>
              <a:tblGrid>
                <a:gridCol w="565509">
                  <a:extLst>
                    <a:ext uri="{9D8B030D-6E8A-4147-A177-3AD203B41FA5}">
                      <a16:colId xmlns:a16="http://schemas.microsoft.com/office/drawing/2014/main" val="1466050574"/>
                    </a:ext>
                  </a:extLst>
                </a:gridCol>
                <a:gridCol w="1761629">
                  <a:extLst>
                    <a:ext uri="{9D8B030D-6E8A-4147-A177-3AD203B41FA5}">
                      <a16:colId xmlns:a16="http://schemas.microsoft.com/office/drawing/2014/main" val="1415194089"/>
                    </a:ext>
                  </a:extLst>
                </a:gridCol>
                <a:gridCol w="1066800">
                  <a:extLst>
                    <a:ext uri="{9D8B030D-6E8A-4147-A177-3AD203B41FA5}">
                      <a16:colId xmlns:a16="http://schemas.microsoft.com/office/drawing/2014/main" val="2088953976"/>
                    </a:ext>
                  </a:extLst>
                </a:gridCol>
                <a:gridCol w="1178560">
                  <a:extLst>
                    <a:ext uri="{9D8B030D-6E8A-4147-A177-3AD203B41FA5}">
                      <a16:colId xmlns:a16="http://schemas.microsoft.com/office/drawing/2014/main" val="470009430"/>
                    </a:ext>
                  </a:extLst>
                </a:gridCol>
                <a:gridCol w="1127760">
                  <a:extLst>
                    <a:ext uri="{9D8B030D-6E8A-4147-A177-3AD203B41FA5}">
                      <a16:colId xmlns:a16="http://schemas.microsoft.com/office/drawing/2014/main" val="1352959133"/>
                    </a:ext>
                  </a:extLst>
                </a:gridCol>
                <a:gridCol w="5313680">
                  <a:extLst>
                    <a:ext uri="{9D8B030D-6E8A-4147-A177-3AD203B41FA5}">
                      <a16:colId xmlns:a16="http://schemas.microsoft.com/office/drawing/2014/main" val="2542550803"/>
                    </a:ext>
                  </a:extLst>
                </a:gridCol>
              </a:tblGrid>
              <a:tr h="29846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레이어 이름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함수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 형태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 형태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Output Shape)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가중치 초기화 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Variance </a:t>
                      </a:r>
                    </a:p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Scaling)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주요 역할 및 특징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553702"/>
                  </a:ext>
                </a:extLst>
              </a:tr>
              <a:tr h="33381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0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Input (</a:t>
                      </a:r>
                      <a:r>
                        <a:rPr lang="ko-KR" altLang="en-US" sz="1200" b="1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입력층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-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세로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가로 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28, 1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채널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흑백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입력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1780401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(28, 28, 1)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 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이미지의 기본 특징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,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면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84792075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첫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(24, 24, 8)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(2,2) 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영역에서 가장 큰 값만 추출하여 이미지 크기를 절반으로 축소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39161666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Conv2D 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(12, 12, 8)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(5,5)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필터 </a:t>
                      </a:r>
                      <a:r>
                        <a:rPr lang="en-US" altLang="ko-KR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16</a:t>
                      </a:r>
                      <a:r>
                        <a:rPr lang="ko-KR" altLang="en-US" sz="1200" b="1" dirty="0">
                          <a:solidFill>
                            <a:srgbClr val="FF0000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개로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더 복잡하고 고차원적인 특징 추출 및 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ReLU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 적용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8943306"/>
                  </a:ext>
                </a:extLst>
              </a:tr>
              <a:tr h="47519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MaxPooling2D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두 번째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(8, 8, 16)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이미지 크기를 다시 한번 절반으로 축소하여 핵심 특징만 압축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50094793"/>
                  </a:ext>
                </a:extLst>
              </a:tr>
              <a:tr h="581229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Flatten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평탄화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(4, 4, 16)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X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 특징 맵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(4,4,16) = 4*4*16 = 256)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차원의 긴 벡터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줄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로 펼침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0645248"/>
                  </a:ext>
                </a:extLst>
              </a:tr>
              <a:tr h="545884"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Dense (</a:t>
                      </a:r>
                      <a:r>
                        <a:rPr lang="ko-KR" altLang="en-US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출력층</a:t>
                      </a:r>
                      <a:r>
                        <a:rPr lang="en-US" altLang="ko-KR" sz="1200" b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(256)</a:t>
                      </a:r>
                      <a:endParaRPr lang="ko-KR" altLang="en-US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i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(2)</a:t>
                      </a:r>
                      <a:endParaRPr lang="ko-KR" altLang="en-US" sz="1200" b="1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O</a:t>
                      </a:r>
                      <a:endParaRPr lang="en-US" altLang="ko-KR" sz="1200" b="1" dirty="0">
                        <a:solidFill>
                          <a:srgbClr val="1F1F1F"/>
                        </a:solidFill>
                        <a:effectLst/>
                        <a:latin typeface="맑은 고딕 Semilight" panose="020B0502040204020203" pitchFamily="50" charset="-127"/>
                        <a:ea typeface="맑은 고딕 Semilight" panose="020B0502040204020203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rtl="0">
                        <a:buNone/>
                      </a:pP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256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개의 특징을 받아 최종 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개 클래스에 대한 확률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(</a:t>
                      </a:r>
                      <a:r>
                        <a:rPr lang="en-US" altLang="ko-KR" sz="1200" b="1" i="0" dirty="0" err="1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Softmax</a:t>
                      </a:r>
                      <a:r>
                        <a:rPr lang="en-US" altLang="ko-KR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)</a:t>
                      </a:r>
                      <a:r>
                        <a:rPr lang="ko-KR" altLang="en-US" sz="1200" b="1" dirty="0">
                          <a:solidFill>
                            <a:srgbClr val="1F1F1F"/>
                          </a:solidFill>
                          <a:effectLst/>
                          <a:latin typeface="맑은 고딕 Semilight" panose="020B0502040204020203" pitchFamily="50" charset="-127"/>
                          <a:ea typeface="맑은 고딕 Semilight" panose="020B0502040204020203" pitchFamily="50" charset="-127"/>
                          <a:cs typeface="맑은 고딕 Semilight" panose="020B0502040204020203" pitchFamily="50" charset="-127"/>
                        </a:rPr>
                        <a:t>을 계산</a:t>
                      </a:r>
                    </a:p>
                  </a:txBody>
                  <a:tcPr marL="11782" marR="11782" marT="7854" marB="7854" anchor="ctr">
                    <a:lnL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C4C7C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085990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652952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EE6D9A-FA41-2C59-AE0E-CFB6CAB07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976C0C2E-1D6D-FA5D-9781-729FE3ADC4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13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C8789F7-E6CE-8A13-8993-4DB80A7E3049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1475C2B3-6614-2911-5205-8AF7F278BDA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028" y="2314205"/>
            <a:ext cx="7414903" cy="406181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E4D3D52-F5BF-4321-448A-4369B312C318}"/>
              </a:ext>
            </a:extLst>
          </p:cNvPr>
          <p:cNvSpPr txBox="1"/>
          <p:nvPr/>
        </p:nvSpPr>
        <p:spPr>
          <a:xfrm>
            <a:off x="558800" y="1340904"/>
            <a:ext cx="10932160" cy="465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이미지 데이터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,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모델구조와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합성곱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작동방식을 이해하고 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tensorflow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코드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(Click)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  <a:hlinkClick r:id="rId3"/>
              </a:rPr>
              <a:t>로 실습하기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007BD27A-4D2C-F8D7-FB6E-09FF605403CA}"/>
              </a:ext>
            </a:extLst>
          </p:cNvPr>
          <p:cNvSpPr/>
          <p:nvPr/>
        </p:nvSpPr>
        <p:spPr>
          <a:xfrm>
            <a:off x="3738706" y="2666844"/>
            <a:ext cx="1818814" cy="17324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991852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6B285C-0CA6-131F-A9B2-B3596C691B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590AE04D-F73E-5763-E56E-89D4EE0C7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14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1EF9E5AB-9B8D-5BDB-63A5-EF9B27F33F52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574D554-22FD-A6D7-0602-1D7924A91F94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채널이 있는 </a:t>
            </a:r>
            <a:r>
              <a:rPr lang="ko-KR" altLang="en-US" dirty="0" err="1">
                <a:latin typeface="D2Coding" panose="020B0609020101020101" pitchFamily="49" charset="-127"/>
                <a:ea typeface="D2Coding" panose="020B0609020101020101" pitchFamily="49" charset="-127"/>
              </a:rPr>
              <a:t>컬러이미지에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대한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CNN(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image-search/</a:t>
            </a:r>
            <a:r>
              <a:rPr lang="en-US" altLang="ko-KR" dirty="0" err="1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cnn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/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이해하기</a:t>
            </a:r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7F9A623C-EB2D-129A-153E-FF04C6788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83166" y="1978293"/>
            <a:ext cx="7538720" cy="42405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813280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1F8F77-6C0A-3904-FA33-71DB87EB0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C35CD0C6-E48F-5171-D0C0-42352B7620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15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F803ED0-69E8-6928-5E8A-D2CF16B94595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21E901BE-AB7F-22C0-899D-4319238947C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학습사이트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https://github.com/ancestor9/Image Classification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에서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교과수업 진행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E898584-3848-4BB8-F2D9-0A00E87916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2688" y="2612298"/>
            <a:ext cx="39626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B82832F4-B644-E38A-A3E9-D95C7FBA35C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643063" y="2612298"/>
            <a:ext cx="3183791" cy="361904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0AA5B32-FCC9-8B3B-67E2-D75A02F17AE0}"/>
              </a:ext>
            </a:extLst>
          </p:cNvPr>
          <p:cNvSpPr txBox="1"/>
          <p:nvPr/>
        </p:nvSpPr>
        <p:spPr>
          <a:xfrm>
            <a:off x="1543050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single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A011B06-493F-BCD7-F77B-C778CE2E4912}"/>
              </a:ext>
            </a:extLst>
          </p:cNvPr>
          <p:cNvSpPr txBox="1"/>
          <p:nvPr/>
        </p:nvSpPr>
        <p:spPr>
          <a:xfrm>
            <a:off x="6231792" y="2159141"/>
            <a:ext cx="328380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multiple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50149320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F05597-2E63-8680-97C9-8A0379C361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B2265282-DEE6-0646-E27C-CAB0D336B2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16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686F3F87-E80C-B7E8-19A7-5F227D10B393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714A798-1EC4-0DBB-1C3A-3CF3FAAABB82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개념적이고 직관적으로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</a:rPr>
              <a:t>CNN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을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https://poloclub.github.io/cnn-explainer/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에서 이해하자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4D1AA27-A75B-37EC-B74E-57B16DF77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3425" y="1841763"/>
            <a:ext cx="9553575" cy="419449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964186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87DB1F-676C-0784-635D-DC8BC8B39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3B9DA331-3E36-5837-C27C-09B919AF81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514011" y="6036261"/>
            <a:ext cx="753545" cy="365125"/>
          </a:xfrm>
        </p:spPr>
        <p:txBody>
          <a:bodyPr/>
          <a:lstStyle/>
          <a:p>
            <a:fld id="{D57F1E4F-1CFF-5643-939E-217C01CDF565}" type="slidenum">
              <a:rPr lang="en-US" smtClean="0"/>
              <a:pPr/>
              <a:t>17</a:t>
            </a:fld>
            <a:endParaRPr lang="en-US" dirty="0"/>
          </a:p>
        </p:txBody>
      </p:sp>
      <p:sp>
        <p:nvSpPr>
          <p:cNvPr id="3" name="제목 1">
            <a:extLst>
              <a:ext uri="{FF2B5EF4-FFF2-40B4-BE49-F238E27FC236}">
                <a16:creationId xmlns:a16="http://schemas.microsoft.com/office/drawing/2014/main" id="{02C22D0A-1313-B903-6F04-E982F4C627FE}"/>
              </a:ext>
            </a:extLst>
          </p:cNvPr>
          <p:cNvSpPr txBox="1">
            <a:spLocks/>
          </p:cNvSpPr>
          <p:nvPr/>
        </p:nvSpPr>
        <p:spPr>
          <a:xfrm>
            <a:off x="475645" y="481983"/>
            <a:ext cx="10353762" cy="76643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3200" kern="1200" cap="all" baseline="0">
                <a:solidFill>
                  <a:schemeClr val="tx1"/>
                </a:solidFill>
                <a:effectLst/>
                <a:latin typeface="Batang" panose="02030600000101010101" pitchFamily="18" charset="-127"/>
                <a:ea typeface="Batang" panose="02030600000101010101" pitchFamily="18" charset="-127"/>
                <a:cs typeface="+mj-cs"/>
              </a:defRPr>
            </a:lvl1pPr>
          </a:lstStyle>
          <a:p>
            <a:pPr algn="l"/>
            <a:r>
              <a:rPr lang="en-US" altLang="ko-KR" sz="2800" cap="none" dirty="0" err="1">
                <a:solidFill>
                  <a:schemeClr val="bg2">
                    <a:lumMod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Segoe UI Light" panose="020B0502040204020203" pitchFamily="34" charset="0"/>
              </a:rPr>
              <a:t>PyTorch</a:t>
            </a:r>
            <a:endParaRPr lang="ko-KR" altLang="en-US" sz="2800" cap="none" dirty="0">
              <a:solidFill>
                <a:schemeClr val="bg2">
                  <a:lumMod val="25000"/>
                </a:schemeClr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Segoe UI Light" panose="020B0502040204020203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9F0B72-DDC7-18AA-B22F-73829F19987C}"/>
              </a:ext>
            </a:extLst>
          </p:cNvPr>
          <p:cNvSpPr txBox="1"/>
          <p:nvPr/>
        </p:nvSpPr>
        <p:spPr>
          <a:xfrm>
            <a:off x="644986" y="1236259"/>
            <a:ext cx="11012385" cy="465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유튜브 동영상 </a:t>
            </a:r>
            <a:r>
              <a:rPr lang="en-US" altLang="ko-KR" dirty="0">
                <a:latin typeface="D2Coding" panose="020B0609020101020101" pitchFamily="49" charset="-127"/>
                <a:ea typeface="D2Coding" panose="020B0609020101020101" pitchFamily="49" charset="-127"/>
                <a:hlinkClick r:id="rId2"/>
              </a:rPr>
              <a:t>Kernel Size and Why Everyone Loves 3x3 - Neural Network Convolution</a:t>
            </a:r>
            <a:r>
              <a:rPr lang="ko-KR" altLang="en-US" dirty="0">
                <a:latin typeface="D2Coding" panose="020B0609020101020101" pitchFamily="49" charset="-127"/>
                <a:ea typeface="D2Coding" panose="020B0609020101020101" pitchFamily="49" charset="-127"/>
              </a:rPr>
              <a:t> 이해하자</a:t>
            </a: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C4ECD689-EE52-C02C-F285-18FE07FE3A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1586" y="2353214"/>
            <a:ext cx="6533557" cy="349513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713C82CD-F634-E04D-08CC-C281BB8C06F5}"/>
              </a:ext>
            </a:extLst>
          </p:cNvPr>
          <p:cNvSpPr txBox="1"/>
          <p:nvPr/>
        </p:nvSpPr>
        <p:spPr>
          <a:xfrm>
            <a:off x="644986" y="2353214"/>
            <a:ext cx="4643294" cy="102726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(8,3,3),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kernel(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색상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)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(8,4,4) </a:t>
            </a:r>
            <a:endParaRPr lang="ko-KR" altLang="en-US" sz="14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21F0DC8-FCD6-0460-7E81-40F156D07A60}"/>
              </a:ext>
            </a:extLst>
          </p:cNvPr>
          <p:cNvSpPr txBox="1"/>
          <p:nvPr/>
        </p:nvSpPr>
        <p:spPr>
          <a:xfrm>
            <a:off x="591646" y="4665651"/>
            <a:ext cx="4201334" cy="1027269"/>
          </a:xfrm>
          <a:prstGeom prst="rect">
            <a:avLst/>
          </a:prstGeom>
          <a:solidFill>
            <a:schemeClr val="bg1">
              <a:lumMod val="75000"/>
            </a:schemeClr>
          </a:solidFill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Input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tensor: (8,6,6) 8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channel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 tensor: 20</a:t>
            </a:r>
            <a:r>
              <a:rPr lang="ko-KR" altLang="en-US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개 </a:t>
            </a: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Kernel size</a:t>
            </a:r>
          </a:p>
          <a:p>
            <a:pPr marL="285750" indent="-285750">
              <a:lnSpc>
                <a:spcPct val="150000"/>
              </a:lnSpc>
              <a:buFont typeface="Wingdings" panose="05000000000000000000" pitchFamily="2" charset="2"/>
              <a:buChar char="v"/>
            </a:pPr>
            <a:r>
              <a:rPr lang="en-US" altLang="ko-KR" sz="1400" dirty="0">
                <a:latin typeface="D2Coding" panose="020B0609020101020101" pitchFamily="49" charset="-127"/>
                <a:ea typeface="D2Coding" panose="020B0609020101020101" pitchFamily="49" charset="-127"/>
              </a:rPr>
              <a:t>Output tensor: (20,4,4) </a:t>
            </a:r>
            <a:endParaRPr lang="ko-KR" altLang="en-US" sz="1400" dirty="0"/>
          </a:p>
        </p:txBody>
      </p:sp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29CD3A76-F298-88C6-B9BA-F1D593B0FB72}"/>
              </a:ext>
            </a:extLst>
          </p:cNvPr>
          <p:cNvSpPr/>
          <p:nvPr/>
        </p:nvSpPr>
        <p:spPr>
          <a:xfrm>
            <a:off x="1665073" y="3638257"/>
            <a:ext cx="495300" cy="769620"/>
          </a:xfrm>
          <a:prstGeom prst="down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A5A5A8A-B0F5-B4B1-8BA3-06BCBBF93A66}"/>
              </a:ext>
            </a:extLst>
          </p:cNvPr>
          <p:cNvSpPr txBox="1"/>
          <p:nvPr/>
        </p:nvSpPr>
        <p:spPr>
          <a:xfrm>
            <a:off x="2160373" y="3638257"/>
            <a:ext cx="2685947" cy="6970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만약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 20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개 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Kernel</a:t>
            </a: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을 적용하면</a:t>
            </a:r>
            <a:r>
              <a:rPr lang="en-US" altLang="ko-KR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, </a:t>
            </a:r>
          </a:p>
          <a:p>
            <a:pPr>
              <a:lnSpc>
                <a:spcPct val="150000"/>
              </a:lnSpc>
            </a:pPr>
            <a:r>
              <a:rPr lang="ko-KR" altLang="en-US" sz="1400" dirty="0">
                <a:latin typeface="맑은 고딕 Semilight" panose="020B0502040204020203" pitchFamily="50" charset="-127"/>
                <a:ea typeface="맑은 고딕 Semilight" panose="020B0502040204020203" pitchFamily="50" charset="-127"/>
                <a:cs typeface="맑은 고딕 Semilight" panose="020B0502040204020203" pitchFamily="50" charset="-127"/>
              </a:rPr>
              <a:t>고차원의 특징을 추출</a:t>
            </a:r>
          </a:p>
        </p:txBody>
      </p:sp>
    </p:spTree>
    <p:extLst>
      <p:ext uri="{BB962C8B-B14F-4D97-AF65-F5344CB8AC3E}">
        <p14:creationId xmlns:p14="http://schemas.microsoft.com/office/powerpoint/2010/main" val="37519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/>
    </p:bldLst>
  </p:timing>
</p:sld>
</file>

<file path=ppt/theme/theme1.xml><?xml version="1.0" encoding="utf-8"?>
<a:theme xmlns:a="http://schemas.openxmlformats.org/drawingml/2006/main" name="WelcomeDoc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60957323_TF10001108_Win32.potx" id="{89E2DA47-811B-41FC-8101-7BA0FB62AE2C}" vid="{0AAAB8A4-2457-4279-BA92-56392840B1F0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{9FD8D820-F221-4C2D-97F8-71B66FDCF583}TF2989475c-5427-4edb-9ec1-00f4ce72165be756b0ce_win32-2ff1dad8fff0</Template>
  <TotalTime>2833</TotalTime>
  <Words>528</Words>
  <Application>Microsoft Office PowerPoint</Application>
  <PresentationFormat>와이드스크린</PresentationFormat>
  <Paragraphs>143</Paragraphs>
  <Slides>17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7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17</vt:i4>
      </vt:variant>
    </vt:vector>
  </HeadingPairs>
  <TitlesOfParts>
    <vt:vector size="25" baseType="lpstr">
      <vt:lpstr>D2Coding</vt:lpstr>
      <vt:lpstr>맑은 고딕</vt:lpstr>
      <vt:lpstr>맑은 고딕 Semilight</vt:lpstr>
      <vt:lpstr>Batang</vt:lpstr>
      <vt:lpstr>Arial</vt:lpstr>
      <vt:lpstr>Segoe UI Light</vt:lpstr>
      <vt:lpstr>Wingdings</vt:lpstr>
      <vt:lpstr>WelcomeDoc</vt:lpstr>
      <vt:lpstr>Image Classification</vt:lpstr>
      <vt:lpstr>Contents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조상구</dc:creator>
  <cp:keywords/>
  <cp:lastModifiedBy>Sanggoo Cho</cp:lastModifiedBy>
  <cp:revision>96</cp:revision>
  <dcterms:created xsi:type="dcterms:W3CDTF">2026-04-06T01:00:39Z</dcterms:created>
  <dcterms:modified xsi:type="dcterms:W3CDTF">2026-06-08T22:55:38Z</dcterms:modified>
  <cp:version/>
</cp:coreProperties>
</file>