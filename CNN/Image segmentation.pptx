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1133" r:id="rId3"/>
    <p:sldId id="1134" r:id="rId4"/>
    <p:sldId id="1135" r:id="rId5"/>
    <p:sldId id="1136" r:id="rId6"/>
    <p:sldId id="1129" r:id="rId7"/>
    <p:sldId id="1130" r:id="rId8"/>
    <p:sldId id="1131" r:id="rId9"/>
    <p:sldId id="1132" r:id="rId10"/>
    <p:sldId id="1121" r:id="rId11"/>
    <p:sldId id="1122" r:id="rId12"/>
    <p:sldId id="1123" r:id="rId1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3"/>
            <p14:sldId id="1134"/>
            <p14:sldId id="1135"/>
            <p14:sldId id="1136"/>
            <p14:sldId id="1129"/>
            <p14:sldId id="1130"/>
            <p14:sldId id="1131"/>
            <p14:sldId id="1132"/>
          </p14:sldIdLst>
        </p14:section>
        <p14:section name="자세한 정보" id="{2CC34DB2-6590-42C0-AD4B-A04C6060184E}">
          <p14:sldIdLst>
            <p14:sldId id="1121"/>
            <p14:sldId id="1122"/>
            <p14:sldId id="11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2026-06-24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2026-06-24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2026-06-24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youtube.com/watch?v=H5HGZ1wLtrk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openaccess.thecvf.com/content_cvpr_2015/papers/Long_Fully_Convolutional_Networks_2015_CVPR_paper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learningwithpython.io/chapters/chapter11_image-segmentation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youtube.com/watch?v=ag3DLKsl2vk&amp;list=PLeo1K3hjS3uu7CxAacxVndI4bE_o3BDtO&amp;index=31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Image Segmentation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9033-6C62-0A20-DF03-7A8B8CA3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8F351C-5017-1771-4471-D3540813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A5DF695-2B93-476F-B205-8A605F7F094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FCN(Fully Convolutional Network)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94A00-B646-16E7-2041-231B19D18130}"/>
              </a:ext>
            </a:extLst>
          </p:cNvPr>
          <p:cNvSpPr txBox="1"/>
          <p:nvPr/>
        </p:nvSpPr>
        <p:spPr>
          <a:xfrm>
            <a:off x="6096000" y="6184540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FCN_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유튜브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2EF4FE02-7852-A22B-BE70-43B1218B6E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78C25A4-C6EB-6B28-BB17-8B8FB0D00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620" y="1402311"/>
            <a:ext cx="5123313" cy="44800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5C2E73B-F3BB-6414-D8E9-042446583B25}"/>
              </a:ext>
            </a:extLst>
          </p:cNvPr>
          <p:cNvSpPr txBox="1"/>
          <p:nvPr/>
        </p:nvSpPr>
        <p:spPr>
          <a:xfrm>
            <a:off x="6096000" y="5882372"/>
            <a:ext cx="5514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Hands-on Machine Learning with Scikit-Learn,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Keras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&amp; TensorFlow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12D706-7D03-B43E-EA1F-620A216D79F1}"/>
              </a:ext>
            </a:extLst>
          </p:cNvPr>
          <p:cNvSpPr txBox="1"/>
          <p:nvPr/>
        </p:nvSpPr>
        <p:spPr>
          <a:xfrm>
            <a:off x="428624" y="1464648"/>
            <a:ext cx="5514976" cy="3928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2015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논문 </a:t>
            </a:r>
            <a:r>
              <a:rPr lang="en-US" altLang="ko-KR" sz="1400" dirty="0" err="1">
                <a:solidFill>
                  <a:schemeClr val="accent5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Long_Fully_Convolutional_Networks</a:t>
            </a:r>
            <a:r>
              <a:rPr lang="en-US" altLang="ko-KR" sz="1400" dirty="0">
                <a:solidFill>
                  <a:schemeClr val="accent5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기존의 분류용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CNN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완전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합성곱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형태로 변환해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 이미지 크기에 관계없이 밀도 있는 예측을 수행할 수 있게 한 혁신적 접근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FCN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CNN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이미지 분류기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(Classifier)"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픽셀 단위 분류기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Segmenter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)"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확장한 최초의 딥러닝 구조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이후 발표된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U-Net,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SegNet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DeepLab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 다양한 모델이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FCN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개념을 확장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·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개선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의료 영상 분석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자율주행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위성 영상 등 다양한 응용 분야에서 핵심적인 기술적 기반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581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2AB4-36DC-291C-982B-B4A6CFF9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054D6-2E71-887C-FEA5-FD38AEDD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D547ED8-4C5E-8D3E-58DA-854ED855312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FCN(Fully Convolutional Network)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CAE47E79-09BC-2D58-9A2B-098AE77478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DFC2F-1BAD-6983-92B9-9B6906EA9127}"/>
              </a:ext>
            </a:extLst>
          </p:cNvPr>
          <p:cNvSpPr txBox="1"/>
          <p:nvPr/>
        </p:nvSpPr>
        <p:spPr>
          <a:xfrm>
            <a:off x="628650" y="1325175"/>
            <a:ext cx="10353762" cy="526297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tensorflow.keras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build_traditional_cnn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원래 LeNet-5는 (32, 32, 1) 기준으로 가중치 모양이 고정됨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=(64, 64, 1))  # 크기가 다른 (64, 64) 입력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특징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추출부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(LeNet-5 구조)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layers.Conv2D(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=6,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layers.MaxPooling2D(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layers.Conv2D(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=16,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layers.MaxPooling2D(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layers.Flatten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    # ❌ 문제의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단계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원래 (32,32) 입력이었다면 400개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노드여야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하지만, (64,64)라 2704개가 되어 들어옴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(120,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(84,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cnn_model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build_traditional_cnn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가상의 (64, 64, 1) 이미지 1장 생성해서 통과 시도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tf.random.normal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([1, 64, 64, 1])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cnn_model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29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EC00-2CE5-3A47-71C2-446F304CD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283B6A-082F-EEFF-C478-18E7B173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994C095-FA13-5B37-3A73-7D9219AC29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FCN(Fully Convolutional Network)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285DBDB0-F214-75E6-61AB-2A7FC38CDD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290B9-2470-CEB5-D79C-DCB3E7CE4019}"/>
              </a:ext>
            </a:extLst>
          </p:cNvPr>
          <p:cNvSpPr txBox="1"/>
          <p:nvPr/>
        </p:nvSpPr>
        <p:spPr>
          <a:xfrm>
            <a:off x="628650" y="1325175"/>
            <a:ext cx="10353762" cy="504753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inputs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(shape=(64, 64, 1))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동일한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(64, 64)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특징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추출부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(LeNet-5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구조 그대로 유지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padding="valid",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strides=2)(x)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layers.Conv2D(filters=16,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padding="valid",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strides=2)(x)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⭕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[FCN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핵심 변환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]: Dense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층들을 전부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Conv2D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대체합니다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(32,32)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시 이 자리의 특성 맵 크기가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5x5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였으므로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지정합니다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layers.Conv2D(filters=120,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padding="valid",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이후의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Dense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층들은 가로세로가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1x1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 상태이므로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필터로 대체합니다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layers.Conv2D(filters=84,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outputs = layers.Conv2D(filters=10,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FCN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테스트 실행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tf.random.normal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([1, 64, 64, 1])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fcn_prediction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👉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FCN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 출력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Matrix Formation (Shape):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fcn_prediction.shape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7A409-6D23-BBDF-FE6F-00232ACFCCF3}"/>
              </a:ext>
            </a:extLst>
          </p:cNvPr>
          <p:cNvSpPr txBox="1"/>
          <p:nvPr/>
        </p:nvSpPr>
        <p:spPr>
          <a:xfrm>
            <a:off x="8134350" y="4789957"/>
            <a:ext cx="3581400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사진 속 9 </a:t>
            </a:r>
            <a:r>
              <a:rPr lang="en-US" altLang="ko-KR" sz="14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4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 세부 구역 중 '어느 </a:t>
            </a:r>
            <a:r>
              <a:rPr lang="ko-KR" altLang="en-US" sz="1400" dirty="0" err="1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위치'에</a:t>
            </a:r>
            <a:r>
              <a:rPr lang="ko-KR" altLang="en-US" sz="14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그 숫자가 존재하는지" 픽셀 단위의 단서를 제공하는 객체 탐지(</a:t>
            </a:r>
            <a:r>
              <a:rPr lang="ko-KR" altLang="en-US" sz="1400" dirty="0" err="1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Object</a:t>
            </a:r>
            <a:r>
              <a:rPr lang="ko-KR" altLang="en-US" sz="14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Detection</a:t>
            </a:r>
            <a:r>
              <a:rPr lang="ko-KR" altLang="en-US" sz="14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및 </a:t>
            </a:r>
            <a:r>
              <a:rPr lang="ko-KR" altLang="en-US" sz="1400" dirty="0" err="1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세맨틱</a:t>
            </a:r>
            <a:r>
              <a:rPr lang="ko-KR" altLang="en-US" sz="14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분할(</a:t>
            </a:r>
            <a:r>
              <a:rPr lang="ko-KR" altLang="en-US" sz="1400" dirty="0" err="1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Semantic</a:t>
            </a:r>
            <a:r>
              <a:rPr lang="ko-KR" altLang="en-US" sz="14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Segmentation</a:t>
            </a:r>
            <a:r>
              <a:rPr lang="ko-KR" altLang="en-US" sz="14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모델로 진화한 형태</a:t>
            </a:r>
          </a:p>
        </p:txBody>
      </p:sp>
    </p:spTree>
    <p:extLst>
      <p:ext uri="{BB962C8B-B14F-4D97-AF65-F5344CB8AC3E}">
        <p14:creationId xmlns:p14="http://schemas.microsoft.com/office/powerpoint/2010/main" val="4239758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9316-11CD-EA57-8245-E63FDE19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F31271-713B-9FDE-F191-99E79E200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A59FC1F-25B8-EA91-927F-372CABFF2F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FCN(Fully Convolutional Network)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A14E7412-BACD-A2AB-F02F-EC1463D4E5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2F17F-9733-1268-A0A9-0727F2D512BD}"/>
              </a:ext>
            </a:extLst>
          </p:cNvPr>
          <p:cNvSpPr txBox="1"/>
          <p:nvPr/>
        </p:nvSpPr>
        <p:spPr>
          <a:xfrm>
            <a:off x="595009" y="1248422"/>
            <a:ext cx="11306781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FCN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마지막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 Map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각 위치가 원본 이미지의 특정 영역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(Receptive Field)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대표하기 때문에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512×512 = 262,144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픽셀을 각각 분류할 수 있는 반면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CNN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이미지 하나를 보고 고양이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를 분류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2C0913-8CE9-A5D2-941D-2D2D06488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85" y="2287838"/>
            <a:ext cx="8449179" cy="4200760"/>
          </a:xfrm>
          <a:prstGeom prst="rect">
            <a:avLst/>
          </a:prstGeom>
        </p:spPr>
      </p:pic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6E46AF95-4599-95E3-BD23-3179F05BAAC8}"/>
              </a:ext>
            </a:extLst>
          </p:cNvPr>
          <p:cNvSpPr/>
          <p:nvPr/>
        </p:nvSpPr>
        <p:spPr>
          <a:xfrm>
            <a:off x="8808370" y="2606007"/>
            <a:ext cx="2154905" cy="85725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75833"/>
              <a:gd name="adj6" fmla="val -644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마지막 레이어에 적힌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숫자는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클래스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배경 포함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픽셀 단위로 분류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6991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4B0E-9215-C286-2671-09F61199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E610E9-D1FE-2850-B347-77F7B3CB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A18A25-A57C-1842-7548-74DD0C7F25B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Computer vision 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BEA63-6C45-7A95-A23D-E71B44C554F8}"/>
              </a:ext>
            </a:extLst>
          </p:cNvPr>
          <p:cNvSpPr txBox="1"/>
          <p:nvPr/>
        </p:nvSpPr>
        <p:spPr>
          <a:xfrm>
            <a:off x="576262" y="1854264"/>
            <a:ext cx="11039475" cy="397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 Classification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 (Flatten + Dense)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사진은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95%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확률로 장미입니다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결론을 내지만 위치는 모름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 Segmentation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기존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없애고 모든 레이어를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합성곱으로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구성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큰 이미지가 들어왔을 때 최종 출력이 같은 공간 특징 지도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(Heatmap)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확장되어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 하나하나의 정답을 다 채워 넣는 정밀한 이미지 분할이 비로소 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Object Detection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분류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회귀 듀얼 출력 모델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클래스 확률도 맞추고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박스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(x, y, w, h)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숫자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회귀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 동시에 맞춰서 물체의 대략적인 사각형 위치를 발견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384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69A9-4F04-718A-5AEF-7E99F11A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903B85-7A47-27F7-9AE1-D7D36684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251CB9C-2FC1-374C-0EDA-DC9AE809DF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Image Segmentation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07FDF2-1C66-6ADC-C706-F8EC2BFDC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518" y="2091967"/>
            <a:ext cx="5090957" cy="43094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3A10FE-64CB-2E00-71D1-DC1362550BBC}"/>
              </a:ext>
            </a:extLst>
          </p:cNvPr>
          <p:cNvSpPr txBox="1"/>
          <p:nvPr/>
        </p:nvSpPr>
        <p:spPr>
          <a:xfrm>
            <a:off x="609600" y="1384566"/>
            <a:ext cx="851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 with Python : chapter11_image-segmentation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참고하여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slide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작성</a:t>
            </a:r>
          </a:p>
        </p:txBody>
      </p:sp>
    </p:spTree>
    <p:extLst>
      <p:ext uri="{BB962C8B-B14F-4D97-AF65-F5344CB8AC3E}">
        <p14:creationId xmlns:p14="http://schemas.microsoft.com/office/powerpoint/2010/main" val="2873145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5FC59-DF22-CAA4-9590-F2A7C909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06A9F-C8BA-67A4-E9BD-47141DF8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F879655-DA0B-0D92-6AEF-1E2693A84A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Semantic Segmentation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BAE1E2E-AD0B-4F4B-05B5-8A532B1DE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962230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88B2388-8059-E653-E419-CC706D81F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683" y="1962230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8AD89D-968B-CAB5-5BB3-A3841292D078}"/>
              </a:ext>
            </a:extLst>
          </p:cNvPr>
          <p:cNvSpPr txBox="1"/>
          <p:nvPr/>
        </p:nvSpPr>
        <p:spPr>
          <a:xfrm>
            <a:off x="1981200" y="1615559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2D3027-4EA0-CBC7-5C32-3151E32BE3CE}"/>
              </a:ext>
            </a:extLst>
          </p:cNvPr>
          <p:cNvSpPr txBox="1"/>
          <p:nvPr/>
        </p:nvSpPr>
        <p:spPr>
          <a:xfrm>
            <a:off x="7105202" y="1650520"/>
            <a:ext cx="1690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22E2E-7D86-9E9D-D7F4-A654F5E3A205}"/>
              </a:ext>
            </a:extLst>
          </p:cNvPr>
          <p:cNvSpPr txBox="1"/>
          <p:nvPr/>
        </p:nvSpPr>
        <p:spPr>
          <a:xfrm>
            <a:off x="2057400" y="546526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074CF5-DF8A-A38A-B143-DC98BA8AF675}"/>
              </a:ext>
            </a:extLst>
          </p:cNvPr>
          <p:cNvSpPr txBox="1"/>
          <p:nvPr/>
        </p:nvSpPr>
        <p:spPr>
          <a:xfrm>
            <a:off x="7264666" y="5408114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77C6241-EA2D-1241-0151-C525FCA699FC}"/>
              </a:ext>
            </a:extLst>
          </p:cNvPr>
          <p:cNvCxnSpPr>
            <a:cxnSpLocks/>
          </p:cNvCxnSpPr>
          <p:nvPr/>
        </p:nvCxnSpPr>
        <p:spPr>
          <a:xfrm>
            <a:off x="4966726" y="3794342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FF7879-1E16-CC92-2C47-6C78CFD3F782}"/>
              </a:ext>
            </a:extLst>
          </p:cNvPr>
          <p:cNvSpPr txBox="1"/>
          <p:nvPr/>
        </p:nvSpPr>
        <p:spPr>
          <a:xfrm>
            <a:off x="5091112" y="3244334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74949D-59A1-D5DC-B848-02E54DE6F5BA}"/>
              </a:ext>
            </a:extLst>
          </p:cNvPr>
          <p:cNvSpPr txBox="1"/>
          <p:nvPr/>
        </p:nvSpPr>
        <p:spPr>
          <a:xfrm>
            <a:off x="7467600" y="3543001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(foreground)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48C39A-A848-F4DD-CB42-672E5A5C7AF8}"/>
              </a:ext>
            </a:extLst>
          </p:cNvPr>
          <p:cNvSpPr txBox="1"/>
          <p:nvPr/>
        </p:nvSpPr>
        <p:spPr>
          <a:xfrm rot="19245108">
            <a:off x="7909786" y="4467346"/>
            <a:ext cx="1396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(contour)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D1772E-DD1C-3ED5-EE3C-150D3FE8AA72}"/>
              </a:ext>
            </a:extLst>
          </p:cNvPr>
          <p:cNvSpPr txBox="1"/>
          <p:nvPr/>
        </p:nvSpPr>
        <p:spPr>
          <a:xfrm>
            <a:off x="6473236" y="2117141"/>
            <a:ext cx="1819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 (background)</a:t>
            </a:r>
          </a:p>
        </p:txBody>
      </p:sp>
    </p:spTree>
    <p:extLst>
      <p:ext uri="{BB962C8B-B14F-4D97-AF65-F5344CB8AC3E}">
        <p14:creationId xmlns:p14="http://schemas.microsoft.com/office/powerpoint/2010/main" val="530883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C7C59-423C-7C11-050C-013FB21D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786261-866F-22A1-3F08-23BE259E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AC949CB-4F47-A625-F779-ACF5B5047C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Semantic Segmentation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CF828-B040-95A6-01FB-989BB4ED21A5}"/>
              </a:ext>
            </a:extLst>
          </p:cNvPr>
          <p:cNvSpPr txBox="1"/>
          <p:nvPr/>
        </p:nvSpPr>
        <p:spPr>
          <a:xfrm>
            <a:off x="1981200" y="189178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94EAF4-ACA6-4283-37D4-4288D28B1877}"/>
              </a:ext>
            </a:extLst>
          </p:cNvPr>
          <p:cNvSpPr txBox="1"/>
          <p:nvPr/>
        </p:nvSpPr>
        <p:spPr>
          <a:xfrm>
            <a:off x="7105202" y="1926745"/>
            <a:ext cx="1690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F503F-3B4E-D043-2764-B8A93F4F14EF}"/>
              </a:ext>
            </a:extLst>
          </p:cNvPr>
          <p:cNvSpPr txBox="1"/>
          <p:nvPr/>
        </p:nvSpPr>
        <p:spPr>
          <a:xfrm>
            <a:off x="9620250" y="2261116"/>
            <a:ext cx="2247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ko-KR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(foreground)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ko-KR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 (background)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ko-KR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(contour)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9BEF3F-882E-452F-8047-F7C760E3A455}"/>
              </a:ext>
            </a:extLst>
          </p:cNvPr>
          <p:cNvSpPr txBox="1"/>
          <p:nvPr/>
        </p:nvSpPr>
        <p:spPr>
          <a:xfrm>
            <a:off x="2057400" y="546526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8E8DC-DC20-84AE-CC3E-AE72343A7C5F}"/>
              </a:ext>
            </a:extLst>
          </p:cNvPr>
          <p:cNvSpPr txBox="1"/>
          <p:nvPr/>
        </p:nvSpPr>
        <p:spPr>
          <a:xfrm>
            <a:off x="7264666" y="5408114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2F73698-AB14-59F1-D3DC-5E680FEBB8B5}"/>
              </a:ext>
            </a:extLst>
          </p:cNvPr>
          <p:cNvCxnSpPr>
            <a:cxnSpLocks/>
          </p:cNvCxnSpPr>
          <p:nvPr/>
        </p:nvCxnSpPr>
        <p:spPr>
          <a:xfrm>
            <a:off x="4695825" y="3819525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68B4CA-26DE-3E3F-4E43-BBBAB5F5E7BC}"/>
              </a:ext>
            </a:extLst>
          </p:cNvPr>
          <p:cNvSpPr txBox="1"/>
          <p:nvPr/>
        </p:nvSpPr>
        <p:spPr>
          <a:xfrm>
            <a:off x="4958818" y="3248047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3C5FA06-6BA4-DE1D-831A-B45A62B2CEE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6500752" y="2722781"/>
            <a:ext cx="3119498" cy="24409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4B2D89F-E42E-E778-DBF6-E788F5244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10" y="2555282"/>
            <a:ext cx="2811942" cy="277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64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2734-AA6A-E730-3531-0054C5EE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FFB6B3-4B54-5D5E-0596-98BAADA1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DFADB4A-FE33-2CB5-920A-08149AB4CC4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686F96D-48F0-A770-6A20-E3AC1FC84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99" y="1662889"/>
            <a:ext cx="9536749" cy="446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56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326FB-150E-BE96-08E2-07962246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74812A-4AB7-6AC8-E8CF-FBA1128E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CBB2FC7-ABBB-6EF3-A901-A983D707DA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E399E9D-0E06-6644-28CE-43E6B8235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56" y="1685745"/>
            <a:ext cx="9600234" cy="456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8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C44D-F297-6601-F332-F8D92566E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FC0956-2267-AA70-ECAA-20AC1CE3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4A44E6-D3E3-3C22-7F65-FB46DBF447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YOLO algorithm?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EE9355-BCE3-59B9-FB09-0D84B020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724" y="1483553"/>
            <a:ext cx="7635902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4369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6011</TotalTime>
  <Words>1077</Words>
  <Application>Microsoft Office PowerPoint</Application>
  <PresentationFormat>와이드스크린</PresentationFormat>
  <Paragraphs>110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D2Coding</vt:lpstr>
      <vt:lpstr>맑은 고딕</vt:lpstr>
      <vt:lpstr>맑은 고딕 Semilight</vt:lpstr>
      <vt:lpstr>Batang</vt:lpstr>
      <vt:lpstr>Arial</vt:lpstr>
      <vt:lpstr>Wingdings</vt:lpstr>
      <vt:lpstr>WelcomeDoc</vt:lpstr>
      <vt:lpstr>Image Segmentation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117</cp:revision>
  <dcterms:created xsi:type="dcterms:W3CDTF">2026-04-06T01:00:39Z</dcterms:created>
  <dcterms:modified xsi:type="dcterms:W3CDTF">2026-06-23T22:50:29Z</dcterms:modified>
  <cp:version/>
</cp:coreProperties>
</file>