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1124" r:id="rId3"/>
    <p:sldId id="1125" r:id="rId4"/>
    <p:sldId id="1128" r:id="rId5"/>
    <p:sldId id="1129" r:id="rId6"/>
    <p:sldId id="1131" r:id="rId7"/>
    <p:sldId id="1130" r:id="rId8"/>
    <p:sldId id="1127" r:id="rId9"/>
    <p:sldId id="1121" r:id="rId10"/>
    <p:sldId id="1133" r:id="rId11"/>
    <p:sldId id="1132" r:id="rId12"/>
    <p:sldId id="1122" r:id="rId13"/>
    <p:sldId id="1123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/>
        </p14:section>
        <p14:section name="자세한 정보" id="{2CC34DB2-6590-42C0-AD4B-A04C6060184E}">
          <p14:sldIdLst>
            <p14:sldId id="1124"/>
            <p14:sldId id="1125"/>
            <p14:sldId id="1128"/>
            <p14:sldId id="1129"/>
            <p14:sldId id="1131"/>
            <p14:sldId id="1130"/>
            <p14:sldId id="1127"/>
            <p14:sldId id="1121"/>
            <p14:sldId id="1133"/>
            <p14:sldId id="1132"/>
            <p14:sldId id="1122"/>
            <p14:sldId id="11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6E3FF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91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2026-06-26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2026-06-26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2026-06-26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11" Type="http://schemas.openxmlformats.org/officeDocument/2006/relationships/image" Target="../media/image21.png"/><Relationship Id="rId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flow.com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ag3DLKsl2vk&amp;list=PLeo1K3hjS3uu7CxAacxVndI4bE_o3BDtO&amp;index=31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A871C7-AFC2-7D62-C991-3C4E005FFED3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4972-28F5-DDDE-EF05-0276932E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C84EB-643A-BD90-4DE9-4C4414D8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58BAD7-3F25-F1A5-A63C-72FD413EF47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래픽 5" descr="자동차">
            <a:extLst>
              <a:ext uri="{FF2B5EF4-FFF2-40B4-BE49-F238E27FC236}">
                <a16:creationId xmlns:a16="http://schemas.microsoft.com/office/drawing/2014/main" id="{A1BABDC3-3259-29C1-9E15-44555617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984" y="3330345"/>
            <a:ext cx="1997857" cy="1997857"/>
          </a:xfrm>
          <a:prstGeom prst="rect">
            <a:avLst/>
          </a:prstGeom>
        </p:spPr>
      </p:pic>
      <p:pic>
        <p:nvPicPr>
          <p:cNvPr id="12" name="그래픽 11" descr="비행기">
            <a:extLst>
              <a:ext uri="{FF2B5EF4-FFF2-40B4-BE49-F238E27FC236}">
                <a16:creationId xmlns:a16="http://schemas.microsoft.com/office/drawing/2014/main" id="{2F9D786E-B5EE-36AA-29D1-8495BE249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5096" y="3263895"/>
            <a:ext cx="2114233" cy="21142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8B83A0-2036-E940-B401-FA337E449F7F}"/>
              </a:ext>
            </a:extLst>
          </p:cNvPr>
          <p:cNvSpPr txBox="1"/>
          <p:nvPr/>
        </p:nvSpPr>
        <p:spPr>
          <a:xfrm>
            <a:off x="589944" y="1210360"/>
            <a:ext cx="9639905" cy="157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X, 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벡터는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(class, x, y, w, h)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: 2개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상자 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상자 높이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/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en-US" sz="20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[1,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0.64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0.42</a:t>
                </a:r>
                <a:r>
                  <a:rPr lang="en-US" altLang="ko-KR" dirty="0"/>
                  <a:t>]</a:t>
                </a:r>
                <a:endParaRPr lang="ko-KR" alt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blipFill>
                <a:blip r:embed="rId6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/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= [0,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</a:t>
                </a:r>
                <a:r>
                  <a:rPr lang="en-US" altLang="ko-KR" dirty="0"/>
                  <a:t>2,</a:t>
                </a:r>
                <a:r>
                  <a:rPr lang="ko-KR" altLang="en-US" dirty="0"/>
                  <a:t>  0.</a:t>
                </a:r>
                <a:r>
                  <a:rPr lang="en-US" altLang="ko-KR" dirty="0"/>
                  <a:t>64]</a:t>
                </a:r>
                <a:endParaRPr lang="ko-KR" alt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blipFill>
                <a:blip r:embed="rId7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6F307B-379C-5176-012A-DC753D139007}"/>
              </a:ext>
            </a:extLst>
          </p:cNvPr>
          <p:cNvSpPr/>
          <p:nvPr/>
        </p:nvSpPr>
        <p:spPr>
          <a:xfrm>
            <a:off x="1839912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C1D08F-F0CE-F521-54A2-0D0BDA6459A3}"/>
              </a:ext>
            </a:extLst>
          </p:cNvPr>
          <p:cNvSpPr/>
          <p:nvPr/>
        </p:nvSpPr>
        <p:spPr>
          <a:xfrm>
            <a:off x="7664047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C31329F-2A20-86DD-0257-2B87D7F114B8}"/>
              </a:ext>
            </a:extLst>
          </p:cNvPr>
          <p:cNvCxnSpPr>
            <a:cxnSpLocks/>
          </p:cNvCxnSpPr>
          <p:nvPr/>
        </p:nvCxnSpPr>
        <p:spPr>
          <a:xfrm>
            <a:off x="1695450" y="3859048"/>
            <a:ext cx="0" cy="9239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B41EC26-0BAB-1EA1-5BE8-542B7AE49B51}"/>
              </a:ext>
            </a:extLst>
          </p:cNvPr>
          <p:cNvCxnSpPr>
            <a:cxnSpLocks/>
          </p:cNvCxnSpPr>
          <p:nvPr/>
        </p:nvCxnSpPr>
        <p:spPr>
          <a:xfrm flipH="1">
            <a:off x="2081211" y="4924425"/>
            <a:ext cx="1803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EF826AF1-21F3-B636-DD38-6F2F49C1550D}"/>
              </a:ext>
            </a:extLst>
          </p:cNvPr>
          <p:cNvSpPr/>
          <p:nvPr/>
        </p:nvSpPr>
        <p:spPr>
          <a:xfrm>
            <a:off x="2830650" y="4248150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869C71E-2EA5-1996-68BD-79BF02C45525}"/>
              </a:ext>
            </a:extLst>
          </p:cNvPr>
          <p:cNvCxnSpPr>
            <a:cxnSpLocks/>
          </p:cNvCxnSpPr>
          <p:nvPr/>
        </p:nvCxnSpPr>
        <p:spPr>
          <a:xfrm flipV="1">
            <a:off x="7396320" y="3481387"/>
            <a:ext cx="0" cy="1752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F325268-AB32-71A8-0F81-D3EEF3561CAC}"/>
              </a:ext>
            </a:extLst>
          </p:cNvPr>
          <p:cNvCxnSpPr>
            <a:cxnSpLocks/>
          </p:cNvCxnSpPr>
          <p:nvPr/>
        </p:nvCxnSpPr>
        <p:spPr>
          <a:xfrm flipH="1">
            <a:off x="7956158" y="3311295"/>
            <a:ext cx="1645042" cy="3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곱하기 기호 36">
            <a:extLst>
              <a:ext uri="{FF2B5EF4-FFF2-40B4-BE49-F238E27FC236}">
                <a16:creationId xmlns:a16="http://schemas.microsoft.com/office/drawing/2014/main" id="{97F6CBA9-570F-757D-55FB-06B879FCD62D}"/>
              </a:ext>
            </a:extLst>
          </p:cNvPr>
          <p:cNvSpPr/>
          <p:nvPr/>
        </p:nvSpPr>
        <p:spPr>
          <a:xfrm>
            <a:off x="8698050" y="4219575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F79A8A-F900-1B57-B39B-1820C0FE5862}"/>
              </a:ext>
            </a:extLst>
          </p:cNvPr>
          <p:cNvSpPr/>
          <p:nvPr/>
        </p:nvSpPr>
        <p:spPr>
          <a:xfrm>
            <a:off x="1983984" y="3752850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DBB289-F63D-DC59-6B81-D2462AA4D081}"/>
              </a:ext>
            </a:extLst>
          </p:cNvPr>
          <p:cNvSpPr/>
          <p:nvPr/>
        </p:nvSpPr>
        <p:spPr>
          <a:xfrm>
            <a:off x="7989691" y="3410047"/>
            <a:ext cx="1645042" cy="18483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8B3A60B9-6AC0-A9A5-5FB2-C93A3E82DC6D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 준비</a:t>
            </a:r>
          </a:p>
        </p:txBody>
      </p:sp>
    </p:spTree>
    <p:extLst>
      <p:ext uri="{BB962C8B-B14F-4D97-AF65-F5344CB8AC3E}">
        <p14:creationId xmlns:p14="http://schemas.microsoft.com/office/powerpoint/2010/main" val="14643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BEC8-E42D-9D5F-006D-A535BEB0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F62728-B165-9395-5FF9-0B4338BF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C9484CF-47AC-1DC5-3A4C-B9E939CE25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3748E-3EB4-9B21-08A1-941961A932A9}"/>
              </a:ext>
            </a:extLst>
          </p:cNvPr>
          <p:cNvSpPr txBox="1"/>
          <p:nvPr/>
        </p:nvSpPr>
        <p:spPr>
          <a:xfrm>
            <a:off x="571802" y="1248422"/>
            <a:ext cx="9181797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우리 모델의 기준 틀은 이 두 형상을 대변하는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Box)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정하자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🟨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가로가 긴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🟦 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정방형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048F18-8266-CB85-DE41-C11920F67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71662"/>
              </p:ext>
            </p:extLst>
          </p:nvPr>
        </p:nvGraphicFramePr>
        <p:xfrm>
          <a:off x="16700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4" name="그래픽 13" descr="자동차">
            <a:extLst>
              <a:ext uri="{FF2B5EF4-FFF2-40B4-BE49-F238E27FC236}">
                <a16:creationId xmlns:a16="http://schemas.microsoft.com/office/drawing/2014/main" id="{E25806FF-A758-49F9-CD68-916A6763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09" y="3949470"/>
            <a:ext cx="1997857" cy="1997857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7158E83-58E7-AE40-50CA-1763B3D3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319896"/>
              </p:ext>
            </p:extLst>
          </p:nvPr>
        </p:nvGraphicFramePr>
        <p:xfrm>
          <a:off x="74993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6" name="그래픽 15" descr="비행기">
            <a:extLst>
              <a:ext uri="{FF2B5EF4-FFF2-40B4-BE49-F238E27FC236}">
                <a16:creationId xmlns:a16="http://schemas.microsoft.com/office/drawing/2014/main" id="{C1885EE2-FE2D-BFD3-B181-AC4DDAD8E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4621" y="3806820"/>
            <a:ext cx="2114233" cy="211423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5206C9-1D79-6791-B243-45E9E653CC56}"/>
              </a:ext>
            </a:extLst>
          </p:cNvPr>
          <p:cNvSpPr/>
          <p:nvPr/>
        </p:nvSpPr>
        <p:spPr>
          <a:xfrm>
            <a:off x="1983984" y="4371975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CE5849-A00F-6ECC-4413-F04B04D7A17A}"/>
              </a:ext>
            </a:extLst>
          </p:cNvPr>
          <p:cNvSpPr/>
          <p:nvPr/>
        </p:nvSpPr>
        <p:spPr>
          <a:xfrm>
            <a:off x="7989691" y="3943349"/>
            <a:ext cx="1645042" cy="18580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397AF-A0EB-E581-D352-979F0199EED5}"/>
              </a:ext>
            </a:extLst>
          </p:cNvPr>
          <p:cNvSpPr txBox="1"/>
          <p:nvPr/>
        </p:nvSpPr>
        <p:spPr>
          <a:xfrm>
            <a:off x="4716675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5E8C1DA-1FFA-3A1C-B4FD-DFCFB67E4458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3981841" y="4318802"/>
            <a:ext cx="1577083" cy="586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12E43-DB8D-3C7F-940B-35E0CED061AE}"/>
              </a:ext>
            </a:extLst>
          </p:cNvPr>
          <p:cNvSpPr txBox="1"/>
          <p:nvPr/>
        </p:nvSpPr>
        <p:spPr>
          <a:xfrm>
            <a:off x="5558923" y="5877571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A3E4D01-9F66-7E18-94EB-F51D5C34FA4B}"/>
              </a:ext>
            </a:extLst>
          </p:cNvPr>
          <p:cNvCxnSpPr>
            <a:cxnSpLocks/>
            <a:stCxn id="18" idx="2"/>
            <a:endCxn id="24" idx="2"/>
          </p:cNvCxnSpPr>
          <p:nvPr/>
        </p:nvCxnSpPr>
        <p:spPr>
          <a:xfrm rot="5400000">
            <a:off x="7383926" y="4818616"/>
            <a:ext cx="445533" cy="2411040"/>
          </a:xfrm>
          <a:prstGeom prst="bentConnector3">
            <a:avLst>
              <a:gd name="adj1" fmla="val 15130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78025F-5C14-CD9D-57A0-CDE06BF2C614}"/>
              </a:ext>
            </a:extLst>
          </p:cNvPr>
          <p:cNvSpPr txBox="1"/>
          <p:nvPr/>
        </p:nvSpPr>
        <p:spPr>
          <a:xfrm>
            <a:off x="1094465" y="2580254"/>
            <a:ext cx="5957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Anchor Box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기하학적 유형은 입력데이터의 평균 유형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별로 앵커박스가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필요없음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(class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앵커박스는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/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3AEBD48E-EEFD-46FD-E8B2-022BFAE935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Anchor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9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F22A-8CEE-D46B-1B35-515AF76D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6B388-1CF6-6032-709B-C508566E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5E77C4-60A1-4515-1BC2-EE1EC4F578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65B33-71F2-8E1A-35C7-6F9B3D2A2E09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새로운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들어오면 가상의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by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격자를 바탕으로 각 칸마다 물체의 중심이 있는지를 기계적으로 조사하여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P(Object)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값을 생성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D05EC23-678F-AA72-AC21-6E047DE7E5FF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0CD7434-7F05-3333-F747-1FBC47252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672187"/>
              </p:ext>
            </p:extLst>
          </p:nvPr>
        </p:nvGraphicFramePr>
        <p:xfrm>
          <a:off x="5962647" y="3090009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P(Object)=0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EA9DE97-9A3E-F82F-9B18-B0F4B1E06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0794" y="5313781"/>
            <a:ext cx="1047565" cy="1047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FEA32-7B87-4278-BDCB-75A6D62C5150}"/>
              </a:ext>
            </a:extLst>
          </p:cNvPr>
          <p:cNvSpPr txBox="1"/>
          <p:nvPr/>
        </p:nvSpPr>
        <p:spPr>
          <a:xfrm>
            <a:off x="5962646" y="2647934"/>
            <a:ext cx="3790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 grid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P(Object)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A960F75-AC5A-0A92-4EAE-D7680A17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352376"/>
              </p:ext>
            </p:extLst>
          </p:nvPr>
        </p:nvGraphicFramePr>
        <p:xfrm>
          <a:off x="871395" y="309000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7" name="그래픽 6" descr="트럭">
            <a:extLst>
              <a:ext uri="{FF2B5EF4-FFF2-40B4-BE49-F238E27FC236}">
                <a16:creationId xmlns:a16="http://schemas.microsoft.com/office/drawing/2014/main" id="{C49C51BB-9B05-4EB8-3851-26F56B85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1195" y="5290752"/>
            <a:ext cx="1047565" cy="1047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15CB45-AA07-C19C-1B0E-C46705816A65}"/>
              </a:ext>
            </a:extLst>
          </p:cNvPr>
          <p:cNvSpPr txBox="1"/>
          <p:nvPr/>
        </p:nvSpPr>
        <p:spPr>
          <a:xfrm>
            <a:off x="803739" y="2592192"/>
            <a:ext cx="21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DEF21-DD89-D679-AA0E-C6904E2C9323}"/>
              </a:ext>
            </a:extLst>
          </p:cNvPr>
          <p:cNvSpPr txBox="1"/>
          <p:nvPr/>
        </p:nvSpPr>
        <p:spPr>
          <a:xfrm>
            <a:off x="9915411" y="3090008"/>
            <a:ext cx="1827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 크기는 연구자가 결정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795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1F56-7291-3F36-290F-1C2D2BE2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0FB422-BFDA-A850-149F-13E2CC2C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F96920-1500-FDA8-C51C-F9DEA024F0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BB98B-886D-B350-120C-11A113DC1F25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번를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꺼내어 이 트럭 덩어리와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대조하여 어떤 앵커일지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결정하는 과정으로 격자안에 물체가 있는지 없는 지를 확률로 구하는 과정으로 어떤 물체인지는 아직 예측하지 않음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6A72794-4AA8-92D7-FA96-31DA24EB4713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en-US" altLang="ko-KR" sz="20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CD29CA0-51B8-D2B0-CDC5-D0000D596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61807"/>
              </p:ext>
            </p:extLst>
          </p:nvPr>
        </p:nvGraphicFramePr>
        <p:xfrm>
          <a:off x="742947" y="2831598"/>
          <a:ext cx="2610918" cy="2207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30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570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574492B-663C-D47F-8651-CD5EA5D91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2419" y="4407670"/>
            <a:ext cx="721483" cy="72148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A8CBF8E-0B4E-DEA3-7B83-3520A74D6103}"/>
              </a:ext>
            </a:extLst>
          </p:cNvPr>
          <p:cNvSpPr/>
          <p:nvPr/>
        </p:nvSpPr>
        <p:spPr>
          <a:xfrm>
            <a:off x="5178342" y="2858031"/>
            <a:ext cx="1099812" cy="58726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A1E178-33FE-C93D-7A63-33444F95A974}"/>
              </a:ext>
            </a:extLst>
          </p:cNvPr>
          <p:cNvSpPr/>
          <p:nvPr/>
        </p:nvSpPr>
        <p:spPr>
          <a:xfrm>
            <a:off x="8681907" y="2647314"/>
            <a:ext cx="905588" cy="102283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 descr="트럭">
            <a:extLst>
              <a:ext uri="{FF2B5EF4-FFF2-40B4-BE49-F238E27FC236}">
                <a16:creationId xmlns:a16="http://schemas.microsoft.com/office/drawing/2014/main" id="{E58D32DD-27BC-F9D8-DDF2-0FD2165BA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957" y="2495311"/>
            <a:ext cx="1202443" cy="1202443"/>
          </a:xfrm>
          <a:prstGeom prst="rect">
            <a:avLst/>
          </a:prstGeom>
        </p:spPr>
      </p:pic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39E28A96-36F3-F65A-AD4D-54F40A69A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2557" y="2467704"/>
            <a:ext cx="1202443" cy="12024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591AB3-6198-575D-E30D-1A5CD6263D74}"/>
              </a:ext>
            </a:extLst>
          </p:cNvPr>
          <p:cNvSpPr txBox="1"/>
          <p:nvPr/>
        </p:nvSpPr>
        <p:spPr>
          <a:xfrm>
            <a:off x="5045957" y="3902672"/>
            <a:ext cx="2785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B1400-7336-76F1-C458-773799FB0C71}"/>
              </a:ext>
            </a:extLst>
          </p:cNvPr>
          <p:cNvSpPr txBox="1"/>
          <p:nvPr/>
        </p:nvSpPr>
        <p:spPr>
          <a:xfrm>
            <a:off x="8164341" y="3902672"/>
            <a:ext cx="13606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245FC-B441-6404-FF4F-423F522CD1A2}"/>
              </a:ext>
            </a:extLst>
          </p:cNvPr>
          <p:cNvSpPr txBox="1"/>
          <p:nvPr/>
        </p:nvSpPr>
        <p:spPr>
          <a:xfrm>
            <a:off x="5045957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FD1C7C-C611-D167-498D-6B1ADD1BA898}"/>
              </a:ext>
            </a:extLst>
          </p:cNvPr>
          <p:cNvSpPr txBox="1"/>
          <p:nvPr/>
        </p:nvSpPr>
        <p:spPr>
          <a:xfrm>
            <a:off x="8275089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A3BEC-768E-5DE5-918D-D508F5E68F7B}"/>
              </a:ext>
            </a:extLst>
          </p:cNvPr>
          <p:cNvSpPr txBox="1"/>
          <p:nvPr/>
        </p:nvSpPr>
        <p:spPr>
          <a:xfrm>
            <a:off x="4306716" y="560957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좋아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칸에 있는 덩어리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(Object)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가로로 길쭉하니까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 앵커 박스 네가 대장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(Responsible)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맡아서 수선해라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래픽 26" descr="조금 굽은 줄 화살표">
            <a:extLst>
              <a:ext uri="{FF2B5EF4-FFF2-40B4-BE49-F238E27FC236}">
                <a16:creationId xmlns:a16="http://schemas.microsoft.com/office/drawing/2014/main" id="{62E1249C-F798-210B-2766-FE307BDBF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4291" y="53193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1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EBFE-A775-5A37-080E-5101EB4B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BA915-8205-C958-91A3-2C0C5BF3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15F76E-5761-9FC2-22D6-B61F54ED30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 descr="C_2.01 IoU (Intersection over Union) and GIoU - Deep Learning Bible - 4.  Object Detection - 한글">
            <a:extLst>
              <a:ext uri="{FF2B5EF4-FFF2-40B4-BE49-F238E27FC236}">
                <a16:creationId xmlns:a16="http://schemas.microsoft.com/office/drawing/2014/main" id="{69A86CA4-8AA8-2DC1-1A2B-045B20998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512" y="2334202"/>
            <a:ext cx="6547895" cy="247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AD78DD10-6401-2446-B6E6-FC36A08B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5" y="2334202"/>
            <a:ext cx="4191605" cy="30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77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FD04-6707-491D-94E5-5D283BBF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508AB-053B-0F55-054F-EA19F0D0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C0125AD-F562-9BF3-3149-9536F58013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62503-D9BC-80F8-E72A-F6D6C0798CD6}"/>
              </a:ext>
            </a:extLst>
          </p:cNvPr>
          <p:cNvSpPr txBox="1"/>
          <p:nvPr/>
        </p:nvSpPr>
        <p:spPr>
          <a:xfrm>
            <a:off x="571802" y="1248422"/>
            <a:ext cx="11144553" cy="878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결정된 앵커를 바탕으로 실제 이미지에 대해 </a:t>
            </a:r>
            <a:r>
              <a:rPr lang="en-US" altLang="ko-KR" dirty="0"/>
              <a:t>CNN </a:t>
            </a:r>
            <a:r>
              <a:rPr lang="ko-KR" altLang="en-US" dirty="0"/>
              <a:t>필터가 이 칸의 시각적 특징을 분석하여 클래스 분류 확률을 </a:t>
            </a:r>
            <a:r>
              <a:rPr lang="en-US" altLang="ko-KR" dirty="0"/>
              <a:t>Car=0.95, Airplane=0.05 </a:t>
            </a:r>
            <a:r>
              <a:rPr lang="ko-KR" altLang="en-US" dirty="0"/>
              <a:t>구하여 판정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BBB1417-2155-3FD1-5795-B79DDE6B1CE0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CNN(Convolutional Neural Network)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3600702-A36E-F647-445A-BA5D36195825}"/>
              </a:ext>
            </a:extLst>
          </p:cNvPr>
          <p:cNvGraphicFramePr>
            <a:graphicFrameLocks noGrp="1"/>
          </p:cNvGraphicFramePr>
          <p:nvPr/>
        </p:nvGraphicFramePr>
        <p:xfrm>
          <a:off x="742947" y="283159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D4E106D7-CB6D-07E9-9F90-D88318127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1094" y="5055370"/>
            <a:ext cx="1047565" cy="1047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65E26-0D3B-29BF-AA81-65E95B3EBB2A}"/>
              </a:ext>
            </a:extLst>
          </p:cNvPr>
          <p:cNvSpPr txBox="1"/>
          <p:nvPr/>
        </p:nvSpPr>
        <p:spPr>
          <a:xfrm>
            <a:off x="5652526" y="4361801"/>
            <a:ext cx="3486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20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1402-08FA-1414-7D39-D22F4CF6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5A98A-E857-2423-C923-540092E7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E8183F6-0D1A-6079-23B6-B90F1B82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5D10D-4BEF-867B-D596-D0C787F6736E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격자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모든 연산의 결과는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(3, 3, 12)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 숫자 행렬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(tensor)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생성하게 되어 행과열이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 격자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tensor[3,3 :]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제외한 모든 격자에는 모두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0B4B1F8-2BD4-DC3C-8D06-46C224D7D9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6.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예측 결과 행렬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347C981-92AA-3BDF-EC34-00E01ECF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74799"/>
              </p:ext>
            </p:extLst>
          </p:nvPr>
        </p:nvGraphicFramePr>
        <p:xfrm>
          <a:off x="742947" y="283159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67DAE3B8-38BA-9DF2-0C8C-6B0E37540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1094" y="5055370"/>
            <a:ext cx="1047565" cy="1047565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71C663-CECD-3C91-0E31-D92F6C2969EB}"/>
              </a:ext>
            </a:extLst>
          </p:cNvPr>
          <p:cNvGrpSpPr/>
          <p:nvPr/>
        </p:nvGrpSpPr>
        <p:grpSpPr>
          <a:xfrm>
            <a:off x="4734108" y="5293299"/>
            <a:ext cx="6463832" cy="632558"/>
            <a:chOff x="4146500" y="2118065"/>
            <a:chExt cx="7553595" cy="7392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C3878D2-1CF4-FCEB-FFB0-1845386CE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6500" y="2140327"/>
              <a:ext cx="6501224" cy="712564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C9335D3-2E15-C112-E230-E722EF653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34771" y="2118065"/>
              <a:ext cx="1065324" cy="739204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11B19B7-5598-F929-A03D-F603088DA936}"/>
              </a:ext>
            </a:extLst>
          </p:cNvPr>
          <p:cNvSpPr txBox="1"/>
          <p:nvPr/>
        </p:nvSpPr>
        <p:spPr>
          <a:xfrm>
            <a:off x="4898973" y="2772867"/>
            <a:ext cx="68173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Tensor[3, 3, :]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3×3 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격자판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중에서 트럭은 우측 하단 방문을 열면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숫자가 들어있는데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 숫자들이 각각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가로 상자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세로 상자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이게 비행기인지 자동차인지 알려주는 정체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보여줌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endParaRPr lang="en-US" altLang="ko-KR" sz="16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숫자를 보고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아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 3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열에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88%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짜리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가로 상자를 치고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정체는 자동차라고 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띄워야겠구나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!'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하고 최종 화면을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그려서 예측</a:t>
            </a:r>
            <a:endParaRPr lang="en-US" altLang="ko-KR" sz="16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77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734-AA6A-E730-3531-0054C5EE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FB6B3-4B54-5D5E-0596-98BAADA1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DFADB4A-FE33-2CB5-920A-08149AB4CC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686F96D-48F0-A770-6A20-E3AC1FC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99" y="1662889"/>
            <a:ext cx="9536749" cy="446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5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8830-D819-D25F-AB4C-FBB5ACD2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1CEE3-0649-145F-2638-11E923B7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12D1010-6371-3BEA-32BD-CD0BB50827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0612-FCB5-F296-ABEE-CFFF8EE4E96C}"/>
              </a:ext>
            </a:extLst>
          </p:cNvPr>
          <p:cNvSpPr txBox="1"/>
          <p:nvPr/>
        </p:nvSpPr>
        <p:spPr>
          <a:xfrm>
            <a:off x="553752" y="1264398"/>
            <a:ext cx="11409648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Bounding Box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그리는 과정은 나의 체형에 가장 잘 맞는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기성복 사이즈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(Anchor Box)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고른 뒤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팔 길이나 품을 미세하게 수선해서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(gradient descent)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몸에 딱 맞게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신뢰도가 최대가 되게 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0.88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1.00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까지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Regression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손실함수를 최소로 하는 최종 맞춤복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(Bounding Box)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구하는 것에 비유</a:t>
            </a:r>
            <a:endParaRPr lang="en-US" altLang="ko-KR" sz="1600" i="0" dirty="0">
              <a:solidFill>
                <a:srgbClr val="1F1F1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2303C9-E1C8-DDD5-4BB5-662B9A16C74D}"/>
              </a:ext>
            </a:extLst>
          </p:cNvPr>
          <p:cNvGrpSpPr/>
          <p:nvPr/>
        </p:nvGrpSpPr>
        <p:grpSpPr>
          <a:xfrm>
            <a:off x="695325" y="5386833"/>
            <a:ext cx="6385803" cy="624922"/>
            <a:chOff x="705033" y="3681004"/>
            <a:chExt cx="6463832" cy="63255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39FDEA-C717-CF9F-E35C-B639C84D8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033" y="3700054"/>
              <a:ext cx="5563287" cy="60976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97F7EA-3D02-822C-F03A-4C0F1B07D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7236" y="3681004"/>
              <a:ext cx="911629" cy="632558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92D002C-45C1-44AD-CD55-B683ECC4F301}"/>
              </a:ext>
            </a:extLst>
          </p:cNvPr>
          <p:cNvGrpSpPr/>
          <p:nvPr/>
        </p:nvGrpSpPr>
        <p:grpSpPr>
          <a:xfrm>
            <a:off x="620270" y="3342136"/>
            <a:ext cx="2883229" cy="1341080"/>
            <a:chOff x="1060059" y="3447380"/>
            <a:chExt cx="4391735" cy="2042732"/>
          </a:xfrm>
        </p:grpSpPr>
        <p:pic>
          <p:nvPicPr>
            <p:cNvPr id="9" name="그래픽 8" descr="자동차">
              <a:extLst>
                <a:ext uri="{FF2B5EF4-FFF2-40B4-BE49-F238E27FC236}">
                  <a16:creationId xmlns:a16="http://schemas.microsoft.com/office/drawing/2014/main" id="{87023EC9-73D2-EE4F-FA69-97F61799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1944" y="3482595"/>
              <a:ext cx="1527992" cy="152799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/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ko-KR" alt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=</a:t>
                  </a:r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[1,</a:t>
                  </a:r>
                  <a:r>
                    <a:rPr lang="ko-KR" altLang="en-US" sz="1600" dirty="0"/>
                    <a:t> 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0.64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0.42</a:t>
                  </a:r>
                  <a:r>
                    <a:rPr lang="en-US" altLang="ko-KR" sz="1600" dirty="0"/>
                    <a:t>]</a:t>
                  </a:r>
                  <a:endParaRPr lang="ko-KR" altLang="en-US" sz="16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blipFill>
                  <a:blip r:embed="rId7"/>
                  <a:stretch>
                    <a:fillRect b="-203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6ED7E8-1330-13E7-3D47-9D20214DD6A9}"/>
                </a:ext>
              </a:extLst>
            </p:cNvPr>
            <p:cNvSpPr/>
            <p:nvPr/>
          </p:nvSpPr>
          <p:spPr>
            <a:xfrm>
              <a:off x="1060059" y="3447380"/>
              <a:ext cx="1729877" cy="1374301"/>
            </a:xfrm>
            <a:prstGeom prst="rect">
              <a:avLst/>
            </a:prstGeom>
            <a:noFill/>
            <a:ln w="19050"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곱하기 기호 13">
              <a:extLst>
                <a:ext uri="{FF2B5EF4-FFF2-40B4-BE49-F238E27FC236}">
                  <a16:creationId xmlns:a16="http://schemas.microsoft.com/office/drawing/2014/main" id="{B77C880E-312C-4A17-8819-0AFD934BFD4D}"/>
                </a:ext>
              </a:extLst>
            </p:cNvPr>
            <p:cNvSpPr/>
            <p:nvPr/>
          </p:nvSpPr>
          <p:spPr>
            <a:xfrm>
              <a:off x="1906725" y="4211494"/>
              <a:ext cx="238429" cy="238125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/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1600" i="0" dirty="0">
                    <a:solidFill>
                      <a:srgbClr val="1F1F1F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Ground Truth (</a:t>
                </a: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blipFill>
                <a:blip r:embed="rId8"/>
                <a:stretch>
                  <a:fillRect l="-1534" t="-6897" b="-172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/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ko-KR" altLang="en-US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예측 </a:t>
                </a:r>
                <a:r>
                  <a:rPr lang="en-US" altLang="ko-KR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tensor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blipFill>
                <a:blip r:embed="rId9"/>
                <a:stretch>
                  <a:fillRect l="-1534" t="-7018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12449356-9BDC-36E8-AB8C-77C85169F8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5609" y="3457480"/>
            <a:ext cx="6370020" cy="1324069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/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Loss Function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0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i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blipFill>
                <a:blip r:embed="rId11"/>
                <a:stretch>
                  <a:fillRect l="-1381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A6BF45-0E70-4B14-07C9-DF50968D1BC2}"/>
              </a:ext>
            </a:extLst>
          </p:cNvPr>
          <p:cNvSpPr/>
          <p:nvPr/>
        </p:nvSpPr>
        <p:spPr>
          <a:xfrm>
            <a:off x="1510597" y="4351515"/>
            <a:ext cx="1718378" cy="306765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59B06B-68F6-D3BE-4D12-F49FE015F6B4}"/>
              </a:ext>
            </a:extLst>
          </p:cNvPr>
          <p:cNvSpPr/>
          <p:nvPr/>
        </p:nvSpPr>
        <p:spPr>
          <a:xfrm>
            <a:off x="2195459" y="5359428"/>
            <a:ext cx="1472011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A366F8C-36AF-693B-BA7F-521090A07468}"/>
              </a:ext>
            </a:extLst>
          </p:cNvPr>
          <p:cNvCxnSpPr>
            <a:cxnSpLocks/>
            <a:stCxn id="20" idx="3"/>
            <a:endCxn id="21" idx="3"/>
          </p:cNvCxnSpPr>
          <p:nvPr/>
        </p:nvCxnSpPr>
        <p:spPr>
          <a:xfrm>
            <a:off x="2598070" y="2999979"/>
            <a:ext cx="12700" cy="2117196"/>
          </a:xfrm>
          <a:prstGeom prst="bentConnector3">
            <a:avLst>
              <a:gd name="adj1" fmla="val 11625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58D26AC-4854-FFD3-6F0A-F9CB3E060E3D}"/>
              </a:ext>
            </a:extLst>
          </p:cNvPr>
          <p:cNvCxnSpPr>
            <a:stCxn id="25" idx="1"/>
          </p:cNvCxnSpPr>
          <p:nvPr/>
        </p:nvCxnSpPr>
        <p:spPr>
          <a:xfrm rot="10800000" flipV="1">
            <a:off x="4076700" y="3189057"/>
            <a:ext cx="1162254" cy="811061"/>
          </a:xfrm>
          <a:prstGeom prst="bentConnector3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9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D301-B114-F827-4260-924D7C20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FA5C7-898C-1C68-7E74-AD6760E3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D8A7BF3-1C90-CC60-888E-27948DFAF5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91A9F3B-8F15-60CA-FF37-066CA17F4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40" y="2178311"/>
            <a:ext cx="8244635" cy="41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7ADC64-4751-52A0-DDEB-20843A556B71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물체를 감지하고 분류 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https://roboflow.com/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829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26FB-150E-BE96-08E2-07962246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4812A-4AB7-6AC8-E8CF-FBA1128E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BB2FC7-ABBB-6EF3-A901-A983D707DA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399E9D-0E06-6644-28CE-43E6B8235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56" y="1685745"/>
            <a:ext cx="9600234" cy="45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85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44D-F297-6601-F332-F8D9256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C0956-2267-AA70-ECAA-20AC1CE3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4A44E6-D3E3-3C22-7F65-FB46DBF4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YOLO algorithm?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E9355-BCE3-59B9-FB09-0D84B020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24" y="1483553"/>
            <a:ext cx="7635902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4369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6374</TotalTime>
  <Words>750</Words>
  <Application>Microsoft Office PowerPoint</Application>
  <PresentationFormat>와이드스크린</PresentationFormat>
  <Paragraphs>105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D2Coding</vt:lpstr>
      <vt:lpstr>맑은 고딕</vt:lpstr>
      <vt:lpstr>바탕</vt:lpstr>
      <vt:lpstr>Arial</vt:lpstr>
      <vt:lpstr>Cambria Math</vt:lpstr>
      <vt:lpstr>Segoe UI</vt:lpstr>
      <vt:lpstr>Wingdings</vt:lpstr>
      <vt:lpstr>WelcomeDoc</vt:lpstr>
      <vt:lpstr>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123</cp:revision>
  <dcterms:created xsi:type="dcterms:W3CDTF">2026-04-06T01:00:39Z</dcterms:created>
  <dcterms:modified xsi:type="dcterms:W3CDTF">2026-06-26T06:11:00Z</dcterms:modified>
  <cp:version/>
</cp:coreProperties>
</file>