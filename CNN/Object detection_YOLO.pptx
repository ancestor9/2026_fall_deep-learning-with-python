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1"/>
  </p:notesMasterIdLst>
  <p:handoutMasterIdLst>
    <p:handoutMasterId r:id="rId22"/>
  </p:handoutMasterIdLst>
  <p:sldIdLst>
    <p:sldId id="256" r:id="rId2"/>
    <p:sldId id="1124" r:id="rId3"/>
    <p:sldId id="1125" r:id="rId4"/>
    <p:sldId id="1128" r:id="rId5"/>
    <p:sldId id="1129" r:id="rId6"/>
    <p:sldId id="1131" r:id="rId7"/>
    <p:sldId id="1139" r:id="rId8"/>
    <p:sldId id="1130" r:id="rId9"/>
    <p:sldId id="1140" r:id="rId10"/>
    <p:sldId id="1127" r:id="rId11"/>
    <p:sldId id="1121" r:id="rId12"/>
    <p:sldId id="1133" r:id="rId13"/>
    <p:sldId id="1135" r:id="rId14"/>
    <p:sldId id="1136" r:id="rId15"/>
    <p:sldId id="1132" r:id="rId16"/>
    <p:sldId id="1122" r:id="rId17"/>
    <p:sldId id="1137" r:id="rId18"/>
    <p:sldId id="1138" r:id="rId19"/>
    <p:sldId id="1123" r:id="rId2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/>
        </p14:section>
        <p14:section name="자세한 정보" id="{2CC34DB2-6590-42C0-AD4B-A04C6060184E}">
          <p14:sldIdLst>
            <p14:sldId id="1124"/>
            <p14:sldId id="1125"/>
            <p14:sldId id="1128"/>
            <p14:sldId id="1129"/>
            <p14:sldId id="1131"/>
            <p14:sldId id="1139"/>
            <p14:sldId id="1130"/>
            <p14:sldId id="1140"/>
            <p14:sldId id="1127"/>
            <p14:sldId id="1121"/>
            <p14:sldId id="1133"/>
            <p14:sldId id="1135"/>
            <p14:sldId id="1136"/>
            <p14:sldId id="1132"/>
            <p14:sldId id="1122"/>
            <p14:sldId id="1137"/>
            <p14:sldId id="1138"/>
            <p14:sldId id="11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4040"/>
    <a:srgbClr val="76E3FF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200" d="100"/>
        <a:sy n="200" d="100"/>
      </p:scale>
      <p:origin x="0" y="-681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2026-06-26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6/26/2026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2026-06-26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dsmlBGOK-k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XdsmlBGOK-k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svg"/><Relationship Id="rId11" Type="http://schemas.openxmlformats.org/officeDocument/2006/relationships/image" Target="../media/image21.png"/><Relationship Id="rId5" Type="http://schemas.openxmlformats.org/officeDocument/2006/relationships/image" Target="../media/image2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roboflow.com/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Object</a:t>
            </a:r>
            <a:r>
              <a:rPr lang="ko-KR" altLang="en-US" sz="4800" dirty="0">
                <a:solidFill>
                  <a:schemeClr val="bg1"/>
                </a:solidFill>
              </a:rPr>
              <a:t> </a:t>
            </a:r>
            <a:r>
              <a:rPr lang="en-US" altLang="ko-KR" sz="4800" dirty="0">
                <a:solidFill>
                  <a:schemeClr val="bg1"/>
                </a:solidFill>
              </a:rPr>
              <a:t>detection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EA871C7-AFC2-7D62-C991-3C4E005FFED3}"/>
              </a:ext>
            </a:extLst>
          </p:cNvPr>
          <p:cNvSpPr txBox="1">
            <a:spLocks/>
          </p:cNvSpPr>
          <p:nvPr/>
        </p:nvSpPr>
        <p:spPr>
          <a:xfrm>
            <a:off x="857250" y="3279534"/>
            <a:ext cx="9582736" cy="6352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YOLO(You</a:t>
            </a:r>
            <a:r>
              <a:rPr lang="ko-KR" altLang="en-US" sz="2400" dirty="0">
                <a:solidFill>
                  <a:schemeClr val="bg1"/>
                </a:solidFill>
              </a:rPr>
              <a:t> </a:t>
            </a:r>
            <a:r>
              <a:rPr lang="en-US" altLang="ko-KR" sz="2400" dirty="0">
                <a:solidFill>
                  <a:schemeClr val="bg1"/>
                </a:solidFill>
              </a:rPr>
              <a:t>Only Look Once)</a:t>
            </a: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E4972-28F5-DDDE-EF05-0276932E0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1C84EB-643A-BD90-4DE9-4C4414D8B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58BAD7-3F25-F1A5-A63C-72FD413EF47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462975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" name="그래픽 5" descr="자동차">
            <a:extLst>
              <a:ext uri="{FF2B5EF4-FFF2-40B4-BE49-F238E27FC236}">
                <a16:creationId xmlns:a16="http://schemas.microsoft.com/office/drawing/2014/main" id="{A1BABDC3-3259-29C1-9E15-445556172F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83984" y="3330345"/>
            <a:ext cx="1997857" cy="1997857"/>
          </a:xfrm>
          <a:prstGeom prst="rect">
            <a:avLst/>
          </a:prstGeom>
        </p:spPr>
      </p:pic>
      <p:pic>
        <p:nvPicPr>
          <p:cNvPr id="12" name="그래픽 11" descr="비행기">
            <a:extLst>
              <a:ext uri="{FF2B5EF4-FFF2-40B4-BE49-F238E27FC236}">
                <a16:creationId xmlns:a16="http://schemas.microsoft.com/office/drawing/2014/main" id="{2F9D786E-B5EE-36AA-29D1-8495BE2495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55096" y="3263895"/>
            <a:ext cx="2114233" cy="211423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38B83A0-2036-E940-B401-FA337E449F7F}"/>
              </a:ext>
            </a:extLst>
          </p:cNvPr>
          <p:cNvSpPr txBox="1"/>
          <p:nvPr/>
        </p:nvSpPr>
        <p:spPr>
          <a:xfrm>
            <a:off x="589944" y="1210360"/>
            <a:ext cx="9639905" cy="157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X, 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입력하는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벡터는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(class, x, y, w, h)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: 2개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Car는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중심점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가로 대비 상자 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 세로 대비 상자 높이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/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ko-KR" altLang="en-US" sz="200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dirty="0"/>
                  <a:t> </a:t>
                </a:r>
                <a:r>
                  <a:rPr lang="en-US" altLang="ko-KR" dirty="0"/>
                  <a:t>=</a:t>
                </a:r>
                <a:r>
                  <a:rPr lang="ko-KR" altLang="en-US" dirty="0"/>
                  <a:t> </a:t>
                </a:r>
                <a:r>
                  <a:rPr lang="en-US" altLang="ko-KR" dirty="0"/>
                  <a:t>[1,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0.64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0.42</a:t>
                </a:r>
                <a:r>
                  <a:rPr lang="en-US" altLang="ko-KR" dirty="0"/>
                  <a:t>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366570-8352-F2DF-D5CA-362F89035D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0" y="5537877"/>
                <a:ext cx="3495675" cy="392993"/>
              </a:xfrm>
              <a:prstGeom prst="rect">
                <a:avLst/>
              </a:prstGeom>
              <a:blipFill>
                <a:blip r:embed="rId6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/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dirty="0"/>
                  <a:t> = [0,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0.5</a:t>
                </a:r>
                <a:r>
                  <a:rPr lang="en-US" altLang="ko-KR" dirty="0"/>
                  <a:t>,</a:t>
                </a:r>
                <a:r>
                  <a:rPr lang="ko-KR" altLang="en-US" dirty="0"/>
                  <a:t>  0.4</a:t>
                </a:r>
                <a:r>
                  <a:rPr lang="en-US" altLang="ko-KR" dirty="0"/>
                  <a:t>2,</a:t>
                </a:r>
                <a:r>
                  <a:rPr lang="ko-KR" altLang="en-US" dirty="0"/>
                  <a:t>  0.</a:t>
                </a:r>
                <a:r>
                  <a:rPr lang="en-US" altLang="ko-KR" dirty="0"/>
                  <a:t>64]</a:t>
                </a:r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DF6B22E-AF13-7813-5F89-771918857A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2425" y="5537877"/>
                <a:ext cx="3609975" cy="392993"/>
              </a:xfrm>
              <a:prstGeom prst="rect">
                <a:avLst/>
              </a:prstGeom>
              <a:blipFill>
                <a:blip r:embed="rId7"/>
                <a:stretch>
                  <a:fillRect t="-1538" b="-2307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직사각형 22">
            <a:extLst>
              <a:ext uri="{FF2B5EF4-FFF2-40B4-BE49-F238E27FC236}">
                <a16:creationId xmlns:a16="http://schemas.microsoft.com/office/drawing/2014/main" id="{CB6F307B-379C-5176-012A-DC753D139007}"/>
              </a:ext>
            </a:extLst>
          </p:cNvPr>
          <p:cNvSpPr/>
          <p:nvPr/>
        </p:nvSpPr>
        <p:spPr>
          <a:xfrm>
            <a:off x="1839912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DC1D08F-F0CE-F521-54A2-0D0BDA6459A3}"/>
              </a:ext>
            </a:extLst>
          </p:cNvPr>
          <p:cNvSpPr/>
          <p:nvPr/>
        </p:nvSpPr>
        <p:spPr>
          <a:xfrm>
            <a:off x="7664047" y="3194602"/>
            <a:ext cx="2266950" cy="226695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C31329F-2A20-86DD-0257-2B87D7F114B8}"/>
              </a:ext>
            </a:extLst>
          </p:cNvPr>
          <p:cNvCxnSpPr>
            <a:cxnSpLocks/>
          </p:cNvCxnSpPr>
          <p:nvPr/>
        </p:nvCxnSpPr>
        <p:spPr>
          <a:xfrm>
            <a:off x="1695450" y="3859048"/>
            <a:ext cx="0" cy="9239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7B41EC26-0BAB-1EA1-5BE8-542B7AE49B51}"/>
              </a:ext>
            </a:extLst>
          </p:cNvPr>
          <p:cNvCxnSpPr>
            <a:cxnSpLocks/>
          </p:cNvCxnSpPr>
          <p:nvPr/>
        </p:nvCxnSpPr>
        <p:spPr>
          <a:xfrm flipH="1">
            <a:off x="2081211" y="4924425"/>
            <a:ext cx="18034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곱하기 기호 29">
            <a:extLst>
              <a:ext uri="{FF2B5EF4-FFF2-40B4-BE49-F238E27FC236}">
                <a16:creationId xmlns:a16="http://schemas.microsoft.com/office/drawing/2014/main" id="{EF826AF1-21F3-B636-DD38-6F2F49C1550D}"/>
              </a:ext>
            </a:extLst>
          </p:cNvPr>
          <p:cNvSpPr/>
          <p:nvPr/>
        </p:nvSpPr>
        <p:spPr>
          <a:xfrm>
            <a:off x="2830650" y="4248150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69C71E-2EA5-1996-68BD-79BF02C45525}"/>
              </a:ext>
            </a:extLst>
          </p:cNvPr>
          <p:cNvCxnSpPr>
            <a:cxnSpLocks/>
          </p:cNvCxnSpPr>
          <p:nvPr/>
        </p:nvCxnSpPr>
        <p:spPr>
          <a:xfrm flipV="1">
            <a:off x="7396320" y="3481387"/>
            <a:ext cx="0" cy="17526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AF325268-AB32-71A8-0F81-D3EEF3561CAC}"/>
              </a:ext>
            </a:extLst>
          </p:cNvPr>
          <p:cNvCxnSpPr>
            <a:cxnSpLocks/>
          </p:cNvCxnSpPr>
          <p:nvPr/>
        </p:nvCxnSpPr>
        <p:spPr>
          <a:xfrm flipH="1">
            <a:off x="7956158" y="3311295"/>
            <a:ext cx="1645042" cy="337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곱하기 기호 36">
            <a:extLst>
              <a:ext uri="{FF2B5EF4-FFF2-40B4-BE49-F238E27FC236}">
                <a16:creationId xmlns:a16="http://schemas.microsoft.com/office/drawing/2014/main" id="{97F6CBA9-570F-757D-55FB-06B879FCD62D}"/>
              </a:ext>
            </a:extLst>
          </p:cNvPr>
          <p:cNvSpPr/>
          <p:nvPr/>
        </p:nvSpPr>
        <p:spPr>
          <a:xfrm>
            <a:off x="8698050" y="4219575"/>
            <a:ext cx="238429" cy="238125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D9F79A8A-F900-1B57-B39B-1820C0FE5862}"/>
              </a:ext>
            </a:extLst>
          </p:cNvPr>
          <p:cNvSpPr/>
          <p:nvPr/>
        </p:nvSpPr>
        <p:spPr>
          <a:xfrm>
            <a:off x="1983984" y="3752850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3DBB289-F63D-DC59-6B81-D2462AA4D081}"/>
              </a:ext>
            </a:extLst>
          </p:cNvPr>
          <p:cNvSpPr/>
          <p:nvPr/>
        </p:nvSpPr>
        <p:spPr>
          <a:xfrm>
            <a:off x="7989691" y="3410047"/>
            <a:ext cx="1645042" cy="1848398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제목 1">
            <a:extLst>
              <a:ext uri="{FF2B5EF4-FFF2-40B4-BE49-F238E27FC236}">
                <a16:creationId xmlns:a16="http://schemas.microsoft.com/office/drawing/2014/main" id="{8B3A60B9-6AC0-A9A5-5FB2-C93A3E82DC6D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데이터 준비</a:t>
            </a:r>
          </a:p>
        </p:txBody>
      </p:sp>
    </p:spTree>
    <p:extLst>
      <p:ext uri="{BB962C8B-B14F-4D97-AF65-F5344CB8AC3E}">
        <p14:creationId xmlns:p14="http://schemas.microsoft.com/office/powerpoint/2010/main" val="146432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BBEC8-E42D-9D5F-006D-A535BEB0E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F62728-B165-9395-5FF9-0B4338BF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C9484CF-47AC-1DC5-3A4C-B9E939CE25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F3748E-3EB4-9B21-08A1-941961A932A9}"/>
              </a:ext>
            </a:extLst>
          </p:cNvPr>
          <p:cNvSpPr txBox="1"/>
          <p:nvPr/>
        </p:nvSpPr>
        <p:spPr>
          <a:xfrm>
            <a:off x="571802" y="1248422"/>
            <a:ext cx="9181797" cy="1294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우리 모델의 기준 틀은 이 두 형상을 대변하는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정하자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!"</a:t>
            </a:r>
          </a:p>
          <a:p>
            <a:pPr lvl="1"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🟨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가로가 긴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🟦 앵커 박스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정방형 네모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72048F18-8266-CB85-DE41-C11920F67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5571662"/>
              </p:ext>
            </p:extLst>
          </p:nvPr>
        </p:nvGraphicFramePr>
        <p:xfrm>
          <a:off x="16700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4" name="그래픽 13" descr="자동차">
            <a:extLst>
              <a:ext uri="{FF2B5EF4-FFF2-40B4-BE49-F238E27FC236}">
                <a16:creationId xmlns:a16="http://schemas.microsoft.com/office/drawing/2014/main" id="{E25806FF-A758-49F9-CD68-916A676326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93509" y="3949470"/>
            <a:ext cx="1997857" cy="1997857"/>
          </a:xfrm>
          <a:prstGeom prst="rect">
            <a:avLst/>
          </a:prstGeom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77158E83-58E7-AE40-50CA-1763B3D3C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8319896"/>
              </p:ext>
            </p:extLst>
          </p:nvPr>
        </p:nvGraphicFramePr>
        <p:xfrm>
          <a:off x="7499350" y="3754526"/>
          <a:ext cx="2625726" cy="221964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5242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5242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9882">
                <a:tc>
                  <a:txBody>
                    <a:bodyPr/>
                    <a:lstStyle/>
                    <a:p>
                      <a:pPr latinLnBrk="1"/>
                      <a:endParaRPr lang="ko-KR" altLang="en-US" sz="110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dirty="0"/>
                    </a:p>
                  </a:txBody>
                  <a:tcPr marL="60119" marR="60119" marT="30059" marB="3005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6" name="그래픽 15" descr="비행기">
            <a:extLst>
              <a:ext uri="{FF2B5EF4-FFF2-40B4-BE49-F238E27FC236}">
                <a16:creationId xmlns:a16="http://schemas.microsoft.com/office/drawing/2014/main" id="{C1885EE2-FE2D-BFD3-B181-AC4DDAD8E3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64621" y="3806820"/>
            <a:ext cx="2114233" cy="2114233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B35206C9-1D79-6791-B243-45E9E653CC56}"/>
              </a:ext>
            </a:extLst>
          </p:cNvPr>
          <p:cNvSpPr/>
          <p:nvPr/>
        </p:nvSpPr>
        <p:spPr>
          <a:xfrm>
            <a:off x="1983984" y="4371975"/>
            <a:ext cx="1997857" cy="1066800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9CE5849-A00F-6ECC-4413-F04B04D7A17A}"/>
              </a:ext>
            </a:extLst>
          </p:cNvPr>
          <p:cNvSpPr/>
          <p:nvPr/>
        </p:nvSpPr>
        <p:spPr>
          <a:xfrm>
            <a:off x="7989691" y="3943349"/>
            <a:ext cx="1645042" cy="185802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A397AF-A0EB-E581-D352-979F0199EED5}"/>
              </a:ext>
            </a:extLst>
          </p:cNvPr>
          <p:cNvSpPr txBox="1"/>
          <p:nvPr/>
        </p:nvSpPr>
        <p:spPr>
          <a:xfrm>
            <a:off x="4716675" y="3949470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rgbClr val="FF0000"/>
              </a:solidFill>
            </a:endParaRP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F5E8C1DA-1FFA-3A1C-B4FD-DFCFB67E4458}"/>
              </a:ext>
            </a:extLst>
          </p:cNvPr>
          <p:cNvCxnSpPr>
            <a:cxnSpLocks/>
            <a:stCxn id="17" idx="3"/>
            <a:endCxn id="20" idx="2"/>
          </p:cNvCxnSpPr>
          <p:nvPr/>
        </p:nvCxnSpPr>
        <p:spPr>
          <a:xfrm flipV="1">
            <a:off x="3981841" y="4318802"/>
            <a:ext cx="1577083" cy="58657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812E43-DB8D-3C7F-940B-35E0CED061AE}"/>
              </a:ext>
            </a:extLst>
          </p:cNvPr>
          <p:cNvSpPr txBox="1"/>
          <p:nvPr/>
        </p:nvSpPr>
        <p:spPr>
          <a:xfrm>
            <a:off x="5558923" y="5877571"/>
            <a:ext cx="16844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2A3E4D01-9F66-7E18-94EB-F51D5C34FA4B}"/>
              </a:ext>
            </a:extLst>
          </p:cNvPr>
          <p:cNvCxnSpPr>
            <a:cxnSpLocks/>
            <a:stCxn id="18" idx="2"/>
            <a:endCxn id="24" idx="2"/>
          </p:cNvCxnSpPr>
          <p:nvPr/>
        </p:nvCxnSpPr>
        <p:spPr>
          <a:xfrm rot="5400000">
            <a:off x="7383926" y="4818616"/>
            <a:ext cx="445533" cy="2411040"/>
          </a:xfrm>
          <a:prstGeom prst="bentConnector3">
            <a:avLst>
              <a:gd name="adj1" fmla="val 151309"/>
            </a:avLst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B78025F-5C14-CD9D-57A0-CDE06BF2C614}"/>
              </a:ext>
            </a:extLst>
          </p:cNvPr>
          <p:cNvSpPr txBox="1"/>
          <p:nvPr/>
        </p:nvSpPr>
        <p:spPr>
          <a:xfrm>
            <a:off x="1094465" y="2580254"/>
            <a:ext cx="595721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Anchor Box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기하학적 유형은 입력데이터의 평균 유형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Class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앵커박스가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필요없음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(class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100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앵커박스는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/>
          </a:p>
        </p:txBody>
      </p:sp>
      <p:sp>
        <p:nvSpPr>
          <p:cNvPr id="30" name="제목 1">
            <a:extLst>
              <a:ext uri="{FF2B5EF4-FFF2-40B4-BE49-F238E27FC236}">
                <a16:creationId xmlns:a16="http://schemas.microsoft.com/office/drawing/2014/main" id="{3AEBD48E-EEFD-46FD-E8B2-022BFAE935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Anchor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box</a:t>
            </a:r>
            <a:endParaRPr lang="ko-KR" altLang="en-US" sz="20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932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F22A-8CEE-D46B-1B35-515AF76D1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76B388-1CF6-6032-709B-C508566EA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5E77C4-60A1-4515-1BC2-EE1EC4F578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065B33-71F2-8E1A-35C7-6F9B3D2A2E09}"/>
              </a:ext>
            </a:extLst>
          </p:cNvPr>
          <p:cNvSpPr txBox="1"/>
          <p:nvPr/>
        </p:nvSpPr>
        <p:spPr>
          <a:xfrm>
            <a:off x="571802" y="1248422"/>
            <a:ext cx="1114455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수행하여 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Cell(gird)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물체가 있을 확률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시그모이드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구하여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BD05EC23-678F-AA72-AC21-6E047DE7E5FF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0CD7434-7F05-3333-F747-1FBC47252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246348"/>
              </p:ext>
            </p:extLst>
          </p:nvPr>
        </p:nvGraphicFramePr>
        <p:xfrm>
          <a:off x="5219697" y="3090009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P(Object)=0</a:t>
                      </a:r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P(Object)=0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EA9DE97-9A3E-F82F-9B18-B0F4B1E06E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837844" y="5313781"/>
            <a:ext cx="1047565" cy="10475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8FEA32-7B87-4278-BDCB-75A6D62C5150}"/>
              </a:ext>
            </a:extLst>
          </p:cNvPr>
          <p:cNvSpPr txBox="1"/>
          <p:nvPr/>
        </p:nvSpPr>
        <p:spPr>
          <a:xfrm>
            <a:off x="5219696" y="2647934"/>
            <a:ext cx="37909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P(Object)</a:t>
            </a:r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A960F75-AC5A-0A92-4EAE-D7680A17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9352376"/>
              </p:ext>
            </p:extLst>
          </p:nvPr>
        </p:nvGraphicFramePr>
        <p:xfrm>
          <a:off x="871395" y="309000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500"/>
                    </a:p>
                  </a:txBody>
                  <a:tcPr marL="86797" marR="86797" marT="43397" marB="43397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 marL="86797" marR="86797" marT="43397" marB="43397">
                    <a:lnL w="12700" cmpd="sng"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7" name="그래픽 6" descr="트럭">
            <a:extLst>
              <a:ext uri="{FF2B5EF4-FFF2-40B4-BE49-F238E27FC236}">
                <a16:creationId xmlns:a16="http://schemas.microsoft.com/office/drawing/2014/main" id="{C49C51BB-9B05-4EB8-3851-26F56B850E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1195" y="5290752"/>
            <a:ext cx="1047565" cy="10475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15CB45-AA07-C19C-1B0E-C46705816A65}"/>
              </a:ext>
            </a:extLst>
          </p:cNvPr>
          <p:cNvSpPr txBox="1"/>
          <p:nvPr/>
        </p:nvSpPr>
        <p:spPr>
          <a:xfrm>
            <a:off x="803739" y="2592192"/>
            <a:ext cx="21038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0DEF21-DD89-D679-AA0E-C6904E2C9323}"/>
              </a:ext>
            </a:extLst>
          </p:cNvPr>
          <p:cNvSpPr txBox="1"/>
          <p:nvPr/>
        </p:nvSpPr>
        <p:spPr>
          <a:xfrm>
            <a:off x="9094624" y="3090008"/>
            <a:ext cx="18276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크기는 연구자가 결정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1E178B-AE3A-7F13-F919-7614F770271A}"/>
              </a:ext>
            </a:extLst>
          </p:cNvPr>
          <p:cNvSpPr txBox="1"/>
          <p:nvPr/>
        </p:nvSpPr>
        <p:spPr>
          <a:xfrm>
            <a:off x="9094624" y="3912603"/>
            <a:ext cx="283877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물체가 있는지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없는지만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구하는 것이 아니라, "내 구역에 물체가 있을 확률은 95%이고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그 물체의 정체는 자동차일 확률이 높으며, 정확한 위치(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x,y,w,h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여기야!"라는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종합 답변 세트를 단 한 번의 연산으로 동시에 출력하는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You Look Only Once)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알고리즘</a:t>
            </a:r>
          </a:p>
        </p:txBody>
      </p:sp>
    </p:spTree>
    <p:extLst>
      <p:ext uri="{BB962C8B-B14F-4D97-AF65-F5344CB8AC3E}">
        <p14:creationId xmlns:p14="http://schemas.microsoft.com/office/powerpoint/2010/main" val="35795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21F56-7291-3F36-290F-1C2D2BE2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0FB422-BFDA-A850-149F-13E2CC2CB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EF96920-1500-FDA8-C51C-F9DEA024F0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0BB98B-886D-B350-120C-11A113DC1F25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번를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꺼내어 이 트럭 덩어리와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대조하여 어떤 앵커일지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과정으로 격자안에 물체가 있는지 없는 지를 확률로 구하는 과정으로 어떤 물체인지는 아직 예측하지 않음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6A72794-4AA8-92D7-FA96-31DA24EB4713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4. </a:t>
            </a:r>
            <a:r>
              <a:rPr lang="en-US" altLang="ko-KR" sz="20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CD29CA0-51B8-D2B0-CDC5-D0000D596F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0161807"/>
              </p:ext>
            </p:extLst>
          </p:nvPr>
        </p:nvGraphicFramePr>
        <p:xfrm>
          <a:off x="742947" y="2831598"/>
          <a:ext cx="2610918" cy="220712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030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87030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735709">
                <a:tc>
                  <a:txBody>
                    <a:bodyPr/>
                    <a:lstStyle/>
                    <a:p>
                      <a:pPr latinLnBrk="1"/>
                      <a:endParaRPr lang="ko-KR" altLang="en-US" sz="1000" dirty="0">
                        <a:solidFill>
                          <a:srgbClr val="FF0000"/>
                        </a:solidFill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7357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59779" marR="59779" marT="29889" marB="29889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8574492B-663C-D47F-8651-CD5EA5D91B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2419" y="4407670"/>
            <a:ext cx="721483" cy="7214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EA8CBF8E-0B4E-DEA3-7B83-3520A74D6103}"/>
              </a:ext>
            </a:extLst>
          </p:cNvPr>
          <p:cNvSpPr/>
          <p:nvPr/>
        </p:nvSpPr>
        <p:spPr>
          <a:xfrm>
            <a:off x="5178342" y="2858031"/>
            <a:ext cx="1099812" cy="587269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AA1E178-33FE-C93D-7A63-33444F95A974}"/>
              </a:ext>
            </a:extLst>
          </p:cNvPr>
          <p:cNvSpPr/>
          <p:nvPr/>
        </p:nvSpPr>
        <p:spPr>
          <a:xfrm>
            <a:off x="8681907" y="2647314"/>
            <a:ext cx="905588" cy="1022833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5" name="그래픽 14" descr="트럭">
            <a:extLst>
              <a:ext uri="{FF2B5EF4-FFF2-40B4-BE49-F238E27FC236}">
                <a16:creationId xmlns:a16="http://schemas.microsoft.com/office/drawing/2014/main" id="{E58D32DD-27BC-F9D8-DDF2-0FD2165BA0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957" y="2495311"/>
            <a:ext cx="1202443" cy="1202443"/>
          </a:xfrm>
          <a:prstGeom prst="rect">
            <a:avLst/>
          </a:prstGeom>
        </p:spPr>
      </p:pic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39E28A96-36F3-F65A-AD4D-54F40A69A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2557" y="2467704"/>
            <a:ext cx="1202443" cy="12024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591AB3-6198-575D-E30D-1A5CD6263D74}"/>
              </a:ext>
            </a:extLst>
          </p:cNvPr>
          <p:cNvSpPr txBox="1"/>
          <p:nvPr/>
        </p:nvSpPr>
        <p:spPr>
          <a:xfrm>
            <a:off x="5045957" y="3902672"/>
            <a:ext cx="278548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B7B1400-7336-76F1-C458-773799FB0C71}"/>
              </a:ext>
            </a:extLst>
          </p:cNvPr>
          <p:cNvSpPr txBox="1"/>
          <p:nvPr/>
        </p:nvSpPr>
        <p:spPr>
          <a:xfrm>
            <a:off x="8164341" y="3902672"/>
            <a:ext cx="13606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C5245FC-B441-6404-FF4F-423F522CD1A2}"/>
              </a:ext>
            </a:extLst>
          </p:cNvPr>
          <p:cNvSpPr txBox="1"/>
          <p:nvPr/>
        </p:nvSpPr>
        <p:spPr>
          <a:xfrm>
            <a:off x="5045957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0.88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7FD1C7C-C611-D167-498D-6B1ADD1BA898}"/>
              </a:ext>
            </a:extLst>
          </p:cNvPr>
          <p:cNvSpPr txBox="1"/>
          <p:nvPr/>
        </p:nvSpPr>
        <p:spPr>
          <a:xfrm>
            <a:off x="8275089" y="4188008"/>
            <a:ext cx="1926343" cy="116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Confidence = P(Object)*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0.15</a:t>
            </a:r>
            <a:endParaRPr lang="ko-KR" alt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FA3BEC-768E-5DE5-918D-D508F5E68F7B}"/>
              </a:ext>
            </a:extLst>
          </p:cNvPr>
          <p:cNvSpPr txBox="1"/>
          <p:nvPr/>
        </p:nvSpPr>
        <p:spPr>
          <a:xfrm>
            <a:off x="4306716" y="5609578"/>
            <a:ext cx="6096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좋아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칸에 있는 덩어리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(Object)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가로로 길쭉하니까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번 앵커 박스 네가 대장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(Responsible)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맡아서 수선해라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7" name="그래픽 26" descr="조금 굽은 줄 화살표">
            <a:extLst>
              <a:ext uri="{FF2B5EF4-FFF2-40B4-BE49-F238E27FC236}">
                <a16:creationId xmlns:a16="http://schemas.microsoft.com/office/drawing/2014/main" id="{62E1249C-F798-210B-2766-FE307BDBFD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44291" y="531938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317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BEBFE-A775-5A37-080E-5101EB4BF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5BA915-8205-C958-91A3-2C0C5BF36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15F76E-5761-9FC2-22D6-B61F54ED305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IoU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(Intersection over Union)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 descr="C_2.01 IoU (Intersection over Union) and GIoU - Deep Learning Bible - 4.  Object Detection - 한글">
            <a:extLst>
              <a:ext uri="{FF2B5EF4-FFF2-40B4-BE49-F238E27FC236}">
                <a16:creationId xmlns:a16="http://schemas.microsoft.com/office/drawing/2014/main" id="{69A86CA4-8AA8-2DC1-1A2B-045B209984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5512" y="2334202"/>
            <a:ext cx="6547895" cy="24759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0" name="Picture 2">
            <a:extLst>
              <a:ext uri="{FF2B5EF4-FFF2-40B4-BE49-F238E27FC236}">
                <a16:creationId xmlns:a16="http://schemas.microsoft.com/office/drawing/2014/main" id="{AD78DD10-6401-2446-B6E6-FC36A08B7E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45" y="2334202"/>
            <a:ext cx="4191605" cy="3074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74774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9B18E-3E0A-C274-ECC9-295768CA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A7A19-64BD-F4CA-BB60-000D94627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5C62E8-1853-E1FD-CC3A-8330CB4CCB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973E14-6083-A110-3707-58B8308316AF}"/>
              </a:ext>
            </a:extLst>
          </p:cNvPr>
          <p:cNvSpPr txBox="1"/>
          <p:nvPr/>
        </p:nvSpPr>
        <p:spPr>
          <a:xfrm>
            <a:off x="571802" y="1248422"/>
            <a:ext cx="11144553" cy="8784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결정된 앵커를 바탕으로 실제 이미지에 대해 </a:t>
            </a:r>
            <a:r>
              <a:rPr lang="en-US" altLang="ko-KR" dirty="0"/>
              <a:t>CNN </a:t>
            </a:r>
            <a:r>
              <a:rPr lang="ko-KR" altLang="en-US" dirty="0"/>
              <a:t>필터가 이 칸의 시각적 특징을 분석하여 클래스 분류 확률을 </a:t>
            </a:r>
            <a:r>
              <a:rPr lang="en-US" altLang="ko-KR" dirty="0"/>
              <a:t>Car=0.95, Airplane=0.05 </a:t>
            </a:r>
            <a:r>
              <a:rPr lang="ko-KR" altLang="en-US" dirty="0"/>
              <a:t>구하여 판정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EFF6E6B-E87D-FEE1-4D00-50253A6816A6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5. CNN(Convolutional Neural Network)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5A11E39-F9F4-0DDE-2DB3-146C2BA27C44}"/>
              </a:ext>
            </a:extLst>
          </p:cNvPr>
          <p:cNvGraphicFramePr>
            <a:graphicFrameLocks noGrp="1"/>
          </p:cNvGraphicFramePr>
          <p:nvPr/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solidFill>
                          <a:srgbClr val="FF0000"/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P(Object)=1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8" name="그래픽 7" descr="트럭">
            <a:extLst>
              <a:ext uri="{FF2B5EF4-FFF2-40B4-BE49-F238E27FC236}">
                <a16:creationId xmlns:a16="http://schemas.microsoft.com/office/drawing/2014/main" id="{28460220-777E-3C0C-B16C-BA571BA5F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57FCBC-EFCE-E994-1881-03EFF3498D1B}"/>
              </a:ext>
            </a:extLst>
          </p:cNvPr>
          <p:cNvSpPr txBox="1"/>
          <p:nvPr/>
        </p:nvSpPr>
        <p:spPr>
          <a:xfrm>
            <a:off x="5538225" y="3429000"/>
            <a:ext cx="631087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Backbone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과 최종 출력단은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 Layer(Fully Connected Layer,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전결합층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를 버리고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모든 레이어를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으로만 구성한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구조를 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4"/>
              </a:rPr>
              <a:t>C4W3L04 Convolutional Implementation Sliding Windows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Filer 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Object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가 있는지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width, height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등을 알 수 있음</a:t>
            </a:r>
          </a:p>
        </p:txBody>
      </p:sp>
    </p:spTree>
    <p:extLst>
      <p:ext uri="{BB962C8B-B14F-4D97-AF65-F5344CB8AC3E}">
        <p14:creationId xmlns:p14="http://schemas.microsoft.com/office/powerpoint/2010/main" val="4120168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9FD04-6707-491D-94E5-5D283BBFB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508AB-053B-0F55-054F-EA19F0D04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C0125AD-F562-9BF3-3149-9536F58013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62503-D9BC-80F8-E72A-F6D6C0798CD6}"/>
              </a:ext>
            </a:extLst>
          </p:cNvPr>
          <p:cNvSpPr txBox="1"/>
          <p:nvPr/>
        </p:nvSpPr>
        <p:spPr>
          <a:xfrm>
            <a:off x="571802" y="1248422"/>
            <a:ext cx="11144553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슬라이딩 윈도우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  <a:hlinkClick r:id="rId2"/>
              </a:rPr>
              <a:t>Convolutional Implementation Sliding Windows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)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아이디어를 극대화하고 변형한 것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방식의 공통점은 이미지를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크롭하지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않고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통째로 한 번만 통과시켜 최종 출력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얻음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발전은 겹치는 윈도우를 돌리는 대신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 명확한 그리드 격자로 나누고 각 격자가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물체 존재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정확한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박스 좌표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뱉어내도록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아키텍처를 정립하게 되어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슬라이딩 윈도우 방식보다 훨씬 정밀하게 물체의 경계선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찾아내면서도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한 번만 보면 된다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(You Only Look Once)'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이름에 걸맞게 실시간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(FPS 45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작동하는 엄청난 속도를 가질 수 있음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5BBB1417-2155-3FD1-5795-B79DDE6B1CE0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4D67FE0F-4DC2-404F-6F22-44F7A09B816C}"/>
              </a:ext>
            </a:extLst>
          </p:cNvPr>
          <p:cNvSpPr/>
          <p:nvPr/>
        </p:nvSpPr>
        <p:spPr>
          <a:xfrm>
            <a:off x="2162175" y="5524500"/>
            <a:ext cx="1819275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CNN</a:t>
            </a:r>
            <a:endParaRPr lang="ko-KR" altLang="en-US" dirty="0"/>
          </a:p>
        </p:txBody>
      </p:sp>
      <p:sp>
        <p:nvSpPr>
          <p:cNvPr id="9" name="화살표: 줄무늬가 있는 오른쪽 8">
            <a:extLst>
              <a:ext uri="{FF2B5EF4-FFF2-40B4-BE49-F238E27FC236}">
                <a16:creationId xmlns:a16="http://schemas.microsoft.com/office/drawing/2014/main" id="{8ED3DA13-E072-EACF-44BD-CD51A95A352D}"/>
              </a:ext>
            </a:extLst>
          </p:cNvPr>
          <p:cNvSpPr/>
          <p:nvPr/>
        </p:nvSpPr>
        <p:spPr>
          <a:xfrm>
            <a:off x="4364040" y="5524500"/>
            <a:ext cx="2114550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FCN</a:t>
            </a:r>
            <a:endParaRPr lang="ko-KR" altLang="en-US" dirty="0"/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1B48C2D7-1CFE-27E0-A5CA-99E4B2094216}"/>
              </a:ext>
            </a:extLst>
          </p:cNvPr>
          <p:cNvSpPr/>
          <p:nvPr/>
        </p:nvSpPr>
        <p:spPr>
          <a:xfrm>
            <a:off x="6770686" y="5524500"/>
            <a:ext cx="2230439" cy="97155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YOLO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4B63C3-40E3-4674-73DF-19766371227A}"/>
              </a:ext>
            </a:extLst>
          </p:cNvPr>
          <p:cNvSpPr txBox="1"/>
          <p:nvPr/>
        </p:nvSpPr>
        <p:spPr>
          <a:xfrm>
            <a:off x="4181475" y="6311384"/>
            <a:ext cx="29813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12011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B69DC-2798-102A-758D-0633F85E6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09ACC-26E9-738A-BAF0-C80379F8B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FAEFCED-6CBC-D29B-2168-981B875937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99E99B-7916-877A-FEAB-B136620D58E8}"/>
              </a:ext>
            </a:extLst>
          </p:cNvPr>
          <p:cNvSpPr txBox="1"/>
          <p:nvPr/>
        </p:nvSpPr>
        <p:spPr>
          <a:xfrm>
            <a:off x="571802" y="1315097"/>
            <a:ext cx="11144553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연산의 효율화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 아닌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특징 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위의 슬라이딩 윈도우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과거 원본 이미지를 수없이 잘라내어 매번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돌리던 무식한 방식을 탈피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전체를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한 번만 통과시켜 압축된 특징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추출한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(1x1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3x3 Conv)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이동시키는 방식으로 슬라이딩 윈도우를 효율적으로 구현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틀 도입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격자점별 멀티 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격자마다 다양한 크기와 비율을 가진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가상의 창인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들을 미리 정의하여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이를 통해 단일 격자점에서도 서로 다른 형태의 다양한 물체 후보군을 동시에 훑고 탐색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멀티태스크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학습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와 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의 결합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박스가 지나갈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연산을 통해 두 가지 정밀 작업을 동시에 수행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분류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해당 앵커 박스 내에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존재하는지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또는 어떤 클래스인지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확률을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앵커 박스의 위치와 크기를 실제 물체의 경계선에 딱 맞게 미세 조정하는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오차값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Δx,Δy,Δw,Δh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게산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D9EBA5D-FD2E-C1B8-3DF0-D7EB79A5EF6C}"/>
              </a:ext>
            </a:extLst>
          </p:cNvPr>
          <p:cNvSpPr txBox="1">
            <a:spLocks/>
          </p:cNvSpPr>
          <p:nvPr/>
        </p:nvSpPr>
        <p:spPr>
          <a:xfrm>
            <a:off x="5848350" y="647700"/>
            <a:ext cx="5812601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Implementation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Sliding Windows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44935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A1402-08FA-1414-7D39-D22F4CF6B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F5A98A-E857-2423-C923-540092E7A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E8183F6-0D1A-6079-23B6-B90F1B82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45D10D-4BEF-867B-D596-D0C787F6736E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모든 연산의 결과는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(3, 3, 12)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차원 숫자 행렬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(tensor)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생성하게 되어 행과열이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 격자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tensor[3,3 :]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제외한 모든 격자에는 모두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입력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0B4B1F8-2BD4-DC3C-8D06-46C224D7D958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6.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예측 결과 행렬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F347C981-92AA-3BDF-EC34-00E01ECF6E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974799"/>
              </p:ext>
            </p:extLst>
          </p:nvPr>
        </p:nvGraphicFramePr>
        <p:xfrm>
          <a:off x="742947" y="2831598"/>
          <a:ext cx="3790953" cy="32046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63651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1263651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10682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1068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[0,0,0,0,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0,0,0,0,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50000"/>
                            </a:schemeClr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0,0,0,0]</a:t>
                      </a: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[0,0,0,0,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0,0,0,0,</a:t>
                      </a:r>
                    </a:p>
                    <a:p>
                      <a:pPr latinLnBrk="1"/>
                      <a:r>
                        <a:rPr lang="en-US" altLang="ko-KR" sz="140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0,0,0,0]</a:t>
                      </a:r>
                      <a:endParaRPr lang="ko-KR" altLang="en-US" sz="1400" dirty="0">
                        <a:solidFill>
                          <a:schemeClr val="bg1">
                            <a:lumMod val="50000"/>
                          </a:schemeClr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86797" marR="86797" marT="43397" marB="43397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7" name="그래픽 16" descr="트럭">
            <a:extLst>
              <a:ext uri="{FF2B5EF4-FFF2-40B4-BE49-F238E27FC236}">
                <a16:creationId xmlns:a16="http://schemas.microsoft.com/office/drawing/2014/main" id="{67DAE3B8-38BA-9DF2-0C8C-6B0E37540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61094" y="5055370"/>
            <a:ext cx="1047565" cy="1047565"/>
          </a:xfrm>
          <a:prstGeom prst="rect">
            <a:avLst/>
          </a:prstGeom>
        </p:spPr>
      </p:pic>
      <p:grpSp>
        <p:nvGrpSpPr>
          <p:cNvPr id="24" name="그룹 23">
            <a:extLst>
              <a:ext uri="{FF2B5EF4-FFF2-40B4-BE49-F238E27FC236}">
                <a16:creationId xmlns:a16="http://schemas.microsoft.com/office/drawing/2014/main" id="{7A71C663-CECD-3C91-0E31-D92F6C2969EB}"/>
              </a:ext>
            </a:extLst>
          </p:cNvPr>
          <p:cNvGrpSpPr/>
          <p:nvPr/>
        </p:nvGrpSpPr>
        <p:grpSpPr>
          <a:xfrm>
            <a:off x="4734108" y="5293299"/>
            <a:ext cx="6463832" cy="632558"/>
            <a:chOff x="4146500" y="2118065"/>
            <a:chExt cx="7553595" cy="739204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7C3878D2-1CF4-FCEB-FFB0-1845386CE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46500" y="2140327"/>
              <a:ext cx="6501224" cy="712564"/>
            </a:xfrm>
            <a:prstGeom prst="rect">
              <a:avLst/>
            </a:prstGeom>
          </p:spPr>
        </p:pic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DC9335D3-2E15-C112-E230-E722EF653B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634771" y="2118065"/>
              <a:ext cx="1065324" cy="739204"/>
            </a:xfrm>
            <a:prstGeom prst="rect">
              <a:avLst/>
            </a:prstGeom>
          </p:spPr>
        </p:pic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911B19B7-5598-F929-A03D-F603088DA936}"/>
              </a:ext>
            </a:extLst>
          </p:cNvPr>
          <p:cNvSpPr txBox="1"/>
          <p:nvPr/>
        </p:nvSpPr>
        <p:spPr>
          <a:xfrm>
            <a:off x="4898973" y="2772867"/>
            <a:ext cx="681738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Tensor[3, 3, :]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3×3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격자판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중에서 트럭은 우측 하단 방문을 열면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숫자가 들어있는데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 숫자들이 각각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세로 상자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이게 비행기인지 자동차인지 알려주는 정체 정보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보여줌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rtl="0">
              <a:buFont typeface="Wingdings" panose="05000000000000000000" pitchFamily="2" charset="2"/>
              <a:buChar char="§"/>
            </a:pP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이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12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숫자를 보고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아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 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열에 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88%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짜리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가로 상자를 치고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정체는 자동차라고 </a:t>
            </a:r>
            <a:r>
              <a:rPr lang="ko-KR" altLang="en-US" sz="160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띄워야겠구나</a:t>
            </a:r>
            <a:r>
              <a:rPr lang="en-US" altLang="ko-KR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!' </a:t>
            </a:r>
            <a:r>
              <a:rPr lang="ko-KR" altLang="en-US" sz="160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하고 최종 화면을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그려서 예측</a:t>
            </a:r>
            <a:endParaRPr lang="en-US" altLang="ko-KR" sz="160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07778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FB6B3-4B54-5D5E-0596-98BAADA1B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300" y="2270463"/>
            <a:ext cx="8439526" cy="39483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5755E4-770B-BDE4-CDAA-9FB5C839D34C}"/>
              </a:ext>
            </a:extLst>
          </p:cNvPr>
          <p:cNvSpPr txBox="1"/>
          <p:nvPr/>
        </p:nvSpPr>
        <p:spPr>
          <a:xfrm>
            <a:off x="571500" y="139011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선택한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FCN (Fully Convolutional Network)</a:t>
            </a:r>
          </a:p>
        </p:txBody>
      </p:sp>
    </p:spTree>
    <p:extLst>
      <p:ext uri="{BB962C8B-B14F-4D97-AF65-F5344CB8AC3E}">
        <p14:creationId xmlns:p14="http://schemas.microsoft.com/office/powerpoint/2010/main" val="33337566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08830-D819-D25F-AB4C-FBB5ACD20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C1CEE3-0649-145F-2638-11E923B7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12D1010-6371-3BEA-32BD-CD0BB50827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AA0612-FCB5-F296-ABEE-CFFF8EE4E96C}"/>
              </a:ext>
            </a:extLst>
          </p:cNvPr>
          <p:cNvSpPr txBox="1"/>
          <p:nvPr/>
        </p:nvSpPr>
        <p:spPr>
          <a:xfrm>
            <a:off x="553752" y="1264398"/>
            <a:ext cx="11409648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Bounding Box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그리는 과정은 나의 체형에 가장 잘 맞는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기성복 사이즈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(Anchor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고른 뒤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팔 길이나 품을 미세하게 수선해서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몸에 딱 맞게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신뢰도가 최대가 되게 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0.88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1.00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까지</a:t>
            </a:r>
            <a:r>
              <a:rPr lang="en-US" altLang="ko-KR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i="0" dirty="0">
                <a:solidFill>
                  <a:srgbClr val="1F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Regression 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손실함수를 최소로 하는 최종 맞춤복</a:t>
            </a:r>
            <a:r>
              <a:rPr lang="en-US" altLang="ko-KR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(Bounding Box)</a:t>
            </a:r>
            <a:r>
              <a:rPr lang="ko-KR" altLang="en-US" sz="1600" dirty="0">
                <a:solidFill>
                  <a:srgbClr val="1F1F1F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구하는 것에 비유</a:t>
            </a:r>
            <a:endParaRPr lang="en-US" altLang="ko-KR" sz="1600" i="0" dirty="0">
              <a:solidFill>
                <a:srgbClr val="1F1F1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F2303C9-E1C8-DDD5-4BB5-662B9A16C74D}"/>
              </a:ext>
            </a:extLst>
          </p:cNvPr>
          <p:cNvGrpSpPr/>
          <p:nvPr/>
        </p:nvGrpSpPr>
        <p:grpSpPr>
          <a:xfrm>
            <a:off x="695325" y="5386833"/>
            <a:ext cx="6385803" cy="624922"/>
            <a:chOff x="705033" y="3681004"/>
            <a:chExt cx="6463832" cy="632558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DD39FDEA-C717-CF9F-E35C-B639C84D82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5033" y="3700054"/>
              <a:ext cx="5563287" cy="60976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3A97F7EA-3D02-822C-F03A-4C0F1B07D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57236" y="3681004"/>
              <a:ext cx="911629" cy="632558"/>
            </a:xfrm>
            <a:prstGeom prst="rect">
              <a:avLst/>
            </a:prstGeom>
          </p:spPr>
        </p:pic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92D002C-45C1-44AD-CD55-B683ECC4F301}"/>
              </a:ext>
            </a:extLst>
          </p:cNvPr>
          <p:cNvGrpSpPr/>
          <p:nvPr/>
        </p:nvGrpSpPr>
        <p:grpSpPr>
          <a:xfrm>
            <a:off x="620270" y="3342136"/>
            <a:ext cx="2883229" cy="1341080"/>
            <a:chOff x="1060059" y="3447380"/>
            <a:chExt cx="4391735" cy="2042732"/>
          </a:xfrm>
        </p:grpSpPr>
        <p:pic>
          <p:nvPicPr>
            <p:cNvPr id="9" name="그래픽 8" descr="자동차">
              <a:extLst>
                <a:ext uri="{FF2B5EF4-FFF2-40B4-BE49-F238E27FC236}">
                  <a16:creationId xmlns:a16="http://schemas.microsoft.com/office/drawing/2014/main" id="{87023EC9-73D2-EE4F-FA69-97F617997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261944" y="3482595"/>
              <a:ext cx="1527992" cy="15279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/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ko-KR" altLang="en-US" i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=</a:t>
                  </a:r>
                  <a:r>
                    <a:rPr lang="ko-KR" altLang="en-US" sz="1600" dirty="0"/>
                    <a:t> </a:t>
                  </a:r>
                  <a:r>
                    <a:rPr lang="en-US" altLang="ko-KR" sz="1600" dirty="0"/>
                    <a:t>[1,</a:t>
                  </a:r>
                  <a:r>
                    <a:rPr lang="ko-KR" altLang="en-US" sz="1600" dirty="0"/>
                    <a:t> 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0.5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0.64</a:t>
                  </a:r>
                  <a:r>
                    <a:rPr lang="en-US" altLang="ko-KR" sz="1600" dirty="0"/>
                    <a:t>,</a:t>
                  </a:r>
                  <a:r>
                    <a:rPr lang="ko-KR" altLang="en-US" sz="1600" dirty="0"/>
                    <a:t> 0.42</a:t>
                  </a:r>
                  <a:r>
                    <a:rPr lang="en-US" altLang="ko-KR" sz="1600" dirty="0"/>
                    <a:t>]</a:t>
                  </a:r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AADF4AEB-33E8-64BB-60C6-068B2AAB03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3611" y="4937215"/>
                  <a:ext cx="4318183" cy="552897"/>
                </a:xfrm>
                <a:prstGeom prst="rect">
                  <a:avLst/>
                </a:prstGeom>
                <a:blipFill>
                  <a:blip r:embed="rId7"/>
                  <a:stretch>
                    <a:fillRect b="-2033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DA6ED7E8-1330-13E7-3D47-9D20214DD6A9}"/>
                </a:ext>
              </a:extLst>
            </p:cNvPr>
            <p:cNvSpPr/>
            <p:nvPr/>
          </p:nvSpPr>
          <p:spPr>
            <a:xfrm>
              <a:off x="1060059" y="3447380"/>
              <a:ext cx="1729877" cy="1374301"/>
            </a:xfrm>
            <a:prstGeom prst="rect">
              <a:avLst/>
            </a:prstGeom>
            <a:noFill/>
            <a:ln w="19050">
              <a:solidFill>
                <a:srgbClr val="4040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" name="곱하기 기호 13">
              <a:extLst>
                <a:ext uri="{FF2B5EF4-FFF2-40B4-BE49-F238E27FC236}">
                  <a16:creationId xmlns:a16="http://schemas.microsoft.com/office/drawing/2014/main" id="{B77C880E-312C-4A17-8819-0AFD934BFD4D}"/>
                </a:ext>
              </a:extLst>
            </p:cNvPr>
            <p:cNvSpPr/>
            <p:nvPr/>
          </p:nvSpPr>
          <p:spPr>
            <a:xfrm>
              <a:off x="1906725" y="4211494"/>
              <a:ext cx="238429" cy="238125"/>
            </a:xfrm>
            <a:prstGeom prst="mathMultiply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/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sz="1600" i="0" dirty="0">
                    <a:solidFill>
                      <a:srgbClr val="1F1F1F"/>
                    </a:solidFill>
                    <a:effectLst/>
                    <a:latin typeface="D2Coding" panose="020B0609020101020101" pitchFamily="49" charset="-127"/>
                    <a:ea typeface="D2Coding" panose="020B0609020101020101" pitchFamily="49" charset="-127"/>
                  </a:rPr>
                  <a:t>Ground Truth (</a:t>
                </a:r>
                <a14:m>
                  <m:oMath xmlns:m="http://schemas.openxmlformats.org/officeDocument/2006/math">
                    <m:r>
                      <a:rPr lang="ko-KR" alt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8D5C15-3FC1-E032-7C77-1ABCBD17A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2830702"/>
                <a:ext cx="1977800" cy="338554"/>
              </a:xfrm>
              <a:prstGeom prst="rect">
                <a:avLst/>
              </a:prstGeom>
              <a:blipFill>
                <a:blip r:embed="rId8"/>
                <a:stretch>
                  <a:fillRect l="-1534" t="-6897" b="-172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/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ko-KR" altLang="en-US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예측 </a:t>
                </a:r>
                <a:r>
                  <a:rPr lang="en-US" altLang="ko-KR" sz="1600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tensor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altLang="ko-KR" sz="1600" dirty="0"/>
                  <a:t>)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1E43FF6-D02F-A36E-D393-85800054E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270" y="4947898"/>
                <a:ext cx="1977800" cy="338554"/>
              </a:xfrm>
              <a:prstGeom prst="rect">
                <a:avLst/>
              </a:prstGeom>
              <a:blipFill>
                <a:blip r:embed="rId9"/>
                <a:stretch>
                  <a:fillRect l="-1534" t="-7018" b="-1929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4" name="그림 23">
            <a:extLst>
              <a:ext uri="{FF2B5EF4-FFF2-40B4-BE49-F238E27FC236}">
                <a16:creationId xmlns:a16="http://schemas.microsoft.com/office/drawing/2014/main" id="{12449356-9BDC-36E8-AB8C-77C85169F8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35609" y="3457480"/>
            <a:ext cx="6370020" cy="1324069"/>
          </a:xfrm>
          <a:prstGeom prst="rect">
            <a:avLst/>
          </a:prstGeom>
          <a:ln>
            <a:solidFill>
              <a:srgbClr val="FF0000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/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solidFill>
                      <a:srgbClr val="1F1F1F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Loss Function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ko-KR" i="1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i="0" smtClean="0">
                                <a:solidFill>
                                  <a:srgbClr val="1F1F1F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ko-KR" i="1" smtClean="0">
                                    <a:solidFill>
                                      <a:srgbClr val="1F1F1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altLang="ko-KR" i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D2012E5-1C3F-5EC9-868A-D0A43A6AEC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8954" y="3004392"/>
                <a:ext cx="3076371" cy="369332"/>
              </a:xfrm>
              <a:prstGeom prst="rect">
                <a:avLst/>
              </a:prstGeom>
              <a:blipFill>
                <a:blip r:embed="rId11"/>
                <a:stretch>
                  <a:fillRect l="-1381" t="-8065" b="-2419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직사각형 25">
            <a:extLst>
              <a:ext uri="{FF2B5EF4-FFF2-40B4-BE49-F238E27FC236}">
                <a16:creationId xmlns:a16="http://schemas.microsoft.com/office/drawing/2014/main" id="{32A6BF45-0E70-4B14-07C9-DF50968D1BC2}"/>
              </a:ext>
            </a:extLst>
          </p:cNvPr>
          <p:cNvSpPr/>
          <p:nvPr/>
        </p:nvSpPr>
        <p:spPr>
          <a:xfrm>
            <a:off x="1510597" y="4351515"/>
            <a:ext cx="1718378" cy="306765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A59B06B-68F6-D3BE-4D12-F49FE015F6B4}"/>
              </a:ext>
            </a:extLst>
          </p:cNvPr>
          <p:cNvSpPr/>
          <p:nvPr/>
        </p:nvSpPr>
        <p:spPr>
          <a:xfrm>
            <a:off x="2195459" y="5359428"/>
            <a:ext cx="1472011" cy="338555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1A366F8C-36AF-693B-BA7F-521090A07468}"/>
              </a:ext>
            </a:extLst>
          </p:cNvPr>
          <p:cNvCxnSpPr>
            <a:cxnSpLocks/>
            <a:stCxn id="20" idx="3"/>
            <a:endCxn id="21" idx="3"/>
          </p:cNvCxnSpPr>
          <p:nvPr/>
        </p:nvCxnSpPr>
        <p:spPr>
          <a:xfrm>
            <a:off x="2598070" y="2999979"/>
            <a:ext cx="12700" cy="2117196"/>
          </a:xfrm>
          <a:prstGeom prst="bentConnector3">
            <a:avLst>
              <a:gd name="adj1" fmla="val 11625000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D58D26AC-4854-FFD3-6F0A-F9CB3E060E3D}"/>
              </a:ext>
            </a:extLst>
          </p:cNvPr>
          <p:cNvCxnSpPr>
            <a:stCxn id="25" idx="1"/>
          </p:cNvCxnSpPr>
          <p:nvPr/>
        </p:nvCxnSpPr>
        <p:spPr>
          <a:xfrm rot="10800000" flipV="1">
            <a:off x="4076700" y="3189057"/>
            <a:ext cx="1162254" cy="811061"/>
          </a:xfrm>
          <a:prstGeom prst="bentConnector3">
            <a:avLst/>
          </a:prstGeom>
          <a:ln>
            <a:headEnd type="arrow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5992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A392C-D73D-D148-7BEB-416C2B757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2282E-9683-B750-B8F8-02AF06D5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A29283D-A348-34F5-820F-7A89CCA156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학습 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14B95D-8603-950A-4D8F-C5D08212F8D2}"/>
              </a:ext>
            </a:extLst>
          </p:cNvPr>
          <p:cNvSpPr txBox="1"/>
          <p:nvPr/>
        </p:nvSpPr>
        <p:spPr>
          <a:xfrm>
            <a:off x="3071250" y="1440761"/>
            <a:ext cx="5586973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(트럭 정답지 박스) 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75CC89-CC96-6ADD-2122-34AF5C2AF1E7}"/>
              </a:ext>
            </a:extLst>
          </p:cNvPr>
          <p:cNvSpPr txBox="1"/>
          <p:nvPr/>
        </p:nvSpPr>
        <p:spPr>
          <a:xfrm>
            <a:off x="3071251" y="2120422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트럭 중심점이 속한 3×3 그리드 셀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7204E1-EC75-B6A5-B09E-00D3F55C80BA}"/>
              </a:ext>
            </a:extLst>
          </p:cNvPr>
          <p:cNvSpPr txBox="1"/>
          <p:nvPr/>
        </p:nvSpPr>
        <p:spPr>
          <a:xfrm>
            <a:off x="3071251" y="2828658"/>
            <a:ext cx="5586974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해당 그리드가 가진 2개의 고정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호출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228B6A-1C00-D15E-CF70-00E6A3D12821}"/>
              </a:ext>
            </a:extLst>
          </p:cNvPr>
          <p:cNvSpPr txBox="1"/>
          <p:nvPr/>
        </p:nvSpPr>
        <p:spPr>
          <a:xfrm>
            <a:off x="742949" y="4051244"/>
            <a:ext cx="516254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=0.83)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A89B76-6DE4-E5B3-0409-39D76DEB4D13}"/>
              </a:ext>
            </a:extLst>
          </p:cNvPr>
          <p:cNvSpPr txBox="1"/>
          <p:nvPr/>
        </p:nvSpPr>
        <p:spPr>
          <a:xfrm>
            <a:off x="742950" y="4921405"/>
            <a:ext cx="516255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 선택 (이 트럭의 예측 책임자로 임명)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68CD83-0591-827F-13C5-83124305D8FD}"/>
              </a:ext>
            </a:extLst>
          </p:cNvPr>
          <p:cNvSpPr txBox="1"/>
          <p:nvPr/>
        </p:nvSpPr>
        <p:spPr>
          <a:xfrm>
            <a:off x="742950" y="5791567"/>
            <a:ext cx="5162550" cy="64633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1의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예측값과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Ground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Truth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간의 오차(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계산 및 학습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9C0550-16F1-A1AD-28BD-25E06B4F9863}"/>
              </a:ext>
            </a:extLst>
          </p:cNvPr>
          <p:cNvSpPr txBox="1"/>
          <p:nvPr/>
        </p:nvSpPr>
        <p:spPr>
          <a:xfrm>
            <a:off x="7780336" y="4051587"/>
            <a:ext cx="273367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2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=0.39)</a:t>
            </a: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D8CA16CC-F0D8-0A02-CB22-6F5B5EEEE803}"/>
              </a:ext>
            </a:extLst>
          </p:cNvPr>
          <p:cNvCxnSpPr>
            <a:stCxn id="7" idx="2"/>
            <a:endCxn id="9" idx="0"/>
          </p:cNvCxnSpPr>
          <p:nvPr/>
        </p:nvCxnSpPr>
        <p:spPr>
          <a:xfrm>
            <a:off x="5864737" y="1810093"/>
            <a:ext cx="1" cy="310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A5E7E48-3B4D-F26F-9347-98BAC65EDBC7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864738" y="2489754"/>
            <a:ext cx="0" cy="338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E07B488B-7E4B-D151-890E-3E14EC18F72C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 rot="5400000">
            <a:off x="4167854" y="2354360"/>
            <a:ext cx="853254" cy="25405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연결선: 꺾임 27">
            <a:extLst>
              <a:ext uri="{FF2B5EF4-FFF2-40B4-BE49-F238E27FC236}">
                <a16:creationId xmlns:a16="http://schemas.microsoft.com/office/drawing/2014/main" id="{975C9583-F42F-E4E0-C1B9-463FAD485FF9}"/>
              </a:ext>
            </a:extLst>
          </p:cNvPr>
          <p:cNvCxnSpPr>
            <a:cxnSpLocks/>
            <a:stCxn id="11" idx="2"/>
            <a:endCxn id="20" idx="0"/>
          </p:cNvCxnSpPr>
          <p:nvPr/>
        </p:nvCxnSpPr>
        <p:spPr>
          <a:xfrm rot="16200000" flipH="1">
            <a:off x="7079158" y="1983570"/>
            <a:ext cx="853597" cy="32824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5C443F0-BF90-7A15-BD60-492A591179D4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3324224" y="4420576"/>
            <a:ext cx="1" cy="5008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FC3A9A9-988A-B71B-3036-C47B853CB609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3324225" y="5290737"/>
            <a:ext cx="0" cy="5004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EA87C6C-B906-B205-AB55-1ED2D60EB29F}"/>
              </a:ext>
            </a:extLst>
          </p:cNvPr>
          <p:cNvSpPr txBox="1"/>
          <p:nvPr/>
        </p:nvSpPr>
        <p:spPr>
          <a:xfrm>
            <a:off x="7680340" y="5001740"/>
            <a:ext cx="37687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계산 부분은 모델이 학습할 때 어떤 앵커 박스에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정답 책임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부여하는 흐름도</a:t>
            </a:r>
          </a:p>
        </p:txBody>
      </p:sp>
    </p:spTree>
    <p:extLst>
      <p:ext uri="{BB962C8B-B14F-4D97-AF65-F5344CB8AC3E}">
        <p14:creationId xmlns:p14="http://schemas.microsoft.com/office/powerpoint/2010/main" val="13379426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7B388-39AA-E0A2-0017-71F7F3C9E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CE90C49D-AB57-9AA2-21E0-9A78DEAE5570}"/>
              </a:ext>
            </a:extLst>
          </p:cNvPr>
          <p:cNvCxnSpPr>
            <a:stCxn id="8" idx="2"/>
            <a:endCxn id="33" idx="0"/>
          </p:cNvCxnSpPr>
          <p:nvPr/>
        </p:nvCxnSpPr>
        <p:spPr>
          <a:xfrm>
            <a:off x="5417569" y="1800253"/>
            <a:ext cx="82512" cy="4199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B955799-49DB-29C0-45D8-EE9C45C70E97}"/>
              </a:ext>
            </a:extLst>
          </p:cNvPr>
          <p:cNvSpPr/>
          <p:nvPr/>
        </p:nvSpPr>
        <p:spPr>
          <a:xfrm>
            <a:off x="647700" y="3676651"/>
            <a:ext cx="9620250" cy="103799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61C02-DF94-8074-69E4-0F73E7F9E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A37BC71-4E6B-4145-5B2D-2F2113DA96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ko-KR" altLang="en-US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</a:t>
            </a:r>
            <a:r>
              <a:rPr lang="ko-KR" altLang="en-US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입력시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BB619F-0062-510C-891B-7E12324BAB3B}"/>
              </a:ext>
            </a:extLst>
          </p:cNvPr>
          <p:cNvSpPr txBox="1"/>
          <p:nvPr/>
        </p:nvSpPr>
        <p:spPr>
          <a:xfrm>
            <a:off x="2342545" y="146169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Truck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B6023-9906-B77E-F400-0ACA04ABE54A}"/>
              </a:ext>
            </a:extLst>
          </p:cNvPr>
          <p:cNvSpPr txBox="1"/>
          <p:nvPr/>
        </p:nvSpPr>
        <p:spPr>
          <a:xfrm>
            <a:off x="2342545" y="1934754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Backbone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4A0911-DFC8-1CE4-4438-69E5B5DBFBE1}"/>
              </a:ext>
            </a:extLst>
          </p:cNvPr>
          <p:cNvSpPr txBox="1"/>
          <p:nvPr/>
        </p:nvSpPr>
        <p:spPr>
          <a:xfrm>
            <a:off x="2342545" y="2407809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 (3×3 그리드의 공간 정보가 한 번에 계산됨)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052CC3-348B-F575-F5B9-047B23F72F01}"/>
              </a:ext>
            </a:extLst>
          </p:cNvPr>
          <p:cNvSpPr txBox="1"/>
          <p:nvPr/>
        </p:nvSpPr>
        <p:spPr>
          <a:xfrm>
            <a:off x="2342545" y="3052313"/>
            <a:ext cx="6150047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[CNN 최종 레이어의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원샷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(One-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shot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동시 예측]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99F1FA-4165-EEEB-EBDC-E107054392C5}"/>
              </a:ext>
            </a:extLst>
          </p:cNvPr>
          <p:cNvSpPr txBox="1"/>
          <p:nvPr/>
        </p:nvSpPr>
        <p:spPr>
          <a:xfrm>
            <a:off x="863987" y="3776668"/>
            <a:ext cx="2526506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점수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물체가 있을 확률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P_c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6106AA-7D2F-6509-4834-392F2AB307DE}"/>
              </a:ext>
            </a:extLst>
          </p:cNvPr>
          <p:cNvSpPr txBox="1"/>
          <p:nvPr/>
        </p:nvSpPr>
        <p:spPr>
          <a:xfrm>
            <a:off x="2345756" y="491342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미리 정의된 2개의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Anchor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비율에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곱함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F1C64F-7C2D-88FA-7E26-9442F3EE751A}"/>
              </a:ext>
            </a:extLst>
          </p:cNvPr>
          <p:cNvSpPr txBox="1"/>
          <p:nvPr/>
        </p:nvSpPr>
        <p:spPr>
          <a:xfrm>
            <a:off x="2345756" y="5456764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최종 복원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D48AD6-2F49-9014-3FAE-B6F9E3D8B5A3}"/>
              </a:ext>
            </a:extLst>
          </p:cNvPr>
          <p:cNvSpPr txBox="1"/>
          <p:nvPr/>
        </p:nvSpPr>
        <p:spPr>
          <a:xfrm>
            <a:off x="2345755" y="6000099"/>
            <a:ext cx="6308651" cy="33855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NMS 알고리즘 (중복 박스 제거 및 최종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E3E4DD-439A-9175-0EF6-9BAC6B1ADEBA}"/>
              </a:ext>
            </a:extLst>
          </p:cNvPr>
          <p:cNvSpPr txBox="1"/>
          <p:nvPr/>
        </p:nvSpPr>
        <p:spPr>
          <a:xfrm>
            <a:off x="4321239" y="3776668"/>
            <a:ext cx="2621755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확률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Car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Airplane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인지)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D458F1-E636-A79E-2F7C-E81BF7E2C9BB}"/>
              </a:ext>
            </a:extLst>
          </p:cNvPr>
          <p:cNvSpPr txBox="1"/>
          <p:nvPr/>
        </p:nvSpPr>
        <p:spPr>
          <a:xfrm>
            <a:off x="7873739" y="3776668"/>
            <a:ext cx="2108461" cy="86177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Bounding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Box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위치 미세조정 값 예측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D89F926-22E0-909C-2834-1D6D8680FFFB}"/>
              </a:ext>
            </a:extLst>
          </p:cNvPr>
          <p:cNvSpPr txBox="1"/>
          <p:nvPr/>
        </p:nvSpPr>
        <p:spPr>
          <a:xfrm>
            <a:off x="8635356" y="1384754"/>
            <a:ext cx="32423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이미지가 들어왔을 때 컴퓨터가 단 한 번에 모든 것을 찍어내는 실시간 구동 흐름</a:t>
            </a:r>
          </a:p>
        </p:txBody>
      </p:sp>
    </p:spTree>
    <p:extLst>
      <p:ext uri="{BB962C8B-B14F-4D97-AF65-F5344CB8AC3E}">
        <p14:creationId xmlns:p14="http://schemas.microsoft.com/office/powerpoint/2010/main" val="18165024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7D301-B114-F827-4260-924D7C208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5FA5C7-898C-1C68-7E74-AD6760E3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8A7BF3-1C90-CC60-888E-27948DFAF53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91A9F3B-8F15-60CA-FF37-066CA17F4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8040" y="2178311"/>
            <a:ext cx="8244635" cy="4126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07ADC64-4751-52A0-DDEB-20843A556B71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물체를 감지하고 분류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https://roboflow.com/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2920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74812A-4AB7-6AC8-E8CF-FBA1128EF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850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3DCF7-1DBA-D4CB-1900-6CB1F1A108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65D88-8573-ADF0-534A-5F383AF9A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8388F96-8C5B-F1DF-C77E-73C822A46DA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3E2947-A36B-D4FB-CE58-18226E25275C}"/>
              </a:ext>
            </a:extLst>
          </p:cNvPr>
          <p:cNvSpPr txBox="1"/>
          <p:nvPr/>
        </p:nvSpPr>
        <p:spPr>
          <a:xfrm>
            <a:off x="571802" y="1248422"/>
            <a:ext cx="11144553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YOLO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새로운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이미지가 들어오면 가상의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격자를 바탕으로 각 칸마다 물체의 중심이 있는지를 기계적으로 조사하여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P(Object)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값을 생성하고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3D9F3631-9490-A675-864C-33CEA1F143A9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C5DEAD37-CB18-E69A-24A6-CAD4CBE65C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436136"/>
              </p:ext>
            </p:extLst>
          </p:nvPr>
        </p:nvGraphicFramePr>
        <p:xfrm>
          <a:off x="2057397" y="3376294"/>
          <a:ext cx="2966088" cy="24306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869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869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10227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1022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34E218BB-5B43-136C-C46E-06F7CC275FF8}"/>
              </a:ext>
            </a:extLst>
          </p:cNvPr>
          <p:cNvSpPr txBox="1"/>
          <p:nvPr/>
        </p:nvSpPr>
        <p:spPr>
          <a:xfrm>
            <a:off x="1981197" y="2729963"/>
            <a:ext cx="28384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3) grid</a:t>
            </a:r>
            <a:endParaRPr lang="ko-KR" altLang="en-US" sz="1600" dirty="0"/>
          </a:p>
        </p:txBody>
      </p:sp>
      <p:pic>
        <p:nvPicPr>
          <p:cNvPr id="5" name="그래픽 4" descr="트럭">
            <a:extLst>
              <a:ext uri="{FF2B5EF4-FFF2-40B4-BE49-F238E27FC236}">
                <a16:creationId xmlns:a16="http://schemas.microsoft.com/office/drawing/2014/main" id="{48EDE1C5-CEFC-1658-7E5F-7FEF49E7CF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21757" y="3815064"/>
            <a:ext cx="1234769" cy="1234769"/>
          </a:xfrm>
          <a:prstGeom prst="rect">
            <a:avLst/>
          </a:prstGeom>
        </p:spPr>
      </p:pic>
      <p:sp>
        <p:nvSpPr>
          <p:cNvPr id="17" name="곱하기 기호 16">
            <a:extLst>
              <a:ext uri="{FF2B5EF4-FFF2-40B4-BE49-F238E27FC236}">
                <a16:creationId xmlns:a16="http://schemas.microsoft.com/office/drawing/2014/main" id="{FE7C3A32-47C6-96EA-D059-FE24F727CDCB}"/>
              </a:ext>
            </a:extLst>
          </p:cNvPr>
          <p:cNvSpPr/>
          <p:nvPr/>
        </p:nvSpPr>
        <p:spPr>
          <a:xfrm>
            <a:off x="3487876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F596DFF-0164-42DC-220E-AAB9EB436D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64144"/>
              </p:ext>
            </p:extLst>
          </p:nvPr>
        </p:nvGraphicFramePr>
        <p:xfrm>
          <a:off x="5819773" y="3376294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19" name="그래픽 18" descr="트럭">
            <a:extLst>
              <a:ext uri="{FF2B5EF4-FFF2-40B4-BE49-F238E27FC236}">
                <a16:creationId xmlns:a16="http://schemas.microsoft.com/office/drawing/2014/main" id="{853C999D-303D-FCA5-93A8-2A6A2289B3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9473" y="3839388"/>
            <a:ext cx="1234769" cy="1234769"/>
          </a:xfrm>
          <a:prstGeom prst="rect">
            <a:avLst/>
          </a:prstGeom>
        </p:spPr>
      </p:pic>
      <p:sp>
        <p:nvSpPr>
          <p:cNvPr id="20" name="곱하기 기호 19">
            <a:extLst>
              <a:ext uri="{FF2B5EF4-FFF2-40B4-BE49-F238E27FC236}">
                <a16:creationId xmlns:a16="http://schemas.microsoft.com/office/drawing/2014/main" id="{FAF47D6F-2F45-F6E7-F7A6-8E9D078D4226}"/>
              </a:ext>
            </a:extLst>
          </p:cNvPr>
          <p:cNvSpPr/>
          <p:nvPr/>
        </p:nvSpPr>
        <p:spPr>
          <a:xfrm>
            <a:off x="7250251" y="4505862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CFE11D-65D8-184D-264F-F9BF72C2754B}"/>
              </a:ext>
            </a:extLst>
          </p:cNvPr>
          <p:cNvSpPr txBox="1"/>
          <p:nvPr/>
        </p:nvSpPr>
        <p:spPr>
          <a:xfrm>
            <a:off x="5595936" y="2736837"/>
            <a:ext cx="345281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= x, y, w, h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325E59-1279-0762-4595-DB5CED3F8FA8}"/>
              </a:ext>
            </a:extLst>
          </p:cNvPr>
          <p:cNvSpPr txBox="1"/>
          <p:nvPr/>
        </p:nvSpPr>
        <p:spPr>
          <a:xfrm>
            <a:off x="9030572" y="3410979"/>
            <a:ext cx="26303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(2,2)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셀의 왼쪽 상단을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(0,0)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가정하여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x, y, w, 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구하라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23673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4AA4-FB3F-4028-BAB6-1068F53E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DE57EB-9327-70C4-90A9-D5A05DD2E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3C618B3-0B0A-4153-0F16-6CD8BC985D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6632DF-E2C3-456E-17D1-EE7B95FF96B8}"/>
              </a:ext>
            </a:extLst>
          </p:cNvPr>
          <p:cNvSpPr txBox="1"/>
          <p:nvPr/>
        </p:nvSpPr>
        <p:spPr>
          <a:xfrm>
            <a:off x="571802" y="1248422"/>
            <a:ext cx="1114455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사령탑셀의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실제 픽셀 범위는 가로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10~20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영역이며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원본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(30, 30)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(15,15)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6902043F-72A8-4F16-1C1B-1E4721B19C82}"/>
              </a:ext>
            </a:extLst>
          </p:cNvPr>
          <p:cNvSpPr txBox="1">
            <a:spLocks/>
          </p:cNvSpPr>
          <p:nvPr/>
        </p:nvSpPr>
        <p:spPr>
          <a:xfrm>
            <a:off x="7031196" y="647700"/>
            <a:ext cx="4629755" cy="6007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r"/>
            <a:r>
              <a:rPr lang="en-US" altLang="ko-KR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3. </a:t>
            </a:r>
            <a:r>
              <a:rPr lang="ko-KR" altLang="en-US" sz="20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새로운 데이터 격자로 나누기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2CF61F-99BB-CEC3-ACB7-57BF9F0A02CC}"/>
              </a:ext>
            </a:extLst>
          </p:cNvPr>
          <p:cNvSpPr txBox="1"/>
          <p:nvPr/>
        </p:nvSpPr>
        <p:spPr>
          <a:xfrm>
            <a:off x="5249494" y="1876127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너비(10)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(10) +(그리드 한 칸 높이(10)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(0.5)) =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B1738D25-B1C2-FA34-9984-56937D29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07807"/>
              </p:ext>
            </p:extLst>
          </p:nvPr>
        </p:nvGraphicFramePr>
        <p:xfrm>
          <a:off x="684978" y="3123696"/>
          <a:ext cx="2943228" cy="24880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81076">
                  <a:extLst>
                    <a:ext uri="{9D8B030D-6E8A-4147-A177-3AD203B41FA5}">
                      <a16:colId xmlns:a16="http://schemas.microsoft.com/office/drawing/2014/main" val="1961843274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23400843"/>
                    </a:ext>
                  </a:extLst>
                </a:gridCol>
                <a:gridCol w="981076">
                  <a:extLst>
                    <a:ext uri="{9D8B030D-6E8A-4147-A177-3AD203B41FA5}">
                      <a16:colId xmlns:a16="http://schemas.microsoft.com/office/drawing/2014/main" val="2951067763"/>
                    </a:ext>
                  </a:extLst>
                </a:gridCol>
              </a:tblGrid>
              <a:tr h="829348">
                <a:tc>
                  <a:txBody>
                    <a:bodyPr/>
                    <a:lstStyle/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0.01</a:t>
                      </a:r>
                      <a:endParaRPr lang="ko-KR" alt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0.15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844891742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0.95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0.56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4097710734"/>
                  </a:ext>
                </a:extLst>
              </a:tr>
              <a:tr h="82934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0.02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0.03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0.01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 marL="67388" marR="67388" marT="33693" marB="33693"/>
                </a:tc>
                <a:extLst>
                  <a:ext uri="{0D108BD9-81ED-4DB2-BD59-A6C34878D82A}">
                    <a16:rowId xmlns:a16="http://schemas.microsoft.com/office/drawing/2014/main" val="3232772719"/>
                  </a:ext>
                </a:extLst>
              </a:tr>
            </a:tbl>
          </a:graphicData>
        </a:graphic>
      </p:graphicFrame>
      <p:pic>
        <p:nvPicPr>
          <p:cNvPr id="47" name="그래픽 46" descr="트럭">
            <a:extLst>
              <a:ext uri="{FF2B5EF4-FFF2-40B4-BE49-F238E27FC236}">
                <a16:creationId xmlns:a16="http://schemas.microsoft.com/office/drawing/2014/main" id="{ACC57C0E-69E3-405B-01E8-D9750FA282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4678" y="3586790"/>
            <a:ext cx="1234769" cy="1234769"/>
          </a:xfrm>
          <a:prstGeom prst="rect">
            <a:avLst/>
          </a:prstGeom>
        </p:spPr>
      </p:pic>
      <p:sp>
        <p:nvSpPr>
          <p:cNvPr id="48" name="곱하기 기호 47">
            <a:extLst>
              <a:ext uri="{FF2B5EF4-FFF2-40B4-BE49-F238E27FC236}">
                <a16:creationId xmlns:a16="http://schemas.microsoft.com/office/drawing/2014/main" id="{C9559834-CFF6-526D-F332-255CD3C2947C}"/>
              </a:ext>
            </a:extLst>
          </p:cNvPr>
          <p:cNvSpPr/>
          <p:nvPr/>
        </p:nvSpPr>
        <p:spPr>
          <a:xfrm>
            <a:off x="2115456" y="4253264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6DBBA98-0620-8F5F-69BD-D714A7C0DB32}"/>
              </a:ext>
            </a:extLst>
          </p:cNvPr>
          <p:cNvSpPr txBox="1"/>
          <p:nvPr/>
        </p:nvSpPr>
        <p:spPr>
          <a:xfrm>
            <a:off x="603163" y="2537062"/>
            <a:ext cx="310685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Tensor[2,2,:] = 0.5,0.5,0.6,0.4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= x, y, w, h</a:t>
            </a:r>
            <a:endParaRPr lang="ko-KR" altLang="en-US" sz="1400" dirty="0"/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39DBE5B4-746E-7F63-1528-0F71FA9206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0366" y="3097069"/>
            <a:ext cx="3122567" cy="2541084"/>
          </a:xfrm>
          <a:prstGeom prst="rect">
            <a:avLst/>
          </a:prstGeom>
        </p:spPr>
      </p:pic>
      <p:pic>
        <p:nvPicPr>
          <p:cNvPr id="56" name="그래픽 55" descr="트럭">
            <a:extLst>
              <a:ext uri="{FF2B5EF4-FFF2-40B4-BE49-F238E27FC236}">
                <a16:creationId xmlns:a16="http://schemas.microsoft.com/office/drawing/2014/main" id="{3B0ED8AE-1AEC-531B-7833-3FD2E202B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75044" y="3591041"/>
            <a:ext cx="1234769" cy="1234769"/>
          </a:xfrm>
          <a:prstGeom prst="rect">
            <a:avLst/>
          </a:prstGeom>
        </p:spPr>
      </p:pic>
      <p:sp>
        <p:nvSpPr>
          <p:cNvPr id="57" name="곱하기 기호 56">
            <a:extLst>
              <a:ext uri="{FF2B5EF4-FFF2-40B4-BE49-F238E27FC236}">
                <a16:creationId xmlns:a16="http://schemas.microsoft.com/office/drawing/2014/main" id="{3C3C6F8B-6E1A-C708-E8EB-563926B46851}"/>
              </a:ext>
            </a:extLst>
          </p:cNvPr>
          <p:cNvSpPr/>
          <p:nvPr/>
        </p:nvSpPr>
        <p:spPr>
          <a:xfrm>
            <a:off x="5477781" y="4262789"/>
            <a:ext cx="185112" cy="184876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연결선: 구부러짐 59">
            <a:extLst>
              <a:ext uri="{FF2B5EF4-FFF2-40B4-BE49-F238E27FC236}">
                <a16:creationId xmlns:a16="http://schemas.microsoft.com/office/drawing/2014/main" id="{2ADC0897-7A6E-B0A0-A15F-EACD2791CC12}"/>
              </a:ext>
            </a:extLst>
          </p:cNvPr>
          <p:cNvCxnSpPr>
            <a:stCxn id="57" idx="0"/>
            <a:endCxn id="9" idx="1"/>
          </p:cNvCxnSpPr>
          <p:nvPr/>
        </p:nvCxnSpPr>
        <p:spPr>
          <a:xfrm rot="10800000">
            <a:off x="5249494" y="2228948"/>
            <a:ext cx="272746" cy="2078244"/>
          </a:xfrm>
          <a:prstGeom prst="curvedConnector3">
            <a:avLst>
              <a:gd name="adj1" fmla="val 1838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548642A5-BA53-FAE5-6D4E-3ED5D27BC91B}"/>
              </a:ext>
            </a:extLst>
          </p:cNvPr>
          <p:cNvSpPr txBox="1"/>
          <p:nvPr/>
        </p:nvSpPr>
        <p:spPr>
          <a:xfrm>
            <a:off x="7344729" y="2860761"/>
            <a:ext cx="4663048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w(0.6) = 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실제 박스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 =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전체가로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(30) x w(0.4) = 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96442B-4C57-3304-CF84-BD991E22F215}"/>
              </a:ext>
            </a:extLst>
          </p:cNvPr>
          <p:cNvSpPr txBox="1"/>
          <p:nvPr/>
        </p:nvSpPr>
        <p:spPr>
          <a:xfrm>
            <a:off x="7581018" y="3709001"/>
            <a:ext cx="35506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중심점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(15, 15)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가로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픽셀짜리 상자를 사방으로 넓혀서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바운딩박스를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생성하면</a:t>
            </a:r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2EFCE97D-E3E9-5F01-4094-17FF0005381B}"/>
              </a:ext>
            </a:extLst>
          </p:cNvPr>
          <p:cNvSpPr/>
          <p:nvPr/>
        </p:nvSpPr>
        <p:spPr>
          <a:xfrm>
            <a:off x="4743265" y="3772072"/>
            <a:ext cx="1783075" cy="9702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C72C952-38E8-B305-DABE-D7D5CCE78405}"/>
              </a:ext>
            </a:extLst>
          </p:cNvPr>
          <p:cNvSpPr txBox="1"/>
          <p:nvPr/>
        </p:nvSpPr>
        <p:spPr>
          <a:xfrm>
            <a:off x="7344729" y="4536683"/>
            <a:ext cx="4371626" cy="135197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왼쪽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– W/2 = 15 - 18/2 = 6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오른쪽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X + W/2 = 15 + 18/2 = 24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  위쪽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– H/2 = 15 – 12/2 = 9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박스 아래쪽 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 Y + H/2 = 15 + 12/2 = 21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75E4ADAA-A8CD-BB1C-DFED-FC90BB8FE5DB}"/>
              </a:ext>
            </a:extLst>
          </p:cNvPr>
          <p:cNvCxnSpPr/>
          <p:nvPr/>
        </p:nvCxnSpPr>
        <p:spPr>
          <a:xfrm>
            <a:off x="6526340" y="3772072"/>
            <a:ext cx="818389" cy="764611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EE208B33-39A5-58FE-6711-8068A434BC15}"/>
              </a:ext>
            </a:extLst>
          </p:cNvPr>
          <p:cNvCxnSpPr>
            <a:cxnSpLocks/>
          </p:cNvCxnSpPr>
          <p:nvPr/>
        </p:nvCxnSpPr>
        <p:spPr>
          <a:xfrm>
            <a:off x="6526340" y="4742352"/>
            <a:ext cx="818389" cy="1146304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453FC2DC-7B49-3440-6687-ACAC6260105D}"/>
              </a:ext>
            </a:extLst>
          </p:cNvPr>
          <p:cNvSpPr txBox="1"/>
          <p:nvPr/>
        </p:nvSpPr>
        <p:spPr>
          <a:xfrm>
            <a:off x="1765358" y="5817739"/>
            <a:ext cx="1153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(9 by 9)</a:t>
            </a:r>
            <a:endParaRPr lang="ko-KR" altLang="en-US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E32B1FF-F8CB-DF63-9C05-E3BE4773286F}"/>
              </a:ext>
            </a:extLst>
          </p:cNvPr>
          <p:cNvSpPr txBox="1"/>
          <p:nvPr/>
        </p:nvSpPr>
        <p:spPr>
          <a:xfrm>
            <a:off x="4827918" y="5759538"/>
            <a:ext cx="16137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(30 by 30)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3832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FC0956-2267-AA70-ECAA-20AC1CE3B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4369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9775</TotalTime>
  <Words>1707</Words>
  <Application>Microsoft Office PowerPoint</Application>
  <PresentationFormat>와이드스크린</PresentationFormat>
  <Paragraphs>297</Paragraphs>
  <Slides>19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7" baseType="lpstr">
      <vt:lpstr>D2Coding</vt:lpstr>
      <vt:lpstr>맑은 고딕</vt:lpstr>
      <vt:lpstr>바탕</vt:lpstr>
      <vt:lpstr>Arial</vt:lpstr>
      <vt:lpstr>Cambria Math</vt:lpstr>
      <vt:lpstr>Segoe UI</vt:lpstr>
      <vt:lpstr>Wingdings</vt:lpstr>
      <vt:lpstr>WelcomeDoc</vt:lpstr>
      <vt:lpstr>Object detection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135</cp:revision>
  <dcterms:created xsi:type="dcterms:W3CDTF">2026-04-06T01:00:39Z</dcterms:created>
  <dcterms:modified xsi:type="dcterms:W3CDTF">2026-06-28T15:09:43Z</dcterms:modified>
  <cp:version/>
</cp:coreProperties>
</file>