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handoutMasterIdLst>
    <p:handoutMasterId r:id="rId21"/>
  </p:handoutMasterIdLst>
  <p:sldIdLst>
    <p:sldId id="256" r:id="rId2"/>
    <p:sldId id="1122" r:id="rId3"/>
    <p:sldId id="1134" r:id="rId4"/>
    <p:sldId id="1135" r:id="rId5"/>
    <p:sldId id="1132" r:id="rId6"/>
    <p:sldId id="1136" r:id="rId7"/>
    <p:sldId id="1133" r:id="rId8"/>
    <p:sldId id="1125" r:id="rId9"/>
    <p:sldId id="1127" r:id="rId10"/>
    <p:sldId id="1128" r:id="rId11"/>
    <p:sldId id="1123" r:id="rId12"/>
    <p:sldId id="1130" r:id="rId13"/>
    <p:sldId id="1131" r:id="rId14"/>
    <p:sldId id="1137" r:id="rId15"/>
    <p:sldId id="1138" r:id="rId16"/>
    <p:sldId id="1129" r:id="rId17"/>
    <p:sldId id="978" r:id="rId18"/>
    <p:sldId id="1121" r:id="rId19"/>
  </p:sldIdLst>
  <p:sldSz cx="12192000" cy="6858000"/>
  <p:notesSz cx="6858000" cy="9144000"/>
  <p:defaultTextStyle>
    <a:defPPr rtl="0">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감사합니다." id="{E75E278A-FF0E-49A4-B170-79828D63BBAD}">
          <p14:sldIdLst>
            <p14:sldId id="256"/>
          </p14:sldIdLst>
        </p14:section>
        <p14:section name="디자인, 모핑, 주석 달기, 공동 작업, 입력하세요" id="{B9B51309-D148-4332-87C2-07BE32FBCA3B}">
          <p14:sldIdLst>
            <p14:sldId id="1122"/>
            <p14:sldId id="1134"/>
            <p14:sldId id="1135"/>
            <p14:sldId id="1132"/>
            <p14:sldId id="1136"/>
            <p14:sldId id="1133"/>
            <p14:sldId id="1125"/>
            <p14:sldId id="1127"/>
            <p14:sldId id="1128"/>
            <p14:sldId id="1123"/>
            <p14:sldId id="1130"/>
            <p14:sldId id="1131"/>
            <p14:sldId id="1137"/>
            <p14:sldId id="1138"/>
            <p14:sldId id="1129"/>
            <p14:sldId id="978"/>
            <p14:sldId id="1121"/>
          </p14:sldIdLst>
        </p14:section>
        <p14:section name="자세한 정보"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만든 이" initials="오전"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E3FF"/>
    <a:srgbClr val="FF9B45"/>
    <a:srgbClr val="DD462F"/>
    <a:srgbClr val="D24726"/>
    <a:srgbClr val="404040"/>
    <a:srgbClr val="F8CFB6"/>
    <a:srgbClr val="F8CAB6"/>
    <a:srgbClr val="923922"/>
    <a:srgbClr val="F5F5F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62" autoAdjust="0"/>
    <p:restoredTop sz="94297" autoAdjust="0"/>
  </p:normalViewPr>
  <p:slideViewPr>
    <p:cSldViewPr snapToGrid="0">
      <p:cViewPr>
        <p:scale>
          <a:sx n="75" d="100"/>
          <a:sy n="75" d="100"/>
        </p:scale>
        <p:origin x="1066" y="168"/>
      </p:cViewPr>
      <p:guideLst>
        <p:guide orient="horz" pos="2160"/>
        <p:guide pos="3840"/>
      </p:guideLst>
    </p:cSldViewPr>
  </p:slideViewPr>
  <p:outlineViewPr>
    <p:cViewPr>
      <p:scale>
        <a:sx n="33" d="100"/>
        <a:sy n="33" d="100"/>
      </p:scale>
      <p:origin x="0" y="-59582"/>
    </p:cViewPr>
  </p:outlineViewPr>
  <p:notesTextViewPr>
    <p:cViewPr>
      <p:scale>
        <a:sx n="3" d="2"/>
        <a:sy n="3" d="2"/>
      </p:scale>
      <p:origin x="0" y="0"/>
    </p:cViewPr>
  </p:notesTextViewPr>
  <p:sorterViewPr>
    <p:cViewPr varScale="1">
      <p:scale>
        <a:sx n="1" d="1"/>
        <a:sy n="1" d="1"/>
      </p:scale>
      <p:origin x="0" y="-1392"/>
    </p:cViewPr>
  </p:sorterViewPr>
  <p:notesViewPr>
    <p:cSldViewPr snapToGrid="0">
      <p:cViewPr varScale="1">
        <p:scale>
          <a:sx n="104" d="100"/>
          <a:sy n="104" d="100"/>
        </p:scale>
        <p:origin x="460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ko-KR" altLang="en-US">
              <a:latin typeface="맑은 고딕" panose="020B0503020000020004" pitchFamily="50" charset="-127"/>
              <a:ea typeface="맑은 고딕" panose="020B0503020000020004" pitchFamily="50" charset="-127"/>
            </a:endParaRPr>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059DE-6CD5-4C59-8233-088CE5808E67}" type="datetime1">
              <a:rPr lang="ko-KR" altLang="en-US" smtClean="0">
                <a:latin typeface="맑은 고딕" panose="020B0503020000020004" pitchFamily="50" charset="-127"/>
                <a:ea typeface="맑은 고딕" panose="020B0503020000020004" pitchFamily="50" charset="-127"/>
              </a:rPr>
              <a:t>2026-06-30</a:t>
            </a:fld>
            <a:endParaRPr lang="ko-KR" altLang="en-US">
              <a:latin typeface="맑은 고딕" panose="020B0503020000020004" pitchFamily="50" charset="-127"/>
              <a:ea typeface="맑은 고딕" panose="020B0503020000020004" pitchFamily="50" charset="-127"/>
            </a:endParaRPr>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ko-KR" altLang="en-US">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en-US" altLang="ko-KR" smtClean="0">
                <a:latin typeface="맑은 고딕" panose="020B0503020000020004" pitchFamily="50" charset="-127"/>
                <a:ea typeface="맑은 고딕" panose="020B0503020000020004" pitchFamily="50" charset="-127"/>
              </a:rPr>
              <a:t>‹#›</a:t>
            </a:fld>
            <a:endParaRPr lang="ko-KR" altLang="en-US">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맑은 고딕" panose="020B0503020000020004" pitchFamily="50" charset="-127"/>
                <a:ea typeface="맑은 고딕" panose="020B0503020000020004" pitchFamily="50" charset="-127"/>
              </a:defRPr>
            </a:lvl1pPr>
          </a:lstStyle>
          <a:p>
            <a:endParaRPr lang="ko-KR" altLang="en-US" noProof="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맑은 고딕" panose="020B0503020000020004" pitchFamily="50" charset="-127"/>
                <a:ea typeface="맑은 고딕" panose="020B0503020000020004" pitchFamily="50" charset="-127"/>
              </a:defRPr>
            </a:lvl1pPr>
          </a:lstStyle>
          <a:p>
            <a:fld id="{43E1C3DD-4A19-441D-907C-380838DB51C4}" type="datetime1">
              <a:rPr lang="ko-KR" altLang="en-US" noProof="0" smtClean="0"/>
              <a:t>2026-06-30</a:t>
            </a:fld>
            <a:endParaRPr lang="ko-KR" altLang="en-US" noProof="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ko-KR" altLang="en-US" noProof="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ko-KR" altLang="en-US" noProof="0" dirty="0"/>
              <a:t>마스터 텍스트 스타일을 편집하려면 클릭하세요</a:t>
            </a:r>
            <a:r>
              <a:rPr lang="en-US" altLang="ko-KR" noProof="0" dirty="0"/>
              <a:t>.</a:t>
            </a:r>
          </a:p>
          <a:p>
            <a:pPr lvl="1" rtl="0"/>
            <a:r>
              <a:rPr lang="ko-KR" altLang="en-US" noProof="0" dirty="0"/>
              <a:t>둘째 수준</a:t>
            </a:r>
          </a:p>
          <a:p>
            <a:pPr lvl="2" rtl="0"/>
            <a:r>
              <a:rPr lang="ko-KR" altLang="en-US" noProof="0" dirty="0"/>
              <a:t>셋째 수준</a:t>
            </a:r>
          </a:p>
          <a:p>
            <a:pPr lvl="3" rtl="0"/>
            <a:r>
              <a:rPr lang="ko-KR" altLang="en-US" noProof="0" dirty="0"/>
              <a:t>넷째 수준</a:t>
            </a:r>
          </a:p>
          <a:p>
            <a:pPr lvl="4" rtl="0"/>
            <a:r>
              <a:rPr lang="ko-KR" altLang="en-US" noProof="0" dirty="0"/>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맑은 고딕" panose="020B0503020000020004" pitchFamily="50" charset="-127"/>
                <a:ea typeface="맑은 고딕" panose="020B0503020000020004" pitchFamily="50" charset="-127"/>
              </a:defRPr>
            </a:lvl1pPr>
          </a:lstStyle>
          <a:p>
            <a:endParaRPr lang="ko-KR" altLang="en-US" noProof="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맑은 고딕" panose="020B0503020000020004" pitchFamily="50" charset="-127"/>
                <a:ea typeface="맑은 고딕" panose="020B0503020000020004" pitchFamily="50" charset="-127"/>
              </a:defRPr>
            </a:lvl1pPr>
          </a:lstStyle>
          <a:p>
            <a:fld id="{DF61EA0F-A667-4B49-8422-0062BC55E249}" type="slidenum">
              <a:rPr lang="en-US" altLang="ko-KR" noProof="0" smtClean="0"/>
              <a:pPr/>
              <a:t>‹#›</a:t>
            </a:fld>
            <a:endParaRPr lang="ko-KR" altLang="en-US" noProof="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1pPr>
    <a:lvl2pPr marL="4572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2pPr>
    <a:lvl3pPr marL="9144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3pPr>
    <a:lvl4pPr marL="13716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4pPr>
    <a:lvl5pPr marL="1828800" algn="l" defTabSz="914400" rtl="0" eaLnBrk="1" latinLnBrk="0" hangingPunct="1">
      <a:defRPr sz="1200" kern="1200">
        <a:solidFill>
          <a:schemeClr val="tx1"/>
        </a:solidFill>
        <a:latin typeface="맑은 고딕" panose="020B0503020000020004" pitchFamily="50" charset="-127"/>
        <a:ea typeface="맑은 고딕" panose="020B0503020000020004" pitchFamily="50"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sp>
      <p:sp>
        <p:nvSpPr>
          <p:cNvPr id="3" name="슬라이드 노트 개체 틀 2"/>
          <p:cNvSpPr>
            <a:spLocks noGrp="1"/>
          </p:cNvSpPr>
          <p:nvPr>
            <p:ph type="body" idx="1"/>
          </p:nvPr>
        </p:nvSpPr>
        <p:spPr/>
        <p:txBody>
          <a:bodyPr rtlCol="0"/>
          <a:lstStyle/>
          <a:p>
            <a:pPr rtl="0"/>
            <a:endParaRPr lang="ko-KR" altLang="en-US">
              <a:latin typeface="맑은 고딕" panose="020B0503020000020004" pitchFamily="50" charset="-127"/>
              <a:ea typeface="맑은 고딕" panose="020B0503020000020004" pitchFamily="50" charset="-127"/>
            </a:endParaRPr>
          </a:p>
        </p:txBody>
      </p:sp>
      <p:sp>
        <p:nvSpPr>
          <p:cNvPr id="4" name="슬라이드 번호 개체 틀 3"/>
          <p:cNvSpPr>
            <a:spLocks noGrp="1"/>
          </p:cNvSpPr>
          <p:nvPr>
            <p:ph type="sldNum" sz="quarter" idx="10"/>
          </p:nvPr>
        </p:nvSpPr>
        <p:spPr/>
        <p:txBody>
          <a:bodyPr rtlCol="0"/>
          <a:lstStyle/>
          <a:p>
            <a:pPr rtl="0"/>
            <a:fld id="{DF61EA0F-A667-4B49-8422-0062BC55E249}" type="slidenum">
              <a:rPr lang="en-US" altLang="ko-KR" smtClean="0">
                <a:latin typeface="맑은 고딕" panose="020B0503020000020004" pitchFamily="50" charset="-127"/>
                <a:ea typeface="맑은 고딕" panose="020B0503020000020004" pitchFamily="50" charset="-127"/>
              </a:rPr>
              <a:t>1</a:t>
            </a:fld>
            <a:endParaRPr lang="ko-KR" altLang="en-US">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DF61EA0F-A667-4B49-8422-0062BC55E249}" type="slidenum">
              <a:rPr lang="en-US" altLang="ko-KR" noProof="0" smtClean="0"/>
              <a:pPr/>
              <a:t>9</a:t>
            </a:fld>
            <a:endParaRPr lang="ko-KR" altLang="en-US" noProof="0"/>
          </a:p>
        </p:txBody>
      </p:sp>
    </p:spTree>
    <p:extLst>
      <p:ext uri="{BB962C8B-B14F-4D97-AF65-F5344CB8AC3E}">
        <p14:creationId xmlns:p14="http://schemas.microsoft.com/office/powerpoint/2010/main" val="3079282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7" name="직사각형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2" name="제목 1"/>
          <p:cNvSpPr>
            <a:spLocks noGrp="1"/>
          </p:cNvSpPr>
          <p:nvPr>
            <p:ph type="title"/>
          </p:nvPr>
        </p:nvSpPr>
        <p:spPr/>
        <p:txBody>
          <a:bodyPr rtlCol="0"/>
          <a:lstStyle>
            <a:lvl1pPr>
              <a:defRPr>
                <a:latin typeface="맑은 고딕" panose="020B0503020000020004" pitchFamily="50" charset="-127"/>
                <a:ea typeface="맑은 고딕" panose="020B0503020000020004" pitchFamily="50" charset="-127"/>
              </a:defRPr>
            </a:lvl1pPr>
          </a:lstStyle>
          <a:p>
            <a:pPr rtl="0"/>
            <a:r>
              <a:rPr lang="ko-KR" altLang="en-US" noProof="0"/>
              <a:t>마스터 제목 스타일 편집</a:t>
            </a:r>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9" name="직사각형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ko-KR" altLang="en-US" sz="1800" noProof="0">
              <a:latin typeface="맑은 고딕" panose="020B0503020000020004" pitchFamily="50" charset="-127"/>
              <a:ea typeface="맑은 고딕" panose="020B0503020000020004" pitchFamily="50" charset="-127"/>
            </a:endParaRPr>
          </a:p>
        </p:txBody>
      </p:sp>
      <p:cxnSp>
        <p:nvCxnSpPr>
          <p:cNvPr id="12" name="직선 연결선(S)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제목 3"/>
          <p:cNvSpPr>
            <a:spLocks noGrp="1"/>
          </p:cNvSpPr>
          <p:nvPr>
            <p:ph type="title"/>
          </p:nvPr>
        </p:nvSpPr>
        <p:spPr>
          <a:xfrm>
            <a:off x="521207" y="448056"/>
            <a:ext cx="6877119" cy="640080"/>
          </a:xfrm>
        </p:spPr>
        <p:txBody>
          <a:bodyPr rtlCol="0" anchor="b" anchorCtr="0">
            <a:normAutofit/>
          </a:bodyPr>
          <a:lstStyle>
            <a:lvl1pPr>
              <a:defRPr sz="2800">
                <a:solidFill>
                  <a:schemeClr val="bg2">
                    <a:lumMod val="25000"/>
                  </a:schemeClr>
                </a:solidFill>
                <a:latin typeface="맑은 고딕" panose="020B0503020000020004" pitchFamily="50" charset="-127"/>
                <a:ea typeface="맑은 고딕" panose="020B0503020000020004" pitchFamily="50" charset="-127"/>
              </a:defRPr>
            </a:lvl1pPr>
          </a:lstStyle>
          <a:p>
            <a:pPr rtl="0"/>
            <a:r>
              <a:rPr lang="ko-KR" altLang="en-US" noProof="0"/>
              <a:t>마스터 제목 스타일 편집</a:t>
            </a:r>
          </a:p>
        </p:txBody>
      </p:sp>
      <p:sp>
        <p:nvSpPr>
          <p:cNvPr id="3" name="내용 개체 틀 2"/>
          <p:cNvSpPr>
            <a:spLocks noGrp="1"/>
          </p:cNvSpPr>
          <p:nvPr>
            <p:ph sz="quarter" idx="10" hasCustomPrompt="1"/>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1pPr>
            <a:lvl2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2pPr>
            <a:lvl3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3pPr>
            <a:lvl4pPr>
              <a:defRPr lang="en-US" sz="1200" smtClean="0">
                <a:solidFill>
                  <a:schemeClr val="tx1">
                    <a:lumMod val="75000"/>
                    <a:lumOff val="25000"/>
                  </a:schemeClr>
                </a:solidFill>
                <a:latin typeface="맑은 고딕" panose="020B0503020000020004" pitchFamily="50" charset="-127"/>
                <a:ea typeface="맑은 고딕" panose="020B0503020000020004" pitchFamily="50" charset="-127"/>
              </a:defRPr>
            </a:lvl4pPr>
            <a:lvl5pPr>
              <a:defRPr lang="en-US" sz="1200">
                <a:solidFill>
                  <a:schemeClr val="tx1">
                    <a:lumMod val="75000"/>
                    <a:lumOff val="25000"/>
                  </a:schemeClr>
                </a:solidFill>
                <a:latin typeface="맑은 고딕" panose="020B0503020000020004" pitchFamily="50" charset="-127"/>
                <a:ea typeface="맑은 고딕" panose="020B0503020000020004" pitchFamily="50" charset="-127"/>
              </a:defRPr>
            </a:lvl5pPr>
          </a:lstStyle>
          <a:p>
            <a:pPr marL="0" lvl="0" indent="0" rtl="0">
              <a:lnSpc>
                <a:spcPct val="150000"/>
              </a:lnSpc>
              <a:spcBef>
                <a:spcPts val="1000"/>
              </a:spcBef>
              <a:spcAft>
                <a:spcPts val="1200"/>
              </a:spcAft>
              <a:buNone/>
            </a:pPr>
            <a:r>
              <a:rPr lang="ko-KR" altLang="en-US" noProof="0"/>
              <a:t>마스터 텍스트 스타일을 편집하려면 클릭하세요</a:t>
            </a:r>
            <a:r>
              <a:rPr lang="en-US" altLang="ko-KR" noProof="0"/>
              <a:t>.</a:t>
            </a:r>
          </a:p>
          <a:p>
            <a:pPr marL="0" lvl="1" indent="0" rtl="0">
              <a:lnSpc>
                <a:spcPct val="150000"/>
              </a:lnSpc>
              <a:spcBef>
                <a:spcPts val="1000"/>
              </a:spcBef>
              <a:spcAft>
                <a:spcPts val="1200"/>
              </a:spcAft>
              <a:buNone/>
            </a:pPr>
            <a:r>
              <a:rPr lang="ko-KR" altLang="en-US" noProof="0"/>
              <a:t>둘째 수준</a:t>
            </a:r>
          </a:p>
          <a:p>
            <a:pPr marL="0" lvl="2" indent="0" rtl="0">
              <a:lnSpc>
                <a:spcPct val="150000"/>
              </a:lnSpc>
              <a:spcBef>
                <a:spcPts val="1000"/>
              </a:spcBef>
              <a:spcAft>
                <a:spcPts val="1200"/>
              </a:spcAft>
              <a:buNone/>
            </a:pPr>
            <a:r>
              <a:rPr lang="ko-KR" altLang="en-US" noProof="0"/>
              <a:t>셋째 수준</a:t>
            </a:r>
          </a:p>
          <a:p>
            <a:pPr marL="0" lvl="3" indent="0" rtl="0">
              <a:lnSpc>
                <a:spcPct val="150000"/>
              </a:lnSpc>
              <a:spcBef>
                <a:spcPts val="1000"/>
              </a:spcBef>
              <a:spcAft>
                <a:spcPts val="1200"/>
              </a:spcAft>
              <a:buNone/>
            </a:pPr>
            <a:r>
              <a:rPr lang="ko-KR" altLang="en-US" noProof="0"/>
              <a:t>넷째 수준</a:t>
            </a:r>
          </a:p>
          <a:p>
            <a:pPr marL="0" lvl="4" indent="0" rtl="0">
              <a:lnSpc>
                <a:spcPct val="150000"/>
              </a:lnSpc>
              <a:spcBef>
                <a:spcPts val="1000"/>
              </a:spcBef>
              <a:spcAft>
                <a:spcPts val="1200"/>
              </a:spcAft>
              <a:buNone/>
            </a:pPr>
            <a:r>
              <a:rPr lang="ko-KR" altLang="en-US" noProof="0"/>
              <a:t>다섯째 수준</a:t>
            </a:r>
          </a:p>
        </p:txBody>
      </p:sp>
      <p:sp>
        <p:nvSpPr>
          <p:cNvPr id="6" name="날짜 개체 틀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990475B5-67CA-4281-BDCA-DA943C3C8EB3}" type="datetime1">
              <a:rPr lang="ko-KR" altLang="en-US" noProof="0" smtClean="0"/>
              <a:t>2026-06-30</a:t>
            </a:fld>
            <a:endParaRPr lang="ko-KR" altLang="en-US" noProof="0"/>
          </a:p>
        </p:txBody>
      </p:sp>
      <p:sp>
        <p:nvSpPr>
          <p:cNvPr id="7" name="바닥글 개체 틀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endParaRPr lang="ko-KR" altLang="en-US" noProof="0"/>
          </a:p>
        </p:txBody>
      </p:sp>
      <p:sp>
        <p:nvSpPr>
          <p:cNvPr id="8" name="슬라이드 번호 개체 틀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9860EDB8-5305-433F-BE41-D7A86D811DB3}" type="slidenum">
              <a:rPr lang="en-US" altLang="ko-KR" noProof="0" smtClean="0"/>
              <a:pPr/>
              <a:t>‹#›</a:t>
            </a:fld>
            <a:endParaRPr lang="ko-KR" altLang="en-US" noProof="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9" name="직사각형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10" name="직사각형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2" name="제목 1"/>
          <p:cNvSpPr>
            <a:spLocks noGrp="1"/>
          </p:cNvSpPr>
          <p:nvPr>
            <p:ph type="title"/>
          </p:nvPr>
        </p:nvSpPr>
        <p:spPr>
          <a:xfrm>
            <a:off x="521208" y="1536192"/>
            <a:ext cx="6876288" cy="640080"/>
          </a:xfrm>
        </p:spPr>
        <p:txBody>
          <a:bodyPr rtlCol="0">
            <a:normAutofit/>
          </a:bodyPr>
          <a:lstStyle>
            <a:lvl1pPr>
              <a:defRPr sz="3600">
                <a:solidFill>
                  <a:schemeClr val="bg1"/>
                </a:solidFill>
                <a:latin typeface="맑은 고딕" panose="020B0503020000020004" pitchFamily="50" charset="-127"/>
                <a:ea typeface="맑은 고딕" panose="020B0503020000020004" pitchFamily="50" charset="-127"/>
              </a:defRPr>
            </a:lvl1pPr>
          </a:lstStyle>
          <a:p>
            <a:pPr rtl="0"/>
            <a:r>
              <a:rPr lang="ko-KR" altLang="en-US" noProof="0"/>
              <a:t>마스터 제목 스타일 편집</a:t>
            </a:r>
          </a:p>
        </p:txBody>
      </p:sp>
      <p:sp>
        <p:nvSpPr>
          <p:cNvPr id="7" name="내용 개체 틀 6"/>
          <p:cNvSpPr>
            <a:spLocks noGrp="1"/>
          </p:cNvSpPr>
          <p:nvPr>
            <p:ph sz="quarter" idx="13" hasCustomPrompt="1"/>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맑은 고딕" panose="020B0503020000020004" pitchFamily="50" charset="-127"/>
                <a:ea typeface="맑은 고딕" panose="020B0503020000020004" pitchFamily="50" charset="-127"/>
              </a:defRPr>
            </a:lvl1pPr>
            <a:lvl2pPr>
              <a:defRPr lang="en-US" sz="1200" dirty="0" smtClean="0">
                <a:solidFill>
                  <a:schemeClr val="tx1">
                    <a:lumMod val="75000"/>
                    <a:lumOff val="25000"/>
                  </a:schemeClr>
                </a:solidFill>
                <a:latin typeface="맑은 고딕" panose="020B0503020000020004" pitchFamily="50" charset="-127"/>
                <a:ea typeface="맑은 고딕" panose="020B0503020000020004" pitchFamily="50" charset="-127"/>
              </a:defRPr>
            </a:lvl2pPr>
            <a:lvl3pPr>
              <a:defRPr lang="en-US" sz="1200" dirty="0" smtClean="0">
                <a:solidFill>
                  <a:schemeClr val="tx1">
                    <a:lumMod val="75000"/>
                    <a:lumOff val="25000"/>
                  </a:schemeClr>
                </a:solidFill>
                <a:latin typeface="맑은 고딕" panose="020B0503020000020004" pitchFamily="50" charset="-127"/>
                <a:ea typeface="맑은 고딕" panose="020B0503020000020004" pitchFamily="50" charset="-127"/>
              </a:defRPr>
            </a:lvl3pPr>
            <a:lvl4pPr>
              <a:defRPr lang="en-US" sz="1200" dirty="0" smtClean="0">
                <a:solidFill>
                  <a:schemeClr val="tx1">
                    <a:lumMod val="75000"/>
                    <a:lumOff val="25000"/>
                  </a:schemeClr>
                </a:solidFill>
                <a:latin typeface="맑은 고딕" panose="020B0503020000020004" pitchFamily="50" charset="-127"/>
                <a:ea typeface="맑은 고딕" panose="020B0503020000020004" pitchFamily="50" charset="-127"/>
              </a:defRPr>
            </a:lvl4pPr>
            <a:lvl5pPr>
              <a:defRPr lang="en-US" sz="1200" dirty="0">
                <a:solidFill>
                  <a:schemeClr val="tx1">
                    <a:lumMod val="75000"/>
                    <a:lumOff val="25000"/>
                  </a:schemeClr>
                </a:solidFill>
                <a:latin typeface="맑은 고딕" panose="020B0503020000020004" pitchFamily="50" charset="-127"/>
                <a:ea typeface="맑은 고딕" panose="020B0503020000020004" pitchFamily="50" charset="-127"/>
              </a:defRPr>
            </a:lvl5pPr>
          </a:lstStyle>
          <a:p>
            <a:pPr marL="0" lvl="0" indent="0" rtl="0">
              <a:lnSpc>
                <a:spcPct val="150000"/>
              </a:lnSpc>
              <a:spcBef>
                <a:spcPts val="1000"/>
              </a:spcBef>
              <a:spcAft>
                <a:spcPts val="1200"/>
              </a:spcAft>
              <a:buNone/>
            </a:pPr>
            <a:r>
              <a:rPr lang="ko-KR" altLang="en-US" noProof="0"/>
              <a:t>마스터 텍스트 스타일을 편집하려면 클릭하세요</a:t>
            </a:r>
            <a:r>
              <a:rPr lang="en-US" altLang="ko-KR" noProof="0"/>
              <a:t>.</a:t>
            </a:r>
          </a:p>
          <a:p>
            <a:pPr marL="0" lvl="1" indent="0" rtl="0">
              <a:lnSpc>
                <a:spcPct val="150000"/>
              </a:lnSpc>
              <a:spcBef>
                <a:spcPts val="1000"/>
              </a:spcBef>
              <a:spcAft>
                <a:spcPts val="1200"/>
              </a:spcAft>
              <a:buNone/>
            </a:pPr>
            <a:r>
              <a:rPr lang="ko-KR" altLang="en-US" noProof="0"/>
              <a:t>둘째 수준</a:t>
            </a:r>
          </a:p>
          <a:p>
            <a:pPr marL="0" lvl="2" indent="0" rtl="0">
              <a:lnSpc>
                <a:spcPct val="150000"/>
              </a:lnSpc>
              <a:spcBef>
                <a:spcPts val="1000"/>
              </a:spcBef>
              <a:spcAft>
                <a:spcPts val="1200"/>
              </a:spcAft>
              <a:buNone/>
            </a:pPr>
            <a:r>
              <a:rPr lang="ko-KR" altLang="en-US" noProof="0"/>
              <a:t>셋째 수준</a:t>
            </a:r>
          </a:p>
          <a:p>
            <a:pPr marL="0" lvl="3" indent="0" rtl="0">
              <a:lnSpc>
                <a:spcPct val="150000"/>
              </a:lnSpc>
              <a:spcBef>
                <a:spcPts val="1000"/>
              </a:spcBef>
              <a:spcAft>
                <a:spcPts val="1200"/>
              </a:spcAft>
              <a:buNone/>
            </a:pPr>
            <a:r>
              <a:rPr lang="ko-KR" altLang="en-US" noProof="0"/>
              <a:t>넷째 수준</a:t>
            </a:r>
          </a:p>
          <a:p>
            <a:pPr marL="0" lvl="4" indent="0" rtl="0">
              <a:lnSpc>
                <a:spcPct val="150000"/>
              </a:lnSpc>
              <a:spcBef>
                <a:spcPts val="1000"/>
              </a:spcBef>
              <a:spcAft>
                <a:spcPts val="1200"/>
              </a:spcAft>
              <a:buNone/>
            </a:pPr>
            <a:r>
              <a:rPr lang="ko-KR" altLang="en-US" noProof="0"/>
              <a:t>다섯째 수준</a:t>
            </a:r>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2_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913795" y="139083"/>
            <a:ext cx="10353762" cy="766439"/>
          </a:xfrm>
        </p:spPr>
        <p:txBody>
          <a:bodyPr rtlCol="0">
            <a:normAutofit/>
          </a:bodyPr>
          <a:lstStyle>
            <a:lvl1pPr>
              <a:defRPr sz="3200">
                <a:latin typeface="Batang" panose="02030600000101010101" pitchFamily="18" charset="-127"/>
                <a:ea typeface="Batang" panose="02030600000101010101" pitchFamily="18" charset="-127"/>
              </a:defRPr>
            </a:lvl1pPr>
          </a:lstStyle>
          <a:p>
            <a:pPr rtl="0"/>
            <a:r>
              <a:rPr lang="ko-KR" altLang="en-US"/>
              <a:t>마스터 제목 스타일 편집</a:t>
            </a:r>
            <a:endParaRPr lang="en-US" dirty="0"/>
          </a:p>
        </p:txBody>
      </p:sp>
      <p:sp>
        <p:nvSpPr>
          <p:cNvPr id="3" name="내용 개체 틀 2"/>
          <p:cNvSpPr>
            <a:spLocks noGrp="1"/>
          </p:cNvSpPr>
          <p:nvPr>
            <p:ph idx="1"/>
          </p:nvPr>
        </p:nvSpPr>
        <p:spPr>
          <a:xfrm>
            <a:off x="913795" y="1127464"/>
            <a:ext cx="10353762" cy="4663735"/>
          </a:xfrm>
        </p:spPr>
        <p:txBody>
          <a:bodyPr rtlCol="0"/>
          <a:lstStyle>
            <a:lvl1pPr>
              <a:defRPr>
                <a:latin typeface="Batang" panose="02030600000101010101" pitchFamily="18" charset="-127"/>
                <a:ea typeface="Batang" panose="02030600000101010101" pitchFamily="18" charset="-127"/>
              </a:defRPr>
            </a:lvl1pPr>
            <a:lvl2pPr>
              <a:defRPr>
                <a:latin typeface="Batang" panose="02030600000101010101" pitchFamily="18" charset="-127"/>
                <a:ea typeface="Batang" panose="02030600000101010101" pitchFamily="18" charset="-127"/>
              </a:defRPr>
            </a:lvl2pPr>
            <a:lvl3pPr>
              <a:defRPr>
                <a:latin typeface="Batang" panose="02030600000101010101" pitchFamily="18" charset="-127"/>
                <a:ea typeface="Batang" panose="02030600000101010101" pitchFamily="18" charset="-127"/>
              </a:defRPr>
            </a:lvl3pPr>
            <a:lvl4pPr>
              <a:defRPr>
                <a:latin typeface="Batang" panose="02030600000101010101" pitchFamily="18" charset="-127"/>
                <a:ea typeface="Batang" panose="02030600000101010101" pitchFamily="18" charset="-127"/>
              </a:defRPr>
            </a:lvl4pPr>
            <a:lvl5pPr>
              <a:defRPr>
                <a:latin typeface="Batang" panose="02030600000101010101" pitchFamily="18" charset="-127"/>
                <a:ea typeface="Batang" panose="02030600000101010101" pitchFamily="18" charset="-127"/>
              </a:defRPr>
            </a:lvl5pPr>
          </a:lstStyle>
          <a:p>
            <a:pPr lvl="0" rtl="0"/>
            <a:r>
              <a:rPr lang="ko-KR" altLang="en-US" dirty="0"/>
              <a:t>마스터 텍스트 스타일을 편집하려면 클릭</a:t>
            </a:r>
          </a:p>
          <a:p>
            <a:pPr lvl="1" rtl="0"/>
            <a:r>
              <a:rPr lang="ko-KR" altLang="en-US" dirty="0"/>
              <a:t>두 번째 수준</a:t>
            </a:r>
          </a:p>
          <a:p>
            <a:pPr lvl="2" rtl="0"/>
            <a:r>
              <a:rPr lang="ko-KR" altLang="en-US" dirty="0"/>
              <a:t>세 번째 수준</a:t>
            </a:r>
          </a:p>
          <a:p>
            <a:pPr lvl="3" rtl="0"/>
            <a:r>
              <a:rPr lang="ko-KR" altLang="en-US" dirty="0"/>
              <a:t>네 번째 수준</a:t>
            </a:r>
          </a:p>
          <a:p>
            <a:pPr lvl="4" rtl="0"/>
            <a:r>
              <a:rPr lang="ko-KR" altLang="en-US" dirty="0"/>
              <a:t>다섯 번째 수준</a:t>
            </a:r>
            <a:endParaRPr lang="en-US" dirty="0"/>
          </a:p>
        </p:txBody>
      </p:sp>
      <p:pic>
        <p:nvPicPr>
          <p:cNvPr id="11" name="그림 10">
            <a:extLst>
              <a:ext uri="{FF2B5EF4-FFF2-40B4-BE49-F238E27FC236}">
                <a16:creationId xmlns:a16="http://schemas.microsoft.com/office/drawing/2014/main" id="{B4745536-17E2-EEF7-D107-B4146DE21417}"/>
              </a:ext>
            </a:extLst>
          </p:cNvPr>
          <p:cNvPicPr>
            <a:picLocks noChangeAspect="1"/>
          </p:cNvPicPr>
          <p:nvPr userDrawn="1"/>
        </p:nvPicPr>
        <p:blipFill>
          <a:blip r:embed="rId2"/>
          <a:stretch>
            <a:fillRect/>
          </a:stretch>
        </p:blipFill>
        <p:spPr>
          <a:xfrm>
            <a:off x="105924" y="6365874"/>
            <a:ext cx="355393" cy="393576"/>
          </a:xfrm>
          <a:prstGeom prst="rect">
            <a:avLst/>
          </a:prstGeom>
        </p:spPr>
      </p:pic>
      <p:sp>
        <p:nvSpPr>
          <p:cNvPr id="4" name="Date Placeholder 4">
            <a:extLst>
              <a:ext uri="{FF2B5EF4-FFF2-40B4-BE49-F238E27FC236}">
                <a16:creationId xmlns:a16="http://schemas.microsoft.com/office/drawing/2014/main" id="{3AC7079E-4A2B-916C-C464-65DEFE434184}"/>
              </a:ext>
            </a:extLst>
          </p:cNvPr>
          <p:cNvSpPr>
            <a:spLocks noGrp="1"/>
          </p:cNvSpPr>
          <p:nvPr>
            <p:ph type="dt" sz="half" idx="10"/>
          </p:nvPr>
        </p:nvSpPr>
        <p:spPr>
          <a:xfrm>
            <a:off x="7678737" y="6198235"/>
            <a:ext cx="2743200" cy="365125"/>
          </a:xfrm>
          <a:prstGeom prst="rect">
            <a:avLst/>
          </a:prstGeom>
        </p:spPr>
        <p:txBody>
          <a:bodyPr/>
          <a:lstStyle/>
          <a:p>
            <a:fld id="{48A87A34-81AB-432B-8DAE-1953F412C126}" type="datetimeFigureOut">
              <a:rPr lang="en-US" smtClean="0"/>
              <a:t>6/30/2026</a:t>
            </a:fld>
            <a:endParaRPr lang="en-US" dirty="0"/>
          </a:p>
        </p:txBody>
      </p:sp>
      <p:sp>
        <p:nvSpPr>
          <p:cNvPr id="5" name="Footer Placeholder 5">
            <a:extLst>
              <a:ext uri="{FF2B5EF4-FFF2-40B4-BE49-F238E27FC236}">
                <a16:creationId xmlns:a16="http://schemas.microsoft.com/office/drawing/2014/main" id="{A9D00E07-4D48-7C0C-4DF1-A39D6E8BB91D}"/>
              </a:ext>
            </a:extLst>
          </p:cNvPr>
          <p:cNvSpPr>
            <a:spLocks noGrp="1"/>
          </p:cNvSpPr>
          <p:nvPr>
            <p:ph type="ftr" sz="quarter" idx="11"/>
          </p:nvPr>
        </p:nvSpPr>
        <p:spPr>
          <a:xfrm>
            <a:off x="913774" y="6198235"/>
            <a:ext cx="6672887" cy="365125"/>
          </a:xfrm>
          <a:prstGeom prst="rect">
            <a:avLst/>
          </a:prstGeom>
        </p:spPr>
        <p:txBody>
          <a:bodyPr/>
          <a:lstStyle/>
          <a:p>
            <a:endParaRPr lang="en-US" dirty="0"/>
          </a:p>
        </p:txBody>
      </p:sp>
      <p:sp>
        <p:nvSpPr>
          <p:cNvPr id="6" name="Slide Number Placeholder 6">
            <a:extLst>
              <a:ext uri="{FF2B5EF4-FFF2-40B4-BE49-F238E27FC236}">
                <a16:creationId xmlns:a16="http://schemas.microsoft.com/office/drawing/2014/main" id="{1DFF8BFD-50B2-6671-09A6-3F6A70B59946}"/>
              </a:ext>
            </a:extLst>
          </p:cNvPr>
          <p:cNvSpPr>
            <a:spLocks noGrp="1"/>
          </p:cNvSpPr>
          <p:nvPr>
            <p:ph type="sldNum" sz="quarter" idx="12"/>
          </p:nvPr>
        </p:nvSpPr>
        <p:spPr>
          <a:xfrm>
            <a:off x="10514011" y="6198235"/>
            <a:ext cx="764215"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630270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직사각형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ko-KR" altLang="en-US" sz="1800" noProof="0">
              <a:latin typeface="맑은 고딕" panose="020B0503020000020004" pitchFamily="50" charset="-127"/>
              <a:ea typeface="맑은 고딕" panose="020B0503020000020004" pitchFamily="50" charset="-127"/>
            </a:endParaRPr>
          </a:p>
        </p:txBody>
      </p:sp>
      <p:sp>
        <p:nvSpPr>
          <p:cNvPr id="2" name="제목 개체 틀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pPr rtl="0"/>
            <a:r>
              <a:rPr lang="ko-KR" altLang="en-US" noProof="0"/>
              <a:t>마스터 제목 스타일 편집</a:t>
            </a:r>
          </a:p>
        </p:txBody>
      </p:sp>
      <p:sp>
        <p:nvSpPr>
          <p:cNvPr id="3" name="텍스트 개체 틀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rtl="0"/>
            <a:r>
              <a:rPr lang="ko-KR" altLang="en-US" noProof="0"/>
              <a:t>마스터 텍스트 스타일을 편집하려면 클릭하세요</a:t>
            </a:r>
            <a:r>
              <a:rPr lang="en-US" altLang="ko-KR" noProof="0"/>
              <a:t>.</a:t>
            </a:r>
          </a:p>
          <a:p>
            <a:pPr lvl="1" rtl="0"/>
            <a:r>
              <a:rPr lang="ko-KR" altLang="en-US" noProof="0"/>
              <a:t>둘째 수준</a:t>
            </a:r>
          </a:p>
          <a:p>
            <a:pPr lvl="2" rtl="0"/>
            <a:r>
              <a:rPr lang="ko-KR" altLang="en-US" noProof="0"/>
              <a:t>셋째 수준</a:t>
            </a:r>
          </a:p>
          <a:p>
            <a:pPr lvl="3" rtl="0"/>
            <a:r>
              <a:rPr lang="ko-KR" altLang="en-US" noProof="0"/>
              <a:t>넷째 수준</a:t>
            </a:r>
          </a:p>
          <a:p>
            <a:pPr lvl="4" rtl="0"/>
            <a:r>
              <a:rPr lang="ko-KR" altLang="en-US" noProof="0"/>
              <a:t>다섯째 수준</a:t>
            </a:r>
          </a:p>
        </p:txBody>
      </p:sp>
      <p:sp>
        <p:nvSpPr>
          <p:cNvPr id="4" name="날짜 개체 틀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C655C81E-72E7-4D05-94B5-F45B321A525D}" type="datetime1">
              <a:rPr lang="ko-KR" altLang="en-US" noProof="0" smtClean="0"/>
              <a:t>2026-06-30</a:t>
            </a:fld>
            <a:endParaRPr lang="ko-KR" altLang="en-US" noProof="0" dirty="0">
              <a:latin typeface="맑은 고딕" panose="020B0503020000020004" pitchFamily="50" charset="-127"/>
              <a:ea typeface="맑은 고딕" panose="020B0503020000020004" pitchFamily="50" charset="-127"/>
            </a:endParaRPr>
          </a:p>
        </p:txBody>
      </p:sp>
      <p:sp>
        <p:nvSpPr>
          <p:cNvPr id="5" name="바닥글 개체 틀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endParaRPr lang="ko-KR" altLang="en-US" noProof="0">
              <a:latin typeface="맑은 고딕" panose="020B0503020000020004" pitchFamily="50" charset="-127"/>
              <a:ea typeface="맑은 고딕" panose="020B0503020000020004" pitchFamily="50" charset="-127"/>
            </a:endParaRPr>
          </a:p>
        </p:txBody>
      </p:sp>
      <p:sp>
        <p:nvSpPr>
          <p:cNvPr id="6" name="슬라이드 번호 개체 틀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맑은 고딕" panose="020B0503020000020004" pitchFamily="50" charset="-127"/>
                <a:ea typeface="맑은 고딕" panose="020B0503020000020004" pitchFamily="50" charset="-127"/>
              </a:defRPr>
            </a:lvl1pPr>
          </a:lstStyle>
          <a:p>
            <a:fld id="{9860EDB8-5305-433F-BE41-D7A86D811DB3}" type="slidenum">
              <a:rPr lang="en-US" altLang="ko-KR" noProof="0" smtClean="0"/>
              <a:pPr/>
              <a:t>‹#›</a:t>
            </a:fld>
            <a:endParaRPr lang="ko-KR" altLang="en-US" noProof="0">
              <a:latin typeface="맑은 고딕" panose="020B0503020000020004" pitchFamily="50" charset="-127"/>
              <a:ea typeface="맑은 고딕" panose="020B0503020000020004" pitchFamily="50" charset="-127"/>
            </a:endParaRPr>
          </a:p>
        </p:txBody>
      </p:sp>
      <p:cxnSp>
        <p:nvCxnSpPr>
          <p:cNvPr id="8" name="직선 연결선(S)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Lst>
  <p:hf hdr="0" ftr="0" dt="0"/>
  <p:txStyles>
    <p:titleStyle>
      <a:lvl1pPr algn="l" defTabSz="914400" rtl="0" eaLnBrk="1" latinLnBrk="1" hangingPunct="1">
        <a:spcBef>
          <a:spcPct val="0"/>
        </a:spcBef>
        <a:buNone/>
        <a:defRPr sz="2800" kern="1200">
          <a:solidFill>
            <a:schemeClr val="tx1"/>
          </a:solidFill>
          <a:latin typeface="맑은 고딕" panose="020B0503020000020004" pitchFamily="50" charset="-127"/>
          <a:ea typeface="맑은 고딕" panose="020B0503020000020004" pitchFamily="50" charset="-127"/>
          <a:cs typeface="+mj-cs"/>
        </a:defRPr>
      </a:lvl1pPr>
    </p:titleStyle>
    <p:bodyStyle>
      <a:lvl1pPr marL="0" indent="0" algn="l" defTabSz="914400" rtl="0" eaLnBrk="1" latinLnBrk="1" hangingPunct="1">
        <a:lnSpc>
          <a:spcPct val="150000"/>
        </a:lnSpc>
        <a:spcBef>
          <a:spcPts val="1000"/>
        </a:spcBef>
        <a:spcAft>
          <a:spcPts val="1200"/>
        </a:spcAft>
        <a:buFontTx/>
        <a:buNone/>
        <a:defRPr lang="en-US" sz="1200" kern="1200" dirty="0">
          <a:solidFill>
            <a:schemeClr val="tx1"/>
          </a:solidFill>
          <a:latin typeface="맑은 고딕" panose="020B0503020000020004" pitchFamily="50" charset="-127"/>
          <a:ea typeface="맑은 고딕" panose="020B0503020000020004" pitchFamily="50" charset="-127"/>
          <a:cs typeface="+mn-cs"/>
        </a:defRPr>
      </a:lvl1pPr>
      <a:lvl2pPr marL="228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2pPr>
      <a:lvl3pPr marL="685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3pPr>
      <a:lvl4pPr marL="11430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4pPr>
      <a:lvl5pPr marL="16002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5pPr>
      <a:lvl6pPr marL="20574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1"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7.png"/><Relationship Id="rId7" Type="http://schemas.openxmlformats.org/officeDocument/2006/relationships/image" Target="../media/image120.png"/><Relationship Id="rId12" Type="http://schemas.openxmlformats.org/officeDocument/2006/relationships/image" Target="../media/image170.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10.png"/><Relationship Id="rId11" Type="http://schemas.openxmlformats.org/officeDocument/2006/relationships/image" Target="../media/image160.png"/><Relationship Id="rId5" Type="http://schemas.openxmlformats.org/officeDocument/2006/relationships/image" Target="../media/image100.png"/><Relationship Id="rId10" Type="http://schemas.openxmlformats.org/officeDocument/2006/relationships/image" Target="../media/image150.png"/><Relationship Id="rId4" Type="http://schemas.microsoft.com/office/2007/relationships/hdphoto" Target="../media/hdphoto2.wdp"/><Relationship Id="rId9" Type="http://schemas.openxmlformats.org/officeDocument/2006/relationships/image" Target="../media/image140.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9.png"/><Relationship Id="rId21" Type="http://schemas.openxmlformats.org/officeDocument/2006/relationships/image" Target="../media/image35.png"/><Relationship Id="rId7" Type="http://schemas.openxmlformats.org/officeDocument/2006/relationships/image" Target="../media/image23.png"/><Relationship Id="rId12" Type="http://schemas.microsoft.com/office/2007/relationships/hdphoto" Target="../media/hdphoto2.wdp"/><Relationship Id="rId17" Type="http://schemas.openxmlformats.org/officeDocument/2006/relationships/image" Target="../media/image31.png"/><Relationship Id="rId2" Type="http://schemas.openxmlformats.org/officeDocument/2006/relationships/image" Target="../media/image18.png"/><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22.png"/><Relationship Id="rId11" Type="http://schemas.openxmlformats.org/officeDocument/2006/relationships/image" Target="../media/image17.png"/><Relationship Id="rId24" Type="http://schemas.openxmlformats.org/officeDocument/2006/relationships/image" Target="../media/image38.png"/><Relationship Id="rId5" Type="http://schemas.openxmlformats.org/officeDocument/2006/relationships/image" Target="../media/image21.png"/><Relationship Id="rId15" Type="http://schemas.openxmlformats.org/officeDocument/2006/relationships/image" Target="../media/image29.png"/><Relationship Id="rId23" Type="http://schemas.openxmlformats.org/officeDocument/2006/relationships/image" Target="../media/image37.png"/><Relationship Id="rId10" Type="http://schemas.openxmlformats.org/officeDocument/2006/relationships/image" Target="../media/image26.png"/><Relationship Id="rId19" Type="http://schemas.openxmlformats.org/officeDocument/2006/relationships/image" Target="../media/image33.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28.png"/><Relationship Id="rId22"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9.png"/><Relationship Id="rId1" Type="http://schemas.openxmlformats.org/officeDocument/2006/relationships/slideLayout" Target="../slideLayouts/slideLayout4.xml"/><Relationship Id="rId5" Type="http://schemas.openxmlformats.org/officeDocument/2006/relationships/image" Target="../media/image40.png"/><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838200" y="1164324"/>
            <a:ext cx="10515600" cy="2387600"/>
          </a:xfrm>
        </p:spPr>
        <p:txBody>
          <a:bodyPr rtlCol="0" anchor="ctr" anchorCtr="0">
            <a:normAutofit/>
          </a:bodyPr>
          <a:lstStyle/>
          <a:p>
            <a:pPr rtl="0"/>
            <a:r>
              <a:rPr lang="en-US" altLang="ko-KR" sz="4800" dirty="0">
                <a:solidFill>
                  <a:schemeClr val="bg1"/>
                </a:solidFill>
              </a:rPr>
              <a:t>Text Classification</a:t>
            </a:r>
            <a:endParaRPr lang="ko-KR" altLang="en-US" sz="4800" dirty="0">
              <a:solidFill>
                <a:schemeClr val="bg1"/>
              </a:solidFill>
            </a:endParaRPr>
          </a:p>
        </p:txBody>
      </p:sp>
      <p:sp>
        <p:nvSpPr>
          <p:cNvPr id="3" name="부제목 2"/>
          <p:cNvSpPr>
            <a:spLocks noGrp="1"/>
          </p:cNvSpPr>
          <p:nvPr>
            <p:ph type="subTitle" idx="4294967295"/>
          </p:nvPr>
        </p:nvSpPr>
        <p:spPr>
          <a:xfrm>
            <a:off x="855620" y="2933105"/>
            <a:ext cx="9582736" cy="2210395"/>
          </a:xfrm>
        </p:spPr>
        <p:txBody>
          <a:bodyPr rtlCol="0">
            <a:normAutofit/>
          </a:bodyPr>
          <a:lstStyle/>
          <a:p>
            <a:r>
              <a:rPr lang="en-US" altLang="ko-KR" sz="2400" dirty="0">
                <a:solidFill>
                  <a:schemeClr val="bg1"/>
                </a:solidFill>
              </a:rPr>
              <a:t>RNN(Recurrent Neural Network), LSTM</a:t>
            </a:r>
            <a:endParaRPr lang="ko-KR" altLang="en-US" sz="2400" dirty="0">
              <a:solidFill>
                <a:schemeClr val="bg1"/>
              </a:solidFill>
            </a:endParaRPr>
          </a:p>
        </p:txBody>
      </p:sp>
      <p:sp>
        <p:nvSpPr>
          <p:cNvPr id="5" name="부제목 2">
            <a:extLst>
              <a:ext uri="{FF2B5EF4-FFF2-40B4-BE49-F238E27FC236}">
                <a16:creationId xmlns:a16="http://schemas.microsoft.com/office/drawing/2014/main" id="{D2A693FF-597D-D05E-69BD-7CA96D17F1CD}"/>
              </a:ext>
            </a:extLst>
          </p:cNvPr>
          <p:cNvSpPr txBox="1">
            <a:spLocks/>
          </p:cNvSpPr>
          <p:nvPr/>
        </p:nvSpPr>
        <p:spPr>
          <a:xfrm>
            <a:off x="855620" y="4555883"/>
            <a:ext cx="9582736" cy="1137793"/>
          </a:xfrm>
          <a:prstGeom prst="rect">
            <a:avLst/>
          </a:prstGeom>
        </p:spPr>
        <p:txBody>
          <a:bodyPr vert="horz" lIns="91440" tIns="45720" rIns="91440" bIns="45720" rtlCol="0">
            <a:normAutofit fontScale="85000" lnSpcReduction="20000"/>
          </a:bodyPr>
          <a:lstStyle>
            <a:lvl1pPr marL="0" indent="0" algn="l" defTabSz="914400" rtl="0" eaLnBrk="1" latinLnBrk="1" hangingPunct="1">
              <a:lnSpc>
                <a:spcPct val="150000"/>
              </a:lnSpc>
              <a:spcBef>
                <a:spcPts val="1000"/>
              </a:spcBef>
              <a:spcAft>
                <a:spcPts val="1200"/>
              </a:spcAft>
              <a:buFontTx/>
              <a:buNone/>
              <a:defRPr lang="en-US" sz="1200" kern="1200" dirty="0">
                <a:solidFill>
                  <a:schemeClr val="tx1"/>
                </a:solidFill>
                <a:latin typeface="맑은 고딕" panose="020B0503020000020004" pitchFamily="50" charset="-127"/>
                <a:ea typeface="맑은 고딕" panose="020B0503020000020004" pitchFamily="50" charset="-127"/>
                <a:cs typeface="+mn-cs"/>
              </a:defRPr>
            </a:lvl1pPr>
            <a:lvl2pPr marL="228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2pPr>
            <a:lvl3pPr marL="685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맑은 고딕" panose="020B0503020000020004" pitchFamily="50" charset="-127"/>
                <a:ea typeface="맑은 고딕" panose="020B0503020000020004" pitchFamily="50" charset="-127"/>
                <a:cs typeface="+mn-cs"/>
              </a:defRPr>
            </a:lvl3pPr>
            <a:lvl4pPr marL="11430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4pPr>
            <a:lvl5pPr marL="16002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맑은 고딕" panose="020B0503020000020004" pitchFamily="50" charset="-127"/>
                <a:ea typeface="맑은 고딕" panose="020B0503020000020004" pitchFamily="50" charset="-127"/>
                <a:cs typeface="+mn-cs"/>
              </a:defRPr>
            </a:lvl5pPr>
            <a:lvl6pPr marL="20574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1"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1"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n-US" altLang="ko-KR" sz="2400" dirty="0">
                <a:solidFill>
                  <a:schemeClr val="bg1"/>
                </a:solidFill>
              </a:rPr>
              <a:t>2026 Fall</a:t>
            </a:r>
          </a:p>
          <a:p>
            <a:r>
              <a:rPr lang="ko-KR" altLang="en-US" sz="2400" dirty="0" err="1">
                <a:solidFill>
                  <a:schemeClr val="bg1"/>
                </a:solidFill>
              </a:rPr>
              <a:t>조상구교수</a:t>
            </a:r>
            <a:endParaRPr lang="en-US" altLang="ko-KR" sz="2400" dirty="0">
              <a:solidFill>
                <a:schemeClr val="bg1"/>
              </a:solidFill>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3ECCC-4735-F731-4379-48451D093E8D}"/>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2B89856-6ED1-2640-6E74-634FDC569590}"/>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2</a:t>
            </a:fld>
            <a:endParaRPr lang="en-US" dirty="0"/>
          </a:p>
        </p:txBody>
      </p:sp>
      <p:sp>
        <p:nvSpPr>
          <p:cNvPr id="3" name="제목 1">
            <a:extLst>
              <a:ext uri="{FF2B5EF4-FFF2-40B4-BE49-F238E27FC236}">
                <a16:creationId xmlns:a16="http://schemas.microsoft.com/office/drawing/2014/main" id="{30850BA0-0F12-F065-F39D-E210B0964FC7}"/>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Telephone Game(</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말 전달하기 게임</a:t>
            </a:r>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1" name="TextBox 10">
            <a:extLst>
              <a:ext uri="{FF2B5EF4-FFF2-40B4-BE49-F238E27FC236}">
                <a16:creationId xmlns:a16="http://schemas.microsoft.com/office/drawing/2014/main" id="{DF65489D-6F2A-9B19-C55E-FAB775A3AAFD}"/>
              </a:ext>
            </a:extLst>
          </p:cNvPr>
          <p:cNvSpPr txBox="1"/>
          <p:nvPr/>
        </p:nvSpPr>
        <p:spPr>
          <a:xfrm>
            <a:off x="1370616" y="5666929"/>
            <a:ext cx="7407624" cy="369332"/>
          </a:xfrm>
          <a:prstGeom prst="rect">
            <a:avLst/>
          </a:prstGeom>
          <a:noFill/>
        </p:spPr>
        <p:txBody>
          <a:bodyPr wrap="square" rtlCol="0">
            <a:spAutoFit/>
          </a:bodyPr>
          <a:lstStyle/>
          <a:p>
            <a:r>
              <a:rPr lang="en-US" altLang="ko-KR" dirty="0">
                <a:latin typeface="Cascadia Code" panose="020B0609020000020004" pitchFamily="49" charset="0"/>
                <a:ea typeface="Cascadia Code" panose="020B0609020000020004" pitchFamily="49" charset="0"/>
                <a:cs typeface="Cascadia Code" panose="020B0609020000020004" pitchFamily="49" charset="0"/>
              </a:rPr>
              <a:t>I	am	  your	      father</a:t>
            </a:r>
            <a:endParaRPr lang="ko-KR" altLang="en-US" dirty="0">
              <a:latin typeface="Cascadia Code" panose="020B0609020000020004" pitchFamily="49" charset="0"/>
              <a:cs typeface="Cascadia Code" panose="020B0609020000020004" pitchFamily="49" charset="0"/>
            </a:endParaRPr>
          </a:p>
        </p:txBody>
      </p:sp>
      <p:pic>
        <p:nvPicPr>
          <p:cNvPr id="4104" name="Picture 8" descr="Parlour Games During the Holidays: Hapny FolvdaKs">
            <a:extLst>
              <a:ext uri="{FF2B5EF4-FFF2-40B4-BE49-F238E27FC236}">
                <a16:creationId xmlns:a16="http://schemas.microsoft.com/office/drawing/2014/main" id="{2F58ED32-CC7E-7F05-8BEF-5EB9936AE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6041" y="1841058"/>
            <a:ext cx="5403850" cy="3602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7908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81080-7482-4F78-0B32-9350845B42DF}"/>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3BB4D45B-52A1-9BAE-B34E-30DEDF59CFAE}"/>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3</a:t>
            </a:fld>
            <a:endParaRPr lang="en-US" dirty="0"/>
          </a:p>
        </p:txBody>
      </p:sp>
      <p:sp>
        <p:nvSpPr>
          <p:cNvPr id="3" name="제목 1">
            <a:extLst>
              <a:ext uri="{FF2B5EF4-FFF2-40B4-BE49-F238E27FC236}">
                <a16:creationId xmlns:a16="http://schemas.microsoft.com/office/drawing/2014/main" id="{DBF09144-883D-B590-22EC-22EF9122830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순서가 중요한 데이터</a:t>
            </a:r>
          </a:p>
        </p:txBody>
      </p:sp>
      <p:sp>
        <p:nvSpPr>
          <p:cNvPr id="5" name="TextBox 4">
            <a:extLst>
              <a:ext uri="{FF2B5EF4-FFF2-40B4-BE49-F238E27FC236}">
                <a16:creationId xmlns:a16="http://schemas.microsoft.com/office/drawing/2014/main" id="{6561AAD7-56D4-58BF-FEAE-D0D8305EA254}"/>
              </a:ext>
            </a:extLst>
          </p:cNvPr>
          <p:cNvSpPr txBox="1"/>
          <p:nvPr/>
        </p:nvSpPr>
        <p:spPr>
          <a:xfrm>
            <a:off x="658811" y="1729061"/>
            <a:ext cx="9855200" cy="968407"/>
          </a:xfrm>
          <a:prstGeom prst="rect">
            <a:avLst/>
          </a:prstGeom>
          <a:noFill/>
        </p:spPr>
        <p:txBody>
          <a:bodyPr wrap="square">
            <a:spAutoFit/>
          </a:bodyPr>
          <a:lstStyle/>
          <a:p>
            <a:pPr>
              <a:lnSpc>
                <a:spcPct val="150000"/>
              </a:lnSpc>
            </a:pPr>
            <a:r>
              <a:rPr lang="en-US" altLang="ko-KR" sz="2000" b="0" i="0" dirty="0">
                <a:solidFill>
                  <a:srgbClr val="181818"/>
                </a:solidFill>
                <a:effectLst/>
                <a:latin typeface="D2Coding" panose="020B0609020101020101" pitchFamily="49" charset="-127"/>
                <a:ea typeface="D2Coding" panose="020B0609020101020101" pitchFamily="49" charset="-127"/>
              </a:rPr>
              <a:t>“Be who you are and say what you feel, because those who mind don't matter, and those who matter don't mind.”</a:t>
            </a:r>
            <a:endParaRPr lang="ko-KR" altLang="en-US" sz="2000" dirty="0">
              <a:latin typeface="D2Coding" panose="020B0609020101020101" pitchFamily="49" charset="-127"/>
              <a:ea typeface="D2Coding" panose="020B0609020101020101" pitchFamily="49" charset="-127"/>
            </a:endParaRPr>
          </a:p>
        </p:txBody>
      </p:sp>
      <p:pic>
        <p:nvPicPr>
          <p:cNvPr id="7" name="그림 6">
            <a:extLst>
              <a:ext uri="{FF2B5EF4-FFF2-40B4-BE49-F238E27FC236}">
                <a16:creationId xmlns:a16="http://schemas.microsoft.com/office/drawing/2014/main" id="{10911C56-8BA1-1A77-1C57-C79246EF5C86}"/>
              </a:ext>
            </a:extLst>
          </p:cNvPr>
          <p:cNvPicPr>
            <a:picLocks noChangeAspect="1"/>
          </p:cNvPicPr>
          <p:nvPr/>
        </p:nvPicPr>
        <p:blipFill>
          <a:blip r:embed="rId2"/>
          <a:stretch>
            <a:fillRect/>
          </a:stretch>
        </p:blipFill>
        <p:spPr>
          <a:xfrm>
            <a:off x="843280" y="3516518"/>
            <a:ext cx="7943922" cy="2519743"/>
          </a:xfrm>
          <a:prstGeom prst="rect">
            <a:avLst/>
          </a:prstGeom>
        </p:spPr>
      </p:pic>
    </p:spTree>
    <p:extLst>
      <p:ext uri="{BB962C8B-B14F-4D97-AF65-F5344CB8AC3E}">
        <p14:creationId xmlns:p14="http://schemas.microsoft.com/office/powerpoint/2010/main" val="770903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453A4-36DB-F245-2BB0-D8356B9C0734}"/>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67D8800B-CA56-2E83-5A7A-80A20196A54A}"/>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4</a:t>
            </a:fld>
            <a:endParaRPr lang="en-US" dirty="0"/>
          </a:p>
        </p:txBody>
      </p:sp>
      <p:sp>
        <p:nvSpPr>
          <p:cNvPr id="3" name="제목 1">
            <a:extLst>
              <a:ext uri="{FF2B5EF4-FFF2-40B4-BE49-F238E27FC236}">
                <a16:creationId xmlns:a16="http://schemas.microsoft.com/office/drawing/2014/main" id="{FF1A8E30-B608-7E9F-7E75-95CDFF5EDEF2}"/>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순서가 중요한 데이터</a:t>
            </a:r>
          </a:p>
        </p:txBody>
      </p:sp>
      <p:graphicFrame>
        <p:nvGraphicFramePr>
          <p:cNvPr id="2" name="표 1">
            <a:extLst>
              <a:ext uri="{FF2B5EF4-FFF2-40B4-BE49-F238E27FC236}">
                <a16:creationId xmlns:a16="http://schemas.microsoft.com/office/drawing/2014/main" id="{52C74E2C-5185-4FDF-D522-52BB3849DFCA}"/>
              </a:ext>
            </a:extLst>
          </p:cNvPr>
          <p:cNvGraphicFramePr>
            <a:graphicFrameLocks noGrp="1"/>
          </p:cNvGraphicFramePr>
          <p:nvPr>
            <p:extLst>
              <p:ext uri="{D42A27DB-BD31-4B8C-83A1-F6EECF244321}">
                <p14:modId xmlns:p14="http://schemas.microsoft.com/office/powerpoint/2010/main" val="2323456157"/>
              </p:ext>
            </p:extLst>
          </p:nvPr>
        </p:nvGraphicFramePr>
        <p:xfrm>
          <a:off x="655955" y="2405063"/>
          <a:ext cx="2859405" cy="3970950"/>
        </p:xfrm>
        <a:graphic>
          <a:graphicData uri="http://schemas.openxmlformats.org/drawingml/2006/table">
            <a:tbl>
              <a:tblPr>
                <a:tableStyleId>{5C22544A-7EE6-4342-B048-85BDC9FD1C3A}</a:tableStyleId>
              </a:tblPr>
              <a:tblGrid>
                <a:gridCol w="846151">
                  <a:extLst>
                    <a:ext uri="{9D8B030D-6E8A-4147-A177-3AD203B41FA5}">
                      <a16:colId xmlns:a16="http://schemas.microsoft.com/office/drawing/2014/main" val="2117216945"/>
                    </a:ext>
                  </a:extLst>
                </a:gridCol>
                <a:gridCol w="846151">
                  <a:extLst>
                    <a:ext uri="{9D8B030D-6E8A-4147-A177-3AD203B41FA5}">
                      <a16:colId xmlns:a16="http://schemas.microsoft.com/office/drawing/2014/main" val="3750196696"/>
                    </a:ext>
                  </a:extLst>
                </a:gridCol>
                <a:gridCol w="1167103">
                  <a:extLst>
                    <a:ext uri="{9D8B030D-6E8A-4147-A177-3AD203B41FA5}">
                      <a16:colId xmlns:a16="http://schemas.microsoft.com/office/drawing/2014/main" val="2368464626"/>
                    </a:ext>
                  </a:extLst>
                </a:gridCol>
              </a:tblGrid>
              <a:tr h="264730">
                <a:tc>
                  <a:txBody>
                    <a:bodyPr/>
                    <a:lstStyle/>
                    <a:p>
                      <a:pPr algn="l" fontAlgn="ctr">
                        <a:buNone/>
                      </a:pPr>
                      <a:r>
                        <a:rPr lang="ko-KR" altLang="en-US" sz="900" u="none" strike="noStrike">
                          <a:effectLst/>
                          <a:latin typeface="D2Coding" panose="020B0609020101020101" pitchFamily="49" charset="-127"/>
                          <a:ea typeface="D2Coding" panose="020B0609020101020101" pitchFamily="49" charset="-127"/>
                        </a:rPr>
                        <a:t>　</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ko-KR" altLang="en-US" sz="900" u="none" strike="noStrike">
                          <a:effectLst/>
                          <a:latin typeface="D2Coding" panose="020B0609020101020101" pitchFamily="49" charset="-127"/>
                          <a:ea typeface="D2Coding" panose="020B0609020101020101" pitchFamily="49" charset="-127"/>
                        </a:rPr>
                        <a:t>일자</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ko-KR" altLang="en-US" sz="900" b="0" i="0" u="none" strike="noStrike" dirty="0">
                          <a:solidFill>
                            <a:srgbClr val="000000"/>
                          </a:solidFill>
                          <a:effectLst/>
                          <a:latin typeface="D2Coding" panose="020B0609020101020101" pitchFamily="49" charset="-127"/>
                          <a:ea typeface="D2Coding" panose="020B0609020101020101" pitchFamily="49" charset="-127"/>
                        </a:rPr>
                        <a:t>종가</a:t>
                      </a:r>
                      <a:r>
                        <a:rPr lang="en-US" altLang="ko-KR" sz="900" b="0" i="0" u="none" strike="noStrike" dirty="0">
                          <a:solidFill>
                            <a:srgbClr val="000000"/>
                          </a:solidFill>
                          <a:effectLst/>
                          <a:latin typeface="D2Coding" panose="020B0609020101020101" pitchFamily="49" charset="-127"/>
                          <a:ea typeface="D2Coding" panose="020B0609020101020101" pitchFamily="49" charset="-127"/>
                        </a:rPr>
                        <a:t>(USD)</a:t>
                      </a:r>
                      <a:endParaRPr lang="ko-KR" altLang="en-US" sz="900" b="0" i="0" u="none" strike="noStrike" dirty="0">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1598936081"/>
                  </a:ext>
                </a:extLst>
              </a:tr>
              <a:tr h="264730">
                <a:tc>
                  <a:txBody>
                    <a:bodyPr/>
                    <a:lstStyle/>
                    <a:p>
                      <a:pPr algn="l" fontAlgn="ctr">
                        <a:buNone/>
                      </a:pPr>
                      <a:r>
                        <a:rPr lang="en-US" altLang="ko-KR" sz="900" u="none" strike="noStrike">
                          <a:effectLst/>
                          <a:latin typeface="D2Coding" panose="020B0609020101020101" pitchFamily="49" charset="-127"/>
                          <a:ea typeface="D2Coding" panose="020B0609020101020101" pitchFamily="49" charset="-127"/>
                        </a:rPr>
                        <a:t>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3</a:t>
                      </a:r>
                      <a:r>
                        <a:rPr lang="ko-KR" altLang="en-US" sz="900" u="none" strike="noStrike">
                          <a:effectLst/>
                          <a:latin typeface="D2Coding" panose="020B0609020101020101" pitchFamily="49" charset="-127"/>
                          <a:ea typeface="D2Coding" panose="020B0609020101020101" pitchFamily="49" charset="-127"/>
                        </a:rPr>
                        <a:t>주차</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13</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21.50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2987812900"/>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14</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21.30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4067937198"/>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15</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23.00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1509080169"/>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16</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22.50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4225276208"/>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17</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21.30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1924689109"/>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18</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21.50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1050048509"/>
                  </a:ext>
                </a:extLst>
              </a:tr>
              <a:tr h="264730">
                <a:tc>
                  <a:txBody>
                    <a:bodyPr/>
                    <a:lstStyle/>
                    <a:p>
                      <a:pPr algn="l" fontAlgn="ctr">
                        <a:buNone/>
                      </a:pPr>
                      <a:r>
                        <a:rPr lang="ko-KR" altLang="en-US" sz="900" u="none" strike="noStrike">
                          <a:effectLst/>
                          <a:latin typeface="D2Coding" panose="020B0609020101020101" pitchFamily="49" charset="-127"/>
                          <a:ea typeface="D2Coding" panose="020B0609020101020101" pitchFamily="49" charset="-127"/>
                        </a:rPr>
                        <a:t>　</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19</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21.20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629261681"/>
                  </a:ext>
                </a:extLst>
              </a:tr>
              <a:tr h="264730">
                <a:tc>
                  <a:txBody>
                    <a:bodyPr/>
                    <a:lstStyle/>
                    <a:p>
                      <a:pPr algn="l" fontAlgn="ctr">
                        <a:buNone/>
                      </a:pPr>
                      <a:r>
                        <a:rPr lang="en-US" altLang="ko-KR" sz="900" u="none" strike="noStrike">
                          <a:effectLst/>
                          <a:latin typeface="D2Coding" panose="020B0609020101020101" pitchFamily="49" charset="-127"/>
                          <a:ea typeface="D2Coding" panose="020B0609020101020101" pitchFamily="49" charset="-127"/>
                        </a:rPr>
                        <a:t>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4</a:t>
                      </a:r>
                      <a:r>
                        <a:rPr lang="ko-KR" altLang="en-US" sz="900" u="none" strike="noStrike">
                          <a:effectLst/>
                          <a:latin typeface="D2Coding" panose="020B0609020101020101" pitchFamily="49" charset="-127"/>
                          <a:ea typeface="D2Coding" panose="020B0609020101020101" pitchFamily="49" charset="-127"/>
                        </a:rPr>
                        <a:t>주차</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20</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19.70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3940415727"/>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21</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19.10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3371060323"/>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22</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20.20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4247940745"/>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23</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19.20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381380880"/>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24</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20.60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4231695106"/>
                  </a:ext>
                </a:extLst>
              </a:tr>
              <a:tr h="264730">
                <a:tc>
                  <a:txBody>
                    <a:bodyPr/>
                    <a:lstStyle/>
                    <a:p>
                      <a:pPr algn="l" fontAlgn="ctr">
                        <a:buNone/>
                      </a:pP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25</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20.10</a:t>
                      </a:r>
                      <a:endParaRPr lang="en-US" altLang="ko-KR"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2161971217"/>
                  </a:ext>
                </a:extLst>
              </a:tr>
              <a:tr h="264730">
                <a:tc>
                  <a:txBody>
                    <a:bodyPr/>
                    <a:lstStyle/>
                    <a:p>
                      <a:pPr algn="l" fontAlgn="ctr">
                        <a:buNone/>
                      </a:pPr>
                      <a:r>
                        <a:rPr lang="ko-KR" altLang="en-US" sz="900" u="none" strike="noStrike">
                          <a:effectLst/>
                          <a:latin typeface="D2Coding" panose="020B0609020101020101" pitchFamily="49" charset="-127"/>
                          <a:ea typeface="D2Coding" panose="020B0609020101020101" pitchFamily="49" charset="-127"/>
                        </a:rPr>
                        <a:t>　</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a:effectLst/>
                          <a:latin typeface="D2Coding" panose="020B0609020101020101" pitchFamily="49" charset="-127"/>
                          <a:ea typeface="D2Coding" panose="020B0609020101020101" pitchFamily="49" charset="-127"/>
                        </a:rPr>
                        <a:t>09</a:t>
                      </a:r>
                      <a:r>
                        <a:rPr lang="ko-KR" altLang="en-US" sz="900" u="none" strike="noStrike">
                          <a:effectLst/>
                          <a:latin typeface="D2Coding" panose="020B0609020101020101" pitchFamily="49" charset="-127"/>
                          <a:ea typeface="D2Coding" panose="020B0609020101020101" pitchFamily="49" charset="-127"/>
                        </a:rPr>
                        <a:t>월 </a:t>
                      </a:r>
                      <a:r>
                        <a:rPr lang="en-US" altLang="ko-KR" sz="900" u="none" strike="noStrike">
                          <a:effectLst/>
                          <a:latin typeface="D2Coding" panose="020B0609020101020101" pitchFamily="49" charset="-127"/>
                          <a:ea typeface="D2Coding" panose="020B0609020101020101" pitchFamily="49" charset="-127"/>
                        </a:rPr>
                        <a:t>26</a:t>
                      </a:r>
                      <a:r>
                        <a:rPr lang="ko-KR" altLang="en-US" sz="900" u="none" strike="noStrike">
                          <a:effectLst/>
                          <a:latin typeface="D2Coding" panose="020B0609020101020101" pitchFamily="49" charset="-127"/>
                          <a:ea typeface="D2Coding" panose="020B0609020101020101" pitchFamily="49" charset="-127"/>
                        </a:rPr>
                        <a:t>일</a:t>
                      </a:r>
                      <a:endParaRPr lang="ko-KR" altLang="en-US" sz="900" b="0" i="0" u="none" strike="noStrike">
                        <a:solidFill>
                          <a:srgbClr val="000000"/>
                        </a:solidFill>
                        <a:effectLst/>
                        <a:latin typeface="D2Coding" panose="020B0609020101020101" pitchFamily="49" charset="-127"/>
                        <a:ea typeface="D2Coding" panose="020B0609020101020101" pitchFamily="49" charset="-127"/>
                      </a:endParaRPr>
                    </a:p>
                  </a:txBody>
                  <a:tcPr marL="6430" marR="6430" marT="6430" marB="0" anchor="ctr"/>
                </a:tc>
                <a:tc>
                  <a:txBody>
                    <a:bodyPr/>
                    <a:lstStyle/>
                    <a:p>
                      <a:pPr algn="r" fontAlgn="ctr">
                        <a:buNone/>
                      </a:pPr>
                      <a:r>
                        <a:rPr lang="en-US" altLang="ko-KR" sz="900" u="none" strike="noStrike" dirty="0">
                          <a:effectLst/>
                          <a:latin typeface="D2Coding" panose="020B0609020101020101" pitchFamily="49" charset="-127"/>
                          <a:ea typeface="D2Coding" panose="020B0609020101020101" pitchFamily="49" charset="-127"/>
                        </a:rPr>
                        <a:t>19.20</a:t>
                      </a:r>
                      <a:endParaRPr lang="en-US" altLang="ko-KR" sz="900" b="0" i="0" u="none" strike="noStrike" dirty="0">
                        <a:solidFill>
                          <a:srgbClr val="000000"/>
                        </a:solidFill>
                        <a:effectLst/>
                        <a:latin typeface="D2Coding" panose="020B0609020101020101" pitchFamily="49" charset="-127"/>
                        <a:ea typeface="D2Coding" panose="020B0609020101020101" pitchFamily="49" charset="-127"/>
                      </a:endParaRPr>
                    </a:p>
                  </a:txBody>
                  <a:tcPr marL="6430" marR="6430" marT="6430" marB="0" anchor="ctr"/>
                </a:tc>
                <a:extLst>
                  <a:ext uri="{0D108BD9-81ED-4DB2-BD59-A6C34878D82A}">
                    <a16:rowId xmlns:a16="http://schemas.microsoft.com/office/drawing/2014/main" val="1058583137"/>
                  </a:ext>
                </a:extLst>
              </a:tr>
            </a:tbl>
          </a:graphicData>
        </a:graphic>
      </p:graphicFrame>
      <p:sp>
        <p:nvSpPr>
          <p:cNvPr id="6" name="TextBox 5">
            <a:extLst>
              <a:ext uri="{FF2B5EF4-FFF2-40B4-BE49-F238E27FC236}">
                <a16:creationId xmlns:a16="http://schemas.microsoft.com/office/drawing/2014/main" id="{E1682B08-CD59-3A1E-9AE1-1640A4F3ECFB}"/>
              </a:ext>
            </a:extLst>
          </p:cNvPr>
          <p:cNvSpPr txBox="1"/>
          <p:nvPr/>
        </p:nvSpPr>
        <p:spPr>
          <a:xfrm>
            <a:off x="609600" y="1238250"/>
            <a:ext cx="10972800" cy="880819"/>
          </a:xfrm>
          <a:prstGeom prst="rect">
            <a:avLst/>
          </a:prstGeom>
          <a:noFill/>
        </p:spPr>
        <p:txBody>
          <a:bodyPr wrap="square" rtlCol="0">
            <a:spAutoFit/>
          </a:bodyPr>
          <a:lstStyle/>
          <a:p>
            <a:pPr>
              <a:lnSpc>
                <a:spcPct val="150000"/>
              </a:lnSpc>
            </a:pPr>
            <a:r>
              <a:rPr lang="ko-KR" altLang="en-US" dirty="0">
                <a:latin typeface="D2Coding" panose="020B0609020101020101" pitchFamily="49" charset="-127"/>
                <a:ea typeface="D2Coding" panose="020B0609020101020101" pitchFamily="49" charset="-127"/>
              </a:rPr>
              <a:t>일자별로 </a:t>
            </a:r>
            <a:r>
              <a:rPr lang="en-US" altLang="ko-KR" dirty="0">
                <a:latin typeface="D2Coding" panose="020B0609020101020101" pitchFamily="49" charset="-127"/>
                <a:ea typeface="D2Coding" panose="020B0609020101020101" pitchFamily="49" charset="-127"/>
              </a:rPr>
              <a:t>1</a:t>
            </a:r>
            <a:r>
              <a:rPr lang="ko-KR" altLang="en-US" dirty="0">
                <a:latin typeface="D2Coding" panose="020B0609020101020101" pitchFamily="49" charset="-127"/>
                <a:ea typeface="D2Coding" panose="020B0609020101020101" pitchFamily="49" charset="-127"/>
              </a:rPr>
              <a:t>년치 주가가 아래와 같이 있을 때 어떤 식으로 예측이 가능한지</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기존</a:t>
            </a:r>
            <a:r>
              <a:rPr lang="en-US" altLang="ko-KR" dirty="0">
                <a:latin typeface="D2Coding" panose="020B0609020101020101" pitchFamily="49" charset="-127"/>
                <a:ea typeface="D2Coding" panose="020B0609020101020101" pitchFamily="49" charset="-127"/>
              </a:rPr>
              <a:t> ANN </a:t>
            </a:r>
            <a:r>
              <a:rPr lang="ko-KR" altLang="en-US" dirty="0">
                <a:latin typeface="D2Coding" panose="020B0609020101020101" pitchFamily="49" charset="-127"/>
                <a:ea typeface="D2Coding" panose="020B0609020101020101" pitchFamily="49" charset="-127"/>
              </a:rPr>
              <a:t>모델의 한계는 무엇이고</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왜 </a:t>
            </a:r>
            <a:r>
              <a:rPr lang="en-US" altLang="ko-KR" dirty="0">
                <a:latin typeface="D2Coding" panose="020B0609020101020101" pitchFamily="49" charset="-127"/>
                <a:ea typeface="D2Coding" panose="020B0609020101020101" pitchFamily="49" charset="-127"/>
              </a:rPr>
              <a:t>RNN</a:t>
            </a:r>
            <a:r>
              <a:rPr lang="ko-KR" altLang="en-US" dirty="0">
                <a:latin typeface="D2Coding" panose="020B0609020101020101" pitchFamily="49" charset="-127"/>
                <a:ea typeface="D2Coding" panose="020B0609020101020101" pitchFamily="49" charset="-127"/>
              </a:rPr>
              <a:t>이 필요한지</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를</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토론하고 주가 예측 방식 </a:t>
            </a:r>
            <a:r>
              <a:rPr lang="en-US" altLang="ko-KR" dirty="0">
                <a:latin typeface="D2Coding" panose="020B0609020101020101" pitchFamily="49" charset="-127"/>
                <a:ea typeface="D2Coding" panose="020B0609020101020101" pitchFamily="49" charset="-127"/>
              </a:rPr>
              <a:t>4</a:t>
            </a:r>
            <a:r>
              <a:rPr lang="ko-KR" altLang="en-US" dirty="0">
                <a:latin typeface="D2Coding" panose="020B0609020101020101" pitchFamily="49" charset="-127"/>
                <a:ea typeface="D2Coding" panose="020B0609020101020101" pitchFamily="49" charset="-127"/>
              </a:rPr>
              <a:t>가지를 오른쪽 방식으로 제시하라</a:t>
            </a:r>
          </a:p>
        </p:txBody>
      </p:sp>
      <p:pic>
        <p:nvPicPr>
          <p:cNvPr id="9" name="그림 8">
            <a:extLst>
              <a:ext uri="{FF2B5EF4-FFF2-40B4-BE49-F238E27FC236}">
                <a16:creationId xmlns:a16="http://schemas.microsoft.com/office/drawing/2014/main" id="{F71D6366-ECCB-4037-D8F7-9766B35574CC}"/>
              </a:ext>
            </a:extLst>
          </p:cNvPr>
          <p:cNvPicPr>
            <a:picLocks noChangeAspect="1"/>
          </p:cNvPicPr>
          <p:nvPr/>
        </p:nvPicPr>
        <p:blipFill>
          <a:blip r:embed="rId2"/>
          <a:stretch>
            <a:fillRect/>
          </a:stretch>
        </p:blipFill>
        <p:spPr>
          <a:xfrm>
            <a:off x="4956626" y="2405063"/>
            <a:ext cx="5599614" cy="4205850"/>
          </a:xfrm>
          <a:prstGeom prst="rect">
            <a:avLst/>
          </a:prstGeom>
        </p:spPr>
      </p:pic>
      <p:pic>
        <p:nvPicPr>
          <p:cNvPr id="11" name="그래픽 10" descr="물음표">
            <a:extLst>
              <a:ext uri="{FF2B5EF4-FFF2-40B4-BE49-F238E27FC236}">
                <a16:creationId xmlns:a16="http://schemas.microsoft.com/office/drawing/2014/main" id="{A37A5489-EAC6-4176-D325-AC523BE36B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56240" y="2971800"/>
            <a:ext cx="914400" cy="914400"/>
          </a:xfrm>
          <a:prstGeom prst="rect">
            <a:avLst/>
          </a:prstGeom>
        </p:spPr>
      </p:pic>
      <p:sp>
        <p:nvSpPr>
          <p:cNvPr id="12" name="화살표: 줄무늬가 있는 오른쪽 11">
            <a:extLst>
              <a:ext uri="{FF2B5EF4-FFF2-40B4-BE49-F238E27FC236}">
                <a16:creationId xmlns:a16="http://schemas.microsoft.com/office/drawing/2014/main" id="{B150B105-D9C4-E76C-1B99-300BC744F8DC}"/>
              </a:ext>
            </a:extLst>
          </p:cNvPr>
          <p:cNvSpPr/>
          <p:nvPr/>
        </p:nvSpPr>
        <p:spPr>
          <a:xfrm>
            <a:off x="3881120" y="3556000"/>
            <a:ext cx="777688" cy="985520"/>
          </a:xfrm>
          <a:prstGeom prst="stripedRightArrow">
            <a:avLst>
              <a:gd name="adj1" fmla="val 64433"/>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409F955C-5EBE-00F4-6BD3-25B7D293FF8A}"/>
              </a:ext>
            </a:extLst>
          </p:cNvPr>
          <p:cNvSpPr txBox="1"/>
          <p:nvPr/>
        </p:nvSpPr>
        <p:spPr>
          <a:xfrm>
            <a:off x="4914397" y="2159263"/>
            <a:ext cx="6096000" cy="276999"/>
          </a:xfrm>
          <a:prstGeom prst="rect">
            <a:avLst/>
          </a:prstGeom>
          <a:noFill/>
        </p:spPr>
        <p:txBody>
          <a:bodyPr wrap="square">
            <a:spAutoFit/>
          </a:bodyPr>
          <a:lstStyle/>
          <a:p>
            <a:r>
              <a:rPr lang="ko-KR" altLang="en-US" sz="1200" dirty="0">
                <a:latin typeface="D2Coding" panose="020B0609020101020101" pitchFamily="49" charset="-127"/>
                <a:ea typeface="D2Coding" panose="020B0609020101020101" pitchFamily="49" charset="-127"/>
              </a:rPr>
              <a:t>Hands-On_Machine_Learning_with_Scikit-Learn-Keras-and-TensorFlow</a:t>
            </a:r>
          </a:p>
        </p:txBody>
      </p:sp>
    </p:spTree>
    <p:extLst>
      <p:ext uri="{BB962C8B-B14F-4D97-AF65-F5344CB8AC3E}">
        <p14:creationId xmlns:p14="http://schemas.microsoft.com/office/powerpoint/2010/main" val="1679317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6FF14-EF66-5081-88DC-F9804C9A781A}"/>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38B379BC-6767-AD77-457E-EB53B375D37C}"/>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5</a:t>
            </a:fld>
            <a:endParaRPr lang="en-US" dirty="0"/>
          </a:p>
        </p:txBody>
      </p:sp>
      <p:sp>
        <p:nvSpPr>
          <p:cNvPr id="3" name="제목 1">
            <a:extLst>
              <a:ext uri="{FF2B5EF4-FFF2-40B4-BE49-F238E27FC236}">
                <a16:creationId xmlns:a16="http://schemas.microsoft.com/office/drawing/2014/main" id="{EE675AA7-8C8E-F70E-8789-720E279A3F5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5" name="TextBox 4">
            <a:extLst>
              <a:ext uri="{FF2B5EF4-FFF2-40B4-BE49-F238E27FC236}">
                <a16:creationId xmlns:a16="http://schemas.microsoft.com/office/drawing/2014/main" id="{2E670359-5BC0-FB3E-8DE8-B2B54F51B77E}"/>
              </a:ext>
            </a:extLst>
          </p:cNvPr>
          <p:cNvSpPr txBox="1"/>
          <p:nvPr/>
        </p:nvSpPr>
        <p:spPr>
          <a:xfrm>
            <a:off x="609600" y="1238250"/>
            <a:ext cx="10972800" cy="465320"/>
          </a:xfrm>
          <a:prstGeom prst="rect">
            <a:avLst/>
          </a:prstGeom>
          <a:noFill/>
        </p:spPr>
        <p:txBody>
          <a:bodyPr wrap="square" rtlCol="0">
            <a:spAutoFit/>
          </a:bodyPr>
          <a:lstStyle/>
          <a:p>
            <a:pPr>
              <a:lnSpc>
                <a:spcPct val="150000"/>
              </a:lnSpc>
            </a:pPr>
            <a:r>
              <a:rPr lang="en-US" altLang="ko-KR" dirty="0" err="1">
                <a:latin typeface="D2Coding" panose="020B0609020101020101" pitchFamily="49" charset="-127"/>
                <a:ea typeface="D2Coding" panose="020B0609020101020101" pitchFamily="49" charset="-127"/>
              </a:rPr>
              <a:t>Pytorch</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로 실습하기</a:t>
            </a:r>
          </a:p>
        </p:txBody>
      </p:sp>
      <p:pic>
        <p:nvPicPr>
          <p:cNvPr id="12290" name="Picture 2">
            <a:extLst>
              <a:ext uri="{FF2B5EF4-FFF2-40B4-BE49-F238E27FC236}">
                <a16:creationId xmlns:a16="http://schemas.microsoft.com/office/drawing/2014/main" id="{8DD0180E-C9DE-EB92-9660-924DD6059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5890" y="2123073"/>
            <a:ext cx="3878897" cy="3342586"/>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A695156D-C55E-CA0E-FC4F-4B1F4F675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2141922"/>
            <a:ext cx="41148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a:extLst>
              <a:ext uri="{FF2B5EF4-FFF2-40B4-BE49-F238E27FC236}">
                <a16:creationId xmlns:a16="http://schemas.microsoft.com/office/drawing/2014/main" id="{4037358D-830D-DEC2-E244-D656539FB8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645" y="2193228"/>
            <a:ext cx="2057400" cy="205740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a:extLst>
              <a:ext uri="{FF2B5EF4-FFF2-40B4-BE49-F238E27FC236}">
                <a16:creationId xmlns:a16="http://schemas.microsoft.com/office/drawing/2014/main" id="{BD990D97-ACE4-D1AC-4F3E-FC470A7D1D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645" y="4446484"/>
            <a:ext cx="2143125" cy="20383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91E92F0-24D1-A4C6-C88E-46DACC42881F}"/>
              </a:ext>
            </a:extLst>
          </p:cNvPr>
          <p:cNvSpPr txBox="1"/>
          <p:nvPr/>
        </p:nvSpPr>
        <p:spPr>
          <a:xfrm>
            <a:off x="3271520" y="1719231"/>
            <a:ext cx="3708400" cy="369332"/>
          </a:xfrm>
          <a:prstGeom prst="rect">
            <a:avLst/>
          </a:prstGeom>
          <a:noFill/>
        </p:spPr>
        <p:txBody>
          <a:bodyPr wrap="square">
            <a:spAutoFit/>
          </a:bodyPr>
          <a:lstStyle/>
          <a:p>
            <a:r>
              <a:rPr lang="en-US" altLang="ko-KR" dirty="0"/>
              <a:t>Multi-layer RNN, Deep RNN</a:t>
            </a:r>
            <a:endParaRPr lang="ko-KR" altLang="en-US" dirty="0"/>
          </a:p>
        </p:txBody>
      </p:sp>
      <p:sp>
        <p:nvSpPr>
          <p:cNvPr id="9" name="TextBox 8">
            <a:extLst>
              <a:ext uri="{FF2B5EF4-FFF2-40B4-BE49-F238E27FC236}">
                <a16:creationId xmlns:a16="http://schemas.microsoft.com/office/drawing/2014/main" id="{951E8203-15D6-D19A-3513-F1DC6553F9B4}"/>
              </a:ext>
            </a:extLst>
          </p:cNvPr>
          <p:cNvSpPr txBox="1"/>
          <p:nvPr/>
        </p:nvSpPr>
        <p:spPr>
          <a:xfrm>
            <a:off x="7376160" y="1738080"/>
            <a:ext cx="4114800" cy="369332"/>
          </a:xfrm>
          <a:prstGeom prst="rect">
            <a:avLst/>
          </a:prstGeom>
          <a:noFill/>
        </p:spPr>
        <p:txBody>
          <a:bodyPr wrap="square">
            <a:spAutoFit/>
          </a:bodyPr>
          <a:lstStyle/>
          <a:p>
            <a:r>
              <a:rPr lang="en-US" altLang="ko-KR" dirty="0"/>
              <a:t>Bidirectional Recurrent Neural Network</a:t>
            </a:r>
          </a:p>
        </p:txBody>
      </p:sp>
      <p:sp>
        <p:nvSpPr>
          <p:cNvPr id="12" name="TextBox 11">
            <a:extLst>
              <a:ext uri="{FF2B5EF4-FFF2-40B4-BE49-F238E27FC236}">
                <a16:creationId xmlns:a16="http://schemas.microsoft.com/office/drawing/2014/main" id="{886CCDB5-764B-CB55-2600-DA1AE97727D1}"/>
              </a:ext>
            </a:extLst>
          </p:cNvPr>
          <p:cNvSpPr txBox="1"/>
          <p:nvPr/>
        </p:nvSpPr>
        <p:spPr>
          <a:xfrm>
            <a:off x="475645" y="1738080"/>
            <a:ext cx="2319942" cy="369332"/>
          </a:xfrm>
          <a:prstGeom prst="rect">
            <a:avLst/>
          </a:prstGeom>
          <a:noFill/>
        </p:spPr>
        <p:txBody>
          <a:bodyPr wrap="square">
            <a:spAutoFit/>
          </a:bodyPr>
          <a:lstStyle/>
          <a:p>
            <a:r>
              <a:rPr lang="en-US" altLang="ko-KR" dirty="0"/>
              <a:t>Shallow RNN</a:t>
            </a:r>
            <a:endParaRPr lang="ko-KR" altLang="en-US" dirty="0"/>
          </a:p>
        </p:txBody>
      </p:sp>
    </p:spTree>
    <p:extLst>
      <p:ext uri="{BB962C8B-B14F-4D97-AF65-F5344CB8AC3E}">
        <p14:creationId xmlns:p14="http://schemas.microsoft.com/office/powerpoint/2010/main" val="491697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94119-4E05-7787-F346-3EF9B9B57EA8}"/>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118DF491-9C31-F203-B341-87EDA9ABF883}"/>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6</a:t>
            </a:fld>
            <a:endParaRPr lang="en-US" dirty="0"/>
          </a:p>
        </p:txBody>
      </p:sp>
      <p:sp>
        <p:nvSpPr>
          <p:cNvPr id="3" name="제목 1">
            <a:extLst>
              <a:ext uri="{FF2B5EF4-FFF2-40B4-BE49-F238E27FC236}">
                <a16:creationId xmlns:a16="http://schemas.microsoft.com/office/drawing/2014/main" id="{62D2FAD8-FA57-2A8F-534C-0DC6FE1C2EB1}"/>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순서가 중요한 데이터</a:t>
            </a:r>
          </a:p>
        </p:txBody>
      </p:sp>
      <p:pic>
        <p:nvPicPr>
          <p:cNvPr id="2050" name="Picture 2">
            <a:extLst>
              <a:ext uri="{FF2B5EF4-FFF2-40B4-BE49-F238E27FC236}">
                <a16:creationId xmlns:a16="http://schemas.microsoft.com/office/drawing/2014/main" id="{8870E6EE-4641-4051-8389-FECE07223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733" y="1956497"/>
            <a:ext cx="4344508" cy="16299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5C8F418-F3CD-B8CE-D11D-9E2EEA217054}"/>
              </a:ext>
            </a:extLst>
          </p:cNvPr>
          <p:cNvSpPr txBox="1"/>
          <p:nvPr/>
        </p:nvSpPr>
        <p:spPr>
          <a:xfrm>
            <a:off x="475645" y="3766038"/>
            <a:ext cx="4025235" cy="307777"/>
          </a:xfrm>
          <a:prstGeom prst="rect">
            <a:avLst/>
          </a:prstGeom>
          <a:noFill/>
        </p:spPr>
        <p:txBody>
          <a:bodyPr wrap="square">
            <a:spAutoFit/>
          </a:bodyPr>
          <a:lstStyle/>
          <a:p>
            <a:r>
              <a:rPr lang="en-US" altLang="ko-KR" sz="1400" b="0" i="0" dirty="0">
                <a:effectLst/>
                <a:latin typeface="D2Coding" panose="020B0609020101020101" pitchFamily="49" charset="-127"/>
                <a:ea typeface="D2Coding" panose="020B0609020101020101" pitchFamily="49" charset="-127"/>
              </a:rPr>
              <a:t> A rank-3 timeseries data tensor</a:t>
            </a:r>
            <a:endParaRPr lang="ko-KR" altLang="en-US" sz="1400" dirty="0">
              <a:latin typeface="D2Coding" panose="020B0609020101020101" pitchFamily="49" charset="-127"/>
              <a:ea typeface="D2Coding" panose="020B0609020101020101" pitchFamily="49" charset="-127"/>
            </a:endParaRPr>
          </a:p>
        </p:txBody>
      </p:sp>
      <p:sp>
        <p:nvSpPr>
          <p:cNvPr id="10" name="TextBox 9">
            <a:extLst>
              <a:ext uri="{FF2B5EF4-FFF2-40B4-BE49-F238E27FC236}">
                <a16:creationId xmlns:a16="http://schemas.microsoft.com/office/drawing/2014/main" id="{589FBEF4-A26F-4DC5-DB00-BC35A5DA8E44}"/>
              </a:ext>
            </a:extLst>
          </p:cNvPr>
          <p:cNvSpPr txBox="1"/>
          <p:nvPr/>
        </p:nvSpPr>
        <p:spPr>
          <a:xfrm>
            <a:off x="4673600" y="1469162"/>
            <a:ext cx="7172960" cy="4583627"/>
          </a:xfrm>
          <a:prstGeom prst="rect">
            <a:avLst/>
          </a:prstGeom>
          <a:noFill/>
        </p:spPr>
        <p:txBody>
          <a:bodyPr wrap="square">
            <a:spAutoFit/>
          </a:bodyPr>
          <a:lstStyle/>
          <a:p>
            <a:pPr marL="285750" indent="-285750" algn="just">
              <a:lnSpc>
                <a:spcPct val="150000"/>
              </a:lnSpc>
              <a:buFont typeface="Wingdings" panose="05000000000000000000" pitchFamily="2" charset="2"/>
              <a:buChar char="v"/>
            </a:pPr>
            <a:r>
              <a:rPr lang="en-US" altLang="ko-KR" sz="1400" b="0" i="1" dirty="0">
                <a:effectLst/>
                <a:latin typeface="D2Coding" panose="020B0609020101020101" pitchFamily="49" charset="-127"/>
                <a:ea typeface="D2Coding" panose="020B0609020101020101" pitchFamily="49" charset="-127"/>
              </a:rPr>
              <a:t>A dataset of stock prices</a:t>
            </a:r>
            <a:r>
              <a:rPr lang="en-US" altLang="ko-KR" sz="1400" b="0" i="0" dirty="0">
                <a:effectLst/>
                <a:latin typeface="D2Coding" panose="020B0609020101020101" pitchFamily="49" charset="-127"/>
                <a:ea typeface="D2Coding" panose="020B0609020101020101" pitchFamily="49" charset="-127"/>
              </a:rPr>
              <a:t> — Every minute, we store the current price of the stock, the highest price in the past minute, and the lowest price in the past minute. Thus every minute is encoded as a 3D vector, an entire day of trading is encoded as a matrix of shape (390, 3) (there are 390 minutes in a trading day), and 250 days’ worth of data can be stored in a rank-3 tensor of shape (250, 390, 3). </a:t>
            </a:r>
            <a:r>
              <a:rPr lang="en-US" altLang="ko-KR" sz="1400" b="1" i="0" dirty="0">
                <a:effectLst/>
                <a:latin typeface="D2Coding" panose="020B0609020101020101" pitchFamily="49" charset="-127"/>
                <a:ea typeface="D2Coding" panose="020B0609020101020101" pitchFamily="49" charset="-127"/>
              </a:rPr>
              <a:t>(Batch size, Timesteps, # of Features)</a:t>
            </a:r>
          </a:p>
          <a:p>
            <a:pPr marL="285750" indent="-285750" algn="just">
              <a:lnSpc>
                <a:spcPct val="150000"/>
              </a:lnSpc>
              <a:buFont typeface="Wingdings" panose="05000000000000000000" pitchFamily="2" charset="2"/>
              <a:buChar char="v"/>
            </a:pPr>
            <a:endParaRPr lang="en-US" altLang="ko-KR" sz="1400" b="0" i="0" dirty="0">
              <a:effectLst/>
              <a:latin typeface="D2Coding" panose="020B0609020101020101" pitchFamily="49" charset="-127"/>
              <a:ea typeface="D2Coding" panose="020B0609020101020101" pitchFamily="49" charset="-127"/>
            </a:endParaRPr>
          </a:p>
          <a:p>
            <a:pPr marL="285750" indent="-285750" algn="just">
              <a:lnSpc>
                <a:spcPct val="150000"/>
              </a:lnSpc>
              <a:buFont typeface="Wingdings" panose="05000000000000000000" pitchFamily="2" charset="2"/>
              <a:buChar char="v"/>
            </a:pPr>
            <a:r>
              <a:rPr lang="en-US" altLang="ko-KR" sz="1400" b="0" i="1" dirty="0">
                <a:effectLst/>
                <a:latin typeface="D2Coding" panose="020B0609020101020101" pitchFamily="49" charset="-127"/>
                <a:ea typeface="D2Coding" panose="020B0609020101020101" pitchFamily="49" charset="-127"/>
              </a:rPr>
              <a:t>A dataset of tweets, where we encode each tweet as a sequence of 280 characters out of an alphabet of 128 unique characters</a:t>
            </a:r>
            <a:r>
              <a:rPr lang="en-US" altLang="ko-KR" sz="1400" b="0" i="0" dirty="0">
                <a:effectLst/>
                <a:latin typeface="D2Coding" panose="020B0609020101020101" pitchFamily="49" charset="-127"/>
                <a:ea typeface="D2Coding" panose="020B0609020101020101" pitchFamily="49" charset="-127"/>
              </a:rPr>
              <a:t> — In this setting, each character can be encoded as a binary vector of size 128 (an all-zeros vector except for a 1 entry at the index corresponding to the character). Then each tweet can be encoded as a rank-2 tensor of shape (280, 128), and a dataset of 1 million tweets can be stored in a tensor of shape (1000000, 280, 128).</a:t>
            </a:r>
          </a:p>
        </p:txBody>
      </p:sp>
    </p:spTree>
    <p:extLst>
      <p:ext uri="{BB962C8B-B14F-4D97-AF65-F5344CB8AC3E}">
        <p14:creationId xmlns:p14="http://schemas.microsoft.com/office/powerpoint/2010/main" val="4224003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A55FA-C15E-7045-0184-107FFD09BC75}"/>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E344706C-F3C3-2E7B-38B5-A4331501DE6C}"/>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7</a:t>
            </a:fld>
            <a:endParaRPr lang="en-US" dirty="0"/>
          </a:p>
        </p:txBody>
      </p:sp>
      <p:sp>
        <p:nvSpPr>
          <p:cNvPr id="3" name="제목 1">
            <a:extLst>
              <a:ext uri="{FF2B5EF4-FFF2-40B4-BE49-F238E27FC236}">
                <a16:creationId xmlns:a16="http://schemas.microsoft.com/office/drawing/2014/main" id="{81FB320A-513B-9C78-38F1-6C5DD6423E46}"/>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4098" name="Picture 2">
            <a:extLst>
              <a:ext uri="{FF2B5EF4-FFF2-40B4-BE49-F238E27FC236}">
                <a16:creationId xmlns:a16="http://schemas.microsoft.com/office/drawing/2014/main" id="{81783B4A-BD11-A89E-13E5-3A2E8656B5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588" y="2594536"/>
            <a:ext cx="3032880" cy="9477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4BF7DD33-BE64-686A-729E-BB691AA4C3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3614" y="2053941"/>
            <a:ext cx="6760798" cy="31276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813771-5B66-A344-79F0-1F59759E94C1}"/>
              </a:ext>
            </a:extLst>
          </p:cNvPr>
          <p:cNvSpPr txBox="1"/>
          <p:nvPr/>
        </p:nvSpPr>
        <p:spPr>
          <a:xfrm>
            <a:off x="1506609" y="3777734"/>
            <a:ext cx="1474838" cy="584775"/>
          </a:xfrm>
          <a:prstGeom prst="rect">
            <a:avLst/>
          </a:prstGeom>
          <a:noFill/>
        </p:spPr>
        <p:txBody>
          <a:bodyPr wrap="square">
            <a:spAutoFit/>
          </a:bodyPr>
          <a:lstStyle/>
          <a:p>
            <a:pPr algn="ctr"/>
            <a:r>
              <a:rPr lang="en-US" altLang="ko-KR" sz="1600" dirty="0">
                <a:solidFill>
                  <a:srgbClr val="000000"/>
                </a:solidFill>
                <a:latin typeface="D2Coding" panose="020B0609020101020101" pitchFamily="49" charset="-127"/>
                <a:ea typeface="D2Coding" panose="020B0609020101020101" pitchFamily="49" charset="-127"/>
              </a:rPr>
              <a:t>Memory</a:t>
            </a:r>
            <a:r>
              <a:rPr lang="ko-KR" altLang="en-US" sz="1600" dirty="0">
                <a:solidFill>
                  <a:srgbClr val="000000"/>
                </a:solidFill>
                <a:latin typeface="D2Coding" panose="020B0609020101020101" pitchFamily="49" charset="-127"/>
                <a:ea typeface="D2Coding" panose="020B0609020101020101" pitchFamily="49" charset="-127"/>
              </a:rPr>
              <a:t> </a:t>
            </a:r>
            <a:r>
              <a:rPr lang="en-US" altLang="ko-KR" sz="1600" dirty="0">
                <a:solidFill>
                  <a:srgbClr val="000000"/>
                </a:solidFill>
                <a:latin typeface="D2Coding" panose="020B0609020101020101" pitchFamily="49" charset="-127"/>
                <a:ea typeface="D2Coding" panose="020B0609020101020101" pitchFamily="49" charset="-127"/>
              </a:rPr>
              <a:t>Cell</a:t>
            </a:r>
          </a:p>
          <a:p>
            <a:pPr algn="ctr"/>
            <a:r>
              <a:rPr lang="en-US" altLang="ko-KR" sz="1600" dirty="0">
                <a:solidFill>
                  <a:srgbClr val="000000"/>
                </a:solidFill>
                <a:latin typeface="D2Coding" panose="020B0609020101020101" pitchFamily="49" charset="-127"/>
                <a:ea typeface="D2Coding" panose="020B0609020101020101" pitchFamily="49" charset="-127"/>
              </a:rPr>
              <a:t>(</a:t>
            </a:r>
            <a:r>
              <a:rPr lang="en-US" altLang="ko-KR" sz="1600" i="0" dirty="0">
                <a:solidFill>
                  <a:srgbClr val="000000"/>
                </a:solidFill>
                <a:effectLst/>
                <a:latin typeface="D2Coding" panose="020B0609020101020101" pitchFamily="49" charset="-127"/>
                <a:ea typeface="D2Coding" panose="020B0609020101020101" pitchFamily="49" charset="-127"/>
              </a:rPr>
              <a:t>RNN </a:t>
            </a:r>
            <a:r>
              <a:rPr lang="en-US" altLang="ko-KR" sz="1600" dirty="0">
                <a:solidFill>
                  <a:srgbClr val="000000"/>
                </a:solidFill>
                <a:latin typeface="D2Coding" panose="020B0609020101020101" pitchFamily="49" charset="-127"/>
                <a:ea typeface="D2Coding" panose="020B0609020101020101" pitchFamily="49" charset="-127"/>
              </a:rPr>
              <a:t>Cell)</a:t>
            </a:r>
            <a:endParaRPr lang="ko-KR" altLang="en-US" sz="1600" dirty="0">
              <a:latin typeface="D2Coding" panose="020B0609020101020101" pitchFamily="49" charset="-127"/>
              <a:ea typeface="D2Coding" panose="020B0609020101020101" pitchFamily="49" charset="-127"/>
            </a:endParaRPr>
          </a:p>
        </p:txBody>
      </p:sp>
      <p:sp>
        <p:nvSpPr>
          <p:cNvPr id="11" name="TextBox 10">
            <a:extLst>
              <a:ext uri="{FF2B5EF4-FFF2-40B4-BE49-F238E27FC236}">
                <a16:creationId xmlns:a16="http://schemas.microsoft.com/office/drawing/2014/main" id="{21FE149D-72F1-5FF1-97A0-EF220E0C75FC}"/>
              </a:ext>
            </a:extLst>
          </p:cNvPr>
          <p:cNvSpPr txBox="1"/>
          <p:nvPr/>
        </p:nvSpPr>
        <p:spPr>
          <a:xfrm>
            <a:off x="6735096" y="5287198"/>
            <a:ext cx="4827639" cy="369332"/>
          </a:xfrm>
          <a:prstGeom prst="rect">
            <a:avLst/>
          </a:prstGeom>
          <a:noFill/>
        </p:spPr>
        <p:txBody>
          <a:bodyPr wrap="square" rtlCol="0">
            <a:spAutoFit/>
          </a:bodyPr>
          <a:lstStyle/>
          <a:p>
            <a:r>
              <a:rPr lang="en-US" altLang="ko-KR" dirty="0"/>
              <a:t>I	am	  your		      father</a:t>
            </a:r>
            <a:endParaRPr lang="ko-KR" altLang="en-US" dirty="0"/>
          </a:p>
        </p:txBody>
      </p:sp>
      <p:sp>
        <p:nvSpPr>
          <p:cNvPr id="12" name="TextBox 11">
            <a:extLst>
              <a:ext uri="{FF2B5EF4-FFF2-40B4-BE49-F238E27FC236}">
                <a16:creationId xmlns:a16="http://schemas.microsoft.com/office/drawing/2014/main" id="{4CF75BC3-7442-2D30-F561-C46CE62ACA9A}"/>
              </a:ext>
            </a:extLst>
          </p:cNvPr>
          <p:cNvSpPr txBox="1"/>
          <p:nvPr/>
        </p:nvSpPr>
        <p:spPr>
          <a:xfrm>
            <a:off x="6754761" y="5666929"/>
            <a:ext cx="4827639" cy="369332"/>
          </a:xfrm>
          <a:prstGeom prst="rect">
            <a:avLst/>
          </a:prstGeom>
          <a:noFill/>
        </p:spPr>
        <p:txBody>
          <a:bodyPr wrap="square" rtlCol="0">
            <a:spAutoFit/>
          </a:bodyPr>
          <a:lstStyle/>
          <a:p>
            <a:r>
              <a:rPr lang="en-US" altLang="ko-KR" dirty="0"/>
              <a:t>t-3	t-2	  t-1		      t</a:t>
            </a:r>
            <a:endParaRPr lang="ko-KR" altLang="en-US" dirty="0"/>
          </a:p>
        </p:txBody>
      </p:sp>
      <p:sp>
        <p:nvSpPr>
          <p:cNvPr id="13" name="TextBox 12">
            <a:extLst>
              <a:ext uri="{FF2B5EF4-FFF2-40B4-BE49-F238E27FC236}">
                <a16:creationId xmlns:a16="http://schemas.microsoft.com/office/drawing/2014/main" id="{205F1669-9C47-2186-A6CE-09B429D88EF4}"/>
              </a:ext>
            </a:extLst>
          </p:cNvPr>
          <p:cNvSpPr txBox="1"/>
          <p:nvPr/>
        </p:nvSpPr>
        <p:spPr>
          <a:xfrm>
            <a:off x="609600" y="1238250"/>
            <a:ext cx="10972800" cy="465320"/>
          </a:xfrm>
          <a:prstGeom prst="rect">
            <a:avLst/>
          </a:prstGeom>
          <a:noFill/>
        </p:spPr>
        <p:txBody>
          <a:bodyPr wrap="square" rtlCol="0">
            <a:spAutoFit/>
          </a:bodyPr>
          <a:lstStyle/>
          <a:p>
            <a:pPr>
              <a:lnSpc>
                <a:spcPct val="150000"/>
              </a:lnSpc>
            </a:pPr>
            <a:r>
              <a:rPr lang="ko-KR" altLang="en-US" dirty="0">
                <a:latin typeface="D2Coding" panose="020B0609020101020101" pitchFamily="49" charset="-127"/>
                <a:ea typeface="D2Coding" panose="020B0609020101020101" pitchFamily="49" charset="-127"/>
              </a:rPr>
              <a:t>언어</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혹은 주가와 같이 순서가 중요한 입력 </a:t>
            </a:r>
            <a:r>
              <a:rPr lang="en-US" altLang="ko-KR" dirty="0">
                <a:latin typeface="D2Coding" panose="020B0609020101020101" pitchFamily="49" charset="-127"/>
                <a:ea typeface="D2Coding" panose="020B0609020101020101" pitchFamily="49" charset="-127"/>
              </a:rPr>
              <a:t>Feature</a:t>
            </a:r>
            <a:r>
              <a:rPr lang="ko-KR" altLang="en-US" dirty="0">
                <a:latin typeface="D2Coding" panose="020B0609020101020101" pitchFamily="49" charset="-127"/>
                <a:ea typeface="D2Coding" panose="020B0609020101020101" pitchFamily="49" charset="-127"/>
              </a:rPr>
              <a:t>는 과거를 기억해야 함</a:t>
            </a:r>
          </a:p>
        </p:txBody>
      </p:sp>
    </p:spTree>
    <p:extLst>
      <p:ext uri="{BB962C8B-B14F-4D97-AF65-F5344CB8AC3E}">
        <p14:creationId xmlns:p14="http://schemas.microsoft.com/office/powerpoint/2010/main" val="1798926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79C2A-2C44-40F0-2338-605399610180}"/>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2CDDC161-4693-0F50-FD2C-C6BEDB68B1A1}"/>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8</a:t>
            </a:fld>
            <a:endParaRPr lang="en-US" dirty="0"/>
          </a:p>
        </p:txBody>
      </p:sp>
      <p:sp>
        <p:nvSpPr>
          <p:cNvPr id="3" name="제목 1">
            <a:extLst>
              <a:ext uri="{FF2B5EF4-FFF2-40B4-BE49-F238E27FC236}">
                <a16:creationId xmlns:a16="http://schemas.microsoft.com/office/drawing/2014/main" id="{7EED9C4A-95FD-32A2-76B6-6A8A1C80888B}"/>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03F29F4F-24C9-9839-8541-1432B5B03EF5}"/>
                  </a:ext>
                </a:extLst>
              </p:cNvPr>
              <p:cNvSpPr txBox="1"/>
              <p:nvPr/>
            </p:nvSpPr>
            <p:spPr>
              <a:xfrm>
                <a:off x="609599" y="1238250"/>
                <a:ext cx="11257043" cy="1162498"/>
              </a:xfrm>
              <a:prstGeom prst="rect">
                <a:avLst/>
              </a:prstGeom>
              <a:noFill/>
            </p:spPr>
            <p:txBody>
              <a:bodyPr wrap="square" rtlCol="0">
                <a:spAutoFit/>
              </a:bodyPr>
              <a:lstStyle/>
              <a:p>
                <a:pPr>
                  <a:lnSpc>
                    <a:spcPct val="150000"/>
                  </a:lnSpc>
                </a:pPr>
                <a:r>
                  <a:rPr lang="ko-KR" altLang="en-US" sz="1600" dirty="0">
                    <a:latin typeface="D2Coding" panose="020B0609020101020101" pitchFamily="49" charset="-127"/>
                    <a:ea typeface="D2Coding" panose="020B0609020101020101" pitchFamily="49" charset="-127"/>
                  </a:rPr>
                  <a:t>입력 </a:t>
                </a:r>
                <a:r>
                  <a:rPr lang="en-US" altLang="ko-KR" sz="1600" dirty="0">
                    <a:latin typeface="D2Coding" panose="020B0609020101020101" pitchFamily="49" charset="-127"/>
                    <a:ea typeface="D2Coding" panose="020B0609020101020101" pitchFamily="49" charset="-127"/>
                  </a:rPr>
                  <a:t>Feature</a:t>
                </a:r>
                <a:r>
                  <a:rPr lang="ko-KR" altLang="en-US" sz="1600" dirty="0">
                    <a:latin typeface="D2Coding" panose="020B0609020101020101" pitchFamily="49" charset="-127"/>
                    <a:ea typeface="D2Coding" panose="020B0609020101020101" pitchFamily="49" charset="-127"/>
                  </a:rPr>
                  <a:t>가 </a:t>
                </a:r>
                <a:r>
                  <a:rPr lang="en-US" altLang="ko-KR" sz="1600" dirty="0">
                    <a:latin typeface="D2Coding" panose="020B0609020101020101" pitchFamily="49" charset="-127"/>
                    <a:ea typeface="D2Coding" panose="020B0609020101020101" pitchFamily="49" charset="-127"/>
                  </a:rPr>
                  <a:t>4</a:t>
                </a:r>
                <a:r>
                  <a:rPr lang="ko-KR" altLang="en-US" sz="1600" dirty="0">
                    <a:latin typeface="D2Coding" panose="020B0609020101020101" pitchFamily="49" charset="-127"/>
                    <a:ea typeface="D2Coding" panose="020B0609020101020101" pitchFamily="49" charset="-127"/>
                  </a:rPr>
                  <a:t>개</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 은닉상태</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크기가 </a:t>
                </a:r>
                <a:r>
                  <a:rPr lang="en-US" altLang="ko-KR" sz="1600" dirty="0">
                    <a:latin typeface="D2Coding" panose="020B0609020101020101" pitchFamily="49" charset="-127"/>
                    <a:ea typeface="D2Coding" panose="020B0609020101020101" pitchFamily="49" charset="-127"/>
                  </a:rPr>
                  <a:t>2), </a:t>
                </a:r>
                <a:r>
                  <a:rPr lang="ko-KR" altLang="en-US" sz="1600" dirty="0">
                    <a:latin typeface="D2Coding" panose="020B0609020101020101" pitchFamily="49" charset="-127"/>
                    <a:ea typeface="D2Coding" panose="020B0609020101020101" pitchFamily="49" charset="-127"/>
                  </a:rPr>
                  <a:t>은닉 층은 </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개를 통과시켜</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출력 층 </a:t>
                </a:r>
                <a:r>
                  <a:rPr lang="en-US" altLang="ko-KR" sz="1600" dirty="0">
                    <a:latin typeface="D2Coding" panose="020B0609020101020101" pitchFamily="49" charset="-127"/>
                    <a:ea typeface="D2Coding" panose="020B0609020101020101" pitchFamily="49" charset="-127"/>
                  </a:rPr>
                  <a:t>2</a:t>
                </a:r>
                <a:r>
                  <a:rPr lang="ko-KR" altLang="en-US" sz="1600" dirty="0">
                    <a:latin typeface="D2Coding" panose="020B0609020101020101" pitchFamily="49" charset="-127"/>
                    <a:ea typeface="D2Coding" panose="020B0609020101020101" pitchFamily="49" charset="-127"/>
                  </a:rPr>
                  <a:t>개인 </a:t>
                </a:r>
                <a:r>
                  <a:rPr lang="en-US" altLang="ko-KR" sz="1600" dirty="0">
                    <a:latin typeface="D2Coding" panose="020B0609020101020101" pitchFamily="49" charset="-127"/>
                    <a:ea typeface="D2Coding" panose="020B0609020101020101" pitchFamily="49" charset="-127"/>
                  </a:rPr>
                  <a:t>RNN </a:t>
                </a:r>
                <a:r>
                  <a:rPr lang="ko-KR" altLang="en-US" sz="1600" dirty="0">
                    <a:latin typeface="D2Coding" panose="020B0609020101020101" pitchFamily="49" charset="-127"/>
                    <a:ea typeface="D2Coding" panose="020B0609020101020101" pitchFamily="49" charset="-127"/>
                  </a:rPr>
                  <a:t>구조는</a:t>
                </a:r>
                <a:r>
                  <a:rPr lang="en-US" altLang="ko-KR" sz="1600" dirty="0">
                    <a:latin typeface="D2Coding" panose="020B0609020101020101" pitchFamily="49" charset="-127"/>
                    <a:ea typeface="D2Coding" panose="020B0609020101020101" pitchFamily="49" charset="-127"/>
                  </a:rPr>
                  <a:t> Hidden Layer </a:t>
                </a:r>
                <a:r>
                  <a:rPr lang="en-US" altLang="ko-KR" sz="1600" dirty="0">
                    <a:latin typeface="D2Coding" panose="020B0609020101020101" pitchFamily="49" charset="-127"/>
                    <a:ea typeface="D2Coding" panose="020B0609020101020101" pitchFamily="49" charset="-127"/>
                    <a:sym typeface="Wingdings" panose="05000000000000000000" pitchFamily="2" charset="2"/>
                  </a:rPr>
                  <a:t> Hidden Layer </a:t>
                </a:r>
                <a:r>
                  <a:rPr lang="ko-KR" altLang="en-US" sz="1600" dirty="0">
                    <a:latin typeface="D2Coding" panose="020B0609020101020101" pitchFamily="49" charset="-127"/>
                    <a:ea typeface="D2Coding" panose="020B0609020101020101" pitchFamily="49" charset="-127"/>
                  </a:rPr>
                  <a:t>가는</a:t>
                </a:r>
                <a:r>
                  <a:rPr lang="en-US" altLang="ko-KR" sz="1600" dirty="0">
                    <a:latin typeface="D2Coding" panose="020B0609020101020101" pitchFamily="49" charset="-127"/>
                    <a:ea typeface="D2Coding" panose="020B0609020101020101" pitchFamily="49" charset="-127"/>
                  </a:rPr>
                  <a:t>, Hidden Layer</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sym typeface="Wingdings" panose="05000000000000000000" pitchFamily="2" charset="2"/>
                  </a:rPr>
                  <a:t> </a:t>
                </a:r>
                <a:r>
                  <a:rPr lang="en-US" altLang="ko-KR" sz="1600" dirty="0">
                    <a:latin typeface="D2Coding" panose="020B0609020101020101" pitchFamily="49" charset="-127"/>
                    <a:ea typeface="D2Coding" panose="020B0609020101020101" pitchFamily="49" charset="-127"/>
                  </a:rPr>
                  <a:t>Output Layer</a:t>
                </a:r>
                <a:r>
                  <a:rPr lang="ko-KR" altLang="en-US" sz="1600" dirty="0">
                    <a:latin typeface="D2Coding" panose="020B0609020101020101" pitchFamily="49" charset="-127"/>
                    <a:ea typeface="D2Coding" panose="020B0609020101020101" pitchFamily="49" charset="-127"/>
                  </a:rPr>
                  <a:t>로 가는 화살표를 </a:t>
                </a:r>
                <a14:m>
                  <m:oMath xmlns:m="http://schemas.openxmlformats.org/officeDocument/2006/math">
                    <m:r>
                      <a:rPr lang="en-US" altLang="ko-KR" sz="1600" i="1" dirty="0" smtClean="0">
                        <a:latin typeface="Cambria Math" panose="02040503050406030204" pitchFamily="18" charset="0"/>
                      </a:rPr>
                      <m:t>𝑤</m:t>
                    </m:r>
                  </m:oMath>
                </a14:m>
                <a:r>
                  <a:rPr lang="en-US" altLang="ko-KR" sz="1600" dirty="0">
                    <a:latin typeface="D2Coding" panose="020B0609020101020101" pitchFamily="49" charset="-127"/>
                    <a:ea typeface="D2Coding" panose="020B0609020101020101" pitchFamily="49" charset="-127"/>
                  </a:rPr>
                  <a:t> (Weights)</a:t>
                </a:r>
                <a:r>
                  <a:rPr lang="ko-KR" altLang="en-US" sz="1600" dirty="0">
                    <a:latin typeface="D2Coding" panose="020B0609020101020101" pitchFamily="49" charset="-127"/>
                    <a:ea typeface="D2Coding" panose="020B0609020101020101" pitchFamily="49" charset="-127"/>
                  </a:rPr>
                  <a:t>와 </a:t>
                </a:r>
                <a14:m>
                  <m:oMath xmlns:m="http://schemas.openxmlformats.org/officeDocument/2006/math">
                    <m:r>
                      <a:rPr lang="en-US" altLang="ko-KR" sz="1600" i="1" dirty="0">
                        <a:latin typeface="Cambria Math" panose="02040503050406030204" pitchFamily="18" charset="0"/>
                      </a:rPr>
                      <m:t>𝑥</m:t>
                    </m:r>
                    <m:r>
                      <a:rPr lang="en-US" altLang="ko-KR" sz="1600" b="0" i="1" dirty="0" smtClean="0">
                        <a:latin typeface="Cambria Math" panose="02040503050406030204" pitchFamily="18" charset="0"/>
                      </a:rPr>
                      <m:t>, </m:t>
                    </m:r>
                    <m:r>
                      <a:rPr lang="en-US" altLang="ko-KR" sz="1600" i="1" dirty="0">
                        <a:latin typeface="Cambria Math" panose="02040503050406030204" pitchFamily="18" charset="0"/>
                      </a:rPr>
                      <m:t>h</m:t>
                    </m:r>
                    <m:r>
                      <a:rPr lang="en-US" altLang="ko-KR" sz="1600" b="0" i="1" dirty="0" smtClean="0">
                        <a:latin typeface="Cambria Math" panose="02040503050406030204" pitchFamily="18" charset="0"/>
                      </a:rPr>
                      <m:t>, </m:t>
                    </m:r>
                    <m:r>
                      <a:rPr lang="en-US" altLang="ko-KR" sz="1600" i="1" dirty="0">
                        <a:latin typeface="Cambria Math" panose="02040503050406030204" pitchFamily="18" charset="0"/>
                      </a:rPr>
                      <m:t>𝑦</m:t>
                    </m:r>
                  </m:oMath>
                </a14:m>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Node(layer)</a:t>
                </a:r>
                <a:r>
                  <a:rPr lang="ko-KR" altLang="en-US" sz="1600" dirty="0">
                    <a:latin typeface="D2Coding" panose="020B0609020101020101" pitchFamily="49" charset="-127"/>
                    <a:ea typeface="D2Coding" panose="020B0609020101020101" pitchFamily="49" charset="-127"/>
                  </a:rPr>
                  <a:t>로 행렬식 형태로 표현</a:t>
                </a:r>
                <a:r>
                  <a:rPr lang="en-US" altLang="ko-KR" sz="1600" dirty="0">
                    <a:latin typeface="D2Coding" panose="020B0609020101020101" pitchFamily="49" charset="-127"/>
                    <a:ea typeface="D2Coding" panose="020B0609020101020101" pitchFamily="49" charset="-127"/>
                  </a:rPr>
                  <a:t>  </a:t>
                </a:r>
                <a:endParaRPr lang="ko-KR" altLang="en-US" sz="1600" dirty="0">
                  <a:latin typeface="D2Coding" panose="020B0609020101020101" pitchFamily="49" charset="-127"/>
                  <a:ea typeface="D2Coding" panose="020B0609020101020101" pitchFamily="49" charset="-127"/>
                </a:endParaRPr>
              </a:p>
            </p:txBody>
          </p:sp>
        </mc:Choice>
        <mc:Fallback>
          <p:sp>
            <p:nvSpPr>
              <p:cNvPr id="13" name="TextBox 12">
                <a:extLst>
                  <a:ext uri="{FF2B5EF4-FFF2-40B4-BE49-F238E27FC236}">
                    <a16:creationId xmlns:a16="http://schemas.microsoft.com/office/drawing/2014/main" id="{03F29F4F-24C9-9839-8541-1432B5B03EF5}"/>
                  </a:ext>
                </a:extLst>
              </p:cNvPr>
              <p:cNvSpPr txBox="1">
                <a:spLocks noRot="1" noChangeAspect="1" noMove="1" noResize="1" noEditPoints="1" noAdjustHandles="1" noChangeArrowheads="1" noChangeShapeType="1" noTextEdit="1"/>
              </p:cNvSpPr>
              <p:nvPr/>
            </p:nvSpPr>
            <p:spPr>
              <a:xfrm>
                <a:off x="609599" y="1238250"/>
                <a:ext cx="11257043" cy="1162498"/>
              </a:xfrm>
              <a:prstGeom prst="rect">
                <a:avLst/>
              </a:prstGeom>
              <a:blipFill>
                <a:blip r:embed="rId2"/>
                <a:stretch>
                  <a:fillRect l="-271" b="-5236"/>
                </a:stretch>
              </a:blipFill>
            </p:spPr>
            <p:txBody>
              <a:bodyPr/>
              <a:lstStyle/>
              <a:p>
                <a:r>
                  <a:rPr lang="ko-KR" altLang="en-US">
                    <a:noFill/>
                  </a:rPr>
                  <a:t> </a:t>
                </a:r>
              </a:p>
            </p:txBody>
          </p:sp>
        </mc:Fallback>
      </mc:AlternateContent>
      <p:pic>
        <p:nvPicPr>
          <p:cNvPr id="5124" name="Picture 4">
            <a:extLst>
              <a:ext uri="{FF2B5EF4-FFF2-40B4-BE49-F238E27FC236}">
                <a16:creationId xmlns:a16="http://schemas.microsoft.com/office/drawing/2014/main" id="{8D3044CE-ABBC-4FFC-BD47-C78396D66AB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10422089" y="2927487"/>
            <a:ext cx="1444554" cy="2308917"/>
          </a:xfrm>
          <a:prstGeom prst="rect">
            <a:avLst/>
          </a:prstGeom>
          <a:noFill/>
          <a:extLst>
            <a:ext uri="{909E8E84-426E-40DD-AFC4-6F175D3DCCD1}">
              <a14:hiddenFill xmlns:a14="http://schemas.microsoft.com/office/drawing/2010/main">
                <a:solidFill>
                  <a:srgbClr val="FFFFFF"/>
                </a:solidFill>
              </a14:hiddenFill>
            </a:ext>
          </a:extLst>
        </p:spPr>
      </p:pic>
      <p:pic>
        <p:nvPicPr>
          <p:cNvPr id="11" name="그림 10">
            <a:extLst>
              <a:ext uri="{FF2B5EF4-FFF2-40B4-BE49-F238E27FC236}">
                <a16:creationId xmlns:a16="http://schemas.microsoft.com/office/drawing/2014/main" id="{C43789A1-1AE1-7F18-B16E-22EAF9660105}"/>
              </a:ext>
            </a:extLst>
          </p:cNvPr>
          <p:cNvPicPr>
            <a:picLocks noChangeAspect="1"/>
          </p:cNvPicPr>
          <p:nvPr/>
        </p:nvPicPr>
        <p:blipFill>
          <a:blip r:embed="rId5"/>
          <a:stretch>
            <a:fillRect/>
          </a:stretch>
        </p:blipFill>
        <p:spPr>
          <a:xfrm>
            <a:off x="651191" y="2927487"/>
            <a:ext cx="2569373" cy="2325224"/>
          </a:xfrm>
          <a:prstGeom prst="rect">
            <a:avLst/>
          </a:prstGeom>
        </p:spPr>
      </p:pic>
      <p:pic>
        <p:nvPicPr>
          <p:cNvPr id="12" name="Picture 2">
            <a:extLst>
              <a:ext uri="{FF2B5EF4-FFF2-40B4-BE49-F238E27FC236}">
                <a16:creationId xmlns:a16="http://schemas.microsoft.com/office/drawing/2014/main" id="{AF6AED0D-A629-B977-7EAD-E0994F379355}"/>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3632976" y="2927487"/>
            <a:ext cx="5053824" cy="229508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45CF377-C6C3-A826-7537-E3D9E7874ED8}"/>
              </a:ext>
            </a:extLst>
          </p:cNvPr>
          <p:cNvSpPr txBox="1"/>
          <p:nvPr/>
        </p:nvSpPr>
        <p:spPr>
          <a:xfrm>
            <a:off x="8795270" y="4903436"/>
            <a:ext cx="1626819" cy="338554"/>
          </a:xfrm>
          <a:prstGeom prst="rect">
            <a:avLst/>
          </a:prstGeom>
          <a:noFill/>
        </p:spPr>
        <p:txBody>
          <a:bodyPr wrap="square">
            <a:spAutoFit/>
          </a:bodyPr>
          <a:lstStyle/>
          <a:p>
            <a:r>
              <a:rPr lang="en-US" altLang="ko-KR" sz="1600" dirty="0">
                <a:latin typeface="D2Coding" panose="020B0609020101020101" pitchFamily="49" charset="-127"/>
                <a:ea typeface="D2Coding" panose="020B0609020101020101" pitchFamily="49" charset="-127"/>
              </a:rPr>
              <a:t>Input Layer</a:t>
            </a:r>
            <a:endParaRPr lang="ko-KR" altLang="en-US" sz="1600" dirty="0">
              <a:latin typeface="D2Coding" panose="020B0609020101020101" pitchFamily="49" charset="-127"/>
              <a:ea typeface="D2Coding" panose="020B0609020101020101" pitchFamily="49" charset="-127"/>
            </a:endParaRPr>
          </a:p>
        </p:txBody>
      </p:sp>
      <p:sp>
        <p:nvSpPr>
          <p:cNvPr id="15" name="TextBox 14">
            <a:extLst>
              <a:ext uri="{FF2B5EF4-FFF2-40B4-BE49-F238E27FC236}">
                <a16:creationId xmlns:a16="http://schemas.microsoft.com/office/drawing/2014/main" id="{A25604D3-0827-D659-1A3B-14E7D2E971BA}"/>
              </a:ext>
            </a:extLst>
          </p:cNvPr>
          <p:cNvSpPr txBox="1"/>
          <p:nvPr/>
        </p:nvSpPr>
        <p:spPr>
          <a:xfrm>
            <a:off x="8795270" y="3967749"/>
            <a:ext cx="1626819" cy="338554"/>
          </a:xfrm>
          <a:prstGeom prst="rect">
            <a:avLst/>
          </a:prstGeom>
          <a:noFill/>
        </p:spPr>
        <p:txBody>
          <a:bodyPr wrap="square">
            <a:spAutoFit/>
          </a:bodyPr>
          <a:lstStyle/>
          <a:p>
            <a:r>
              <a:rPr lang="en-US" altLang="ko-KR" sz="1600" dirty="0">
                <a:latin typeface="D2Coding" panose="020B0609020101020101" pitchFamily="49" charset="-127"/>
                <a:ea typeface="D2Coding" panose="020B0609020101020101" pitchFamily="49" charset="-127"/>
              </a:rPr>
              <a:t>Hidden Layer</a:t>
            </a:r>
            <a:endParaRPr lang="ko-KR" altLang="en-US" sz="1600" dirty="0">
              <a:latin typeface="D2Coding" panose="020B0609020101020101" pitchFamily="49" charset="-127"/>
              <a:ea typeface="D2Coding" panose="020B0609020101020101" pitchFamily="49" charset="-127"/>
            </a:endParaRPr>
          </a:p>
        </p:txBody>
      </p:sp>
      <p:sp>
        <p:nvSpPr>
          <p:cNvPr id="16" name="TextBox 15">
            <a:extLst>
              <a:ext uri="{FF2B5EF4-FFF2-40B4-BE49-F238E27FC236}">
                <a16:creationId xmlns:a16="http://schemas.microsoft.com/office/drawing/2014/main" id="{05EFDF52-B735-6C52-2BE9-30037DEC18F1}"/>
              </a:ext>
            </a:extLst>
          </p:cNvPr>
          <p:cNvSpPr txBox="1"/>
          <p:nvPr/>
        </p:nvSpPr>
        <p:spPr>
          <a:xfrm>
            <a:off x="8795271" y="3037648"/>
            <a:ext cx="1626819" cy="338554"/>
          </a:xfrm>
          <a:prstGeom prst="rect">
            <a:avLst/>
          </a:prstGeom>
          <a:noFill/>
        </p:spPr>
        <p:txBody>
          <a:bodyPr wrap="square">
            <a:spAutoFit/>
          </a:bodyPr>
          <a:lstStyle/>
          <a:p>
            <a:r>
              <a:rPr lang="en-US" altLang="ko-KR" sz="1600" dirty="0">
                <a:latin typeface="D2Coding" panose="020B0609020101020101" pitchFamily="49" charset="-127"/>
                <a:ea typeface="D2Coding" panose="020B0609020101020101" pitchFamily="49" charset="-127"/>
              </a:rPr>
              <a:t>Output Layer</a:t>
            </a:r>
            <a:endParaRPr lang="ko-KR" altLang="en-US" sz="16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3612066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45B8A-C84C-7FBC-FC84-2084577BB9DA}"/>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46080FFC-FC8C-595E-7C4B-2788C99CE8D9}"/>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9</a:t>
            </a:fld>
            <a:endParaRPr lang="en-US" dirty="0"/>
          </a:p>
        </p:txBody>
      </p:sp>
      <p:sp>
        <p:nvSpPr>
          <p:cNvPr id="3" name="제목 1">
            <a:extLst>
              <a:ext uri="{FF2B5EF4-FFF2-40B4-BE49-F238E27FC236}">
                <a16:creationId xmlns:a16="http://schemas.microsoft.com/office/drawing/2014/main" id="{57A9C1A4-67AE-0091-A0D0-D992B8417B04}"/>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3" name="TextBox 12">
            <a:extLst>
              <a:ext uri="{FF2B5EF4-FFF2-40B4-BE49-F238E27FC236}">
                <a16:creationId xmlns:a16="http://schemas.microsoft.com/office/drawing/2014/main" id="{B9D5E40E-135E-FF44-DC9E-5C1339EE23B8}"/>
              </a:ext>
            </a:extLst>
          </p:cNvPr>
          <p:cNvSpPr txBox="1"/>
          <p:nvPr/>
        </p:nvSpPr>
        <p:spPr>
          <a:xfrm>
            <a:off x="609600" y="1238250"/>
            <a:ext cx="10972800" cy="880819"/>
          </a:xfrm>
          <a:prstGeom prst="rect">
            <a:avLst/>
          </a:prstGeom>
          <a:noFill/>
        </p:spPr>
        <p:txBody>
          <a:bodyPr wrap="square" rtlCol="0">
            <a:spAutoFit/>
          </a:bodyPr>
          <a:lstStyle/>
          <a:p>
            <a:pPr>
              <a:lnSpc>
                <a:spcPct val="150000"/>
              </a:lnSpc>
            </a:pPr>
            <a:r>
              <a:rPr lang="ko-KR" altLang="en-US" dirty="0">
                <a:latin typeface="D2Coding" panose="020B0609020101020101" pitchFamily="49" charset="-127"/>
                <a:ea typeface="D2Coding" panose="020B0609020101020101" pitchFamily="49" charset="-127"/>
              </a:rPr>
              <a:t>입력 </a:t>
            </a:r>
            <a:r>
              <a:rPr lang="en-US" altLang="ko-KR" dirty="0">
                <a:latin typeface="D2Coding" panose="020B0609020101020101" pitchFamily="49" charset="-127"/>
                <a:ea typeface="D2Coding" panose="020B0609020101020101" pitchFamily="49" charset="-127"/>
              </a:rPr>
              <a:t>Feature</a:t>
            </a:r>
            <a:r>
              <a:rPr lang="ko-KR" altLang="en-US" dirty="0">
                <a:latin typeface="D2Coding" panose="020B0609020101020101" pitchFamily="49" charset="-127"/>
                <a:ea typeface="D2Coding" panose="020B0609020101020101" pitchFamily="49" charset="-127"/>
              </a:rPr>
              <a:t>가 </a:t>
            </a:r>
            <a:r>
              <a:rPr lang="en-US" altLang="ko-KR" dirty="0">
                <a:latin typeface="D2Coding" panose="020B0609020101020101" pitchFamily="49" charset="-127"/>
                <a:ea typeface="D2Coding" panose="020B0609020101020101" pitchFamily="49" charset="-127"/>
              </a:rPr>
              <a:t>4</a:t>
            </a:r>
            <a:r>
              <a:rPr lang="ko-KR" altLang="en-US" dirty="0">
                <a:latin typeface="D2Coding" panose="020B0609020101020101" pitchFamily="49" charset="-127"/>
                <a:ea typeface="D2Coding" panose="020B0609020101020101" pitchFamily="49" charset="-127"/>
              </a:rPr>
              <a:t>개이고</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차원이 </a:t>
            </a:r>
            <a:r>
              <a:rPr lang="en-US" altLang="ko-KR" dirty="0">
                <a:latin typeface="D2Coding" panose="020B0609020101020101" pitchFamily="49" charset="-127"/>
                <a:ea typeface="D2Coding" panose="020B0609020101020101" pitchFamily="49" charset="-127"/>
              </a:rPr>
              <a:t>4(4</a:t>
            </a:r>
            <a:r>
              <a:rPr lang="ko-KR" altLang="en-US" dirty="0">
                <a:latin typeface="D2Coding" panose="020B0609020101020101" pitchFamily="49" charset="-127"/>
                <a:ea typeface="D2Coding" panose="020B0609020101020101" pitchFamily="49" charset="-127"/>
              </a:rPr>
              <a:t>차원 벡터로 단어를 표현</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를 단어 </a:t>
            </a:r>
            <a:r>
              <a:rPr lang="en-US" altLang="ko-KR" dirty="0">
                <a:latin typeface="D2Coding" panose="020B0609020101020101" pitchFamily="49" charset="-127"/>
                <a:ea typeface="D2Coding" panose="020B0609020101020101" pitchFamily="49" charset="-127"/>
              </a:rPr>
              <a:t>1</a:t>
            </a:r>
            <a:r>
              <a:rPr lang="ko-KR" altLang="en-US" dirty="0">
                <a:latin typeface="D2Coding" panose="020B0609020101020101" pitchFamily="49" charset="-127"/>
                <a:ea typeface="D2Coding" panose="020B0609020101020101" pitchFamily="49" charset="-127"/>
              </a:rPr>
              <a:t>개씩 </a:t>
            </a:r>
            <a:r>
              <a:rPr lang="en-US" altLang="ko-KR" dirty="0">
                <a:latin typeface="D2Coding" panose="020B0609020101020101" pitchFamily="49" charset="-127"/>
                <a:ea typeface="D2Coding" panose="020B0609020101020101" pitchFamily="49" charset="-127"/>
              </a:rPr>
              <a:t>4</a:t>
            </a:r>
            <a:r>
              <a:rPr lang="ko-KR" altLang="en-US" dirty="0">
                <a:latin typeface="D2Coding" panose="020B0609020101020101" pitchFamily="49" charset="-127"/>
                <a:ea typeface="D2Coding" panose="020B0609020101020101" pitchFamily="49" charset="-127"/>
              </a:rPr>
              <a:t>번</a:t>
            </a:r>
            <a:r>
              <a:rPr lang="en-US" altLang="ko-KR" dirty="0">
                <a:latin typeface="D2Coding" panose="020B0609020101020101" pitchFamily="49" charset="-127"/>
                <a:ea typeface="D2Coding" panose="020B0609020101020101" pitchFamily="49" charset="-127"/>
              </a:rPr>
              <a:t>(time step 4) </a:t>
            </a:r>
            <a:r>
              <a:rPr lang="ko-KR" altLang="en-US" dirty="0">
                <a:latin typeface="D2Coding" panose="020B0609020101020101" pitchFamily="49" charset="-127"/>
                <a:ea typeface="D2Coding" panose="020B0609020101020101" pitchFamily="49" charset="-127"/>
              </a:rPr>
              <a:t>연속으로 은닉상태</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크기가 </a:t>
            </a:r>
            <a:r>
              <a:rPr lang="en-US" altLang="ko-KR" dirty="0">
                <a:latin typeface="D2Coding" panose="020B0609020101020101" pitchFamily="49" charset="-127"/>
                <a:ea typeface="D2Coding" panose="020B0609020101020101" pitchFamily="49" charset="-127"/>
              </a:rPr>
              <a:t>2)</a:t>
            </a:r>
            <a:r>
              <a:rPr lang="ko-KR" altLang="en-US" dirty="0">
                <a:latin typeface="D2Coding" panose="020B0609020101020101" pitchFamily="49" charset="-127"/>
                <a:ea typeface="D2Coding" panose="020B0609020101020101" pitchFamily="49" charset="-127"/>
              </a:rPr>
              <a:t>를 통과시키고</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출력 층이 </a:t>
            </a:r>
            <a:r>
              <a:rPr lang="en-US" altLang="ko-KR" dirty="0">
                <a:latin typeface="D2Coding" panose="020B0609020101020101" pitchFamily="49" charset="-127"/>
                <a:ea typeface="D2Coding" panose="020B0609020101020101" pitchFamily="49" charset="-127"/>
              </a:rPr>
              <a:t>2</a:t>
            </a:r>
            <a:r>
              <a:rPr lang="ko-KR" altLang="en-US" dirty="0">
                <a:latin typeface="D2Coding" panose="020B0609020101020101" pitchFamily="49" charset="-127"/>
                <a:ea typeface="D2Coding" panose="020B0609020101020101" pitchFamily="49" charset="-127"/>
              </a:rPr>
              <a:t>개인 </a:t>
            </a:r>
            <a:r>
              <a:rPr lang="en-US" altLang="ko-KR" dirty="0">
                <a:latin typeface="D2Coding" panose="020B0609020101020101" pitchFamily="49" charset="-127"/>
                <a:ea typeface="D2Coding" panose="020B0609020101020101" pitchFamily="49" charset="-127"/>
              </a:rPr>
              <a:t>RNN </a:t>
            </a:r>
            <a:r>
              <a:rPr lang="ko-KR" altLang="en-US" dirty="0">
                <a:latin typeface="D2Coding" panose="020B0609020101020101" pitchFamily="49" charset="-127"/>
                <a:ea typeface="D2Coding" panose="020B0609020101020101" pitchFamily="49" charset="-127"/>
              </a:rPr>
              <a:t>구조</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은닉층은 </a:t>
            </a:r>
            <a:r>
              <a:rPr lang="en-US" altLang="ko-KR" dirty="0">
                <a:latin typeface="D2Coding" panose="020B0609020101020101" pitchFamily="49" charset="-127"/>
                <a:ea typeface="D2Coding" panose="020B0609020101020101" pitchFamily="49" charset="-127"/>
              </a:rPr>
              <a:t>1</a:t>
            </a:r>
            <a:r>
              <a:rPr lang="ko-KR" altLang="en-US" dirty="0">
                <a:latin typeface="D2Coding" panose="020B0609020101020101" pitchFamily="49" charset="-127"/>
                <a:ea typeface="D2Coding" panose="020B0609020101020101" pitchFamily="49" charset="-127"/>
              </a:rPr>
              <a:t>개</a:t>
            </a:r>
            <a:r>
              <a:rPr lang="en-US" altLang="ko-KR" dirty="0">
                <a:latin typeface="D2Coding" panose="020B0609020101020101" pitchFamily="49" charset="-127"/>
                <a:ea typeface="D2Coding" panose="020B0609020101020101" pitchFamily="49" charset="-127"/>
              </a:rPr>
              <a:t>)</a:t>
            </a:r>
            <a:endParaRPr lang="ko-KR" altLang="en-US" dirty="0">
              <a:latin typeface="D2Coding" panose="020B0609020101020101" pitchFamily="49" charset="-127"/>
              <a:ea typeface="D2Coding" panose="020B0609020101020101" pitchFamily="49" charset="-127"/>
            </a:endParaRPr>
          </a:p>
        </p:txBody>
      </p:sp>
      <p:pic>
        <p:nvPicPr>
          <p:cNvPr id="12" name="Picture 2">
            <a:extLst>
              <a:ext uri="{FF2B5EF4-FFF2-40B4-BE49-F238E27FC236}">
                <a16:creationId xmlns:a16="http://schemas.microsoft.com/office/drawing/2014/main" id="{635D0560-3CCD-D828-5695-703F5BD2125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2348834" y="2360628"/>
            <a:ext cx="7643677" cy="347121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9" name="표 18">
            <a:extLst>
              <a:ext uri="{FF2B5EF4-FFF2-40B4-BE49-F238E27FC236}">
                <a16:creationId xmlns:a16="http://schemas.microsoft.com/office/drawing/2014/main" id="{CB8E1BB4-BE33-F6A1-2B2A-3550C0CEBD13}"/>
              </a:ext>
            </a:extLst>
          </p:cNvPr>
          <p:cNvGraphicFramePr>
            <a:graphicFrameLocks noGrp="1"/>
          </p:cNvGraphicFramePr>
          <p:nvPr>
            <p:extLst>
              <p:ext uri="{D42A27DB-BD31-4B8C-83A1-F6EECF244321}">
                <p14:modId xmlns:p14="http://schemas.microsoft.com/office/powerpoint/2010/main" val="2198304713"/>
              </p:ext>
            </p:extLst>
          </p:nvPr>
        </p:nvGraphicFramePr>
        <p:xfrm>
          <a:off x="9108396" y="2950204"/>
          <a:ext cx="609600" cy="621454"/>
        </p:xfrm>
        <a:graphic>
          <a:graphicData uri="http://schemas.openxmlformats.org/drawingml/2006/table">
            <a:tbl>
              <a:tblPr firstRow="1" bandRow="1">
                <a:tableStyleId>{93296810-A885-4BE3-A3E7-6D5BEEA58F35}</a:tableStyleId>
              </a:tblPr>
              <a:tblGrid>
                <a:gridCol w="304800">
                  <a:extLst>
                    <a:ext uri="{9D8B030D-6E8A-4147-A177-3AD203B41FA5}">
                      <a16:colId xmlns:a16="http://schemas.microsoft.com/office/drawing/2014/main" val="2770069485"/>
                    </a:ext>
                  </a:extLst>
                </a:gridCol>
                <a:gridCol w="304800">
                  <a:extLst>
                    <a:ext uri="{9D8B030D-6E8A-4147-A177-3AD203B41FA5}">
                      <a16:colId xmlns:a16="http://schemas.microsoft.com/office/drawing/2014/main" val="3470035491"/>
                    </a:ext>
                  </a:extLst>
                </a:gridCol>
              </a:tblGrid>
              <a:tr h="310727">
                <a:tc>
                  <a:txBody>
                    <a:bodyPr/>
                    <a:lstStyle/>
                    <a:p>
                      <a:pPr latinLnBrk="1"/>
                      <a:endParaRPr lang="ko-KR" altLang="en-US" sz="500"/>
                    </a:p>
                  </a:txBody>
                  <a:tcPr/>
                </a:tc>
                <a:tc>
                  <a:txBody>
                    <a:bodyPr/>
                    <a:lstStyle/>
                    <a:p>
                      <a:pPr latinLnBrk="1"/>
                      <a:endParaRPr lang="ko-KR" altLang="en-US" sz="500"/>
                    </a:p>
                  </a:txBody>
                  <a:tcPr/>
                </a:tc>
                <a:extLst>
                  <a:ext uri="{0D108BD9-81ED-4DB2-BD59-A6C34878D82A}">
                    <a16:rowId xmlns:a16="http://schemas.microsoft.com/office/drawing/2014/main" val="4161459310"/>
                  </a:ext>
                </a:extLst>
              </a:tr>
              <a:tr h="310727">
                <a:tc>
                  <a:txBody>
                    <a:bodyPr/>
                    <a:lstStyle/>
                    <a:p>
                      <a:pPr latinLnBrk="1"/>
                      <a:endParaRPr lang="ko-KR" altLang="en-US" sz="500" dirty="0"/>
                    </a:p>
                  </a:txBody>
                  <a:tcPr/>
                </a:tc>
                <a:tc>
                  <a:txBody>
                    <a:bodyPr/>
                    <a:lstStyle/>
                    <a:p>
                      <a:pPr latinLnBrk="1"/>
                      <a:endParaRPr lang="ko-KR" altLang="en-US" sz="500" dirty="0"/>
                    </a:p>
                  </a:txBody>
                  <a:tcPr/>
                </a:tc>
                <a:extLst>
                  <a:ext uri="{0D108BD9-81ED-4DB2-BD59-A6C34878D82A}">
                    <a16:rowId xmlns:a16="http://schemas.microsoft.com/office/drawing/2014/main" val="2518619735"/>
                  </a:ext>
                </a:extLst>
              </a:tr>
            </a:tbl>
          </a:graphicData>
        </a:graphic>
      </p:graphicFrame>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D137ADF-6CB3-B86E-4942-B14CA6568D82}"/>
                  </a:ext>
                </a:extLst>
              </p:cNvPr>
              <p:cNvSpPr txBox="1"/>
              <p:nvPr/>
            </p:nvSpPr>
            <p:spPr>
              <a:xfrm>
                <a:off x="519099" y="4827811"/>
                <a:ext cx="30168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p>
            </p:txBody>
          </p:sp>
        </mc:Choice>
        <mc:Fallback xmlns="">
          <p:sp>
            <p:nvSpPr>
              <p:cNvPr id="20" name="TextBox 19">
                <a:extLst>
                  <a:ext uri="{FF2B5EF4-FFF2-40B4-BE49-F238E27FC236}">
                    <a16:creationId xmlns:a16="http://schemas.microsoft.com/office/drawing/2014/main" id="{AD137ADF-6CB3-B86E-4942-B14CA6568D82}"/>
                  </a:ext>
                </a:extLst>
              </p:cNvPr>
              <p:cNvSpPr txBox="1">
                <a:spLocks noRot="1" noChangeAspect="1" noMove="1" noResize="1" noEditPoints="1" noAdjustHandles="1" noChangeArrowheads="1" noChangeShapeType="1" noTextEdit="1"/>
              </p:cNvSpPr>
              <p:nvPr/>
            </p:nvSpPr>
            <p:spPr>
              <a:xfrm>
                <a:off x="519099" y="4827811"/>
                <a:ext cx="301685" cy="307777"/>
              </a:xfrm>
              <a:prstGeom prst="rect">
                <a:avLst/>
              </a:prstGeom>
              <a:blipFill>
                <a:blip r:embed="rId5"/>
                <a:stretch>
                  <a:fillRect l="-8000" r="-2000" b="-20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F06342A-37B3-9415-D525-46B94B9F427A}"/>
                  </a:ext>
                </a:extLst>
              </p:cNvPr>
              <p:cNvSpPr txBox="1"/>
              <p:nvPr/>
            </p:nvSpPr>
            <p:spPr>
              <a:xfrm>
                <a:off x="970129" y="3746122"/>
                <a:ext cx="470657"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𝜔</m:t>
                          </m:r>
                        </m:e>
                        <m:sub>
                          <m:r>
                            <a:rPr lang="ko-KR" altLang="en-US" sz="2000" i="1">
                              <a:latin typeface="Cambria Math" panose="02040503050406030204" pitchFamily="18" charset="0"/>
                            </a:rPr>
                            <m:t>𝑥</m:t>
                          </m:r>
                        </m:sub>
                      </m:sSub>
                    </m:oMath>
                  </m:oMathPara>
                </a14:m>
                <a:endParaRPr lang="ko-KR" altLang="en-US" sz="2000" dirty="0"/>
              </a:p>
            </p:txBody>
          </p:sp>
        </mc:Choice>
        <mc:Fallback xmlns="">
          <p:sp>
            <p:nvSpPr>
              <p:cNvPr id="22" name="TextBox 21">
                <a:extLst>
                  <a:ext uri="{FF2B5EF4-FFF2-40B4-BE49-F238E27FC236}">
                    <a16:creationId xmlns:a16="http://schemas.microsoft.com/office/drawing/2014/main" id="{DF06342A-37B3-9415-D525-46B94B9F427A}"/>
                  </a:ext>
                </a:extLst>
              </p:cNvPr>
              <p:cNvSpPr txBox="1">
                <a:spLocks noRot="1" noChangeAspect="1" noMove="1" noResize="1" noEditPoints="1" noAdjustHandles="1" noChangeArrowheads="1" noChangeShapeType="1" noTextEdit="1"/>
              </p:cNvSpPr>
              <p:nvPr/>
            </p:nvSpPr>
            <p:spPr>
              <a:xfrm>
                <a:off x="970129" y="3746122"/>
                <a:ext cx="470657" cy="400110"/>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E33882C-3868-43AA-696B-8DFC83771771}"/>
                  </a:ext>
                </a:extLst>
              </p:cNvPr>
              <p:cNvSpPr txBox="1"/>
              <p:nvPr/>
            </p:nvSpPr>
            <p:spPr>
              <a:xfrm>
                <a:off x="4297680" y="3774948"/>
                <a:ext cx="427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h</m:t>
                          </m:r>
                        </m:e>
                        <m:sub>
                          <m:r>
                            <a:rPr lang="ko-KR" altLang="en-US" i="1">
                              <a:solidFill>
                                <a:schemeClr val="bg1"/>
                              </a:solidFill>
                              <a:latin typeface="Cambria Math" panose="02040503050406030204" pitchFamily="18" charset="0"/>
                            </a:rPr>
                            <m:t>𝑡</m:t>
                          </m:r>
                          <m:r>
                            <a:rPr lang="en-US" altLang="ko-KR" b="0" i="1" smtClean="0">
                              <a:solidFill>
                                <a:schemeClr val="bg1"/>
                              </a:solidFill>
                              <a:latin typeface="Cambria Math" panose="02040503050406030204" pitchFamily="18" charset="0"/>
                            </a:rPr>
                            <m:t>−1</m:t>
                          </m:r>
                        </m:sub>
                      </m:sSub>
                    </m:oMath>
                  </m:oMathPara>
                </a14:m>
                <a:endParaRPr lang="ko-KR" altLang="en-US" dirty="0">
                  <a:solidFill>
                    <a:schemeClr val="bg1"/>
                  </a:solidFill>
                </a:endParaRPr>
              </a:p>
            </p:txBody>
          </p:sp>
        </mc:Choice>
        <mc:Fallback xmlns="">
          <p:sp>
            <p:nvSpPr>
              <p:cNvPr id="28" name="TextBox 27">
                <a:extLst>
                  <a:ext uri="{FF2B5EF4-FFF2-40B4-BE49-F238E27FC236}">
                    <a16:creationId xmlns:a16="http://schemas.microsoft.com/office/drawing/2014/main" id="{3E33882C-3868-43AA-696B-8DFC83771771}"/>
                  </a:ext>
                </a:extLst>
              </p:cNvPr>
              <p:cNvSpPr txBox="1">
                <a:spLocks noRot="1" noChangeAspect="1" noMove="1" noResize="1" noEditPoints="1" noAdjustHandles="1" noChangeArrowheads="1" noChangeShapeType="1" noTextEdit="1"/>
              </p:cNvSpPr>
              <p:nvPr/>
            </p:nvSpPr>
            <p:spPr>
              <a:xfrm>
                <a:off x="4297680" y="3774948"/>
                <a:ext cx="427938" cy="276999"/>
              </a:xfrm>
              <a:prstGeom prst="rect">
                <a:avLst/>
              </a:prstGeom>
              <a:blipFill>
                <a:blip r:embed="rId7"/>
                <a:stretch>
                  <a:fillRect l="-12857" r="-2857" b="-173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0A1DDA6-2F84-5A9C-F4B1-0CCDBAFABC5C}"/>
                  </a:ext>
                </a:extLst>
              </p:cNvPr>
              <p:cNvSpPr txBox="1"/>
              <p:nvPr/>
            </p:nvSpPr>
            <p:spPr>
              <a:xfrm>
                <a:off x="9242572" y="3240611"/>
                <a:ext cx="341247"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𝜔</m:t>
                          </m:r>
                        </m:e>
                        <m:sub>
                          <m:r>
                            <a:rPr lang="ko-KR" altLang="en-US" i="1">
                              <a:latin typeface="Cambria Math" panose="02040503050406030204" pitchFamily="18" charset="0"/>
                            </a:rPr>
                            <m:t>𝑦</m:t>
                          </m:r>
                        </m:sub>
                      </m:sSub>
                    </m:oMath>
                  </m:oMathPara>
                </a14:m>
                <a:endParaRPr lang="ko-KR" altLang="en-US" dirty="0"/>
              </a:p>
            </p:txBody>
          </p:sp>
        </mc:Choice>
        <mc:Fallback xmlns="">
          <p:sp>
            <p:nvSpPr>
              <p:cNvPr id="29" name="TextBox 28">
                <a:extLst>
                  <a:ext uri="{FF2B5EF4-FFF2-40B4-BE49-F238E27FC236}">
                    <a16:creationId xmlns:a16="http://schemas.microsoft.com/office/drawing/2014/main" id="{F0A1DDA6-2F84-5A9C-F4B1-0CCDBAFABC5C}"/>
                  </a:ext>
                </a:extLst>
              </p:cNvPr>
              <p:cNvSpPr txBox="1">
                <a:spLocks noRot="1" noChangeAspect="1" noMove="1" noResize="1" noEditPoints="1" noAdjustHandles="1" noChangeArrowheads="1" noChangeShapeType="1" noTextEdit="1"/>
              </p:cNvSpPr>
              <p:nvPr/>
            </p:nvSpPr>
            <p:spPr>
              <a:xfrm>
                <a:off x="9242572" y="3240611"/>
                <a:ext cx="341247" cy="298928"/>
              </a:xfrm>
              <a:prstGeom prst="rect">
                <a:avLst/>
              </a:prstGeom>
              <a:blipFill>
                <a:blip r:embed="rId8"/>
                <a:stretch>
                  <a:fillRect l="-8929" r="-5357" b="-183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5534E30-766A-C751-6FB0-889841807268}"/>
                  </a:ext>
                </a:extLst>
              </p:cNvPr>
              <p:cNvSpPr txBox="1"/>
              <p:nvPr/>
            </p:nvSpPr>
            <p:spPr>
              <a:xfrm>
                <a:off x="7745976" y="3769174"/>
                <a:ext cx="2785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h</m:t>
                          </m:r>
                        </m:e>
                        <m:sub>
                          <m:r>
                            <a:rPr lang="ko-KR" altLang="en-US" i="1">
                              <a:solidFill>
                                <a:schemeClr val="bg1"/>
                              </a:solidFill>
                              <a:latin typeface="Cambria Math" panose="02040503050406030204" pitchFamily="18" charset="0"/>
                            </a:rPr>
                            <m:t>𝑡</m:t>
                          </m:r>
                        </m:sub>
                      </m:sSub>
                    </m:oMath>
                  </m:oMathPara>
                </a14:m>
                <a:endParaRPr lang="ko-KR" altLang="en-US" dirty="0">
                  <a:solidFill>
                    <a:schemeClr val="bg1"/>
                  </a:solidFill>
                </a:endParaRPr>
              </a:p>
            </p:txBody>
          </p:sp>
        </mc:Choice>
        <mc:Fallback xmlns="">
          <p:sp>
            <p:nvSpPr>
              <p:cNvPr id="31" name="TextBox 30">
                <a:extLst>
                  <a:ext uri="{FF2B5EF4-FFF2-40B4-BE49-F238E27FC236}">
                    <a16:creationId xmlns:a16="http://schemas.microsoft.com/office/drawing/2014/main" id="{35534E30-766A-C751-6FB0-889841807268}"/>
                  </a:ext>
                </a:extLst>
              </p:cNvPr>
              <p:cNvSpPr txBox="1">
                <a:spLocks noRot="1" noChangeAspect="1" noMove="1" noResize="1" noEditPoints="1" noAdjustHandles="1" noChangeArrowheads="1" noChangeShapeType="1" noTextEdit="1"/>
              </p:cNvSpPr>
              <p:nvPr/>
            </p:nvSpPr>
            <p:spPr>
              <a:xfrm>
                <a:off x="7745976" y="3769174"/>
                <a:ext cx="278538" cy="276999"/>
              </a:xfrm>
              <a:prstGeom prst="rect">
                <a:avLst/>
              </a:prstGeom>
              <a:blipFill>
                <a:blip r:embed="rId9"/>
                <a:stretch>
                  <a:fillRect l="-20000" r="-2222" b="-173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F3179C1-D380-E74F-C961-95BF46AADDF4}"/>
                  </a:ext>
                </a:extLst>
              </p:cNvPr>
              <p:cNvSpPr txBox="1"/>
              <p:nvPr/>
            </p:nvSpPr>
            <p:spPr>
              <a:xfrm>
                <a:off x="7751362" y="2544175"/>
                <a:ext cx="273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𝑦</m:t>
                          </m:r>
                        </m:e>
                        <m:sub>
                          <m:r>
                            <a:rPr lang="ko-KR" altLang="en-US" i="1">
                              <a:solidFill>
                                <a:schemeClr val="bg1"/>
                              </a:solidFill>
                              <a:latin typeface="Cambria Math" panose="02040503050406030204" pitchFamily="18" charset="0"/>
                            </a:rPr>
                            <m:t>𝑡</m:t>
                          </m:r>
                        </m:sub>
                      </m:sSub>
                    </m:oMath>
                  </m:oMathPara>
                </a14:m>
                <a:endParaRPr lang="ko-KR" altLang="en-US" dirty="0">
                  <a:solidFill>
                    <a:schemeClr val="bg1"/>
                  </a:solidFill>
                </a:endParaRPr>
              </a:p>
            </p:txBody>
          </p:sp>
        </mc:Choice>
        <mc:Fallback xmlns="">
          <p:sp>
            <p:nvSpPr>
              <p:cNvPr id="32" name="TextBox 31">
                <a:extLst>
                  <a:ext uri="{FF2B5EF4-FFF2-40B4-BE49-F238E27FC236}">
                    <a16:creationId xmlns:a16="http://schemas.microsoft.com/office/drawing/2014/main" id="{8F3179C1-D380-E74F-C961-95BF46AADDF4}"/>
                  </a:ext>
                </a:extLst>
              </p:cNvPr>
              <p:cNvSpPr txBox="1">
                <a:spLocks noRot="1" noChangeAspect="1" noMove="1" noResize="1" noEditPoints="1" noAdjustHandles="1" noChangeArrowheads="1" noChangeShapeType="1" noTextEdit="1"/>
              </p:cNvSpPr>
              <p:nvPr/>
            </p:nvSpPr>
            <p:spPr>
              <a:xfrm>
                <a:off x="7751362" y="2544175"/>
                <a:ext cx="273152" cy="276999"/>
              </a:xfrm>
              <a:prstGeom prst="rect">
                <a:avLst/>
              </a:prstGeom>
              <a:blipFill>
                <a:blip r:embed="rId10"/>
                <a:stretch>
                  <a:fillRect l="-20455" r="-2273" b="-2826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D708158-DCA9-7ADF-F7AC-EEBC25E8423A}"/>
                  </a:ext>
                </a:extLst>
              </p:cNvPr>
              <p:cNvSpPr txBox="1"/>
              <p:nvPr/>
            </p:nvSpPr>
            <p:spPr>
              <a:xfrm>
                <a:off x="4375073" y="2524242"/>
                <a:ext cx="4225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𝑦</m:t>
                          </m:r>
                        </m:e>
                        <m:sub>
                          <m:r>
                            <a:rPr lang="ko-KR" altLang="en-US" i="1">
                              <a:solidFill>
                                <a:schemeClr val="bg1"/>
                              </a:solidFill>
                              <a:latin typeface="Cambria Math" panose="02040503050406030204" pitchFamily="18" charset="0"/>
                            </a:rPr>
                            <m:t>𝑡</m:t>
                          </m:r>
                          <m:r>
                            <a:rPr lang="en-US" altLang="ko-KR" b="0" i="1" smtClean="0">
                              <a:solidFill>
                                <a:schemeClr val="bg1"/>
                              </a:solidFill>
                              <a:latin typeface="Cambria Math" panose="02040503050406030204" pitchFamily="18" charset="0"/>
                            </a:rPr>
                            <m:t>−1</m:t>
                          </m:r>
                        </m:sub>
                      </m:sSub>
                    </m:oMath>
                  </m:oMathPara>
                </a14:m>
                <a:endParaRPr lang="ko-KR" altLang="en-US" dirty="0">
                  <a:solidFill>
                    <a:schemeClr val="bg1"/>
                  </a:solidFill>
                </a:endParaRPr>
              </a:p>
            </p:txBody>
          </p:sp>
        </mc:Choice>
        <mc:Fallback xmlns="">
          <p:sp>
            <p:nvSpPr>
              <p:cNvPr id="33" name="TextBox 32">
                <a:extLst>
                  <a:ext uri="{FF2B5EF4-FFF2-40B4-BE49-F238E27FC236}">
                    <a16:creationId xmlns:a16="http://schemas.microsoft.com/office/drawing/2014/main" id="{1D708158-DCA9-7ADF-F7AC-EEBC25E8423A}"/>
                  </a:ext>
                </a:extLst>
              </p:cNvPr>
              <p:cNvSpPr txBox="1">
                <a:spLocks noRot="1" noChangeAspect="1" noMove="1" noResize="1" noEditPoints="1" noAdjustHandles="1" noChangeArrowheads="1" noChangeShapeType="1" noTextEdit="1"/>
              </p:cNvSpPr>
              <p:nvPr/>
            </p:nvSpPr>
            <p:spPr>
              <a:xfrm>
                <a:off x="4375073" y="2524242"/>
                <a:ext cx="422552" cy="276999"/>
              </a:xfrm>
              <a:prstGeom prst="rect">
                <a:avLst/>
              </a:prstGeom>
              <a:blipFill>
                <a:blip r:embed="rId11"/>
                <a:stretch>
                  <a:fillRect l="-13043" r="-2899" b="-28261"/>
                </a:stretch>
              </a:blipFill>
            </p:spPr>
            <p:txBody>
              <a:bodyPr/>
              <a:lstStyle/>
              <a:p>
                <a:r>
                  <a:rPr lang="ko-KR" altLang="en-US">
                    <a:noFill/>
                  </a:rPr>
                  <a:t> </a:t>
                </a:r>
              </a:p>
            </p:txBody>
          </p:sp>
        </mc:Fallback>
      </mc:AlternateContent>
      <p:graphicFrame>
        <p:nvGraphicFramePr>
          <p:cNvPr id="34" name="표 33">
            <a:extLst>
              <a:ext uri="{FF2B5EF4-FFF2-40B4-BE49-F238E27FC236}">
                <a16:creationId xmlns:a16="http://schemas.microsoft.com/office/drawing/2014/main" id="{80D53809-1EA1-397D-A0AF-9BF8E63442D3}"/>
              </a:ext>
            </a:extLst>
          </p:cNvPr>
          <p:cNvGraphicFramePr>
            <a:graphicFrameLocks noGrp="1"/>
          </p:cNvGraphicFramePr>
          <p:nvPr>
            <p:extLst>
              <p:ext uri="{D42A27DB-BD31-4B8C-83A1-F6EECF244321}">
                <p14:modId xmlns:p14="http://schemas.microsoft.com/office/powerpoint/2010/main" val="4171169506"/>
              </p:ext>
            </p:extLst>
          </p:nvPr>
        </p:nvGraphicFramePr>
        <p:xfrm>
          <a:off x="954647" y="4970052"/>
          <a:ext cx="1229360" cy="1276100"/>
        </p:xfrm>
        <a:graphic>
          <a:graphicData uri="http://schemas.openxmlformats.org/drawingml/2006/table">
            <a:tbl>
              <a:tblPr firstRow="1" bandRow="1">
                <a:tableStyleId>{5C22544A-7EE6-4342-B048-85BDC9FD1C3A}</a:tableStyleId>
              </a:tblPr>
              <a:tblGrid>
                <a:gridCol w="307340">
                  <a:extLst>
                    <a:ext uri="{9D8B030D-6E8A-4147-A177-3AD203B41FA5}">
                      <a16:colId xmlns:a16="http://schemas.microsoft.com/office/drawing/2014/main" val="3902393823"/>
                    </a:ext>
                  </a:extLst>
                </a:gridCol>
                <a:gridCol w="307340">
                  <a:extLst>
                    <a:ext uri="{9D8B030D-6E8A-4147-A177-3AD203B41FA5}">
                      <a16:colId xmlns:a16="http://schemas.microsoft.com/office/drawing/2014/main" val="1276603007"/>
                    </a:ext>
                  </a:extLst>
                </a:gridCol>
                <a:gridCol w="307340">
                  <a:extLst>
                    <a:ext uri="{9D8B030D-6E8A-4147-A177-3AD203B41FA5}">
                      <a16:colId xmlns:a16="http://schemas.microsoft.com/office/drawing/2014/main" val="3528642995"/>
                    </a:ext>
                  </a:extLst>
                </a:gridCol>
                <a:gridCol w="307340">
                  <a:extLst>
                    <a:ext uri="{9D8B030D-6E8A-4147-A177-3AD203B41FA5}">
                      <a16:colId xmlns:a16="http://schemas.microsoft.com/office/drawing/2014/main" val="1557935277"/>
                    </a:ext>
                  </a:extLst>
                </a:gridCol>
              </a:tblGrid>
              <a:tr h="319025">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a:p>
                  </a:txBody>
                  <a:tcPr/>
                </a:tc>
                <a:tc>
                  <a:txBody>
                    <a:bodyPr/>
                    <a:lstStyle/>
                    <a:p>
                      <a:pPr latinLnBrk="1"/>
                      <a:endParaRPr lang="ko-KR" altLang="en-US" sz="1050" dirty="0"/>
                    </a:p>
                  </a:txBody>
                  <a:tcPr/>
                </a:tc>
                <a:tc>
                  <a:txBody>
                    <a:bodyPr/>
                    <a:lstStyle/>
                    <a:p>
                      <a:pPr latinLnBrk="1"/>
                      <a:endParaRPr lang="ko-KR" altLang="en-US" sz="1050"/>
                    </a:p>
                  </a:txBody>
                  <a:tcPr/>
                </a:tc>
                <a:tc>
                  <a:txBody>
                    <a:bodyPr/>
                    <a:lstStyle/>
                    <a:p>
                      <a:pPr latinLnBrk="1"/>
                      <a:endParaRPr lang="ko-KR" altLang="en-US" sz="1050"/>
                    </a:p>
                  </a:txBody>
                  <a:tcPr/>
                </a:tc>
                <a:extLst>
                  <a:ext uri="{0D108BD9-81ED-4DB2-BD59-A6C34878D82A}">
                    <a16:rowId xmlns:a16="http://schemas.microsoft.com/office/drawing/2014/main" val="2023984079"/>
                  </a:ext>
                </a:extLst>
              </a:tr>
              <a:tr h="319025">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dirty="0"/>
                    </a:p>
                  </a:txBody>
                  <a:tcPr/>
                </a:tc>
                <a:tc>
                  <a:txBody>
                    <a:bodyPr/>
                    <a:lstStyle/>
                    <a:p>
                      <a:pPr latinLnBrk="1"/>
                      <a:endParaRPr lang="ko-KR" altLang="en-US" sz="1050" dirty="0"/>
                    </a:p>
                  </a:txBody>
                  <a:tcPr/>
                </a:tc>
                <a:extLst>
                  <a:ext uri="{0D108BD9-81ED-4DB2-BD59-A6C34878D82A}">
                    <a16:rowId xmlns:a16="http://schemas.microsoft.com/office/drawing/2014/main" val="1253757925"/>
                  </a:ext>
                </a:extLst>
              </a:tr>
              <a:tr h="319025">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a:p>
                  </a:txBody>
                  <a:tcPr/>
                </a:tc>
                <a:tc>
                  <a:txBody>
                    <a:bodyPr/>
                    <a:lstStyle/>
                    <a:p>
                      <a:pPr latinLnBrk="1"/>
                      <a:endParaRPr lang="ko-KR" altLang="en-US" sz="1050" dirty="0"/>
                    </a:p>
                  </a:txBody>
                  <a:tcPr/>
                </a:tc>
                <a:extLst>
                  <a:ext uri="{0D108BD9-81ED-4DB2-BD59-A6C34878D82A}">
                    <a16:rowId xmlns:a16="http://schemas.microsoft.com/office/drawing/2014/main" val="2454980248"/>
                  </a:ext>
                </a:extLst>
              </a:tr>
            </a:tbl>
          </a:graphicData>
        </a:graphic>
      </p:graphicFrame>
      <p:graphicFrame>
        <p:nvGraphicFramePr>
          <p:cNvPr id="35" name="표 34">
            <a:extLst>
              <a:ext uri="{FF2B5EF4-FFF2-40B4-BE49-F238E27FC236}">
                <a16:creationId xmlns:a16="http://schemas.microsoft.com/office/drawing/2014/main" id="{855DECCA-DD62-5FE0-DB28-B0E19360D0AF}"/>
              </a:ext>
            </a:extLst>
          </p:cNvPr>
          <p:cNvGraphicFramePr>
            <a:graphicFrameLocks noGrp="1"/>
          </p:cNvGraphicFramePr>
          <p:nvPr>
            <p:extLst>
              <p:ext uri="{D42A27DB-BD31-4B8C-83A1-F6EECF244321}">
                <p14:modId xmlns:p14="http://schemas.microsoft.com/office/powerpoint/2010/main" val="3449630359"/>
              </p:ext>
            </p:extLst>
          </p:nvPr>
        </p:nvGraphicFramePr>
        <p:xfrm>
          <a:off x="1892936" y="3946177"/>
          <a:ext cx="130048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gridCol w="325120">
                  <a:extLst>
                    <a:ext uri="{9D8B030D-6E8A-4147-A177-3AD203B41FA5}">
                      <a16:colId xmlns:a16="http://schemas.microsoft.com/office/drawing/2014/main" val="861684232"/>
                    </a:ext>
                  </a:extLst>
                </a:gridCol>
                <a:gridCol w="325120">
                  <a:extLst>
                    <a:ext uri="{9D8B030D-6E8A-4147-A177-3AD203B41FA5}">
                      <a16:colId xmlns:a16="http://schemas.microsoft.com/office/drawing/2014/main" val="3741848416"/>
                    </a:ext>
                  </a:extLst>
                </a:gridCol>
              </a:tblGrid>
              <a:tr h="315807">
                <a:tc>
                  <a:txBody>
                    <a:bodyPr/>
                    <a:lstStyle/>
                    <a:p>
                      <a:pPr latinLnBrk="1"/>
                      <a:endParaRPr lang="ko-KR" altLang="en-US" sz="700"/>
                    </a:p>
                  </a:txBody>
                  <a:tcPr/>
                </a:tc>
                <a:tc>
                  <a:txBody>
                    <a:bodyPr/>
                    <a:lstStyle/>
                    <a:p>
                      <a:pPr latinLnBrk="1"/>
                      <a:endParaRPr lang="ko-KR" altLang="en-US" sz="700" dirty="0"/>
                    </a:p>
                  </a:txBody>
                  <a:tcPr/>
                </a:tc>
                <a:tc>
                  <a:txBody>
                    <a:bodyPr/>
                    <a:lstStyle/>
                    <a:p>
                      <a:pPr latinLnBrk="1"/>
                      <a:endParaRPr lang="ko-KR" altLang="en-US" sz="700"/>
                    </a:p>
                  </a:txBody>
                  <a:tcPr/>
                </a:tc>
                <a:tc>
                  <a:txBody>
                    <a:bodyPr/>
                    <a:lstStyle/>
                    <a:p>
                      <a:pPr latinLnBrk="1"/>
                      <a:endParaRPr lang="ko-KR" altLang="en-US" sz="70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a:p>
                  </a:txBody>
                  <a:tcPr/>
                </a:tc>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p:graphicFrame>
        <p:nvGraphicFramePr>
          <p:cNvPr id="36" name="표 35">
            <a:extLst>
              <a:ext uri="{FF2B5EF4-FFF2-40B4-BE49-F238E27FC236}">
                <a16:creationId xmlns:a16="http://schemas.microsoft.com/office/drawing/2014/main" id="{D9F6D6F3-1278-7B61-0416-547D05D5E106}"/>
              </a:ext>
            </a:extLst>
          </p:cNvPr>
          <p:cNvGraphicFramePr>
            <a:graphicFrameLocks noGrp="1"/>
          </p:cNvGraphicFramePr>
          <p:nvPr>
            <p:extLst>
              <p:ext uri="{D42A27DB-BD31-4B8C-83A1-F6EECF244321}">
                <p14:modId xmlns:p14="http://schemas.microsoft.com/office/powerpoint/2010/main" val="3021024682"/>
              </p:ext>
            </p:extLst>
          </p:nvPr>
        </p:nvGraphicFramePr>
        <p:xfrm>
          <a:off x="5848014" y="3640721"/>
          <a:ext cx="65024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tblGrid>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75B8952-2952-53CB-AEF3-60B4D02FC038}"/>
                  </a:ext>
                </a:extLst>
              </p:cNvPr>
              <p:cNvSpPr txBox="1"/>
              <p:nvPr/>
            </p:nvSpPr>
            <p:spPr>
              <a:xfrm>
                <a:off x="5976433" y="3907673"/>
                <a:ext cx="47468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𝜔</m:t>
                          </m:r>
                        </m:e>
                        <m:sub>
                          <m:r>
                            <a:rPr lang="ko-KR" altLang="en-US" sz="2000" i="1">
                              <a:latin typeface="Cambria Math" panose="02040503050406030204" pitchFamily="18" charset="0"/>
                            </a:rPr>
                            <m:t>h</m:t>
                          </m:r>
                        </m:sub>
                      </m:sSub>
                    </m:oMath>
                  </m:oMathPara>
                </a14:m>
                <a:endParaRPr lang="ko-KR" altLang="en-US" sz="2000" dirty="0"/>
              </a:p>
            </p:txBody>
          </p:sp>
        </mc:Choice>
        <mc:Fallback xmlns="">
          <p:sp>
            <p:nvSpPr>
              <p:cNvPr id="25" name="TextBox 24">
                <a:extLst>
                  <a:ext uri="{FF2B5EF4-FFF2-40B4-BE49-F238E27FC236}">
                    <a16:creationId xmlns:a16="http://schemas.microsoft.com/office/drawing/2014/main" id="{275B8952-2952-53CB-AEF3-60B4D02FC038}"/>
                  </a:ext>
                </a:extLst>
              </p:cNvPr>
              <p:cNvSpPr txBox="1">
                <a:spLocks noRot="1" noChangeAspect="1" noMove="1" noResize="1" noEditPoints="1" noAdjustHandles="1" noChangeArrowheads="1" noChangeShapeType="1" noTextEdit="1"/>
              </p:cNvSpPr>
              <p:nvPr/>
            </p:nvSpPr>
            <p:spPr>
              <a:xfrm>
                <a:off x="5976433" y="3907673"/>
                <a:ext cx="474682" cy="400110"/>
              </a:xfrm>
              <a:prstGeom prst="rect">
                <a:avLst/>
              </a:prstGeom>
              <a:blipFill>
                <a:blip r:embed="rId12"/>
                <a:stretch>
                  <a:fillRect b="-3030"/>
                </a:stretch>
              </a:blipFill>
            </p:spPr>
            <p:txBody>
              <a:bodyPr/>
              <a:lstStyle/>
              <a:p>
                <a:r>
                  <a:rPr lang="ko-KR" altLang="en-US">
                    <a:noFill/>
                  </a:rPr>
                  <a:t> </a:t>
                </a:r>
              </a:p>
            </p:txBody>
          </p:sp>
        </mc:Fallback>
      </mc:AlternateContent>
      <p:sp>
        <p:nvSpPr>
          <p:cNvPr id="38" name="TextBox 37">
            <a:extLst>
              <a:ext uri="{FF2B5EF4-FFF2-40B4-BE49-F238E27FC236}">
                <a16:creationId xmlns:a16="http://schemas.microsoft.com/office/drawing/2014/main" id="{2BF066C1-0DB4-8091-CAD6-8E09A03DF6C2}"/>
              </a:ext>
            </a:extLst>
          </p:cNvPr>
          <p:cNvSpPr txBox="1"/>
          <p:nvPr/>
        </p:nvSpPr>
        <p:spPr>
          <a:xfrm>
            <a:off x="3460673" y="5466267"/>
            <a:ext cx="1527887" cy="369332"/>
          </a:xfrm>
          <a:prstGeom prst="rect">
            <a:avLst/>
          </a:prstGeom>
          <a:solidFill>
            <a:schemeClr val="bg1"/>
          </a:solidFill>
        </p:spPr>
        <p:txBody>
          <a:bodyPr wrap="square">
            <a:spAutoFit/>
          </a:bodyPr>
          <a:lstStyle/>
          <a:p>
            <a:r>
              <a:rPr lang="en-US" altLang="ko-KR" dirty="0">
                <a:latin typeface="D2Coding" panose="020B0609020101020101" pitchFamily="49" charset="-127"/>
                <a:ea typeface="D2Coding" panose="020B0609020101020101" pitchFamily="49" charset="-127"/>
              </a:rPr>
              <a:t>time step 1</a:t>
            </a:r>
            <a:endParaRPr lang="ko-KR" altLang="en-US" dirty="0"/>
          </a:p>
        </p:txBody>
      </p:sp>
      <p:sp>
        <p:nvSpPr>
          <p:cNvPr id="39" name="직사각형 38">
            <a:extLst>
              <a:ext uri="{FF2B5EF4-FFF2-40B4-BE49-F238E27FC236}">
                <a16:creationId xmlns:a16="http://schemas.microsoft.com/office/drawing/2014/main" id="{6C792020-F87E-2D5A-C317-CEC6108C9734}"/>
              </a:ext>
            </a:extLst>
          </p:cNvPr>
          <p:cNvSpPr/>
          <p:nvPr/>
        </p:nvSpPr>
        <p:spPr>
          <a:xfrm>
            <a:off x="956859" y="4970052"/>
            <a:ext cx="301685" cy="127610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a:extLst>
              <a:ext uri="{FF2B5EF4-FFF2-40B4-BE49-F238E27FC236}">
                <a16:creationId xmlns:a16="http://schemas.microsoft.com/office/drawing/2014/main" id="{53EA45E8-0251-716A-843F-CF3F6D75230A}"/>
              </a:ext>
            </a:extLst>
          </p:cNvPr>
          <p:cNvSpPr/>
          <p:nvPr/>
        </p:nvSpPr>
        <p:spPr>
          <a:xfrm>
            <a:off x="1266083" y="4970052"/>
            <a:ext cx="301685" cy="127610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a:extLst>
              <a:ext uri="{FF2B5EF4-FFF2-40B4-BE49-F238E27FC236}">
                <a16:creationId xmlns:a16="http://schemas.microsoft.com/office/drawing/2014/main" id="{AA2D7B1B-FF82-5CCC-ED64-9E3E67BAAEA1}"/>
              </a:ext>
            </a:extLst>
          </p:cNvPr>
          <p:cNvSpPr/>
          <p:nvPr/>
        </p:nvSpPr>
        <p:spPr>
          <a:xfrm>
            <a:off x="1568671" y="4970052"/>
            <a:ext cx="301685" cy="127610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a:extLst>
              <a:ext uri="{FF2B5EF4-FFF2-40B4-BE49-F238E27FC236}">
                <a16:creationId xmlns:a16="http://schemas.microsoft.com/office/drawing/2014/main" id="{10F9560F-F2E8-97AA-62B8-B99312B01366}"/>
              </a:ext>
            </a:extLst>
          </p:cNvPr>
          <p:cNvSpPr/>
          <p:nvPr/>
        </p:nvSpPr>
        <p:spPr>
          <a:xfrm>
            <a:off x="1880112" y="4970052"/>
            <a:ext cx="301685" cy="127610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TextBox 42">
            <a:extLst>
              <a:ext uri="{FF2B5EF4-FFF2-40B4-BE49-F238E27FC236}">
                <a16:creationId xmlns:a16="http://schemas.microsoft.com/office/drawing/2014/main" id="{6CFA8AD3-2B84-4ABB-7977-0990BA071B03}"/>
              </a:ext>
            </a:extLst>
          </p:cNvPr>
          <p:cNvSpPr txBox="1"/>
          <p:nvPr/>
        </p:nvSpPr>
        <p:spPr>
          <a:xfrm>
            <a:off x="7391665" y="5468638"/>
            <a:ext cx="1527887" cy="369332"/>
          </a:xfrm>
          <a:prstGeom prst="rect">
            <a:avLst/>
          </a:prstGeom>
          <a:solidFill>
            <a:schemeClr val="bg1"/>
          </a:solidFill>
        </p:spPr>
        <p:txBody>
          <a:bodyPr wrap="square">
            <a:spAutoFit/>
          </a:bodyPr>
          <a:lstStyle/>
          <a:p>
            <a:r>
              <a:rPr lang="en-US" altLang="ko-KR" dirty="0">
                <a:latin typeface="D2Coding" panose="020B0609020101020101" pitchFamily="49" charset="-127"/>
                <a:ea typeface="D2Coding" panose="020B0609020101020101" pitchFamily="49" charset="-127"/>
              </a:rPr>
              <a:t>time step 2</a:t>
            </a:r>
            <a:endParaRPr lang="ko-KR" altLang="en-US" dirty="0"/>
          </a:p>
        </p:txBody>
      </p:sp>
      <p:sp>
        <p:nvSpPr>
          <p:cNvPr id="44" name="TextBox 43">
            <a:extLst>
              <a:ext uri="{FF2B5EF4-FFF2-40B4-BE49-F238E27FC236}">
                <a16:creationId xmlns:a16="http://schemas.microsoft.com/office/drawing/2014/main" id="{3ECB41B7-F4B6-8C01-70B9-FBC9C8020C38}"/>
              </a:ext>
            </a:extLst>
          </p:cNvPr>
          <p:cNvSpPr txBox="1"/>
          <p:nvPr/>
        </p:nvSpPr>
        <p:spPr>
          <a:xfrm>
            <a:off x="8683536" y="5836180"/>
            <a:ext cx="1527887" cy="369332"/>
          </a:xfrm>
          <a:prstGeom prst="rect">
            <a:avLst/>
          </a:prstGeom>
          <a:solidFill>
            <a:schemeClr val="bg1"/>
          </a:solidFill>
        </p:spPr>
        <p:txBody>
          <a:bodyPr wrap="square">
            <a:spAutoFit/>
          </a:bodyPr>
          <a:lstStyle/>
          <a:p>
            <a:r>
              <a:rPr lang="en-US" altLang="ko-KR" dirty="0">
                <a:latin typeface="D2Coding" panose="020B0609020101020101" pitchFamily="49" charset="-127"/>
                <a:ea typeface="D2Coding" panose="020B0609020101020101" pitchFamily="49" charset="-127"/>
              </a:rPr>
              <a:t>time step 3</a:t>
            </a:r>
            <a:endParaRPr lang="ko-KR" altLang="en-US" dirty="0"/>
          </a:p>
        </p:txBody>
      </p:sp>
      <p:sp>
        <p:nvSpPr>
          <p:cNvPr id="45" name="TextBox 44">
            <a:extLst>
              <a:ext uri="{FF2B5EF4-FFF2-40B4-BE49-F238E27FC236}">
                <a16:creationId xmlns:a16="http://schemas.microsoft.com/office/drawing/2014/main" id="{B32BF125-F8E1-719C-FD52-55A2E53B7C20}"/>
              </a:ext>
            </a:extLst>
          </p:cNvPr>
          <p:cNvSpPr txBox="1"/>
          <p:nvPr/>
        </p:nvSpPr>
        <p:spPr>
          <a:xfrm>
            <a:off x="9138876" y="6198503"/>
            <a:ext cx="1527887" cy="369332"/>
          </a:xfrm>
          <a:prstGeom prst="rect">
            <a:avLst/>
          </a:prstGeom>
          <a:solidFill>
            <a:schemeClr val="bg1"/>
          </a:solidFill>
        </p:spPr>
        <p:txBody>
          <a:bodyPr wrap="square">
            <a:spAutoFit/>
          </a:bodyPr>
          <a:lstStyle/>
          <a:p>
            <a:r>
              <a:rPr lang="en-US" altLang="ko-KR" dirty="0">
                <a:latin typeface="D2Coding" panose="020B0609020101020101" pitchFamily="49" charset="-127"/>
                <a:ea typeface="D2Coding" panose="020B0609020101020101" pitchFamily="49" charset="-127"/>
              </a:rPr>
              <a:t>time step 4</a:t>
            </a:r>
            <a:endParaRPr lang="ko-KR" altLang="en-US" dirty="0"/>
          </a:p>
        </p:txBody>
      </p:sp>
    </p:spTree>
    <p:extLst>
      <p:ext uri="{BB962C8B-B14F-4D97-AF65-F5344CB8AC3E}">
        <p14:creationId xmlns:p14="http://schemas.microsoft.com/office/powerpoint/2010/main" val="338254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4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908E5-BAC8-BC6A-C512-0418B5A86615}"/>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B0BB9591-FBE7-E7AA-BC75-BCB04A807B74}"/>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10</a:t>
            </a:fld>
            <a:endParaRPr lang="en-US" dirty="0"/>
          </a:p>
        </p:txBody>
      </p:sp>
      <p:sp>
        <p:nvSpPr>
          <p:cNvPr id="3" name="제목 1">
            <a:extLst>
              <a:ext uri="{FF2B5EF4-FFF2-40B4-BE49-F238E27FC236}">
                <a16:creationId xmlns:a16="http://schemas.microsoft.com/office/drawing/2014/main" id="{54860835-EAE0-AFC4-6B3F-DA815DFC2A9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3" name="TextBox 12">
            <a:extLst>
              <a:ext uri="{FF2B5EF4-FFF2-40B4-BE49-F238E27FC236}">
                <a16:creationId xmlns:a16="http://schemas.microsoft.com/office/drawing/2014/main" id="{B06356E7-5150-F064-B9F8-EAAC82B1A70A}"/>
              </a:ext>
            </a:extLst>
          </p:cNvPr>
          <p:cNvSpPr txBox="1"/>
          <p:nvPr/>
        </p:nvSpPr>
        <p:spPr>
          <a:xfrm>
            <a:off x="609600" y="1238250"/>
            <a:ext cx="10972800" cy="465320"/>
          </a:xfrm>
          <a:prstGeom prst="rect">
            <a:avLst/>
          </a:prstGeom>
          <a:noFill/>
        </p:spPr>
        <p:txBody>
          <a:bodyPr wrap="square" rtlCol="0">
            <a:spAutoFit/>
          </a:bodyPr>
          <a:lstStyle/>
          <a:p>
            <a:pPr>
              <a:lnSpc>
                <a:spcPct val="150000"/>
              </a:lnSpc>
            </a:pPr>
            <a:r>
              <a:rPr lang="ko-KR" altLang="en-US" dirty="0">
                <a:latin typeface="D2Coding" panose="020B0609020101020101" pitchFamily="49" charset="-127"/>
                <a:ea typeface="D2Coding" panose="020B0609020101020101" pitchFamily="49" charset="-127"/>
              </a:rPr>
              <a:t>입력 </a:t>
            </a:r>
            <a:r>
              <a:rPr lang="en-US" altLang="ko-KR" dirty="0">
                <a:latin typeface="D2Coding" panose="020B0609020101020101" pitchFamily="49" charset="-127"/>
                <a:ea typeface="D2Coding" panose="020B0609020101020101" pitchFamily="49" charset="-127"/>
              </a:rPr>
              <a:t>Feature</a:t>
            </a:r>
            <a:r>
              <a:rPr lang="ko-KR" altLang="en-US" dirty="0">
                <a:latin typeface="D2Coding" panose="020B0609020101020101" pitchFamily="49" charset="-127"/>
                <a:ea typeface="D2Coding" panose="020B0609020101020101" pitchFamily="49" charset="-127"/>
              </a:rPr>
              <a:t>가 </a:t>
            </a:r>
            <a:r>
              <a:rPr lang="en-US" altLang="ko-KR" dirty="0">
                <a:latin typeface="D2Coding" panose="020B0609020101020101" pitchFamily="49" charset="-127"/>
                <a:ea typeface="D2Coding" panose="020B0609020101020101" pitchFamily="49" charset="-127"/>
              </a:rPr>
              <a:t>4</a:t>
            </a:r>
            <a:r>
              <a:rPr lang="ko-KR" altLang="en-US" dirty="0">
                <a:latin typeface="D2Coding" panose="020B0609020101020101" pitchFamily="49" charset="-127"/>
                <a:ea typeface="D2Coding" panose="020B0609020101020101" pitchFamily="49" charset="-127"/>
              </a:rPr>
              <a:t>개</a:t>
            </a:r>
            <a:r>
              <a:rPr lang="en-US" altLang="ko-KR" dirty="0">
                <a:latin typeface="D2Coding" panose="020B0609020101020101" pitchFamily="49" charset="-127"/>
                <a:ea typeface="D2Coding" panose="020B0609020101020101" pitchFamily="49" charset="-127"/>
              </a:rPr>
              <a:t>(Word2vector), </a:t>
            </a:r>
            <a:r>
              <a:rPr lang="ko-KR" altLang="en-US" dirty="0">
                <a:latin typeface="D2Coding" panose="020B0609020101020101" pitchFamily="49" charset="-127"/>
                <a:ea typeface="D2Coding" panose="020B0609020101020101" pitchFamily="49" charset="-127"/>
              </a:rPr>
              <a:t>은닉상태</a:t>
            </a:r>
            <a:r>
              <a:rPr lang="en-US" altLang="ko-KR" dirty="0">
                <a:latin typeface="D2Coding" panose="020B0609020101020101" pitchFamily="49" charset="-127"/>
                <a:ea typeface="D2Coding" panose="020B0609020101020101" pitchFamily="49" charset="-127"/>
              </a:rPr>
              <a:t>(</a:t>
            </a:r>
            <a:r>
              <a:rPr lang="ko-KR" altLang="en-US" dirty="0">
                <a:latin typeface="D2Coding" panose="020B0609020101020101" pitchFamily="49" charset="-127"/>
                <a:ea typeface="D2Coding" panose="020B0609020101020101" pitchFamily="49" charset="-127"/>
              </a:rPr>
              <a:t>크기가 </a:t>
            </a:r>
            <a:r>
              <a:rPr lang="en-US" altLang="ko-KR" dirty="0">
                <a:latin typeface="D2Coding" panose="020B0609020101020101" pitchFamily="49" charset="-127"/>
                <a:ea typeface="D2Coding" panose="020B0609020101020101" pitchFamily="49" charset="-127"/>
              </a:rPr>
              <a:t>2), </a:t>
            </a:r>
            <a:r>
              <a:rPr lang="ko-KR" altLang="en-US" dirty="0">
                <a:latin typeface="D2Coding" panose="020B0609020101020101" pitchFamily="49" charset="-127"/>
                <a:ea typeface="D2Coding" panose="020B0609020101020101" pitchFamily="49" charset="-127"/>
              </a:rPr>
              <a:t>은닉층은 </a:t>
            </a:r>
            <a:r>
              <a:rPr lang="en-US" altLang="ko-KR" dirty="0">
                <a:latin typeface="D2Coding" panose="020B0609020101020101" pitchFamily="49" charset="-127"/>
                <a:ea typeface="D2Coding" panose="020B0609020101020101" pitchFamily="49" charset="-127"/>
              </a:rPr>
              <a:t>1</a:t>
            </a:r>
            <a:r>
              <a:rPr lang="ko-KR" altLang="en-US" dirty="0">
                <a:latin typeface="D2Coding" panose="020B0609020101020101" pitchFamily="49" charset="-127"/>
                <a:ea typeface="D2Coding" panose="020B0609020101020101" pitchFamily="49" charset="-127"/>
              </a:rPr>
              <a:t>개</a:t>
            </a:r>
            <a:r>
              <a:rPr lang="en-US" altLang="ko-KR" dirty="0">
                <a:latin typeface="D2Coding" panose="020B0609020101020101" pitchFamily="49" charset="-127"/>
                <a:ea typeface="D2Coding" panose="020B0609020101020101" pitchFamily="49" charset="-127"/>
              </a:rPr>
              <a:t>, </a:t>
            </a:r>
            <a:r>
              <a:rPr lang="ko-KR" altLang="en-US" dirty="0">
                <a:latin typeface="D2Coding" panose="020B0609020101020101" pitchFamily="49" charset="-127"/>
                <a:ea typeface="D2Coding" panose="020B0609020101020101" pitchFamily="49" charset="-127"/>
              </a:rPr>
              <a:t>출력 층이 </a:t>
            </a:r>
            <a:r>
              <a:rPr lang="en-US" altLang="ko-KR" dirty="0">
                <a:latin typeface="D2Coding" panose="020B0609020101020101" pitchFamily="49" charset="-127"/>
                <a:ea typeface="D2Coding" panose="020B0609020101020101" pitchFamily="49" charset="-127"/>
              </a:rPr>
              <a:t>2</a:t>
            </a:r>
            <a:r>
              <a:rPr lang="ko-KR" altLang="en-US" dirty="0">
                <a:latin typeface="D2Coding" panose="020B0609020101020101" pitchFamily="49" charset="-127"/>
                <a:ea typeface="D2Coding" panose="020B0609020101020101" pitchFamily="49" charset="-127"/>
              </a:rPr>
              <a:t>개인 </a:t>
            </a:r>
            <a:r>
              <a:rPr lang="en-US" altLang="ko-KR" dirty="0">
                <a:latin typeface="D2Coding" panose="020B0609020101020101" pitchFamily="49" charset="-127"/>
                <a:ea typeface="D2Coding" panose="020B0609020101020101" pitchFamily="49" charset="-127"/>
              </a:rPr>
              <a:t>RNN </a:t>
            </a:r>
            <a:r>
              <a:rPr lang="ko-KR" altLang="en-US" dirty="0">
                <a:latin typeface="D2Coding" panose="020B0609020101020101" pitchFamily="49" charset="-127"/>
                <a:ea typeface="D2Coding" panose="020B0609020101020101" pitchFamily="49" charset="-127"/>
              </a:rPr>
              <a:t>구조</a:t>
            </a:r>
          </a:p>
        </p:txBody>
      </p:sp>
      <p:graphicFrame>
        <p:nvGraphicFramePr>
          <p:cNvPr id="5" name="표 4">
            <a:extLst>
              <a:ext uri="{FF2B5EF4-FFF2-40B4-BE49-F238E27FC236}">
                <a16:creationId xmlns:a16="http://schemas.microsoft.com/office/drawing/2014/main" id="{B40DC59A-443D-D41E-CA5F-BCAD8D5A46C2}"/>
              </a:ext>
            </a:extLst>
          </p:cNvPr>
          <p:cNvGraphicFramePr>
            <a:graphicFrameLocks noGrp="1"/>
          </p:cNvGraphicFramePr>
          <p:nvPr>
            <p:extLst>
              <p:ext uri="{D42A27DB-BD31-4B8C-83A1-F6EECF244321}">
                <p14:modId xmlns:p14="http://schemas.microsoft.com/office/powerpoint/2010/main" val="2393595330"/>
              </p:ext>
            </p:extLst>
          </p:nvPr>
        </p:nvGraphicFramePr>
        <p:xfrm>
          <a:off x="2687169" y="2197339"/>
          <a:ext cx="1229360" cy="1276100"/>
        </p:xfrm>
        <a:graphic>
          <a:graphicData uri="http://schemas.openxmlformats.org/drawingml/2006/table">
            <a:tbl>
              <a:tblPr firstRow="1" bandRow="1">
                <a:tableStyleId>{5C22544A-7EE6-4342-B048-85BDC9FD1C3A}</a:tableStyleId>
              </a:tblPr>
              <a:tblGrid>
                <a:gridCol w="307340">
                  <a:extLst>
                    <a:ext uri="{9D8B030D-6E8A-4147-A177-3AD203B41FA5}">
                      <a16:colId xmlns:a16="http://schemas.microsoft.com/office/drawing/2014/main" val="3902393823"/>
                    </a:ext>
                  </a:extLst>
                </a:gridCol>
                <a:gridCol w="307340">
                  <a:extLst>
                    <a:ext uri="{9D8B030D-6E8A-4147-A177-3AD203B41FA5}">
                      <a16:colId xmlns:a16="http://schemas.microsoft.com/office/drawing/2014/main" val="1276603007"/>
                    </a:ext>
                  </a:extLst>
                </a:gridCol>
                <a:gridCol w="307340">
                  <a:extLst>
                    <a:ext uri="{9D8B030D-6E8A-4147-A177-3AD203B41FA5}">
                      <a16:colId xmlns:a16="http://schemas.microsoft.com/office/drawing/2014/main" val="3528642995"/>
                    </a:ext>
                  </a:extLst>
                </a:gridCol>
                <a:gridCol w="307340">
                  <a:extLst>
                    <a:ext uri="{9D8B030D-6E8A-4147-A177-3AD203B41FA5}">
                      <a16:colId xmlns:a16="http://schemas.microsoft.com/office/drawing/2014/main" val="1557935277"/>
                    </a:ext>
                  </a:extLst>
                </a:gridCol>
              </a:tblGrid>
              <a:tr h="319025">
                <a:tc>
                  <a:txBody>
                    <a:bodyPr/>
                    <a:lstStyle/>
                    <a:p>
                      <a:pPr latinLnBrk="1"/>
                      <a:endParaRPr lang="ko-KR" altLang="en-US" sz="1050"/>
                    </a:p>
                  </a:txBody>
                  <a:tcPr/>
                </a:tc>
                <a:tc>
                  <a:txBody>
                    <a:bodyPr/>
                    <a:lstStyle/>
                    <a:p>
                      <a:pPr latinLnBrk="1"/>
                      <a:endParaRPr lang="ko-KR" altLang="en-US" sz="1050" dirty="0"/>
                    </a:p>
                  </a:txBody>
                  <a:tcPr>
                    <a:solidFill>
                      <a:schemeClr val="bg1">
                        <a:lumMod val="85000"/>
                      </a:schemeClr>
                    </a:solidFill>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extLst>
                  <a:ext uri="{0D108BD9-81ED-4DB2-BD59-A6C34878D82A}">
                    <a16:rowId xmlns:a16="http://schemas.microsoft.com/office/drawing/2014/main" val="3272695305"/>
                  </a:ext>
                </a:extLst>
              </a:tr>
              <a:tr h="319025">
                <a:tc>
                  <a:txBody>
                    <a:bodyPr/>
                    <a:lstStyle/>
                    <a:p>
                      <a:pPr latinLnBrk="1"/>
                      <a:endParaRPr lang="ko-KR" altLang="en-US" sz="1050"/>
                    </a:p>
                  </a:txBody>
                  <a:tcPr/>
                </a:tc>
                <a:tc>
                  <a:txBody>
                    <a:bodyPr/>
                    <a:lstStyle/>
                    <a:p>
                      <a:pPr latinLnBrk="1"/>
                      <a:endParaRPr lang="ko-KR" altLang="en-US" sz="1050" dirty="0"/>
                    </a:p>
                  </a:txBody>
                  <a:tcPr>
                    <a:solidFill>
                      <a:schemeClr val="bg1">
                        <a:lumMod val="85000"/>
                      </a:schemeClr>
                    </a:solidFill>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extLst>
                  <a:ext uri="{0D108BD9-81ED-4DB2-BD59-A6C34878D82A}">
                    <a16:rowId xmlns:a16="http://schemas.microsoft.com/office/drawing/2014/main" val="2023984079"/>
                  </a:ext>
                </a:extLst>
              </a:tr>
              <a:tr h="319025">
                <a:tc>
                  <a:txBody>
                    <a:bodyPr/>
                    <a:lstStyle/>
                    <a:p>
                      <a:pPr latinLnBrk="1"/>
                      <a:endParaRPr lang="ko-KR" altLang="en-US" sz="1050"/>
                    </a:p>
                  </a:txBody>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extLst>
                  <a:ext uri="{0D108BD9-81ED-4DB2-BD59-A6C34878D82A}">
                    <a16:rowId xmlns:a16="http://schemas.microsoft.com/office/drawing/2014/main" val="1253757925"/>
                  </a:ext>
                </a:extLst>
              </a:tr>
              <a:tr h="319025">
                <a:tc>
                  <a:txBody>
                    <a:bodyPr/>
                    <a:lstStyle/>
                    <a:p>
                      <a:pPr latinLnBrk="1"/>
                      <a:endParaRPr lang="ko-KR" altLang="en-US" sz="1050"/>
                    </a:p>
                  </a:txBody>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a:p>
                  </a:txBody>
                  <a:tcPr>
                    <a:solidFill>
                      <a:schemeClr val="bg1">
                        <a:lumMod val="85000"/>
                      </a:schemeClr>
                    </a:solidFill>
                  </a:tcPr>
                </a:tc>
                <a:tc>
                  <a:txBody>
                    <a:bodyPr/>
                    <a:lstStyle/>
                    <a:p>
                      <a:pPr latinLnBrk="1"/>
                      <a:endParaRPr lang="ko-KR" altLang="en-US" sz="1050" dirty="0"/>
                    </a:p>
                  </a:txBody>
                  <a:tcPr>
                    <a:solidFill>
                      <a:schemeClr val="bg1">
                        <a:lumMod val="85000"/>
                      </a:schemeClr>
                    </a:solidFill>
                  </a:tcPr>
                </a:tc>
                <a:extLst>
                  <a:ext uri="{0D108BD9-81ED-4DB2-BD59-A6C34878D82A}">
                    <a16:rowId xmlns:a16="http://schemas.microsoft.com/office/drawing/2014/main" val="2454980248"/>
                  </a:ext>
                </a:extLst>
              </a:tr>
            </a:tbl>
          </a:graphicData>
        </a:graphic>
      </p:graphicFrame>
      <p:graphicFrame>
        <p:nvGraphicFramePr>
          <p:cNvPr id="6" name="표 5">
            <a:extLst>
              <a:ext uri="{FF2B5EF4-FFF2-40B4-BE49-F238E27FC236}">
                <a16:creationId xmlns:a16="http://schemas.microsoft.com/office/drawing/2014/main" id="{6D6CE9D8-BC19-0044-BF95-9567B989C369}"/>
              </a:ext>
            </a:extLst>
          </p:cNvPr>
          <p:cNvGraphicFramePr>
            <a:graphicFrameLocks noGrp="1"/>
          </p:cNvGraphicFramePr>
          <p:nvPr>
            <p:extLst>
              <p:ext uri="{D42A27DB-BD31-4B8C-83A1-F6EECF244321}">
                <p14:modId xmlns:p14="http://schemas.microsoft.com/office/powerpoint/2010/main" val="1388433813"/>
              </p:ext>
            </p:extLst>
          </p:nvPr>
        </p:nvGraphicFramePr>
        <p:xfrm>
          <a:off x="782712" y="2197339"/>
          <a:ext cx="130048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gridCol w="325120">
                  <a:extLst>
                    <a:ext uri="{9D8B030D-6E8A-4147-A177-3AD203B41FA5}">
                      <a16:colId xmlns:a16="http://schemas.microsoft.com/office/drawing/2014/main" val="861684232"/>
                    </a:ext>
                  </a:extLst>
                </a:gridCol>
                <a:gridCol w="325120">
                  <a:extLst>
                    <a:ext uri="{9D8B030D-6E8A-4147-A177-3AD203B41FA5}">
                      <a16:colId xmlns:a16="http://schemas.microsoft.com/office/drawing/2014/main" val="3741848416"/>
                    </a:ext>
                  </a:extLst>
                </a:gridCol>
              </a:tblGrid>
              <a:tr h="315807">
                <a:tc>
                  <a:txBody>
                    <a:bodyPr/>
                    <a:lstStyle/>
                    <a:p>
                      <a:pPr latinLnBrk="1"/>
                      <a:endParaRPr lang="ko-KR" altLang="en-US" sz="700"/>
                    </a:p>
                  </a:txBody>
                  <a:tcPr/>
                </a:tc>
                <a:tc>
                  <a:txBody>
                    <a:bodyPr/>
                    <a:lstStyle/>
                    <a:p>
                      <a:pPr latinLnBrk="1"/>
                      <a:endParaRPr lang="ko-KR" altLang="en-US" sz="700" dirty="0"/>
                    </a:p>
                  </a:txBody>
                  <a:tcPr/>
                </a:tc>
                <a:tc>
                  <a:txBody>
                    <a:bodyPr/>
                    <a:lstStyle/>
                    <a:p>
                      <a:pPr latinLnBrk="1"/>
                      <a:endParaRPr lang="ko-KR" altLang="en-US" sz="700" dirty="0"/>
                    </a:p>
                  </a:txBody>
                  <a:tcPr/>
                </a:tc>
                <a:tc>
                  <a:txBody>
                    <a:bodyPr/>
                    <a:lstStyle/>
                    <a:p>
                      <a:pPr latinLnBrk="1"/>
                      <a:endParaRPr lang="ko-KR" altLang="en-US" sz="70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dirty="0"/>
                    </a:p>
                  </a:txBody>
                  <a:tcPr/>
                </a:tc>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p:graphicFrame>
        <p:nvGraphicFramePr>
          <p:cNvPr id="7" name="표 6">
            <a:extLst>
              <a:ext uri="{FF2B5EF4-FFF2-40B4-BE49-F238E27FC236}">
                <a16:creationId xmlns:a16="http://schemas.microsoft.com/office/drawing/2014/main" id="{D68B7BA1-0540-A4F7-6FD5-87D4BA9C75DC}"/>
              </a:ext>
            </a:extLst>
          </p:cNvPr>
          <p:cNvGraphicFramePr>
            <a:graphicFrameLocks noGrp="1"/>
          </p:cNvGraphicFramePr>
          <p:nvPr>
            <p:extLst>
              <p:ext uri="{D42A27DB-BD31-4B8C-83A1-F6EECF244321}">
                <p14:modId xmlns:p14="http://schemas.microsoft.com/office/powerpoint/2010/main" val="2362785662"/>
              </p:ext>
            </p:extLst>
          </p:nvPr>
        </p:nvGraphicFramePr>
        <p:xfrm>
          <a:off x="1138312" y="4041633"/>
          <a:ext cx="65024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tblGrid>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7DDDDCD-7F79-E5EA-2D33-AE9DCAFBF668}"/>
                  </a:ext>
                </a:extLst>
              </p:cNvPr>
              <p:cNvSpPr txBox="1"/>
              <p:nvPr/>
            </p:nvSpPr>
            <p:spPr>
              <a:xfrm>
                <a:off x="1195611" y="3608504"/>
                <a:ext cx="47468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𝜔</m:t>
                          </m:r>
                        </m:e>
                        <m:sub>
                          <m:r>
                            <a:rPr lang="ko-KR" altLang="en-US" sz="2000" i="1">
                              <a:latin typeface="Cambria Math" panose="02040503050406030204" pitchFamily="18" charset="0"/>
                            </a:rPr>
                            <m:t>h</m:t>
                          </m:r>
                        </m:sub>
                      </m:sSub>
                    </m:oMath>
                  </m:oMathPara>
                </a14:m>
                <a:endParaRPr lang="ko-KR" altLang="en-US" sz="2000" dirty="0"/>
              </a:p>
            </p:txBody>
          </p:sp>
        </mc:Choice>
        <mc:Fallback xmlns="">
          <p:sp>
            <p:nvSpPr>
              <p:cNvPr id="8" name="TextBox 7">
                <a:extLst>
                  <a:ext uri="{FF2B5EF4-FFF2-40B4-BE49-F238E27FC236}">
                    <a16:creationId xmlns:a16="http://schemas.microsoft.com/office/drawing/2014/main" id="{17DDDDCD-7F79-E5EA-2D33-AE9DCAFBF668}"/>
                  </a:ext>
                </a:extLst>
              </p:cNvPr>
              <p:cNvSpPr txBox="1">
                <a:spLocks noRot="1" noChangeAspect="1" noMove="1" noResize="1" noEditPoints="1" noAdjustHandles="1" noChangeArrowheads="1" noChangeShapeType="1" noTextEdit="1"/>
              </p:cNvSpPr>
              <p:nvPr/>
            </p:nvSpPr>
            <p:spPr>
              <a:xfrm>
                <a:off x="1195611" y="3608504"/>
                <a:ext cx="474682" cy="400110"/>
              </a:xfrm>
              <a:prstGeom prst="rect">
                <a:avLst/>
              </a:prstGeom>
              <a:blipFill>
                <a:blip r:embed="rId2"/>
                <a:stretch>
                  <a:fillRect b="-303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0852410-3665-3AF5-7BA6-5D4FF14325BD}"/>
                  </a:ext>
                </a:extLst>
              </p:cNvPr>
              <p:cNvSpPr txBox="1"/>
              <p:nvPr/>
            </p:nvSpPr>
            <p:spPr>
              <a:xfrm>
                <a:off x="2683646" y="1764210"/>
                <a:ext cx="2714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𝑥</m:t>
                          </m:r>
                        </m:e>
                        <m:sub>
                          <m:r>
                            <a:rPr lang="ko-KR" altLang="en-US" i="1">
                              <a:latin typeface="Cambria Math" panose="02040503050406030204" pitchFamily="18" charset="0"/>
                            </a:rPr>
                            <m:t>𝑡</m:t>
                          </m:r>
                        </m:sub>
                      </m:sSub>
                    </m:oMath>
                  </m:oMathPara>
                </a14:m>
                <a:endParaRPr lang="ko-KR" altLang="en-US" dirty="0"/>
              </a:p>
            </p:txBody>
          </p:sp>
        </mc:Choice>
        <mc:Fallback xmlns="">
          <p:sp>
            <p:nvSpPr>
              <p:cNvPr id="9" name="TextBox 8">
                <a:extLst>
                  <a:ext uri="{FF2B5EF4-FFF2-40B4-BE49-F238E27FC236}">
                    <a16:creationId xmlns:a16="http://schemas.microsoft.com/office/drawing/2014/main" id="{60852410-3665-3AF5-7BA6-5D4FF14325BD}"/>
                  </a:ext>
                </a:extLst>
              </p:cNvPr>
              <p:cNvSpPr txBox="1">
                <a:spLocks noRot="1" noChangeAspect="1" noMove="1" noResize="1" noEditPoints="1" noAdjustHandles="1" noChangeArrowheads="1" noChangeShapeType="1" noTextEdit="1"/>
              </p:cNvSpPr>
              <p:nvPr/>
            </p:nvSpPr>
            <p:spPr>
              <a:xfrm>
                <a:off x="2683646" y="1764210"/>
                <a:ext cx="271485" cy="276999"/>
              </a:xfrm>
              <a:prstGeom prst="rect">
                <a:avLst/>
              </a:prstGeom>
              <a:blipFill>
                <a:blip r:embed="rId3"/>
                <a:stretch>
                  <a:fillRect l="-11111" r="-2222" b="-173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EEA293-D9DC-B736-D126-36D90CFA7122}"/>
                  </a:ext>
                </a:extLst>
              </p:cNvPr>
              <p:cNvSpPr txBox="1"/>
              <p:nvPr/>
            </p:nvSpPr>
            <p:spPr>
              <a:xfrm>
                <a:off x="1203224" y="1703250"/>
                <a:ext cx="47065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𝜔</m:t>
                          </m:r>
                        </m:e>
                        <m:sub>
                          <m:r>
                            <a:rPr lang="ko-KR" altLang="en-US" i="1">
                              <a:latin typeface="Cambria Math" panose="02040503050406030204" pitchFamily="18" charset="0"/>
                            </a:rPr>
                            <m:t>𝑥</m:t>
                          </m:r>
                        </m:sub>
                      </m:sSub>
                    </m:oMath>
                  </m:oMathPara>
                </a14:m>
                <a:endParaRPr lang="ko-KR" altLang="en-US" dirty="0"/>
              </a:p>
            </p:txBody>
          </p:sp>
        </mc:Choice>
        <mc:Fallback xmlns="">
          <p:sp>
            <p:nvSpPr>
              <p:cNvPr id="10" name="TextBox 9">
                <a:extLst>
                  <a:ext uri="{FF2B5EF4-FFF2-40B4-BE49-F238E27FC236}">
                    <a16:creationId xmlns:a16="http://schemas.microsoft.com/office/drawing/2014/main" id="{68EEA293-D9DC-B736-D126-36D90CFA7122}"/>
                  </a:ext>
                </a:extLst>
              </p:cNvPr>
              <p:cNvSpPr txBox="1">
                <a:spLocks noRot="1" noChangeAspect="1" noMove="1" noResize="1" noEditPoints="1" noAdjustHandles="1" noChangeArrowheads="1" noChangeShapeType="1" noTextEdit="1"/>
              </p:cNvSpPr>
              <p:nvPr/>
            </p:nvSpPr>
            <p:spPr>
              <a:xfrm>
                <a:off x="1203224" y="1703250"/>
                <a:ext cx="470657" cy="369332"/>
              </a:xfrm>
              <a:prstGeom prst="rect">
                <a:avLst/>
              </a:prstGeom>
              <a:blipFill>
                <a:blip r:embed="rId4"/>
                <a:stretch>
                  <a:fillRect/>
                </a:stretch>
              </a:blipFill>
            </p:spPr>
            <p:txBody>
              <a:bodyPr/>
              <a:lstStyle/>
              <a:p>
                <a:r>
                  <a:rPr lang="ko-KR" altLang="en-US">
                    <a:noFill/>
                  </a:rPr>
                  <a:t> </a:t>
                </a:r>
              </a:p>
            </p:txBody>
          </p:sp>
        </mc:Fallback>
      </mc:AlternateContent>
      <p:graphicFrame>
        <p:nvGraphicFramePr>
          <p:cNvPr id="11" name="표 10">
            <a:extLst>
              <a:ext uri="{FF2B5EF4-FFF2-40B4-BE49-F238E27FC236}">
                <a16:creationId xmlns:a16="http://schemas.microsoft.com/office/drawing/2014/main" id="{7D5D2BF3-FDDA-C0C3-445E-9E99F5215D6B}"/>
              </a:ext>
            </a:extLst>
          </p:cNvPr>
          <p:cNvGraphicFramePr>
            <a:graphicFrameLocks noGrp="1"/>
          </p:cNvGraphicFramePr>
          <p:nvPr>
            <p:extLst>
              <p:ext uri="{D42A27DB-BD31-4B8C-83A1-F6EECF244321}">
                <p14:modId xmlns:p14="http://schemas.microsoft.com/office/powerpoint/2010/main" val="3559346322"/>
              </p:ext>
            </p:extLst>
          </p:nvPr>
        </p:nvGraphicFramePr>
        <p:xfrm>
          <a:off x="4030496" y="4041633"/>
          <a:ext cx="307340" cy="638050"/>
        </p:xfrm>
        <a:graphic>
          <a:graphicData uri="http://schemas.openxmlformats.org/drawingml/2006/table">
            <a:tbl>
              <a:tblPr firstRow="1" bandRow="1">
                <a:tableStyleId>{F5AB1C69-6EDB-4FF4-983F-18BD219EF322}</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FD57C11-B913-4972-6C14-34378DBCC0B9}"/>
                  </a:ext>
                </a:extLst>
              </p:cNvPr>
              <p:cNvSpPr txBox="1"/>
              <p:nvPr/>
            </p:nvSpPr>
            <p:spPr>
              <a:xfrm>
                <a:off x="4926991" y="1764210"/>
                <a:ext cx="427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h</m:t>
                          </m:r>
                        </m:e>
                        <m:sub>
                          <m:r>
                            <a:rPr lang="ko-KR" altLang="en-US" i="1">
                              <a:solidFill>
                                <a:schemeClr val="tx1"/>
                              </a:solidFill>
                              <a:latin typeface="Cambria Math" panose="02040503050406030204" pitchFamily="18" charset="0"/>
                            </a:rPr>
                            <m:t>𝑡</m:t>
                          </m:r>
                          <m:r>
                            <a:rPr lang="en-US" altLang="ko-KR" b="0" i="1" smtClean="0">
                              <a:solidFill>
                                <a:schemeClr val="tx1"/>
                              </a:solidFill>
                              <a:latin typeface="Cambria Math" panose="02040503050406030204" pitchFamily="18" charset="0"/>
                            </a:rPr>
                            <m:t>−1</m:t>
                          </m:r>
                        </m:sub>
                      </m:sSub>
                    </m:oMath>
                  </m:oMathPara>
                </a14:m>
                <a:endParaRPr lang="ko-KR" altLang="en-US" dirty="0">
                  <a:solidFill>
                    <a:schemeClr val="tx1"/>
                  </a:solidFill>
                </a:endParaRPr>
              </a:p>
            </p:txBody>
          </p:sp>
        </mc:Choice>
        <mc:Fallback xmlns="">
          <p:sp>
            <p:nvSpPr>
              <p:cNvPr id="14" name="TextBox 13">
                <a:extLst>
                  <a:ext uri="{FF2B5EF4-FFF2-40B4-BE49-F238E27FC236}">
                    <a16:creationId xmlns:a16="http://schemas.microsoft.com/office/drawing/2014/main" id="{3FD57C11-B913-4972-6C14-34378DBCC0B9}"/>
                  </a:ext>
                </a:extLst>
              </p:cNvPr>
              <p:cNvSpPr txBox="1">
                <a:spLocks noRot="1" noChangeAspect="1" noMove="1" noResize="1" noEditPoints="1" noAdjustHandles="1" noChangeArrowheads="1" noChangeShapeType="1" noTextEdit="1"/>
              </p:cNvSpPr>
              <p:nvPr/>
            </p:nvSpPr>
            <p:spPr>
              <a:xfrm>
                <a:off x="4926991" y="1764210"/>
                <a:ext cx="427938" cy="276999"/>
              </a:xfrm>
              <a:prstGeom prst="rect">
                <a:avLst/>
              </a:prstGeom>
              <a:blipFill>
                <a:blip r:embed="rId5"/>
                <a:stretch>
                  <a:fillRect l="-12857" r="-2857" b="-17391"/>
                </a:stretch>
              </a:blipFill>
            </p:spPr>
            <p:txBody>
              <a:bodyPr/>
              <a:lstStyle/>
              <a:p>
                <a:r>
                  <a:rPr lang="ko-KR" altLang="en-US">
                    <a:noFill/>
                  </a:rPr>
                  <a:t> </a:t>
                </a:r>
              </a:p>
            </p:txBody>
          </p:sp>
        </mc:Fallback>
      </mc:AlternateContent>
      <p:sp>
        <p:nvSpPr>
          <p:cNvPr id="19" name="순서도: 가산 접합 18">
            <a:extLst>
              <a:ext uri="{FF2B5EF4-FFF2-40B4-BE49-F238E27FC236}">
                <a16:creationId xmlns:a16="http://schemas.microsoft.com/office/drawing/2014/main" id="{FE81C75C-FAA9-59CE-DCB6-8053C23F623B}"/>
              </a:ext>
            </a:extLst>
          </p:cNvPr>
          <p:cNvSpPr/>
          <p:nvPr/>
        </p:nvSpPr>
        <p:spPr>
          <a:xfrm>
            <a:off x="2237860" y="2408317"/>
            <a:ext cx="294640" cy="294640"/>
          </a:xfrm>
          <a:prstGeom prst="flowChartSummingJunctio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순서도: 논리합 19">
            <a:extLst>
              <a:ext uri="{FF2B5EF4-FFF2-40B4-BE49-F238E27FC236}">
                <a16:creationId xmlns:a16="http://schemas.microsoft.com/office/drawing/2014/main" id="{2364B99B-5AB1-9A21-4850-A88EFF597C17}"/>
              </a:ext>
            </a:extLst>
          </p:cNvPr>
          <p:cNvSpPr/>
          <p:nvPr/>
        </p:nvSpPr>
        <p:spPr>
          <a:xfrm>
            <a:off x="3473965" y="4252611"/>
            <a:ext cx="294640" cy="294640"/>
          </a:xfrm>
          <a:prstGeom prst="flowChartOr">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같음 기호 20">
            <a:extLst>
              <a:ext uri="{FF2B5EF4-FFF2-40B4-BE49-F238E27FC236}">
                <a16:creationId xmlns:a16="http://schemas.microsoft.com/office/drawing/2014/main" id="{BFD17BF5-608C-3E5C-B5EC-EB6DF74CEB6E}"/>
              </a:ext>
            </a:extLst>
          </p:cNvPr>
          <p:cNvSpPr/>
          <p:nvPr/>
        </p:nvSpPr>
        <p:spPr>
          <a:xfrm>
            <a:off x="4521200" y="2408317"/>
            <a:ext cx="363069" cy="294640"/>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DCDAF90-0B0F-907A-03C3-CFB31430CA99}"/>
                  </a:ext>
                </a:extLst>
              </p:cNvPr>
              <p:cNvSpPr txBox="1"/>
              <p:nvPr/>
            </p:nvSpPr>
            <p:spPr>
              <a:xfrm>
                <a:off x="2737552" y="3675945"/>
                <a:ext cx="427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h</m:t>
                          </m:r>
                        </m:e>
                        <m:sub>
                          <m:r>
                            <a:rPr lang="ko-KR" altLang="en-US" i="1">
                              <a:solidFill>
                                <a:schemeClr val="tx1"/>
                              </a:solidFill>
                              <a:latin typeface="Cambria Math" panose="02040503050406030204" pitchFamily="18" charset="0"/>
                            </a:rPr>
                            <m:t>𝑡</m:t>
                          </m:r>
                          <m:r>
                            <a:rPr lang="en-US" altLang="ko-KR" b="0" i="1" smtClean="0">
                              <a:solidFill>
                                <a:schemeClr val="tx1"/>
                              </a:solidFill>
                              <a:latin typeface="Cambria Math" panose="02040503050406030204" pitchFamily="18" charset="0"/>
                            </a:rPr>
                            <m:t>−1</m:t>
                          </m:r>
                        </m:sub>
                      </m:sSub>
                    </m:oMath>
                  </m:oMathPara>
                </a14:m>
                <a:endParaRPr lang="ko-KR" altLang="en-US" dirty="0">
                  <a:solidFill>
                    <a:schemeClr val="tx1"/>
                  </a:solidFill>
                </a:endParaRPr>
              </a:p>
            </p:txBody>
          </p:sp>
        </mc:Choice>
        <mc:Fallback xmlns="">
          <p:sp>
            <p:nvSpPr>
              <p:cNvPr id="23" name="TextBox 22">
                <a:extLst>
                  <a:ext uri="{FF2B5EF4-FFF2-40B4-BE49-F238E27FC236}">
                    <a16:creationId xmlns:a16="http://schemas.microsoft.com/office/drawing/2014/main" id="{BDCDAF90-0B0F-907A-03C3-CFB31430CA99}"/>
                  </a:ext>
                </a:extLst>
              </p:cNvPr>
              <p:cNvSpPr txBox="1">
                <a:spLocks noRot="1" noChangeAspect="1" noMove="1" noResize="1" noEditPoints="1" noAdjustHandles="1" noChangeArrowheads="1" noChangeShapeType="1" noTextEdit="1"/>
              </p:cNvSpPr>
              <p:nvPr/>
            </p:nvSpPr>
            <p:spPr>
              <a:xfrm>
                <a:off x="2737552" y="3675945"/>
                <a:ext cx="427938" cy="276999"/>
              </a:xfrm>
              <a:prstGeom prst="rect">
                <a:avLst/>
              </a:prstGeom>
              <a:blipFill>
                <a:blip r:embed="rId6"/>
                <a:stretch>
                  <a:fillRect l="-12857" r="-2857" b="-20000"/>
                </a:stretch>
              </a:blipFill>
            </p:spPr>
            <p:txBody>
              <a:bodyPr/>
              <a:lstStyle/>
              <a:p>
                <a:r>
                  <a:rPr lang="ko-KR" altLang="en-US">
                    <a:noFill/>
                  </a:rPr>
                  <a:t> </a:t>
                </a:r>
              </a:p>
            </p:txBody>
          </p:sp>
        </mc:Fallback>
      </mc:AlternateContent>
      <p:sp>
        <p:nvSpPr>
          <p:cNvPr id="24" name="순서도: 가산 접합 23">
            <a:extLst>
              <a:ext uri="{FF2B5EF4-FFF2-40B4-BE49-F238E27FC236}">
                <a16:creationId xmlns:a16="http://schemas.microsoft.com/office/drawing/2014/main" id="{ED03317E-A135-31DF-F2E7-F288F82F9227}"/>
              </a:ext>
            </a:extLst>
          </p:cNvPr>
          <p:cNvSpPr/>
          <p:nvPr/>
        </p:nvSpPr>
        <p:spPr>
          <a:xfrm>
            <a:off x="2262721" y="4277561"/>
            <a:ext cx="294640" cy="294640"/>
          </a:xfrm>
          <a:prstGeom prst="flowChartSummingJunctio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5" name="표 24">
            <a:extLst>
              <a:ext uri="{FF2B5EF4-FFF2-40B4-BE49-F238E27FC236}">
                <a16:creationId xmlns:a16="http://schemas.microsoft.com/office/drawing/2014/main" id="{5C29DD75-FB1E-4EE5-EC35-670DF0ACA394}"/>
              </a:ext>
            </a:extLst>
          </p:cNvPr>
          <p:cNvGraphicFramePr>
            <a:graphicFrameLocks noGrp="1"/>
          </p:cNvGraphicFramePr>
          <p:nvPr>
            <p:extLst>
              <p:ext uri="{D42A27DB-BD31-4B8C-83A1-F6EECF244321}">
                <p14:modId xmlns:p14="http://schemas.microsoft.com/office/powerpoint/2010/main" val="2608324450"/>
              </p:ext>
            </p:extLst>
          </p:nvPr>
        </p:nvGraphicFramePr>
        <p:xfrm>
          <a:off x="4987290" y="2197339"/>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p:graphicFrame>
        <p:nvGraphicFramePr>
          <p:cNvPr id="26" name="표 25">
            <a:extLst>
              <a:ext uri="{FF2B5EF4-FFF2-40B4-BE49-F238E27FC236}">
                <a16:creationId xmlns:a16="http://schemas.microsoft.com/office/drawing/2014/main" id="{BB5166C1-0195-5C1B-3CE8-AF4FD7005112}"/>
              </a:ext>
            </a:extLst>
          </p:cNvPr>
          <p:cNvGraphicFramePr>
            <a:graphicFrameLocks noGrp="1"/>
          </p:cNvGraphicFramePr>
          <p:nvPr>
            <p:extLst>
              <p:ext uri="{D42A27DB-BD31-4B8C-83A1-F6EECF244321}">
                <p14:modId xmlns:p14="http://schemas.microsoft.com/office/powerpoint/2010/main" val="2461196501"/>
              </p:ext>
            </p:extLst>
          </p:nvPr>
        </p:nvGraphicFramePr>
        <p:xfrm>
          <a:off x="2797190" y="4041633"/>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p:pic>
        <p:nvPicPr>
          <p:cNvPr id="27" name="그림 26">
            <a:extLst>
              <a:ext uri="{FF2B5EF4-FFF2-40B4-BE49-F238E27FC236}">
                <a16:creationId xmlns:a16="http://schemas.microsoft.com/office/drawing/2014/main" id="{AA1BC45D-E8DE-16E6-F8E2-456C182DE04B}"/>
              </a:ext>
            </a:extLst>
          </p:cNvPr>
          <p:cNvPicPr>
            <a:picLocks noChangeAspect="1"/>
          </p:cNvPicPr>
          <p:nvPr/>
        </p:nvPicPr>
        <p:blipFill>
          <a:blip r:embed="rId7"/>
          <a:stretch>
            <a:fillRect/>
          </a:stretch>
        </p:blipFill>
        <p:spPr>
          <a:xfrm>
            <a:off x="1140279" y="4667559"/>
            <a:ext cx="2556319" cy="313355"/>
          </a:xfrm>
          <a:prstGeom prst="rect">
            <a:avLst/>
          </a:prstGeom>
        </p:spPr>
      </p:pic>
      <p:pic>
        <p:nvPicPr>
          <p:cNvPr id="28" name="그림 27">
            <a:extLst>
              <a:ext uri="{FF2B5EF4-FFF2-40B4-BE49-F238E27FC236}">
                <a16:creationId xmlns:a16="http://schemas.microsoft.com/office/drawing/2014/main" id="{8F8435F3-C329-FEC4-D8AF-19CE99BF2228}"/>
              </a:ext>
            </a:extLst>
          </p:cNvPr>
          <p:cNvPicPr>
            <a:picLocks noChangeAspect="1"/>
          </p:cNvPicPr>
          <p:nvPr/>
        </p:nvPicPr>
        <p:blipFill>
          <a:blip r:embed="rId8"/>
          <a:stretch>
            <a:fillRect/>
          </a:stretch>
        </p:blipFill>
        <p:spPr>
          <a:xfrm>
            <a:off x="1161373" y="6109899"/>
            <a:ext cx="1633171" cy="347961"/>
          </a:xfrm>
          <a:prstGeom prst="rect">
            <a:avLst/>
          </a:prstGeom>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629CE78-FDC8-65B9-52B5-879A9C15EE75}"/>
                  </a:ext>
                </a:extLst>
              </p:cNvPr>
              <p:cNvSpPr txBox="1"/>
              <p:nvPr/>
            </p:nvSpPr>
            <p:spPr>
              <a:xfrm>
                <a:off x="4989890" y="3659304"/>
                <a:ext cx="2785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h</m:t>
                          </m:r>
                        </m:e>
                        <m:sub>
                          <m:r>
                            <a:rPr lang="ko-KR" altLang="en-US" i="1">
                              <a:solidFill>
                                <a:schemeClr val="tx1"/>
                              </a:solidFill>
                              <a:latin typeface="Cambria Math" panose="02040503050406030204" pitchFamily="18" charset="0"/>
                            </a:rPr>
                            <m:t>𝑡</m:t>
                          </m:r>
                        </m:sub>
                      </m:sSub>
                    </m:oMath>
                  </m:oMathPara>
                </a14:m>
                <a:endParaRPr lang="ko-KR" altLang="en-US" dirty="0">
                  <a:solidFill>
                    <a:schemeClr val="tx1"/>
                  </a:solidFill>
                </a:endParaRPr>
              </a:p>
            </p:txBody>
          </p:sp>
        </mc:Choice>
        <mc:Fallback xmlns="">
          <p:sp>
            <p:nvSpPr>
              <p:cNvPr id="29" name="TextBox 28">
                <a:extLst>
                  <a:ext uri="{FF2B5EF4-FFF2-40B4-BE49-F238E27FC236}">
                    <a16:creationId xmlns:a16="http://schemas.microsoft.com/office/drawing/2014/main" id="{6629CE78-FDC8-65B9-52B5-879A9C15EE75}"/>
                  </a:ext>
                </a:extLst>
              </p:cNvPr>
              <p:cNvSpPr txBox="1">
                <a:spLocks noRot="1" noChangeAspect="1" noMove="1" noResize="1" noEditPoints="1" noAdjustHandles="1" noChangeArrowheads="1" noChangeShapeType="1" noTextEdit="1"/>
              </p:cNvSpPr>
              <p:nvPr/>
            </p:nvSpPr>
            <p:spPr>
              <a:xfrm>
                <a:off x="4989890" y="3659304"/>
                <a:ext cx="278538" cy="276999"/>
              </a:xfrm>
              <a:prstGeom prst="rect">
                <a:avLst/>
              </a:prstGeom>
              <a:blipFill>
                <a:blip r:embed="rId9"/>
                <a:stretch>
                  <a:fillRect l="-20000" r="-2222" b="-17391"/>
                </a:stretch>
              </a:blipFill>
            </p:spPr>
            <p:txBody>
              <a:bodyPr/>
              <a:lstStyle/>
              <a:p>
                <a:r>
                  <a:rPr lang="ko-KR" altLang="en-US">
                    <a:noFill/>
                  </a:rPr>
                  <a:t> </a:t>
                </a:r>
              </a:p>
            </p:txBody>
          </p:sp>
        </mc:Fallback>
      </mc:AlternateContent>
      <p:sp>
        <p:nvSpPr>
          <p:cNvPr id="30" name="같음 기호 29">
            <a:extLst>
              <a:ext uri="{FF2B5EF4-FFF2-40B4-BE49-F238E27FC236}">
                <a16:creationId xmlns:a16="http://schemas.microsoft.com/office/drawing/2014/main" id="{99E4A0D5-DD49-CEE2-F71E-46E13057EDA5}"/>
              </a:ext>
            </a:extLst>
          </p:cNvPr>
          <p:cNvSpPr/>
          <p:nvPr/>
        </p:nvSpPr>
        <p:spPr>
          <a:xfrm>
            <a:off x="4523139" y="4252611"/>
            <a:ext cx="363069" cy="294640"/>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aphicFrame>
        <p:nvGraphicFramePr>
          <p:cNvPr id="31" name="표 30">
            <a:extLst>
              <a:ext uri="{FF2B5EF4-FFF2-40B4-BE49-F238E27FC236}">
                <a16:creationId xmlns:a16="http://schemas.microsoft.com/office/drawing/2014/main" id="{D1674F95-9316-7004-ED19-3438283B869B}"/>
              </a:ext>
            </a:extLst>
          </p:cNvPr>
          <p:cNvGraphicFramePr>
            <a:graphicFrameLocks noGrp="1"/>
          </p:cNvGraphicFramePr>
          <p:nvPr>
            <p:extLst>
              <p:ext uri="{D42A27DB-BD31-4B8C-83A1-F6EECF244321}">
                <p14:modId xmlns:p14="http://schemas.microsoft.com/office/powerpoint/2010/main" val="3027817283"/>
              </p:ext>
            </p:extLst>
          </p:nvPr>
        </p:nvGraphicFramePr>
        <p:xfrm>
          <a:off x="5009549" y="4041633"/>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BA6BDEE-5A08-E14D-7476-D69CB8B6C1BE}"/>
                  </a:ext>
                </a:extLst>
              </p:cNvPr>
              <p:cNvSpPr txBox="1"/>
              <p:nvPr/>
            </p:nvSpPr>
            <p:spPr>
              <a:xfrm>
                <a:off x="4023868" y="3638005"/>
                <a:ext cx="2982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𝑏</m:t>
                          </m:r>
                        </m:e>
                        <m:sub>
                          <m:r>
                            <a:rPr lang="ko-KR" altLang="en-US" i="1">
                              <a:latin typeface="Cambria Math" panose="02040503050406030204" pitchFamily="18" charset="0"/>
                            </a:rPr>
                            <m:t>h</m:t>
                          </m:r>
                        </m:sub>
                      </m:sSub>
                    </m:oMath>
                  </m:oMathPara>
                </a14:m>
                <a:endParaRPr lang="ko-KR" altLang="en-US" dirty="0"/>
              </a:p>
            </p:txBody>
          </p:sp>
        </mc:Choice>
        <mc:Fallback xmlns="">
          <p:sp>
            <p:nvSpPr>
              <p:cNvPr id="32" name="TextBox 31">
                <a:extLst>
                  <a:ext uri="{FF2B5EF4-FFF2-40B4-BE49-F238E27FC236}">
                    <a16:creationId xmlns:a16="http://schemas.microsoft.com/office/drawing/2014/main" id="{BBA6BDEE-5A08-E14D-7476-D69CB8B6C1BE}"/>
                  </a:ext>
                </a:extLst>
              </p:cNvPr>
              <p:cNvSpPr txBox="1">
                <a:spLocks noRot="1" noChangeAspect="1" noMove="1" noResize="1" noEditPoints="1" noAdjustHandles="1" noChangeArrowheads="1" noChangeShapeType="1" noTextEdit="1"/>
              </p:cNvSpPr>
              <p:nvPr/>
            </p:nvSpPr>
            <p:spPr>
              <a:xfrm>
                <a:off x="4023868" y="3638005"/>
                <a:ext cx="298287" cy="276999"/>
              </a:xfrm>
              <a:prstGeom prst="rect">
                <a:avLst/>
              </a:prstGeom>
              <a:blipFill>
                <a:blip r:embed="rId10"/>
                <a:stretch>
                  <a:fillRect l="-18367" r="-4082" b="-20000"/>
                </a:stretch>
              </a:blipFill>
            </p:spPr>
            <p:txBody>
              <a:bodyPr/>
              <a:lstStyle/>
              <a:p>
                <a:r>
                  <a:rPr lang="ko-KR" altLang="en-US">
                    <a:noFill/>
                  </a:rPr>
                  <a:t> </a:t>
                </a:r>
              </a:p>
            </p:txBody>
          </p:sp>
        </mc:Fallback>
      </mc:AlternateContent>
      <p:pic>
        <p:nvPicPr>
          <p:cNvPr id="33" name="Picture 2">
            <a:extLst>
              <a:ext uri="{FF2B5EF4-FFF2-40B4-BE49-F238E27FC236}">
                <a16:creationId xmlns:a16="http://schemas.microsoft.com/office/drawing/2014/main" id="{A2B8F125-5A85-CE1C-3F8D-08F6A6F273AB}"/>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5562164" y="2459837"/>
            <a:ext cx="6367515" cy="289167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4" name="표 33">
            <a:extLst>
              <a:ext uri="{FF2B5EF4-FFF2-40B4-BE49-F238E27FC236}">
                <a16:creationId xmlns:a16="http://schemas.microsoft.com/office/drawing/2014/main" id="{2E2A3DAF-452D-FF73-8564-AF709C70F348}"/>
              </a:ext>
            </a:extLst>
          </p:cNvPr>
          <p:cNvGraphicFramePr>
            <a:graphicFrameLocks noGrp="1"/>
          </p:cNvGraphicFramePr>
          <p:nvPr>
            <p:extLst>
              <p:ext uri="{D42A27DB-BD31-4B8C-83A1-F6EECF244321}">
                <p14:modId xmlns:p14="http://schemas.microsoft.com/office/powerpoint/2010/main" val="3166534732"/>
              </p:ext>
            </p:extLst>
          </p:nvPr>
        </p:nvGraphicFramePr>
        <p:xfrm>
          <a:off x="1138312" y="5495306"/>
          <a:ext cx="650240" cy="631614"/>
        </p:xfrm>
        <a:graphic>
          <a:graphicData uri="http://schemas.openxmlformats.org/drawingml/2006/table">
            <a:tbl>
              <a:tblPr firstRow="1" bandRow="1">
                <a:tableStyleId>{93296810-A885-4BE3-A3E7-6D5BEEA58F35}</a:tableStyleId>
              </a:tblPr>
              <a:tblGrid>
                <a:gridCol w="325120">
                  <a:extLst>
                    <a:ext uri="{9D8B030D-6E8A-4147-A177-3AD203B41FA5}">
                      <a16:colId xmlns:a16="http://schemas.microsoft.com/office/drawing/2014/main" val="2881299767"/>
                    </a:ext>
                  </a:extLst>
                </a:gridCol>
                <a:gridCol w="325120">
                  <a:extLst>
                    <a:ext uri="{9D8B030D-6E8A-4147-A177-3AD203B41FA5}">
                      <a16:colId xmlns:a16="http://schemas.microsoft.com/office/drawing/2014/main" val="1093236648"/>
                    </a:ext>
                  </a:extLst>
                </a:gridCol>
              </a:tblGrid>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3872475717"/>
                  </a:ext>
                </a:extLst>
              </a:tr>
              <a:tr h="315807">
                <a:tc>
                  <a:txBody>
                    <a:bodyPr/>
                    <a:lstStyle/>
                    <a:p>
                      <a:pPr latinLnBrk="1"/>
                      <a:endParaRPr lang="ko-KR" altLang="en-US" sz="700"/>
                    </a:p>
                  </a:txBody>
                  <a:tcPr/>
                </a:tc>
                <a:tc>
                  <a:txBody>
                    <a:bodyPr/>
                    <a:lstStyle/>
                    <a:p>
                      <a:pPr latinLnBrk="1"/>
                      <a:endParaRPr lang="ko-KR" altLang="en-US" sz="700" dirty="0"/>
                    </a:p>
                  </a:txBody>
                  <a:tcPr/>
                </a:tc>
                <a:extLst>
                  <a:ext uri="{0D108BD9-81ED-4DB2-BD59-A6C34878D82A}">
                    <a16:rowId xmlns:a16="http://schemas.microsoft.com/office/drawing/2014/main" val="2308754103"/>
                  </a:ext>
                </a:extLst>
              </a:tr>
            </a:tbl>
          </a:graphicData>
        </a:graphic>
      </p:graphicFrame>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CD419FB-2F4F-330E-CA5C-0CAE00C9A4D5}"/>
                  </a:ext>
                </a:extLst>
              </p:cNvPr>
              <p:cNvSpPr txBox="1"/>
              <p:nvPr/>
            </p:nvSpPr>
            <p:spPr>
              <a:xfrm>
                <a:off x="2808672" y="5139778"/>
                <a:ext cx="2785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h</m:t>
                          </m:r>
                        </m:e>
                        <m:sub>
                          <m:r>
                            <a:rPr lang="ko-KR" altLang="en-US" i="1">
                              <a:solidFill>
                                <a:schemeClr val="tx1"/>
                              </a:solidFill>
                              <a:latin typeface="Cambria Math" panose="02040503050406030204" pitchFamily="18" charset="0"/>
                            </a:rPr>
                            <m:t>𝑡</m:t>
                          </m:r>
                        </m:sub>
                      </m:sSub>
                    </m:oMath>
                  </m:oMathPara>
                </a14:m>
                <a:endParaRPr lang="ko-KR" altLang="en-US" dirty="0">
                  <a:solidFill>
                    <a:schemeClr val="tx1"/>
                  </a:solidFill>
                </a:endParaRPr>
              </a:p>
            </p:txBody>
          </p:sp>
        </mc:Choice>
        <mc:Fallback xmlns="">
          <p:sp>
            <p:nvSpPr>
              <p:cNvPr id="36" name="TextBox 35">
                <a:extLst>
                  <a:ext uri="{FF2B5EF4-FFF2-40B4-BE49-F238E27FC236}">
                    <a16:creationId xmlns:a16="http://schemas.microsoft.com/office/drawing/2014/main" id="{7CD419FB-2F4F-330E-CA5C-0CAE00C9A4D5}"/>
                  </a:ext>
                </a:extLst>
              </p:cNvPr>
              <p:cNvSpPr txBox="1">
                <a:spLocks noRot="1" noChangeAspect="1" noMove="1" noResize="1" noEditPoints="1" noAdjustHandles="1" noChangeArrowheads="1" noChangeShapeType="1" noTextEdit="1"/>
              </p:cNvSpPr>
              <p:nvPr/>
            </p:nvSpPr>
            <p:spPr>
              <a:xfrm>
                <a:off x="2808672" y="5139778"/>
                <a:ext cx="278538" cy="276999"/>
              </a:xfrm>
              <a:prstGeom prst="rect">
                <a:avLst/>
              </a:prstGeom>
              <a:blipFill>
                <a:blip r:embed="rId13"/>
                <a:stretch>
                  <a:fillRect l="-20000" r="-2222" b="-17391"/>
                </a:stretch>
              </a:blipFill>
            </p:spPr>
            <p:txBody>
              <a:bodyPr/>
              <a:lstStyle/>
              <a:p>
                <a:r>
                  <a:rPr lang="ko-KR" altLang="en-US">
                    <a:noFill/>
                  </a:rPr>
                  <a:t> </a:t>
                </a:r>
              </a:p>
            </p:txBody>
          </p:sp>
        </mc:Fallback>
      </mc:AlternateContent>
      <p:sp>
        <p:nvSpPr>
          <p:cNvPr id="37" name="순서도: 가산 접합 36">
            <a:extLst>
              <a:ext uri="{FF2B5EF4-FFF2-40B4-BE49-F238E27FC236}">
                <a16:creationId xmlns:a16="http://schemas.microsoft.com/office/drawing/2014/main" id="{5F653A37-34B8-DFD0-D7D1-ED0312FD63FD}"/>
              </a:ext>
            </a:extLst>
          </p:cNvPr>
          <p:cNvSpPr/>
          <p:nvPr/>
        </p:nvSpPr>
        <p:spPr>
          <a:xfrm>
            <a:off x="2262721" y="5731234"/>
            <a:ext cx="294640" cy="294640"/>
          </a:xfrm>
          <a:prstGeom prst="flowChartSummingJunctio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8" name="표 37">
            <a:extLst>
              <a:ext uri="{FF2B5EF4-FFF2-40B4-BE49-F238E27FC236}">
                <a16:creationId xmlns:a16="http://schemas.microsoft.com/office/drawing/2014/main" id="{DC48F71C-337B-67C4-5968-F9087E5C9AB6}"/>
              </a:ext>
            </a:extLst>
          </p:cNvPr>
          <p:cNvGraphicFramePr>
            <a:graphicFrameLocks noGrp="1"/>
          </p:cNvGraphicFramePr>
          <p:nvPr>
            <p:extLst>
              <p:ext uri="{D42A27DB-BD31-4B8C-83A1-F6EECF244321}">
                <p14:modId xmlns:p14="http://schemas.microsoft.com/office/powerpoint/2010/main" val="3925856230"/>
              </p:ext>
            </p:extLst>
          </p:nvPr>
        </p:nvGraphicFramePr>
        <p:xfrm>
          <a:off x="2797190" y="5495306"/>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9C7A837-A132-2E66-A223-934D0F06E35F}"/>
                  </a:ext>
                </a:extLst>
              </p:cNvPr>
              <p:cNvSpPr txBox="1"/>
              <p:nvPr/>
            </p:nvSpPr>
            <p:spPr>
              <a:xfrm>
                <a:off x="5061331" y="5140293"/>
                <a:ext cx="273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𝑦</m:t>
                          </m:r>
                        </m:e>
                        <m:sub>
                          <m:r>
                            <a:rPr lang="ko-KR" altLang="en-US" i="1">
                              <a:solidFill>
                                <a:schemeClr val="tx1"/>
                              </a:solidFill>
                              <a:latin typeface="Cambria Math" panose="02040503050406030204" pitchFamily="18" charset="0"/>
                            </a:rPr>
                            <m:t>𝑡</m:t>
                          </m:r>
                        </m:sub>
                      </m:sSub>
                    </m:oMath>
                  </m:oMathPara>
                </a14:m>
                <a:endParaRPr lang="ko-KR" altLang="en-US" dirty="0">
                  <a:solidFill>
                    <a:schemeClr val="tx1"/>
                  </a:solidFill>
                </a:endParaRPr>
              </a:p>
            </p:txBody>
          </p:sp>
        </mc:Choice>
        <mc:Fallback xmlns="">
          <p:sp>
            <p:nvSpPr>
              <p:cNvPr id="39" name="TextBox 38">
                <a:extLst>
                  <a:ext uri="{FF2B5EF4-FFF2-40B4-BE49-F238E27FC236}">
                    <a16:creationId xmlns:a16="http://schemas.microsoft.com/office/drawing/2014/main" id="{C9C7A837-A132-2E66-A223-934D0F06E35F}"/>
                  </a:ext>
                </a:extLst>
              </p:cNvPr>
              <p:cNvSpPr txBox="1">
                <a:spLocks noRot="1" noChangeAspect="1" noMove="1" noResize="1" noEditPoints="1" noAdjustHandles="1" noChangeArrowheads="1" noChangeShapeType="1" noTextEdit="1"/>
              </p:cNvSpPr>
              <p:nvPr/>
            </p:nvSpPr>
            <p:spPr>
              <a:xfrm>
                <a:off x="5061331" y="5140293"/>
                <a:ext cx="273152" cy="276999"/>
              </a:xfrm>
              <a:prstGeom prst="rect">
                <a:avLst/>
              </a:prstGeom>
              <a:blipFill>
                <a:blip r:embed="rId14"/>
                <a:stretch>
                  <a:fillRect l="-20000" r="-2222" b="-28261"/>
                </a:stretch>
              </a:blipFill>
            </p:spPr>
            <p:txBody>
              <a:bodyPr/>
              <a:lstStyle/>
              <a:p>
                <a:r>
                  <a:rPr lang="ko-KR" altLang="en-US">
                    <a:noFill/>
                  </a:rPr>
                  <a:t> </a:t>
                </a:r>
              </a:p>
            </p:txBody>
          </p:sp>
        </mc:Fallback>
      </mc:AlternateContent>
      <p:sp>
        <p:nvSpPr>
          <p:cNvPr id="40" name="같음 기호 39">
            <a:extLst>
              <a:ext uri="{FF2B5EF4-FFF2-40B4-BE49-F238E27FC236}">
                <a16:creationId xmlns:a16="http://schemas.microsoft.com/office/drawing/2014/main" id="{FD08F977-779B-7FFC-4E25-5958F35B0234}"/>
              </a:ext>
            </a:extLst>
          </p:cNvPr>
          <p:cNvSpPr/>
          <p:nvPr/>
        </p:nvSpPr>
        <p:spPr>
          <a:xfrm>
            <a:off x="4553619" y="5706284"/>
            <a:ext cx="363069" cy="294640"/>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aphicFrame>
        <p:nvGraphicFramePr>
          <p:cNvPr id="41" name="표 40">
            <a:extLst>
              <a:ext uri="{FF2B5EF4-FFF2-40B4-BE49-F238E27FC236}">
                <a16:creationId xmlns:a16="http://schemas.microsoft.com/office/drawing/2014/main" id="{36AF8FBC-F70C-6BBF-7A31-22CC9674A9E0}"/>
              </a:ext>
            </a:extLst>
          </p:cNvPr>
          <p:cNvGraphicFramePr>
            <a:graphicFrameLocks noGrp="1"/>
          </p:cNvGraphicFramePr>
          <p:nvPr>
            <p:extLst>
              <p:ext uri="{D42A27DB-BD31-4B8C-83A1-F6EECF244321}">
                <p14:modId xmlns:p14="http://schemas.microsoft.com/office/powerpoint/2010/main" val="3595536020"/>
              </p:ext>
            </p:extLst>
          </p:nvPr>
        </p:nvGraphicFramePr>
        <p:xfrm>
          <a:off x="5019709" y="5495306"/>
          <a:ext cx="307340" cy="638050"/>
        </p:xfrm>
        <a:graphic>
          <a:graphicData uri="http://schemas.openxmlformats.org/drawingml/2006/table">
            <a:tbl>
              <a:tblPr firstRow="1" bandRow="1">
                <a:tableStyleId>{21E4AEA4-8DFA-4A89-87EB-49C32662AFE0}</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88C18B9-6F36-18EA-9AB2-73DABC01AC34}"/>
                  </a:ext>
                </a:extLst>
              </p:cNvPr>
              <p:cNvSpPr txBox="1"/>
              <p:nvPr/>
            </p:nvSpPr>
            <p:spPr>
              <a:xfrm>
                <a:off x="1264184" y="5100477"/>
                <a:ext cx="341247"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𝜔</m:t>
                          </m:r>
                        </m:e>
                        <m:sub>
                          <m:r>
                            <a:rPr lang="ko-KR" altLang="en-US" i="1">
                              <a:latin typeface="Cambria Math" panose="02040503050406030204" pitchFamily="18" charset="0"/>
                            </a:rPr>
                            <m:t>𝑦</m:t>
                          </m:r>
                        </m:sub>
                      </m:sSub>
                    </m:oMath>
                  </m:oMathPara>
                </a14:m>
                <a:endParaRPr lang="ko-KR" altLang="en-US" dirty="0"/>
              </a:p>
            </p:txBody>
          </p:sp>
        </mc:Choice>
        <mc:Fallback xmlns="">
          <p:sp>
            <p:nvSpPr>
              <p:cNvPr id="42" name="TextBox 41">
                <a:extLst>
                  <a:ext uri="{FF2B5EF4-FFF2-40B4-BE49-F238E27FC236}">
                    <a16:creationId xmlns:a16="http://schemas.microsoft.com/office/drawing/2014/main" id="{488C18B9-6F36-18EA-9AB2-73DABC01AC34}"/>
                  </a:ext>
                </a:extLst>
              </p:cNvPr>
              <p:cNvSpPr txBox="1">
                <a:spLocks noRot="1" noChangeAspect="1" noMove="1" noResize="1" noEditPoints="1" noAdjustHandles="1" noChangeArrowheads="1" noChangeShapeType="1" noTextEdit="1"/>
              </p:cNvSpPr>
              <p:nvPr/>
            </p:nvSpPr>
            <p:spPr>
              <a:xfrm>
                <a:off x="1264184" y="5100477"/>
                <a:ext cx="341247" cy="298928"/>
              </a:xfrm>
              <a:prstGeom prst="rect">
                <a:avLst/>
              </a:prstGeom>
              <a:blipFill>
                <a:blip r:embed="rId15"/>
                <a:stretch>
                  <a:fillRect l="-8929" r="-5357" b="-18367"/>
                </a:stretch>
              </a:blipFill>
            </p:spPr>
            <p:txBody>
              <a:bodyPr/>
              <a:lstStyle/>
              <a:p>
                <a:r>
                  <a:rPr lang="ko-KR" altLang="en-US">
                    <a:noFill/>
                  </a:rPr>
                  <a:t> </a:t>
                </a:r>
              </a:p>
            </p:txBody>
          </p:sp>
        </mc:Fallback>
      </mc:AlternateContent>
      <p:graphicFrame>
        <p:nvGraphicFramePr>
          <p:cNvPr id="44" name="표 43">
            <a:extLst>
              <a:ext uri="{FF2B5EF4-FFF2-40B4-BE49-F238E27FC236}">
                <a16:creationId xmlns:a16="http://schemas.microsoft.com/office/drawing/2014/main" id="{C64F3203-25FA-D59A-A909-22D027387E6F}"/>
              </a:ext>
            </a:extLst>
          </p:cNvPr>
          <p:cNvGraphicFramePr>
            <a:graphicFrameLocks noGrp="1"/>
          </p:cNvGraphicFramePr>
          <p:nvPr>
            <p:extLst>
              <p:ext uri="{D42A27DB-BD31-4B8C-83A1-F6EECF244321}">
                <p14:modId xmlns:p14="http://schemas.microsoft.com/office/powerpoint/2010/main" val="3169894163"/>
              </p:ext>
            </p:extLst>
          </p:nvPr>
        </p:nvGraphicFramePr>
        <p:xfrm>
          <a:off x="4058769" y="5495306"/>
          <a:ext cx="307340" cy="638050"/>
        </p:xfrm>
        <a:graphic>
          <a:graphicData uri="http://schemas.openxmlformats.org/drawingml/2006/table">
            <a:tbl>
              <a:tblPr firstRow="1" bandRow="1">
                <a:tableStyleId>{F5AB1C69-6EDB-4FF4-983F-18BD219EF322}</a:tableStyleId>
              </a:tblPr>
              <a:tblGrid>
                <a:gridCol w="307340">
                  <a:extLst>
                    <a:ext uri="{9D8B030D-6E8A-4147-A177-3AD203B41FA5}">
                      <a16:colId xmlns:a16="http://schemas.microsoft.com/office/drawing/2014/main" val="3902393823"/>
                    </a:ext>
                  </a:extLst>
                </a:gridCol>
              </a:tblGrid>
              <a:tr h="319025">
                <a:tc>
                  <a:txBody>
                    <a:bodyPr/>
                    <a:lstStyle/>
                    <a:p>
                      <a:pPr latinLnBrk="1"/>
                      <a:endParaRPr lang="ko-KR" altLang="en-US" sz="1050"/>
                    </a:p>
                  </a:txBody>
                  <a:tcPr/>
                </a:tc>
                <a:extLst>
                  <a:ext uri="{0D108BD9-81ED-4DB2-BD59-A6C34878D82A}">
                    <a16:rowId xmlns:a16="http://schemas.microsoft.com/office/drawing/2014/main" val="3272695305"/>
                  </a:ext>
                </a:extLst>
              </a:tr>
              <a:tr h="319025">
                <a:tc>
                  <a:txBody>
                    <a:bodyPr/>
                    <a:lstStyle/>
                    <a:p>
                      <a:pPr latinLnBrk="1"/>
                      <a:endParaRPr lang="ko-KR" altLang="en-US" sz="1050" dirty="0"/>
                    </a:p>
                  </a:txBody>
                  <a:tcPr/>
                </a:tc>
                <a:extLst>
                  <a:ext uri="{0D108BD9-81ED-4DB2-BD59-A6C34878D82A}">
                    <a16:rowId xmlns:a16="http://schemas.microsoft.com/office/drawing/2014/main" val="2023984079"/>
                  </a:ext>
                </a:extLst>
              </a:tr>
            </a:tbl>
          </a:graphicData>
        </a:graphic>
      </p:graphicFrame>
      <p:sp>
        <p:nvSpPr>
          <p:cNvPr id="45" name="순서도: 논리합 44">
            <a:extLst>
              <a:ext uri="{FF2B5EF4-FFF2-40B4-BE49-F238E27FC236}">
                <a16:creationId xmlns:a16="http://schemas.microsoft.com/office/drawing/2014/main" id="{4E495D4E-FEFD-F2BA-3E2B-0CE9295839F2}"/>
              </a:ext>
            </a:extLst>
          </p:cNvPr>
          <p:cNvSpPr/>
          <p:nvPr/>
        </p:nvSpPr>
        <p:spPr>
          <a:xfrm>
            <a:off x="3441278" y="5720477"/>
            <a:ext cx="294640" cy="294640"/>
          </a:xfrm>
          <a:prstGeom prst="flowChartOr">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393B216-685D-517C-9171-997B28AF9482}"/>
                  </a:ext>
                </a:extLst>
              </p:cNvPr>
              <p:cNvSpPr txBox="1"/>
              <p:nvPr/>
            </p:nvSpPr>
            <p:spPr>
              <a:xfrm>
                <a:off x="4044488" y="5139393"/>
                <a:ext cx="301301"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latin typeface="Cambria Math" panose="02040503050406030204" pitchFamily="18" charset="0"/>
                            </a:rPr>
                          </m:ctrlPr>
                        </m:sSubPr>
                        <m:e>
                          <m:r>
                            <a:rPr lang="ko-KR" altLang="en-US" i="1">
                              <a:latin typeface="Cambria Math" panose="02040503050406030204" pitchFamily="18" charset="0"/>
                            </a:rPr>
                            <m:t>𝑏</m:t>
                          </m:r>
                        </m:e>
                        <m:sub>
                          <m:r>
                            <a:rPr lang="ko-KR" altLang="en-US" i="1">
                              <a:latin typeface="Cambria Math" panose="02040503050406030204" pitchFamily="18" charset="0"/>
                            </a:rPr>
                            <m:t>𝑦</m:t>
                          </m:r>
                        </m:sub>
                      </m:sSub>
                    </m:oMath>
                  </m:oMathPara>
                </a14:m>
                <a:endParaRPr lang="ko-KR" altLang="en-US" dirty="0"/>
              </a:p>
            </p:txBody>
          </p:sp>
        </mc:Choice>
        <mc:Fallback xmlns="">
          <p:sp>
            <p:nvSpPr>
              <p:cNvPr id="47" name="TextBox 46">
                <a:extLst>
                  <a:ext uri="{FF2B5EF4-FFF2-40B4-BE49-F238E27FC236}">
                    <a16:creationId xmlns:a16="http://schemas.microsoft.com/office/drawing/2014/main" id="{8393B216-685D-517C-9171-997B28AF9482}"/>
                  </a:ext>
                </a:extLst>
              </p:cNvPr>
              <p:cNvSpPr txBox="1">
                <a:spLocks noRot="1" noChangeAspect="1" noMove="1" noResize="1" noEditPoints="1" noAdjustHandles="1" noChangeArrowheads="1" noChangeShapeType="1" noTextEdit="1"/>
              </p:cNvSpPr>
              <p:nvPr/>
            </p:nvSpPr>
            <p:spPr>
              <a:xfrm>
                <a:off x="4044488" y="5139393"/>
                <a:ext cx="301301" cy="298928"/>
              </a:xfrm>
              <a:prstGeom prst="rect">
                <a:avLst/>
              </a:prstGeom>
              <a:blipFill>
                <a:blip r:embed="rId16"/>
                <a:stretch>
                  <a:fillRect l="-18000" r="-2000" b="-20408"/>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A7A062F-BC82-06F4-C86E-88D37E62555F}"/>
                  </a:ext>
                </a:extLst>
              </p:cNvPr>
              <p:cNvSpPr txBox="1"/>
              <p:nvPr/>
            </p:nvSpPr>
            <p:spPr>
              <a:xfrm>
                <a:off x="5745329" y="3929002"/>
                <a:ext cx="470657"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b="1" i="1" smtClean="0">
                              <a:solidFill>
                                <a:srgbClr val="00B050"/>
                              </a:solidFill>
                              <a:latin typeface="Cambria Math" panose="02040503050406030204" pitchFamily="18" charset="0"/>
                            </a:rPr>
                          </m:ctrlPr>
                        </m:sSubPr>
                        <m:e>
                          <m:r>
                            <a:rPr lang="ko-KR" altLang="en-US" sz="2000" b="1" i="1">
                              <a:solidFill>
                                <a:srgbClr val="00B050"/>
                              </a:solidFill>
                              <a:latin typeface="Cambria Math" panose="02040503050406030204" pitchFamily="18" charset="0"/>
                            </a:rPr>
                            <m:t>𝝎</m:t>
                          </m:r>
                        </m:e>
                        <m:sub>
                          <m:r>
                            <a:rPr lang="ko-KR" altLang="en-US" sz="2000" b="1" i="1">
                              <a:solidFill>
                                <a:srgbClr val="00B050"/>
                              </a:solidFill>
                              <a:latin typeface="Cambria Math" panose="02040503050406030204" pitchFamily="18" charset="0"/>
                            </a:rPr>
                            <m:t>𝒙</m:t>
                          </m:r>
                        </m:sub>
                      </m:sSub>
                    </m:oMath>
                  </m:oMathPara>
                </a14:m>
                <a:endParaRPr lang="ko-KR" altLang="en-US" sz="2000" b="1" dirty="0">
                  <a:solidFill>
                    <a:srgbClr val="00B050"/>
                  </a:solidFill>
                </a:endParaRPr>
              </a:p>
            </p:txBody>
          </p:sp>
        </mc:Choice>
        <mc:Fallback xmlns="">
          <p:sp>
            <p:nvSpPr>
              <p:cNvPr id="50" name="TextBox 49">
                <a:extLst>
                  <a:ext uri="{FF2B5EF4-FFF2-40B4-BE49-F238E27FC236}">
                    <a16:creationId xmlns:a16="http://schemas.microsoft.com/office/drawing/2014/main" id="{0A7A062F-BC82-06F4-C86E-88D37E62555F}"/>
                  </a:ext>
                </a:extLst>
              </p:cNvPr>
              <p:cNvSpPr txBox="1">
                <a:spLocks noRot="1" noChangeAspect="1" noMove="1" noResize="1" noEditPoints="1" noAdjustHandles="1" noChangeArrowheads="1" noChangeShapeType="1" noTextEdit="1"/>
              </p:cNvSpPr>
              <p:nvPr/>
            </p:nvSpPr>
            <p:spPr>
              <a:xfrm>
                <a:off x="5745329" y="3929002"/>
                <a:ext cx="470657" cy="400110"/>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B467AF6-ADD3-B654-4C3D-5209F8B431A5}"/>
                  </a:ext>
                </a:extLst>
              </p:cNvPr>
              <p:cNvSpPr txBox="1"/>
              <p:nvPr/>
            </p:nvSpPr>
            <p:spPr>
              <a:xfrm>
                <a:off x="7904480" y="3622548"/>
                <a:ext cx="427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rgbClr val="FF0000"/>
                              </a:solidFill>
                              <a:latin typeface="Cambria Math" panose="02040503050406030204" pitchFamily="18" charset="0"/>
                            </a:rPr>
                          </m:ctrlPr>
                        </m:sSubPr>
                        <m:e>
                          <m:r>
                            <a:rPr lang="ko-KR" altLang="en-US" i="1">
                              <a:solidFill>
                                <a:srgbClr val="FF0000"/>
                              </a:solidFill>
                              <a:latin typeface="Cambria Math" panose="02040503050406030204" pitchFamily="18" charset="0"/>
                            </a:rPr>
                            <m:t>h</m:t>
                          </m:r>
                        </m:e>
                        <m:sub>
                          <m:r>
                            <a:rPr lang="ko-KR" altLang="en-US" i="1">
                              <a:solidFill>
                                <a:srgbClr val="FF0000"/>
                              </a:solidFill>
                              <a:latin typeface="Cambria Math" panose="02040503050406030204" pitchFamily="18" charset="0"/>
                            </a:rPr>
                            <m:t>𝑡</m:t>
                          </m:r>
                          <m:r>
                            <a:rPr lang="en-US" altLang="ko-KR" b="0" i="1" smtClean="0">
                              <a:solidFill>
                                <a:srgbClr val="FF0000"/>
                              </a:solidFill>
                              <a:latin typeface="Cambria Math" panose="02040503050406030204" pitchFamily="18" charset="0"/>
                            </a:rPr>
                            <m:t>−1</m:t>
                          </m:r>
                        </m:sub>
                      </m:sSub>
                    </m:oMath>
                  </m:oMathPara>
                </a14:m>
                <a:endParaRPr lang="ko-KR" altLang="en-US" dirty="0">
                  <a:solidFill>
                    <a:srgbClr val="FF0000"/>
                  </a:solidFill>
                </a:endParaRPr>
              </a:p>
            </p:txBody>
          </p:sp>
        </mc:Choice>
        <mc:Fallback xmlns="">
          <p:sp>
            <p:nvSpPr>
              <p:cNvPr id="51" name="TextBox 50">
                <a:extLst>
                  <a:ext uri="{FF2B5EF4-FFF2-40B4-BE49-F238E27FC236}">
                    <a16:creationId xmlns:a16="http://schemas.microsoft.com/office/drawing/2014/main" id="{9B467AF6-ADD3-B654-4C3D-5209F8B431A5}"/>
                  </a:ext>
                </a:extLst>
              </p:cNvPr>
              <p:cNvSpPr txBox="1">
                <a:spLocks noRot="1" noChangeAspect="1" noMove="1" noResize="1" noEditPoints="1" noAdjustHandles="1" noChangeArrowheads="1" noChangeShapeType="1" noTextEdit="1"/>
              </p:cNvSpPr>
              <p:nvPr/>
            </p:nvSpPr>
            <p:spPr>
              <a:xfrm>
                <a:off x="7904480" y="3622548"/>
                <a:ext cx="427938" cy="276999"/>
              </a:xfrm>
              <a:prstGeom prst="rect">
                <a:avLst/>
              </a:prstGeom>
              <a:blipFill>
                <a:blip r:embed="rId18"/>
                <a:stretch>
                  <a:fillRect l="-12857" r="-2857" b="-1739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512B2FB-F307-0616-1BF6-05B8B55047B6}"/>
                  </a:ext>
                </a:extLst>
              </p:cNvPr>
              <p:cNvSpPr txBox="1"/>
              <p:nvPr/>
            </p:nvSpPr>
            <p:spPr>
              <a:xfrm>
                <a:off x="11140638" y="3034667"/>
                <a:ext cx="359008" cy="3024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b="1" i="1" smtClean="0">
                              <a:solidFill>
                                <a:srgbClr val="00B050"/>
                              </a:solidFill>
                              <a:latin typeface="Cambria Math" panose="02040503050406030204" pitchFamily="18" charset="0"/>
                            </a:rPr>
                          </m:ctrlPr>
                        </m:sSubPr>
                        <m:e>
                          <m:r>
                            <a:rPr lang="ko-KR" altLang="en-US" b="1" i="1">
                              <a:solidFill>
                                <a:srgbClr val="00B050"/>
                              </a:solidFill>
                              <a:latin typeface="Cambria Math" panose="02040503050406030204" pitchFamily="18" charset="0"/>
                            </a:rPr>
                            <m:t>𝝎</m:t>
                          </m:r>
                        </m:e>
                        <m:sub>
                          <m:r>
                            <a:rPr lang="ko-KR" altLang="en-US" b="1" i="1">
                              <a:solidFill>
                                <a:srgbClr val="00B050"/>
                              </a:solidFill>
                              <a:latin typeface="Cambria Math" panose="02040503050406030204" pitchFamily="18" charset="0"/>
                            </a:rPr>
                            <m:t>𝒚</m:t>
                          </m:r>
                        </m:sub>
                      </m:sSub>
                    </m:oMath>
                  </m:oMathPara>
                </a14:m>
                <a:endParaRPr lang="ko-KR" altLang="en-US" b="1" dirty="0">
                  <a:solidFill>
                    <a:srgbClr val="00B050"/>
                  </a:solidFill>
                </a:endParaRPr>
              </a:p>
            </p:txBody>
          </p:sp>
        </mc:Choice>
        <mc:Fallback xmlns="">
          <p:sp>
            <p:nvSpPr>
              <p:cNvPr id="52" name="TextBox 51">
                <a:extLst>
                  <a:ext uri="{FF2B5EF4-FFF2-40B4-BE49-F238E27FC236}">
                    <a16:creationId xmlns:a16="http://schemas.microsoft.com/office/drawing/2014/main" id="{9512B2FB-F307-0616-1BF6-05B8B55047B6}"/>
                  </a:ext>
                </a:extLst>
              </p:cNvPr>
              <p:cNvSpPr txBox="1">
                <a:spLocks noRot="1" noChangeAspect="1" noMove="1" noResize="1" noEditPoints="1" noAdjustHandles="1" noChangeArrowheads="1" noChangeShapeType="1" noTextEdit="1"/>
              </p:cNvSpPr>
              <p:nvPr/>
            </p:nvSpPr>
            <p:spPr>
              <a:xfrm>
                <a:off x="11140638" y="3034667"/>
                <a:ext cx="359008" cy="302455"/>
              </a:xfrm>
              <a:prstGeom prst="rect">
                <a:avLst/>
              </a:prstGeom>
              <a:blipFill>
                <a:blip r:embed="rId19"/>
                <a:stretch>
                  <a:fillRect l="-8621" r="-5172" b="-2244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A99FE0E4-3735-1561-0AEE-5B84671182B8}"/>
                  </a:ext>
                </a:extLst>
              </p:cNvPr>
              <p:cNvSpPr txBox="1"/>
              <p:nvPr/>
            </p:nvSpPr>
            <p:spPr>
              <a:xfrm>
                <a:off x="11342616" y="3637094"/>
                <a:ext cx="2785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rgbClr val="FF0000"/>
                              </a:solidFill>
                              <a:latin typeface="Cambria Math" panose="02040503050406030204" pitchFamily="18" charset="0"/>
                            </a:rPr>
                          </m:ctrlPr>
                        </m:sSubPr>
                        <m:e>
                          <m:r>
                            <a:rPr lang="ko-KR" altLang="en-US" i="1">
                              <a:solidFill>
                                <a:srgbClr val="FF0000"/>
                              </a:solidFill>
                              <a:latin typeface="Cambria Math" panose="02040503050406030204" pitchFamily="18" charset="0"/>
                            </a:rPr>
                            <m:t>h</m:t>
                          </m:r>
                        </m:e>
                        <m:sub>
                          <m:r>
                            <a:rPr lang="ko-KR" altLang="en-US" i="1">
                              <a:solidFill>
                                <a:srgbClr val="FF0000"/>
                              </a:solidFill>
                              <a:latin typeface="Cambria Math" panose="02040503050406030204" pitchFamily="18" charset="0"/>
                            </a:rPr>
                            <m:t>𝑡</m:t>
                          </m:r>
                        </m:sub>
                      </m:sSub>
                    </m:oMath>
                  </m:oMathPara>
                </a14:m>
                <a:endParaRPr lang="ko-KR" altLang="en-US" dirty="0">
                  <a:solidFill>
                    <a:srgbClr val="FF0000"/>
                  </a:solidFill>
                </a:endParaRPr>
              </a:p>
            </p:txBody>
          </p:sp>
        </mc:Choice>
        <mc:Fallback xmlns="">
          <p:sp>
            <p:nvSpPr>
              <p:cNvPr id="53" name="TextBox 52">
                <a:extLst>
                  <a:ext uri="{FF2B5EF4-FFF2-40B4-BE49-F238E27FC236}">
                    <a16:creationId xmlns:a16="http://schemas.microsoft.com/office/drawing/2014/main" id="{A99FE0E4-3735-1561-0AEE-5B84671182B8}"/>
                  </a:ext>
                </a:extLst>
              </p:cNvPr>
              <p:cNvSpPr txBox="1">
                <a:spLocks noRot="1" noChangeAspect="1" noMove="1" noResize="1" noEditPoints="1" noAdjustHandles="1" noChangeArrowheads="1" noChangeShapeType="1" noTextEdit="1"/>
              </p:cNvSpPr>
              <p:nvPr/>
            </p:nvSpPr>
            <p:spPr>
              <a:xfrm>
                <a:off x="11342616" y="3637094"/>
                <a:ext cx="278538" cy="276999"/>
              </a:xfrm>
              <a:prstGeom prst="rect">
                <a:avLst/>
              </a:prstGeom>
              <a:blipFill>
                <a:blip r:embed="rId20"/>
                <a:stretch>
                  <a:fillRect l="-20000" r="-2222" b="-17778"/>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A40B549-D01E-738C-D225-AA924A66483C}"/>
                  </a:ext>
                </a:extLst>
              </p:cNvPr>
              <p:cNvSpPr txBox="1"/>
              <p:nvPr/>
            </p:nvSpPr>
            <p:spPr>
              <a:xfrm>
                <a:off x="11348002" y="2412095"/>
                <a:ext cx="273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rgbClr val="FF0000"/>
                              </a:solidFill>
                              <a:latin typeface="Cambria Math" panose="02040503050406030204" pitchFamily="18" charset="0"/>
                            </a:rPr>
                          </m:ctrlPr>
                        </m:sSubPr>
                        <m:e>
                          <m:r>
                            <a:rPr lang="ko-KR" altLang="en-US" i="1">
                              <a:solidFill>
                                <a:srgbClr val="FF0000"/>
                              </a:solidFill>
                              <a:latin typeface="Cambria Math" panose="02040503050406030204" pitchFamily="18" charset="0"/>
                            </a:rPr>
                            <m:t>𝑦</m:t>
                          </m:r>
                        </m:e>
                        <m:sub>
                          <m:r>
                            <a:rPr lang="ko-KR" altLang="en-US" i="1">
                              <a:solidFill>
                                <a:srgbClr val="FF0000"/>
                              </a:solidFill>
                              <a:latin typeface="Cambria Math" panose="02040503050406030204" pitchFamily="18" charset="0"/>
                            </a:rPr>
                            <m:t>𝑡</m:t>
                          </m:r>
                        </m:sub>
                      </m:sSub>
                    </m:oMath>
                  </m:oMathPara>
                </a14:m>
                <a:endParaRPr lang="ko-KR" altLang="en-US" dirty="0">
                  <a:solidFill>
                    <a:srgbClr val="FF0000"/>
                  </a:solidFill>
                </a:endParaRPr>
              </a:p>
            </p:txBody>
          </p:sp>
        </mc:Choice>
        <mc:Fallback xmlns="">
          <p:sp>
            <p:nvSpPr>
              <p:cNvPr id="54" name="TextBox 53">
                <a:extLst>
                  <a:ext uri="{FF2B5EF4-FFF2-40B4-BE49-F238E27FC236}">
                    <a16:creationId xmlns:a16="http://schemas.microsoft.com/office/drawing/2014/main" id="{CA40B549-D01E-738C-D225-AA924A66483C}"/>
                  </a:ext>
                </a:extLst>
              </p:cNvPr>
              <p:cNvSpPr txBox="1">
                <a:spLocks noRot="1" noChangeAspect="1" noMove="1" noResize="1" noEditPoints="1" noAdjustHandles="1" noChangeArrowheads="1" noChangeShapeType="1" noTextEdit="1"/>
              </p:cNvSpPr>
              <p:nvPr/>
            </p:nvSpPr>
            <p:spPr>
              <a:xfrm>
                <a:off x="11348002" y="2412095"/>
                <a:ext cx="273152" cy="276999"/>
              </a:xfrm>
              <a:prstGeom prst="rect">
                <a:avLst/>
              </a:prstGeom>
              <a:blipFill>
                <a:blip r:embed="rId21"/>
                <a:stretch>
                  <a:fillRect l="-20455" r="-2273" b="-311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28C6C34-725D-B0D5-B846-9F56039E7B74}"/>
                  </a:ext>
                </a:extLst>
              </p:cNvPr>
              <p:cNvSpPr txBox="1"/>
              <p:nvPr/>
            </p:nvSpPr>
            <p:spPr>
              <a:xfrm>
                <a:off x="7981873" y="2371842"/>
                <a:ext cx="4225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tx1"/>
                              </a:solidFill>
                              <a:latin typeface="Cambria Math" panose="02040503050406030204" pitchFamily="18" charset="0"/>
                            </a:rPr>
                          </m:ctrlPr>
                        </m:sSubPr>
                        <m:e>
                          <m:r>
                            <a:rPr lang="ko-KR" altLang="en-US" i="1">
                              <a:solidFill>
                                <a:schemeClr val="tx1"/>
                              </a:solidFill>
                              <a:latin typeface="Cambria Math" panose="02040503050406030204" pitchFamily="18" charset="0"/>
                            </a:rPr>
                            <m:t>𝑦</m:t>
                          </m:r>
                        </m:e>
                        <m:sub>
                          <m:r>
                            <a:rPr lang="ko-KR" altLang="en-US" i="1">
                              <a:solidFill>
                                <a:schemeClr val="tx1"/>
                              </a:solidFill>
                              <a:latin typeface="Cambria Math" panose="02040503050406030204" pitchFamily="18" charset="0"/>
                            </a:rPr>
                            <m:t>𝑡</m:t>
                          </m:r>
                          <m:r>
                            <a:rPr lang="en-US" altLang="ko-KR" b="0" i="1" smtClean="0">
                              <a:solidFill>
                                <a:schemeClr val="tx1"/>
                              </a:solidFill>
                              <a:latin typeface="Cambria Math" panose="02040503050406030204" pitchFamily="18" charset="0"/>
                            </a:rPr>
                            <m:t>−1</m:t>
                          </m:r>
                        </m:sub>
                      </m:sSub>
                    </m:oMath>
                  </m:oMathPara>
                </a14:m>
                <a:endParaRPr lang="ko-KR" altLang="en-US" dirty="0">
                  <a:solidFill>
                    <a:schemeClr val="tx1"/>
                  </a:solidFill>
                </a:endParaRPr>
              </a:p>
            </p:txBody>
          </p:sp>
        </mc:Choice>
        <mc:Fallback xmlns="">
          <p:sp>
            <p:nvSpPr>
              <p:cNvPr id="55" name="TextBox 54">
                <a:extLst>
                  <a:ext uri="{FF2B5EF4-FFF2-40B4-BE49-F238E27FC236}">
                    <a16:creationId xmlns:a16="http://schemas.microsoft.com/office/drawing/2014/main" id="{828C6C34-725D-B0D5-B846-9F56039E7B74}"/>
                  </a:ext>
                </a:extLst>
              </p:cNvPr>
              <p:cNvSpPr txBox="1">
                <a:spLocks noRot="1" noChangeAspect="1" noMove="1" noResize="1" noEditPoints="1" noAdjustHandles="1" noChangeArrowheads="1" noChangeShapeType="1" noTextEdit="1"/>
              </p:cNvSpPr>
              <p:nvPr/>
            </p:nvSpPr>
            <p:spPr>
              <a:xfrm>
                <a:off x="7981873" y="2371842"/>
                <a:ext cx="422552" cy="276999"/>
              </a:xfrm>
              <a:prstGeom prst="rect">
                <a:avLst/>
              </a:prstGeom>
              <a:blipFill>
                <a:blip r:embed="rId22"/>
                <a:stretch>
                  <a:fillRect l="-12857" r="-1429" b="-2826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40EE09A-EACA-BBFA-9056-40B4244BB869}"/>
                  </a:ext>
                </a:extLst>
              </p:cNvPr>
              <p:cNvSpPr txBox="1"/>
              <p:nvPr/>
            </p:nvSpPr>
            <p:spPr>
              <a:xfrm>
                <a:off x="8719176" y="2856235"/>
                <a:ext cx="47468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sz="2000" b="1" i="1" smtClean="0">
                              <a:solidFill>
                                <a:srgbClr val="00B050"/>
                              </a:solidFill>
                              <a:latin typeface="Cambria Math" panose="02040503050406030204" pitchFamily="18" charset="0"/>
                            </a:rPr>
                          </m:ctrlPr>
                        </m:sSubPr>
                        <m:e>
                          <m:r>
                            <a:rPr lang="ko-KR" altLang="en-US" sz="2000" b="1" i="1">
                              <a:solidFill>
                                <a:srgbClr val="00B050"/>
                              </a:solidFill>
                              <a:latin typeface="Cambria Math" panose="02040503050406030204" pitchFamily="18" charset="0"/>
                            </a:rPr>
                            <m:t>𝝎</m:t>
                          </m:r>
                        </m:e>
                        <m:sub>
                          <m:r>
                            <a:rPr lang="ko-KR" altLang="en-US" sz="2000" b="1" i="1">
                              <a:solidFill>
                                <a:srgbClr val="00B050"/>
                              </a:solidFill>
                              <a:latin typeface="Cambria Math" panose="02040503050406030204" pitchFamily="18" charset="0"/>
                            </a:rPr>
                            <m:t>𝒉</m:t>
                          </m:r>
                        </m:sub>
                      </m:sSub>
                    </m:oMath>
                  </m:oMathPara>
                </a14:m>
                <a:endParaRPr lang="ko-KR" altLang="en-US" sz="2000" b="1" dirty="0">
                  <a:solidFill>
                    <a:srgbClr val="00B050"/>
                  </a:solidFill>
                </a:endParaRPr>
              </a:p>
            </p:txBody>
          </p:sp>
        </mc:Choice>
        <mc:Fallback xmlns="">
          <p:sp>
            <p:nvSpPr>
              <p:cNvPr id="56" name="TextBox 55">
                <a:extLst>
                  <a:ext uri="{FF2B5EF4-FFF2-40B4-BE49-F238E27FC236}">
                    <a16:creationId xmlns:a16="http://schemas.microsoft.com/office/drawing/2014/main" id="{340EE09A-EACA-BBFA-9056-40B4244BB869}"/>
                  </a:ext>
                </a:extLst>
              </p:cNvPr>
              <p:cNvSpPr txBox="1">
                <a:spLocks noRot="1" noChangeAspect="1" noMove="1" noResize="1" noEditPoints="1" noAdjustHandles="1" noChangeArrowheads="1" noChangeShapeType="1" noTextEdit="1"/>
              </p:cNvSpPr>
              <p:nvPr/>
            </p:nvSpPr>
            <p:spPr>
              <a:xfrm>
                <a:off x="8719176" y="2856235"/>
                <a:ext cx="474682" cy="400110"/>
              </a:xfrm>
              <a:prstGeom prst="rect">
                <a:avLst/>
              </a:prstGeom>
              <a:blipFill>
                <a:blip r:embed="rId23"/>
                <a:stretch>
                  <a:fillRect r="-2564" b="-615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984CF19B-4520-8CB5-30D7-59E658E649DB}"/>
                  </a:ext>
                </a:extLst>
              </p:cNvPr>
              <p:cNvSpPr txBox="1"/>
              <p:nvPr/>
            </p:nvSpPr>
            <p:spPr>
              <a:xfrm>
                <a:off x="5829814" y="5043730"/>
                <a:ext cx="30168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ko-KR" altLang="en-US" sz="2000" i="1" smtClean="0">
                              <a:latin typeface="Cambria Math" panose="02040503050406030204" pitchFamily="18" charset="0"/>
                            </a:rPr>
                          </m:ctrlPr>
                        </m:sSubPr>
                        <m:e>
                          <m:r>
                            <a:rPr lang="ko-KR" altLang="en-US" sz="2000" i="1">
                              <a:latin typeface="Cambria Math" panose="02040503050406030204" pitchFamily="18" charset="0"/>
                            </a:rPr>
                            <m:t>𝑥</m:t>
                          </m:r>
                        </m:e>
                        <m:sub>
                          <m:r>
                            <a:rPr lang="ko-KR" altLang="en-US" sz="2000" i="1">
                              <a:latin typeface="Cambria Math" panose="02040503050406030204" pitchFamily="18" charset="0"/>
                            </a:rPr>
                            <m:t>𝑡</m:t>
                          </m:r>
                        </m:sub>
                      </m:sSub>
                    </m:oMath>
                  </m:oMathPara>
                </a14:m>
                <a:endParaRPr lang="ko-KR" altLang="en-US" sz="2000" dirty="0"/>
              </a:p>
            </p:txBody>
          </p:sp>
        </mc:Choice>
        <mc:Fallback xmlns="">
          <p:sp>
            <p:nvSpPr>
              <p:cNvPr id="57" name="TextBox 56">
                <a:extLst>
                  <a:ext uri="{FF2B5EF4-FFF2-40B4-BE49-F238E27FC236}">
                    <a16:creationId xmlns:a16="http://schemas.microsoft.com/office/drawing/2014/main" id="{984CF19B-4520-8CB5-30D7-59E658E649DB}"/>
                  </a:ext>
                </a:extLst>
              </p:cNvPr>
              <p:cNvSpPr txBox="1">
                <a:spLocks noRot="1" noChangeAspect="1" noMove="1" noResize="1" noEditPoints="1" noAdjustHandles="1" noChangeArrowheads="1" noChangeShapeType="1" noTextEdit="1"/>
              </p:cNvSpPr>
              <p:nvPr/>
            </p:nvSpPr>
            <p:spPr>
              <a:xfrm>
                <a:off x="5829814" y="5043730"/>
                <a:ext cx="301685" cy="307777"/>
              </a:xfrm>
              <a:prstGeom prst="rect">
                <a:avLst/>
              </a:prstGeom>
              <a:blipFill>
                <a:blip r:embed="rId24"/>
                <a:stretch>
                  <a:fillRect l="-8000" r="-2000" b="-1764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11600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4" grpId="0"/>
      <p:bldP spid="19" grpId="0" animBg="1"/>
      <p:bldP spid="20" grpId="0" animBg="1"/>
      <p:bldP spid="21" grpId="0" animBg="1"/>
      <p:bldP spid="23" grpId="0"/>
      <p:bldP spid="24" grpId="0" animBg="1"/>
      <p:bldP spid="29" grpId="0"/>
      <p:bldP spid="30" grpId="0" animBg="1"/>
      <p:bldP spid="32" grpId="0"/>
      <p:bldP spid="36" grpId="0"/>
      <p:bldP spid="37" grpId="0" animBg="1"/>
      <p:bldP spid="39" grpId="0"/>
      <p:bldP spid="40" grpId="0" animBg="1"/>
      <p:bldP spid="42" grpId="0"/>
      <p:bldP spid="45" grpId="0" animBg="1"/>
      <p:bldP spid="47" grpId="0"/>
      <p:bldP spid="50" grpId="0"/>
      <p:bldP spid="51" grpId="0"/>
      <p:bldP spid="52" grpId="0"/>
      <p:bldP spid="53" grpId="0"/>
      <p:bldP spid="54" grpId="0"/>
      <p:bldP spid="56" grpId="0"/>
      <p:bldP spid="5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72F6-A0AC-15EB-371E-0D4312E77701}"/>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1F96B781-302F-27AB-E192-CDB2AB5F3283}"/>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11</a:t>
            </a:fld>
            <a:endParaRPr lang="en-US" dirty="0"/>
          </a:p>
        </p:txBody>
      </p:sp>
      <p:sp>
        <p:nvSpPr>
          <p:cNvPr id="3" name="제목 1">
            <a:extLst>
              <a:ext uri="{FF2B5EF4-FFF2-40B4-BE49-F238E27FC236}">
                <a16:creationId xmlns:a16="http://schemas.microsoft.com/office/drawing/2014/main" id="{988AFDB1-5160-2BA1-0683-8C8CD187A43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5" name="그림 4">
            <a:extLst>
              <a:ext uri="{FF2B5EF4-FFF2-40B4-BE49-F238E27FC236}">
                <a16:creationId xmlns:a16="http://schemas.microsoft.com/office/drawing/2014/main" id="{7A4BE745-28E7-52ED-0B06-64142F985702}"/>
              </a:ext>
            </a:extLst>
          </p:cNvPr>
          <p:cNvPicPr>
            <a:picLocks noChangeAspect="1"/>
          </p:cNvPicPr>
          <p:nvPr/>
        </p:nvPicPr>
        <p:blipFill>
          <a:blip r:embed="rId2"/>
          <a:stretch>
            <a:fillRect/>
          </a:stretch>
        </p:blipFill>
        <p:spPr>
          <a:xfrm>
            <a:off x="475645" y="2007314"/>
            <a:ext cx="7597798" cy="1272650"/>
          </a:xfrm>
          <a:prstGeom prst="rect">
            <a:avLst/>
          </a:prstGeom>
        </p:spPr>
      </p:pic>
      <p:pic>
        <p:nvPicPr>
          <p:cNvPr id="6" name="Picture 2">
            <a:extLst>
              <a:ext uri="{FF2B5EF4-FFF2-40B4-BE49-F238E27FC236}">
                <a16:creationId xmlns:a16="http://schemas.microsoft.com/office/drawing/2014/main" id="{58588726-B58B-4118-09B4-3B94D9461AD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6709195" y="3578037"/>
            <a:ext cx="5146476" cy="2337161"/>
          </a:xfrm>
          <a:prstGeom prst="rect">
            <a:avLst/>
          </a:prstGeom>
          <a:noFill/>
          <a:extLst>
            <a:ext uri="{909E8E84-426E-40DD-AFC4-6F175D3DCCD1}">
              <a14:hiddenFill xmlns:a14="http://schemas.microsoft.com/office/drawing/2010/main">
                <a:solidFill>
                  <a:srgbClr val="FFFFFF"/>
                </a:solidFill>
              </a14:hiddenFill>
            </a:ext>
          </a:extLst>
        </p:spPr>
      </p:pic>
      <p:pic>
        <p:nvPicPr>
          <p:cNvPr id="8" name="그림 7">
            <a:extLst>
              <a:ext uri="{FF2B5EF4-FFF2-40B4-BE49-F238E27FC236}">
                <a16:creationId xmlns:a16="http://schemas.microsoft.com/office/drawing/2014/main" id="{9930D5B0-AF57-DF11-4257-DC984AD72DE1}"/>
              </a:ext>
            </a:extLst>
          </p:cNvPr>
          <p:cNvPicPr>
            <a:picLocks noChangeAspect="1"/>
          </p:cNvPicPr>
          <p:nvPr/>
        </p:nvPicPr>
        <p:blipFill>
          <a:blip r:embed="rId5"/>
          <a:stretch>
            <a:fillRect/>
          </a:stretch>
        </p:blipFill>
        <p:spPr>
          <a:xfrm>
            <a:off x="475645" y="4038856"/>
            <a:ext cx="4496190" cy="952583"/>
          </a:xfrm>
          <a:prstGeom prst="rect">
            <a:avLst/>
          </a:prstGeom>
        </p:spPr>
      </p:pic>
      <p:sp>
        <p:nvSpPr>
          <p:cNvPr id="10" name="TextBox 9">
            <a:extLst>
              <a:ext uri="{FF2B5EF4-FFF2-40B4-BE49-F238E27FC236}">
                <a16:creationId xmlns:a16="http://schemas.microsoft.com/office/drawing/2014/main" id="{F3F04732-A7DF-CAB5-E904-258D981F1CA7}"/>
              </a:ext>
            </a:extLst>
          </p:cNvPr>
          <p:cNvSpPr txBox="1"/>
          <p:nvPr/>
        </p:nvSpPr>
        <p:spPr>
          <a:xfrm>
            <a:off x="475645" y="1571379"/>
            <a:ext cx="6096000" cy="369332"/>
          </a:xfrm>
          <a:prstGeom prst="rect">
            <a:avLst/>
          </a:prstGeom>
          <a:noFill/>
        </p:spPr>
        <p:txBody>
          <a:bodyPr wrap="square">
            <a:spAutoFit/>
          </a:bodyPr>
          <a:lstStyle/>
          <a:p>
            <a:r>
              <a:rPr lang="en-US" altLang="ko-KR" sz="1800" b="0" i="0" u="none" strike="noStrike" dirty="0">
                <a:solidFill>
                  <a:srgbClr val="000000"/>
                </a:solidFill>
                <a:effectLst/>
                <a:latin typeface="D2Coding" panose="020B0609020101020101" pitchFamily="49" charset="-127"/>
                <a:ea typeface="D2Coding" panose="020B0609020101020101" pitchFamily="49" charset="-127"/>
              </a:rPr>
              <a:t>1. </a:t>
            </a:r>
            <a:r>
              <a:rPr lang="ko-KR" altLang="en-US" sz="1800" b="0" i="0" u="none" strike="noStrike" dirty="0" err="1">
                <a:solidFill>
                  <a:srgbClr val="000000"/>
                </a:solidFill>
                <a:effectLst/>
                <a:latin typeface="D2Coding" panose="020B0609020101020101" pitchFamily="49" charset="-127"/>
                <a:ea typeface="D2Coding" panose="020B0609020101020101" pitchFamily="49" charset="-127"/>
              </a:rPr>
              <a:t>은닉층</a:t>
            </a:r>
            <a:r>
              <a:rPr lang="ko-KR" altLang="en-US" sz="1800" b="0" i="0" u="none" strike="noStrike" dirty="0">
                <a:solidFill>
                  <a:srgbClr val="000000"/>
                </a:solidFill>
                <a:effectLst/>
                <a:latin typeface="D2Coding" panose="020B0609020101020101" pitchFamily="49" charset="-127"/>
                <a:ea typeface="D2Coding" panose="020B0609020101020101" pitchFamily="49" charset="-127"/>
              </a:rPr>
              <a:t> </a:t>
            </a:r>
            <a:r>
              <a:rPr lang="en-US" altLang="ko-KR" sz="1800" b="0" i="0" u="none" strike="noStrike" dirty="0">
                <a:solidFill>
                  <a:srgbClr val="000000"/>
                </a:solidFill>
                <a:effectLst/>
                <a:latin typeface="D2Coding" panose="020B0609020101020101" pitchFamily="49" charset="-127"/>
                <a:ea typeface="D2Coding" panose="020B0609020101020101" pitchFamily="49" charset="-127"/>
              </a:rPr>
              <a:t>(Hidden Layer)</a:t>
            </a:r>
            <a:r>
              <a:rPr lang="ko-KR" altLang="en-US" sz="1800" b="0" i="0" u="none" strike="noStrike" dirty="0">
                <a:solidFill>
                  <a:srgbClr val="000000"/>
                </a:solidFill>
                <a:effectLst/>
                <a:latin typeface="D2Coding" panose="020B0609020101020101" pitchFamily="49" charset="-127"/>
                <a:ea typeface="D2Coding" panose="020B0609020101020101" pitchFamily="49" charset="-127"/>
              </a:rPr>
              <a:t>의 선형 수식 </a:t>
            </a:r>
            <a:endParaRPr lang="ko-KR" altLang="en-US" dirty="0">
              <a:latin typeface="D2Coding" panose="020B0609020101020101" pitchFamily="49" charset="-127"/>
              <a:ea typeface="D2Coding" panose="020B0609020101020101" pitchFamily="49" charset="-127"/>
            </a:endParaRPr>
          </a:p>
        </p:txBody>
      </p:sp>
      <p:sp>
        <p:nvSpPr>
          <p:cNvPr id="12" name="TextBox 11">
            <a:extLst>
              <a:ext uri="{FF2B5EF4-FFF2-40B4-BE49-F238E27FC236}">
                <a16:creationId xmlns:a16="http://schemas.microsoft.com/office/drawing/2014/main" id="{459F35ED-1AD3-FBFD-11D2-CB818262D9D7}"/>
              </a:ext>
            </a:extLst>
          </p:cNvPr>
          <p:cNvSpPr txBox="1"/>
          <p:nvPr/>
        </p:nvSpPr>
        <p:spPr>
          <a:xfrm>
            <a:off x="475645" y="3602921"/>
            <a:ext cx="6096000" cy="369332"/>
          </a:xfrm>
          <a:prstGeom prst="rect">
            <a:avLst/>
          </a:prstGeom>
          <a:noFill/>
        </p:spPr>
        <p:txBody>
          <a:bodyPr wrap="square">
            <a:spAutoFit/>
          </a:bodyPr>
          <a:lstStyle/>
          <a:p>
            <a:r>
              <a:rPr lang="en-US" altLang="ko-KR" sz="1800" b="0" i="0" u="none" strike="noStrike" dirty="0">
                <a:solidFill>
                  <a:srgbClr val="000000"/>
                </a:solidFill>
                <a:effectLst/>
                <a:latin typeface="D2Coding" panose="020B0609020101020101" pitchFamily="49" charset="-127"/>
                <a:ea typeface="D2Coding" panose="020B0609020101020101" pitchFamily="49" charset="-127"/>
              </a:rPr>
              <a:t>2. </a:t>
            </a:r>
            <a:r>
              <a:rPr lang="ko-KR" altLang="en-US" sz="1800" b="0" i="0" u="none" strike="noStrike" dirty="0" err="1">
                <a:solidFill>
                  <a:srgbClr val="000000"/>
                </a:solidFill>
                <a:effectLst/>
                <a:latin typeface="D2Coding" panose="020B0609020101020101" pitchFamily="49" charset="-127"/>
                <a:ea typeface="D2Coding" panose="020B0609020101020101" pitchFamily="49" charset="-127"/>
              </a:rPr>
              <a:t>출력층</a:t>
            </a:r>
            <a:r>
              <a:rPr lang="ko-KR" altLang="en-US" sz="1800" b="0" i="0" u="none" strike="noStrike" dirty="0">
                <a:solidFill>
                  <a:srgbClr val="000000"/>
                </a:solidFill>
                <a:effectLst/>
                <a:latin typeface="D2Coding" panose="020B0609020101020101" pitchFamily="49" charset="-127"/>
                <a:ea typeface="D2Coding" panose="020B0609020101020101" pitchFamily="49" charset="-127"/>
              </a:rPr>
              <a:t> </a:t>
            </a:r>
            <a:r>
              <a:rPr lang="en-US" altLang="ko-KR" sz="1800" b="0" i="0" u="none" strike="noStrike" dirty="0">
                <a:solidFill>
                  <a:srgbClr val="000000"/>
                </a:solidFill>
                <a:effectLst/>
                <a:latin typeface="D2Coding" panose="020B0609020101020101" pitchFamily="49" charset="-127"/>
                <a:ea typeface="D2Coding" panose="020B0609020101020101" pitchFamily="49" charset="-127"/>
              </a:rPr>
              <a:t>(Output Layer)</a:t>
            </a:r>
            <a:r>
              <a:rPr lang="ko-KR" altLang="en-US" sz="1800" b="0" i="0" u="none" strike="noStrike" dirty="0">
                <a:solidFill>
                  <a:srgbClr val="000000"/>
                </a:solidFill>
                <a:effectLst/>
                <a:latin typeface="D2Coding" panose="020B0609020101020101" pitchFamily="49" charset="-127"/>
                <a:ea typeface="D2Coding" panose="020B0609020101020101" pitchFamily="49" charset="-127"/>
              </a:rPr>
              <a:t>의 선형 수식</a:t>
            </a:r>
            <a:endParaRPr lang="ko-KR" altLang="en-US"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4180074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8426D-8F0A-9C95-EE6A-7E25361B4E84}"/>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0CBC867F-634A-CA6A-7E8F-C93BE0151EF8}"/>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12</a:t>
            </a:fld>
            <a:endParaRPr lang="en-US" dirty="0"/>
          </a:p>
        </p:txBody>
      </p:sp>
      <p:sp>
        <p:nvSpPr>
          <p:cNvPr id="3" name="제목 1">
            <a:extLst>
              <a:ext uri="{FF2B5EF4-FFF2-40B4-BE49-F238E27FC236}">
                <a16:creationId xmlns:a16="http://schemas.microsoft.com/office/drawing/2014/main" id="{33F4EFA4-4F17-3197-CE10-BB3BDAD9A141}"/>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3" name="TextBox 12">
            <a:extLst>
              <a:ext uri="{FF2B5EF4-FFF2-40B4-BE49-F238E27FC236}">
                <a16:creationId xmlns:a16="http://schemas.microsoft.com/office/drawing/2014/main" id="{E67D1473-2FE3-A86E-CE51-23B8E5AA8E21}"/>
              </a:ext>
            </a:extLst>
          </p:cNvPr>
          <p:cNvSpPr txBox="1"/>
          <p:nvPr/>
        </p:nvSpPr>
        <p:spPr>
          <a:xfrm>
            <a:off x="629920" y="1390662"/>
            <a:ext cx="9884091" cy="5093702"/>
          </a:xfrm>
          <a:prstGeom prst="rect">
            <a:avLst/>
          </a:prstGeom>
          <a:solidFill>
            <a:srgbClr val="76E3FF"/>
          </a:solidFill>
        </p:spPr>
        <p:txBody>
          <a:bodyPr wrap="square" rtlCol="0">
            <a:spAutoFit/>
          </a:bodyPr>
          <a:lstStyle/>
          <a:p>
            <a:r>
              <a:rPr lang="en-US" altLang="ko-KR" sz="1300" dirty="0">
                <a:latin typeface="D2Coding" panose="020B0609020101020101" pitchFamily="49" charset="-127"/>
                <a:ea typeface="D2Coding" panose="020B0609020101020101" pitchFamily="49" charset="-127"/>
              </a:rPr>
              <a:t>import </a:t>
            </a:r>
            <a:r>
              <a:rPr lang="en-US" altLang="ko-KR" sz="1300" dirty="0" err="1">
                <a:latin typeface="D2Coding" panose="020B0609020101020101" pitchFamily="49" charset="-127"/>
                <a:ea typeface="D2Coding" panose="020B0609020101020101" pitchFamily="49" charset="-127"/>
              </a:rPr>
              <a:t>numpy</a:t>
            </a:r>
            <a:r>
              <a:rPr lang="en-US" altLang="ko-KR" sz="1300" dirty="0">
                <a:latin typeface="D2Coding" panose="020B0609020101020101" pitchFamily="49" charset="-127"/>
                <a:ea typeface="D2Coding" panose="020B0609020101020101" pitchFamily="49" charset="-127"/>
              </a:rPr>
              <a:t> as np</a:t>
            </a:r>
          </a:p>
          <a:p>
            <a:r>
              <a:rPr lang="en-US" altLang="ko-KR" sz="1300" dirty="0">
                <a:latin typeface="D2Coding" panose="020B0609020101020101" pitchFamily="49" charset="-127"/>
                <a:ea typeface="D2Coding" panose="020B0609020101020101" pitchFamily="49" charset="-127"/>
              </a:rPr>
              <a:t>from </a:t>
            </a:r>
            <a:r>
              <a:rPr lang="en-US" altLang="ko-KR" sz="1300" dirty="0" err="1">
                <a:latin typeface="D2Coding" panose="020B0609020101020101" pitchFamily="49" charset="-127"/>
                <a:ea typeface="D2Coding" panose="020B0609020101020101" pitchFamily="49" charset="-127"/>
              </a:rPr>
              <a:t>gensim.models</a:t>
            </a:r>
            <a:r>
              <a:rPr lang="en-US" altLang="ko-KR" sz="1300" dirty="0">
                <a:latin typeface="D2Coding" panose="020B0609020101020101" pitchFamily="49" charset="-127"/>
                <a:ea typeface="D2Coding" panose="020B0609020101020101" pitchFamily="49" charset="-127"/>
              </a:rPr>
              <a:t> import Word2Vec</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1. </a:t>
            </a:r>
            <a:r>
              <a:rPr lang="ko-KR" altLang="en-US" sz="1300" dirty="0">
                <a:latin typeface="D2Coding" panose="020B0609020101020101" pitchFamily="49" charset="-127"/>
                <a:ea typeface="D2Coding" panose="020B0609020101020101" pitchFamily="49" charset="-127"/>
              </a:rPr>
              <a:t>예시 문장 데이터 </a:t>
            </a:r>
            <a:r>
              <a:rPr lang="en-US" altLang="ko-KR" sz="1300" dirty="0">
                <a:latin typeface="D2Coding" panose="020B0609020101020101" pitchFamily="49" charset="-127"/>
                <a:ea typeface="D2Coding" panose="020B0609020101020101" pitchFamily="49" charset="-127"/>
              </a:rPr>
              <a:t>(Word2Vec </a:t>
            </a:r>
            <a:r>
              <a:rPr lang="ko-KR" altLang="en-US" sz="1300" dirty="0">
                <a:latin typeface="D2Coding" panose="020B0609020101020101" pitchFamily="49" charset="-127"/>
                <a:ea typeface="D2Coding" panose="020B0609020101020101" pitchFamily="49" charset="-127"/>
              </a:rPr>
              <a:t>학습용 코퍼스</a:t>
            </a:r>
            <a:r>
              <a:rPr lang="en-US" altLang="ko-KR" sz="1300" dirty="0">
                <a:latin typeface="D2Coding" panose="020B0609020101020101" pitchFamily="49" charset="-127"/>
                <a:ea typeface="D2Coding" panose="020B0609020101020101" pitchFamily="49" charset="-127"/>
              </a:rPr>
              <a:t>), </a:t>
            </a:r>
            <a:r>
              <a:rPr lang="ko-KR" altLang="en-US" sz="1300" dirty="0">
                <a:latin typeface="D2Coding" panose="020B0609020101020101" pitchFamily="49" charset="-127"/>
                <a:ea typeface="D2Coding" panose="020B0609020101020101" pitchFamily="49" charset="-127"/>
              </a:rPr>
              <a:t>단어들이 모델 내부에서 학습될 수 있도록 리스트 형태로 제공</a:t>
            </a:r>
          </a:p>
          <a:p>
            <a:r>
              <a:rPr lang="en-US" altLang="ko-KR" sz="1300" dirty="0">
                <a:latin typeface="D2Coding" panose="020B0609020101020101" pitchFamily="49" charset="-127"/>
                <a:ea typeface="D2Coding" panose="020B0609020101020101" pitchFamily="49" charset="-127"/>
              </a:rPr>
              <a:t>sentences = [["I", "am", “your”, “father”]]</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2. </a:t>
            </a:r>
            <a:r>
              <a:rPr lang="en-US" altLang="ko-KR" sz="1300" dirty="0" err="1">
                <a:latin typeface="D2Coding" panose="020B0609020101020101" pitchFamily="49" charset="-127"/>
                <a:ea typeface="D2Coding" panose="020B0609020101020101" pitchFamily="49" charset="-127"/>
              </a:rPr>
              <a:t>Gensim</a:t>
            </a:r>
            <a:r>
              <a:rPr lang="en-US" altLang="ko-KR" sz="1300" dirty="0">
                <a:latin typeface="D2Coding" panose="020B0609020101020101" pitchFamily="49" charset="-127"/>
                <a:ea typeface="D2Coding" panose="020B0609020101020101" pitchFamily="49" charset="-127"/>
              </a:rPr>
              <a:t> Word2Vec </a:t>
            </a:r>
            <a:r>
              <a:rPr lang="ko-KR" altLang="en-US" sz="1300" dirty="0">
                <a:latin typeface="D2Coding" panose="020B0609020101020101" pitchFamily="49" charset="-127"/>
                <a:ea typeface="D2Coding" panose="020B0609020101020101" pitchFamily="49" charset="-127"/>
              </a:rPr>
              <a:t>모델 생성 및 학습</a:t>
            </a:r>
          </a:p>
          <a:p>
            <a:r>
              <a:rPr lang="en-US" altLang="ko-KR" sz="1300" dirty="0">
                <a:latin typeface="D2Coding" panose="020B0609020101020101" pitchFamily="49" charset="-127"/>
                <a:ea typeface="D2Coding" panose="020B0609020101020101" pitchFamily="49" charset="-127"/>
              </a:rPr>
              <a:t># </a:t>
            </a:r>
            <a:r>
              <a:rPr lang="en-US" altLang="ko-KR" sz="1300" dirty="0" err="1">
                <a:latin typeface="D2Coding" panose="020B0609020101020101" pitchFamily="49" charset="-127"/>
                <a:ea typeface="D2Coding" panose="020B0609020101020101" pitchFamily="49" charset="-127"/>
              </a:rPr>
              <a:t>vector_size</a:t>
            </a:r>
            <a:r>
              <a:rPr lang="en-US" altLang="ko-KR" sz="1300" dirty="0">
                <a:latin typeface="D2Coding" panose="020B0609020101020101" pitchFamily="49" charset="-127"/>
                <a:ea typeface="D2Coding" panose="020B0609020101020101" pitchFamily="49" charset="-127"/>
              </a:rPr>
              <a:t>=4 : </a:t>
            </a:r>
            <a:r>
              <a:rPr lang="ko-KR" altLang="en-US" sz="1300" dirty="0">
                <a:latin typeface="D2Coding" panose="020B0609020101020101" pitchFamily="49" charset="-127"/>
                <a:ea typeface="D2Coding" panose="020B0609020101020101" pitchFamily="49" charset="-127"/>
              </a:rPr>
              <a:t>단어 하나를 </a:t>
            </a:r>
            <a:r>
              <a:rPr lang="en-US" altLang="ko-KR" sz="1300" dirty="0">
                <a:latin typeface="D2Coding" panose="020B0609020101020101" pitchFamily="49" charset="-127"/>
                <a:ea typeface="D2Coding" panose="020B0609020101020101" pitchFamily="49" charset="-127"/>
              </a:rPr>
              <a:t>4</a:t>
            </a:r>
            <a:r>
              <a:rPr lang="ko-KR" altLang="en-US" sz="1300" dirty="0">
                <a:latin typeface="D2Coding" panose="020B0609020101020101" pitchFamily="49" charset="-127"/>
                <a:ea typeface="D2Coding" panose="020B0609020101020101" pitchFamily="49" charset="-127"/>
              </a:rPr>
              <a:t>차원 벡터로 표현하겠다는 의미 </a:t>
            </a:r>
            <a:r>
              <a:rPr lang="en-US" altLang="ko-KR" sz="1300" dirty="0">
                <a:latin typeface="D2Coding" panose="020B0609020101020101" pitchFamily="49" charset="-127"/>
                <a:ea typeface="D2Coding" panose="020B0609020101020101" pitchFamily="49" charset="-127"/>
              </a:rPr>
              <a:t>(</a:t>
            </a:r>
            <a:r>
              <a:rPr lang="en-US" altLang="ko-KR" sz="1300" dirty="0" err="1">
                <a:latin typeface="D2Coding" panose="020B0609020101020101" pitchFamily="49" charset="-127"/>
                <a:ea typeface="D2Coding" panose="020B0609020101020101" pitchFamily="49" charset="-127"/>
              </a:rPr>
              <a:t>input_size</a:t>
            </a:r>
            <a:r>
              <a:rPr lang="en-US" altLang="ko-KR" sz="1300" dirty="0">
                <a:latin typeface="D2Coding" panose="020B0609020101020101" pitchFamily="49" charset="-127"/>
                <a:ea typeface="D2Coding" panose="020B0609020101020101" pitchFamily="49" charset="-127"/>
              </a:rPr>
              <a:t>=4)</a:t>
            </a:r>
          </a:p>
          <a:p>
            <a:r>
              <a:rPr lang="en-US" altLang="ko-KR" sz="1300" dirty="0">
                <a:latin typeface="D2Coding" panose="020B0609020101020101" pitchFamily="49" charset="-127"/>
                <a:ea typeface="D2Coding" panose="020B0609020101020101" pitchFamily="49" charset="-127"/>
              </a:rPr>
              <a:t># </a:t>
            </a:r>
            <a:r>
              <a:rPr lang="en-US" altLang="ko-KR" sz="1300" dirty="0" err="1">
                <a:latin typeface="D2Coding" panose="020B0609020101020101" pitchFamily="49" charset="-127"/>
                <a:ea typeface="D2Coding" panose="020B0609020101020101" pitchFamily="49" charset="-127"/>
              </a:rPr>
              <a:t>min_count</a:t>
            </a:r>
            <a:r>
              <a:rPr lang="en-US" altLang="ko-KR" sz="1300" dirty="0">
                <a:latin typeface="D2Coding" panose="020B0609020101020101" pitchFamily="49" charset="-127"/>
                <a:ea typeface="D2Coding" panose="020B0609020101020101" pitchFamily="49" charset="-127"/>
              </a:rPr>
              <a:t>=1  : </a:t>
            </a:r>
            <a:r>
              <a:rPr lang="ko-KR" altLang="en-US" sz="1300" dirty="0">
                <a:latin typeface="D2Coding" panose="020B0609020101020101" pitchFamily="49" charset="-127"/>
                <a:ea typeface="D2Coding" panose="020B0609020101020101" pitchFamily="49" charset="-127"/>
              </a:rPr>
              <a:t>빈도수가 </a:t>
            </a:r>
            <a:r>
              <a:rPr lang="en-US" altLang="ko-KR" sz="1300" dirty="0">
                <a:latin typeface="D2Coding" panose="020B0609020101020101" pitchFamily="49" charset="-127"/>
                <a:ea typeface="D2Coding" panose="020B0609020101020101" pitchFamily="49" charset="-127"/>
              </a:rPr>
              <a:t>1</a:t>
            </a:r>
            <a:r>
              <a:rPr lang="ko-KR" altLang="en-US" sz="1300" dirty="0">
                <a:latin typeface="D2Coding" panose="020B0609020101020101" pitchFamily="49" charset="-127"/>
                <a:ea typeface="D2Coding" panose="020B0609020101020101" pitchFamily="49" charset="-127"/>
              </a:rPr>
              <a:t>번만 나와도 단어장에 포함</a:t>
            </a:r>
            <a:r>
              <a:rPr lang="en-US" altLang="ko-KR" sz="1300" dirty="0">
                <a:latin typeface="D2Coding" panose="020B0609020101020101" pitchFamily="49" charset="-127"/>
                <a:ea typeface="D2Coding" panose="020B0609020101020101" pitchFamily="49" charset="-127"/>
              </a:rPr>
              <a:t>, window=2 : </a:t>
            </a:r>
            <a:r>
              <a:rPr lang="ko-KR" altLang="en-US" sz="1300" dirty="0">
                <a:latin typeface="D2Coding" panose="020B0609020101020101" pitchFamily="49" charset="-127"/>
                <a:ea typeface="D2Coding" panose="020B0609020101020101" pitchFamily="49" charset="-127"/>
              </a:rPr>
              <a:t>문맥을 파악할 앞뒤 단어의 범위</a:t>
            </a:r>
          </a:p>
          <a:p>
            <a:r>
              <a:rPr lang="en-US" altLang="ko-KR" sz="1300" dirty="0">
                <a:latin typeface="D2Coding" panose="020B0609020101020101" pitchFamily="49" charset="-127"/>
                <a:ea typeface="D2Coding" panose="020B0609020101020101" pitchFamily="49" charset="-127"/>
              </a:rPr>
              <a:t>model = Word2Vec(sentences, </a:t>
            </a:r>
            <a:r>
              <a:rPr lang="en-US" altLang="ko-KR" sz="1300" dirty="0" err="1">
                <a:latin typeface="D2Coding" panose="020B0609020101020101" pitchFamily="49" charset="-127"/>
                <a:ea typeface="D2Coding" panose="020B0609020101020101" pitchFamily="49" charset="-127"/>
              </a:rPr>
              <a:t>vector_size</a:t>
            </a:r>
            <a:r>
              <a:rPr lang="en-US" altLang="ko-KR" sz="1300" dirty="0">
                <a:latin typeface="D2Coding" panose="020B0609020101020101" pitchFamily="49" charset="-127"/>
                <a:ea typeface="D2Coding" panose="020B0609020101020101" pitchFamily="49" charset="-127"/>
              </a:rPr>
              <a:t>=4, </a:t>
            </a:r>
            <a:r>
              <a:rPr lang="en-US" altLang="ko-KR" sz="1300" dirty="0" err="1">
                <a:latin typeface="D2Coding" panose="020B0609020101020101" pitchFamily="49" charset="-127"/>
                <a:ea typeface="D2Coding" panose="020B0609020101020101" pitchFamily="49" charset="-127"/>
              </a:rPr>
              <a:t>min_count</a:t>
            </a:r>
            <a:r>
              <a:rPr lang="en-US" altLang="ko-KR" sz="1300" dirty="0">
                <a:latin typeface="D2Coding" panose="020B0609020101020101" pitchFamily="49" charset="-127"/>
                <a:ea typeface="D2Coding" panose="020B0609020101020101" pitchFamily="49" charset="-127"/>
              </a:rPr>
              <a:t>=1, window=2, epochs=100, seed=42)</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3. RNN</a:t>
            </a:r>
            <a:r>
              <a:rPr lang="ko-KR" altLang="en-US" sz="1300" dirty="0">
                <a:latin typeface="D2Coding" panose="020B0609020101020101" pitchFamily="49" charset="-127"/>
                <a:ea typeface="D2Coding" panose="020B0609020101020101" pitchFamily="49" charset="-127"/>
              </a:rPr>
              <a:t>에 입력할 데이터 구조</a:t>
            </a:r>
            <a:r>
              <a:rPr lang="en-US" altLang="ko-KR" sz="1300" dirty="0">
                <a:latin typeface="D2Coding" panose="020B0609020101020101" pitchFamily="49" charset="-127"/>
                <a:ea typeface="D2Coding" panose="020B0609020101020101" pitchFamily="49" charset="-127"/>
              </a:rPr>
              <a:t>(Matrix) </a:t>
            </a:r>
            <a:r>
              <a:rPr lang="ko-KR" altLang="en-US" sz="1300" dirty="0">
                <a:latin typeface="D2Coding" panose="020B0609020101020101" pitchFamily="49" charset="-127"/>
                <a:ea typeface="D2Coding" panose="020B0609020101020101" pitchFamily="49" charset="-127"/>
              </a:rPr>
              <a:t>만들기</a:t>
            </a:r>
          </a:p>
          <a:p>
            <a:r>
              <a:rPr lang="en-US" altLang="ko-KR" sz="1300" dirty="0">
                <a:latin typeface="D2Coding" panose="020B0609020101020101" pitchFamily="49" charset="-127"/>
                <a:ea typeface="D2Coding" panose="020B0609020101020101" pitchFamily="49" charset="-127"/>
              </a:rPr>
              <a:t>timesteps = 4    # </a:t>
            </a:r>
            <a:r>
              <a:rPr lang="ko-KR" altLang="en-US" sz="1300" dirty="0">
                <a:latin typeface="D2Coding" panose="020B0609020101020101" pitchFamily="49" charset="-127"/>
                <a:ea typeface="D2Coding" panose="020B0609020101020101" pitchFamily="49" charset="-127"/>
              </a:rPr>
              <a:t>문장 속 단어의 수 </a:t>
            </a:r>
            <a:r>
              <a:rPr lang="en-US" altLang="ko-KR" sz="1300" dirty="0">
                <a:latin typeface="D2Coding" panose="020B0609020101020101" pitchFamily="49" charset="-127"/>
                <a:ea typeface="D2Coding" panose="020B0609020101020101" pitchFamily="49" charset="-127"/>
              </a:rPr>
              <a:t>(“I”, “am”, “your", "father")</a:t>
            </a:r>
          </a:p>
          <a:p>
            <a:r>
              <a:rPr lang="en-US" altLang="ko-KR" sz="1300" dirty="0" err="1">
                <a:latin typeface="D2Coding" panose="020B0609020101020101" pitchFamily="49" charset="-127"/>
                <a:ea typeface="D2Coding" panose="020B0609020101020101" pitchFamily="49" charset="-127"/>
              </a:rPr>
              <a:t>input_size</a:t>
            </a:r>
            <a:r>
              <a:rPr lang="en-US" altLang="ko-KR" sz="1300" dirty="0">
                <a:latin typeface="D2Coding" panose="020B0609020101020101" pitchFamily="49" charset="-127"/>
                <a:ea typeface="D2Coding" panose="020B0609020101020101" pitchFamily="49" charset="-127"/>
              </a:rPr>
              <a:t> = 4   # Word2Vec </a:t>
            </a:r>
            <a:r>
              <a:rPr lang="ko-KR" altLang="en-US" sz="1300" dirty="0" err="1">
                <a:latin typeface="D2Coding" panose="020B0609020101020101" pitchFamily="49" charset="-127"/>
                <a:ea typeface="D2Coding" panose="020B0609020101020101" pitchFamily="49" charset="-127"/>
              </a:rPr>
              <a:t>임베딩</a:t>
            </a:r>
            <a:r>
              <a:rPr lang="ko-KR" altLang="en-US" sz="1300" dirty="0">
                <a:latin typeface="D2Coding" panose="020B0609020101020101" pitchFamily="49" charset="-127"/>
                <a:ea typeface="D2Coding" panose="020B0609020101020101" pitchFamily="49" charset="-127"/>
              </a:rPr>
              <a:t> 차원수</a:t>
            </a:r>
          </a:p>
          <a:p>
            <a:r>
              <a:rPr lang="en-US" altLang="ko-KR" sz="1300" dirty="0" err="1">
                <a:latin typeface="D2Coding" panose="020B0609020101020101" pitchFamily="49" charset="-127"/>
                <a:ea typeface="D2Coding" panose="020B0609020101020101" pitchFamily="49" charset="-127"/>
              </a:rPr>
              <a:t>hidden_size</a:t>
            </a:r>
            <a:r>
              <a:rPr lang="en-US" altLang="ko-KR" sz="1300" dirty="0">
                <a:latin typeface="D2Coding" panose="020B0609020101020101" pitchFamily="49" charset="-127"/>
                <a:ea typeface="D2Coding" panose="020B0609020101020101" pitchFamily="49" charset="-127"/>
              </a:rPr>
              <a:t> = 2  # </a:t>
            </a:r>
            <a:r>
              <a:rPr lang="ko-KR" altLang="en-US" sz="1300" dirty="0">
                <a:latin typeface="D2Coding" panose="020B0609020101020101" pitchFamily="49" charset="-127"/>
                <a:ea typeface="D2Coding" panose="020B0609020101020101" pitchFamily="49" charset="-127"/>
              </a:rPr>
              <a:t>은닉 상태의 크기 </a:t>
            </a:r>
            <a:r>
              <a:rPr lang="en-US" altLang="ko-KR" sz="1300" dirty="0">
                <a:latin typeface="D2Coding" panose="020B0609020101020101" pitchFamily="49" charset="-127"/>
                <a:ea typeface="D2Coding" panose="020B0609020101020101" pitchFamily="49" charset="-127"/>
              </a:rPr>
              <a:t>(</a:t>
            </a:r>
            <a:r>
              <a:rPr lang="ko-KR" altLang="en-US" sz="1300" dirty="0">
                <a:latin typeface="D2Coding" panose="020B0609020101020101" pitchFamily="49" charset="-127"/>
                <a:ea typeface="D2Coding" panose="020B0609020101020101" pitchFamily="49" charset="-127"/>
              </a:rPr>
              <a:t>기억 방의 개수</a:t>
            </a:r>
            <a:r>
              <a:rPr lang="en-US" altLang="ko-KR" sz="1300" dirty="0">
                <a:latin typeface="D2Coding" panose="020B0609020101020101" pitchFamily="49" charset="-127"/>
                <a:ea typeface="D2Coding" panose="020B0609020101020101" pitchFamily="49" charset="-127"/>
              </a:rPr>
              <a:t>)</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4</a:t>
            </a:r>
            <a:r>
              <a:rPr lang="ko-KR" altLang="en-US" sz="1300" dirty="0">
                <a:latin typeface="D2Coding" panose="020B0609020101020101" pitchFamily="49" charset="-127"/>
                <a:ea typeface="D2Coding" panose="020B0609020101020101" pitchFamily="49" charset="-127"/>
              </a:rPr>
              <a:t>차원 벡터로 변환된 단어들을 순서대로 담을 빈 행렬 생성 </a:t>
            </a:r>
            <a:r>
              <a:rPr lang="en-US" altLang="ko-KR" sz="1300" dirty="0">
                <a:latin typeface="D2Coding" panose="020B0609020101020101" pitchFamily="49" charset="-127"/>
                <a:ea typeface="D2Coding" panose="020B0609020101020101" pitchFamily="49" charset="-127"/>
              </a:rPr>
              <a:t>- </a:t>
            </a:r>
            <a:r>
              <a:rPr lang="ko-KR" altLang="en-US" sz="1300" dirty="0">
                <a:latin typeface="D2Coding" panose="020B0609020101020101" pitchFamily="49" charset="-127"/>
                <a:ea typeface="D2Coding" panose="020B0609020101020101" pitchFamily="49" charset="-127"/>
              </a:rPr>
              <a:t>크기</a:t>
            </a:r>
            <a:r>
              <a:rPr lang="en-US" altLang="ko-KR" sz="1300" dirty="0">
                <a:latin typeface="D2Coding" panose="020B0609020101020101" pitchFamily="49" charset="-127"/>
                <a:ea typeface="D2Coding" panose="020B0609020101020101" pitchFamily="49" charset="-127"/>
              </a:rPr>
              <a:t>: (4, 4)</a:t>
            </a:r>
          </a:p>
          <a:p>
            <a:r>
              <a:rPr lang="en-US" altLang="ko-KR" sz="1300" dirty="0">
                <a:latin typeface="D2Coding" panose="020B0609020101020101" pitchFamily="49" charset="-127"/>
                <a:ea typeface="D2Coding" panose="020B0609020101020101" pitchFamily="49" charset="-127"/>
              </a:rPr>
              <a:t>inputs = </a:t>
            </a:r>
            <a:r>
              <a:rPr lang="en-US" altLang="ko-KR" sz="1300" dirty="0" err="1">
                <a:latin typeface="D2Coding" panose="020B0609020101020101" pitchFamily="49" charset="-127"/>
                <a:ea typeface="D2Coding" panose="020B0609020101020101" pitchFamily="49" charset="-127"/>
              </a:rPr>
              <a:t>np.zeros</a:t>
            </a:r>
            <a:r>
              <a:rPr lang="en-US" altLang="ko-KR" sz="1300" dirty="0">
                <a:latin typeface="D2Coding" panose="020B0609020101020101" pitchFamily="49" charset="-127"/>
                <a:ea typeface="D2Coding" panose="020B0609020101020101" pitchFamily="49" charset="-127"/>
              </a:rPr>
              <a:t>((timesteps, </a:t>
            </a:r>
            <a:r>
              <a:rPr lang="en-US" altLang="ko-KR" sz="1300" dirty="0" err="1">
                <a:latin typeface="D2Coding" panose="020B0609020101020101" pitchFamily="49" charset="-127"/>
                <a:ea typeface="D2Coding" panose="020B0609020101020101" pitchFamily="49" charset="-127"/>
              </a:rPr>
              <a:t>input_size</a:t>
            </a:r>
            <a:r>
              <a:rPr lang="en-US" altLang="ko-KR" sz="1300" dirty="0">
                <a:latin typeface="D2Coding" panose="020B0609020101020101" pitchFamily="49" charset="-127"/>
                <a:ea typeface="D2Coding" panose="020B0609020101020101" pitchFamily="49" charset="-127"/>
              </a:rPr>
              <a:t>))</a:t>
            </a:r>
          </a:p>
          <a:p>
            <a:endParaRPr lang="en-US" altLang="ko-KR" sz="1300" dirty="0">
              <a:latin typeface="D2Coding" panose="020B0609020101020101" pitchFamily="49" charset="-127"/>
              <a:ea typeface="D2Coding" panose="020B0609020101020101" pitchFamily="49" charset="-127"/>
            </a:endParaRPr>
          </a:p>
          <a:p>
            <a:r>
              <a:rPr lang="en-US" altLang="ko-KR" sz="1300" dirty="0">
                <a:latin typeface="D2Coding" panose="020B0609020101020101" pitchFamily="49" charset="-127"/>
                <a:ea typeface="D2Coding" panose="020B0609020101020101" pitchFamily="49" charset="-127"/>
              </a:rPr>
              <a:t># </a:t>
            </a:r>
            <a:r>
              <a:rPr lang="ko-KR" altLang="en-US" sz="1300" dirty="0">
                <a:latin typeface="D2Coding" panose="020B0609020101020101" pitchFamily="49" charset="-127"/>
                <a:ea typeface="D2Coding" panose="020B0609020101020101" pitchFamily="49" charset="-127"/>
              </a:rPr>
              <a:t>단어 순서대로 </a:t>
            </a:r>
            <a:r>
              <a:rPr lang="en-US" altLang="ko-KR" sz="1300" dirty="0">
                <a:latin typeface="D2Coding" panose="020B0609020101020101" pitchFamily="49" charset="-127"/>
                <a:ea typeface="D2Coding" panose="020B0609020101020101" pitchFamily="49" charset="-127"/>
              </a:rPr>
              <a:t>Word2Vec</a:t>
            </a:r>
            <a:r>
              <a:rPr lang="ko-KR" altLang="en-US" sz="1300" dirty="0">
                <a:latin typeface="D2Coding" panose="020B0609020101020101" pitchFamily="49" charset="-127"/>
                <a:ea typeface="D2Coding" panose="020B0609020101020101" pitchFamily="49" charset="-127"/>
              </a:rPr>
              <a:t>에서 </a:t>
            </a:r>
            <a:r>
              <a:rPr lang="ko-KR" altLang="en-US" sz="1300" dirty="0" err="1">
                <a:latin typeface="D2Coding" panose="020B0609020101020101" pitchFamily="49" charset="-127"/>
                <a:ea typeface="D2Coding" panose="020B0609020101020101" pitchFamily="49" charset="-127"/>
              </a:rPr>
              <a:t>벡터값을</a:t>
            </a:r>
            <a:r>
              <a:rPr lang="ko-KR" altLang="en-US" sz="1300" dirty="0">
                <a:latin typeface="D2Coding" panose="020B0609020101020101" pitchFamily="49" charset="-127"/>
                <a:ea typeface="D2Coding" panose="020B0609020101020101" pitchFamily="49" charset="-127"/>
              </a:rPr>
              <a:t> 추출하여 행렬에 </a:t>
            </a:r>
            <a:r>
              <a:rPr lang="ko-KR" altLang="en-US" sz="1300" dirty="0" err="1">
                <a:latin typeface="D2Coding" panose="020B0609020101020101" pitchFamily="49" charset="-127"/>
                <a:ea typeface="D2Coding" panose="020B0609020101020101" pitchFamily="49" charset="-127"/>
              </a:rPr>
              <a:t>채워넣기</a:t>
            </a:r>
            <a:endParaRPr lang="ko-KR" altLang="en-US" sz="1300" dirty="0">
              <a:latin typeface="D2Coding" panose="020B0609020101020101" pitchFamily="49" charset="-127"/>
              <a:ea typeface="D2Coding" panose="020B0609020101020101" pitchFamily="49" charset="-127"/>
            </a:endParaRPr>
          </a:p>
          <a:p>
            <a:r>
              <a:rPr lang="en-US" altLang="ko-KR" sz="1300" dirty="0" err="1">
                <a:latin typeface="D2Coding" panose="020B0609020101020101" pitchFamily="49" charset="-127"/>
                <a:ea typeface="D2Coding" panose="020B0609020101020101" pitchFamily="49" charset="-127"/>
              </a:rPr>
              <a:t>word_list</a:t>
            </a:r>
            <a:r>
              <a:rPr lang="en-US" altLang="ko-KR" sz="1300" dirty="0">
                <a:latin typeface="D2Coding" panose="020B0609020101020101" pitchFamily="49" charset="-127"/>
                <a:ea typeface="D2Coding" panose="020B0609020101020101" pitchFamily="49" charset="-127"/>
              </a:rPr>
              <a:t> = ["I", "am", “your", "father"] # Changed to match the training data</a:t>
            </a:r>
          </a:p>
          <a:p>
            <a:r>
              <a:rPr lang="en-US" altLang="ko-KR" sz="1300" dirty="0">
                <a:latin typeface="D2Coding" panose="020B0609020101020101" pitchFamily="49" charset="-127"/>
                <a:ea typeface="D2Coding" panose="020B0609020101020101" pitchFamily="49" charset="-127"/>
              </a:rPr>
              <a:t>for </a:t>
            </a:r>
            <a:r>
              <a:rPr lang="en-US" altLang="ko-KR" sz="1300" dirty="0" err="1">
                <a:latin typeface="D2Coding" panose="020B0609020101020101" pitchFamily="49" charset="-127"/>
                <a:ea typeface="D2Coding" panose="020B0609020101020101" pitchFamily="49" charset="-127"/>
              </a:rPr>
              <a:t>i</a:t>
            </a:r>
            <a:r>
              <a:rPr lang="en-US" altLang="ko-KR" sz="1300" dirty="0">
                <a:latin typeface="D2Coding" panose="020B0609020101020101" pitchFamily="49" charset="-127"/>
                <a:ea typeface="D2Coding" panose="020B0609020101020101" pitchFamily="49" charset="-127"/>
              </a:rPr>
              <a:t>, word in enumerate(</a:t>
            </a:r>
            <a:r>
              <a:rPr lang="en-US" altLang="ko-KR" sz="1300" dirty="0" err="1">
                <a:latin typeface="D2Coding" panose="020B0609020101020101" pitchFamily="49" charset="-127"/>
                <a:ea typeface="D2Coding" panose="020B0609020101020101" pitchFamily="49" charset="-127"/>
              </a:rPr>
              <a:t>word_list</a:t>
            </a:r>
            <a:r>
              <a:rPr lang="en-US" altLang="ko-KR" sz="1300" dirty="0">
                <a:latin typeface="D2Coding" panose="020B0609020101020101" pitchFamily="49" charset="-127"/>
                <a:ea typeface="D2Coding" panose="020B0609020101020101" pitchFamily="49" charset="-127"/>
              </a:rPr>
              <a:t>):</a:t>
            </a:r>
          </a:p>
          <a:p>
            <a:r>
              <a:rPr lang="en-US" altLang="ko-KR" sz="1300" dirty="0">
                <a:latin typeface="D2Coding" panose="020B0609020101020101" pitchFamily="49" charset="-127"/>
                <a:ea typeface="D2Coding" panose="020B0609020101020101" pitchFamily="49" charset="-127"/>
              </a:rPr>
              <a:t>    inputs[</a:t>
            </a:r>
            <a:r>
              <a:rPr lang="en-US" altLang="ko-KR" sz="1300" dirty="0" err="1">
                <a:latin typeface="D2Coding" panose="020B0609020101020101" pitchFamily="49" charset="-127"/>
                <a:ea typeface="D2Coding" panose="020B0609020101020101" pitchFamily="49" charset="-127"/>
              </a:rPr>
              <a:t>i</a:t>
            </a:r>
            <a:r>
              <a:rPr lang="en-US" altLang="ko-KR" sz="1300" dirty="0">
                <a:latin typeface="D2Coding" panose="020B0609020101020101" pitchFamily="49" charset="-127"/>
                <a:ea typeface="D2Coding" panose="020B0609020101020101" pitchFamily="49" charset="-127"/>
              </a:rPr>
              <a:t>] = </a:t>
            </a:r>
            <a:r>
              <a:rPr lang="en-US" altLang="ko-KR" sz="1300" dirty="0" err="1">
                <a:latin typeface="D2Coding" panose="020B0609020101020101" pitchFamily="49" charset="-127"/>
                <a:ea typeface="D2Coding" panose="020B0609020101020101" pitchFamily="49" charset="-127"/>
              </a:rPr>
              <a:t>model.wv</a:t>
            </a:r>
            <a:r>
              <a:rPr lang="en-US" altLang="ko-KR" sz="1300" dirty="0">
                <a:latin typeface="D2Coding" panose="020B0609020101020101" pitchFamily="49" charset="-127"/>
                <a:ea typeface="D2Coding" panose="020B0609020101020101" pitchFamily="49" charset="-127"/>
              </a:rPr>
              <a:t>[word]  # </a:t>
            </a:r>
            <a:r>
              <a:rPr lang="ko-KR" altLang="en-US" sz="1300" dirty="0">
                <a:latin typeface="D2Coding" panose="020B0609020101020101" pitchFamily="49" charset="-127"/>
                <a:ea typeface="D2Coding" panose="020B0609020101020101" pitchFamily="49" charset="-127"/>
              </a:rPr>
              <a:t>각 단어의 </a:t>
            </a:r>
            <a:r>
              <a:rPr lang="en-US" altLang="ko-KR" sz="1300" dirty="0">
                <a:latin typeface="D2Coding" panose="020B0609020101020101" pitchFamily="49" charset="-127"/>
                <a:ea typeface="D2Coding" panose="020B0609020101020101" pitchFamily="49" charset="-127"/>
              </a:rPr>
              <a:t>4</a:t>
            </a:r>
            <a:r>
              <a:rPr lang="ko-KR" altLang="en-US" sz="1300" dirty="0">
                <a:latin typeface="D2Coding" panose="020B0609020101020101" pitchFamily="49" charset="-127"/>
                <a:ea typeface="D2Coding" panose="020B0609020101020101" pitchFamily="49" charset="-127"/>
              </a:rPr>
              <a:t>차원 실수 </a:t>
            </a:r>
            <a:r>
              <a:rPr lang="ko-KR" altLang="en-US" sz="1300" dirty="0" err="1">
                <a:latin typeface="D2Coding" panose="020B0609020101020101" pitchFamily="49" charset="-127"/>
                <a:ea typeface="D2Coding" panose="020B0609020101020101" pitchFamily="49" charset="-127"/>
              </a:rPr>
              <a:t>벡터값</a:t>
            </a:r>
            <a:r>
              <a:rPr lang="ko-KR" altLang="en-US" sz="1300" dirty="0">
                <a:latin typeface="D2Coding" panose="020B0609020101020101" pitchFamily="49" charset="-127"/>
                <a:ea typeface="D2Coding" panose="020B0609020101020101" pitchFamily="49" charset="-127"/>
              </a:rPr>
              <a:t> 대입</a:t>
            </a:r>
          </a:p>
          <a:p>
            <a:r>
              <a:rPr lang="en-US" altLang="ko-KR" sz="1300" dirty="0">
                <a:latin typeface="D2Coding" panose="020B0609020101020101" pitchFamily="49" charset="-127"/>
                <a:ea typeface="D2Coding" panose="020B0609020101020101" pitchFamily="49" charset="-127"/>
              </a:rPr>
              <a:t>print("=== </a:t>
            </a:r>
            <a:r>
              <a:rPr lang="en-US" altLang="ko-KR" sz="1300" dirty="0" err="1">
                <a:latin typeface="D2Coding" panose="020B0609020101020101" pitchFamily="49" charset="-127"/>
                <a:ea typeface="D2Coding" panose="020B0609020101020101" pitchFamily="49" charset="-127"/>
              </a:rPr>
              <a:t>Gensim</a:t>
            </a:r>
            <a:r>
              <a:rPr lang="ko-KR" altLang="en-US" sz="1300" dirty="0">
                <a:latin typeface="D2Coding" panose="020B0609020101020101" pitchFamily="49" charset="-127"/>
                <a:ea typeface="D2Coding" panose="020B0609020101020101" pitchFamily="49" charset="-127"/>
              </a:rPr>
              <a:t>으로 생성된 실제 텍스트 입력 데이터 </a:t>
            </a:r>
            <a:r>
              <a:rPr lang="en-US" altLang="ko-KR" sz="1300" dirty="0">
                <a:latin typeface="D2Coding" panose="020B0609020101020101" pitchFamily="49" charset="-127"/>
                <a:ea typeface="D2Coding" panose="020B0609020101020101" pitchFamily="49" charset="-127"/>
              </a:rPr>
              <a:t>(</a:t>
            </a:r>
            <a:r>
              <a:rPr lang="ko-KR" altLang="en-US" sz="1300" dirty="0">
                <a:latin typeface="D2Coding" panose="020B0609020101020101" pitchFamily="49" charset="-127"/>
                <a:ea typeface="D2Coding" panose="020B0609020101020101" pitchFamily="49" charset="-127"/>
              </a:rPr>
              <a:t>크기</a:t>
            </a:r>
            <a:r>
              <a:rPr lang="en-US" altLang="ko-KR" sz="1300" dirty="0">
                <a:latin typeface="D2Coding" panose="020B0609020101020101" pitchFamily="49" charset="-127"/>
                <a:ea typeface="D2Coding" panose="020B0609020101020101" pitchFamily="49" charset="-127"/>
              </a:rPr>
              <a:t>: 4x4) ===")</a:t>
            </a:r>
          </a:p>
          <a:p>
            <a:r>
              <a:rPr lang="en-US" altLang="ko-KR" sz="1300" dirty="0">
                <a:latin typeface="D2Coding" panose="020B0609020101020101" pitchFamily="49" charset="-127"/>
                <a:ea typeface="D2Coding" panose="020B0609020101020101" pitchFamily="49" charset="-127"/>
              </a:rPr>
              <a:t>print(inputs)</a:t>
            </a:r>
          </a:p>
        </p:txBody>
      </p:sp>
      <p:pic>
        <p:nvPicPr>
          <p:cNvPr id="8194" name="Picture 2" descr="Darth Vader I Am Your Father Star Wars Movie Film Sci-fi Quote Picture  Poster | eBay">
            <a:extLst>
              <a:ext uri="{FF2B5EF4-FFF2-40B4-BE49-F238E27FC236}">
                <a16:creationId xmlns:a16="http://schemas.microsoft.com/office/drawing/2014/main" id="{FE1CFB7F-8D0D-C3A5-AE3C-E294A70BA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2909" y="1390662"/>
            <a:ext cx="2372995" cy="17323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4AD21CB7-915B-B450-618A-FB2D83F87379}"/>
              </a:ext>
            </a:extLst>
          </p:cNvPr>
          <p:cNvSpPr txBox="1"/>
          <p:nvPr/>
        </p:nvSpPr>
        <p:spPr>
          <a:xfrm>
            <a:off x="6544861" y="3783497"/>
            <a:ext cx="5388393" cy="769441"/>
          </a:xfrm>
          <a:prstGeom prst="rect">
            <a:avLst/>
          </a:prstGeom>
          <a:solidFill>
            <a:schemeClr val="bg1">
              <a:lumMod val="95000"/>
            </a:schemeClr>
          </a:solidFill>
        </p:spPr>
        <p:txBody>
          <a:bodyPr wrap="square">
            <a:spAutoFit/>
          </a:bodyPr>
          <a:lstStyle/>
          <a:p>
            <a:r>
              <a:rPr lang="en-US" altLang="ko-KR" sz="1100" dirty="0">
                <a:latin typeface="D2Coding" panose="020B0609020101020101" pitchFamily="49" charset="-127"/>
                <a:ea typeface="D2Coding" panose="020B0609020101020101" pitchFamily="49" charset="-127"/>
              </a:rPr>
              <a:t>Time</a:t>
            </a:r>
            <a:r>
              <a:rPr lang="ko-KR" altLang="en-US" sz="1100" dirty="0">
                <a:latin typeface="D2Coding" panose="020B0609020101020101" pitchFamily="49" charset="-127"/>
                <a:ea typeface="D2Coding" panose="020B0609020101020101" pitchFamily="49" charset="-127"/>
              </a:rPr>
              <a:t> </a:t>
            </a:r>
            <a:r>
              <a:rPr lang="en-US" altLang="ko-KR" sz="1100" dirty="0">
                <a:latin typeface="D2Coding" panose="020B0609020101020101" pitchFamily="49" charset="-127"/>
                <a:ea typeface="D2Coding" panose="020B0609020101020101" pitchFamily="49" charset="-127"/>
              </a:rPr>
              <a:t>Steps : </a:t>
            </a:r>
          </a:p>
          <a:p>
            <a:pPr>
              <a:buFont typeface="Arial" panose="020B0604020202020204" pitchFamily="34" charset="0"/>
              <a:buChar char="•"/>
            </a:pPr>
            <a:r>
              <a:rPr lang="ko-KR" altLang="en-US" sz="1100" dirty="0">
                <a:latin typeface="D2Coding" panose="020B0609020101020101" pitchFamily="49" charset="-127"/>
                <a:ea typeface="D2Coding" panose="020B0609020101020101" pitchFamily="49" charset="-127"/>
              </a:rPr>
              <a:t> 텍스트에서는 </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문장 속 단어의 순서</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몇 번째 단어인가</a:t>
            </a:r>
            <a:r>
              <a:rPr lang="en-US" altLang="ko-KR" sz="1100" dirty="0">
                <a:latin typeface="D2Coding" panose="020B0609020101020101" pitchFamily="49" charset="-127"/>
                <a:ea typeface="D2Coding" panose="020B0609020101020101" pitchFamily="49" charset="-127"/>
              </a:rPr>
              <a:t>)"</a:t>
            </a:r>
            <a:endParaRPr lang="ko-KR" altLang="en-US" sz="1100" dirty="0">
              <a:latin typeface="D2Coding" panose="020B0609020101020101" pitchFamily="49" charset="-127"/>
              <a:ea typeface="D2Coding" panose="020B0609020101020101" pitchFamily="49" charset="-127"/>
            </a:endParaRPr>
          </a:p>
          <a:p>
            <a:pPr>
              <a:buFont typeface="Arial" panose="020B0604020202020204" pitchFamily="34" charset="0"/>
              <a:buChar char="•"/>
            </a:pPr>
            <a:r>
              <a:rPr lang="ko-KR" altLang="en-US" sz="1100" dirty="0">
                <a:latin typeface="D2Coding" panose="020B0609020101020101" pitchFamily="49" charset="-127"/>
                <a:ea typeface="D2Coding" panose="020B0609020101020101" pitchFamily="49" charset="-127"/>
              </a:rPr>
              <a:t> 시계열 데이터</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예</a:t>
            </a:r>
            <a:r>
              <a:rPr lang="en-US" altLang="ko-KR" sz="1100" dirty="0">
                <a:latin typeface="D2Coding" panose="020B0609020101020101" pitchFamily="49" charset="-127"/>
                <a:ea typeface="D2Coding" panose="020B0609020101020101" pitchFamily="49" charset="-127"/>
              </a:rPr>
              <a:t>: </a:t>
            </a:r>
            <a:r>
              <a:rPr lang="ko-KR" altLang="en-US" sz="1100" dirty="0">
                <a:latin typeface="D2Coding" panose="020B0609020101020101" pitchFamily="49" charset="-127"/>
                <a:ea typeface="D2Coding" panose="020B0609020101020101" pitchFamily="49" charset="-127"/>
              </a:rPr>
              <a:t>주가</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에서는 </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날짜의 순서</a:t>
            </a:r>
            <a:r>
              <a:rPr lang="en-US" altLang="ko-KR" sz="1100" dirty="0">
                <a:latin typeface="D2Coding" panose="020B0609020101020101" pitchFamily="49" charset="-127"/>
                <a:ea typeface="D2Coding" panose="020B0609020101020101" pitchFamily="49" charset="-127"/>
              </a:rPr>
              <a:t>(1</a:t>
            </a:r>
            <a:r>
              <a:rPr lang="ko-KR" altLang="en-US" sz="1100" dirty="0">
                <a:latin typeface="D2Coding" panose="020B0609020101020101" pitchFamily="49" charset="-127"/>
                <a:ea typeface="D2Coding" panose="020B0609020101020101" pitchFamily="49" charset="-127"/>
              </a:rPr>
              <a:t>일 차</a:t>
            </a:r>
            <a:r>
              <a:rPr lang="en-US" altLang="ko-KR" sz="1100" dirty="0">
                <a:latin typeface="D2Coding" panose="020B0609020101020101" pitchFamily="49" charset="-127"/>
                <a:ea typeface="D2Coding" panose="020B0609020101020101" pitchFamily="49" charset="-127"/>
              </a:rPr>
              <a:t>, 2</a:t>
            </a:r>
            <a:r>
              <a:rPr lang="ko-KR" altLang="en-US" sz="1100" dirty="0">
                <a:latin typeface="D2Coding" panose="020B0609020101020101" pitchFamily="49" charset="-127"/>
                <a:ea typeface="D2Coding" panose="020B0609020101020101" pitchFamily="49" charset="-127"/>
              </a:rPr>
              <a:t>일 차</a:t>
            </a:r>
            <a:r>
              <a:rPr lang="en-US" altLang="ko-KR" sz="1100" dirty="0">
                <a:latin typeface="D2Coding" panose="020B0609020101020101" pitchFamily="49" charset="-127"/>
                <a:ea typeface="D2Coding" panose="020B0609020101020101" pitchFamily="49" charset="-127"/>
              </a:rPr>
              <a:t>, 3</a:t>
            </a:r>
            <a:r>
              <a:rPr lang="ko-KR" altLang="en-US" sz="1100" dirty="0">
                <a:latin typeface="D2Coding" panose="020B0609020101020101" pitchFamily="49" charset="-127"/>
                <a:ea typeface="D2Coding" panose="020B0609020101020101" pitchFamily="49" charset="-127"/>
              </a:rPr>
              <a:t>일 차</a:t>
            </a:r>
            <a:r>
              <a:rPr lang="en-US" altLang="ko-KR" sz="1100" dirty="0">
                <a:latin typeface="D2Coding" panose="020B0609020101020101" pitchFamily="49" charset="-127"/>
                <a:ea typeface="D2Coding" panose="020B0609020101020101" pitchFamily="49" charset="-127"/>
              </a:rPr>
              <a:t>...)"</a:t>
            </a:r>
            <a:endParaRPr lang="ko-KR" altLang="en-US" sz="1100" dirty="0">
              <a:latin typeface="D2Coding" panose="020B0609020101020101" pitchFamily="49" charset="-127"/>
              <a:ea typeface="D2Coding" panose="020B0609020101020101" pitchFamily="49" charset="-127"/>
            </a:endParaRPr>
          </a:p>
          <a:p>
            <a:pPr>
              <a:buFont typeface="Arial" panose="020B0604020202020204" pitchFamily="34" charset="0"/>
              <a:buChar char="•"/>
            </a:pPr>
            <a:r>
              <a:rPr lang="ko-KR" altLang="en-US" sz="1100" dirty="0">
                <a:latin typeface="D2Coding" panose="020B0609020101020101" pitchFamily="49" charset="-127"/>
                <a:ea typeface="D2Coding" panose="020B0609020101020101" pitchFamily="49" charset="-127"/>
              </a:rPr>
              <a:t> 음성에서는 </a:t>
            </a:r>
            <a:r>
              <a:rPr lang="en-US" altLang="ko-KR" sz="1100" dirty="0">
                <a:latin typeface="D2Coding" panose="020B0609020101020101" pitchFamily="49" charset="-127"/>
                <a:ea typeface="D2Coding" panose="020B0609020101020101" pitchFamily="49" charset="-127"/>
              </a:rPr>
              <a:t>"</a:t>
            </a:r>
            <a:r>
              <a:rPr lang="ko-KR" altLang="en-US" sz="1100" dirty="0">
                <a:latin typeface="D2Coding" panose="020B0609020101020101" pitchFamily="49" charset="-127"/>
                <a:ea typeface="D2Coding" panose="020B0609020101020101" pitchFamily="49" charset="-127"/>
              </a:rPr>
              <a:t>오디오 신호의 시간 순서</a:t>
            </a:r>
            <a:r>
              <a:rPr lang="en-US" altLang="ko-KR" sz="1100" dirty="0">
                <a:latin typeface="D2Coding" panose="020B0609020101020101" pitchFamily="49" charset="-127"/>
                <a:ea typeface="D2Coding" panose="020B0609020101020101" pitchFamily="49" charset="-127"/>
              </a:rPr>
              <a:t>(0.1</a:t>
            </a:r>
            <a:r>
              <a:rPr lang="ko-KR" altLang="en-US" sz="1100" dirty="0">
                <a:latin typeface="D2Coding" panose="020B0609020101020101" pitchFamily="49" charset="-127"/>
                <a:ea typeface="D2Coding" panose="020B0609020101020101" pitchFamily="49" charset="-127"/>
              </a:rPr>
              <a:t>초</a:t>
            </a:r>
            <a:r>
              <a:rPr lang="en-US" altLang="ko-KR" sz="1100" dirty="0">
                <a:latin typeface="D2Coding" panose="020B0609020101020101" pitchFamily="49" charset="-127"/>
                <a:ea typeface="D2Coding" panose="020B0609020101020101" pitchFamily="49" charset="-127"/>
              </a:rPr>
              <a:t>, 0.2</a:t>
            </a:r>
            <a:r>
              <a:rPr lang="ko-KR" altLang="en-US" sz="1100" dirty="0">
                <a:latin typeface="D2Coding" panose="020B0609020101020101" pitchFamily="49" charset="-127"/>
                <a:ea typeface="D2Coding" panose="020B0609020101020101" pitchFamily="49" charset="-127"/>
              </a:rPr>
              <a:t>초</a:t>
            </a:r>
            <a:r>
              <a:rPr lang="en-US" altLang="ko-KR" sz="1100" dirty="0">
                <a:latin typeface="D2Coding" panose="020B0609020101020101" pitchFamily="49" charset="-127"/>
                <a:ea typeface="D2Coding" panose="020B0609020101020101" pitchFamily="49" charset="-127"/>
              </a:rPr>
              <a:t>, 0.3</a:t>
            </a:r>
            <a:r>
              <a:rPr lang="ko-KR" altLang="en-US" sz="1100" dirty="0">
                <a:latin typeface="D2Coding" panose="020B0609020101020101" pitchFamily="49" charset="-127"/>
                <a:ea typeface="D2Coding" panose="020B0609020101020101" pitchFamily="49" charset="-127"/>
              </a:rPr>
              <a:t>초</a:t>
            </a:r>
            <a:r>
              <a:rPr lang="en-US" altLang="ko-KR" sz="1100" dirty="0">
                <a:latin typeface="D2Coding" panose="020B0609020101020101" pitchFamily="49" charset="-127"/>
                <a:ea typeface="D2Coding" panose="020B0609020101020101" pitchFamily="49" charset="-127"/>
              </a:rPr>
              <a:t>...)"</a:t>
            </a:r>
            <a:endParaRPr lang="ko-KR" altLang="en-US" sz="11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2171070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98FCE-16F3-1B06-99F9-9A89C0B2D62C}"/>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0BE85354-CB4E-EC03-450B-ACACADCF6519}"/>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13</a:t>
            </a:fld>
            <a:endParaRPr lang="en-US" dirty="0"/>
          </a:p>
        </p:txBody>
      </p:sp>
      <p:sp>
        <p:nvSpPr>
          <p:cNvPr id="3" name="제목 1">
            <a:extLst>
              <a:ext uri="{FF2B5EF4-FFF2-40B4-BE49-F238E27FC236}">
                <a16:creationId xmlns:a16="http://schemas.microsoft.com/office/drawing/2014/main" id="{C57348E4-A75C-029E-3AD7-788C3AB66C67}"/>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sp>
        <p:nvSpPr>
          <p:cNvPr id="13" name="TextBox 12">
            <a:extLst>
              <a:ext uri="{FF2B5EF4-FFF2-40B4-BE49-F238E27FC236}">
                <a16:creationId xmlns:a16="http://schemas.microsoft.com/office/drawing/2014/main" id="{0DB3F97E-CEEE-2607-2D10-85B183B8CB2E}"/>
              </a:ext>
            </a:extLst>
          </p:cNvPr>
          <p:cNvSpPr txBox="1"/>
          <p:nvPr/>
        </p:nvSpPr>
        <p:spPr>
          <a:xfrm>
            <a:off x="579120" y="1248422"/>
            <a:ext cx="10535920" cy="5262979"/>
          </a:xfrm>
          <a:prstGeom prst="rect">
            <a:avLst/>
          </a:prstGeom>
          <a:solidFill>
            <a:srgbClr val="76E3FF"/>
          </a:solidFill>
        </p:spPr>
        <p:txBody>
          <a:bodyPr wrap="square" rtlCol="0">
            <a:spAutoFit/>
          </a:bodyPr>
          <a:lstStyle/>
          <a:p>
            <a:r>
              <a:rPr lang="en-US" altLang="ko-KR" sz="1400" dirty="0" err="1">
                <a:latin typeface="D2Coding" panose="020B0609020101020101" pitchFamily="49" charset="-127"/>
                <a:ea typeface="D2Coding" panose="020B0609020101020101" pitchFamily="49" charset="-127"/>
              </a:rPr>
              <a:t>Wx</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np.random.random</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input_size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(2, 4)</a:t>
            </a:r>
            <a:r>
              <a:rPr lang="ko-KR" altLang="en-US" sz="1400" dirty="0">
                <a:latin typeface="D2Coding" panose="020B0609020101020101" pitchFamily="49" charset="-127"/>
                <a:ea typeface="D2Coding" panose="020B0609020101020101" pitchFamily="49" charset="-127"/>
              </a:rPr>
              <a:t>크기의 </a:t>
            </a:r>
            <a:r>
              <a:rPr lang="en-US" altLang="ko-KR" sz="1400" dirty="0">
                <a:latin typeface="D2Coding" panose="020B0609020101020101" pitchFamily="49" charset="-127"/>
                <a:ea typeface="D2Coding" panose="020B0609020101020101" pitchFamily="49" charset="-127"/>
              </a:rPr>
              <a:t>2D </a:t>
            </a:r>
            <a:r>
              <a:rPr lang="ko-KR" altLang="en-US" sz="1400" dirty="0" err="1">
                <a:latin typeface="D2Coding" panose="020B0609020101020101" pitchFamily="49" charset="-127"/>
                <a:ea typeface="D2Coding" panose="020B0609020101020101" pitchFamily="49" charset="-127"/>
              </a:rPr>
              <a:t>텐서</a:t>
            </a:r>
            <a:r>
              <a:rPr lang="ko-KR" altLang="en-US" sz="1400" dirty="0">
                <a:latin typeface="D2Coding" panose="020B0609020101020101" pitchFamily="49" charset="-127"/>
                <a:ea typeface="D2Coding" panose="020B0609020101020101" pitchFamily="49" charset="-127"/>
              </a:rPr>
              <a:t> 생성</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입력에 대한 가중치</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err="1">
                <a:latin typeface="D2Coding" panose="020B0609020101020101" pitchFamily="49" charset="-127"/>
                <a:ea typeface="D2Coding" panose="020B0609020101020101" pitchFamily="49" charset="-127"/>
              </a:rPr>
              <a:t>Wh</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np.random.random</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(2, 2)</a:t>
            </a:r>
            <a:r>
              <a:rPr lang="ko-KR" altLang="en-US" sz="1400" dirty="0">
                <a:latin typeface="D2Coding" panose="020B0609020101020101" pitchFamily="49" charset="-127"/>
                <a:ea typeface="D2Coding" panose="020B0609020101020101" pitchFamily="49" charset="-127"/>
              </a:rPr>
              <a:t>크기의 </a:t>
            </a:r>
            <a:r>
              <a:rPr lang="en-US" altLang="ko-KR" sz="1400" dirty="0">
                <a:latin typeface="D2Coding" panose="020B0609020101020101" pitchFamily="49" charset="-127"/>
                <a:ea typeface="D2Coding" panose="020B0609020101020101" pitchFamily="49" charset="-127"/>
              </a:rPr>
              <a:t>2D </a:t>
            </a:r>
            <a:r>
              <a:rPr lang="ko-KR" altLang="en-US" sz="1400" dirty="0" err="1">
                <a:latin typeface="D2Coding" panose="020B0609020101020101" pitchFamily="49" charset="-127"/>
                <a:ea typeface="D2Coding" panose="020B0609020101020101" pitchFamily="49" charset="-127"/>
              </a:rPr>
              <a:t>텐서</a:t>
            </a:r>
            <a:r>
              <a:rPr lang="ko-KR" altLang="en-US" sz="1400" dirty="0">
                <a:latin typeface="D2Coding" panose="020B0609020101020101" pitchFamily="49" charset="-127"/>
                <a:ea typeface="D2Coding" panose="020B0609020101020101" pitchFamily="49" charset="-127"/>
              </a:rPr>
              <a:t> 생성</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은닉 상태에 대한 가중치</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b = </a:t>
            </a:r>
            <a:r>
              <a:rPr lang="en-US" altLang="ko-KR" sz="1400" dirty="0" err="1">
                <a:latin typeface="D2Coding" panose="020B0609020101020101" pitchFamily="49" charset="-127"/>
                <a:ea typeface="D2Coding" panose="020B0609020101020101" pitchFamily="49" charset="-127"/>
              </a:rPr>
              <a:t>np.random.random</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 (2,)</a:t>
            </a:r>
            <a:r>
              <a:rPr lang="ko-KR" altLang="en-US" sz="1400" dirty="0">
                <a:latin typeface="D2Coding" panose="020B0609020101020101" pitchFamily="49" charset="-127"/>
                <a:ea typeface="D2Coding" panose="020B0609020101020101" pitchFamily="49" charset="-127"/>
              </a:rPr>
              <a:t>크기의 </a:t>
            </a:r>
            <a:r>
              <a:rPr lang="en-US" altLang="ko-KR" sz="1400" dirty="0">
                <a:latin typeface="D2Coding" panose="020B0609020101020101" pitchFamily="49" charset="-127"/>
                <a:ea typeface="D2Coding" panose="020B0609020101020101" pitchFamily="49" charset="-127"/>
              </a:rPr>
              <a:t>1D </a:t>
            </a:r>
            <a:r>
              <a:rPr lang="ko-KR" altLang="en-US" sz="1400" dirty="0" err="1">
                <a:latin typeface="D2Coding" panose="020B0609020101020101" pitchFamily="49" charset="-127"/>
                <a:ea typeface="D2Coding" panose="020B0609020101020101" pitchFamily="49" charset="-127"/>
              </a:rPr>
              <a:t>텐서</a:t>
            </a:r>
            <a:r>
              <a:rPr lang="ko-KR" altLang="en-US" sz="1400" dirty="0">
                <a:latin typeface="D2Coding" panose="020B0609020101020101" pitchFamily="49" charset="-127"/>
                <a:ea typeface="D2Coding" panose="020B0609020101020101" pitchFamily="49" charset="-127"/>
              </a:rPr>
              <a:t> 생성</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이 값은 편향</a:t>
            </a:r>
            <a:r>
              <a:rPr lang="en-US" altLang="ko-KR" sz="1400" dirty="0">
                <a:latin typeface="D2Coding" panose="020B0609020101020101" pitchFamily="49" charset="-127"/>
                <a:ea typeface="D2Coding" panose="020B0609020101020101" pitchFamily="49" charset="-127"/>
              </a:rPr>
              <a:t>(bias)</a:t>
            </a:r>
          </a:p>
          <a:p>
            <a:endParaRPr lang="en-US" altLang="ko-KR"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a:t>
            </a:r>
            <a:r>
              <a:rPr lang="en-US" altLang="ko-KR" sz="1400" dirty="0" err="1">
                <a:latin typeface="D2Coding" panose="020B0609020101020101" pitchFamily="49" charset="-127"/>
                <a:ea typeface="D2Coding" panose="020B0609020101020101" pitchFamily="49" charset="-127"/>
              </a:rPr>
              <a:t>np.shape</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Wx</a:t>
            </a:r>
            <a:r>
              <a:rPr lang="en-US" altLang="ko-KR"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np.shape</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Wh</a:t>
            </a:r>
            <a:r>
              <a:rPr lang="en-US" altLang="ko-KR"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np.shape</a:t>
            </a:r>
            <a:r>
              <a:rPr lang="en-US" altLang="ko-KR" sz="1400" dirty="0">
                <a:latin typeface="D2Coding" panose="020B0609020101020101" pitchFamily="49" charset="-127"/>
                <a:ea typeface="D2Coding" panose="020B0609020101020101" pitchFamily="49" charset="-127"/>
              </a:rPr>
              <a:t>(b))</a:t>
            </a:r>
          </a:p>
          <a:p>
            <a:endParaRPr lang="en-US" altLang="ko-KR" sz="1400" dirty="0">
              <a:latin typeface="D2Coding" panose="020B0609020101020101" pitchFamily="49" charset="-127"/>
              <a:ea typeface="D2Coding" panose="020B0609020101020101" pitchFamily="49" charset="-127"/>
            </a:endParaRPr>
          </a:p>
          <a:p>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 []</a:t>
            </a:r>
          </a:p>
          <a:p>
            <a:r>
              <a:rPr lang="en-US" altLang="ko-KR" sz="1400" dirty="0">
                <a:latin typeface="D2Coding" panose="020B0609020101020101" pitchFamily="49" charset="-127"/>
                <a:ea typeface="D2Coding" panose="020B0609020101020101" pitchFamily="49" charset="-127"/>
              </a:rPr>
              <a:t># Initialize </a:t>
            </a:r>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 before the loop</a:t>
            </a:r>
          </a:p>
          <a:p>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np.zeros</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 # Using </a:t>
            </a:r>
            <a:r>
              <a:rPr lang="en-US" altLang="ko-KR" sz="1400" dirty="0" err="1">
                <a:latin typeface="D2Coding" panose="020B0609020101020101" pitchFamily="49" charset="-127"/>
                <a:ea typeface="D2Coding" panose="020B0609020101020101" pitchFamily="49" charset="-127"/>
              </a:rPr>
              <a:t>hidden_size</a:t>
            </a:r>
            <a:r>
              <a:rPr lang="en-US" altLang="ko-KR" sz="1400" dirty="0">
                <a:latin typeface="D2Coding" panose="020B0609020101020101" pitchFamily="49" charset="-127"/>
                <a:ea typeface="D2Coding" panose="020B0609020101020101" pitchFamily="49" charset="-127"/>
              </a:rPr>
              <a:t> from the kernel state</a:t>
            </a:r>
          </a:p>
          <a:p>
            <a:r>
              <a:rPr lang="en-US" altLang="ko-KR" sz="1400" dirty="0">
                <a:latin typeface="D2Coding" panose="020B0609020101020101" pitchFamily="49" charset="-127"/>
                <a:ea typeface="D2Coding" panose="020B0609020101020101" pitchFamily="49" charset="-127"/>
              </a:rPr>
              <a:t>print("=== </a:t>
            </a:r>
            <a:r>
              <a:rPr lang="ko-KR" altLang="en-US" sz="1400" dirty="0">
                <a:latin typeface="D2Coding" panose="020B0609020101020101" pitchFamily="49" charset="-127"/>
                <a:ea typeface="D2Coding" panose="020B0609020101020101" pitchFamily="49" charset="-127"/>
              </a:rPr>
              <a:t>초기 은닉 상태 </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a:t>
            </a:r>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a:t>
            </a:r>
          </a:p>
          <a:p>
            <a:endParaRPr lang="en-US" altLang="ko-KR"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메모리 셀 동작</a:t>
            </a:r>
          </a:p>
          <a:p>
            <a:r>
              <a:rPr lang="en-US" altLang="ko-KR" sz="1400" dirty="0">
                <a:latin typeface="D2Coding" panose="020B0609020101020101" pitchFamily="49" charset="-127"/>
                <a:ea typeface="D2Coding" panose="020B0609020101020101" pitchFamily="49" charset="-127"/>
              </a:rPr>
              <a:t>for </a:t>
            </a:r>
            <a:r>
              <a:rPr lang="en-US" altLang="ko-KR" sz="1400" dirty="0" err="1">
                <a:latin typeface="D2Coding" panose="020B0609020101020101" pitchFamily="49" charset="-127"/>
                <a:ea typeface="D2Coding" panose="020B0609020101020101" pitchFamily="49" charset="-127"/>
              </a:rPr>
              <a:t>input_t</a:t>
            </a:r>
            <a:r>
              <a:rPr lang="en-US" altLang="ko-KR" sz="1400" dirty="0">
                <a:latin typeface="D2Coding" panose="020B0609020101020101" pitchFamily="49" charset="-127"/>
                <a:ea typeface="D2Coding" panose="020B0609020101020101" pitchFamily="49" charset="-127"/>
              </a:rPr>
              <a:t> in inputs: # </a:t>
            </a:r>
            <a:r>
              <a:rPr lang="ko-KR" altLang="en-US" sz="1400" dirty="0">
                <a:latin typeface="D2Coding" panose="020B0609020101020101" pitchFamily="49" charset="-127"/>
                <a:ea typeface="D2Coding" panose="020B0609020101020101" pitchFamily="49" charset="-127"/>
              </a:rPr>
              <a:t>각 시점에 따라서 </a:t>
            </a:r>
            <a:r>
              <a:rPr lang="ko-KR" altLang="en-US" sz="1400" dirty="0" err="1">
                <a:latin typeface="D2Coding" panose="020B0609020101020101" pitchFamily="49" charset="-127"/>
                <a:ea typeface="D2Coding" panose="020B0609020101020101" pitchFamily="49" charset="-127"/>
              </a:rPr>
              <a:t>입력값이</a:t>
            </a:r>
            <a:r>
              <a:rPr lang="ko-KR" altLang="en-US" sz="1400" dirty="0">
                <a:latin typeface="D2Coding" panose="020B0609020101020101" pitchFamily="49" charset="-127"/>
                <a:ea typeface="D2Coding" panose="020B0609020101020101" pitchFamily="49" charset="-127"/>
              </a:rPr>
              <a:t> 입력됨</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ko-KR" altLang="en-US"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output_t</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np.tanh</a:t>
            </a:r>
            <a:r>
              <a:rPr lang="en-US" altLang="ko-KR" sz="1400" dirty="0">
                <a:latin typeface="D2Coding" panose="020B0609020101020101" pitchFamily="49" charset="-127"/>
                <a:ea typeface="D2Coding" panose="020B0609020101020101" pitchFamily="49" charset="-127"/>
              </a:rPr>
              <a:t>(np.dot(</a:t>
            </a:r>
            <a:r>
              <a:rPr lang="en-US" altLang="ko-KR" sz="1400" dirty="0" err="1">
                <a:latin typeface="D2Coding" panose="020B0609020101020101" pitchFamily="49" charset="-127"/>
                <a:ea typeface="D2Coding" panose="020B0609020101020101" pitchFamily="49" charset="-127"/>
              </a:rPr>
              <a:t>Wx,input_t</a:t>
            </a:r>
            <a:r>
              <a:rPr lang="en-US" altLang="ko-KR" sz="1400" dirty="0">
                <a:latin typeface="D2Coding" panose="020B0609020101020101" pitchFamily="49" charset="-127"/>
                <a:ea typeface="D2Coding" panose="020B0609020101020101" pitchFamily="49" charset="-127"/>
              </a:rPr>
              <a:t>) + np.dot(</a:t>
            </a:r>
            <a:r>
              <a:rPr lang="en-US" altLang="ko-KR" sz="1400" dirty="0" err="1">
                <a:latin typeface="D2Coding" panose="020B0609020101020101" pitchFamily="49" charset="-127"/>
                <a:ea typeface="D2Coding" panose="020B0609020101020101" pitchFamily="49" charset="-127"/>
              </a:rPr>
              <a:t>Wh,hidden_state_t</a:t>
            </a:r>
            <a:r>
              <a:rPr lang="en-US" altLang="ko-KR" sz="1400" dirty="0">
                <a:latin typeface="D2Coding" panose="020B0609020101020101" pitchFamily="49" charset="-127"/>
                <a:ea typeface="D2Coding" panose="020B0609020101020101" pitchFamily="49" charset="-127"/>
              </a:rPr>
              <a:t>) + b) # </a:t>
            </a:r>
            <a:r>
              <a:rPr lang="en-US" altLang="ko-KR" sz="1400" dirty="0" err="1">
                <a:latin typeface="D2Coding" panose="020B0609020101020101" pitchFamily="49" charset="-127"/>
                <a:ea typeface="D2Coding" panose="020B0609020101020101" pitchFamily="49" charset="-127"/>
              </a:rPr>
              <a:t>Wx</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Xt</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Wh</a:t>
            </a:r>
            <a:r>
              <a:rPr lang="en-US" altLang="ko-KR" sz="1400" dirty="0">
                <a:latin typeface="D2Coding" panose="020B0609020101020101" pitchFamily="49" charset="-127"/>
                <a:ea typeface="D2Coding" panose="020B0609020101020101" pitchFamily="49" charset="-127"/>
              </a:rPr>
              <a:t> * Ht-1 + b(bias)</a:t>
            </a:r>
          </a:p>
          <a:p>
            <a:r>
              <a:rPr lang="en-US" altLang="ko-KR"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total_hidden_states.append</a:t>
            </a:r>
            <a:r>
              <a:rPr lang="en-US" altLang="ko-KR" sz="1400" dirty="0">
                <a:latin typeface="D2Coding" panose="020B0609020101020101" pitchFamily="49" charset="-127"/>
                <a:ea typeface="D2Coding" panose="020B0609020101020101" pitchFamily="49" charset="-127"/>
              </a:rPr>
              <a:t>(list(</a:t>
            </a:r>
            <a:r>
              <a:rPr lang="en-US" altLang="ko-KR" sz="1400" dirty="0" err="1">
                <a:latin typeface="D2Coding" panose="020B0609020101020101" pitchFamily="49" charset="-127"/>
                <a:ea typeface="D2Coding" panose="020B0609020101020101" pitchFamily="49" charset="-127"/>
              </a:rPr>
              <a:t>output_t</a:t>
            </a:r>
            <a:r>
              <a:rPr lang="en-US" altLang="ko-KR" sz="1400" dirty="0">
                <a:latin typeface="D2Coding" panose="020B0609020101020101" pitchFamily="49" charset="-127"/>
                <a:ea typeface="D2Coding" panose="020B0609020101020101" pitchFamily="49" charset="-127"/>
              </a:rPr>
              <a:t>)) # </a:t>
            </a:r>
            <a:r>
              <a:rPr lang="ko-KR" altLang="en-US" sz="1400" dirty="0">
                <a:latin typeface="D2Coding" panose="020B0609020101020101" pitchFamily="49" charset="-127"/>
                <a:ea typeface="D2Coding" panose="020B0609020101020101" pitchFamily="49" charset="-127"/>
              </a:rPr>
              <a:t>각 시점의 은닉 상태의 값을 계속해서 축적</a:t>
            </a:r>
          </a:p>
          <a:p>
            <a:r>
              <a:rPr lang="ko-KR" altLang="en-US" sz="1400" dirty="0">
                <a:latin typeface="D2Coding" panose="020B0609020101020101" pitchFamily="49" charset="-127"/>
                <a:ea typeface="D2Coding" panose="020B0609020101020101" pitchFamily="49" charset="-127"/>
              </a:rPr>
              <a:t>  </a:t>
            </a:r>
            <a:r>
              <a:rPr lang="en-US" altLang="ko-KR" sz="1400" dirty="0">
                <a:latin typeface="D2Coding" panose="020B0609020101020101" pitchFamily="49" charset="-127"/>
                <a:ea typeface="D2Coding" panose="020B0609020101020101" pitchFamily="49" charset="-127"/>
              </a:rPr>
              <a:t>print(</a:t>
            </a:r>
            <a:r>
              <a:rPr lang="en-US" altLang="ko-KR" sz="1400" dirty="0" err="1">
                <a:latin typeface="D2Coding" panose="020B0609020101020101" pitchFamily="49" charset="-127"/>
                <a:ea typeface="D2Coding" panose="020B0609020101020101" pitchFamily="49" charset="-127"/>
              </a:rPr>
              <a:t>np.shape</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 </a:t>
            </a:r>
            <a:r>
              <a:rPr lang="ko-KR" altLang="en-US" sz="1400" dirty="0">
                <a:latin typeface="D2Coding" panose="020B0609020101020101" pitchFamily="49" charset="-127"/>
                <a:ea typeface="D2Coding" panose="020B0609020101020101" pitchFamily="49" charset="-127"/>
              </a:rPr>
              <a:t>각 시점 </a:t>
            </a:r>
            <a:r>
              <a:rPr lang="en-US" altLang="ko-KR" sz="1400" dirty="0">
                <a:latin typeface="D2Coding" panose="020B0609020101020101" pitchFamily="49" charset="-127"/>
                <a:ea typeface="D2Coding" panose="020B0609020101020101" pitchFamily="49" charset="-127"/>
              </a:rPr>
              <a:t>t</a:t>
            </a:r>
            <a:r>
              <a:rPr lang="ko-KR" altLang="en-US" sz="1400" dirty="0">
                <a:latin typeface="D2Coding" panose="020B0609020101020101" pitchFamily="49" charset="-127"/>
                <a:ea typeface="D2Coding" panose="020B0609020101020101" pitchFamily="49" charset="-127"/>
              </a:rPr>
              <a:t>별 메모리 셀의 출력의 크기는 </a:t>
            </a:r>
            <a:r>
              <a:rPr lang="en-US" altLang="ko-KR" sz="1400" dirty="0">
                <a:latin typeface="D2Coding" panose="020B0609020101020101" pitchFamily="49" charset="-127"/>
                <a:ea typeface="D2Coding" panose="020B0609020101020101" pitchFamily="49" charset="-127"/>
              </a:rPr>
              <a:t>(timestep, </a:t>
            </a:r>
            <a:r>
              <a:rPr lang="en-US" altLang="ko-KR" sz="1400" dirty="0" err="1">
                <a:latin typeface="D2Coding" panose="020B0609020101020101" pitchFamily="49" charset="-127"/>
                <a:ea typeface="D2Coding" panose="020B0609020101020101" pitchFamily="49" charset="-127"/>
              </a:rPr>
              <a:t>output_dim</a:t>
            </a:r>
            <a:r>
              <a:rPr lang="en-US" altLang="ko-KR" sz="1400" dirty="0">
                <a:latin typeface="D2Coding" panose="020B0609020101020101" pitchFamily="49" charset="-127"/>
                <a:ea typeface="D2Coding" panose="020B0609020101020101" pitchFamily="49" charset="-127"/>
              </a:rPr>
              <a:t>)</a:t>
            </a:r>
          </a:p>
          <a:p>
            <a:r>
              <a:rPr lang="en-US" altLang="ko-KR" sz="1400" dirty="0">
                <a:latin typeface="D2Coding" panose="020B0609020101020101" pitchFamily="49" charset="-127"/>
                <a:ea typeface="D2Coding" panose="020B0609020101020101" pitchFamily="49" charset="-127"/>
              </a:rPr>
              <a:t>  </a:t>
            </a:r>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output_t</a:t>
            </a:r>
            <a:br>
              <a:rPr lang="en-US" altLang="ko-KR" sz="1400" dirty="0">
                <a:latin typeface="D2Coding" panose="020B0609020101020101" pitchFamily="49" charset="-127"/>
                <a:ea typeface="D2Coding" panose="020B0609020101020101" pitchFamily="49" charset="-127"/>
              </a:rPr>
            </a:br>
            <a:endParaRPr lang="en-US" altLang="ko-KR" sz="1400" dirty="0">
              <a:latin typeface="D2Coding" panose="020B0609020101020101" pitchFamily="49" charset="-127"/>
              <a:ea typeface="D2Coding" panose="020B0609020101020101" pitchFamily="49" charset="-127"/>
            </a:endParaRPr>
          </a:p>
          <a:p>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 </a:t>
            </a:r>
            <a:r>
              <a:rPr lang="en-US" altLang="ko-KR" sz="1400" dirty="0" err="1">
                <a:latin typeface="D2Coding" panose="020B0609020101020101" pitchFamily="49" charset="-127"/>
                <a:ea typeface="D2Coding" panose="020B0609020101020101" pitchFamily="49" charset="-127"/>
              </a:rPr>
              <a:t>np.stack</a:t>
            </a:r>
            <a:r>
              <a:rPr lang="en-US" altLang="ko-KR" sz="1400" dirty="0">
                <a:latin typeface="D2Coding" panose="020B0609020101020101" pitchFamily="49" charset="-127"/>
                <a:ea typeface="D2Coding" panose="020B0609020101020101" pitchFamily="49" charset="-127"/>
              </a:rPr>
              <a:t>(</a:t>
            </a:r>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axis = 0)</a:t>
            </a:r>
          </a:p>
          <a:p>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출력 시 값을 깔끔하게 해준다</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a:t>
            </a:r>
            <a:r>
              <a:rPr lang="en-US" altLang="ko-KR" sz="1400" dirty="0" err="1">
                <a:latin typeface="D2Coding" panose="020B0609020101020101" pitchFamily="49" charset="-127"/>
                <a:ea typeface="D2Coding" panose="020B0609020101020101" pitchFamily="49" charset="-127"/>
              </a:rPr>
              <a:t>total_hidden_states</a:t>
            </a:r>
            <a:r>
              <a:rPr lang="en-US" altLang="ko-KR" sz="1400" dirty="0">
                <a:latin typeface="D2Coding" panose="020B0609020101020101" pitchFamily="49" charset="-127"/>
                <a:ea typeface="D2Coding" panose="020B0609020101020101" pitchFamily="49" charset="-127"/>
              </a:rPr>
              <a:t>) # (timesteps, </a:t>
            </a:r>
            <a:r>
              <a:rPr lang="en-US" altLang="ko-KR" sz="1400" dirty="0" err="1">
                <a:latin typeface="D2Coding" panose="020B0609020101020101" pitchFamily="49" charset="-127"/>
                <a:ea typeface="D2Coding" panose="020B0609020101020101" pitchFamily="49" charset="-127"/>
              </a:rPr>
              <a:t>output_dim</a:t>
            </a:r>
            <a:r>
              <a:rPr lang="en-US" altLang="ko-KR" sz="1400" dirty="0">
                <a:latin typeface="D2Coding" panose="020B0609020101020101" pitchFamily="49" charset="-127"/>
                <a:ea typeface="D2Coding" panose="020B0609020101020101" pitchFamily="49" charset="-127"/>
              </a:rPr>
              <a:t>)</a:t>
            </a:r>
            <a:r>
              <a:rPr lang="ko-KR" altLang="en-US" sz="1400" dirty="0">
                <a:latin typeface="D2Coding" panose="020B0609020101020101" pitchFamily="49" charset="-127"/>
                <a:ea typeface="D2Coding" panose="020B0609020101020101" pitchFamily="49" charset="-127"/>
              </a:rPr>
              <a:t>의 크기</a:t>
            </a:r>
            <a:r>
              <a:rPr lang="en-US" altLang="ko-KR" sz="1400" dirty="0">
                <a:latin typeface="D2Coding" panose="020B0609020101020101" pitchFamily="49" charset="-127"/>
                <a:ea typeface="D2Coding" panose="020B0609020101020101" pitchFamily="49" charset="-127"/>
              </a:rPr>
              <a:t>. </a:t>
            </a:r>
            <a:r>
              <a:rPr lang="ko-KR" altLang="en-US" sz="1400" dirty="0">
                <a:latin typeface="D2Coding" panose="020B0609020101020101" pitchFamily="49" charset="-127"/>
                <a:ea typeface="D2Coding" panose="020B0609020101020101" pitchFamily="49" charset="-127"/>
              </a:rPr>
              <a:t>이 경우 </a:t>
            </a:r>
            <a:r>
              <a:rPr lang="en-US" altLang="ko-KR" sz="1400" dirty="0">
                <a:latin typeface="D2Coding" panose="020B0609020101020101" pitchFamily="49" charset="-127"/>
                <a:ea typeface="D2Coding" panose="020B0609020101020101" pitchFamily="49" charset="-127"/>
              </a:rPr>
              <a:t>(4, 2)</a:t>
            </a:r>
            <a:r>
              <a:rPr lang="ko-KR" altLang="en-US" sz="1400" dirty="0">
                <a:latin typeface="D2Coding" panose="020B0609020101020101" pitchFamily="49" charset="-127"/>
                <a:ea typeface="D2Coding" panose="020B0609020101020101" pitchFamily="49" charset="-127"/>
              </a:rPr>
              <a:t>의 크기를 가지는 메모리 셀의 </a:t>
            </a:r>
            <a:r>
              <a:rPr lang="en-US" altLang="ko-KR" sz="1400" dirty="0">
                <a:latin typeface="D2Coding" panose="020B0609020101020101" pitchFamily="49" charset="-127"/>
                <a:ea typeface="D2Coding" panose="020B0609020101020101" pitchFamily="49" charset="-127"/>
              </a:rPr>
              <a:t>2D </a:t>
            </a:r>
            <a:r>
              <a:rPr lang="ko-KR" altLang="en-US" sz="1400" dirty="0" err="1">
                <a:latin typeface="D2Coding" panose="020B0609020101020101" pitchFamily="49" charset="-127"/>
                <a:ea typeface="D2Coding" panose="020B0609020101020101" pitchFamily="49" charset="-127"/>
              </a:rPr>
              <a:t>텐서를</a:t>
            </a:r>
            <a:r>
              <a:rPr lang="ko-KR" altLang="en-US" sz="1400" dirty="0">
                <a:latin typeface="D2Coding" panose="020B0609020101020101" pitchFamily="49" charset="-127"/>
                <a:ea typeface="D2Coding" panose="020B0609020101020101" pitchFamily="49" charset="-127"/>
              </a:rPr>
              <a:t> 출력</a:t>
            </a:r>
            <a:r>
              <a:rPr lang="en-US" altLang="ko-KR" sz="1400" dirty="0">
                <a:latin typeface="D2Coding" panose="020B0609020101020101" pitchFamily="49" charset="-127"/>
                <a:ea typeface="D2Coding" panose="020B0609020101020101" pitchFamily="49" charset="-127"/>
              </a:rPr>
              <a:t>.</a:t>
            </a:r>
            <a:endParaRPr lang="ko-KR" altLang="en-US" sz="1400" dirty="0">
              <a:latin typeface="D2Coding" panose="020B0609020101020101" pitchFamily="49" charset="-127"/>
              <a:ea typeface="D2Coding" panose="020B0609020101020101" pitchFamily="49" charset="-127"/>
            </a:endParaRPr>
          </a:p>
          <a:p>
            <a:r>
              <a:rPr lang="en-US" altLang="ko-KR" sz="1400" dirty="0">
                <a:latin typeface="D2Coding" panose="020B0609020101020101" pitchFamily="49" charset="-127"/>
                <a:ea typeface="D2Coding" panose="020B0609020101020101" pitchFamily="49" charset="-127"/>
              </a:rPr>
              <a:t>print("RNN simulation complete. Final hidden state:", </a:t>
            </a:r>
            <a:r>
              <a:rPr lang="en-US" altLang="ko-KR" sz="1400" dirty="0" err="1">
                <a:latin typeface="D2Coding" panose="020B0609020101020101" pitchFamily="49" charset="-127"/>
                <a:ea typeface="D2Coding" panose="020B0609020101020101" pitchFamily="49" charset="-127"/>
              </a:rPr>
              <a:t>hidden_state_t</a:t>
            </a:r>
            <a:r>
              <a:rPr lang="en-US" altLang="ko-KR" sz="1400" dirty="0">
                <a:latin typeface="D2Coding" panose="020B0609020101020101" pitchFamily="49" charset="-127"/>
                <a:ea typeface="D2Coding" panose="020B0609020101020101" pitchFamily="49" charset="-127"/>
              </a:rPr>
              <a:t>)</a:t>
            </a:r>
          </a:p>
        </p:txBody>
      </p:sp>
      <p:sp>
        <p:nvSpPr>
          <p:cNvPr id="2" name="직사각형 1">
            <a:extLst>
              <a:ext uri="{FF2B5EF4-FFF2-40B4-BE49-F238E27FC236}">
                <a16:creationId xmlns:a16="http://schemas.microsoft.com/office/drawing/2014/main" id="{BE8CDF4E-654F-A844-2AF1-E5B70D04542B}"/>
              </a:ext>
            </a:extLst>
          </p:cNvPr>
          <p:cNvSpPr/>
          <p:nvPr/>
        </p:nvSpPr>
        <p:spPr>
          <a:xfrm>
            <a:off x="284480" y="3718560"/>
            <a:ext cx="11328400" cy="151384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Picture 4">
            <a:extLst>
              <a:ext uri="{FF2B5EF4-FFF2-40B4-BE49-F238E27FC236}">
                <a16:creationId xmlns:a16="http://schemas.microsoft.com/office/drawing/2014/main" id="{8883AB11-A815-2C12-3845-46A11E1F590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10310566" y="2923483"/>
            <a:ext cx="1444554" cy="2308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034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6DF0C-9D28-FBA6-B389-9581E318CD35}"/>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DC2A6246-2F11-7E99-42F8-C724EAE1BC13}"/>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14</a:t>
            </a:fld>
            <a:endParaRPr lang="en-US" dirty="0"/>
          </a:p>
        </p:txBody>
      </p:sp>
      <p:sp>
        <p:nvSpPr>
          <p:cNvPr id="3" name="제목 1">
            <a:extLst>
              <a:ext uri="{FF2B5EF4-FFF2-40B4-BE49-F238E27FC236}">
                <a16:creationId xmlns:a16="http://schemas.microsoft.com/office/drawing/2014/main" id="{23994DA0-ABA7-DE40-943F-5309918818AD}"/>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 </a:t>
            </a:r>
            <a:r>
              <a:rPr lang="en-US" altLang="ko-KR" sz="28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Keras</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p>
        </p:txBody>
      </p:sp>
      <p:sp>
        <p:nvSpPr>
          <p:cNvPr id="7" name="TextBox 6">
            <a:extLst>
              <a:ext uri="{FF2B5EF4-FFF2-40B4-BE49-F238E27FC236}">
                <a16:creationId xmlns:a16="http://schemas.microsoft.com/office/drawing/2014/main" id="{114EED7C-82F6-9051-5C0F-E33482CF1B1B}"/>
              </a:ext>
            </a:extLst>
          </p:cNvPr>
          <p:cNvSpPr txBox="1"/>
          <p:nvPr/>
        </p:nvSpPr>
        <p:spPr>
          <a:xfrm>
            <a:off x="660400" y="1335673"/>
            <a:ext cx="11125200" cy="5262979"/>
          </a:xfrm>
          <a:prstGeom prst="rect">
            <a:avLst/>
          </a:prstGeom>
          <a:solidFill>
            <a:schemeClr val="accent6">
              <a:lumMod val="40000"/>
              <a:lumOff val="60000"/>
            </a:schemeClr>
          </a:solidFill>
        </p:spPr>
        <p:txBody>
          <a:bodyPr wrap="square">
            <a:spAutoFit/>
          </a:bodyPr>
          <a:lstStyle/>
          <a:p>
            <a:r>
              <a:rPr lang="en-US" altLang="ko-KR" sz="1600" dirty="0">
                <a:latin typeface="D2Coding" panose="020B0609020101020101" pitchFamily="49" charset="-127"/>
                <a:ea typeface="D2Coding" panose="020B0609020101020101" pitchFamily="49" charset="-127"/>
              </a:rPr>
              <a:t>import </a:t>
            </a:r>
            <a:r>
              <a:rPr lang="en-US" altLang="ko-KR" sz="1600" dirty="0" err="1">
                <a:latin typeface="D2Coding" panose="020B0609020101020101" pitchFamily="49" charset="-127"/>
                <a:ea typeface="D2Coding" panose="020B0609020101020101" pitchFamily="49" charset="-127"/>
              </a:rPr>
              <a:t>tensorflow</a:t>
            </a:r>
            <a:r>
              <a:rPr lang="en-US" altLang="ko-KR" sz="1600" dirty="0">
                <a:latin typeface="D2Coding" panose="020B0609020101020101" pitchFamily="49" charset="-127"/>
                <a:ea typeface="D2Coding" panose="020B0609020101020101" pitchFamily="49" charset="-127"/>
              </a:rPr>
              <a:t> as </a:t>
            </a:r>
            <a:r>
              <a:rPr lang="en-US" altLang="ko-KR" sz="1600" dirty="0" err="1">
                <a:latin typeface="D2Coding" panose="020B0609020101020101" pitchFamily="49" charset="-127"/>
                <a:ea typeface="D2Coding" panose="020B0609020101020101" pitchFamily="49" charset="-127"/>
              </a:rPr>
              <a:t>tfimport</a:t>
            </a:r>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tensorflow</a:t>
            </a:r>
            <a:r>
              <a:rPr lang="en-US" altLang="ko-KR" sz="1600" dirty="0">
                <a:latin typeface="D2Coding" panose="020B0609020101020101" pitchFamily="49" charset="-127"/>
                <a:ea typeface="D2Coding" panose="020B0609020101020101" pitchFamily="49" charset="-127"/>
              </a:rPr>
              <a:t> as</a:t>
            </a:r>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tf</a:t>
            </a:r>
            <a:endParaRPr lang="en-US" altLang="ko-KR"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from</a:t>
            </a:r>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tensorflow</a:t>
            </a:r>
            <a:r>
              <a:rPr lang="en-US" altLang="ko-KR" sz="1600" dirty="0">
                <a:latin typeface="D2Coding" panose="020B0609020101020101" pitchFamily="49" charset="-127"/>
                <a:ea typeface="D2Coding" panose="020B0609020101020101" pitchFamily="49" charset="-127"/>
              </a:rPr>
              <a:t> import</a:t>
            </a:r>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keras</a:t>
            </a:r>
            <a:endParaRPr lang="en-US" altLang="ko-KR" sz="1600" dirty="0">
              <a:latin typeface="D2Coding" panose="020B0609020101020101" pitchFamily="49" charset="-127"/>
              <a:ea typeface="D2Coding" panose="020B0609020101020101" pitchFamily="49" charset="-127"/>
            </a:endParaRPr>
          </a:p>
          <a:p>
            <a:endParaRPr lang="en-US" altLang="ko-KR"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 1. </a:t>
            </a:r>
            <a:r>
              <a:rPr lang="ko-KR" altLang="en-US" sz="1600" dirty="0">
                <a:latin typeface="D2Coding" panose="020B0609020101020101" pitchFamily="49" charset="-127"/>
                <a:ea typeface="D2Coding" panose="020B0609020101020101" pitchFamily="49" charset="-127"/>
              </a:rPr>
              <a:t>가상 데이터 생성 </a:t>
            </a:r>
            <a:r>
              <a:rPr lang="en-US" altLang="ko-KR" sz="1600" dirty="0">
                <a:latin typeface="D2Coding" panose="020B0609020101020101" pitchFamily="49" charset="-127"/>
                <a:ea typeface="D2Coding" panose="020B0609020101020101" pitchFamily="49" charset="-127"/>
              </a:rPr>
              <a:t>(Matrix) </a:t>
            </a:r>
            <a:r>
              <a:rPr lang="ko-KR" altLang="en-US" sz="1600" dirty="0">
                <a:latin typeface="D2Coding" panose="020B0609020101020101" pitchFamily="49" charset="-127"/>
                <a:ea typeface="D2Coding" panose="020B0609020101020101" pitchFamily="49" charset="-127"/>
              </a:rPr>
              <a:t>단어 </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개씩 </a:t>
            </a:r>
            <a:r>
              <a:rPr lang="en-US" altLang="ko-KR" sz="1600" dirty="0">
                <a:latin typeface="D2Coding" panose="020B0609020101020101" pitchFamily="49" charset="-127"/>
                <a:ea typeface="D2Coding" panose="020B0609020101020101" pitchFamily="49" charset="-127"/>
              </a:rPr>
              <a:t>4</a:t>
            </a:r>
            <a:r>
              <a:rPr lang="ko-KR" altLang="en-US" sz="1600" dirty="0">
                <a:latin typeface="D2Coding" panose="020B0609020101020101" pitchFamily="49" charset="-127"/>
                <a:ea typeface="D2Coding" panose="020B0609020101020101" pitchFamily="49" charset="-127"/>
              </a:rPr>
              <a:t>번 </a:t>
            </a:r>
            <a:r>
              <a:rPr lang="en-US" altLang="ko-KR" sz="1600" dirty="0">
                <a:latin typeface="D2Coding" panose="020B0609020101020101" pitchFamily="49" charset="-127"/>
                <a:ea typeface="D2Coding" panose="020B0609020101020101" pitchFamily="49" charset="-127"/>
              </a:rPr>
              <a:t>(timesteps=4), </a:t>
            </a:r>
            <a:r>
              <a:rPr lang="ko-KR" altLang="en-US" sz="1600" dirty="0">
                <a:latin typeface="D2Coding" panose="020B0609020101020101" pitchFamily="49" charset="-127"/>
                <a:ea typeface="D2Coding" panose="020B0609020101020101" pitchFamily="49" charset="-127"/>
              </a:rPr>
              <a:t>각 단어는 </a:t>
            </a:r>
            <a:r>
              <a:rPr lang="en-US" altLang="ko-KR" sz="1600" dirty="0">
                <a:latin typeface="D2Coding" panose="020B0609020101020101" pitchFamily="49" charset="-127"/>
                <a:ea typeface="D2Coding" panose="020B0609020101020101" pitchFamily="49" charset="-127"/>
              </a:rPr>
              <a:t>4</a:t>
            </a:r>
            <a:r>
              <a:rPr lang="ko-KR" altLang="en-US" sz="1600" dirty="0">
                <a:latin typeface="D2Coding" panose="020B0609020101020101" pitchFamily="49" charset="-127"/>
                <a:ea typeface="D2Coding" panose="020B0609020101020101" pitchFamily="49" charset="-127"/>
              </a:rPr>
              <a:t>차원 벡터 </a:t>
            </a:r>
            <a:r>
              <a:rPr lang="en-US" altLang="ko-KR" sz="1600" dirty="0">
                <a:latin typeface="D2Coding" panose="020B0609020101020101" pitchFamily="49" charset="-127"/>
                <a:ea typeface="D2Coding" panose="020B0609020101020101" pitchFamily="49" charset="-127"/>
              </a:rPr>
              <a:t>(</a:t>
            </a:r>
            <a:r>
              <a:rPr lang="en-US" altLang="ko-KR" sz="1600" dirty="0" err="1">
                <a:latin typeface="D2Coding" panose="020B0609020101020101" pitchFamily="49" charset="-127"/>
                <a:ea typeface="D2Coding" panose="020B0609020101020101" pitchFamily="49" charset="-127"/>
              </a:rPr>
              <a:t>input_size</a:t>
            </a:r>
            <a:r>
              <a:rPr lang="en-US" altLang="ko-KR" sz="1600" dirty="0">
                <a:latin typeface="D2Coding" panose="020B0609020101020101" pitchFamily="49" charset="-127"/>
                <a:ea typeface="D2Coding" panose="020B0609020101020101" pitchFamily="49" charset="-127"/>
              </a:rPr>
              <a:t>=4)</a:t>
            </a:r>
            <a:endParaRPr lang="ko-KR" altLang="en-US"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timesteps = 4; </a:t>
            </a:r>
            <a:r>
              <a:rPr lang="en-US" altLang="ko-KR" sz="1600" dirty="0" err="1">
                <a:latin typeface="D2Coding" panose="020B0609020101020101" pitchFamily="49" charset="-127"/>
                <a:ea typeface="D2Coding" panose="020B0609020101020101" pitchFamily="49" charset="-127"/>
              </a:rPr>
              <a:t>input_size</a:t>
            </a:r>
            <a:r>
              <a:rPr lang="en-US" altLang="ko-KR" sz="1600" dirty="0">
                <a:latin typeface="D2Coding" panose="020B0609020101020101" pitchFamily="49" charset="-127"/>
                <a:ea typeface="D2Coding" panose="020B0609020101020101" pitchFamily="49" charset="-127"/>
              </a:rPr>
              <a:t> = 4</a:t>
            </a:r>
            <a:endParaRPr lang="ko-KR" altLang="en-US"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Keras</a:t>
            </a:r>
            <a:r>
              <a:rPr lang="en-US" altLang="ko-KR" sz="1600" dirty="0">
                <a:latin typeface="D2Coding" panose="020B0609020101020101" pitchFamily="49" charset="-127"/>
                <a:ea typeface="D2Coding" panose="020B0609020101020101" pitchFamily="49" charset="-127"/>
              </a:rPr>
              <a:t> RNN </a:t>
            </a:r>
            <a:r>
              <a:rPr lang="ko-KR" altLang="en-US" sz="1600" dirty="0">
                <a:latin typeface="D2Coding" panose="020B0609020101020101" pitchFamily="49" charset="-127"/>
                <a:ea typeface="D2Coding" panose="020B0609020101020101" pitchFamily="49" charset="-127"/>
              </a:rPr>
              <a:t>연산을 위해 </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배치 크기</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타임스텝</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특징 차원</a:t>
            </a:r>
            <a:r>
              <a:rPr lang="en-US" altLang="ko-KR" sz="1600" dirty="0">
                <a:latin typeface="D2Coding" panose="020B0609020101020101" pitchFamily="49" charset="-127"/>
                <a:ea typeface="D2Coding" panose="020B0609020101020101" pitchFamily="49" charset="-127"/>
              </a:rPr>
              <a:t>] -&gt; [1, 4, 4] </a:t>
            </a:r>
            <a:r>
              <a:rPr lang="ko-KR" altLang="en-US" sz="1600" dirty="0">
                <a:latin typeface="D2Coding" panose="020B0609020101020101" pitchFamily="49" charset="-127"/>
                <a:ea typeface="D2Coding" panose="020B0609020101020101" pitchFamily="49" charset="-127"/>
              </a:rPr>
              <a:t>형태로 입력 데이터 준비</a:t>
            </a:r>
          </a:p>
          <a:p>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실제 환경에서는 </a:t>
            </a:r>
            <a:r>
              <a:rPr lang="en-US" altLang="ko-KR" sz="1600" dirty="0" err="1">
                <a:latin typeface="D2Coding" panose="020B0609020101020101" pitchFamily="49" charset="-127"/>
                <a:ea typeface="D2Coding" panose="020B0609020101020101" pitchFamily="49" charset="-127"/>
              </a:rPr>
              <a:t>Gensim</a:t>
            </a:r>
            <a:r>
              <a:rPr lang="en-US" altLang="ko-KR" sz="1600" dirty="0">
                <a:latin typeface="D2Coding" panose="020B0609020101020101" pitchFamily="49" charset="-127"/>
                <a:ea typeface="D2Coding" panose="020B0609020101020101" pitchFamily="49" charset="-127"/>
              </a:rPr>
              <a:t> Word2Vec </a:t>
            </a:r>
            <a:r>
              <a:rPr lang="ko-KR" altLang="en-US" sz="1600" dirty="0">
                <a:latin typeface="D2Coding" panose="020B0609020101020101" pitchFamily="49" charset="-127"/>
                <a:ea typeface="D2Coding" panose="020B0609020101020101" pitchFamily="49" charset="-127"/>
              </a:rPr>
              <a:t>결과값이 들어가는 자리</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r>
              <a:rPr lang="en-US" altLang="ko-KR" sz="1600" dirty="0" err="1">
                <a:latin typeface="D2Coding" panose="020B0609020101020101" pitchFamily="49" charset="-127"/>
                <a:ea typeface="D2Coding" panose="020B0609020101020101" pitchFamily="49" charset="-127"/>
              </a:rPr>
              <a:t>X_dummy</a:t>
            </a:r>
            <a:r>
              <a:rPr lang="en-US" altLang="ko-KR" sz="1600" dirty="0">
                <a:latin typeface="D2Coding" panose="020B0609020101020101" pitchFamily="49" charset="-127"/>
                <a:ea typeface="D2Coding" panose="020B0609020101020101" pitchFamily="49" charset="-127"/>
              </a:rPr>
              <a:t> = </a:t>
            </a:r>
            <a:r>
              <a:rPr lang="en-US" altLang="ko-KR" sz="1600" dirty="0" err="1">
                <a:latin typeface="D2Coding" panose="020B0609020101020101" pitchFamily="49" charset="-127"/>
                <a:ea typeface="D2Coding" panose="020B0609020101020101" pitchFamily="49" charset="-127"/>
              </a:rPr>
              <a:t>np.random.rand</a:t>
            </a:r>
            <a:r>
              <a:rPr lang="en-US" altLang="ko-KR" sz="1600" dirty="0">
                <a:latin typeface="D2Coding" panose="020B0609020101020101" pitchFamily="49" charset="-127"/>
                <a:ea typeface="D2Coding" panose="020B0609020101020101" pitchFamily="49" charset="-127"/>
              </a:rPr>
              <a:t>(1,</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timesteps,</a:t>
            </a:r>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input_size</a:t>
            </a:r>
            <a:r>
              <a:rPr lang="en-US" altLang="ko-KR" sz="1600" dirty="0">
                <a:latin typeface="D2Coding" panose="020B0609020101020101" pitchFamily="49" charset="-127"/>
                <a:ea typeface="D2Coding" panose="020B0609020101020101" pitchFamily="49" charset="-127"/>
              </a:rPr>
              <a:t>).</a:t>
            </a:r>
            <a:r>
              <a:rPr lang="en-US" altLang="ko-KR" sz="1600" dirty="0" err="1">
                <a:latin typeface="D2Coding" panose="020B0609020101020101" pitchFamily="49" charset="-127"/>
                <a:ea typeface="D2Coding" panose="020B0609020101020101" pitchFamily="49" charset="-127"/>
              </a:rPr>
              <a:t>astype</a:t>
            </a:r>
            <a:r>
              <a:rPr lang="en-US" altLang="ko-KR" sz="1600" dirty="0">
                <a:latin typeface="D2Coding" panose="020B0609020101020101" pitchFamily="49" charset="-127"/>
                <a:ea typeface="D2Coding" panose="020B0609020101020101" pitchFamily="49" charset="-127"/>
              </a:rPr>
              <a:t>(np.float32)</a:t>
            </a:r>
            <a:endParaRPr lang="ko-KR" altLang="en-US" sz="1600" dirty="0">
              <a:latin typeface="D2Coding" panose="020B0609020101020101" pitchFamily="49" charset="-127"/>
              <a:ea typeface="D2Coding" panose="020B0609020101020101" pitchFamily="49" charset="-127"/>
            </a:endParaRPr>
          </a:p>
          <a:p>
            <a:endParaRPr lang="ko-KR" altLang="en-US"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 2. </a:t>
            </a:r>
            <a:r>
              <a:rPr lang="ko-KR" altLang="en-US" sz="1600" dirty="0">
                <a:latin typeface="D2Coding" panose="020B0609020101020101" pitchFamily="49" charset="-127"/>
                <a:ea typeface="D2Coding" panose="020B0609020101020101" pitchFamily="49" charset="-127"/>
              </a:rPr>
              <a:t>그림 구조를 반영한 </a:t>
            </a:r>
            <a:r>
              <a:rPr lang="en-US" altLang="ko-KR" sz="1600" dirty="0" err="1">
                <a:latin typeface="D2Coding" panose="020B0609020101020101" pitchFamily="49" charset="-127"/>
                <a:ea typeface="D2Coding" panose="020B0609020101020101" pitchFamily="49" charset="-127"/>
              </a:rPr>
              <a:t>Keras</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모델 설계</a:t>
            </a:r>
          </a:p>
          <a:p>
            <a:r>
              <a:rPr lang="en-US" altLang="ko-KR" sz="1600" dirty="0">
                <a:latin typeface="D2Coding" panose="020B0609020101020101" pitchFamily="49" charset="-127"/>
                <a:ea typeface="D2Coding" panose="020B0609020101020101" pitchFamily="49" charset="-127"/>
              </a:rPr>
              <a:t>model = </a:t>
            </a:r>
            <a:r>
              <a:rPr lang="en-US" altLang="ko-KR" sz="1600" dirty="0" err="1">
                <a:latin typeface="D2Coding" panose="020B0609020101020101" pitchFamily="49" charset="-127"/>
                <a:ea typeface="D2Coding" panose="020B0609020101020101" pitchFamily="49" charset="-127"/>
              </a:rPr>
              <a:t>keras.models.Sequential</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keras.layers.SimpleRNN</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units=2,</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 [</a:t>
            </a:r>
            <a:r>
              <a:rPr lang="ko-KR" altLang="en-US" sz="1600" dirty="0" err="1">
                <a:latin typeface="D2Coding" panose="020B0609020101020101" pitchFamily="49" charset="-127"/>
                <a:ea typeface="D2Coding" panose="020B0609020101020101" pitchFamily="49" charset="-127"/>
              </a:rPr>
              <a:t>은닉층</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노드가 </a:t>
            </a:r>
            <a:r>
              <a:rPr lang="en-US" altLang="ko-KR" sz="1600" dirty="0">
                <a:latin typeface="D2Coding" panose="020B0609020101020101" pitchFamily="49" charset="-127"/>
                <a:ea typeface="D2Coding" panose="020B0609020101020101" pitchFamily="49" charset="-127"/>
              </a:rPr>
              <a:t>2</a:t>
            </a:r>
            <a:r>
              <a:rPr lang="ko-KR" altLang="en-US" sz="1600" dirty="0">
                <a:latin typeface="D2Coding" panose="020B0609020101020101" pitchFamily="49" charset="-127"/>
                <a:ea typeface="D2Coding" panose="020B0609020101020101" pitchFamily="49" charset="-127"/>
              </a:rPr>
              <a:t>개 은닉 상태 크기 </a:t>
            </a:r>
            <a:r>
              <a:rPr lang="en-US" altLang="ko-KR" sz="1600" dirty="0">
                <a:latin typeface="D2Coding" panose="020B0609020101020101" pitchFamily="49" charset="-127"/>
                <a:ea typeface="D2Coding" panose="020B0609020101020101" pitchFamily="49" charset="-127"/>
              </a:rPr>
              <a:t>2 (</a:t>
            </a:r>
            <a:r>
              <a:rPr lang="en-US" altLang="ko-KR" sz="1600" dirty="0" err="1">
                <a:latin typeface="D2Coding" panose="020B0609020101020101" pitchFamily="49" charset="-127"/>
                <a:ea typeface="D2Coding" panose="020B0609020101020101" pitchFamily="49" charset="-127"/>
              </a:rPr>
              <a:t>hidden_size</a:t>
            </a:r>
            <a:r>
              <a:rPr lang="en-US" altLang="ko-KR" sz="1600" dirty="0">
                <a:latin typeface="D2Coding" panose="020B0609020101020101" pitchFamily="49" charset="-127"/>
                <a:ea typeface="D2Coding" panose="020B0609020101020101" pitchFamily="49" charset="-127"/>
              </a:rPr>
              <a:t>=2)</a:t>
            </a:r>
            <a:r>
              <a:rPr lang="ko-KR" altLang="en-US" sz="1600" dirty="0">
                <a:latin typeface="D2Coding" panose="020B0609020101020101" pitchFamily="49" charset="-127"/>
                <a:ea typeface="D2Coding" panose="020B0609020101020101" pitchFamily="49" charset="-127"/>
              </a:rPr>
              <a:t>인 </a:t>
            </a:r>
            <a:r>
              <a:rPr lang="en-US" altLang="ko-KR" sz="1600" dirty="0" err="1">
                <a:latin typeface="D2Coding" panose="020B0609020101020101" pitchFamily="49" charset="-127"/>
                <a:ea typeface="D2Coding" panose="020B0609020101020101" pitchFamily="49" charset="-127"/>
              </a:rPr>
              <a:t>SimpleRNN</a:t>
            </a:r>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activation='tanh',</a:t>
            </a:r>
            <a:r>
              <a:rPr lang="ko-KR" altLang="en-US" sz="1600" dirty="0">
                <a:latin typeface="D2Coding" panose="020B0609020101020101" pitchFamily="49" charset="-127"/>
                <a:ea typeface="D2Coding" panose="020B0609020101020101" pitchFamily="49" charset="-127"/>
              </a:rPr>
              <a:t> </a:t>
            </a:r>
          </a:p>
          <a:p>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return_sequences</a:t>
            </a:r>
            <a:r>
              <a:rPr lang="en-US" altLang="ko-KR" sz="1600" dirty="0">
                <a:latin typeface="D2Coding" panose="020B0609020101020101" pitchFamily="49" charset="-127"/>
                <a:ea typeface="D2Coding" panose="020B0609020101020101" pitchFamily="49" charset="-127"/>
              </a:rPr>
              <a:t>=True,</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 time step</a:t>
            </a:r>
            <a:r>
              <a:rPr lang="ko-KR" altLang="en-US" sz="1600" dirty="0">
                <a:latin typeface="D2Coding" panose="020B0609020101020101" pitchFamily="49" charset="-127"/>
                <a:ea typeface="D2Coding" panose="020B0609020101020101" pitchFamily="49" charset="-127"/>
              </a:rPr>
              <a:t>마다 출력이 위로 </a:t>
            </a:r>
            <a:r>
              <a:rPr lang="ko-KR" altLang="en-US" sz="1600" dirty="0" err="1">
                <a:latin typeface="D2Coding" panose="020B0609020101020101" pitchFamily="49" charset="-127"/>
                <a:ea typeface="D2Coding" panose="020B0609020101020101" pitchFamily="49" charset="-127"/>
              </a:rPr>
              <a:t>뻗어나가므로</a:t>
            </a:r>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return_sequences</a:t>
            </a:r>
            <a:r>
              <a:rPr lang="en-US" altLang="ko-KR" sz="1600" dirty="0">
                <a:latin typeface="D2Coding" panose="020B0609020101020101" pitchFamily="49" charset="-127"/>
                <a:ea typeface="D2Coding" panose="020B0609020101020101" pitchFamily="49" charset="-127"/>
              </a:rPr>
              <a:t>=True </a:t>
            </a:r>
            <a:r>
              <a:rPr lang="ko-KR" altLang="en-US" sz="1600" dirty="0">
                <a:latin typeface="D2Coding" panose="020B0609020101020101" pitchFamily="49" charset="-127"/>
                <a:ea typeface="D2Coding" panose="020B0609020101020101" pitchFamily="49" charset="-127"/>
              </a:rPr>
              <a:t>설정</a:t>
            </a:r>
          </a:p>
          <a:p>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input_shape</a:t>
            </a:r>
            <a:r>
              <a:rPr lang="en-US" altLang="ko-KR" sz="1600" dirty="0">
                <a:latin typeface="D2Coding" panose="020B0609020101020101" pitchFamily="49" charset="-127"/>
                <a:ea typeface="D2Coding" panose="020B0609020101020101" pitchFamily="49" charset="-127"/>
              </a:rPr>
              <a:t>=[timesteps,</a:t>
            </a:r>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input_size</a:t>
            </a:r>
            <a:r>
              <a:rPr lang="en-US" altLang="ko-KR" sz="1600" dirty="0">
                <a:latin typeface="D2Coding" panose="020B0609020101020101" pitchFamily="49" charset="-127"/>
                <a:ea typeface="D2Coding" panose="020B0609020101020101" pitchFamily="49" charset="-127"/>
              </a:rPr>
              <a:t>], name="</a:t>
            </a:r>
            <a:r>
              <a:rPr lang="en-US" altLang="ko-KR" sz="1600" dirty="0" err="1">
                <a:latin typeface="D2Coding" panose="020B0609020101020101" pitchFamily="49" charset="-127"/>
                <a:ea typeface="D2Coding" panose="020B0609020101020101" pitchFamily="49" charset="-127"/>
              </a:rPr>
              <a:t>Hidden_Layer</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keras.layers.Dense</a:t>
            </a:r>
            <a:r>
              <a:rPr lang="en-US" altLang="ko-KR" sz="1600" dirty="0">
                <a:latin typeface="D2Coding" panose="020B0609020101020101" pitchFamily="49" charset="-127"/>
                <a:ea typeface="D2Coding" panose="020B0609020101020101" pitchFamily="49" charset="-127"/>
              </a:rPr>
              <a:t>( </a:t>
            </a:r>
            <a:endParaRPr lang="ko-KR" altLang="en-US" sz="1600" dirty="0">
              <a:latin typeface="D2Coding" panose="020B0609020101020101" pitchFamily="49" charset="-127"/>
              <a:ea typeface="D2Coding" panose="020B0609020101020101" pitchFamily="49" charset="-127"/>
            </a:endParaRPr>
          </a:p>
          <a:p>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units=2,</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name="</a:t>
            </a:r>
            <a:r>
              <a:rPr lang="en-US" altLang="ko-KR" sz="1600" dirty="0" err="1">
                <a:latin typeface="D2Coding" panose="020B0609020101020101" pitchFamily="49" charset="-127"/>
                <a:ea typeface="D2Coding" panose="020B0609020101020101" pitchFamily="49" charset="-127"/>
              </a:rPr>
              <a:t>Output_Layer</a:t>
            </a:r>
            <a:r>
              <a:rPr lang="en-US" altLang="ko-KR" sz="1600" dirty="0">
                <a:latin typeface="D2Coding" panose="020B0609020101020101" pitchFamily="49" charset="-127"/>
                <a:ea typeface="D2Coding" panose="020B0609020101020101" pitchFamily="49" charset="-127"/>
              </a:rPr>
              <a:t>“ # [</a:t>
            </a:r>
            <a:r>
              <a:rPr lang="ko-KR" altLang="en-US" sz="1600" dirty="0" err="1">
                <a:latin typeface="D2Coding" panose="020B0609020101020101" pitchFamily="49" charset="-127"/>
                <a:ea typeface="D2Coding" panose="020B0609020101020101" pitchFamily="49" charset="-127"/>
              </a:rPr>
              <a:t>출력층</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각 타임스텝마다 </a:t>
            </a:r>
            <a:r>
              <a:rPr lang="en-US" altLang="ko-KR" sz="1600" dirty="0">
                <a:latin typeface="D2Coding" panose="020B0609020101020101" pitchFamily="49" charset="-127"/>
                <a:ea typeface="D2Coding" panose="020B0609020101020101" pitchFamily="49" charset="-127"/>
              </a:rPr>
              <a:t>2</a:t>
            </a:r>
            <a:r>
              <a:rPr lang="ko-KR" altLang="en-US" sz="1600" dirty="0">
                <a:latin typeface="D2Coding" panose="020B0609020101020101" pitchFamily="49" charset="-127"/>
                <a:ea typeface="D2Coding" panose="020B0609020101020101" pitchFamily="49" charset="-127"/>
              </a:rPr>
              <a:t>차원 </a:t>
            </a:r>
            <a:r>
              <a:rPr lang="ko-KR" altLang="en-US" sz="1600" dirty="0" err="1">
                <a:latin typeface="D2Coding" panose="020B0609020101020101" pitchFamily="49" charset="-127"/>
                <a:ea typeface="D2Coding" panose="020B0609020101020101" pitchFamily="49" charset="-127"/>
              </a:rPr>
              <a:t>출력층</a:t>
            </a:r>
            <a:r>
              <a:rPr lang="en-US" altLang="ko-KR" sz="1600" dirty="0">
                <a:latin typeface="D2Coding" panose="020B0609020101020101" pitchFamily="49" charset="-127"/>
                <a:ea typeface="D2Coding" panose="020B0609020101020101" pitchFamily="49" charset="-127"/>
              </a:rPr>
              <a:t>(units=2)</a:t>
            </a:r>
            <a:r>
              <a:rPr lang="ko-KR" altLang="en-US" sz="1600" dirty="0">
                <a:latin typeface="D2Coding" panose="020B0609020101020101" pitchFamily="49" charset="-127"/>
                <a:ea typeface="D2Coding" panose="020B0609020101020101" pitchFamily="49" charset="-127"/>
              </a:rPr>
              <a:t> 담당하는 전결합층</a:t>
            </a:r>
          </a:p>
          <a:p>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 </a:t>
            </a:r>
            <a:endParaRPr lang="ko-KR" altLang="en-US"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p:txBody>
      </p:sp>
    </p:spTree>
    <p:extLst>
      <p:ext uri="{BB962C8B-B14F-4D97-AF65-F5344CB8AC3E}">
        <p14:creationId xmlns:p14="http://schemas.microsoft.com/office/powerpoint/2010/main" val="3153850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B21CE-0017-41D5-C5F3-274959DE1E64}"/>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1254C28B-4B8A-88A3-DB1F-C0B434866D62}"/>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15</a:t>
            </a:fld>
            <a:endParaRPr lang="en-US" dirty="0"/>
          </a:p>
        </p:txBody>
      </p:sp>
      <p:sp>
        <p:nvSpPr>
          <p:cNvPr id="3" name="제목 1">
            <a:extLst>
              <a:ext uri="{FF2B5EF4-FFF2-40B4-BE49-F238E27FC236}">
                <a16:creationId xmlns:a16="http://schemas.microsoft.com/office/drawing/2014/main" id="{DBE5540E-B1ED-E758-C3DA-E232E4B8C4B3}"/>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 </a:t>
            </a:r>
            <a:r>
              <a:rPr lang="en-US" altLang="ko-KR" sz="2800" cap="none" dirty="0" err="1">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Keras</a:t>
            </a:r>
            <a:r>
              <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 </a:t>
            </a:r>
          </a:p>
        </p:txBody>
      </p:sp>
      <p:sp>
        <p:nvSpPr>
          <p:cNvPr id="7" name="TextBox 6">
            <a:extLst>
              <a:ext uri="{FF2B5EF4-FFF2-40B4-BE49-F238E27FC236}">
                <a16:creationId xmlns:a16="http://schemas.microsoft.com/office/drawing/2014/main" id="{4943FCCB-624B-4533-299B-FEBC47CA44C1}"/>
              </a:ext>
            </a:extLst>
          </p:cNvPr>
          <p:cNvSpPr txBox="1"/>
          <p:nvPr/>
        </p:nvSpPr>
        <p:spPr>
          <a:xfrm>
            <a:off x="660400" y="1335673"/>
            <a:ext cx="11125200" cy="3539430"/>
          </a:xfrm>
          <a:prstGeom prst="rect">
            <a:avLst/>
          </a:prstGeom>
          <a:solidFill>
            <a:schemeClr val="accent6">
              <a:lumMod val="40000"/>
              <a:lumOff val="60000"/>
            </a:schemeClr>
          </a:solidFill>
        </p:spPr>
        <p:txBody>
          <a:bodyPr wrap="square">
            <a:spAutoFit/>
          </a:bodyPr>
          <a:lstStyle/>
          <a:p>
            <a:r>
              <a:rPr lang="en-US" altLang="ko-KR" sz="1600" dirty="0">
                <a:latin typeface="D2Coding" panose="020B0609020101020101" pitchFamily="49" charset="-127"/>
                <a:ea typeface="D2Coding" panose="020B0609020101020101" pitchFamily="49" charset="-127"/>
              </a:rPr>
              <a:t># 3. </a:t>
            </a:r>
            <a:r>
              <a:rPr lang="ko-KR" altLang="en-US" sz="1600" dirty="0">
                <a:latin typeface="D2Coding" panose="020B0609020101020101" pitchFamily="49" charset="-127"/>
                <a:ea typeface="D2Coding" panose="020B0609020101020101" pitchFamily="49" charset="-127"/>
              </a:rPr>
              <a:t>모델 구조 확인 및 예측 수행</a:t>
            </a:r>
          </a:p>
          <a:p>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모델 컴파일 </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학습용 설정을 부여하지만 여기서는 구조 확인 및 순방향 연산만 진행</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r>
              <a:rPr lang="en-US" altLang="ko-KR" sz="1600" dirty="0" err="1">
                <a:latin typeface="D2Coding" panose="020B0609020101020101" pitchFamily="49" charset="-127"/>
                <a:ea typeface="D2Coding" panose="020B0609020101020101" pitchFamily="49" charset="-127"/>
              </a:rPr>
              <a:t>model.compile</a:t>
            </a:r>
            <a:r>
              <a:rPr lang="en-US" altLang="ko-KR" sz="1600" dirty="0">
                <a:latin typeface="D2Coding" panose="020B0609020101020101" pitchFamily="49" charset="-127"/>
                <a:ea typeface="D2Coding" panose="020B0609020101020101" pitchFamily="49" charset="-127"/>
              </a:rPr>
              <a:t>(loss="</a:t>
            </a:r>
            <a:r>
              <a:rPr lang="en-US" altLang="ko-KR" sz="1600" dirty="0" err="1">
                <a:latin typeface="D2Coding" panose="020B0609020101020101" pitchFamily="49" charset="-127"/>
                <a:ea typeface="D2Coding" panose="020B0609020101020101" pitchFamily="49" charset="-127"/>
              </a:rPr>
              <a:t>mse</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optimizer="</a:t>
            </a:r>
            <a:r>
              <a:rPr lang="en-US" altLang="ko-KR" sz="1600" dirty="0" err="1">
                <a:latin typeface="D2Coding" panose="020B0609020101020101" pitchFamily="49" charset="-127"/>
                <a:ea typeface="D2Coding" panose="020B0609020101020101" pitchFamily="49" charset="-127"/>
              </a:rPr>
              <a:t>adam</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br>
              <a:rPr lang="ko-KR" altLang="en-US" sz="1600" dirty="0">
                <a:latin typeface="D2Coding" panose="020B0609020101020101" pitchFamily="49" charset="-127"/>
                <a:ea typeface="D2Coding" panose="020B0609020101020101" pitchFamily="49" charset="-127"/>
              </a:rPr>
            </a:b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가중치</a:t>
            </a:r>
            <a:r>
              <a:rPr lang="en-US" altLang="ko-KR" sz="1600" dirty="0">
                <a:latin typeface="D2Coding" panose="020B0609020101020101" pitchFamily="49" charset="-127"/>
                <a:ea typeface="D2Coding" panose="020B0609020101020101" pitchFamily="49" charset="-127"/>
              </a:rPr>
              <a:t>(Param) </a:t>
            </a:r>
            <a:r>
              <a:rPr lang="ko-KR" altLang="en-US" sz="1600" dirty="0">
                <a:latin typeface="D2Coding" panose="020B0609020101020101" pitchFamily="49" charset="-127"/>
                <a:ea typeface="D2Coding" panose="020B0609020101020101" pitchFamily="49" charset="-127"/>
              </a:rPr>
              <a:t>개수가 그림과 일치하는지 요약 표 출력</a:t>
            </a:r>
          </a:p>
          <a:p>
            <a:r>
              <a:rPr lang="en-US" altLang="ko-KR" sz="1600" dirty="0" err="1">
                <a:latin typeface="D2Coding" panose="020B0609020101020101" pitchFamily="49" charset="-127"/>
                <a:ea typeface="D2Coding" panose="020B0609020101020101" pitchFamily="49" charset="-127"/>
              </a:rPr>
              <a:t>model.summary</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br>
              <a:rPr lang="ko-KR" altLang="en-US" sz="1600" dirty="0">
                <a:latin typeface="D2Coding" panose="020B0609020101020101" pitchFamily="49" charset="-127"/>
                <a:ea typeface="D2Coding" panose="020B0609020101020101" pitchFamily="49" charset="-127"/>
              </a:rPr>
            </a:b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가상 데이터를 모델에 통과시켜 </a:t>
            </a:r>
            <a:r>
              <a:rPr lang="ko-KR" altLang="en-US" sz="1600" dirty="0" err="1">
                <a:latin typeface="D2Coding" panose="020B0609020101020101" pitchFamily="49" charset="-127"/>
                <a:ea typeface="D2Coding" panose="020B0609020101020101" pitchFamily="49" charset="-127"/>
              </a:rPr>
              <a:t>출력값</a:t>
            </a:r>
            <a:r>
              <a:rPr lang="ko-KR" altLang="en-US" sz="1600" dirty="0">
                <a:latin typeface="D2Coding" panose="020B0609020101020101" pitchFamily="49" charset="-127"/>
                <a:ea typeface="D2Coding" panose="020B0609020101020101" pitchFamily="49" charset="-127"/>
              </a:rPr>
              <a:t> 확인</a:t>
            </a:r>
          </a:p>
          <a:p>
            <a:r>
              <a:rPr lang="en-US" altLang="ko-KR" sz="1600" dirty="0">
                <a:latin typeface="D2Coding" panose="020B0609020101020101" pitchFamily="49" charset="-127"/>
                <a:ea typeface="D2Coding" panose="020B0609020101020101" pitchFamily="49" charset="-127"/>
              </a:rPr>
              <a:t>output = </a:t>
            </a:r>
            <a:r>
              <a:rPr lang="en-US" altLang="ko-KR" sz="1600" dirty="0" err="1">
                <a:latin typeface="D2Coding" panose="020B0609020101020101" pitchFamily="49" charset="-127"/>
                <a:ea typeface="D2Coding" panose="020B0609020101020101" pitchFamily="49" charset="-127"/>
              </a:rPr>
              <a:t>model.predict</a:t>
            </a:r>
            <a:r>
              <a:rPr lang="en-US" altLang="ko-KR" sz="1600" dirty="0">
                <a:latin typeface="D2Coding" panose="020B0609020101020101" pitchFamily="49" charset="-127"/>
                <a:ea typeface="D2Coding" panose="020B0609020101020101" pitchFamily="49" charset="-127"/>
              </a:rPr>
              <a:t>(</a:t>
            </a:r>
            <a:r>
              <a:rPr lang="en-US" altLang="ko-KR" sz="1600" dirty="0" err="1">
                <a:latin typeface="D2Coding" panose="020B0609020101020101" pitchFamily="49" charset="-127"/>
                <a:ea typeface="D2Coding" panose="020B0609020101020101" pitchFamily="49" charset="-127"/>
              </a:rPr>
              <a:t>X_dummy</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endParaRPr lang="ko-KR" altLang="en-US"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print("\n=== </a:t>
            </a:r>
            <a:r>
              <a:rPr lang="ko-KR" altLang="en-US" sz="1600" dirty="0">
                <a:latin typeface="D2Coding" panose="020B0609020101020101" pitchFamily="49" charset="-127"/>
                <a:ea typeface="D2Coding" panose="020B0609020101020101" pitchFamily="49" charset="-127"/>
              </a:rPr>
              <a:t>최종 출력 데이터 모양 </a:t>
            </a:r>
            <a:r>
              <a:rPr lang="en-US" altLang="ko-KR" sz="1600" dirty="0">
                <a:latin typeface="D2Coding" panose="020B0609020101020101" pitchFamily="49" charset="-127"/>
                <a:ea typeface="D2Coding" panose="020B0609020101020101" pitchFamily="49" charset="-127"/>
              </a:rPr>
              <a:t>(Output Shape) ===")</a:t>
            </a:r>
            <a:endParaRPr lang="ko-KR" altLang="en-US"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print("</a:t>
            </a:r>
            <a:r>
              <a:rPr lang="ko-KR" altLang="en-US" sz="1600" dirty="0">
                <a:latin typeface="D2Coding" panose="020B0609020101020101" pitchFamily="49" charset="-127"/>
                <a:ea typeface="D2Coding" panose="020B0609020101020101" pitchFamily="49" charset="-127"/>
              </a:rPr>
              <a:t>결과 배열 크기</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 </a:t>
            </a:r>
            <a:r>
              <a:rPr lang="en-US" altLang="ko-KR" sz="1600" dirty="0" err="1">
                <a:latin typeface="D2Coding" panose="020B0609020101020101" pitchFamily="49" charset="-127"/>
                <a:ea typeface="D2Coding" panose="020B0609020101020101" pitchFamily="49" charset="-127"/>
              </a:rPr>
              <a:t>output.shape</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 </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출력 크기</a:t>
            </a:r>
            <a:r>
              <a:rPr lang="en-US" altLang="ko-KR" sz="1600" dirty="0">
                <a:latin typeface="D2Coding" panose="020B0609020101020101" pitchFamily="49" charset="-127"/>
                <a:ea typeface="D2Coding" panose="020B0609020101020101" pitchFamily="49" charset="-127"/>
              </a:rPr>
              <a:t>: (1, 4, 2) -&gt; [</a:t>
            </a:r>
            <a:r>
              <a:rPr lang="ko-KR" altLang="en-US" sz="1600" dirty="0">
                <a:latin typeface="D2Coding" panose="020B0609020101020101" pitchFamily="49" charset="-127"/>
                <a:ea typeface="D2Coding" panose="020B0609020101020101" pitchFamily="49" charset="-127"/>
              </a:rPr>
              <a:t>배치</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타임스텝</a:t>
            </a:r>
            <a:r>
              <a:rPr lang="en-US" altLang="ko-KR" sz="1600" dirty="0">
                <a:latin typeface="D2Coding" panose="020B0609020101020101" pitchFamily="49" charset="-127"/>
                <a:ea typeface="D2Coding" panose="020B0609020101020101" pitchFamily="49" charset="-127"/>
              </a:rPr>
              <a:t>, </a:t>
            </a:r>
            <a:r>
              <a:rPr lang="ko-KR" altLang="en-US" sz="1600" dirty="0">
                <a:latin typeface="D2Coding" panose="020B0609020101020101" pitchFamily="49" charset="-127"/>
                <a:ea typeface="D2Coding" panose="020B0609020101020101" pitchFamily="49" charset="-127"/>
              </a:rPr>
              <a:t>출력차원</a:t>
            </a:r>
            <a:r>
              <a:rPr lang="en-US" altLang="ko-KR" sz="1600" dirty="0">
                <a:latin typeface="D2Coding" panose="020B0609020101020101" pitchFamily="49" charset="-127"/>
                <a:ea typeface="D2Coding" panose="020B0609020101020101" pitchFamily="49" charset="-127"/>
              </a:rPr>
              <a:t>]</a:t>
            </a:r>
            <a:endParaRPr lang="ko-KR" altLang="en-US"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print("\n=== </a:t>
            </a:r>
            <a:r>
              <a:rPr lang="ko-KR" altLang="en-US" sz="1600" dirty="0">
                <a:latin typeface="D2Coding" panose="020B0609020101020101" pitchFamily="49" charset="-127"/>
                <a:ea typeface="D2Coding" panose="020B0609020101020101" pitchFamily="49" charset="-127"/>
              </a:rPr>
              <a:t>실제 출력된 값 </a:t>
            </a:r>
            <a:r>
              <a:rPr lang="en-US" altLang="ko-KR" sz="1600" dirty="0">
                <a:latin typeface="D2Coding" panose="020B0609020101020101" pitchFamily="49" charset="-127"/>
                <a:ea typeface="D2Coding" panose="020B0609020101020101" pitchFamily="49" charset="-127"/>
              </a:rPr>
              <a:t>(</a:t>
            </a:r>
            <a:r>
              <a:rPr lang="ko-KR" altLang="en-US" sz="1600" dirty="0">
                <a:latin typeface="D2Coding" panose="020B0609020101020101" pitchFamily="49" charset="-127"/>
                <a:ea typeface="D2Coding" panose="020B0609020101020101" pitchFamily="49" charset="-127"/>
              </a:rPr>
              <a:t>각 시점별 </a:t>
            </a:r>
            <a:r>
              <a:rPr lang="en-US" altLang="ko-KR" sz="1600" dirty="0">
                <a:latin typeface="D2Coding" panose="020B0609020101020101" pitchFamily="49" charset="-127"/>
                <a:ea typeface="D2Coding" panose="020B0609020101020101" pitchFamily="49" charset="-127"/>
              </a:rPr>
              <a:t>2</a:t>
            </a:r>
            <a:r>
              <a:rPr lang="ko-KR" altLang="en-US" sz="1600" dirty="0">
                <a:latin typeface="D2Coding" panose="020B0609020101020101" pitchFamily="49" charset="-127"/>
                <a:ea typeface="D2Coding" panose="020B0609020101020101" pitchFamily="49" charset="-127"/>
              </a:rPr>
              <a:t>차원 출력</a:t>
            </a:r>
            <a:r>
              <a:rPr lang="en-US" altLang="ko-KR" sz="1600" dirty="0">
                <a:latin typeface="D2Coding" panose="020B0609020101020101" pitchFamily="49" charset="-127"/>
                <a:ea typeface="D2Coding" panose="020B0609020101020101" pitchFamily="49" charset="-127"/>
              </a:rPr>
              <a:t>) ===")</a:t>
            </a:r>
            <a:endParaRPr lang="ko-KR" altLang="en-US" sz="1600" dirty="0">
              <a:latin typeface="D2Coding" panose="020B0609020101020101" pitchFamily="49" charset="-127"/>
              <a:ea typeface="D2Coding" panose="020B0609020101020101" pitchFamily="49" charset="-127"/>
            </a:endParaRPr>
          </a:p>
          <a:p>
            <a:r>
              <a:rPr lang="en-US" altLang="ko-KR" sz="1600" dirty="0">
                <a:latin typeface="D2Coding" panose="020B0609020101020101" pitchFamily="49" charset="-127"/>
                <a:ea typeface="D2Coding" panose="020B0609020101020101" pitchFamily="49" charset="-127"/>
              </a:rPr>
              <a:t>print(output[0])</a:t>
            </a:r>
            <a:endParaRPr lang="ko-KR" altLang="en-US" sz="1600" dirty="0">
              <a:latin typeface="D2Coding" panose="020B0609020101020101" pitchFamily="49" charset="-127"/>
              <a:ea typeface="D2Coding" panose="020B0609020101020101" pitchFamily="49" charset="-127"/>
            </a:endParaRPr>
          </a:p>
        </p:txBody>
      </p:sp>
      <p:sp>
        <p:nvSpPr>
          <p:cNvPr id="5" name="TextBox 4">
            <a:extLst>
              <a:ext uri="{FF2B5EF4-FFF2-40B4-BE49-F238E27FC236}">
                <a16:creationId xmlns:a16="http://schemas.microsoft.com/office/drawing/2014/main" id="{648CC92D-17A2-9E34-52FB-C459AB37BB8C}"/>
              </a:ext>
            </a:extLst>
          </p:cNvPr>
          <p:cNvSpPr txBox="1"/>
          <p:nvPr/>
        </p:nvSpPr>
        <p:spPr>
          <a:xfrm>
            <a:off x="660400" y="5271016"/>
            <a:ext cx="10840720" cy="369332"/>
          </a:xfrm>
          <a:prstGeom prst="rect">
            <a:avLst/>
          </a:prstGeom>
          <a:noFill/>
        </p:spPr>
        <p:txBody>
          <a:bodyPr wrap="square">
            <a:spAutoFit/>
          </a:bodyPr>
          <a:lstStyle/>
          <a:p>
            <a:r>
              <a:rPr lang="en-US" altLang="ko-KR" dirty="0">
                <a:latin typeface="D2Coding" panose="020B0609020101020101" pitchFamily="49" charset="-127"/>
                <a:ea typeface="D2Coding" panose="020B0609020101020101" pitchFamily="49" charset="-127"/>
              </a:rPr>
              <a:t>RNN</a:t>
            </a:r>
            <a:r>
              <a:rPr lang="ko-KR" altLang="en-US" dirty="0">
                <a:latin typeface="D2Coding" panose="020B0609020101020101" pitchFamily="49" charset="-127"/>
                <a:ea typeface="D2Coding" panose="020B0609020101020101" pitchFamily="49" charset="-127"/>
              </a:rPr>
              <a:t> 모델이 추정하여야 하는 </a:t>
            </a:r>
            <a:r>
              <a:rPr lang="en-US" altLang="ko-KR" dirty="0">
                <a:latin typeface="D2Coding" panose="020B0609020101020101" pitchFamily="49" charset="-127"/>
                <a:ea typeface="D2Coding" panose="020B0609020101020101" pitchFamily="49" charset="-127"/>
              </a:rPr>
              <a:t>parameters</a:t>
            </a:r>
            <a:r>
              <a:rPr lang="ko-KR" altLang="en-US" dirty="0">
                <a:latin typeface="D2Coding" panose="020B0609020101020101" pitchFamily="49" charset="-127"/>
                <a:ea typeface="D2Coding" panose="020B0609020101020101" pitchFamily="49" charset="-127"/>
              </a:rPr>
              <a:t>의 개수를 그림과 코드에서 확인하고 토론하자</a:t>
            </a:r>
            <a:endParaRPr lang="ko-KR" altLang="en-US" dirty="0"/>
          </a:p>
        </p:txBody>
      </p:sp>
    </p:spTree>
    <p:extLst>
      <p:ext uri="{BB962C8B-B14F-4D97-AF65-F5344CB8AC3E}">
        <p14:creationId xmlns:p14="http://schemas.microsoft.com/office/powerpoint/2010/main" val="2623032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EBB6F-5205-2B6B-B72B-D2729860EAA7}"/>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2E9DA771-6870-123A-1128-9F853C7FC970}"/>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16</a:t>
            </a:fld>
            <a:endParaRPr lang="en-US" dirty="0"/>
          </a:p>
        </p:txBody>
      </p:sp>
      <p:sp>
        <p:nvSpPr>
          <p:cNvPr id="3" name="제목 1">
            <a:extLst>
              <a:ext uri="{FF2B5EF4-FFF2-40B4-BE49-F238E27FC236}">
                <a16:creationId xmlns:a16="http://schemas.microsoft.com/office/drawing/2014/main" id="{28B72CFF-95F2-13FD-1562-1F1A7BC98859}"/>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026" name="Picture 2">
            <a:extLst>
              <a:ext uri="{FF2B5EF4-FFF2-40B4-BE49-F238E27FC236}">
                <a16:creationId xmlns:a16="http://schemas.microsoft.com/office/drawing/2014/main" id="{CD59038B-7A7C-818F-9D36-304EC0E0430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3814201" y="2412283"/>
            <a:ext cx="3676650" cy="3143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204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FB53F-5797-0BB2-9323-F166DE5B6771}"/>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DBFB5B3E-2733-6F10-C433-7C314850C9FE}"/>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17</a:t>
            </a:fld>
            <a:endParaRPr lang="en-US" dirty="0"/>
          </a:p>
        </p:txBody>
      </p:sp>
      <p:sp>
        <p:nvSpPr>
          <p:cNvPr id="3" name="제목 1">
            <a:extLst>
              <a:ext uri="{FF2B5EF4-FFF2-40B4-BE49-F238E27FC236}">
                <a16:creationId xmlns:a16="http://schemas.microsoft.com/office/drawing/2014/main" id="{C56A9490-8D65-6528-22C1-98B7D508091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1026" name="Picture 2">
            <a:extLst>
              <a:ext uri="{FF2B5EF4-FFF2-40B4-BE49-F238E27FC236}">
                <a16:creationId xmlns:a16="http://schemas.microsoft.com/office/drawing/2014/main" id="{A9EEC3D1-0BD5-4541-4799-448270E1E17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3814201" y="2412283"/>
            <a:ext cx="3676650" cy="3143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3360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55007-CEF4-9FF9-AD96-23D4DEAE2BC5}"/>
            </a:ext>
          </a:extLst>
        </p:cNvPr>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42091B1E-C426-25FD-67B2-B1CF234C6B7A}"/>
              </a:ext>
            </a:extLst>
          </p:cNvPr>
          <p:cNvSpPr>
            <a:spLocks noGrp="1"/>
          </p:cNvSpPr>
          <p:nvPr>
            <p:ph type="sldNum" sz="quarter" idx="12"/>
          </p:nvPr>
        </p:nvSpPr>
        <p:spPr>
          <a:xfrm>
            <a:off x="10514011" y="6036261"/>
            <a:ext cx="753545" cy="365125"/>
          </a:xfrm>
        </p:spPr>
        <p:txBody>
          <a:bodyPr/>
          <a:lstStyle/>
          <a:p>
            <a:fld id="{D57F1E4F-1CFF-5643-939E-217C01CDF565}" type="slidenum">
              <a:rPr lang="en-US" smtClean="0"/>
              <a:pPr/>
              <a:t>18</a:t>
            </a:fld>
            <a:endParaRPr lang="en-US" dirty="0"/>
          </a:p>
        </p:txBody>
      </p:sp>
      <p:sp>
        <p:nvSpPr>
          <p:cNvPr id="3" name="제목 1">
            <a:extLst>
              <a:ext uri="{FF2B5EF4-FFF2-40B4-BE49-F238E27FC236}">
                <a16:creationId xmlns:a16="http://schemas.microsoft.com/office/drawing/2014/main" id="{E0D6649F-76A1-D1C0-6BF8-DF6DCA59B0E8}"/>
              </a:ext>
            </a:extLst>
          </p:cNvPr>
          <p:cNvSpPr txBox="1">
            <a:spLocks/>
          </p:cNvSpPr>
          <p:nvPr/>
        </p:nvSpPr>
        <p:spPr>
          <a:xfrm>
            <a:off x="475645" y="481983"/>
            <a:ext cx="10353762" cy="76643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kern="1200" cap="all" baseline="0">
                <a:solidFill>
                  <a:schemeClr val="tx1"/>
                </a:solidFill>
                <a:effectLst/>
                <a:latin typeface="Batang" panose="02030600000101010101" pitchFamily="18" charset="-127"/>
                <a:ea typeface="Batang" panose="02030600000101010101" pitchFamily="18" charset="-127"/>
                <a:cs typeface="+mj-cs"/>
              </a:defRPr>
            </a:lvl1pPr>
          </a:lstStyle>
          <a:p>
            <a:pPr algn="l"/>
            <a:r>
              <a:rPr lang="en-US" altLang="ko-KR"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rPr>
              <a:t>Recurrent Neural Network (RNN)</a:t>
            </a:r>
            <a:endParaRPr lang="ko-KR" altLang="en-US" sz="2800" cap="none" dirty="0">
              <a:solidFill>
                <a:schemeClr val="bg2">
                  <a:lumMod val="25000"/>
                </a:schemeClr>
              </a:solidFill>
              <a:latin typeface="D2Coding" panose="020B0609020101020101" pitchFamily="49" charset="-127"/>
              <a:ea typeface="D2Coding" panose="020B0609020101020101" pitchFamily="49" charset="-127"/>
              <a:cs typeface="Segoe UI Light" panose="020B0502040204020203" pitchFamily="34" charset="0"/>
            </a:endParaRPr>
          </a:p>
        </p:txBody>
      </p:sp>
      <p:pic>
        <p:nvPicPr>
          <p:cNvPr id="2" name="Picture 4">
            <a:extLst>
              <a:ext uri="{FF2B5EF4-FFF2-40B4-BE49-F238E27FC236}">
                <a16:creationId xmlns:a16="http://schemas.microsoft.com/office/drawing/2014/main" id="{912112BE-FB30-E488-53B7-8D87ECB97B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499" y="1374234"/>
            <a:ext cx="6061090" cy="243074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AF04672-49C0-42E3-A86B-04F8125426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3025" y="3892807"/>
            <a:ext cx="6061091" cy="2596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730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7323_TF10001108_Win32.potx" id="{89E2DA47-811B-41FC-8101-7BA0FB62AE2C}" vid="{0AAAB8A4-2457-4279-BA92-56392840B1F0}"/>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{9FD8D820-F221-4C2D-97F8-71B66FDCF583}TF2989475c-5427-4edb-9ec1-00f4ce72165be756b0ce_win32-2ff1dad8fff0</Template>
  <TotalTime>5948</TotalTime>
  <Words>1839</Words>
  <Application>Microsoft Office PowerPoint</Application>
  <PresentationFormat>와이드스크린</PresentationFormat>
  <Paragraphs>216</Paragraphs>
  <Slides>18</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18</vt:i4>
      </vt:variant>
    </vt:vector>
  </HeadingPairs>
  <TitlesOfParts>
    <vt:vector size="26" baseType="lpstr">
      <vt:lpstr>D2Coding</vt:lpstr>
      <vt:lpstr>맑은 고딕</vt:lpstr>
      <vt:lpstr>바탕</vt:lpstr>
      <vt:lpstr>Arial</vt:lpstr>
      <vt:lpstr>Cambria Math</vt:lpstr>
      <vt:lpstr>Cascadia Code</vt:lpstr>
      <vt:lpstr>Wingdings</vt:lpstr>
      <vt:lpstr>WelcomeDoc</vt:lpstr>
      <vt:lpstr>Text Classification</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조상구</dc:creator>
  <cp:keywords/>
  <cp:lastModifiedBy>Sanggoo Cho</cp:lastModifiedBy>
  <cp:revision>111</cp:revision>
  <dcterms:created xsi:type="dcterms:W3CDTF">2026-04-06T01:00:39Z</dcterms:created>
  <dcterms:modified xsi:type="dcterms:W3CDTF">2026-06-30T14:48:34Z</dcterms:modified>
  <cp:version/>
</cp:coreProperties>
</file>