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1122" r:id="rId3"/>
    <p:sldId id="1134" r:id="rId4"/>
    <p:sldId id="1135" r:id="rId5"/>
    <p:sldId id="1133" r:id="rId6"/>
    <p:sldId id="1125" r:id="rId7"/>
    <p:sldId id="1127" r:id="rId8"/>
    <p:sldId id="1128" r:id="rId9"/>
    <p:sldId id="1123" r:id="rId10"/>
    <p:sldId id="1130" r:id="rId11"/>
    <p:sldId id="1131" r:id="rId12"/>
    <p:sldId id="1129" r:id="rId13"/>
    <p:sldId id="978" r:id="rId14"/>
    <p:sldId id="1121" r:id="rId15"/>
    <p:sldId id="1132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22"/>
            <p14:sldId id="1134"/>
            <p14:sldId id="1135"/>
            <p14:sldId id="1133"/>
            <p14:sldId id="1125"/>
            <p14:sldId id="1127"/>
            <p14:sldId id="1128"/>
            <p14:sldId id="1123"/>
            <p14:sldId id="1130"/>
            <p14:sldId id="1131"/>
            <p14:sldId id="1129"/>
            <p14:sldId id="978"/>
            <p14:sldId id="1121"/>
            <p14:sldId id="113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2026-06-30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079282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2026-06-30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2026-06-30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0" Type="http://schemas.openxmlformats.org/officeDocument/2006/relationships/image" Target="../media/image15.png"/><Relationship Id="rId4" Type="http://schemas.microsoft.com/office/2007/relationships/hdphoto" Target="../media/hdphoto2.wdp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9.png"/><Relationship Id="rId21" Type="http://schemas.openxmlformats.org/officeDocument/2006/relationships/image" Target="../media/image35.png"/><Relationship Id="rId7" Type="http://schemas.openxmlformats.org/officeDocument/2006/relationships/image" Target="../media/image23.png"/><Relationship Id="rId12" Type="http://schemas.microsoft.com/office/2007/relationships/hdphoto" Target="../media/hdphoto2.wdp"/><Relationship Id="rId17" Type="http://schemas.openxmlformats.org/officeDocument/2006/relationships/image" Target="../media/image31.png"/><Relationship Id="rId2" Type="http://schemas.openxmlformats.org/officeDocument/2006/relationships/image" Target="../media/image18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11" Type="http://schemas.openxmlformats.org/officeDocument/2006/relationships/image" Target="../media/image11.png"/><Relationship Id="rId24" Type="http://schemas.openxmlformats.org/officeDocument/2006/relationships/image" Target="../media/image38.png"/><Relationship Id="rId5" Type="http://schemas.openxmlformats.org/officeDocument/2006/relationships/image" Target="../media/image21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10" Type="http://schemas.openxmlformats.org/officeDocument/2006/relationships/image" Target="../media/image26.png"/><Relationship Id="rId19" Type="http://schemas.openxmlformats.org/officeDocument/2006/relationships/image" Target="../media/image33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RNN(Recurrent Neural Network), LSTM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4D45B-52A1-9BAE-B34E-30DEDF5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순서가 중요한 데이터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1AAD7-56D4-58BF-FEAE-D0D8305EA254}"/>
              </a:ext>
            </a:extLst>
          </p:cNvPr>
          <p:cNvSpPr txBox="1"/>
          <p:nvPr/>
        </p:nvSpPr>
        <p:spPr>
          <a:xfrm>
            <a:off x="658811" y="1729061"/>
            <a:ext cx="9855200" cy="9684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0" i="0" dirty="0">
                <a:solidFill>
                  <a:srgbClr val="18181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“Be who you are and say what you feel, because those who mind don't matter, and those who matter don't mind.”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0911C56-8BA1-1A77-1C57-C79246EF5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80" y="3516518"/>
            <a:ext cx="7943922" cy="251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3A4-36DB-F245-2BB0-D8356B9C0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D8800B-CA56-2E83-5A7A-80A20196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1A8E30-B608-7E9F-7E75-95CDFF5EDE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순서가 중요한 데이터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2C74E2C-5185-4FDF-D522-52BB3849D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456157"/>
              </p:ext>
            </p:extLst>
          </p:nvPr>
        </p:nvGraphicFramePr>
        <p:xfrm>
          <a:off x="655955" y="2405063"/>
          <a:ext cx="2859405" cy="39709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46151">
                  <a:extLst>
                    <a:ext uri="{9D8B030D-6E8A-4147-A177-3AD203B41FA5}">
                      <a16:colId xmlns:a16="http://schemas.microsoft.com/office/drawing/2014/main" val="2117216945"/>
                    </a:ext>
                  </a:extLst>
                </a:gridCol>
                <a:gridCol w="846151">
                  <a:extLst>
                    <a:ext uri="{9D8B030D-6E8A-4147-A177-3AD203B41FA5}">
                      <a16:colId xmlns:a16="http://schemas.microsoft.com/office/drawing/2014/main" val="3750196696"/>
                    </a:ext>
                  </a:extLst>
                </a:gridCol>
                <a:gridCol w="1167103">
                  <a:extLst>
                    <a:ext uri="{9D8B030D-6E8A-4147-A177-3AD203B41FA5}">
                      <a16:colId xmlns:a16="http://schemas.microsoft.com/office/drawing/2014/main" val="2368464626"/>
                    </a:ext>
                  </a:extLst>
                </a:gridCol>
              </a:tblGrid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일자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종가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(USD)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1598936081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주차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21.50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2987812900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14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21.30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4067937198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23.00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1509080169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22.50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4225276208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21.30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1924689109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18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21.50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1050048509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21.20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629261681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주차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19.70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3940415727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19.10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3371060323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22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20.20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4247940745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23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19.20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381380880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24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20.60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4231695106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25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20.10</a:t>
                      </a:r>
                      <a:endParaRPr lang="en-US" altLang="ko-KR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2161971217"/>
                  </a:ext>
                </a:extLst>
              </a:tr>
              <a:tr h="2647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　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09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월 </a:t>
                      </a:r>
                      <a:r>
                        <a:rPr lang="en-US" altLang="ko-KR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26</a:t>
                      </a:r>
                      <a:r>
                        <a:rPr lang="ko-KR" altLang="en-US" sz="9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9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19.20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430" marR="6430" marT="6430" marB="0" anchor="ctr"/>
                </a:tc>
                <a:extLst>
                  <a:ext uri="{0D108BD9-81ED-4DB2-BD59-A6C34878D82A}">
                    <a16:rowId xmlns:a16="http://schemas.microsoft.com/office/drawing/2014/main" val="10585831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1682B08-CD59-3A1E-9AE1-1640A4F3ECFB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일자별로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년치 주가가 아래와 같이 있을 때 어떤 식으로 예측이 가능한지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한계는 무엇이고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필요한지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토론하고 주가 예측 방식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가지를 오른쪽 방식으로 제시하라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71D6366-ECCB-4037-D8F7-9766B3557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626" y="2405063"/>
            <a:ext cx="5599614" cy="4205850"/>
          </a:xfrm>
          <a:prstGeom prst="rect">
            <a:avLst/>
          </a:prstGeom>
        </p:spPr>
      </p:pic>
      <p:pic>
        <p:nvPicPr>
          <p:cNvPr id="11" name="그래픽 10" descr="물음표">
            <a:extLst>
              <a:ext uri="{FF2B5EF4-FFF2-40B4-BE49-F238E27FC236}">
                <a16:creationId xmlns:a16="http://schemas.microsoft.com/office/drawing/2014/main" id="{A37A5489-EAC6-4176-D325-AC523BE36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56240" y="2971800"/>
            <a:ext cx="914400" cy="914400"/>
          </a:xfrm>
          <a:prstGeom prst="rect">
            <a:avLst/>
          </a:prstGeom>
        </p:spPr>
      </p:pic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B150B105-D9C4-E76C-1B99-300BC744F8DC}"/>
              </a:ext>
            </a:extLst>
          </p:cNvPr>
          <p:cNvSpPr/>
          <p:nvPr/>
        </p:nvSpPr>
        <p:spPr>
          <a:xfrm>
            <a:off x="3881120" y="3556000"/>
            <a:ext cx="777688" cy="985520"/>
          </a:xfrm>
          <a:prstGeom prst="stripedRightArrow">
            <a:avLst>
              <a:gd name="adj1" fmla="val 6443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9F955C-5EBE-00F4-6BD3-25B7D293FF8A}"/>
              </a:ext>
            </a:extLst>
          </p:cNvPr>
          <p:cNvSpPr txBox="1"/>
          <p:nvPr/>
        </p:nvSpPr>
        <p:spPr>
          <a:xfrm>
            <a:off x="4914397" y="215926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Hands-On_Machine_Learning_with_Scikit-Learn-Keras-and-TensorFlow</a:t>
            </a:r>
          </a:p>
        </p:txBody>
      </p:sp>
    </p:spTree>
    <p:extLst>
      <p:ext uri="{BB962C8B-B14F-4D97-AF65-F5344CB8AC3E}">
        <p14:creationId xmlns:p14="http://schemas.microsoft.com/office/powerpoint/2010/main" val="1679317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A55FA-C15E-7045-0184-107FFD09B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4706C-F3C3-2E7B-38B5-A4331501D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FB320A-513B-9C78-38F1-6C5DD6423E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1783B4A-BD11-A89E-13E5-3A2E8656B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588" y="2594536"/>
            <a:ext cx="3032880" cy="9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BF7DD33-BE64-686A-729E-BB691AA4C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3614" y="2053941"/>
            <a:ext cx="6760798" cy="3127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813771-5B66-A344-79F0-1F59759E94C1}"/>
              </a:ext>
            </a:extLst>
          </p:cNvPr>
          <p:cNvSpPr txBox="1"/>
          <p:nvPr/>
        </p:nvSpPr>
        <p:spPr>
          <a:xfrm>
            <a:off x="1506609" y="3777734"/>
            <a:ext cx="14748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Memory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</a:p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FE149D-72F1-5FF1-97A0-EF220E0C75FC}"/>
              </a:ext>
            </a:extLst>
          </p:cNvPr>
          <p:cNvSpPr txBox="1"/>
          <p:nvPr/>
        </p:nvSpPr>
        <p:spPr>
          <a:xfrm>
            <a:off x="6735096" y="5287198"/>
            <a:ext cx="4827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	am	  your		      father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F75BC3-7442-2D30-F561-C46CE62ACA9A}"/>
              </a:ext>
            </a:extLst>
          </p:cNvPr>
          <p:cNvSpPr txBox="1"/>
          <p:nvPr/>
        </p:nvSpPr>
        <p:spPr>
          <a:xfrm>
            <a:off x="6754761" y="5666929"/>
            <a:ext cx="4827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t-3	t-2	  t-1		      t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5F1669-9C47-2186-A6CE-09B429D88EF4}"/>
              </a:ext>
            </a:extLst>
          </p:cNvPr>
          <p:cNvSpPr txBox="1"/>
          <p:nvPr/>
        </p:nvSpPr>
        <p:spPr>
          <a:xfrm>
            <a:off x="609600" y="1238250"/>
            <a:ext cx="1097280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혹은 주가와 같이 순서가 중요한 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과거를 기억해야 함</a:t>
            </a:r>
          </a:p>
        </p:txBody>
      </p:sp>
    </p:spTree>
    <p:extLst>
      <p:ext uri="{BB962C8B-B14F-4D97-AF65-F5344CB8AC3E}">
        <p14:creationId xmlns:p14="http://schemas.microsoft.com/office/powerpoint/2010/main" val="179892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9C2A-2C44-40F0-2338-605399610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DDC161-4693-0F50-FD2C-C6BEDB68B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ED9C4A-95FD-32A2-76B6-6A8A1C8088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F29F4F-24C9-9839-8541-1432B5B03EF5}"/>
                  </a:ext>
                </a:extLst>
              </p:cNvPr>
              <p:cNvSpPr txBox="1"/>
              <p:nvPr/>
            </p:nvSpPr>
            <p:spPr>
              <a:xfrm>
                <a:off x="609599" y="1238250"/>
                <a:ext cx="11257043" cy="7914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Feature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은닉상태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크기가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통과시켜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출력 층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개인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RNN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구조는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Hidden Layer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Hidden Layer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가는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Hidden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Output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가는 화살표를 </a:t>
                </a:r>
                <a14:m>
                  <m:oMath xmlns:m="http://schemas.openxmlformats.org/officeDocument/2006/math">
                    <m:r>
                      <a:rPr lang="en-US" altLang="ko-KR" sz="1600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(Weights)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14:m>
                  <m:oMath xmlns:m="http://schemas.openxmlformats.org/officeDocument/2006/math"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Node(layer)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행렬식 형태로 표현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F29F4F-24C9-9839-8541-1432B5B03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" y="1238250"/>
                <a:ext cx="11257043" cy="791499"/>
              </a:xfrm>
              <a:prstGeom prst="rect">
                <a:avLst/>
              </a:prstGeom>
              <a:blipFill>
                <a:blip r:embed="rId2"/>
                <a:stretch>
                  <a:fillRect l="-271" r="-1029" b="-84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4" name="Picture 4">
            <a:extLst>
              <a:ext uri="{FF2B5EF4-FFF2-40B4-BE49-F238E27FC236}">
                <a16:creationId xmlns:a16="http://schemas.microsoft.com/office/drawing/2014/main" id="{8D3044CE-ABBC-4FFC-BD47-C78396D66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2089" y="2927487"/>
            <a:ext cx="1444554" cy="230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43789A1-1AE1-7F18-B16E-22EAF9660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91" y="2927487"/>
            <a:ext cx="2569373" cy="2325224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AF6AED0D-A629-B977-7EAD-E0994F379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2976" y="2927487"/>
            <a:ext cx="5053824" cy="229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45CF377-C6C3-A826-7537-E3D9E7874ED8}"/>
              </a:ext>
            </a:extLst>
          </p:cNvPr>
          <p:cNvSpPr txBox="1"/>
          <p:nvPr/>
        </p:nvSpPr>
        <p:spPr>
          <a:xfrm>
            <a:off x="8795270" y="4903436"/>
            <a:ext cx="1626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5604D3-0827-D659-1A3B-14E7D2E971BA}"/>
              </a:ext>
            </a:extLst>
          </p:cNvPr>
          <p:cNvSpPr txBox="1"/>
          <p:nvPr/>
        </p:nvSpPr>
        <p:spPr>
          <a:xfrm>
            <a:off x="8795270" y="3967749"/>
            <a:ext cx="1626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EFDF52-B735-6C52-2BE9-30037DEC18F1}"/>
              </a:ext>
            </a:extLst>
          </p:cNvPr>
          <p:cNvSpPr txBox="1"/>
          <p:nvPr/>
        </p:nvSpPr>
        <p:spPr>
          <a:xfrm>
            <a:off x="8795271" y="3037648"/>
            <a:ext cx="16268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06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5B8A-C84C-7FBC-FC84-2084577BB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080FFC-FC8C-595E-7C4B-2788C99CE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A9C1A4-67AE-0091-A0D0-D992B8417B0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D5E40E-135E-FF44-DC9E-5C1339EE23B8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개이고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4(4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벡터로 단어를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단어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(time step 4)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연속으로 은닉상태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통과시키고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층이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635D0560-3CCD-D828-5695-703F5BD21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834" y="2360628"/>
            <a:ext cx="7643677" cy="3471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CB8E1BB4-BE33-F6A1-2B2A-3550C0CEBD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304713"/>
              </p:ext>
            </p:extLst>
          </p:nvPr>
        </p:nvGraphicFramePr>
        <p:xfrm>
          <a:off x="9108396" y="2950204"/>
          <a:ext cx="609600" cy="6214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4800">
                  <a:extLst>
                    <a:ext uri="{9D8B030D-6E8A-4147-A177-3AD203B41FA5}">
                      <a16:colId xmlns:a16="http://schemas.microsoft.com/office/drawing/2014/main" val="2770069485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3470035491"/>
                    </a:ext>
                  </a:extLst>
                </a:gridCol>
              </a:tblGrid>
              <a:tr h="310727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1459310"/>
                  </a:ext>
                </a:extLst>
              </a:tr>
              <a:tr h="310727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61973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137ADF-6CB3-B86E-4942-B14CA6568D82}"/>
                  </a:ext>
                </a:extLst>
              </p:cNvPr>
              <p:cNvSpPr txBox="1"/>
              <p:nvPr/>
            </p:nvSpPr>
            <p:spPr>
              <a:xfrm>
                <a:off x="519099" y="4827811"/>
                <a:ext cx="30168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D137ADF-6CB3-B86E-4942-B14CA6568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99" y="4827811"/>
                <a:ext cx="301685" cy="307777"/>
              </a:xfrm>
              <a:prstGeom prst="rect">
                <a:avLst/>
              </a:prstGeom>
              <a:blipFill>
                <a:blip r:embed="rId5"/>
                <a:stretch>
                  <a:fillRect l="-8000" r="-2000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F06342A-37B3-9415-D525-46B94B9F427A}"/>
                  </a:ext>
                </a:extLst>
              </p:cNvPr>
              <p:cNvSpPr txBox="1"/>
              <p:nvPr/>
            </p:nvSpPr>
            <p:spPr>
              <a:xfrm>
                <a:off x="970129" y="3746122"/>
                <a:ext cx="47065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F06342A-37B3-9415-D525-46B94B9F4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129" y="3746122"/>
                <a:ext cx="470657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3882C-3868-43AA-696B-8DFC83771771}"/>
                  </a:ext>
                </a:extLst>
              </p:cNvPr>
              <p:cNvSpPr txBox="1"/>
              <p:nvPr/>
            </p:nvSpPr>
            <p:spPr>
              <a:xfrm>
                <a:off x="4297680" y="3774948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3882C-3868-43AA-696B-8DFC83771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0" y="3774948"/>
                <a:ext cx="427938" cy="276999"/>
              </a:xfrm>
              <a:prstGeom prst="rect">
                <a:avLst/>
              </a:prstGeom>
              <a:blipFill>
                <a:blip r:embed="rId7"/>
                <a:stretch>
                  <a:fillRect l="-12857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A1DDA6-2F84-5A9C-F4B1-0CCDBAFABC5C}"/>
                  </a:ext>
                </a:extLst>
              </p:cNvPr>
              <p:cNvSpPr txBox="1"/>
              <p:nvPr/>
            </p:nvSpPr>
            <p:spPr>
              <a:xfrm>
                <a:off x="9242572" y="3240611"/>
                <a:ext cx="341247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0A1DDA6-2F84-5A9C-F4B1-0CCDBAFAB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2572" y="3240611"/>
                <a:ext cx="341247" cy="298928"/>
              </a:xfrm>
              <a:prstGeom prst="rect">
                <a:avLst/>
              </a:prstGeom>
              <a:blipFill>
                <a:blip r:embed="rId8"/>
                <a:stretch>
                  <a:fillRect l="-8929" r="-5357" b="-183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5534E30-766A-C751-6FB0-889841807268}"/>
                  </a:ext>
                </a:extLst>
              </p:cNvPr>
              <p:cNvSpPr txBox="1"/>
              <p:nvPr/>
            </p:nvSpPr>
            <p:spPr>
              <a:xfrm>
                <a:off x="7745976" y="3769174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5534E30-766A-C751-6FB0-889841807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5976" y="3769174"/>
                <a:ext cx="278538" cy="276999"/>
              </a:xfrm>
              <a:prstGeom prst="rect">
                <a:avLst/>
              </a:prstGeom>
              <a:blipFill>
                <a:blip r:embed="rId9"/>
                <a:stretch>
                  <a:fillRect l="-20000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F3179C1-D380-E74F-C961-95BF46AADDF4}"/>
                  </a:ext>
                </a:extLst>
              </p:cNvPr>
              <p:cNvSpPr txBox="1"/>
              <p:nvPr/>
            </p:nvSpPr>
            <p:spPr>
              <a:xfrm>
                <a:off x="7751362" y="2544175"/>
                <a:ext cx="2731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F3179C1-D380-E74F-C961-95BF46AAD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1362" y="2544175"/>
                <a:ext cx="273152" cy="276999"/>
              </a:xfrm>
              <a:prstGeom prst="rect">
                <a:avLst/>
              </a:prstGeom>
              <a:blipFill>
                <a:blip r:embed="rId10"/>
                <a:stretch>
                  <a:fillRect l="-20455" r="-2273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708158-DCA9-7ADF-F7AC-EEBC25E8423A}"/>
                  </a:ext>
                </a:extLst>
              </p:cNvPr>
              <p:cNvSpPr txBox="1"/>
              <p:nvPr/>
            </p:nvSpPr>
            <p:spPr>
              <a:xfrm>
                <a:off x="4375073" y="2524242"/>
                <a:ext cx="4225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708158-DCA9-7ADF-F7AC-EEBC25E84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073" y="2524242"/>
                <a:ext cx="422552" cy="276999"/>
              </a:xfrm>
              <a:prstGeom prst="rect">
                <a:avLst/>
              </a:prstGeom>
              <a:blipFill>
                <a:blip r:embed="rId11"/>
                <a:stretch>
                  <a:fillRect l="-13043" r="-289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80D53809-1EA1-397D-A0AF-9BF8E63442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169506"/>
              </p:ext>
            </p:extLst>
          </p:nvPr>
        </p:nvGraphicFramePr>
        <p:xfrm>
          <a:off x="954647" y="4970052"/>
          <a:ext cx="1229360" cy="127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276603007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3528642995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557935277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5792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980248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855DECCA-DD62-5FE0-DB28-B0E19360D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630359"/>
              </p:ext>
            </p:extLst>
          </p:nvPr>
        </p:nvGraphicFramePr>
        <p:xfrm>
          <a:off x="1892936" y="3946177"/>
          <a:ext cx="130048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861684232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3741848416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D9F6D6F3-1278-7B61-0416-547D05D5E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024682"/>
              </p:ext>
            </p:extLst>
          </p:nvPr>
        </p:nvGraphicFramePr>
        <p:xfrm>
          <a:off x="5848014" y="3640721"/>
          <a:ext cx="65024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75B8952-2952-53CB-AEF3-60B4D02FC038}"/>
                  </a:ext>
                </a:extLst>
              </p:cNvPr>
              <p:cNvSpPr txBox="1"/>
              <p:nvPr/>
            </p:nvSpPr>
            <p:spPr>
              <a:xfrm>
                <a:off x="5976433" y="3907673"/>
                <a:ext cx="47468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75B8952-2952-53CB-AEF3-60B4D02FC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6433" y="3907673"/>
                <a:ext cx="474682" cy="400110"/>
              </a:xfrm>
              <a:prstGeom prst="rect">
                <a:avLst/>
              </a:prstGeom>
              <a:blipFill>
                <a:blip r:embed="rId12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2BF066C1-0DB4-8091-CAD6-8E09A03DF6C2}"/>
              </a:ext>
            </a:extLst>
          </p:cNvPr>
          <p:cNvSpPr txBox="1"/>
          <p:nvPr/>
        </p:nvSpPr>
        <p:spPr>
          <a:xfrm>
            <a:off x="3460673" y="5466267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1</a:t>
            </a:r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6C792020-F87E-2D5A-C317-CEC6108C9734}"/>
              </a:ext>
            </a:extLst>
          </p:cNvPr>
          <p:cNvSpPr/>
          <p:nvPr/>
        </p:nvSpPr>
        <p:spPr>
          <a:xfrm>
            <a:off x="956859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3EA45E8-0251-716A-843F-CF3F6D75230A}"/>
              </a:ext>
            </a:extLst>
          </p:cNvPr>
          <p:cNvSpPr/>
          <p:nvPr/>
        </p:nvSpPr>
        <p:spPr>
          <a:xfrm>
            <a:off x="1266083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A2D7B1B-FF82-5CCC-ED64-9E3E67BAAEA1}"/>
              </a:ext>
            </a:extLst>
          </p:cNvPr>
          <p:cNvSpPr/>
          <p:nvPr/>
        </p:nvSpPr>
        <p:spPr>
          <a:xfrm>
            <a:off x="1568671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0F9560F-F2E8-97AA-62B8-B99312B01366}"/>
              </a:ext>
            </a:extLst>
          </p:cNvPr>
          <p:cNvSpPr/>
          <p:nvPr/>
        </p:nvSpPr>
        <p:spPr>
          <a:xfrm>
            <a:off x="1880112" y="4970052"/>
            <a:ext cx="301685" cy="12761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FA8AD3-2B84-4ABB-7977-0990BA071B03}"/>
              </a:ext>
            </a:extLst>
          </p:cNvPr>
          <p:cNvSpPr txBox="1"/>
          <p:nvPr/>
        </p:nvSpPr>
        <p:spPr>
          <a:xfrm>
            <a:off x="7391665" y="5468638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2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CB41B7-F4B6-8C01-70B9-FBC9C8020C38}"/>
              </a:ext>
            </a:extLst>
          </p:cNvPr>
          <p:cNvSpPr txBox="1"/>
          <p:nvPr/>
        </p:nvSpPr>
        <p:spPr>
          <a:xfrm>
            <a:off x="8683536" y="5836180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3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2BF125-F8E1-719C-FD52-55A2E53B7C20}"/>
              </a:ext>
            </a:extLst>
          </p:cNvPr>
          <p:cNvSpPr txBox="1"/>
          <p:nvPr/>
        </p:nvSpPr>
        <p:spPr>
          <a:xfrm>
            <a:off x="9138876" y="6198503"/>
            <a:ext cx="1527887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time step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2543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908E5-BAC8-BC6A-C512-0418B5A86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BB9591-FBE7-E7AA-BC75-BCB04A80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860835-EAE0-AFC4-6B3F-DA815DFC2A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6356E7-5150-F064-B9F8-EAAC82B1A70A}"/>
              </a:ext>
            </a:extLst>
          </p:cNvPr>
          <p:cNvSpPr txBox="1"/>
          <p:nvPr/>
        </p:nvSpPr>
        <p:spPr>
          <a:xfrm>
            <a:off x="609600" y="1238250"/>
            <a:ext cx="1097280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(Word2vector),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은닉상태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층이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40DC59A-443D-D41E-CA5F-BCAD8D5A4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595330"/>
              </p:ext>
            </p:extLst>
          </p:nvPr>
        </p:nvGraphicFramePr>
        <p:xfrm>
          <a:off x="2687169" y="2197339"/>
          <a:ext cx="1229360" cy="127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276603007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3528642995"/>
                    </a:ext>
                  </a:extLst>
                </a:gridCol>
                <a:gridCol w="307340">
                  <a:extLst>
                    <a:ext uri="{9D8B030D-6E8A-4147-A177-3AD203B41FA5}">
                      <a16:colId xmlns:a16="http://schemas.microsoft.com/office/drawing/2014/main" val="1557935277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5792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980248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D6CE9D8-BC19-0044-BF95-9567B989C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433813"/>
              </p:ext>
            </p:extLst>
          </p:nvPr>
        </p:nvGraphicFramePr>
        <p:xfrm>
          <a:off x="782712" y="2197339"/>
          <a:ext cx="130048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861684232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3741848416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68B7BA1-0540-A4F7-6FD5-87D4BA9C7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85662"/>
              </p:ext>
            </p:extLst>
          </p:nvPr>
        </p:nvGraphicFramePr>
        <p:xfrm>
          <a:off x="1138312" y="4041633"/>
          <a:ext cx="65024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DDDDCD-7F79-E5EA-2D33-AE9DCAFBF668}"/>
                  </a:ext>
                </a:extLst>
              </p:cNvPr>
              <p:cNvSpPr txBox="1"/>
              <p:nvPr/>
            </p:nvSpPr>
            <p:spPr>
              <a:xfrm>
                <a:off x="1195611" y="3608504"/>
                <a:ext cx="47468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7DDDDCD-7F79-E5EA-2D33-AE9DCAFBF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611" y="3608504"/>
                <a:ext cx="474682" cy="400110"/>
              </a:xfrm>
              <a:prstGeom prst="rect">
                <a:avLst/>
              </a:prstGeom>
              <a:blipFill>
                <a:blip r:embed="rId2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0852410-3665-3AF5-7BA6-5D4FF14325BD}"/>
                  </a:ext>
                </a:extLst>
              </p:cNvPr>
              <p:cNvSpPr txBox="1"/>
              <p:nvPr/>
            </p:nvSpPr>
            <p:spPr>
              <a:xfrm>
                <a:off x="2683646" y="1764210"/>
                <a:ext cx="2714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0852410-3665-3AF5-7BA6-5D4FF1432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3646" y="1764210"/>
                <a:ext cx="271485" cy="276999"/>
              </a:xfrm>
              <a:prstGeom prst="rect">
                <a:avLst/>
              </a:prstGeom>
              <a:blipFill>
                <a:blip r:embed="rId3"/>
                <a:stretch>
                  <a:fillRect l="-11111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EEA293-D9DC-B736-D126-36D90CFA7122}"/>
                  </a:ext>
                </a:extLst>
              </p:cNvPr>
              <p:cNvSpPr txBox="1"/>
              <p:nvPr/>
            </p:nvSpPr>
            <p:spPr>
              <a:xfrm>
                <a:off x="1203224" y="1703250"/>
                <a:ext cx="470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EEA293-D9DC-B736-D126-36D90CFA7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224" y="1703250"/>
                <a:ext cx="47065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D5D2BF3-FDDA-C0C3-445E-9E99F5215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346322"/>
              </p:ext>
            </p:extLst>
          </p:nvPr>
        </p:nvGraphicFramePr>
        <p:xfrm>
          <a:off x="4030496" y="4041633"/>
          <a:ext cx="307340" cy="63805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D57C11-B913-4972-6C14-34378DBCC0B9}"/>
                  </a:ext>
                </a:extLst>
              </p:cNvPr>
              <p:cNvSpPr txBox="1"/>
              <p:nvPr/>
            </p:nvSpPr>
            <p:spPr>
              <a:xfrm>
                <a:off x="4926991" y="1764210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D57C11-B913-4972-6C14-34378DBCC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991" y="1764210"/>
                <a:ext cx="427938" cy="276999"/>
              </a:xfrm>
              <a:prstGeom prst="rect">
                <a:avLst/>
              </a:prstGeom>
              <a:blipFill>
                <a:blip r:embed="rId5"/>
                <a:stretch>
                  <a:fillRect l="-12857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순서도: 가산 접합 18">
            <a:extLst>
              <a:ext uri="{FF2B5EF4-FFF2-40B4-BE49-F238E27FC236}">
                <a16:creationId xmlns:a16="http://schemas.microsoft.com/office/drawing/2014/main" id="{FE81C75C-FAA9-59CE-DCB6-8053C23F623B}"/>
              </a:ext>
            </a:extLst>
          </p:cNvPr>
          <p:cNvSpPr/>
          <p:nvPr/>
        </p:nvSpPr>
        <p:spPr>
          <a:xfrm>
            <a:off x="2237860" y="2408317"/>
            <a:ext cx="294640" cy="294640"/>
          </a:xfrm>
          <a:prstGeom prst="flowChartSummingJunction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순서도: 논리합 19">
            <a:extLst>
              <a:ext uri="{FF2B5EF4-FFF2-40B4-BE49-F238E27FC236}">
                <a16:creationId xmlns:a16="http://schemas.microsoft.com/office/drawing/2014/main" id="{2364B99B-5AB1-9A21-4850-A88EFF597C17}"/>
              </a:ext>
            </a:extLst>
          </p:cNvPr>
          <p:cNvSpPr/>
          <p:nvPr/>
        </p:nvSpPr>
        <p:spPr>
          <a:xfrm>
            <a:off x="3473965" y="4252611"/>
            <a:ext cx="294640" cy="294640"/>
          </a:xfrm>
          <a:prstGeom prst="flowChartO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같음 기호 20">
            <a:extLst>
              <a:ext uri="{FF2B5EF4-FFF2-40B4-BE49-F238E27FC236}">
                <a16:creationId xmlns:a16="http://schemas.microsoft.com/office/drawing/2014/main" id="{BFD17BF5-608C-3E5C-B5EC-EB6DF74CEB6E}"/>
              </a:ext>
            </a:extLst>
          </p:cNvPr>
          <p:cNvSpPr/>
          <p:nvPr/>
        </p:nvSpPr>
        <p:spPr>
          <a:xfrm>
            <a:off x="4521200" y="2408317"/>
            <a:ext cx="363069" cy="29464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CDAF90-0B0F-907A-03C3-CFB31430CA99}"/>
                  </a:ext>
                </a:extLst>
              </p:cNvPr>
              <p:cNvSpPr txBox="1"/>
              <p:nvPr/>
            </p:nvSpPr>
            <p:spPr>
              <a:xfrm>
                <a:off x="2737552" y="3675945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DCDAF90-0B0F-907A-03C3-CFB31430C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7552" y="3675945"/>
                <a:ext cx="427938" cy="276999"/>
              </a:xfrm>
              <a:prstGeom prst="rect">
                <a:avLst/>
              </a:prstGeom>
              <a:blipFill>
                <a:blip r:embed="rId6"/>
                <a:stretch>
                  <a:fillRect l="-12857" r="-285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순서도: 가산 접합 23">
            <a:extLst>
              <a:ext uri="{FF2B5EF4-FFF2-40B4-BE49-F238E27FC236}">
                <a16:creationId xmlns:a16="http://schemas.microsoft.com/office/drawing/2014/main" id="{ED03317E-A135-31DF-F2E7-F288F82F9227}"/>
              </a:ext>
            </a:extLst>
          </p:cNvPr>
          <p:cNvSpPr/>
          <p:nvPr/>
        </p:nvSpPr>
        <p:spPr>
          <a:xfrm>
            <a:off x="2262721" y="4277561"/>
            <a:ext cx="294640" cy="294640"/>
          </a:xfrm>
          <a:prstGeom prst="flowChartSummingJunction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5C29DD75-FB1E-4EE5-EC35-670DF0ACA3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324450"/>
              </p:ext>
            </p:extLst>
          </p:nvPr>
        </p:nvGraphicFramePr>
        <p:xfrm>
          <a:off x="4987290" y="2197339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B5166C1-0195-5C1B-3CE8-AF4FD70051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196501"/>
              </p:ext>
            </p:extLst>
          </p:nvPr>
        </p:nvGraphicFramePr>
        <p:xfrm>
          <a:off x="2797190" y="4041633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p:pic>
        <p:nvPicPr>
          <p:cNvPr id="27" name="그림 26">
            <a:extLst>
              <a:ext uri="{FF2B5EF4-FFF2-40B4-BE49-F238E27FC236}">
                <a16:creationId xmlns:a16="http://schemas.microsoft.com/office/drawing/2014/main" id="{AA1BC45D-E8DE-16E6-F8E2-456C182DE0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279" y="4667559"/>
            <a:ext cx="2556319" cy="31335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8F8435F3-C329-FEC4-D8AF-19CE99BF22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1373" y="6109899"/>
            <a:ext cx="1633171" cy="3479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629CE78-FDC8-65B9-52B5-879A9C15EE75}"/>
                  </a:ext>
                </a:extLst>
              </p:cNvPr>
              <p:cNvSpPr txBox="1"/>
              <p:nvPr/>
            </p:nvSpPr>
            <p:spPr>
              <a:xfrm>
                <a:off x="4989890" y="3659304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629CE78-FDC8-65B9-52B5-879A9C15E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90" y="3659304"/>
                <a:ext cx="278538" cy="276999"/>
              </a:xfrm>
              <a:prstGeom prst="rect">
                <a:avLst/>
              </a:prstGeom>
              <a:blipFill>
                <a:blip r:embed="rId9"/>
                <a:stretch>
                  <a:fillRect l="-20000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같음 기호 29">
            <a:extLst>
              <a:ext uri="{FF2B5EF4-FFF2-40B4-BE49-F238E27FC236}">
                <a16:creationId xmlns:a16="http://schemas.microsoft.com/office/drawing/2014/main" id="{99E4A0D5-DD49-CEE2-F71E-46E13057EDA5}"/>
              </a:ext>
            </a:extLst>
          </p:cNvPr>
          <p:cNvSpPr/>
          <p:nvPr/>
        </p:nvSpPr>
        <p:spPr>
          <a:xfrm>
            <a:off x="4523139" y="4252611"/>
            <a:ext cx="363069" cy="29464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D1674F95-9316-7004-ED19-3438283B8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817283"/>
              </p:ext>
            </p:extLst>
          </p:nvPr>
        </p:nvGraphicFramePr>
        <p:xfrm>
          <a:off x="5009549" y="4041633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BA6BDEE-5A08-E14D-7476-D69CB8B6C1BE}"/>
                  </a:ext>
                </a:extLst>
              </p:cNvPr>
              <p:cNvSpPr txBox="1"/>
              <p:nvPr/>
            </p:nvSpPr>
            <p:spPr>
              <a:xfrm>
                <a:off x="4023868" y="3638005"/>
                <a:ext cx="2982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BA6BDEE-5A08-E14D-7476-D69CB8B6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868" y="3638005"/>
                <a:ext cx="298287" cy="276999"/>
              </a:xfrm>
              <a:prstGeom prst="rect">
                <a:avLst/>
              </a:prstGeom>
              <a:blipFill>
                <a:blip r:embed="rId10"/>
                <a:stretch>
                  <a:fillRect l="-18367" r="-4082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Picture 2">
            <a:extLst>
              <a:ext uri="{FF2B5EF4-FFF2-40B4-BE49-F238E27FC236}">
                <a16:creationId xmlns:a16="http://schemas.microsoft.com/office/drawing/2014/main" id="{A2B8F125-5A85-CE1C-3F8D-08F6A6F27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164" y="2459837"/>
            <a:ext cx="6367515" cy="289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2E2A3DAF-452D-FF73-8564-AF709C70F3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534732"/>
              </p:ext>
            </p:extLst>
          </p:nvPr>
        </p:nvGraphicFramePr>
        <p:xfrm>
          <a:off x="1138312" y="5495306"/>
          <a:ext cx="650240" cy="63161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25120">
                  <a:extLst>
                    <a:ext uri="{9D8B030D-6E8A-4147-A177-3AD203B41FA5}">
                      <a16:colId xmlns:a16="http://schemas.microsoft.com/office/drawing/2014/main" val="2881299767"/>
                    </a:ext>
                  </a:extLst>
                </a:gridCol>
                <a:gridCol w="325120">
                  <a:extLst>
                    <a:ext uri="{9D8B030D-6E8A-4147-A177-3AD203B41FA5}">
                      <a16:colId xmlns:a16="http://schemas.microsoft.com/office/drawing/2014/main" val="1093236648"/>
                    </a:ext>
                  </a:extLst>
                </a:gridCol>
              </a:tblGrid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75717"/>
                  </a:ext>
                </a:extLst>
              </a:tr>
              <a:tr h="315807">
                <a:tc>
                  <a:txBody>
                    <a:bodyPr/>
                    <a:lstStyle/>
                    <a:p>
                      <a:pPr latinLnBrk="1"/>
                      <a:endParaRPr lang="ko-KR" altLang="en-US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7541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D419FB-2F4F-330E-CA5C-0CAE00C9A4D5}"/>
                  </a:ext>
                </a:extLst>
              </p:cNvPr>
              <p:cNvSpPr txBox="1"/>
              <p:nvPr/>
            </p:nvSpPr>
            <p:spPr>
              <a:xfrm>
                <a:off x="2808672" y="5139778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D419FB-2F4F-330E-CA5C-0CAE00C9A4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8672" y="5139778"/>
                <a:ext cx="278538" cy="276999"/>
              </a:xfrm>
              <a:prstGeom prst="rect">
                <a:avLst/>
              </a:prstGeom>
              <a:blipFill>
                <a:blip r:embed="rId13"/>
                <a:stretch>
                  <a:fillRect l="-20000" r="-2222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5F653A37-34B8-DFD0-D7D1-ED0312FD63FD}"/>
              </a:ext>
            </a:extLst>
          </p:cNvPr>
          <p:cNvSpPr/>
          <p:nvPr/>
        </p:nvSpPr>
        <p:spPr>
          <a:xfrm>
            <a:off x="2262721" y="5731234"/>
            <a:ext cx="294640" cy="294640"/>
          </a:xfrm>
          <a:prstGeom prst="flowChartSummingJunction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DC48F71C-337B-67C4-5968-F9087E5C9A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856230"/>
              </p:ext>
            </p:extLst>
          </p:nvPr>
        </p:nvGraphicFramePr>
        <p:xfrm>
          <a:off x="2797190" y="5495306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9C7A837-A132-2E66-A223-934D0F06E35F}"/>
                  </a:ext>
                </a:extLst>
              </p:cNvPr>
              <p:cNvSpPr txBox="1"/>
              <p:nvPr/>
            </p:nvSpPr>
            <p:spPr>
              <a:xfrm>
                <a:off x="5061331" y="5140293"/>
                <a:ext cx="2731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9C7A837-A132-2E66-A223-934D0F06E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1331" y="5140293"/>
                <a:ext cx="273152" cy="276999"/>
              </a:xfrm>
              <a:prstGeom prst="rect">
                <a:avLst/>
              </a:prstGeom>
              <a:blipFill>
                <a:blip r:embed="rId14"/>
                <a:stretch>
                  <a:fillRect l="-20000" r="-2222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같음 기호 39">
            <a:extLst>
              <a:ext uri="{FF2B5EF4-FFF2-40B4-BE49-F238E27FC236}">
                <a16:creationId xmlns:a16="http://schemas.microsoft.com/office/drawing/2014/main" id="{FD08F977-779B-7FFC-4E25-5958F35B0234}"/>
              </a:ext>
            </a:extLst>
          </p:cNvPr>
          <p:cNvSpPr/>
          <p:nvPr/>
        </p:nvSpPr>
        <p:spPr>
          <a:xfrm>
            <a:off x="4553619" y="5706284"/>
            <a:ext cx="363069" cy="29464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36AF8FBC-F70C-6BBF-7A31-22CC9674A9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536020"/>
              </p:ext>
            </p:extLst>
          </p:nvPr>
        </p:nvGraphicFramePr>
        <p:xfrm>
          <a:off x="5019709" y="5495306"/>
          <a:ext cx="307340" cy="6380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88C18B9-6F36-18EA-9AB2-73DABC01AC34}"/>
                  </a:ext>
                </a:extLst>
              </p:cNvPr>
              <p:cNvSpPr txBox="1"/>
              <p:nvPr/>
            </p:nvSpPr>
            <p:spPr>
              <a:xfrm>
                <a:off x="1264184" y="5100477"/>
                <a:ext cx="341247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88C18B9-6F36-18EA-9AB2-73DABC01A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184" y="5100477"/>
                <a:ext cx="341247" cy="298928"/>
              </a:xfrm>
              <a:prstGeom prst="rect">
                <a:avLst/>
              </a:prstGeom>
              <a:blipFill>
                <a:blip r:embed="rId15"/>
                <a:stretch>
                  <a:fillRect l="-8929" r="-5357" b="-183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64F3203-25FA-D59A-A909-22D027387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9894163"/>
              </p:ext>
            </p:extLst>
          </p:nvPr>
        </p:nvGraphicFramePr>
        <p:xfrm>
          <a:off x="4058769" y="5495306"/>
          <a:ext cx="307340" cy="63805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7340">
                  <a:extLst>
                    <a:ext uri="{9D8B030D-6E8A-4147-A177-3AD203B41FA5}">
                      <a16:colId xmlns:a16="http://schemas.microsoft.com/office/drawing/2014/main" val="3902393823"/>
                    </a:ext>
                  </a:extLst>
                </a:gridCol>
              </a:tblGrid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2695305"/>
                  </a:ext>
                </a:extLst>
              </a:tr>
              <a:tr h="319025">
                <a:tc>
                  <a:txBody>
                    <a:bodyPr/>
                    <a:lstStyle/>
                    <a:p>
                      <a:pPr latinLnBrk="1"/>
                      <a:endParaRPr lang="ko-KR" alt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984079"/>
                  </a:ext>
                </a:extLst>
              </a:tr>
            </a:tbl>
          </a:graphicData>
        </a:graphic>
      </p:graphicFrame>
      <p:sp>
        <p:nvSpPr>
          <p:cNvPr id="45" name="순서도: 논리합 44">
            <a:extLst>
              <a:ext uri="{FF2B5EF4-FFF2-40B4-BE49-F238E27FC236}">
                <a16:creationId xmlns:a16="http://schemas.microsoft.com/office/drawing/2014/main" id="{4E495D4E-FEFD-F2BA-3E2B-0CE9295839F2}"/>
              </a:ext>
            </a:extLst>
          </p:cNvPr>
          <p:cNvSpPr/>
          <p:nvPr/>
        </p:nvSpPr>
        <p:spPr>
          <a:xfrm>
            <a:off x="3441278" y="5720477"/>
            <a:ext cx="294640" cy="294640"/>
          </a:xfrm>
          <a:prstGeom prst="flowChartOr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93B216-685D-517C-9171-997B28AF9482}"/>
                  </a:ext>
                </a:extLst>
              </p:cNvPr>
              <p:cNvSpPr txBox="1"/>
              <p:nvPr/>
            </p:nvSpPr>
            <p:spPr>
              <a:xfrm>
                <a:off x="4044488" y="5139393"/>
                <a:ext cx="301301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93B216-685D-517C-9171-997B28AF9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4488" y="5139393"/>
                <a:ext cx="301301" cy="298928"/>
              </a:xfrm>
              <a:prstGeom prst="rect">
                <a:avLst/>
              </a:prstGeom>
              <a:blipFill>
                <a:blip r:embed="rId16"/>
                <a:stretch>
                  <a:fillRect l="-18000" r="-2000" b="-204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A7A062F-BC82-06F4-C86E-88D37E62555F}"/>
                  </a:ext>
                </a:extLst>
              </p:cNvPr>
              <p:cNvSpPr txBox="1"/>
              <p:nvPr/>
            </p:nvSpPr>
            <p:spPr>
              <a:xfrm>
                <a:off x="5745329" y="3929002"/>
                <a:ext cx="47065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sub>
                      </m:sSub>
                    </m:oMath>
                  </m:oMathPara>
                </a14:m>
                <a:endParaRPr lang="ko-KR" altLang="en-US" sz="20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A7A062F-BC82-06F4-C86E-88D37E625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5329" y="3929002"/>
                <a:ext cx="470657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B467AF6-ADD3-B654-4C3D-5209F8B431A5}"/>
                  </a:ext>
                </a:extLst>
              </p:cNvPr>
              <p:cNvSpPr txBox="1"/>
              <p:nvPr/>
            </p:nvSpPr>
            <p:spPr>
              <a:xfrm>
                <a:off x="7904480" y="3622548"/>
                <a:ext cx="4279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B467AF6-ADD3-B654-4C3D-5209F8B43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4480" y="3622548"/>
                <a:ext cx="427938" cy="276999"/>
              </a:xfrm>
              <a:prstGeom prst="rect">
                <a:avLst/>
              </a:prstGeom>
              <a:blipFill>
                <a:blip r:embed="rId18"/>
                <a:stretch>
                  <a:fillRect l="-12857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512B2FB-F307-0616-1BF6-05B8B55047B6}"/>
                  </a:ext>
                </a:extLst>
              </p:cNvPr>
              <p:cNvSpPr txBox="1"/>
              <p:nvPr/>
            </p:nvSpPr>
            <p:spPr>
              <a:xfrm>
                <a:off x="11140638" y="3034667"/>
                <a:ext cx="359008" cy="3024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ko-KR" altLang="en-US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ko-KR" altLang="en-US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512B2FB-F307-0616-1BF6-05B8B5504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0638" y="3034667"/>
                <a:ext cx="359008" cy="302455"/>
              </a:xfrm>
              <a:prstGeom prst="rect">
                <a:avLst/>
              </a:prstGeom>
              <a:blipFill>
                <a:blip r:embed="rId19"/>
                <a:stretch>
                  <a:fillRect l="-8621" r="-5172" b="-22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99FE0E4-3735-1561-0AEE-5B84671182B8}"/>
                  </a:ext>
                </a:extLst>
              </p:cNvPr>
              <p:cNvSpPr txBox="1"/>
              <p:nvPr/>
            </p:nvSpPr>
            <p:spPr>
              <a:xfrm>
                <a:off x="11342616" y="3637094"/>
                <a:ext cx="2785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99FE0E4-3735-1561-0AEE-5B8467118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2616" y="3637094"/>
                <a:ext cx="278538" cy="276999"/>
              </a:xfrm>
              <a:prstGeom prst="rect">
                <a:avLst/>
              </a:prstGeom>
              <a:blipFill>
                <a:blip r:embed="rId20"/>
                <a:stretch>
                  <a:fillRect l="-20000" r="-2222" b="-177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40B549-D01E-738C-D225-AA924A66483C}"/>
                  </a:ext>
                </a:extLst>
              </p:cNvPr>
              <p:cNvSpPr txBox="1"/>
              <p:nvPr/>
            </p:nvSpPr>
            <p:spPr>
              <a:xfrm>
                <a:off x="11348002" y="2412095"/>
                <a:ext cx="2731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40B549-D01E-738C-D225-AA924A664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8002" y="2412095"/>
                <a:ext cx="273152" cy="276999"/>
              </a:xfrm>
              <a:prstGeom prst="rect">
                <a:avLst/>
              </a:prstGeom>
              <a:blipFill>
                <a:blip r:embed="rId21"/>
                <a:stretch>
                  <a:fillRect l="-20455" r="-2273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28C6C34-725D-B0D5-B846-9F56039E7B74}"/>
                  </a:ext>
                </a:extLst>
              </p:cNvPr>
              <p:cNvSpPr txBox="1"/>
              <p:nvPr/>
            </p:nvSpPr>
            <p:spPr>
              <a:xfrm>
                <a:off x="7981873" y="2371842"/>
                <a:ext cx="4225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28C6C34-725D-B0D5-B846-9F56039E7B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873" y="2371842"/>
                <a:ext cx="422552" cy="276999"/>
              </a:xfrm>
              <a:prstGeom prst="rect">
                <a:avLst/>
              </a:prstGeom>
              <a:blipFill>
                <a:blip r:embed="rId22"/>
                <a:stretch>
                  <a:fillRect l="-12857" r="-142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40EE09A-EACA-BBFA-9056-40B4244BB869}"/>
                  </a:ext>
                </a:extLst>
              </p:cNvPr>
              <p:cNvSpPr txBox="1"/>
              <p:nvPr/>
            </p:nvSpPr>
            <p:spPr>
              <a:xfrm>
                <a:off x="8719176" y="2856235"/>
                <a:ext cx="47468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ko-KR" altLang="en-US" sz="2000" b="1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</m:oMath>
                  </m:oMathPara>
                </a14:m>
                <a:endParaRPr lang="ko-KR" altLang="en-US" sz="20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40EE09A-EACA-BBFA-9056-40B4244BB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9176" y="2856235"/>
                <a:ext cx="474682" cy="400110"/>
              </a:xfrm>
              <a:prstGeom prst="rect">
                <a:avLst/>
              </a:prstGeom>
              <a:blipFill>
                <a:blip r:embed="rId23"/>
                <a:stretch>
                  <a:fillRect r="-2564" b="-61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4CF19B-4520-8CB5-30D7-59E658E649DB}"/>
                  </a:ext>
                </a:extLst>
              </p:cNvPr>
              <p:cNvSpPr txBox="1"/>
              <p:nvPr/>
            </p:nvSpPr>
            <p:spPr>
              <a:xfrm>
                <a:off x="5829814" y="5043730"/>
                <a:ext cx="30168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4CF19B-4520-8CB5-30D7-59E658E64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814" y="5043730"/>
                <a:ext cx="301685" cy="307777"/>
              </a:xfrm>
              <a:prstGeom prst="rect">
                <a:avLst/>
              </a:prstGeom>
              <a:blipFill>
                <a:blip r:embed="rId24"/>
                <a:stretch>
                  <a:fillRect l="-8000" r="-2000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6008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4" grpId="0"/>
      <p:bldP spid="19" grpId="0" animBg="1"/>
      <p:bldP spid="20" grpId="0" animBg="1"/>
      <p:bldP spid="21" grpId="0" animBg="1"/>
      <p:bldP spid="23" grpId="0"/>
      <p:bldP spid="24" grpId="0" animBg="1"/>
      <p:bldP spid="29" grpId="0"/>
      <p:bldP spid="30" grpId="0" animBg="1"/>
      <p:bldP spid="32" grpId="0"/>
      <p:bldP spid="36" grpId="0"/>
      <p:bldP spid="37" grpId="0" animBg="1"/>
      <p:bldP spid="39" grpId="0"/>
      <p:bldP spid="40" grpId="0" animBg="1"/>
      <p:bldP spid="42" grpId="0"/>
      <p:bldP spid="45" grpId="0" animBg="1"/>
      <p:bldP spid="47" grpId="0"/>
      <p:bldP spid="50" grpId="0"/>
      <p:bldP spid="51" grpId="0"/>
      <p:bldP spid="52" grpId="0"/>
      <p:bldP spid="53" grpId="0"/>
      <p:bldP spid="54" grpId="0"/>
      <p:bldP spid="56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72F6-A0AC-15EB-371E-0D4312E77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96B781-302F-27AB-E192-CDB2AB5F3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AFDB1-5160-2BA1-0683-8C8CD187A4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4BE745-28E7-52ED-0B06-64142F985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2007314"/>
            <a:ext cx="7597798" cy="127265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58588726-B58B-4118-09B4-3B94D9461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195" y="3578037"/>
            <a:ext cx="5146476" cy="2337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930D5B0-AF57-DF11-4257-DC984AD72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5" y="4038856"/>
            <a:ext cx="4496190" cy="9525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F04732-A7DF-CAB5-E904-258D981F1CA7}"/>
              </a:ext>
            </a:extLst>
          </p:cNvPr>
          <p:cNvSpPr txBox="1"/>
          <p:nvPr/>
        </p:nvSpPr>
        <p:spPr>
          <a:xfrm>
            <a:off x="475645" y="157137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(Hidden Layer)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선형 수식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9F35ED-1AD3-FBFD-11D2-CB818262D9D7}"/>
              </a:ext>
            </a:extLst>
          </p:cNvPr>
          <p:cNvSpPr txBox="1"/>
          <p:nvPr/>
        </p:nvSpPr>
        <p:spPr>
          <a:xfrm>
            <a:off x="475645" y="3602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(Output Layer)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선형 수식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0074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8426D-8F0A-9C95-EE6A-7E25361B4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C867F-634A-CA6A-7E8F-C93BE0151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F4EFA4-4F17-3197-CE10-BB3BDAD9A1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7D1473-2FE3-A86E-CE51-23B8E5AA8E21}"/>
              </a:ext>
            </a:extLst>
          </p:cNvPr>
          <p:cNvSpPr txBox="1"/>
          <p:nvPr/>
        </p:nvSpPr>
        <p:spPr>
          <a:xfrm>
            <a:off x="629920" y="1390662"/>
            <a:ext cx="9884091" cy="509370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Word2Vec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예시 문장 데이터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(Word2Vec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학습용 코퍼스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단어들이 모델 내부에서 학습될 수 있도록 리스트 형태로 제공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sentences = [["I", "am", “your”, “father”]]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Word2Vec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생성 및 학습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=4 :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단어 하나를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벡터로 표현하겠다는 의미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min_count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  :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빈도수가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번만 나와도 단어장에 포함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window=2 :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문맥을 파악할 앞뒤 단어의 범위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Word2Vec(sentences,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=4,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min_count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=1, window=2, epochs=100, seed=42)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RNN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에 입력할 데이터 구조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(Matrix)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만들기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timesteps = 4  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문장 속 단어의 수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(“I”, “am”, “your", "father")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4   # Word2Vec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차원수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2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은닉 상태의 크기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기억 방의 개수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벡터로 변환된 단어들을 순서대로 담을 빈 행렬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: (4, 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np.zeros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((timesteps,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순서대로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Word2Vec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벡터값을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추출하여 행렬에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채워넣기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word_list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["I", "am", “your", "father"] # Changed to match the training data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word in enumerate(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word_list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inputs[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model.wv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[word]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각 단어의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실수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대입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생성된 실제 텍스트 입력 데이터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: 4x4) ===")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print(inputs)</a:t>
            </a:r>
          </a:p>
        </p:txBody>
      </p:sp>
      <p:pic>
        <p:nvPicPr>
          <p:cNvPr id="8194" name="Picture 2" descr="Darth Vader I Am Your Father Star Wars Movie Film Sci-fi Quote Picture  Poster | eBay">
            <a:extLst>
              <a:ext uri="{FF2B5EF4-FFF2-40B4-BE49-F238E27FC236}">
                <a16:creationId xmlns:a16="http://schemas.microsoft.com/office/drawing/2014/main" id="{FE1CFB7F-8D0D-C3A5-AE3C-E294A70BAA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2909" y="1390662"/>
            <a:ext cx="2372995" cy="173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AD21CB7-915B-B450-618A-FB2D83F87379}"/>
              </a:ext>
            </a:extLst>
          </p:cNvPr>
          <p:cNvSpPr txBox="1"/>
          <p:nvPr/>
        </p:nvSpPr>
        <p:spPr>
          <a:xfrm>
            <a:off x="6544861" y="3783497"/>
            <a:ext cx="5388393" cy="76944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Time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Steps 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텍스트에서는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문장 속 단어의 순서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몇 번째 단어인가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시계열 데이터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주가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날짜의 순서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 차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 차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 차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...)"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음성에서는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신호의 시간 순서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(0.1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0.2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0.3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초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...)"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1070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98FCE-16F3-1B06-99F9-9A89C0B2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85354-CB4E-EC03-450B-ACACADCF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7348E4-A75C-029E-3AD7-788C3AB66C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B3F97E-CEEE-2607-2D10-85B183B8CB2E}"/>
              </a:ext>
            </a:extLst>
          </p:cNvPr>
          <p:cNvSpPr txBox="1"/>
          <p:nvPr/>
        </p:nvSpPr>
        <p:spPr>
          <a:xfrm>
            <a:off x="579120" y="1248422"/>
            <a:ext cx="10535920" cy="5262979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(2, 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입력에 대한 가중치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(2, 2)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은닉 상태에 대한 가중치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(2,)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값은 편향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(bias)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Initialize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before the loop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np.zeros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 # Using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from the kernel state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은닉 상태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셀 동작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inputs: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시점에 따라서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(np.dot(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Wx,input_t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+ np.dot(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Wh,hidden_state_t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+ b)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Ht-1 + b(bias)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(list(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시점의 은닉 상태의 값을 계속해서 축적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시점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 메모리 셀의 출력의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(timestep,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np.stack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axis = 0)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시 값을 깔끔하게 해준다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total_hidden_states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# (timesteps,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(4, 2)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크기를 가지는 메모리 셀의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print("RNN simulation complete. Final hidden state:",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hidden_state_t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E8CDF4E-654F-A844-2AF1-E5B70D04542B}"/>
              </a:ext>
            </a:extLst>
          </p:cNvPr>
          <p:cNvSpPr/>
          <p:nvPr/>
        </p:nvSpPr>
        <p:spPr>
          <a:xfrm>
            <a:off x="284480" y="3718560"/>
            <a:ext cx="11328400" cy="15138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8883AB11-A815-2C12-3845-46A11E1F5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0566" y="2923483"/>
            <a:ext cx="1444554" cy="230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803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B6F-5205-2B6B-B72B-D2729860E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DA771-6870-123A-1128-9F853C7F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8B72CFF-95F2-13FD-1562-1F1A7BC98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D59038B-7A7C-818F-9D36-304EC0E04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201" y="2412283"/>
            <a:ext cx="3676650" cy="3143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2204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EEC3D1-0BD5-4541-4799-448270E1E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201" y="2412283"/>
            <a:ext cx="3676650" cy="3143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55007-CEF4-9FF9-AD96-23D4DEAE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091B1E-C426-25FD-67B2-B1CF234C6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D6649F-76A1-D1C0-6BF8-DF6DCA59B0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912112BE-FB30-E488-53B7-8D87ECB97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99" y="1374234"/>
            <a:ext cx="6061090" cy="243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AF04672-49C0-42E3-A86B-04F812542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3025" y="3892807"/>
            <a:ext cx="6061091" cy="2596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7308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6FF14-EF66-5081-88DC-F9804C9A7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B379BC-6767-AD77-457E-EB53B375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675AA7-8C8E-F70E-8789-720E279A3F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Recurrent Neural Network (RNN)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670359-5BC0-FB3E-8DE8-B2B54F51B77E}"/>
              </a:ext>
            </a:extLst>
          </p:cNvPr>
          <p:cNvSpPr txBox="1"/>
          <p:nvPr/>
        </p:nvSpPr>
        <p:spPr>
          <a:xfrm>
            <a:off x="609600" y="1238250"/>
            <a:ext cx="1097280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실습하기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DD0180E-C9DE-EB92-9660-924DD6059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5890" y="2123073"/>
            <a:ext cx="3878897" cy="3342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A695156D-C55E-CA0E-FC4F-4B1F4F675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2141922"/>
            <a:ext cx="411480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4037358D-830D-DEC2-E244-D656539FB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645" y="2193228"/>
            <a:ext cx="2057400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BD990D97-ACE4-D1AC-4F3E-FC470A7D1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645" y="4446484"/>
            <a:ext cx="2143125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1E92F0-24D1-A4C6-C88E-46DACC42881F}"/>
              </a:ext>
            </a:extLst>
          </p:cNvPr>
          <p:cNvSpPr txBox="1"/>
          <p:nvPr/>
        </p:nvSpPr>
        <p:spPr>
          <a:xfrm>
            <a:off x="3271520" y="1719231"/>
            <a:ext cx="370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Multi-layer RNN, Deep RNN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1E8203-15D6-D19A-3513-F1DC6553F9B4}"/>
              </a:ext>
            </a:extLst>
          </p:cNvPr>
          <p:cNvSpPr txBox="1"/>
          <p:nvPr/>
        </p:nvSpPr>
        <p:spPr>
          <a:xfrm>
            <a:off x="7376160" y="1738080"/>
            <a:ext cx="4114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Bidirectional Recurrent Neural Network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6CCDB5-764B-CB55-2600-DA1AE97727D1}"/>
              </a:ext>
            </a:extLst>
          </p:cNvPr>
          <p:cNvSpPr txBox="1"/>
          <p:nvPr/>
        </p:nvSpPr>
        <p:spPr>
          <a:xfrm>
            <a:off x="475645" y="1738080"/>
            <a:ext cx="23199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Shallow RNN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708493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5450</TotalTime>
  <Words>1218</Words>
  <Application>Microsoft Office PowerPoint</Application>
  <PresentationFormat>와이드스크린</PresentationFormat>
  <Paragraphs>172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D2Coding</vt:lpstr>
      <vt:lpstr>맑은 고딕</vt:lpstr>
      <vt:lpstr>바탕</vt:lpstr>
      <vt:lpstr>Arial</vt:lpstr>
      <vt:lpstr>Cambria Math</vt:lpstr>
      <vt:lpstr>Cascadia Code</vt:lpstr>
      <vt:lpstr>WelcomeDoc</vt:lpstr>
      <vt:lpstr>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110</cp:revision>
  <dcterms:created xsi:type="dcterms:W3CDTF">2026-04-06T01:00:39Z</dcterms:created>
  <dcterms:modified xsi:type="dcterms:W3CDTF">2026-06-30T06:31:10Z</dcterms:modified>
  <cp:version/>
</cp:coreProperties>
</file>