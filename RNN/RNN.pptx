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1"/>
  </p:notesMasterIdLst>
  <p:handoutMasterIdLst>
    <p:handoutMasterId r:id="rId22"/>
  </p:handoutMasterIdLst>
  <p:sldIdLst>
    <p:sldId id="256" r:id="rId2"/>
    <p:sldId id="1122" r:id="rId3"/>
    <p:sldId id="1134" r:id="rId4"/>
    <p:sldId id="1135" r:id="rId5"/>
    <p:sldId id="1132" r:id="rId6"/>
    <p:sldId id="1136" r:id="rId7"/>
    <p:sldId id="1133" r:id="rId8"/>
    <p:sldId id="1125" r:id="rId9"/>
    <p:sldId id="1127" r:id="rId10"/>
    <p:sldId id="1128" r:id="rId11"/>
    <p:sldId id="1123" r:id="rId12"/>
    <p:sldId id="1130" r:id="rId13"/>
    <p:sldId id="1131" r:id="rId14"/>
    <p:sldId id="1137" r:id="rId15"/>
    <p:sldId id="1138" r:id="rId16"/>
    <p:sldId id="1129" r:id="rId17"/>
    <p:sldId id="1139" r:id="rId18"/>
    <p:sldId id="978" r:id="rId19"/>
    <p:sldId id="1121" r:id="rId20"/>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22"/>
            <p14:sldId id="1134"/>
            <p14:sldId id="1135"/>
            <p14:sldId id="1132"/>
            <p14:sldId id="1136"/>
            <p14:sldId id="1133"/>
            <p14:sldId id="1125"/>
            <p14:sldId id="1127"/>
            <p14:sldId id="1128"/>
            <p14:sldId id="1123"/>
            <p14:sldId id="1130"/>
            <p14:sldId id="1131"/>
            <p14:sldId id="1137"/>
            <p14:sldId id="1138"/>
            <p14:sldId id="1129"/>
            <p14:sldId id="1139"/>
            <p14:sldId id="978"/>
            <p14:sldId id="1121"/>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FF9B45"/>
    <a:srgbClr val="DD462F"/>
    <a:srgbClr val="D24726"/>
    <a:srgbClr val="404040"/>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62" autoAdjust="0"/>
    <p:restoredTop sz="94297" autoAdjust="0"/>
  </p:normalViewPr>
  <p:slideViewPr>
    <p:cSldViewPr snapToGrid="0">
      <p:cViewPr>
        <p:scale>
          <a:sx n="75" d="100"/>
          <a:sy n="75" d="100"/>
        </p:scale>
        <p:origin x="1066" y="16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 d="1"/>
        <a:sy n="1" d="1"/>
      </p:scale>
      <p:origin x="0" y="-5256"/>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2026-06-30</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2026-06-30</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9</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2026-06-30</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6/30/2026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2026-06-30</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7" Type="http://schemas.microsoft.com/office/2007/relationships/hdphoto" Target="../media/hdphoto2.wdp"/><Relationship Id="rId2" Type="http://schemas.openxmlformats.org/officeDocument/2006/relationships/image" Target="../media/image14.png"/><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17.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2.wdp"/><Relationship Id="rId9" Type="http://schemas.openxmlformats.org/officeDocument/2006/relationships/image" Target="../media/image140.png"/></Relationships>
</file>

<file path=ppt/slides/_rels/slide10.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27.png"/><Relationship Id="rId18" Type="http://schemas.openxmlformats.org/officeDocument/2006/relationships/image" Target="../media/image32.png"/><Relationship Id="rId3" Type="http://schemas.openxmlformats.org/officeDocument/2006/relationships/image" Target="../media/image19.png"/><Relationship Id="rId21" Type="http://schemas.openxmlformats.org/officeDocument/2006/relationships/image" Target="../media/image35.png"/><Relationship Id="rId7" Type="http://schemas.openxmlformats.org/officeDocument/2006/relationships/image" Target="../media/image23.png"/><Relationship Id="rId12" Type="http://schemas.microsoft.com/office/2007/relationships/hdphoto" Target="../media/hdphoto2.wdp"/><Relationship Id="rId17" Type="http://schemas.openxmlformats.org/officeDocument/2006/relationships/image" Target="../media/image31.png"/><Relationship Id="rId2" Type="http://schemas.openxmlformats.org/officeDocument/2006/relationships/image" Target="../media/image18.png"/><Relationship Id="rId16" Type="http://schemas.openxmlformats.org/officeDocument/2006/relationships/image" Target="../media/image30.png"/><Relationship Id="rId20" Type="http://schemas.openxmlformats.org/officeDocument/2006/relationships/image" Target="../media/image34.png"/><Relationship Id="rId1" Type="http://schemas.openxmlformats.org/officeDocument/2006/relationships/slideLayout" Target="../slideLayouts/slideLayout4.xml"/><Relationship Id="rId6" Type="http://schemas.openxmlformats.org/officeDocument/2006/relationships/image" Target="../media/image22.png"/><Relationship Id="rId11" Type="http://schemas.openxmlformats.org/officeDocument/2006/relationships/image" Target="../media/image17.png"/><Relationship Id="rId24" Type="http://schemas.openxmlformats.org/officeDocument/2006/relationships/image" Target="../media/image38.png"/><Relationship Id="rId5" Type="http://schemas.openxmlformats.org/officeDocument/2006/relationships/image" Target="../media/image21.png"/><Relationship Id="rId15" Type="http://schemas.openxmlformats.org/officeDocument/2006/relationships/image" Target="../media/image29.png"/><Relationship Id="rId23" Type="http://schemas.openxmlformats.org/officeDocument/2006/relationships/image" Target="../media/image37.png"/><Relationship Id="rId10" Type="http://schemas.openxmlformats.org/officeDocument/2006/relationships/image" Target="../media/image26.png"/><Relationship Id="rId19" Type="http://schemas.openxmlformats.org/officeDocument/2006/relationships/image" Target="../media/image33.png"/><Relationship Id="rId4" Type="http://schemas.openxmlformats.org/officeDocument/2006/relationships/image" Target="../media/image20.png"/><Relationship Id="rId9" Type="http://schemas.openxmlformats.org/officeDocument/2006/relationships/image" Target="../media/image25.png"/><Relationship Id="rId14" Type="http://schemas.openxmlformats.org/officeDocument/2006/relationships/image" Target="../media/image28.png"/><Relationship Id="rId22" Type="http://schemas.openxmlformats.org/officeDocument/2006/relationships/image" Target="../media/image36.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9.png"/><Relationship Id="rId1" Type="http://schemas.openxmlformats.org/officeDocument/2006/relationships/slideLayout" Target="../slideLayouts/slideLayout4.xml"/><Relationship Id="rId5" Type="http://schemas.openxmlformats.org/officeDocument/2006/relationships/image" Target="../media/image40.png"/><Relationship Id="rId4" Type="http://schemas.microsoft.com/office/2007/relationships/hdphoto" Target="../media/hdphoto2.wdp"/></Relationships>
</file>

<file path=ppt/slides/_rels/slide12.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pPr rtl="0"/>
            <a:r>
              <a:rPr lang="en-US" altLang="ko-KR" sz="4800" dirty="0">
                <a:solidFill>
                  <a:schemeClr val="bg1"/>
                </a:solidFill>
              </a:rPr>
              <a:t>Text Classification</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72B89856-6ED1-2640-6E74-634FDC569590}"/>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a:t>
            </a:fld>
            <a:endParaRPr lang="en-US" dirty="0"/>
          </a:p>
        </p:txBody>
      </p:sp>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37908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BB4D45B-52A1-9BAE-B34E-30DEDF59CFAE}"/>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a:t>
            </a:fld>
            <a:endParaRPr lang="en-US" dirty="0"/>
          </a:p>
        </p:txBody>
      </p:sp>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5" name="TextBox 4">
            <a:extLst>
              <a:ext uri="{FF2B5EF4-FFF2-40B4-BE49-F238E27FC236}">
                <a16:creationId xmlns:a16="http://schemas.microsoft.com/office/drawing/2014/main" id="{6561AAD7-56D4-58BF-FEAE-D0D8305EA254}"/>
              </a:ext>
            </a:extLst>
          </p:cNvPr>
          <p:cNvSpPr txBox="1"/>
          <p:nvPr/>
        </p:nvSpPr>
        <p:spPr>
          <a:xfrm>
            <a:off x="658811" y="1729061"/>
            <a:ext cx="9855200" cy="968407"/>
          </a:xfrm>
          <a:prstGeom prst="rect">
            <a:avLst/>
          </a:prstGeom>
          <a:noFill/>
        </p:spPr>
        <p:txBody>
          <a:bodyPr wrap="square">
            <a:spAutoFit/>
          </a:bodyPr>
          <a:lstStyle/>
          <a:p>
            <a:pPr>
              <a:lnSpc>
                <a:spcPct val="150000"/>
              </a:lnSpc>
            </a:pPr>
            <a:r>
              <a:rPr lang="en-US" altLang="ko-KR" sz="2000" b="0" i="0" dirty="0">
                <a:solidFill>
                  <a:srgbClr val="181818"/>
                </a:solidFill>
                <a:effectLst/>
                <a:latin typeface="D2Coding" panose="020B0609020101020101" pitchFamily="49" charset="-127"/>
                <a:ea typeface="D2Coding" panose="020B0609020101020101" pitchFamily="49" charset="-127"/>
              </a:rPr>
              <a:t>“Be who you are and say what you feel, because those who mind don't matter, and those who matter don't mind.”</a:t>
            </a:r>
            <a:endParaRPr lang="ko-KR" altLang="en-US" sz="20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843280" y="3516518"/>
            <a:ext cx="7943922" cy="2519743"/>
          </a:xfrm>
          <a:prstGeom prst="rect">
            <a:avLst/>
          </a:prstGeom>
        </p:spPr>
      </p:pic>
    </p:spTree>
    <p:extLst>
      <p:ext uri="{BB962C8B-B14F-4D97-AF65-F5344CB8AC3E}">
        <p14:creationId xmlns:p14="http://schemas.microsoft.com/office/powerpoint/2010/main" val="7709035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67D8800B-CA56-2E83-5A7A-80A20196A54A}"/>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4</a:t>
            </a:fld>
            <a:endParaRPr lang="en-US" dirty="0"/>
          </a:p>
        </p:txBody>
      </p:sp>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2C74E2C-5185-4FDF-D522-52BB3849DFCA}"/>
              </a:ext>
            </a:extLst>
          </p:cNvPr>
          <p:cNvGraphicFramePr>
            <a:graphicFrameLocks noGrp="1"/>
          </p:cNvGraphicFramePr>
          <p:nvPr>
            <p:extLst>
              <p:ext uri="{D42A27DB-BD31-4B8C-83A1-F6EECF244321}">
                <p14:modId xmlns:p14="http://schemas.microsoft.com/office/powerpoint/2010/main" val="2323456157"/>
              </p:ext>
            </p:extLst>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E1682B08-CD59-3A1E-9AE1-1640A4F3ECFB}"/>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일자별로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기존</a:t>
            </a:r>
            <a:r>
              <a:rPr lang="en-US" altLang="ko-KR" dirty="0">
                <a:latin typeface="D2Coding" panose="020B0609020101020101" pitchFamily="49" charset="-127"/>
                <a:ea typeface="D2Coding" panose="020B0609020101020101" pitchFamily="49" charset="-127"/>
              </a:rPr>
              <a:t> ANN </a:t>
            </a:r>
            <a:r>
              <a:rPr lang="ko-KR" altLang="en-US" dirty="0">
                <a:latin typeface="D2Coding" panose="020B0609020101020101" pitchFamily="49" charset="-127"/>
                <a:ea typeface="D2Coding" panose="020B0609020101020101" pitchFamily="49" charset="-127"/>
              </a:rPr>
              <a:t>모델의 한계는 무엇이고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이 필요한지</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를</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토론하고 주가 예측 방식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F71D6366-ECCB-4037-D8F7-9766B35574CC}"/>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A37A5489-EAC6-4176-D325-AC523BE36B7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B150B105-D9C4-E76C-1B99-300BC744F8DC}"/>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409F955C-5EBE-00F4-6BD3-25B7D293FF8A}"/>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Tree>
    <p:extLst>
      <p:ext uri="{BB962C8B-B14F-4D97-AF65-F5344CB8AC3E}">
        <p14:creationId xmlns:p14="http://schemas.microsoft.com/office/powerpoint/2010/main" val="16793172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8B379BC-6767-AD77-457E-EB53B375D37C}"/>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5</a:t>
            </a:fld>
            <a:endParaRPr lang="en-US" dirty="0"/>
          </a:p>
        </p:txBody>
      </p:sp>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2E670359-5BC0-FB3E-8DE8-B2B54F51B77E}"/>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en-US" altLang="ko-KR" dirty="0" err="1">
                <a:latin typeface="D2Coding" panose="020B0609020101020101" pitchFamily="49" charset="-127"/>
                <a:ea typeface="D2Coding" panose="020B0609020101020101" pitchFamily="49" charset="-127"/>
              </a:rPr>
              <a:t>Pytorch</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로 실습하기</a:t>
            </a:r>
          </a:p>
        </p:txBody>
      </p:sp>
      <p:pic>
        <p:nvPicPr>
          <p:cNvPr id="12290" name="Picture 2">
            <a:extLst>
              <a:ext uri="{FF2B5EF4-FFF2-40B4-BE49-F238E27FC236}">
                <a16:creationId xmlns:a16="http://schemas.microsoft.com/office/drawing/2014/main" id="{8DD0180E-C9DE-EB92-9660-924DD6059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5890" y="2123073"/>
            <a:ext cx="3878897" cy="3342586"/>
          </a:xfrm>
          <a:prstGeom prst="rect">
            <a:avLst/>
          </a:prstGeom>
          <a:noFill/>
          <a:extLst>
            <a:ext uri="{909E8E84-426E-40DD-AFC4-6F175D3DCCD1}">
              <a14:hiddenFill xmlns:a14="http://schemas.microsoft.com/office/drawing/2010/main">
                <a:solidFill>
                  <a:srgbClr val="FFFFFF"/>
                </a:solidFill>
              </a14:hiddenFill>
            </a:ext>
          </a:extLst>
        </p:spPr>
      </p:pic>
      <p:pic>
        <p:nvPicPr>
          <p:cNvPr id="12292" name="Picture 4">
            <a:extLst>
              <a:ext uri="{FF2B5EF4-FFF2-40B4-BE49-F238E27FC236}">
                <a16:creationId xmlns:a16="http://schemas.microsoft.com/office/drawing/2014/main" id="{A695156D-C55E-CA0E-FC4F-4B1F4F6750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67600" y="2141922"/>
            <a:ext cx="4114800" cy="1828800"/>
          </a:xfrm>
          <a:prstGeom prst="rect">
            <a:avLst/>
          </a:prstGeom>
          <a:noFill/>
          <a:extLst>
            <a:ext uri="{909E8E84-426E-40DD-AFC4-6F175D3DCCD1}">
              <a14:hiddenFill xmlns:a14="http://schemas.microsoft.com/office/drawing/2010/main">
                <a:solidFill>
                  <a:srgbClr val="FFFFFF"/>
                </a:solidFill>
              </a14:hiddenFill>
            </a:ext>
          </a:extLst>
        </p:spPr>
      </p:pic>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5645" y="2193228"/>
            <a:ext cx="2057400" cy="2057400"/>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5645" y="4446484"/>
            <a:ext cx="2143125" cy="20383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91E92F0-24D1-A4C6-C88E-46DACC42881F}"/>
              </a:ext>
            </a:extLst>
          </p:cNvPr>
          <p:cNvSpPr txBox="1"/>
          <p:nvPr/>
        </p:nvSpPr>
        <p:spPr>
          <a:xfrm>
            <a:off x="3271520" y="1719231"/>
            <a:ext cx="3708400" cy="369332"/>
          </a:xfrm>
          <a:prstGeom prst="rect">
            <a:avLst/>
          </a:prstGeom>
          <a:noFill/>
        </p:spPr>
        <p:txBody>
          <a:bodyPr wrap="square">
            <a:spAutoFit/>
          </a:bodyPr>
          <a:lstStyle/>
          <a:p>
            <a:r>
              <a:rPr lang="en-US" altLang="ko-KR" dirty="0"/>
              <a:t>Multi-layer RNN, Deep RNN</a:t>
            </a:r>
            <a:endParaRPr lang="ko-KR" altLang="en-US" dirty="0"/>
          </a:p>
        </p:txBody>
      </p:sp>
      <p:sp>
        <p:nvSpPr>
          <p:cNvPr id="9" name="TextBox 8">
            <a:extLst>
              <a:ext uri="{FF2B5EF4-FFF2-40B4-BE49-F238E27FC236}">
                <a16:creationId xmlns:a16="http://schemas.microsoft.com/office/drawing/2014/main" id="{951E8203-15D6-D19A-3513-F1DC6553F9B4}"/>
              </a:ext>
            </a:extLst>
          </p:cNvPr>
          <p:cNvSpPr txBox="1"/>
          <p:nvPr/>
        </p:nvSpPr>
        <p:spPr>
          <a:xfrm>
            <a:off x="7376160" y="1738080"/>
            <a:ext cx="4114800" cy="369332"/>
          </a:xfrm>
          <a:prstGeom prst="rect">
            <a:avLst/>
          </a:prstGeom>
          <a:noFill/>
        </p:spPr>
        <p:txBody>
          <a:bodyPr wrap="square">
            <a:spAutoFit/>
          </a:bodyPr>
          <a:lstStyle/>
          <a:p>
            <a:r>
              <a:rPr lang="en-US" altLang="ko-KR" dirty="0"/>
              <a:t>Bidirectional Recurrent Neural Network</a:t>
            </a:r>
          </a:p>
        </p:txBody>
      </p:sp>
      <p:sp>
        <p:nvSpPr>
          <p:cNvPr id="12" name="TextBox 11">
            <a:extLst>
              <a:ext uri="{FF2B5EF4-FFF2-40B4-BE49-F238E27FC236}">
                <a16:creationId xmlns:a16="http://schemas.microsoft.com/office/drawing/2014/main" id="{886CCDB5-764B-CB55-2600-DA1AE97727D1}"/>
              </a:ext>
            </a:extLst>
          </p:cNvPr>
          <p:cNvSpPr txBox="1"/>
          <p:nvPr/>
        </p:nvSpPr>
        <p:spPr>
          <a:xfrm>
            <a:off x="475645" y="1738080"/>
            <a:ext cx="2319942" cy="369332"/>
          </a:xfrm>
          <a:prstGeom prst="rect">
            <a:avLst/>
          </a:prstGeom>
          <a:noFill/>
        </p:spPr>
        <p:txBody>
          <a:bodyPr wrap="square">
            <a:spAutoFit/>
          </a:bodyPr>
          <a:lstStyle/>
          <a:p>
            <a:r>
              <a:rPr lang="en-US" altLang="ko-KR" dirty="0"/>
              <a:t>Shallow RNN</a:t>
            </a:r>
            <a:endParaRPr lang="ko-KR" altLang="en-US" dirty="0"/>
          </a:p>
        </p:txBody>
      </p:sp>
    </p:spTree>
    <p:extLst>
      <p:ext uri="{BB962C8B-B14F-4D97-AF65-F5344CB8AC3E}">
        <p14:creationId xmlns:p14="http://schemas.microsoft.com/office/powerpoint/2010/main" val="491697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94119-4E05-7787-F346-3EF9B9B57EA8}"/>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18DF491-9C31-F203-B341-87EDA9ABF8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6</a:t>
            </a:fld>
            <a:endParaRPr lang="en-US" dirty="0"/>
          </a:p>
        </p:txBody>
      </p:sp>
      <p:sp>
        <p:nvSpPr>
          <p:cNvPr id="3" name="제목 1">
            <a:extLst>
              <a:ext uri="{FF2B5EF4-FFF2-40B4-BE49-F238E27FC236}">
                <a16:creationId xmlns:a16="http://schemas.microsoft.com/office/drawing/2014/main" id="{62D2FAD8-FA57-2A8F-534C-0DC6FE1C2EB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2050" name="Picture 2">
            <a:extLst>
              <a:ext uri="{FF2B5EF4-FFF2-40B4-BE49-F238E27FC236}">
                <a16:creationId xmlns:a16="http://schemas.microsoft.com/office/drawing/2014/main" id="{8870E6EE-4641-4051-8389-FECE072234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733" y="1956497"/>
            <a:ext cx="4344508" cy="162998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5C8F418-F3CD-B8CE-D11D-9E2EEA217054}"/>
              </a:ext>
            </a:extLst>
          </p:cNvPr>
          <p:cNvSpPr txBox="1"/>
          <p:nvPr/>
        </p:nvSpPr>
        <p:spPr>
          <a:xfrm>
            <a:off x="475645" y="3766038"/>
            <a:ext cx="4025235"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 A rank-3 timeseries data tensor</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589FBEF4-A26F-4DC5-DB00-BC35A5DA8E44}"/>
              </a:ext>
            </a:extLst>
          </p:cNvPr>
          <p:cNvSpPr txBox="1"/>
          <p:nvPr/>
        </p:nvSpPr>
        <p:spPr>
          <a:xfrm>
            <a:off x="4673600" y="1469162"/>
            <a:ext cx="7172960" cy="4583627"/>
          </a:xfrm>
          <a:prstGeom prst="rect">
            <a:avLst/>
          </a:prstGeom>
          <a:noFill/>
        </p:spPr>
        <p:txBody>
          <a:bodyPr wrap="square">
            <a:spAutoFit/>
          </a:bodyPr>
          <a:lstStyle/>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stock prices</a:t>
            </a:r>
            <a:r>
              <a:rPr lang="en-US" altLang="ko-KR" sz="1400" b="0" i="0" dirty="0">
                <a:effectLst/>
                <a:latin typeface="D2Coding" panose="020B0609020101020101" pitchFamily="49" charset="-127"/>
                <a:ea typeface="D2Coding" panose="020B0609020101020101" pitchFamily="49" charset="-127"/>
              </a:rPr>
              <a:t> —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1" i="0" dirty="0">
                <a:effectLst/>
                <a:latin typeface="D2Coding" panose="020B0609020101020101" pitchFamily="49" charset="-127"/>
                <a:ea typeface="D2Coding" panose="020B0609020101020101" pitchFamily="49" charset="-127"/>
              </a:rPr>
              <a:t>(Batch size, Timesteps, # of Features)</a:t>
            </a:r>
          </a:p>
          <a:p>
            <a:pPr marL="285750" indent="-285750" algn="just">
              <a:lnSpc>
                <a:spcPct val="150000"/>
              </a:lnSpc>
              <a:buFont typeface="Wingdings" panose="05000000000000000000" pitchFamily="2" charset="2"/>
              <a:buChar char="v"/>
            </a:pPr>
            <a:endParaRPr lang="en-US" altLang="ko-KR" sz="1400" b="0" i="0" dirty="0">
              <a:effectLst/>
              <a:latin typeface="D2Coding" panose="020B0609020101020101" pitchFamily="49" charset="-127"/>
              <a:ea typeface="D2Coding" panose="020B0609020101020101" pitchFamily="49" charset="-127"/>
            </a:endParaRPr>
          </a:p>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0" i="0" dirty="0">
                <a:effectLst/>
                <a:latin typeface="D2Coding" panose="020B0609020101020101" pitchFamily="49" charset="-127"/>
                <a:ea typeface="D2Coding" panose="020B0609020101020101" pitchFamily="49" charset="-127"/>
              </a:rPr>
              <a:t> —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Tree>
    <p:extLst>
      <p:ext uri="{BB962C8B-B14F-4D97-AF65-F5344CB8AC3E}">
        <p14:creationId xmlns:p14="http://schemas.microsoft.com/office/powerpoint/2010/main" val="42240038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E344706C-F3C3-2E7B-38B5-A4331501DE6C}"/>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7</a:t>
            </a:fld>
            <a:endParaRPr lang="en-US" dirty="0"/>
          </a:p>
        </p:txBody>
      </p:sp>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594536"/>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053941"/>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3777734"/>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287198"/>
            <a:ext cx="4827639" cy="369332"/>
          </a:xfrm>
          <a:prstGeom prst="rect">
            <a:avLst/>
          </a:prstGeom>
          <a:noFill/>
        </p:spPr>
        <p:txBody>
          <a:bodyPr wrap="square" rtlCol="0">
            <a:spAutoFit/>
          </a:bodyPr>
          <a:lstStyle/>
          <a:p>
            <a:r>
              <a:rPr lang="en-US" altLang="ko-KR" dirty="0"/>
              <a:t>I	am	  your		      father</a:t>
            </a:r>
            <a:endParaRPr lang="ko-KR" altLang="en-US" dirty="0"/>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666929"/>
            <a:ext cx="4827639" cy="369332"/>
          </a:xfrm>
          <a:prstGeom prst="rect">
            <a:avLst/>
          </a:prstGeom>
          <a:noFill/>
        </p:spPr>
        <p:txBody>
          <a:bodyPr wrap="square" rtlCol="0">
            <a:spAutoFit/>
          </a:bodyPr>
          <a:lstStyle/>
          <a:p>
            <a:r>
              <a:rPr lang="en-US" altLang="ko-KR" dirty="0"/>
              <a:t>t-3	t-2	  t-1		      t</a:t>
            </a:r>
            <a:endParaRPr lang="ko-KR" altLang="en-US" dirty="0"/>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Tree>
    <p:extLst>
      <p:ext uri="{BB962C8B-B14F-4D97-AF65-F5344CB8AC3E}">
        <p14:creationId xmlns:p14="http://schemas.microsoft.com/office/powerpoint/2010/main" val="17989263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2CDDC161-4693-0F50-FD2C-C6BEDB68B1A1}"/>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8</a:t>
            </a:fld>
            <a:endParaRPr lang="en-US" dirty="0"/>
          </a:p>
        </p:txBody>
      </p:sp>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46080FFC-FC8C-595E-7C4B-2788C99CE8D9}"/>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9</a:t>
            </a:fld>
            <a:endParaRPr lang="en-US" dirty="0"/>
          </a:p>
        </p:txBody>
      </p:sp>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8683536" y="5836180"/>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9138876" y="619850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B0BB9591-FBE7-E7AA-BC75-BCB04A807B74}"/>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10</a:t>
            </a:fld>
            <a:endParaRPr lang="en-US" dirty="0"/>
          </a:p>
        </p:txBody>
      </p:sp>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F96B781-302F-27AB-E192-CDB2AB5F32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11</a:t>
            </a:fld>
            <a:endParaRPr lang="en-US" dirty="0"/>
          </a:p>
        </p:txBody>
      </p:sp>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1800746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0CBC867F-634A-CA6A-7E8F-C93BE0151EF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12</a:t>
            </a:fld>
            <a:endParaRPr lang="en-US" dirty="0"/>
          </a:p>
        </p:txBody>
      </p:sp>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1710703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0BE85354-CB4E-EC03-450B-ACACADCF6519}"/>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13</a:t>
            </a:fld>
            <a:endParaRPr lang="en-US" dirty="0"/>
          </a:p>
        </p:txBody>
      </p:sp>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DC2A6246-2F11-7E99-42F8-C724EAE1BC1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14</a:t>
            </a:fld>
            <a:endParaRPr lang="en-US" dirty="0"/>
          </a:p>
        </p:txBody>
      </p:sp>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5262979"/>
          </a:xfrm>
          <a:prstGeom prst="rect">
            <a:avLst/>
          </a:prstGeom>
          <a:solidFill>
            <a:schemeClr val="accent6">
              <a:lumMod val="40000"/>
              <a:lumOff val="6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import </a:t>
            </a:r>
            <a:r>
              <a:rPr lang="en-US" altLang="ko-KR" sz="1600" dirty="0" err="1">
                <a:latin typeface="D2Coding" panose="020B0609020101020101" pitchFamily="49" charset="-127"/>
                <a:ea typeface="D2Coding" panose="020B0609020101020101" pitchFamily="49" charset="-127"/>
              </a:rPr>
              <a:t>tensorflow</a:t>
            </a:r>
            <a:r>
              <a:rPr lang="en-US" altLang="ko-KR" sz="1600" dirty="0">
                <a:latin typeface="D2Coding" panose="020B0609020101020101" pitchFamily="49" charset="-127"/>
                <a:ea typeface="D2Coding" panose="020B0609020101020101" pitchFamily="49" charset="-127"/>
              </a:rPr>
              <a:t> as </a:t>
            </a:r>
            <a:r>
              <a:rPr lang="en-US" altLang="ko-KR" sz="1600" dirty="0" err="1">
                <a:latin typeface="D2Coding" panose="020B0609020101020101" pitchFamily="49" charset="-127"/>
                <a:ea typeface="D2Coding" panose="020B0609020101020101" pitchFamily="49" charset="-127"/>
              </a:rPr>
              <a:t>tfimport</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tensorflow</a:t>
            </a:r>
            <a:r>
              <a:rPr lang="en-US" altLang="ko-KR" sz="1600" dirty="0">
                <a:latin typeface="D2Coding" panose="020B0609020101020101" pitchFamily="49" charset="-127"/>
                <a:ea typeface="D2Coding" panose="020B0609020101020101" pitchFamily="49" charset="-127"/>
              </a:rPr>
              <a:t> as</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tf</a:t>
            </a:r>
            <a:endParaRPr lang="en-US" altLang="ko-KR"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tensorflow</a:t>
            </a:r>
            <a:r>
              <a:rPr lang="en-US" altLang="ko-KR" sz="1600" dirty="0">
                <a:latin typeface="D2Coding" panose="020B0609020101020101" pitchFamily="49" charset="-127"/>
                <a:ea typeface="D2Coding" panose="020B0609020101020101" pitchFamily="49" charset="-127"/>
              </a:rPr>
              <a:t> import</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a:t>
            </a:r>
            <a:endParaRPr lang="en-US" altLang="ko-KR" sz="1600" dirty="0">
              <a:latin typeface="D2Coding" panose="020B0609020101020101" pitchFamily="49" charset="-127"/>
              <a:ea typeface="D2Coding" panose="020B0609020101020101" pitchFamily="49" charset="-127"/>
            </a:endParaRPr>
          </a:p>
          <a:p>
            <a:endParaRPr lang="en-US" altLang="ko-KR"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1. </a:t>
            </a:r>
            <a:r>
              <a:rPr lang="ko-KR" altLang="en-US" sz="1600" dirty="0">
                <a:latin typeface="D2Coding" panose="020B0609020101020101" pitchFamily="49" charset="-127"/>
                <a:ea typeface="D2Coding" panose="020B0609020101020101" pitchFamily="49" charset="-127"/>
              </a:rPr>
              <a:t>가상 데이터 생성 </a:t>
            </a:r>
            <a:r>
              <a:rPr lang="en-US" altLang="ko-KR" sz="1600" dirty="0">
                <a:latin typeface="D2Coding" panose="020B0609020101020101" pitchFamily="49" charset="-127"/>
                <a:ea typeface="D2Coding" panose="020B0609020101020101" pitchFamily="49" charset="-127"/>
              </a:rPr>
              <a:t>(Matrix) </a:t>
            </a:r>
            <a:r>
              <a:rPr lang="ko-KR" altLang="en-US" sz="1600" dirty="0">
                <a:latin typeface="D2Coding" panose="020B0609020101020101" pitchFamily="49" charset="-127"/>
                <a:ea typeface="D2Coding" panose="020B0609020101020101" pitchFamily="49" charset="-127"/>
              </a:rPr>
              <a:t>단어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번 </a:t>
            </a:r>
            <a:r>
              <a:rPr lang="en-US" altLang="ko-KR" sz="1600" dirty="0">
                <a:latin typeface="D2Coding" panose="020B0609020101020101" pitchFamily="49" charset="-127"/>
                <a:ea typeface="D2Coding" panose="020B0609020101020101" pitchFamily="49" charset="-127"/>
              </a:rPr>
              <a:t>(timesteps=4), </a:t>
            </a:r>
            <a:r>
              <a:rPr lang="ko-KR" altLang="en-US" sz="1600" dirty="0">
                <a:latin typeface="D2Coding" panose="020B0609020101020101" pitchFamily="49" charset="-127"/>
                <a:ea typeface="D2Coding" panose="020B0609020101020101" pitchFamily="49" charset="-127"/>
              </a:rPr>
              <a:t>각 단어는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차원 벡터 </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=4)</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timesteps = 4; </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 = 4</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a:t>
            </a:r>
            <a:r>
              <a:rPr lang="en-US" altLang="ko-KR" sz="1600" dirty="0">
                <a:latin typeface="D2Coding" panose="020B0609020101020101" pitchFamily="49" charset="-127"/>
                <a:ea typeface="D2Coding" panose="020B0609020101020101" pitchFamily="49" charset="-127"/>
              </a:rPr>
              <a:t> RNN </a:t>
            </a:r>
            <a:r>
              <a:rPr lang="ko-KR" altLang="en-US" sz="1600" dirty="0">
                <a:latin typeface="D2Coding" panose="020B0609020101020101" pitchFamily="49" charset="-127"/>
                <a:ea typeface="D2Coding" panose="020B0609020101020101" pitchFamily="49" charset="-127"/>
              </a:rPr>
              <a:t>연산을 위해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배치 크기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타임스텝</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특징 차원</a:t>
            </a:r>
            <a:r>
              <a:rPr lang="en-US" altLang="ko-KR" sz="1600" dirty="0">
                <a:latin typeface="D2Coding" panose="020B0609020101020101" pitchFamily="49" charset="-127"/>
                <a:ea typeface="D2Coding" panose="020B0609020101020101" pitchFamily="49" charset="-127"/>
              </a:rPr>
              <a:t>] -&gt; [1, 4, 4] </a:t>
            </a:r>
            <a:r>
              <a:rPr lang="ko-KR" altLang="en-US" sz="1600" dirty="0">
                <a:latin typeface="D2Coding" panose="020B0609020101020101" pitchFamily="49" charset="-127"/>
                <a:ea typeface="D2Coding" panose="020B0609020101020101" pitchFamily="49" charset="-127"/>
              </a:rPr>
              <a:t>형태로 입력 데이터 준비</a:t>
            </a:r>
          </a:p>
          <a:p>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실제 환경에서는 </a:t>
            </a:r>
            <a:r>
              <a:rPr lang="en-US" altLang="ko-KR" sz="1600" dirty="0" err="1">
                <a:latin typeface="D2Coding" panose="020B0609020101020101" pitchFamily="49" charset="-127"/>
                <a:ea typeface="D2Coding" panose="020B0609020101020101" pitchFamily="49" charset="-127"/>
              </a:rPr>
              <a:t>Gensim</a:t>
            </a:r>
            <a:r>
              <a:rPr lang="en-US" altLang="ko-KR" sz="1600" dirty="0">
                <a:latin typeface="D2Coding" panose="020B0609020101020101" pitchFamily="49" charset="-127"/>
                <a:ea typeface="D2Coding" panose="020B0609020101020101" pitchFamily="49" charset="-127"/>
              </a:rPr>
              <a:t> Word2Vec </a:t>
            </a:r>
            <a:r>
              <a:rPr lang="ko-KR" altLang="en-US" sz="1600" dirty="0">
                <a:latin typeface="D2Coding" panose="020B0609020101020101" pitchFamily="49" charset="-127"/>
                <a:ea typeface="D2Coding" panose="020B0609020101020101" pitchFamily="49" charset="-127"/>
              </a:rPr>
              <a:t>결과값이 들어가는 자리</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en-US" altLang="ko-KR" sz="1600" dirty="0" err="1">
                <a:latin typeface="D2Coding" panose="020B0609020101020101" pitchFamily="49" charset="-127"/>
                <a:ea typeface="D2Coding" panose="020B0609020101020101" pitchFamily="49" charset="-127"/>
              </a:rPr>
              <a:t>X_dummy</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np.random.rand</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timesteps,</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astype</a:t>
            </a:r>
            <a:r>
              <a:rPr lang="en-US" altLang="ko-KR" sz="1600" dirty="0">
                <a:latin typeface="D2Coding" panose="020B0609020101020101" pitchFamily="49" charset="-127"/>
                <a:ea typeface="D2Coding" panose="020B0609020101020101" pitchFamily="49" charset="-127"/>
              </a:rPr>
              <a:t>(np.float32)</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2. </a:t>
            </a:r>
            <a:r>
              <a:rPr lang="ko-KR" altLang="en-US" sz="1600" dirty="0">
                <a:latin typeface="D2Coding" panose="020B0609020101020101" pitchFamily="49" charset="-127"/>
                <a:ea typeface="D2Coding" panose="020B0609020101020101" pitchFamily="49" charset="-127"/>
              </a:rPr>
              <a:t>그림 구조를 반영한 </a:t>
            </a:r>
            <a:r>
              <a:rPr lang="en-US" altLang="ko-KR" sz="1600" dirty="0" err="1">
                <a:latin typeface="D2Coding" panose="020B0609020101020101" pitchFamily="49" charset="-127"/>
                <a:ea typeface="D2Coding" panose="020B0609020101020101" pitchFamily="49" charset="-127"/>
              </a:rPr>
              <a:t>Keras</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 설계</a:t>
            </a:r>
          </a:p>
          <a:p>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units=2,</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은닉층</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노드가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은닉 상태 크기 </a:t>
            </a:r>
            <a:r>
              <a:rPr lang="en-US" altLang="ko-KR" sz="1600" dirty="0">
                <a:latin typeface="D2Coding" panose="020B0609020101020101" pitchFamily="49" charset="-127"/>
                <a:ea typeface="D2Coding" panose="020B0609020101020101" pitchFamily="49" charset="-127"/>
              </a:rPr>
              <a:t>2 (</a:t>
            </a:r>
            <a:r>
              <a:rPr lang="en-US" altLang="ko-KR" sz="1600" dirty="0" err="1">
                <a:latin typeface="D2Coding" panose="020B0609020101020101" pitchFamily="49" charset="-127"/>
                <a:ea typeface="D2Coding" panose="020B0609020101020101" pitchFamily="49" charset="-127"/>
              </a:rPr>
              <a:t>hidden_size</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인 </a:t>
            </a:r>
            <a:r>
              <a:rPr lang="en-US" altLang="ko-KR" sz="1600" dirty="0" err="1">
                <a:latin typeface="D2Coding" panose="020B0609020101020101" pitchFamily="49" charset="-127"/>
                <a:ea typeface="D2Coding" panose="020B0609020101020101" pitchFamily="49" charset="-127"/>
              </a:rPr>
              <a:t>SimpleRNN</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activation='tanh',</a:t>
            </a:r>
            <a:r>
              <a:rPr lang="ko-KR" altLang="en-US" sz="1600" dirty="0">
                <a:latin typeface="D2Coding" panose="020B0609020101020101" pitchFamily="49" charset="-127"/>
                <a:ea typeface="D2Coding" panose="020B0609020101020101" pitchFamily="49" charset="-127"/>
              </a:rPr>
              <a:t> </a:t>
            </a: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time step</a:t>
            </a:r>
            <a:r>
              <a:rPr lang="ko-KR" altLang="en-US" sz="1600" dirty="0">
                <a:latin typeface="D2Coding" panose="020B0609020101020101" pitchFamily="49" charset="-127"/>
                <a:ea typeface="D2Coding" panose="020B0609020101020101" pitchFamily="49" charset="-127"/>
              </a:rPr>
              <a:t>마다 출력이 위로 </a:t>
            </a:r>
            <a:r>
              <a:rPr lang="ko-KR" altLang="en-US" sz="1600" dirty="0" err="1">
                <a:latin typeface="D2Coding" panose="020B0609020101020101" pitchFamily="49" charset="-127"/>
                <a:ea typeface="D2Coding" panose="020B0609020101020101" pitchFamily="49" charset="-127"/>
              </a:rPr>
              <a:t>뻗어나가므로</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ko-KR" altLang="en-US" sz="1600" dirty="0">
                <a:latin typeface="D2Coding" panose="020B0609020101020101" pitchFamily="49" charset="-127"/>
                <a:ea typeface="D2Coding" panose="020B0609020101020101" pitchFamily="49" charset="-127"/>
              </a:rPr>
              <a:t>설정</a:t>
            </a: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=[timesteps,</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input_size</a:t>
            </a:r>
            <a:r>
              <a:rPr lang="en-US" altLang="ko-KR" sz="1600" dirty="0">
                <a:latin typeface="D2Coding" panose="020B0609020101020101" pitchFamily="49" charset="-127"/>
                <a:ea typeface="D2Coding" panose="020B0609020101020101" pitchFamily="49" charset="-127"/>
              </a:rPr>
              <a:t>], name="</a:t>
            </a:r>
            <a:r>
              <a:rPr lang="en-US" altLang="ko-KR" sz="1600" dirty="0" err="1">
                <a:latin typeface="D2Coding" panose="020B0609020101020101" pitchFamily="49" charset="-127"/>
                <a:ea typeface="D2Coding" panose="020B0609020101020101" pitchFamily="49" charset="-127"/>
              </a:rPr>
              <a:t>Hidden_Layer</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keras.layers.Dense</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units=2,</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name="</a:t>
            </a:r>
            <a:r>
              <a:rPr lang="en-US" altLang="ko-KR" sz="1600" dirty="0" err="1">
                <a:latin typeface="D2Coding" panose="020B0609020101020101" pitchFamily="49" charset="-127"/>
                <a:ea typeface="D2Coding" panose="020B0609020101020101" pitchFamily="49" charset="-127"/>
              </a:rPr>
              <a:t>Output_Layer</a:t>
            </a:r>
            <a:r>
              <a:rPr lang="en-US" altLang="ko-KR"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출력층</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각 타임스텝마다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차원 </a:t>
            </a:r>
            <a:r>
              <a:rPr lang="ko-KR" altLang="en-US" sz="1600" dirty="0" err="1">
                <a:latin typeface="D2Coding" panose="020B0609020101020101" pitchFamily="49" charset="-127"/>
                <a:ea typeface="D2Coding" panose="020B0609020101020101" pitchFamily="49" charset="-127"/>
              </a:rPr>
              <a:t>출력층</a:t>
            </a:r>
            <a:r>
              <a:rPr lang="en-US" altLang="ko-KR" sz="1600" dirty="0">
                <a:latin typeface="D2Coding" panose="020B0609020101020101" pitchFamily="49" charset="-127"/>
                <a:ea typeface="D2Coding" panose="020B0609020101020101" pitchFamily="49" charset="-127"/>
              </a:rPr>
              <a:t>(units=2)</a:t>
            </a:r>
            <a:r>
              <a:rPr lang="ko-KR" altLang="en-US" sz="1600" dirty="0">
                <a:latin typeface="D2Coding" panose="020B0609020101020101" pitchFamily="49" charset="-127"/>
                <a:ea typeface="D2Coding" panose="020B0609020101020101" pitchFamily="49" charset="-127"/>
              </a:rPr>
              <a:t> 담당하는 전결합층</a:t>
            </a: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1538502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254C28B-4B8A-88A3-DB1F-C0B434866D6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15</a:t>
            </a:fld>
            <a:endParaRPr lang="en-US" dirty="0"/>
          </a:p>
        </p:txBody>
      </p:sp>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539430"/>
          </a:xfrm>
          <a:prstGeom prst="rect">
            <a:avLst/>
          </a:prstGeom>
          <a:solidFill>
            <a:schemeClr val="accent6">
              <a:lumMod val="40000"/>
              <a:lumOff val="6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 3. </a:t>
            </a:r>
            <a:r>
              <a:rPr lang="ko-KR" altLang="en-US" sz="1600" dirty="0">
                <a:latin typeface="D2Coding" panose="020B0609020101020101" pitchFamily="49" charset="-127"/>
                <a:ea typeface="D2Coding" panose="020B0609020101020101" pitchFamily="49" charset="-127"/>
              </a:rPr>
              <a:t>모델 구조 확인 및 예측 수행</a:t>
            </a:r>
          </a:p>
          <a:p>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 컴파일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en-US" altLang="ko-KR" sz="1600" dirty="0" err="1">
                <a:latin typeface="D2Coding" panose="020B0609020101020101" pitchFamily="49" charset="-127"/>
                <a:ea typeface="D2Coding" panose="020B0609020101020101" pitchFamily="49" charset="-127"/>
              </a:rPr>
              <a:t>model.compile</a:t>
            </a:r>
            <a:r>
              <a:rPr lang="en-US" altLang="ko-KR" sz="1600" dirty="0">
                <a:latin typeface="D2Coding" panose="020B0609020101020101" pitchFamily="49" charset="-127"/>
                <a:ea typeface="D2Coding" panose="020B0609020101020101" pitchFamily="49" charset="-127"/>
              </a:rPr>
              <a:t>(loss="</a:t>
            </a:r>
            <a:r>
              <a:rPr lang="en-US" altLang="ko-KR" sz="1600" dirty="0" err="1">
                <a:latin typeface="D2Coding" panose="020B0609020101020101" pitchFamily="49" charset="-127"/>
                <a:ea typeface="D2Coding" panose="020B0609020101020101" pitchFamily="49" charset="-127"/>
              </a:rPr>
              <a:t>mse</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optimizer="</a:t>
            </a:r>
            <a:r>
              <a:rPr lang="en-US" altLang="ko-KR" sz="1600" dirty="0" err="1">
                <a:latin typeface="D2Coding" panose="020B0609020101020101" pitchFamily="49" charset="-127"/>
                <a:ea typeface="D2Coding" panose="020B0609020101020101" pitchFamily="49" charset="-127"/>
              </a:rPr>
              <a:t>adam</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br>
              <a:rPr lang="ko-KR" altLang="en-US" sz="1600" dirty="0">
                <a:latin typeface="D2Coding" panose="020B0609020101020101" pitchFamily="49" charset="-127"/>
                <a:ea typeface="D2Coding" panose="020B0609020101020101" pitchFamily="49" charset="-127"/>
              </a:rPr>
            </a:b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가중치</a:t>
            </a:r>
            <a:r>
              <a:rPr lang="en-US" altLang="ko-KR" sz="1600" dirty="0">
                <a:latin typeface="D2Coding" panose="020B0609020101020101" pitchFamily="49" charset="-127"/>
                <a:ea typeface="D2Coding" panose="020B0609020101020101" pitchFamily="49" charset="-127"/>
              </a:rPr>
              <a:t>(Param) </a:t>
            </a:r>
            <a:r>
              <a:rPr lang="ko-KR" altLang="en-US" sz="1600" dirty="0">
                <a:latin typeface="D2Coding" panose="020B0609020101020101" pitchFamily="49" charset="-127"/>
                <a:ea typeface="D2Coding" panose="020B0609020101020101" pitchFamily="49" charset="-127"/>
              </a:rPr>
              <a:t>개수가 그림과 일치하는지 요약 표 출력</a:t>
            </a:r>
          </a:p>
          <a:p>
            <a:r>
              <a:rPr lang="en-US" altLang="ko-KR" sz="1600" dirty="0" err="1">
                <a:latin typeface="D2Coding" panose="020B0609020101020101" pitchFamily="49" charset="-127"/>
                <a:ea typeface="D2Coding" panose="020B0609020101020101" pitchFamily="49" charset="-127"/>
              </a:rPr>
              <a:t>model.summary</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br>
              <a:rPr lang="ko-KR" altLang="en-US" sz="1600" dirty="0">
                <a:latin typeface="D2Coding" panose="020B0609020101020101" pitchFamily="49" charset="-127"/>
                <a:ea typeface="D2Coding" panose="020B0609020101020101" pitchFamily="49" charset="-127"/>
              </a:rPr>
            </a:b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가상 데이터를 모델에 통과시켜 </a:t>
            </a:r>
            <a:r>
              <a:rPr lang="ko-KR" altLang="en-US" sz="1600" dirty="0" err="1">
                <a:latin typeface="D2Coding" panose="020B0609020101020101" pitchFamily="49" charset="-127"/>
                <a:ea typeface="D2Coding" panose="020B0609020101020101" pitchFamily="49" charset="-127"/>
              </a:rPr>
              <a:t>출력값</a:t>
            </a:r>
            <a:r>
              <a:rPr lang="ko-KR" altLang="en-US" sz="1600" dirty="0">
                <a:latin typeface="D2Coding" panose="020B0609020101020101" pitchFamily="49" charset="-127"/>
                <a:ea typeface="D2Coding" panose="020B0609020101020101" pitchFamily="49" charset="-127"/>
              </a:rPr>
              <a:t> 확인</a:t>
            </a:r>
          </a:p>
          <a:p>
            <a:r>
              <a:rPr lang="en-US" altLang="ko-KR" sz="1600" dirty="0">
                <a:latin typeface="D2Coding" panose="020B0609020101020101" pitchFamily="49" charset="-127"/>
                <a:ea typeface="D2Coding" panose="020B0609020101020101" pitchFamily="49" charset="-127"/>
              </a:rPr>
              <a:t>output = </a:t>
            </a:r>
            <a:r>
              <a:rPr lang="en-US" altLang="ko-KR" sz="1600" dirty="0" err="1">
                <a:latin typeface="D2Coding" panose="020B0609020101020101" pitchFamily="49" charset="-127"/>
                <a:ea typeface="D2Coding" panose="020B0609020101020101" pitchFamily="49" charset="-127"/>
              </a:rPr>
              <a:t>model.predict</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X_dummy</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print("\n=== </a:t>
            </a:r>
            <a:r>
              <a:rPr lang="ko-KR" altLang="en-US" sz="1600" dirty="0">
                <a:latin typeface="D2Coding" panose="020B0609020101020101" pitchFamily="49" charset="-127"/>
                <a:ea typeface="D2Coding" panose="020B0609020101020101" pitchFamily="49" charset="-127"/>
              </a:rPr>
              <a:t>최종 출력 데이터 모양 </a:t>
            </a:r>
            <a:r>
              <a:rPr lang="en-US" altLang="ko-KR" sz="1600" dirty="0">
                <a:latin typeface="D2Coding" panose="020B0609020101020101" pitchFamily="49" charset="-127"/>
                <a:ea typeface="D2Coding" panose="020B0609020101020101" pitchFamily="49" charset="-127"/>
              </a:rPr>
              <a:t>(Output Shape) ===")</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a:t>
            </a:r>
            <a:r>
              <a:rPr lang="ko-KR" altLang="en-US" sz="1600" dirty="0">
                <a:latin typeface="D2Coding" panose="020B0609020101020101" pitchFamily="49" charset="-127"/>
                <a:ea typeface="D2Coding" panose="020B0609020101020101" pitchFamily="49" charset="-127"/>
              </a:rPr>
              <a:t>결과 배열 크기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output.shape</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크기</a:t>
            </a:r>
            <a:r>
              <a:rPr lang="en-US" altLang="ko-KR" sz="1600" dirty="0">
                <a:latin typeface="D2Coding" panose="020B0609020101020101" pitchFamily="49" charset="-127"/>
                <a:ea typeface="D2Coding" panose="020B0609020101020101" pitchFamily="49" charset="-127"/>
              </a:rPr>
              <a:t>: (1, 4, 2) -&gt; [</a:t>
            </a:r>
            <a:r>
              <a:rPr lang="ko-KR" altLang="en-US" sz="1600" dirty="0">
                <a:latin typeface="D2Coding" panose="020B0609020101020101" pitchFamily="49" charset="-127"/>
                <a:ea typeface="D2Coding" panose="020B0609020101020101" pitchFamily="49" charset="-127"/>
              </a:rPr>
              <a:t>배치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타임스텝</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출력차원</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print("\n=== </a:t>
            </a:r>
            <a:r>
              <a:rPr lang="ko-KR" altLang="en-US" sz="1600" dirty="0">
                <a:latin typeface="D2Coding" panose="020B0609020101020101" pitchFamily="49" charset="-127"/>
                <a:ea typeface="D2Coding" panose="020B0609020101020101" pitchFamily="49" charset="-127"/>
              </a:rPr>
              <a:t>실제 출력된 값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 시점별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차원 출력</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print(output[0])</a:t>
            </a:r>
            <a:endParaRPr lang="ko-KR" altLang="en-US" sz="16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Tree>
    <p:extLst>
      <p:ext uri="{BB962C8B-B14F-4D97-AF65-F5344CB8AC3E}">
        <p14:creationId xmlns:p14="http://schemas.microsoft.com/office/powerpoint/2010/main" val="26230321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2E9DA771-6870-123A-1128-9F853C7FC970}"/>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16</a:t>
            </a:fld>
            <a:endParaRPr lang="en-US" dirty="0"/>
          </a:p>
        </p:txBody>
      </p:sp>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Tree>
    <p:extLst>
      <p:ext uri="{BB962C8B-B14F-4D97-AF65-F5344CB8AC3E}">
        <p14:creationId xmlns:p14="http://schemas.microsoft.com/office/powerpoint/2010/main" val="6522042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ADB3AF37-E42F-565B-46B9-6B7245CE7DE5}"/>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17</a:t>
            </a:fld>
            <a:endParaRPr lang="en-US" dirty="0"/>
          </a:p>
        </p:txBody>
      </p:sp>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339970A5-A681-2B27-3205-D7A4C775AA70}"/>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814201" y="2412283"/>
            <a:ext cx="3676650" cy="3143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70558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FB53F-5797-0BB2-9323-F166DE5B6771}"/>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DBFB5B3E-2733-6F10-C433-7C314850C9FE}"/>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18</a:t>
            </a:fld>
            <a:endParaRPr lang="en-US" dirty="0"/>
          </a:p>
        </p:txBody>
      </p:sp>
      <p:sp>
        <p:nvSpPr>
          <p:cNvPr id="3" name="제목 1">
            <a:extLst>
              <a:ext uri="{FF2B5EF4-FFF2-40B4-BE49-F238E27FC236}">
                <a16:creationId xmlns:a16="http://schemas.microsoft.com/office/drawing/2014/main" id="{C56A9490-8D65-6528-22C1-98B7D50809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A9EEC3D1-0BD5-4541-4799-448270E1E17E}"/>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814201" y="2412283"/>
            <a:ext cx="3676650" cy="3143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3360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42091B1E-C426-25FD-67B2-B1CF234C6B7A}"/>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19</a:t>
            </a:fld>
            <a:endParaRPr lang="en-US" dirty="0"/>
          </a:p>
        </p:txBody>
      </p:sp>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 name="Picture 4">
            <a:extLst>
              <a:ext uri="{FF2B5EF4-FFF2-40B4-BE49-F238E27FC236}">
                <a16:creationId xmlns:a16="http://schemas.microsoft.com/office/drawing/2014/main" id="{912112BE-FB30-E488-53B7-8D87ECB97B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499" y="1374234"/>
            <a:ext cx="6061090" cy="243074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13025" y="3892807"/>
            <a:ext cx="6061091" cy="25964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730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5953</TotalTime>
  <Words>1903</Words>
  <Application>Microsoft Office PowerPoint</Application>
  <PresentationFormat>와이드스크린</PresentationFormat>
  <Paragraphs>224</Paragraphs>
  <Slides>19</Slides>
  <Notes>2</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19</vt:i4>
      </vt:variant>
    </vt:vector>
  </HeadingPairs>
  <TitlesOfParts>
    <vt:vector size="27" baseType="lpstr">
      <vt:lpstr>D2Coding</vt:lpstr>
      <vt:lpstr>맑은 고딕</vt:lpstr>
      <vt:lpstr>바탕</vt:lpstr>
      <vt:lpstr>Arial</vt:lpstr>
      <vt:lpstr>Cambria Math</vt:lpstr>
      <vt:lpstr>Cascadia Code</vt:lpstr>
      <vt:lpstr>Wingdings</vt:lpstr>
      <vt:lpstr>WelcomeDoc</vt:lpstr>
      <vt:lpstr>Text Classification</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112</cp:revision>
  <dcterms:created xsi:type="dcterms:W3CDTF">2026-04-06T01:00:39Z</dcterms:created>
  <dcterms:modified xsi:type="dcterms:W3CDTF">2026-06-30T14:54:18Z</dcterms:modified>
  <cp:version/>
</cp:coreProperties>
</file>