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2"/>
  </p:notesMasterIdLst>
  <p:handoutMasterIdLst>
    <p:handoutMasterId r:id="rId93"/>
  </p:handoutMasterIdLst>
  <p:sldIdLst>
    <p:sldId id="256" r:id="rId2"/>
    <p:sldId id="1136" r:id="rId3"/>
    <p:sldId id="1134" r:id="rId4"/>
    <p:sldId id="1174" r:id="rId5"/>
    <p:sldId id="1203" r:id="rId6"/>
    <p:sldId id="1141" r:id="rId7"/>
    <p:sldId id="1173" r:id="rId8"/>
    <p:sldId id="1216" r:id="rId9"/>
    <p:sldId id="1195" r:id="rId10"/>
    <p:sldId id="1169" r:id="rId11"/>
    <p:sldId id="1170" r:id="rId12"/>
    <p:sldId id="1172" r:id="rId13"/>
    <p:sldId id="1196" r:id="rId14"/>
    <p:sldId id="1137" r:id="rId15"/>
    <p:sldId id="1205" r:id="rId16"/>
    <p:sldId id="1206" r:id="rId17"/>
    <p:sldId id="1204" r:id="rId18"/>
    <p:sldId id="1114" r:id="rId19"/>
    <p:sldId id="1199" r:id="rId20"/>
    <p:sldId id="1200" r:id="rId21"/>
    <p:sldId id="1107" r:id="rId22"/>
    <p:sldId id="1133" r:id="rId23"/>
    <p:sldId id="1129" r:id="rId24"/>
    <p:sldId id="1130" r:id="rId25"/>
    <p:sldId id="1177" r:id="rId26"/>
    <p:sldId id="1112" r:id="rId27"/>
    <p:sldId id="1197" r:id="rId28"/>
    <p:sldId id="1132" r:id="rId29"/>
    <p:sldId id="1131" r:id="rId30"/>
    <p:sldId id="1124" r:id="rId31"/>
    <p:sldId id="1198" r:id="rId32"/>
    <p:sldId id="1178" r:id="rId33"/>
    <p:sldId id="1115" r:id="rId34"/>
    <p:sldId id="1138" r:id="rId35"/>
    <p:sldId id="1201" r:id="rId36"/>
    <p:sldId id="1188" r:id="rId37"/>
    <p:sldId id="1189" r:id="rId38"/>
    <p:sldId id="1127" r:id="rId39"/>
    <p:sldId id="1103" r:id="rId40"/>
    <p:sldId id="1098" r:id="rId41"/>
    <p:sldId id="1099" r:id="rId42"/>
    <p:sldId id="1101" r:id="rId43"/>
    <p:sldId id="1202" r:id="rId44"/>
    <p:sldId id="1176" r:id="rId45"/>
    <p:sldId id="1208" r:id="rId46"/>
    <p:sldId id="1209" r:id="rId47"/>
    <p:sldId id="1210" r:id="rId48"/>
    <p:sldId id="1211" r:id="rId49"/>
    <p:sldId id="1212" r:id="rId50"/>
    <p:sldId id="1214" r:id="rId51"/>
    <p:sldId id="1215" r:id="rId52"/>
    <p:sldId id="1213" r:id="rId53"/>
    <p:sldId id="1207" r:id="rId54"/>
    <p:sldId id="1105" r:id="rId55"/>
    <p:sldId id="1095" r:id="rId56"/>
    <p:sldId id="1096" r:id="rId57"/>
    <p:sldId id="1097" r:id="rId58"/>
    <p:sldId id="1106" r:id="rId59"/>
    <p:sldId id="1102" r:id="rId60"/>
    <p:sldId id="1116" r:id="rId61"/>
    <p:sldId id="1104" r:id="rId62"/>
    <p:sldId id="1125" r:id="rId63"/>
    <p:sldId id="1126" r:id="rId64"/>
    <p:sldId id="1175" r:id="rId65"/>
    <p:sldId id="1111" r:id="rId66"/>
    <p:sldId id="1113" r:id="rId67"/>
    <p:sldId id="1109" r:id="rId68"/>
    <p:sldId id="1110" r:id="rId69"/>
    <p:sldId id="1139" r:id="rId70"/>
    <p:sldId id="1186" r:id="rId71"/>
    <p:sldId id="1118" r:id="rId72"/>
    <p:sldId id="1119" r:id="rId73"/>
    <p:sldId id="1194" r:id="rId74"/>
    <p:sldId id="1179" r:id="rId75"/>
    <p:sldId id="1180" r:id="rId76"/>
    <p:sldId id="1190" r:id="rId77"/>
    <p:sldId id="1191" r:id="rId78"/>
    <p:sldId id="1192" r:id="rId79"/>
    <p:sldId id="1193" r:id="rId80"/>
    <p:sldId id="1181" r:id="rId81"/>
    <p:sldId id="1182" r:id="rId82"/>
    <p:sldId id="1183" r:id="rId83"/>
    <p:sldId id="1184" r:id="rId84"/>
    <p:sldId id="1185" r:id="rId85"/>
    <p:sldId id="1187" r:id="rId86"/>
    <p:sldId id="1217" r:id="rId87"/>
    <p:sldId id="1220" r:id="rId88"/>
    <p:sldId id="1221" r:id="rId89"/>
    <p:sldId id="1218" r:id="rId90"/>
    <p:sldId id="1219" r:id="rId9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4"/>
            <p14:sldId id="1174"/>
            <p14:sldId id="1203"/>
            <p14:sldId id="1141"/>
            <p14:sldId id="1173"/>
            <p14:sldId id="1216"/>
            <p14:sldId id="1195"/>
            <p14:sldId id="1169"/>
            <p14:sldId id="1170"/>
            <p14:sldId id="1172"/>
            <p14:sldId id="1196"/>
            <p14:sldId id="1137"/>
            <p14:sldId id="1205"/>
            <p14:sldId id="1206"/>
            <p14:sldId id="1204"/>
            <p14:sldId id="1114"/>
            <p14:sldId id="1199"/>
            <p14:sldId id="1200"/>
            <p14:sldId id="1107"/>
            <p14:sldId id="1133"/>
            <p14:sldId id="1129"/>
            <p14:sldId id="1130"/>
            <p14:sldId id="1177"/>
            <p14:sldId id="1112"/>
            <p14:sldId id="1197"/>
            <p14:sldId id="1132"/>
            <p14:sldId id="1131"/>
            <p14:sldId id="1124"/>
            <p14:sldId id="1198"/>
            <p14:sldId id="1178"/>
            <p14:sldId id="1115"/>
            <p14:sldId id="1138"/>
            <p14:sldId id="1201"/>
            <p14:sldId id="1188"/>
            <p14:sldId id="1189"/>
            <p14:sldId id="1127"/>
            <p14:sldId id="1103"/>
            <p14:sldId id="1098"/>
            <p14:sldId id="1099"/>
            <p14:sldId id="1101"/>
            <p14:sldId id="1202"/>
            <p14:sldId id="1176"/>
            <p14:sldId id="1208"/>
            <p14:sldId id="1209"/>
            <p14:sldId id="1210"/>
            <p14:sldId id="1211"/>
            <p14:sldId id="1212"/>
            <p14:sldId id="1214"/>
            <p14:sldId id="1215"/>
            <p14:sldId id="1213"/>
            <p14:sldId id="1207"/>
            <p14:sldId id="1105"/>
            <p14:sldId id="1095"/>
            <p14:sldId id="1096"/>
            <p14:sldId id="1097"/>
            <p14:sldId id="1106"/>
            <p14:sldId id="1102"/>
            <p14:sldId id="1116"/>
            <p14:sldId id="1104"/>
            <p14:sldId id="1125"/>
            <p14:sldId id="1126"/>
            <p14:sldId id="1175"/>
            <p14:sldId id="1111"/>
            <p14:sldId id="1113"/>
            <p14:sldId id="1109"/>
            <p14:sldId id="1110"/>
            <p14:sldId id="1139"/>
            <p14:sldId id="1186"/>
            <p14:sldId id="1118"/>
            <p14:sldId id="1119"/>
            <p14:sldId id="1194"/>
            <p14:sldId id="1179"/>
            <p14:sldId id="1180"/>
            <p14:sldId id="1190"/>
            <p14:sldId id="1191"/>
            <p14:sldId id="1192"/>
            <p14:sldId id="1193"/>
            <p14:sldId id="1181"/>
            <p14:sldId id="1182"/>
            <p14:sldId id="1183"/>
            <p14:sldId id="1184"/>
            <p14:sldId id="1185"/>
            <p14:sldId id="1187"/>
            <p14:sldId id="1217"/>
            <p14:sldId id="1220"/>
            <p14:sldId id="1221"/>
            <p14:sldId id="1218"/>
            <p14:sldId id="121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68" d="100"/>
          <a:sy n="68" d="100"/>
        </p:scale>
        <p:origin x="1050" y="5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handoutMaster" Target="handoutMasters/handoutMaster1.xml"/><Relationship Id="rId98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4AE8-85C6-FE2E-54EB-2B1077696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C6A91D-9032-A35D-1BAF-EBF601F11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9D45FA-1BC2-61F5-B1F2-686A23297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88F8D9-27E7-0EE7-2903-0D9806477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4339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C71F8-751E-CCCD-6C8A-5A1DA132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39A948-691E-DCAA-377C-6E9CDE635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DB16FE-6FE2-4508-BB27-19198A0FA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352A5-F09E-A040-0B41-E71C60374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1351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98392-4E95-02CE-A6DB-519EF9B6C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560959-980F-A07D-7632-43C9B46D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D86DC6-7712-D065-1D86-774A4B8FB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A72450-B8D9-1B15-5151-83DF825586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951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349AA-A884-675D-9E6E-CBEDA90FE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A82FF7-4B1B-2BEF-A859-EE173AE26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DC3DC2-6ED0-8523-4915-AA1EE968D3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0F030C-0838-521D-0E43-19F5AC59B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9551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BBEB0-B77A-D8E5-C986-05298B4E0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298E0-A1AE-820A-CCF6-19A665C5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5704F4-6AA5-1229-7B78-8ACF3B26B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CDDB87-E432-CF73-C43C-EB04900D6D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88889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55D9D-5C4A-1F17-B6E0-0FA4D1775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6F5AA7-1BD6-98C0-1FAE-9119958C1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726199-FCDA-4324-4F51-195EBB3A1F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430F05-1507-6BEB-19BD-10CA72577E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7719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gif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image" Target="../media/image240.png"/><Relationship Id="rId7" Type="http://schemas.openxmlformats.org/officeDocument/2006/relationships/image" Target="../media/image280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0.png"/><Relationship Id="rId5" Type="http://schemas.openxmlformats.org/officeDocument/2006/relationships/image" Target="../media/image260.png"/><Relationship Id="rId4" Type="http://schemas.openxmlformats.org/officeDocument/2006/relationships/image" Target="../media/image25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sv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sv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sv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svg"/><Relationship Id="rId4" Type="http://schemas.openxmlformats.org/officeDocument/2006/relationships/image" Target="../media/image34.sv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svg"/><Relationship Id="rId2" Type="http://schemas.openxmlformats.org/officeDocument/2006/relationships/image" Target="../media/image28.gif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5.sv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5.sv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0.jpe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hongleejihong/pok8mon_go" TargetMode="External"/><Relationship Id="rId2" Type="http://schemas.openxmlformats.org/officeDocument/2006/relationships/hyperlink" Target="https://ryuzyproject.tistory.com/98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svg"/><Relationship Id="rId4" Type="http://schemas.openxmlformats.org/officeDocument/2006/relationships/image" Target="../media/image61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5.sv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sv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7.svg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The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origin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of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0044A8-6511-F92B-840B-5C543FD2C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C4F3568-A0BC-9406-11E3-B7DB57B43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267" y="1719436"/>
            <a:ext cx="6056283" cy="39032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7EE1792-1D00-C545-6334-847EE471A5CF}"/>
              </a:ext>
            </a:extLst>
          </p:cNvPr>
          <p:cNvSpPr txBox="1"/>
          <p:nvPr/>
        </p:nvSpPr>
        <p:spPr>
          <a:xfrm>
            <a:off x="590550" y="5622682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1959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Torsten Wiesel&amp; David Hubel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시각 피질 실험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22835D-DA21-D0A7-893E-6444C9BD3C9F}"/>
              </a:ext>
            </a:extLst>
          </p:cNvPr>
          <p:cNvSpPr txBox="1"/>
          <p:nvPr/>
        </p:nvSpPr>
        <p:spPr>
          <a:xfrm>
            <a:off x="6801107" y="1703751"/>
            <a:ext cx="5057775" cy="36141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뇌는 단순한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특정 방향의 막대나 직선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반응한다는 사실을 우연히 발견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뇌가 시각 정보를 처리할 때 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같은 기본 요소로 먼저 분해한 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이를 조합해 복잡한 형상을 인식한다는 사실을 증명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원리는 현대 인공지능의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(CNN, Convolutional Neural Networks)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및 컴퓨터 비전 알고리즘이 이미지의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추출해 사물을 인식하는 기본 구조의 토대</a:t>
            </a: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350" y="1296152"/>
            <a:ext cx="10747649" cy="50194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672826" y="6361342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EFA82-E2EF-258E-60A1-694A8E026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FBA94-2148-9657-929E-B1922F54BD6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0DD64A-4029-76D0-BF74-FBF0A32334CD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6819980-C4B4-6D39-D6C0-9AE0C57B0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30" y="2040095"/>
            <a:ext cx="10097369" cy="4299409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73EB0BF-52BF-9DB4-462E-1461F219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307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742384" y="2465641"/>
            <a:ext cx="4744016" cy="28150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904" y="3162513"/>
            <a:ext cx="6829712" cy="331305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15475" y="2136809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713F72-6B6E-84D8-95EA-098C3E0B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8CE14F-F83A-0296-2670-6861F43BBB2C}"/>
              </a:ext>
            </a:extLst>
          </p:cNvPr>
          <p:cNvSpPr txBox="1"/>
          <p:nvPr/>
        </p:nvSpPr>
        <p:spPr>
          <a:xfrm>
            <a:off x="561975" y="1167608"/>
            <a:ext cx="1106805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이론과 작동방식을 이해하고 전체 공간정보를 지역별 특성정보화 하여 인식하는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구조와 용어를 배우고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실습하기 </a:t>
            </a:r>
          </a:p>
        </p:txBody>
      </p:sp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A00D407-3221-7B47-031A-0CF089D3CAC6}"/>
              </a:ext>
            </a:extLst>
          </p:cNvPr>
          <p:cNvSpPr/>
          <p:nvPr/>
        </p:nvSpPr>
        <p:spPr>
          <a:xfrm>
            <a:off x="780532" y="2876550"/>
            <a:ext cx="10096500" cy="685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99B9F48-2914-4726-D554-47A5123FFB03}"/>
              </a:ext>
            </a:extLst>
          </p:cNvPr>
          <p:cNvSpPr/>
          <p:nvPr/>
        </p:nvSpPr>
        <p:spPr>
          <a:xfrm>
            <a:off x="780532" y="4724400"/>
            <a:ext cx="10096500" cy="685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4E2AE60-B5A4-F632-4EC3-8B1EE41AF8C3}"/>
              </a:ext>
            </a:extLst>
          </p:cNvPr>
          <p:cNvSpPr/>
          <p:nvPr/>
        </p:nvSpPr>
        <p:spPr>
          <a:xfrm>
            <a:off x="780532" y="3658894"/>
            <a:ext cx="10096500" cy="9702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3493F7E9-DA64-DC61-9440-2663605A1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2CDA-E736-FB99-F6B7-519245847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정육면체 24">
            <a:extLst>
              <a:ext uri="{FF2B5EF4-FFF2-40B4-BE49-F238E27FC236}">
                <a16:creationId xmlns:a16="http://schemas.microsoft.com/office/drawing/2014/main" id="{E12853B8-00C0-F9AB-725C-51FBA5136604}"/>
              </a:ext>
            </a:extLst>
          </p:cNvPr>
          <p:cNvSpPr/>
          <p:nvPr/>
        </p:nvSpPr>
        <p:spPr>
          <a:xfrm>
            <a:off x="5574645" y="5289862"/>
            <a:ext cx="774974" cy="766439"/>
          </a:xfrm>
          <a:prstGeom prst="cube">
            <a:avLst>
              <a:gd name="adj" fmla="val 47525"/>
            </a:avLst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EFF9522-6823-2033-DD45-0858ADF6E7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vs. FCNN : Kernels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8E60AD5-E2DD-50D3-FFA2-0FFAEC7DB82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Example: classifying the MNIST dataset – Research Computing">
            <a:extLst>
              <a:ext uri="{FF2B5EF4-FFF2-40B4-BE49-F238E27FC236}">
                <a16:creationId xmlns:a16="http://schemas.microsoft.com/office/drawing/2014/main" id="{3963C4E1-C2FD-E47F-412F-E20E34DCE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226" y="2704592"/>
            <a:ext cx="2128838" cy="2120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D5D6052-A0D0-E91D-C45E-F67E564BCE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522400"/>
              </p:ext>
            </p:extLst>
          </p:nvPr>
        </p:nvGraphicFramePr>
        <p:xfrm>
          <a:off x="4927600" y="1354195"/>
          <a:ext cx="208280" cy="341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8055163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08813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037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3359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234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5527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111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6237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9914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201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8922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1507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5742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36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1183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8681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4384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84413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700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97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1687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73235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70163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188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9679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290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80443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9634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775975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85D4679E-F0CB-C214-BA73-E00808190A34}"/>
              </a:ext>
            </a:extLst>
          </p:cNvPr>
          <p:cNvSpPr/>
          <p:nvPr/>
        </p:nvSpPr>
        <p:spPr>
          <a:xfrm>
            <a:off x="620808" y="2727452"/>
            <a:ext cx="388620" cy="3581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5E08BA-C800-9F27-805E-B671250BABA7}"/>
              </a:ext>
            </a:extLst>
          </p:cNvPr>
          <p:cNvSpPr txBox="1"/>
          <p:nvPr/>
        </p:nvSpPr>
        <p:spPr>
          <a:xfrm>
            <a:off x="3416576" y="1918208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784 = 28 x 28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54671-3D4F-96E0-4593-DD752F4B8AA7}"/>
              </a:ext>
            </a:extLst>
          </p:cNvPr>
          <p:cNvSpPr txBox="1"/>
          <p:nvPr/>
        </p:nvSpPr>
        <p:spPr>
          <a:xfrm>
            <a:off x="3416576" y="5334528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600 = 5 x 5 x 24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82A41C3F-DD41-354C-B252-9794F695B9AE}"/>
              </a:ext>
            </a:extLst>
          </p:cNvPr>
          <p:cNvSpPr/>
          <p:nvPr/>
        </p:nvSpPr>
        <p:spPr>
          <a:xfrm>
            <a:off x="6781802" y="165608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27F0676E-5566-A7BF-263D-B6643B111537}"/>
              </a:ext>
            </a:extLst>
          </p:cNvPr>
          <p:cNvSpPr/>
          <p:nvPr/>
        </p:nvSpPr>
        <p:spPr>
          <a:xfrm>
            <a:off x="6781802" y="1918208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859541DC-3A0C-EC47-A5F6-00DF40401CA3}"/>
              </a:ext>
            </a:extLst>
          </p:cNvPr>
          <p:cNvSpPr/>
          <p:nvPr/>
        </p:nvSpPr>
        <p:spPr>
          <a:xfrm>
            <a:off x="6781802" y="2180336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2E309CAA-ECCB-CD59-562E-3C1C1ECE0FA5}"/>
              </a:ext>
            </a:extLst>
          </p:cNvPr>
          <p:cNvSpPr/>
          <p:nvPr/>
        </p:nvSpPr>
        <p:spPr>
          <a:xfrm>
            <a:off x="6781802" y="2442464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CCACB0FF-6405-4C43-7D08-39ECDCC7BEAF}"/>
              </a:ext>
            </a:extLst>
          </p:cNvPr>
          <p:cNvSpPr/>
          <p:nvPr/>
        </p:nvSpPr>
        <p:spPr>
          <a:xfrm>
            <a:off x="6781802" y="2704592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AED63C57-AF3F-3738-9A64-A46B63B796E1}"/>
              </a:ext>
            </a:extLst>
          </p:cNvPr>
          <p:cNvSpPr/>
          <p:nvPr/>
        </p:nvSpPr>
        <p:spPr>
          <a:xfrm>
            <a:off x="6781802" y="296672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281E551-D590-2511-794F-80D9E30A9E97}"/>
              </a:ext>
            </a:extLst>
          </p:cNvPr>
          <p:cNvSpPr/>
          <p:nvPr/>
        </p:nvSpPr>
        <p:spPr>
          <a:xfrm>
            <a:off x="6781802" y="3228848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560D5597-4A96-71F2-CA53-A613E6427E3A}"/>
              </a:ext>
            </a:extLst>
          </p:cNvPr>
          <p:cNvSpPr/>
          <p:nvPr/>
        </p:nvSpPr>
        <p:spPr>
          <a:xfrm>
            <a:off x="6781802" y="3490976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D41D54E7-3D3F-12CA-8CE8-0C9887EB0D23}"/>
              </a:ext>
            </a:extLst>
          </p:cNvPr>
          <p:cNvSpPr/>
          <p:nvPr/>
        </p:nvSpPr>
        <p:spPr>
          <a:xfrm>
            <a:off x="6781802" y="3753104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37924957-7BA1-97DB-E431-E82D67400704}"/>
              </a:ext>
            </a:extLst>
          </p:cNvPr>
          <p:cNvSpPr/>
          <p:nvPr/>
        </p:nvSpPr>
        <p:spPr>
          <a:xfrm>
            <a:off x="6781802" y="4015232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D362817F-57A9-6ADF-410C-45EC98B312F2}"/>
              </a:ext>
            </a:extLst>
          </p:cNvPr>
          <p:cNvSpPr/>
          <p:nvPr/>
        </p:nvSpPr>
        <p:spPr>
          <a:xfrm>
            <a:off x="6781802" y="427736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AC575B23-A968-DB8E-36F5-930FADBCE10B}"/>
              </a:ext>
            </a:extLst>
          </p:cNvPr>
          <p:cNvSpPr/>
          <p:nvPr/>
        </p:nvSpPr>
        <p:spPr>
          <a:xfrm>
            <a:off x="6705600" y="1574800"/>
            <a:ext cx="350522" cy="30073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B954979-3D1B-AE7A-D70A-86B64273443F}"/>
              </a:ext>
            </a:extLst>
          </p:cNvPr>
          <p:cNvSpPr txBox="1"/>
          <p:nvPr/>
        </p:nvSpPr>
        <p:spPr>
          <a:xfrm>
            <a:off x="7085454" y="1882694"/>
            <a:ext cx="1540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11 nodes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0A396-6845-9929-F2E1-FC6FCB8D5A1E}"/>
              </a:ext>
            </a:extLst>
          </p:cNvPr>
          <p:cNvSpPr txBox="1"/>
          <p:nvPr/>
        </p:nvSpPr>
        <p:spPr>
          <a:xfrm>
            <a:off x="8134271" y="2319111"/>
            <a:ext cx="3065503" cy="113877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FCNN Trainable Parameters</a:t>
            </a:r>
          </a:p>
          <a:p>
            <a:r>
              <a:rPr lang="en-US" altLang="ko-KR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(Kernel Parameters)</a:t>
            </a:r>
          </a:p>
          <a:p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8,645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784 x 11 + 11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840D6F-3453-17C8-FED3-10D5F509E237}"/>
              </a:ext>
            </a:extLst>
          </p:cNvPr>
          <p:cNvSpPr txBox="1"/>
          <p:nvPr/>
        </p:nvSpPr>
        <p:spPr>
          <a:xfrm>
            <a:off x="8139231" y="5237244"/>
            <a:ext cx="3065503" cy="113877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CNN Trainable Parameters</a:t>
            </a:r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(Kernel Parameters)</a:t>
            </a:r>
          </a:p>
          <a:p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600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5 x 5 x 24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15216102-BF5F-75CB-E21C-ED8E946DB855}"/>
              </a:ext>
            </a:extLst>
          </p:cNvPr>
          <p:cNvSpPr/>
          <p:nvPr/>
        </p:nvSpPr>
        <p:spPr>
          <a:xfrm>
            <a:off x="3416576" y="1317736"/>
            <a:ext cx="8216624" cy="354890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24AD6AA-4F38-B570-8B21-0E62B8D366EC}"/>
              </a:ext>
            </a:extLst>
          </p:cNvPr>
          <p:cNvSpPr/>
          <p:nvPr/>
        </p:nvSpPr>
        <p:spPr>
          <a:xfrm>
            <a:off x="3416576" y="5145358"/>
            <a:ext cx="8216624" cy="13292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D1153D1E-1575-8154-C460-28AB6C0C9C43}"/>
              </a:ext>
            </a:extLst>
          </p:cNvPr>
          <p:cNvCxnSpPr/>
          <p:nvPr/>
        </p:nvCxnSpPr>
        <p:spPr>
          <a:xfrm flipV="1">
            <a:off x="2817136" y="2312134"/>
            <a:ext cx="365760" cy="370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02B78EDC-E83B-E6AA-CE6B-8C3056B46324}"/>
              </a:ext>
            </a:extLst>
          </p:cNvPr>
          <p:cNvCxnSpPr>
            <a:cxnSpLocks/>
          </p:cNvCxnSpPr>
          <p:nvPr/>
        </p:nvCxnSpPr>
        <p:spPr>
          <a:xfrm>
            <a:off x="2770008" y="4885380"/>
            <a:ext cx="365760" cy="2769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60880CDC-6ABA-6E73-F568-29342A378AF8}"/>
              </a:ext>
            </a:extLst>
          </p:cNvPr>
          <p:cNvCxnSpPr>
            <a:cxnSpLocks/>
          </p:cNvCxnSpPr>
          <p:nvPr/>
        </p:nvCxnSpPr>
        <p:spPr>
          <a:xfrm>
            <a:off x="5218545" y="15748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B74A4C3-D431-8AE5-B853-3029253BA3D6}"/>
              </a:ext>
            </a:extLst>
          </p:cNvPr>
          <p:cNvCxnSpPr>
            <a:cxnSpLocks/>
          </p:cNvCxnSpPr>
          <p:nvPr/>
        </p:nvCxnSpPr>
        <p:spPr>
          <a:xfrm>
            <a:off x="5218545" y="17272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086D60CD-C51C-A359-822D-7FF6BDFAA9E6}"/>
              </a:ext>
            </a:extLst>
          </p:cNvPr>
          <p:cNvCxnSpPr>
            <a:cxnSpLocks/>
          </p:cNvCxnSpPr>
          <p:nvPr/>
        </p:nvCxnSpPr>
        <p:spPr>
          <a:xfrm>
            <a:off x="5218545" y="18796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3AF1D80-F8AB-33DA-899A-319C911AE370}"/>
              </a:ext>
            </a:extLst>
          </p:cNvPr>
          <p:cNvCxnSpPr>
            <a:cxnSpLocks/>
          </p:cNvCxnSpPr>
          <p:nvPr/>
        </p:nvCxnSpPr>
        <p:spPr>
          <a:xfrm>
            <a:off x="5218545" y="20320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DA98637-551D-4785-CE3D-653BC6B78687}"/>
              </a:ext>
            </a:extLst>
          </p:cNvPr>
          <p:cNvCxnSpPr>
            <a:cxnSpLocks/>
          </p:cNvCxnSpPr>
          <p:nvPr/>
        </p:nvCxnSpPr>
        <p:spPr>
          <a:xfrm>
            <a:off x="5218545" y="21844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3390A921-BDAE-B485-39C5-C0F4DEAEB982}"/>
              </a:ext>
            </a:extLst>
          </p:cNvPr>
          <p:cNvCxnSpPr>
            <a:cxnSpLocks/>
          </p:cNvCxnSpPr>
          <p:nvPr/>
        </p:nvCxnSpPr>
        <p:spPr>
          <a:xfrm>
            <a:off x="5218545" y="23368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484EF658-3C45-41E7-32C3-F1931F38A1EA}"/>
              </a:ext>
            </a:extLst>
          </p:cNvPr>
          <p:cNvCxnSpPr>
            <a:cxnSpLocks/>
          </p:cNvCxnSpPr>
          <p:nvPr/>
        </p:nvCxnSpPr>
        <p:spPr>
          <a:xfrm flipV="1">
            <a:off x="5244180" y="36365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D0930D88-FA1B-A0B2-0640-590A6C37421F}"/>
              </a:ext>
            </a:extLst>
          </p:cNvPr>
          <p:cNvCxnSpPr>
            <a:cxnSpLocks/>
          </p:cNvCxnSpPr>
          <p:nvPr/>
        </p:nvCxnSpPr>
        <p:spPr>
          <a:xfrm flipV="1">
            <a:off x="5244180" y="37889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62FFC9F2-E3B5-AA10-F605-2D8067D63924}"/>
              </a:ext>
            </a:extLst>
          </p:cNvPr>
          <p:cNvCxnSpPr>
            <a:cxnSpLocks/>
          </p:cNvCxnSpPr>
          <p:nvPr/>
        </p:nvCxnSpPr>
        <p:spPr>
          <a:xfrm flipV="1">
            <a:off x="5244180" y="39413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C67F9A15-2583-FB71-65F2-5437ADC5C628}"/>
              </a:ext>
            </a:extLst>
          </p:cNvPr>
          <p:cNvCxnSpPr>
            <a:cxnSpLocks/>
          </p:cNvCxnSpPr>
          <p:nvPr/>
        </p:nvCxnSpPr>
        <p:spPr>
          <a:xfrm flipV="1">
            <a:off x="5244180" y="40937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FD0653FC-CDC8-3211-8BA9-6550C896C739}"/>
              </a:ext>
            </a:extLst>
          </p:cNvPr>
          <p:cNvCxnSpPr>
            <a:cxnSpLocks/>
          </p:cNvCxnSpPr>
          <p:nvPr/>
        </p:nvCxnSpPr>
        <p:spPr>
          <a:xfrm flipV="1">
            <a:off x="5244180" y="42461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621C1E83-1ACC-9943-5BF8-EE7C0245FE23}"/>
              </a:ext>
            </a:extLst>
          </p:cNvPr>
          <p:cNvCxnSpPr>
            <a:cxnSpLocks/>
          </p:cNvCxnSpPr>
          <p:nvPr/>
        </p:nvCxnSpPr>
        <p:spPr>
          <a:xfrm flipV="1">
            <a:off x="5251875" y="19506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F16A1753-D809-9DD9-F188-34817A8C4F54}"/>
              </a:ext>
            </a:extLst>
          </p:cNvPr>
          <p:cNvCxnSpPr>
            <a:cxnSpLocks/>
          </p:cNvCxnSpPr>
          <p:nvPr/>
        </p:nvCxnSpPr>
        <p:spPr>
          <a:xfrm flipV="1">
            <a:off x="5251875" y="21030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48EC5D7E-84AD-1DD2-C3B1-607B004CD3FA}"/>
              </a:ext>
            </a:extLst>
          </p:cNvPr>
          <p:cNvCxnSpPr>
            <a:cxnSpLocks/>
          </p:cNvCxnSpPr>
          <p:nvPr/>
        </p:nvCxnSpPr>
        <p:spPr>
          <a:xfrm flipV="1">
            <a:off x="5251875" y="22554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477EBAA6-8A4E-C017-44A4-B54DC37DC36F}"/>
              </a:ext>
            </a:extLst>
          </p:cNvPr>
          <p:cNvCxnSpPr>
            <a:cxnSpLocks/>
          </p:cNvCxnSpPr>
          <p:nvPr/>
        </p:nvCxnSpPr>
        <p:spPr>
          <a:xfrm flipV="1">
            <a:off x="5251875" y="24078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18888B73-C2C3-F3AD-117C-0763B83240DD}"/>
              </a:ext>
            </a:extLst>
          </p:cNvPr>
          <p:cNvCxnSpPr>
            <a:cxnSpLocks/>
          </p:cNvCxnSpPr>
          <p:nvPr/>
        </p:nvCxnSpPr>
        <p:spPr>
          <a:xfrm flipV="1">
            <a:off x="5251875" y="25602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C36AB32-ED62-CF08-DF45-61B85819C488}"/>
              </a:ext>
            </a:extLst>
          </p:cNvPr>
          <p:cNvCxnSpPr>
            <a:cxnSpLocks/>
          </p:cNvCxnSpPr>
          <p:nvPr/>
        </p:nvCxnSpPr>
        <p:spPr>
          <a:xfrm>
            <a:off x="5250873" y="36298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80C6FFB9-D3F4-85CB-6154-7F0DBEFCF95B}"/>
              </a:ext>
            </a:extLst>
          </p:cNvPr>
          <p:cNvCxnSpPr>
            <a:cxnSpLocks/>
          </p:cNvCxnSpPr>
          <p:nvPr/>
        </p:nvCxnSpPr>
        <p:spPr>
          <a:xfrm>
            <a:off x="5250873" y="37822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3692700B-1261-84AD-FA48-86001B8B7185}"/>
              </a:ext>
            </a:extLst>
          </p:cNvPr>
          <p:cNvCxnSpPr>
            <a:cxnSpLocks/>
          </p:cNvCxnSpPr>
          <p:nvPr/>
        </p:nvCxnSpPr>
        <p:spPr>
          <a:xfrm>
            <a:off x="5250873" y="39346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F214EC02-7913-E92F-9107-97E3AC9E6213}"/>
              </a:ext>
            </a:extLst>
          </p:cNvPr>
          <p:cNvCxnSpPr>
            <a:cxnSpLocks/>
          </p:cNvCxnSpPr>
          <p:nvPr/>
        </p:nvCxnSpPr>
        <p:spPr>
          <a:xfrm>
            <a:off x="5250873" y="40870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71116CCE-36A3-D147-F5DB-1425B5DE8B69}"/>
              </a:ext>
            </a:extLst>
          </p:cNvPr>
          <p:cNvSpPr txBox="1"/>
          <p:nvPr/>
        </p:nvSpPr>
        <p:spPr>
          <a:xfrm>
            <a:off x="5454847" y="3068649"/>
            <a:ext cx="1518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cap="none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Kernels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3DB48C1-A2E1-1227-4344-4B09C6E98F7F}"/>
              </a:ext>
            </a:extLst>
          </p:cNvPr>
          <p:cNvSpPr txBox="1"/>
          <p:nvPr/>
        </p:nvSpPr>
        <p:spPr>
          <a:xfrm>
            <a:off x="5471718" y="6148407"/>
            <a:ext cx="1518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cap="none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Kernels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5652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47C51-23DB-28C1-1E78-8F101F819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F33B163-95F3-2E67-9FC6-A060E8C18A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9CBFFD-FC32-7932-EC6D-0294B33036D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How to recognize face image ?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BC393D8-E4EF-8E8F-747B-12B59340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비비안 리">
            <a:extLst>
              <a:ext uri="{FF2B5EF4-FFF2-40B4-BE49-F238E27FC236}">
                <a16:creationId xmlns:a16="http://schemas.microsoft.com/office/drawing/2014/main" id="{9C1C3F05-A9CD-2C76-4752-C5F47FCA1C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221" y="1409700"/>
            <a:ext cx="3804279" cy="518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41577AE9-6300-598D-B26F-5839B23C6265}"/>
              </a:ext>
            </a:extLst>
          </p:cNvPr>
          <p:cNvSpPr/>
          <p:nvPr/>
        </p:nvSpPr>
        <p:spPr>
          <a:xfrm>
            <a:off x="4667249" y="3000375"/>
            <a:ext cx="638175" cy="328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E795B4-5CB2-0B73-062E-FD141E330813}"/>
              </a:ext>
            </a:extLst>
          </p:cNvPr>
          <p:cNvSpPr/>
          <p:nvPr/>
        </p:nvSpPr>
        <p:spPr>
          <a:xfrm>
            <a:off x="4333876" y="3381375"/>
            <a:ext cx="419100" cy="50482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0D1FEBA-5F96-50A8-2DEF-BB43ADF5AF78}"/>
              </a:ext>
            </a:extLst>
          </p:cNvPr>
          <p:cNvSpPr/>
          <p:nvPr/>
        </p:nvSpPr>
        <p:spPr>
          <a:xfrm>
            <a:off x="4162426" y="3943351"/>
            <a:ext cx="752474" cy="3286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82E782-901F-4F98-F79A-1679180BBA63}"/>
              </a:ext>
            </a:extLst>
          </p:cNvPr>
          <p:cNvSpPr/>
          <p:nvPr/>
        </p:nvSpPr>
        <p:spPr>
          <a:xfrm>
            <a:off x="3669986" y="2781299"/>
            <a:ext cx="663890" cy="219075"/>
          </a:xfrm>
          <a:prstGeom prst="rect">
            <a:avLst/>
          </a:prstGeom>
          <a:noFill/>
          <a:ln w="28575"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9C6B80B-C91C-940C-7317-450257E119BD}"/>
              </a:ext>
            </a:extLst>
          </p:cNvPr>
          <p:cNvSpPr/>
          <p:nvPr/>
        </p:nvSpPr>
        <p:spPr>
          <a:xfrm>
            <a:off x="4181477" y="2371723"/>
            <a:ext cx="663890" cy="2190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779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CB2D41-CCEF-EA08-0924-08A04A214C74}"/>
              </a:ext>
            </a:extLst>
          </p:cNvPr>
          <p:cNvSpPr txBox="1"/>
          <p:nvPr/>
        </p:nvSpPr>
        <p:spPr>
          <a:xfrm>
            <a:off x="600332" y="1361718"/>
            <a:ext cx="11315700" cy="372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피질의 생물학적 뉴런이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작고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시작하여 단계별로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크고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조합해 대상을 인식한다는 계층적 시각 처리 원리는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고안하게 된 핵심 원리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뉴런이 시야 전체를 보는 것이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자극을 받아들이는 자신만의 작은 시야 구역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초기 반응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피질로 들어온 신호 초기에는 뉴런들이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내의 아주 작은 영역에서 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경계선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같은 단순한 패턴에만 반응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후기 연산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신호가 다음 단계의 뇌 모듈로 계속 이동하면서 여러 작은 정보가 통합된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뉴런은 더 넓은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넓은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보며 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얼굴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사물 전체 같은 복잡한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130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666750" y="1639891"/>
            <a:ext cx="66579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764" y="3410282"/>
            <a:ext cx="5557836" cy="267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909765" y="6163703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94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In the example, they were 3 × 3, which is a common choice.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 The example started with a depth of 32 and ended with a depth of 64.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743825" y="3429000"/>
            <a:ext cx="3795434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7004F-D407-CA00-E5C7-19BB76566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8088FE-0930-15B2-B1A9-FD861FE554E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AB8D45-08A2-3432-520B-D82158DD53DA}"/>
              </a:ext>
            </a:extLst>
          </p:cNvPr>
          <p:cNvSpPr txBox="1"/>
          <p:nvPr/>
        </p:nvSpPr>
        <p:spPr>
          <a:xfrm>
            <a:off x="590550" y="1276997"/>
            <a:ext cx="6610350" cy="5322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불변성을 띠므로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특성은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이미지를 처리할 때 높은 데이터 효율성으로 일반화 능력을 갖춘 표현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학습하는 데 더 적은 훈련 샘플만으로도 충분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368E1D6-01B6-DFA8-F5C2-00C539C9E7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F80E1F-DA80-2E1A-C6FD-E4C8D3446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34136-8ECF-648E-7796-300ED0FF461F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0777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5BF1747-F60D-1317-AECB-1A3667A3D60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A9FEFB1-A34C-5437-6204-73E835366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24" y="1511626"/>
            <a:ext cx="10958076" cy="453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7B5E7-D3C6-5852-41B3-B78DBBE13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CF894E-5FDF-F7BF-9E0C-46655E23EF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product,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Relu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BB47790-7D2F-ACCC-2FDB-3D057D1B36C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C163123-3B23-837D-CA51-A0F36A4C3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3360" y="1905803"/>
            <a:ext cx="8690176" cy="46112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BA7D44-3BA1-EEA5-116B-D38643E1B825}"/>
              </a:ext>
            </a:extLst>
          </p:cNvPr>
          <p:cNvSpPr txBox="1"/>
          <p:nvPr/>
        </p:nvSpPr>
        <p:spPr>
          <a:xfrm>
            <a:off x="621281" y="1321926"/>
            <a:ext cx="9722256" cy="36933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nn.Conv2d(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input_channels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output_channels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=1,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</p:txBody>
      </p:sp>
    </p:spTree>
    <p:extLst>
      <p:ext uri="{BB962C8B-B14F-4D97-AF65-F5344CB8AC3E}">
        <p14:creationId xmlns:p14="http://schemas.microsoft.com/office/powerpoint/2010/main" val="7178454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377B8-A23E-37E2-02B6-AA96C28DE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2BA8A2-09F2-8ECF-ECD5-D7A8509515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product,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Relu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97C938D-E346-A7A4-DB42-D00A5E1DB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5074C62-55EF-FF9E-4CE9-AB02AC832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1558" y="1267472"/>
            <a:ext cx="6776267" cy="5225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4932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27451-D0A4-643E-6102-68CD8B6F8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545AEC-26F9-D773-D4F0-7FF39CEFE8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C398E34-FCD2-FF36-DA2A-03BC71C203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1D6F7D6-EA8F-B538-9E59-9DFD008F49D5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D3E41964-2214-6560-593A-35485C6FCBF6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D5DA438-524D-6241-5DB5-B876099E5D83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E8DF25-46FC-EFB8-7446-EC209039F93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3D7373-00CE-1708-CD9E-9D75B8BC9A76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895B86-AA4C-70FD-A7F1-104E2CE72B11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317CC6E-35DE-6BF7-8A25-E8A85F05A31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003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190625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09925" y="2172794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wiki/Convolution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D274692-42CE-F3E7-4E99-25FA42B9C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914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AF2A-C7DD-6751-15D8-919FF6C6A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B0507FC-5359-95A4-FFFE-0513B5EA175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D5F943C-FEB6-60B7-64F5-BEA72CFA8A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3A292E6-880C-4032-C4A7-6EF4EB73E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80" y="1865493"/>
            <a:ext cx="4846740" cy="32387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729E2A-F537-C27A-ED0C-3EF3FD57F414}"/>
              </a:ext>
            </a:extLst>
          </p:cNvPr>
          <p:cNvSpPr txBox="1"/>
          <p:nvPr/>
        </p:nvSpPr>
        <p:spPr>
          <a:xfrm>
            <a:off x="643680" y="5339164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Connections between layers and zero padding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059DBD9-F18C-C48A-30A9-D5AA0DC9C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778" y="1897247"/>
            <a:ext cx="5113693" cy="32070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2B20543-0F90-C46F-75A0-F94CC6146497}"/>
              </a:ext>
            </a:extLst>
          </p:cNvPr>
          <p:cNvSpPr txBox="1"/>
          <p:nvPr/>
        </p:nvSpPr>
        <p:spPr>
          <a:xfrm>
            <a:off x="6486525" y="535621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Reducing dimensionality using a stride of 2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21302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67E71-DE5F-56A7-2475-251D6F76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28FA20A-BC67-DF78-2E41-9AAE4D40E1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259316D-1F9C-C69B-1FE1-5F05E9AA87F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B821A05-5E87-AF57-CDBC-C9A17E34C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622" y="1818089"/>
            <a:ext cx="6294430" cy="38123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96E311-4A55-9DE9-9182-76030F6853DD}"/>
              </a:ext>
            </a:extLst>
          </p:cNvPr>
          <p:cNvSpPr txBox="1"/>
          <p:nvPr/>
        </p:nvSpPr>
        <p:spPr>
          <a:xfrm>
            <a:off x="2119970" y="5819127"/>
            <a:ext cx="79520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Padding="SAME” or “VALID” (with input width 13, filter width 6, stride 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1412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DF1719D-1AE8-B069-81FE-77C356AC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7361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9679FD-F81C-53B8-3E58-A36C1DBD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648" y="2713118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14AFF51-2576-0160-3E52-3258BD04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478F5-25A2-AD5A-ABA8-BF7B640E2C40}"/>
              </a:ext>
            </a:extLst>
          </p:cNvPr>
          <p:cNvSpPr txBox="1"/>
          <p:nvPr/>
        </p:nvSpPr>
        <p:spPr>
          <a:xfrm>
            <a:off x="2106648" y="5421910"/>
            <a:ext cx="744695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fields; as the visual signal makes its way through consecutive brain modules, neurons respond to more complex patterns in larger receptive fields.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19847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1804E0-ABCA-7977-EA93-1C825802D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2B2F-3A7D-C336-10DF-03D1EE0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0C541-0B15-651D-FD2C-859ABD5FA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Kernel, Filter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2874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800349"/>
            <a:ext cx="9373066" cy="337031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409949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409949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4224338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5223510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475645" y="1352666"/>
            <a:ext cx="10918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Matrix(3,3)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출력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34DD47-FC01-672A-472A-2C32E27F4BAF}"/>
              </a:ext>
            </a:extLst>
          </p:cNvPr>
          <p:cNvSpPr txBox="1"/>
          <p:nvPr/>
        </p:nvSpPr>
        <p:spPr>
          <a:xfrm>
            <a:off x="475645" y="2310883"/>
            <a:ext cx="762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경우 학습하여야 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7FC48526-8C7C-4FAF-E13A-7F1BF1F0D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골프">
            <a:extLst>
              <a:ext uri="{FF2B5EF4-FFF2-40B4-BE49-F238E27FC236}">
                <a16:creationId xmlns:a16="http://schemas.microsoft.com/office/drawing/2014/main" id="{80705350-2F6A-EBA6-3E1F-5472D02351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E028AF8-E168-5810-CEAF-14FBF385D69E}"/>
              </a:ext>
            </a:extLst>
          </p:cNvPr>
          <p:cNvSpPr txBox="1"/>
          <p:nvPr/>
        </p:nvSpPr>
        <p:spPr>
          <a:xfrm>
            <a:off x="1537426" y="6206740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120 (15행 8열)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7501F-C859-763B-C160-2AFD15FF487A}"/>
              </a:ext>
            </a:extLst>
          </p:cNvPr>
          <p:cNvSpPr txBox="1"/>
          <p:nvPr/>
        </p:nvSpPr>
        <p:spPr>
          <a:xfrm>
            <a:off x="8296511" y="6191119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열)</a:t>
            </a:r>
          </a:p>
        </p:txBody>
      </p:sp>
    </p:spTree>
    <p:extLst>
      <p:ext uri="{BB962C8B-B14F-4D97-AF65-F5344CB8AC3E}">
        <p14:creationId xmlns:p14="http://schemas.microsoft.com/office/powerpoint/2010/main" val="42581335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87E2-0FA0-E744-A76F-DCE3BE154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3CF5F16-233F-9D48-DB43-2017FFACE8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3C088B55-5918-A3BF-3759-CE56BA1FE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5E4E8E7-6EC8-3595-65B0-959679D57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374" y="1697181"/>
            <a:ext cx="6713105" cy="423689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FBD008-9BAA-8AB5-9C75-8644037B085A}"/>
              </a:ext>
            </a:extLst>
          </p:cNvPr>
          <p:cNvSpPr txBox="1"/>
          <p:nvPr/>
        </p:nvSpPr>
        <p:spPr>
          <a:xfrm>
            <a:off x="1009374" y="60066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Applying two different filters to get two feature map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76654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73312" y="1207603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73A78BCF-FF59-D18D-C9BB-F861474036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39172" y="1192388"/>
            <a:ext cx="11266263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또한 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6C101D0-A8CD-F4DC-46EC-984727A6E18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7" y="5726516"/>
            <a:ext cx="399358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F9615D-33D2-191A-93A4-A89840D6F5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7269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6A693-EEDB-6C0D-17F4-4DDDDC702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B4D223F-706D-E146-1672-B8F673CB22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Multiple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A95BA49-3286-FFC3-5DEF-EB0948B1093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8CB6AB6-BB40-53A5-2B81-069FC17F5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853" y="1354210"/>
            <a:ext cx="5760997" cy="51071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860313-CA50-D7D4-3196-A9CB218CC166}"/>
              </a:ext>
            </a:extLst>
          </p:cNvPr>
          <p:cNvSpPr txBox="1"/>
          <p:nvPr/>
        </p:nvSpPr>
        <p:spPr>
          <a:xfrm>
            <a:off x="7305157" y="1354210"/>
            <a:ext cx="42341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with multiple feature maps, and images with three color channels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785351-DF31-E690-342C-F9FFA13708DE}"/>
              </a:ext>
            </a:extLst>
          </p:cNvPr>
          <p:cNvSpPr txBox="1"/>
          <p:nvPr/>
        </p:nvSpPr>
        <p:spPr>
          <a:xfrm>
            <a:off x="7424459" y="3345056"/>
            <a:ext cx="4114800" cy="227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 연결성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Connectivity),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특징 추출과 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</a:p>
        </p:txBody>
      </p:sp>
    </p:spTree>
    <p:extLst>
      <p:ext uri="{BB962C8B-B14F-4D97-AF65-F5344CB8AC3E}">
        <p14:creationId xmlns:p14="http://schemas.microsoft.com/office/powerpoint/2010/main" val="5846005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4A022-7380-9D38-024A-1727E6B5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6E04A-9293-D134-90F2-4FED3638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</a:rPr>
              <a:t>Poolings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8845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solidFill>
                <a:schemeClr val="accent6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24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blipFill>
                <a:blip r:embed="rId5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blipFill>
                <a:blip r:embed="rId8"/>
                <a:stretch>
                  <a:fillRect b="-118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EC7111D-2278-4B61-EA04-0F4F00C4E125}"/>
              </a:ext>
            </a:extLst>
          </p:cNvPr>
          <p:cNvSpPr txBox="1"/>
          <p:nvPr/>
        </p:nvSpPr>
        <p:spPr>
          <a:xfrm>
            <a:off x="2154555" y="199101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D1889F-F316-68FF-CC4A-A3CEC99057C2}"/>
              </a:ext>
            </a:extLst>
          </p:cNvPr>
          <p:cNvSpPr txBox="1"/>
          <p:nvPr/>
        </p:nvSpPr>
        <p:spPr>
          <a:xfrm>
            <a:off x="7431406" y="197942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Pooling layer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F23F9F-5208-9860-3E37-65466BC2731A}"/>
              </a:ext>
            </a:extLst>
          </p:cNvPr>
          <p:cNvSpPr txBox="1"/>
          <p:nvPr/>
        </p:nvSpPr>
        <p:spPr>
          <a:xfrm>
            <a:off x="1647825" y="5666929"/>
            <a:ext cx="40271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Convolution/Activation Function</a:t>
            </a:r>
            <a:endParaRPr lang="ko-KR" altLang="en-US" dirty="0"/>
          </a:p>
        </p:txBody>
      </p:sp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C3219238-B868-BD74-11C6-1D223F59136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84739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CD5778-AF63-C8F0-19D2-1E69E39BDBAA}"/>
              </a:ext>
            </a:extLst>
          </p:cNvPr>
          <p:cNvSpPr txBox="1"/>
          <p:nvPr/>
        </p:nvSpPr>
        <p:spPr>
          <a:xfrm>
            <a:off x="5937254" y="1875850"/>
            <a:ext cx="5798932" cy="3429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공간적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1/4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대폭 줄어들어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연산속도가 높아지고 모델이 픽셀 하나하나에 과도하게 맞추어 학습하는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방지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줌 아웃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Zoom-out)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풀링으로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반으로 축소한 뒤 다시 필터를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크기의 필터라도 원본 이미지 기준으로는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이상 넓은 영역을 한눈에 보게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696C76B9-ECE3-3208-E919-88E22220AC4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2CBB002-9AA0-31B7-DA19-87897E543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09" y="1943100"/>
            <a:ext cx="5814845" cy="22574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D1BBDC8-F3B5-5272-ACF4-79065C8F76C3}"/>
              </a:ext>
            </a:extLst>
          </p:cNvPr>
          <p:cNvSpPr txBox="1"/>
          <p:nvPr/>
        </p:nvSpPr>
        <p:spPr>
          <a:xfrm>
            <a:off x="275968" y="4273494"/>
            <a:ext cx="49627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pooling with a 2 × 2 filter and stride 2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A21D2-C9F2-002C-DE68-B256BFF9D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5F968-99EF-7AE4-6D29-EC6B81E91E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6E4604-AEC6-D012-BF05-DE8B71813AA6}"/>
              </a:ext>
            </a:extLst>
          </p:cNvPr>
          <p:cNvSpPr txBox="1"/>
          <p:nvPr/>
        </p:nvSpPr>
        <p:spPr>
          <a:xfrm>
            <a:off x="6715125" y="2410472"/>
            <a:ext cx="5200907" cy="2367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미세한 위치 변화에 대한 견고함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불변성 보완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속 피사체가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정도 살짝 이동하거나 비틀려도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구역 내의 최댓값은 거의 변하지 않으므로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특징이 정확히 몇 번째 픽셀에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부근에 원하는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존재하는가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감지</a:t>
            </a: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AF298B06-4644-AD53-0008-2F86C29B81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7D4E8F1-9451-E218-9E87-BA6F107068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94686"/>
            <a:ext cx="6012383" cy="39035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55E14B-CF0D-023F-5E6F-FDE66CE12A1C}"/>
              </a:ext>
            </a:extLst>
          </p:cNvPr>
          <p:cNvSpPr txBox="1"/>
          <p:nvPr/>
        </p:nvSpPr>
        <p:spPr>
          <a:xfrm>
            <a:off x="475645" y="5698187"/>
            <a:ext cx="39820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Invariance to small translations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044992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E9B68-47EE-F342-FBFC-C0A47E6E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C80C9A-29D4-D8CD-7C08-0CE1DE127D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 &amp; Receptive Field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46BB49A5-BC4E-4C19-D155-97F0CCF7CB7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97D345-8BC6-75F3-2FE2-0082BB9F9AA6}"/>
              </a:ext>
            </a:extLst>
          </p:cNvPr>
          <p:cNvSpPr txBox="1"/>
          <p:nvPr/>
        </p:nvSpPr>
        <p:spPr>
          <a:xfrm>
            <a:off x="623325" y="4676547"/>
            <a:ext cx="6606149" cy="16004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39BCE-B37D-4FA1-63E7-8ED32B2AAE0C}"/>
              </a:ext>
            </a:extLst>
          </p:cNvPr>
          <p:cNvSpPr txBox="1"/>
          <p:nvPr/>
        </p:nvSpPr>
        <p:spPr>
          <a:xfrm>
            <a:off x="623325" y="1828107"/>
            <a:ext cx="6606149" cy="203132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E81F57-3E35-4F6D-6E6B-5B8F9C3875AF}"/>
              </a:ext>
            </a:extLst>
          </p:cNvPr>
          <p:cNvSpPr txBox="1"/>
          <p:nvPr/>
        </p:nvSpPr>
        <p:spPr>
          <a:xfrm>
            <a:off x="623325" y="1487350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B2A08-A1A9-ED96-6878-B118EF577741}"/>
              </a:ext>
            </a:extLst>
          </p:cNvPr>
          <p:cNvSpPr txBox="1"/>
          <p:nvPr/>
        </p:nvSpPr>
        <p:spPr>
          <a:xfrm>
            <a:off x="623325" y="4348332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DFEE326-BB03-425B-4019-131FDCA183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167077"/>
              </p:ext>
            </p:extLst>
          </p:nvPr>
        </p:nvGraphicFramePr>
        <p:xfrm>
          <a:off x="7478200" y="1825904"/>
          <a:ext cx="4399475" cy="3978276"/>
        </p:xfrm>
        <a:graphic>
          <a:graphicData uri="http://schemas.openxmlformats.org/drawingml/2006/table">
            <a:tbl>
              <a:tblPr/>
              <a:tblGrid>
                <a:gridCol w="818075">
                  <a:extLst>
                    <a:ext uri="{9D8B030D-6E8A-4147-A177-3AD203B41FA5}">
                      <a16:colId xmlns:a16="http://schemas.microsoft.com/office/drawing/2014/main" val="3483686098"/>
                    </a:ext>
                  </a:extLst>
                </a:gridCol>
                <a:gridCol w="1695450">
                  <a:extLst>
                    <a:ext uri="{9D8B030D-6E8A-4147-A177-3AD203B41FA5}">
                      <a16:colId xmlns:a16="http://schemas.microsoft.com/office/drawing/2014/main" val="1922946208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693564908"/>
                    </a:ext>
                  </a:extLst>
                </a:gridCol>
              </a:tblGrid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model_no_max_pool</a:t>
                      </a:r>
                      <a:endParaRPr lang="en-US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없음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있음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2225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특성 맵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크기 변화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(28,28)→(26,26)→(24,24)→(22,22)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(28,28)→(26,26)→(13,13)→(11,11)→(5,5)→(3,3)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520160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Params)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717367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연산량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메모리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느리고 메모리 소모 큼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효율적임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빠르고 메모리 절약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6860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수용장</a:t>
                      </a:r>
                      <a:endParaRPr lang="en-US" altLang="ko-KR" sz="12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Receptive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Field)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좁음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7×7 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영역만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넓음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거의 전체 영역을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321189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불변성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높음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사물이 약간 이동해도 안정적으로 인식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669822"/>
                  </a:ext>
                </a:extLst>
              </a:tr>
            </a:tbl>
          </a:graphicData>
        </a:graphic>
      </p:graphicFrame>
      <p:sp>
        <p:nvSpPr>
          <p:cNvPr id="19" name="직사각형 18">
            <a:extLst>
              <a:ext uri="{FF2B5EF4-FFF2-40B4-BE49-F238E27FC236}">
                <a16:creationId xmlns:a16="http://schemas.microsoft.com/office/drawing/2014/main" id="{34C2B43D-AAF8-8983-87B8-AD31D664D723}"/>
              </a:ext>
            </a:extLst>
          </p:cNvPr>
          <p:cNvSpPr/>
          <p:nvPr/>
        </p:nvSpPr>
        <p:spPr>
          <a:xfrm>
            <a:off x="7305675" y="4438650"/>
            <a:ext cx="4714875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래픽 21" descr="물음표">
            <a:extLst>
              <a:ext uri="{FF2B5EF4-FFF2-40B4-BE49-F238E27FC236}">
                <a16:creationId xmlns:a16="http://schemas.microsoft.com/office/drawing/2014/main" id="{23EAA214-0B9B-753A-2B8C-680B051082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29425" y="3910265"/>
            <a:ext cx="715449" cy="715449"/>
          </a:xfrm>
          <a:prstGeom prst="rect">
            <a:avLst/>
          </a:prstGeom>
        </p:spPr>
      </p:pic>
      <p:pic>
        <p:nvPicPr>
          <p:cNvPr id="23" name="그래픽 22" descr="골프">
            <a:extLst>
              <a:ext uri="{FF2B5EF4-FFF2-40B4-BE49-F238E27FC236}">
                <a16:creationId xmlns:a16="http://schemas.microsoft.com/office/drawing/2014/main" id="{2D91C9E4-DD32-1318-6ADF-40C4C13D6E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7850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8ADD2-CC53-8337-6FB7-6EBAEEF6F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B6AF2-D040-DB0C-EAF2-98771BDDEA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519D90AE-53BD-C5D2-C397-7C2CCB13F3B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6E39D-D189-E3CB-292C-32D80746A23F}"/>
              </a:ext>
            </a:extLst>
          </p:cNvPr>
          <p:cNvSpPr txBox="1"/>
          <p:nvPr/>
        </p:nvSpPr>
        <p:spPr>
          <a:xfrm>
            <a:off x="561974" y="1277273"/>
            <a:ext cx="11239501" cy="4722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다운 샘플링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없을 때 발생하는 2가지 문제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좁은 시야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한계): 3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3번 쌓으면, 3번째 레이어는 원본 이미지에서 7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7 픽셀 영역만 보고 판단하기 때문에 28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28 크기 숫자 이미지 전체 형태(숫자 0, 8 등의 전체 구도)를 알아채지 못함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 손실 (과도한 맵 크기): 최종 22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22의 큰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유지한 채 최종 분류기로 넘기기 위해 평균(Global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내면, 수많은 공간 정보가 한 번에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뭉개지면서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심각한 정보 파괴가 발생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다운샘플링의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본질적 역할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정보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 정보 변환: 공간 크기(가로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세로)를 줄이는 대신 채널 수를 늘려, "어느 위치에 있는가"에서 "어떤 형상/의미가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존재하는가"로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 집중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시야 확장: 지도 해상도를 줄여 한눈에 전체를 내려다보듯, 후반부 레이어가 이미지 전체 구도를 파악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맥스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)이 가장 뛰어난 이유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시각 특징은 특정 패턴이 "거기에 강력하게 존재하는가(최댓값)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"가 중요하며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평균을 내버리면 모서리나 눈, 코 같은 특징 신호가 어두운 배경(0에 가까운 값)과 섞여 희석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처음부터 성큼성큼 건너뛰며 이미지 특징을 뽑으면 중요한 미세 특징을 빼먹을 수 있으며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없는 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이동으로 빽빽하게 특징을 찾은 뒤, 맥스 풀링으로 정수만 뽑아내는 것이 효과적</a:t>
            </a:r>
          </a:p>
        </p:txBody>
      </p:sp>
    </p:spTree>
    <p:extLst>
      <p:ext uri="{BB962C8B-B14F-4D97-AF65-F5344CB8AC3E}">
        <p14:creationId xmlns:p14="http://schemas.microsoft.com/office/powerpoint/2010/main" val="33070497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F76B625-7BA0-B72D-A7C5-6BE85410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Kernel(Filter)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Pooling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2002698"/>
            <a:ext cx="7538720" cy="424053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92E3EFA-D958-79F5-769A-A37BE29AE76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수영">
            <a:extLst>
              <a:ext uri="{FF2B5EF4-FFF2-40B4-BE49-F238E27FC236}">
                <a16:creationId xmlns:a16="http://schemas.microsoft.com/office/drawing/2014/main" id="{E883276C-5C47-14DA-8DFE-FA31C98661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9761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648CE72-0757-DBDC-D28A-393610070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그래픽 13" descr="골프">
            <a:extLst>
              <a:ext uri="{FF2B5EF4-FFF2-40B4-BE49-F238E27FC236}">
                <a16:creationId xmlns:a16="http://schemas.microsoft.com/office/drawing/2014/main" id="{2EB9B38C-5F59-2AC3-EBE1-9F019EE4D5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75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136316-5245-4763-0158-E4EFD17B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래픽 4" descr="골프">
            <a:extLst>
              <a:ext uri="{FF2B5EF4-FFF2-40B4-BE49-F238E27FC236}">
                <a16:creationId xmlns:a16="http://schemas.microsoft.com/office/drawing/2014/main" id="{26C349F5-2FAD-84A4-48D9-66D08FAF17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93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590550" y="1158507"/>
            <a:ext cx="11182350" cy="227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전형적인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몇 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레이어 뒤에는 보통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레이어가 따름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쌓은 뒤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놓고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다시 몇 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쌓는 과정을 반복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네트워크를 거쳐 진행됨에 따라 이미지는 점점 작아지지만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 덕분에 보통 점점 더 깊어지고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많아짐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네트워크의 가장 상단에는 몇 개의 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구성된 일반적인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신경망이 추가되며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레이어에서 예측 결과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추정된 클래스 확률을 출력하는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출력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EE04AEE-680C-DFA7-1A3C-9C65E9D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5285DA-A3EF-DAB7-4BAB-596E740A4C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230" y="3922962"/>
            <a:ext cx="8748989" cy="2200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5051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BE5C9-3EE4-EF46-820B-D055D87E7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296B4A5-DF49-6A3C-3D39-684225A59F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E6D5798-44A8-F05D-5334-0E3F33ED7B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B0F4E0F-5F6D-95C1-BCC6-7F781A346F0D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2171D79-849B-04F7-A206-3D8A062AE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17011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B4777-F2E7-411D-3C6D-AA8B7C76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4820E8-EF93-CCBF-556A-D6E84E8CB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Convolution operation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5995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F6A97-A79C-3005-72F7-FE1B5337B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CF297E9-9E7F-22B2-228D-5034591A92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Convolution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AB4D9A9-3F58-A31D-5672-F81FAE51A28D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B0BF7-1580-1318-DBB5-52151858D7E7}"/>
              </a:ext>
            </a:extLst>
          </p:cNvPr>
          <p:cNvSpPr txBox="1"/>
          <p:nvPr/>
        </p:nvSpPr>
        <p:spPr>
          <a:xfrm>
            <a:off x="618811" y="1563567"/>
            <a:ext cx="5124763" cy="449597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have some image and feature detector(3*3)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detector does not need to be 3 by 3 matrix. It can be 5 by 5 or 7 by 7.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detector = kernel = filter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Feauture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detector detects features like edges or convex shapes. Example, if out input is dog, feature detector can detect features like ear or tail of the dog.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 = conv(input image, feature detector). Element wise multiplication of matrices.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 = convolved feature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Stride = navigating in input image.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reduce the size of image. This is important </a:t>
            </a:r>
            <a:r>
              <a:rPr lang="en-US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bc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code runs faster. However, we lost information.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create multiple feature maps because we use multiple feature detectors(filters).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Lets look at gimp. Edge detect: [0,10,0],[10,-4,10],[0,10,0]</a:t>
            </a:r>
          </a:p>
        </p:txBody>
      </p:sp>
      <p:pic>
        <p:nvPicPr>
          <p:cNvPr id="1026" name="Picture 2" descr="gec">
            <a:extLst>
              <a:ext uri="{FF2B5EF4-FFF2-40B4-BE49-F238E27FC236}">
                <a16:creationId xmlns:a16="http://schemas.microsoft.com/office/drawing/2014/main" id="{F2CE7CD2-C2E8-394E-3CBA-41EE89410D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2163" y="1563567"/>
            <a:ext cx="5723443" cy="4027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47961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AE90B-FA53-E760-B053-2F4FE9FF9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F975182-D15F-69E4-C9D3-DDE5CB0988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Activation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E75BC0B-B10E-5088-CAEA-27E9DBA7DBCA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CF1DFA-9FAD-0542-39D3-ED54C84939CD}"/>
              </a:ext>
            </a:extLst>
          </p:cNvPr>
          <p:cNvSpPr txBox="1"/>
          <p:nvPr/>
        </p:nvSpPr>
        <p:spPr>
          <a:xfrm>
            <a:off x="618811" y="1563567"/>
            <a:ext cx="10887389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After having convolution layer, we use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to break up linearity.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Increase nonlinearity. Because images are non linear.</a:t>
            </a:r>
          </a:p>
        </p:txBody>
      </p:sp>
      <p:pic>
        <p:nvPicPr>
          <p:cNvPr id="2050" name="Picture 2" descr="RELU">
            <a:extLst>
              <a:ext uri="{FF2B5EF4-FFF2-40B4-BE49-F238E27FC236}">
                <a16:creationId xmlns:a16="http://schemas.microsoft.com/office/drawing/2014/main" id="{521AF12E-A6A8-AEFB-6175-2D959120AE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1891" y="3218227"/>
            <a:ext cx="7286171" cy="23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29641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329FE-0781-8FC1-21E3-A40AC0DC8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0622E2E-43DA-A178-FCE5-91B8AE5AA9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Same Padding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D7E598F-9DC6-4590-1BD6-25092EB6709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5528F7-0AB0-B057-E81C-26C2B69306A4}"/>
              </a:ext>
            </a:extLst>
          </p:cNvPr>
          <p:cNvSpPr txBox="1"/>
          <p:nvPr/>
        </p:nvSpPr>
        <p:spPr>
          <a:xfrm>
            <a:off x="651870" y="1392117"/>
            <a:ext cx="10887389" cy="15318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As we keep applying conv layers, the size of the volume will decrease faster than we would like.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 the early layers of our network, we want to preserve as much information about the original input volume so that we can extract those low level features.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Input size and output size are same.</a:t>
            </a:r>
          </a:p>
        </p:txBody>
      </p:sp>
      <p:pic>
        <p:nvPicPr>
          <p:cNvPr id="3074" name="Picture 2" descr="padding">
            <a:extLst>
              <a:ext uri="{FF2B5EF4-FFF2-40B4-BE49-F238E27FC236}">
                <a16:creationId xmlns:a16="http://schemas.microsoft.com/office/drawing/2014/main" id="{D3B897C9-BBA2-A957-5F53-2FCC5423B5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1633" y="3314700"/>
            <a:ext cx="7667626" cy="2863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A15475-C94E-0FCB-06B3-B509E1922263}"/>
              </a:ext>
            </a:extLst>
          </p:cNvPr>
          <p:cNvSpPr txBox="1"/>
          <p:nvPr/>
        </p:nvSpPr>
        <p:spPr>
          <a:xfrm>
            <a:off x="689970" y="3651519"/>
            <a:ext cx="3067655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신경망의 초기 레이어에서는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저수준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특징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(low-level features)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추출할 수 있도록 원본 입력의 정보를 가능한 한 많이 보존하고자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same padding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경계선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(Edge),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질감 같은 기본 특징을 초반에 잘 학습하려면 가장자리 정보가 손실되거나 이미지 크기가 조기에 줄어드는 것을 방지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10308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C0740-8744-BFFF-F3A0-35E0AA000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16C79B-E437-54E8-0586-29998CF96D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Max Pooling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29BA06-D6D3-5650-C97E-65FF5871998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891009-267E-FE77-D5A8-EFBEF2BBB643}"/>
              </a:ext>
            </a:extLst>
          </p:cNvPr>
          <p:cNvSpPr txBox="1"/>
          <p:nvPr/>
        </p:nvSpPr>
        <p:spPr>
          <a:xfrm>
            <a:off x="604245" y="1287472"/>
            <a:ext cx="11159130" cy="116249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makes down-sampling or sub-sampling (Reduces the number of parameters)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makes the detection of features invariant to scale or orientation changes.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reduce the amounts of parameters and computation in the network, and hence to also control overfitting.</a:t>
            </a:r>
          </a:p>
        </p:txBody>
      </p:sp>
      <p:pic>
        <p:nvPicPr>
          <p:cNvPr id="4098" name="Picture 2" descr="maxpool">
            <a:extLst>
              <a:ext uri="{FF2B5EF4-FFF2-40B4-BE49-F238E27FC236}">
                <a16:creationId xmlns:a16="http://schemas.microsoft.com/office/drawing/2014/main" id="{B7D268ED-69D9-09D0-5B96-5572D2B81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975" y="2781300"/>
            <a:ext cx="7617858" cy="3451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38154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166B-E2A8-FA61-6243-35FD182CD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C1277C-75A3-E9C8-3C02-9E1C897DC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Flattening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E54BDE5-DC77-92EA-9DA2-49CCC4A1FD2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E44D6E7-5401-39A1-378E-429150BB9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197" y="2678343"/>
            <a:ext cx="4802658" cy="2717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8446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C90D9-A784-7876-7811-3FFB254BB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F427AB-D9B6-FCC2-05A8-1B377D751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Full Connection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CA53118-EF43-1680-A403-4B93C0C141B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62836D-C9FC-4FDC-7252-CC960037E4B1}"/>
              </a:ext>
            </a:extLst>
          </p:cNvPr>
          <p:cNvSpPr txBox="1"/>
          <p:nvPr/>
        </p:nvSpPr>
        <p:spPr>
          <a:xfrm>
            <a:off x="604245" y="1287472"/>
            <a:ext cx="11159130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Neurons in a fully connected layer have connections to all activations in the previous layer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Artificial Neural Network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5122" name="Picture 2" descr="fullyc">
            <a:extLst>
              <a:ext uri="{FF2B5EF4-FFF2-40B4-BE49-F238E27FC236}">
                <a16:creationId xmlns:a16="http://schemas.microsoft.com/office/drawing/2014/main" id="{CD9A6E51-3A34-D534-06E9-E53637B97B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4820" y="2676740"/>
            <a:ext cx="8193024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71901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FB50D-E316-FCB7-BCD9-8814CDDB4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B2F5B11-3471-2688-D360-0DEC23F565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Applying dropout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B285348-858D-172B-58FD-C4E840DD4A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8BEE14-6F74-704D-8882-A8716EBA04C1}"/>
              </a:ext>
            </a:extLst>
          </p:cNvPr>
          <p:cNvSpPr txBox="1"/>
          <p:nvPr/>
        </p:nvSpPr>
        <p:spPr>
          <a:xfrm>
            <a:off x="604245" y="1287472"/>
            <a:ext cx="11159130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 =&gt; max pool =&gt; dropout =&gt; conv =&gt; max pool =&gt; dropout =&gt; fully connected (2 layer)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Dropout: Dropout is a technique where randomly selected neurons are ignored during training</a:t>
            </a:r>
          </a:p>
        </p:txBody>
      </p:sp>
      <p:pic>
        <p:nvPicPr>
          <p:cNvPr id="7170" name="Picture 2" descr="dropout">
            <a:extLst>
              <a:ext uri="{FF2B5EF4-FFF2-40B4-BE49-F238E27FC236}">
                <a16:creationId xmlns:a16="http://schemas.microsoft.com/office/drawing/2014/main" id="{DD4B10C0-2D18-F7D1-91A3-60C26B1E0F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2431" y="2513003"/>
            <a:ext cx="7243317" cy="3678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08207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AA960-2396-754F-3F3E-CB2F5AF02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9DB1BB-BCA5-58D6-6472-9463C882E4C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7. Convnet Architecture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1002F28-97C3-4A86-005E-FC72E6AFE8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124" name="Picture 4" descr="gec2">
            <a:extLst>
              <a:ext uri="{FF2B5EF4-FFF2-40B4-BE49-F238E27FC236}">
                <a16:creationId xmlns:a16="http://schemas.microsoft.com/office/drawing/2014/main" id="{4CDB6F1E-56D0-F136-7924-567A4AB11A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662" y="1966913"/>
            <a:ext cx="11022676" cy="359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96296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8F1C7-38EA-6D74-7EB1-366C07909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C570A9-048D-1C0F-8E21-21D2A96DDE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Practice for 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45485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래픽 1" descr="수영">
            <a:extLst>
              <a:ext uri="{FF2B5EF4-FFF2-40B4-BE49-F238E27FC236}">
                <a16:creationId xmlns:a16="http://schemas.microsoft.com/office/drawing/2014/main" id="{EFE637C0-B53E-AB6A-7C98-66EC232252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8710B86-F8A8-1CC8-8523-FEC3C2CCE4D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93140D-C081-07D8-4F6A-DD9463F74E3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041BDA1-4860-C68A-56AF-73EFDE820B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7B6D81-5581-714B-BEBF-44D1F906F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507DF9E5-B11C-216C-B486-139E237DD2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B0A7963-1477-E978-4CA4-E380097AF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66794397-9BEE-1E46-D744-7C2F99067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ADDF661E-E434-6432-A4D5-22FEF2035B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15007" y="247795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2C328F0-D406-3647-2141-C5F140C15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1C80AD-B6C8-AE6B-32A5-68D73A1BB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996080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367F3F-1ECB-6D5D-5CBE-0320E86B66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1577521"/>
            <a:ext cx="6613064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2ADEF4A-B47A-7977-668C-9B4DFC17B2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래픽 8" descr="학사모">
            <a:extLst>
              <a:ext uri="{FF2B5EF4-FFF2-40B4-BE49-F238E27FC236}">
                <a16:creationId xmlns:a16="http://schemas.microsoft.com/office/drawing/2014/main" id="{CE24F7DB-8229-E1D7-1D8A-E391726DF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E07D09-6557-CD26-DFED-4F839ACCE9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FC1B0D50-16B1-1C13-D57A-EDA8982EBD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389B-473F-1672-8CA3-518ADC11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FBF5EE-9971-7BDB-25AE-558289987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Deep Understanding of CNN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57419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851A7FB-F6FC-45E6-71A5-54630A6A17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CNN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4191445-F1B0-E5AA-70B4-9AFC52FBCC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6F846CE4-29AE-87C9-D069-7DD77A126B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634285F-2C47-4B0F-C48A-2FA62B4B9F3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53428EF-2DA9-6E06-7EF4-BBA88C897E2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07302" y="1248422"/>
            <a:ext cx="1101238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포켓몬 과제 따라하기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https://ryuzyproject.tistory.com/98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 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https://github.com/jihongleejihong/pok8mon_go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7823" y="2545624"/>
            <a:ext cx="9611342" cy="3461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0572C76-76CC-83E2-346F-CA8776467F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54329EBC-13F4-3682-1549-69D5AD2120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5489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2D924-42A6-308A-318F-5DCAB84D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DA0DEB-F95B-586B-A155-04B24FBBD8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Schematic diagram of a basic Convnet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B091F1-8133-145F-CA70-BC9BE699244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7F173790-6EC0-B504-8079-B2A6E9542F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77C7DA6-7E63-383B-7525-8A02E1622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560" y="2212432"/>
            <a:ext cx="7407282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964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782" y="1286447"/>
            <a:ext cx="9430546" cy="2611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03E5523-B314-856B-5B11-0BA1DDBD11F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래픽 3" descr="학사모">
            <a:extLst>
              <a:ext uri="{FF2B5EF4-FFF2-40B4-BE49-F238E27FC236}">
                <a16:creationId xmlns:a16="http://schemas.microsoft.com/office/drawing/2014/main" id="{5D86E2D2-D74C-F328-15BD-1360A4B155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9AE325-904E-83E0-C81B-F776C0673E0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3431D-1872-0B2D-8578-96D199A42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C146B6-CCDA-C51A-0A97-F4089B733E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6B3466-5FF8-05A7-75B4-76F73CF8DF6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348A826-74D4-49B8-BCD2-DD159BE593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994999"/>
              </p:ext>
            </p:extLst>
          </p:nvPr>
        </p:nvGraphicFramePr>
        <p:xfrm>
          <a:off x="944670" y="1688595"/>
          <a:ext cx="10217817" cy="4540759"/>
        </p:xfrm>
        <a:graphic>
          <a:graphicData uri="http://schemas.openxmlformats.org/drawingml/2006/table">
            <a:tbl>
              <a:tblPr/>
              <a:tblGrid>
                <a:gridCol w="1156203">
                  <a:extLst>
                    <a:ext uri="{9D8B030D-6E8A-4147-A177-3AD203B41FA5}">
                      <a16:colId xmlns:a16="http://schemas.microsoft.com/office/drawing/2014/main" val="734185853"/>
                    </a:ext>
                  </a:extLst>
                </a:gridCol>
                <a:gridCol w="2197500">
                  <a:extLst>
                    <a:ext uri="{9D8B030D-6E8A-4147-A177-3AD203B41FA5}">
                      <a16:colId xmlns:a16="http://schemas.microsoft.com/office/drawing/2014/main" val="310222506"/>
                    </a:ext>
                  </a:extLst>
                </a:gridCol>
                <a:gridCol w="2429080">
                  <a:extLst>
                    <a:ext uri="{9D8B030D-6E8A-4147-A177-3AD203B41FA5}">
                      <a16:colId xmlns:a16="http://schemas.microsoft.com/office/drawing/2014/main" val="1607935622"/>
                    </a:ext>
                  </a:extLst>
                </a:gridCol>
                <a:gridCol w="2301434">
                  <a:extLst>
                    <a:ext uri="{9D8B030D-6E8A-4147-A177-3AD203B41FA5}">
                      <a16:colId xmlns:a16="http://schemas.microsoft.com/office/drawing/2014/main" val="3896768209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571997856"/>
                    </a:ext>
                  </a:extLst>
                </a:gridCol>
              </a:tblGrid>
              <a:tr h="516382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Type)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차원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 Shape)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계산식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 #)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24629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(32, 32, 1)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레이어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3299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C1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(28, 28, 6)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(5×5×1+1) × 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8768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S2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(14, 14, 6)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175149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C3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(10, 10, 16)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(5×5×6+1) × 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29111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S4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(5, 5, 16)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0616768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차원 변환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(5×5×16=400)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112416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F5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(400+1) × 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4437103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F6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(120+1) × 84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680060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(84+1) × 10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41894"/>
                  </a:ext>
                </a:extLst>
              </a:tr>
              <a:tr h="428625">
                <a:tc gridSpan="4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638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42915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61F3-8CA8-34FF-0C6A-A94E890A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596D3A-F98F-850B-88C3-14ED93298E84}"/>
              </a:ext>
            </a:extLst>
          </p:cNvPr>
          <p:cNvSpPr/>
          <p:nvPr/>
        </p:nvSpPr>
        <p:spPr>
          <a:xfrm>
            <a:off x="536890" y="26930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B6FE77-2843-CA13-638D-5DE107E25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FB323B-1BE2-31D5-78D4-069C9F0327E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34D78-CC18-0E6A-0875-9055DDFAC7E8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793266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CD9C5-51E3-620E-54F4-17FC0E0E3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EA8281-6554-6A95-D0E7-BB0092C992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Augmentation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E206009-87A2-7061-F57B-95B8722866B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0CC2FA-4835-AD93-69C0-D630FDDA83BD}"/>
              </a:ext>
            </a:extLst>
          </p:cNvPr>
          <p:cNvSpPr txBox="1"/>
          <p:nvPr/>
        </p:nvSpPr>
        <p:spPr>
          <a:xfrm>
            <a:off x="552449" y="1267472"/>
            <a:ext cx="111639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샘플이 너무 적을 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발생하는 근본적인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데이터의 진짜 원리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이해하는 대신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특정 샘플의 우연과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암기해버리기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기존의 훈련 데이터에 무작위 변형을 가해 데이터의 양과 다양성을 인위적으로 늘리는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데이터의 정답 라벨을 바꾸지 않으면서 형태나 색상 등에 다양한 변화를 주어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마치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데이터를 본 것처럼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착각하게 만드는 일종의 학습용 눈속임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 모델 향상 및 비용 절감 등의 효과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37297A-736F-8906-3B1B-BE8FE458E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050" y="3041452"/>
            <a:ext cx="6334125" cy="3562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35776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6703D-44EA-4061-97CE-91C6F3353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8B9CB1-AF41-ACA2-9FA2-788D90D31D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from scratch on a small dataset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A6F86A-20A2-4086-97AA-3E489D0081F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CCC6E2-B224-9E3D-9FD9-FA8D81EE73F4}"/>
              </a:ext>
            </a:extLst>
          </p:cNvPr>
          <p:cNvSpPr txBox="1"/>
          <p:nvPr/>
        </p:nvSpPr>
        <p:spPr>
          <a:xfrm>
            <a:off x="590551" y="1248422"/>
            <a:ext cx="11125804" cy="4853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캐글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(Kaggle)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추출한 개와 고양이 사진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훈련용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검증용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테스트용으로 분할하여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(test accuracy %):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Training a small model from scratch (78.6%)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(85.7%)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using a pretrained model (98.2%)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together with data augmentation (98.4%)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model (test accuracy of 98.7%)</a:t>
            </a:r>
          </a:p>
          <a:p>
            <a:pPr marL="2857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학습된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(pretrained)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분류 모델을 다운로드하여 활용하면 매우 적은 데이터만으로도 강력한 비전 모델을 구축할 수 있도록 특성을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단 몇 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몇 천 장의 적은 데이터만으로도 고성능 모델 생성</a:t>
            </a: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90F8CC73-CEE9-F248-A870-9150D912F3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56567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FC3D0-0987-8025-DA02-60FD2E08E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AFF4AE-9130-E056-6C98-3C455DDAF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your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4BF051C-E260-7222-BB50-00CCD381827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FEB869-5EAF-4D1C-567F-9CA657F07B45}"/>
              </a:ext>
            </a:extLst>
          </p:cNvPr>
          <p:cNvSpPr txBox="1"/>
          <p:nvPr/>
        </p:nvSpPr>
        <p:spPr>
          <a:xfrm>
            <a:off x="590551" y="1248422"/>
            <a:ext cx="11125804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최종 단계에 이르러서는 공간 정보는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7×7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개로 늘어난 고밀도 특징 요약본으로 변환하는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C6D47-610A-2E5D-5BF5-73B1C932E32A}"/>
              </a:ext>
            </a:extLst>
          </p:cNvPr>
          <p:cNvSpPr txBox="1"/>
          <p:nvPr/>
        </p:nvSpPr>
        <p:spPr>
          <a:xfrm>
            <a:off x="647700" y="2212322"/>
            <a:ext cx="11068655" cy="43242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		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RGB images of size (180, 180, 3) 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Rescales inputs to the [0, 1] range by dividing them by 255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 algn="l" latinLnBrk="0">
              <a:buNone/>
            </a:pPr>
            <a:endParaRPr lang="en-US" altLang="ko-KR" sz="9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Conv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MaxPooling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 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(178, 178, 32) — (180 - 3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(89, 89, 32) — (178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# (87, 87, 64) — (89 - 3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(43, 43, 64) — (87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(41, 41, 128) — (43 - 3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(20, 20, 128) — (41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(18, 18, 256) — (20 - 3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(9, 9, 256) — (18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layers.Conv2D(filters=512,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(7, 7, 512) — (9 - 3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Flattens the 3D activations with shape(7,7,512) into 1D activations with shape(512,) by averaging them over spatial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dimensions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 				# (512,)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25,088(=7x7x512)</a:t>
            </a: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 			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binary classification problem</a:t>
            </a:r>
          </a:p>
          <a:p>
            <a:pPr algn="l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72780292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CFD00-0A23-2D9F-9CAC-249068ED8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93D6FE-21A0-61E1-7015-E07FCBD726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BC94D8E-4BFC-2DFE-B497-BB3557059C7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C1C17-A02C-5CAD-ACBE-8E77196C08F6}"/>
              </a:ext>
            </a:extLst>
          </p:cNvPr>
          <p:cNvSpPr txBox="1"/>
          <p:nvPr/>
        </p:nvSpPr>
        <p:spPr>
          <a:xfrm>
            <a:off x="590551" y="1248422"/>
            <a:ext cx="11125804" cy="4158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images of size (180, 180,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데이터를 모델에 주입하려면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(Floating-point tensor)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포맷팅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디스크에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저장되어 있으므로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모델로 전달하기 위한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읽기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내용을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그리드로 디코딩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동일한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Resizing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이미지들을 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단위로 묶기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장씩 배치 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함수를 활용하여 데이터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 구성</a:t>
            </a:r>
          </a:p>
        </p:txBody>
      </p:sp>
    </p:spTree>
    <p:extLst>
      <p:ext uri="{BB962C8B-B14F-4D97-AF65-F5344CB8AC3E}">
        <p14:creationId xmlns:p14="http://schemas.microsoft.com/office/powerpoint/2010/main" val="244169389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16CC-EAAC-FB81-F5D0-8BFAECA13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C3A346-7AA9-F5B3-468F-FB2DC957DC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A0DD657-E820-0B32-CA72-19EC4D39D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4E6EC4-FB3E-628C-D1DC-F795155B81EF}"/>
              </a:ext>
            </a:extLst>
          </p:cNvPr>
          <p:cNvSpPr txBox="1"/>
          <p:nvPr/>
        </p:nvSpPr>
        <p:spPr>
          <a:xfrm>
            <a:off x="590551" y="1248422"/>
            <a:ext cx="11125804" cy="522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디스크에 저장된 이미지 파일들을 딥러닝 모델 학습용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객체로 일괄 변환해 주는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유틸리티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폴더 구조 기반 자동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별도의 라벨 파일 없이 하위 폴더 이름을 클래스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명으로 자동 인식하고 숫자 인덱스를 부여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디코딩 및 리사이징 자동화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크기의 이미지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(JPEG, PNG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읽어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규격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일정하게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묶기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셔플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(Shuffle)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대로 데이터를 묶어주며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 데이터 편향을 막기 위해 무작위로 섞어주는 옵션을 제공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효율성 극대화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한 번에 메모리에 올리지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시점에 디스크에서 배치 단위로 불러오는 파이프라인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생성해 메모리 부족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(OOM)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오류를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984063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EE3C-391C-7D0C-2903-B24DFD22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F8EEC7-2E59-91B9-1BFC-CB69CACD374F}"/>
              </a:ext>
            </a:extLst>
          </p:cNvPr>
          <p:cNvSpPr/>
          <p:nvPr/>
        </p:nvSpPr>
        <p:spPr>
          <a:xfrm>
            <a:off x="536890" y="33407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7EB9-B5E1-11A0-14CD-C481A7C99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15C7BB-19EA-4F6C-8936-9598E9AB78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12E5EE-327E-8D49-C927-CABFB87CE1F7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77173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76CDC-6E86-40DC-BD05-6CCB1D8A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234559-C238-D609-3379-923CC9358F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공간정보와 레이어별 역할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9A3AAE2-9269-FC6C-CBAD-D73F1BD0BA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5EDBC8-4E49-E190-BEEE-1B803CE77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442238"/>
              </p:ext>
            </p:extLst>
          </p:nvPr>
        </p:nvGraphicFramePr>
        <p:xfrm>
          <a:off x="641505" y="1745932"/>
          <a:ext cx="11007570" cy="1683068"/>
        </p:xfrm>
        <a:graphic>
          <a:graphicData uri="http://schemas.openxmlformats.org/drawingml/2006/table">
            <a:tbl>
              <a:tblPr/>
              <a:tblGrid>
                <a:gridCol w="2133714">
                  <a:extLst>
                    <a:ext uri="{9D8B030D-6E8A-4147-A177-3AD203B41FA5}">
                      <a16:colId xmlns:a16="http://schemas.microsoft.com/office/drawing/2014/main" val="2554255565"/>
                    </a:ext>
                  </a:extLst>
                </a:gridCol>
                <a:gridCol w="2895765">
                  <a:extLst>
                    <a:ext uri="{9D8B030D-6E8A-4147-A177-3AD203B41FA5}">
                      <a16:colId xmlns:a16="http://schemas.microsoft.com/office/drawing/2014/main" val="115849083"/>
                    </a:ext>
                  </a:extLst>
                </a:gridCol>
                <a:gridCol w="5978091">
                  <a:extLst>
                    <a:ext uri="{9D8B030D-6E8A-4147-A177-3AD203B41FA5}">
                      <a16:colId xmlns:a16="http://schemas.microsoft.com/office/drawing/2014/main" val="2130708573"/>
                    </a:ext>
                  </a:extLst>
                </a:gridCol>
              </a:tblGrid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위치 정확도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역할 및 특징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816413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초반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정밀함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단위의 점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모서리 등 미세한 패턴 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42498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후반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대략적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귀 등 사물의 구성 요소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추상적 특징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913921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없음 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완전히 파괴됨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추출된 특징들을 종합하여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고양이일 확률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최종 판단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894647"/>
                  </a:ext>
                </a:extLst>
              </a:tr>
            </a:tbl>
          </a:graphicData>
        </a:graphic>
      </p:graphicFrame>
      <p:pic>
        <p:nvPicPr>
          <p:cNvPr id="6" name="Picture 2" descr="convnet">
            <a:extLst>
              <a:ext uri="{FF2B5EF4-FFF2-40B4-BE49-F238E27FC236}">
                <a16:creationId xmlns:a16="http://schemas.microsoft.com/office/drawing/2014/main" id="{D835A479-6861-2379-A9AF-39FEAE425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780" y="3926510"/>
            <a:ext cx="8332439" cy="2307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14822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B4FE-CAFA-DC9D-27E2-5413454A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1AA1063-3618-B70D-D07B-DD620A96D0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 extraction with a pretrained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881C30D-622E-5F02-CF16-46A0AE190FF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347366C-4892-B75A-83EE-0E9308DAFA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1325" y="2461801"/>
            <a:ext cx="5838825" cy="4029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1E7E2C-4BA2-D3EA-B09B-01AF2D603A0E}"/>
              </a:ext>
            </a:extLst>
          </p:cNvPr>
          <p:cNvSpPr txBox="1"/>
          <p:nvPr/>
        </p:nvSpPr>
        <p:spPr>
          <a:xfrm>
            <a:off x="581024" y="1232897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검증된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Pretrained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훌륭한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특징 추출 카메라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 base)’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그대로 얼려두고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(frozen),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위에 내 목적에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판단 버튼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(New classifier, 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새로 달아서 훈련시키는 과정</a:t>
            </a:r>
          </a:p>
        </p:txBody>
      </p:sp>
    </p:spTree>
    <p:extLst>
      <p:ext uri="{BB962C8B-B14F-4D97-AF65-F5344CB8AC3E}">
        <p14:creationId xmlns:p14="http://schemas.microsoft.com/office/powerpoint/2010/main" val="116639746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26B6-84FF-E1A3-1FFC-EBDF183D5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5548BFC-D6E1-EA97-82BB-CDB2EEE86F43}"/>
              </a:ext>
            </a:extLst>
          </p:cNvPr>
          <p:cNvSpPr/>
          <p:nvPr/>
        </p:nvSpPr>
        <p:spPr>
          <a:xfrm>
            <a:off x="536890" y="393128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C7D609-CEF4-FF96-EDD6-4439CBFE5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420072F-9FEF-405D-3BFE-B530B22A7C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11A9C4-7D5C-21B0-E14D-8ABA2660DA0A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5796904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0DCD-93E1-6FF7-BCC0-D0014B8F2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F2A97E-44E1-4A95-80C7-54CBE52627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C204DA4-05ED-AAD7-0977-BAF0C1D6C9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B841A3B6-B32B-4396-D78F-AA9A1CD3A9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7DF5F0E-1A9E-9897-8EEB-3F6994152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15" y="1273775"/>
            <a:ext cx="5831286" cy="2861650"/>
          </a:xfrm>
          <a:prstGeom prst="rect">
            <a:avLst/>
          </a:prstGeom>
        </p:spPr>
      </p:pic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2860F9A-0CA5-BA57-5F4D-E3BAF7782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96119"/>
              </p:ext>
            </p:extLst>
          </p:nvPr>
        </p:nvGraphicFramePr>
        <p:xfrm>
          <a:off x="1179114" y="4230675"/>
          <a:ext cx="9887512" cy="2448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37">
                  <a:extLst>
                    <a:ext uri="{9D8B030D-6E8A-4147-A177-3AD203B41FA5}">
                      <a16:colId xmlns:a16="http://schemas.microsoft.com/office/drawing/2014/main" val="1064459424"/>
                    </a:ext>
                  </a:extLst>
                </a:gridCol>
                <a:gridCol w="4539887">
                  <a:extLst>
                    <a:ext uri="{9D8B030D-6E8A-4147-A177-3AD203B41FA5}">
                      <a16:colId xmlns:a16="http://schemas.microsoft.com/office/drawing/2014/main" val="29696201"/>
                    </a:ext>
                  </a:extLst>
                </a:gridCol>
                <a:gridCol w="5051788">
                  <a:extLst>
                    <a:ext uri="{9D8B030D-6E8A-4147-A177-3AD203B41FA5}">
                      <a16:colId xmlns:a16="http://schemas.microsoft.com/office/drawing/2014/main" val="1258399897"/>
                    </a:ext>
                  </a:extLst>
                </a:gridCol>
              </a:tblGrid>
              <a:tr h="221115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Feature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Extraction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(Base Network)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Classification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사용자분류기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(Custom Network/Classifier)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96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Pre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Trained convolutional base,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대용량 데이터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(ImageNet)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학습한 </a:t>
                      </a:r>
                      <a:r>
                        <a:rPr lang="ko-KR" altLang="en-US" sz="12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레이어들의 집합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New classifier(randomly initialized),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목적에 맞춰 새로 설계하여 붙인 완전 연결 레이어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(Dense Layer)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500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이미지에서 점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입과 같은 시각적 특징을 추출하는 뼈대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(Backbone)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네트워크가 뽑아준 시각적 특징들을 넘겨받아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최종적으로 개인가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판정하는 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253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 추출 능력이 완성되어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새로운 문제를 풀 때 가중치가 흔들리지 않도록 동결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(Frozen,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동결 상태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시켜 두고 특성 추출기로 재사용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처음 붙였을 때는 가중치가 무작위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(Random)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초기화되어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내 데이터셋을 이용해 이 부분만 새로 훈련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(Train)</a:t>
                      </a:r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271672"/>
                  </a:ext>
                </a:extLst>
              </a:tr>
            </a:tbl>
          </a:graphicData>
        </a:graphic>
      </p:graphicFrame>
      <p:pic>
        <p:nvPicPr>
          <p:cNvPr id="12" name="그래픽 11" descr="카메라">
            <a:extLst>
              <a:ext uri="{FF2B5EF4-FFF2-40B4-BE49-F238E27FC236}">
                <a16:creationId xmlns:a16="http://schemas.microsoft.com/office/drawing/2014/main" id="{BFF6339F-819C-FB83-CA0C-E9E2A2579B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1015" y="1339373"/>
            <a:ext cx="914400" cy="914400"/>
          </a:xfrm>
          <a:prstGeom prst="rect">
            <a:avLst/>
          </a:prstGeom>
        </p:spPr>
      </p:pic>
      <p:pic>
        <p:nvPicPr>
          <p:cNvPr id="14" name="그래픽 13" descr="의사봉">
            <a:extLst>
              <a:ext uri="{FF2B5EF4-FFF2-40B4-BE49-F238E27FC236}">
                <a16:creationId xmlns:a16="http://schemas.microsoft.com/office/drawing/2014/main" id="{0C221CDD-EA51-5252-8594-C5BAEC8C19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56701" y="11309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16532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BB083-E500-C1F2-0E8E-F6C8E4EA1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74374E-E5C2-CBBC-E4ED-5029E84D15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FA35194-94BD-B888-FE1D-601D4B48068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4E8A67A-B00F-1A76-9264-6C181CAC2E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7CBB8-5696-08E9-A78C-76129C475EED}"/>
              </a:ext>
            </a:extLst>
          </p:cNvPr>
          <p:cNvSpPr txBox="1"/>
          <p:nvPr/>
        </p:nvSpPr>
        <p:spPr>
          <a:xfrm>
            <a:off x="552449" y="1248422"/>
            <a:ext cx="110204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특성 추출에 사용되었던 동결된 모델 기반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(model base)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동결을 해제하고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추가된 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경우 완전 연결 분류기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기반 모델을 함께 훈련하는 방식으로 재사용하려는 모델의 추상적인 표현을 현재 풀고자 하는 문제에 더 잘 맞도록 미세하게 조정하기 때문에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하며 작업 순서는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6E5F58-4027-3891-2A41-BF495C26B016}"/>
              </a:ext>
            </a:extLst>
          </p:cNvPr>
          <p:cNvSpPr txBox="1"/>
          <p:nvPr/>
        </p:nvSpPr>
        <p:spPr>
          <a:xfrm>
            <a:off x="1937776" y="2839320"/>
            <a:ext cx="7429500" cy="3416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훈련된 기반 네트워크 위에 사용자 정의 네트워크(분류기)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네트워크를 동결(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추가한 분류기 부분을 훈련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네트워크의 동결을 해제(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동결을 해제한 기반 레이어들과 새로 추가한 분류기를 함께 훈련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6121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AA10A-431B-F236-65CC-DB5BD1C5E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57BAC5-5BA3-ABA6-E113-BDC7E4F60A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CNN for Timeseries Data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329843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D01DB-CD16-FE8E-FB47-D4306B5D2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A7E0286-F8FA-B2E2-18BE-39E3BE9410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 </a:t>
            </a:r>
            <a:r>
              <a:rPr lang="en-US" altLang="ko-KR" sz="2800" cap="none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1D with</a:t>
            </a:r>
            <a:r>
              <a:rPr lang="ko-KR" altLang="en-US" sz="2800" cap="none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Timeseries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226DC59-7D78-0C13-4559-E42F440722E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221A82-6C0D-FB05-44AE-2EDE319BC885}"/>
              </a:ext>
            </a:extLst>
          </p:cNvPr>
          <p:cNvSpPr txBox="1"/>
          <p:nvPr/>
        </p:nvSpPr>
        <p:spPr>
          <a:xfrm>
            <a:off x="628650" y="1200150"/>
            <a:ext cx="11010900" cy="10288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Multivariate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기후 데이터 온도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강수량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일조량 등의 다중변수의 시계열 자료를 전형적인 아래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3D 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구성할 수도 있으나 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개씩만 구성하고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온도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강수량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일조량 등으로 구성한 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1D 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구성하여 입력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만든 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Time steps(3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적용하여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Concate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예측하는 모델 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7C9BF87-F17D-A8F7-8F6C-75856C4A0E94}"/>
              </a:ext>
            </a:extLst>
          </p:cNvPr>
          <p:cNvSpPr/>
          <p:nvPr/>
        </p:nvSpPr>
        <p:spPr>
          <a:xfrm>
            <a:off x="710339" y="2823542"/>
            <a:ext cx="2675444" cy="1117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C8811A2-7679-2C7E-DE95-2C3CA22D3D26}"/>
              </a:ext>
            </a:extLst>
          </p:cNvPr>
          <p:cNvSpPr/>
          <p:nvPr/>
        </p:nvSpPr>
        <p:spPr>
          <a:xfrm>
            <a:off x="862739" y="2975942"/>
            <a:ext cx="2675444" cy="1117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99F94C8-95EF-01BB-AC82-F6ED98507D2D}"/>
              </a:ext>
            </a:extLst>
          </p:cNvPr>
          <p:cNvSpPr/>
          <p:nvPr/>
        </p:nvSpPr>
        <p:spPr>
          <a:xfrm>
            <a:off x="1015139" y="3128342"/>
            <a:ext cx="2675444" cy="1117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35AC0D4-624C-DC13-271F-1C2A0A4468BB}"/>
              </a:ext>
            </a:extLst>
          </p:cNvPr>
          <p:cNvSpPr/>
          <p:nvPr/>
        </p:nvSpPr>
        <p:spPr>
          <a:xfrm>
            <a:off x="1167539" y="3280742"/>
            <a:ext cx="2675444" cy="1117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5917FFF-3885-6C08-235F-DE1A3E3637E9}"/>
              </a:ext>
            </a:extLst>
          </p:cNvPr>
          <p:cNvSpPr/>
          <p:nvPr/>
        </p:nvSpPr>
        <p:spPr>
          <a:xfrm>
            <a:off x="1319939" y="3433142"/>
            <a:ext cx="2675444" cy="1117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25.4, 24.3,……… 34.5, 33.3…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accent6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100.0, 101.3, 56.7……….45.6, 34.6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34.6, 45.6,…………………..56.5, 67.6</a:t>
            </a:r>
            <a:endParaRPr lang="ko-KR" altLang="en-US"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63F341-8105-7BF3-30A5-DBD162BCB333}"/>
              </a:ext>
            </a:extLst>
          </p:cNvPr>
          <p:cNvSpPr txBox="1"/>
          <p:nvPr/>
        </p:nvSpPr>
        <p:spPr>
          <a:xfrm>
            <a:off x="879352" y="5623537"/>
            <a:ext cx="3990393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3D Timeseries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Tensor</a:t>
            </a:r>
          </a:p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(10, 365, 3)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(10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365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3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Features)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EFB5CD3-2CBE-9B77-AECC-EE1A5C5E2054}"/>
              </a:ext>
            </a:extLst>
          </p:cNvPr>
          <p:cNvSpPr/>
          <p:nvPr/>
        </p:nvSpPr>
        <p:spPr>
          <a:xfrm>
            <a:off x="8168860" y="4636760"/>
            <a:ext cx="2675444" cy="33211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25.4, 24.3,……… 34.5, 33.3…</a:t>
            </a:r>
            <a:endParaRPr lang="ko-KR" altLang="en-US"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B360D9F-C912-8897-2FCD-65B4E4F1B233}"/>
              </a:ext>
            </a:extLst>
          </p:cNvPr>
          <p:cNvSpPr/>
          <p:nvPr/>
        </p:nvSpPr>
        <p:spPr>
          <a:xfrm>
            <a:off x="8435734" y="4907317"/>
            <a:ext cx="2675444" cy="33211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accent6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100.0, 101.3, 56.7……….45.6, 34.6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C704DD3-CB3F-79B9-582E-ACBA81445B48}"/>
              </a:ext>
            </a:extLst>
          </p:cNvPr>
          <p:cNvSpPr/>
          <p:nvPr/>
        </p:nvSpPr>
        <p:spPr>
          <a:xfrm>
            <a:off x="8784984" y="5195560"/>
            <a:ext cx="2675444" cy="33211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34.6, 45.6,…………………..56.5, 67.6</a:t>
            </a:r>
            <a:endParaRPr lang="ko-KR" altLang="en-US"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왼쪽 중괄호 23">
            <a:extLst>
              <a:ext uri="{FF2B5EF4-FFF2-40B4-BE49-F238E27FC236}">
                <a16:creationId xmlns:a16="http://schemas.microsoft.com/office/drawing/2014/main" id="{01F2A509-E1A0-4E95-024A-0369558EF003}"/>
              </a:ext>
            </a:extLst>
          </p:cNvPr>
          <p:cNvSpPr/>
          <p:nvPr/>
        </p:nvSpPr>
        <p:spPr>
          <a:xfrm rot="10800000">
            <a:off x="4119909" y="3434296"/>
            <a:ext cx="193430" cy="1066897"/>
          </a:xfrm>
          <a:prstGeom prst="leftBrace">
            <a:avLst>
              <a:gd name="adj1" fmla="val 56639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왼쪽 중괄호 25">
            <a:extLst>
              <a:ext uri="{FF2B5EF4-FFF2-40B4-BE49-F238E27FC236}">
                <a16:creationId xmlns:a16="http://schemas.microsoft.com/office/drawing/2014/main" id="{F29B2FB5-9925-E455-D163-C8E3EAFA3652}"/>
              </a:ext>
            </a:extLst>
          </p:cNvPr>
          <p:cNvSpPr/>
          <p:nvPr/>
        </p:nvSpPr>
        <p:spPr>
          <a:xfrm rot="16200000">
            <a:off x="2534601" y="3477338"/>
            <a:ext cx="281160" cy="2640405"/>
          </a:xfrm>
          <a:prstGeom prst="leftBrace">
            <a:avLst>
              <a:gd name="adj1" fmla="val 56639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왼쪽 중괄호 27">
            <a:extLst>
              <a:ext uri="{FF2B5EF4-FFF2-40B4-BE49-F238E27FC236}">
                <a16:creationId xmlns:a16="http://schemas.microsoft.com/office/drawing/2014/main" id="{4EAAAEF1-D1C2-AB5B-6FDC-2FF43601242D}"/>
              </a:ext>
            </a:extLst>
          </p:cNvPr>
          <p:cNvSpPr/>
          <p:nvPr/>
        </p:nvSpPr>
        <p:spPr>
          <a:xfrm rot="7748708">
            <a:off x="3742428" y="2513119"/>
            <a:ext cx="242513" cy="962173"/>
          </a:xfrm>
          <a:prstGeom prst="leftBrace">
            <a:avLst>
              <a:gd name="adj1" fmla="val 56639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D63081-ABF0-F3AD-F08A-C1D88356DCD2}"/>
              </a:ext>
            </a:extLst>
          </p:cNvPr>
          <p:cNvSpPr txBox="1"/>
          <p:nvPr/>
        </p:nvSpPr>
        <p:spPr>
          <a:xfrm>
            <a:off x="2293653" y="4987379"/>
            <a:ext cx="10636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Timesteps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5039ACF-4E13-5D4A-1B29-B2B4D7CBEC41}"/>
              </a:ext>
            </a:extLst>
          </p:cNvPr>
          <p:cNvSpPr txBox="1"/>
          <p:nvPr/>
        </p:nvSpPr>
        <p:spPr>
          <a:xfrm rot="2228255">
            <a:off x="3647386" y="2582615"/>
            <a:ext cx="10636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Samples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86E4C6-14B1-F543-4591-2B09B6144556}"/>
              </a:ext>
            </a:extLst>
          </p:cNvPr>
          <p:cNvSpPr txBox="1"/>
          <p:nvPr/>
        </p:nvSpPr>
        <p:spPr>
          <a:xfrm>
            <a:off x="4172554" y="4039008"/>
            <a:ext cx="10636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endParaRPr lang="ko-KR" altLang="en-US" dirty="0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9C0C4996-B744-BE18-85BE-8DF256EB4B70}"/>
              </a:ext>
            </a:extLst>
          </p:cNvPr>
          <p:cNvGrpSpPr/>
          <p:nvPr/>
        </p:nvGrpSpPr>
        <p:grpSpPr>
          <a:xfrm>
            <a:off x="6098486" y="2719353"/>
            <a:ext cx="2946271" cy="636916"/>
            <a:chOff x="6321312" y="3880271"/>
            <a:chExt cx="3315854" cy="636916"/>
          </a:xfrm>
        </p:grpSpPr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900C4380-D67C-1D16-33AC-E44DCC5B8F85}"/>
                </a:ext>
              </a:extLst>
            </p:cNvPr>
            <p:cNvSpPr/>
            <p:nvPr/>
          </p:nvSpPr>
          <p:spPr>
            <a:xfrm>
              <a:off x="6321312" y="3880271"/>
              <a:ext cx="3011054" cy="33211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F1C9751-6E87-348A-93D2-E5B9AA4BF401}"/>
                </a:ext>
              </a:extLst>
            </p:cNvPr>
            <p:cNvSpPr/>
            <p:nvPr/>
          </p:nvSpPr>
          <p:spPr>
            <a:xfrm>
              <a:off x="6473712" y="4032671"/>
              <a:ext cx="3011054" cy="332116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22818226-95B9-12CB-A77C-3DC6C47E9114}"/>
                </a:ext>
              </a:extLst>
            </p:cNvPr>
            <p:cNvSpPr/>
            <p:nvPr/>
          </p:nvSpPr>
          <p:spPr>
            <a:xfrm>
              <a:off x="6626112" y="4185071"/>
              <a:ext cx="3011054" cy="332116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B2901AC-8421-07E1-B759-0359A5F83D2A}"/>
              </a:ext>
            </a:extLst>
          </p:cNvPr>
          <p:cNvGrpSpPr/>
          <p:nvPr/>
        </p:nvGrpSpPr>
        <p:grpSpPr>
          <a:xfrm>
            <a:off x="6839669" y="3197222"/>
            <a:ext cx="2946271" cy="636916"/>
            <a:chOff x="6321312" y="3880271"/>
            <a:chExt cx="3315854" cy="636916"/>
          </a:xfrm>
        </p:grpSpPr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972E61A9-C738-B591-252C-685C9958C59E}"/>
                </a:ext>
              </a:extLst>
            </p:cNvPr>
            <p:cNvSpPr/>
            <p:nvPr/>
          </p:nvSpPr>
          <p:spPr>
            <a:xfrm>
              <a:off x="6321312" y="3880271"/>
              <a:ext cx="3011054" cy="33211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927B379D-1C92-EC8B-198A-B77D5E4FE1CE}"/>
                </a:ext>
              </a:extLst>
            </p:cNvPr>
            <p:cNvSpPr/>
            <p:nvPr/>
          </p:nvSpPr>
          <p:spPr>
            <a:xfrm>
              <a:off x="6473712" y="4032671"/>
              <a:ext cx="3011054" cy="332116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BFCC0B5D-3ADF-5E47-BD33-CEE1F99E5016}"/>
                </a:ext>
              </a:extLst>
            </p:cNvPr>
            <p:cNvSpPr/>
            <p:nvPr/>
          </p:nvSpPr>
          <p:spPr>
            <a:xfrm>
              <a:off x="6626112" y="4185071"/>
              <a:ext cx="3011054" cy="332116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18CB0161-A4DE-16FA-F0E6-9D3B7E6AFB40}"/>
              </a:ext>
            </a:extLst>
          </p:cNvPr>
          <p:cNvGrpSpPr/>
          <p:nvPr/>
        </p:nvGrpSpPr>
        <p:grpSpPr>
          <a:xfrm>
            <a:off x="7573898" y="3734208"/>
            <a:ext cx="2946271" cy="636916"/>
            <a:chOff x="6321312" y="3880271"/>
            <a:chExt cx="3315854" cy="636916"/>
          </a:xfrm>
        </p:grpSpPr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2A6D9CCA-C00A-900C-A0F7-C00623055840}"/>
                </a:ext>
              </a:extLst>
            </p:cNvPr>
            <p:cNvSpPr/>
            <p:nvPr/>
          </p:nvSpPr>
          <p:spPr>
            <a:xfrm>
              <a:off x="6321312" y="3880271"/>
              <a:ext cx="3011054" cy="33211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42ADC2EE-04AF-6E3C-72FD-EE66E5ADCA15}"/>
                </a:ext>
              </a:extLst>
            </p:cNvPr>
            <p:cNvSpPr/>
            <p:nvPr/>
          </p:nvSpPr>
          <p:spPr>
            <a:xfrm>
              <a:off x="6473712" y="4032671"/>
              <a:ext cx="3011054" cy="332116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1545AFA9-4729-B3EC-D78D-5602985B2E70}"/>
                </a:ext>
              </a:extLst>
            </p:cNvPr>
            <p:cNvSpPr/>
            <p:nvPr/>
          </p:nvSpPr>
          <p:spPr>
            <a:xfrm>
              <a:off x="6626112" y="4185071"/>
              <a:ext cx="3011054" cy="332116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7CB97179-F8E8-E6F0-0A7E-C56220BACE27}"/>
              </a:ext>
            </a:extLst>
          </p:cNvPr>
          <p:cNvSpPr txBox="1"/>
          <p:nvPr/>
        </p:nvSpPr>
        <p:spPr>
          <a:xfrm>
            <a:off x="6658621" y="5623537"/>
            <a:ext cx="3990394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3D Timeseries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Tensor</a:t>
            </a:r>
          </a:p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10, 3, 365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= (10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3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Channel, 365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BB1551D-D2C7-E764-581E-1AD5C6A9436A}"/>
              </a:ext>
            </a:extLst>
          </p:cNvPr>
          <p:cNvSpPr txBox="1"/>
          <p:nvPr/>
        </p:nvSpPr>
        <p:spPr>
          <a:xfrm>
            <a:off x="6658621" y="5307112"/>
            <a:ext cx="1352254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1D Convnet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D9B1B02-C4B8-A728-1D8B-A92106D5E056}"/>
              </a:ext>
            </a:extLst>
          </p:cNvPr>
          <p:cNvSpPr txBox="1"/>
          <p:nvPr/>
        </p:nvSpPr>
        <p:spPr>
          <a:xfrm>
            <a:off x="882300" y="5307112"/>
            <a:ext cx="1352254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endParaRPr lang="ko-KR" altLang="en-US" dirty="0">
              <a:solidFill>
                <a:schemeClr val="bg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99D9EF10-5E5C-B92C-0B5F-076B03A6ED6B}"/>
              </a:ext>
            </a:extLst>
          </p:cNvPr>
          <p:cNvCxnSpPr/>
          <p:nvPr/>
        </p:nvCxnSpPr>
        <p:spPr>
          <a:xfrm>
            <a:off x="5015345" y="3834138"/>
            <a:ext cx="8891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29912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B04EE-2644-EC70-C999-0B66D2DBC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DC5373-6B20-0263-9D7D-7CFF9FB487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Strengths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of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 1D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D2DD83A-878F-FF40-28DA-F6673ED2AF5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337481-CA88-E348-2DE3-4E755CE750EC}"/>
              </a:ext>
            </a:extLst>
          </p:cNvPr>
          <p:cNvSpPr txBox="1"/>
          <p:nvPr/>
        </p:nvSpPr>
        <p:spPr>
          <a:xfrm>
            <a:off x="581630" y="1248422"/>
            <a:ext cx="11134725" cy="5183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 특성 추출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(Automatic Feature Extraction)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Moving Average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）방식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14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 등 지정된 기간 동안의 단순 평균값만 계산하므로 정보가 극도로 단축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평탄화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(Smoothing)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급격한 변동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골든크로스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데드크로스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변동성 패턴 등 복잡한 시상 패턴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(Temporal Pattern)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포착하지 못함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1D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(Filter)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가중치가 학습 과정에서 최적화되면서 단순 평균이 아닌 최적의 패턴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추출기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역할을 수행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상승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하강 추세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특정 급등락 모양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모멘텀 등 다양한 국소적 비선형 패턴을 자동으로 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다중 스케일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(Multi-scale)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국소 특징 동시 학습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이동평균선을 따로 만들어 입력 변수로 넣더라도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입장에서는 그저 단순 피처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취급되어 피처 간 유기적 결합 학습이 제한적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1D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3, 5, 7, 14)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다르게 구성하여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초단기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부터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중단기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까지의 서로 다른 주기적 패턴을 병렬로 동시 학습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Concatenate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단계를 통해 단기 및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중단기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특징의 상호작용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(Interaction)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고차원 표현으로 결합해 활용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6404867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ABF7C-488E-F861-D370-934319EB3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174C518-5F3D-E9BB-19B6-93251A6C83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 1D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0FB1267-35A4-2FA1-34EC-BD0A506CA1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438BB7B-1378-BF5D-CDF3-5397250758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14" y="1367588"/>
            <a:ext cx="8115611" cy="527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60579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7F48E-ED28-FDE3-A2CB-407DBB474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B4A4EC-7ADD-3D20-6661-E99EE8CEC5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 1D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CB268DB-A4D8-9636-AB5E-F52DC069579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746333-6B63-F8FB-BB0E-7B3389279844}"/>
              </a:ext>
            </a:extLst>
          </p:cNvPr>
          <p:cNvSpPr txBox="1"/>
          <p:nvPr/>
        </p:nvSpPr>
        <p:spPr>
          <a:xfrm>
            <a:off x="581025" y="1451622"/>
            <a:ext cx="11029950" cy="45243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tensorflow.keras.layers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Conv1D, GlobalMaxPooling1D,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Concatenate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tensorflow.keras.models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=(365, 2))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3일, 5일, 7일, 14일 패턴 병렬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&amp; Global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Branch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b3 = GlobalMaxPooling1D()(Conv1D(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b5 = GlobalMaxPooling1D()(Conv1D(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b7 = GlobalMaxPooling1D()(Conv1D(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b14 = GlobalMaxPooling1D()(Conv1D(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=14,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Branch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결합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(64,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Concatenate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()([b3, b5, b7, b14]))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모델 생성 및 컴파일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binary_crossentropy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metrics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=['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accuracy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'AUC'])</a:t>
            </a:r>
          </a:p>
        </p:txBody>
      </p:sp>
    </p:spTree>
    <p:extLst>
      <p:ext uri="{BB962C8B-B14F-4D97-AF65-F5344CB8AC3E}">
        <p14:creationId xmlns:p14="http://schemas.microsoft.com/office/powerpoint/2010/main" val="3281610437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11074</TotalTime>
  <Words>6818</Words>
  <Application>Microsoft Office PowerPoint</Application>
  <PresentationFormat>와이드스크린</PresentationFormat>
  <Paragraphs>791</Paragraphs>
  <Slides>90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90</vt:i4>
      </vt:variant>
    </vt:vector>
  </HeadingPairs>
  <TitlesOfParts>
    <vt:vector size="100" baseType="lpstr">
      <vt:lpstr>D2Coding</vt:lpstr>
      <vt:lpstr>맑은 고딕</vt:lpstr>
      <vt:lpstr>맑은 고딕 Semilight</vt:lpstr>
      <vt:lpstr>Batang</vt:lpstr>
      <vt:lpstr>Arial</vt:lpstr>
      <vt:lpstr>Cambria Math</vt:lpstr>
      <vt:lpstr>Lora</vt:lpstr>
      <vt:lpstr>Times New Roman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Kernel, Filter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Poolings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Convolution operation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Practice for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Understanding of CNN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CNN for Timeseries Data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190</cp:revision>
  <dcterms:created xsi:type="dcterms:W3CDTF">2026-04-06T01:00:39Z</dcterms:created>
  <dcterms:modified xsi:type="dcterms:W3CDTF">2026-09-14T01:33:08Z</dcterms:modified>
  <cp:version/>
</cp:coreProperties>
</file>