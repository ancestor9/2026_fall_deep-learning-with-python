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1"/>
  </p:notesMasterIdLst>
  <p:handoutMasterIdLst>
    <p:handoutMasterId r:id="rId52"/>
  </p:handoutMasterIdLst>
  <p:sldIdLst>
    <p:sldId id="256" r:id="rId2"/>
    <p:sldId id="1136" r:id="rId3"/>
    <p:sldId id="1169" r:id="rId4"/>
    <p:sldId id="1174" r:id="rId5"/>
    <p:sldId id="1134" r:id="rId6"/>
    <p:sldId id="1141" r:id="rId7"/>
    <p:sldId id="1173" r:id="rId8"/>
    <p:sldId id="1170" r:id="rId9"/>
    <p:sldId id="1171" r:id="rId10"/>
    <p:sldId id="1172" r:id="rId11"/>
    <p:sldId id="1137" r:id="rId12"/>
    <p:sldId id="1114" r:id="rId13"/>
    <p:sldId id="1107" r:id="rId14"/>
    <p:sldId id="1133" r:id="rId15"/>
    <p:sldId id="1129" r:id="rId16"/>
    <p:sldId id="1130" r:id="rId17"/>
    <p:sldId id="1177" r:id="rId18"/>
    <p:sldId id="1112" r:id="rId19"/>
    <p:sldId id="1132" r:id="rId20"/>
    <p:sldId id="1131" r:id="rId21"/>
    <p:sldId id="1124" r:id="rId22"/>
    <p:sldId id="1178" r:id="rId23"/>
    <p:sldId id="1115" r:id="rId24"/>
    <p:sldId id="1138" r:id="rId25"/>
    <p:sldId id="1103" r:id="rId26"/>
    <p:sldId id="1098" r:id="rId27"/>
    <p:sldId id="1099" r:id="rId28"/>
    <p:sldId id="1101" r:id="rId29"/>
    <p:sldId id="1176" r:id="rId30"/>
    <p:sldId id="1105" r:id="rId31"/>
    <p:sldId id="1095" r:id="rId32"/>
    <p:sldId id="1096" r:id="rId33"/>
    <p:sldId id="1097" r:id="rId34"/>
    <p:sldId id="1127" r:id="rId35"/>
    <p:sldId id="1106" r:id="rId36"/>
    <p:sldId id="1102" r:id="rId37"/>
    <p:sldId id="1116" r:id="rId38"/>
    <p:sldId id="1104" r:id="rId39"/>
    <p:sldId id="1125" r:id="rId40"/>
    <p:sldId id="1126" r:id="rId41"/>
    <p:sldId id="1175" r:id="rId42"/>
    <p:sldId id="1111" r:id="rId43"/>
    <p:sldId id="1113" r:id="rId44"/>
    <p:sldId id="1109" r:id="rId45"/>
    <p:sldId id="1110" r:id="rId46"/>
    <p:sldId id="1139" r:id="rId47"/>
    <p:sldId id="1118" r:id="rId48"/>
    <p:sldId id="1119" r:id="rId49"/>
    <p:sldId id="1140" r:id="rId50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69"/>
            <p14:sldId id="1174"/>
            <p14:sldId id="1134"/>
            <p14:sldId id="1141"/>
            <p14:sldId id="1173"/>
            <p14:sldId id="1170"/>
            <p14:sldId id="1171"/>
            <p14:sldId id="1172"/>
            <p14:sldId id="1137"/>
            <p14:sldId id="1114"/>
            <p14:sldId id="1107"/>
            <p14:sldId id="1133"/>
            <p14:sldId id="1129"/>
            <p14:sldId id="1130"/>
            <p14:sldId id="1177"/>
            <p14:sldId id="1112"/>
            <p14:sldId id="1132"/>
            <p14:sldId id="1131"/>
            <p14:sldId id="1124"/>
            <p14:sldId id="1178"/>
            <p14:sldId id="1115"/>
            <p14:sldId id="1138"/>
            <p14:sldId id="1103"/>
            <p14:sldId id="1098"/>
            <p14:sldId id="1099"/>
            <p14:sldId id="1101"/>
            <p14:sldId id="1176"/>
            <p14:sldId id="1105"/>
            <p14:sldId id="1095"/>
            <p14:sldId id="1096"/>
            <p14:sldId id="1097"/>
            <p14:sldId id="1127"/>
            <p14:sldId id="1106"/>
            <p14:sldId id="1102"/>
            <p14:sldId id="1116"/>
            <p14:sldId id="1104"/>
            <p14:sldId id="1125"/>
            <p14:sldId id="1126"/>
            <p14:sldId id="1175"/>
            <p14:sldId id="1111"/>
            <p14:sldId id="1113"/>
            <p14:sldId id="1109"/>
            <p14:sldId id="1110"/>
            <p14:sldId id="1139"/>
            <p14:sldId id="1118"/>
            <p14:sldId id="1119"/>
            <p14:sldId id="1140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B45"/>
    <a:srgbClr val="76E3FF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commentAuthors" Target="commentAuthor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2026-08-04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2026-08-04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4AE8-85C6-FE2E-54EB-2B1077696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C6A91D-9032-A35D-1BAF-EBF601F116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C9D45FA-1BC2-61F5-B1F2-686A23297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88F8D9-27E7-0EE7-2903-0D9806477B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343398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C71F8-751E-CCCD-6C8A-5A1DA132A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F39A948-691E-DCAA-377C-6E9CDE635A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8DB16FE-6FE2-4508-BB27-19198A0FAF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4352A5-F09E-A040-0B41-E71C60374A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13519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98392-4E95-02CE-A6DB-519EF9B6C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560959-980F-A07D-7632-43C9B46DB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6D86DC6-7712-D065-1D86-774A4B8FB8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A72450-B8D9-1B15-5151-83DF825586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689515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BBEB0-B77A-D8E5-C986-05298B4E0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F1298E0-A1AE-820A-CCF6-19A665C5F3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25704F4-6AA5-1229-7B78-8ACF3B26BC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CDDB87-E432-CF73-C43C-EB04900D6D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388889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2026-08-04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8/4/2026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2026-08-04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lmpo/a-brief-history-of-ai-with-deep-learning-26f7948bc87b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cs231n.stanford.edu/" TargetMode="Externa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gif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nvolution" TargetMode="External"/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gif"/><Relationship Id="rId2" Type="http://schemas.openxmlformats.org/officeDocument/2006/relationships/hyperlink" Target="https://github.com/ancestor9/2025_Winter_Deep-Learning-with-TensorFlow/tree/main/20260107_03_Image%20Classification" TargetMode="Externa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gif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hyperlink" Target="https://www.pinecone.io/learn/series/image-search/cnn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6.svg"/><Relationship Id="rId4" Type="http://schemas.openxmlformats.org/officeDocument/2006/relationships/image" Target="../media/image3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jDe5BAsT2-Y?t=34" TargetMode="External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6.svg"/><Relationship Id="rId4" Type="http://schemas.openxmlformats.org/officeDocument/2006/relationships/image" Target="../media/image35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hyperlink" Target="https://poloclub.github.io/cnn-explainer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6.svg"/><Relationship Id="rId4" Type="http://schemas.openxmlformats.org/officeDocument/2006/relationships/image" Target="../media/image3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7" Type="http://schemas.openxmlformats.org/officeDocument/2006/relationships/image" Target="../media/image19.sv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8.png"/><Relationship Id="rId5" Type="http://schemas.openxmlformats.org/officeDocument/2006/relationships/image" Target="../media/image36.svg"/><Relationship Id="rId4" Type="http://schemas.openxmlformats.org/officeDocument/2006/relationships/image" Target="../media/image35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22.gi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0.sv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gif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0.svg"/><Relationship Id="rId4" Type="http://schemas.openxmlformats.org/officeDocument/2006/relationships/image" Target="../media/image49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hyperlink" Target="https://tensorspace.org/html/playground/lenet.html" TargetMode="Externa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hyperlink" Target="https://stanford.edu/~shervine/teaching/cs-230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0.svg"/><Relationship Id="rId4" Type="http://schemas.openxmlformats.org/officeDocument/2006/relationships/image" Target="../media/image49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hyperlink" Target="https://www.youtube.com/watch?v=V9ZYDCnItr0&amp;t=76s" TargetMode="Externa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hyperlink" Target="https://tensorspace.org/html/playground/alexne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5.jpe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hyperlink" Target="https://github.com/jihongleejihong/pok8mon_go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8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Image Classification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644B366F-C08A-343D-4873-7C751FD3FEC6}"/>
              </a:ext>
            </a:extLst>
          </p:cNvPr>
          <p:cNvSpPr/>
          <p:nvPr/>
        </p:nvSpPr>
        <p:spPr>
          <a:xfrm>
            <a:off x="536890" y="2092960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544BF-486E-CF55-333D-077990DDD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9360DF4-4F71-F6BE-C5F9-A496011E33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2577F4F-3E3E-FB6A-7D3A-40B3DC62FDFA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How to recognize face image ?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46E0553-FCB6-9211-B623-8555364E7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비비안 리">
            <a:extLst>
              <a:ext uri="{FF2B5EF4-FFF2-40B4-BE49-F238E27FC236}">
                <a16:creationId xmlns:a16="http://schemas.microsoft.com/office/drawing/2014/main" id="{BEC38110-3180-5354-A8A9-0A34C4D071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2221" y="1409700"/>
            <a:ext cx="3804279" cy="51842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77BCCDC3-B50E-3F08-D502-F72E445FDD60}"/>
              </a:ext>
            </a:extLst>
          </p:cNvPr>
          <p:cNvSpPr/>
          <p:nvPr/>
        </p:nvSpPr>
        <p:spPr>
          <a:xfrm>
            <a:off x="4667249" y="3000375"/>
            <a:ext cx="638175" cy="3286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44D363F8-1E16-1B74-88A2-305777089F60}"/>
              </a:ext>
            </a:extLst>
          </p:cNvPr>
          <p:cNvSpPr/>
          <p:nvPr/>
        </p:nvSpPr>
        <p:spPr>
          <a:xfrm>
            <a:off x="4333876" y="3381375"/>
            <a:ext cx="419100" cy="504825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16F8E80-7484-0903-9199-56F4F4A66A41}"/>
              </a:ext>
            </a:extLst>
          </p:cNvPr>
          <p:cNvSpPr/>
          <p:nvPr/>
        </p:nvSpPr>
        <p:spPr>
          <a:xfrm>
            <a:off x="4162426" y="3943351"/>
            <a:ext cx="752474" cy="328612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EA605B5-054F-2A74-5599-0DF500671F2D}"/>
              </a:ext>
            </a:extLst>
          </p:cNvPr>
          <p:cNvSpPr/>
          <p:nvPr/>
        </p:nvSpPr>
        <p:spPr>
          <a:xfrm>
            <a:off x="3669986" y="2781299"/>
            <a:ext cx="663890" cy="219075"/>
          </a:xfrm>
          <a:prstGeom prst="rect">
            <a:avLst/>
          </a:prstGeom>
          <a:noFill/>
          <a:ln w="28575"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3A8DCC8-D8FF-2942-0ECF-4BD599AF2A06}"/>
              </a:ext>
            </a:extLst>
          </p:cNvPr>
          <p:cNvSpPr/>
          <p:nvPr/>
        </p:nvSpPr>
        <p:spPr>
          <a:xfrm>
            <a:off x="4181477" y="2371723"/>
            <a:ext cx="663890" cy="21907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4550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8F1B5-3293-2582-E79C-68BA83E5E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250D206-0CCD-0BDF-2BFE-C27CAAA2174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83E9A3F-7661-A1B5-BEEC-C07088F84745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 Timeline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64AA592-70D7-412D-FBA1-303BD4944C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1690" y="1469766"/>
            <a:ext cx="9968619" cy="465561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80D09BA-6E17-7800-CA71-C1179CD5B4DC}"/>
              </a:ext>
            </a:extLst>
          </p:cNvPr>
          <p:cNvSpPr txBox="1"/>
          <p:nvPr/>
        </p:nvSpPr>
        <p:spPr>
          <a:xfrm>
            <a:off x="1034776" y="6237517"/>
            <a:ext cx="32624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A-brief-history-of-ai-with-deep-learning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D5BCE8C-DE81-A0E1-0670-31CF7BCDD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67035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BDCA8-F9CF-EE01-5357-7DFEAC9D8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B90A43-A500-9D98-C5EE-7F7A4C2F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C0ADB4E-B488-943F-AE13-01421308D4F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1C6F73-D4C0-66A9-8C80-676C41CEA657}"/>
              </a:ext>
            </a:extLst>
          </p:cNvPr>
          <p:cNvSpPr txBox="1"/>
          <p:nvPr/>
        </p:nvSpPr>
        <p:spPr>
          <a:xfrm>
            <a:off x="623140" y="1424888"/>
            <a:ext cx="1115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분류 예측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https://cs231n.stanford.edu/</a:t>
            </a:r>
            <a:endParaRPr lang="ko-KR" altLang="en-US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21CAC7F-22D6-E8F7-94D0-656809DD1B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106" y="2259171"/>
            <a:ext cx="8626588" cy="3673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2942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BF3E9-17FD-3A0B-B2A7-5AC022FAA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0651E4-B433-889A-1AD1-483312F29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C655E3A-436E-7FA1-6E2C-0AB01702206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115012-CE47-398B-9E49-B3D9E7762105}"/>
              </a:ext>
            </a:extLst>
          </p:cNvPr>
          <p:cNvSpPr txBox="1"/>
          <p:nvPr/>
        </p:nvSpPr>
        <p:spPr>
          <a:xfrm>
            <a:off x="1009084" y="1742121"/>
            <a:ext cx="9411266" cy="23534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Kernels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= Filters = Feature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maps, detectors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Stride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1467638-E365-47D5-7E1C-8CDE78EBCA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4793" y="3135367"/>
            <a:ext cx="6145557" cy="2981178"/>
          </a:xfrm>
          <a:prstGeom prst="rect">
            <a:avLst/>
          </a:prstGeom>
        </p:spPr>
      </p:pic>
      <p:pic>
        <p:nvPicPr>
          <p:cNvPr id="13" name="그래픽 12" descr="물음표">
            <a:extLst>
              <a:ext uri="{FF2B5EF4-FFF2-40B4-BE49-F238E27FC236}">
                <a16:creationId xmlns:a16="http://schemas.microsoft.com/office/drawing/2014/main" id="{59520228-A4BE-0EA9-79F3-5241DA21F6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96025" y="3185141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02335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845F1-226F-FB5D-F7AB-187866B13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A58939-71F2-632B-3A60-5043A8421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18FFB35-DAD1-1430-2A44-1ECF409EFCB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Introduction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to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using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Keras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B6F933-3B51-A8B3-27C2-66F9D04BFF0D}"/>
              </a:ext>
            </a:extLst>
          </p:cNvPr>
          <p:cNvSpPr txBox="1"/>
          <p:nvPr/>
        </p:nvSpPr>
        <p:spPr>
          <a:xfrm>
            <a:off x="1141929" y="1331819"/>
            <a:ext cx="9372082" cy="485581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layers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(shape=(28, 28, 1))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</p:spTree>
    <p:extLst>
      <p:ext uri="{BB962C8B-B14F-4D97-AF65-F5344CB8AC3E}">
        <p14:creationId xmlns:p14="http://schemas.microsoft.com/office/powerpoint/2010/main" val="32024705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1BF64-20EA-4A74-140A-D4CCF1052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F2FB977-47F8-2F23-7C73-452FF93990B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FE37AF-214D-F3C1-9D27-C9C7DDC10384}"/>
              </a:ext>
            </a:extLst>
          </p:cNvPr>
          <p:cNvSpPr txBox="1"/>
          <p:nvPr/>
        </p:nvSpPr>
        <p:spPr>
          <a:xfrm>
            <a:off x="542925" y="1437412"/>
            <a:ext cx="6657975" cy="4855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완전 연결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(Dense layer, FCNN)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특성 공간에서 전역적 패턴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(global patterns,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MNIST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숫자에서 모든 입력 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하나의 거대한 벡터로 펼친 후 가중치를 곱함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학습하기 때문에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 간의 위치 정보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옆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파괴되는 치명적 약점이 있는 반면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 layer)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국소적 패턴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(local patterns)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학습하여 오른쪽 이미지의 경우 입력의 작은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윈도우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× 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영역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3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발견되는 패턴을 학습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 layer)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국소 연결성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(Local Connectivity),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국부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(Receptive Field),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공간적 특징 추출과 평행이동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(Translation Invariance)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등의 특장점</a:t>
            </a:r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5C8E58AB-A239-FD11-9ECA-7112C829B5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9442" y="1639891"/>
            <a:ext cx="3133725" cy="4004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FA20EB3-A9F6-F360-566F-8F1C4CB0A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56134-917C-B8D4-6915-64AF3D3E32C7}"/>
              </a:ext>
            </a:extLst>
          </p:cNvPr>
          <p:cNvSpPr txBox="1"/>
          <p:nvPr/>
        </p:nvSpPr>
        <p:spPr>
          <a:xfrm>
            <a:off x="7909442" y="5729686"/>
            <a:ext cx="31337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Images can be broken into local patterns such as edges, textures, and so on.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075926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61C22-5818-ADAC-F3DE-9146EEB14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DCE2A32-7B7F-6829-928B-D4A27B5D6FF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075627-1C04-47F8-710F-A069DADD05D1}"/>
              </a:ext>
            </a:extLst>
          </p:cNvPr>
          <p:cNvSpPr txBox="1"/>
          <p:nvPr/>
        </p:nvSpPr>
        <p:spPr>
          <a:xfrm>
            <a:off x="590550" y="1276997"/>
            <a:ext cx="6610350" cy="53222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평행이동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(translation invariance)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오른쪽 아래 구석에서 특정 패턴을 학습한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왼쪽 위 구석 등 다른 어느 위치에서나 해당 패턴을 인식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이미지는 본질적으로 평행이동 불변성을 띠므로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특성은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이미지를 처리할 때 높은 데이터 효율성으로 일반화 능력을 갖춘 표현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(representation)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학습하는 데 더 적은 훈련 샘플만으로도 충분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패턴의 공간적 계층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(spatial hierarchies of patterns)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첫 번째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에지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(edge,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가장자리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같은 작은 국소적 패턴을 학습하고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두 번째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첫 번째 레이어의 특성들을 조합한 더 큰 패턴을 학습하는 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이미지는 본질적으로 공간적 계층 구조를 이루고 있기 때문에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구조 덕분에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점차 더 복잡하고 추상적인 시각적 개념을 효율적으로 학습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6AFEC83-9EA1-7ADA-248D-EE7E63BF63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0900" y="1427808"/>
            <a:ext cx="4572257" cy="3784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1AD50339-4A82-914A-6B27-583114696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5368E4-82D7-A167-76DE-20EDDAAA0ED8}"/>
              </a:ext>
            </a:extLst>
          </p:cNvPr>
          <p:cNvSpPr txBox="1"/>
          <p:nvPr/>
        </p:nvSpPr>
        <p:spPr>
          <a:xfrm>
            <a:off x="7200900" y="5241045"/>
            <a:ext cx="457225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visual world forms a spatial hierarchy of visual modules: elementary lines or textures combine into simple objects such as eyes or ears, which combine into high-level concepts such as “cat.”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90632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B186B-F827-F3DB-230C-93C802DBA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23F278-307E-021D-9CC8-E1EBF9B6D4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7C55BC0-C8F8-091A-EED4-0EFD0ABBE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975A4A56-0737-C4A6-3788-0C8774FDA0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9764" y="3410282"/>
            <a:ext cx="5557836" cy="26795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34C1AFA-7FD9-52BD-7479-186066C90B8C}"/>
              </a:ext>
            </a:extLst>
          </p:cNvPr>
          <p:cNvSpPr txBox="1"/>
          <p:nvPr/>
        </p:nvSpPr>
        <p:spPr>
          <a:xfrm>
            <a:off x="1909765" y="6163703"/>
            <a:ext cx="5557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concept of a response map: a 2D map of the presence of a pattern at different locations in an input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5A02C5-D229-DE69-13AA-2CAB50191EF1}"/>
              </a:ext>
            </a:extLst>
          </p:cNvPr>
          <p:cNvSpPr txBox="1"/>
          <p:nvPr/>
        </p:nvSpPr>
        <p:spPr>
          <a:xfrm>
            <a:off x="590550" y="1200061"/>
            <a:ext cx="11010900" cy="194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Convolutions are defined by two key parameters:</a:t>
            </a:r>
            <a:endParaRPr lang="en-US" altLang="ko-KR" sz="1600" b="1" i="1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Size of the patches extracted from the inputs</a:t>
            </a:r>
            <a:r>
              <a:rPr lang="en-US" altLang="ko-KR" sz="16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  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— These are typically 3 × 3 or 5 × 5. In the example, they were 3 × 3, which is a common choice.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Depth of the output feature map</a:t>
            </a:r>
            <a:r>
              <a:rPr lang="en-US" altLang="ko-KR" sz="16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  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— The number of filters computed by the convolution. The example started with a depth of 32 and ended with a depth of 64.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B68B17-902C-A105-1EFF-1D4B04D42788}"/>
              </a:ext>
            </a:extLst>
          </p:cNvPr>
          <p:cNvSpPr txBox="1"/>
          <p:nvPr/>
        </p:nvSpPr>
        <p:spPr>
          <a:xfrm>
            <a:off x="7743825" y="3429000"/>
            <a:ext cx="3795434" cy="1351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Conv2D layers, these parameters are the first arguments passed to the layer: Conv2D(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output_depth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window_height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window_width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)).</a:t>
            </a:r>
          </a:p>
        </p:txBody>
      </p:sp>
    </p:spTree>
    <p:extLst>
      <p:ext uri="{BB962C8B-B14F-4D97-AF65-F5344CB8AC3E}">
        <p14:creationId xmlns:p14="http://schemas.microsoft.com/office/powerpoint/2010/main" val="13667405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84F9D-2D17-A453-7A06-F920D80FE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9F8D5BA-1966-2A5F-6FE1-864C5D8CBB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Layer(Convolution, Inner product)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C616CE2-5B8D-27B2-1CD2-D0CC9E5CC3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5355" y="2582480"/>
            <a:ext cx="7887072" cy="2721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A4AACD9-EB63-D967-37BD-2294989933BE}"/>
              </a:ext>
            </a:extLst>
          </p:cNvPr>
          <p:cNvSpPr txBox="1"/>
          <p:nvPr/>
        </p:nvSpPr>
        <p:spPr>
          <a:xfrm>
            <a:off x="3647440" y="1710744"/>
            <a:ext cx="489712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(convolution),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내적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(inner product)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7" name="연결선: 구부러짐 6">
            <a:extLst>
              <a:ext uri="{FF2B5EF4-FFF2-40B4-BE49-F238E27FC236}">
                <a16:creationId xmlns:a16="http://schemas.microsoft.com/office/drawing/2014/main" id="{A17E19C1-8A3E-A36D-3761-F02B2C26E62C}"/>
              </a:ext>
            </a:extLst>
          </p:cNvPr>
          <p:cNvCxnSpPr>
            <a:cxnSpLocks/>
            <a:stCxn id="2" idx="2"/>
          </p:cNvCxnSpPr>
          <p:nvPr/>
        </p:nvCxnSpPr>
        <p:spPr>
          <a:xfrm rot="5400000">
            <a:off x="4646838" y="2330358"/>
            <a:ext cx="1699444" cy="119888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BA2F991-F2B1-ADB3-F1AA-C679F0621255}"/>
              </a:ext>
            </a:extLst>
          </p:cNvPr>
          <p:cNvSpPr txBox="1"/>
          <p:nvPr/>
        </p:nvSpPr>
        <p:spPr>
          <a:xfrm>
            <a:off x="2011680" y="5500559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Original Image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0D4854-A00B-C5AF-3988-8EE4CCA93BD8}"/>
              </a:ext>
            </a:extLst>
          </p:cNvPr>
          <p:cNvSpPr txBox="1"/>
          <p:nvPr/>
        </p:nvSpPr>
        <p:spPr>
          <a:xfrm>
            <a:off x="5323840" y="5500559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Filter(Kernel)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(3, 3)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059546-FB4F-557A-2342-58F14BBE8A7E}"/>
              </a:ext>
            </a:extLst>
          </p:cNvPr>
          <p:cNvSpPr txBox="1"/>
          <p:nvPr/>
        </p:nvSpPr>
        <p:spPr>
          <a:xfrm>
            <a:off x="8117306" y="5500559"/>
            <a:ext cx="27121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 Map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(4, 4)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7DBA6B6-8CDD-AFA6-29F7-E32041C8A2CE}"/>
              </a:ext>
            </a:extLst>
          </p:cNvPr>
          <p:cNvSpPr txBox="1"/>
          <p:nvPr/>
        </p:nvSpPr>
        <p:spPr>
          <a:xfrm>
            <a:off x="369030" y="3487132"/>
            <a:ext cx="19948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Stride =1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Zero Padding</a:t>
            </a:r>
            <a:endParaRPr lang="ko-KR" altLang="en-US" sz="1600"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5BF1747-F60D-1317-AECB-1A3667A3D60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60483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F2F03-2928-FE0E-83C4-D1E8ADEB0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52B6D99-966B-4EFF-1D8A-F9B8A2D6C9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099510A-1E16-86BF-F01C-8EF2FCD680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9376" y="2480571"/>
            <a:ext cx="4406613" cy="3895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436233C-FA94-F1A4-ACF9-C44CF7AEEE39}"/>
              </a:ext>
            </a:extLst>
          </p:cNvPr>
          <p:cNvSpPr txBox="1"/>
          <p:nvPr/>
        </p:nvSpPr>
        <p:spPr>
          <a:xfrm>
            <a:off x="609600" y="1190625"/>
            <a:ext cx="1097280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복사 패딩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(Replication Padding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Border Padding)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합성곱하면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크기가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동일해지고 외곽의 정보를 보존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08DF26-3ECD-0880-B454-50F2DD311209}"/>
              </a:ext>
            </a:extLst>
          </p:cNvPr>
          <p:cNvSpPr txBox="1"/>
          <p:nvPr/>
        </p:nvSpPr>
        <p:spPr>
          <a:xfrm>
            <a:off x="3209925" y="2172794"/>
            <a:ext cx="18261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wiki/Convolution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D274692-42CE-F3E7-4E99-25FA42B9C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2914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F8F77-6C0A-3904-FA33-71DB87EB0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F803ED0-69E8-6928-5E8A-D2CF16B945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1E901BE-AB7F-22C0-899D-4319238947C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학습사이트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https://github.com/ancestor9/Image Classification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교과수업 진행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82832F4-B644-E38A-A3E9-D95C7FBA35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8588" y="2455855"/>
            <a:ext cx="31837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A5B32-FCC9-8B3B-67E2-D75A02F17AE0}"/>
              </a:ext>
            </a:extLst>
          </p:cNvPr>
          <p:cNvSpPr txBox="1"/>
          <p:nvPr/>
        </p:nvSpPr>
        <p:spPr>
          <a:xfrm>
            <a:off x="3838575" y="2002698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single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DF1719D-1AE8-B069-81FE-77C356AC7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27361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BF3CE-30A0-D647-9841-1B9DC1366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0E1C42C-1A62-B7D6-473F-8C9A3A2563B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 descr="흰색 표면에 검은색 프레임 선글라스">
            <a:extLst>
              <a:ext uri="{FF2B5EF4-FFF2-40B4-BE49-F238E27FC236}">
                <a16:creationId xmlns:a16="http://schemas.microsoft.com/office/drawing/2014/main" id="{896C9D42-88AB-9C35-B5F3-72A1901E78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4085" y="3427491"/>
            <a:ext cx="3347924" cy="2978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white and brown corgi besides brown dog">
            <a:extLst>
              <a:ext uri="{FF2B5EF4-FFF2-40B4-BE49-F238E27FC236}">
                <a16:creationId xmlns:a16="http://schemas.microsoft.com/office/drawing/2014/main" id="{23E5F13F-E7A8-1625-54FF-E7CDB28CF8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4887" y="2537772"/>
            <a:ext cx="2558728" cy="3843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2E50A8A-545B-F64E-E605-199874C9A3AE}"/>
              </a:ext>
            </a:extLst>
          </p:cNvPr>
          <p:cNvSpPr txBox="1"/>
          <p:nvPr/>
        </p:nvSpPr>
        <p:spPr>
          <a:xfrm>
            <a:off x="6724084" y="2875596"/>
            <a:ext cx="30346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filters (feature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maps)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46E64E7-168E-370F-846B-B368105D6E30}"/>
              </a:ext>
            </a:extLst>
          </p:cNvPr>
          <p:cNvSpPr/>
          <p:nvPr/>
        </p:nvSpPr>
        <p:spPr>
          <a:xfrm>
            <a:off x="3771900" y="4152393"/>
            <a:ext cx="424065" cy="424381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9DF36B-416C-A98E-5D99-1AF6669583A1}"/>
              </a:ext>
            </a:extLst>
          </p:cNvPr>
          <p:cNvSpPr/>
          <p:nvPr/>
        </p:nvSpPr>
        <p:spPr>
          <a:xfrm>
            <a:off x="3419475" y="4676269"/>
            <a:ext cx="233967" cy="177468"/>
          </a:xfrm>
          <a:prstGeom prst="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A6A4D67-8E7B-2322-9411-710FD92D00BD}"/>
              </a:ext>
            </a:extLst>
          </p:cNvPr>
          <p:cNvSpPr/>
          <p:nvPr/>
        </p:nvSpPr>
        <p:spPr>
          <a:xfrm>
            <a:off x="2447925" y="5924043"/>
            <a:ext cx="307082" cy="30092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926843-D93C-7DE2-339A-7B0751D14529}"/>
              </a:ext>
            </a:extLst>
          </p:cNvPr>
          <p:cNvSpPr txBox="1"/>
          <p:nvPr/>
        </p:nvSpPr>
        <p:spPr>
          <a:xfrm>
            <a:off x="600074" y="1219039"/>
            <a:ext cx="11239501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우리 눈이 세상을 바라볼 때 사물이 어디에 있든 똑같이 알아보고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조각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들을 모아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모아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형태를 인지하듯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공간적 계층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원본 이미지에 굴려 가중치를 공유하는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깊게 쌓아 시야를 넓히는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인간의 시각 방식을 가장 효율적으로 컴퓨터에 구현해 낸 구조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F9679FD-F81C-53B8-3E58-A36C1DBD6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98111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C4B0E-9215-C286-2671-09F611995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8A18A25-A57C-1842-7548-74DD0C7F25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E00D87-D783-4B1B-7897-CA8D1DE628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8123" y="3196935"/>
            <a:ext cx="7446954" cy="250854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8BBEA63-6C45-7A95-A23D-E71B44C554F8}"/>
              </a:ext>
            </a:extLst>
          </p:cNvPr>
          <p:cNvSpPr txBox="1"/>
          <p:nvPr/>
        </p:nvSpPr>
        <p:spPr>
          <a:xfrm>
            <a:off x="576262" y="1248422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Biological neurons in the visual cortex respond to specific patterns in small regions of the visual field called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14AFF51-2576-0160-3E52-3258BD04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38432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A7E62-8613-6F84-51F4-0C6CFFE1C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CCC6F2-88B3-C1B8-240B-E36F1FB4A5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8469B3-E488-AC77-BF05-8E4CC33B70C1}"/>
              </a:ext>
            </a:extLst>
          </p:cNvPr>
          <p:cNvSpPr txBox="1"/>
          <p:nvPr/>
        </p:nvSpPr>
        <p:spPr>
          <a:xfrm>
            <a:off x="576262" y="1219847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As the visual signal makes its way through consecutive brain modules, neurons respond to more complex patterns in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larger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E261D0-BF79-73F4-C951-2791825B668E}"/>
              </a:ext>
            </a:extLst>
          </p:cNvPr>
          <p:cNvSpPr txBox="1"/>
          <p:nvPr/>
        </p:nvSpPr>
        <p:spPr>
          <a:xfrm>
            <a:off x="737152" y="2550921"/>
            <a:ext cx="10092255" cy="1940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초기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수평선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수직선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모서리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(edge)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 같은 단순한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by 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여러 층을 지난 심층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layer(larger receptive fields)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 등 복잡한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 by 100)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더 깊은 층을 지나면 얼굴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자동차 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object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전체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(1000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1000)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시각적으로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생물학적 시각 피질과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공유하는 핵심 아이디어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71804E0-ABCA-7977-EA93-1C825802D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66930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42B2F-3A7D-C336-10DF-03D1EE019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60C541-0B15-651D-FD2C-859ABD5FAB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Kernel, Filter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72874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56846-1533-2A55-5C19-83102AD52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779EE00-BDC6-D7DA-8D76-F340B6DA6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897" y="2800349"/>
            <a:ext cx="9373066" cy="3370315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5509BE78-3730-4DA3-EF72-0324173DE4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Linear Transformation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333C5AC-4094-D0BC-287F-D08E6335F933}"/>
              </a:ext>
            </a:extLst>
          </p:cNvPr>
          <p:cNvSpPr/>
          <p:nvPr/>
        </p:nvSpPr>
        <p:spPr>
          <a:xfrm>
            <a:off x="1542896" y="3409949"/>
            <a:ext cx="3257703" cy="276071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76774BE-B39A-B194-516F-D1E49D574F90}"/>
              </a:ext>
            </a:extLst>
          </p:cNvPr>
          <p:cNvSpPr/>
          <p:nvPr/>
        </p:nvSpPr>
        <p:spPr>
          <a:xfrm>
            <a:off x="8429785" y="3409949"/>
            <a:ext cx="2486178" cy="238125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8048C81-8986-7A52-7D93-FF046557FFC2}"/>
              </a:ext>
            </a:extLst>
          </p:cNvPr>
          <p:cNvSpPr/>
          <p:nvPr/>
        </p:nvSpPr>
        <p:spPr>
          <a:xfrm>
            <a:off x="5705635" y="4224338"/>
            <a:ext cx="1447640" cy="83343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4B104D5-E73E-BE36-FA38-C56A539E9A42}"/>
              </a:ext>
            </a:extLst>
          </p:cNvPr>
          <p:cNvCxnSpPr>
            <a:cxnSpLocks/>
          </p:cNvCxnSpPr>
          <p:nvPr/>
        </p:nvCxnSpPr>
        <p:spPr>
          <a:xfrm>
            <a:off x="4998720" y="5223510"/>
            <a:ext cx="33070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BD2443A-105B-89F6-33CC-FFDE5604FDEF}"/>
              </a:ext>
            </a:extLst>
          </p:cNvPr>
          <p:cNvSpPr txBox="1"/>
          <p:nvPr/>
        </p:nvSpPr>
        <p:spPr>
          <a:xfrm>
            <a:off x="475645" y="1352666"/>
            <a:ext cx="10918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 Matrix(3,3)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합성곱으로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출력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Feature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34DD47-FC01-672A-472A-2C32E27F4BAF}"/>
              </a:ext>
            </a:extLst>
          </p:cNvPr>
          <p:cNvSpPr txBox="1"/>
          <p:nvPr/>
        </p:nvSpPr>
        <p:spPr>
          <a:xfrm>
            <a:off x="475645" y="2310883"/>
            <a:ext cx="7629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경우 학습하여야 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개수의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차이는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7FC48526-8C7C-4FAF-E13A-7F1BF1F0D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1" name="그래픽 10" descr="골프">
            <a:extLst>
              <a:ext uri="{FF2B5EF4-FFF2-40B4-BE49-F238E27FC236}">
                <a16:creationId xmlns:a16="http://schemas.microsoft.com/office/drawing/2014/main" id="{80705350-2F6A-EBA6-3E1F-5472D02351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81335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74348-38F8-FF39-D942-8ACC139F8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5F6F800-52E7-F549-6B9E-46D3ED36FF9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4F96551-9584-A655-BC70-CA878C19F636}"/>
              </a:ext>
            </a:extLst>
          </p:cNvPr>
          <p:cNvGraphicFramePr>
            <a:graphicFrameLocks noGrp="1"/>
          </p:cNvGraphicFramePr>
          <p:nvPr/>
        </p:nvGraphicFramePr>
        <p:xfrm>
          <a:off x="679452" y="3291415"/>
          <a:ext cx="2568573" cy="22086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094B09D8-86EE-09C6-55BB-3E9A5F3A29B7}"/>
              </a:ext>
            </a:extLst>
          </p:cNvPr>
          <p:cNvGraphicFramePr>
            <a:graphicFrameLocks noGrp="1"/>
          </p:cNvGraphicFramePr>
          <p:nvPr/>
        </p:nvGraphicFramePr>
        <p:xfrm>
          <a:off x="3400425" y="5321300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82495E26-6B37-D65A-1AC8-61AD90A0E7A8}"/>
              </a:ext>
            </a:extLst>
          </p:cNvPr>
          <p:cNvGraphicFramePr>
            <a:graphicFrameLocks noGrp="1"/>
          </p:cNvGraphicFramePr>
          <p:nvPr/>
        </p:nvGraphicFramePr>
        <p:xfrm>
          <a:off x="787400" y="3449174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A2CA27B-83AE-1BF7-1BA9-B6BC343E042D}"/>
              </a:ext>
            </a:extLst>
          </p:cNvPr>
          <p:cNvGraphicFramePr>
            <a:graphicFrameLocks noGrp="1"/>
          </p:cNvGraphicFramePr>
          <p:nvPr/>
        </p:nvGraphicFramePr>
        <p:xfrm>
          <a:off x="4594680" y="3548590"/>
          <a:ext cx="1834695" cy="15775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C33B2412-2732-0B71-15EA-0175D83667C8}"/>
              </a:ext>
            </a:extLst>
          </p:cNvPr>
          <p:cNvGraphicFramePr>
            <a:graphicFrameLocks noGrp="1"/>
          </p:cNvGraphicFramePr>
          <p:nvPr/>
        </p:nvGraphicFramePr>
        <p:xfrm>
          <a:off x="6526443" y="5321300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A8F30394-4F4E-4641-8C5C-D64B2025F309}"/>
              </a:ext>
            </a:extLst>
          </p:cNvPr>
          <p:cNvGraphicFramePr>
            <a:graphicFrameLocks noGrp="1"/>
          </p:cNvGraphicFramePr>
          <p:nvPr/>
        </p:nvGraphicFramePr>
        <p:xfrm>
          <a:off x="4759777" y="3680623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BFC283B2-E230-22FB-5CD9-DEEEFD5B9E06}"/>
              </a:ext>
            </a:extLst>
          </p:cNvPr>
          <p:cNvGraphicFramePr>
            <a:graphicFrameLocks noGrp="1"/>
          </p:cNvGraphicFramePr>
          <p:nvPr/>
        </p:nvGraphicFramePr>
        <p:xfrm>
          <a:off x="7807325" y="3684917"/>
          <a:ext cx="1100817" cy="9465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A65EF978-1D16-A614-B959-8EE9DA97F6BB}"/>
              </a:ext>
            </a:extLst>
          </p:cNvPr>
          <p:cNvGraphicFramePr>
            <a:graphicFrameLocks noGrp="1"/>
          </p:cNvGraphicFramePr>
          <p:nvPr/>
        </p:nvGraphicFramePr>
        <p:xfrm>
          <a:off x="9266470" y="5311422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BECD1938-1C18-D246-4196-BC8A82792E8E}"/>
              </a:ext>
            </a:extLst>
          </p:cNvPr>
          <p:cNvSpPr txBox="1"/>
          <p:nvPr/>
        </p:nvSpPr>
        <p:spPr>
          <a:xfrm>
            <a:off x="10367287" y="4093159"/>
            <a:ext cx="331335" cy="301657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 latinLnBrk="1"/>
            <a:endParaRPr lang="ko-KR" altLang="en-US" sz="1800" dirty="0"/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A686CBA3-BF80-387F-7ACB-92A34D758E1D}"/>
              </a:ext>
            </a:extLst>
          </p:cNvPr>
          <p:cNvGraphicFramePr>
            <a:graphicFrameLocks noGrp="1"/>
          </p:cNvGraphicFramePr>
          <p:nvPr/>
        </p:nvGraphicFramePr>
        <p:xfrm>
          <a:off x="7957460" y="3896725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B2E84C2D-B1A4-22F3-79F3-69BDC9319642}"/>
              </a:ext>
            </a:extLst>
          </p:cNvPr>
          <p:cNvCxnSpPr/>
          <p:nvPr/>
        </p:nvCxnSpPr>
        <p:spPr>
          <a:xfrm>
            <a:off x="3476625" y="4281258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457110AB-BFCC-4230-F035-09A8E996112F}"/>
              </a:ext>
            </a:extLst>
          </p:cNvPr>
          <p:cNvCxnSpPr/>
          <p:nvPr/>
        </p:nvCxnSpPr>
        <p:spPr>
          <a:xfrm>
            <a:off x="6526443" y="4266741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3CBEE8AF-7491-C03B-78F3-5005D6925507}"/>
              </a:ext>
            </a:extLst>
          </p:cNvPr>
          <p:cNvCxnSpPr/>
          <p:nvPr/>
        </p:nvCxnSpPr>
        <p:spPr>
          <a:xfrm>
            <a:off x="9205685" y="4247232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F8262FDA-FBFA-A3FF-7D1E-DCFD3F91F20D}"/>
              </a:ext>
            </a:extLst>
          </p:cNvPr>
          <p:cNvSpPr txBox="1"/>
          <p:nvPr/>
        </p:nvSpPr>
        <p:spPr>
          <a:xfrm>
            <a:off x="3387162" y="5706513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0A4EE81-4344-8A2B-055A-9BAE7D6BDE5B}"/>
              </a:ext>
            </a:extLst>
          </p:cNvPr>
          <p:cNvSpPr txBox="1"/>
          <p:nvPr/>
        </p:nvSpPr>
        <p:spPr>
          <a:xfrm>
            <a:off x="573312" y="1236178"/>
            <a:ext cx="1126626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fields(3,3)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과의 내적을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sliding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지나가게 되면 마지막 값은 원본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모두 한꺼번에 보는 것과 마찬가지 효과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7779F6D-6AD2-A76C-B367-3A9AD4C491C3}"/>
              </a:ext>
            </a:extLst>
          </p:cNvPr>
          <p:cNvSpPr txBox="1"/>
          <p:nvPr/>
        </p:nvSpPr>
        <p:spPr>
          <a:xfrm>
            <a:off x="899196" y="2561671"/>
            <a:ext cx="178752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Input Feature (7,7)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008C553-8742-0213-A44F-B6FF2F744998}"/>
              </a:ext>
            </a:extLst>
          </p:cNvPr>
          <p:cNvSpPr txBox="1"/>
          <p:nvPr/>
        </p:nvSpPr>
        <p:spPr>
          <a:xfrm>
            <a:off x="4264020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1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(5,5)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923360-8488-9BC7-1AF4-B03CEFE650C1}"/>
              </a:ext>
            </a:extLst>
          </p:cNvPr>
          <p:cNvSpPr txBox="1"/>
          <p:nvPr/>
        </p:nvSpPr>
        <p:spPr>
          <a:xfrm>
            <a:off x="6972983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2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83A2C6C-64DD-88B7-9A09-C6876CB61A8A}"/>
              </a:ext>
            </a:extLst>
          </p:cNvPr>
          <p:cNvSpPr txBox="1"/>
          <p:nvPr/>
        </p:nvSpPr>
        <p:spPr>
          <a:xfrm>
            <a:off x="9236307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3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7DF50D-23E5-2C79-7573-E1FE2CD30E10}"/>
              </a:ext>
            </a:extLst>
          </p:cNvPr>
          <p:cNvSpPr txBox="1"/>
          <p:nvPr/>
        </p:nvSpPr>
        <p:spPr>
          <a:xfrm>
            <a:off x="6483802" y="5673201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2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B409A7E-4C35-E371-19B2-DDB18E68B468}"/>
              </a:ext>
            </a:extLst>
          </p:cNvPr>
          <p:cNvSpPr txBox="1"/>
          <p:nvPr/>
        </p:nvSpPr>
        <p:spPr>
          <a:xfrm>
            <a:off x="9226777" y="5673201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3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2E456E7A-8464-EE73-BC06-3DA13A08843E}"/>
              </a:ext>
            </a:extLst>
          </p:cNvPr>
          <p:cNvSpPr/>
          <p:nvPr/>
        </p:nvSpPr>
        <p:spPr>
          <a:xfrm>
            <a:off x="679452" y="3291415"/>
            <a:ext cx="1100817" cy="94655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73A78BCF-FF59-D18D-C9BB-F8614740368B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5446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7FA94-6C7F-D510-A1A9-A89FFF48D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462FA5-0D6C-FAE8-379F-740A89DDC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A91C053-4F67-FAF1-715A-C5FDF9CB5A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8D1CD4E4-19FB-7978-8605-C09D081854F9}"/>
              </a:ext>
            </a:extLst>
          </p:cNvPr>
          <p:cNvGraphicFramePr>
            <a:graphicFrameLocks noGrp="1"/>
          </p:cNvGraphicFramePr>
          <p:nvPr/>
        </p:nvGraphicFramePr>
        <p:xfrm>
          <a:off x="694870" y="3002055"/>
          <a:ext cx="1771539" cy="15232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7FD8655-ADF8-7FB6-9C63-DA6648D069FB}"/>
              </a:ext>
            </a:extLst>
          </p:cNvPr>
          <p:cNvGraphicFramePr>
            <a:graphicFrameLocks noGrp="1"/>
          </p:cNvGraphicFramePr>
          <p:nvPr/>
        </p:nvGraphicFramePr>
        <p:xfrm>
          <a:off x="2895600" y="44831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F4E3143-D630-8320-3A0A-45C715138389}"/>
              </a:ext>
            </a:extLst>
          </p:cNvPr>
          <p:cNvGraphicFramePr>
            <a:graphicFrameLocks noGrp="1"/>
          </p:cNvGraphicFramePr>
          <p:nvPr/>
        </p:nvGraphicFramePr>
        <p:xfrm>
          <a:off x="3832681" y="31961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FEFA4E62-26BF-E5D3-7130-664C53DBEFBB}"/>
              </a:ext>
            </a:extLst>
          </p:cNvPr>
          <p:cNvGraphicFramePr>
            <a:graphicFrameLocks noGrp="1"/>
          </p:cNvGraphicFramePr>
          <p:nvPr/>
        </p:nvGraphicFramePr>
        <p:xfrm>
          <a:off x="6864350" y="33324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216080DD-C1A4-7995-0435-78D254C6768A}"/>
              </a:ext>
            </a:extLst>
          </p:cNvPr>
          <p:cNvSpPr txBox="1"/>
          <p:nvPr/>
        </p:nvSpPr>
        <p:spPr>
          <a:xfrm>
            <a:off x="9524770" y="3272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87BD1B70-CB47-25F5-8AD8-CF507A8A6DC4}"/>
              </a:ext>
            </a:extLst>
          </p:cNvPr>
          <p:cNvCxnSpPr>
            <a:cxnSpLocks/>
          </p:cNvCxnSpPr>
          <p:nvPr/>
        </p:nvCxnSpPr>
        <p:spPr>
          <a:xfrm>
            <a:off x="2905161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AE67917-8152-9EE9-C817-44D6219CB5F9}"/>
              </a:ext>
            </a:extLst>
          </p:cNvPr>
          <p:cNvCxnSpPr>
            <a:cxnSpLocks/>
          </p:cNvCxnSpPr>
          <p:nvPr/>
        </p:nvCxnSpPr>
        <p:spPr>
          <a:xfrm>
            <a:off x="5853130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8880E1DF-39B4-1088-E80C-972357683993}"/>
              </a:ext>
            </a:extLst>
          </p:cNvPr>
          <p:cNvCxnSpPr>
            <a:cxnSpLocks/>
          </p:cNvCxnSpPr>
          <p:nvPr/>
        </p:nvCxnSpPr>
        <p:spPr>
          <a:xfrm>
            <a:off x="8548460" y="3894807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7BBD83B5-C4F9-50D9-05F3-B1C409CFFC24}"/>
              </a:ext>
            </a:extLst>
          </p:cNvPr>
          <p:cNvGraphicFramePr>
            <a:graphicFrameLocks noGrp="1"/>
          </p:cNvGraphicFramePr>
          <p:nvPr/>
        </p:nvGraphicFramePr>
        <p:xfrm>
          <a:off x="3048000" y="46355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331ACBD8-6B40-53FE-9A45-F25369CB0F3B}"/>
              </a:ext>
            </a:extLst>
          </p:cNvPr>
          <p:cNvGraphicFramePr>
            <a:graphicFrameLocks noGrp="1"/>
          </p:cNvGraphicFramePr>
          <p:nvPr/>
        </p:nvGraphicFramePr>
        <p:xfrm>
          <a:off x="3200400" y="47879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51" name="표 50">
            <a:extLst>
              <a:ext uri="{FF2B5EF4-FFF2-40B4-BE49-F238E27FC236}">
                <a16:creationId xmlns:a16="http://schemas.microsoft.com/office/drawing/2014/main" id="{9C6C504C-124B-E8A6-E43B-A3596A17042C}"/>
              </a:ext>
            </a:extLst>
          </p:cNvPr>
          <p:cNvGraphicFramePr>
            <a:graphicFrameLocks noGrp="1"/>
          </p:cNvGraphicFramePr>
          <p:nvPr/>
        </p:nvGraphicFramePr>
        <p:xfrm>
          <a:off x="3985081" y="33485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2" name="표 51">
            <a:extLst>
              <a:ext uri="{FF2B5EF4-FFF2-40B4-BE49-F238E27FC236}">
                <a16:creationId xmlns:a16="http://schemas.microsoft.com/office/drawing/2014/main" id="{DE5F452D-AB1A-2625-CFBC-26CD61CF2137}"/>
              </a:ext>
            </a:extLst>
          </p:cNvPr>
          <p:cNvGraphicFramePr>
            <a:graphicFrameLocks noGrp="1"/>
          </p:cNvGraphicFramePr>
          <p:nvPr/>
        </p:nvGraphicFramePr>
        <p:xfrm>
          <a:off x="4137481" y="35009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9" name="표 58">
            <a:extLst>
              <a:ext uri="{FF2B5EF4-FFF2-40B4-BE49-F238E27FC236}">
                <a16:creationId xmlns:a16="http://schemas.microsoft.com/office/drawing/2014/main" id="{EB067750-EAD6-2846-4FE6-498A4466ED1B}"/>
              </a:ext>
            </a:extLst>
          </p:cNvPr>
          <p:cNvGraphicFramePr>
            <a:graphicFrameLocks noGrp="1"/>
          </p:cNvGraphicFramePr>
          <p:nvPr/>
        </p:nvGraphicFramePr>
        <p:xfrm>
          <a:off x="5943600" y="44735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B0EDA5D7-4E0B-2C7F-228F-0B7D3E68AA6B}"/>
              </a:ext>
            </a:extLst>
          </p:cNvPr>
          <p:cNvGraphicFramePr>
            <a:graphicFrameLocks noGrp="1"/>
          </p:cNvGraphicFramePr>
          <p:nvPr/>
        </p:nvGraphicFramePr>
        <p:xfrm>
          <a:off x="6096000" y="46259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B458B360-EC1F-AA5B-FD42-55D676BF6EC9}"/>
              </a:ext>
            </a:extLst>
          </p:cNvPr>
          <p:cNvGraphicFramePr>
            <a:graphicFrameLocks noGrp="1"/>
          </p:cNvGraphicFramePr>
          <p:nvPr/>
        </p:nvGraphicFramePr>
        <p:xfrm>
          <a:off x="6248400" y="47783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2" name="표 61">
            <a:extLst>
              <a:ext uri="{FF2B5EF4-FFF2-40B4-BE49-F238E27FC236}">
                <a16:creationId xmlns:a16="http://schemas.microsoft.com/office/drawing/2014/main" id="{86B8A262-8453-3BAC-5EE2-08660BFAE74B}"/>
              </a:ext>
            </a:extLst>
          </p:cNvPr>
          <p:cNvGraphicFramePr>
            <a:graphicFrameLocks noGrp="1"/>
          </p:cNvGraphicFramePr>
          <p:nvPr/>
        </p:nvGraphicFramePr>
        <p:xfrm>
          <a:off x="6400800" y="49307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3" name="표 62">
            <a:extLst>
              <a:ext uri="{FF2B5EF4-FFF2-40B4-BE49-F238E27FC236}">
                <a16:creationId xmlns:a16="http://schemas.microsoft.com/office/drawing/2014/main" id="{92C3F91C-F43B-39EB-3523-1C716AF6C294}"/>
              </a:ext>
            </a:extLst>
          </p:cNvPr>
          <p:cNvGraphicFramePr>
            <a:graphicFrameLocks noGrp="1"/>
          </p:cNvGraphicFramePr>
          <p:nvPr/>
        </p:nvGraphicFramePr>
        <p:xfrm>
          <a:off x="6553200" y="50831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4" name="표 63">
            <a:extLst>
              <a:ext uri="{FF2B5EF4-FFF2-40B4-BE49-F238E27FC236}">
                <a16:creationId xmlns:a16="http://schemas.microsoft.com/office/drawing/2014/main" id="{DB8AC76A-BE2F-A398-E459-D741DD53E953}"/>
              </a:ext>
            </a:extLst>
          </p:cNvPr>
          <p:cNvGraphicFramePr>
            <a:graphicFrameLocks noGrp="1"/>
          </p:cNvGraphicFramePr>
          <p:nvPr/>
        </p:nvGraphicFramePr>
        <p:xfrm>
          <a:off x="7016750" y="34848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5" name="표 64">
            <a:extLst>
              <a:ext uri="{FF2B5EF4-FFF2-40B4-BE49-F238E27FC236}">
                <a16:creationId xmlns:a16="http://schemas.microsoft.com/office/drawing/2014/main" id="{6422B40D-47EE-2C2C-A2E8-317FF56B6AAB}"/>
              </a:ext>
            </a:extLst>
          </p:cNvPr>
          <p:cNvGraphicFramePr>
            <a:graphicFrameLocks noGrp="1"/>
          </p:cNvGraphicFramePr>
          <p:nvPr/>
        </p:nvGraphicFramePr>
        <p:xfrm>
          <a:off x="7169150" y="36372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6" name="표 65">
            <a:extLst>
              <a:ext uri="{FF2B5EF4-FFF2-40B4-BE49-F238E27FC236}">
                <a16:creationId xmlns:a16="http://schemas.microsoft.com/office/drawing/2014/main" id="{566D7A71-5ACB-F352-3716-5F793B100D09}"/>
              </a:ext>
            </a:extLst>
          </p:cNvPr>
          <p:cNvGraphicFramePr>
            <a:graphicFrameLocks noGrp="1"/>
          </p:cNvGraphicFramePr>
          <p:nvPr/>
        </p:nvGraphicFramePr>
        <p:xfrm>
          <a:off x="7321550" y="37896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7" name="표 66">
            <a:extLst>
              <a:ext uri="{FF2B5EF4-FFF2-40B4-BE49-F238E27FC236}">
                <a16:creationId xmlns:a16="http://schemas.microsoft.com/office/drawing/2014/main" id="{2DB52FF7-FD90-E9D5-0376-FC21948BE0A0}"/>
              </a:ext>
            </a:extLst>
          </p:cNvPr>
          <p:cNvGraphicFramePr>
            <a:graphicFrameLocks noGrp="1"/>
          </p:cNvGraphicFramePr>
          <p:nvPr/>
        </p:nvGraphicFramePr>
        <p:xfrm>
          <a:off x="7473950" y="39420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71" name="표 70">
            <a:extLst>
              <a:ext uri="{FF2B5EF4-FFF2-40B4-BE49-F238E27FC236}">
                <a16:creationId xmlns:a16="http://schemas.microsoft.com/office/drawing/2014/main" id="{84B4E7FC-CA21-351E-C737-DE7DD9A1A467}"/>
              </a:ext>
            </a:extLst>
          </p:cNvPr>
          <p:cNvGraphicFramePr>
            <a:graphicFrameLocks noGrp="1"/>
          </p:cNvGraphicFramePr>
          <p:nvPr/>
        </p:nvGraphicFramePr>
        <p:xfrm>
          <a:off x="8817201" y="4483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2" name="표 71">
            <a:extLst>
              <a:ext uri="{FF2B5EF4-FFF2-40B4-BE49-F238E27FC236}">
                <a16:creationId xmlns:a16="http://schemas.microsoft.com/office/drawing/2014/main" id="{DAC78E3F-586F-DC34-161F-62184D2445F1}"/>
              </a:ext>
            </a:extLst>
          </p:cNvPr>
          <p:cNvGraphicFramePr>
            <a:graphicFrameLocks noGrp="1"/>
          </p:cNvGraphicFramePr>
          <p:nvPr/>
        </p:nvGraphicFramePr>
        <p:xfrm>
          <a:off x="8969601" y="4635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3" name="표 72">
            <a:extLst>
              <a:ext uri="{FF2B5EF4-FFF2-40B4-BE49-F238E27FC236}">
                <a16:creationId xmlns:a16="http://schemas.microsoft.com/office/drawing/2014/main" id="{2F720965-D780-AD1C-366A-4F16F5AC29C0}"/>
              </a:ext>
            </a:extLst>
          </p:cNvPr>
          <p:cNvGraphicFramePr>
            <a:graphicFrameLocks noGrp="1"/>
          </p:cNvGraphicFramePr>
          <p:nvPr/>
        </p:nvGraphicFramePr>
        <p:xfrm>
          <a:off x="9122001" y="4788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1" name="표 80">
            <a:extLst>
              <a:ext uri="{FF2B5EF4-FFF2-40B4-BE49-F238E27FC236}">
                <a16:creationId xmlns:a16="http://schemas.microsoft.com/office/drawing/2014/main" id="{C4D520FA-9D82-336E-CFEB-3F76E4018333}"/>
              </a:ext>
            </a:extLst>
          </p:cNvPr>
          <p:cNvGraphicFramePr>
            <a:graphicFrameLocks noGrp="1"/>
          </p:cNvGraphicFramePr>
          <p:nvPr/>
        </p:nvGraphicFramePr>
        <p:xfrm>
          <a:off x="9274401" y="4940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2" name="표 81">
            <a:extLst>
              <a:ext uri="{FF2B5EF4-FFF2-40B4-BE49-F238E27FC236}">
                <a16:creationId xmlns:a16="http://schemas.microsoft.com/office/drawing/2014/main" id="{BF05CDF3-6D05-1B32-CB58-99A79F51B181}"/>
              </a:ext>
            </a:extLst>
          </p:cNvPr>
          <p:cNvGraphicFramePr>
            <a:graphicFrameLocks noGrp="1"/>
          </p:cNvGraphicFramePr>
          <p:nvPr/>
        </p:nvGraphicFramePr>
        <p:xfrm>
          <a:off x="9426801" y="5093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3" name="표 82">
            <a:extLst>
              <a:ext uri="{FF2B5EF4-FFF2-40B4-BE49-F238E27FC236}">
                <a16:creationId xmlns:a16="http://schemas.microsoft.com/office/drawing/2014/main" id="{B2760717-F3DC-3E66-8A40-12ABDA69CA1F}"/>
              </a:ext>
            </a:extLst>
          </p:cNvPr>
          <p:cNvGraphicFramePr>
            <a:graphicFrameLocks noGrp="1"/>
          </p:cNvGraphicFramePr>
          <p:nvPr/>
        </p:nvGraphicFramePr>
        <p:xfrm>
          <a:off x="9579201" y="5245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4" name="표 83">
            <a:extLst>
              <a:ext uri="{FF2B5EF4-FFF2-40B4-BE49-F238E27FC236}">
                <a16:creationId xmlns:a16="http://schemas.microsoft.com/office/drawing/2014/main" id="{B2E70851-8BF1-62BA-7F29-DDED3D1FAAEA}"/>
              </a:ext>
            </a:extLst>
          </p:cNvPr>
          <p:cNvGraphicFramePr>
            <a:graphicFrameLocks noGrp="1"/>
          </p:cNvGraphicFramePr>
          <p:nvPr/>
        </p:nvGraphicFramePr>
        <p:xfrm>
          <a:off x="9731601" y="5397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5" name="표 84">
            <a:extLst>
              <a:ext uri="{FF2B5EF4-FFF2-40B4-BE49-F238E27FC236}">
                <a16:creationId xmlns:a16="http://schemas.microsoft.com/office/drawing/2014/main" id="{C8B70655-9E9A-5475-4955-744CB7C2CBDE}"/>
              </a:ext>
            </a:extLst>
          </p:cNvPr>
          <p:cNvGraphicFramePr>
            <a:graphicFrameLocks noGrp="1"/>
          </p:cNvGraphicFramePr>
          <p:nvPr/>
        </p:nvGraphicFramePr>
        <p:xfrm>
          <a:off x="9884001" y="5550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6" name="표 85">
            <a:extLst>
              <a:ext uri="{FF2B5EF4-FFF2-40B4-BE49-F238E27FC236}">
                <a16:creationId xmlns:a16="http://schemas.microsoft.com/office/drawing/2014/main" id="{5D94BE7C-E617-BFD3-4F6E-3325143754E9}"/>
              </a:ext>
            </a:extLst>
          </p:cNvPr>
          <p:cNvGraphicFramePr>
            <a:graphicFrameLocks noGrp="1"/>
          </p:cNvGraphicFramePr>
          <p:nvPr/>
        </p:nvGraphicFramePr>
        <p:xfrm>
          <a:off x="10036401" y="5702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7" name="표 86">
            <a:extLst>
              <a:ext uri="{FF2B5EF4-FFF2-40B4-BE49-F238E27FC236}">
                <a16:creationId xmlns:a16="http://schemas.microsoft.com/office/drawing/2014/main" id="{7F8F904A-FD4E-18A7-C1BD-2382D2EABFF9}"/>
              </a:ext>
            </a:extLst>
          </p:cNvPr>
          <p:cNvGraphicFramePr>
            <a:graphicFrameLocks noGrp="1"/>
          </p:cNvGraphicFramePr>
          <p:nvPr/>
        </p:nvGraphicFramePr>
        <p:xfrm>
          <a:off x="10188801" y="5855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97" name="TextBox 96">
            <a:extLst>
              <a:ext uri="{FF2B5EF4-FFF2-40B4-BE49-F238E27FC236}">
                <a16:creationId xmlns:a16="http://schemas.microsoft.com/office/drawing/2014/main" id="{B8578E93-60F2-C2B7-8652-9CFD62B606ED}"/>
              </a:ext>
            </a:extLst>
          </p:cNvPr>
          <p:cNvSpPr txBox="1"/>
          <p:nvPr/>
        </p:nvSpPr>
        <p:spPr>
          <a:xfrm>
            <a:off x="9677170" y="3424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F4E400C-5F32-1185-6B2B-D42D4DD76343}"/>
              </a:ext>
            </a:extLst>
          </p:cNvPr>
          <p:cNvSpPr txBox="1"/>
          <p:nvPr/>
        </p:nvSpPr>
        <p:spPr>
          <a:xfrm>
            <a:off x="9829570" y="3577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11A8668-1BEA-9B3D-AFB0-AAA0EDFF0AC4}"/>
              </a:ext>
            </a:extLst>
          </p:cNvPr>
          <p:cNvSpPr txBox="1"/>
          <p:nvPr/>
        </p:nvSpPr>
        <p:spPr>
          <a:xfrm>
            <a:off x="9981970" y="3729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3A9316C-2D3C-4345-3431-71F0A61CF4C7}"/>
              </a:ext>
            </a:extLst>
          </p:cNvPr>
          <p:cNvSpPr txBox="1"/>
          <p:nvPr/>
        </p:nvSpPr>
        <p:spPr>
          <a:xfrm>
            <a:off x="10134370" y="3882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8C991B3-A9C0-115D-4F93-16E75282265A}"/>
              </a:ext>
            </a:extLst>
          </p:cNvPr>
          <p:cNvSpPr txBox="1"/>
          <p:nvPr/>
        </p:nvSpPr>
        <p:spPr>
          <a:xfrm>
            <a:off x="10286770" y="4034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990EB7D-7A31-2FF4-6E60-9D5741B573F2}"/>
              </a:ext>
            </a:extLst>
          </p:cNvPr>
          <p:cNvSpPr txBox="1"/>
          <p:nvPr/>
        </p:nvSpPr>
        <p:spPr>
          <a:xfrm>
            <a:off x="10439170" y="4186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6105187-F451-D92D-3C22-901EAA98987C}"/>
              </a:ext>
            </a:extLst>
          </p:cNvPr>
          <p:cNvSpPr txBox="1"/>
          <p:nvPr/>
        </p:nvSpPr>
        <p:spPr>
          <a:xfrm>
            <a:off x="10591570" y="4339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524FA1F-BC3F-08A1-24C0-08D4EE078385}"/>
              </a:ext>
            </a:extLst>
          </p:cNvPr>
          <p:cNvSpPr txBox="1"/>
          <p:nvPr/>
        </p:nvSpPr>
        <p:spPr>
          <a:xfrm>
            <a:off x="10743970" y="4491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82A98C9-7275-540B-0AD0-8F2CC945DA1F}"/>
              </a:ext>
            </a:extLst>
          </p:cNvPr>
          <p:cNvSpPr txBox="1"/>
          <p:nvPr/>
        </p:nvSpPr>
        <p:spPr>
          <a:xfrm>
            <a:off x="10896370" y="4644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E30BBB4-7D57-00FC-AFCC-AA352B57CA9B}"/>
              </a:ext>
            </a:extLst>
          </p:cNvPr>
          <p:cNvSpPr txBox="1"/>
          <p:nvPr/>
        </p:nvSpPr>
        <p:spPr>
          <a:xfrm>
            <a:off x="1261465" y="2604873"/>
            <a:ext cx="63834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(7,7)</a:t>
            </a:r>
            <a:endParaRPr lang="ko-KR" altLang="en-US" sz="1600" dirty="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C957AAB-4932-F972-B5C5-56BD26CC8E9E}"/>
              </a:ext>
            </a:extLst>
          </p:cNvPr>
          <p:cNvSpPr txBox="1"/>
          <p:nvPr/>
        </p:nvSpPr>
        <p:spPr>
          <a:xfrm>
            <a:off x="2826397" y="5550316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(4,3,3)</a:t>
            </a:r>
            <a:endParaRPr lang="ko-KR" altLang="en-US" sz="1600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7A9FC23-A2B1-A896-22E8-C255B44CC290}"/>
              </a:ext>
            </a:extLst>
          </p:cNvPr>
          <p:cNvSpPr txBox="1"/>
          <p:nvPr/>
        </p:nvSpPr>
        <p:spPr>
          <a:xfrm>
            <a:off x="4002173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(4,5,5)</a:t>
            </a:r>
            <a:endParaRPr lang="ko-KR" altLang="en-US" sz="1600" dirty="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B95B3E8D-30B1-6D81-17DE-C34E3767D528}"/>
              </a:ext>
            </a:extLst>
          </p:cNvPr>
          <p:cNvSpPr txBox="1"/>
          <p:nvPr/>
        </p:nvSpPr>
        <p:spPr>
          <a:xfrm>
            <a:off x="608341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graphicFrame>
        <p:nvGraphicFramePr>
          <p:cNvPr id="111" name="표 110">
            <a:extLst>
              <a:ext uri="{FF2B5EF4-FFF2-40B4-BE49-F238E27FC236}">
                <a16:creationId xmlns:a16="http://schemas.microsoft.com/office/drawing/2014/main" id="{DFF53EC4-1101-FA81-8DA7-79AB9464CC66}"/>
              </a:ext>
            </a:extLst>
          </p:cNvPr>
          <p:cNvGraphicFramePr>
            <a:graphicFrameLocks noGrp="1"/>
          </p:cNvGraphicFramePr>
          <p:nvPr/>
        </p:nvGraphicFramePr>
        <p:xfrm>
          <a:off x="3352800" y="49403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12" name="표 111">
            <a:extLst>
              <a:ext uri="{FF2B5EF4-FFF2-40B4-BE49-F238E27FC236}">
                <a16:creationId xmlns:a16="http://schemas.microsoft.com/office/drawing/2014/main" id="{919C39AA-4CFE-0FA8-555E-6732811A4B88}"/>
              </a:ext>
            </a:extLst>
          </p:cNvPr>
          <p:cNvGraphicFramePr>
            <a:graphicFrameLocks noGrp="1"/>
          </p:cNvGraphicFramePr>
          <p:nvPr/>
        </p:nvGraphicFramePr>
        <p:xfrm>
          <a:off x="4289881" y="36533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sp>
        <p:nvSpPr>
          <p:cNvPr id="113" name="TextBox 112">
            <a:extLst>
              <a:ext uri="{FF2B5EF4-FFF2-40B4-BE49-F238E27FC236}">
                <a16:creationId xmlns:a16="http://schemas.microsoft.com/office/drawing/2014/main" id="{DCE0A423-5057-3434-4AFA-C52A0FE2A0EB}"/>
              </a:ext>
            </a:extLst>
          </p:cNvPr>
          <p:cNvSpPr txBox="1"/>
          <p:nvPr/>
        </p:nvSpPr>
        <p:spPr>
          <a:xfrm>
            <a:off x="6818408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0584E78-4823-23DE-18F0-8829A2504A27}"/>
              </a:ext>
            </a:extLst>
          </p:cNvPr>
          <p:cNvSpPr txBox="1"/>
          <p:nvPr/>
        </p:nvSpPr>
        <p:spPr>
          <a:xfrm>
            <a:off x="829509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(10,3,3)</a:t>
            </a:r>
            <a:endParaRPr lang="ko-KR" altLang="en-US" sz="1600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9AD84D1-7C75-1496-6032-4D3378FB9F5E}"/>
              </a:ext>
            </a:extLst>
          </p:cNvPr>
          <p:cNvSpPr txBox="1"/>
          <p:nvPr/>
        </p:nvSpPr>
        <p:spPr>
          <a:xfrm>
            <a:off x="9483534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(10,1,1)</a:t>
            </a:r>
            <a:endParaRPr lang="ko-KR" altLang="en-US" sz="16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1A845E-BA4C-D276-1343-E31AD3745B13}"/>
              </a:ext>
            </a:extLst>
          </p:cNvPr>
          <p:cNvSpPr txBox="1"/>
          <p:nvPr/>
        </p:nvSpPr>
        <p:spPr>
          <a:xfrm>
            <a:off x="539172" y="1192388"/>
            <a:ext cx="11266263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컨볼루션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층을 거치면서 이미지의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shape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점점 작아지고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(7-5-3-1)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features(1-4-5-10)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점점 많아지게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경우는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또한 마지막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(1,1)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적용하면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3FEE2CE4-324A-3956-299B-575796034522}"/>
              </a:ext>
            </a:extLst>
          </p:cNvPr>
          <p:cNvSpPr txBox="1"/>
          <p:nvPr/>
        </p:nvSpPr>
        <p:spPr>
          <a:xfrm>
            <a:off x="11444425" y="4446897"/>
            <a:ext cx="246377" cy="179090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121" name="직선 화살표 연결선 120">
            <a:extLst>
              <a:ext uri="{FF2B5EF4-FFF2-40B4-BE49-F238E27FC236}">
                <a16:creationId xmlns:a16="http://schemas.microsoft.com/office/drawing/2014/main" id="{B071D4E8-3723-4176-F380-FFCA89BB82E4}"/>
              </a:ext>
            </a:extLst>
          </p:cNvPr>
          <p:cNvCxnSpPr>
            <a:cxnSpLocks/>
          </p:cNvCxnSpPr>
          <p:nvPr/>
        </p:nvCxnSpPr>
        <p:spPr>
          <a:xfrm>
            <a:off x="10754308" y="388212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23" name="그래픽 122" descr="물음표">
            <a:extLst>
              <a:ext uri="{FF2B5EF4-FFF2-40B4-BE49-F238E27FC236}">
                <a16:creationId xmlns:a16="http://schemas.microsoft.com/office/drawing/2014/main" id="{F3B42F70-48C4-004E-1535-C14E19B470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57652" y="3632057"/>
            <a:ext cx="478910" cy="478910"/>
          </a:xfrm>
          <a:prstGeom prst="rect">
            <a:avLst/>
          </a:prstGeom>
        </p:spPr>
      </p:pic>
      <p:sp>
        <p:nvSpPr>
          <p:cNvPr id="124" name="TextBox 123">
            <a:extLst>
              <a:ext uri="{FF2B5EF4-FFF2-40B4-BE49-F238E27FC236}">
                <a16:creationId xmlns:a16="http://schemas.microsoft.com/office/drawing/2014/main" id="{098DE638-D419-C336-3447-6321237955F4}"/>
              </a:ext>
            </a:extLst>
          </p:cNvPr>
          <p:cNvSpPr txBox="1"/>
          <p:nvPr/>
        </p:nvSpPr>
        <p:spPr>
          <a:xfrm>
            <a:off x="11159828" y="4928840"/>
            <a:ext cx="8155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(1,1,1)</a:t>
            </a:r>
            <a:endParaRPr lang="ko-KR" altLang="en-US" sz="1600" dirty="0"/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66C101D0-A8CD-F4DC-46EC-984727A6E18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0759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2" grpId="0" animBg="1"/>
      <p:bldP spid="103" grpId="0" animBg="1"/>
      <p:bldP spid="104" grpId="0" animBg="1"/>
      <p:bldP spid="105" grpId="0" animBg="1"/>
      <p:bldP spid="1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195C9-CBD6-04D8-FBF3-C2DA3C108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A38AE24-0C70-B4AA-1215-8F33EBCAFC8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feature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&amp;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bias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1041D4-64F8-978A-EE22-5E9930A7A837}"/>
              </a:ext>
            </a:extLst>
          </p:cNvPr>
          <p:cNvSpPr txBox="1"/>
          <p:nvPr/>
        </p:nvSpPr>
        <p:spPr>
          <a:xfrm>
            <a:off x="559261" y="1584070"/>
            <a:ext cx="6260639" cy="3747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에서는 입력 채널별로 서로 다른 가중치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(Weight)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필터를 사용하여 각각 연산한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 결과들을 모두 더해서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합산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하나의 특성 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Map)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필터가 가로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평면 격자가 아니라 하지만 실제는 입력 데이터의 채널 수와 똑같은 두께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(Depth)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블록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(tensor (3,3,3))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입체블록 필터당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장이 나오고 여기에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bias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생성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F8F1156-1F00-1107-B89D-64F92419DE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05AF6C3-4719-C491-25E7-A315FAF1BC48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04B1C2-BFE8-1DE2-C675-A40349A4CAD3}"/>
              </a:ext>
            </a:extLst>
          </p:cNvPr>
          <p:cNvSpPr txBox="1"/>
          <p:nvPr/>
        </p:nvSpPr>
        <p:spPr>
          <a:xfrm>
            <a:off x="7460517" y="5726516"/>
            <a:ext cx="399358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FF9615D-33D2-191A-93A4-A89840D6F52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17269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E4A022-7380-9D38-024A-1727E6B54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56E04A-9293-D134-90F2-4FED36389C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 err="1">
                <a:solidFill>
                  <a:schemeClr val="bg1"/>
                </a:solidFill>
              </a:rPr>
              <a:t>Poolings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38845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B1A72-914C-D9A7-9C3C-43C78CF7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2313B9-0D41-55BB-F412-8D624774E3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E2CA83C4-5821-CABF-224D-F3FAC3A8F8A8}"/>
              </a:ext>
            </a:extLst>
          </p:cNvPr>
          <p:cNvCxnSpPr>
            <a:cxnSpLocks/>
          </p:cNvCxnSpPr>
          <p:nvPr/>
        </p:nvCxnSpPr>
        <p:spPr>
          <a:xfrm>
            <a:off x="1331595" y="3737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/>
              <p:nvPr/>
            </p:nvSpPr>
            <p:spPr>
              <a:xfrm>
                <a:off x="2154555" y="2564130"/>
                <a:ext cx="2164080" cy="2346960"/>
              </a:xfrm>
              <a:prstGeom prst="roundRect">
                <a:avLst/>
              </a:prstGeom>
              <a:solidFill>
                <a:schemeClr val="accent6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4555" y="2564130"/>
                <a:ext cx="2164080" cy="234696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/>
              <p:nvPr/>
            </p:nvSpPr>
            <p:spPr>
              <a:xfrm>
                <a:off x="5674995" y="3308062"/>
                <a:ext cx="62484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4995" y="3308062"/>
                <a:ext cx="62484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/>
              <p:nvPr/>
            </p:nvSpPr>
            <p:spPr>
              <a:xfrm>
                <a:off x="365760" y="3308062"/>
                <a:ext cx="8001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" y="3308062"/>
                <a:ext cx="80010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/>
              <p:nvPr/>
            </p:nvSpPr>
            <p:spPr>
              <a:xfrm>
                <a:off x="1925955" y="4973336"/>
                <a:ext cx="26212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4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24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24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5955" y="4973336"/>
                <a:ext cx="2621280" cy="461665"/>
              </a:xfrm>
              <a:prstGeom prst="rect">
                <a:avLst/>
              </a:prstGeom>
              <a:blipFill>
                <a:blip r:embed="rId5"/>
                <a:stretch>
                  <a:fillRect b="-197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8514DCB2-562C-5519-EC21-4EA56B154772}"/>
              </a:ext>
            </a:extLst>
          </p:cNvPr>
          <p:cNvCxnSpPr>
            <a:cxnSpLocks/>
          </p:cNvCxnSpPr>
          <p:nvPr/>
        </p:nvCxnSpPr>
        <p:spPr>
          <a:xfrm>
            <a:off x="6513195" y="3737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/>
              <p:nvPr/>
            </p:nvSpPr>
            <p:spPr>
              <a:xfrm>
                <a:off x="7431405" y="2564130"/>
                <a:ext cx="2164080" cy="2346960"/>
              </a:xfrm>
              <a:prstGeom prst="roundRect">
                <a:avLst/>
              </a:prstGeom>
              <a:solidFill>
                <a:srgbClr val="FF0000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1405" y="2564130"/>
                <a:ext cx="2164080" cy="2346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/>
              <p:nvPr/>
            </p:nvSpPr>
            <p:spPr>
              <a:xfrm>
                <a:off x="10890783" y="3308062"/>
                <a:ext cx="59055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90783" y="3308062"/>
                <a:ext cx="590550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/>
              <p:nvPr/>
            </p:nvSpPr>
            <p:spPr>
              <a:xfrm>
                <a:off x="7345680" y="5034127"/>
                <a:ext cx="26212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ko-KR" altLang="en-US" sz="24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ko-KR" altLang="en-US" sz="24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5680" y="5034127"/>
                <a:ext cx="2621280" cy="461665"/>
              </a:xfrm>
              <a:prstGeom prst="rect">
                <a:avLst/>
              </a:prstGeom>
              <a:blipFill>
                <a:blip r:embed="rId8"/>
                <a:stretch>
                  <a:fillRect b="-1184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9EC7111D-2278-4B61-EA04-0F4F00C4E125}"/>
              </a:ext>
            </a:extLst>
          </p:cNvPr>
          <p:cNvSpPr txBox="1"/>
          <p:nvPr/>
        </p:nvSpPr>
        <p:spPr>
          <a:xfrm>
            <a:off x="2154555" y="1991018"/>
            <a:ext cx="2164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4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 layer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D1889F-F316-68FF-CC4A-A3CEC99057C2}"/>
              </a:ext>
            </a:extLst>
          </p:cNvPr>
          <p:cNvSpPr txBox="1"/>
          <p:nvPr/>
        </p:nvSpPr>
        <p:spPr>
          <a:xfrm>
            <a:off x="7431406" y="1979428"/>
            <a:ext cx="2164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Pooling layer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F23F9F-5208-9860-3E37-65466BC2731A}"/>
              </a:ext>
            </a:extLst>
          </p:cNvPr>
          <p:cNvSpPr txBox="1"/>
          <p:nvPr/>
        </p:nvSpPr>
        <p:spPr>
          <a:xfrm>
            <a:off x="1647825" y="5666929"/>
            <a:ext cx="40271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Convolution/Activation Function</a:t>
            </a:r>
            <a:endParaRPr lang="ko-KR" altLang="en-US" dirty="0"/>
          </a:p>
        </p:txBody>
      </p:sp>
      <p:sp>
        <p:nvSpPr>
          <p:cNvPr id="19" name="슬라이드 번호 개체 틀 3">
            <a:extLst>
              <a:ext uri="{FF2B5EF4-FFF2-40B4-BE49-F238E27FC236}">
                <a16:creationId xmlns:a16="http://schemas.microsoft.com/office/drawing/2014/main" id="{C3219238-B868-BD74-11C6-1D223F59136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84739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E2D2A-D3C5-D4E6-EC2A-B2331510D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8111679-65E1-9DD1-67EF-243877EC07C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Pooling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1F19A84-3AC7-D217-7F35-8925ECDB14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559" y="2618414"/>
            <a:ext cx="1768149" cy="187065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3A5560A-E9C2-3D9F-70CA-16D62C7F37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4335" y="1506549"/>
            <a:ext cx="1165954" cy="116595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37744AF-651B-228B-2F6E-A7F7B5313B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0490" y="3266510"/>
            <a:ext cx="1441426" cy="119798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2839592-CA62-1071-CA61-EF1C561FC2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8909" y="5070656"/>
            <a:ext cx="1153141" cy="1197985"/>
          </a:xfrm>
          <a:prstGeom prst="rect">
            <a:avLst/>
          </a:prstGeom>
        </p:spPr>
      </p:pic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F3E082A0-3425-7775-5A31-F90D12E2ED17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 flipV="1">
            <a:off x="2255708" y="2089526"/>
            <a:ext cx="1478627" cy="14642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4D72F8BB-535F-72AB-1E73-1CD0F9A34831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2255708" y="3553740"/>
            <a:ext cx="1563201" cy="21159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6E4C3CFD-71E6-F064-7C95-B5F14A6F5683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2255708" y="3553740"/>
            <a:ext cx="1314782" cy="3117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0CD5778-AF63-C8F0-19D2-1E69E39BDBAA}"/>
              </a:ext>
            </a:extLst>
          </p:cNvPr>
          <p:cNvSpPr txBox="1"/>
          <p:nvPr/>
        </p:nvSpPr>
        <p:spPr>
          <a:xfrm>
            <a:off x="5352802" y="1325573"/>
            <a:ext cx="6351639" cy="50914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감소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방지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공간적 크기가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1/4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대폭 줄어들어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연산속도가 높아지고 모델이 픽셀 하나하나에 과도하게 맞추어 학습하는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방지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(Receptive Field)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확대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줌 아웃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Zoom-out)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효과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풀링으로 특성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반으로 축소한 뒤 다시 필터를 적용하면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같은 크기의 필터라도 원본 이미지 기준으로는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배 이상 넓은 영역을 한눈에 보게 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미세한 위치 변화에 대한 견고함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위치 불변성 보완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 속 피사체가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1~2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 정도 살짝 이동하거나 비틀려도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해당 구역 내의 최댓값은 거의 변하지 않으므로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해당 특징이 정확히 몇 번째 픽셀에 있는가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보다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그 구역 부근에 원하는 특징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 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존재하는가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감지</a:t>
            </a: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696C76B9-ECE3-3208-E919-88E22220AC4F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97129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B285C-0CA6-131F-A9B2-B3596C691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EF9E5AB-9B8D-5BDB-63A5-EF9B27F33F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Kernel(Filter)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Pooling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74D554-22FD-A6D7-0602-1D7924A91F94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채널이 있는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컬러이미지에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대한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image-search/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cnn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이해하기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F9A623C-EB2D-129A-153E-FF04C6788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166" y="2002698"/>
            <a:ext cx="7538720" cy="424053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92E3EFA-D958-79F5-769A-A37BE29AE76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1" name="그래픽 10" descr="수영">
            <a:extLst>
              <a:ext uri="{FF2B5EF4-FFF2-40B4-BE49-F238E27FC236}">
                <a16:creationId xmlns:a16="http://schemas.microsoft.com/office/drawing/2014/main" id="{E883276C-5C47-14DA-8DFE-FA31C98661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49761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3436E-AD26-A468-3DD1-936CDE57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4BF91A-2317-B6DF-AF0D-C3CF326A6F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3CDD7F5-5E7E-A439-0189-2DE625BE9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015" y="1717450"/>
            <a:ext cx="7982459" cy="255872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E8C7DD6-2189-B79E-911A-96DA77508C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876" y="4228551"/>
            <a:ext cx="7936735" cy="191246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648CE72-0757-DBDC-D28A-393610070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4" name="그래픽 13" descr="골프">
            <a:extLst>
              <a:ext uri="{FF2B5EF4-FFF2-40B4-BE49-F238E27FC236}">
                <a16:creationId xmlns:a16="http://schemas.microsoft.com/office/drawing/2014/main" id="{2EB9B38C-5F59-2AC3-EBE1-9F019EE4D57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375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76FEF-78EE-44A5-2AA8-B58C4EE7B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DEBB8C4-EB3A-7146-BD71-9E5A3DCDAE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B493024-8CAB-4316-C57C-3E230677E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46" y="2428767"/>
            <a:ext cx="2598503" cy="2794423"/>
          </a:xfrm>
          <a:prstGeom prst="rect">
            <a:avLst/>
          </a:prstGeom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AC10E04-853C-47EB-871D-F4BE3414E8EA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1825844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8739568-9AF2-1CE4-75FB-91FB3C31356C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3537693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566EDAE3-4767-EED0-CBF5-AA17C014893E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5249541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09FC970-6C0C-5210-5CF8-DF8A8688AA9F}"/>
              </a:ext>
            </a:extLst>
          </p:cNvPr>
          <p:cNvCxnSpPr/>
          <p:nvPr/>
        </p:nvCxnSpPr>
        <p:spPr>
          <a:xfrm>
            <a:off x="6448425" y="242876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5" name="그림 14">
            <a:extLst>
              <a:ext uri="{FF2B5EF4-FFF2-40B4-BE49-F238E27FC236}">
                <a16:creationId xmlns:a16="http://schemas.microsoft.com/office/drawing/2014/main" id="{D7FCB08B-66F4-87B4-F20A-1C1F228A178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1972671"/>
            <a:ext cx="1275596" cy="932453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3FF9ECC-D489-D531-04CB-660570D27766}"/>
              </a:ext>
            </a:extLst>
          </p:cNvPr>
          <p:cNvCxnSpPr/>
          <p:nvPr/>
        </p:nvCxnSpPr>
        <p:spPr>
          <a:xfrm>
            <a:off x="6448425" y="4085469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ED2C4F28-A8D7-E629-52F3-B22D35BF1DB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3629373"/>
            <a:ext cx="1275596" cy="932453"/>
          </a:xfrm>
          <a:prstGeom prst="rect">
            <a:avLst/>
          </a:prstGeom>
        </p:spPr>
      </p:pic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076D93C3-BD31-7E72-215F-5FE172046051}"/>
              </a:ext>
            </a:extLst>
          </p:cNvPr>
          <p:cNvCxnSpPr/>
          <p:nvPr/>
        </p:nvCxnSpPr>
        <p:spPr>
          <a:xfrm>
            <a:off x="6448425" y="572441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8C2480E6-96FC-6497-206C-4BFB17FE193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5268321"/>
            <a:ext cx="1275596" cy="93245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C829464-9279-84EB-6813-6716E7DE07F4}"/>
              </a:ext>
            </a:extLst>
          </p:cNvPr>
          <p:cNvSpPr txBox="1"/>
          <p:nvPr/>
        </p:nvSpPr>
        <p:spPr>
          <a:xfrm>
            <a:off x="4558164" y="1446528"/>
            <a:ext cx="18902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Horizontal/Diagonal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9C038D-B952-75DF-7487-E820508392FE}"/>
              </a:ext>
            </a:extLst>
          </p:cNvPr>
          <p:cNvSpPr txBox="1"/>
          <p:nvPr/>
        </p:nvSpPr>
        <p:spPr>
          <a:xfrm>
            <a:off x="4463200" y="3170454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Vertical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957353-B9AF-67E0-FD62-F604366BA6B8}"/>
              </a:ext>
            </a:extLst>
          </p:cNvPr>
          <p:cNvSpPr txBox="1"/>
          <p:nvPr/>
        </p:nvSpPr>
        <p:spPr>
          <a:xfrm>
            <a:off x="4457111" y="489438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3822090-781C-26D4-44D4-D099E1A52510}"/>
              </a:ext>
            </a:extLst>
          </p:cNvPr>
          <p:cNvCxnSpPr/>
          <p:nvPr/>
        </p:nvCxnSpPr>
        <p:spPr>
          <a:xfrm>
            <a:off x="3818936" y="4075836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29216AF-ED58-F476-6F5F-2AE0673A1E56}"/>
              </a:ext>
            </a:extLst>
          </p:cNvPr>
          <p:cNvCxnSpPr>
            <a:cxnSpLocks/>
          </p:cNvCxnSpPr>
          <p:nvPr/>
        </p:nvCxnSpPr>
        <p:spPr>
          <a:xfrm>
            <a:off x="3742736" y="5495061"/>
            <a:ext cx="543514" cy="229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6498FB2-D6A6-1546-F077-2010C4599970}"/>
              </a:ext>
            </a:extLst>
          </p:cNvPr>
          <p:cNvCxnSpPr>
            <a:cxnSpLocks/>
          </p:cNvCxnSpPr>
          <p:nvPr/>
        </p:nvCxnSpPr>
        <p:spPr>
          <a:xfrm flipV="1">
            <a:off x="3818936" y="2428767"/>
            <a:ext cx="467314" cy="2183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874F86C5-F736-36B6-94DA-A81A5A3E5C42}"/>
              </a:ext>
            </a:extLst>
          </p:cNvPr>
          <p:cNvSpPr/>
          <p:nvPr/>
        </p:nvSpPr>
        <p:spPr>
          <a:xfrm>
            <a:off x="9187330" y="2347791"/>
            <a:ext cx="2598503" cy="3141743"/>
          </a:xfrm>
          <a:prstGeom prst="rightArrow">
            <a:avLst>
              <a:gd name="adj1" fmla="val 73016"/>
              <a:gd name="adj2" fmla="val 50000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각각의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Kernel (Filter)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결과를 구한 후 모두 더하면</a:t>
            </a:r>
          </a:p>
          <a:p>
            <a:pPr algn="ctr"/>
            <a:endParaRPr lang="ko-KR" altLang="en-US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D136316-5245-4763-0158-E4EFD17B5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그래픽 4" descr="골프">
            <a:extLst>
              <a:ext uri="{FF2B5EF4-FFF2-40B4-BE49-F238E27FC236}">
                <a16:creationId xmlns:a16="http://schemas.microsoft.com/office/drawing/2014/main" id="{26C349F5-2FAD-84A4-48D9-66D08FAF17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893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3433B-C0D4-0981-2B95-FD5877580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9DFE7A3-DBCC-EA3B-A967-4C786A77D9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45F4F4F-5BF8-05D7-4FEB-E31A73BEC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2430" y="2310714"/>
            <a:ext cx="9181581" cy="390810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D30DB2E-4ED6-F150-9668-12DD706B081F}"/>
              </a:ext>
            </a:extLst>
          </p:cNvPr>
          <p:cNvSpPr txBox="1"/>
          <p:nvPr/>
        </p:nvSpPr>
        <p:spPr>
          <a:xfrm>
            <a:off x="475645" y="1248422"/>
            <a:ext cx="112972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28 by 28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최종적으로는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4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by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이미지로 특성을 표현한 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Connected Network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다시 표현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(Data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Rpresentation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What is CNN?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FEE04AEE-680C-DFA7-1A3C-9C65E9D14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25051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B4777-F2E7-411D-3C6D-AA8B7C766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4820E8-EF93-CCBF-556A-D6E84E8CB2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Practice for Image Classification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059959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E6D9A-FA41-2C59-AE0E-CFB6CAB07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C8789F7-E6CE-8A13-8993-4DB80A7E30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475C2B3-6614-2911-5205-8AF7F278B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8" y="2314205"/>
            <a:ext cx="7414903" cy="40618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4D3D52-F5BF-4321-448A-4369B312C318}"/>
              </a:ext>
            </a:extLst>
          </p:cNvPr>
          <p:cNvSpPr txBox="1"/>
          <p:nvPr/>
        </p:nvSpPr>
        <p:spPr>
          <a:xfrm>
            <a:off x="558800" y="1340904"/>
            <a:ext cx="1093216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07BD27A-4D2C-F8D7-FB6E-09FF605403CA}"/>
              </a:ext>
            </a:extLst>
          </p:cNvPr>
          <p:cNvSpPr/>
          <p:nvPr/>
        </p:nvSpPr>
        <p:spPr>
          <a:xfrm>
            <a:off x="3738706" y="2666844"/>
            <a:ext cx="1818814" cy="17324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" name="그래픽 1" descr="수영">
            <a:extLst>
              <a:ext uri="{FF2B5EF4-FFF2-40B4-BE49-F238E27FC236}">
                <a16:creationId xmlns:a16="http://schemas.microsoft.com/office/drawing/2014/main" id="{EFE637C0-B53E-AB6A-7C98-66EC232252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8710B86-F8A8-1CC8-8523-FEC3C2CCE4DF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9684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0EB1D-5085-AFC4-6F4A-DB4276604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A1F8927-CE36-3EA4-0E56-63905BA37F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57ED0FE-C673-8670-DD6B-72F756A37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47" y="1468523"/>
            <a:ext cx="8313804" cy="502262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D93140D-C081-07D8-4F6A-DD9463F74E3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65545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B718-B2C5-F0AB-9840-E7CA385C6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15A284-89FC-2D1A-96C3-365A0E7B71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A6A5AC5-260A-25A4-1B81-77CB5B32F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200" y="1902689"/>
            <a:ext cx="9000000" cy="4473328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041BDA1-4860-C68A-56AF-73EFDE820BE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36760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AB736-7409-F14A-48A5-4808B9709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67A0152-FFB9-F91B-A5A0-9CC626BCAE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F9730E-C40F-FDBD-D9DB-C8C74C367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0675" y="1470193"/>
            <a:ext cx="4017492" cy="4931193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27B6D81-5581-714B-BEBF-44D1F906F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78259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4EA85-557B-2909-DB66-4055451DF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317419E-04B5-153B-9DB8-F3120B3EE9B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653024-713F-9DE4-50B8-126CD14F06FB}"/>
              </a:ext>
            </a:extLst>
          </p:cNvPr>
          <p:cNvSpPr txBox="1"/>
          <p:nvPr/>
        </p:nvSpPr>
        <p:spPr>
          <a:xfrm>
            <a:off x="475645" y="1248422"/>
            <a:ext cx="11297255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통해 생성한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서브샘플링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(subsample,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 크기를 축소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것으로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연산 부하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(computational load),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메모리 사용량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(memory usage),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그리고 파라미터 개수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(number of parameters)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줄이는 것으로 그 결과 모델의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위험을 방지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28AB133-7A6E-A64A-2248-2F7A9BAA44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801" y="2909961"/>
            <a:ext cx="7049449" cy="299857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01F2049-E655-A9F9-92FD-1AAA28AE22C0}"/>
              </a:ext>
            </a:extLst>
          </p:cNvPr>
          <p:cNvSpPr txBox="1"/>
          <p:nvPr/>
        </p:nvSpPr>
        <p:spPr>
          <a:xfrm>
            <a:off x="9262975" y="4776248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32972D-DA00-C47B-7806-9AC805EC2938}"/>
              </a:ext>
            </a:extLst>
          </p:cNvPr>
          <p:cNvSpPr txBox="1"/>
          <p:nvPr/>
        </p:nvSpPr>
        <p:spPr>
          <a:xfrm>
            <a:off x="9263221" y="2981050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Max pooling Map</a:t>
            </a:r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6981D003-6310-22A5-1BFC-F5A6FDA1FCFA}"/>
              </a:ext>
            </a:extLst>
          </p:cNvPr>
          <p:cNvCxnSpPr>
            <a:cxnSpLocks/>
          </p:cNvCxnSpPr>
          <p:nvPr/>
        </p:nvCxnSpPr>
        <p:spPr>
          <a:xfrm flipV="1">
            <a:off x="10155425" y="3396682"/>
            <a:ext cx="0" cy="1256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F2964CC-907A-79C3-EF81-7292B7588E7B}"/>
              </a:ext>
            </a:extLst>
          </p:cNvPr>
          <p:cNvSpPr txBox="1"/>
          <p:nvPr/>
        </p:nvSpPr>
        <p:spPr>
          <a:xfrm>
            <a:off x="9277326" y="3851685"/>
            <a:ext cx="2285143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F76B625-7BA0-B72D-A7C5-6BE854107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02612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05597-2E63-8680-97C9-8A0379C36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6F3F87-E80C-B7E8-19A7-5F227D10B3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14A798-1EC4-0DBB-1C3A-3CF3FAAABB8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개념적이고 직관적으로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https://poloclub.github.io/cnn-explainer/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에서 이해하자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4D1AA27-A75B-37EC-B74E-57B16DF77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25" y="1841763"/>
            <a:ext cx="9553575" cy="4194498"/>
          </a:xfrm>
          <a:prstGeom prst="rect">
            <a:avLst/>
          </a:prstGeom>
        </p:spPr>
      </p:pic>
      <p:pic>
        <p:nvPicPr>
          <p:cNvPr id="5" name="그래픽 4" descr="수영">
            <a:extLst>
              <a:ext uri="{FF2B5EF4-FFF2-40B4-BE49-F238E27FC236}">
                <a16:creationId xmlns:a16="http://schemas.microsoft.com/office/drawing/2014/main" id="{507DF9E5-B11C-216C-B486-139E237DD2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DB0A7963-1477-E978-4CA4-E380097AF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96418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D9480-18CF-B9A7-CCAF-349FDA51A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C7A2EA71-FBFE-0880-F545-5E313F254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86" y="1426419"/>
            <a:ext cx="8575192" cy="4974967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99144C6-22C4-6B31-706F-C163569EC23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4B1D0B-EF63-6FF1-0A87-488C8FD4BEFA}"/>
              </a:ext>
            </a:extLst>
          </p:cNvPr>
          <p:cNvSpPr txBox="1"/>
          <p:nvPr/>
        </p:nvSpPr>
        <p:spPr>
          <a:xfrm>
            <a:off x="5061355" y="4472286"/>
            <a:ext cx="5768052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2D62138-00D1-EFBB-712E-D7834DDFEB3F}"/>
              </a:ext>
            </a:extLst>
          </p:cNvPr>
          <p:cNvSpPr/>
          <p:nvPr/>
        </p:nvSpPr>
        <p:spPr>
          <a:xfrm>
            <a:off x="568786" y="3981450"/>
            <a:ext cx="4003214" cy="25979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1F511E3F-A021-6230-AD76-2912813CF33B}"/>
              </a:ext>
            </a:extLst>
          </p:cNvPr>
          <p:cNvSpPr/>
          <p:nvPr/>
        </p:nvSpPr>
        <p:spPr>
          <a:xfrm>
            <a:off x="4572000" y="3567143"/>
            <a:ext cx="1149812" cy="3952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래픽 4" descr="수영">
            <a:extLst>
              <a:ext uri="{FF2B5EF4-FFF2-40B4-BE49-F238E27FC236}">
                <a16:creationId xmlns:a16="http://schemas.microsoft.com/office/drawing/2014/main" id="{66794397-9BEE-1E46-D744-7C2F990676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pic>
        <p:nvPicPr>
          <p:cNvPr id="6" name="그래픽 5" descr="골프">
            <a:extLst>
              <a:ext uri="{FF2B5EF4-FFF2-40B4-BE49-F238E27FC236}">
                <a16:creationId xmlns:a16="http://schemas.microsoft.com/office/drawing/2014/main" id="{ADDF661E-E434-6432-A4D5-22FEF2035B6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915007" y="247795"/>
            <a:ext cx="914400" cy="914400"/>
          </a:xfrm>
          <a:prstGeom prst="rect">
            <a:avLst/>
          </a:prstGeom>
        </p:spPr>
      </p:pic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72C328F0-D406-3647-2141-C5F140C15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3117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7A9EA-7B98-FDFF-D632-5B74C05F4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5D5D00C-8810-FA27-6317-9E2B3F7CB8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AutoShape 2" descr="image">
            <a:extLst>
              <a:ext uri="{FF2B5EF4-FFF2-40B4-BE49-F238E27FC236}">
                <a16:creationId xmlns:a16="http://schemas.microsoft.com/office/drawing/2014/main" id="{91F0AC56-1AD8-E77D-393F-3FA0F42C87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B5D35AD-5B9D-3D46-8ED8-43517A6EED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490" y="1596194"/>
            <a:ext cx="9315406" cy="451885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A92472-7FFC-DEC8-94A2-CC8097F8CD44}"/>
              </a:ext>
            </a:extLst>
          </p:cNvPr>
          <p:cNvSpPr txBox="1"/>
          <p:nvPr/>
        </p:nvSpPr>
        <p:spPr>
          <a:xfrm>
            <a:off x="5062537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18AD35-208A-BBC6-C996-79BA16B24E7C}"/>
              </a:ext>
            </a:extLst>
          </p:cNvPr>
          <p:cNvSpPr txBox="1"/>
          <p:nvPr/>
        </p:nvSpPr>
        <p:spPr>
          <a:xfrm>
            <a:off x="8142286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31C80AD-B6C8-AE6B-32A5-68D73A1BB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202927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DBDC2-A382-4A4D-157D-EE18505D7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68A2A7A-D234-221B-8C55-A5C68FC94F7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2E3F41B-E085-7A20-6E9B-106114ADA7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1996080"/>
              </p:ext>
            </p:extLst>
          </p:nvPr>
        </p:nvGraphicFramePr>
        <p:xfrm>
          <a:off x="741182" y="1723456"/>
          <a:ext cx="11013938" cy="4244156"/>
        </p:xfrm>
        <a:graphic>
          <a:graphicData uri="http://schemas.openxmlformats.org/drawingml/2006/table">
            <a:tbl>
              <a:tblPr/>
              <a:tblGrid>
                <a:gridCol w="565509">
                  <a:extLst>
                    <a:ext uri="{9D8B030D-6E8A-4147-A177-3AD203B41FA5}">
                      <a16:colId xmlns:a16="http://schemas.microsoft.com/office/drawing/2014/main" val="1466050574"/>
                    </a:ext>
                  </a:extLst>
                </a:gridCol>
                <a:gridCol w="1761629">
                  <a:extLst>
                    <a:ext uri="{9D8B030D-6E8A-4147-A177-3AD203B41FA5}">
                      <a16:colId xmlns:a16="http://schemas.microsoft.com/office/drawing/2014/main" val="1415194089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88953976"/>
                    </a:ext>
                  </a:extLst>
                </a:gridCol>
                <a:gridCol w="1178560">
                  <a:extLst>
                    <a:ext uri="{9D8B030D-6E8A-4147-A177-3AD203B41FA5}">
                      <a16:colId xmlns:a16="http://schemas.microsoft.com/office/drawing/2014/main" val="470009430"/>
                    </a:ext>
                  </a:extLst>
                </a:gridCol>
                <a:gridCol w="1127760">
                  <a:extLst>
                    <a:ext uri="{9D8B030D-6E8A-4147-A177-3AD203B41FA5}">
                      <a16:colId xmlns:a16="http://schemas.microsoft.com/office/drawing/2014/main" val="1352959133"/>
                    </a:ext>
                  </a:extLst>
                </a:gridCol>
                <a:gridCol w="5313680">
                  <a:extLst>
                    <a:ext uri="{9D8B030D-6E8A-4147-A177-3AD203B41FA5}">
                      <a16:colId xmlns:a16="http://schemas.microsoft.com/office/drawing/2014/main" val="2542550803"/>
                    </a:ext>
                  </a:extLst>
                </a:gridCol>
              </a:tblGrid>
              <a:tr h="29846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</a:t>
                      </a: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 이름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함수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 형태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 형태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Output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가중치 초기화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Variance 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Scaling)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역할 및 특징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2553702"/>
                  </a:ext>
                </a:extLst>
              </a:tr>
              <a:tr h="33381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0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(</a:t>
                      </a:r>
                      <a:r>
                        <a:rPr lang="ko-KR" altLang="en-US" sz="1200" b="1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-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세로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28, 1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채널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흑백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입력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780401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 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8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이미지의 기본 특징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면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4792075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(2,2)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영역에서 가장 큰 값만 추출하여 이미지 크기를 절반으로 축소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9161666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16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더 복잡하고 고차원적인 특징 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8943306"/>
                  </a:ext>
                </a:extLst>
              </a:tr>
              <a:tr h="47519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4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크기를 다시 한번 절반으로 축소하여 핵심 특징만 압축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094793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5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Flatten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평탄화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 특징 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(4,4,16) = 4*4*16 = 256)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차원의 긴 벡터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줄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 펼침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0645248"/>
                  </a:ext>
                </a:extLst>
              </a:tr>
              <a:tr h="54588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6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Dense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출력층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256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개의 특징을 받아 최종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 클래스에 대한 확률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Softmax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계산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8599086"/>
                  </a:ext>
                </a:extLst>
              </a:tr>
            </a:tbl>
          </a:graphicData>
        </a:graphic>
      </p:graphicFrame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5367F3F-1ECB-6D5D-5CBE-0320E86B662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52952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04D15-DBFC-4F83-0427-E2AD323FB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D330097-C40F-BB9D-A40F-9B1E0C908A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185031C-A522-6D3E-2308-3628A3B3EC40}"/>
              </a:ext>
            </a:extLst>
          </p:cNvPr>
          <p:cNvSpPr txBox="1"/>
          <p:nvPr/>
        </p:nvSpPr>
        <p:spPr>
          <a:xfrm>
            <a:off x="475645" y="1577521"/>
            <a:ext cx="6613064" cy="3747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layers require a huge amount of RAM especially during training, because the reverse pass of backpropagation requires all the intermediate values computed during the forward pass.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For example, consider a convolutional layer with 5 × 5 filters, outputting 200 feature maps of size 150 × 100, with stride 1 and "same" padding. If input is a 150 × 100 RGB image (three channels)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How many parameters to be calculated during training ?</a:t>
            </a:r>
            <a:endParaRPr lang="ko-KR" altLang="en-US" sz="16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8EB3AAF-50FF-8BBA-8A7B-8BA1F4BF67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DE097B0-4136-2CBE-9F37-929DF9865E60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222F3A-BE5A-5573-B6B4-B845A81A67C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2ADEF4A-B47A-7977-668C-9B4DFC17B27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9" name="그래픽 8" descr="학사모">
            <a:extLst>
              <a:ext uri="{FF2B5EF4-FFF2-40B4-BE49-F238E27FC236}">
                <a16:creationId xmlns:a16="http://schemas.microsoft.com/office/drawing/2014/main" id="{CE24F7DB-8229-E1D7-1D8A-E391726DFD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387614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22BA2-FAF4-3BB4-5F9A-124C05A4F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F03FEBC-9372-DB03-41EA-F44D2CAC02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/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CNN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파라미터 계산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(5 x 5 x 3 + 1) x 200 = 15,200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개로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FNN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인 경우보다는 적지만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Filter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200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개이면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총 뉴런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데이터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150 x 100 x 200 = 3,000,000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컴퓨터는 이 숫자 하나를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32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비트 실수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(float32 = 4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저장하면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3,000,000 x 4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= 12,000,000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60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≈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 12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MB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blipFill>
                <a:blip r:embed="rId2"/>
                <a:stretch>
                  <a:fillRect l="-276" b="-254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B66E6CDD-E84D-4DC3-6A16-4201748656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1CC526-5FAD-A039-E81D-8BC75F9ECB19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2D8120-ED9A-27A1-E7D4-C6E606C3BED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F0CC92-FBAC-FB79-C1A0-A9E0D08DD295}"/>
              </a:ext>
            </a:extLst>
          </p:cNvPr>
          <p:cNvSpPr txBox="1"/>
          <p:nvPr/>
        </p:nvSpPr>
        <p:spPr>
          <a:xfrm>
            <a:off x="525883" y="1781576"/>
            <a:ext cx="2031539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endParaRPr lang="ko-KR" altLang="en-US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2D5FD6-F697-B102-AF41-A1D21A1066BC}"/>
              </a:ext>
            </a:extLst>
          </p:cNvPr>
          <p:cNvSpPr txBox="1"/>
          <p:nvPr/>
        </p:nvSpPr>
        <p:spPr>
          <a:xfrm>
            <a:off x="714043" y="4604837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12MB, 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 묶음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 = 100) = 1.2GB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BC7E95-D4A5-05A2-F8D5-FC06CF584824}"/>
              </a:ext>
            </a:extLst>
          </p:cNvPr>
          <p:cNvSpPr txBox="1"/>
          <p:nvPr/>
        </p:nvSpPr>
        <p:spPr>
          <a:xfrm>
            <a:off x="525883" y="4267488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(100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A44078-D04C-0EE6-DC61-F5FBA7AFAE7E}"/>
              </a:ext>
            </a:extLst>
          </p:cNvPr>
          <p:cNvSpPr txBox="1"/>
          <p:nvPr/>
        </p:nvSpPr>
        <p:spPr>
          <a:xfrm>
            <a:off x="715243" y="5656539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1.2GB x 50 = 60GB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6266A9-7625-680E-D8E7-6E1BAC3CDDC2}"/>
              </a:ext>
            </a:extLst>
          </p:cNvPr>
          <p:cNvSpPr txBox="1"/>
          <p:nvPr/>
        </p:nvSpPr>
        <p:spPr>
          <a:xfrm>
            <a:off x="525883" y="5319825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50 layers 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ResNet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VGG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CE07D09-6557-CD26-DFED-4F839ACCE97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래픽 5" descr="학사모">
            <a:extLst>
              <a:ext uri="{FF2B5EF4-FFF2-40B4-BE49-F238E27FC236}">
                <a16:creationId xmlns:a16="http://schemas.microsoft.com/office/drawing/2014/main" id="{FC1B0D50-16B1-1C13-D57A-EDA8982EBD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23876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0389B-473F-1672-8CA3-518ADC114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FBF5EE-9971-7BDB-25AE-5582899872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Deep Understanding of CNN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257419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39BB7-974B-332B-B2D3-8F848B699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FEC2FC1-D246-D6ED-7695-386F0C4FC4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9A7F2C-B040-9181-C381-0EAF79249ED2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https://tensorspace.org/html/playground/lenet.html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7F37AE7-162E-24C9-7A48-A38714B8D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811" y="1799944"/>
            <a:ext cx="4032690" cy="4645767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E851A7FB-F6FC-45E6-71A5-54630A6A1756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473763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1A4A9-C8E4-CEAE-D281-5907F964D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6393488-7234-FE8B-4CA8-0977643A76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CNN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585D06-EBAA-D2AC-1891-2DBE98D5B6A3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https://stanford.edu/~shervine/teaching/cs-230/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A294C0E-8F2F-FF9B-4E00-D850332D3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2575" y="1886593"/>
            <a:ext cx="8733012" cy="4489424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4191445-F1B0-E5AA-70B4-9AFC52FBCC4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래픽 5" descr="학사모">
            <a:extLst>
              <a:ext uri="{FF2B5EF4-FFF2-40B4-BE49-F238E27FC236}">
                <a16:creationId xmlns:a16="http://schemas.microsoft.com/office/drawing/2014/main" id="{6F846CE4-29AE-87C9-D069-7DD77A126B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05660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7DB1F-676C-0784-635D-DC8BC8B39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2C22D0A-1313-B903-6F04-E982F4C627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9F0B72-DDC7-18AA-B22F-73829F19987C}"/>
              </a:ext>
            </a:extLst>
          </p:cNvPr>
          <p:cNvSpPr txBox="1"/>
          <p:nvPr/>
        </p:nvSpPr>
        <p:spPr>
          <a:xfrm>
            <a:off x="644986" y="1236259"/>
            <a:ext cx="11012385" cy="10749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Kernel Size and Why Everyone Loves 3x3 - Neural Network 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이해하자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(8,6,6)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각 채널에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Kernel(3,3)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동일하게 적용하여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합산 값을 출력하는 것을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kernel)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반복하면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tensor(8,4,4)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생성하는 과정을 이해하자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4ECD689-EE52-C02C-F285-18FE07FE3A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1586" y="2353214"/>
            <a:ext cx="6533557" cy="34951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3C82CD-F634-E04D-08CC-C281BB8C06F5}"/>
              </a:ext>
            </a:extLst>
          </p:cNvPr>
          <p:cNvSpPr txBox="1"/>
          <p:nvPr/>
        </p:nvSpPr>
        <p:spPr>
          <a:xfrm>
            <a:off x="644986" y="2703734"/>
            <a:ext cx="4147994" cy="89370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(8,3,3),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kernel(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색상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(8,4,4)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1F0DC8-FCD6-0460-7E81-40F156D07A60}"/>
              </a:ext>
            </a:extLst>
          </p:cNvPr>
          <p:cNvSpPr txBox="1"/>
          <p:nvPr/>
        </p:nvSpPr>
        <p:spPr>
          <a:xfrm>
            <a:off x="591646" y="4909491"/>
            <a:ext cx="4201334" cy="89370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size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(20,4,4)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29CD3A76-F298-88C6-B9BA-F1D593B0FB72}"/>
              </a:ext>
            </a:extLst>
          </p:cNvPr>
          <p:cNvSpPr/>
          <p:nvPr/>
        </p:nvSpPr>
        <p:spPr>
          <a:xfrm>
            <a:off x="1657453" y="3859237"/>
            <a:ext cx="495300" cy="76962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5A5A8A-B0F5-B4B1-8BA3-06BCBBF93A66}"/>
              </a:ext>
            </a:extLst>
          </p:cNvPr>
          <p:cNvSpPr txBox="1"/>
          <p:nvPr/>
        </p:nvSpPr>
        <p:spPr>
          <a:xfrm>
            <a:off x="2160373" y="3882097"/>
            <a:ext cx="2685947" cy="617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만약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적용하면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고차원의 특징을 추출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0634285F-2C47-4B0F-C48A-2FA62B4B9F3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190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03301-AE56-CCC2-E058-B6282D923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882B39C-9C81-C646-1138-B35886C437E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0494596-39F6-615D-9013-605F03C9C1FC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https://tensorspace.org/html/playground/alexnet.html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784A6AC-36E5-6717-E624-829B1E3EE9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1633" y="2002698"/>
            <a:ext cx="5132427" cy="3895526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D6D5C0B1-50E1-7852-0909-A389784D9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193" y="3079433"/>
            <a:ext cx="2162175" cy="2162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53428EF-2DA9-6E06-7EF4-BBA88C897E2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22032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4DAB6-C0A2-5688-D23C-582541552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69FABD5-B583-BD47-45E0-72A5D4FB94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fine tuning Task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778FC2-E3C6-FD32-35F3-D64074491B0D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Fine Tuning 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https://github.com/jihongleejihong/pok8mon_go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 descr="project workflow">
            <a:extLst>
              <a:ext uri="{FF2B5EF4-FFF2-40B4-BE49-F238E27FC236}">
                <a16:creationId xmlns:a16="http://schemas.microsoft.com/office/drawing/2014/main" id="{58F1A779-8263-AE4B-31CF-C8285809A8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8066" y="2297974"/>
            <a:ext cx="9611342" cy="3461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0572C76-76CC-83E2-346F-CA8776467F7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래픽 5" descr="골프">
            <a:extLst>
              <a:ext uri="{FF2B5EF4-FFF2-40B4-BE49-F238E27FC236}">
                <a16:creationId xmlns:a16="http://schemas.microsoft.com/office/drawing/2014/main" id="{54329EBC-13F4-3682-1549-69D5AD21207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05287" y="26449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45489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23E6-C186-5967-405A-469653BF4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54753E9-190B-64FD-1066-166374E976B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A295DC-FE1F-4E93-BF82-21DBF8647E1C}"/>
              </a:ext>
            </a:extLst>
          </p:cNvPr>
          <p:cNvSpPr txBox="1"/>
          <p:nvPr/>
        </p:nvSpPr>
        <p:spPr>
          <a:xfrm>
            <a:off x="615386" y="4043238"/>
            <a:ext cx="5480613" cy="30758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conv1 = nn.Conv2d(1, 6, 5)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6 kernels (5,5) size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933C2A-CDC7-01E7-A9FB-0129F1C095B1}"/>
              </a:ext>
            </a:extLst>
          </p:cNvPr>
          <p:cNvSpPr txBox="1"/>
          <p:nvPr/>
        </p:nvSpPr>
        <p:spPr>
          <a:xfrm>
            <a:off x="4284573" y="5235941"/>
            <a:ext cx="3106268" cy="30232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 = nn.Conv2d(6, 16, 5)</a:t>
            </a:r>
            <a:endParaRPr lang="ko-KR" altLang="en-US" sz="1700" dirty="0">
              <a:solidFill>
                <a:srgbClr val="0070C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5B8366-0E8D-4FF5-CC85-F97104EC05B8}"/>
              </a:ext>
            </a:extLst>
          </p:cNvPr>
          <p:cNvSpPr txBox="1"/>
          <p:nvPr/>
        </p:nvSpPr>
        <p:spPr>
          <a:xfrm>
            <a:off x="2539648" y="4450501"/>
            <a:ext cx="5213702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c1 = </a:t>
            </a:r>
            <a:r>
              <a:rPr lang="en-US" altLang="ko-KR" sz="17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(conv1(input))</a:t>
            </a:r>
          </a:p>
          <a:p>
            <a:pPr>
              <a:lnSpc>
                <a:spcPts val="1575"/>
              </a:lnSpc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s2 = max_pool2d(c1, (2, 2))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default stride 2</a:t>
            </a:r>
            <a:endParaRPr lang="en-US" altLang="ko-KR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C9410A-0A63-BE47-A995-323F026ECD29}"/>
              </a:ext>
            </a:extLst>
          </p:cNvPr>
          <p:cNvSpPr txBox="1"/>
          <p:nvPr/>
        </p:nvSpPr>
        <p:spPr>
          <a:xfrm>
            <a:off x="5652526" y="5609153"/>
            <a:ext cx="3106268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c3 =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(conv2(s2))</a:t>
            </a:r>
          </a:p>
          <a:p>
            <a:pPr>
              <a:lnSpc>
                <a:spcPts val="1575"/>
              </a:lnSpc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s4 = max_pool2d(c3, 2)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1FB92E3-A8B3-1860-A8D2-D3C01D75F34D}"/>
              </a:ext>
            </a:extLst>
          </p:cNvPr>
          <p:cNvSpPr txBox="1"/>
          <p:nvPr/>
        </p:nvSpPr>
        <p:spPr>
          <a:xfrm>
            <a:off x="7629878" y="4316088"/>
            <a:ext cx="22098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f5 =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(fc1(s4))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CDE3A0-3FAD-7D02-45A2-9581E9FB538A}"/>
              </a:ext>
            </a:extLst>
          </p:cNvPr>
          <p:cNvSpPr txBox="1"/>
          <p:nvPr/>
        </p:nvSpPr>
        <p:spPr>
          <a:xfrm>
            <a:off x="7601303" y="3984329"/>
            <a:ext cx="3725393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fc1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(16 * 5 * 5, 120)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AB45F0-CC27-8FA1-476D-1076192763AC}"/>
              </a:ext>
            </a:extLst>
          </p:cNvPr>
          <p:cNvSpPr txBox="1"/>
          <p:nvPr/>
        </p:nvSpPr>
        <p:spPr>
          <a:xfrm>
            <a:off x="8556213" y="5051686"/>
            <a:ext cx="30480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f6 =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(fc2(f5))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91E201A-8E26-8118-AACB-8EB48FD819CF}"/>
              </a:ext>
            </a:extLst>
          </p:cNvPr>
          <p:cNvSpPr txBox="1"/>
          <p:nvPr/>
        </p:nvSpPr>
        <p:spPr>
          <a:xfrm>
            <a:off x="8555860" y="4740643"/>
            <a:ext cx="2807818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fc2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(120, 84)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9CA255-2078-8A4F-5EC2-BB49E33B223E}"/>
              </a:ext>
            </a:extLst>
          </p:cNvPr>
          <p:cNvSpPr txBox="1"/>
          <p:nvPr/>
        </p:nvSpPr>
        <p:spPr>
          <a:xfrm>
            <a:off x="9416374" y="5491889"/>
            <a:ext cx="2880401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fc3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(84, 10)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E3EEAF-ECCE-33E6-4697-30873C0C8140}"/>
              </a:ext>
            </a:extLst>
          </p:cNvPr>
          <p:cNvSpPr txBox="1"/>
          <p:nvPr/>
        </p:nvSpPr>
        <p:spPr>
          <a:xfrm>
            <a:off x="9444949" y="5668033"/>
            <a:ext cx="30480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output = fc3(f6)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C775A2-21E3-1FE0-519E-60744981280A}"/>
              </a:ext>
            </a:extLst>
          </p:cNvPr>
          <p:cNvSpPr txBox="1"/>
          <p:nvPr/>
        </p:nvSpPr>
        <p:spPr>
          <a:xfrm>
            <a:off x="153424" y="2407301"/>
            <a:ext cx="9239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157CDA5-0BF4-B589-9B91-C2BC97CA256B}"/>
              </a:ext>
            </a:extLst>
          </p:cNvPr>
          <p:cNvSpPr txBox="1"/>
          <p:nvPr/>
        </p:nvSpPr>
        <p:spPr>
          <a:xfrm>
            <a:off x="10906478" y="2407301"/>
            <a:ext cx="933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endParaRPr lang="ko-KR" altLang="en-US" dirty="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E6EE1B3C-BC1C-E1CA-4D4E-02977B303CBC}"/>
              </a:ext>
            </a:extLst>
          </p:cNvPr>
          <p:cNvCxnSpPr>
            <a:endCxn id="37" idx="1"/>
          </p:cNvCxnSpPr>
          <p:nvPr/>
        </p:nvCxnSpPr>
        <p:spPr>
          <a:xfrm>
            <a:off x="914400" y="2591967"/>
            <a:ext cx="99920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46" name="Picture 2" descr="convnet">
            <a:extLst>
              <a:ext uri="{FF2B5EF4-FFF2-40B4-BE49-F238E27FC236}">
                <a16:creationId xmlns:a16="http://schemas.microsoft.com/office/drawing/2014/main" id="{DD331A75-EF93-8703-2D1D-4A080F02D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261" y="1212407"/>
            <a:ext cx="9623988" cy="2664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DDCEE17-4310-5899-53B6-FDB293EF6933}"/>
              </a:ext>
            </a:extLst>
          </p:cNvPr>
          <p:cNvCxnSpPr/>
          <p:nvPr/>
        </p:nvCxnSpPr>
        <p:spPr>
          <a:xfrm>
            <a:off x="6938459" y="3979175"/>
            <a:ext cx="2981325" cy="225932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03E5523-B314-856B-5B11-0BA1DDBD11F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0545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7" grpId="0"/>
      <p:bldP spid="21" grpId="0"/>
      <p:bldP spid="23" grpId="0"/>
      <p:bldP spid="25" grpId="0"/>
      <p:bldP spid="27" grpId="0"/>
      <p:bldP spid="29" grpId="0"/>
      <p:bldP spid="31" grpId="0"/>
      <p:bldP spid="33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FC8E9-1480-D14F-3218-50A05B4B2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4D717FE-684C-8596-3AB0-D50C173A22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89358C-5555-4398-7724-9F76B86F6376}"/>
              </a:ext>
            </a:extLst>
          </p:cNvPr>
          <p:cNvSpPr txBox="1"/>
          <p:nvPr/>
        </p:nvSpPr>
        <p:spPr>
          <a:xfrm>
            <a:off x="656663" y="1353850"/>
            <a:ext cx="9991725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tensorflow.keras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layers,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create_lenet5_functional():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inputs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(shape=(32, 32, 1), name='INPUT')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c1 = layers.Conv2D(filters=6,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name='C1')(inputs)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s2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name='S2')(c1)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c3 = layers.Conv2D(filters=16,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name='C3')(s2)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s4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name='S4')(c3)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flatten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layers.Flatten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(name='Flatten')(s4)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f5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(units=120,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name='F5')(flatten)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f6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(units=84,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name='F6')(f5)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outputs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name='OUTPUT')(f6)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model = Model(inputs=inputs, outputs=outputs, name='LeNet-5_Functional')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return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create_lenet5_functional()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model.summary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29AE325-904E-83E0-C81B-F776C0673E04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525046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22CDC-3153-C104-693B-9774C27B1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F12D7AD-4648-9609-1ABF-419F370403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051106E-9AB2-5EAB-60AE-7E89B39601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8810" y="1367251"/>
            <a:ext cx="7381033" cy="5176424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D69BD960-8AF4-3C09-9C0D-A2F8090D8FE7}"/>
              </a:ext>
            </a:extLst>
          </p:cNvPr>
          <p:cNvSpPr/>
          <p:nvPr/>
        </p:nvSpPr>
        <p:spPr>
          <a:xfrm>
            <a:off x="2590800" y="2495550"/>
            <a:ext cx="7667625" cy="5143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E1B3ACA-DE39-C868-813A-F0B06E663F44}"/>
              </a:ext>
            </a:extLst>
          </p:cNvPr>
          <p:cNvSpPr/>
          <p:nvPr/>
        </p:nvSpPr>
        <p:spPr>
          <a:xfrm>
            <a:off x="2590800" y="3343275"/>
            <a:ext cx="7667625" cy="5143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103B100-0780-3683-8D81-E2217D6A3660}"/>
              </a:ext>
            </a:extLst>
          </p:cNvPr>
          <p:cNvSpPr/>
          <p:nvPr/>
        </p:nvSpPr>
        <p:spPr>
          <a:xfrm>
            <a:off x="2590800" y="4457700"/>
            <a:ext cx="7667625" cy="13906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B6DC131-A830-DA5C-660F-18AE9488974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0091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9821</TotalTime>
  <Words>2888</Words>
  <Application>Microsoft Office PowerPoint</Application>
  <PresentationFormat>와이드스크린</PresentationFormat>
  <Paragraphs>382</Paragraphs>
  <Slides>49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49</vt:i4>
      </vt:variant>
    </vt:vector>
  </HeadingPairs>
  <TitlesOfParts>
    <vt:vector size="59" baseType="lpstr">
      <vt:lpstr>D2Coding</vt:lpstr>
      <vt:lpstr>맑은 고딕</vt:lpstr>
      <vt:lpstr>맑은 고딕 Semilight</vt:lpstr>
      <vt:lpstr>바탕</vt:lpstr>
      <vt:lpstr>Arial</vt:lpstr>
      <vt:lpstr>Cambria Math</vt:lpstr>
      <vt:lpstr>Lora</vt:lpstr>
      <vt:lpstr>Times New Roman</vt:lpstr>
      <vt:lpstr>Wingdings</vt:lpstr>
      <vt:lpstr>WelcomeDoc</vt:lpstr>
      <vt:lpstr>Chapter 8  Image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Kernel, Filter</vt:lpstr>
      <vt:lpstr>PowerPoint 프레젠테이션</vt:lpstr>
      <vt:lpstr>PowerPoint 프레젠테이션</vt:lpstr>
      <vt:lpstr>PowerPoint 프레젠테이션</vt:lpstr>
      <vt:lpstr>PowerPoint 프레젠테이션</vt:lpstr>
      <vt:lpstr>Poolings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Practice for Image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Deep Understanding of CNN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158</cp:revision>
  <dcterms:created xsi:type="dcterms:W3CDTF">2026-04-06T01:00:39Z</dcterms:created>
  <dcterms:modified xsi:type="dcterms:W3CDTF">2026-08-03T23:20:04Z</dcterms:modified>
  <cp:version/>
</cp:coreProperties>
</file>