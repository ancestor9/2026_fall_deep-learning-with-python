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7"/>
  </p:notesMasterIdLst>
  <p:handoutMasterIdLst>
    <p:handoutMasterId r:id="rId88"/>
  </p:handoutMasterIdLst>
  <p:sldIdLst>
    <p:sldId id="256" r:id="rId2"/>
    <p:sldId id="1136" r:id="rId3"/>
    <p:sldId id="1134" r:id="rId4"/>
    <p:sldId id="1174" r:id="rId5"/>
    <p:sldId id="1203" r:id="rId6"/>
    <p:sldId id="1141" r:id="rId7"/>
    <p:sldId id="1173" r:id="rId8"/>
    <p:sldId id="1216" r:id="rId9"/>
    <p:sldId id="1195" r:id="rId10"/>
    <p:sldId id="1169" r:id="rId11"/>
    <p:sldId id="1170" r:id="rId12"/>
    <p:sldId id="1172" r:id="rId13"/>
    <p:sldId id="1196" r:id="rId14"/>
    <p:sldId id="1137" r:id="rId15"/>
    <p:sldId id="1205" r:id="rId16"/>
    <p:sldId id="1206" r:id="rId17"/>
    <p:sldId id="1204" r:id="rId18"/>
    <p:sldId id="1114" r:id="rId19"/>
    <p:sldId id="1199" r:id="rId20"/>
    <p:sldId id="1200" r:id="rId21"/>
    <p:sldId id="1107" r:id="rId22"/>
    <p:sldId id="1133" r:id="rId23"/>
    <p:sldId id="1129" r:id="rId24"/>
    <p:sldId id="1130" r:id="rId25"/>
    <p:sldId id="1177" r:id="rId26"/>
    <p:sldId id="1112" r:id="rId27"/>
    <p:sldId id="1197" r:id="rId28"/>
    <p:sldId id="1132" r:id="rId29"/>
    <p:sldId id="1131" r:id="rId30"/>
    <p:sldId id="1124" r:id="rId31"/>
    <p:sldId id="1198" r:id="rId32"/>
    <p:sldId id="1178" r:id="rId33"/>
    <p:sldId id="1115" r:id="rId34"/>
    <p:sldId id="1138" r:id="rId35"/>
    <p:sldId id="1201" r:id="rId36"/>
    <p:sldId id="1188" r:id="rId37"/>
    <p:sldId id="1189" r:id="rId38"/>
    <p:sldId id="1127" r:id="rId39"/>
    <p:sldId id="1103" r:id="rId40"/>
    <p:sldId id="1098" r:id="rId41"/>
    <p:sldId id="1099" r:id="rId42"/>
    <p:sldId id="1101" r:id="rId43"/>
    <p:sldId id="1202" r:id="rId44"/>
    <p:sldId id="1176" r:id="rId45"/>
    <p:sldId id="1208" r:id="rId46"/>
    <p:sldId id="1209" r:id="rId47"/>
    <p:sldId id="1210" r:id="rId48"/>
    <p:sldId id="1211" r:id="rId49"/>
    <p:sldId id="1212" r:id="rId50"/>
    <p:sldId id="1214" r:id="rId51"/>
    <p:sldId id="1215" r:id="rId52"/>
    <p:sldId id="1213" r:id="rId53"/>
    <p:sldId id="1207" r:id="rId54"/>
    <p:sldId id="1105" r:id="rId55"/>
    <p:sldId id="1095" r:id="rId56"/>
    <p:sldId id="1096" r:id="rId57"/>
    <p:sldId id="1097" r:id="rId58"/>
    <p:sldId id="1106" r:id="rId59"/>
    <p:sldId id="1102" r:id="rId60"/>
    <p:sldId id="1116" r:id="rId61"/>
    <p:sldId id="1104" r:id="rId62"/>
    <p:sldId id="1125" r:id="rId63"/>
    <p:sldId id="1126" r:id="rId64"/>
    <p:sldId id="1175" r:id="rId65"/>
    <p:sldId id="1111" r:id="rId66"/>
    <p:sldId id="1113" r:id="rId67"/>
    <p:sldId id="1109" r:id="rId68"/>
    <p:sldId id="1110" r:id="rId69"/>
    <p:sldId id="1139" r:id="rId70"/>
    <p:sldId id="1186" r:id="rId71"/>
    <p:sldId id="1118" r:id="rId72"/>
    <p:sldId id="1119" r:id="rId73"/>
    <p:sldId id="1194" r:id="rId74"/>
    <p:sldId id="1179" r:id="rId75"/>
    <p:sldId id="1180" r:id="rId76"/>
    <p:sldId id="1190" r:id="rId77"/>
    <p:sldId id="1191" r:id="rId78"/>
    <p:sldId id="1192" r:id="rId79"/>
    <p:sldId id="1193" r:id="rId80"/>
    <p:sldId id="1181" r:id="rId81"/>
    <p:sldId id="1182" r:id="rId82"/>
    <p:sldId id="1183" r:id="rId83"/>
    <p:sldId id="1184" r:id="rId84"/>
    <p:sldId id="1185" r:id="rId85"/>
    <p:sldId id="1187" r:id="rId8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4"/>
            <p14:sldId id="1174"/>
            <p14:sldId id="1203"/>
            <p14:sldId id="1141"/>
            <p14:sldId id="1173"/>
            <p14:sldId id="1216"/>
            <p14:sldId id="1195"/>
            <p14:sldId id="1169"/>
            <p14:sldId id="1170"/>
            <p14:sldId id="1172"/>
            <p14:sldId id="1196"/>
            <p14:sldId id="1137"/>
            <p14:sldId id="1205"/>
            <p14:sldId id="1206"/>
            <p14:sldId id="1204"/>
            <p14:sldId id="1114"/>
            <p14:sldId id="1199"/>
            <p14:sldId id="1200"/>
            <p14:sldId id="1107"/>
            <p14:sldId id="1133"/>
            <p14:sldId id="1129"/>
            <p14:sldId id="1130"/>
            <p14:sldId id="1177"/>
            <p14:sldId id="1112"/>
            <p14:sldId id="1197"/>
            <p14:sldId id="1132"/>
            <p14:sldId id="1131"/>
            <p14:sldId id="1124"/>
            <p14:sldId id="1198"/>
            <p14:sldId id="1178"/>
            <p14:sldId id="1115"/>
            <p14:sldId id="1138"/>
            <p14:sldId id="1201"/>
            <p14:sldId id="1188"/>
            <p14:sldId id="1189"/>
            <p14:sldId id="1127"/>
            <p14:sldId id="1103"/>
            <p14:sldId id="1098"/>
            <p14:sldId id="1099"/>
            <p14:sldId id="1101"/>
            <p14:sldId id="1202"/>
            <p14:sldId id="1176"/>
            <p14:sldId id="1208"/>
            <p14:sldId id="1209"/>
            <p14:sldId id="1210"/>
            <p14:sldId id="1211"/>
            <p14:sldId id="1212"/>
            <p14:sldId id="1214"/>
            <p14:sldId id="1215"/>
            <p14:sldId id="1213"/>
            <p14:sldId id="1207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278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349AA-A884-675D-9E6E-CBEDA90FE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A82FF7-4B1B-2BEF-A859-EE173AE2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DC3DC2-6ED0-8523-4915-AA1EE968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0F030C-0838-521D-0E43-19F5AC59B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9551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7.sv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66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4.svg"/><Relationship Id="rId5" Type="http://schemas.openxmlformats.org/officeDocument/2006/relationships/image" Target="../media/image73.png"/><Relationship Id="rId4" Type="http://schemas.openxmlformats.org/officeDocument/2006/relationships/image" Target="../media/image72.sv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67" y="1719436"/>
            <a:ext cx="6056283" cy="39032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590550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2835D-DA21-D0A7-893E-6444C9BD3C9F}"/>
              </a:ext>
            </a:extLst>
          </p:cNvPr>
          <p:cNvSpPr txBox="1"/>
          <p:nvPr/>
        </p:nvSpPr>
        <p:spPr>
          <a:xfrm>
            <a:off x="6801107" y="1703751"/>
            <a:ext cx="5057775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뇌는 단순한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방향의 막대나 직선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반응한다는 사실을 우연히 발견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뇌가 시각 정보를 처리할 때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기본 요소로 먼저 분해한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조합해 복잡한 형상을 인식한다는 사실을 증명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원리는 현대 인공지능의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(CNN, Convolutional Neural Networks)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컴퓨터 비전 알고리즘이 이미지의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추출해 사물을 인식하는 기본 구조의 토대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30" y="2040095"/>
            <a:ext cx="10097369" cy="4299409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4744016" cy="2815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00D407-3221-7B47-031A-0CF089D3CAC6}"/>
              </a:ext>
            </a:extLst>
          </p:cNvPr>
          <p:cNvSpPr/>
          <p:nvPr/>
        </p:nvSpPr>
        <p:spPr>
          <a:xfrm>
            <a:off x="780532" y="287655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9B9F48-2914-4726-D554-47A5123FFB03}"/>
              </a:ext>
            </a:extLst>
          </p:cNvPr>
          <p:cNvSpPr/>
          <p:nvPr/>
        </p:nvSpPr>
        <p:spPr>
          <a:xfrm>
            <a:off x="780532" y="472440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E2AE60-B5A4-F632-4EC3-8B1EE41AF8C3}"/>
              </a:ext>
            </a:extLst>
          </p:cNvPr>
          <p:cNvSpPr/>
          <p:nvPr/>
        </p:nvSpPr>
        <p:spPr>
          <a:xfrm>
            <a:off x="780532" y="3658894"/>
            <a:ext cx="10096500" cy="9702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3493F7E9-DA64-DC61-9440-2663605A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2CDA-E736-FB99-F6B7-51924584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정육면체 24">
            <a:extLst>
              <a:ext uri="{FF2B5EF4-FFF2-40B4-BE49-F238E27FC236}">
                <a16:creationId xmlns:a16="http://schemas.microsoft.com/office/drawing/2014/main" id="{E12853B8-00C0-F9AB-725C-51FBA5136604}"/>
              </a:ext>
            </a:extLst>
          </p:cNvPr>
          <p:cNvSpPr/>
          <p:nvPr/>
        </p:nvSpPr>
        <p:spPr>
          <a:xfrm>
            <a:off x="5284452" y="5377499"/>
            <a:ext cx="774974" cy="766439"/>
          </a:xfrm>
          <a:prstGeom prst="cube">
            <a:avLst>
              <a:gd name="adj" fmla="val 47525"/>
            </a:avLst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EFF9522-6823-2033-DD45-0858ADF6E7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vs. FCNN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8E60AD5-E2DD-50D3-FFA2-0FFAEC7DB8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Example: classifying the MNIST dataset – Research Computing">
            <a:extLst>
              <a:ext uri="{FF2B5EF4-FFF2-40B4-BE49-F238E27FC236}">
                <a16:creationId xmlns:a16="http://schemas.microsoft.com/office/drawing/2014/main" id="{3963C4E1-C2FD-E47F-412F-E20E34DCE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226" y="2704592"/>
            <a:ext cx="2128838" cy="2120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D5D6052-A0D0-E91D-C45E-F67E564B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522400"/>
              </p:ext>
            </p:extLst>
          </p:nvPr>
        </p:nvGraphicFramePr>
        <p:xfrm>
          <a:off x="4927600" y="1354195"/>
          <a:ext cx="2082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05516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1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7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335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4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527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11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23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91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20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922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507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42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3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868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38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41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700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97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687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3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01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9679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90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4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63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775975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D4679E-F0CB-C214-BA73-E00808190A34}"/>
              </a:ext>
            </a:extLst>
          </p:cNvPr>
          <p:cNvSpPr/>
          <p:nvPr/>
        </p:nvSpPr>
        <p:spPr>
          <a:xfrm>
            <a:off x="620808" y="2727452"/>
            <a:ext cx="388620" cy="3581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5E08BA-C800-9F27-805E-B671250BABA7}"/>
              </a:ext>
            </a:extLst>
          </p:cNvPr>
          <p:cNvSpPr txBox="1"/>
          <p:nvPr/>
        </p:nvSpPr>
        <p:spPr>
          <a:xfrm>
            <a:off x="3416576" y="1973580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784 = 28 x 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54671-3D4F-96E0-4593-DD752F4B8AA7}"/>
              </a:ext>
            </a:extLst>
          </p:cNvPr>
          <p:cNvSpPr txBox="1"/>
          <p:nvPr/>
        </p:nvSpPr>
        <p:spPr>
          <a:xfrm>
            <a:off x="3416576" y="533452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 = 5 x 5 x 12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A41C3F-DD41-354C-B252-9794F695B9AE}"/>
              </a:ext>
            </a:extLst>
          </p:cNvPr>
          <p:cNvSpPr/>
          <p:nvPr/>
        </p:nvSpPr>
        <p:spPr>
          <a:xfrm>
            <a:off x="6781802" y="165608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7F0676E-5566-A7BF-263D-B6643B111537}"/>
              </a:ext>
            </a:extLst>
          </p:cNvPr>
          <p:cNvSpPr/>
          <p:nvPr/>
        </p:nvSpPr>
        <p:spPr>
          <a:xfrm>
            <a:off x="6781802" y="191820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59541DC-3A0C-EC47-A5F6-00DF40401CA3}"/>
              </a:ext>
            </a:extLst>
          </p:cNvPr>
          <p:cNvSpPr/>
          <p:nvPr/>
        </p:nvSpPr>
        <p:spPr>
          <a:xfrm>
            <a:off x="6781802" y="218033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E309CAA-ECCB-CD59-562E-3C1C1ECE0FA5}"/>
              </a:ext>
            </a:extLst>
          </p:cNvPr>
          <p:cNvSpPr/>
          <p:nvPr/>
        </p:nvSpPr>
        <p:spPr>
          <a:xfrm>
            <a:off x="6781802" y="244246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CACB0FF-6405-4C43-7D08-39ECDCC7BEAF}"/>
              </a:ext>
            </a:extLst>
          </p:cNvPr>
          <p:cNvSpPr/>
          <p:nvPr/>
        </p:nvSpPr>
        <p:spPr>
          <a:xfrm>
            <a:off x="6781802" y="270459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ED63C57-AF3F-3738-9A64-A46B63B796E1}"/>
              </a:ext>
            </a:extLst>
          </p:cNvPr>
          <p:cNvSpPr/>
          <p:nvPr/>
        </p:nvSpPr>
        <p:spPr>
          <a:xfrm>
            <a:off x="6781802" y="296672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81E551-D590-2511-794F-80D9E30A9E97}"/>
              </a:ext>
            </a:extLst>
          </p:cNvPr>
          <p:cNvSpPr/>
          <p:nvPr/>
        </p:nvSpPr>
        <p:spPr>
          <a:xfrm>
            <a:off x="6781802" y="322884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60D5597-4A96-71F2-CA53-A613E6427E3A}"/>
              </a:ext>
            </a:extLst>
          </p:cNvPr>
          <p:cNvSpPr/>
          <p:nvPr/>
        </p:nvSpPr>
        <p:spPr>
          <a:xfrm>
            <a:off x="6781802" y="349097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D41D54E7-3D3F-12CA-8CE8-0C9887EB0D23}"/>
              </a:ext>
            </a:extLst>
          </p:cNvPr>
          <p:cNvSpPr/>
          <p:nvPr/>
        </p:nvSpPr>
        <p:spPr>
          <a:xfrm>
            <a:off x="6781802" y="375310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924957-7BA1-97DB-E431-E82D67400704}"/>
              </a:ext>
            </a:extLst>
          </p:cNvPr>
          <p:cNvSpPr/>
          <p:nvPr/>
        </p:nvSpPr>
        <p:spPr>
          <a:xfrm>
            <a:off x="6781802" y="401523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362817F-57A9-6ADF-410C-45EC98B312F2}"/>
              </a:ext>
            </a:extLst>
          </p:cNvPr>
          <p:cNvSpPr/>
          <p:nvPr/>
        </p:nvSpPr>
        <p:spPr>
          <a:xfrm>
            <a:off x="6781802" y="427736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C575B23-A968-DB8E-36F5-930FADBCE10B}"/>
              </a:ext>
            </a:extLst>
          </p:cNvPr>
          <p:cNvSpPr/>
          <p:nvPr/>
        </p:nvSpPr>
        <p:spPr>
          <a:xfrm>
            <a:off x="6705600" y="1574800"/>
            <a:ext cx="350522" cy="30073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954979-3D1B-AE7A-D70A-86B64273443F}"/>
              </a:ext>
            </a:extLst>
          </p:cNvPr>
          <p:cNvSpPr txBox="1"/>
          <p:nvPr/>
        </p:nvSpPr>
        <p:spPr>
          <a:xfrm>
            <a:off x="6200418" y="1918208"/>
            <a:ext cx="538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11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0A396-6845-9929-F2E1-FC6FCB8D5A1E}"/>
              </a:ext>
            </a:extLst>
          </p:cNvPr>
          <p:cNvSpPr txBox="1"/>
          <p:nvPr/>
        </p:nvSpPr>
        <p:spPr>
          <a:xfrm>
            <a:off x="8134271" y="2319111"/>
            <a:ext cx="306550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FCNN Trainable Parameters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8,645 = 784 x 11 + 11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40D6F-3453-17C8-FED3-10D5F509E237}"/>
              </a:ext>
            </a:extLst>
          </p:cNvPr>
          <p:cNvSpPr txBox="1"/>
          <p:nvPr/>
        </p:nvSpPr>
        <p:spPr>
          <a:xfrm>
            <a:off x="8096984" y="5284273"/>
            <a:ext cx="3065503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CNN Trainable Parameters</a:t>
            </a:r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5216102-BF5F-75CB-E21C-ED8E946DB855}"/>
              </a:ext>
            </a:extLst>
          </p:cNvPr>
          <p:cNvSpPr/>
          <p:nvPr/>
        </p:nvSpPr>
        <p:spPr>
          <a:xfrm>
            <a:off x="3416576" y="1317736"/>
            <a:ext cx="8216624" cy="3548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4AD6AA-4F38-B570-8B21-0E62B8D366EC}"/>
              </a:ext>
            </a:extLst>
          </p:cNvPr>
          <p:cNvSpPr/>
          <p:nvPr/>
        </p:nvSpPr>
        <p:spPr>
          <a:xfrm>
            <a:off x="3416576" y="5145358"/>
            <a:ext cx="8216624" cy="13292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1153D1E-1575-8154-C460-28AB6C0C9C43}"/>
              </a:ext>
            </a:extLst>
          </p:cNvPr>
          <p:cNvCxnSpPr/>
          <p:nvPr/>
        </p:nvCxnSpPr>
        <p:spPr>
          <a:xfrm flipV="1">
            <a:off x="2817136" y="2312134"/>
            <a:ext cx="365760" cy="370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2B78EDC-E83B-E6AA-CE6B-8C3056B46324}"/>
              </a:ext>
            </a:extLst>
          </p:cNvPr>
          <p:cNvCxnSpPr>
            <a:cxnSpLocks/>
          </p:cNvCxnSpPr>
          <p:nvPr/>
        </p:nvCxnSpPr>
        <p:spPr>
          <a:xfrm>
            <a:off x="2770008" y="4885380"/>
            <a:ext cx="365760" cy="276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65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A9FEFB1-A34C-5437-6204-73E83536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24" y="1511626"/>
            <a:ext cx="10958076" cy="453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7B5E7-D3C6-5852-41B3-B78DBBE13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CF894E-5FDF-F7BF-9E0C-46655E23EF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BB47790-7D2F-ACCC-2FDB-3D057D1B36C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C163123-3B23-837D-CA51-A0F36A4C3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3360" y="1905803"/>
            <a:ext cx="8690176" cy="46112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BA7D44-3BA1-EEA5-116B-D38643E1B825}"/>
              </a:ext>
            </a:extLst>
          </p:cNvPr>
          <p:cNvSpPr txBox="1"/>
          <p:nvPr/>
        </p:nvSpPr>
        <p:spPr>
          <a:xfrm>
            <a:off x="621281" y="1321926"/>
            <a:ext cx="9722256" cy="36933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nn.Conv2d(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output_channels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=1,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</p:spTree>
    <p:extLst>
      <p:ext uri="{BB962C8B-B14F-4D97-AF65-F5344CB8AC3E}">
        <p14:creationId xmlns:p14="http://schemas.microsoft.com/office/powerpoint/2010/main" val="717845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377B8-A23E-37E2-02B6-AA96C28D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2BA8A2-09F2-8ECF-ECD5-D7A8509515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product,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Relu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97C938D-E346-A7A4-DB42-D00A5E1DB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5074C62-55EF-FF9E-4CE9-AB02AC832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558" y="1267472"/>
            <a:ext cx="6776267" cy="522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493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33916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35621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818089"/>
            <a:ext cx="6294430" cy="38123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119970" y="5819127"/>
            <a:ext cx="7952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53" y="1354210"/>
            <a:ext cx="5760997" cy="5107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7305157" y="1354210"/>
            <a:ext cx="42341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785351-DF31-E690-342C-F9FFA13708DE}"/>
              </a:ext>
            </a:extLst>
          </p:cNvPr>
          <p:cNvSpPr txBox="1"/>
          <p:nvPr/>
        </p:nvSpPr>
        <p:spPr>
          <a:xfrm>
            <a:off x="7424459" y="3345056"/>
            <a:ext cx="411480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937254" y="1875850"/>
            <a:ext cx="5798932" cy="3429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9" y="1943100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5968" y="4273494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6715125" y="2410472"/>
            <a:ext cx="5200907" cy="2367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94686"/>
            <a:ext cx="6012383" cy="3903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475645" y="5698187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158507"/>
            <a:ext cx="11182350" cy="227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Convolution operation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F6A97-A79C-3005-72F7-FE1B5337B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297E9-9E7F-22B2-228D-5034591A92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Convolution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AB4D9A9-3F58-A31D-5672-F81FAE51A28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0BF7-1580-1318-DBB5-52151858D7E7}"/>
              </a:ext>
            </a:extLst>
          </p:cNvPr>
          <p:cNvSpPr txBox="1"/>
          <p:nvPr/>
        </p:nvSpPr>
        <p:spPr>
          <a:xfrm>
            <a:off x="618811" y="1563567"/>
            <a:ext cx="5124763" cy="44959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have some image and feature detector(3*3)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does not need to be 3 by 3 matrix. It can be 5 by 5 or 7 by 7.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detector = kernel = filter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Feauture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detector detects features like edges or convex shapes. Example, if out input is dog, feature detector can detect features like ear or tail of the dog.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conv(input image, feature detector). Element wise multiplication of matrices.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 = convolved feature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Stride = navigating in input image.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reduce the size of image. This is important </a:t>
            </a:r>
            <a:r>
              <a:rPr lang="en-US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bc</a:t>
            </a: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code runs faster. However, we lost information.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create multiple feature maps because we use multiple feature detectors(filters).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Lets look at gimp. Edge detect: [0,10,0],[10,-4,10],[0,10,0]</a:t>
            </a:r>
          </a:p>
        </p:txBody>
      </p:sp>
      <p:pic>
        <p:nvPicPr>
          <p:cNvPr id="1026" name="Picture 2" descr="gec">
            <a:extLst>
              <a:ext uri="{FF2B5EF4-FFF2-40B4-BE49-F238E27FC236}">
                <a16:creationId xmlns:a16="http://schemas.microsoft.com/office/drawing/2014/main" id="{F2CE7CD2-C2E8-394E-3CBA-41EE89410D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2163" y="1563567"/>
            <a:ext cx="5723443" cy="402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7961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641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29FE-0781-8FC1-21E3-A40AC0DC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622E2E-43DA-A178-FCE5-91B8AE5AA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Same Padding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D7E598F-9DC6-4590-1BD6-25092EB6709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5528F7-0AB0-B057-E81C-26C2B69306A4}"/>
              </a:ext>
            </a:extLst>
          </p:cNvPr>
          <p:cNvSpPr txBox="1"/>
          <p:nvPr/>
        </p:nvSpPr>
        <p:spPr>
          <a:xfrm>
            <a:off x="651870" y="1392117"/>
            <a:ext cx="10887389" cy="15318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 we keep applying conv layers, the size of the volume will decrease faster than we would like.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 the early layers of our network, we want to preserve as much information about the original input volume so that we can extract those low level features.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Input size and output size are same.</a:t>
            </a:r>
          </a:p>
        </p:txBody>
      </p:sp>
      <p:pic>
        <p:nvPicPr>
          <p:cNvPr id="3074" name="Picture 2" descr="padding">
            <a:extLst>
              <a:ext uri="{FF2B5EF4-FFF2-40B4-BE49-F238E27FC236}">
                <a16:creationId xmlns:a16="http://schemas.microsoft.com/office/drawing/2014/main" id="{D3B897C9-BBA2-A957-5F53-2FCC5423B5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633" y="3314700"/>
            <a:ext cx="7667626" cy="2863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A15475-C94E-0FCB-06B3-B509E1922263}"/>
              </a:ext>
            </a:extLst>
          </p:cNvPr>
          <p:cNvSpPr txBox="1"/>
          <p:nvPr/>
        </p:nvSpPr>
        <p:spPr>
          <a:xfrm>
            <a:off x="689970" y="3651519"/>
            <a:ext cx="3067655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초기 레이어에서는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저수준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특징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(low-level features)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추출할 수 있도록 원본 입력의 정보를 가능한 한 많이 보존하고자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same padding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질감 같은 기본 특징을 초반에 잘 학습하려면 가장자리 정보가 손실되거나 이미지 크기가 조기에 줄어드는 것을 방지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10308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38154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8446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90D9-A784-7876-7811-3FFB254B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F427AB-D9B6-FCC2-05A8-1B377D751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Full Connection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CA53118-EF43-1680-A403-4B93C0C141B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2836D-C9FC-4FDC-7252-CC960037E4B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Neurons in a fully connected layer have connections to all activations in the previous layer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Artificial Neural Network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5122" name="Picture 2" descr="fullyc">
            <a:extLst>
              <a:ext uri="{FF2B5EF4-FFF2-40B4-BE49-F238E27FC236}">
                <a16:creationId xmlns:a16="http://schemas.microsoft.com/office/drawing/2014/main" id="{CD9A6E51-3A34-D534-06E9-E53637B97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4820" y="2676740"/>
            <a:ext cx="8193024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71901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FB50D-E316-FCB7-BCD9-8814CDDB4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2F5B11-3471-2688-D360-0DEC23F565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Applying dropout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B285348-858D-172B-58FD-C4E840DD4A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8BEE14-6F74-704D-8882-A8716EBA04C1}"/>
              </a:ext>
            </a:extLst>
          </p:cNvPr>
          <p:cNvSpPr txBox="1"/>
          <p:nvPr/>
        </p:nvSpPr>
        <p:spPr>
          <a:xfrm>
            <a:off x="604245" y="1287472"/>
            <a:ext cx="11159130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 =&gt; max pool =&gt; dropout =&gt; conv =&gt; max pool =&gt; dropout =&gt; fully connected (2 layer)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Dropout: Dropout is a technique where randomly selected neurons are ignored during training</a:t>
            </a:r>
          </a:p>
        </p:txBody>
      </p:sp>
      <p:pic>
        <p:nvPicPr>
          <p:cNvPr id="7170" name="Picture 2" descr="dropout">
            <a:extLst>
              <a:ext uri="{FF2B5EF4-FFF2-40B4-BE49-F238E27FC236}">
                <a16:creationId xmlns:a16="http://schemas.microsoft.com/office/drawing/2014/main" id="{DD4B10C0-2D18-F7D1-91A3-60C26B1E0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431" y="2513003"/>
            <a:ext cx="7243317" cy="3678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08207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9629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F1C7-38EA-6D74-7EB1-366C0790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C570A9-048D-1C0F-8E21-21D2A96DD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4548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11016</TotalTime>
  <Words>6133</Words>
  <Application>Microsoft Office PowerPoint</Application>
  <PresentationFormat>와이드스크린</PresentationFormat>
  <Paragraphs>721</Paragraphs>
  <Slides>85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85</vt:i4>
      </vt:variant>
    </vt:vector>
  </HeadingPairs>
  <TitlesOfParts>
    <vt:vector size="95" baseType="lpstr">
      <vt:lpstr>D2Coding</vt:lpstr>
      <vt:lpstr>맑은 고딕</vt:lpstr>
      <vt:lpstr>맑은 고딕 Semilight</vt:lpstr>
      <vt:lpstr>Batang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Convolution operation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185</cp:revision>
  <dcterms:created xsi:type="dcterms:W3CDTF">2026-04-06T01:00:39Z</dcterms:created>
  <dcterms:modified xsi:type="dcterms:W3CDTF">2026-09-12T15:16:22Z</dcterms:modified>
  <cp:version/>
</cp:coreProperties>
</file>