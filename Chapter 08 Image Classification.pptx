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5"/>
  </p:notesMasterIdLst>
  <p:handoutMasterIdLst>
    <p:handoutMasterId r:id="rId86"/>
  </p:handoutMasterIdLst>
  <p:sldIdLst>
    <p:sldId id="256" r:id="rId2"/>
    <p:sldId id="1136" r:id="rId3"/>
    <p:sldId id="1134" r:id="rId4"/>
    <p:sldId id="1174" r:id="rId5"/>
    <p:sldId id="1203" r:id="rId6"/>
    <p:sldId id="1141" r:id="rId7"/>
    <p:sldId id="1173" r:id="rId8"/>
    <p:sldId id="1216" r:id="rId9"/>
    <p:sldId id="1195" r:id="rId10"/>
    <p:sldId id="1169" r:id="rId11"/>
    <p:sldId id="1170" r:id="rId12"/>
    <p:sldId id="1172" r:id="rId13"/>
    <p:sldId id="1196" r:id="rId14"/>
    <p:sldId id="1137" r:id="rId15"/>
    <p:sldId id="1205" r:id="rId16"/>
    <p:sldId id="1206" r:id="rId17"/>
    <p:sldId id="1204" r:id="rId18"/>
    <p:sldId id="1114" r:id="rId19"/>
    <p:sldId id="1199" r:id="rId20"/>
    <p:sldId id="1200" r:id="rId21"/>
    <p:sldId id="1133" r:id="rId22"/>
    <p:sldId id="1129" r:id="rId23"/>
    <p:sldId id="1130" r:id="rId24"/>
    <p:sldId id="1177" r:id="rId25"/>
    <p:sldId id="1107" r:id="rId26"/>
    <p:sldId id="1223" r:id="rId27"/>
    <p:sldId id="1112" r:id="rId28"/>
    <p:sldId id="1197" r:id="rId29"/>
    <p:sldId id="1222" r:id="rId30"/>
    <p:sldId id="1132" r:id="rId31"/>
    <p:sldId id="1131" r:id="rId32"/>
    <p:sldId id="1124" r:id="rId33"/>
    <p:sldId id="1109" r:id="rId34"/>
    <p:sldId id="1198" r:id="rId35"/>
    <p:sldId id="1098" r:id="rId36"/>
    <p:sldId id="1099" r:id="rId37"/>
    <p:sldId id="1178" r:id="rId38"/>
    <p:sldId id="1115" r:id="rId39"/>
    <p:sldId id="1138" r:id="rId40"/>
    <p:sldId id="1224" r:id="rId41"/>
    <p:sldId id="1201" r:id="rId42"/>
    <p:sldId id="1188" r:id="rId43"/>
    <p:sldId id="1189" r:id="rId44"/>
    <p:sldId id="1127" r:id="rId45"/>
    <p:sldId id="1103" r:id="rId46"/>
    <p:sldId id="1176" r:id="rId47"/>
    <p:sldId id="1101" r:id="rId48"/>
    <p:sldId id="1202" r:id="rId49"/>
    <p:sldId id="1208" r:id="rId50"/>
    <p:sldId id="1209" r:id="rId51"/>
    <p:sldId id="1210" r:id="rId52"/>
    <p:sldId id="1211" r:id="rId53"/>
    <p:sldId id="1212" r:id="rId54"/>
    <p:sldId id="1214" r:id="rId55"/>
    <p:sldId id="1215" r:id="rId56"/>
    <p:sldId id="1213" r:id="rId57"/>
    <p:sldId id="1207" r:id="rId58"/>
    <p:sldId id="1105" r:id="rId59"/>
    <p:sldId id="1095" r:id="rId60"/>
    <p:sldId id="1106" r:id="rId61"/>
    <p:sldId id="1102" r:id="rId62"/>
    <p:sldId id="1116" r:id="rId63"/>
    <p:sldId id="1104" r:id="rId64"/>
    <p:sldId id="1186" r:id="rId65"/>
    <p:sldId id="1175" r:id="rId66"/>
    <p:sldId id="1111" r:id="rId67"/>
    <p:sldId id="1118" r:id="rId68"/>
    <p:sldId id="1119" r:id="rId69"/>
    <p:sldId id="1194" r:id="rId70"/>
    <p:sldId id="1113" r:id="rId71"/>
    <p:sldId id="1179" r:id="rId72"/>
    <p:sldId id="1180" r:id="rId73"/>
    <p:sldId id="1190" r:id="rId74"/>
    <p:sldId id="1191" r:id="rId75"/>
    <p:sldId id="1192" r:id="rId76"/>
    <p:sldId id="1193" r:id="rId77"/>
    <p:sldId id="1181" r:id="rId78"/>
    <p:sldId id="1182" r:id="rId79"/>
    <p:sldId id="1183" r:id="rId80"/>
    <p:sldId id="1184" r:id="rId81"/>
    <p:sldId id="1185" r:id="rId82"/>
    <p:sldId id="1187" r:id="rId83"/>
    <p:sldId id="1139" r:id="rId8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34"/>
            <p14:sldId id="1174"/>
            <p14:sldId id="1203"/>
            <p14:sldId id="1141"/>
            <p14:sldId id="1173"/>
            <p14:sldId id="1216"/>
            <p14:sldId id="1195"/>
            <p14:sldId id="1169"/>
            <p14:sldId id="1170"/>
            <p14:sldId id="1172"/>
            <p14:sldId id="1196"/>
            <p14:sldId id="1137"/>
            <p14:sldId id="1205"/>
            <p14:sldId id="1206"/>
            <p14:sldId id="1204"/>
            <p14:sldId id="1114"/>
            <p14:sldId id="1199"/>
            <p14:sldId id="1200"/>
            <p14:sldId id="1133"/>
            <p14:sldId id="1129"/>
            <p14:sldId id="1130"/>
            <p14:sldId id="1177"/>
            <p14:sldId id="1107"/>
            <p14:sldId id="1223"/>
            <p14:sldId id="1112"/>
            <p14:sldId id="1197"/>
            <p14:sldId id="1222"/>
            <p14:sldId id="1132"/>
            <p14:sldId id="1131"/>
            <p14:sldId id="1124"/>
            <p14:sldId id="1109"/>
            <p14:sldId id="1198"/>
            <p14:sldId id="1098"/>
            <p14:sldId id="1099"/>
            <p14:sldId id="1178"/>
            <p14:sldId id="1115"/>
            <p14:sldId id="1138"/>
            <p14:sldId id="1224"/>
            <p14:sldId id="1201"/>
            <p14:sldId id="1188"/>
            <p14:sldId id="1189"/>
            <p14:sldId id="1127"/>
            <p14:sldId id="1103"/>
            <p14:sldId id="1176"/>
            <p14:sldId id="1101"/>
            <p14:sldId id="1202"/>
            <p14:sldId id="1208"/>
            <p14:sldId id="1209"/>
            <p14:sldId id="1210"/>
            <p14:sldId id="1211"/>
            <p14:sldId id="1212"/>
            <p14:sldId id="1214"/>
            <p14:sldId id="1215"/>
            <p14:sldId id="1213"/>
            <p14:sldId id="1207"/>
            <p14:sldId id="1105"/>
            <p14:sldId id="1095"/>
            <p14:sldId id="1106"/>
            <p14:sldId id="1102"/>
            <p14:sldId id="1116"/>
            <p14:sldId id="1104"/>
            <p14:sldId id="1186"/>
            <p14:sldId id="1175"/>
            <p14:sldId id="1111"/>
            <p14:sldId id="1118"/>
            <p14:sldId id="1119"/>
            <p14:sldId id="1194"/>
            <p14:sldId id="1113"/>
            <p14:sldId id="1179"/>
            <p14:sldId id="1180"/>
            <p14:sldId id="1190"/>
            <p14:sldId id="1191"/>
            <p14:sldId id="1192"/>
            <p14:sldId id="1193"/>
            <p14:sldId id="1181"/>
            <p14:sldId id="1182"/>
            <p14:sldId id="1183"/>
            <p14:sldId id="1184"/>
            <p14:sldId id="1185"/>
            <p14:sldId id="1187"/>
            <p14:sldId id="11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>
        <p:scale>
          <a:sx n="150" d="100"/>
          <a:sy n="150" d="100"/>
        </p:scale>
        <p:origin x="10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-9144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commentAuthors" Target="comment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2026-09-18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4AE8-85C6-FE2E-54EB-2B107769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C6A91D-9032-A35D-1BAF-EBF601F11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9D45FA-1BC2-61F5-B1F2-686A23297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88F8D9-27E7-0EE7-2903-0D9806477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33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C71F8-751E-CCCD-6C8A-5A1DA132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9A948-691E-DCAA-377C-6E9CDE635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DB16FE-6FE2-4508-BB27-19198A0FA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352A5-F09E-A040-0B41-E71C60374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1351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8392-4E95-02CE-A6DB-519EF9B6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560959-980F-A07D-7632-43C9B46DB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D86DC6-7712-D065-1D86-774A4B8FB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A72450-B8D9-1B15-5151-83DF82558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951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49AA-A884-675D-9E6E-CBEDA90F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A82FF7-4B1B-2BEF-A859-EE173AE26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DC3DC2-6ED0-8523-4915-AA1EE968D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0F030C-0838-521D-0E43-19F5AC59B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3955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BEB0-B77A-D8E5-C986-05298B4E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1298E0-A1AE-820A-CCF6-19A665C5F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5704F4-6AA5-1229-7B78-8ACF3B26B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CDDB87-E432-CF73-C43C-EB04900D6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888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2026-09-18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2026-09-18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mpo/a-brief-history-of-ai-with-deep-learning-26f7948bc87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s231n.stanford.edu/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volution" TargetMode="External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hyperlink" Target="https://github.com/ancestor9/2025_Winter_Deep-Learning-with-TensorFlow/tree/main/20260107_03_Image%20Classification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Deep-Learning-with-Python/blob/main/appendix/CNN.xlsx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s://github.com/ancestor9/2026_Fall_Deep-Learning-with-Python/blob/main/appendix/CNN.xlsx" TargetMode="External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www.youtube.com/watch?v=V9ZYDCnItr0&amp;t=76s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www.pinecone.io/learn/series/image-search/cnn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De5BAsT2-Y?t=34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vision/vizdemo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s://poloclub.github.io/cnn-explainer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vision/vizdemo" TargetMode="External"/><Relationship Id="rId7" Type="http://schemas.openxmlformats.org/officeDocument/2006/relationships/image" Target="../media/image28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tensorspace.org/html/playground/lenet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hyperlink" Target="https://docs.pytorch.org/tutorials/beginner/blitz/neural_networks_tutorial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1.svg"/><Relationship Id="rId4" Type="http://schemas.openxmlformats.org/officeDocument/2006/relationships/image" Target="../media/image8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orch.org/tutorials/beginner/blitz/neural_networks_tutorial.html" TargetMode="Externa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orch.org/tutorials/beginner/blitz/neural_networks_tutorial.html" TargetMode="Externa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hyperlink" Target="https://stanford.edu/~shervine/teaching/cs-230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1.svg"/><Relationship Id="rId4" Type="http://schemas.openxmlformats.org/officeDocument/2006/relationships/image" Target="../media/image80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8.svg"/><Relationship Id="rId5" Type="http://schemas.openxmlformats.org/officeDocument/2006/relationships/image" Target="../media/image87.png"/><Relationship Id="rId4" Type="http://schemas.openxmlformats.org/officeDocument/2006/relationships/image" Target="../media/image86.sv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ihongleejihong/pok8mon_go" TargetMode="External"/><Relationship Id="rId2" Type="http://schemas.openxmlformats.org/officeDocument/2006/relationships/hyperlink" Target="https://ryuzyproject.tistory.com/98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8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Image Classification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4B366F-C08A-343D-4873-7C751FD3FEC6}"/>
              </a:ext>
            </a:extLst>
          </p:cNvPr>
          <p:cNvSpPr/>
          <p:nvPr/>
        </p:nvSpPr>
        <p:spPr>
          <a:xfrm>
            <a:off x="536890" y="2092960"/>
            <a:ext cx="8861110" cy="568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7729-09DC-4690-5139-CD2649D9221F}"/>
              </a:ext>
            </a:extLst>
          </p:cNvPr>
          <p:cNvSpPr txBox="1"/>
          <p:nvPr/>
        </p:nvSpPr>
        <p:spPr>
          <a:xfrm>
            <a:off x="577531" y="1248422"/>
            <a:ext cx="10353762" cy="320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convolutional neural networks 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to mitigate overfitting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for feature extraction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DCA8-F9CF-EE01-5357-7DFEAC9D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C0ADB4E-B488-943F-AE13-01421308D4F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The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origin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of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B0044A8-6511-F92B-840B-5C543FD2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4F3568-A0BC-9406-11E3-B7DB57B4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67" y="1719436"/>
            <a:ext cx="6056283" cy="39032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EE1792-1D00-C545-6334-847EE471A5CF}"/>
              </a:ext>
            </a:extLst>
          </p:cNvPr>
          <p:cNvSpPr txBox="1"/>
          <p:nvPr/>
        </p:nvSpPr>
        <p:spPr>
          <a:xfrm>
            <a:off x="590550" y="562268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1959</a:t>
            </a:r>
            <a:r>
              <a:rPr lang="ko-KR" altLang="en-US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년</a:t>
            </a:r>
            <a:r>
              <a:rPr lang="en-US" altLang="ko-KR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Torsten Wiesel&amp; David Hubel</a:t>
            </a:r>
            <a:r>
              <a:rPr lang="ko-KR" altLang="en-US" sz="1600" i="0" dirty="0">
                <a:solidFill>
                  <a:srgbClr val="21252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시각 피질 실험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2835D-DA21-D0A7-893E-6444C9BD3C9F}"/>
              </a:ext>
            </a:extLst>
          </p:cNvPr>
          <p:cNvSpPr txBox="1"/>
          <p:nvPr/>
        </p:nvSpPr>
        <p:spPr>
          <a:xfrm>
            <a:off x="6801107" y="1703751"/>
            <a:ext cx="5057775" cy="36141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뇌는 단순한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아닌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특정 방향의 막대나 직선 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반응한다는 사실을 우연히 발견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뇌가 시각 정보를 처리할 때 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모서리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같은 기본 요소로 먼저 분해한 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이를 조합해 복잡한 형상을 인식한다는 사실을 증명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원리는 현대 인공지능의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(CNN, Convolutional Neural Networks)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및 컴퓨터 비전 알고리즘이 이미지의 에지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(Edge)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추출해 사물을 인식하는 기본 구조의 토대</a:t>
            </a:r>
          </a:p>
        </p:txBody>
      </p:sp>
    </p:spTree>
    <p:extLst>
      <p:ext uri="{BB962C8B-B14F-4D97-AF65-F5344CB8AC3E}">
        <p14:creationId xmlns:p14="http://schemas.microsoft.com/office/powerpoint/2010/main" val="309529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F1B5-3293-2582-E79C-68BA83E5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250D206-0CCD-0BDF-2BFE-C27CAAA217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3E9A3F-7661-A1B5-BEEC-C07088F84745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Deep Learning Timeline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4AA592-70D7-412D-FBA1-303BD4944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50" y="1296152"/>
            <a:ext cx="10747649" cy="50194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D09BA-6E17-7800-CA71-C1179CD5B4DC}"/>
              </a:ext>
            </a:extLst>
          </p:cNvPr>
          <p:cNvSpPr txBox="1"/>
          <p:nvPr/>
        </p:nvSpPr>
        <p:spPr>
          <a:xfrm>
            <a:off x="672826" y="6361342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A-brief-history-of-ai-with-deep-learning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D5BCE8C-DE81-A0E1-0670-31CF7BCD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70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FA82-E2EF-258E-60A1-694A8E02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BFBA94-2148-9657-929E-B1922F54BD6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DD64A-4029-76D0-BF74-FBF0A32334CD}"/>
              </a:ext>
            </a:extLst>
          </p:cNvPr>
          <p:cNvSpPr txBox="1"/>
          <p:nvPr/>
        </p:nvSpPr>
        <p:spPr>
          <a:xfrm>
            <a:off x="623140" y="1424888"/>
            <a:ext cx="1115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분류 예측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https://cs231n.stanford.edu/</a:t>
            </a:r>
            <a:endParaRPr lang="ko-KR" altLang="en-US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819980-C4B4-6D39-D6C0-9AE0C57B0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30" y="2040095"/>
            <a:ext cx="10097369" cy="4299409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73EB0BF-52BF-9DB4-462E-1461F219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3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F3E9-17FD-3A0B-B2A7-5AC022FA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655E3A-436E-7FA1-6E2C-0AB01702206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115012-CE47-398B-9E49-B3D9E7762105}"/>
              </a:ext>
            </a:extLst>
          </p:cNvPr>
          <p:cNvSpPr txBox="1"/>
          <p:nvPr/>
        </p:nvSpPr>
        <p:spPr>
          <a:xfrm>
            <a:off x="742384" y="2465641"/>
            <a:ext cx="4744016" cy="2815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Kernels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= Filters = Detectors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maps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Stride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467638-E365-47D5-7E1C-8CDE78EBC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904" y="3162513"/>
            <a:ext cx="6829712" cy="3313058"/>
          </a:xfrm>
          <a:prstGeom prst="rect">
            <a:avLst/>
          </a:prstGeom>
        </p:spPr>
      </p:pic>
      <p:pic>
        <p:nvPicPr>
          <p:cNvPr id="13" name="그래픽 12" descr="물음표">
            <a:extLst>
              <a:ext uri="{FF2B5EF4-FFF2-40B4-BE49-F238E27FC236}">
                <a16:creationId xmlns:a16="http://schemas.microsoft.com/office/drawing/2014/main" id="{59520228-A4BE-0EA9-79F3-5241DA21F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15475" y="2136809"/>
            <a:ext cx="914400" cy="914400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C713F72-6B6E-84D8-95EA-098C3E0B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8CE14F-F83A-0296-2670-6861F43BBB2C}"/>
              </a:ext>
            </a:extLst>
          </p:cNvPr>
          <p:cNvSpPr txBox="1"/>
          <p:nvPr/>
        </p:nvSpPr>
        <p:spPr>
          <a:xfrm>
            <a:off x="561975" y="1167608"/>
            <a:ext cx="1106805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이론과 작동방식을 이해하고 전체 공간정보를 지역별 특성정보화 하여 인식하는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구조와 용어를 배우고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실습하기 </a:t>
            </a:r>
          </a:p>
        </p:txBody>
      </p:sp>
    </p:spTree>
    <p:extLst>
      <p:ext uri="{BB962C8B-B14F-4D97-AF65-F5344CB8AC3E}">
        <p14:creationId xmlns:p14="http://schemas.microsoft.com/office/powerpoint/2010/main" val="311023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45F1-226F-FB5D-F7AB-187866B1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18FFB35-DAD1-1430-2A44-1ECF409EFCB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to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using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Keras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6F933-3B51-A8B3-27C2-66F9D04BFF0D}"/>
              </a:ext>
            </a:extLst>
          </p:cNvPr>
          <p:cNvSpPr txBox="1"/>
          <p:nvPr/>
        </p:nvSpPr>
        <p:spPr>
          <a:xfrm>
            <a:off x="1141929" y="1331819"/>
            <a:ext cx="9372082" cy="485581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layers</a:t>
            </a:r>
          </a:p>
          <a:p>
            <a:pPr algn="l" latinLnBrk="0">
              <a:lnSpc>
                <a:spcPct val="150000"/>
              </a:lnSpc>
              <a:buNone/>
            </a:pP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(shape=(28, 28, 1))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layers.Conv2D(filters=64,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layers.Conv2D(filters=128,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layers.Conv2D(filters=256,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</a:t>
            </a:r>
          </a:p>
          <a:p>
            <a:pPr algn="l" latinLnBrk="0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lnSpc>
                <a:spcPct val="150000"/>
              </a:lnSpc>
              <a:buNone/>
            </a:pPr>
            <a:endParaRPr lang="en-US" altLang="ko-KR" sz="1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00D407-3221-7B47-031A-0CF089D3CAC6}"/>
              </a:ext>
            </a:extLst>
          </p:cNvPr>
          <p:cNvSpPr/>
          <p:nvPr/>
        </p:nvSpPr>
        <p:spPr>
          <a:xfrm>
            <a:off x="780532" y="2876550"/>
            <a:ext cx="10096500" cy="685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9B9F48-2914-4726-D554-47A5123FFB03}"/>
              </a:ext>
            </a:extLst>
          </p:cNvPr>
          <p:cNvSpPr/>
          <p:nvPr/>
        </p:nvSpPr>
        <p:spPr>
          <a:xfrm>
            <a:off x="780532" y="4724400"/>
            <a:ext cx="10096500" cy="685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E2AE60-B5A4-F632-4EC3-8B1EE41AF8C3}"/>
              </a:ext>
            </a:extLst>
          </p:cNvPr>
          <p:cNvSpPr/>
          <p:nvPr/>
        </p:nvSpPr>
        <p:spPr>
          <a:xfrm>
            <a:off x="780532" y="3658894"/>
            <a:ext cx="10096500" cy="9702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3493F7E9-DA64-DC61-9440-2663605A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7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2CDA-E736-FB99-F6B7-51924584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정육면체 24">
            <a:extLst>
              <a:ext uri="{FF2B5EF4-FFF2-40B4-BE49-F238E27FC236}">
                <a16:creationId xmlns:a16="http://schemas.microsoft.com/office/drawing/2014/main" id="{E12853B8-00C0-F9AB-725C-51FBA5136604}"/>
              </a:ext>
            </a:extLst>
          </p:cNvPr>
          <p:cNvSpPr/>
          <p:nvPr/>
        </p:nvSpPr>
        <p:spPr>
          <a:xfrm>
            <a:off x="5574645" y="5289862"/>
            <a:ext cx="774974" cy="766439"/>
          </a:xfrm>
          <a:prstGeom prst="cube">
            <a:avLst>
              <a:gd name="adj" fmla="val 4752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EFF9522-6823-2033-DD45-0858ADF6E7B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vs. FCNN : Kernels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8E60AD5-E2DD-50D3-FFA2-0FFAEC7DB82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xample: classifying the MNIST dataset – Research Computing">
            <a:extLst>
              <a:ext uri="{FF2B5EF4-FFF2-40B4-BE49-F238E27FC236}">
                <a16:creationId xmlns:a16="http://schemas.microsoft.com/office/drawing/2014/main" id="{3963C4E1-C2FD-E47F-412F-E20E34DCE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26" y="2704592"/>
            <a:ext cx="2128838" cy="2120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D5D6052-A0D0-E91D-C45E-F67E564BC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522400"/>
              </p:ext>
            </p:extLst>
          </p:nvPr>
        </p:nvGraphicFramePr>
        <p:xfrm>
          <a:off x="4927600" y="1354195"/>
          <a:ext cx="20828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5516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88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37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335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23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27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11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23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914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201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922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507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42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36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11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868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384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41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700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97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687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23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016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188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679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290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04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6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2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775975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D4679E-F0CB-C214-BA73-E00808190A34}"/>
              </a:ext>
            </a:extLst>
          </p:cNvPr>
          <p:cNvSpPr/>
          <p:nvPr/>
        </p:nvSpPr>
        <p:spPr>
          <a:xfrm>
            <a:off x="620808" y="2727452"/>
            <a:ext cx="388620" cy="3581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5E08BA-C800-9F27-805E-B671250BABA7}"/>
              </a:ext>
            </a:extLst>
          </p:cNvPr>
          <p:cNvSpPr txBox="1"/>
          <p:nvPr/>
        </p:nvSpPr>
        <p:spPr>
          <a:xfrm>
            <a:off x="3416576" y="1918208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784 = 28 x 28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654671-3D4F-96E0-4593-DD752F4B8AA7}"/>
              </a:ext>
            </a:extLst>
          </p:cNvPr>
          <p:cNvSpPr txBox="1"/>
          <p:nvPr/>
        </p:nvSpPr>
        <p:spPr>
          <a:xfrm>
            <a:off x="3416576" y="5334528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600 = 5 x 5 x 24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2A41C3F-DD41-354C-B252-9794F695B9AE}"/>
              </a:ext>
            </a:extLst>
          </p:cNvPr>
          <p:cNvSpPr/>
          <p:nvPr/>
        </p:nvSpPr>
        <p:spPr>
          <a:xfrm>
            <a:off x="6781802" y="1656080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7F0676E-5566-A7BF-263D-B6643B111537}"/>
              </a:ext>
            </a:extLst>
          </p:cNvPr>
          <p:cNvSpPr/>
          <p:nvPr/>
        </p:nvSpPr>
        <p:spPr>
          <a:xfrm>
            <a:off x="6781802" y="1918208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59541DC-3A0C-EC47-A5F6-00DF40401CA3}"/>
              </a:ext>
            </a:extLst>
          </p:cNvPr>
          <p:cNvSpPr/>
          <p:nvPr/>
        </p:nvSpPr>
        <p:spPr>
          <a:xfrm>
            <a:off x="6781802" y="2180336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E309CAA-ECCB-CD59-562E-3C1C1ECE0FA5}"/>
              </a:ext>
            </a:extLst>
          </p:cNvPr>
          <p:cNvSpPr/>
          <p:nvPr/>
        </p:nvSpPr>
        <p:spPr>
          <a:xfrm>
            <a:off x="6781802" y="2442464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CACB0FF-6405-4C43-7D08-39ECDCC7BEAF}"/>
              </a:ext>
            </a:extLst>
          </p:cNvPr>
          <p:cNvSpPr/>
          <p:nvPr/>
        </p:nvSpPr>
        <p:spPr>
          <a:xfrm>
            <a:off x="6781802" y="2704592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ED63C57-AF3F-3738-9A64-A46B63B796E1}"/>
              </a:ext>
            </a:extLst>
          </p:cNvPr>
          <p:cNvSpPr/>
          <p:nvPr/>
        </p:nvSpPr>
        <p:spPr>
          <a:xfrm>
            <a:off x="6781802" y="2966720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281E551-D590-2511-794F-80D9E30A9E97}"/>
              </a:ext>
            </a:extLst>
          </p:cNvPr>
          <p:cNvSpPr/>
          <p:nvPr/>
        </p:nvSpPr>
        <p:spPr>
          <a:xfrm>
            <a:off x="6781802" y="3228848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60D5597-4A96-71F2-CA53-A613E6427E3A}"/>
              </a:ext>
            </a:extLst>
          </p:cNvPr>
          <p:cNvSpPr/>
          <p:nvPr/>
        </p:nvSpPr>
        <p:spPr>
          <a:xfrm>
            <a:off x="6781802" y="3490976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41D54E7-3D3F-12CA-8CE8-0C9887EB0D23}"/>
              </a:ext>
            </a:extLst>
          </p:cNvPr>
          <p:cNvSpPr/>
          <p:nvPr/>
        </p:nvSpPr>
        <p:spPr>
          <a:xfrm>
            <a:off x="6781802" y="3753104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37924957-7BA1-97DB-E431-E82D67400704}"/>
              </a:ext>
            </a:extLst>
          </p:cNvPr>
          <p:cNvSpPr/>
          <p:nvPr/>
        </p:nvSpPr>
        <p:spPr>
          <a:xfrm>
            <a:off x="6781802" y="4015232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362817F-57A9-6ADF-410C-45EC98B312F2}"/>
              </a:ext>
            </a:extLst>
          </p:cNvPr>
          <p:cNvSpPr/>
          <p:nvPr/>
        </p:nvSpPr>
        <p:spPr>
          <a:xfrm>
            <a:off x="6781802" y="4277360"/>
            <a:ext cx="208280" cy="208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C575B23-A968-DB8E-36F5-930FADBCE10B}"/>
              </a:ext>
            </a:extLst>
          </p:cNvPr>
          <p:cNvSpPr/>
          <p:nvPr/>
        </p:nvSpPr>
        <p:spPr>
          <a:xfrm>
            <a:off x="6705600" y="1574800"/>
            <a:ext cx="350522" cy="3007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954979-3D1B-AE7A-D70A-86B64273443F}"/>
              </a:ext>
            </a:extLst>
          </p:cNvPr>
          <p:cNvSpPr txBox="1"/>
          <p:nvPr/>
        </p:nvSpPr>
        <p:spPr>
          <a:xfrm>
            <a:off x="7085454" y="1882694"/>
            <a:ext cx="1540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11 nodes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40A396-6845-9929-F2E1-FC6FCB8D5A1E}"/>
              </a:ext>
            </a:extLst>
          </p:cNvPr>
          <p:cNvSpPr txBox="1"/>
          <p:nvPr/>
        </p:nvSpPr>
        <p:spPr>
          <a:xfrm>
            <a:off x="8134271" y="2319111"/>
            <a:ext cx="3065503" cy="11387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FCNN Trainable Parameters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(Kernel Parameters)</a:t>
            </a:r>
          </a:p>
          <a:p>
            <a:endParaRPr lang="en-US" altLang="ko-KR" sz="18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8,645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 784 x 11 + 11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840D6F-3453-17C8-FED3-10D5F509E237}"/>
              </a:ext>
            </a:extLst>
          </p:cNvPr>
          <p:cNvSpPr txBox="1"/>
          <p:nvPr/>
        </p:nvSpPr>
        <p:spPr>
          <a:xfrm>
            <a:off x="8139231" y="5237244"/>
            <a:ext cx="3065503" cy="113877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CNN Trainable Parameters</a:t>
            </a:r>
            <a:endParaRPr lang="en-US" altLang="ko-KR" sz="18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(Kernel Parameters)</a:t>
            </a:r>
          </a:p>
          <a:p>
            <a:endParaRPr lang="en-US" altLang="ko-KR" sz="18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600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5 x 5 x 24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5216102-BF5F-75CB-E21C-ED8E946DB855}"/>
              </a:ext>
            </a:extLst>
          </p:cNvPr>
          <p:cNvSpPr/>
          <p:nvPr/>
        </p:nvSpPr>
        <p:spPr>
          <a:xfrm>
            <a:off x="3416576" y="1317736"/>
            <a:ext cx="8216624" cy="35489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24AD6AA-4F38-B570-8B21-0E62B8D366EC}"/>
              </a:ext>
            </a:extLst>
          </p:cNvPr>
          <p:cNvSpPr/>
          <p:nvPr/>
        </p:nvSpPr>
        <p:spPr>
          <a:xfrm>
            <a:off x="3416576" y="5145358"/>
            <a:ext cx="8216624" cy="13292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D1153D1E-1575-8154-C460-28AB6C0C9C43}"/>
              </a:ext>
            </a:extLst>
          </p:cNvPr>
          <p:cNvCxnSpPr/>
          <p:nvPr/>
        </p:nvCxnSpPr>
        <p:spPr>
          <a:xfrm flipV="1">
            <a:off x="2817136" y="2312134"/>
            <a:ext cx="365760" cy="370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2B78EDC-E83B-E6AA-CE6B-8C3056B46324}"/>
              </a:ext>
            </a:extLst>
          </p:cNvPr>
          <p:cNvCxnSpPr>
            <a:cxnSpLocks/>
          </p:cNvCxnSpPr>
          <p:nvPr/>
        </p:nvCxnSpPr>
        <p:spPr>
          <a:xfrm>
            <a:off x="2770008" y="4885380"/>
            <a:ext cx="365760" cy="276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0880CDC-6ABA-6E73-F568-29342A378AF8}"/>
              </a:ext>
            </a:extLst>
          </p:cNvPr>
          <p:cNvCxnSpPr>
            <a:cxnSpLocks/>
          </p:cNvCxnSpPr>
          <p:nvPr/>
        </p:nvCxnSpPr>
        <p:spPr>
          <a:xfrm>
            <a:off x="5218545" y="15748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B74A4C3-D431-8AE5-B853-3029253BA3D6}"/>
              </a:ext>
            </a:extLst>
          </p:cNvPr>
          <p:cNvCxnSpPr>
            <a:cxnSpLocks/>
          </p:cNvCxnSpPr>
          <p:nvPr/>
        </p:nvCxnSpPr>
        <p:spPr>
          <a:xfrm>
            <a:off x="5218545" y="17272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86D60CD-C51C-A359-822D-7FF6BDFAA9E6}"/>
              </a:ext>
            </a:extLst>
          </p:cNvPr>
          <p:cNvCxnSpPr>
            <a:cxnSpLocks/>
          </p:cNvCxnSpPr>
          <p:nvPr/>
        </p:nvCxnSpPr>
        <p:spPr>
          <a:xfrm>
            <a:off x="5218545" y="18796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3AF1D80-F8AB-33DA-899A-319C911AE370}"/>
              </a:ext>
            </a:extLst>
          </p:cNvPr>
          <p:cNvCxnSpPr>
            <a:cxnSpLocks/>
          </p:cNvCxnSpPr>
          <p:nvPr/>
        </p:nvCxnSpPr>
        <p:spPr>
          <a:xfrm>
            <a:off x="5218545" y="20320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DA98637-551D-4785-CE3D-653BC6B78687}"/>
              </a:ext>
            </a:extLst>
          </p:cNvPr>
          <p:cNvCxnSpPr>
            <a:cxnSpLocks/>
          </p:cNvCxnSpPr>
          <p:nvPr/>
        </p:nvCxnSpPr>
        <p:spPr>
          <a:xfrm>
            <a:off x="5218545" y="21844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390A921-BDAE-B485-39C5-C0F4DEAEB982}"/>
              </a:ext>
            </a:extLst>
          </p:cNvPr>
          <p:cNvCxnSpPr>
            <a:cxnSpLocks/>
          </p:cNvCxnSpPr>
          <p:nvPr/>
        </p:nvCxnSpPr>
        <p:spPr>
          <a:xfrm>
            <a:off x="5218545" y="2336800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84EF658-3C45-41E7-32C3-F1931F38A1EA}"/>
              </a:ext>
            </a:extLst>
          </p:cNvPr>
          <p:cNvCxnSpPr>
            <a:cxnSpLocks/>
          </p:cNvCxnSpPr>
          <p:nvPr/>
        </p:nvCxnSpPr>
        <p:spPr>
          <a:xfrm flipV="1">
            <a:off x="5244180" y="36365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0930D88-FA1B-A0B2-0640-590A6C37421F}"/>
              </a:ext>
            </a:extLst>
          </p:cNvPr>
          <p:cNvCxnSpPr>
            <a:cxnSpLocks/>
          </p:cNvCxnSpPr>
          <p:nvPr/>
        </p:nvCxnSpPr>
        <p:spPr>
          <a:xfrm flipV="1">
            <a:off x="5244180" y="37889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2FFC9F2-E3B5-AA10-F605-2D8067D63924}"/>
              </a:ext>
            </a:extLst>
          </p:cNvPr>
          <p:cNvCxnSpPr>
            <a:cxnSpLocks/>
          </p:cNvCxnSpPr>
          <p:nvPr/>
        </p:nvCxnSpPr>
        <p:spPr>
          <a:xfrm flipV="1">
            <a:off x="5244180" y="39413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67F9A15-2583-FB71-65F2-5437ADC5C628}"/>
              </a:ext>
            </a:extLst>
          </p:cNvPr>
          <p:cNvCxnSpPr>
            <a:cxnSpLocks/>
          </p:cNvCxnSpPr>
          <p:nvPr/>
        </p:nvCxnSpPr>
        <p:spPr>
          <a:xfrm flipV="1">
            <a:off x="5244180" y="40937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D0653FC-CDC8-3211-8BA9-6550C896C739}"/>
              </a:ext>
            </a:extLst>
          </p:cNvPr>
          <p:cNvCxnSpPr>
            <a:cxnSpLocks/>
          </p:cNvCxnSpPr>
          <p:nvPr/>
        </p:nvCxnSpPr>
        <p:spPr>
          <a:xfrm flipV="1">
            <a:off x="5244180" y="4246143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21C1E83-1ACC-9943-5BF8-EE7C0245FE23}"/>
              </a:ext>
            </a:extLst>
          </p:cNvPr>
          <p:cNvCxnSpPr>
            <a:cxnSpLocks/>
          </p:cNvCxnSpPr>
          <p:nvPr/>
        </p:nvCxnSpPr>
        <p:spPr>
          <a:xfrm flipV="1">
            <a:off x="5251875" y="19506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16A1753-D809-9DD9-F188-34817A8C4F54}"/>
              </a:ext>
            </a:extLst>
          </p:cNvPr>
          <p:cNvCxnSpPr>
            <a:cxnSpLocks/>
          </p:cNvCxnSpPr>
          <p:nvPr/>
        </p:nvCxnSpPr>
        <p:spPr>
          <a:xfrm flipV="1">
            <a:off x="5251875" y="21030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8EC5D7E-84AD-1DD2-C3B1-607B004CD3FA}"/>
              </a:ext>
            </a:extLst>
          </p:cNvPr>
          <p:cNvCxnSpPr>
            <a:cxnSpLocks/>
          </p:cNvCxnSpPr>
          <p:nvPr/>
        </p:nvCxnSpPr>
        <p:spPr>
          <a:xfrm flipV="1">
            <a:off x="5251875" y="22554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77EBAA6-8A4E-C017-44A4-B54DC37DC36F}"/>
              </a:ext>
            </a:extLst>
          </p:cNvPr>
          <p:cNvCxnSpPr>
            <a:cxnSpLocks/>
          </p:cNvCxnSpPr>
          <p:nvPr/>
        </p:nvCxnSpPr>
        <p:spPr>
          <a:xfrm flipV="1">
            <a:off x="5251875" y="24078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8888B73-C2C3-F3AD-117C-0763B83240DD}"/>
              </a:ext>
            </a:extLst>
          </p:cNvPr>
          <p:cNvCxnSpPr>
            <a:cxnSpLocks/>
          </p:cNvCxnSpPr>
          <p:nvPr/>
        </p:nvCxnSpPr>
        <p:spPr>
          <a:xfrm flipV="1">
            <a:off x="5251875" y="2560216"/>
            <a:ext cx="1347307" cy="403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C36AB32-ED62-CF08-DF45-61B85819C488}"/>
              </a:ext>
            </a:extLst>
          </p:cNvPr>
          <p:cNvCxnSpPr>
            <a:cxnSpLocks/>
          </p:cNvCxnSpPr>
          <p:nvPr/>
        </p:nvCxnSpPr>
        <p:spPr>
          <a:xfrm>
            <a:off x="5250873" y="3629887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0C6FFB9-D3F4-85CB-6154-7F0DBEFCF95B}"/>
              </a:ext>
            </a:extLst>
          </p:cNvPr>
          <p:cNvCxnSpPr>
            <a:cxnSpLocks/>
          </p:cNvCxnSpPr>
          <p:nvPr/>
        </p:nvCxnSpPr>
        <p:spPr>
          <a:xfrm>
            <a:off x="5250873" y="3782287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692700B-1261-84AD-FA48-86001B8B7185}"/>
              </a:ext>
            </a:extLst>
          </p:cNvPr>
          <p:cNvCxnSpPr>
            <a:cxnSpLocks/>
          </p:cNvCxnSpPr>
          <p:nvPr/>
        </p:nvCxnSpPr>
        <p:spPr>
          <a:xfrm>
            <a:off x="5250873" y="3934687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214EC02-7913-E92F-9107-97E3AC9E6213}"/>
              </a:ext>
            </a:extLst>
          </p:cNvPr>
          <p:cNvCxnSpPr>
            <a:cxnSpLocks/>
          </p:cNvCxnSpPr>
          <p:nvPr/>
        </p:nvCxnSpPr>
        <p:spPr>
          <a:xfrm>
            <a:off x="5250873" y="4087087"/>
            <a:ext cx="1394691" cy="3434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1116CCE-36A3-D147-F5DB-1425B5DE8B69}"/>
              </a:ext>
            </a:extLst>
          </p:cNvPr>
          <p:cNvSpPr txBox="1"/>
          <p:nvPr/>
        </p:nvSpPr>
        <p:spPr>
          <a:xfrm>
            <a:off x="5454847" y="3068649"/>
            <a:ext cx="151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cap="none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DB48C1-A2E1-1227-4344-4B09C6E98F7F}"/>
              </a:ext>
            </a:extLst>
          </p:cNvPr>
          <p:cNvSpPr txBox="1"/>
          <p:nvPr/>
        </p:nvSpPr>
        <p:spPr>
          <a:xfrm>
            <a:off x="5471718" y="6148407"/>
            <a:ext cx="151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cap="none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Kernels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65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47C51-23DB-28C1-1E78-8F101F81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F33B163-95F3-2E67-9FC6-A060E8C18A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9CBFFD-FC32-7932-EC6D-0294B33036D5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How to recognize face image ?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BC393D8-E4EF-8E8F-747B-12B59340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비비안 리">
            <a:extLst>
              <a:ext uri="{FF2B5EF4-FFF2-40B4-BE49-F238E27FC236}">
                <a16:creationId xmlns:a16="http://schemas.microsoft.com/office/drawing/2014/main" id="{9C1C3F05-A9CD-2C76-4752-C5F47FCA1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221" y="1409700"/>
            <a:ext cx="3804279" cy="518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1577AE9-6300-598D-B26F-5839B23C6265}"/>
              </a:ext>
            </a:extLst>
          </p:cNvPr>
          <p:cNvSpPr/>
          <p:nvPr/>
        </p:nvSpPr>
        <p:spPr>
          <a:xfrm>
            <a:off x="4667249" y="3000375"/>
            <a:ext cx="638175" cy="3286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E795B4-5CB2-0B73-062E-FD141E330813}"/>
              </a:ext>
            </a:extLst>
          </p:cNvPr>
          <p:cNvSpPr/>
          <p:nvPr/>
        </p:nvSpPr>
        <p:spPr>
          <a:xfrm>
            <a:off x="4333876" y="3381375"/>
            <a:ext cx="419100" cy="50482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D1FEBA-5F96-50A8-2DEF-BB43ADF5AF78}"/>
              </a:ext>
            </a:extLst>
          </p:cNvPr>
          <p:cNvSpPr/>
          <p:nvPr/>
        </p:nvSpPr>
        <p:spPr>
          <a:xfrm>
            <a:off x="4162426" y="3943351"/>
            <a:ext cx="752474" cy="32861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82E782-901F-4F98-F79A-1679180BBA63}"/>
              </a:ext>
            </a:extLst>
          </p:cNvPr>
          <p:cNvSpPr/>
          <p:nvPr/>
        </p:nvSpPr>
        <p:spPr>
          <a:xfrm>
            <a:off x="3669986" y="2781299"/>
            <a:ext cx="663890" cy="219075"/>
          </a:xfrm>
          <a:prstGeom prst="rect">
            <a:avLst/>
          </a:prstGeom>
          <a:noFill/>
          <a:ln w="28575">
            <a:solidFill>
              <a:srgbClr val="FF9B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C6B80B-C91C-940C-7317-450257E119BD}"/>
              </a:ext>
            </a:extLst>
          </p:cNvPr>
          <p:cNvSpPr/>
          <p:nvPr/>
        </p:nvSpPr>
        <p:spPr>
          <a:xfrm>
            <a:off x="4181477" y="2371723"/>
            <a:ext cx="663890" cy="21907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77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544BF-486E-CF55-333D-077990DD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9360DF4-4F71-F6BE-C5F9-A496011E33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577F4F-3E3E-FB6A-7D3A-40B3DC62FDFA}"/>
              </a:ext>
            </a:extLst>
          </p:cNvPr>
          <p:cNvSpPr txBox="1">
            <a:spLocks/>
          </p:cNvSpPr>
          <p:nvPr/>
        </p:nvSpPr>
        <p:spPr>
          <a:xfrm>
            <a:off x="62520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Receptive Field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46E0553-FCB6-9211-B623-8555364E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CB2D41-CCEF-EA08-0924-08A04A214C74}"/>
              </a:ext>
            </a:extLst>
          </p:cNvPr>
          <p:cNvSpPr txBox="1"/>
          <p:nvPr/>
        </p:nvSpPr>
        <p:spPr>
          <a:xfrm>
            <a:off x="600332" y="1361718"/>
            <a:ext cx="11315700" cy="372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 피질의 생물학적 뉴런이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작고 단순한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시작하여 단계별로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크고 복잡한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조합해 대상을 인식한다는 계층적 시각 처리 원리는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(CNN)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고안하게 된 핵심 원리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(Receptive Field)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뉴런이 시야 전체를 보는 것이 아니라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자극을 받아들이는 자신만의 작은 시야 구역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초기 반응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하위 뇌 영역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시각 피질로 들어온 신호 초기에는 뉴런들이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내의 아주 작은 영역에서 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경계선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 같은 단순한 패턴에만 반응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후기 연산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상위 뇌 영역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시각 신호가 다음 단계의 뇌 모듈로 계속 이동하면서 여러 작은 정보가 통합된 결과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상위 뉴런은 더 넓은 영역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넓은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보며 모서리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얼굴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사물 전체 같은 복잡한 패턴을 인식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8130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BF64-20EA-4A74-140A-D4CCF105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F2FB977-47F8-2F23-7C73-452FF93990B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convolution operation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FE37AF-214D-F3C1-9D27-C9C7DDC10384}"/>
              </a:ext>
            </a:extLst>
          </p:cNvPr>
          <p:cNvSpPr txBox="1"/>
          <p:nvPr/>
        </p:nvSpPr>
        <p:spPr>
          <a:xfrm>
            <a:off x="666750" y="1639891"/>
            <a:ext cx="6657975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완전 연결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(Dense layer, FCNN)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특성 공간에서 전역적 패턴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(global patterns,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MNIST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숫자에서 모든 입력 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특성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하나의 거대한 벡터로 펼친 후 가중치를 곱함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학습하기 때문에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 간의 위치 정보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옆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파괴되는 치명적 약점이 있는 반면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(Convolution layer)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국소적 패턴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(local patterns)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학습하여 오른쪽 이미지의 경우 입력의 작은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윈도우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 × 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영역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3 by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발견되는 패턴을 학습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C8E58AB-A239-FD11-9ECA-7112C829B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442" y="1639891"/>
            <a:ext cx="3133725" cy="40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FA20EB3-A9F6-F360-566F-8F1C4CB0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56134-917C-B8D4-6915-64AF3D3E32C7}"/>
              </a:ext>
            </a:extLst>
          </p:cNvPr>
          <p:cNvSpPr txBox="1"/>
          <p:nvPr/>
        </p:nvSpPr>
        <p:spPr>
          <a:xfrm>
            <a:off x="7909442" y="5729686"/>
            <a:ext cx="3133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Images can be broken into local patterns such as edges, textures, and so on.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7592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B186B-F827-F3DB-230C-93C802DB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23F278-307E-021D-9CC8-E1EBF9B6D4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convolution operation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7C55BC0-C8F8-091A-EED4-0EFD0ABBE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75A4A56-0737-C4A6-3788-0C8774FDA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4" y="3010916"/>
            <a:ext cx="5557836" cy="26795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4C1AFA-7FD9-52BD-7479-186066C90B8C}"/>
              </a:ext>
            </a:extLst>
          </p:cNvPr>
          <p:cNvSpPr txBox="1"/>
          <p:nvPr/>
        </p:nvSpPr>
        <p:spPr>
          <a:xfrm>
            <a:off x="1414465" y="5764337"/>
            <a:ext cx="555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concept of a response map: a 2D map of the presence of a pattern at different locations in an input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A02C5-D229-DE69-13AA-2CAB50191EF1}"/>
              </a:ext>
            </a:extLst>
          </p:cNvPr>
          <p:cNvSpPr txBox="1"/>
          <p:nvPr/>
        </p:nvSpPr>
        <p:spPr>
          <a:xfrm>
            <a:off x="590550" y="1200061"/>
            <a:ext cx="11010900" cy="120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Convolutions are defined by two key parameters:</a:t>
            </a:r>
            <a:endParaRPr lang="en-US" altLang="ko-KR" sz="1600" b="1" i="1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 of the patches extracted from the inputs</a:t>
            </a: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  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— These are typically 3 × 3 or 5 × 5.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Depth of the output feature map</a:t>
            </a:r>
            <a:r>
              <a:rPr lang="en-US" altLang="ko-KR" sz="16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  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— The number of filters computed by the convolution.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B68B17-902C-A105-1EFF-1D4B04D42788}"/>
              </a:ext>
            </a:extLst>
          </p:cNvPr>
          <p:cNvSpPr txBox="1"/>
          <p:nvPr/>
        </p:nvSpPr>
        <p:spPr>
          <a:xfrm>
            <a:off x="7372350" y="3010916"/>
            <a:ext cx="4305557" cy="19983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Conv2D layers, these parameters are the first arguments passed to the layer: 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Conv2D(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output_depth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window_height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window_width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)).</a:t>
            </a:r>
          </a:p>
        </p:txBody>
      </p:sp>
    </p:spTree>
    <p:extLst>
      <p:ext uri="{BB962C8B-B14F-4D97-AF65-F5344CB8AC3E}">
        <p14:creationId xmlns:p14="http://schemas.microsoft.com/office/powerpoint/2010/main" val="1366740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004F-D407-CA00-E5C7-19BB7656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78088FE-0930-15B2-B1A9-FD861FE554E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convolution operation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B8D45-08A2-3432-520B-D82158DD53DA}"/>
              </a:ext>
            </a:extLst>
          </p:cNvPr>
          <p:cNvSpPr txBox="1"/>
          <p:nvPr/>
        </p:nvSpPr>
        <p:spPr>
          <a:xfrm>
            <a:off x="590550" y="1438922"/>
            <a:ext cx="6238875" cy="43527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평행이동 불변성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(translation invariance)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이미지의 오른쪽 아래 구석에서 특정 패턴을 학습한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왼쪽 위 구석 등 다른 어느 위치에서나 해당 패턴을 인식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이미지는 본질적으로 평행이동 불변성 특성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패턴의 공간적 계층 구조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(spatial hierarchies of patterns)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첫 번째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레이어는 에지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(edge,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가장자리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같은 작은 국소적 패턴을 학습하고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두 번째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레이어는 첫 번째 레이어의 특성들을 조합한 더 큰 패턴을 학습하는 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이미지는 본질적으로 공간적 계층 구조를 이루고 있기 때문에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구조 덕분에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점차 더 복잡하고 추상적인 시각적 개념을 효율적으로 학습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368E1D6-01B6-DFA8-F5C2-00C539C9E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900" y="1427808"/>
            <a:ext cx="4572257" cy="37846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7F80E1F-DA80-2E1A-C6FD-E4C8D344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34136-8ECF-648E-7796-300ED0FF461F}"/>
              </a:ext>
            </a:extLst>
          </p:cNvPr>
          <p:cNvSpPr txBox="1"/>
          <p:nvPr/>
        </p:nvSpPr>
        <p:spPr>
          <a:xfrm>
            <a:off x="7200900" y="5241045"/>
            <a:ext cx="45722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visual world forms a spatial hierarchy of visual modules: elementary lines or textures combine into simple objects such as eyes or ears, which combine into high-level concepts such as “cat.”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777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84F9D-2D17-A453-7A06-F920D80F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9F8D5BA-1966-2A5F-6FE1-864C5D8CBBD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Layer(Convolution, Inner product)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5BF1747-F60D-1317-AECB-1A3667A3D60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9FEFB1-A34C-5437-6204-73E83536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24" y="1511626"/>
            <a:ext cx="10958076" cy="4536164"/>
          </a:xfrm>
          <a:prstGeom prst="rect">
            <a:avLst/>
          </a:prstGeom>
        </p:spPr>
      </p:pic>
      <p:sp>
        <p:nvSpPr>
          <p:cNvPr id="2" name="설명선: 굽은 선(강조선) 1">
            <a:extLst>
              <a:ext uri="{FF2B5EF4-FFF2-40B4-BE49-F238E27FC236}">
                <a16:creationId xmlns:a16="http://schemas.microsoft.com/office/drawing/2014/main" id="{D495FE97-0A72-A505-2CFE-4D488CC28DDF}"/>
              </a:ext>
            </a:extLst>
          </p:cNvPr>
          <p:cNvSpPr/>
          <p:nvPr/>
        </p:nvSpPr>
        <p:spPr>
          <a:xfrm>
            <a:off x="3934690" y="2999266"/>
            <a:ext cx="831274" cy="221673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1666"/>
              <a:gd name="adj6" fmla="val -69934"/>
            </a:avLst>
          </a:prstGeom>
          <a:solidFill>
            <a:schemeClr val="accent2"/>
          </a:solidFill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 + Bias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6048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7B5E7-D3C6-5852-41B3-B78DBBE13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CF894E-5FDF-F7BF-9E0C-46655E23EF8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Layer(Convolution, Inner product,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Relu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BB47790-7D2F-ACCC-2FDB-3D057D1B36C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C163123-3B23-837D-CA51-A0F36A4C3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360" y="1905803"/>
            <a:ext cx="8690176" cy="46112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BA7D44-3BA1-EEA5-116B-D38643E1B825}"/>
              </a:ext>
            </a:extLst>
          </p:cNvPr>
          <p:cNvSpPr txBox="1"/>
          <p:nvPr/>
        </p:nvSpPr>
        <p:spPr>
          <a:xfrm>
            <a:off x="621281" y="1321926"/>
            <a:ext cx="9722256" cy="33855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nn.Conv2d(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input_channels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=3,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output_channels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=2,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=3,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=1,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=0)</a:t>
            </a:r>
          </a:p>
        </p:txBody>
      </p:sp>
      <p:sp>
        <p:nvSpPr>
          <p:cNvPr id="2" name="설명선: 굽은 선(강조선) 1">
            <a:extLst>
              <a:ext uri="{FF2B5EF4-FFF2-40B4-BE49-F238E27FC236}">
                <a16:creationId xmlns:a16="http://schemas.microsoft.com/office/drawing/2014/main" id="{AED4110A-D8C9-101E-4857-DBB85F1F961D}"/>
              </a:ext>
            </a:extLst>
          </p:cNvPr>
          <p:cNvSpPr/>
          <p:nvPr/>
        </p:nvSpPr>
        <p:spPr>
          <a:xfrm>
            <a:off x="6188366" y="3962048"/>
            <a:ext cx="609598" cy="157371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5833"/>
              <a:gd name="adj6" fmla="val -52691"/>
            </a:avLst>
          </a:prstGeom>
          <a:solidFill>
            <a:schemeClr val="accent2"/>
          </a:solidFill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+ Bias</a:t>
            </a:r>
            <a:r>
              <a:rPr lang="ko-KR" altLang="en-US" sz="1100" dirty="0"/>
              <a:t> </a:t>
            </a:r>
          </a:p>
        </p:txBody>
      </p:sp>
      <p:sp>
        <p:nvSpPr>
          <p:cNvPr id="7" name="설명선: 굽은 선(강조선) 6">
            <a:extLst>
              <a:ext uri="{FF2B5EF4-FFF2-40B4-BE49-F238E27FC236}">
                <a16:creationId xmlns:a16="http://schemas.microsoft.com/office/drawing/2014/main" id="{D4F00C92-6A27-B887-6DF8-F19F75DF25E9}"/>
              </a:ext>
            </a:extLst>
          </p:cNvPr>
          <p:cNvSpPr/>
          <p:nvPr/>
        </p:nvSpPr>
        <p:spPr>
          <a:xfrm>
            <a:off x="4876801" y="3962048"/>
            <a:ext cx="609598" cy="157371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5833"/>
              <a:gd name="adj6" fmla="val -52691"/>
            </a:avLst>
          </a:prstGeom>
          <a:solidFill>
            <a:schemeClr val="accent2"/>
          </a:solidFill>
          <a:ln>
            <a:solidFill>
              <a:schemeClr val="bg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+ Bias</a:t>
            </a:r>
            <a:r>
              <a:rPr lang="ko-KR" alt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7845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77B8-A23E-37E2-02B6-AA96C28DE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E2BA8A2-09F2-8ECF-ECD5-D7A8509515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Layer(Convolution, Inner product,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Relu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97C938D-E346-A7A4-DB42-D00A5E1DB46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5074C62-55EF-FF9E-4CE9-AB02AC83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558" y="1267472"/>
            <a:ext cx="6776267" cy="522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493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27451-D0A4-643E-6102-68CD8B6F8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C545AEC-26F9-D773-D4F0-7FF39CEFE8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Layer(Convolution, Inner product)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398E34-FCD2-FF36-DA2A-03BC71C20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355" y="2582480"/>
            <a:ext cx="7887072" cy="272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D6F7D6-EA8F-B538-9E59-9DFD008F49D5}"/>
              </a:ext>
            </a:extLst>
          </p:cNvPr>
          <p:cNvSpPr txBox="1"/>
          <p:nvPr/>
        </p:nvSpPr>
        <p:spPr>
          <a:xfrm>
            <a:off x="3647440" y="1710744"/>
            <a:ext cx="48971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(convolution),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내적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(inner product)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D3E41964-2214-6560-593A-35485C6FCBF6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4646838" y="2330358"/>
            <a:ext cx="1699444" cy="119888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5DA438-524D-6241-5DB5-B876099E5D83}"/>
              </a:ext>
            </a:extLst>
          </p:cNvPr>
          <p:cNvSpPr txBox="1"/>
          <p:nvPr/>
        </p:nvSpPr>
        <p:spPr>
          <a:xfrm>
            <a:off x="2011680" y="5500559"/>
            <a:ext cx="233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Original Image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(6, 6)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E8DF25-46FC-EFB8-7446-EC209039F938}"/>
              </a:ext>
            </a:extLst>
          </p:cNvPr>
          <p:cNvSpPr txBox="1"/>
          <p:nvPr/>
        </p:nvSpPr>
        <p:spPr>
          <a:xfrm>
            <a:off x="5323840" y="5500559"/>
            <a:ext cx="233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Filter(Kernel)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D7373-00CE-1708-CD9E-9D75B8BC9A76}"/>
              </a:ext>
            </a:extLst>
          </p:cNvPr>
          <p:cNvSpPr txBox="1"/>
          <p:nvPr/>
        </p:nvSpPr>
        <p:spPr>
          <a:xfrm>
            <a:off x="8117306" y="5500559"/>
            <a:ext cx="27121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 Map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(4, 4)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895B86-AA4C-70FD-A7F1-104E2CE72B11}"/>
              </a:ext>
            </a:extLst>
          </p:cNvPr>
          <p:cNvSpPr txBox="1"/>
          <p:nvPr/>
        </p:nvSpPr>
        <p:spPr>
          <a:xfrm>
            <a:off x="369030" y="3487132"/>
            <a:ext cx="19948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Stride =1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Zero Padding</a:t>
            </a:r>
            <a:endParaRPr lang="ko-KR" altLang="en-US" sz="1600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317CC6E-35DE-6BF7-8A25-E8A85F05A315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003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2F03-2928-FE0E-83C4-D1E8ADEB0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52B6D99-966B-4EFF-1D8A-F9B8A2D6C9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Function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99510A-1E16-86BF-F01C-8EF2FCD68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376" y="2480571"/>
            <a:ext cx="4406613" cy="389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36233C-FA94-F1A4-ACF9-C44CF7AEEE39}"/>
              </a:ext>
            </a:extLst>
          </p:cNvPr>
          <p:cNvSpPr txBox="1"/>
          <p:nvPr/>
        </p:nvSpPr>
        <p:spPr>
          <a:xfrm>
            <a:off x="609600" y="1190625"/>
            <a:ext cx="1097280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입력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복사 패딩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(Replication Padding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또는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Border Padding)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적용하여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Kernel Matrix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합성곱하면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출력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크기가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(6, 6)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입력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동일해지고 외곽의 정보를 보존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8DF26-3ECD-0880-B454-50F2DD311209}"/>
              </a:ext>
            </a:extLst>
          </p:cNvPr>
          <p:cNvSpPr txBox="1"/>
          <p:nvPr/>
        </p:nvSpPr>
        <p:spPr>
          <a:xfrm>
            <a:off x="3209925" y="2172794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wiki/Convolution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D274692-42CE-F3E7-4E99-25FA42B9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91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AF2A-C7DD-6751-15D8-919FF6C6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B0507FC-5359-95A4-FFFE-0513B5EA175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padding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D5F943C-FEB6-60B7-64F5-BEA72CFA8A7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A292E6-880C-4032-C4A7-6EF4EB73E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80" y="1865493"/>
            <a:ext cx="4846740" cy="32387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729E2A-F537-C27A-ED0C-3EF3FD57F414}"/>
              </a:ext>
            </a:extLst>
          </p:cNvPr>
          <p:cNvSpPr txBox="1"/>
          <p:nvPr/>
        </p:nvSpPr>
        <p:spPr>
          <a:xfrm>
            <a:off x="643680" y="5148664"/>
            <a:ext cx="50617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Connections between layers and zero padding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059DBD9-F18C-C48A-30A9-D5AA0DC9C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778" y="1897247"/>
            <a:ext cx="5113693" cy="32070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B20543-0F90-C46F-75A0-F94CC6146497}"/>
              </a:ext>
            </a:extLst>
          </p:cNvPr>
          <p:cNvSpPr txBox="1"/>
          <p:nvPr/>
        </p:nvSpPr>
        <p:spPr>
          <a:xfrm>
            <a:off x="6486525" y="5165715"/>
            <a:ext cx="5257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Reducing dimensionality using a stride of 2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1302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67E71-DE5F-56A7-2475-251D6F765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28FA20A-BC67-DF78-2E41-9AAE4D40E11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padding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259316D-1F9C-C69B-1FE1-5F05E9AA87F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821A05-5E87-AF57-CDBC-C9A17E34C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622" y="1989539"/>
            <a:ext cx="6294430" cy="3812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96E311-4A55-9DE9-9182-76030F6853DD}"/>
              </a:ext>
            </a:extLst>
          </p:cNvPr>
          <p:cNvSpPr txBox="1"/>
          <p:nvPr/>
        </p:nvSpPr>
        <p:spPr>
          <a:xfrm>
            <a:off x="2722097" y="5892350"/>
            <a:ext cx="6747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Padding="SAME” or “VALID” (with input width 13, filter width 6, stride 5)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3141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F3CE-30A0-D647-9841-1B9DC1366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0E1C42C-1A62-B7D6-473F-8C9A3A2563B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 descr="흰색 표면에 검은색 프레임 선글라스">
            <a:extLst>
              <a:ext uri="{FF2B5EF4-FFF2-40B4-BE49-F238E27FC236}">
                <a16:creationId xmlns:a16="http://schemas.microsoft.com/office/drawing/2014/main" id="{896C9D42-88AB-9C35-B5F3-72A1901E7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085" y="3427491"/>
            <a:ext cx="3347924" cy="297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white and brown corgi besides brown dog">
            <a:extLst>
              <a:ext uri="{FF2B5EF4-FFF2-40B4-BE49-F238E27FC236}">
                <a16:creationId xmlns:a16="http://schemas.microsoft.com/office/drawing/2014/main" id="{23E5F13F-E7A8-1625-54FF-E7CDB28CF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887" y="2537772"/>
            <a:ext cx="2558728" cy="3843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E50A8A-545B-F64E-E605-199874C9A3AE}"/>
              </a:ext>
            </a:extLst>
          </p:cNvPr>
          <p:cNvSpPr txBox="1"/>
          <p:nvPr/>
        </p:nvSpPr>
        <p:spPr>
          <a:xfrm>
            <a:off x="6724084" y="2875596"/>
            <a:ext cx="3034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filters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maps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6E64E7-168E-370F-846B-B368105D6E30}"/>
              </a:ext>
            </a:extLst>
          </p:cNvPr>
          <p:cNvSpPr/>
          <p:nvPr/>
        </p:nvSpPr>
        <p:spPr>
          <a:xfrm>
            <a:off x="3771900" y="4152393"/>
            <a:ext cx="424065" cy="42438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9DF36B-416C-A98E-5D99-1AF6669583A1}"/>
              </a:ext>
            </a:extLst>
          </p:cNvPr>
          <p:cNvSpPr/>
          <p:nvPr/>
        </p:nvSpPr>
        <p:spPr>
          <a:xfrm>
            <a:off x="3419475" y="4676269"/>
            <a:ext cx="233967" cy="177468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6A4D67-8E7B-2322-9411-710FD92D00BD}"/>
              </a:ext>
            </a:extLst>
          </p:cNvPr>
          <p:cNvSpPr/>
          <p:nvPr/>
        </p:nvSpPr>
        <p:spPr>
          <a:xfrm>
            <a:off x="2447925" y="5924043"/>
            <a:ext cx="307082" cy="30092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26843-D93C-7DE2-339A-7B0751D14529}"/>
              </a:ext>
            </a:extLst>
          </p:cNvPr>
          <p:cNvSpPr txBox="1"/>
          <p:nvPr/>
        </p:nvSpPr>
        <p:spPr>
          <a:xfrm>
            <a:off x="600074" y="1219039"/>
            <a:ext cx="11239501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우리 눈이 세상을 바라볼 때 사물이 어디에 있든 똑같이 알아보고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이동 불변성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이미지의 조각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들을 모아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모아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형태를 인지하듯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공간적 계층 구조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), 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원본 이미지에 굴려 가중치를 공유하는 방식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레이어를 깊게 쌓아 시야를 넓히는 방식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통해 인간의 시각 방식을 가장 효율적으로 컴퓨터에 구현해 낸 구조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F9679FD-F81C-53B8-3E58-A36C1DBD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811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4B0E-9215-C286-2671-09F61199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A18A25-A57C-1842-7548-74DD0C7F25B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E00D87-D783-4B1B-7897-CA8D1DE62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48" y="2713118"/>
            <a:ext cx="7446954" cy="2508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BBEA63-6C45-7A95-A23D-E71B44C554F8}"/>
              </a:ext>
            </a:extLst>
          </p:cNvPr>
          <p:cNvSpPr txBox="1"/>
          <p:nvPr/>
        </p:nvSpPr>
        <p:spPr>
          <a:xfrm>
            <a:off x="576262" y="1248422"/>
            <a:ext cx="1103947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Biological neurons in the visual cortex respond to specific patterns in small regions of the visual field called receptive fields.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14AFF51-2576-0160-3E52-3258BD04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478F5-25A2-AD5A-ABA8-BF7B640E2C40}"/>
              </a:ext>
            </a:extLst>
          </p:cNvPr>
          <p:cNvSpPr txBox="1"/>
          <p:nvPr/>
        </p:nvSpPr>
        <p:spPr>
          <a:xfrm>
            <a:off x="2106648" y="5421910"/>
            <a:ext cx="74469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Biological neurons in the visual cortex respond to specific patterns in small regions of the visual field called receptive fields; as the visual signal makes its way through consecutive brain modules, neurons respond to more complex patterns in larger receptive fields.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3843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A7E62-8613-6F84-51F4-0C6CFFE1C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CCC6F2-88B3-C1B8-240B-E36F1FB4A5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469B3-E488-AC77-BF05-8E4CC33B70C1}"/>
              </a:ext>
            </a:extLst>
          </p:cNvPr>
          <p:cNvSpPr txBox="1"/>
          <p:nvPr/>
        </p:nvSpPr>
        <p:spPr>
          <a:xfrm>
            <a:off x="576262" y="1219847"/>
            <a:ext cx="1103947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As the visual signal makes its way through consecutive brain modules, neurons respond to more complex patterns in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larger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receptive fields.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E261D0-BF79-73F4-C951-2791825B668E}"/>
              </a:ext>
            </a:extLst>
          </p:cNvPr>
          <p:cNvSpPr txBox="1"/>
          <p:nvPr/>
        </p:nvSpPr>
        <p:spPr>
          <a:xfrm>
            <a:off x="737152" y="2550921"/>
            <a:ext cx="10092255" cy="1940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Receptive Field(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초기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layer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수평선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수직선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모서리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(edge)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 같은 단순한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 by 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감지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여러 층을 지난 심층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layer(larger receptive fields)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 등 복잡한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(100 by 100)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더 깊은 층을 지나면 얼굴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자동차 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object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전체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(1000 by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1000)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시각적으로 감지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생물학적 시각 피질과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공유하는 핵심 아이디어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71804E0-ABCA-7977-EA93-1C825802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693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42B2F-3A7D-C336-10DF-03D1EE019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0C541-0B15-651D-FD2C-859ABD5FA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Kernel, Filter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287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8F77-6C0A-3904-FA33-71DB87EB0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F803ED0-69E8-6928-5E8A-D2CF16B945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Kernel, Filter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E901BE-AB7F-22C0-899D-4319238947C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학습사이트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https://github.com/ancestor9/Image Classification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교과수업 진행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82832F4-B644-E38A-A3E9-D95C7FBA3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88" y="2455855"/>
            <a:ext cx="31837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A5B32-FCC9-8B3B-67E2-D75A02F17AE0}"/>
              </a:ext>
            </a:extLst>
          </p:cNvPr>
          <p:cNvSpPr txBox="1"/>
          <p:nvPr/>
        </p:nvSpPr>
        <p:spPr>
          <a:xfrm>
            <a:off x="3838575" y="2002698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single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DF1719D-1AE8-B069-81FE-77C356AC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736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1AFAC-D342-5FD0-19DB-EAFEB539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1D0F714-0188-657C-CEB1-3B647B92A7B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Random Variable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E78D73A-7022-C911-9CD2-793CC6C6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C7C92D-EA63-3DAC-7572-4598A7791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510" y="1392335"/>
            <a:ext cx="8771380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26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56846-1533-2A55-5C19-83102AD5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B65A4F76-2677-DA2F-487D-164C57937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19" y="2122122"/>
            <a:ext cx="10760372" cy="390177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509BE78-3730-4DA3-EF72-0324173DE45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Linear Transformation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048C81-8986-7A52-7D93-FF046557FFC2}"/>
              </a:ext>
            </a:extLst>
          </p:cNvPr>
          <p:cNvSpPr/>
          <p:nvPr/>
        </p:nvSpPr>
        <p:spPr>
          <a:xfrm>
            <a:off x="5962650" y="3815902"/>
            <a:ext cx="1447640" cy="83343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4B104D5-E73E-BE36-FA38-C56A539E9A42}"/>
              </a:ext>
            </a:extLst>
          </p:cNvPr>
          <p:cNvCxnSpPr>
            <a:cxnSpLocks/>
          </p:cNvCxnSpPr>
          <p:nvPr/>
        </p:nvCxnSpPr>
        <p:spPr>
          <a:xfrm>
            <a:off x="4903470" y="5118735"/>
            <a:ext cx="3307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D2443A-105B-89F6-33CC-FFDE5604FDEF}"/>
              </a:ext>
            </a:extLst>
          </p:cNvPr>
          <p:cNvSpPr txBox="1"/>
          <p:nvPr/>
        </p:nvSpPr>
        <p:spPr>
          <a:xfrm>
            <a:off x="589945" y="1228841"/>
            <a:ext cx="10014280" cy="793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Matrix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Kernel Matrix(3,3)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합성곱으로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출력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Feature Matrix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Representation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CNN.xlsx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7FC48526-8C7C-4FAF-E13A-7F1BF1F0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그래픽 10" descr="골프">
            <a:extLst>
              <a:ext uri="{FF2B5EF4-FFF2-40B4-BE49-F238E27FC236}">
                <a16:creationId xmlns:a16="http://schemas.microsoft.com/office/drawing/2014/main" id="{80705350-2F6A-EBA6-3E1F-5472D0235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5287" y="299420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028AF8-E168-5810-CEAF-14FBF385D69E}"/>
              </a:ext>
            </a:extLst>
          </p:cNvPr>
          <p:cNvSpPr txBox="1"/>
          <p:nvPr/>
        </p:nvSpPr>
        <p:spPr>
          <a:xfrm>
            <a:off x="1442176" y="6101965"/>
            <a:ext cx="2752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15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8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120 (15행 8열)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7501F-C859-763B-C160-2AFD15FF487A}"/>
              </a:ext>
            </a:extLst>
          </p:cNvPr>
          <p:cNvSpPr txBox="1"/>
          <p:nvPr/>
        </p:nvSpPr>
        <p:spPr>
          <a:xfrm>
            <a:off x="8201261" y="6086344"/>
            <a:ext cx="2752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6)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78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(1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열)</a:t>
            </a:r>
          </a:p>
        </p:txBody>
      </p:sp>
    </p:spTree>
    <p:extLst>
      <p:ext uri="{BB962C8B-B14F-4D97-AF65-F5344CB8AC3E}">
        <p14:creationId xmlns:p14="http://schemas.microsoft.com/office/powerpoint/2010/main" val="4258133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887E2-0FA0-E744-A76F-DCE3BE15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3CF5F16-233F-9D48-DB43-2017FFACE81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Linear Transformation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3C088B55-5918-A3BF-3759-CE56BA1F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E4E8E7-6EC8-3595-65B0-959679D57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374" y="1697181"/>
            <a:ext cx="6713105" cy="42368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FBD008-9BAA-8AB5-9C75-8644037B085A}"/>
              </a:ext>
            </a:extLst>
          </p:cNvPr>
          <p:cNvSpPr txBox="1"/>
          <p:nvPr/>
        </p:nvSpPr>
        <p:spPr>
          <a:xfrm>
            <a:off x="1009374" y="60066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Applying two different filters to get two feature map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7665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971AD-4941-109D-593A-2D97974C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A17C5A5-3EDD-42F2-3E47-925A0A91EF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1D Convolutional Linear Transformation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EF72DB91-5D1F-2265-D157-013F76D6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D7C743-D5FC-83A3-2E87-DF91CE13B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97" y="3697493"/>
            <a:ext cx="3635055" cy="2568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BE804E-790A-C71B-E5CE-227B29ADD1FA}"/>
              </a:ext>
            </a:extLst>
          </p:cNvPr>
          <p:cNvSpPr txBox="1"/>
          <p:nvPr/>
        </p:nvSpPr>
        <p:spPr>
          <a:xfrm>
            <a:off x="592348" y="1231695"/>
            <a:ext cx="11237702" cy="83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컨볼루션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연산이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1D Conv(1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다뤄지는 이유는 커널이 슬라이딩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이동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방향이 시간 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행 방향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차원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뿐이기 때문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CNN.xlsx</a:t>
            </a:r>
            <a:endParaRPr lang="ko-KR" altLang="en-US" sz="1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ABA57C-3D6B-C919-9B37-BF5261ED0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530" y="2963666"/>
            <a:ext cx="3200677" cy="2057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B3DEA7-65ED-A3D0-B846-AB55606C8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491" y="1960012"/>
            <a:ext cx="624894" cy="23700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E57B941-7C91-5ADE-D2B0-39577E41CA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370" y="4509825"/>
            <a:ext cx="3177815" cy="3810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1B00818-DE2A-6A0E-CCCF-1FA9D8A8D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7151" y="3011710"/>
            <a:ext cx="662997" cy="218713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E35C1E9-ECA7-3BFB-D427-CA3535A33F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811" y="5688804"/>
            <a:ext cx="3200677" cy="5105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CCBD9D0-E1C7-D8F7-B0F9-CEE0F03741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8923" y="4311087"/>
            <a:ext cx="701101" cy="205757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637EF8D-6A47-655F-1DB2-CA937885CC99}"/>
              </a:ext>
            </a:extLst>
          </p:cNvPr>
          <p:cNvSpPr txBox="1"/>
          <p:nvPr/>
        </p:nvSpPr>
        <p:spPr>
          <a:xfrm>
            <a:off x="1188292" y="6258711"/>
            <a:ext cx="2752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15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8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120 (15행 8열)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EBED54-0CED-794D-7D38-407281217B6D}"/>
              </a:ext>
            </a:extLst>
          </p:cNvPr>
          <p:cNvSpPr txBox="1"/>
          <p:nvPr/>
        </p:nvSpPr>
        <p:spPr>
          <a:xfrm>
            <a:off x="7048430" y="2133980"/>
            <a:ext cx="2019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(15,) Feature map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4DF946-C644-3708-9B36-5425363E6002}"/>
              </a:ext>
            </a:extLst>
          </p:cNvPr>
          <p:cNvSpPr txBox="1"/>
          <p:nvPr/>
        </p:nvSpPr>
        <p:spPr>
          <a:xfrm>
            <a:off x="8609067" y="3597444"/>
            <a:ext cx="837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(14,)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40BC18-1BB1-FC32-3B0D-84D71C417B71}"/>
              </a:ext>
            </a:extLst>
          </p:cNvPr>
          <p:cNvSpPr txBox="1"/>
          <p:nvPr/>
        </p:nvSpPr>
        <p:spPr>
          <a:xfrm>
            <a:off x="10430024" y="4531064"/>
            <a:ext cx="837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(13,)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C761BB-D67F-086E-DD15-4A708A4AC9E8}"/>
              </a:ext>
            </a:extLst>
          </p:cNvPr>
          <p:cNvSpPr txBox="1"/>
          <p:nvPr/>
        </p:nvSpPr>
        <p:spPr>
          <a:xfrm>
            <a:off x="3892388" y="2569908"/>
            <a:ext cx="16489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8) Kernel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EDFC1D-C44E-DC11-B3F7-F9423CB24DB0}"/>
              </a:ext>
            </a:extLst>
          </p:cNvPr>
          <p:cNvSpPr txBox="1"/>
          <p:nvPr/>
        </p:nvSpPr>
        <p:spPr>
          <a:xfrm>
            <a:off x="5064543" y="4105275"/>
            <a:ext cx="837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(2, 8)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87F687-E062-0084-FA51-8EE58AED48A0}"/>
              </a:ext>
            </a:extLst>
          </p:cNvPr>
          <p:cNvSpPr txBox="1"/>
          <p:nvPr/>
        </p:nvSpPr>
        <p:spPr>
          <a:xfrm>
            <a:off x="6720046" y="5350250"/>
            <a:ext cx="837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(3, 8)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BB41AF-6203-55D7-31EC-9C8416D58BC9}"/>
              </a:ext>
            </a:extLst>
          </p:cNvPr>
          <p:cNvSpPr txBox="1"/>
          <p:nvPr/>
        </p:nvSpPr>
        <p:spPr>
          <a:xfrm>
            <a:off x="601478" y="3207780"/>
            <a:ext cx="2752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Original image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Mutivariates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Timeseries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2135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74348-38F8-FF39-D942-8ACC139F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F6F800-52E7-F549-6B9E-46D3ED36FF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4F96551-9584-A655-BC70-CA878C19F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34302"/>
              </p:ext>
            </p:extLst>
          </p:nvPr>
        </p:nvGraphicFramePr>
        <p:xfrm>
          <a:off x="679452" y="2872315"/>
          <a:ext cx="2568573" cy="2208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671204879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791446712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557230184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16371244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2783934707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223456258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1855599085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250670649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048054703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310144073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2705830299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8215209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245662165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27023227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94B09D8-86EE-09C6-55BB-3E9A5F3A2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074576"/>
              </p:ext>
            </p:extLst>
          </p:nvPr>
        </p:nvGraphicFramePr>
        <p:xfrm>
          <a:off x="3400425" y="4749447"/>
          <a:ext cx="1100817" cy="946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495E26-6B37-D65A-1AC8-61AD90A0E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265175"/>
              </p:ext>
            </p:extLst>
          </p:nvPr>
        </p:nvGraphicFramePr>
        <p:xfrm>
          <a:off x="787400" y="3030074"/>
          <a:ext cx="1100817" cy="946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A2CA27B-83AE-1BF7-1BA9-B6BC343E0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119845"/>
              </p:ext>
            </p:extLst>
          </p:nvPr>
        </p:nvGraphicFramePr>
        <p:xfrm>
          <a:off x="4594680" y="3129490"/>
          <a:ext cx="1834695" cy="1577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33B2412-2732-0B71-15EA-0175D8366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793637"/>
              </p:ext>
            </p:extLst>
          </p:nvPr>
        </p:nvGraphicFramePr>
        <p:xfrm>
          <a:off x="6526443" y="4749447"/>
          <a:ext cx="1100817" cy="9465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A8F30394-4F4E-4641-8C5C-D64B2025F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58321"/>
              </p:ext>
            </p:extLst>
          </p:nvPr>
        </p:nvGraphicFramePr>
        <p:xfrm>
          <a:off x="4759777" y="3261523"/>
          <a:ext cx="1100817" cy="9465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FC283B2-E230-22FB-5CD9-DEEEFD5B9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446835"/>
              </p:ext>
            </p:extLst>
          </p:nvPr>
        </p:nvGraphicFramePr>
        <p:xfrm>
          <a:off x="7807325" y="3265817"/>
          <a:ext cx="1100817" cy="946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A65EF978-1D16-A614-B959-8EE9DA97F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567997"/>
              </p:ext>
            </p:extLst>
          </p:nvPr>
        </p:nvGraphicFramePr>
        <p:xfrm>
          <a:off x="9266470" y="4749447"/>
          <a:ext cx="1100817" cy="94655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ECD1938-1C18-D246-4196-BC8A82792E8E}"/>
              </a:ext>
            </a:extLst>
          </p:cNvPr>
          <p:cNvSpPr txBox="1"/>
          <p:nvPr/>
        </p:nvSpPr>
        <p:spPr>
          <a:xfrm>
            <a:off x="10367287" y="3674059"/>
            <a:ext cx="331335" cy="30165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800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686CBA3-BF80-387F-7ACB-92A34D758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600805"/>
              </p:ext>
            </p:extLst>
          </p:nvPr>
        </p:nvGraphicFramePr>
        <p:xfrm>
          <a:off x="7957460" y="3477625"/>
          <a:ext cx="1100817" cy="94655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693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36693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309487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2637" marR="132637" marT="66319" marB="66319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2E84C2D-B1A4-22F3-79F3-69BDC9319642}"/>
              </a:ext>
            </a:extLst>
          </p:cNvPr>
          <p:cNvCxnSpPr/>
          <p:nvPr/>
        </p:nvCxnSpPr>
        <p:spPr>
          <a:xfrm>
            <a:off x="3476625" y="3862158"/>
            <a:ext cx="81915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57110AB-BFCC-4230-F035-09A8E996112F}"/>
              </a:ext>
            </a:extLst>
          </p:cNvPr>
          <p:cNvCxnSpPr/>
          <p:nvPr/>
        </p:nvCxnSpPr>
        <p:spPr>
          <a:xfrm>
            <a:off x="6526443" y="3847641"/>
            <a:ext cx="81915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CBEE8AF-7491-C03B-78F3-5005D6925507}"/>
              </a:ext>
            </a:extLst>
          </p:cNvPr>
          <p:cNvCxnSpPr/>
          <p:nvPr/>
        </p:nvCxnSpPr>
        <p:spPr>
          <a:xfrm>
            <a:off x="9205685" y="3828132"/>
            <a:ext cx="81915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8262FDA-FBFA-A3FF-7D1E-DCFD3F91F20D}"/>
              </a:ext>
            </a:extLst>
          </p:cNvPr>
          <p:cNvSpPr txBox="1"/>
          <p:nvPr/>
        </p:nvSpPr>
        <p:spPr>
          <a:xfrm>
            <a:off x="3072837" y="5692251"/>
            <a:ext cx="1729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1 (3,3)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A4EE81-4344-8A2B-055A-9BAE7D6BDE5B}"/>
              </a:ext>
            </a:extLst>
          </p:cNvPr>
          <p:cNvSpPr txBox="1"/>
          <p:nvPr/>
        </p:nvSpPr>
        <p:spPr>
          <a:xfrm>
            <a:off x="573312" y="1207603"/>
            <a:ext cx="1126626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(Input Feature)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receptive fields(3,3)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과의 내적을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sliding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 layer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지나가게 되면 마지막 값은 원본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모두 한꺼번에 보는 것과 마찬가지 효과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79F6D-6AD2-A76C-B367-3A9AD4C491C3}"/>
              </a:ext>
            </a:extLst>
          </p:cNvPr>
          <p:cNvSpPr txBox="1"/>
          <p:nvPr/>
        </p:nvSpPr>
        <p:spPr>
          <a:xfrm>
            <a:off x="899196" y="2580721"/>
            <a:ext cx="178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Input Feature (7,7)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08C553-8742-0213-A44F-B6FF2F744998}"/>
              </a:ext>
            </a:extLst>
          </p:cNvPr>
          <p:cNvSpPr txBox="1"/>
          <p:nvPr/>
        </p:nvSpPr>
        <p:spPr>
          <a:xfrm>
            <a:off x="4264020" y="2580721"/>
            <a:ext cx="2263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Convolutional Feature 1</a:t>
            </a:r>
          </a:p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(5,5)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23360-8488-9BC7-1AF4-B03CEFE650C1}"/>
              </a:ext>
            </a:extLst>
          </p:cNvPr>
          <p:cNvSpPr txBox="1"/>
          <p:nvPr/>
        </p:nvSpPr>
        <p:spPr>
          <a:xfrm>
            <a:off x="6972983" y="2580721"/>
            <a:ext cx="2263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Convolutional Feature 2</a:t>
            </a:r>
          </a:p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(3,3)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3A2C6C-64DD-88B7-9A09-C6876CB61A8A}"/>
              </a:ext>
            </a:extLst>
          </p:cNvPr>
          <p:cNvSpPr txBox="1"/>
          <p:nvPr/>
        </p:nvSpPr>
        <p:spPr>
          <a:xfrm>
            <a:off x="9236307" y="2580721"/>
            <a:ext cx="2263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Convolutional Feature 3</a:t>
            </a:r>
          </a:p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(1,1)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7DF50D-23E5-2C79-7573-E1FE2CD30E10}"/>
              </a:ext>
            </a:extLst>
          </p:cNvPr>
          <p:cNvSpPr txBox="1"/>
          <p:nvPr/>
        </p:nvSpPr>
        <p:spPr>
          <a:xfrm>
            <a:off x="6169477" y="5692251"/>
            <a:ext cx="1812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2 (3,3)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409A7E-4C35-E371-19B2-DDB18E68B468}"/>
              </a:ext>
            </a:extLst>
          </p:cNvPr>
          <p:cNvSpPr txBox="1"/>
          <p:nvPr/>
        </p:nvSpPr>
        <p:spPr>
          <a:xfrm>
            <a:off x="8912452" y="5692251"/>
            <a:ext cx="1812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3 (3,3)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73A78BCF-FF59-D18D-C9BB-F8614740368B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B0E11-FBD2-9D80-63C2-A09A56587BA2}"/>
              </a:ext>
            </a:extLst>
          </p:cNvPr>
          <p:cNvSpPr txBox="1"/>
          <p:nvPr/>
        </p:nvSpPr>
        <p:spPr>
          <a:xfrm>
            <a:off x="10367287" y="4025255"/>
            <a:ext cx="1396088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3.141595678435…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44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2" grpId="0"/>
      <p:bldP spid="37" grpId="0"/>
      <p:bldP spid="40" grpId="0"/>
      <p:bldP spid="41" grpId="0"/>
      <p:bldP spid="42" grpId="0"/>
      <p:bldP spid="43" grpId="0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7FA94-6C7F-D510-A1A9-A89FFF48D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A91C053-4F67-FAF1-715A-C5FDF9CB5A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 Neural Network 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D1CD4E4-19FB-7978-8605-C09D081854F9}"/>
              </a:ext>
            </a:extLst>
          </p:cNvPr>
          <p:cNvGraphicFramePr>
            <a:graphicFrameLocks noGrp="1"/>
          </p:cNvGraphicFramePr>
          <p:nvPr/>
        </p:nvGraphicFramePr>
        <p:xfrm>
          <a:off x="694870" y="3002055"/>
          <a:ext cx="1771539" cy="1523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67120487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791446712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557230184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16371244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78393470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234562581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855599085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425067064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048054703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10144073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70583029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4821520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4245662165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427023227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7FD8655-ADF8-7FB6-9C63-DA6648D069FB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4483100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F4E3143-D630-8320-3A0A-45C715138389}"/>
              </a:ext>
            </a:extLst>
          </p:cNvPr>
          <p:cNvGraphicFramePr>
            <a:graphicFrameLocks noGrp="1"/>
          </p:cNvGraphicFramePr>
          <p:nvPr/>
        </p:nvGraphicFramePr>
        <p:xfrm>
          <a:off x="3832681" y="3196166"/>
          <a:ext cx="1265385" cy="108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EFA4E62-26BF-E5D3-7130-664C53DBEFBB}"/>
              </a:ext>
            </a:extLst>
          </p:cNvPr>
          <p:cNvGraphicFramePr>
            <a:graphicFrameLocks noGrp="1"/>
          </p:cNvGraphicFramePr>
          <p:nvPr/>
        </p:nvGraphicFramePr>
        <p:xfrm>
          <a:off x="6864350" y="33324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16080DD-C1A4-7995-0435-78D254C6768A}"/>
              </a:ext>
            </a:extLst>
          </p:cNvPr>
          <p:cNvSpPr txBox="1"/>
          <p:nvPr/>
        </p:nvSpPr>
        <p:spPr>
          <a:xfrm>
            <a:off x="9524770" y="32725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7BD1B70-CB47-25F5-8AD8-CF507A8A6DC4}"/>
              </a:ext>
            </a:extLst>
          </p:cNvPr>
          <p:cNvCxnSpPr>
            <a:cxnSpLocks/>
          </p:cNvCxnSpPr>
          <p:nvPr/>
        </p:nvCxnSpPr>
        <p:spPr>
          <a:xfrm>
            <a:off x="2905161" y="3942092"/>
            <a:ext cx="63834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AE67917-8152-9EE9-C817-44D6219CB5F9}"/>
              </a:ext>
            </a:extLst>
          </p:cNvPr>
          <p:cNvCxnSpPr>
            <a:cxnSpLocks/>
          </p:cNvCxnSpPr>
          <p:nvPr/>
        </p:nvCxnSpPr>
        <p:spPr>
          <a:xfrm>
            <a:off x="5853130" y="3942092"/>
            <a:ext cx="63834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8880E1DF-39B4-1088-E80C-972357683993}"/>
              </a:ext>
            </a:extLst>
          </p:cNvPr>
          <p:cNvCxnSpPr>
            <a:cxnSpLocks/>
          </p:cNvCxnSpPr>
          <p:nvPr/>
        </p:nvCxnSpPr>
        <p:spPr>
          <a:xfrm>
            <a:off x="8548460" y="3894807"/>
            <a:ext cx="63834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7BBD83B5-C4F9-50D9-05F3-B1C409CFFC24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4635500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331ACBD8-6B40-53FE-9A45-F25369CB0F3B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4787900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9C6C504C-124B-E8A6-E43B-A3596A17042C}"/>
              </a:ext>
            </a:extLst>
          </p:cNvPr>
          <p:cNvGraphicFramePr>
            <a:graphicFrameLocks noGrp="1"/>
          </p:cNvGraphicFramePr>
          <p:nvPr/>
        </p:nvGraphicFramePr>
        <p:xfrm>
          <a:off x="3985081" y="3348566"/>
          <a:ext cx="1265385" cy="108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DE5F452D-AB1A-2625-CFBC-26CD61CF2137}"/>
              </a:ext>
            </a:extLst>
          </p:cNvPr>
          <p:cNvGraphicFramePr>
            <a:graphicFrameLocks noGrp="1"/>
          </p:cNvGraphicFramePr>
          <p:nvPr/>
        </p:nvGraphicFramePr>
        <p:xfrm>
          <a:off x="4137481" y="3500966"/>
          <a:ext cx="1265385" cy="108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EB067750-EAD6-2846-4FE6-498A4466ED1B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44735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B0EDA5D7-4E0B-2C7F-228F-0B7D3E68AA6B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6259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B458B360-EC1F-AA5B-FD42-55D676BF6EC9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47783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86B8A262-8453-3BAC-5EE2-08660BFAE74B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49307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92C3F91C-F43B-39EB-3523-1C716AF6C294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5083187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DB8AC76A-BE2F-A398-E459-D741DD53E953}"/>
              </a:ext>
            </a:extLst>
          </p:cNvPr>
          <p:cNvGraphicFramePr>
            <a:graphicFrameLocks noGrp="1"/>
          </p:cNvGraphicFramePr>
          <p:nvPr/>
        </p:nvGraphicFramePr>
        <p:xfrm>
          <a:off x="7016750" y="34848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6422B40D-47EE-2C2C-A2E8-317FF56B6AAB}"/>
              </a:ext>
            </a:extLst>
          </p:cNvPr>
          <p:cNvGraphicFramePr>
            <a:graphicFrameLocks noGrp="1"/>
          </p:cNvGraphicFramePr>
          <p:nvPr/>
        </p:nvGraphicFramePr>
        <p:xfrm>
          <a:off x="7169150" y="36372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566D7A71-5ACB-F352-3716-5F793B100D09}"/>
              </a:ext>
            </a:extLst>
          </p:cNvPr>
          <p:cNvGraphicFramePr>
            <a:graphicFrameLocks noGrp="1"/>
          </p:cNvGraphicFramePr>
          <p:nvPr/>
        </p:nvGraphicFramePr>
        <p:xfrm>
          <a:off x="7321550" y="37896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2DB52FF7-FD90-E9D5-0376-FC21948BE0A0}"/>
              </a:ext>
            </a:extLst>
          </p:cNvPr>
          <p:cNvGraphicFramePr>
            <a:graphicFrameLocks noGrp="1"/>
          </p:cNvGraphicFramePr>
          <p:nvPr/>
        </p:nvGraphicFramePr>
        <p:xfrm>
          <a:off x="7473950" y="3942092"/>
          <a:ext cx="759231" cy="652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1543254533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4221122309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3389833386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2182124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842564934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35162810"/>
                  </a:ext>
                </a:extLst>
              </a:tr>
            </a:tbl>
          </a:graphicData>
        </a:graphic>
      </p:graphicFrame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84B4E7FC-CA21-351E-C737-DE7DD9A1A467}"/>
              </a:ext>
            </a:extLst>
          </p:cNvPr>
          <p:cNvGraphicFramePr>
            <a:graphicFrameLocks noGrp="1"/>
          </p:cNvGraphicFramePr>
          <p:nvPr/>
        </p:nvGraphicFramePr>
        <p:xfrm>
          <a:off x="8817201" y="44835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DAC78E3F-586F-DC34-161F-62184D2445F1}"/>
              </a:ext>
            </a:extLst>
          </p:cNvPr>
          <p:cNvGraphicFramePr>
            <a:graphicFrameLocks noGrp="1"/>
          </p:cNvGraphicFramePr>
          <p:nvPr/>
        </p:nvGraphicFramePr>
        <p:xfrm>
          <a:off x="8969601" y="46359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2F720965-D780-AD1C-366A-4F16F5AC29C0}"/>
              </a:ext>
            </a:extLst>
          </p:cNvPr>
          <p:cNvGraphicFramePr>
            <a:graphicFrameLocks noGrp="1"/>
          </p:cNvGraphicFramePr>
          <p:nvPr/>
        </p:nvGraphicFramePr>
        <p:xfrm>
          <a:off x="9122001" y="47883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C4D520FA-9D82-336E-CFEB-3F76E4018333}"/>
              </a:ext>
            </a:extLst>
          </p:cNvPr>
          <p:cNvGraphicFramePr>
            <a:graphicFrameLocks noGrp="1"/>
          </p:cNvGraphicFramePr>
          <p:nvPr/>
        </p:nvGraphicFramePr>
        <p:xfrm>
          <a:off x="9274401" y="49407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BF05CDF3-6D05-1B32-CB58-99A79F51B181}"/>
              </a:ext>
            </a:extLst>
          </p:cNvPr>
          <p:cNvGraphicFramePr>
            <a:graphicFrameLocks noGrp="1"/>
          </p:cNvGraphicFramePr>
          <p:nvPr/>
        </p:nvGraphicFramePr>
        <p:xfrm>
          <a:off x="9426801" y="5093116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sp>
        <p:nvSpPr>
          <p:cNvPr id="97" name="TextBox 96">
            <a:extLst>
              <a:ext uri="{FF2B5EF4-FFF2-40B4-BE49-F238E27FC236}">
                <a16:creationId xmlns:a16="http://schemas.microsoft.com/office/drawing/2014/main" id="{B8578E93-60F2-C2B7-8652-9CFD62B606ED}"/>
              </a:ext>
            </a:extLst>
          </p:cNvPr>
          <p:cNvSpPr txBox="1"/>
          <p:nvPr/>
        </p:nvSpPr>
        <p:spPr>
          <a:xfrm>
            <a:off x="9677170" y="34249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F4E400C-5F32-1185-6B2B-D42D4DD76343}"/>
              </a:ext>
            </a:extLst>
          </p:cNvPr>
          <p:cNvSpPr txBox="1"/>
          <p:nvPr/>
        </p:nvSpPr>
        <p:spPr>
          <a:xfrm>
            <a:off x="9829570" y="35773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11A8668-1BEA-9B3D-AFB0-AAA0EDFF0AC4}"/>
              </a:ext>
            </a:extLst>
          </p:cNvPr>
          <p:cNvSpPr txBox="1"/>
          <p:nvPr/>
        </p:nvSpPr>
        <p:spPr>
          <a:xfrm>
            <a:off x="9981970" y="37297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3A9316C-2D3C-4345-3431-71F0A61CF4C7}"/>
              </a:ext>
            </a:extLst>
          </p:cNvPr>
          <p:cNvSpPr txBox="1"/>
          <p:nvPr/>
        </p:nvSpPr>
        <p:spPr>
          <a:xfrm>
            <a:off x="10134370" y="38821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8C991B3-A9C0-115D-4F93-16E75282265A}"/>
              </a:ext>
            </a:extLst>
          </p:cNvPr>
          <p:cNvSpPr txBox="1"/>
          <p:nvPr/>
        </p:nvSpPr>
        <p:spPr>
          <a:xfrm>
            <a:off x="10286770" y="40345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990EB7D-7A31-2FF4-6E60-9D5741B573F2}"/>
              </a:ext>
            </a:extLst>
          </p:cNvPr>
          <p:cNvSpPr txBox="1"/>
          <p:nvPr/>
        </p:nvSpPr>
        <p:spPr>
          <a:xfrm>
            <a:off x="10439170" y="41869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6105187-F451-D92D-3C22-901EAA98987C}"/>
              </a:ext>
            </a:extLst>
          </p:cNvPr>
          <p:cNvSpPr txBox="1"/>
          <p:nvPr/>
        </p:nvSpPr>
        <p:spPr>
          <a:xfrm>
            <a:off x="10591570" y="43393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524FA1F-BC3F-08A1-24C0-08D4EE078385}"/>
              </a:ext>
            </a:extLst>
          </p:cNvPr>
          <p:cNvSpPr txBox="1"/>
          <p:nvPr/>
        </p:nvSpPr>
        <p:spPr>
          <a:xfrm>
            <a:off x="10743970" y="44917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82A98C9-7275-540B-0AD0-8F2CC945DA1F}"/>
              </a:ext>
            </a:extLst>
          </p:cNvPr>
          <p:cNvSpPr txBox="1"/>
          <p:nvPr/>
        </p:nvSpPr>
        <p:spPr>
          <a:xfrm>
            <a:off x="10896370" y="4644123"/>
            <a:ext cx="258203" cy="26382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E30BBB4-7D57-00FC-AFCC-AA352B57CA9B}"/>
              </a:ext>
            </a:extLst>
          </p:cNvPr>
          <p:cNvSpPr txBox="1"/>
          <p:nvPr/>
        </p:nvSpPr>
        <p:spPr>
          <a:xfrm>
            <a:off x="1261465" y="2604873"/>
            <a:ext cx="6383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(7,7)</a:t>
            </a:r>
            <a:endParaRPr lang="ko-KR" altLang="en-US" sz="16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C957AAB-4932-F972-B5C5-56BD26CC8E9E}"/>
              </a:ext>
            </a:extLst>
          </p:cNvPr>
          <p:cNvSpPr txBox="1"/>
          <p:nvPr/>
        </p:nvSpPr>
        <p:spPr>
          <a:xfrm>
            <a:off x="1946068" y="5756371"/>
            <a:ext cx="33043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(4,3,3)</a:t>
            </a:r>
          </a:p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(filter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=4, filter size =(3,3))</a:t>
            </a:r>
            <a:endParaRPr lang="ko-KR" altLang="en-US" sz="1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7A9FC23-A2B1-A896-22E8-C255B44CC290}"/>
              </a:ext>
            </a:extLst>
          </p:cNvPr>
          <p:cNvSpPr txBox="1"/>
          <p:nvPr/>
        </p:nvSpPr>
        <p:spPr>
          <a:xfrm>
            <a:off x="4002173" y="2604873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(4,5,5)</a:t>
            </a:r>
            <a:endParaRPr lang="ko-KR" altLang="en-US" sz="16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95B3E8D-30B1-6D81-17DE-C34E3767D528}"/>
              </a:ext>
            </a:extLst>
          </p:cNvPr>
          <p:cNvSpPr txBox="1"/>
          <p:nvPr/>
        </p:nvSpPr>
        <p:spPr>
          <a:xfrm>
            <a:off x="6083413" y="5797801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(5,3,3)</a:t>
            </a:r>
            <a:endParaRPr lang="ko-KR" altLang="en-US" sz="1600" dirty="0"/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DFF53EC4-1101-FA81-8DA7-79AB9464CC66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4940300"/>
          <a:ext cx="527037" cy="45525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679">
                  <a:extLst>
                    <a:ext uri="{9D8B030D-6E8A-4147-A177-3AD203B41FA5}">
                      <a16:colId xmlns:a16="http://schemas.microsoft.com/office/drawing/2014/main" val="4040012431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884901365"/>
                    </a:ext>
                  </a:extLst>
                </a:gridCol>
                <a:gridCol w="175679">
                  <a:extLst>
                    <a:ext uri="{9D8B030D-6E8A-4147-A177-3AD203B41FA5}">
                      <a16:colId xmlns:a16="http://schemas.microsoft.com/office/drawing/2014/main" val="3620135401"/>
                    </a:ext>
                  </a:extLst>
                </a:gridCol>
              </a:tblGrid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3528996967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030037461"/>
                  </a:ext>
                </a:extLst>
              </a:tr>
              <a:tr h="151751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63503" marR="63503" marT="31752" marB="31752"/>
                </a:tc>
                <a:extLst>
                  <a:ext uri="{0D108BD9-81ED-4DB2-BD59-A6C34878D82A}">
                    <a16:rowId xmlns:a16="http://schemas.microsoft.com/office/drawing/2014/main" val="4173210792"/>
                  </a:ext>
                </a:extLst>
              </a:tr>
            </a:tbl>
          </a:graphicData>
        </a:graphic>
      </p:graphicFrame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919C39AA-4CFE-0FA8-555E-6732811A4B88}"/>
              </a:ext>
            </a:extLst>
          </p:cNvPr>
          <p:cNvGraphicFramePr>
            <a:graphicFrameLocks noGrp="1"/>
          </p:cNvGraphicFramePr>
          <p:nvPr/>
        </p:nvGraphicFramePr>
        <p:xfrm>
          <a:off x="4289881" y="3653366"/>
          <a:ext cx="1265385" cy="108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77">
                  <a:extLst>
                    <a:ext uri="{9D8B030D-6E8A-4147-A177-3AD203B41FA5}">
                      <a16:colId xmlns:a16="http://schemas.microsoft.com/office/drawing/2014/main" val="2489655210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74171826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2362773746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492304337"/>
                    </a:ext>
                  </a:extLst>
                </a:gridCol>
                <a:gridCol w="253077">
                  <a:extLst>
                    <a:ext uri="{9D8B030D-6E8A-4147-A177-3AD203B41FA5}">
                      <a16:colId xmlns:a16="http://schemas.microsoft.com/office/drawing/2014/main" val="1312414020"/>
                    </a:ext>
                  </a:extLst>
                </a:gridCol>
              </a:tblGrid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2063551161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364314440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3477177758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449962989"/>
                  </a:ext>
                </a:extLst>
              </a:tr>
              <a:tr h="217613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91480" marR="91480" marT="45740" marB="45740"/>
                </a:tc>
                <a:extLst>
                  <a:ext uri="{0D108BD9-81ED-4DB2-BD59-A6C34878D82A}">
                    <a16:rowId xmlns:a16="http://schemas.microsoft.com/office/drawing/2014/main" val="1923153628"/>
                  </a:ext>
                </a:extLst>
              </a:tr>
            </a:tbl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DCE0A423-5057-3434-4AFA-C52A0FE2A0EB}"/>
              </a:ext>
            </a:extLst>
          </p:cNvPr>
          <p:cNvSpPr txBox="1"/>
          <p:nvPr/>
        </p:nvSpPr>
        <p:spPr>
          <a:xfrm>
            <a:off x="6818408" y="2604873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(5,3,3)</a:t>
            </a:r>
            <a:endParaRPr lang="ko-KR" altLang="en-US" sz="16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0584E78-4823-23DE-18F0-8829A2504A27}"/>
              </a:ext>
            </a:extLst>
          </p:cNvPr>
          <p:cNvSpPr txBox="1"/>
          <p:nvPr/>
        </p:nvSpPr>
        <p:spPr>
          <a:xfrm>
            <a:off x="8295093" y="5797801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(10,3,3)</a:t>
            </a:r>
            <a:endParaRPr lang="ko-KR" altLang="en-US" sz="16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9AD84D1-7C75-1496-6032-4D3378FB9F5E}"/>
              </a:ext>
            </a:extLst>
          </p:cNvPr>
          <p:cNvSpPr txBox="1"/>
          <p:nvPr/>
        </p:nvSpPr>
        <p:spPr>
          <a:xfrm>
            <a:off x="9483534" y="2604873"/>
            <a:ext cx="1021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(10,1,1)</a:t>
            </a:r>
            <a:endParaRPr lang="ko-KR" altLang="en-US" sz="16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91A845E-BA4C-D276-1343-E31AD3745B13}"/>
              </a:ext>
            </a:extLst>
          </p:cNvPr>
          <p:cNvSpPr txBox="1"/>
          <p:nvPr/>
        </p:nvSpPr>
        <p:spPr>
          <a:xfrm>
            <a:off x="539172" y="1192388"/>
            <a:ext cx="11266263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(Input Feature)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컨볼루션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층을 거치면서 이미지의 크기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shape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점점 작아지고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(7-5-3-1)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features(1-4-5-10)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점점 많아지게 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Feature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14 by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 경우는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또한 마지막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(1,1)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적용하면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B071D4E8-3723-4176-F380-FFCA89BB82E4}"/>
              </a:ext>
            </a:extLst>
          </p:cNvPr>
          <p:cNvCxnSpPr>
            <a:cxnSpLocks/>
          </p:cNvCxnSpPr>
          <p:nvPr/>
        </p:nvCxnSpPr>
        <p:spPr>
          <a:xfrm>
            <a:off x="10754308" y="3882122"/>
            <a:ext cx="638348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3" name="그래픽 122" descr="물음표">
            <a:extLst>
              <a:ext uri="{FF2B5EF4-FFF2-40B4-BE49-F238E27FC236}">
                <a16:creationId xmlns:a16="http://schemas.microsoft.com/office/drawing/2014/main" id="{F3B42F70-48C4-004E-1535-C14E19B47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57652" y="3632057"/>
            <a:ext cx="478910" cy="478910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098DE638-D419-C336-3447-6321237955F4}"/>
              </a:ext>
            </a:extLst>
          </p:cNvPr>
          <p:cNvSpPr txBox="1"/>
          <p:nvPr/>
        </p:nvSpPr>
        <p:spPr>
          <a:xfrm>
            <a:off x="11188443" y="5776227"/>
            <a:ext cx="8155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(1,1,1)</a:t>
            </a:r>
            <a:endParaRPr lang="ko-KR" altLang="en-US" sz="1600" dirty="0"/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66C101D0-A8CD-F4DC-46EC-984727A6E189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216B12-90C5-1963-7FCC-3F7135BF9398}"/>
              </a:ext>
            </a:extLst>
          </p:cNvPr>
          <p:cNvSpPr txBox="1"/>
          <p:nvPr/>
        </p:nvSpPr>
        <p:spPr>
          <a:xfrm>
            <a:off x="11432599" y="5006013"/>
            <a:ext cx="258203" cy="2638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1"/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3075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8" grpId="0"/>
      <p:bldP spid="109" grpId="0"/>
      <p:bldP spid="110" grpId="0"/>
      <p:bldP spid="113" grpId="0"/>
      <p:bldP spid="114" grpId="0"/>
      <p:bldP spid="115" grpId="0"/>
      <p:bldP spid="124" grpId="0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195C9-CBD6-04D8-FBF3-C2DA3C10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A38AE24-0C70-B4AA-1215-8F33EBCAFC8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feature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&amp;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bias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041D4-64F8-978A-EE22-5E9930A7A837}"/>
              </a:ext>
            </a:extLst>
          </p:cNvPr>
          <p:cNvSpPr txBox="1"/>
          <p:nvPr/>
        </p:nvSpPr>
        <p:spPr>
          <a:xfrm>
            <a:off x="559261" y="1584070"/>
            <a:ext cx="6260639" cy="3747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일반적인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에서는 입력 채널별로 서로 다른 가중치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(Weight)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가진 필터를 사용하여 각각 연산한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 결과들을 모두 더해서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합산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하나의 특성 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Map)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필터가 가로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세로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 평면 격자가 아니라 하지만 실제는 입력 데이터의 채널 수와 똑같은 두께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(Depth)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블록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”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(tensor (3,3,3))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Feature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입체블록 필터당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장이 나오고 여기에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bias 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개가 생성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8F1156-1F00-1107-B89D-64F92419D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413" y="2107473"/>
            <a:ext cx="3962691" cy="361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5AF6C3-4719-C491-25E7-A315FAF1BC48}"/>
              </a:ext>
            </a:extLst>
          </p:cNvPr>
          <p:cNvSpPr txBox="1"/>
          <p:nvPr/>
        </p:nvSpPr>
        <p:spPr>
          <a:xfrm>
            <a:off x="7460517" y="1654316"/>
            <a:ext cx="3283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multiple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4B1C2-BFE8-1DE2-C675-A40349A4CAD3}"/>
              </a:ext>
            </a:extLst>
          </p:cNvPr>
          <p:cNvSpPr txBox="1"/>
          <p:nvPr/>
        </p:nvSpPr>
        <p:spPr>
          <a:xfrm>
            <a:off x="7460517" y="5726516"/>
            <a:ext cx="39935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채널별로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Kernel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합성 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내적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결과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 채널별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다시 합산하여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Feature map 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개를 생성하는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과정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FF9615D-33D2-191A-93A4-A89840D6F52C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726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DB1F-676C-0784-635D-DC8BC8B3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2C22D0A-1313-B903-6F04-E982F4C627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Visualization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9F0B72-DDC7-18AA-B22F-73829F19987C}"/>
              </a:ext>
            </a:extLst>
          </p:cNvPr>
          <p:cNvSpPr txBox="1"/>
          <p:nvPr/>
        </p:nvSpPr>
        <p:spPr>
          <a:xfrm>
            <a:off x="644986" y="1236259"/>
            <a:ext cx="11012385" cy="1074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 동영상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Kernel Size and Why Everyone Loves 3x3 - Neural Network Convolution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입력데이터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(8,6,6)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각 채널에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Kernel(3,3)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동일하게 적용하여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합산 값을 출력하는 것을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kernel)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반복하면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tensor(8,4,4)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생성하는 과정을 이해하자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ECD689-EE52-C02C-F285-18FE07FE3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586" y="2353214"/>
            <a:ext cx="6533557" cy="3495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3C82CD-F634-E04D-08CC-C281BB8C06F5}"/>
              </a:ext>
            </a:extLst>
          </p:cNvPr>
          <p:cNvSpPr txBox="1"/>
          <p:nvPr/>
        </p:nvSpPr>
        <p:spPr>
          <a:xfrm>
            <a:off x="644986" y="2703734"/>
            <a:ext cx="4147994" cy="893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tensor: (8,6,6) 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tensor: (8,3,3),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kernel(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색상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Output tensor: (8,4,4)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F0DC8-FCD6-0460-7E81-40F156D07A60}"/>
              </a:ext>
            </a:extLst>
          </p:cNvPr>
          <p:cNvSpPr txBox="1"/>
          <p:nvPr/>
        </p:nvSpPr>
        <p:spPr>
          <a:xfrm>
            <a:off x="591646" y="4909491"/>
            <a:ext cx="4201334" cy="8937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tensor: (8,6,6) 8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channel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tensor: 20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Kernel size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Output tensor: (20,4,4) 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9CD3A76-F298-88C6-B9BA-F1D593B0FB72}"/>
              </a:ext>
            </a:extLst>
          </p:cNvPr>
          <p:cNvSpPr/>
          <p:nvPr/>
        </p:nvSpPr>
        <p:spPr>
          <a:xfrm>
            <a:off x="1657453" y="3859237"/>
            <a:ext cx="495300" cy="7696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A5A8A-B0F5-B4B1-8BA3-06BCBBF93A66}"/>
              </a:ext>
            </a:extLst>
          </p:cNvPr>
          <p:cNvSpPr txBox="1"/>
          <p:nvPr/>
        </p:nvSpPr>
        <p:spPr>
          <a:xfrm>
            <a:off x="2160373" y="3882097"/>
            <a:ext cx="2685947" cy="61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만약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20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Kernel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을 적용하면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고차원의 특징을 추출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634285F-2C47-4B0F-C48A-2FA62B4B9F3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78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A693-EEDB-6C0D-17F4-4DDDDC70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B4D223F-706D-E146-1672-B8F673CB22F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Multiple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feature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maps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A95BA49-3286-FFC3-5DEF-EB0948B10936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CB6AB6-BB40-53A5-2B81-069FC17F5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103" y="1301316"/>
            <a:ext cx="5316659" cy="47132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60313-CA50-D7D4-3196-A9CB218CC166}"/>
              </a:ext>
            </a:extLst>
          </p:cNvPr>
          <p:cNvSpPr txBox="1"/>
          <p:nvPr/>
        </p:nvSpPr>
        <p:spPr>
          <a:xfrm>
            <a:off x="1066282" y="6067425"/>
            <a:ext cx="5385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Convolutional layers with multiple feature maps, and images with three color channels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D14C1827-D70D-5414-3EDB-6D6584FA3934}"/>
              </a:ext>
            </a:extLst>
          </p:cNvPr>
          <p:cNvSpPr/>
          <p:nvPr/>
        </p:nvSpPr>
        <p:spPr>
          <a:xfrm>
            <a:off x="7105651" y="4308152"/>
            <a:ext cx="4352406" cy="36512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35145"/>
              <a:gd name="adj6" fmla="val -57029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depth 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12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(convnet layer 1 Map #)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9253A732-B16B-74EF-DC36-BF523D95C5FD}"/>
              </a:ext>
            </a:extLst>
          </p:cNvPr>
          <p:cNvSpPr/>
          <p:nvPr/>
        </p:nvSpPr>
        <p:spPr>
          <a:xfrm>
            <a:off x="7105650" y="2424435"/>
            <a:ext cx="4352407" cy="36512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95145"/>
              <a:gd name="adj6" fmla="val -62501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depth 12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 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(convnet layer 2 map #)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4600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3436E-AD26-A468-3DD1-936CDE57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4BF91A-2317-B6DF-AF0D-C3CF326A6F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Function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Activation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Function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CDD7F5-5E7E-A439-0189-2DE625BE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15" y="1717450"/>
            <a:ext cx="7982459" cy="255872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8C7DD6-2189-B79E-911A-96DA77508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876" y="4228551"/>
            <a:ext cx="7936735" cy="1912466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648CE72-0757-DBDC-D28A-39361007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그래픽 13" descr="골프">
            <a:extLst>
              <a:ext uri="{FF2B5EF4-FFF2-40B4-BE49-F238E27FC236}">
                <a16:creationId xmlns:a16="http://schemas.microsoft.com/office/drawing/2014/main" id="{2EB9B38C-5F59-2AC3-EBE1-9F019EE4D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5287" y="299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46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6FEF-78EE-44A5-2AA8-B58C4EE7B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DEBB8C4-EB3A-7146-BD71-9E5A3DCDAE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 Function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Activation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Function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493024-8CAB-4316-C57C-3E230677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46" y="2428767"/>
            <a:ext cx="2598503" cy="279442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AC10E04-853C-47EB-871D-F4BE3414E8EA}"/>
              </a:ext>
            </a:extLst>
          </p:cNvPr>
          <p:cNvGraphicFramePr>
            <a:graphicFrameLocks noGrp="1"/>
          </p:cNvGraphicFramePr>
          <p:nvPr/>
        </p:nvGraphicFramePr>
        <p:xfrm>
          <a:off x="4720662" y="1825844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8739568-9AF2-1CE4-75FB-91FB3C31356C}"/>
              </a:ext>
            </a:extLst>
          </p:cNvPr>
          <p:cNvGraphicFramePr>
            <a:graphicFrameLocks noGrp="1"/>
          </p:cNvGraphicFramePr>
          <p:nvPr/>
        </p:nvGraphicFramePr>
        <p:xfrm>
          <a:off x="4720662" y="3537693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66EDAE3-4767-EED0-CBF5-AA17C014893E}"/>
              </a:ext>
            </a:extLst>
          </p:cNvPr>
          <p:cNvGraphicFramePr>
            <a:graphicFrameLocks noGrp="1"/>
          </p:cNvGraphicFramePr>
          <p:nvPr/>
        </p:nvGraphicFramePr>
        <p:xfrm>
          <a:off x="4720662" y="5249541"/>
          <a:ext cx="1194363" cy="1043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121">
                  <a:extLst>
                    <a:ext uri="{9D8B030D-6E8A-4147-A177-3AD203B41FA5}">
                      <a16:colId xmlns:a16="http://schemas.microsoft.com/office/drawing/2014/main" val="2786435963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3827515645"/>
                    </a:ext>
                  </a:extLst>
                </a:gridCol>
                <a:gridCol w="398121">
                  <a:extLst>
                    <a:ext uri="{9D8B030D-6E8A-4147-A177-3AD203B41FA5}">
                      <a16:colId xmlns:a16="http://schemas.microsoft.com/office/drawing/2014/main" val="2827207180"/>
                    </a:ext>
                  </a:extLst>
                </a:gridCol>
              </a:tblGrid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83622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28434"/>
                  </a:ext>
                </a:extLst>
              </a:tr>
              <a:tr h="34796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-5</a:t>
                      </a:r>
                      <a:endParaRPr lang="ko-KR" altLang="en-US" sz="14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78504"/>
                  </a:ext>
                </a:extLst>
              </a:tr>
            </a:tbl>
          </a:graphicData>
        </a:graphic>
      </p:graphicFrame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09FC970-6C0C-5210-5CF8-DF8A8688AA9F}"/>
              </a:ext>
            </a:extLst>
          </p:cNvPr>
          <p:cNvCxnSpPr/>
          <p:nvPr/>
        </p:nvCxnSpPr>
        <p:spPr>
          <a:xfrm>
            <a:off x="6448425" y="2428767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D7FCB08B-66F4-87B4-F20A-1C1F228A178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1972671"/>
            <a:ext cx="1275596" cy="932453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3FF9ECC-D489-D531-04CB-660570D27766}"/>
              </a:ext>
            </a:extLst>
          </p:cNvPr>
          <p:cNvCxnSpPr/>
          <p:nvPr/>
        </p:nvCxnSpPr>
        <p:spPr>
          <a:xfrm>
            <a:off x="6448425" y="4085469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D2C4F28-A8D7-E629-52F3-B22D35BF1D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3629373"/>
            <a:ext cx="1275596" cy="932453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76D93C3-BD31-7E72-215F-5FE172046051}"/>
              </a:ext>
            </a:extLst>
          </p:cNvPr>
          <p:cNvCxnSpPr/>
          <p:nvPr/>
        </p:nvCxnSpPr>
        <p:spPr>
          <a:xfrm>
            <a:off x="6448425" y="5724417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8C2480E6-96FC-6497-206C-4BFB17FE193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69368" y="5268321"/>
            <a:ext cx="1275596" cy="9324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829464-9279-84EB-6813-6716E7DE07F4}"/>
              </a:ext>
            </a:extLst>
          </p:cNvPr>
          <p:cNvSpPr txBox="1"/>
          <p:nvPr/>
        </p:nvSpPr>
        <p:spPr>
          <a:xfrm>
            <a:off x="4558164" y="1446528"/>
            <a:ext cx="18902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Horizontal/Diagonal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9C038D-B952-75DF-7487-E820508392FE}"/>
              </a:ext>
            </a:extLst>
          </p:cNvPr>
          <p:cNvSpPr txBox="1"/>
          <p:nvPr/>
        </p:nvSpPr>
        <p:spPr>
          <a:xfrm>
            <a:off x="4463200" y="317045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Vertical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957353-B9AF-67E0-FD62-F604366BA6B8}"/>
              </a:ext>
            </a:extLst>
          </p:cNvPr>
          <p:cNvSpPr txBox="1"/>
          <p:nvPr/>
        </p:nvSpPr>
        <p:spPr>
          <a:xfrm>
            <a:off x="4457111" y="489438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Loop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3822090-781C-26D4-44D4-D099E1A52510}"/>
              </a:ext>
            </a:extLst>
          </p:cNvPr>
          <p:cNvCxnSpPr/>
          <p:nvPr/>
        </p:nvCxnSpPr>
        <p:spPr>
          <a:xfrm>
            <a:off x="3818936" y="4075836"/>
            <a:ext cx="638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29216AF-ED58-F476-6F5F-2AE0673A1E56}"/>
              </a:ext>
            </a:extLst>
          </p:cNvPr>
          <p:cNvCxnSpPr>
            <a:cxnSpLocks/>
          </p:cNvCxnSpPr>
          <p:nvPr/>
        </p:nvCxnSpPr>
        <p:spPr>
          <a:xfrm>
            <a:off x="3742736" y="5495061"/>
            <a:ext cx="543514" cy="229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6498FB2-D6A6-1546-F077-2010C4599970}"/>
              </a:ext>
            </a:extLst>
          </p:cNvPr>
          <p:cNvCxnSpPr>
            <a:cxnSpLocks/>
          </p:cNvCxnSpPr>
          <p:nvPr/>
        </p:nvCxnSpPr>
        <p:spPr>
          <a:xfrm flipV="1">
            <a:off x="3818936" y="2428767"/>
            <a:ext cx="467314" cy="21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874F86C5-F736-36B6-94DA-A81A5A3E5C42}"/>
              </a:ext>
            </a:extLst>
          </p:cNvPr>
          <p:cNvSpPr/>
          <p:nvPr/>
        </p:nvSpPr>
        <p:spPr>
          <a:xfrm>
            <a:off x="9187330" y="2347791"/>
            <a:ext cx="2598503" cy="3141743"/>
          </a:xfrm>
          <a:prstGeom prst="rightArrow">
            <a:avLst>
              <a:gd name="adj1" fmla="val 73016"/>
              <a:gd name="adj2" fmla="val 5000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각각의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Kernel (Filter)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 err="1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결과를 구한 후 모두 더하면</a:t>
            </a:r>
          </a:p>
          <a:p>
            <a:pPr algn="ctr"/>
            <a:endParaRPr lang="ko-KR" altLang="en-US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D136316-5245-4763-0158-E4EFD17B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그래픽 4" descr="골프">
            <a:extLst>
              <a:ext uri="{FF2B5EF4-FFF2-40B4-BE49-F238E27FC236}">
                <a16:creationId xmlns:a16="http://schemas.microsoft.com/office/drawing/2014/main" id="{26C349F5-2FAD-84A4-48D9-66D08FAF1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5287" y="299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650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A022-7380-9D38-024A-1727E6B5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6E04A-9293-D134-90F2-4FED36389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 err="1">
                <a:solidFill>
                  <a:schemeClr val="bg1"/>
                </a:solidFill>
              </a:rPr>
              <a:t>Poolings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8845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1A72-914C-D9A7-9C3C-43C78CF7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2313B9-0D41-55BB-F412-8D624774E36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Pooling Function – Non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Trainable Parameters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2CA83C4-5821-CABF-224D-F3FAC3A8F8A8}"/>
              </a:ext>
            </a:extLst>
          </p:cNvPr>
          <p:cNvCxnSpPr>
            <a:cxnSpLocks/>
          </p:cNvCxnSpPr>
          <p:nvPr/>
        </p:nvCxnSpPr>
        <p:spPr>
          <a:xfrm>
            <a:off x="1489105" y="3985260"/>
            <a:ext cx="41452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10460A90-BD6B-863B-0569-8B354DF7A77F}"/>
                  </a:ext>
                </a:extLst>
              </p:cNvPr>
              <p:cNvSpPr/>
              <p:nvPr/>
            </p:nvSpPr>
            <p:spPr>
              <a:xfrm>
                <a:off x="2321590" y="2954655"/>
                <a:ext cx="2164080" cy="2346960"/>
              </a:xfrm>
              <a:prstGeom prst="roundRect">
                <a:avLst>
                  <a:gd name="adj" fmla="val 8304"/>
                </a:avLst>
              </a:prstGeom>
              <a:solidFill>
                <a:schemeClr val="accent6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10460A90-BD6B-863B-0569-8B354DF7A7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590" y="2954655"/>
                <a:ext cx="2164080" cy="2346960"/>
              </a:xfrm>
              <a:prstGeom prst="roundRect">
                <a:avLst>
                  <a:gd name="adj" fmla="val 8304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5C0228-358D-97CF-0F36-C8E4774BFD6B}"/>
                  </a:ext>
                </a:extLst>
              </p:cNvPr>
              <p:cNvSpPr txBox="1"/>
              <p:nvPr/>
            </p:nvSpPr>
            <p:spPr>
              <a:xfrm>
                <a:off x="5842030" y="3689062"/>
                <a:ext cx="6248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8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5C0228-358D-97CF-0F36-C8E4774BF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30" y="3689062"/>
                <a:ext cx="62484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D2AEAA-159D-2B11-F5C4-60FACE8B75A0}"/>
                  </a:ext>
                </a:extLst>
              </p:cNvPr>
              <p:cNvSpPr txBox="1"/>
              <p:nvPr/>
            </p:nvSpPr>
            <p:spPr>
              <a:xfrm>
                <a:off x="532795" y="3689062"/>
                <a:ext cx="8001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8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D2AEAA-159D-2B11-F5C4-60FACE8B7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95" y="3689062"/>
                <a:ext cx="8001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C94CD0-2572-3613-84A1-AC2578F94145}"/>
                  </a:ext>
                </a:extLst>
              </p:cNvPr>
              <p:cNvSpPr txBox="1"/>
              <p:nvPr/>
            </p:nvSpPr>
            <p:spPr>
              <a:xfrm>
                <a:off x="2092990" y="5363861"/>
                <a:ext cx="2621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20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EC94CD0-2572-3613-84A1-AC2578F94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990" y="5363861"/>
                <a:ext cx="2621280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514DCB2-562C-5519-EC21-4EA56B154772}"/>
              </a:ext>
            </a:extLst>
          </p:cNvPr>
          <p:cNvCxnSpPr>
            <a:cxnSpLocks/>
          </p:cNvCxnSpPr>
          <p:nvPr/>
        </p:nvCxnSpPr>
        <p:spPr>
          <a:xfrm>
            <a:off x="6604030" y="3985260"/>
            <a:ext cx="41452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6F007877-F8DC-32AD-8C44-2284A7DDC9C0}"/>
                  </a:ext>
                </a:extLst>
              </p:cNvPr>
              <p:cNvSpPr/>
              <p:nvPr/>
            </p:nvSpPr>
            <p:spPr>
              <a:xfrm>
                <a:off x="7598440" y="2954655"/>
                <a:ext cx="2164080" cy="2346960"/>
              </a:xfrm>
              <a:prstGeom prst="roundRect">
                <a:avLst>
                  <a:gd name="adj" fmla="val 7424"/>
                </a:avLst>
              </a:prstGeom>
              <a:solidFill>
                <a:srgbClr val="FF0000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800" b="0" i="1" dirty="0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ko-KR" alt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6F007877-F8DC-32AD-8C44-2284A7DDC9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440" y="2954655"/>
                <a:ext cx="2164080" cy="2346960"/>
              </a:xfrm>
              <a:prstGeom prst="roundRect">
                <a:avLst>
                  <a:gd name="adj" fmla="val 7424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8FB77B-439D-D464-CE17-CB12E6F8A67E}"/>
                  </a:ext>
                </a:extLst>
              </p:cNvPr>
              <p:cNvSpPr txBox="1"/>
              <p:nvPr/>
            </p:nvSpPr>
            <p:spPr>
              <a:xfrm>
                <a:off x="11057818" y="3689062"/>
                <a:ext cx="5905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800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8FB77B-439D-D464-CE17-CB12E6F8A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7818" y="3689062"/>
                <a:ext cx="59055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6FED0-1508-500C-4952-E3FBF47F8B3B}"/>
                  </a:ext>
                </a:extLst>
              </p:cNvPr>
              <p:cNvSpPr txBox="1"/>
              <p:nvPr/>
            </p:nvSpPr>
            <p:spPr>
              <a:xfrm>
                <a:off x="7512715" y="5424652"/>
                <a:ext cx="2621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ko-KR" altLang="en-US" sz="20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6FED0-1508-500C-4952-E3FBF47F8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715" y="5424652"/>
                <a:ext cx="2621280" cy="400110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EC7111D-2278-4B61-EA04-0F4F00C4E125}"/>
              </a:ext>
            </a:extLst>
          </p:cNvPr>
          <p:cNvSpPr txBox="1"/>
          <p:nvPr/>
        </p:nvSpPr>
        <p:spPr>
          <a:xfrm>
            <a:off x="2321590" y="2550928"/>
            <a:ext cx="216408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cap="none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D1889F-F316-68FF-CC4A-A3CEC99057C2}"/>
              </a:ext>
            </a:extLst>
          </p:cNvPr>
          <p:cNvSpPr txBox="1"/>
          <p:nvPr/>
        </p:nvSpPr>
        <p:spPr>
          <a:xfrm>
            <a:off x="7598441" y="2550928"/>
            <a:ext cx="216408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Pooling layer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23F9F-5208-9860-3E37-65466BC2731A}"/>
              </a:ext>
            </a:extLst>
          </p:cNvPr>
          <p:cNvSpPr txBox="1"/>
          <p:nvPr/>
        </p:nvSpPr>
        <p:spPr>
          <a:xfrm>
            <a:off x="1757710" y="5895529"/>
            <a:ext cx="402717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Convolution/Activation Function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9" name="슬라이드 번호 개체 틀 3">
            <a:extLst>
              <a:ext uri="{FF2B5EF4-FFF2-40B4-BE49-F238E27FC236}">
                <a16:creationId xmlns:a16="http://schemas.microsoft.com/office/drawing/2014/main" id="{C3219238-B868-BD74-11C6-1D223F59136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33C4EE-E121-2714-88F7-0B93DFD8F83A}"/>
              </a:ext>
            </a:extLst>
          </p:cNvPr>
          <p:cNvSpPr txBox="1"/>
          <p:nvPr/>
        </p:nvSpPr>
        <p:spPr>
          <a:xfrm>
            <a:off x="527079" y="1213369"/>
            <a:ext cx="10988645" cy="791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(Pooling)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레이어는 학습을 통해 업데이트되는 학습 파라미터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(Trainable Parameters,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가중치 및 편향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전혀 없는 레이어로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Kernel layer(convolution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이후에 차원 축소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연산량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감소 등을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위해 적용</a:t>
            </a:r>
          </a:p>
        </p:txBody>
      </p:sp>
    </p:spTree>
    <p:extLst>
      <p:ext uri="{BB962C8B-B14F-4D97-AF65-F5344CB8AC3E}">
        <p14:creationId xmlns:p14="http://schemas.microsoft.com/office/powerpoint/2010/main" val="12784739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2D2A-D3C5-D4E6-EC2A-B2331510D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111679-65E1-9DD1-67EF-243877EC07C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Pooling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D5778-AF63-C8F0-19D2-1E69E39BDBAA}"/>
              </a:ext>
            </a:extLst>
          </p:cNvPr>
          <p:cNvSpPr txBox="1"/>
          <p:nvPr/>
        </p:nvSpPr>
        <p:spPr>
          <a:xfrm>
            <a:off x="612778" y="1219847"/>
            <a:ext cx="11179171" cy="2136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연산량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감소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방지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적용하면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공간적 크기가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1/4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대폭 줄어들어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연산속도가 높아지고 모델이 픽셀 하나하나에 과도하게 맞추어 학습하는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(Overfitting)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방지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(Receptive Field)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확대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줌 아웃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Zoom-out)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효과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풀링으로 특성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반으로 축소한 뒤 다시 필터를 적용하면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같은 크기의 필터라도 원본 이미지 기준으로는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배 이상 넓은 영역을 한눈에 보게 됨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696C76B9-ECE3-3208-E919-88E22220AC4F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39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CBB002-9AA0-31B7-DA19-87897E543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434" y="3737846"/>
            <a:ext cx="5814845" cy="2257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1BBDC8-F3B5-5272-ACF4-79065C8F76C3}"/>
              </a:ext>
            </a:extLst>
          </p:cNvPr>
          <p:cNvSpPr txBox="1"/>
          <p:nvPr/>
        </p:nvSpPr>
        <p:spPr>
          <a:xfrm>
            <a:off x="2761993" y="6068240"/>
            <a:ext cx="4962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map pooling with a 2 × 2 filter and stride 2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7129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D4B3-E7F7-EE07-41AB-8C789855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170B52-B595-5697-F4EE-C8596D2B9A3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Pooling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FAD44869-8DFC-8C10-F455-0AAE951FF38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BC58AF3-E597-C3DA-02C6-FD40F00DFB48}"/>
              </a:ext>
            </a:extLst>
          </p:cNvPr>
          <p:cNvCxnSpPr>
            <a:cxnSpLocks/>
          </p:cNvCxnSpPr>
          <p:nvPr/>
        </p:nvCxnSpPr>
        <p:spPr>
          <a:xfrm>
            <a:off x="1323975" y="3985260"/>
            <a:ext cx="31197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E327174-DD70-F86A-BB61-EBA5DC13CCA8}"/>
              </a:ext>
            </a:extLst>
          </p:cNvPr>
          <p:cNvCxnSpPr>
            <a:cxnSpLocks/>
          </p:cNvCxnSpPr>
          <p:nvPr/>
        </p:nvCxnSpPr>
        <p:spPr>
          <a:xfrm>
            <a:off x="6438900" y="3985260"/>
            <a:ext cx="191011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0A2307-A4C8-B23C-1065-C468C4F02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4" y="2119313"/>
            <a:ext cx="2951680" cy="311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41C7E6C-02F1-6AB7-1081-CC75A6F0C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749" y="2119313"/>
            <a:ext cx="2951680" cy="311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674A51F-7D72-E97C-26CF-E862A3649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033" y="2119313"/>
            <a:ext cx="2951680" cy="311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0519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21D2-C9F2-002C-DE68-B256BFF9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ED5F968-99EF-7AE4-6D29-EC6B81E91E9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Pooling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6E4604-AEC6-D012-BF05-DE8B71813AA6}"/>
              </a:ext>
            </a:extLst>
          </p:cNvPr>
          <p:cNvSpPr txBox="1"/>
          <p:nvPr/>
        </p:nvSpPr>
        <p:spPr>
          <a:xfrm>
            <a:off x="542925" y="1248422"/>
            <a:ext cx="11068050" cy="1074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미세한 위치 불변성 보완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이미지 속 피사체가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1~2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 정도 살짝 이동하거나 비틀려도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해당 구역 내의 최댓값은 거의 변하지 않으므로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해당 특징이 정확히 몇 번째 픽셀에 있는가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보다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 구역 부근에 원하는 특징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 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존재하는가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감지</a:t>
            </a: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AF298B06-4644-AD53-0008-2F86C29B817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D4E8F1-9451-E218-9E87-BA6F10706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496" y="2209801"/>
            <a:ext cx="6062534" cy="39360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55E14B-CF0D-023F-5E6F-FDE66CE12A1C}"/>
              </a:ext>
            </a:extLst>
          </p:cNvPr>
          <p:cNvSpPr txBox="1"/>
          <p:nvPr/>
        </p:nvSpPr>
        <p:spPr>
          <a:xfrm>
            <a:off x="3847496" y="6206740"/>
            <a:ext cx="3982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Invariance to small translations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44992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E9B68-47EE-F342-FBFC-C0A47E6E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9C80C9A-29D4-D8CD-7C08-0CE1DE127D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MaxPooling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Layer &amp; Receptive Field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46BB49A5-BC4E-4C19-D155-97F0CCF7CB75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7D345-8BC6-75F3-2FE2-0082BB9F9AA6}"/>
              </a:ext>
            </a:extLst>
          </p:cNvPr>
          <p:cNvSpPr txBox="1"/>
          <p:nvPr/>
        </p:nvSpPr>
        <p:spPr>
          <a:xfrm>
            <a:off x="623326" y="4676547"/>
            <a:ext cx="5729850" cy="138499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(shape=(28, 28, 1))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layers.Conv2D(filters=64,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layers.Conv2D(filters=128,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layers.Conv2D(filters=256,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>
              <a:buNone/>
            </a:pP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model_no_max_pool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39BCE-B37D-4FA1-63E7-8ED32B2AAE0C}"/>
              </a:ext>
            </a:extLst>
          </p:cNvPr>
          <p:cNvSpPr txBox="1"/>
          <p:nvPr/>
        </p:nvSpPr>
        <p:spPr>
          <a:xfrm>
            <a:off x="623326" y="1828107"/>
            <a:ext cx="5729850" cy="175432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(shape=(28, 28, 1))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layers.Conv2D(filters=64,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")(inputs)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layers.Conv2D(filters=128,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layers.Conv2D(filters=256,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</a:t>
            </a:r>
          </a:p>
          <a:p>
            <a:pPr algn="l" latinLnBrk="0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</a:p>
          <a:p>
            <a:pPr algn="l">
              <a:buNone/>
            </a:pP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2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E81F57-3E35-4F6D-6E6B-5B8F9C3875AF}"/>
              </a:ext>
            </a:extLst>
          </p:cNvPr>
          <p:cNvSpPr txBox="1"/>
          <p:nvPr/>
        </p:nvSpPr>
        <p:spPr>
          <a:xfrm>
            <a:off x="623325" y="1487350"/>
            <a:ext cx="279615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B2A08-A1A9-ED96-6878-B118EF577741}"/>
              </a:ext>
            </a:extLst>
          </p:cNvPr>
          <p:cNvSpPr txBox="1"/>
          <p:nvPr/>
        </p:nvSpPr>
        <p:spPr>
          <a:xfrm>
            <a:off x="623325" y="4348332"/>
            <a:ext cx="279615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model_no_max_pool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3" name="그래픽 22" descr="골프">
            <a:extLst>
              <a:ext uri="{FF2B5EF4-FFF2-40B4-BE49-F238E27FC236}">
                <a16:creationId xmlns:a16="http://schemas.microsoft.com/office/drawing/2014/main" id="{2D91C9E4-DD32-1318-6ADF-40C4C13D6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5287" y="299420"/>
            <a:ext cx="914400" cy="91440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7BC70C8-4D68-FCCF-001D-C201AA811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458170"/>
              </p:ext>
            </p:extLst>
          </p:nvPr>
        </p:nvGraphicFramePr>
        <p:xfrm>
          <a:off x="6534407" y="1825904"/>
          <a:ext cx="5381625" cy="423564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000704">
                  <a:extLst>
                    <a:ext uri="{9D8B030D-6E8A-4147-A177-3AD203B41FA5}">
                      <a16:colId xmlns:a16="http://schemas.microsoft.com/office/drawing/2014/main" val="3483686098"/>
                    </a:ext>
                  </a:extLst>
                </a:gridCol>
                <a:gridCol w="2073947">
                  <a:extLst>
                    <a:ext uri="{9D8B030D-6E8A-4147-A177-3AD203B41FA5}">
                      <a16:colId xmlns:a16="http://schemas.microsoft.com/office/drawing/2014/main" val="1922946208"/>
                    </a:ext>
                  </a:extLst>
                </a:gridCol>
                <a:gridCol w="2306974">
                  <a:extLst>
                    <a:ext uri="{9D8B030D-6E8A-4147-A177-3AD203B41FA5}">
                      <a16:colId xmlns:a16="http://schemas.microsoft.com/office/drawing/2014/main" val="2693564908"/>
                    </a:ext>
                  </a:extLst>
                </a:gridCol>
              </a:tblGrid>
              <a:tr h="7059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Convnet model 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맥스 </a:t>
                      </a:r>
                      <a:r>
                        <a:rPr lang="ko-KR" altLang="en-US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풀링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있음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Convnet no pooling model 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맥스 </a:t>
                      </a:r>
                      <a:r>
                        <a:rPr lang="ko-KR" altLang="en-US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풀링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없음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/>
                </a:tc>
                <a:extLst>
                  <a:ext uri="{0D108BD9-81ED-4DB2-BD59-A6C34878D82A}">
                    <a16:rowId xmlns:a16="http://schemas.microsoft.com/office/drawing/2014/main" val="4083222581"/>
                  </a:ext>
                </a:extLst>
              </a:tr>
              <a:tr h="7059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특성 맵 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크기 변화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(28,28)→(26,26)→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(13,13)→(11,11)→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(5,5)→(3,3)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(28,28)→(26,26)→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(24,24)→(22,22)</a:t>
                      </a:r>
                    </a:p>
                  </a:txBody>
                  <a:tcPr marL="17760" marR="17760" marT="11840" marB="11840" anchor="ctr"/>
                </a:tc>
                <a:extLst>
                  <a:ext uri="{0D108BD9-81ED-4DB2-BD59-A6C34878D82A}">
                    <a16:rowId xmlns:a16="http://schemas.microsoft.com/office/drawing/2014/main" val="2725520160"/>
                  </a:ext>
                </a:extLst>
              </a:tr>
              <a:tr h="7059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수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Params)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동일함 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(372,234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동일함 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(372,234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/>
                </a:tc>
                <a:extLst>
                  <a:ext uri="{0D108BD9-81ED-4DB2-BD59-A6C34878D82A}">
                    <a16:rowId xmlns:a16="http://schemas.microsoft.com/office/drawing/2014/main" val="2271717367"/>
                  </a:ext>
                </a:extLst>
              </a:tr>
              <a:tr h="7059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연산량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및 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메모리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효율적임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빠른 속도 메모리 절약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높음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느린 속도 메모리 소모 큼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/>
                </a:tc>
                <a:extLst>
                  <a:ext uri="{0D108BD9-81ED-4DB2-BD59-A6C34878D82A}">
                    <a16:rowId xmlns:a16="http://schemas.microsoft.com/office/drawing/2014/main" val="3009686081"/>
                  </a:ext>
                </a:extLst>
              </a:tr>
              <a:tr h="7059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수용장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Receptive </a:t>
                      </a:r>
                    </a:p>
                    <a:p>
                      <a:pPr algn="ctr" rtl="0" fontAlgn="b">
                        <a:buNone/>
                      </a:pPr>
                      <a:r>
                        <a:rPr 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Field)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넓음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원본 전체 영역 바라봄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좁음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원본 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7×7 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영역 바라봄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/>
                </a:tc>
                <a:extLst>
                  <a:ext uri="{0D108BD9-81ED-4DB2-BD59-A6C34878D82A}">
                    <a16:rowId xmlns:a16="http://schemas.microsoft.com/office/drawing/2014/main" val="2603321189"/>
                  </a:ext>
                </a:extLst>
              </a:tr>
              <a:tr h="7059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공간 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불변성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높음 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사물이 약간 이동해도 </a:t>
                      </a:r>
                      <a:endParaRPr lang="en-US" alt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안정적으로 인식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17760" marR="17760" marT="11840" marB="1184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낮음</a:t>
                      </a:r>
                    </a:p>
                  </a:txBody>
                  <a:tcPr marL="17760" marR="17760" marT="11840" marB="11840" anchor="ctr"/>
                </a:tc>
                <a:extLst>
                  <a:ext uri="{0D108BD9-81ED-4DB2-BD59-A6C34878D82A}">
                    <a16:rowId xmlns:a16="http://schemas.microsoft.com/office/drawing/2014/main" val="648669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785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ADD2-CC53-8337-6FB7-6EBAEEF6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EB6AF2-D040-DB0C-EAF2-98771BDDEA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MaxPooling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30" name="슬라이드 번호 개체 틀 3">
            <a:extLst>
              <a:ext uri="{FF2B5EF4-FFF2-40B4-BE49-F238E27FC236}">
                <a16:creationId xmlns:a16="http://schemas.microsoft.com/office/drawing/2014/main" id="{519D90AE-53BD-C5D2-C397-7C2CCB13F3B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6E39D-D189-E3CB-292C-32D80746A23F}"/>
              </a:ext>
            </a:extLst>
          </p:cNvPr>
          <p:cNvSpPr txBox="1"/>
          <p:nvPr/>
        </p:nvSpPr>
        <p:spPr>
          <a:xfrm>
            <a:off x="561974" y="1277273"/>
            <a:ext cx="11239501" cy="4722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다운 샘플링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이 없을 때 발생하는 2가지 문제</a:t>
            </a:r>
            <a:endParaRPr lang="en-US" altLang="ko-KR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좁은 시야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수용장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한계): 3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합성곱만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3번 쌓으면, 3번째 레이어는 원본 이미지에서 7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7 픽셀 영역만 보고 판단하기 때문에 28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28 크기 숫자 이미지 전체 형태(숫자 0, 8 등의 전체 구도)를 알아채지 못함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정보 손실 (과도한 맵 크기): 최종 22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22의 큰 특성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유지한 채 최종 분류기로 넘기기 위해 평균(Global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)을 내면, 수많은 공간 정보가 한 번에 뭉개 지면서 심각한 정보 파괴가 발생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다운 샘플링의 본질적 역할</a:t>
            </a:r>
            <a:endParaRPr lang="en-US" altLang="ko-KR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위치 정보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의미 정보 변환: 공간 크기(가로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세로)를 줄이는 대신 채널 수를 늘려, "어느 위치에 있는가"에서 "어떤 형상/의미가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존재하는가"로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정보를 집중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시야 확장: 지도 해상도를 줄여 한눈에 전체를 내려다보듯, 후반부 레이어가 이미지 전체 구도를 파악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맥스 </a:t>
            </a: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Max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Pooling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)이 가장 뛰어난 이유</a:t>
            </a:r>
            <a:endParaRPr lang="en-US" altLang="ko-KR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평균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)과의 비교: 시각 특징은 특정 패턴이 "거기에 강력하게 존재하는가(최댓값)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"가 중요하며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평균을 내버리면 모서리나 눈, 코 같은 특징 신호가 어두운 배경(0에 가까운 값)과 섞여 희석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스트라이드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Strided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)과의 비교: 처음부터 성큼성큼 건너뛰며 이미지 특징을 뽑으면 중요한 미세 특징을 빼먹을 수 있으며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스트라이드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없는 1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 이동으로 빽빽하게 특징을 찾은 뒤, 맥스 풀링으로 정수만 뽑아내는 것이 효과적</a:t>
            </a:r>
          </a:p>
        </p:txBody>
      </p:sp>
    </p:spTree>
    <p:extLst>
      <p:ext uri="{BB962C8B-B14F-4D97-AF65-F5344CB8AC3E}">
        <p14:creationId xmlns:p14="http://schemas.microsoft.com/office/powerpoint/2010/main" val="33070497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EA85-557B-2909-DB66-4055451D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317419E-04B5-153B-9DB8-F3120B3EE9B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CNN(Convolutional Neural Network)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53024-713F-9DE4-50B8-126CD14F06FB}"/>
              </a:ext>
            </a:extLst>
          </p:cNvPr>
          <p:cNvSpPr txBox="1"/>
          <p:nvPr/>
        </p:nvSpPr>
        <p:spPr>
          <a:xfrm>
            <a:off x="570895" y="1191272"/>
            <a:ext cx="11297255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통해 생성한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Map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이미지를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서브샘플링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(subsample,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즉 크기를 축소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것으로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연산 부하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(computational load),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메모리 사용량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(memory usage),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그리고 파라미터 개수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(number of parameters)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줄이는 것으로 그 결과 모델의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(overfitting)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위험을 방지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8AB133-7A6E-A64A-2248-2F7A9BAA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01" y="2909961"/>
            <a:ext cx="7049449" cy="2998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1F2049-E655-A9F9-92FD-1AAA28AE22C0}"/>
              </a:ext>
            </a:extLst>
          </p:cNvPr>
          <p:cNvSpPr txBox="1"/>
          <p:nvPr/>
        </p:nvSpPr>
        <p:spPr>
          <a:xfrm>
            <a:off x="9262975" y="4776248"/>
            <a:ext cx="229925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 Map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32972D-DA00-C47B-7806-9AC805EC2938}"/>
              </a:ext>
            </a:extLst>
          </p:cNvPr>
          <p:cNvSpPr txBox="1"/>
          <p:nvPr/>
        </p:nvSpPr>
        <p:spPr>
          <a:xfrm>
            <a:off x="9263221" y="2981050"/>
            <a:ext cx="229925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Max pooling Map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981D003-6310-22A5-1BFC-F5A6FDA1FCFA}"/>
              </a:ext>
            </a:extLst>
          </p:cNvPr>
          <p:cNvCxnSpPr>
            <a:cxnSpLocks/>
          </p:cNvCxnSpPr>
          <p:nvPr/>
        </p:nvCxnSpPr>
        <p:spPr>
          <a:xfrm flipV="1">
            <a:off x="10155425" y="3396682"/>
            <a:ext cx="0" cy="1256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F2964CC-907A-79C3-EF81-7292B7588E7B}"/>
              </a:ext>
            </a:extLst>
          </p:cNvPr>
          <p:cNvSpPr txBox="1"/>
          <p:nvPr/>
        </p:nvSpPr>
        <p:spPr>
          <a:xfrm>
            <a:off x="9277326" y="3851685"/>
            <a:ext cx="228514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Activation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F76B625-7BA0-B72D-A7C5-6BE85410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2612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285C-0CA6-131F-A9B2-B3596C69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EF9E5AB-9B8D-5BDB-63A5-EF9B27F33F5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Kernel(Filter)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Pooling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4D554-22FD-A6D7-0602-1D7924A91F94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채널이 있는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컬러이미지에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대한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CNN(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image-search/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cnn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/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이해하기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F9A623C-EB2D-129A-153E-FF04C678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166" y="2002698"/>
            <a:ext cx="7538720" cy="4240530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592E3EFA-D958-79F5-769A-A37BE29AE769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그래픽 10" descr="수영">
            <a:extLst>
              <a:ext uri="{FF2B5EF4-FFF2-40B4-BE49-F238E27FC236}">
                <a16:creationId xmlns:a16="http://schemas.microsoft.com/office/drawing/2014/main" id="{E883276C-5C47-14DA-8DFE-FA31C98661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314" y="3634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761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B4777-F2E7-411D-3C6D-AA8B7C766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820E8-EF93-CCBF-556A-D6E84E8CB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Convolution operation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5995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3433B-C0D4-0981-2B95-FD587758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9DFE7A3-DBCC-EA3B-A967-4C786A77D9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CNN(Convolutional Neural Network)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30DB2E-4ED6-F150-9668-12DD706B081F}"/>
              </a:ext>
            </a:extLst>
          </p:cNvPr>
          <p:cNvSpPr txBox="1"/>
          <p:nvPr/>
        </p:nvSpPr>
        <p:spPr>
          <a:xfrm>
            <a:off x="590550" y="1206132"/>
            <a:ext cx="11182350" cy="1998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전형적인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아키텍처는 몇 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각 레이어 뒤에는 보통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레이어가 따름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쌓은 뒤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레이어를 놓고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다시 몇 개의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(+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레이어를 쌓는 과정을 반복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네트워크를 거쳐 진행됨에 따라 이미지는 점점 작아지지만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 덕분에 보통 점점 더 깊어지고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특성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수가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많아짐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네트워크의 가장 상단에는 몇 개의 완전 연결 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(+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구성된 일반적인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순전파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신경망이 추가되며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 레이어에서 예측 결과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추정된 클래스 확률을 출력하는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소프트맥스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출력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FEE04AEE-680C-DFA7-1A3C-9C65E9D1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5285DA-A3EF-DAB7-4BAB-596E740A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30" y="3922962"/>
            <a:ext cx="8748989" cy="22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051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E5C9-3EE4-EF46-820B-D055D87E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296B4A5-DF49-6A3C-3D39-684225A59F8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CNN(Convolutional Neural Network)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6D5798-44A8-F05D-5334-0E3F33ED7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30" y="2310714"/>
            <a:ext cx="9181581" cy="39081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0F4E0F-5F6D-95C1-BCC6-7F781A346F0D}"/>
              </a:ext>
            </a:extLst>
          </p:cNvPr>
          <p:cNvSpPr txBox="1"/>
          <p:nvPr/>
        </p:nvSpPr>
        <p:spPr>
          <a:xfrm>
            <a:off x="475645" y="1248422"/>
            <a:ext cx="11297255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28 by 28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Kernel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통해 최종적으로는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4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5 by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5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이미지로 특성을 표현한 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Fully Connected Network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형태로 다시 표현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(Data Representation)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What is CNN?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F2171D79-849B-04F7-A206-3D8A062A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701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F6A97-A79C-3005-72F7-FE1B5337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CF297E9-9E7F-22B2-228D-5034591A923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Convolution layer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AB4D9A9-3F58-A31D-5672-F81FAE51A28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B0BF7-1580-1318-DBB5-52151858D7E7}"/>
              </a:ext>
            </a:extLst>
          </p:cNvPr>
          <p:cNvSpPr txBox="1"/>
          <p:nvPr/>
        </p:nvSpPr>
        <p:spPr>
          <a:xfrm>
            <a:off x="618811" y="1563567"/>
            <a:ext cx="5124763" cy="44959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 have some image and feature detector(3*3)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detector does not need to be 3 by 3 matrix. It can be 5 by 5 or 7 by 7.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detector = kernel = filter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Feauture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detector detects features like edges or convex shapes. Example, if out input is dog, feature detector can detect features like ear or tail of the dog.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map = conv(input image, feature detector). Element wise multiplication of matrices.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 map = convolved feature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Stride = navigating in input image.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 reduce the size of image. This is important </a:t>
            </a:r>
            <a:r>
              <a:rPr lang="en-US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bc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code runs faster. However, we lost information.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 create multiple feature maps because we use multiple feature detectors(filters).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Lets look at gimp. Edge detect: [0,10,0],[10,-4,10],[0,10,0]</a:t>
            </a:r>
          </a:p>
        </p:txBody>
      </p:sp>
      <p:pic>
        <p:nvPicPr>
          <p:cNvPr id="1026" name="Picture 2" descr="gec">
            <a:extLst>
              <a:ext uri="{FF2B5EF4-FFF2-40B4-BE49-F238E27FC236}">
                <a16:creationId xmlns:a16="http://schemas.microsoft.com/office/drawing/2014/main" id="{F2CE7CD2-C2E8-394E-3CBA-41EE89410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163" y="1563567"/>
            <a:ext cx="5723443" cy="402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7961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E90B-FA53-E760-B053-2F4FE9FF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F975182-D15F-69E4-C9D3-DDE5CB0988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Activation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E75BC0B-B10E-5088-CAEA-27E9DBA7DBCA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CF1DFA-9FAD-0542-39D3-ED54C84939CD}"/>
              </a:ext>
            </a:extLst>
          </p:cNvPr>
          <p:cNvSpPr txBox="1"/>
          <p:nvPr/>
        </p:nvSpPr>
        <p:spPr>
          <a:xfrm>
            <a:off x="618811" y="1563567"/>
            <a:ext cx="10887389" cy="8808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After having convolution layer, we use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to break up linearity.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Increase nonlinearity. Because images are non linear.</a:t>
            </a:r>
          </a:p>
        </p:txBody>
      </p:sp>
      <p:pic>
        <p:nvPicPr>
          <p:cNvPr id="2050" name="Picture 2" descr="RELU">
            <a:extLst>
              <a:ext uri="{FF2B5EF4-FFF2-40B4-BE49-F238E27FC236}">
                <a16:creationId xmlns:a16="http://schemas.microsoft.com/office/drawing/2014/main" id="{521AF12E-A6A8-AEFB-6175-2D959120A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891" y="3218227"/>
            <a:ext cx="7286171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9641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29FE-0781-8FC1-21E3-A40AC0DC8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0622E2E-43DA-A178-FCE5-91B8AE5AA9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Same Padding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D7E598F-9DC6-4590-1BD6-25092EB6709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528F7-0AB0-B057-E81C-26C2B69306A4}"/>
              </a:ext>
            </a:extLst>
          </p:cNvPr>
          <p:cNvSpPr txBox="1"/>
          <p:nvPr/>
        </p:nvSpPr>
        <p:spPr>
          <a:xfrm>
            <a:off x="651870" y="1392117"/>
            <a:ext cx="10887389" cy="1531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 we keep applying conv layers, the size of the volume will decrease faster than we would like.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 the early layers of our network, we want to preserve as much information about the original input volume so that we can extract those low level features.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Input size and output size are same.</a:t>
            </a:r>
          </a:p>
        </p:txBody>
      </p:sp>
      <p:pic>
        <p:nvPicPr>
          <p:cNvPr id="3074" name="Picture 2" descr="padding">
            <a:extLst>
              <a:ext uri="{FF2B5EF4-FFF2-40B4-BE49-F238E27FC236}">
                <a16:creationId xmlns:a16="http://schemas.microsoft.com/office/drawing/2014/main" id="{D3B897C9-BBA2-A957-5F53-2FCC5423B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633" y="3314700"/>
            <a:ext cx="7667626" cy="286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A15475-C94E-0FCB-06B3-B509E1922263}"/>
              </a:ext>
            </a:extLst>
          </p:cNvPr>
          <p:cNvSpPr txBox="1"/>
          <p:nvPr/>
        </p:nvSpPr>
        <p:spPr>
          <a:xfrm>
            <a:off x="689970" y="3651519"/>
            <a:ext cx="306765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신경망의 초기 레이어에서는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저수준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특징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(low-level features)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추출할 수 있도록 원본 입력의 정보를 가능한 한 많이 보존하고자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same padding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경계선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(Edge),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질감 같은 기본 특징을 초반에 잘 학습하려면 가장자리 정보가 손실되거나 이미지 크기가 조기에 줄어드는 것을 방지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10308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C0740-8744-BFFF-F3A0-35E0AA00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C16C79B-E437-54E8-0586-29998CF96D1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Max Pooling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C29BA06-D6D3-5650-C97E-65FF5871998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91009-267E-FE77-D5A8-EFBEF2BBB643}"/>
              </a:ext>
            </a:extLst>
          </p:cNvPr>
          <p:cNvSpPr txBox="1"/>
          <p:nvPr/>
        </p:nvSpPr>
        <p:spPr>
          <a:xfrm>
            <a:off x="604245" y="1287472"/>
            <a:ext cx="11159130" cy="11624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makes down-sampling or sub-sampling (Reduces the number of parameters)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makes the detection of features invariant to scale or orientation changes.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It reduce the amounts of parameters and computation in the network, and hence to also control overfitting.</a:t>
            </a:r>
          </a:p>
        </p:txBody>
      </p:sp>
      <p:pic>
        <p:nvPicPr>
          <p:cNvPr id="4098" name="Picture 2" descr="maxpool">
            <a:extLst>
              <a:ext uri="{FF2B5EF4-FFF2-40B4-BE49-F238E27FC236}">
                <a16:creationId xmlns:a16="http://schemas.microsoft.com/office/drawing/2014/main" id="{B7D268ED-69D9-09D0-5B96-5572D2B81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2781300"/>
            <a:ext cx="7617858" cy="345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8154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166B-E2A8-FA61-6243-35FD182C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C1277C-75A3-E9C8-3C02-9E1C897DC1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Flattening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E54BDE5-DC77-92EA-9DA2-49CCC4A1FD2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44D6E7-5401-39A1-378E-429150BB9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197" y="2678343"/>
            <a:ext cx="4802658" cy="271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446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90D9-A784-7876-7811-3FFB254B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F427AB-D9B6-FCC2-05A8-1B377D75123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5. Full Connection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CA53118-EF43-1680-A403-4B93C0C141B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2836D-C9FC-4FDC-7252-CC960037E4B1}"/>
              </a:ext>
            </a:extLst>
          </p:cNvPr>
          <p:cNvSpPr txBox="1"/>
          <p:nvPr/>
        </p:nvSpPr>
        <p:spPr>
          <a:xfrm>
            <a:off x="604245" y="1287472"/>
            <a:ext cx="11159130" cy="8808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Neurons in a fully connected layer have connections to all activations in the previous layer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Artificial Neural Network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pic>
        <p:nvPicPr>
          <p:cNvPr id="5122" name="Picture 2" descr="fullyc">
            <a:extLst>
              <a:ext uri="{FF2B5EF4-FFF2-40B4-BE49-F238E27FC236}">
                <a16:creationId xmlns:a16="http://schemas.microsoft.com/office/drawing/2014/main" id="{CD9A6E51-3A34-D534-06E9-E53637B97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820" y="2676740"/>
            <a:ext cx="8193024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1901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B50D-E316-FCB7-BCD9-8814CDDB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B2F5B11-3471-2688-D360-0DEC23F565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6. Applying dropout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2B285348-858D-172B-58FD-C4E840DD4A8B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BEE14-6F74-704D-8882-A8716EBA04C1}"/>
              </a:ext>
            </a:extLst>
          </p:cNvPr>
          <p:cNvSpPr txBox="1"/>
          <p:nvPr/>
        </p:nvSpPr>
        <p:spPr>
          <a:xfrm>
            <a:off x="604245" y="1287472"/>
            <a:ext cx="11159130" cy="88081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 =&gt; max pool =&gt; dropout =&gt; conv =&gt; max pool =&gt; dropout =&gt; fully connected (2 layer)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Dropout: Dropout is a technique where randomly selected neurons are ignored during training</a:t>
            </a:r>
          </a:p>
        </p:txBody>
      </p:sp>
      <p:pic>
        <p:nvPicPr>
          <p:cNvPr id="7170" name="Picture 2" descr="dropout">
            <a:extLst>
              <a:ext uri="{FF2B5EF4-FFF2-40B4-BE49-F238E27FC236}">
                <a16:creationId xmlns:a16="http://schemas.microsoft.com/office/drawing/2014/main" id="{DD4B10C0-2D18-F7D1-91A3-60C26B1E0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2431" y="2513003"/>
            <a:ext cx="7243317" cy="3678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8207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A960-2396-754F-3F3E-CB2F5AF0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D9DB1BB-BCA5-58D6-6472-9463C882E4C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7. Convnet Architecture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1002F28-97C3-4A86-005E-FC72E6AFE87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gec2">
            <a:extLst>
              <a:ext uri="{FF2B5EF4-FFF2-40B4-BE49-F238E27FC236}">
                <a16:creationId xmlns:a16="http://schemas.microsoft.com/office/drawing/2014/main" id="{4CDB6F1E-56D0-F136-7924-567A4AB11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62" y="1966913"/>
            <a:ext cx="11022676" cy="359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6296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F1C7-38EA-6D74-7EB1-366C0790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570A9-048D-1C0F-8E21-21D2A96DD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Practice for Image Classification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548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6D9A-FA41-2C59-AE0E-CFB6CAB0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C8789F7-E6CE-8A13-8993-4DB80A7E30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Kernel, Filter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75C2B3-6614-2911-5205-8AF7F278B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8" y="2314205"/>
            <a:ext cx="7414903" cy="40618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D3D52-F5BF-4321-448A-4369B312C318}"/>
              </a:ext>
            </a:extLst>
          </p:cNvPr>
          <p:cNvSpPr txBox="1"/>
          <p:nvPr/>
        </p:nvSpPr>
        <p:spPr>
          <a:xfrm>
            <a:off x="558800" y="1340904"/>
            <a:ext cx="1093216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모델구조와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작동방식을 이해하고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tensorflow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(Click)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로 실습하기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7BD27A-4D2C-F8D7-FB6E-09FF605403CA}"/>
              </a:ext>
            </a:extLst>
          </p:cNvPr>
          <p:cNvSpPr/>
          <p:nvPr/>
        </p:nvSpPr>
        <p:spPr>
          <a:xfrm>
            <a:off x="3738706" y="2666844"/>
            <a:ext cx="1818814" cy="1732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래픽 1" descr="수영">
            <a:extLst>
              <a:ext uri="{FF2B5EF4-FFF2-40B4-BE49-F238E27FC236}">
                <a16:creationId xmlns:a16="http://schemas.microsoft.com/office/drawing/2014/main" id="{EFE637C0-B53E-AB6A-7C98-66EC23225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314" y="363417"/>
            <a:ext cx="914400" cy="914400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8710B86-F8A8-1CC8-8523-FEC3C2CCE4DF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68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EB1D-5085-AFC4-6F4A-DB427660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A1F8927-CE36-3EA4-0E56-63905BA37F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Kernel, Filter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7ED0FE-C673-8670-DD6B-72F756A37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547" y="1468523"/>
            <a:ext cx="8313804" cy="5022626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D93140D-C081-07D8-4F6A-DD9463F74E39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5545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05597-2E63-8680-97C9-8A0379C3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6F3F87-E80C-B7E8-19A7-5F227D10B3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Visualization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14A798-1EC4-0DBB-1C3A-3CF3FAAABB82}"/>
              </a:ext>
            </a:extLst>
          </p:cNvPr>
          <p:cNvSpPr txBox="1"/>
          <p:nvPr/>
        </p:nvSpPr>
        <p:spPr>
          <a:xfrm>
            <a:off x="644986" y="1236259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개념적이고 직관적으로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https://poloclub.github.io/cnn-explainer/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에서 이해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D1AA27-A75B-37EC-B74E-57B16DF77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841763"/>
            <a:ext cx="9553575" cy="4194498"/>
          </a:xfrm>
          <a:prstGeom prst="rect">
            <a:avLst/>
          </a:prstGeom>
        </p:spPr>
      </p:pic>
      <p:pic>
        <p:nvPicPr>
          <p:cNvPr id="5" name="그래픽 4" descr="수영">
            <a:extLst>
              <a:ext uri="{FF2B5EF4-FFF2-40B4-BE49-F238E27FC236}">
                <a16:creationId xmlns:a16="http://schemas.microsoft.com/office/drawing/2014/main" id="{507DF9E5-B11C-216C-B486-139E237DD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314" y="363417"/>
            <a:ext cx="914400" cy="914400"/>
          </a:xfrm>
          <a:prstGeom prst="rect">
            <a:avLst/>
          </a:prstGeom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DB0A7963-1477-E978-4CA4-E380097A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6418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D9480-18CF-B9A7-CCAF-349FDA51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C7A2EA71-FBFE-0880-F545-5E313F254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86" y="1426419"/>
            <a:ext cx="8575192" cy="4974967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99144C6-22C4-6B31-706F-C163569EC23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Image Classification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B1D0B-EF63-6FF1-0A87-488C8FD4BEFA}"/>
              </a:ext>
            </a:extLst>
          </p:cNvPr>
          <p:cNvSpPr txBox="1"/>
          <p:nvPr/>
        </p:nvSpPr>
        <p:spPr>
          <a:xfrm>
            <a:off x="5061355" y="4472286"/>
            <a:ext cx="5768052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모델구조와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작동방식을 이해하고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tensorflow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코드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(Click)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로 실습하기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2D62138-00D1-EFBB-712E-D7834DDFEB3F}"/>
              </a:ext>
            </a:extLst>
          </p:cNvPr>
          <p:cNvSpPr/>
          <p:nvPr/>
        </p:nvSpPr>
        <p:spPr>
          <a:xfrm>
            <a:off x="568786" y="3981450"/>
            <a:ext cx="4003214" cy="2597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F511E3F-A021-6230-AD76-2912813CF33B}"/>
              </a:ext>
            </a:extLst>
          </p:cNvPr>
          <p:cNvSpPr/>
          <p:nvPr/>
        </p:nvSpPr>
        <p:spPr>
          <a:xfrm>
            <a:off x="4572000" y="3567143"/>
            <a:ext cx="1149812" cy="395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래픽 4" descr="수영">
            <a:extLst>
              <a:ext uri="{FF2B5EF4-FFF2-40B4-BE49-F238E27FC236}">
                <a16:creationId xmlns:a16="http://schemas.microsoft.com/office/drawing/2014/main" id="{66794397-9BEE-1E46-D744-7C2F99067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314" y="363417"/>
            <a:ext cx="914400" cy="914400"/>
          </a:xfrm>
          <a:prstGeom prst="rect">
            <a:avLst/>
          </a:prstGeom>
        </p:spPr>
      </p:pic>
      <p:pic>
        <p:nvPicPr>
          <p:cNvPr id="6" name="그래픽 5" descr="골프">
            <a:extLst>
              <a:ext uri="{FF2B5EF4-FFF2-40B4-BE49-F238E27FC236}">
                <a16:creationId xmlns:a16="http://schemas.microsoft.com/office/drawing/2014/main" id="{ADDF661E-E434-6432-A4D5-22FEF2035B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5007" y="247795"/>
            <a:ext cx="914400" cy="914400"/>
          </a:xfrm>
          <a:prstGeom prst="rect">
            <a:avLst/>
          </a:prstGeom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72C328F0-D406-3647-2141-C5F140C1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11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7A9EA-7B98-FDFF-D632-5B74C05F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5D5D00C-8810-FA27-6317-9E2B3F7CB85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CNN(Convolutional Neural Network)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AutoShape 2" descr="image">
            <a:extLst>
              <a:ext uri="{FF2B5EF4-FFF2-40B4-BE49-F238E27FC236}">
                <a16:creationId xmlns:a16="http://schemas.microsoft.com/office/drawing/2014/main" id="{91F0AC56-1AD8-E77D-393F-3FA0F42C87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B5D35AD-5B9D-3D46-8ED8-43517A6EE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490" y="1596194"/>
            <a:ext cx="9315406" cy="45188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A92472-7FFC-DEC8-94A2-CC8097F8CD44}"/>
              </a:ext>
            </a:extLst>
          </p:cNvPr>
          <p:cNvSpPr txBox="1"/>
          <p:nvPr/>
        </p:nvSpPr>
        <p:spPr>
          <a:xfrm>
            <a:off x="5062537" y="6093609"/>
            <a:ext cx="2371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subsample (shrink)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8AD35-208A-BBC6-C996-79BA16B24E7C}"/>
              </a:ext>
            </a:extLst>
          </p:cNvPr>
          <p:cNvSpPr txBox="1"/>
          <p:nvPr/>
        </p:nvSpPr>
        <p:spPr>
          <a:xfrm>
            <a:off x="8142286" y="6093609"/>
            <a:ext cx="2371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subsample (shrink)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31C80AD-B6C8-AE6B-32A5-68D73A1B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0292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BDC2-A382-4A4D-157D-EE18505D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68A2A7A-D234-221B-8C55-A5C68FC94F7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Image Classification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2E3F41B-E085-7A20-6E9B-106114ADA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996080"/>
              </p:ext>
            </p:extLst>
          </p:nvPr>
        </p:nvGraphicFramePr>
        <p:xfrm>
          <a:off x="741182" y="1723456"/>
          <a:ext cx="11013938" cy="4244156"/>
        </p:xfrm>
        <a:graphic>
          <a:graphicData uri="http://schemas.openxmlformats.org/drawingml/2006/table">
            <a:tbl>
              <a:tblPr/>
              <a:tblGrid>
                <a:gridCol w="565509">
                  <a:extLst>
                    <a:ext uri="{9D8B030D-6E8A-4147-A177-3AD203B41FA5}">
                      <a16:colId xmlns:a16="http://schemas.microsoft.com/office/drawing/2014/main" val="1466050574"/>
                    </a:ext>
                  </a:extLst>
                </a:gridCol>
                <a:gridCol w="1761629">
                  <a:extLst>
                    <a:ext uri="{9D8B030D-6E8A-4147-A177-3AD203B41FA5}">
                      <a16:colId xmlns:a16="http://schemas.microsoft.com/office/drawing/2014/main" val="141519408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88953976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47000943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352959133"/>
                    </a:ext>
                  </a:extLst>
                </a:gridCol>
                <a:gridCol w="5313680">
                  <a:extLst>
                    <a:ext uri="{9D8B030D-6E8A-4147-A177-3AD203B41FA5}">
                      <a16:colId xmlns:a16="http://schemas.microsoft.com/office/drawing/2014/main" val="2542550803"/>
                    </a:ext>
                  </a:extLst>
                </a:gridCol>
              </a:tblGrid>
              <a:tr h="29846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레이어</a:t>
                      </a: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레이어 이름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함수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 형태 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Input Shape)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출력 형태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Output Shape)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가중치 초기화 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Variance 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Scaling)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주요 역할 및 특징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53702"/>
                  </a:ext>
                </a:extLst>
              </a:tr>
              <a:tr h="3338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0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Input (</a:t>
                      </a:r>
                      <a:r>
                        <a:rPr lang="ko-KR" altLang="en-US" sz="1200" b="1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입력층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-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(28, 28, 1)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세로 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28, 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가로 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28, 1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채널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흑백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이미지 입력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780401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Conv2D 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첫 번째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(28, 28, 1)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(24, 24, 8)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(5,5)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필터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8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개로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이미지의 기본 특징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선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면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추출 및 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ReLU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적용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792075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MaxPooling2D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첫 번째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(24, 24, 8)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(12, 12, 8)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(2,2) 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영역에서 가장 큰 값만 추출하여 이미지 크기를 절반으로 축소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161666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Conv2D 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 번째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(12, 12, 8)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(8, 8, 16)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(5,5)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필터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16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개로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더 복잡하고 고차원적인 특징 추출 및 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ReLU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적용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943306"/>
                  </a:ext>
                </a:extLst>
              </a:tr>
              <a:tr h="47519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MaxPooling2D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두 번째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(8, 8, 16)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(4, 4, 16)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이미지 크기를 다시 한번 절반으로 축소하여 핵심 특징만 압축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094793"/>
                  </a:ext>
                </a:extLst>
              </a:tr>
              <a:tr h="5812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5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Flatten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평탄화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(4, 4, 16)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(256)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X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차원 특징 맵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(4,4,16) = 4*4*16 = 256)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차원의 긴 벡터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줄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로 펼침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45248"/>
                  </a:ext>
                </a:extLst>
              </a:tr>
              <a:tr h="54588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6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Dense (</a:t>
                      </a:r>
                      <a:r>
                        <a:rPr lang="ko-KR" altLang="en-US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출력층</a:t>
                      </a:r>
                      <a:r>
                        <a:rPr lang="en-US" altLang="ko-KR" sz="1200" b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(256)</a:t>
                      </a:r>
                      <a:endParaRPr lang="ko-KR" altLang="en-US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i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(2)</a:t>
                      </a:r>
                      <a:endParaRPr lang="ko-KR" altLang="en-US" sz="1200" b="1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O</a:t>
                      </a:r>
                      <a:endParaRPr lang="en-US" altLang="ko-KR" sz="1200" b="1" dirty="0">
                        <a:solidFill>
                          <a:srgbClr val="1F1F1F"/>
                        </a:solidFill>
                        <a:effectLst/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256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개의 특징을 받아 최종 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2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 클래스에 대한 확률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altLang="ko-KR" sz="1200" b="1" i="0" dirty="0" err="1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Softmax</a:t>
                      </a:r>
                      <a:r>
                        <a:rPr lang="en-US" altLang="ko-KR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dirty="0">
                          <a:solidFill>
                            <a:srgbClr val="1F1F1F"/>
                          </a:solidFill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계산</a:t>
                      </a:r>
                    </a:p>
                  </a:txBody>
                  <a:tcPr marL="11782" marR="11782" marT="7854" marB="7854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599086"/>
                  </a:ext>
                </a:extLst>
              </a:tr>
            </a:tbl>
          </a:graphicData>
        </a:graphic>
      </p:graphicFrame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5367F3F-1ECB-6D5D-5CBE-0320E86B662C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295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2D924-42A6-308A-318F-5DCAB84D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4DA0DEB-F95B-586B-A155-04B24FBBD83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Schematic diagram of a basic Convnet architecture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4B091F1-8133-145F-CA70-BC9BE699244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Schematic diagram of a basic convolutional neural network (CNN) architecture [26].">
            <a:extLst>
              <a:ext uri="{FF2B5EF4-FFF2-40B4-BE49-F238E27FC236}">
                <a16:creationId xmlns:a16="http://schemas.microsoft.com/office/drawing/2014/main" id="{7F173790-6EC0-B504-8079-B2A6E9542F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7C7DA6-7E63-383B-7525-8A02E1622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560" y="2212432"/>
            <a:ext cx="7407282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64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389B-473F-1672-8CA3-518ADC11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BF5EE-9971-7BDB-25AE-558289987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2108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LeNet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5741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9BB7-974B-332B-B2D3-8F848B69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FEC2FC1-D246-D6ED-7695-386F0C4FC4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Visualization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9A7F2C-B040-9181-C381-0EAF79249ED2}"/>
              </a:ext>
            </a:extLst>
          </p:cNvPr>
          <p:cNvSpPr txBox="1"/>
          <p:nvPr/>
        </p:nvSpPr>
        <p:spPr>
          <a:xfrm>
            <a:off x="644986" y="1207684"/>
            <a:ext cx="11012385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https://tensorspace.org/html/playground/lenet.html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E851A7FB-F6FC-45E6-71A5-54630A6A1756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19BE2C7-FE4F-C89B-25E0-9AB2247A8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754" y="1791561"/>
            <a:ext cx="3539505" cy="4731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F157098-04E9-D2A5-8C95-07C47EDC5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07" y="1791561"/>
            <a:ext cx="7230080" cy="47820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70F452E-128A-47CE-6F89-B0D9F64D22AD}"/>
              </a:ext>
            </a:extLst>
          </p:cNvPr>
          <p:cNvSpPr txBox="1"/>
          <p:nvPr/>
        </p:nvSpPr>
        <p:spPr>
          <a:xfrm>
            <a:off x="1341058" y="1887527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LeNet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47376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23E6-C186-5967-405A-469653BF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54753E9-190B-64FD-1066-166374E976B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LeNet-5(1998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년 얀 </a:t>
            </a:r>
            <a:r>
              <a:rPr lang="ko-KR" altLang="en-US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르쿤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교수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Neural_Networks_tutorial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295DC-FE1F-4E93-BF82-21DBF8647E1C}"/>
              </a:ext>
            </a:extLst>
          </p:cNvPr>
          <p:cNvSpPr txBox="1"/>
          <p:nvPr/>
        </p:nvSpPr>
        <p:spPr>
          <a:xfrm>
            <a:off x="615386" y="4043238"/>
            <a:ext cx="5480613" cy="3075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conv1 = nn.Conv2d(1, 6, 5)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6 kernels (5,5) size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933C2A-CDC7-01E7-A9FB-0129F1C095B1}"/>
              </a:ext>
            </a:extLst>
          </p:cNvPr>
          <p:cNvSpPr txBox="1"/>
          <p:nvPr/>
        </p:nvSpPr>
        <p:spPr>
          <a:xfrm>
            <a:off x="4284573" y="5235941"/>
            <a:ext cx="3106268" cy="3023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solidFill>
                  <a:srgbClr val="0070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conv2 = nn.Conv2d(6, 16, 5)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5B8366-0E8D-4FF5-CC85-F97104EC05B8}"/>
              </a:ext>
            </a:extLst>
          </p:cNvPr>
          <p:cNvSpPr txBox="1"/>
          <p:nvPr/>
        </p:nvSpPr>
        <p:spPr>
          <a:xfrm>
            <a:off x="2539648" y="4450501"/>
            <a:ext cx="5213702" cy="50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c1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(conv1(input))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s2 = max_pool2d(c1, (2, 2))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default stride 2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C9410A-0A63-BE47-A995-323F026ECD29}"/>
              </a:ext>
            </a:extLst>
          </p:cNvPr>
          <p:cNvSpPr txBox="1"/>
          <p:nvPr/>
        </p:nvSpPr>
        <p:spPr>
          <a:xfrm>
            <a:off x="5652526" y="5609153"/>
            <a:ext cx="3106268" cy="509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c3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(conv2(s2))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s4 = max_pool2d(c3, 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FB92E3-A8B3-1860-A8D2-D3C01D75F34D}"/>
              </a:ext>
            </a:extLst>
          </p:cNvPr>
          <p:cNvSpPr txBox="1"/>
          <p:nvPr/>
        </p:nvSpPr>
        <p:spPr>
          <a:xfrm>
            <a:off x="7629878" y="4316088"/>
            <a:ext cx="2209800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f5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(fc1(s4))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CDE3A0-3FAD-7D02-45A2-9581E9FB538A}"/>
              </a:ext>
            </a:extLst>
          </p:cNvPr>
          <p:cNvSpPr txBox="1"/>
          <p:nvPr/>
        </p:nvSpPr>
        <p:spPr>
          <a:xfrm>
            <a:off x="7601303" y="3984329"/>
            <a:ext cx="3725393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fc1 = </a:t>
            </a:r>
            <a:r>
              <a:rPr lang="en-US" altLang="ko-KR" sz="16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(16 * 5 * 5, 120)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AB45F0-CC27-8FA1-476D-1076192763AC}"/>
              </a:ext>
            </a:extLst>
          </p:cNvPr>
          <p:cNvSpPr txBox="1"/>
          <p:nvPr/>
        </p:nvSpPr>
        <p:spPr>
          <a:xfrm>
            <a:off x="8556213" y="5051686"/>
            <a:ext cx="3048000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f6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(fc2(f5))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1E201A-8E26-8118-AACB-8EB48FD819CF}"/>
              </a:ext>
            </a:extLst>
          </p:cNvPr>
          <p:cNvSpPr txBox="1"/>
          <p:nvPr/>
        </p:nvSpPr>
        <p:spPr>
          <a:xfrm>
            <a:off x="8555860" y="4740643"/>
            <a:ext cx="2807818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fc2 = </a:t>
            </a:r>
            <a:r>
              <a:rPr lang="en-US" altLang="ko-KR" sz="16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(120, 84)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9CA255-2078-8A4F-5EC2-BB49E33B223E}"/>
              </a:ext>
            </a:extLst>
          </p:cNvPr>
          <p:cNvSpPr txBox="1"/>
          <p:nvPr/>
        </p:nvSpPr>
        <p:spPr>
          <a:xfrm>
            <a:off x="9416374" y="5491889"/>
            <a:ext cx="2880401" cy="30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fc3 = </a:t>
            </a:r>
            <a:r>
              <a:rPr lang="en-US" altLang="ko-KR" sz="16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nn.Linear</a:t>
            </a:r>
            <a:r>
              <a:rPr lang="en-US" altLang="ko-KR" sz="16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(84, 10)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E3EEAF-ECCE-33E6-4697-30873C0C8140}"/>
              </a:ext>
            </a:extLst>
          </p:cNvPr>
          <p:cNvSpPr txBox="1"/>
          <p:nvPr/>
        </p:nvSpPr>
        <p:spPr>
          <a:xfrm>
            <a:off x="9444949" y="5668033"/>
            <a:ext cx="304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output = fc3(f6)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C775A2-21E3-1FE0-519E-60744981280A}"/>
              </a:ext>
            </a:extLst>
          </p:cNvPr>
          <p:cNvSpPr txBox="1"/>
          <p:nvPr/>
        </p:nvSpPr>
        <p:spPr>
          <a:xfrm>
            <a:off x="153424" y="2407301"/>
            <a:ext cx="923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57CDA5-0BF4-B589-9B91-C2BC97CA256B}"/>
              </a:ext>
            </a:extLst>
          </p:cNvPr>
          <p:cNvSpPr txBox="1"/>
          <p:nvPr/>
        </p:nvSpPr>
        <p:spPr>
          <a:xfrm>
            <a:off x="10906478" y="2407301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output</a:t>
            </a:r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6EE1B3C-BC1C-E1CA-4D4E-02977B303CBC}"/>
              </a:ext>
            </a:extLst>
          </p:cNvPr>
          <p:cNvCxnSpPr>
            <a:endCxn id="37" idx="1"/>
          </p:cNvCxnSpPr>
          <p:nvPr/>
        </p:nvCxnSpPr>
        <p:spPr>
          <a:xfrm>
            <a:off x="914400" y="2591967"/>
            <a:ext cx="99920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onvnet">
            <a:extLst>
              <a:ext uri="{FF2B5EF4-FFF2-40B4-BE49-F238E27FC236}">
                <a16:creationId xmlns:a16="http://schemas.microsoft.com/office/drawing/2014/main" id="{DD331A75-EF93-8703-2D1D-4A080F02D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782" y="1286447"/>
            <a:ext cx="9430546" cy="261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DDCEE17-4310-5899-53B6-FDB293EF6933}"/>
              </a:ext>
            </a:extLst>
          </p:cNvPr>
          <p:cNvCxnSpPr/>
          <p:nvPr/>
        </p:nvCxnSpPr>
        <p:spPr>
          <a:xfrm>
            <a:off x="6938459" y="3979175"/>
            <a:ext cx="2981325" cy="225932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03E5523-B314-856B-5B11-0BA1DDBD11F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그래픽 3" descr="학사모">
            <a:extLst>
              <a:ext uri="{FF2B5EF4-FFF2-40B4-BE49-F238E27FC236}">
                <a16:creationId xmlns:a16="http://schemas.microsoft.com/office/drawing/2014/main" id="{5D86E2D2-D74C-F328-15BD-1360A4B15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8807" y="2911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4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7" grpId="0"/>
      <p:bldP spid="21" grpId="0"/>
      <p:bldP spid="23" grpId="0"/>
      <p:bldP spid="25" grpId="0"/>
      <p:bldP spid="27" grpId="0"/>
      <p:bldP spid="29" grpId="0"/>
      <p:bldP spid="31" grpId="0"/>
      <p:bldP spid="3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FC8E9-1480-D14F-3218-50A05B4B2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4D717FE-684C-8596-3AB0-D50C173A22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LeNet-5(1998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년 얀 </a:t>
            </a:r>
            <a:r>
              <a:rPr lang="ko-KR" altLang="en-US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르쿤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교수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Neural_Networks_tutorial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9358C-5555-4398-7724-9F76B86F6376}"/>
              </a:ext>
            </a:extLst>
          </p:cNvPr>
          <p:cNvSpPr txBox="1"/>
          <p:nvPr/>
        </p:nvSpPr>
        <p:spPr>
          <a:xfrm>
            <a:off x="656663" y="1353850"/>
            <a:ext cx="9991725" cy="526297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tensorflow.keras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layers, Model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create_lenet5_functional():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inputs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layers.Input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(shape=(32, 32, 1), name='INPUT')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c1 = layers.Conv2D(filters=6,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=(5, 5), padding='valid',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name='C1')(inputs)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s2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=(2, 2), strides=(2, 2), name='S2')(c1)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c3 = layers.Conv2D(filters=16,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=(5, 5), padding='valid',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name='C3')(s2)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s4 = layers.MaxPooling2D(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=(2, 2), strides=(2, 2), name='S4')(c3)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flatten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layers.Flatten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(name='Flatten')(s4)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f5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(units=120,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name='F5')(flatten)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f6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(units=84,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name='F6')(f5)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outputs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(units=10, activation='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name='OUTPUT')(f6)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model = Model(inputs=inputs, outputs=outputs, name='LeNet-5_Functional')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return model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create_lenet5_functional()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model.summary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29AE325-904E-83E0-C81B-F776C0673E0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504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431D-1872-0B2D-8578-96D199A4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BC146B6-CCDA-C51A-0A97-F4089B733E9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LeNet-5(1998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년 얀 </a:t>
            </a:r>
            <a:r>
              <a:rPr lang="ko-KR" altLang="en-US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르쿤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교수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Neural_Networks_tutorial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D6B3466-5FF8-05A7-75B4-76F73CF8DF6B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69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348A826-74D4-49B8-BCD2-DD159BE59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994999"/>
              </p:ext>
            </p:extLst>
          </p:nvPr>
        </p:nvGraphicFramePr>
        <p:xfrm>
          <a:off x="944670" y="1688595"/>
          <a:ext cx="10217817" cy="4540759"/>
        </p:xfrm>
        <a:graphic>
          <a:graphicData uri="http://schemas.openxmlformats.org/drawingml/2006/table">
            <a:tbl>
              <a:tblPr/>
              <a:tblGrid>
                <a:gridCol w="1156203">
                  <a:extLst>
                    <a:ext uri="{9D8B030D-6E8A-4147-A177-3AD203B41FA5}">
                      <a16:colId xmlns:a16="http://schemas.microsoft.com/office/drawing/2014/main" val="734185853"/>
                    </a:ext>
                  </a:extLst>
                </a:gridCol>
                <a:gridCol w="2197500">
                  <a:extLst>
                    <a:ext uri="{9D8B030D-6E8A-4147-A177-3AD203B41FA5}">
                      <a16:colId xmlns:a16="http://schemas.microsoft.com/office/drawing/2014/main" val="310222506"/>
                    </a:ext>
                  </a:extLst>
                </a:gridCol>
                <a:gridCol w="2429080">
                  <a:extLst>
                    <a:ext uri="{9D8B030D-6E8A-4147-A177-3AD203B41FA5}">
                      <a16:colId xmlns:a16="http://schemas.microsoft.com/office/drawing/2014/main" val="1607935622"/>
                    </a:ext>
                  </a:extLst>
                </a:gridCol>
                <a:gridCol w="2301434">
                  <a:extLst>
                    <a:ext uri="{9D8B030D-6E8A-4147-A177-3AD203B41FA5}">
                      <a16:colId xmlns:a16="http://schemas.microsoft.com/office/drawing/2014/main" val="389676820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571997856"/>
                    </a:ext>
                  </a:extLst>
                </a:gridCol>
              </a:tblGrid>
              <a:tr h="51638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Layer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종류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Type)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출력 차원 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Output Shape)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계산식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수 </a:t>
                      </a:r>
                      <a:endParaRPr lang="en-US" altLang="ko-KR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Param #)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246295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INPUT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InputLayer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(32, 32, 1)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입력 레이어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329902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C1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Conv2D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(28, 28, 6)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(5×5×1+1) × 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156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7685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S2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MaxPooling2D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(14, 14, 6)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풀링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연산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175149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C3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Conv2D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(10, 10, 16)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(5×5×6+1) × 16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2,416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911102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S4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MaxPooling2D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(5, 5, 16)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풀링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연산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616768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Flatten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Flatten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(400,)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차원 변환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(5×5×16=400)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112416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F5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(120,)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(400+1) × 120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48,120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37103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F6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(84,)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(120+1) × 84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10,164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680060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OUTPUT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(10,)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(84+1) × 10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850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41894"/>
                  </a:ext>
                </a:extLst>
              </a:tr>
              <a:tr h="428625">
                <a:tc gridSpan="4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총계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Total)</a:t>
                      </a:r>
                    </a:p>
                  </a:txBody>
                  <a:tcPr marL="12643" marR="12643" marT="8429" marB="8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643" marR="12643" marT="8429" marB="8429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643" marR="12643" marT="8429" marB="8429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2643" marR="12643" marT="8429" marB="8429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61,706</a:t>
                      </a:r>
                    </a:p>
                  </a:txBody>
                  <a:tcPr marL="12643" marR="12643" marT="8429" marB="8429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38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2915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A4A9-C8E4-CEAE-D281-5907F964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6393488-7234-FE8B-4CA8-0977643A766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CNN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585D06-EBAA-D2AC-1891-2DBE98D5B6A3}"/>
              </a:ext>
            </a:extLst>
          </p:cNvPr>
          <p:cNvSpPr txBox="1"/>
          <p:nvPr/>
        </p:nvSpPr>
        <p:spPr>
          <a:xfrm>
            <a:off x="644986" y="1236259"/>
            <a:ext cx="1101238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https://stanford.edu/~shervine/teaching/cs-230/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294C0E-8F2F-FF9B-4E00-D850332D3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1886593"/>
            <a:ext cx="8733012" cy="4489424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4191445-F1B0-E5AA-70B4-9AFC52FBCC4C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래픽 5" descr="학사모">
            <a:extLst>
              <a:ext uri="{FF2B5EF4-FFF2-40B4-BE49-F238E27FC236}">
                <a16:creationId xmlns:a16="http://schemas.microsoft.com/office/drawing/2014/main" id="{6F846CE4-29AE-87C9-D069-7DD77A126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8807" y="2911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320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61F3-8CA8-34FF-0C6A-A94E890AE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9596D3A-F98F-850B-88C3-14ED93298E84}"/>
              </a:ext>
            </a:extLst>
          </p:cNvPr>
          <p:cNvSpPr/>
          <p:nvPr/>
        </p:nvSpPr>
        <p:spPr>
          <a:xfrm>
            <a:off x="536890" y="2693035"/>
            <a:ext cx="8861110" cy="568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6FE77-2843-CA13-638D-5DE107E2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FFB323B-1BE2-31D5-78D4-069C9F0327E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34D78-CC18-0E6A-0875-9055DDFAC7E8}"/>
              </a:ext>
            </a:extLst>
          </p:cNvPr>
          <p:cNvSpPr txBox="1"/>
          <p:nvPr/>
        </p:nvSpPr>
        <p:spPr>
          <a:xfrm>
            <a:off x="577531" y="1248422"/>
            <a:ext cx="10353762" cy="320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convolutional neural networks 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to mitigate overfitting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for feature extraction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79326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CD9C5-51E3-620E-54F4-17FC0E0E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EA8281-6554-6A95-D0E7-BB0092C992D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Augmentation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E206009-87A2-7061-F57B-95B8722866B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CC2FA-4835-AD93-69C0-D630FDDA83BD}"/>
              </a:ext>
            </a:extLst>
          </p:cNvPr>
          <p:cNvSpPr txBox="1"/>
          <p:nvPr/>
        </p:nvSpPr>
        <p:spPr>
          <a:xfrm>
            <a:off x="552449" y="1267472"/>
            <a:ext cx="111639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샘플이 너무 적을 때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(Overfitting)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발생하는 근본적인 이유는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데이터의 진짜 원리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핵심 특징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이해하는 대신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특정 샘플의 우연과 노이즈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그대로 암기해버리기 때문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기존의 훈련 데이터에 무작위 변형을 가해 데이터의 양과 다양성을 인위적으로 늘리는 기법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데이터의 정답 라벨을 바꾸지 않으면서 형태나 색상 등에 다양한 변화를 주어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마치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데이터를 본 것처럼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착각하게 만드는 일종의 학습용 눈속임 기술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방지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일반화 모델 향상 및 비용 절감 등의 효과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37297A-736F-8906-3B1B-BE8FE458E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3041452"/>
            <a:ext cx="6334125" cy="356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3577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6703D-44EA-4061-97CE-91C6F335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68B9CB1-AF41-ACA2-9FA2-788D90D31DC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Training a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from scratch on a small dataset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4A6F86A-20A2-4086-97AA-3E489D0081FF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CC6E2-B224-9E3D-9FD9-FA8D81EE73F4}"/>
              </a:ext>
            </a:extLst>
          </p:cNvPr>
          <p:cNvSpPr txBox="1"/>
          <p:nvPr/>
        </p:nvSpPr>
        <p:spPr>
          <a:xfrm>
            <a:off x="590551" y="1248422"/>
            <a:ext cx="11125804" cy="485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원본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캐글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(Kaggle)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데이터셋에서 추출한 개와 고양이 사진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5,000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2,500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2,500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데이터셋에서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2,000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장은 훈련용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1,000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장은 검증용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2,000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장은 테스트용으로 분할하여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 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(test accuracy %):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Training a small model from scratch (78.6%)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(85.7%)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extraction using a pretrained model (98.2%)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Feature extraction together with data augmentation (98.4%)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model (test accuracy of 98.7%)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사전 학습된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(pretrained)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분류 모델을 다운로드하여 활용하면 매우 적은 데이터만으로도 강력한 비전 모델을 구축할 수 있도록 특성을 재사용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reuse)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단 몇 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~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몇 천 장의 적은 데이터만으로도 고성능 모델 생성</a:t>
            </a:r>
          </a:p>
        </p:txBody>
      </p:sp>
      <p:pic>
        <p:nvPicPr>
          <p:cNvPr id="6" name="그래픽 5" descr="골프">
            <a:extLst>
              <a:ext uri="{FF2B5EF4-FFF2-40B4-BE49-F238E27FC236}">
                <a16:creationId xmlns:a16="http://schemas.microsoft.com/office/drawing/2014/main" id="{90F8CC73-CEE9-F248-A870-9150D912F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5287" y="2644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656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FC3D0-0987-8025-DA02-60FD2E08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2AFF4AE-9130-E056-6C98-3C455DDAF5C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Building your model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4BF051C-E260-7222-BB50-00CCD381827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EB869-5EAF-4D1C-567F-9CA657F07B45}"/>
              </a:ext>
            </a:extLst>
          </p:cNvPr>
          <p:cNvSpPr txBox="1"/>
          <p:nvPr/>
        </p:nvSpPr>
        <p:spPr>
          <a:xfrm>
            <a:off x="590551" y="1248422"/>
            <a:ext cx="11125804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180×180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고해상도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이미지가 최종 단계에 이르러서는 공간 정보는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7×7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작아지고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채널 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512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개로 늘어난 고밀도 특징 요약본으로 변환하는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Convnet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C6D47-610A-2E5D-5BF5-73B1C932E32A}"/>
              </a:ext>
            </a:extLst>
          </p:cNvPr>
          <p:cNvSpPr txBox="1"/>
          <p:nvPr/>
        </p:nvSpPr>
        <p:spPr>
          <a:xfrm>
            <a:off x="962328" y="2174222"/>
            <a:ext cx="10382250" cy="409342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inputs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keras.Input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(shape=(180, 180, 3))				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RGB images of size (180, 180, 3) 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Rescales inputs to the [0, 1] range by dividing them by 255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layers.Rescaling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(1.0 / 255)(inputs)</a:t>
            </a:r>
          </a:p>
          <a:p>
            <a:pPr algn="l" latinLnBrk="0">
              <a:buNone/>
            </a:pPr>
            <a:endParaRPr lang="en-US" altLang="ko-KR" sz="8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MaxPooling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layers.Conv2D(filters=32,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 		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(178, 178, 32) — (180 - 3 + 1)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				# (89, 89, 32) — (178 / 2)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layers.Conv2D(filters=64,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		# (87, 87, 64) — (89 - 3 + 1)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				# (43, 43, 64) — (87 / 2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내림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layers.Conv2D(filters=128,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	# (41, 41, 128) — (43 - 3 + 1)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				# (20, 20, 128) — (41 / 2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내림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layers.Conv2D(filters=256,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	# (18, 18, 256) — (20 - 3 + 1)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layers.MaxPooling2D(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pool_size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=2)(x)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				# (9, 9, 256) — (18 / 2)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layers.Conv2D(filters=512,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=3, activation="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")(x)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	# (7, 7, 512) — (9 - 3 + 1)</a:t>
            </a:r>
            <a:endParaRPr lang="en-US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endParaRPr lang="en-US" altLang="ko-KR" sz="6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 latinLnBrk="0">
              <a:buNone/>
            </a:pP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Flattens the 3D activations with shape(7,7,512) into 1D activations with shape(512,) by averaging them over spatial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dimensions</a:t>
            </a:r>
          </a:p>
          <a:p>
            <a:pPr algn="l" latinLnBrk="0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= layers.GlobalAveragePooling2D()(x) 				# (512,) </a:t>
            </a:r>
            <a:r>
              <a:rPr lang="en-US" altLang="ko-KR" sz="1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no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25,088(=7x7x512)</a:t>
            </a:r>
          </a:p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outputs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activation="sigmoid")(x) 			#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binary classification problem</a:t>
            </a:r>
          </a:p>
          <a:p>
            <a:pPr algn="l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keras.Model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(inputs=inputs, outputs=outputs)</a:t>
            </a:r>
          </a:p>
        </p:txBody>
      </p:sp>
    </p:spTree>
    <p:extLst>
      <p:ext uri="{BB962C8B-B14F-4D97-AF65-F5344CB8AC3E}">
        <p14:creationId xmlns:p14="http://schemas.microsoft.com/office/powerpoint/2010/main" val="37278029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CFD00-0A23-2D9F-9CAC-249068ED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E93D6FE-21A0-61E1-7015-E07FCBD726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 preprocessing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BC94D8E-4BFC-2DFE-B497-BB3557059C7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C1C17-A02C-5CAD-ACBE-8E77196C08F6}"/>
              </a:ext>
            </a:extLst>
          </p:cNvPr>
          <p:cNvSpPr txBox="1"/>
          <p:nvPr/>
        </p:nvSpPr>
        <p:spPr>
          <a:xfrm>
            <a:off x="590551" y="1248422"/>
            <a:ext cx="11125804" cy="4158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images of size (180, 180, 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고해상도 데이터를 모델에 주입하려면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사전에 전 처리된 부동소수점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(Floating-point tensor)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형태로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포맷팅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디스크에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JPEG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파일로 저장되어 있으므로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이를 모델로 전달하기 위한 과정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JPEG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읽기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JPEG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내용을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픽셀 그리드로 디코딩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이를 부동소수점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변환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 이미지를 동일한 크기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여기서는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180×180)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Resizing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이미지들을 배치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(Batch)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단위로 묶기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여기서는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장씩 배치 구성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image_dataset_from_directory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함수를 활용하여 데이터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 구성</a:t>
            </a:r>
          </a:p>
        </p:txBody>
      </p:sp>
    </p:spTree>
    <p:extLst>
      <p:ext uri="{BB962C8B-B14F-4D97-AF65-F5344CB8AC3E}">
        <p14:creationId xmlns:p14="http://schemas.microsoft.com/office/powerpoint/2010/main" val="24416938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16CC-EAAC-FB81-F5D0-8BFAECA1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FC3A346-7AA9-F5B3-468F-FB2DC957DC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 preprocessing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A0DD657-E820-0B32-CA72-19EC4D39D46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E6EC4-FB3E-628C-D1DC-F795155B81EF}"/>
              </a:ext>
            </a:extLst>
          </p:cNvPr>
          <p:cNvSpPr txBox="1"/>
          <p:nvPr/>
        </p:nvSpPr>
        <p:spPr>
          <a:xfrm>
            <a:off x="590551" y="1248422"/>
            <a:ext cx="11125804" cy="522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image_dataset_from_directory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디스크에 저장된 이미지 파일들을 딥러닝 모델 학습용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tf.data.Dataset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객체로 일괄 변환해 주는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유틸리티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폴더 구조 기반 자동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라벨링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별도의 라벨 파일 없이 하위 폴더 이름을 클래스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(Class)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명으로 자동 인식하고 숫자 인덱스를 부여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디코딩 및 리사이징 자동화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크기의 이미지 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(JPEG, PNG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읽어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변환한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지정한 규격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image_size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일정하게 축소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확대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(Batch)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묶기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셔플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(Shuffle)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지정한 크기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대로 데이터를 묶어주며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시 데이터 편향을 막기 위해 무작위로 섞어주는 옵션을 제공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메모리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(RAM)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효율성 극대화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 이미지를 한 번에 메모리에 올리지 않고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학습 시점에 디스크에서 배치 단위로 불러오는 파이프라인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tf.data.Dataset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생성해 메모리 부족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(OOM)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오류를 방지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98406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6EE3C-391C-7D0C-2903-B24DFD227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F8EEC7-2E59-91B9-1BFC-CB69CACD374F}"/>
              </a:ext>
            </a:extLst>
          </p:cNvPr>
          <p:cNvSpPr/>
          <p:nvPr/>
        </p:nvSpPr>
        <p:spPr>
          <a:xfrm>
            <a:off x="536890" y="3340735"/>
            <a:ext cx="8861110" cy="568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4E7EB9-B5E1-11A0-14CD-C481A7C9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15C7BB-19EA-4F6C-8936-9598E9AB78F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2E5EE-327E-8D49-C927-CABFB87CE1F7}"/>
              </a:ext>
            </a:extLst>
          </p:cNvPr>
          <p:cNvSpPr txBox="1"/>
          <p:nvPr/>
        </p:nvSpPr>
        <p:spPr>
          <a:xfrm>
            <a:off x="577531" y="1248422"/>
            <a:ext cx="10353762" cy="320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convolutional neural networks 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to mitigate overfitting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for feature extraction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7717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76CDC-6E86-40DC-BD05-6CCB1D8A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234559-C238-D609-3379-923CC9358F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공간정보와 레이어별 역할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9A3AAE2-9269-FC6C-CBAD-D73F1BD0BAE3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5EDBC8-4E49-E190-BEEE-1B803CE77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442238"/>
              </p:ext>
            </p:extLst>
          </p:nvPr>
        </p:nvGraphicFramePr>
        <p:xfrm>
          <a:off x="641505" y="1745932"/>
          <a:ext cx="11007570" cy="1683068"/>
        </p:xfrm>
        <a:graphic>
          <a:graphicData uri="http://schemas.openxmlformats.org/drawingml/2006/table">
            <a:tbl>
              <a:tblPr/>
              <a:tblGrid>
                <a:gridCol w="2133714">
                  <a:extLst>
                    <a:ext uri="{9D8B030D-6E8A-4147-A177-3AD203B41FA5}">
                      <a16:colId xmlns:a16="http://schemas.microsoft.com/office/drawing/2014/main" val="2554255565"/>
                    </a:ext>
                  </a:extLst>
                </a:gridCol>
                <a:gridCol w="2895765">
                  <a:extLst>
                    <a:ext uri="{9D8B030D-6E8A-4147-A177-3AD203B41FA5}">
                      <a16:colId xmlns:a16="http://schemas.microsoft.com/office/drawing/2014/main" val="115849083"/>
                    </a:ext>
                  </a:extLst>
                </a:gridCol>
                <a:gridCol w="5978091">
                  <a:extLst>
                    <a:ext uri="{9D8B030D-6E8A-4147-A177-3AD203B41FA5}">
                      <a16:colId xmlns:a16="http://schemas.microsoft.com/office/drawing/2014/main" val="2130708573"/>
                    </a:ext>
                  </a:extLst>
                </a:gridCol>
              </a:tblGrid>
              <a:tr h="4207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공간 정보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위치 정확도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주요 역할 및 특징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816413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초반 </a:t>
                      </a: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매우 높음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정밀함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픽셀 단위의 점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모서리 등 미세한 패턴 추출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42498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후반 </a:t>
                      </a: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Conv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낮음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대략적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눈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귀 등 사물의 구성 요소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추상적 특징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추출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13921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Dense 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레이어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없음 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완전히 파괴됨</a:t>
                      </a:r>
                      <a:r>
                        <a:rPr lang="en-US" altLang="ko-KR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추출된 특징들을 종합하여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"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고양이일 확률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"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을 최종 판단</a:t>
                      </a:r>
                    </a:p>
                  </a:txBody>
                  <a:tcPr marL="22860" marR="228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894647"/>
                  </a:ext>
                </a:extLst>
              </a:tr>
            </a:tbl>
          </a:graphicData>
        </a:graphic>
      </p:graphicFrame>
      <p:pic>
        <p:nvPicPr>
          <p:cNvPr id="6" name="Picture 2" descr="convnet">
            <a:extLst>
              <a:ext uri="{FF2B5EF4-FFF2-40B4-BE49-F238E27FC236}">
                <a16:creationId xmlns:a16="http://schemas.microsoft.com/office/drawing/2014/main" id="{D835A479-6861-2379-A9AF-39FEAE425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780" y="3926510"/>
            <a:ext cx="8332439" cy="230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1482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B4FE-CAFA-DC9D-27E2-5413454A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1AA1063-3618-B70D-D07B-DD620A96D0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Feature extraction with a pretrained model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881C30D-622E-5F02-CF16-46A0AE190FF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347366C-4892-B75A-83EE-0E9308DAF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25" y="2218595"/>
            <a:ext cx="6191250" cy="427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1E7E2C-4BA2-D3EA-B09B-01AF2D603A0E}"/>
              </a:ext>
            </a:extLst>
          </p:cNvPr>
          <p:cNvSpPr txBox="1"/>
          <p:nvPr/>
        </p:nvSpPr>
        <p:spPr>
          <a:xfrm>
            <a:off x="581024" y="1232897"/>
            <a:ext cx="1105852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 검증된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Pretrained model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훌륭한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시각 특징 추출 카메라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(Conv base)’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그대로 얼려두고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(frozen),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맨 위에 내 목적에 맞는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 판단 버튼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(New classifier, Dense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Layer)’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새로 달아서 훈련시키는 과정</a:t>
            </a:r>
          </a:p>
        </p:txBody>
      </p:sp>
    </p:spTree>
    <p:extLst>
      <p:ext uri="{BB962C8B-B14F-4D97-AF65-F5344CB8AC3E}">
        <p14:creationId xmlns:p14="http://schemas.microsoft.com/office/powerpoint/2010/main" val="116639746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026B6-84FF-E1A3-1FFC-EBDF183D5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548BFC-D6E1-EA97-82BB-CDB2EEE86F43}"/>
              </a:ext>
            </a:extLst>
          </p:cNvPr>
          <p:cNvSpPr/>
          <p:nvPr/>
        </p:nvSpPr>
        <p:spPr>
          <a:xfrm>
            <a:off x="536890" y="3931285"/>
            <a:ext cx="8861110" cy="568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C7D609-CEF4-FF96-EDD6-4439CBFE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420072F-9FEF-405D-3BFE-B530B22A7CF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1A9C4-7D5C-21B0-E14D-8ABA2660DA0A}"/>
              </a:ext>
            </a:extLst>
          </p:cNvPr>
          <p:cNvSpPr txBox="1"/>
          <p:nvPr/>
        </p:nvSpPr>
        <p:spPr>
          <a:xfrm>
            <a:off x="577531" y="1248422"/>
            <a:ext cx="10353762" cy="320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convolutional neural networks (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data augmentation to mitigate overfitting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Using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for feature extraction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Fine-tuning a pretrained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79690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0DCD-93E1-6FF7-BCC0-D0014B8F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6F2A97E-44E1-4A95-80C7-54CBE526276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Fine-tuning a pretrained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C204DA4-05ED-AAD7-0977-BAF0C1D6C99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Schematic diagram of a basic convolutional neural network (CNN) architecture [26].">
            <a:extLst>
              <a:ext uri="{FF2B5EF4-FFF2-40B4-BE49-F238E27FC236}">
                <a16:creationId xmlns:a16="http://schemas.microsoft.com/office/drawing/2014/main" id="{B841A3B6-B32B-4396-D78F-AA9A1CD3A9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DF5F0E-1A9E-9897-8EEB-3F6994152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15" y="1273775"/>
            <a:ext cx="5831286" cy="2861650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2860F9A-0CA5-BA57-5F4D-E3BAF7782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696119"/>
              </p:ext>
            </p:extLst>
          </p:nvPr>
        </p:nvGraphicFramePr>
        <p:xfrm>
          <a:off x="1179114" y="4230675"/>
          <a:ext cx="9887512" cy="242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37">
                  <a:extLst>
                    <a:ext uri="{9D8B030D-6E8A-4147-A177-3AD203B41FA5}">
                      <a16:colId xmlns:a16="http://schemas.microsoft.com/office/drawing/2014/main" val="1064459424"/>
                    </a:ext>
                  </a:extLst>
                </a:gridCol>
                <a:gridCol w="4539887">
                  <a:extLst>
                    <a:ext uri="{9D8B030D-6E8A-4147-A177-3AD203B41FA5}">
                      <a16:colId xmlns:a16="http://schemas.microsoft.com/office/drawing/2014/main" val="29696201"/>
                    </a:ext>
                  </a:extLst>
                </a:gridCol>
                <a:gridCol w="5051788">
                  <a:extLst>
                    <a:ext uri="{9D8B030D-6E8A-4147-A177-3AD203B41FA5}">
                      <a16:colId xmlns:a16="http://schemas.microsoft.com/office/drawing/2014/main" val="1258399897"/>
                    </a:ext>
                  </a:extLst>
                </a:gridCol>
              </a:tblGrid>
              <a:tr h="22111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Feature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Extraction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네트워크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(Base Network)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Classification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사용자분류기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(Custom Network/Classifier)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96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Pre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Trained convolutional base,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대용량 데이터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(ImageNet)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로 학습한 </a:t>
                      </a:r>
                      <a:r>
                        <a:rPr lang="ko-KR" altLang="en-US" sz="12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합성곱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레이어들의 집합</a:t>
                      </a:r>
                      <a:endParaRPr lang="en-US" altLang="ko-KR" sz="12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New classifier(randomly initialized),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목적에 맞춰 새로 설계하여 붙인 완전 연결 레이어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(Dense Layer)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500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이미지에서 점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선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면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눈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입과 같은 시각적 특징을 추출하는 뼈대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(Backbone)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역할</a:t>
                      </a:r>
                      <a:endParaRPr lang="en-US" altLang="ko-KR" sz="12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기반 네트워크가 뽑아준 시각적 특징들을 넘겨받아 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"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최종적으로 개인가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?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고양이인가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?"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판정하는 역할</a:t>
                      </a:r>
                      <a:endParaRPr lang="en-US" altLang="ko-KR" sz="12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253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특징 추출 능력이 완성되어 있으므로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새로운 문제를 풀 때 가중치가 흔들리지 않도록 동결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(Frozen,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동결 상태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시켜 두고 특성 추출기로 재사용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특징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: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처음 붙였을 때는 가중치가 무작위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(Random)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로 초기화되어 있으므로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내 데이터셋을 이용해 이 부분만 새로 훈련</a:t>
                      </a:r>
                      <a:r>
                        <a:rPr lang="en-US" altLang="ko-KR" sz="12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(Train)</a:t>
                      </a:r>
                      <a:endParaRPr lang="ko-KR" altLang="en-US" sz="12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271672"/>
                  </a:ext>
                </a:extLst>
              </a:tr>
            </a:tbl>
          </a:graphicData>
        </a:graphic>
      </p:graphicFrame>
      <p:pic>
        <p:nvPicPr>
          <p:cNvPr id="12" name="그래픽 11" descr="카메라">
            <a:extLst>
              <a:ext uri="{FF2B5EF4-FFF2-40B4-BE49-F238E27FC236}">
                <a16:creationId xmlns:a16="http://schemas.microsoft.com/office/drawing/2014/main" id="{BFF6339F-819C-FB83-CA0C-E9E2A2579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015" y="1339373"/>
            <a:ext cx="914400" cy="914400"/>
          </a:xfrm>
          <a:prstGeom prst="rect">
            <a:avLst/>
          </a:prstGeom>
        </p:spPr>
      </p:pic>
      <p:pic>
        <p:nvPicPr>
          <p:cNvPr id="14" name="그래픽 13" descr="의사봉">
            <a:extLst>
              <a:ext uri="{FF2B5EF4-FFF2-40B4-BE49-F238E27FC236}">
                <a16:creationId xmlns:a16="http://schemas.microsoft.com/office/drawing/2014/main" id="{0C221CDD-EA51-5252-8594-C5BAEC8C19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6701" y="11309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653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B083-E500-C1F2-0E8E-F6C8E4EA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E74374E-E5C2-CBBC-E4ED-5029E84D153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Fine-tuning a pretrained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FA35194-94BD-B888-FE1D-601D4B48068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Schematic diagram of a basic convolutional neural network (CNN) architecture [26].">
            <a:extLst>
              <a:ext uri="{FF2B5EF4-FFF2-40B4-BE49-F238E27FC236}">
                <a16:creationId xmlns:a16="http://schemas.microsoft.com/office/drawing/2014/main" id="{04E8A67A-B00F-1A76-9264-6C181CAC2E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7CBB8-5696-08E9-A78C-76129C475EED}"/>
              </a:ext>
            </a:extLst>
          </p:cNvPr>
          <p:cNvSpPr txBox="1"/>
          <p:nvPr/>
        </p:nvSpPr>
        <p:spPr>
          <a:xfrm>
            <a:off x="552449" y="1248422"/>
            <a:ext cx="11020425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미세 조정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(Fine-tuning)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특성 추출에 사용되었던 동결된 모델 기반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(model base)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동결을 해제하고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 추가된 부분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경우 완전 연결 분류기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기반 모델을 함께 훈련하는 방식으로 재사용하려는 모델의 추상적인 표현을 현재 풀고자 하는 문제에 더 잘 맞도록 미세하게 조정하기 때문에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미세 조정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하며 작업 순서는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E5F58-4027-3891-2A41-BF495C26B016}"/>
              </a:ext>
            </a:extLst>
          </p:cNvPr>
          <p:cNvSpPr txBox="1"/>
          <p:nvPr/>
        </p:nvSpPr>
        <p:spPr>
          <a:xfrm>
            <a:off x="1937776" y="2839320"/>
            <a:ext cx="7429500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 훈련된 기반 네트워크 위에 사용자 정의 네트워크(분류기)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추가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네트워크를 동결(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freeze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 추가한 분류기 부분을 훈련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네트워크의 동결을 해제(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unfreeze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동결을 해제한 기반 레이어들과 새로 추가한 분류기를 함께 훈련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57612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DAB6-C0A2-5688-D23C-58254155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69FABD5-B583-BD47-45E0-72A5D4FB94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CNN fine tuning Task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778FC2-E3C6-FD32-35F3-D64074491B0D}"/>
              </a:ext>
            </a:extLst>
          </p:cNvPr>
          <p:cNvSpPr txBox="1"/>
          <p:nvPr/>
        </p:nvSpPr>
        <p:spPr>
          <a:xfrm>
            <a:off x="607302" y="1248422"/>
            <a:ext cx="1101238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포켓몬 과제 따라하기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https://ryuzyproject.tistory.com/98</a:t>
            </a:r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Fine Tuning CNN : </a:t>
            </a:r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https://github.com/jihongleejihong/pok8mon_go</a:t>
            </a:r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 descr="project workflow">
            <a:extLst>
              <a:ext uri="{FF2B5EF4-FFF2-40B4-BE49-F238E27FC236}">
                <a16:creationId xmlns:a16="http://schemas.microsoft.com/office/drawing/2014/main" id="{58F1A779-8263-AE4B-31CF-C8285809A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52" y="2212249"/>
            <a:ext cx="10470273" cy="377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0572C76-76CC-83E2-346F-CA8776467F7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그래픽 5" descr="골프">
            <a:extLst>
              <a:ext uri="{FF2B5EF4-FFF2-40B4-BE49-F238E27FC236}">
                <a16:creationId xmlns:a16="http://schemas.microsoft.com/office/drawing/2014/main" id="{54329EBC-13F4-3682-1549-69D5AD2120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05287" y="2644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9725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11521</TotalTime>
  <Words>5943</Words>
  <Application>Microsoft Office PowerPoint</Application>
  <PresentationFormat>와이드스크린</PresentationFormat>
  <Paragraphs>728</Paragraphs>
  <Slides>83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93" baseType="lpstr">
      <vt:lpstr>D2Coding</vt:lpstr>
      <vt:lpstr>맑은 고딕</vt:lpstr>
      <vt:lpstr>맑은 고딕 Semilight</vt:lpstr>
      <vt:lpstr>Batang</vt:lpstr>
      <vt:lpstr>Arial</vt:lpstr>
      <vt:lpstr>Cambria Math</vt:lpstr>
      <vt:lpstr>Lora</vt:lpstr>
      <vt:lpstr>Times New Roman</vt:lpstr>
      <vt:lpstr>Wingdings</vt:lpstr>
      <vt:lpstr>WelcomeDoc</vt:lpstr>
      <vt:lpstr>Chapter 8  Image Classification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Kernel, Filter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Poolings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Convolution operation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Practice for Image Classification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LeNet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KBU</cp:lastModifiedBy>
  <cp:revision>200</cp:revision>
  <dcterms:created xsi:type="dcterms:W3CDTF">2026-04-06T01:00:39Z</dcterms:created>
  <dcterms:modified xsi:type="dcterms:W3CDTF">2026-09-18T06:18:32Z</dcterms:modified>
  <cp:version/>
</cp:coreProperties>
</file>