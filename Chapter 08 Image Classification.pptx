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6"/>
  </p:notesMasterIdLst>
  <p:handoutMasterIdLst>
    <p:handoutMasterId r:id="rId67"/>
  </p:handoutMasterIdLst>
  <p:sldIdLst>
    <p:sldId id="256" r:id="rId2"/>
    <p:sldId id="1136" r:id="rId3"/>
    <p:sldId id="1169" r:id="rId4"/>
    <p:sldId id="1174" r:id="rId5"/>
    <p:sldId id="1134" r:id="rId6"/>
    <p:sldId id="1141" r:id="rId7"/>
    <p:sldId id="1173" r:id="rId8"/>
    <p:sldId id="1170" r:id="rId9"/>
    <p:sldId id="1171" r:id="rId10"/>
    <p:sldId id="1172" r:id="rId11"/>
    <p:sldId id="1137" r:id="rId12"/>
    <p:sldId id="1114" r:id="rId13"/>
    <p:sldId id="1107" r:id="rId14"/>
    <p:sldId id="1133" r:id="rId15"/>
    <p:sldId id="1129" r:id="rId16"/>
    <p:sldId id="1130" r:id="rId17"/>
    <p:sldId id="1177" r:id="rId18"/>
    <p:sldId id="1112" r:id="rId19"/>
    <p:sldId id="1132" r:id="rId20"/>
    <p:sldId id="1131" r:id="rId21"/>
    <p:sldId id="1124" r:id="rId22"/>
    <p:sldId id="1178" r:id="rId23"/>
    <p:sldId id="1115" r:id="rId24"/>
    <p:sldId id="1138" r:id="rId25"/>
    <p:sldId id="1188" r:id="rId26"/>
    <p:sldId id="1189" r:id="rId27"/>
    <p:sldId id="1127" r:id="rId28"/>
    <p:sldId id="1103" r:id="rId29"/>
    <p:sldId id="1098" r:id="rId30"/>
    <p:sldId id="1099" r:id="rId31"/>
    <p:sldId id="1101" r:id="rId32"/>
    <p:sldId id="1176" r:id="rId33"/>
    <p:sldId id="1105" r:id="rId34"/>
    <p:sldId id="1095" r:id="rId35"/>
    <p:sldId id="1096" r:id="rId36"/>
    <p:sldId id="1097" r:id="rId37"/>
    <p:sldId id="1106" r:id="rId38"/>
    <p:sldId id="1102" r:id="rId39"/>
    <p:sldId id="1116" r:id="rId40"/>
    <p:sldId id="1104" r:id="rId41"/>
    <p:sldId id="1125" r:id="rId42"/>
    <p:sldId id="1126" r:id="rId43"/>
    <p:sldId id="1175" r:id="rId44"/>
    <p:sldId id="1111" r:id="rId45"/>
    <p:sldId id="1113" r:id="rId46"/>
    <p:sldId id="1109" r:id="rId47"/>
    <p:sldId id="1110" r:id="rId48"/>
    <p:sldId id="1139" r:id="rId49"/>
    <p:sldId id="1186" r:id="rId50"/>
    <p:sldId id="1118" r:id="rId51"/>
    <p:sldId id="1119" r:id="rId52"/>
    <p:sldId id="1140" r:id="rId53"/>
    <p:sldId id="1179" r:id="rId54"/>
    <p:sldId id="1180" r:id="rId55"/>
    <p:sldId id="1190" r:id="rId56"/>
    <p:sldId id="1191" r:id="rId57"/>
    <p:sldId id="1192" r:id="rId58"/>
    <p:sldId id="1193" r:id="rId59"/>
    <p:sldId id="1181" r:id="rId60"/>
    <p:sldId id="1182" r:id="rId61"/>
    <p:sldId id="1183" r:id="rId62"/>
    <p:sldId id="1184" r:id="rId63"/>
    <p:sldId id="1185" r:id="rId64"/>
    <p:sldId id="1187" r:id="rId6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9"/>
            <p14:sldId id="1174"/>
            <p14:sldId id="1134"/>
            <p14:sldId id="1141"/>
            <p14:sldId id="1173"/>
            <p14:sldId id="1170"/>
            <p14:sldId id="1171"/>
            <p14:sldId id="1172"/>
            <p14:sldId id="1137"/>
            <p14:sldId id="1114"/>
            <p14:sldId id="1107"/>
            <p14:sldId id="1133"/>
            <p14:sldId id="1129"/>
            <p14:sldId id="1130"/>
            <p14:sldId id="1177"/>
            <p14:sldId id="1112"/>
            <p14:sldId id="1132"/>
            <p14:sldId id="1131"/>
            <p14:sldId id="1124"/>
            <p14:sldId id="1178"/>
            <p14:sldId id="1115"/>
            <p14:sldId id="1138"/>
            <p14:sldId id="1188"/>
            <p14:sldId id="1189"/>
            <p14:sldId id="1127"/>
            <p14:sldId id="1103"/>
            <p14:sldId id="1098"/>
            <p14:sldId id="1099"/>
            <p14:sldId id="1101"/>
            <p14:sldId id="1176"/>
            <p14:sldId id="1105"/>
            <p14:sldId id="1095"/>
            <p14:sldId id="1096"/>
            <p14:sldId id="109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86"/>
            <p14:sldId id="1118"/>
            <p14:sldId id="1119"/>
            <p14:sldId id="1140"/>
            <p14:sldId id="1179"/>
            <p14:sldId id="1180"/>
            <p14:sldId id="1190"/>
            <p14:sldId id="1191"/>
            <p14:sldId id="1192"/>
            <p14:sldId id="1193"/>
            <p14:sldId id="1181"/>
            <p14:sldId id="1182"/>
            <p14:sldId id="1183"/>
            <p14:sldId id="1184"/>
            <p14:sldId id="1185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6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08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commentAuthors" Target="commentAuthors.xm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1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jpe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hyperlink" Target="https://github.com/jihongleejihong/pok8mon_go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4" Type="http://schemas.openxmlformats.org/officeDocument/2006/relationships/image" Target="../media/image63.sv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BEC38110-3180-5354-A8A9-0A34C4D0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77BCCDC3-B50E-3F08-D502-F72E445FDD60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4D363F8-1E16-1B74-88A2-305777089F60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6F8E80-7484-0903-9199-56F4F4A66A41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A605B5-054F-2A74-5599-0DF500671F2D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3A8DCC8-D8FF-2942-0ECF-4BD599AF2A06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21CAC7F-22D6-E8F7-94D0-656809DD1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106" y="2259171"/>
            <a:ext cx="8626588" cy="367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0651E4-B433-889A-1AD1-483312F29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1009084" y="1742121"/>
            <a:ext cx="941126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maps,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793" y="3135367"/>
            <a:ext cx="6145557" cy="298117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96025" y="31851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A58939-71F2-632B-3A60-5043A84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542925" y="1437412"/>
            <a:ext cx="6657975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특장점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61C22-5818-ADAC-F3DE-9146EEB14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E2A32-7B7F-6829-928B-D4A27B5D6F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075627-1C04-47F8-710F-A069DADD05D1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AFEC83-9EA1-7ADA-248D-EE7E63BF6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AD50339-4A82-914A-6B27-58311469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368E4-82D7-A167-76DE-20EDDAAA0ED8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063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616CE2-5B8D-27B2-1CD2-D0CC9E5C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AACD9-EB63-D967-37BD-2294989933BE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A17E19C1-8A3E-A36D-3761-F02B2C26E62C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A2F991-F2B1-ADB3-F1AA-C679F0621255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D4854-A00B-C5AF-3988-8EE4CCA93BD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059546-FB4F-557A-2342-58F14BBE8A7E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BA6B6-8CDD-AFA6-29F7-E32041C8A2CE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36178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1F19A84-3AC7-D217-7F35-8925ECDB1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9" y="2618414"/>
            <a:ext cx="1768149" cy="18706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3A5560A-E9C2-3D9F-70CA-16D62C7F3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4335" y="1506549"/>
            <a:ext cx="1165954" cy="11659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37744AF-651B-228B-2F6E-A7F7B5313B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490" y="3266510"/>
            <a:ext cx="1441426" cy="119798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2839592-CA62-1071-CA61-EF1C561FC2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8909" y="5070656"/>
            <a:ext cx="1153141" cy="1197985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3E082A0-3425-7775-5A31-F90D12E2ED1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2255708" y="2089526"/>
            <a:ext cx="1478627" cy="1464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D72F8BB-535F-72AB-1E73-1CD0F9A3483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2255708" y="3553740"/>
            <a:ext cx="1563201" cy="21159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E4C3CFD-71E6-F064-7C95-B5F14A6F5683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2255708" y="3553740"/>
            <a:ext cx="1314782" cy="311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352802" y="1325573"/>
            <a:ext cx="6351639" cy="5091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E9B68-47EE-F342-FBFC-C0A47E6E2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C80C9A-29D4-D8CD-7C08-0CE1DE127D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 &amp; Receptive Field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46BB49A5-BC4E-4C19-D155-97F0CCF7CB75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97D345-8BC6-75F3-2FE2-0082BB9F9AA6}"/>
              </a:ext>
            </a:extLst>
          </p:cNvPr>
          <p:cNvSpPr txBox="1"/>
          <p:nvPr/>
        </p:nvSpPr>
        <p:spPr>
          <a:xfrm>
            <a:off x="623325" y="4676547"/>
            <a:ext cx="6606149" cy="160043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39BCE-B37D-4FA1-63E7-8ED32B2AAE0C}"/>
              </a:ext>
            </a:extLst>
          </p:cNvPr>
          <p:cNvSpPr txBox="1"/>
          <p:nvPr/>
        </p:nvSpPr>
        <p:spPr>
          <a:xfrm>
            <a:off x="623325" y="1828107"/>
            <a:ext cx="6606149" cy="203132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>
              <a:buNone/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E81F57-3E35-4F6D-6E6B-5B8F9C3875AF}"/>
              </a:ext>
            </a:extLst>
          </p:cNvPr>
          <p:cNvSpPr txBox="1"/>
          <p:nvPr/>
        </p:nvSpPr>
        <p:spPr>
          <a:xfrm>
            <a:off x="623325" y="1487350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B2A08-A1A9-ED96-6878-B118EF577741}"/>
              </a:ext>
            </a:extLst>
          </p:cNvPr>
          <p:cNvSpPr txBox="1"/>
          <p:nvPr/>
        </p:nvSpPr>
        <p:spPr>
          <a:xfrm>
            <a:off x="623325" y="4348332"/>
            <a:ext cx="2796150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model_no_max_pool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DFEE326-BB03-425B-4019-131FDCA183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4167077"/>
              </p:ext>
            </p:extLst>
          </p:nvPr>
        </p:nvGraphicFramePr>
        <p:xfrm>
          <a:off x="7478200" y="1825904"/>
          <a:ext cx="4399475" cy="3978276"/>
        </p:xfrm>
        <a:graphic>
          <a:graphicData uri="http://schemas.openxmlformats.org/drawingml/2006/table">
            <a:tbl>
              <a:tblPr/>
              <a:tblGrid>
                <a:gridCol w="818075">
                  <a:extLst>
                    <a:ext uri="{9D8B030D-6E8A-4147-A177-3AD203B41FA5}">
                      <a16:colId xmlns:a16="http://schemas.microsoft.com/office/drawing/2014/main" val="3483686098"/>
                    </a:ext>
                  </a:extLst>
                </a:gridCol>
                <a:gridCol w="1695450">
                  <a:extLst>
                    <a:ext uri="{9D8B030D-6E8A-4147-A177-3AD203B41FA5}">
                      <a16:colId xmlns:a16="http://schemas.microsoft.com/office/drawing/2014/main" val="1922946208"/>
                    </a:ext>
                  </a:extLst>
                </a:gridCol>
                <a:gridCol w="1885950">
                  <a:extLst>
                    <a:ext uri="{9D8B030D-6E8A-4147-A177-3AD203B41FA5}">
                      <a16:colId xmlns:a16="http://schemas.microsoft.com/office/drawing/2014/main" val="2693564908"/>
                    </a:ext>
                  </a:extLst>
                </a:gridCol>
              </a:tblGrid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model_no_max_pool</a:t>
                      </a:r>
                      <a:endParaRPr lang="en-US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없음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model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맥스 </a:t>
                      </a: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풀링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있음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32225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특성 맵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크기 변화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(28,28)→(26,26)→(24,24)→(22,22)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(28,28)→(26,26)→(13,13)→(11,11)→(5,5)→(3,3)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5520160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Params)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동일함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(372,234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717367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연산량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및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메모리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느리고 메모리 소모 큼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효율적임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속도가 빠르고 메모리 절약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686081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수용장</a:t>
                      </a:r>
                      <a:endParaRPr lang="en-US" altLang="ko-KR" sz="1200" b="1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Receptive </a:t>
                      </a:r>
                    </a:p>
                    <a:p>
                      <a:pPr rtl="0" fontAlgn="b">
                        <a:buNone/>
                      </a:pPr>
                      <a:r>
                        <a:rPr 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Field)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좁음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7×7 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영역만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넓음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원본의 거의 전체 영역을 바라봄</a:t>
                      </a:r>
                      <a:r>
                        <a:rPr lang="en-US" altLang="ko-KR" sz="1200" b="1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321189"/>
                  </a:ext>
                </a:extLst>
              </a:tr>
              <a:tr h="663046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</a:t>
                      </a:r>
                      <a:endParaRPr lang="en-US" altLang="ko-KR" sz="12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불변성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</a:t>
                      </a:r>
                    </a:p>
                  </a:txBody>
                  <a:tcPr marL="17760" marR="17760" marT="11840" marB="118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높음 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사물이 약간 이동해도 안정적으로 인식</a:t>
                      </a:r>
                      <a:r>
                        <a:rPr lang="en-US" altLang="ko-KR" sz="12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7760" marR="17760" marT="11840" marB="11840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8669822"/>
                  </a:ext>
                </a:extLst>
              </a:tr>
            </a:tbl>
          </a:graphicData>
        </a:graphic>
      </p:graphicFrame>
      <p:sp>
        <p:nvSpPr>
          <p:cNvPr id="19" name="직사각형 18">
            <a:extLst>
              <a:ext uri="{FF2B5EF4-FFF2-40B4-BE49-F238E27FC236}">
                <a16:creationId xmlns:a16="http://schemas.microsoft.com/office/drawing/2014/main" id="{34C2B43D-AAF8-8983-87B8-AD31D664D723}"/>
              </a:ext>
            </a:extLst>
          </p:cNvPr>
          <p:cNvSpPr/>
          <p:nvPr/>
        </p:nvSpPr>
        <p:spPr>
          <a:xfrm>
            <a:off x="7305675" y="4438650"/>
            <a:ext cx="4714875" cy="7664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2" name="그래픽 21" descr="물음표">
            <a:extLst>
              <a:ext uri="{FF2B5EF4-FFF2-40B4-BE49-F238E27FC236}">
                <a16:creationId xmlns:a16="http://schemas.microsoft.com/office/drawing/2014/main" id="{23EAA214-0B9B-753A-2B8C-680B051082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29425" y="3910265"/>
            <a:ext cx="715449" cy="715449"/>
          </a:xfrm>
          <a:prstGeom prst="rect">
            <a:avLst/>
          </a:prstGeom>
        </p:spPr>
      </p:pic>
      <p:pic>
        <p:nvPicPr>
          <p:cNvPr id="23" name="그래픽 22" descr="골프">
            <a:extLst>
              <a:ext uri="{FF2B5EF4-FFF2-40B4-BE49-F238E27FC236}">
                <a16:creationId xmlns:a16="http://schemas.microsoft.com/office/drawing/2014/main" id="{2D91C9E4-DD32-1318-6ADF-40C4C13D6E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785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8ADD2-CC53-8337-6FB7-6EBAEEF6F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B6AF2-D040-DB0C-EAF2-98771BDDEA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MaxPooling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519D90AE-53BD-C5D2-C397-7C2CCB13F3B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26E39D-D189-E3CB-292C-32D80746A23F}"/>
              </a:ext>
            </a:extLst>
          </p:cNvPr>
          <p:cNvSpPr txBox="1"/>
          <p:nvPr/>
        </p:nvSpPr>
        <p:spPr>
          <a:xfrm>
            <a:off x="561974" y="1277273"/>
            <a:ext cx="11239501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다운 샘플링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없을 때 발생하는 2가지 문제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좁은 시야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한계): 3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합성곱만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3번 쌓으면, 3번째 레이어는 원본 이미지에서 7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7 픽셀 영역만 보고 판단하기 때문에 28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28 크기 숫자 이미지 전체 형태(숫자 0, 8 등의 전체 구도)를 알아채지 못함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 손실 (과도한 맵 크기): 최종 22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22의 큰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유지한 채 최종 분류기로 넘기기 위해 평균(Global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내면, 수많은 공간 정보가 한 번에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뭉개지면서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심각한 정보 파괴가 발생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lnSpc>
                <a:spcPct val="150000"/>
              </a:lnSpc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다운샘플링의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 역할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 정보 변환: 공간 크기(가로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세로)를 줄이는 대신 채널 수를 늘려, "어느 위치에 있는가"에서 "어떤 형상/의미가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존재하는가"로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집중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시야 확장: 지도 해상도를 줄여 한눈에 전체를 내려다보듯, 후반부 레이어가 이미지 전체 구도를 파악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맥스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Max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)이 가장 뛰어난 이유</a:t>
            </a:r>
            <a:endParaRPr lang="en-US" altLang="ko-KR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시각 특징은 특정 패턴이 "거기에 강력하게 존재하는가(최댓값)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"가 중요하며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평균을 내버리면 모서리나 눈, 코 같은 특징 신호가 어두운 배경(0에 가까운 값)과 섞여 희석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)과의 비교: 처음부터 성큼성큼 건너뛰며 이미지 특징을 뽑으면 중요한 미세 특징을 빼먹을 수 있으며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없는 1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이동으로 빽빽하게 특징을 찾은 뒤, 맥스 풀링으로 정수만 뽑아내는 것이 효과적</a:t>
            </a:r>
          </a:p>
        </p:txBody>
      </p:sp>
    </p:spTree>
    <p:extLst>
      <p:ext uri="{BB962C8B-B14F-4D97-AF65-F5344CB8AC3E}">
        <p14:creationId xmlns:p14="http://schemas.microsoft.com/office/powerpoint/2010/main" val="33070497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8066" y="229797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22CDC-3153-C104-693B-9774C27B1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12D7AD-4648-9609-1ABF-419F370403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1106E-9AB2-5EAB-60AE-7E89B3960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810" y="1367251"/>
            <a:ext cx="7381033" cy="517642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9BD960-8AF4-3C09-9C0D-A2F8090D8FE7}"/>
              </a:ext>
            </a:extLst>
          </p:cNvPr>
          <p:cNvSpPr/>
          <p:nvPr/>
        </p:nvSpPr>
        <p:spPr>
          <a:xfrm>
            <a:off x="2590800" y="2495550"/>
            <a:ext cx="7667625" cy="5143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E1B3ACA-DE39-C868-813A-F0B06E663F44}"/>
              </a:ext>
            </a:extLst>
          </p:cNvPr>
          <p:cNvSpPr/>
          <p:nvPr/>
        </p:nvSpPr>
        <p:spPr>
          <a:xfrm>
            <a:off x="2590800" y="3343275"/>
            <a:ext cx="7667625" cy="5143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103B100-0780-3683-8D81-E2217D6A3660}"/>
              </a:ext>
            </a:extLst>
          </p:cNvPr>
          <p:cNvSpPr/>
          <p:nvPr/>
        </p:nvSpPr>
        <p:spPr>
          <a:xfrm>
            <a:off x="2590800" y="4457700"/>
            <a:ext cx="7667625" cy="1390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B6DC131-A830-DA5C-660F-18AE948897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091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6703D-44EA-4061-97CE-91C6F3353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8B9CB1-AF41-ACA2-9FA2-788D90D31D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Training a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from scratch on a small dataset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A6F86A-20A2-4086-97AA-3E489D0081F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CCC6E2-B224-9E3D-9FD9-FA8D81EE73F4}"/>
              </a:ext>
            </a:extLst>
          </p:cNvPr>
          <p:cNvSpPr txBox="1"/>
          <p:nvPr/>
        </p:nvSpPr>
        <p:spPr>
          <a:xfrm>
            <a:off x="590551" y="1248422"/>
            <a:ext cx="11125804" cy="4853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캐글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(Kaggle)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추출한 개와 고양이 사진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2,500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훈련용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1,000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검증용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2,000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장은 테스트용으로 분할하여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 models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(test accuracy %):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Training a small model from scratch (78.6%)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(85.7%)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using a pretrained model (98.2%)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extraction together with data augmentation (98.4%)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model (test accuracy of 98.7%)</a:t>
            </a:r>
          </a:p>
          <a:p>
            <a:pPr marL="2857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학습된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(pretrained)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분류 모델을 다운로드하여 활용하면 매우 적은 데이터만으로도 강력한 비전 모델을 구축할 수 있도록 특성을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단 몇 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몇 천 장의 적은 데이터만으로도 고성능 모델 생성</a:t>
            </a: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90F8CC73-CEE9-F248-A870-9150D912F3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656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FC3D0-0987-8025-DA02-60FD2E08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AFF4AE-9130-E056-6C98-3C455DDAF5C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Building your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4BF051C-E260-7222-BB50-00CCD381827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FEB869-5EAF-4D1C-567F-9CA657F07B45}"/>
              </a:ext>
            </a:extLst>
          </p:cNvPr>
          <p:cNvSpPr txBox="1"/>
          <p:nvPr/>
        </p:nvSpPr>
        <p:spPr>
          <a:xfrm>
            <a:off x="590551" y="1248422"/>
            <a:ext cx="11125804" cy="791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최종 단계에 이르러서는 공간 정보는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7×7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512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개로 늘어난 고밀도 특징 요약본으로 변환하는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Convnet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C6D47-610A-2E5D-5BF5-73B1C932E32A}"/>
              </a:ext>
            </a:extLst>
          </p:cNvPr>
          <p:cNvSpPr txBox="1"/>
          <p:nvPr/>
        </p:nvSpPr>
        <p:spPr>
          <a:xfrm>
            <a:off x="647700" y="2212322"/>
            <a:ext cx="11068655" cy="432426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		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RGB images of size (180, 180, 3) 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Rescales inputs to the [0, 1] range by dividing them by 255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 algn="l" latinLnBrk="0">
              <a:buNone/>
            </a:pPr>
            <a:endParaRPr lang="en-US" altLang="ko-KR" sz="9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Conv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MaxPooling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 		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(178, 178, 32) — (180 - 3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(89, 89, 32) — (178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# (87, 87, 64) — (89 - 3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(43, 43, 64) — (87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(41, 41, 128) — (43 - 3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(20, 20, 128) — (41 / 2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내림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(18, 18, 256) — (20 - 3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			# (9, 9, 256) — (18 / 2)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layers.Conv2D(filters=512,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	# (7, 7, 512) — (9 - 3 + 1)</a:t>
            </a:r>
            <a:endParaRPr lang="en-US" altLang="ko-KR" sz="15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7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Flattens the 3D activations with shape(7,7,512) into 1D activations with shape(512,) by averaging them over spatial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dimensions</a:t>
            </a:r>
          </a:p>
          <a:p>
            <a:pPr algn="l" latinLnBrk="0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 				# (512,)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25,088(=7x7x512)</a:t>
            </a:r>
          </a:p>
          <a:p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 			#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binary classification problem</a:t>
            </a:r>
          </a:p>
          <a:p>
            <a:pPr algn="l">
              <a:buNone/>
            </a:pP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5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5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72780292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FD00-0A23-2D9F-9CAC-249068ED8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E93D6FE-21A0-61E1-7015-E07FCBD726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BC94D8E-4BFC-2DFE-B497-BB3557059C7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C1C17-A02C-5CAD-ACBE-8E77196C08F6}"/>
              </a:ext>
            </a:extLst>
          </p:cNvPr>
          <p:cNvSpPr txBox="1"/>
          <p:nvPr/>
        </p:nvSpPr>
        <p:spPr>
          <a:xfrm>
            <a:off x="590551" y="1248422"/>
            <a:ext cx="11125804" cy="41586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images of size (180, 180,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고해상도 데이터를 모델에 주입하려면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(Floating-point tensor)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포맷팅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디스크에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파일로 저장되어 있으므로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모델로 전달하기 위한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읽기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JPEG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내용을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그리드로 디코딩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부동소수점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동일한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180×180)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Resizing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이미지들을 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단위로 묶기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여기서는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장씩 배치 구성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함수를 활용하여 데이터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 구성</a:t>
            </a:r>
          </a:p>
        </p:txBody>
      </p:sp>
    </p:spTree>
    <p:extLst>
      <p:ext uri="{BB962C8B-B14F-4D97-AF65-F5344CB8AC3E}">
        <p14:creationId xmlns:p14="http://schemas.microsoft.com/office/powerpoint/2010/main" val="24416938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916CC-EAAC-FB81-F5D0-8BFAECA13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C3A346-7AA9-F5B3-468F-FB2DC957DC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 preprocessing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A0DD657-E820-0B32-CA72-19EC4D39D46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4E6EC4-FB3E-628C-D1DC-F795155B81EF}"/>
              </a:ext>
            </a:extLst>
          </p:cNvPr>
          <p:cNvSpPr txBox="1"/>
          <p:nvPr/>
        </p:nvSpPr>
        <p:spPr>
          <a:xfrm>
            <a:off x="590551" y="1248422"/>
            <a:ext cx="11125804" cy="5225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image_dataset_from_directory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디스크에 저장된 이미지 파일들을 딥러닝 모델 학습용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객체로 일괄 변환해 주는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유틸리티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폴더 구조 기반 자동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별도의 라벨 파일 없이 하위 폴더 이름을 클래스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명으로 자동 인식하고 숫자 인덱스를 부여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디코딩 및 리사이징 자동화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다양한 크기의 이미지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(JPEG, PNG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읽어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규격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일정하게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묶기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셔플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(Shuffle)</a:t>
            </a: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지정한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대로 데이터를 묶어주며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시 데이터 편향을 막기 위해 무작위로 섞어주는 옵션을 제공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효율성 극대화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모든 이미지를 한 번에 메모리에 올리지 않고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학습 시점에 디스크에서 배치 단위로 불러오는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tf.data.Dataset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생성해 메모리 부족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(OOM)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오류를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8406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64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10642</TotalTime>
  <Words>4969</Words>
  <Application>Microsoft Office PowerPoint</Application>
  <PresentationFormat>와이드스크린</PresentationFormat>
  <Paragraphs>565</Paragraphs>
  <Slides>64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64</vt:i4>
      </vt:variant>
    </vt:vector>
  </HeadingPairs>
  <TitlesOfParts>
    <vt:vector size="74" baseType="lpstr">
      <vt:lpstr>D2Coding</vt:lpstr>
      <vt:lpstr>맑은 고딕</vt:lpstr>
      <vt:lpstr>맑은 고딕 Semilight</vt:lpstr>
      <vt:lpstr>바탕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172</cp:revision>
  <dcterms:created xsi:type="dcterms:W3CDTF">2026-04-06T01:00:39Z</dcterms:created>
  <dcterms:modified xsi:type="dcterms:W3CDTF">2026-08-05T02:31:50Z</dcterms:modified>
  <cp:version/>
</cp:coreProperties>
</file>