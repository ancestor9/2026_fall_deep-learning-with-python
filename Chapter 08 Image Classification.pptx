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4"/>
  </p:notesMasterIdLst>
  <p:handoutMasterIdLst>
    <p:handoutMasterId r:id="rId75"/>
  </p:handoutMasterIdLst>
  <p:sldIdLst>
    <p:sldId id="256" r:id="rId2"/>
    <p:sldId id="1136" r:id="rId3"/>
    <p:sldId id="1174" r:id="rId4"/>
    <p:sldId id="1134" r:id="rId5"/>
    <p:sldId id="1141" r:id="rId6"/>
    <p:sldId id="1173" r:id="rId7"/>
    <p:sldId id="1195" r:id="rId8"/>
    <p:sldId id="1169" r:id="rId9"/>
    <p:sldId id="1170" r:id="rId10"/>
    <p:sldId id="1171" r:id="rId11"/>
    <p:sldId id="1196" r:id="rId12"/>
    <p:sldId id="1172" r:id="rId13"/>
    <p:sldId id="1137" r:id="rId14"/>
    <p:sldId id="1114" r:id="rId15"/>
    <p:sldId id="1199" r:id="rId16"/>
    <p:sldId id="1200" r:id="rId17"/>
    <p:sldId id="1107" r:id="rId18"/>
    <p:sldId id="1133" r:id="rId19"/>
    <p:sldId id="1129" r:id="rId20"/>
    <p:sldId id="1130" r:id="rId21"/>
    <p:sldId id="1177" r:id="rId22"/>
    <p:sldId id="1112" r:id="rId23"/>
    <p:sldId id="1197" r:id="rId24"/>
    <p:sldId id="1132" r:id="rId25"/>
    <p:sldId id="1131" r:id="rId26"/>
    <p:sldId id="1124" r:id="rId27"/>
    <p:sldId id="1198" r:id="rId28"/>
    <p:sldId id="1178" r:id="rId29"/>
    <p:sldId id="1115" r:id="rId30"/>
    <p:sldId id="1138" r:id="rId31"/>
    <p:sldId id="1201" r:id="rId32"/>
    <p:sldId id="1188" r:id="rId33"/>
    <p:sldId id="1189" r:id="rId34"/>
    <p:sldId id="1127" r:id="rId35"/>
    <p:sldId id="1103" r:id="rId36"/>
    <p:sldId id="1098" r:id="rId37"/>
    <p:sldId id="1099" r:id="rId38"/>
    <p:sldId id="1101" r:id="rId39"/>
    <p:sldId id="1202" r:id="rId40"/>
    <p:sldId id="1176" r:id="rId41"/>
    <p:sldId id="1105" r:id="rId42"/>
    <p:sldId id="1095" r:id="rId43"/>
    <p:sldId id="1096" r:id="rId44"/>
    <p:sldId id="1097" r:id="rId45"/>
    <p:sldId id="1106" r:id="rId46"/>
    <p:sldId id="1102" r:id="rId47"/>
    <p:sldId id="1116" r:id="rId48"/>
    <p:sldId id="1104" r:id="rId49"/>
    <p:sldId id="1125" r:id="rId50"/>
    <p:sldId id="1126" r:id="rId51"/>
    <p:sldId id="1175" r:id="rId52"/>
    <p:sldId id="1111" r:id="rId53"/>
    <p:sldId id="1113" r:id="rId54"/>
    <p:sldId id="1109" r:id="rId55"/>
    <p:sldId id="1110" r:id="rId56"/>
    <p:sldId id="1139" r:id="rId57"/>
    <p:sldId id="1186" r:id="rId58"/>
    <p:sldId id="1118" r:id="rId59"/>
    <p:sldId id="1119" r:id="rId60"/>
    <p:sldId id="1194" r:id="rId61"/>
    <p:sldId id="1179" r:id="rId62"/>
    <p:sldId id="1180" r:id="rId63"/>
    <p:sldId id="1190" r:id="rId64"/>
    <p:sldId id="1191" r:id="rId65"/>
    <p:sldId id="1192" r:id="rId66"/>
    <p:sldId id="1193" r:id="rId67"/>
    <p:sldId id="1181" r:id="rId68"/>
    <p:sldId id="1182" r:id="rId69"/>
    <p:sldId id="1183" r:id="rId70"/>
    <p:sldId id="1184" r:id="rId71"/>
    <p:sldId id="1185" r:id="rId72"/>
    <p:sldId id="1187" r:id="rId7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74"/>
            <p14:sldId id="1134"/>
            <p14:sldId id="1141"/>
            <p14:sldId id="1173"/>
            <p14:sldId id="1195"/>
            <p14:sldId id="1169"/>
            <p14:sldId id="1170"/>
            <p14:sldId id="1171"/>
            <p14:sldId id="1196"/>
            <p14:sldId id="1172"/>
            <p14:sldId id="1137"/>
            <p14:sldId id="1114"/>
            <p14:sldId id="1199"/>
            <p14:sldId id="1200"/>
            <p14:sldId id="1107"/>
            <p14:sldId id="1133"/>
            <p14:sldId id="1129"/>
            <p14:sldId id="1130"/>
            <p14:sldId id="1177"/>
            <p14:sldId id="1112"/>
            <p14:sldId id="1197"/>
            <p14:sldId id="1132"/>
            <p14:sldId id="1131"/>
            <p14:sldId id="1124"/>
            <p14:sldId id="1198"/>
            <p14:sldId id="1178"/>
            <p14:sldId id="1115"/>
            <p14:sldId id="1138"/>
            <p14:sldId id="1201"/>
            <p14:sldId id="1188"/>
            <p14:sldId id="1189"/>
            <p14:sldId id="1127"/>
            <p14:sldId id="1103"/>
            <p14:sldId id="1098"/>
            <p14:sldId id="1099"/>
            <p14:sldId id="1101"/>
            <p14:sldId id="1202"/>
            <p14:sldId id="1176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94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gif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0.png"/><Relationship Id="rId7" Type="http://schemas.openxmlformats.org/officeDocument/2006/relationships/image" Target="../media/image28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23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27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sv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9.svg"/><Relationship Id="rId4" Type="http://schemas.openxmlformats.org/officeDocument/2006/relationships/image" Target="../media/image48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9.svg"/><Relationship Id="rId4" Type="http://schemas.openxmlformats.org/officeDocument/2006/relationships/image" Target="../media/image4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4.jpe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55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9.svg"/><Relationship Id="rId4" Type="http://schemas.openxmlformats.org/officeDocument/2006/relationships/image" Target="../media/image48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3.svg"/><Relationship Id="rId5" Type="http://schemas.openxmlformats.org/officeDocument/2006/relationships/image" Target="../media/image62.png"/><Relationship Id="rId4" Type="http://schemas.openxmlformats.org/officeDocument/2006/relationships/image" Target="../media/image61.sv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21CAC7F-22D6-E8F7-94D0-656809DD1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06" y="2259171"/>
            <a:ext cx="8626588" cy="367315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941126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maps,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58939-71F2-632B-3A60-5043A84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47C51-23DB-28C1-1E78-8F101F81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33B163-95F3-2E67-9FC6-A060E8C18A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9CBFFD-FC32-7932-EC6D-0294B33036D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BC393D8-E4EF-8E8F-747B-12B59340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9C1C3F05-A9CD-2C76-4752-C5F47FCA1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41577AE9-6300-598D-B26F-5839B23C6265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E795B4-5CB2-0B73-062E-FD141E330813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D1FEBA-5F96-50A8-2DEF-BB43ADF5AF78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82E782-901F-4F98-F79A-1679180BBA63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C6B80B-C91C-940C-7317-450257E119BD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77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CB2D41-CCEF-EA08-0924-08A04A214C74}"/>
              </a:ext>
            </a:extLst>
          </p:cNvPr>
          <p:cNvSpPr txBox="1"/>
          <p:nvPr/>
        </p:nvSpPr>
        <p:spPr>
          <a:xfrm>
            <a:off x="600332" y="1361718"/>
            <a:ext cx="11315700" cy="372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피질의 생물학적 뉴런이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작고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시작하여 단계별로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크고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조합해 대상을 인식한다는 계층적 시각 처리 원리는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고안하게 된 핵심 원리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뉴런이 시야 전체를 보는 것이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자극을 받아들이는 자신만의 작은 시야 구역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반응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피질로 들어온 신호 초기에는 뉴런들이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내의 아주 작은 영역에서 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경계선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단순한 패턴에만 반응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후기 연산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뇌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시각 신호가 다음 단계의 뇌 모듈로 계속 이동하면서 여러 작은 정보가 통합된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상위 뉴런은 더 넓은 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넓은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보며 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얼굴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사물 전체 같은 복잡한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1309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666750" y="1639891"/>
            <a:ext cx="66579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1C22-5818-ADAC-F3DE-9146EEB1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E2A32-7B7F-6829-928B-D4A27B5D6F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operation,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AD50339-4A82-914A-6B27-58311469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329D9C4-A941-42A3-22DA-7D0982457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751" y="1925831"/>
            <a:ext cx="6265840" cy="36081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92AE02-2017-1756-71EF-3857347C27F3}"/>
              </a:ext>
            </a:extLst>
          </p:cNvPr>
          <p:cNvSpPr txBox="1"/>
          <p:nvPr/>
        </p:nvSpPr>
        <p:spPr>
          <a:xfrm>
            <a:off x="1243751" y="56541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layers with rectangular local receptive fields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034D2A-BCAB-8A7E-6A87-2A2A50C38CAE}"/>
              </a:ext>
            </a:extLst>
          </p:cNvPr>
          <p:cNvSpPr txBox="1"/>
          <p:nvPr/>
        </p:nvSpPr>
        <p:spPr>
          <a:xfrm>
            <a:off x="7667625" y="1925831"/>
            <a:ext cx="411480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</a:p>
        </p:txBody>
      </p:sp>
    </p:spTree>
    <p:extLst>
      <p:ext uri="{BB962C8B-B14F-4D97-AF65-F5344CB8AC3E}">
        <p14:creationId xmlns:p14="http://schemas.microsoft.com/office/powerpoint/2010/main" val="299063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7004F-D407-CA00-E5C7-19BB76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8088FE-0930-15B2-B1A9-FD861FE554E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B8D45-08A2-3432-520B-D82158DD53DA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68E1D6-01B6-DFA8-F5C2-00C539C9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F80E1F-DA80-2E1A-C6FD-E4C8D3446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34136-8ECF-648E-7796-300ED0FF461F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777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AF2A-C7DD-6751-15D8-919FF6C6A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B0507FC-5359-95A4-FFFE-0513B5EA175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D5F943C-FEB6-60B7-64F5-BEA72CFA8A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3A292E6-880C-4032-C4A7-6EF4EB73E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80" y="1865493"/>
            <a:ext cx="4846740" cy="32387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729E2A-F537-C27A-ED0C-3EF3FD57F414}"/>
              </a:ext>
            </a:extLst>
          </p:cNvPr>
          <p:cNvSpPr txBox="1"/>
          <p:nvPr/>
        </p:nvSpPr>
        <p:spPr>
          <a:xfrm>
            <a:off x="643680" y="533916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Connections between layers and zero padding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059DBD9-F18C-C48A-30A9-D5AA0DC9C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778" y="1897247"/>
            <a:ext cx="5113693" cy="32070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B20543-0F90-C46F-75A0-F94CC6146497}"/>
              </a:ext>
            </a:extLst>
          </p:cNvPr>
          <p:cNvSpPr txBox="1"/>
          <p:nvPr/>
        </p:nvSpPr>
        <p:spPr>
          <a:xfrm>
            <a:off x="6486525" y="535621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Reducing dimensionality using a stride of 2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1302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67E71-DE5F-56A7-2475-251D6F76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28FA20A-BC67-DF78-2E41-9AAE4D40E1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padding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259316D-1F9C-C69B-1FE1-5F05E9AA87F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B821A05-5E87-AF57-CDBC-C9A17E34C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622" y="1818089"/>
            <a:ext cx="6294430" cy="38123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96E311-4A55-9DE9-9182-76030F6853DD}"/>
              </a:ext>
            </a:extLst>
          </p:cNvPr>
          <p:cNvSpPr txBox="1"/>
          <p:nvPr/>
        </p:nvSpPr>
        <p:spPr>
          <a:xfrm>
            <a:off x="2119970" y="5819127"/>
            <a:ext cx="79520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Padding="SAME” or “VALID” (with input width 13, filter width 6, stride 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1412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48" y="2713118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478F5-25A2-AD5A-ABA8-BF7B640E2C40}"/>
              </a:ext>
            </a:extLst>
          </p:cNvPr>
          <p:cNvSpPr txBox="1"/>
          <p:nvPr/>
        </p:nvSpPr>
        <p:spPr>
          <a:xfrm>
            <a:off x="2106648" y="5421910"/>
            <a:ext cx="744695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fields; as the visual signal makes its way through consecutive brain modules, neurons respond to more complex patterns in larger receptive fields.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028AF8-E168-5810-CEAF-14FBF385D69E}"/>
              </a:ext>
            </a:extLst>
          </p:cNvPr>
          <p:cNvSpPr txBox="1"/>
          <p:nvPr/>
        </p:nvSpPr>
        <p:spPr>
          <a:xfrm>
            <a:off x="1537426" y="6206740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7501F-C859-763B-C160-2AFD15FF487A}"/>
              </a:ext>
            </a:extLst>
          </p:cNvPr>
          <p:cNvSpPr txBox="1"/>
          <p:nvPr/>
        </p:nvSpPr>
        <p:spPr>
          <a:xfrm>
            <a:off x="8296511" y="6191119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열)</a:t>
            </a:r>
          </a:p>
        </p:txBody>
      </p:sp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87E2-0FA0-E744-A76F-DCE3BE154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3CF5F16-233F-9D48-DB43-2017FFACE8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C088B55-5918-A3BF-3759-CE56BA1FE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5E4E8E7-6EC8-3595-65B0-959679D57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374" y="1697181"/>
            <a:ext cx="6713105" cy="42368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FBD008-9BAA-8AB5-9C75-8644037B085A}"/>
              </a:ext>
            </a:extLst>
          </p:cNvPr>
          <p:cNvSpPr txBox="1"/>
          <p:nvPr/>
        </p:nvSpPr>
        <p:spPr>
          <a:xfrm>
            <a:off x="1009374" y="60066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Applying two different filters to get two feature map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97665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07603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6A693-EEDB-6C0D-17F4-4DDDDC702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B4D223F-706D-E146-1672-B8F673CB22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Multiple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A95BA49-3286-FFC3-5DEF-EB0948B1093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CB6AB6-BB40-53A5-2B81-069FC17F5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853" y="1354210"/>
            <a:ext cx="5760997" cy="510712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860313-CA50-D7D4-3196-A9CB218CC166}"/>
              </a:ext>
            </a:extLst>
          </p:cNvPr>
          <p:cNvSpPr txBox="1"/>
          <p:nvPr/>
        </p:nvSpPr>
        <p:spPr>
          <a:xfrm>
            <a:off x="7638237" y="1632376"/>
            <a:ext cx="352425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with multiple feature maps, and images with three color channels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46005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937254" y="1875850"/>
            <a:ext cx="5798932" cy="3429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CBB002-9AA0-31B7-DA19-87897E543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09" y="1943100"/>
            <a:ext cx="5814845" cy="22574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1BBDC8-F3B5-5272-ACF4-79065C8F76C3}"/>
              </a:ext>
            </a:extLst>
          </p:cNvPr>
          <p:cNvSpPr txBox="1"/>
          <p:nvPr/>
        </p:nvSpPr>
        <p:spPr>
          <a:xfrm>
            <a:off x="275968" y="4273494"/>
            <a:ext cx="496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pooling with a 2 × 2 filter and stride 2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A21D2-C9F2-002C-DE68-B256BFF9D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5F968-99EF-7AE4-6D29-EC6B81E91E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E4604-AEC6-D012-BF05-DE8B71813AA6}"/>
              </a:ext>
            </a:extLst>
          </p:cNvPr>
          <p:cNvSpPr txBox="1"/>
          <p:nvPr/>
        </p:nvSpPr>
        <p:spPr>
          <a:xfrm>
            <a:off x="6715125" y="2410472"/>
            <a:ext cx="5200907" cy="2367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AF298B06-4644-AD53-0008-2F86C29B81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7D4E8F1-9451-E218-9E87-BA6F10706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94686"/>
            <a:ext cx="6012383" cy="3903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55E14B-CF0D-023F-5E6F-FDE66CE12A1C}"/>
              </a:ext>
            </a:extLst>
          </p:cNvPr>
          <p:cNvSpPr txBox="1"/>
          <p:nvPr/>
        </p:nvSpPr>
        <p:spPr>
          <a:xfrm>
            <a:off x="475645" y="5698187"/>
            <a:ext cx="3982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Invariance to small translations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4992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5" y="4676547"/>
            <a:ext cx="6606149" cy="16004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5" y="1828107"/>
            <a:ext cx="6606149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DFEE326-BB03-425B-4019-131FDCA183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67077"/>
              </p:ext>
            </p:extLst>
          </p:nvPr>
        </p:nvGraphicFramePr>
        <p:xfrm>
          <a:off x="7478200" y="1825904"/>
          <a:ext cx="4399475" cy="3978276"/>
        </p:xfrm>
        <a:graphic>
          <a:graphicData uri="http://schemas.openxmlformats.org/drawingml/2006/table">
            <a:tbl>
              <a:tblPr/>
              <a:tblGrid>
                <a:gridCol w="818075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model_no_max_pool</a:t>
                      </a:r>
                      <a:endParaRPr 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(28,28)→(26,26)→(24,24)→(22,22)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(28,28)→(26,26)→(13,13)→(11,11)→(5,5)→(3,3)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느리고 메모리 소모 큼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빠르고 메모리 절약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영역만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거의 전체 영역을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안정적으로 인식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C2B43D-AAF8-8983-87B8-AD31D664D723}"/>
              </a:ext>
            </a:extLst>
          </p:cNvPr>
          <p:cNvSpPr/>
          <p:nvPr/>
        </p:nvSpPr>
        <p:spPr>
          <a:xfrm>
            <a:off x="7305675" y="4438650"/>
            <a:ext cx="4714875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래픽 21" descr="물음표">
            <a:extLst>
              <a:ext uri="{FF2B5EF4-FFF2-40B4-BE49-F238E27FC236}">
                <a16:creationId xmlns:a16="http://schemas.microsoft.com/office/drawing/2014/main" id="{23EAA214-0B9B-753A-2B8C-680B0510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425" y="3910265"/>
            <a:ext cx="715449" cy="715449"/>
          </a:xfrm>
          <a:prstGeom prst="rect">
            <a:avLst/>
          </a:prstGeom>
        </p:spPr>
      </p:pic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뭉개지면서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다운샘플링의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590550" y="1158507"/>
            <a:ext cx="11182350" cy="227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전형적인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레이어 뒤에는 보통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레이어가 따름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쌓은 뒤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놓고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다시 몇 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쌓는 과정을 반복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네트워크를 거쳐 진행됨에 따라 이미지는 점점 작아지지만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덕분에 보통 점점 더 깊어지고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많아짐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네트워크의 가장 상단에는 몇 개의 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(+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구성된 일반적인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신경망이 추가되며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레이어에서 예측 결과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추정된 클래스 확률을 출력하는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출력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C5285DA-A3EF-DAB7-4BAB-596E740A4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3922962"/>
            <a:ext cx="8748989" cy="2200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E5C9-3EE4-EF46-820B-D055D87E7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96B4A5-DF49-6A3C-3D39-684225A59F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6D5798-44A8-F05D-5334-0E3F33ED7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0F4E0F-5F6D-95C1-BCC6-7F781A346F0D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2171D79-849B-04F7-A206-3D8A062AE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7011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823" y="254562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431D-1872-0B2D-8578-96D199A4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C146B6-CCDA-C51A-0A97-F4089B733E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6B3466-5FF8-05A7-75B4-76F73CF8DF6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48A826-74D4-49B8-BCD2-DD159BE59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94999"/>
              </p:ext>
            </p:extLst>
          </p:nvPr>
        </p:nvGraphicFramePr>
        <p:xfrm>
          <a:off x="944670" y="1688595"/>
          <a:ext cx="10217817" cy="4540759"/>
        </p:xfrm>
        <a:graphic>
          <a:graphicData uri="http://schemas.openxmlformats.org/drawingml/2006/table">
            <a:tbl>
              <a:tblPr/>
              <a:tblGrid>
                <a:gridCol w="1156203">
                  <a:extLst>
                    <a:ext uri="{9D8B030D-6E8A-4147-A177-3AD203B41FA5}">
                      <a16:colId xmlns:a16="http://schemas.microsoft.com/office/drawing/2014/main" val="734185853"/>
                    </a:ext>
                  </a:extLst>
                </a:gridCol>
                <a:gridCol w="2197500">
                  <a:extLst>
                    <a:ext uri="{9D8B030D-6E8A-4147-A177-3AD203B41FA5}">
                      <a16:colId xmlns:a16="http://schemas.microsoft.com/office/drawing/2014/main" val="310222506"/>
                    </a:ext>
                  </a:extLst>
                </a:gridCol>
                <a:gridCol w="2429080">
                  <a:extLst>
                    <a:ext uri="{9D8B030D-6E8A-4147-A177-3AD203B41FA5}">
                      <a16:colId xmlns:a16="http://schemas.microsoft.com/office/drawing/2014/main" val="1607935622"/>
                    </a:ext>
                  </a:extLst>
                </a:gridCol>
                <a:gridCol w="2301434">
                  <a:extLst>
                    <a:ext uri="{9D8B030D-6E8A-4147-A177-3AD203B41FA5}">
                      <a16:colId xmlns:a16="http://schemas.microsoft.com/office/drawing/2014/main" val="389676820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571997856"/>
                    </a:ext>
                  </a:extLst>
                </a:gridCol>
              </a:tblGrid>
              <a:tr h="5163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Type)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차원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 Shape)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계산식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 #)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24629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(32, 32, 1)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레이어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299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C1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(28, 28, 6)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(5×5×1+1) × 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68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S2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(14, 14, 6)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175149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C3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(10, 10, 16)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(5×5×6+1) × 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29111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S4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(5, 5, 16)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16768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차원 변환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(5×5×16=400)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112416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F5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(400+1) × 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437103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F6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(120+1) × 84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680060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(84+1) × 10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41894"/>
                  </a:ext>
                </a:extLst>
              </a:tr>
              <a:tr h="42862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38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2915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10878</TotalTime>
  <Words>5545</Words>
  <Application>Microsoft Office PowerPoint</Application>
  <PresentationFormat>와이드스크린</PresentationFormat>
  <Paragraphs>654</Paragraphs>
  <Slides>72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72</vt:i4>
      </vt:variant>
    </vt:vector>
  </HeadingPairs>
  <TitlesOfParts>
    <vt:vector size="82" baseType="lpstr">
      <vt:lpstr>D2Coding</vt:lpstr>
      <vt:lpstr>맑은 고딕</vt:lpstr>
      <vt:lpstr>맑은 고딕 Semilight</vt:lpstr>
      <vt:lpstr>바탕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180</cp:revision>
  <dcterms:created xsi:type="dcterms:W3CDTF">2026-04-06T01:00:39Z</dcterms:created>
  <dcterms:modified xsi:type="dcterms:W3CDTF">2026-08-10T12:51:18Z</dcterms:modified>
  <cp:version/>
</cp:coreProperties>
</file>