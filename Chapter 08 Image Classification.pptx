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1136" r:id="rId3"/>
    <p:sldId id="1128" r:id="rId4"/>
    <p:sldId id="1134" r:id="rId5"/>
    <p:sldId id="1133" r:id="rId6"/>
    <p:sldId id="1129" r:id="rId7"/>
    <p:sldId id="1130" r:id="rId8"/>
    <p:sldId id="1137" r:id="rId9"/>
    <p:sldId id="1138" r:id="rId10"/>
    <p:sldId id="1132" r:id="rId11"/>
    <p:sldId id="1131" r:id="rId12"/>
    <p:sldId id="978" r:id="rId13"/>
    <p:sldId id="1117" r:id="rId14"/>
    <p:sldId id="1114" r:id="rId15"/>
    <p:sldId id="1112" r:id="rId16"/>
    <p:sldId id="1105" r:id="rId17"/>
    <p:sldId id="1095" r:id="rId18"/>
    <p:sldId id="1096" r:id="rId19"/>
    <p:sldId id="1097" r:id="rId20"/>
    <p:sldId id="1103" r:id="rId21"/>
    <p:sldId id="1107" r:id="rId22"/>
    <p:sldId id="1115" r:id="rId23"/>
    <p:sldId id="1098" r:id="rId24"/>
    <p:sldId id="1099" r:id="rId25"/>
    <p:sldId id="1100" r:id="rId26"/>
    <p:sldId id="1101" r:id="rId27"/>
    <p:sldId id="1127" r:id="rId28"/>
    <p:sldId id="1106" r:id="rId29"/>
    <p:sldId id="1116" r:id="rId30"/>
    <p:sldId id="1102" r:id="rId31"/>
    <p:sldId id="1104" r:id="rId32"/>
    <p:sldId id="1124" r:id="rId33"/>
    <p:sldId id="1125" r:id="rId34"/>
    <p:sldId id="1126" r:id="rId35"/>
    <p:sldId id="1111" r:id="rId36"/>
    <p:sldId id="1113" r:id="rId37"/>
    <p:sldId id="1109" r:id="rId38"/>
    <p:sldId id="1110" r:id="rId39"/>
    <p:sldId id="1139" r:id="rId40"/>
    <p:sldId id="1118" r:id="rId41"/>
    <p:sldId id="1119" r:id="rId42"/>
    <p:sldId id="1120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28"/>
            <p14:sldId id="1134"/>
            <p14:sldId id="1133"/>
            <p14:sldId id="1129"/>
            <p14:sldId id="1130"/>
            <p14:sldId id="1137"/>
            <p14:sldId id="1138"/>
            <p14:sldId id="1132"/>
            <p14:sldId id="1131"/>
            <p14:sldId id="978"/>
            <p14:sldId id="1117"/>
            <p14:sldId id="1114"/>
            <p14:sldId id="1112"/>
            <p14:sldId id="1105"/>
            <p14:sldId id="1095"/>
            <p14:sldId id="1096"/>
            <p14:sldId id="1097"/>
            <p14:sldId id="1103"/>
            <p14:sldId id="1107"/>
            <p14:sldId id="1115"/>
            <p14:sldId id="1098"/>
            <p14:sldId id="1099"/>
            <p14:sldId id="1100"/>
            <p14:sldId id="1101"/>
            <p14:sldId id="1127"/>
            <p14:sldId id="1106"/>
            <p14:sldId id="1116"/>
            <p14:sldId id="1102"/>
            <p14:sldId id="1104"/>
            <p14:sldId id="1124"/>
            <p14:sldId id="1125"/>
            <p14:sldId id="1126"/>
            <p14:sldId id="1111"/>
            <p14:sldId id="1113"/>
            <p14:sldId id="1109"/>
            <p14:sldId id="1110"/>
            <p14:sldId id="1139"/>
            <p14:sldId id="1118"/>
            <p14:sldId id="1119"/>
            <p14:sldId id="112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874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2216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2026-07-29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2026-07-29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2026-07-29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7/29/2026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2026-07-29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cs231n.stanford.edu/" TargetMode="Externa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deeplearningwithpython.io/chapters/chapter08_image-classification/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33.png"/><Relationship Id="rId7" Type="http://schemas.openxmlformats.org/officeDocument/2006/relationships/image" Target="../media/image14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jpeg"/><Relationship Id="rId5" Type="http://schemas.openxmlformats.org/officeDocument/2006/relationships/image" Target="../media/image50.png"/><Relationship Id="rId4" Type="http://schemas.openxmlformats.org/officeDocument/2006/relationships/image" Target="../media/image45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nvolution" TargetMode="External"/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0.png"/><Relationship Id="rId7" Type="http://schemas.openxmlformats.org/officeDocument/2006/relationships/image" Target="../media/image22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1.png"/><Relationship Id="rId5" Type="http://schemas.openxmlformats.org/officeDocument/2006/relationships/image" Target="../media/image200.png"/><Relationship Id="rId4" Type="http://schemas.openxmlformats.org/officeDocument/2006/relationships/image" Target="../media/image19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gif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gif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tensorspace.org/html/playground/lenet.html" TargetMode="Externa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stanford.edu/~shervine/teaching/cs-230/" TargetMode="External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hyperlink" Target="https://tensorspace.org/html/playground/alexne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jpe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github.com/jihongleejihong/pok8mon_go" TargetMode="Externa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hyperlink" Target="https://docs.pytorch.org/tutorials/beginner/blitz/neural_networks_tutorial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8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>
                <a:solidFill>
                  <a:schemeClr val="bg1"/>
                </a:solidFill>
              </a:rPr>
              <a:t>Image Classification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644B366F-C08A-343D-4873-7C751FD3FEC6}"/>
              </a:ext>
            </a:extLst>
          </p:cNvPr>
          <p:cNvSpPr/>
          <p:nvPr/>
        </p:nvSpPr>
        <p:spPr>
          <a:xfrm>
            <a:off x="536890" y="2092960"/>
            <a:ext cx="8861110" cy="5689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1" y="1248422"/>
            <a:ext cx="7540310" cy="31974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400" dirty="0"/>
              <a:t>This chapter covers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Understanding convolutional neural networks (</a:t>
            </a:r>
            <a:r>
              <a:rPr lang="en-US" altLang="ko-KR" sz="2000" dirty="0" err="1"/>
              <a:t>ConvNets</a:t>
            </a:r>
            <a:r>
              <a:rPr lang="en-US" altLang="ko-KR" sz="2000" dirty="0"/>
              <a:t>)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data augmentation to mitigate overfitting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Using a pretrained </a:t>
            </a:r>
            <a:r>
              <a:rPr lang="en-US" altLang="ko-KR" sz="2000" dirty="0" err="1"/>
              <a:t>ConvNet</a:t>
            </a:r>
            <a:r>
              <a:rPr lang="en-US" altLang="ko-KR" sz="2000" dirty="0"/>
              <a:t> for feature extraction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/>
              <a:t>Fine-tuning a pretrained </a:t>
            </a:r>
            <a:r>
              <a:rPr lang="en-US" altLang="ko-KR" sz="2000" dirty="0" err="1"/>
              <a:t>ConvNet</a:t>
            </a:r>
            <a:endParaRPr lang="en-US" altLang="ko-KR" sz="2000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5BF02-C190-10E8-815C-000469F8D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4D914B7-4A65-B108-F60D-95D5329BE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A088DC1-60C5-224A-7C6C-E0C3BCE108F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59D9AB-143A-889B-F6B8-6DBEE11C7A0B}"/>
              </a:ext>
            </a:extLst>
          </p:cNvPr>
          <p:cNvSpPr txBox="1"/>
          <p:nvPr/>
        </p:nvSpPr>
        <p:spPr>
          <a:xfrm>
            <a:off x="1009084" y="1742121"/>
            <a:ext cx="9411266" cy="3243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Kernels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= Filters = Feature</a:t>
            </a:r>
            <a:r>
              <a:rPr lang="ko-KR" altLang="en-US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</a:rPr>
              <a:t>maps, d</a:t>
            </a:r>
            <a:r>
              <a:rPr lang="en-US" altLang="ko-KR" sz="2800" dirty="0"/>
              <a:t>etectors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Stride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Padding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Pooling</a:t>
            </a:r>
          </a:p>
          <a:p>
            <a:pPr marL="457200" indent="-4572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800" dirty="0"/>
              <a:t>Flatten</a:t>
            </a:r>
            <a:endParaRPr lang="ko-KR" altLang="en-US" sz="280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F9A5027-C42E-7319-0AC9-BDE9844595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793" y="3135367"/>
            <a:ext cx="6145557" cy="2981178"/>
          </a:xfrm>
          <a:prstGeom prst="rect">
            <a:avLst/>
          </a:prstGeom>
        </p:spPr>
      </p:pic>
      <p:pic>
        <p:nvPicPr>
          <p:cNvPr id="13" name="그래픽 12" descr="물음표">
            <a:extLst>
              <a:ext uri="{FF2B5EF4-FFF2-40B4-BE49-F238E27FC236}">
                <a16:creationId xmlns:a16="http://schemas.microsoft.com/office/drawing/2014/main" id="{AFD1E9F0-341B-6DCC-1492-1F64379FCD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296025" y="318514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6650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B90A43-A500-9D98-C5EE-7F7A4C2F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1C6F73-D4C0-66A9-8C80-676C41CEA657}"/>
              </a:ext>
            </a:extLst>
          </p:cNvPr>
          <p:cNvSpPr txBox="1"/>
          <p:nvPr/>
        </p:nvSpPr>
        <p:spPr>
          <a:xfrm>
            <a:off x="623140" y="1424888"/>
            <a:ext cx="111592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컴퓨터가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분류 예측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https://cs231n.stanford.edu/</a:t>
            </a:r>
            <a:endParaRPr lang="ko-KR" altLang="en-US" dirty="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95294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BF3CE-30A0-D647-9841-1B9DC1366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206A815-92ED-5E55-79BC-D249D79B9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0E1C42C-1A62-B7D6-473F-8C9A3A2563B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 descr="흰색 표면에 검은색 프레임 선글라스">
            <a:extLst>
              <a:ext uri="{FF2B5EF4-FFF2-40B4-BE49-F238E27FC236}">
                <a16:creationId xmlns:a16="http://schemas.microsoft.com/office/drawing/2014/main" id="{896C9D42-88AB-9C35-B5F3-72A1901E786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4085" y="3427491"/>
            <a:ext cx="3347924" cy="29783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 descr="white and brown corgi besides brown dog">
            <a:extLst>
              <a:ext uri="{FF2B5EF4-FFF2-40B4-BE49-F238E27FC236}">
                <a16:creationId xmlns:a16="http://schemas.microsoft.com/office/drawing/2014/main" id="{23E5F13F-E7A8-1625-54FF-E7CDB28CF8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84887" y="2537772"/>
            <a:ext cx="2558728" cy="3843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2E50A8A-545B-F64E-E605-199874C9A3AE}"/>
              </a:ext>
            </a:extLst>
          </p:cNvPr>
          <p:cNvSpPr txBox="1"/>
          <p:nvPr/>
        </p:nvSpPr>
        <p:spPr>
          <a:xfrm>
            <a:off x="6724084" y="2875596"/>
            <a:ext cx="30346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filters (feature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maps)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6E64E7-168E-370F-846B-B368105D6E30}"/>
              </a:ext>
            </a:extLst>
          </p:cNvPr>
          <p:cNvSpPr/>
          <p:nvPr/>
        </p:nvSpPr>
        <p:spPr>
          <a:xfrm>
            <a:off x="3771900" y="4152393"/>
            <a:ext cx="424065" cy="424381"/>
          </a:xfrm>
          <a:prstGeom prst="rect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CC9DF36B-416C-A98E-5D99-1AF6669583A1}"/>
              </a:ext>
            </a:extLst>
          </p:cNvPr>
          <p:cNvSpPr/>
          <p:nvPr/>
        </p:nvSpPr>
        <p:spPr>
          <a:xfrm>
            <a:off x="3419475" y="4676269"/>
            <a:ext cx="233967" cy="177468"/>
          </a:xfrm>
          <a:prstGeom prst="rect">
            <a:avLst/>
          </a:prstGeom>
          <a:noFill/>
          <a:ln w="285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A6A4D67-8E7B-2322-9411-710FD92D00BD}"/>
              </a:ext>
            </a:extLst>
          </p:cNvPr>
          <p:cNvSpPr/>
          <p:nvPr/>
        </p:nvSpPr>
        <p:spPr>
          <a:xfrm>
            <a:off x="2447925" y="5924043"/>
            <a:ext cx="307082" cy="300925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926843-D93C-7DE2-339A-7B0751D14529}"/>
              </a:ext>
            </a:extLst>
          </p:cNvPr>
          <p:cNvSpPr txBox="1"/>
          <p:nvPr/>
        </p:nvSpPr>
        <p:spPr>
          <a:xfrm>
            <a:off x="600074" y="1219039"/>
            <a:ext cx="11239501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우리 눈이 세상을 바라볼 때 사물이 어디에 있든 똑같이 알아보고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이동 불변성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이미지의 조각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들을 모아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형태를 인지하듯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공간적 계층 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), 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원본 이미지에 굴려 가중치를 공유하는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깊게 쌓아 시야를 넓히는 방식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인간의 시각 방식을 가장 효율적으로 컴퓨터에 구현해 낸 구조</a:t>
            </a:r>
          </a:p>
        </p:txBody>
      </p:sp>
    </p:spTree>
    <p:extLst>
      <p:ext uri="{BB962C8B-B14F-4D97-AF65-F5344CB8AC3E}">
        <p14:creationId xmlns:p14="http://schemas.microsoft.com/office/powerpoint/2010/main" val="1259811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C4B0E-9215-C286-2671-09F61199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E610E9-D1FE-2850-B347-77F7B3CB41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8A18A25-A57C-1842-7548-74DD0C7F25B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E00D87-D783-4B1B-7897-CA8D1DE628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8123" y="3196935"/>
            <a:ext cx="7446954" cy="25085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8BBEA63-6C45-7A95-A23D-E71B44C554F8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Biological neurons in the visual cortex respond to specific patterns in small regions of the visual field called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7384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A7E62-8613-6F84-51F4-0C6CFFE1C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BEE6D-170E-62D3-6683-F0FB3D5CD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CCC6F2-88B3-C1B8-240B-E36F1FB4A53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8469B3-E488-AC77-BF05-8E4CC33B70C1}"/>
              </a:ext>
            </a:extLst>
          </p:cNvPr>
          <p:cNvSpPr txBox="1"/>
          <p:nvPr/>
        </p:nvSpPr>
        <p:spPr>
          <a:xfrm>
            <a:off x="576262" y="1248422"/>
            <a:ext cx="110394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As the visual signal makes its way through consecutive brain modules, neurons respond to more complex patterns in 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larger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receptive fields.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E261D0-BF79-73F4-C951-2791825B668E}"/>
              </a:ext>
            </a:extLst>
          </p:cNvPr>
          <p:cNvSpPr txBox="1"/>
          <p:nvPr/>
        </p:nvSpPr>
        <p:spPr>
          <a:xfrm>
            <a:off x="737152" y="2550921"/>
            <a:ext cx="10092255" cy="1940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수용장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초기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수평선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수직선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모서리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(edge)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 같은 단순한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by 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여러 층을 지난 심층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layer(larger receptive fields)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 등 복잡한 특징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 by 100)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층을 지나면 얼굴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자동차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object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전체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(1000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시각적으로 감지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생물학적 시각 피질과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공유하는 핵심 아이디어</a:t>
            </a:r>
          </a:p>
        </p:txBody>
      </p:sp>
    </p:spTree>
    <p:extLst>
      <p:ext uri="{BB962C8B-B14F-4D97-AF65-F5344CB8AC3E}">
        <p14:creationId xmlns:p14="http://schemas.microsoft.com/office/powerpoint/2010/main" val="41766930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84F9D-2D17-A453-7A06-F920D80FE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011DB8-1014-0439-048F-6528E93231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F8D5BA-1966-2A5F-6FE1-864C5D8CBB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Layer(Convolution, Inner product)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C616CE2-5B8D-27B2-1CD2-D0CC9E5CC3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5355" y="2582480"/>
            <a:ext cx="7887072" cy="27210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A4AACD9-EB63-D967-37BD-2294989933BE}"/>
              </a:ext>
            </a:extLst>
          </p:cNvPr>
          <p:cNvSpPr txBox="1"/>
          <p:nvPr/>
        </p:nvSpPr>
        <p:spPr>
          <a:xfrm>
            <a:off x="3647440" y="1710744"/>
            <a:ext cx="489712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(convolution),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내적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(inner product)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7" name="연결선: 구부러짐 6">
            <a:extLst>
              <a:ext uri="{FF2B5EF4-FFF2-40B4-BE49-F238E27FC236}">
                <a16:creationId xmlns:a16="http://schemas.microsoft.com/office/drawing/2014/main" id="{A17E19C1-8A3E-A36D-3761-F02B2C26E62C}"/>
              </a:ext>
            </a:extLst>
          </p:cNvPr>
          <p:cNvCxnSpPr>
            <a:cxnSpLocks/>
            <a:stCxn id="2" idx="2"/>
          </p:cNvCxnSpPr>
          <p:nvPr/>
        </p:nvCxnSpPr>
        <p:spPr>
          <a:xfrm rot="5400000">
            <a:off x="4646838" y="2330358"/>
            <a:ext cx="1699444" cy="1198880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A2F991-F2B1-ADB3-F1AA-C679F0621255}"/>
              </a:ext>
            </a:extLst>
          </p:cNvPr>
          <p:cNvSpPr txBox="1"/>
          <p:nvPr/>
        </p:nvSpPr>
        <p:spPr>
          <a:xfrm>
            <a:off x="201168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Original Image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0D4854-A00B-C5AF-3988-8EE4CCA93BD8}"/>
              </a:ext>
            </a:extLst>
          </p:cNvPr>
          <p:cNvSpPr txBox="1"/>
          <p:nvPr/>
        </p:nvSpPr>
        <p:spPr>
          <a:xfrm>
            <a:off x="5323840" y="5500559"/>
            <a:ext cx="2336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Filter(Kernel)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059546-FB4F-557A-2342-58F14BBE8A7E}"/>
              </a:ext>
            </a:extLst>
          </p:cNvPr>
          <p:cNvSpPr txBox="1"/>
          <p:nvPr/>
        </p:nvSpPr>
        <p:spPr>
          <a:xfrm>
            <a:off x="8117306" y="5500559"/>
            <a:ext cx="271210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 Map</a:t>
            </a: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(4, 4)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DBA6B6-8CDD-AFA6-29F7-E32041C8A2CE}"/>
              </a:ext>
            </a:extLst>
          </p:cNvPr>
          <p:cNvSpPr txBox="1"/>
          <p:nvPr/>
        </p:nvSpPr>
        <p:spPr>
          <a:xfrm>
            <a:off x="369030" y="3487132"/>
            <a:ext cx="199480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 =1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Zero Padding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15660483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E2D2A-D3C5-D4E6-EC2A-B2331510D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F136B6-3B92-C54B-5F05-D789E64B1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8111679-65E1-9DD1-67EF-243877EC07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Pooling Layer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8F2CC743-0314-A262-6CC9-D5FEFCD640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481" y="1786248"/>
            <a:ext cx="9560560" cy="37121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712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74348-38F8-FF39-D942-8ACC139F8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7CE1C0-2BA2-1A70-C807-69749AE49B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5F6F800-52E7-F549-6B9E-46D3ED36FF9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4F96551-9584-A655-BC70-CA878C19F636}"/>
              </a:ext>
            </a:extLst>
          </p:cNvPr>
          <p:cNvGraphicFramePr>
            <a:graphicFrameLocks noGrp="1"/>
          </p:cNvGraphicFramePr>
          <p:nvPr/>
        </p:nvGraphicFramePr>
        <p:xfrm>
          <a:off x="679452" y="3291415"/>
          <a:ext cx="2568573" cy="22086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94B09D8-86EE-09C6-55BB-3E9A5F3A29B7}"/>
              </a:ext>
            </a:extLst>
          </p:cNvPr>
          <p:cNvGraphicFramePr>
            <a:graphicFrameLocks noGrp="1"/>
          </p:cNvGraphicFramePr>
          <p:nvPr/>
        </p:nvGraphicFramePr>
        <p:xfrm>
          <a:off x="3400425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82495E26-6B37-D65A-1AC8-61AD90A0E7A8}"/>
              </a:ext>
            </a:extLst>
          </p:cNvPr>
          <p:cNvGraphicFramePr>
            <a:graphicFrameLocks noGrp="1"/>
          </p:cNvGraphicFramePr>
          <p:nvPr/>
        </p:nvGraphicFramePr>
        <p:xfrm>
          <a:off x="787400" y="3449174"/>
          <a:ext cx="1100817" cy="946554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A2CA27B-83AE-1BF7-1BA9-B6BC343E042D}"/>
              </a:ext>
            </a:extLst>
          </p:cNvPr>
          <p:cNvGraphicFramePr>
            <a:graphicFrameLocks noGrp="1"/>
          </p:cNvGraphicFramePr>
          <p:nvPr/>
        </p:nvGraphicFramePr>
        <p:xfrm>
          <a:off x="4594680" y="3548590"/>
          <a:ext cx="1834695" cy="15775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C33B2412-2732-0B71-15EA-0175D83667C8}"/>
              </a:ext>
            </a:extLst>
          </p:cNvPr>
          <p:cNvGraphicFramePr>
            <a:graphicFrameLocks noGrp="1"/>
          </p:cNvGraphicFramePr>
          <p:nvPr/>
        </p:nvGraphicFramePr>
        <p:xfrm>
          <a:off x="6526443" y="5321300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9" name="표 18">
            <a:extLst>
              <a:ext uri="{FF2B5EF4-FFF2-40B4-BE49-F238E27FC236}">
                <a16:creationId xmlns:a16="http://schemas.microsoft.com/office/drawing/2014/main" id="{A8F30394-4F4E-4641-8C5C-D64B2025F309}"/>
              </a:ext>
            </a:extLst>
          </p:cNvPr>
          <p:cNvGraphicFramePr>
            <a:graphicFrameLocks noGrp="1"/>
          </p:cNvGraphicFramePr>
          <p:nvPr/>
        </p:nvGraphicFramePr>
        <p:xfrm>
          <a:off x="4759777" y="3680623"/>
          <a:ext cx="1100817" cy="94655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BFC283B2-E230-22FB-5CD9-DEEEFD5B9E06}"/>
              </a:ext>
            </a:extLst>
          </p:cNvPr>
          <p:cNvGraphicFramePr>
            <a:graphicFrameLocks noGrp="1"/>
          </p:cNvGraphicFramePr>
          <p:nvPr/>
        </p:nvGraphicFramePr>
        <p:xfrm>
          <a:off x="7807325" y="3684917"/>
          <a:ext cx="1100817" cy="9465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A65EF978-1D16-A614-B959-8EE9DA97F6BB}"/>
              </a:ext>
            </a:extLst>
          </p:cNvPr>
          <p:cNvGraphicFramePr>
            <a:graphicFrameLocks noGrp="1"/>
          </p:cNvGraphicFramePr>
          <p:nvPr/>
        </p:nvGraphicFramePr>
        <p:xfrm>
          <a:off x="9266470" y="5311422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BECD1938-1C18-D246-4196-BC8A82792E8E}"/>
              </a:ext>
            </a:extLst>
          </p:cNvPr>
          <p:cNvSpPr txBox="1"/>
          <p:nvPr/>
        </p:nvSpPr>
        <p:spPr>
          <a:xfrm>
            <a:off x="10367287" y="4093159"/>
            <a:ext cx="331335" cy="301657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 latinLnBrk="1"/>
            <a:endParaRPr lang="ko-KR" altLang="en-US" sz="1800" dirty="0"/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A686CBA3-BF80-387F-7ACB-92A34D758E1D}"/>
              </a:ext>
            </a:extLst>
          </p:cNvPr>
          <p:cNvGraphicFramePr>
            <a:graphicFrameLocks noGrp="1"/>
          </p:cNvGraphicFramePr>
          <p:nvPr/>
        </p:nvGraphicFramePr>
        <p:xfrm>
          <a:off x="7957460" y="3896725"/>
          <a:ext cx="1100817" cy="94655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6693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36693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309487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 dirty="0"/>
                    </a:p>
                  </a:txBody>
                  <a:tcPr marL="132637" marR="132637" marT="66319" marB="66319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B2E84C2D-B1A4-22F3-79F3-69BDC9319642}"/>
              </a:ext>
            </a:extLst>
          </p:cNvPr>
          <p:cNvCxnSpPr/>
          <p:nvPr/>
        </p:nvCxnSpPr>
        <p:spPr>
          <a:xfrm>
            <a:off x="3476625" y="4281258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457110AB-BFCC-4230-F035-09A8E996112F}"/>
              </a:ext>
            </a:extLst>
          </p:cNvPr>
          <p:cNvCxnSpPr/>
          <p:nvPr/>
        </p:nvCxnSpPr>
        <p:spPr>
          <a:xfrm>
            <a:off x="6526443" y="4266741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3CBEE8AF-7491-C03B-78F3-5005D6925507}"/>
              </a:ext>
            </a:extLst>
          </p:cNvPr>
          <p:cNvCxnSpPr/>
          <p:nvPr/>
        </p:nvCxnSpPr>
        <p:spPr>
          <a:xfrm>
            <a:off x="9205685" y="4247232"/>
            <a:ext cx="819150" cy="0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F8262FDA-FBFA-A3FF-7D1E-DCFD3F91F20D}"/>
              </a:ext>
            </a:extLst>
          </p:cNvPr>
          <p:cNvSpPr txBox="1"/>
          <p:nvPr/>
        </p:nvSpPr>
        <p:spPr>
          <a:xfrm>
            <a:off x="3387162" y="5706513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A4EE81-4344-8A2B-055A-9BAE7D6BDE5B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receptive fields(3,3)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과의 내적을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sliding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 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지나가게 되면 마지막 값은 원본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모두 한꺼번에 보는 것과 마찬가지 효과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7779F6D-6AD2-A76C-B367-3A9AD4C491C3}"/>
              </a:ext>
            </a:extLst>
          </p:cNvPr>
          <p:cNvSpPr txBox="1"/>
          <p:nvPr/>
        </p:nvSpPr>
        <p:spPr>
          <a:xfrm>
            <a:off x="899196" y="2561671"/>
            <a:ext cx="178752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Input Feature (7,7)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008C553-8742-0213-A44F-B6FF2F744998}"/>
              </a:ext>
            </a:extLst>
          </p:cNvPr>
          <p:cNvSpPr txBox="1"/>
          <p:nvPr/>
        </p:nvSpPr>
        <p:spPr>
          <a:xfrm>
            <a:off x="4264020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1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23360-8488-9BC7-1AF4-B03CEFE650C1}"/>
              </a:ext>
            </a:extLst>
          </p:cNvPr>
          <p:cNvSpPr txBox="1"/>
          <p:nvPr/>
        </p:nvSpPr>
        <p:spPr>
          <a:xfrm>
            <a:off x="6972983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3A2C6C-64DD-88B7-9A09-C6876CB61A8A}"/>
              </a:ext>
            </a:extLst>
          </p:cNvPr>
          <p:cNvSpPr txBox="1"/>
          <p:nvPr/>
        </p:nvSpPr>
        <p:spPr>
          <a:xfrm>
            <a:off x="9236307" y="2561671"/>
            <a:ext cx="22633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Feature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7DF50D-23E5-2C79-7573-E1FE2CD30E10}"/>
              </a:ext>
            </a:extLst>
          </p:cNvPr>
          <p:cNvSpPr txBox="1"/>
          <p:nvPr/>
        </p:nvSpPr>
        <p:spPr>
          <a:xfrm>
            <a:off x="6483802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2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B409A7E-4C35-E371-19B2-DDB18E68B468}"/>
              </a:ext>
            </a:extLst>
          </p:cNvPr>
          <p:cNvSpPr txBox="1"/>
          <p:nvPr/>
        </p:nvSpPr>
        <p:spPr>
          <a:xfrm>
            <a:off x="9226777" y="5673201"/>
            <a:ext cx="11674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3</a:t>
            </a:r>
          </a:p>
          <a:p>
            <a:pPr algn="ctr"/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2E456E7A-8464-EE73-BC06-3DA13A08843E}"/>
              </a:ext>
            </a:extLst>
          </p:cNvPr>
          <p:cNvSpPr/>
          <p:nvPr/>
        </p:nvSpPr>
        <p:spPr>
          <a:xfrm>
            <a:off x="679452" y="3291415"/>
            <a:ext cx="1100817" cy="94655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54466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7FA94-6C7F-D510-A1A9-A89FFF48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462FA5-0D6C-FAE8-379F-740A89DDC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91C053-4F67-FAF1-715A-C5FDF9CB5A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8D1CD4E4-19FB-7978-8605-C09D081854F9}"/>
              </a:ext>
            </a:extLst>
          </p:cNvPr>
          <p:cNvGraphicFramePr>
            <a:graphicFrameLocks noGrp="1"/>
          </p:cNvGraphicFramePr>
          <p:nvPr/>
        </p:nvGraphicFramePr>
        <p:xfrm>
          <a:off x="694870" y="3002055"/>
          <a:ext cx="1771539" cy="15232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67120487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791446712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55723018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16371244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78393470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234562581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855599085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5067064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04805470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10144073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70583029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821520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45662165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4270232279"/>
                  </a:ext>
                </a:extLst>
              </a:tr>
            </a:tbl>
          </a:graphicData>
        </a:graphic>
      </p:graphicFrame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7FD8655-ADF8-7FB6-9C63-DA6648D069FB}"/>
              </a:ext>
            </a:extLst>
          </p:cNvPr>
          <p:cNvGraphicFramePr>
            <a:graphicFrameLocks noGrp="1"/>
          </p:cNvGraphicFramePr>
          <p:nvPr/>
        </p:nvGraphicFramePr>
        <p:xfrm>
          <a:off x="2895600" y="44831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CF4E3143-D630-8320-3A0A-45C715138389}"/>
              </a:ext>
            </a:extLst>
          </p:cNvPr>
          <p:cNvGraphicFramePr>
            <a:graphicFrameLocks noGrp="1"/>
          </p:cNvGraphicFramePr>
          <p:nvPr/>
        </p:nvGraphicFramePr>
        <p:xfrm>
          <a:off x="3832681" y="31961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FEFA4E62-26BF-E5D3-7130-664C53DBEFBB}"/>
              </a:ext>
            </a:extLst>
          </p:cNvPr>
          <p:cNvGraphicFramePr>
            <a:graphicFrameLocks noGrp="1"/>
          </p:cNvGraphicFramePr>
          <p:nvPr/>
        </p:nvGraphicFramePr>
        <p:xfrm>
          <a:off x="6864350" y="33324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sp>
        <p:nvSpPr>
          <p:cNvPr id="25" name="TextBox 24">
            <a:extLst>
              <a:ext uri="{FF2B5EF4-FFF2-40B4-BE49-F238E27FC236}">
                <a16:creationId xmlns:a16="http://schemas.microsoft.com/office/drawing/2014/main" id="{216080DD-C1A4-7995-0435-78D254C6768A}"/>
              </a:ext>
            </a:extLst>
          </p:cNvPr>
          <p:cNvSpPr txBox="1"/>
          <p:nvPr/>
        </p:nvSpPr>
        <p:spPr>
          <a:xfrm>
            <a:off x="9524770" y="3272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7BD1B70-CB47-25F5-8AD8-CF507A8A6DC4}"/>
              </a:ext>
            </a:extLst>
          </p:cNvPr>
          <p:cNvCxnSpPr>
            <a:cxnSpLocks/>
          </p:cNvCxnSpPr>
          <p:nvPr/>
        </p:nvCxnSpPr>
        <p:spPr>
          <a:xfrm>
            <a:off x="2905161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5AE67917-8152-9EE9-C817-44D6219CB5F9}"/>
              </a:ext>
            </a:extLst>
          </p:cNvPr>
          <p:cNvCxnSpPr>
            <a:cxnSpLocks/>
          </p:cNvCxnSpPr>
          <p:nvPr/>
        </p:nvCxnSpPr>
        <p:spPr>
          <a:xfrm>
            <a:off x="5853130" y="394209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8880E1DF-39B4-1088-E80C-972357683993}"/>
              </a:ext>
            </a:extLst>
          </p:cNvPr>
          <p:cNvCxnSpPr>
            <a:cxnSpLocks/>
          </p:cNvCxnSpPr>
          <p:nvPr/>
        </p:nvCxnSpPr>
        <p:spPr>
          <a:xfrm>
            <a:off x="8548460" y="3894807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BBD83B5-C4F9-50D9-05F3-B1C409CFFC24}"/>
              </a:ext>
            </a:extLst>
          </p:cNvPr>
          <p:cNvGraphicFramePr>
            <a:graphicFrameLocks noGrp="1"/>
          </p:cNvGraphicFramePr>
          <p:nvPr/>
        </p:nvGraphicFramePr>
        <p:xfrm>
          <a:off x="3048000" y="46355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331ACBD8-6B40-53FE-9A45-F25369CB0F3B}"/>
              </a:ext>
            </a:extLst>
          </p:cNvPr>
          <p:cNvGraphicFramePr>
            <a:graphicFrameLocks noGrp="1"/>
          </p:cNvGraphicFramePr>
          <p:nvPr/>
        </p:nvGraphicFramePr>
        <p:xfrm>
          <a:off x="3200400" y="47879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51" name="표 50">
            <a:extLst>
              <a:ext uri="{FF2B5EF4-FFF2-40B4-BE49-F238E27FC236}">
                <a16:creationId xmlns:a16="http://schemas.microsoft.com/office/drawing/2014/main" id="{9C6C504C-124B-E8A6-E43B-A3596A17042C}"/>
              </a:ext>
            </a:extLst>
          </p:cNvPr>
          <p:cNvGraphicFramePr>
            <a:graphicFrameLocks noGrp="1"/>
          </p:cNvGraphicFramePr>
          <p:nvPr/>
        </p:nvGraphicFramePr>
        <p:xfrm>
          <a:off x="3985081" y="33485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2" name="표 51">
            <a:extLst>
              <a:ext uri="{FF2B5EF4-FFF2-40B4-BE49-F238E27FC236}">
                <a16:creationId xmlns:a16="http://schemas.microsoft.com/office/drawing/2014/main" id="{DE5F452D-AB1A-2625-CFBC-26CD61CF2137}"/>
              </a:ext>
            </a:extLst>
          </p:cNvPr>
          <p:cNvGraphicFramePr>
            <a:graphicFrameLocks noGrp="1"/>
          </p:cNvGraphicFramePr>
          <p:nvPr/>
        </p:nvGraphicFramePr>
        <p:xfrm>
          <a:off x="4137481" y="35009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graphicFrame>
        <p:nvGraphicFramePr>
          <p:cNvPr id="59" name="표 58">
            <a:extLst>
              <a:ext uri="{FF2B5EF4-FFF2-40B4-BE49-F238E27FC236}">
                <a16:creationId xmlns:a16="http://schemas.microsoft.com/office/drawing/2014/main" id="{EB067750-EAD6-2846-4FE6-498A4466ED1B}"/>
              </a:ext>
            </a:extLst>
          </p:cNvPr>
          <p:cNvGraphicFramePr>
            <a:graphicFrameLocks noGrp="1"/>
          </p:cNvGraphicFramePr>
          <p:nvPr/>
        </p:nvGraphicFramePr>
        <p:xfrm>
          <a:off x="5943600" y="44735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0" name="표 59">
            <a:extLst>
              <a:ext uri="{FF2B5EF4-FFF2-40B4-BE49-F238E27FC236}">
                <a16:creationId xmlns:a16="http://schemas.microsoft.com/office/drawing/2014/main" id="{B0EDA5D7-4E0B-2C7F-228F-0B7D3E68AA6B}"/>
              </a:ext>
            </a:extLst>
          </p:cNvPr>
          <p:cNvGraphicFramePr>
            <a:graphicFrameLocks noGrp="1"/>
          </p:cNvGraphicFramePr>
          <p:nvPr/>
        </p:nvGraphicFramePr>
        <p:xfrm>
          <a:off x="6096000" y="46259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1" name="표 60">
            <a:extLst>
              <a:ext uri="{FF2B5EF4-FFF2-40B4-BE49-F238E27FC236}">
                <a16:creationId xmlns:a16="http://schemas.microsoft.com/office/drawing/2014/main" id="{B458B360-EC1F-AA5B-FD42-55D676BF6EC9}"/>
              </a:ext>
            </a:extLst>
          </p:cNvPr>
          <p:cNvGraphicFramePr>
            <a:graphicFrameLocks noGrp="1"/>
          </p:cNvGraphicFramePr>
          <p:nvPr/>
        </p:nvGraphicFramePr>
        <p:xfrm>
          <a:off x="6248400" y="47783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86B8A262-8453-3BAC-5EE2-08660BFAE74B}"/>
              </a:ext>
            </a:extLst>
          </p:cNvPr>
          <p:cNvGraphicFramePr>
            <a:graphicFrameLocks noGrp="1"/>
          </p:cNvGraphicFramePr>
          <p:nvPr/>
        </p:nvGraphicFramePr>
        <p:xfrm>
          <a:off x="6400800" y="49307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3" name="표 62">
            <a:extLst>
              <a:ext uri="{FF2B5EF4-FFF2-40B4-BE49-F238E27FC236}">
                <a16:creationId xmlns:a16="http://schemas.microsoft.com/office/drawing/2014/main" id="{92C3F91C-F43B-39EB-3523-1C716AF6C294}"/>
              </a:ext>
            </a:extLst>
          </p:cNvPr>
          <p:cNvGraphicFramePr>
            <a:graphicFrameLocks noGrp="1"/>
          </p:cNvGraphicFramePr>
          <p:nvPr/>
        </p:nvGraphicFramePr>
        <p:xfrm>
          <a:off x="6553200" y="5083187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DB8AC76A-BE2F-A398-E459-D741DD53E953}"/>
              </a:ext>
            </a:extLst>
          </p:cNvPr>
          <p:cNvGraphicFramePr>
            <a:graphicFrameLocks noGrp="1"/>
          </p:cNvGraphicFramePr>
          <p:nvPr/>
        </p:nvGraphicFramePr>
        <p:xfrm>
          <a:off x="7016750" y="34848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5" name="표 64">
            <a:extLst>
              <a:ext uri="{FF2B5EF4-FFF2-40B4-BE49-F238E27FC236}">
                <a16:creationId xmlns:a16="http://schemas.microsoft.com/office/drawing/2014/main" id="{6422B40D-47EE-2C2C-A2E8-317FF56B6AAB}"/>
              </a:ext>
            </a:extLst>
          </p:cNvPr>
          <p:cNvGraphicFramePr>
            <a:graphicFrameLocks noGrp="1"/>
          </p:cNvGraphicFramePr>
          <p:nvPr/>
        </p:nvGraphicFramePr>
        <p:xfrm>
          <a:off x="7169150" y="36372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6" name="표 65">
            <a:extLst>
              <a:ext uri="{FF2B5EF4-FFF2-40B4-BE49-F238E27FC236}">
                <a16:creationId xmlns:a16="http://schemas.microsoft.com/office/drawing/2014/main" id="{566D7A71-5ACB-F352-3716-5F793B100D09}"/>
              </a:ext>
            </a:extLst>
          </p:cNvPr>
          <p:cNvGraphicFramePr>
            <a:graphicFrameLocks noGrp="1"/>
          </p:cNvGraphicFramePr>
          <p:nvPr/>
        </p:nvGraphicFramePr>
        <p:xfrm>
          <a:off x="7321550" y="37896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67" name="표 66">
            <a:extLst>
              <a:ext uri="{FF2B5EF4-FFF2-40B4-BE49-F238E27FC236}">
                <a16:creationId xmlns:a16="http://schemas.microsoft.com/office/drawing/2014/main" id="{2DB52FF7-FD90-E9D5-0376-FC21948BE0A0}"/>
              </a:ext>
            </a:extLst>
          </p:cNvPr>
          <p:cNvGraphicFramePr>
            <a:graphicFrameLocks noGrp="1"/>
          </p:cNvGraphicFramePr>
          <p:nvPr/>
        </p:nvGraphicFramePr>
        <p:xfrm>
          <a:off x="7473950" y="3942092"/>
          <a:ext cx="759231" cy="652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1543254533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4221122309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3389833386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2182124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842564934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35162810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84B4E7FC-CA21-351E-C737-DE7DD9A1A467}"/>
              </a:ext>
            </a:extLst>
          </p:cNvPr>
          <p:cNvGraphicFramePr>
            <a:graphicFrameLocks noGrp="1"/>
          </p:cNvGraphicFramePr>
          <p:nvPr/>
        </p:nvGraphicFramePr>
        <p:xfrm>
          <a:off x="8817201" y="4483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DAC78E3F-586F-DC34-161F-62184D2445F1}"/>
              </a:ext>
            </a:extLst>
          </p:cNvPr>
          <p:cNvGraphicFramePr>
            <a:graphicFrameLocks noGrp="1"/>
          </p:cNvGraphicFramePr>
          <p:nvPr/>
        </p:nvGraphicFramePr>
        <p:xfrm>
          <a:off x="8969601" y="4635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2F720965-D780-AD1C-366A-4F16F5AC29C0}"/>
              </a:ext>
            </a:extLst>
          </p:cNvPr>
          <p:cNvGraphicFramePr>
            <a:graphicFrameLocks noGrp="1"/>
          </p:cNvGraphicFramePr>
          <p:nvPr/>
        </p:nvGraphicFramePr>
        <p:xfrm>
          <a:off x="9122001" y="4788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1" name="표 80">
            <a:extLst>
              <a:ext uri="{FF2B5EF4-FFF2-40B4-BE49-F238E27FC236}">
                <a16:creationId xmlns:a16="http://schemas.microsoft.com/office/drawing/2014/main" id="{C4D520FA-9D82-336E-CFEB-3F76E4018333}"/>
              </a:ext>
            </a:extLst>
          </p:cNvPr>
          <p:cNvGraphicFramePr>
            <a:graphicFrameLocks noGrp="1"/>
          </p:cNvGraphicFramePr>
          <p:nvPr/>
        </p:nvGraphicFramePr>
        <p:xfrm>
          <a:off x="9274401" y="4940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BF05CDF3-6D05-1B32-CB58-99A79F51B181}"/>
              </a:ext>
            </a:extLst>
          </p:cNvPr>
          <p:cNvGraphicFramePr>
            <a:graphicFrameLocks noGrp="1"/>
          </p:cNvGraphicFramePr>
          <p:nvPr/>
        </p:nvGraphicFramePr>
        <p:xfrm>
          <a:off x="9426801" y="5093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3" name="표 82">
            <a:extLst>
              <a:ext uri="{FF2B5EF4-FFF2-40B4-BE49-F238E27FC236}">
                <a16:creationId xmlns:a16="http://schemas.microsoft.com/office/drawing/2014/main" id="{B2760717-F3DC-3E66-8A40-12ABDA69CA1F}"/>
              </a:ext>
            </a:extLst>
          </p:cNvPr>
          <p:cNvGraphicFramePr>
            <a:graphicFrameLocks noGrp="1"/>
          </p:cNvGraphicFramePr>
          <p:nvPr/>
        </p:nvGraphicFramePr>
        <p:xfrm>
          <a:off x="9579201" y="52455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4" name="표 83">
            <a:extLst>
              <a:ext uri="{FF2B5EF4-FFF2-40B4-BE49-F238E27FC236}">
                <a16:creationId xmlns:a16="http://schemas.microsoft.com/office/drawing/2014/main" id="{B2E70851-8BF1-62BA-7F29-DDED3D1FAAEA}"/>
              </a:ext>
            </a:extLst>
          </p:cNvPr>
          <p:cNvGraphicFramePr>
            <a:graphicFrameLocks noGrp="1"/>
          </p:cNvGraphicFramePr>
          <p:nvPr/>
        </p:nvGraphicFramePr>
        <p:xfrm>
          <a:off x="9731601" y="53979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5" name="표 84">
            <a:extLst>
              <a:ext uri="{FF2B5EF4-FFF2-40B4-BE49-F238E27FC236}">
                <a16:creationId xmlns:a16="http://schemas.microsoft.com/office/drawing/2014/main" id="{C8B70655-9E9A-5475-4955-744CB7C2CBDE}"/>
              </a:ext>
            </a:extLst>
          </p:cNvPr>
          <p:cNvGraphicFramePr>
            <a:graphicFrameLocks noGrp="1"/>
          </p:cNvGraphicFramePr>
          <p:nvPr/>
        </p:nvGraphicFramePr>
        <p:xfrm>
          <a:off x="9884001" y="55503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6" name="표 85">
            <a:extLst>
              <a:ext uri="{FF2B5EF4-FFF2-40B4-BE49-F238E27FC236}">
                <a16:creationId xmlns:a16="http://schemas.microsoft.com/office/drawing/2014/main" id="{5D94BE7C-E617-BFD3-4F6E-3325143754E9}"/>
              </a:ext>
            </a:extLst>
          </p:cNvPr>
          <p:cNvGraphicFramePr>
            <a:graphicFrameLocks noGrp="1"/>
          </p:cNvGraphicFramePr>
          <p:nvPr/>
        </p:nvGraphicFramePr>
        <p:xfrm>
          <a:off x="10036401" y="57027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87" name="표 86">
            <a:extLst>
              <a:ext uri="{FF2B5EF4-FFF2-40B4-BE49-F238E27FC236}">
                <a16:creationId xmlns:a16="http://schemas.microsoft.com/office/drawing/2014/main" id="{7F8F904A-FD4E-18A7-C1BD-2382D2EABFF9}"/>
              </a:ext>
            </a:extLst>
          </p:cNvPr>
          <p:cNvGraphicFramePr>
            <a:graphicFrameLocks noGrp="1"/>
          </p:cNvGraphicFramePr>
          <p:nvPr/>
        </p:nvGraphicFramePr>
        <p:xfrm>
          <a:off x="10188801" y="5855116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sp>
        <p:nvSpPr>
          <p:cNvPr id="97" name="TextBox 96">
            <a:extLst>
              <a:ext uri="{FF2B5EF4-FFF2-40B4-BE49-F238E27FC236}">
                <a16:creationId xmlns:a16="http://schemas.microsoft.com/office/drawing/2014/main" id="{B8578E93-60F2-C2B7-8652-9CFD62B606ED}"/>
              </a:ext>
            </a:extLst>
          </p:cNvPr>
          <p:cNvSpPr txBox="1"/>
          <p:nvPr/>
        </p:nvSpPr>
        <p:spPr>
          <a:xfrm>
            <a:off x="9677170" y="3424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F4E400C-5F32-1185-6B2B-D42D4DD76343}"/>
              </a:ext>
            </a:extLst>
          </p:cNvPr>
          <p:cNvSpPr txBox="1"/>
          <p:nvPr/>
        </p:nvSpPr>
        <p:spPr>
          <a:xfrm>
            <a:off x="9829570" y="3577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F11A8668-1BEA-9B3D-AFB0-AAA0EDFF0AC4}"/>
              </a:ext>
            </a:extLst>
          </p:cNvPr>
          <p:cNvSpPr txBox="1"/>
          <p:nvPr/>
        </p:nvSpPr>
        <p:spPr>
          <a:xfrm>
            <a:off x="9981970" y="3729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3A9316C-2D3C-4345-3431-71F0A61CF4C7}"/>
              </a:ext>
            </a:extLst>
          </p:cNvPr>
          <p:cNvSpPr txBox="1"/>
          <p:nvPr/>
        </p:nvSpPr>
        <p:spPr>
          <a:xfrm>
            <a:off x="10134370" y="3882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8C991B3-A9C0-115D-4F93-16E75282265A}"/>
              </a:ext>
            </a:extLst>
          </p:cNvPr>
          <p:cNvSpPr txBox="1"/>
          <p:nvPr/>
        </p:nvSpPr>
        <p:spPr>
          <a:xfrm>
            <a:off x="10286770" y="40345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990EB7D-7A31-2FF4-6E60-9D5741B573F2}"/>
              </a:ext>
            </a:extLst>
          </p:cNvPr>
          <p:cNvSpPr txBox="1"/>
          <p:nvPr/>
        </p:nvSpPr>
        <p:spPr>
          <a:xfrm>
            <a:off x="10439170" y="41869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6105187-F451-D92D-3C22-901EAA98987C}"/>
              </a:ext>
            </a:extLst>
          </p:cNvPr>
          <p:cNvSpPr txBox="1"/>
          <p:nvPr/>
        </p:nvSpPr>
        <p:spPr>
          <a:xfrm>
            <a:off x="10591570" y="43393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524FA1F-BC3F-08A1-24C0-08D4EE078385}"/>
              </a:ext>
            </a:extLst>
          </p:cNvPr>
          <p:cNvSpPr txBox="1"/>
          <p:nvPr/>
        </p:nvSpPr>
        <p:spPr>
          <a:xfrm>
            <a:off x="10743970" y="44917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782A98C9-7275-540B-0AD0-8F2CC945DA1F}"/>
              </a:ext>
            </a:extLst>
          </p:cNvPr>
          <p:cNvSpPr txBox="1"/>
          <p:nvPr/>
        </p:nvSpPr>
        <p:spPr>
          <a:xfrm>
            <a:off x="10896370" y="4644123"/>
            <a:ext cx="258203" cy="263829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E30BBB4-7D57-00FC-AFCC-AA352B57CA9B}"/>
              </a:ext>
            </a:extLst>
          </p:cNvPr>
          <p:cNvSpPr txBox="1"/>
          <p:nvPr/>
        </p:nvSpPr>
        <p:spPr>
          <a:xfrm>
            <a:off x="1261465" y="2604873"/>
            <a:ext cx="63834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(7,7)</a:t>
            </a:r>
            <a:endParaRPr lang="ko-KR" altLang="en-US" sz="1600" dirty="0"/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7C957AAB-4932-F972-B5C5-56BD26CC8E9E}"/>
              </a:ext>
            </a:extLst>
          </p:cNvPr>
          <p:cNvSpPr txBox="1"/>
          <p:nvPr/>
        </p:nvSpPr>
        <p:spPr>
          <a:xfrm>
            <a:off x="2826397" y="5550316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(4,3,3)</a:t>
            </a:r>
            <a:endParaRPr lang="ko-KR" altLang="en-US" sz="16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7A9FC23-A2B1-A896-22E8-C255B44CC290}"/>
              </a:ext>
            </a:extLst>
          </p:cNvPr>
          <p:cNvSpPr txBox="1"/>
          <p:nvPr/>
        </p:nvSpPr>
        <p:spPr>
          <a:xfrm>
            <a:off x="4002173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(4,5,5)</a:t>
            </a:r>
            <a:endParaRPr lang="ko-KR" altLang="en-US" sz="1600" dirty="0"/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B95B3E8D-30B1-6D81-17DE-C34E3767D528}"/>
              </a:ext>
            </a:extLst>
          </p:cNvPr>
          <p:cNvSpPr txBox="1"/>
          <p:nvPr/>
        </p:nvSpPr>
        <p:spPr>
          <a:xfrm>
            <a:off x="608341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graphicFrame>
        <p:nvGraphicFramePr>
          <p:cNvPr id="111" name="표 110">
            <a:extLst>
              <a:ext uri="{FF2B5EF4-FFF2-40B4-BE49-F238E27FC236}">
                <a16:creationId xmlns:a16="http://schemas.microsoft.com/office/drawing/2014/main" id="{DFF53EC4-1101-FA81-8DA7-79AB9464CC66}"/>
              </a:ext>
            </a:extLst>
          </p:cNvPr>
          <p:cNvGraphicFramePr>
            <a:graphicFrameLocks noGrp="1"/>
          </p:cNvGraphicFramePr>
          <p:nvPr/>
        </p:nvGraphicFramePr>
        <p:xfrm>
          <a:off x="3352800" y="4940300"/>
          <a:ext cx="527037" cy="455253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75679">
                  <a:extLst>
                    <a:ext uri="{9D8B030D-6E8A-4147-A177-3AD203B41FA5}">
                      <a16:colId xmlns:a16="http://schemas.microsoft.com/office/drawing/2014/main" val="4040012431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884901365"/>
                    </a:ext>
                  </a:extLst>
                </a:gridCol>
                <a:gridCol w="175679">
                  <a:extLst>
                    <a:ext uri="{9D8B030D-6E8A-4147-A177-3AD203B41FA5}">
                      <a16:colId xmlns:a16="http://schemas.microsoft.com/office/drawing/2014/main" val="3620135401"/>
                    </a:ext>
                  </a:extLst>
                </a:gridCol>
              </a:tblGrid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3528996967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030037461"/>
                  </a:ext>
                </a:extLst>
              </a:tr>
              <a:tr h="151751">
                <a:tc>
                  <a:txBody>
                    <a:bodyPr/>
                    <a:lstStyle/>
                    <a:p>
                      <a:pPr latinLnBrk="1"/>
                      <a:endParaRPr lang="ko-KR" altLang="en-US" sz="50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500" dirty="0"/>
                    </a:p>
                  </a:txBody>
                  <a:tcPr marL="63503" marR="63503" marT="31752" marB="31752"/>
                </a:tc>
                <a:extLst>
                  <a:ext uri="{0D108BD9-81ED-4DB2-BD59-A6C34878D82A}">
                    <a16:rowId xmlns:a16="http://schemas.microsoft.com/office/drawing/2014/main" val="4173210792"/>
                  </a:ext>
                </a:extLst>
              </a:tr>
            </a:tbl>
          </a:graphicData>
        </a:graphic>
      </p:graphicFrame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919C39AA-4CFE-0FA8-555E-6732811A4B88}"/>
              </a:ext>
            </a:extLst>
          </p:cNvPr>
          <p:cNvGraphicFramePr>
            <a:graphicFrameLocks noGrp="1"/>
          </p:cNvGraphicFramePr>
          <p:nvPr/>
        </p:nvGraphicFramePr>
        <p:xfrm>
          <a:off x="4289881" y="3653366"/>
          <a:ext cx="1265385" cy="10880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3077">
                  <a:extLst>
                    <a:ext uri="{9D8B030D-6E8A-4147-A177-3AD203B41FA5}">
                      <a16:colId xmlns:a16="http://schemas.microsoft.com/office/drawing/2014/main" val="2489655210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74171826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2362773746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492304337"/>
                    </a:ext>
                  </a:extLst>
                </a:gridCol>
                <a:gridCol w="253077">
                  <a:extLst>
                    <a:ext uri="{9D8B030D-6E8A-4147-A177-3AD203B41FA5}">
                      <a16:colId xmlns:a16="http://schemas.microsoft.com/office/drawing/2014/main" val="1312414020"/>
                    </a:ext>
                  </a:extLst>
                </a:gridCol>
              </a:tblGrid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2063551161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364314440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3477177758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449962989"/>
                  </a:ext>
                </a:extLst>
              </a:tr>
              <a:tr h="217613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marL="91480" marR="91480" marT="45740" marB="45740"/>
                </a:tc>
                <a:extLst>
                  <a:ext uri="{0D108BD9-81ED-4DB2-BD59-A6C34878D82A}">
                    <a16:rowId xmlns:a16="http://schemas.microsoft.com/office/drawing/2014/main" val="1923153628"/>
                  </a:ext>
                </a:extLst>
              </a:tr>
            </a:tbl>
          </a:graphicData>
        </a:graphic>
      </p:graphicFrame>
      <p:sp>
        <p:nvSpPr>
          <p:cNvPr id="113" name="TextBox 112">
            <a:extLst>
              <a:ext uri="{FF2B5EF4-FFF2-40B4-BE49-F238E27FC236}">
                <a16:creationId xmlns:a16="http://schemas.microsoft.com/office/drawing/2014/main" id="{DCE0A423-5057-3434-4AFA-C52A0FE2A0EB}"/>
              </a:ext>
            </a:extLst>
          </p:cNvPr>
          <p:cNvSpPr txBox="1"/>
          <p:nvPr/>
        </p:nvSpPr>
        <p:spPr>
          <a:xfrm>
            <a:off x="6818408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(5,3,3)</a:t>
            </a:r>
            <a:endParaRPr lang="ko-KR" altLang="en-US" sz="1600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0584E78-4823-23DE-18F0-8829A2504A27}"/>
              </a:ext>
            </a:extLst>
          </p:cNvPr>
          <p:cNvSpPr txBox="1"/>
          <p:nvPr/>
        </p:nvSpPr>
        <p:spPr>
          <a:xfrm>
            <a:off x="8295093" y="5797801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(10,3,3)</a:t>
            </a:r>
            <a:endParaRPr lang="ko-KR" alt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F9AD84D1-7C75-1496-6032-4D3378FB9F5E}"/>
              </a:ext>
            </a:extLst>
          </p:cNvPr>
          <p:cNvSpPr txBox="1"/>
          <p:nvPr/>
        </p:nvSpPr>
        <p:spPr>
          <a:xfrm>
            <a:off x="9483534" y="2604873"/>
            <a:ext cx="102170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(10,1,1)</a:t>
            </a:r>
            <a:endParaRPr lang="ko-KR" altLang="en-US" sz="16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1A845E-BA4C-D276-1343-E31AD3745B13}"/>
              </a:ext>
            </a:extLst>
          </p:cNvPr>
          <p:cNvSpPr txBox="1"/>
          <p:nvPr/>
        </p:nvSpPr>
        <p:spPr>
          <a:xfrm>
            <a:off x="516162" y="1337776"/>
            <a:ext cx="1126626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 Feature)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컨볼루션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거치면서 이미지의 크기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점점 작아지고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(7-5-3-1)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features(1-4-5-10)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점점 많아지게 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 by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경우는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마지막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(1,1)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?)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3FEE2CE4-324A-3956-299B-575796034522}"/>
              </a:ext>
            </a:extLst>
          </p:cNvPr>
          <p:cNvSpPr txBox="1"/>
          <p:nvPr/>
        </p:nvSpPr>
        <p:spPr>
          <a:xfrm>
            <a:off x="11444425" y="4446897"/>
            <a:ext cx="246377" cy="179090"/>
          </a:xfrm>
          <a:prstGeom prst="rect">
            <a:avLst/>
          </a:prstGeom>
          <a:solidFill>
            <a:schemeClr val="tx1"/>
          </a:solidFill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 latinLnBrk="1"/>
            <a:endParaRPr lang="ko-KR" altLang="en-US" sz="1600" dirty="0"/>
          </a:p>
        </p:txBody>
      </p:sp>
      <p:cxnSp>
        <p:nvCxnSpPr>
          <p:cNvPr id="121" name="직선 화살표 연결선 120">
            <a:extLst>
              <a:ext uri="{FF2B5EF4-FFF2-40B4-BE49-F238E27FC236}">
                <a16:creationId xmlns:a16="http://schemas.microsoft.com/office/drawing/2014/main" id="{B071D4E8-3723-4176-F380-FFCA89BB82E4}"/>
              </a:ext>
            </a:extLst>
          </p:cNvPr>
          <p:cNvCxnSpPr>
            <a:cxnSpLocks/>
          </p:cNvCxnSpPr>
          <p:nvPr/>
        </p:nvCxnSpPr>
        <p:spPr>
          <a:xfrm>
            <a:off x="10754308" y="3882122"/>
            <a:ext cx="638348" cy="1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23" name="그래픽 122" descr="물음표">
            <a:extLst>
              <a:ext uri="{FF2B5EF4-FFF2-40B4-BE49-F238E27FC236}">
                <a16:creationId xmlns:a16="http://schemas.microsoft.com/office/drawing/2014/main" id="{F3B42F70-48C4-004E-1535-C14E19B470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57652" y="3632057"/>
            <a:ext cx="478910" cy="47891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098DE638-D419-C336-3447-6321237955F4}"/>
              </a:ext>
            </a:extLst>
          </p:cNvPr>
          <p:cNvSpPr txBox="1"/>
          <p:nvPr/>
        </p:nvSpPr>
        <p:spPr>
          <a:xfrm>
            <a:off x="11159828" y="4928840"/>
            <a:ext cx="8155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(1,1,1)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3075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97" grpId="0" animBg="1"/>
      <p:bldP spid="98" grpId="0" animBg="1"/>
      <p:bldP spid="99" grpId="0" animBg="1"/>
      <p:bldP spid="100" grpId="0" animBg="1"/>
      <p:bldP spid="101" grpId="0" animBg="1"/>
      <p:bldP spid="102" grpId="0" animBg="1"/>
      <p:bldP spid="103" grpId="0" animBg="1"/>
      <p:bldP spid="104" grpId="0" animBg="1"/>
      <p:bldP spid="105" grpId="0" animBg="1"/>
      <p:bldP spid="1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8F61AD-D5DA-FAA8-E02A-C80D22969EBB}"/>
              </a:ext>
            </a:extLst>
          </p:cNvPr>
          <p:cNvSpPr txBox="1"/>
          <p:nvPr/>
        </p:nvSpPr>
        <p:spPr>
          <a:xfrm>
            <a:off x="514350" y="1313937"/>
            <a:ext cx="1064514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적은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연산량으로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이미지의 공간적 특징과 위치 변화까지 완벽하게 잡아내기 때문에 이미지 처리의 표준 딥러닝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chapter08_image-classification/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431F312E-35D3-4EA8-5B39-7D3B0C79D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9992" y="2396485"/>
            <a:ext cx="3133725" cy="4004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D2752-05C8-CFB6-7DA8-10DA216A8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D711-C4A0-2FFF-5BAD-5DDBCF62EE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3069900-B671-31CB-2055-58036E2FAD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6DE70F3A-EF60-8C27-5AD3-658BC4D73F72}"/>
              </a:ext>
            </a:extLst>
          </p:cNvPr>
          <p:cNvCxnSpPr>
            <a:cxnSpLocks/>
          </p:cNvCxnSpPr>
          <p:nvPr/>
        </p:nvCxnSpPr>
        <p:spPr>
          <a:xfrm>
            <a:off x="3931920" y="356616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AB64D2BE-9A99-7FA2-BD98-E1AAD636CEA7}"/>
                  </a:ext>
                </a:extLst>
              </p:cNvPr>
              <p:cNvSpPr/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84A13EFE-75A4-70B3-FB3E-3213E1950D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880" y="239268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B202658E-678D-1E26-1987-C0A4F99F0298}"/>
                  </a:ext>
                </a:extLst>
              </p:cNvPr>
              <p:cNvSpPr txBox="1"/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091A3D2-A038-3704-6B65-BD466125A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75320" y="313661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4D6254E-7548-BCD1-42FE-86ED49399E41}"/>
                  </a:ext>
                </a:extLst>
              </p:cNvPr>
              <p:cNvSpPr txBox="1"/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814628-F7B1-D9D9-5860-C53F7BBA9B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6085" y="313661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/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ko-KR" altLang="en-US" sz="20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20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20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1FB287C-BBC7-C60D-0B07-AEC97349EA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33483" y="4364295"/>
                <a:ext cx="1339317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12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E44194DC-9B37-BB09-2E85-45EC4B9D0E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9956" y="2954283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The Matrix | 1999 Film, Cast, Plot, &amp; Facts | Britannica">
            <a:extLst>
              <a:ext uri="{FF2B5EF4-FFF2-40B4-BE49-F238E27FC236}">
                <a16:creationId xmlns:a16="http://schemas.microsoft.com/office/drawing/2014/main" id="{FD381C7F-2BC8-D416-4D7E-EAE46E0480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biLevel thresh="50000"/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8280" y="2799056"/>
            <a:ext cx="2020394" cy="153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40662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F2F03-2928-FE0E-83C4-D1E8ADEB0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065971-C93D-74C9-AD10-786402B2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52B6D99-966B-4EFF-1D8A-F9B8A2D6C9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099510A-1E16-86BF-F01C-8EF2FCD680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09376" y="2480571"/>
            <a:ext cx="4406613" cy="3895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6233C-FA94-F1A4-ACF9-C44CF7AEEE39}"/>
              </a:ext>
            </a:extLst>
          </p:cNvPr>
          <p:cNvSpPr txBox="1"/>
          <p:nvPr/>
        </p:nvSpPr>
        <p:spPr>
          <a:xfrm>
            <a:off x="609600" y="1238250"/>
            <a:ext cx="1097280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복사 패딩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(Replication Padding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또는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Border Padding)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적용하여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 Matrix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합성곱하면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크기가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(6, 6)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동일해지고 외곽의 정보를 보존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08DF26-3ECD-0880-B454-50F2DD311209}"/>
              </a:ext>
            </a:extLst>
          </p:cNvPr>
          <p:cNvSpPr txBox="1"/>
          <p:nvPr/>
        </p:nvSpPr>
        <p:spPr>
          <a:xfrm>
            <a:off x="3219450" y="2480571"/>
            <a:ext cx="1525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wiki/Convolution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68838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6846-1533-2A55-5C19-83102AD52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0779EE00-BDC6-D7DA-8D76-F340B6DA61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97" y="2409824"/>
            <a:ext cx="9373066" cy="3370315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FFA10B-6ACA-8BA7-599B-B4B6398DBF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509BE78-3730-4DA3-EF72-0324173DE4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Linear Transformation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333C5AC-4094-D0BC-287F-D08E6335F933}"/>
              </a:ext>
            </a:extLst>
          </p:cNvPr>
          <p:cNvSpPr/>
          <p:nvPr/>
        </p:nvSpPr>
        <p:spPr>
          <a:xfrm>
            <a:off x="1542896" y="3019424"/>
            <a:ext cx="3257703" cy="276071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76774BE-B39A-B194-516F-D1E49D574F90}"/>
              </a:ext>
            </a:extLst>
          </p:cNvPr>
          <p:cNvSpPr/>
          <p:nvPr/>
        </p:nvSpPr>
        <p:spPr>
          <a:xfrm>
            <a:off x="8429785" y="3019424"/>
            <a:ext cx="2486178" cy="238125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68048C81-8986-7A52-7D93-FF046557FFC2}"/>
              </a:ext>
            </a:extLst>
          </p:cNvPr>
          <p:cNvSpPr/>
          <p:nvPr/>
        </p:nvSpPr>
        <p:spPr>
          <a:xfrm>
            <a:off x="5705635" y="3833813"/>
            <a:ext cx="1447640" cy="833438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4B104D5-E73E-BE36-FA38-C56A539E9A42}"/>
              </a:ext>
            </a:extLst>
          </p:cNvPr>
          <p:cNvCxnSpPr>
            <a:cxnSpLocks/>
          </p:cNvCxnSpPr>
          <p:nvPr/>
        </p:nvCxnSpPr>
        <p:spPr>
          <a:xfrm>
            <a:off x="4998720" y="4832985"/>
            <a:ext cx="330708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ABD2443A-105B-89F6-33CC-FFDE5604FDEF}"/>
              </a:ext>
            </a:extLst>
          </p:cNvPr>
          <p:cNvSpPr txBox="1"/>
          <p:nvPr/>
        </p:nvSpPr>
        <p:spPr>
          <a:xfrm>
            <a:off x="552450" y="1489473"/>
            <a:ext cx="9857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입력 </a:t>
            </a:r>
            <a:r>
              <a:rPr lang="en-US" altLang="ko-KR" dirty="0"/>
              <a:t>Feature Matrix</a:t>
            </a:r>
            <a:r>
              <a:rPr lang="ko-KR" altLang="en-US" dirty="0"/>
              <a:t>는 </a:t>
            </a:r>
            <a:r>
              <a:rPr lang="en-US" altLang="ko-KR" dirty="0"/>
              <a:t>Kernel Matrix(3,3)</a:t>
            </a:r>
            <a:r>
              <a:rPr lang="ko-KR" altLang="en-US" dirty="0"/>
              <a:t>와 </a:t>
            </a:r>
            <a:r>
              <a:rPr lang="ko-KR" altLang="en-US" dirty="0" err="1"/>
              <a:t>합성곱으로</a:t>
            </a:r>
            <a:r>
              <a:rPr lang="ko-KR" altLang="en-US" dirty="0"/>
              <a:t> 출력</a:t>
            </a:r>
            <a:r>
              <a:rPr lang="en-US" altLang="ko-KR" dirty="0"/>
              <a:t> Feature Matrix</a:t>
            </a:r>
            <a:r>
              <a:rPr lang="ko-KR" altLang="en-US" dirty="0"/>
              <a:t>로 </a:t>
            </a:r>
            <a:r>
              <a:rPr lang="en-US" altLang="ko-KR" dirty="0"/>
              <a:t>Representation </a:t>
            </a:r>
            <a:r>
              <a:rPr lang="ko-KR" altLang="en-US" dirty="0"/>
              <a:t>됨</a:t>
            </a:r>
          </a:p>
        </p:txBody>
      </p:sp>
    </p:spTree>
    <p:extLst>
      <p:ext uri="{BB962C8B-B14F-4D97-AF65-F5344CB8AC3E}">
        <p14:creationId xmlns:p14="http://schemas.microsoft.com/office/powerpoint/2010/main" val="1339538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9684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5545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760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8259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2153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Kernel, Filter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88" y="2455855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3838575" y="2002698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693793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B1A72-914C-D9A7-9C3C-43C78CF7D1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6A3EA8-D156-E569-5624-904753BEF2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D2313B9-0D41-55BB-F412-8D624774E3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E2CA83C4-5821-CABF-224D-F3FAC3A8F8A8}"/>
              </a:ext>
            </a:extLst>
          </p:cNvPr>
          <p:cNvCxnSpPr>
            <a:cxnSpLocks/>
          </p:cNvCxnSpPr>
          <p:nvPr/>
        </p:nvCxnSpPr>
        <p:spPr>
          <a:xfrm>
            <a:off x="13315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/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5" name="사각형: 둥근 모서리 4">
                <a:extLst>
                  <a:ext uri="{FF2B5EF4-FFF2-40B4-BE49-F238E27FC236}">
                    <a16:creationId xmlns:a16="http://schemas.microsoft.com/office/drawing/2014/main" id="{10460A90-BD6B-863B-0569-8B354DF7A77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555" y="2183130"/>
                <a:ext cx="2164080" cy="2346960"/>
              </a:xfrm>
              <a:prstGeom prst="round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/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5C0228-358D-97CF-0F36-C8E4774BF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4995" y="2927062"/>
                <a:ext cx="624840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/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8D2AEAA-159D-2B11-F5C4-60FACE8B7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" y="2927062"/>
                <a:ext cx="800100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/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3200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EC94CD0-2572-3613-84A1-AC2578F941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955" y="5241936"/>
                <a:ext cx="2621280" cy="58477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8514DCB2-562C-5519-EC21-4EA56B154772}"/>
              </a:ext>
            </a:extLst>
          </p:cNvPr>
          <p:cNvCxnSpPr>
            <a:cxnSpLocks/>
          </p:cNvCxnSpPr>
          <p:nvPr/>
        </p:nvCxnSpPr>
        <p:spPr>
          <a:xfrm>
            <a:off x="6513195" y="3356610"/>
            <a:ext cx="414528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/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2" name="사각형: 둥근 모서리 1">
                <a:extLst>
                  <a:ext uri="{FF2B5EF4-FFF2-40B4-BE49-F238E27FC236}">
                    <a16:creationId xmlns:a16="http://schemas.microsoft.com/office/drawing/2014/main" id="{6F007877-F8DC-32AD-8C44-2284A7DDC9C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2183130"/>
                <a:ext cx="2164080" cy="2346960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/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E8FB77B-439D-D464-CE17-CB12E6F8A6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0783" y="2927062"/>
                <a:ext cx="590550" cy="58477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/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z</m:t>
                      </m:r>
                      <m:r>
                        <a:rPr lang="ko-KR" altLang="en-US" sz="3200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ko-KR" sz="3200" b="0" i="1" dirty="0" smtClean="0">
                          <a:latin typeface="Cambria Math" panose="02040503050406030204" pitchFamily="18" charset="0"/>
                        </a:rPr>
                        <m:t>g</m:t>
                      </m:r>
                      <m:d>
                        <m:dPr>
                          <m:ctrlP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3200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sz="3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B8C6FED0-1508-500C-4952-E3FBF47F8B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1405" y="5213659"/>
                <a:ext cx="2621280" cy="58477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39824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/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 Function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Function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2430" y="2310714"/>
            <a:ext cx="9181581" cy="39081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475645" y="1248422"/>
            <a:ext cx="1129725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28 by 28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최종적으로는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4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by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5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이미지로 특성을 표현한 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Connected Network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형태로 다시 표현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(Data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Rpresentation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EA85-557B-2909-DB66-4055451D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0445AE-C183-3910-416F-DB0B09343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317419E-04B5-153B-9DB8-F3120B3EE9B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1653024-713F-9DE4-50B8-126CD14F06FB}"/>
              </a:ext>
            </a:extLst>
          </p:cNvPr>
          <p:cNvSpPr txBox="1"/>
          <p:nvPr/>
        </p:nvSpPr>
        <p:spPr>
          <a:xfrm>
            <a:off x="475645" y="1248422"/>
            <a:ext cx="1129725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생성한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이미지를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서브샘플링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(subsample,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즉 크기를 축소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것으로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연산 부하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(computational load),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메모리 사용량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(memory usage),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그리고 파라미터 개수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(number of parameters)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줄이는 것으로 그 결과 모델의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(overfitting)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위험을 방지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8AB133-7A6E-A64A-2248-2F7A9BAA44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801" y="2909961"/>
            <a:ext cx="7049449" cy="29985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01F2049-E655-A9F9-92FD-1AAA28AE22C0}"/>
              </a:ext>
            </a:extLst>
          </p:cNvPr>
          <p:cNvSpPr txBox="1"/>
          <p:nvPr/>
        </p:nvSpPr>
        <p:spPr>
          <a:xfrm>
            <a:off x="9262975" y="4776248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32972D-DA00-C47B-7806-9AC805EC2938}"/>
              </a:ext>
            </a:extLst>
          </p:cNvPr>
          <p:cNvSpPr txBox="1"/>
          <p:nvPr/>
        </p:nvSpPr>
        <p:spPr>
          <a:xfrm>
            <a:off x="9263221" y="2981050"/>
            <a:ext cx="2299251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Max pooling Map</a:t>
            </a:r>
            <a:endParaRPr lang="ko-KR" altLang="en-US" dirty="0"/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6981D003-6310-22A5-1BFC-F5A6FDA1FCFA}"/>
              </a:ext>
            </a:extLst>
          </p:cNvPr>
          <p:cNvCxnSpPr>
            <a:cxnSpLocks/>
          </p:cNvCxnSpPr>
          <p:nvPr/>
        </p:nvCxnSpPr>
        <p:spPr>
          <a:xfrm flipV="1">
            <a:off x="10155425" y="3396682"/>
            <a:ext cx="0" cy="12563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F2964CC-907A-79C3-EF81-7292B7588E7B}"/>
              </a:ext>
            </a:extLst>
          </p:cNvPr>
          <p:cNvSpPr txBox="1"/>
          <p:nvPr/>
        </p:nvSpPr>
        <p:spPr>
          <a:xfrm>
            <a:off x="9277326" y="3851685"/>
            <a:ext cx="2285143" cy="36933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02612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47A9EA-7B98-FDFF-D632-5B74C05F4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9D6E01-CC06-45F3-0DF9-854F5E91B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5D5D00C-8810-FA27-6317-9E2B3F7CB85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CNN(Convolutional Neural Network)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AutoShape 2" descr="image">
            <a:extLst>
              <a:ext uri="{FF2B5EF4-FFF2-40B4-BE49-F238E27FC236}">
                <a16:creationId xmlns:a16="http://schemas.microsoft.com/office/drawing/2014/main" id="{91F0AC56-1AD8-E77D-393F-3FA0F42C87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B5D35AD-5B9D-3D46-8ED8-43517A6EED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490" y="1596194"/>
            <a:ext cx="9315406" cy="451885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EA92472-7FFC-DEC8-94A2-CC8097F8CD44}"/>
              </a:ext>
            </a:extLst>
          </p:cNvPr>
          <p:cNvSpPr txBox="1"/>
          <p:nvPr/>
        </p:nvSpPr>
        <p:spPr>
          <a:xfrm>
            <a:off x="5062537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8AD35-208A-BBC6-C996-79BA16B24E7C}"/>
              </a:ext>
            </a:extLst>
          </p:cNvPr>
          <p:cNvSpPr txBox="1"/>
          <p:nvPr/>
        </p:nvSpPr>
        <p:spPr>
          <a:xfrm>
            <a:off x="8142286" y="6093609"/>
            <a:ext cx="23717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subsample (shrink)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020292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Image Classification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/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195C9-CBD6-04D8-FBF3-C2DA3C108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33317-6503-12B5-BE98-B0C3875E3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A38AE24-0C70-B4AA-1215-8F33EBCAFC8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1041D4-64F8-978A-EE22-5E9930A7A837}"/>
              </a:ext>
            </a:extLst>
          </p:cNvPr>
          <p:cNvSpPr txBox="1"/>
          <p:nvPr/>
        </p:nvSpPr>
        <p:spPr>
          <a:xfrm>
            <a:off x="559261" y="1584070"/>
            <a:ext cx="6260639" cy="37478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신경망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입력 채널별로 서로 다른 가중치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(Weight)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필터를 사용하여 각각 연산한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그 결과들을 모두 더해서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합산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하나의 특성 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(Feature Map)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=3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필터가 가로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세로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인 평면 격자가 아니라 하지만 실제는 입력 데이터의 채널 수와 똑같은 두께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(Depth)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가진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블록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”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필터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(tensor (3,3,3))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입체블록 필터당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장이 나오고 여기에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생성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F8F1156-1F00-1107-B89D-64F92419D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5AF6C3-4719-C491-25E7-A315FAF1BC48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04B1C2-BFE8-1DE2-C675-A40349A4CA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6122298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04D15-DBFC-4F83-0427-E2AD323FB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71F83A-28A0-E9E7-0E51-65E2E9D50F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330097-C40F-BB9D-A40F-9B1E0C908A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185031C-A522-6D3E-2308-3628A3B3EC40}"/>
              </a:ext>
            </a:extLst>
          </p:cNvPr>
          <p:cNvSpPr txBox="1"/>
          <p:nvPr/>
        </p:nvSpPr>
        <p:spPr>
          <a:xfrm>
            <a:off x="475645" y="2107473"/>
            <a:ext cx="6613064" cy="3378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convolutional layers require a huge amount of RAM especially during training, because the reverse pass of backpropagation requires all the intermediate values computed during the forward pass.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For example, consider a convolutional layer with 5 × 5 filters, outputting 200 feature maps of size 150 × 100, with stride 1 and "same" padding. If input is a 150 × 100 RGB image (three channels)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b="1" dirty="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How many parameters to be calculated during training ?</a:t>
            </a:r>
            <a:endParaRPr lang="ko-KR" altLang="en-US" sz="1600" b="1" dirty="0">
              <a:solidFill>
                <a:srgbClr val="FF000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8EB3AAF-50FF-8BBA-8A7B-8BA1F4BF67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E097B0-4136-2CBE-9F37-929DF9865E60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222F3A-BE5A-5573-B6B4-B845A81A67C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</p:spTree>
    <p:extLst>
      <p:ext uri="{BB962C8B-B14F-4D97-AF65-F5344CB8AC3E}">
        <p14:creationId xmlns:p14="http://schemas.microsoft.com/office/powerpoint/2010/main" val="36038761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22BA2-FAF4-3BB4-5F9A-124C05A4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AF5A7-36C6-3EF5-98CD-A8E7152EF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F03FEBC-9372-DB03-41EA-F44D2CAC02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Memory Requirements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/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CNN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 계산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(5 x 5 x 3 + 1) x 200 = 15,200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개로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FNN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인 경우보다는 적지만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Filter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200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개이면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총 뉴런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데이터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: 150 x 100 x 200 = 3,000,000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endParaRPr lang="en-US" altLang="ko-KR" sz="1600" dirty="0"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컴퓨터는 이 숫자 하나를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32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비트 실수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(float32 = 4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로 저장하면 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3,000,000 x 4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= 12,000,000 </a:t>
                </a:r>
                <a:r>
                  <a:rPr lang="ko-KR" altLang="en-US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바이트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sz="1600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≈</m:t>
                    </m:r>
                  </m:oMath>
                </a14:m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  <a:sym typeface="Wingdings" panose="05000000000000000000" pitchFamily="2" charset="2"/>
                  </a:rPr>
                  <a:t> 12</a:t>
                </a:r>
                <a:r>
                  <a:rPr lang="en-US" altLang="ko-KR" sz="16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MB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1C46BBE-D6F7-5A22-D03C-1D2E61D856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043" y="2117655"/>
                <a:ext cx="6613064" cy="1900457"/>
              </a:xfrm>
              <a:prstGeom prst="rect">
                <a:avLst/>
              </a:prstGeom>
              <a:blipFill>
                <a:blip r:embed="rId2"/>
                <a:stretch>
                  <a:fillRect l="-276" b="-254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B66E6CDD-E84D-4DC3-6A16-4201748656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1413" y="2107473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81CC526-5FAD-A039-E81D-8BC75F9ECB19}"/>
              </a:ext>
            </a:extLst>
          </p:cNvPr>
          <p:cNvSpPr txBox="1"/>
          <p:nvPr/>
        </p:nvSpPr>
        <p:spPr>
          <a:xfrm>
            <a:off x="7460517" y="1654316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32D8120-ED9A-27A1-E7D4-C6E606C3BED3}"/>
              </a:ext>
            </a:extLst>
          </p:cNvPr>
          <p:cNvSpPr txBox="1"/>
          <p:nvPr/>
        </p:nvSpPr>
        <p:spPr>
          <a:xfrm>
            <a:off x="7460516" y="5303844"/>
            <a:ext cx="396269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채널별로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합성 곱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결과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채널별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다시 합산하여 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 map 1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생성하는</a:t>
            </a:r>
            <a:r>
              <a:rPr lang="en-US" altLang="ko-KR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2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과정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4F0CC92-FBAC-FB79-C1A0-A9E0D08DD295}"/>
              </a:ext>
            </a:extLst>
          </p:cNvPr>
          <p:cNvSpPr txBox="1"/>
          <p:nvPr/>
        </p:nvSpPr>
        <p:spPr>
          <a:xfrm>
            <a:off x="525883" y="1781576"/>
            <a:ext cx="2031539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endParaRPr lang="ko-KR" altLang="en-US" sz="16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D5FD6-F697-B102-AF41-A1D21A1066BC}"/>
              </a:ext>
            </a:extLst>
          </p:cNvPr>
          <p:cNvSpPr txBox="1"/>
          <p:nvPr/>
        </p:nvSpPr>
        <p:spPr>
          <a:xfrm>
            <a:off x="714043" y="4604837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장당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12MB, 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장 묶음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 = 100) = 1.2GB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BC7E95-D4A5-05A2-F8D5-FC06CF584824}"/>
              </a:ext>
            </a:extLst>
          </p:cNvPr>
          <p:cNvSpPr txBox="1"/>
          <p:nvPr/>
        </p:nvSpPr>
        <p:spPr>
          <a:xfrm>
            <a:off x="525883" y="4267488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(100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A44078-D04C-0EE6-DC61-F5FBA7AFAE7E}"/>
              </a:ext>
            </a:extLst>
          </p:cNvPr>
          <p:cNvSpPr txBox="1"/>
          <p:nvPr/>
        </p:nvSpPr>
        <p:spPr>
          <a:xfrm>
            <a:off x="715243" y="5656539"/>
            <a:ext cx="6613064" cy="4238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1.2GB x 50 = 60GB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6266A9-7625-680E-D8E7-6E1BAC3CDDC2}"/>
              </a:ext>
            </a:extLst>
          </p:cNvPr>
          <p:cNvSpPr txBox="1"/>
          <p:nvPr/>
        </p:nvSpPr>
        <p:spPr>
          <a:xfrm>
            <a:off x="525883" y="5319825"/>
            <a:ext cx="3741317" cy="3385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50 layers 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VGG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912387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39BB7-974B-332B-B2D3-8F848B699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486036-67A2-7FAF-876B-EF23FFD76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FEC2FC1-D246-D6ED-7695-386F0C4FC4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79A7F2C-B040-9181-C381-0EAF79249ED2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https://tensorspace.org/html/playground/lenet.html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7F37AE7-162E-24C9-7A48-A38714B8D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6811" y="1799944"/>
            <a:ext cx="4032690" cy="4645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47376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1A4A9-C8E4-CEAE-D281-5907F964D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270069-61B1-19EE-E56A-685854865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6393488-7234-FE8B-4CA8-0977643A76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585D06-EBAA-D2AC-1891-2DBE98D5B6A3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https://stanford.edu/~shervine/teaching/cs-230/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A294C0E-8F2F-FF9B-4E00-D850332D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2575" y="1886593"/>
            <a:ext cx="8733012" cy="4489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05660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1074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입력데이터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(8,6,6)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각 채널에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Kernel(3,3)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동일하게 적용하여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합산 값을 출력하는 것을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번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반복하면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tensor(8,4,4)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생성하는 과정을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703734"/>
            <a:ext cx="4147994" cy="89370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909491"/>
            <a:ext cx="4201334" cy="89370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57453" y="385923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882097"/>
            <a:ext cx="2685947" cy="617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03301-AE56-CCC2-E058-B6282D923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0CF469-4F35-2832-B86C-98FE6895C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882B39C-9C81-C646-1138-B35886C437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Visualization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0494596-39F6-615D-9013-605F03C9C1FC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시각화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사이트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https://tensorspace.org/html/playground/alexnet.html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784A6AC-36E5-6717-E624-829B1E3EE9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1633" y="2002698"/>
            <a:ext cx="5132427" cy="3895526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D6D5C0B1-50E1-7852-0909-A389784D9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193" y="3079433"/>
            <a:ext cx="2162175" cy="2162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22032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DAB6-C0A2-5688-D23C-582541552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D8A839-CC74-357F-69C4-BEB97886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69FABD5-B583-BD47-45E0-72A5D4FB94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CNN fine tuning Task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778FC2-E3C6-FD32-35F3-D64074491B0D}"/>
              </a:ext>
            </a:extLst>
          </p:cNvPr>
          <p:cNvSpPr txBox="1"/>
          <p:nvPr/>
        </p:nvSpPr>
        <p:spPr>
          <a:xfrm>
            <a:off x="644986" y="1236259"/>
            <a:ext cx="11012385" cy="4238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Fine Tuning CNN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https://github.com/jihongleejihong/pok8mon_go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6" name="Picture 2" descr="project workflow">
            <a:extLst>
              <a:ext uri="{FF2B5EF4-FFF2-40B4-BE49-F238E27FC236}">
                <a16:creationId xmlns:a16="http://schemas.microsoft.com/office/drawing/2014/main" id="{58F1A779-8263-AE4B-31CF-C8285809A8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681" y="2460358"/>
            <a:ext cx="8778644" cy="3161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404548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023E6-C186-5967-405A-469653BF4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501DF0-79A4-9D88-88E3-47B8FAEBD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54753E9-190B-64FD-1066-166374E976B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A295DC-FE1F-4E93-BF82-21DBF8647E1C}"/>
              </a:ext>
            </a:extLst>
          </p:cNvPr>
          <p:cNvSpPr txBox="1"/>
          <p:nvPr/>
        </p:nvSpPr>
        <p:spPr>
          <a:xfrm>
            <a:off x="615386" y="404323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6 kernels (5,5) size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33C2A-CDC7-01E7-A9FB-0129F1C095B1}"/>
              </a:ext>
            </a:extLst>
          </p:cNvPr>
          <p:cNvSpPr txBox="1"/>
          <p:nvPr/>
        </p:nvSpPr>
        <p:spPr>
          <a:xfrm>
            <a:off x="4284573" y="5235941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B8366-0E8D-4FF5-CC85-F97104EC05B8}"/>
              </a:ext>
            </a:extLst>
          </p:cNvPr>
          <p:cNvSpPr txBox="1"/>
          <p:nvPr/>
        </p:nvSpPr>
        <p:spPr>
          <a:xfrm>
            <a:off x="2539648" y="4450501"/>
            <a:ext cx="5213702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c1 = </a:t>
            </a:r>
            <a:r>
              <a:rPr lang="en-US" altLang="ko-KR" sz="17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(conv1(input))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s2 = max_pool2d(c1, (2, 2))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default stride 2</a:t>
            </a:r>
            <a:endParaRPr lang="en-US" altLang="ko-KR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C9410A-0A63-BE47-A995-323F026ECD29}"/>
              </a:ext>
            </a:extLst>
          </p:cNvPr>
          <p:cNvSpPr txBox="1"/>
          <p:nvPr/>
        </p:nvSpPr>
        <p:spPr>
          <a:xfrm>
            <a:off x="5652526" y="5609153"/>
            <a:ext cx="3106268" cy="5093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c3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(conv2(s2))</a:t>
            </a:r>
          </a:p>
          <a:p>
            <a:pPr>
              <a:lnSpc>
                <a:spcPts val="1575"/>
              </a:lnSpc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s4 = max_pool2d(c3, 2)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1FB92E3-A8B3-1860-A8D2-D3C01D75F34D}"/>
              </a:ext>
            </a:extLst>
          </p:cNvPr>
          <p:cNvSpPr txBox="1"/>
          <p:nvPr/>
        </p:nvSpPr>
        <p:spPr>
          <a:xfrm>
            <a:off x="7629878" y="4316088"/>
            <a:ext cx="22098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f5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(fc1(s4))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0CDE3A0-3FAD-7D02-45A2-9581E9FB538A}"/>
              </a:ext>
            </a:extLst>
          </p:cNvPr>
          <p:cNvSpPr txBox="1"/>
          <p:nvPr/>
        </p:nvSpPr>
        <p:spPr>
          <a:xfrm>
            <a:off x="7601303" y="3984329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AB45F0-CC27-8FA1-476D-1076192763AC}"/>
              </a:ext>
            </a:extLst>
          </p:cNvPr>
          <p:cNvSpPr txBox="1"/>
          <p:nvPr/>
        </p:nvSpPr>
        <p:spPr>
          <a:xfrm>
            <a:off x="8556213" y="5051686"/>
            <a:ext cx="3048000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f6 = </a:t>
            </a:r>
            <a:r>
              <a:rPr lang="en-US" altLang="ko-KR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(fc2(f5))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1E201A-8E26-8118-AACB-8EB48FD819CF}"/>
              </a:ext>
            </a:extLst>
          </p:cNvPr>
          <p:cNvSpPr txBox="1"/>
          <p:nvPr/>
        </p:nvSpPr>
        <p:spPr>
          <a:xfrm>
            <a:off x="8555860" y="474064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9CA255-2078-8A4F-5EC2-BB49E33B223E}"/>
              </a:ext>
            </a:extLst>
          </p:cNvPr>
          <p:cNvSpPr txBox="1"/>
          <p:nvPr/>
        </p:nvSpPr>
        <p:spPr>
          <a:xfrm>
            <a:off x="9416374" y="5491889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5E3EEAF-ECCE-33E6-4697-30873C0C8140}"/>
              </a:ext>
            </a:extLst>
          </p:cNvPr>
          <p:cNvSpPr txBox="1"/>
          <p:nvPr/>
        </p:nvSpPr>
        <p:spPr>
          <a:xfrm>
            <a:off x="9444949" y="5668033"/>
            <a:ext cx="30480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output = fc3(f6)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775A2-21E3-1FE0-519E-60744981280A}"/>
              </a:ext>
            </a:extLst>
          </p:cNvPr>
          <p:cNvSpPr txBox="1"/>
          <p:nvPr/>
        </p:nvSpPr>
        <p:spPr>
          <a:xfrm>
            <a:off x="153424" y="2407301"/>
            <a:ext cx="9239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endParaRPr lang="ko-KR" alt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57CDA5-0BF4-B589-9B91-C2BC97CA256B}"/>
              </a:ext>
            </a:extLst>
          </p:cNvPr>
          <p:cNvSpPr txBox="1"/>
          <p:nvPr/>
        </p:nvSpPr>
        <p:spPr>
          <a:xfrm>
            <a:off x="10906478" y="2407301"/>
            <a:ext cx="933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E6EE1B3C-BC1C-E1CA-4D4E-02977B303CBC}"/>
              </a:ext>
            </a:extLst>
          </p:cNvPr>
          <p:cNvCxnSpPr>
            <a:endCxn id="37" idx="1"/>
          </p:cNvCxnSpPr>
          <p:nvPr/>
        </p:nvCxnSpPr>
        <p:spPr>
          <a:xfrm>
            <a:off x="914400" y="2591967"/>
            <a:ext cx="999207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onvnet">
            <a:extLst>
              <a:ext uri="{FF2B5EF4-FFF2-40B4-BE49-F238E27FC236}">
                <a16:creationId xmlns:a16="http://schemas.microsoft.com/office/drawing/2014/main" id="{DD331A75-EF93-8703-2D1D-4A080F02D2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1212407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BDDCEE17-4310-5899-53B6-FDB293EF6933}"/>
              </a:ext>
            </a:extLst>
          </p:cNvPr>
          <p:cNvCxnSpPr/>
          <p:nvPr/>
        </p:nvCxnSpPr>
        <p:spPr>
          <a:xfrm>
            <a:off x="6938459" y="3979175"/>
            <a:ext cx="2981325" cy="2259322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70545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7" grpId="0"/>
      <p:bldP spid="21" grpId="0"/>
      <p:bldP spid="23" grpId="0"/>
      <p:bldP spid="25" grpId="0"/>
      <p:bldP spid="27" grpId="0"/>
      <p:bldP spid="29" grpId="0"/>
      <p:bldP spid="31" grpId="0"/>
      <p:bldP spid="33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FC8E9-1480-D14F-3218-50A05B4B2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837D5-6DB6-2250-2EDB-ED1007490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4D717FE-684C-8596-3AB0-D50C173A22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89358C-5555-4398-7724-9F76B86F6376}"/>
              </a:ext>
            </a:extLst>
          </p:cNvPr>
          <p:cNvSpPr txBox="1"/>
          <p:nvPr/>
        </p:nvSpPr>
        <p:spPr>
          <a:xfrm>
            <a:off x="656663" y="1353850"/>
            <a:ext cx="9991725" cy="526297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tf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layers,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create_lenet5_functional():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inputs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layers.Input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(shape=(32, 32, 1), name='INPUT')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c1 = layers.Conv2D(filters=6,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name='C1')(inputs)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s2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name='S2')(c1)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c3 = layers.Conv2D(filters=16,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=(5, 5), padding='valid',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name='C3')(s2)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s4 = layers.MaxPooling2D(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pool_size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=(2, 2), strides=(2, 2), name='S4')(c3)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flatten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layers.Flatten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(name='Flatten')(s4)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f5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(units=120,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name='F5')(flatten)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f6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(units=84,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name='F6')(f5)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outputs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(units=10, activation='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name='OUTPUT')(f6)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model = Model(inputs=inputs, outputs=outputs, name='LeNet-5_Functional')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  return model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create_lenet5_functional()</a:t>
            </a:r>
          </a:p>
          <a:p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model.summary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2504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F958-3BDA-3FFE-E645-A982A1A2D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9E2E4A-EB0F-287F-A2DD-C220B5D09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636AEFD-BF3F-3296-F968-799CD7094D3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LeNet-5(1998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년 얀 </a:t>
            </a:r>
            <a:r>
              <a:rPr lang="ko-KR" altLang="en-US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르쿤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교수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 :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Neural_Networks_tutorial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57CDBD-A4CC-708E-95A2-6AF7C059CAD2}"/>
              </a:ext>
            </a:extLst>
          </p:cNvPr>
          <p:cNvSpPr txBox="1"/>
          <p:nvPr/>
        </p:nvSpPr>
        <p:spPr>
          <a:xfrm>
            <a:off x="4337121" y="4885168"/>
            <a:ext cx="3106268" cy="302327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 = nn.Conv2d(6, 16, 5)</a:t>
            </a:r>
            <a:endParaRPr lang="ko-KR" altLang="en-US" sz="1700" dirty="0">
              <a:solidFill>
                <a:srgbClr val="0070C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CBC056-D535-E1B9-5DB5-A3663C96A3B1}"/>
              </a:ext>
            </a:extLst>
          </p:cNvPr>
          <p:cNvSpPr txBox="1"/>
          <p:nvPr/>
        </p:nvSpPr>
        <p:spPr>
          <a:xfrm>
            <a:off x="7601303" y="4885168"/>
            <a:ext cx="3725393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fc1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(16 * 5 * 5, 120)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661C66-55C9-9061-F2C8-E1DA8675E487}"/>
              </a:ext>
            </a:extLst>
          </p:cNvPr>
          <p:cNvSpPr txBox="1"/>
          <p:nvPr/>
        </p:nvSpPr>
        <p:spPr>
          <a:xfrm>
            <a:off x="8270110" y="5346563"/>
            <a:ext cx="2807818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fc2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(120, 84)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B2ED690-2B9B-0FA3-3AA1-F2D5557BEF1A}"/>
              </a:ext>
            </a:extLst>
          </p:cNvPr>
          <p:cNvSpPr txBox="1"/>
          <p:nvPr/>
        </p:nvSpPr>
        <p:spPr>
          <a:xfrm>
            <a:off x="9073810" y="5776484"/>
            <a:ext cx="2880401" cy="3154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fc3 = </a:t>
            </a:r>
            <a:r>
              <a:rPr lang="en-US" altLang="ko-KR" sz="1700" dirty="0" err="1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1700" dirty="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(84, 10)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3C8BC-5C24-0E67-DE73-D8F0DC055C0D}"/>
              </a:ext>
            </a:extLst>
          </p:cNvPr>
          <p:cNvSpPr txBox="1"/>
          <p:nvPr/>
        </p:nvSpPr>
        <p:spPr>
          <a:xfrm>
            <a:off x="615386" y="4885168"/>
            <a:ext cx="5480613" cy="30758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700" b="0" dirty="0">
                <a:solidFill>
                  <a:srgbClr val="007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conv1 = nn.Conv2d(1, 6, 5)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Picture 2" descr="convnet">
            <a:extLst>
              <a:ext uri="{FF2B5EF4-FFF2-40B4-BE49-F238E27FC236}">
                <a16:creationId xmlns:a16="http://schemas.microsoft.com/office/drawing/2014/main" id="{9327724F-44BE-6FEA-79F4-0ED7F6EE49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61" y="2136332"/>
            <a:ext cx="9623988" cy="2664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D52EBEF-3037-B220-A219-86EC8F9139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810" y="1614901"/>
            <a:ext cx="7381033" cy="517642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EDACD61-9235-DD25-2152-1FB6B03C2AE5}"/>
              </a:ext>
            </a:extLst>
          </p:cNvPr>
          <p:cNvSpPr txBox="1"/>
          <p:nvPr/>
        </p:nvSpPr>
        <p:spPr>
          <a:xfrm>
            <a:off x="475645" y="1220734"/>
            <a:ext cx="11022228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딥러닝이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학습하여 추정할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단순 계산식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Subsampling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제외한 모든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Layer(CNN,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FNN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해당되는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4F8B3E9-6656-B670-1C20-E0BB382F03E3}"/>
              </a:ext>
            </a:extLst>
          </p:cNvPr>
          <p:cNvSpPr/>
          <p:nvPr/>
        </p:nvSpPr>
        <p:spPr>
          <a:xfrm>
            <a:off x="2590800" y="2743200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15F4673-6C3E-AB96-AF7E-7BDC08C3916F}"/>
              </a:ext>
            </a:extLst>
          </p:cNvPr>
          <p:cNvSpPr/>
          <p:nvPr/>
        </p:nvSpPr>
        <p:spPr>
          <a:xfrm>
            <a:off x="2590800" y="3590925"/>
            <a:ext cx="7667625" cy="5143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43411CE-70CE-5FE8-9A72-A9936CDF532D}"/>
              </a:ext>
            </a:extLst>
          </p:cNvPr>
          <p:cNvSpPr/>
          <p:nvPr/>
        </p:nvSpPr>
        <p:spPr>
          <a:xfrm>
            <a:off x="2590800" y="4705350"/>
            <a:ext cx="7667625" cy="1390650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5698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9232</TotalTime>
  <Words>2248</Words>
  <Application>Microsoft Office PowerPoint</Application>
  <PresentationFormat>와이드스크린</PresentationFormat>
  <Paragraphs>329</Paragraphs>
  <Slides>42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0" baseType="lpstr">
      <vt:lpstr>D2Coding</vt:lpstr>
      <vt:lpstr>맑은 고딕</vt:lpstr>
      <vt:lpstr>맑은 고딕 Semilight</vt:lpstr>
      <vt:lpstr>Batang</vt:lpstr>
      <vt:lpstr>Arial</vt:lpstr>
      <vt:lpstr>Cambria Math</vt:lpstr>
      <vt:lpstr>Wingdings</vt:lpstr>
      <vt:lpstr>WelcomeDoc</vt:lpstr>
      <vt:lpstr>Chapter 8  Image Classification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150</cp:revision>
  <dcterms:created xsi:type="dcterms:W3CDTF">2026-04-06T01:00:39Z</dcterms:created>
  <dcterms:modified xsi:type="dcterms:W3CDTF">2026-07-29T12:55:59Z</dcterms:modified>
  <cp:version/>
</cp:coreProperties>
</file>