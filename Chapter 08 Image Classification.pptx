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6"/>
  </p:notesMasterIdLst>
  <p:handoutMasterIdLst>
    <p:handoutMasterId r:id="rId67"/>
  </p:handoutMasterIdLst>
  <p:sldIdLst>
    <p:sldId id="256" r:id="rId2"/>
    <p:sldId id="1136" r:id="rId3"/>
    <p:sldId id="1169" r:id="rId4"/>
    <p:sldId id="1174" r:id="rId5"/>
    <p:sldId id="1134" r:id="rId6"/>
    <p:sldId id="1141" r:id="rId7"/>
    <p:sldId id="1173" r:id="rId8"/>
    <p:sldId id="1170" r:id="rId9"/>
    <p:sldId id="1171" r:id="rId10"/>
    <p:sldId id="1172" r:id="rId11"/>
    <p:sldId id="1137" r:id="rId12"/>
    <p:sldId id="1114" r:id="rId13"/>
    <p:sldId id="1107" r:id="rId14"/>
    <p:sldId id="1133" r:id="rId15"/>
    <p:sldId id="1129" r:id="rId16"/>
    <p:sldId id="1130" r:id="rId17"/>
    <p:sldId id="1177" r:id="rId18"/>
    <p:sldId id="1112" r:id="rId19"/>
    <p:sldId id="1132" r:id="rId20"/>
    <p:sldId id="1131" r:id="rId21"/>
    <p:sldId id="1124" r:id="rId22"/>
    <p:sldId id="1178" r:id="rId23"/>
    <p:sldId id="1115" r:id="rId24"/>
    <p:sldId id="1138" r:id="rId25"/>
    <p:sldId id="1188" r:id="rId26"/>
    <p:sldId id="1189" r:id="rId27"/>
    <p:sldId id="1127" r:id="rId28"/>
    <p:sldId id="1103" r:id="rId29"/>
    <p:sldId id="1098" r:id="rId30"/>
    <p:sldId id="1099" r:id="rId31"/>
    <p:sldId id="1101" r:id="rId32"/>
    <p:sldId id="1176" r:id="rId33"/>
    <p:sldId id="1105" r:id="rId34"/>
    <p:sldId id="1095" r:id="rId35"/>
    <p:sldId id="1096" r:id="rId36"/>
    <p:sldId id="1097" r:id="rId37"/>
    <p:sldId id="1106" r:id="rId38"/>
    <p:sldId id="1102" r:id="rId39"/>
    <p:sldId id="1116" r:id="rId40"/>
    <p:sldId id="1104" r:id="rId41"/>
    <p:sldId id="1125" r:id="rId42"/>
    <p:sldId id="1126" r:id="rId43"/>
    <p:sldId id="1175" r:id="rId44"/>
    <p:sldId id="1111" r:id="rId45"/>
    <p:sldId id="1113" r:id="rId46"/>
    <p:sldId id="1109" r:id="rId47"/>
    <p:sldId id="1110" r:id="rId48"/>
    <p:sldId id="1139" r:id="rId49"/>
    <p:sldId id="1186" r:id="rId50"/>
    <p:sldId id="1118" r:id="rId51"/>
    <p:sldId id="1119" r:id="rId52"/>
    <p:sldId id="1194" r:id="rId53"/>
    <p:sldId id="1179" r:id="rId54"/>
    <p:sldId id="1180" r:id="rId55"/>
    <p:sldId id="1190" r:id="rId56"/>
    <p:sldId id="1191" r:id="rId57"/>
    <p:sldId id="1192" r:id="rId58"/>
    <p:sldId id="1193" r:id="rId59"/>
    <p:sldId id="1181" r:id="rId60"/>
    <p:sldId id="1182" r:id="rId61"/>
    <p:sldId id="1183" r:id="rId62"/>
    <p:sldId id="1184" r:id="rId63"/>
    <p:sldId id="1185" r:id="rId64"/>
    <p:sldId id="1187" r:id="rId6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69"/>
            <p14:sldId id="1174"/>
            <p14:sldId id="1134"/>
            <p14:sldId id="1141"/>
            <p14:sldId id="1173"/>
            <p14:sldId id="1170"/>
            <p14:sldId id="1171"/>
            <p14:sldId id="1172"/>
            <p14:sldId id="1137"/>
            <p14:sldId id="1114"/>
            <p14:sldId id="1107"/>
            <p14:sldId id="1133"/>
            <p14:sldId id="1129"/>
            <p14:sldId id="1130"/>
            <p14:sldId id="1177"/>
            <p14:sldId id="1112"/>
            <p14:sldId id="1132"/>
            <p14:sldId id="1131"/>
            <p14:sldId id="1124"/>
            <p14:sldId id="1178"/>
            <p14:sldId id="1115"/>
            <p14:sldId id="1138"/>
            <p14:sldId id="1188"/>
            <p14:sldId id="1189"/>
            <p14:sldId id="1127"/>
            <p14:sldId id="1103"/>
            <p14:sldId id="1098"/>
            <p14:sldId id="1099"/>
            <p14:sldId id="1101"/>
            <p14:sldId id="1176"/>
            <p14:sldId id="1105"/>
            <p14:sldId id="1095"/>
            <p14:sldId id="1096"/>
            <p14:sldId id="1097"/>
            <p14:sldId id="1106"/>
            <p14:sldId id="1102"/>
            <p14:sldId id="1116"/>
            <p14:sldId id="1104"/>
            <p14:sldId id="1125"/>
            <p14:sldId id="1126"/>
            <p14:sldId id="1175"/>
            <p14:sldId id="1111"/>
            <p14:sldId id="1113"/>
            <p14:sldId id="1109"/>
            <p14:sldId id="1110"/>
            <p14:sldId id="1139"/>
            <p14:sldId id="1186"/>
            <p14:sldId id="1118"/>
            <p14:sldId id="1119"/>
            <p14:sldId id="1194"/>
            <p14:sldId id="1179"/>
            <p14:sldId id="1180"/>
            <p14:sldId id="1190"/>
            <p14:sldId id="1191"/>
            <p14:sldId id="1192"/>
            <p14:sldId id="1193"/>
            <p14:sldId id="1181"/>
            <p14:sldId id="1182"/>
            <p14:sldId id="1183"/>
            <p14:sldId id="1184"/>
            <p14:sldId id="1185"/>
            <p14:sldId id="118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17549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commentAuthors" Target="commentAuthors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2026-08-07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2026-08-07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4AE8-85C6-FE2E-54EB-2B1077696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C6A91D-9032-A35D-1BAF-EBF601F11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9D45FA-1BC2-61F5-B1F2-686A23297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88F8D9-27E7-0EE7-2903-0D9806477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343398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C71F8-751E-CCCD-6C8A-5A1DA132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39A948-691E-DCAA-377C-6E9CDE635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DB16FE-6FE2-4508-BB27-19198A0FA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4352A5-F09E-A040-0B41-E71C60374A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13519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98392-4E95-02CE-A6DB-519EF9B6C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560959-980F-A07D-7632-43C9B46DB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D86DC6-7712-D065-1D86-774A4B8FB8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A72450-B8D9-1B15-5151-83DF825586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89515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BBEB0-B77A-D8E5-C986-05298B4E0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1298E0-A1AE-820A-CCF6-19A665C5F3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5704F4-6AA5-1229-7B78-8ACF3B26B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CDDB87-E432-CF73-C43C-EB04900D6D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388889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2026-08-07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2026-08-07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mpo/a-brief-history-of-ai-with-deep-learning-26f7948bc87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cs231n.stanford.edu/" TargetMode="Externa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nvolution" TargetMode="External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gif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7.svg"/><Relationship Id="rId4" Type="http://schemas.openxmlformats.org/officeDocument/2006/relationships/image" Target="../media/image3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7.svg"/><Relationship Id="rId4" Type="http://schemas.openxmlformats.org/officeDocument/2006/relationships/image" Target="../media/image36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7.svg"/><Relationship Id="rId4" Type="http://schemas.openxmlformats.org/officeDocument/2006/relationships/image" Target="../media/image3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7" Type="http://schemas.openxmlformats.org/officeDocument/2006/relationships/image" Target="../media/image19.sv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8.png"/><Relationship Id="rId5" Type="http://schemas.openxmlformats.org/officeDocument/2006/relationships/image" Target="../media/image37.svg"/><Relationship Id="rId4" Type="http://schemas.openxmlformats.org/officeDocument/2006/relationships/image" Target="../media/image36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22.gi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0.sv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0.svg"/><Relationship Id="rId4" Type="http://schemas.openxmlformats.org/officeDocument/2006/relationships/image" Target="../media/image49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0.svg"/><Relationship Id="rId4" Type="http://schemas.openxmlformats.org/officeDocument/2006/relationships/image" Target="../media/image4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hyperlink" Target="https://tensorspace.org/html/playground/alex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5.jpe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ihongleejihong/pok8mon_go" TargetMode="External"/><Relationship Id="rId2" Type="http://schemas.openxmlformats.org/officeDocument/2006/relationships/hyperlink" Target="https://ryuzyproject.tistory.com/98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56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0.svg"/><Relationship Id="rId4" Type="http://schemas.openxmlformats.org/officeDocument/2006/relationships/image" Target="../media/image49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4.svg"/><Relationship Id="rId5" Type="http://schemas.openxmlformats.org/officeDocument/2006/relationships/image" Target="../media/image63.png"/><Relationship Id="rId4" Type="http://schemas.openxmlformats.org/officeDocument/2006/relationships/image" Target="../media/image62.svg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8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44B366F-C08A-343D-4873-7C751FD3FEC6}"/>
              </a:ext>
            </a:extLst>
          </p:cNvPr>
          <p:cNvSpPr/>
          <p:nvPr/>
        </p:nvSpPr>
        <p:spPr>
          <a:xfrm>
            <a:off x="536890" y="2092960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44BF-486E-CF55-333D-077990DDD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9360DF4-4F71-F6BE-C5F9-A496011E33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2577F4F-3E3E-FB6A-7D3A-40B3DC62FDFA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How to recognize face image ?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46E0553-FCB6-9211-B623-8555364E7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비비안 리">
            <a:extLst>
              <a:ext uri="{FF2B5EF4-FFF2-40B4-BE49-F238E27FC236}">
                <a16:creationId xmlns:a16="http://schemas.microsoft.com/office/drawing/2014/main" id="{BEC38110-3180-5354-A8A9-0A34C4D071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2221" y="1409700"/>
            <a:ext cx="3804279" cy="5184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77BCCDC3-B50E-3F08-D502-F72E445FDD60}"/>
              </a:ext>
            </a:extLst>
          </p:cNvPr>
          <p:cNvSpPr/>
          <p:nvPr/>
        </p:nvSpPr>
        <p:spPr>
          <a:xfrm>
            <a:off x="4667249" y="3000375"/>
            <a:ext cx="638175" cy="328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4D363F8-1E16-1B74-88A2-305777089F60}"/>
              </a:ext>
            </a:extLst>
          </p:cNvPr>
          <p:cNvSpPr/>
          <p:nvPr/>
        </p:nvSpPr>
        <p:spPr>
          <a:xfrm>
            <a:off x="4333876" y="3381375"/>
            <a:ext cx="419100" cy="504825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16F8E80-7484-0903-9199-56F4F4A66A41}"/>
              </a:ext>
            </a:extLst>
          </p:cNvPr>
          <p:cNvSpPr/>
          <p:nvPr/>
        </p:nvSpPr>
        <p:spPr>
          <a:xfrm>
            <a:off x="4162426" y="3943351"/>
            <a:ext cx="752474" cy="32861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EA605B5-054F-2A74-5599-0DF500671F2D}"/>
              </a:ext>
            </a:extLst>
          </p:cNvPr>
          <p:cNvSpPr/>
          <p:nvPr/>
        </p:nvSpPr>
        <p:spPr>
          <a:xfrm>
            <a:off x="3669986" y="2781299"/>
            <a:ext cx="663890" cy="219075"/>
          </a:xfrm>
          <a:prstGeom prst="rect">
            <a:avLst/>
          </a:prstGeom>
          <a:noFill/>
          <a:ln w="28575"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3A8DCC8-D8FF-2942-0ECF-4BD599AF2A06}"/>
              </a:ext>
            </a:extLst>
          </p:cNvPr>
          <p:cNvSpPr/>
          <p:nvPr/>
        </p:nvSpPr>
        <p:spPr>
          <a:xfrm>
            <a:off x="4181477" y="2371723"/>
            <a:ext cx="663890" cy="21907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4550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8F1B5-3293-2582-E79C-68BA83E5E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250D206-0CCD-0BDF-2BFE-C27CAAA217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83E9A3F-7661-A1B5-BEEC-C07088F84745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Timeline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64AA592-70D7-412D-FBA1-303BD4944C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690" y="1469766"/>
            <a:ext cx="9968619" cy="46556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0D09BA-6E17-7800-CA71-C1179CD5B4DC}"/>
              </a:ext>
            </a:extLst>
          </p:cNvPr>
          <p:cNvSpPr txBox="1"/>
          <p:nvPr/>
        </p:nvSpPr>
        <p:spPr>
          <a:xfrm>
            <a:off x="1034776" y="6237517"/>
            <a:ext cx="3262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A-brief-history-of-ai-with-deep-learning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D5BCE8C-DE81-A0E1-0670-31CF7BCDD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6703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1C6F73-D4C0-66A9-8C80-676C41CEA657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분류 예측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https://cs231n.stanford.edu/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21CAC7F-22D6-E8F7-94D0-656809DD1B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106" y="2259171"/>
            <a:ext cx="8626588" cy="367315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0044A8-6511-F92B-840B-5C543FD2C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5294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BF3E9-17FD-3A0B-B2A7-5AC022FAA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655E3A-436E-7FA1-6E2C-0AB0170220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115012-CE47-398B-9E49-B3D9E7762105}"/>
              </a:ext>
            </a:extLst>
          </p:cNvPr>
          <p:cNvSpPr txBox="1"/>
          <p:nvPr/>
        </p:nvSpPr>
        <p:spPr>
          <a:xfrm>
            <a:off x="742384" y="2465641"/>
            <a:ext cx="9411266" cy="2353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Kernels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= Filters = Feature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maps, detectors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1467638-E365-47D5-7E1C-8CDE78EBC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9904" y="3162513"/>
            <a:ext cx="6829712" cy="3313058"/>
          </a:xfrm>
          <a:prstGeom prst="rect">
            <a:avLst/>
          </a:prstGeom>
        </p:spPr>
      </p:pic>
      <p:pic>
        <p:nvPicPr>
          <p:cNvPr id="13" name="그래픽 12" descr="물음표">
            <a:extLst>
              <a:ext uri="{FF2B5EF4-FFF2-40B4-BE49-F238E27FC236}">
                <a16:creationId xmlns:a16="http://schemas.microsoft.com/office/drawing/2014/main" id="{59520228-A4BE-0EA9-79F3-5241DA21F6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15475" y="2136809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C713F72-6B6E-84D8-95EA-098C3E0B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8CE14F-F83A-0296-2670-6861F43BBB2C}"/>
              </a:ext>
            </a:extLst>
          </p:cNvPr>
          <p:cNvSpPr txBox="1"/>
          <p:nvPr/>
        </p:nvSpPr>
        <p:spPr>
          <a:xfrm>
            <a:off x="561975" y="1167608"/>
            <a:ext cx="1106805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이론과 작동방식을 이해하고 전체 공간정보를 지역별 특성정보화 하여 인식하는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구조와 용어를 배우고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실습하기 </a:t>
            </a:r>
          </a:p>
        </p:txBody>
      </p:sp>
    </p:spTree>
    <p:extLst>
      <p:ext uri="{BB962C8B-B14F-4D97-AF65-F5344CB8AC3E}">
        <p14:creationId xmlns:p14="http://schemas.microsoft.com/office/powerpoint/2010/main" val="3110233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845F1-226F-FB5D-F7AB-187866B13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A58939-71F2-632B-3A60-5043A8421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18FFB35-DAD1-1430-2A44-1ECF409EFCB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to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using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B6F933-3B51-A8B3-27C2-66F9D04BFF0D}"/>
              </a:ext>
            </a:extLst>
          </p:cNvPr>
          <p:cNvSpPr txBox="1"/>
          <p:nvPr/>
        </p:nvSpPr>
        <p:spPr>
          <a:xfrm>
            <a:off x="1141929" y="1331819"/>
            <a:ext cx="9372082" cy="485581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layers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</p:spTree>
    <p:extLst>
      <p:ext uri="{BB962C8B-B14F-4D97-AF65-F5344CB8AC3E}">
        <p14:creationId xmlns:p14="http://schemas.microsoft.com/office/powerpoint/2010/main" val="3202470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1BF64-20EA-4A74-140A-D4CCF105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F2FB977-47F8-2F23-7C73-452FF93990B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FE37AF-214D-F3C1-9D27-C9C7DDC10384}"/>
              </a:ext>
            </a:extLst>
          </p:cNvPr>
          <p:cNvSpPr txBox="1"/>
          <p:nvPr/>
        </p:nvSpPr>
        <p:spPr>
          <a:xfrm>
            <a:off x="542925" y="1437412"/>
            <a:ext cx="6657975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완전 연결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(Dense layer, FCNN)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특성 공간에서 전역적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patterns,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MNIST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숫자에서 모든 입력 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하나의 거대한 벡터로 펼친 후 가중치를 곱함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간의 위치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옆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파괴되는 치명적 약점이 있는 반면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patterns)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학습하여 오른쪽 이미지의 경우 입력의 작은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윈도우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× 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발견되는 패턴을 학습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 연결성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Connectivity),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특징 추출과 평행이동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등의 특장점</a:t>
            </a: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5C8E58AB-A239-FD11-9ECA-7112C829B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442" y="1639891"/>
            <a:ext cx="3133725" cy="40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FA20EB3-A9F6-F360-566F-8F1C4CB0A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56134-917C-B8D4-6915-64AF3D3E32C7}"/>
              </a:ext>
            </a:extLst>
          </p:cNvPr>
          <p:cNvSpPr txBox="1"/>
          <p:nvPr/>
        </p:nvSpPr>
        <p:spPr>
          <a:xfrm>
            <a:off x="7909442" y="5729686"/>
            <a:ext cx="3133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Images can be broken into local patterns such as edges, textures, and so on.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075926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61C22-5818-ADAC-F3DE-9146EEB14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CE2A32-7B7F-6829-928B-D4A27B5D6FF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075627-1C04-47F8-710F-A069DADD05D1}"/>
              </a:ext>
            </a:extLst>
          </p:cNvPr>
          <p:cNvSpPr txBox="1"/>
          <p:nvPr/>
        </p:nvSpPr>
        <p:spPr>
          <a:xfrm>
            <a:off x="590550" y="1276997"/>
            <a:ext cx="6610350" cy="5322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평행이동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오른쪽 아래 구석에서 특정 패턴을 학습한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왼쪽 위 구석 등 다른 어느 위치에서나 해당 패턴을 인식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평행이동 불변성을 띠므로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특성은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이미지를 처리할 때 높은 데이터 효율성으로 일반화 능력을 갖춘 표현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학습하는 데 더 적은 훈련 샘플만으로도 충분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패턴의 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hierarchies of patterns)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에지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(edge,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가장자리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같은 작은 국소적 패턴을 학습하고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첫 번째 레이어의 특성들을 조합한 더 큰 패턴을 학습하는 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공간적 계층 구조를 이루고 있기 때문에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구조 덕분에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점차 더 복잡하고 추상적인 시각적 개념을 효율적으로 학습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6AFEC83-9EA1-7ADA-248D-EE7E63BF63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900" y="1427808"/>
            <a:ext cx="4572257" cy="3784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AD50339-4A82-914A-6B27-583114696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5368E4-82D7-A167-76DE-20EDDAAA0ED8}"/>
              </a:ext>
            </a:extLst>
          </p:cNvPr>
          <p:cNvSpPr txBox="1"/>
          <p:nvPr/>
        </p:nvSpPr>
        <p:spPr>
          <a:xfrm>
            <a:off x="7200900" y="5241045"/>
            <a:ext cx="45722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visual world forms a spatial hierarchy of visual modules: elementary lines or textures combine into simple objects such as eyes or ears, which combine into high-level concepts such as “cat.”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0632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B186B-F827-F3DB-230C-93C802DBA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23F278-307E-021D-9CC8-E1EBF9B6D4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7C55BC0-C8F8-091A-EED4-0EFD0ABBE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975A4A56-0737-C4A6-3788-0C8774FDA0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9764" y="3410282"/>
            <a:ext cx="5557836" cy="2679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34C1AFA-7FD9-52BD-7479-186066C90B8C}"/>
              </a:ext>
            </a:extLst>
          </p:cNvPr>
          <p:cNvSpPr txBox="1"/>
          <p:nvPr/>
        </p:nvSpPr>
        <p:spPr>
          <a:xfrm>
            <a:off x="1909765" y="6163703"/>
            <a:ext cx="5557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concept of a response map: a 2D map of the presence of a pattern at different locations in an input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5A02C5-D229-DE69-13AA-2CAB50191EF1}"/>
              </a:ext>
            </a:extLst>
          </p:cNvPr>
          <p:cNvSpPr txBox="1"/>
          <p:nvPr/>
        </p:nvSpPr>
        <p:spPr>
          <a:xfrm>
            <a:off x="590550" y="1200061"/>
            <a:ext cx="11010900" cy="194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Convolutions are defined by two key parameters:</a:t>
            </a:r>
            <a:endParaRPr lang="en-US" altLang="ko-KR" sz="1600" b="1" i="1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Size of the patches extracted from the inputs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These are typically 3 × 3 or 5 × 5. In the example, they were 3 × 3, which is a common choice.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 of the output feature map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 number of filters computed by the convolution. The example started with a depth of 32 and ended with a depth of 64.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B68B17-902C-A105-1EFF-1D4B04D42788}"/>
              </a:ext>
            </a:extLst>
          </p:cNvPr>
          <p:cNvSpPr txBox="1"/>
          <p:nvPr/>
        </p:nvSpPr>
        <p:spPr>
          <a:xfrm>
            <a:off x="7743825" y="3429000"/>
            <a:ext cx="3795434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Conv2D layers, these parameters are the first arguments passed to the layer: Conv2D(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output_depth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window_height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window_width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)).</a:t>
            </a:r>
          </a:p>
        </p:txBody>
      </p:sp>
    </p:spTree>
    <p:extLst>
      <p:ext uri="{BB962C8B-B14F-4D97-AF65-F5344CB8AC3E}">
        <p14:creationId xmlns:p14="http://schemas.microsoft.com/office/powerpoint/2010/main" val="13667405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84F9D-2D17-A453-7A06-F920D80FE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9F8D5BA-1966-2A5F-6FE1-864C5D8CBB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C616CE2-5B8D-27B2-1CD2-D0CC9E5CC3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5355" y="2582480"/>
            <a:ext cx="7887072" cy="2721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A4AACD9-EB63-D967-37BD-2294989933BE}"/>
              </a:ext>
            </a:extLst>
          </p:cNvPr>
          <p:cNvSpPr txBox="1"/>
          <p:nvPr/>
        </p:nvSpPr>
        <p:spPr>
          <a:xfrm>
            <a:off x="3647440" y="1710744"/>
            <a:ext cx="48971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(convolution),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내적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(inner product)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" name="연결선: 구부러짐 6">
            <a:extLst>
              <a:ext uri="{FF2B5EF4-FFF2-40B4-BE49-F238E27FC236}">
                <a16:creationId xmlns:a16="http://schemas.microsoft.com/office/drawing/2014/main" id="{A17E19C1-8A3E-A36D-3761-F02B2C26E62C}"/>
              </a:ext>
            </a:extLst>
          </p:cNvPr>
          <p:cNvCxnSpPr>
            <a:cxnSpLocks/>
            <a:stCxn id="2" idx="2"/>
          </p:cNvCxnSpPr>
          <p:nvPr/>
        </p:nvCxnSpPr>
        <p:spPr>
          <a:xfrm rot="5400000">
            <a:off x="4646838" y="2330358"/>
            <a:ext cx="1699444" cy="119888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BA2F991-F2B1-ADB3-F1AA-C679F0621255}"/>
              </a:ext>
            </a:extLst>
          </p:cNvPr>
          <p:cNvSpPr txBox="1"/>
          <p:nvPr/>
        </p:nvSpPr>
        <p:spPr>
          <a:xfrm>
            <a:off x="201168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Original Image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0D4854-A00B-C5AF-3988-8EE4CCA93BD8}"/>
              </a:ext>
            </a:extLst>
          </p:cNvPr>
          <p:cNvSpPr txBox="1"/>
          <p:nvPr/>
        </p:nvSpPr>
        <p:spPr>
          <a:xfrm>
            <a:off x="532384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Filter(Kernel)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059546-FB4F-557A-2342-58F14BBE8A7E}"/>
              </a:ext>
            </a:extLst>
          </p:cNvPr>
          <p:cNvSpPr txBox="1"/>
          <p:nvPr/>
        </p:nvSpPr>
        <p:spPr>
          <a:xfrm>
            <a:off x="8117306" y="5500559"/>
            <a:ext cx="27121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 Map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(4, 4)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DBA6B6-8CDD-AFA6-29F7-E32041C8A2CE}"/>
              </a:ext>
            </a:extLst>
          </p:cNvPr>
          <p:cNvSpPr txBox="1"/>
          <p:nvPr/>
        </p:nvSpPr>
        <p:spPr>
          <a:xfrm>
            <a:off x="369030" y="3487132"/>
            <a:ext cx="19948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 =1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Zero Padding</a:t>
            </a:r>
            <a:endParaRPr lang="ko-KR" altLang="en-US" sz="1600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5BF1747-F60D-1317-AECB-1A3667A3D60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60483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2F03-2928-FE0E-83C4-D1E8ADEB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52B6D99-966B-4EFF-1D8A-F9B8A2D6C9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099510A-1E16-86BF-F01C-8EF2FCD68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376" y="2480571"/>
            <a:ext cx="4406613" cy="389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6233C-FA94-F1A4-ACF9-C44CF7AEEE39}"/>
              </a:ext>
            </a:extLst>
          </p:cNvPr>
          <p:cNvSpPr txBox="1"/>
          <p:nvPr/>
        </p:nvSpPr>
        <p:spPr>
          <a:xfrm>
            <a:off x="609600" y="1190625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복사 패딩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(Replication Padding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Border Padding)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합성곱하면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동일해지고 외곽의 정보를 보존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8DF26-3ECD-0880-B454-50F2DD311209}"/>
              </a:ext>
            </a:extLst>
          </p:cNvPr>
          <p:cNvSpPr txBox="1"/>
          <p:nvPr/>
        </p:nvSpPr>
        <p:spPr>
          <a:xfrm>
            <a:off x="3209925" y="2172794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wiki/Convolution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D274692-42CE-F3E7-4E99-25FA42B9C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2914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8588" y="2455855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3838575" y="2002698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DF1719D-1AE8-B069-81FE-77C356AC7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2736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BF3CE-30A0-D647-9841-1B9DC1366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E1C42C-1A62-B7D6-473F-8C9A3A2563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흰색 표면에 검은색 프레임 선글라스">
            <a:extLst>
              <a:ext uri="{FF2B5EF4-FFF2-40B4-BE49-F238E27FC236}">
                <a16:creationId xmlns:a16="http://schemas.microsoft.com/office/drawing/2014/main" id="{896C9D42-88AB-9C35-B5F3-72A1901E7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085" y="3427491"/>
            <a:ext cx="3347924" cy="297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white and brown corgi besides brown dog">
            <a:extLst>
              <a:ext uri="{FF2B5EF4-FFF2-40B4-BE49-F238E27FC236}">
                <a16:creationId xmlns:a16="http://schemas.microsoft.com/office/drawing/2014/main" id="{23E5F13F-E7A8-1625-54FF-E7CDB28CF8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4887" y="2537772"/>
            <a:ext cx="2558728" cy="3843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2E50A8A-545B-F64E-E605-199874C9A3AE}"/>
              </a:ext>
            </a:extLst>
          </p:cNvPr>
          <p:cNvSpPr txBox="1"/>
          <p:nvPr/>
        </p:nvSpPr>
        <p:spPr>
          <a:xfrm>
            <a:off x="6724084" y="2875596"/>
            <a:ext cx="30346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filters (feature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maps)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6E64E7-168E-370F-846B-B368105D6E30}"/>
              </a:ext>
            </a:extLst>
          </p:cNvPr>
          <p:cNvSpPr/>
          <p:nvPr/>
        </p:nvSpPr>
        <p:spPr>
          <a:xfrm>
            <a:off x="3771900" y="4152393"/>
            <a:ext cx="424065" cy="42438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9DF36B-416C-A98E-5D99-1AF6669583A1}"/>
              </a:ext>
            </a:extLst>
          </p:cNvPr>
          <p:cNvSpPr/>
          <p:nvPr/>
        </p:nvSpPr>
        <p:spPr>
          <a:xfrm>
            <a:off x="3419475" y="4676269"/>
            <a:ext cx="233967" cy="177468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A6A4D67-8E7B-2322-9411-710FD92D00BD}"/>
              </a:ext>
            </a:extLst>
          </p:cNvPr>
          <p:cNvSpPr/>
          <p:nvPr/>
        </p:nvSpPr>
        <p:spPr>
          <a:xfrm>
            <a:off x="2447925" y="5924043"/>
            <a:ext cx="307082" cy="30092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926843-D93C-7DE2-339A-7B0751D14529}"/>
              </a:ext>
            </a:extLst>
          </p:cNvPr>
          <p:cNvSpPr txBox="1"/>
          <p:nvPr/>
        </p:nvSpPr>
        <p:spPr>
          <a:xfrm>
            <a:off x="600074" y="1219039"/>
            <a:ext cx="11239501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우리 눈이 세상을 바라볼 때 사물이 어디에 있든 똑같이 알아보고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들을 모아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모아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형태를 인지하듯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원본 이미지에 굴려 가중치를 공유하는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깊게 쌓아 시야를 넓히는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인간의 시각 방식을 가장 효율적으로 컴퓨터에 구현해 낸 구조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9679FD-F81C-53B8-3E58-A36C1DBD6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98111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E00D87-D783-4B1B-7897-CA8D1DE62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8123" y="3196935"/>
            <a:ext cx="7446954" cy="25085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14AFF51-2576-0160-3E52-3258BD04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38432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A7E62-8613-6F84-51F4-0C6CFFE1C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CCC6F2-88B3-C1B8-240B-E36F1FB4A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469B3-E488-AC77-BF05-8E4CC33B70C1}"/>
              </a:ext>
            </a:extLst>
          </p:cNvPr>
          <p:cNvSpPr txBox="1"/>
          <p:nvPr/>
        </p:nvSpPr>
        <p:spPr>
          <a:xfrm>
            <a:off x="576262" y="1219847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As the visual signal makes its way through consecutive brain modules, neurons respond to more complex patterns in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larger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E261D0-BF79-73F4-C951-2791825B668E}"/>
              </a:ext>
            </a:extLst>
          </p:cNvPr>
          <p:cNvSpPr txBox="1"/>
          <p:nvPr/>
        </p:nvSpPr>
        <p:spPr>
          <a:xfrm>
            <a:off x="737152" y="2550921"/>
            <a:ext cx="10092255" cy="1940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수평선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수직선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(edge)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같은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by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층을 지난 심층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layer(larger receptive fields)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등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 by 100)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층을 지나면 얼굴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전체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시각적으로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생물학적 시각 피질과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공유하는 핵심 아이디어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1804E0-ABCA-7977-EA93-1C825802D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66930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42B2F-3A7D-C336-10DF-03D1EE019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60C541-0B15-651D-FD2C-859ABD5FA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Kernel, Filter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72874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779EE00-BDC6-D7DA-8D76-F340B6DA6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97" y="2800349"/>
            <a:ext cx="9373066" cy="3370315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333C5AC-4094-D0BC-287F-D08E6335F933}"/>
              </a:ext>
            </a:extLst>
          </p:cNvPr>
          <p:cNvSpPr/>
          <p:nvPr/>
        </p:nvSpPr>
        <p:spPr>
          <a:xfrm>
            <a:off x="1542896" y="3409949"/>
            <a:ext cx="3257703" cy="27607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6774BE-B39A-B194-516F-D1E49D574F90}"/>
              </a:ext>
            </a:extLst>
          </p:cNvPr>
          <p:cNvSpPr/>
          <p:nvPr/>
        </p:nvSpPr>
        <p:spPr>
          <a:xfrm>
            <a:off x="8429785" y="3409949"/>
            <a:ext cx="2486178" cy="2381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705635" y="4224338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98720" y="5223510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475645" y="1352666"/>
            <a:ext cx="10918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Matrix(3,3)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합성곱으로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출력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Feature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34DD47-FC01-672A-472A-2C32E27F4BAF}"/>
              </a:ext>
            </a:extLst>
          </p:cNvPr>
          <p:cNvSpPr txBox="1"/>
          <p:nvPr/>
        </p:nvSpPr>
        <p:spPr>
          <a:xfrm>
            <a:off x="475645" y="2310883"/>
            <a:ext cx="762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경우 학습하여야 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개수의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차이는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7FC48526-8C7C-4FAF-E13A-7F1BF1F0D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골프">
            <a:extLst>
              <a:ext uri="{FF2B5EF4-FFF2-40B4-BE49-F238E27FC236}">
                <a16:creationId xmlns:a16="http://schemas.microsoft.com/office/drawing/2014/main" id="{80705350-2F6A-EBA6-3E1F-5472D02351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E028AF8-E168-5810-CEAF-14FBF385D69E}"/>
              </a:ext>
            </a:extLst>
          </p:cNvPr>
          <p:cNvSpPr txBox="1"/>
          <p:nvPr/>
        </p:nvSpPr>
        <p:spPr>
          <a:xfrm>
            <a:off x="1537426" y="6206740"/>
            <a:ext cx="27527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8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120 (15행 8열)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7501F-C859-763B-C160-2AFD15FF487A}"/>
              </a:ext>
            </a:extLst>
          </p:cNvPr>
          <p:cNvSpPr txBox="1"/>
          <p:nvPr/>
        </p:nvSpPr>
        <p:spPr>
          <a:xfrm>
            <a:off x="8296511" y="6191119"/>
            <a:ext cx="27527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78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(1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열)</a:t>
            </a:r>
          </a:p>
        </p:txBody>
      </p:sp>
    </p:spTree>
    <p:extLst>
      <p:ext uri="{BB962C8B-B14F-4D97-AF65-F5344CB8AC3E}">
        <p14:creationId xmlns:p14="http://schemas.microsoft.com/office/powerpoint/2010/main" val="42581335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74348-38F8-FF39-D942-8ACC139F8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F6F800-52E7-F549-6B9E-46D3ED36FF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4F96551-9584-A655-BC70-CA878C19F636}"/>
              </a:ext>
            </a:extLst>
          </p:cNvPr>
          <p:cNvGraphicFramePr>
            <a:graphicFrameLocks noGrp="1"/>
          </p:cNvGraphicFramePr>
          <p:nvPr/>
        </p:nvGraphicFramePr>
        <p:xfrm>
          <a:off x="679452" y="3291415"/>
          <a:ext cx="2568573" cy="22086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94B09D8-86EE-09C6-55BB-3E9A5F3A29B7}"/>
              </a:ext>
            </a:extLst>
          </p:cNvPr>
          <p:cNvGraphicFramePr>
            <a:graphicFrameLocks noGrp="1"/>
          </p:cNvGraphicFramePr>
          <p:nvPr/>
        </p:nvGraphicFramePr>
        <p:xfrm>
          <a:off x="3400425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495E26-6B37-D65A-1AC8-61AD90A0E7A8}"/>
              </a:ext>
            </a:extLst>
          </p:cNvPr>
          <p:cNvGraphicFramePr>
            <a:graphicFrameLocks noGrp="1"/>
          </p:cNvGraphicFramePr>
          <p:nvPr/>
        </p:nvGraphicFramePr>
        <p:xfrm>
          <a:off x="787400" y="3449174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A2CA27B-83AE-1BF7-1BA9-B6BC343E042D}"/>
              </a:ext>
            </a:extLst>
          </p:cNvPr>
          <p:cNvGraphicFramePr>
            <a:graphicFrameLocks noGrp="1"/>
          </p:cNvGraphicFramePr>
          <p:nvPr/>
        </p:nvGraphicFramePr>
        <p:xfrm>
          <a:off x="4594680" y="3548590"/>
          <a:ext cx="1834695" cy="1577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C33B2412-2732-0B71-15EA-0175D83667C8}"/>
              </a:ext>
            </a:extLst>
          </p:cNvPr>
          <p:cNvGraphicFramePr>
            <a:graphicFrameLocks noGrp="1"/>
          </p:cNvGraphicFramePr>
          <p:nvPr/>
        </p:nvGraphicFramePr>
        <p:xfrm>
          <a:off x="6526443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A8F30394-4F4E-4641-8C5C-D64B2025F309}"/>
              </a:ext>
            </a:extLst>
          </p:cNvPr>
          <p:cNvGraphicFramePr>
            <a:graphicFrameLocks noGrp="1"/>
          </p:cNvGraphicFramePr>
          <p:nvPr/>
        </p:nvGraphicFramePr>
        <p:xfrm>
          <a:off x="4759777" y="3680623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BFC283B2-E230-22FB-5CD9-DEEEFD5B9E06}"/>
              </a:ext>
            </a:extLst>
          </p:cNvPr>
          <p:cNvGraphicFramePr>
            <a:graphicFrameLocks noGrp="1"/>
          </p:cNvGraphicFramePr>
          <p:nvPr/>
        </p:nvGraphicFramePr>
        <p:xfrm>
          <a:off x="7807325" y="3684917"/>
          <a:ext cx="1100817" cy="946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A65EF978-1D16-A614-B959-8EE9DA97F6BB}"/>
              </a:ext>
            </a:extLst>
          </p:cNvPr>
          <p:cNvGraphicFramePr>
            <a:graphicFrameLocks noGrp="1"/>
          </p:cNvGraphicFramePr>
          <p:nvPr/>
        </p:nvGraphicFramePr>
        <p:xfrm>
          <a:off x="9266470" y="5311422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ECD1938-1C18-D246-4196-BC8A82792E8E}"/>
              </a:ext>
            </a:extLst>
          </p:cNvPr>
          <p:cNvSpPr txBox="1"/>
          <p:nvPr/>
        </p:nvSpPr>
        <p:spPr>
          <a:xfrm>
            <a:off x="10367287" y="4093159"/>
            <a:ext cx="331335" cy="301657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latinLnBrk="1"/>
            <a:endParaRPr lang="ko-KR" altLang="en-US" sz="1800" dirty="0"/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A686CBA3-BF80-387F-7ACB-92A34D758E1D}"/>
              </a:ext>
            </a:extLst>
          </p:cNvPr>
          <p:cNvGraphicFramePr>
            <a:graphicFrameLocks noGrp="1"/>
          </p:cNvGraphicFramePr>
          <p:nvPr/>
        </p:nvGraphicFramePr>
        <p:xfrm>
          <a:off x="7957460" y="3896725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2E84C2D-B1A4-22F3-79F3-69BDC9319642}"/>
              </a:ext>
            </a:extLst>
          </p:cNvPr>
          <p:cNvCxnSpPr/>
          <p:nvPr/>
        </p:nvCxnSpPr>
        <p:spPr>
          <a:xfrm>
            <a:off x="3476625" y="4281258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57110AB-BFCC-4230-F035-09A8E996112F}"/>
              </a:ext>
            </a:extLst>
          </p:cNvPr>
          <p:cNvCxnSpPr/>
          <p:nvPr/>
        </p:nvCxnSpPr>
        <p:spPr>
          <a:xfrm>
            <a:off x="6526443" y="4266741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3CBEE8AF-7491-C03B-78F3-5005D6925507}"/>
              </a:ext>
            </a:extLst>
          </p:cNvPr>
          <p:cNvCxnSpPr/>
          <p:nvPr/>
        </p:nvCxnSpPr>
        <p:spPr>
          <a:xfrm>
            <a:off x="9205685" y="4247232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8262FDA-FBFA-A3FF-7D1E-DCFD3F91F20D}"/>
              </a:ext>
            </a:extLst>
          </p:cNvPr>
          <p:cNvSpPr txBox="1"/>
          <p:nvPr/>
        </p:nvSpPr>
        <p:spPr>
          <a:xfrm>
            <a:off x="3387162" y="5706513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A4EE81-4344-8A2B-055A-9BAE7D6BDE5B}"/>
              </a:ext>
            </a:extLst>
          </p:cNvPr>
          <p:cNvSpPr txBox="1"/>
          <p:nvPr/>
        </p:nvSpPr>
        <p:spPr>
          <a:xfrm>
            <a:off x="573312" y="1207603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fields(3,3)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과의 내적을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sliding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지나가게 되면 마지막 값은 원본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모두 한꺼번에 보는 것과 마찬가지 효과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779F6D-6AD2-A76C-B367-3A9AD4C491C3}"/>
              </a:ext>
            </a:extLst>
          </p:cNvPr>
          <p:cNvSpPr txBox="1"/>
          <p:nvPr/>
        </p:nvSpPr>
        <p:spPr>
          <a:xfrm>
            <a:off x="899196" y="2561671"/>
            <a:ext cx="178752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Input Feature (7,7)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08C553-8742-0213-A44F-B6FF2F744998}"/>
              </a:ext>
            </a:extLst>
          </p:cNvPr>
          <p:cNvSpPr txBox="1"/>
          <p:nvPr/>
        </p:nvSpPr>
        <p:spPr>
          <a:xfrm>
            <a:off x="4264020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923360-8488-9BC7-1AF4-B03CEFE650C1}"/>
              </a:ext>
            </a:extLst>
          </p:cNvPr>
          <p:cNvSpPr txBox="1"/>
          <p:nvPr/>
        </p:nvSpPr>
        <p:spPr>
          <a:xfrm>
            <a:off x="6972983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3A2C6C-64DD-88B7-9A09-C6876CB61A8A}"/>
              </a:ext>
            </a:extLst>
          </p:cNvPr>
          <p:cNvSpPr txBox="1"/>
          <p:nvPr/>
        </p:nvSpPr>
        <p:spPr>
          <a:xfrm>
            <a:off x="9236307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7DF50D-23E5-2C79-7573-E1FE2CD30E10}"/>
              </a:ext>
            </a:extLst>
          </p:cNvPr>
          <p:cNvSpPr txBox="1"/>
          <p:nvPr/>
        </p:nvSpPr>
        <p:spPr>
          <a:xfrm>
            <a:off x="6483802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409A7E-4C35-E371-19B2-DDB18E68B468}"/>
              </a:ext>
            </a:extLst>
          </p:cNvPr>
          <p:cNvSpPr txBox="1"/>
          <p:nvPr/>
        </p:nvSpPr>
        <p:spPr>
          <a:xfrm>
            <a:off x="9226777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E456E7A-8464-EE73-BC06-3DA13A08843E}"/>
              </a:ext>
            </a:extLst>
          </p:cNvPr>
          <p:cNvSpPr/>
          <p:nvPr/>
        </p:nvSpPr>
        <p:spPr>
          <a:xfrm>
            <a:off x="679452" y="3291415"/>
            <a:ext cx="1100817" cy="94655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73A78BCF-FF59-D18D-C9BB-F8614740368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5446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7FA94-6C7F-D510-A1A9-A89FFF48D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462FA5-0D6C-FAE8-379F-740A89DDC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91C053-4F67-FAF1-715A-C5FDF9CB5A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D1CD4E4-19FB-7978-8605-C09D081854F9}"/>
              </a:ext>
            </a:extLst>
          </p:cNvPr>
          <p:cNvGraphicFramePr>
            <a:graphicFrameLocks noGrp="1"/>
          </p:cNvGraphicFramePr>
          <p:nvPr/>
        </p:nvGraphicFramePr>
        <p:xfrm>
          <a:off x="694870" y="3002055"/>
          <a:ext cx="1771539" cy="1523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7FD8655-ADF8-7FB6-9C63-DA6648D069FB}"/>
              </a:ext>
            </a:extLst>
          </p:cNvPr>
          <p:cNvGraphicFramePr>
            <a:graphicFrameLocks noGrp="1"/>
          </p:cNvGraphicFramePr>
          <p:nvPr/>
        </p:nvGraphicFramePr>
        <p:xfrm>
          <a:off x="2895600" y="44831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F4E3143-D630-8320-3A0A-45C715138389}"/>
              </a:ext>
            </a:extLst>
          </p:cNvPr>
          <p:cNvGraphicFramePr>
            <a:graphicFrameLocks noGrp="1"/>
          </p:cNvGraphicFramePr>
          <p:nvPr/>
        </p:nvGraphicFramePr>
        <p:xfrm>
          <a:off x="3832681" y="31961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FEFA4E62-26BF-E5D3-7130-664C53DBEFBB}"/>
              </a:ext>
            </a:extLst>
          </p:cNvPr>
          <p:cNvGraphicFramePr>
            <a:graphicFrameLocks noGrp="1"/>
          </p:cNvGraphicFramePr>
          <p:nvPr/>
        </p:nvGraphicFramePr>
        <p:xfrm>
          <a:off x="6864350" y="33324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216080DD-C1A4-7995-0435-78D254C6768A}"/>
              </a:ext>
            </a:extLst>
          </p:cNvPr>
          <p:cNvSpPr txBox="1"/>
          <p:nvPr/>
        </p:nvSpPr>
        <p:spPr>
          <a:xfrm>
            <a:off x="9524770" y="3272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7BD1B70-CB47-25F5-8AD8-CF507A8A6DC4}"/>
              </a:ext>
            </a:extLst>
          </p:cNvPr>
          <p:cNvCxnSpPr>
            <a:cxnSpLocks/>
          </p:cNvCxnSpPr>
          <p:nvPr/>
        </p:nvCxnSpPr>
        <p:spPr>
          <a:xfrm>
            <a:off x="2905161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AE67917-8152-9EE9-C817-44D6219CB5F9}"/>
              </a:ext>
            </a:extLst>
          </p:cNvPr>
          <p:cNvCxnSpPr>
            <a:cxnSpLocks/>
          </p:cNvCxnSpPr>
          <p:nvPr/>
        </p:nvCxnSpPr>
        <p:spPr>
          <a:xfrm>
            <a:off x="5853130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8880E1DF-39B4-1088-E80C-972357683993}"/>
              </a:ext>
            </a:extLst>
          </p:cNvPr>
          <p:cNvCxnSpPr>
            <a:cxnSpLocks/>
          </p:cNvCxnSpPr>
          <p:nvPr/>
        </p:nvCxnSpPr>
        <p:spPr>
          <a:xfrm>
            <a:off x="8548460" y="3894807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BBD83B5-C4F9-50D9-05F3-B1C409CFFC24}"/>
              </a:ext>
            </a:extLst>
          </p:cNvPr>
          <p:cNvGraphicFramePr>
            <a:graphicFrameLocks noGrp="1"/>
          </p:cNvGraphicFramePr>
          <p:nvPr/>
        </p:nvGraphicFramePr>
        <p:xfrm>
          <a:off x="3048000" y="46355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331ACBD8-6B40-53FE-9A45-F25369CB0F3B}"/>
              </a:ext>
            </a:extLst>
          </p:cNvPr>
          <p:cNvGraphicFramePr>
            <a:graphicFrameLocks noGrp="1"/>
          </p:cNvGraphicFramePr>
          <p:nvPr/>
        </p:nvGraphicFramePr>
        <p:xfrm>
          <a:off x="3200400" y="47879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6C504C-124B-E8A6-E43B-A3596A17042C}"/>
              </a:ext>
            </a:extLst>
          </p:cNvPr>
          <p:cNvGraphicFramePr>
            <a:graphicFrameLocks noGrp="1"/>
          </p:cNvGraphicFramePr>
          <p:nvPr/>
        </p:nvGraphicFramePr>
        <p:xfrm>
          <a:off x="3985081" y="33485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DE5F452D-AB1A-2625-CFBC-26CD61CF2137}"/>
              </a:ext>
            </a:extLst>
          </p:cNvPr>
          <p:cNvGraphicFramePr>
            <a:graphicFrameLocks noGrp="1"/>
          </p:cNvGraphicFramePr>
          <p:nvPr/>
        </p:nvGraphicFramePr>
        <p:xfrm>
          <a:off x="4137481" y="35009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EB067750-EAD6-2846-4FE6-498A4466ED1B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44735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B0EDA5D7-4E0B-2C7F-228F-0B7D3E68AA6B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46259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B458B360-EC1F-AA5B-FD42-55D676BF6EC9}"/>
              </a:ext>
            </a:extLst>
          </p:cNvPr>
          <p:cNvGraphicFramePr>
            <a:graphicFrameLocks noGrp="1"/>
          </p:cNvGraphicFramePr>
          <p:nvPr/>
        </p:nvGraphicFramePr>
        <p:xfrm>
          <a:off x="6248400" y="47783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86B8A262-8453-3BAC-5EE2-08660BFAE74B}"/>
              </a:ext>
            </a:extLst>
          </p:cNvPr>
          <p:cNvGraphicFramePr>
            <a:graphicFrameLocks noGrp="1"/>
          </p:cNvGraphicFramePr>
          <p:nvPr/>
        </p:nvGraphicFramePr>
        <p:xfrm>
          <a:off x="6400800" y="49307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3" name="표 62">
            <a:extLst>
              <a:ext uri="{FF2B5EF4-FFF2-40B4-BE49-F238E27FC236}">
                <a16:creationId xmlns:a16="http://schemas.microsoft.com/office/drawing/2014/main" id="{92C3F91C-F43B-39EB-3523-1C716AF6C294}"/>
              </a:ext>
            </a:extLst>
          </p:cNvPr>
          <p:cNvGraphicFramePr>
            <a:graphicFrameLocks noGrp="1"/>
          </p:cNvGraphicFramePr>
          <p:nvPr/>
        </p:nvGraphicFramePr>
        <p:xfrm>
          <a:off x="6553200" y="50831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4" name="표 63">
            <a:extLst>
              <a:ext uri="{FF2B5EF4-FFF2-40B4-BE49-F238E27FC236}">
                <a16:creationId xmlns:a16="http://schemas.microsoft.com/office/drawing/2014/main" id="{DB8AC76A-BE2F-A398-E459-D741DD53E953}"/>
              </a:ext>
            </a:extLst>
          </p:cNvPr>
          <p:cNvGraphicFramePr>
            <a:graphicFrameLocks noGrp="1"/>
          </p:cNvGraphicFramePr>
          <p:nvPr/>
        </p:nvGraphicFramePr>
        <p:xfrm>
          <a:off x="7016750" y="34848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5" name="표 64">
            <a:extLst>
              <a:ext uri="{FF2B5EF4-FFF2-40B4-BE49-F238E27FC236}">
                <a16:creationId xmlns:a16="http://schemas.microsoft.com/office/drawing/2014/main" id="{6422B40D-47EE-2C2C-A2E8-317FF56B6AAB}"/>
              </a:ext>
            </a:extLst>
          </p:cNvPr>
          <p:cNvGraphicFramePr>
            <a:graphicFrameLocks noGrp="1"/>
          </p:cNvGraphicFramePr>
          <p:nvPr/>
        </p:nvGraphicFramePr>
        <p:xfrm>
          <a:off x="7169150" y="36372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6" name="표 65">
            <a:extLst>
              <a:ext uri="{FF2B5EF4-FFF2-40B4-BE49-F238E27FC236}">
                <a16:creationId xmlns:a16="http://schemas.microsoft.com/office/drawing/2014/main" id="{566D7A71-5ACB-F352-3716-5F793B100D09}"/>
              </a:ext>
            </a:extLst>
          </p:cNvPr>
          <p:cNvGraphicFramePr>
            <a:graphicFrameLocks noGrp="1"/>
          </p:cNvGraphicFramePr>
          <p:nvPr/>
        </p:nvGraphicFramePr>
        <p:xfrm>
          <a:off x="7321550" y="37896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7" name="표 66">
            <a:extLst>
              <a:ext uri="{FF2B5EF4-FFF2-40B4-BE49-F238E27FC236}">
                <a16:creationId xmlns:a16="http://schemas.microsoft.com/office/drawing/2014/main" id="{2DB52FF7-FD90-E9D5-0376-FC21948BE0A0}"/>
              </a:ext>
            </a:extLst>
          </p:cNvPr>
          <p:cNvGraphicFramePr>
            <a:graphicFrameLocks noGrp="1"/>
          </p:cNvGraphicFramePr>
          <p:nvPr/>
        </p:nvGraphicFramePr>
        <p:xfrm>
          <a:off x="7473950" y="39420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84B4E7FC-CA21-351E-C737-DE7DD9A1A467}"/>
              </a:ext>
            </a:extLst>
          </p:cNvPr>
          <p:cNvGraphicFramePr>
            <a:graphicFrameLocks noGrp="1"/>
          </p:cNvGraphicFramePr>
          <p:nvPr/>
        </p:nvGraphicFramePr>
        <p:xfrm>
          <a:off x="8817201" y="4483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DAC78E3F-586F-DC34-161F-62184D2445F1}"/>
              </a:ext>
            </a:extLst>
          </p:cNvPr>
          <p:cNvGraphicFramePr>
            <a:graphicFrameLocks noGrp="1"/>
          </p:cNvGraphicFramePr>
          <p:nvPr/>
        </p:nvGraphicFramePr>
        <p:xfrm>
          <a:off x="8969601" y="4635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2F720965-D780-AD1C-366A-4F16F5AC29C0}"/>
              </a:ext>
            </a:extLst>
          </p:cNvPr>
          <p:cNvGraphicFramePr>
            <a:graphicFrameLocks noGrp="1"/>
          </p:cNvGraphicFramePr>
          <p:nvPr/>
        </p:nvGraphicFramePr>
        <p:xfrm>
          <a:off x="9122001" y="4788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1" name="표 80">
            <a:extLst>
              <a:ext uri="{FF2B5EF4-FFF2-40B4-BE49-F238E27FC236}">
                <a16:creationId xmlns:a16="http://schemas.microsoft.com/office/drawing/2014/main" id="{C4D520FA-9D82-336E-CFEB-3F76E4018333}"/>
              </a:ext>
            </a:extLst>
          </p:cNvPr>
          <p:cNvGraphicFramePr>
            <a:graphicFrameLocks noGrp="1"/>
          </p:cNvGraphicFramePr>
          <p:nvPr/>
        </p:nvGraphicFramePr>
        <p:xfrm>
          <a:off x="9274401" y="4940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BF05CDF3-6D05-1B32-CB58-99A79F51B181}"/>
              </a:ext>
            </a:extLst>
          </p:cNvPr>
          <p:cNvGraphicFramePr>
            <a:graphicFrameLocks noGrp="1"/>
          </p:cNvGraphicFramePr>
          <p:nvPr/>
        </p:nvGraphicFramePr>
        <p:xfrm>
          <a:off x="9426801" y="5093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3" name="표 82">
            <a:extLst>
              <a:ext uri="{FF2B5EF4-FFF2-40B4-BE49-F238E27FC236}">
                <a16:creationId xmlns:a16="http://schemas.microsoft.com/office/drawing/2014/main" id="{B2760717-F3DC-3E66-8A40-12ABDA69CA1F}"/>
              </a:ext>
            </a:extLst>
          </p:cNvPr>
          <p:cNvGraphicFramePr>
            <a:graphicFrameLocks noGrp="1"/>
          </p:cNvGraphicFramePr>
          <p:nvPr/>
        </p:nvGraphicFramePr>
        <p:xfrm>
          <a:off x="9579201" y="5245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4" name="표 83">
            <a:extLst>
              <a:ext uri="{FF2B5EF4-FFF2-40B4-BE49-F238E27FC236}">
                <a16:creationId xmlns:a16="http://schemas.microsoft.com/office/drawing/2014/main" id="{B2E70851-8BF1-62BA-7F29-DDED3D1FAAEA}"/>
              </a:ext>
            </a:extLst>
          </p:cNvPr>
          <p:cNvGraphicFramePr>
            <a:graphicFrameLocks noGrp="1"/>
          </p:cNvGraphicFramePr>
          <p:nvPr/>
        </p:nvGraphicFramePr>
        <p:xfrm>
          <a:off x="9731601" y="5397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5" name="표 84">
            <a:extLst>
              <a:ext uri="{FF2B5EF4-FFF2-40B4-BE49-F238E27FC236}">
                <a16:creationId xmlns:a16="http://schemas.microsoft.com/office/drawing/2014/main" id="{C8B70655-9E9A-5475-4955-744CB7C2CBDE}"/>
              </a:ext>
            </a:extLst>
          </p:cNvPr>
          <p:cNvGraphicFramePr>
            <a:graphicFrameLocks noGrp="1"/>
          </p:cNvGraphicFramePr>
          <p:nvPr/>
        </p:nvGraphicFramePr>
        <p:xfrm>
          <a:off x="9884001" y="5550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6" name="표 85">
            <a:extLst>
              <a:ext uri="{FF2B5EF4-FFF2-40B4-BE49-F238E27FC236}">
                <a16:creationId xmlns:a16="http://schemas.microsoft.com/office/drawing/2014/main" id="{5D94BE7C-E617-BFD3-4F6E-3325143754E9}"/>
              </a:ext>
            </a:extLst>
          </p:cNvPr>
          <p:cNvGraphicFramePr>
            <a:graphicFrameLocks noGrp="1"/>
          </p:cNvGraphicFramePr>
          <p:nvPr/>
        </p:nvGraphicFramePr>
        <p:xfrm>
          <a:off x="10036401" y="5702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7F8F904A-FD4E-18A7-C1BD-2382D2EABFF9}"/>
              </a:ext>
            </a:extLst>
          </p:cNvPr>
          <p:cNvGraphicFramePr>
            <a:graphicFrameLocks noGrp="1"/>
          </p:cNvGraphicFramePr>
          <p:nvPr/>
        </p:nvGraphicFramePr>
        <p:xfrm>
          <a:off x="10188801" y="5855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97" name="TextBox 96">
            <a:extLst>
              <a:ext uri="{FF2B5EF4-FFF2-40B4-BE49-F238E27FC236}">
                <a16:creationId xmlns:a16="http://schemas.microsoft.com/office/drawing/2014/main" id="{B8578E93-60F2-C2B7-8652-9CFD62B606ED}"/>
              </a:ext>
            </a:extLst>
          </p:cNvPr>
          <p:cNvSpPr txBox="1"/>
          <p:nvPr/>
        </p:nvSpPr>
        <p:spPr>
          <a:xfrm>
            <a:off x="9677170" y="3424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F4E400C-5F32-1185-6B2B-D42D4DD76343}"/>
              </a:ext>
            </a:extLst>
          </p:cNvPr>
          <p:cNvSpPr txBox="1"/>
          <p:nvPr/>
        </p:nvSpPr>
        <p:spPr>
          <a:xfrm>
            <a:off x="9829570" y="3577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11A8668-1BEA-9B3D-AFB0-AAA0EDFF0AC4}"/>
              </a:ext>
            </a:extLst>
          </p:cNvPr>
          <p:cNvSpPr txBox="1"/>
          <p:nvPr/>
        </p:nvSpPr>
        <p:spPr>
          <a:xfrm>
            <a:off x="9981970" y="3729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3A9316C-2D3C-4345-3431-71F0A61CF4C7}"/>
              </a:ext>
            </a:extLst>
          </p:cNvPr>
          <p:cNvSpPr txBox="1"/>
          <p:nvPr/>
        </p:nvSpPr>
        <p:spPr>
          <a:xfrm>
            <a:off x="10134370" y="3882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8C991B3-A9C0-115D-4F93-16E75282265A}"/>
              </a:ext>
            </a:extLst>
          </p:cNvPr>
          <p:cNvSpPr txBox="1"/>
          <p:nvPr/>
        </p:nvSpPr>
        <p:spPr>
          <a:xfrm>
            <a:off x="10286770" y="4034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990EB7D-7A31-2FF4-6E60-9D5741B573F2}"/>
              </a:ext>
            </a:extLst>
          </p:cNvPr>
          <p:cNvSpPr txBox="1"/>
          <p:nvPr/>
        </p:nvSpPr>
        <p:spPr>
          <a:xfrm>
            <a:off x="10439170" y="4186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6105187-F451-D92D-3C22-901EAA98987C}"/>
              </a:ext>
            </a:extLst>
          </p:cNvPr>
          <p:cNvSpPr txBox="1"/>
          <p:nvPr/>
        </p:nvSpPr>
        <p:spPr>
          <a:xfrm>
            <a:off x="10591570" y="4339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524FA1F-BC3F-08A1-24C0-08D4EE078385}"/>
              </a:ext>
            </a:extLst>
          </p:cNvPr>
          <p:cNvSpPr txBox="1"/>
          <p:nvPr/>
        </p:nvSpPr>
        <p:spPr>
          <a:xfrm>
            <a:off x="10743970" y="4491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82A98C9-7275-540B-0AD0-8F2CC945DA1F}"/>
              </a:ext>
            </a:extLst>
          </p:cNvPr>
          <p:cNvSpPr txBox="1"/>
          <p:nvPr/>
        </p:nvSpPr>
        <p:spPr>
          <a:xfrm>
            <a:off x="10896370" y="4644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E30BBB4-7D57-00FC-AFCC-AA352B57CA9B}"/>
              </a:ext>
            </a:extLst>
          </p:cNvPr>
          <p:cNvSpPr txBox="1"/>
          <p:nvPr/>
        </p:nvSpPr>
        <p:spPr>
          <a:xfrm>
            <a:off x="1261465" y="2604873"/>
            <a:ext cx="6383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(7,7)</a:t>
            </a:r>
            <a:endParaRPr lang="ko-KR" altLang="en-US" sz="16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C957AAB-4932-F972-B5C5-56BD26CC8E9E}"/>
              </a:ext>
            </a:extLst>
          </p:cNvPr>
          <p:cNvSpPr txBox="1"/>
          <p:nvPr/>
        </p:nvSpPr>
        <p:spPr>
          <a:xfrm>
            <a:off x="2826397" y="5550316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(4,3,3)</a:t>
            </a:r>
            <a:endParaRPr lang="ko-KR" altLang="en-US" sz="16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7A9FC23-A2B1-A896-22E8-C255B44CC290}"/>
              </a:ext>
            </a:extLst>
          </p:cNvPr>
          <p:cNvSpPr txBox="1"/>
          <p:nvPr/>
        </p:nvSpPr>
        <p:spPr>
          <a:xfrm>
            <a:off x="4002173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(4,5,5)</a:t>
            </a:r>
            <a:endParaRPr lang="ko-KR" altLang="en-US" sz="16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95B3E8D-30B1-6D81-17DE-C34E3767D528}"/>
              </a:ext>
            </a:extLst>
          </p:cNvPr>
          <p:cNvSpPr txBox="1"/>
          <p:nvPr/>
        </p:nvSpPr>
        <p:spPr>
          <a:xfrm>
            <a:off x="608341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graphicFrame>
        <p:nvGraphicFramePr>
          <p:cNvPr id="111" name="표 110">
            <a:extLst>
              <a:ext uri="{FF2B5EF4-FFF2-40B4-BE49-F238E27FC236}">
                <a16:creationId xmlns:a16="http://schemas.microsoft.com/office/drawing/2014/main" id="{DFF53EC4-1101-FA81-8DA7-79AB9464CC66}"/>
              </a:ext>
            </a:extLst>
          </p:cNvPr>
          <p:cNvGraphicFramePr>
            <a:graphicFrameLocks noGrp="1"/>
          </p:cNvGraphicFramePr>
          <p:nvPr/>
        </p:nvGraphicFramePr>
        <p:xfrm>
          <a:off x="3352800" y="49403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12" name="표 111">
            <a:extLst>
              <a:ext uri="{FF2B5EF4-FFF2-40B4-BE49-F238E27FC236}">
                <a16:creationId xmlns:a16="http://schemas.microsoft.com/office/drawing/2014/main" id="{919C39AA-4CFE-0FA8-555E-6732811A4B88}"/>
              </a:ext>
            </a:extLst>
          </p:cNvPr>
          <p:cNvGraphicFramePr>
            <a:graphicFrameLocks noGrp="1"/>
          </p:cNvGraphicFramePr>
          <p:nvPr/>
        </p:nvGraphicFramePr>
        <p:xfrm>
          <a:off x="4289881" y="36533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sp>
        <p:nvSpPr>
          <p:cNvPr id="113" name="TextBox 112">
            <a:extLst>
              <a:ext uri="{FF2B5EF4-FFF2-40B4-BE49-F238E27FC236}">
                <a16:creationId xmlns:a16="http://schemas.microsoft.com/office/drawing/2014/main" id="{DCE0A423-5057-3434-4AFA-C52A0FE2A0EB}"/>
              </a:ext>
            </a:extLst>
          </p:cNvPr>
          <p:cNvSpPr txBox="1"/>
          <p:nvPr/>
        </p:nvSpPr>
        <p:spPr>
          <a:xfrm>
            <a:off x="6818408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0584E78-4823-23DE-18F0-8829A2504A27}"/>
              </a:ext>
            </a:extLst>
          </p:cNvPr>
          <p:cNvSpPr txBox="1"/>
          <p:nvPr/>
        </p:nvSpPr>
        <p:spPr>
          <a:xfrm>
            <a:off x="829509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(10,3,3)</a:t>
            </a:r>
            <a:endParaRPr lang="ko-KR" altLang="en-US" sz="16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9AD84D1-7C75-1496-6032-4D3378FB9F5E}"/>
              </a:ext>
            </a:extLst>
          </p:cNvPr>
          <p:cNvSpPr txBox="1"/>
          <p:nvPr/>
        </p:nvSpPr>
        <p:spPr>
          <a:xfrm>
            <a:off x="9483534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(10,1,1)</a:t>
            </a:r>
            <a:endParaRPr lang="ko-KR" altLang="en-US" sz="16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1A845E-BA4C-D276-1343-E31AD3745B13}"/>
              </a:ext>
            </a:extLst>
          </p:cNvPr>
          <p:cNvSpPr txBox="1"/>
          <p:nvPr/>
        </p:nvSpPr>
        <p:spPr>
          <a:xfrm>
            <a:off x="539172" y="1192388"/>
            <a:ext cx="11266263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거치면서 이미지의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점점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(7-5-3-1)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features(1-4-5-10)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점점 많아지게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경우는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또한 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FEE2CE4-324A-3956-299B-575796034522}"/>
              </a:ext>
            </a:extLst>
          </p:cNvPr>
          <p:cNvSpPr txBox="1"/>
          <p:nvPr/>
        </p:nvSpPr>
        <p:spPr>
          <a:xfrm>
            <a:off x="11444425" y="4446897"/>
            <a:ext cx="246377" cy="17909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B071D4E8-3723-4176-F380-FFCA89BB82E4}"/>
              </a:ext>
            </a:extLst>
          </p:cNvPr>
          <p:cNvCxnSpPr>
            <a:cxnSpLocks/>
          </p:cNvCxnSpPr>
          <p:nvPr/>
        </p:nvCxnSpPr>
        <p:spPr>
          <a:xfrm>
            <a:off x="10754308" y="388212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3" name="그래픽 122" descr="물음표">
            <a:extLst>
              <a:ext uri="{FF2B5EF4-FFF2-40B4-BE49-F238E27FC236}">
                <a16:creationId xmlns:a16="http://schemas.microsoft.com/office/drawing/2014/main" id="{F3B42F70-48C4-004E-1535-C14E19B47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57652" y="3632057"/>
            <a:ext cx="478910" cy="47891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098DE638-D419-C336-3447-6321237955F4}"/>
              </a:ext>
            </a:extLst>
          </p:cNvPr>
          <p:cNvSpPr txBox="1"/>
          <p:nvPr/>
        </p:nvSpPr>
        <p:spPr>
          <a:xfrm>
            <a:off x="11159828" y="4928840"/>
            <a:ext cx="8155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(1,1,1)</a:t>
            </a:r>
            <a:endParaRPr lang="ko-KR" altLang="en-US" sz="1600" dirty="0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6C101D0-A8CD-F4DC-46EC-984727A6E18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075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195C9-CBD6-04D8-FBF3-C2DA3C10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A38AE24-0C70-B4AA-1215-8F33EBCAFC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bias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041D4-64F8-978A-EE22-5E9930A7A837}"/>
              </a:ext>
            </a:extLst>
          </p:cNvPr>
          <p:cNvSpPr txBox="1"/>
          <p:nvPr/>
        </p:nvSpPr>
        <p:spPr>
          <a:xfrm>
            <a:off x="559261" y="1584070"/>
            <a:ext cx="6260639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입력 채널별로 서로 다른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필터를 사용하여 각각 연산한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결과들을 모두 더해서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하나의 특성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필터가 가로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평면 격자가 아니라 하지만 실제는 입력 데이터의 채널 수와 똑같은 두께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(Depth)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블록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(tensor (3,3,3))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입체블록 필터당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장이 나오고 여기에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생성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F8F1156-1F00-1107-B89D-64F92419D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5AF6C3-4719-C491-25E7-A315FAF1BC48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04B1C2-BFE8-1DE2-C675-A40349A4CAD3}"/>
              </a:ext>
            </a:extLst>
          </p:cNvPr>
          <p:cNvSpPr txBox="1"/>
          <p:nvPr/>
        </p:nvSpPr>
        <p:spPr>
          <a:xfrm>
            <a:off x="7460517" y="5726516"/>
            <a:ext cx="399358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FF9615D-33D2-191A-93A4-A89840D6F5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17269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4A022-7380-9D38-024A-1727E6B54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56E04A-9293-D134-90F2-4FED36389C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 err="1">
                <a:solidFill>
                  <a:schemeClr val="bg1"/>
                </a:solidFill>
              </a:rPr>
              <a:t>Poolings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38845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1A72-914C-D9A7-9C3C-43C78CF7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2313B9-0D41-55BB-F412-8D624774E3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2CA83C4-5821-CABF-224D-F3FAC3A8F8A8}"/>
              </a:ext>
            </a:extLst>
          </p:cNvPr>
          <p:cNvCxnSpPr>
            <a:cxnSpLocks/>
          </p:cNvCxnSpPr>
          <p:nvPr/>
        </p:nvCxnSpPr>
        <p:spPr>
          <a:xfrm>
            <a:off x="1331595" y="3737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/>
              <p:nvPr/>
            </p:nvSpPr>
            <p:spPr>
              <a:xfrm>
                <a:off x="2154555" y="2564130"/>
                <a:ext cx="2164080" cy="2346960"/>
              </a:xfrm>
              <a:prstGeom prst="roundRect">
                <a:avLst/>
              </a:prstGeom>
              <a:solidFill>
                <a:schemeClr val="accent6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555" y="256413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/>
              <p:nvPr/>
            </p:nvSpPr>
            <p:spPr>
              <a:xfrm>
                <a:off x="5674995" y="330806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4995" y="330806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/>
              <p:nvPr/>
            </p:nvSpPr>
            <p:spPr>
              <a:xfrm>
                <a:off x="365760" y="330806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330806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/>
              <p:nvPr/>
            </p:nvSpPr>
            <p:spPr>
              <a:xfrm>
                <a:off x="1925955" y="4973336"/>
                <a:ext cx="26212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4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4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955" y="4973336"/>
                <a:ext cx="2621280" cy="461665"/>
              </a:xfrm>
              <a:prstGeom prst="rect">
                <a:avLst/>
              </a:prstGeom>
              <a:blipFill>
                <a:blip r:embed="rId5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8514DCB2-562C-5519-EC21-4EA56B154772}"/>
              </a:ext>
            </a:extLst>
          </p:cNvPr>
          <p:cNvCxnSpPr>
            <a:cxnSpLocks/>
          </p:cNvCxnSpPr>
          <p:nvPr/>
        </p:nvCxnSpPr>
        <p:spPr>
          <a:xfrm>
            <a:off x="6513195" y="3737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/>
              <p:nvPr/>
            </p:nvSpPr>
            <p:spPr>
              <a:xfrm>
                <a:off x="7431405" y="2564130"/>
                <a:ext cx="2164080" cy="2346960"/>
              </a:xfrm>
              <a:prstGeom prst="roundRect">
                <a:avLst/>
              </a:prstGeom>
              <a:solidFill>
                <a:srgbClr val="FF0000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2564130"/>
                <a:ext cx="2164080" cy="2346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/>
              <p:nvPr/>
            </p:nvSpPr>
            <p:spPr>
              <a:xfrm>
                <a:off x="10890783" y="3308062"/>
                <a:ext cx="5905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0783" y="3308062"/>
                <a:ext cx="59055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/>
              <p:nvPr/>
            </p:nvSpPr>
            <p:spPr>
              <a:xfrm>
                <a:off x="7345680" y="5034127"/>
                <a:ext cx="26212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ko-KR" altLang="en-US" sz="24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5680" y="5034127"/>
                <a:ext cx="2621280" cy="461665"/>
              </a:xfrm>
              <a:prstGeom prst="rect">
                <a:avLst/>
              </a:prstGeom>
              <a:blipFill>
                <a:blip r:embed="rId8"/>
                <a:stretch>
                  <a:fillRect b="-118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9EC7111D-2278-4B61-EA04-0F4F00C4E125}"/>
              </a:ext>
            </a:extLst>
          </p:cNvPr>
          <p:cNvSpPr txBox="1"/>
          <p:nvPr/>
        </p:nvSpPr>
        <p:spPr>
          <a:xfrm>
            <a:off x="2154555" y="1991018"/>
            <a:ext cx="2164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 layer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D1889F-F316-68FF-CC4A-A3CEC99057C2}"/>
              </a:ext>
            </a:extLst>
          </p:cNvPr>
          <p:cNvSpPr txBox="1"/>
          <p:nvPr/>
        </p:nvSpPr>
        <p:spPr>
          <a:xfrm>
            <a:off x="7431406" y="1979428"/>
            <a:ext cx="2164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Pooling layer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F23F9F-5208-9860-3E37-65466BC2731A}"/>
              </a:ext>
            </a:extLst>
          </p:cNvPr>
          <p:cNvSpPr txBox="1"/>
          <p:nvPr/>
        </p:nvSpPr>
        <p:spPr>
          <a:xfrm>
            <a:off x="1647825" y="5666929"/>
            <a:ext cx="40271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Convolution/Activation Function</a:t>
            </a:r>
            <a:endParaRPr lang="ko-KR" altLang="en-US" dirty="0"/>
          </a:p>
        </p:txBody>
      </p:sp>
      <p:sp>
        <p:nvSpPr>
          <p:cNvPr id="19" name="슬라이드 번호 개체 틀 3">
            <a:extLst>
              <a:ext uri="{FF2B5EF4-FFF2-40B4-BE49-F238E27FC236}">
                <a16:creationId xmlns:a16="http://schemas.microsoft.com/office/drawing/2014/main" id="{C3219238-B868-BD74-11C6-1D223F59136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84739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E2D2A-D3C5-D4E6-EC2A-B2331510D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111679-65E1-9DD1-67EF-243877EC07C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1F19A84-3AC7-D217-7F35-8925ECDB14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559" y="2618414"/>
            <a:ext cx="1768149" cy="187065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3A5560A-E9C2-3D9F-70CA-16D62C7F3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4335" y="1506549"/>
            <a:ext cx="1165954" cy="116595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37744AF-651B-228B-2F6E-A7F7B5313B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0490" y="3266510"/>
            <a:ext cx="1441426" cy="119798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2839592-CA62-1071-CA61-EF1C561FC2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8909" y="5070656"/>
            <a:ext cx="1153141" cy="1197985"/>
          </a:xfrm>
          <a:prstGeom prst="rect">
            <a:avLst/>
          </a:prstGeom>
        </p:spPr>
      </p:pic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F3E082A0-3425-7775-5A31-F90D12E2ED17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 flipV="1">
            <a:off x="2255708" y="2089526"/>
            <a:ext cx="1478627" cy="14642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4D72F8BB-535F-72AB-1E73-1CD0F9A34831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2255708" y="3553740"/>
            <a:ext cx="1563201" cy="21159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6E4C3CFD-71E6-F064-7C95-B5F14A6F5683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2255708" y="3553740"/>
            <a:ext cx="1314782" cy="3117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0CD5778-AF63-C8F0-19D2-1E69E39BDBAA}"/>
              </a:ext>
            </a:extLst>
          </p:cNvPr>
          <p:cNvSpPr txBox="1"/>
          <p:nvPr/>
        </p:nvSpPr>
        <p:spPr>
          <a:xfrm>
            <a:off x="5352802" y="1325573"/>
            <a:ext cx="6351639" cy="5091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감소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방지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공간적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1/4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대폭 줄어들어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연산속도가 높아지고 모델이 픽셀 하나하나에 과도하게 맞추어 학습하는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방지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확대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줌 아웃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Zoom-out)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효과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풀링으로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반으로 축소한 뒤 다시 필터를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같은 크기의 필터라도 원본 이미지 기준으로는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배 이상 넓은 영역을 한눈에 보게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미세한 위치 변화에 대한 견고함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불변성 보완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 속 피사체가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1~2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 정도 살짝 이동하거나 비틀려도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구역 내의 최댓값은 거의 변하지 않으므로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특징이 정확히 몇 번째 픽셀에 있는가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보다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 구역 부근에 원하는 특징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존재하는가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감지</a:t>
            </a: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696C76B9-ECE3-3208-E919-88E22220AC4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97129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E9B68-47EE-F342-FBFC-C0A47E6E2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C80C9A-29D4-D8CD-7C08-0CE1DE127D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MaxPooling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Layer &amp; Receptive Field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46BB49A5-BC4E-4C19-D155-97F0CCF7CB75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97D345-8BC6-75F3-2FE2-0082BB9F9AA6}"/>
              </a:ext>
            </a:extLst>
          </p:cNvPr>
          <p:cNvSpPr txBox="1"/>
          <p:nvPr/>
        </p:nvSpPr>
        <p:spPr>
          <a:xfrm>
            <a:off x="623325" y="4676547"/>
            <a:ext cx="6606149" cy="160043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model_no_max_pool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39BCE-B37D-4FA1-63E7-8ED32B2AAE0C}"/>
              </a:ext>
            </a:extLst>
          </p:cNvPr>
          <p:cNvSpPr txBox="1"/>
          <p:nvPr/>
        </p:nvSpPr>
        <p:spPr>
          <a:xfrm>
            <a:off x="623325" y="1828107"/>
            <a:ext cx="6606149" cy="203132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E81F57-3E35-4F6D-6E6B-5B8F9C3875AF}"/>
              </a:ext>
            </a:extLst>
          </p:cNvPr>
          <p:cNvSpPr txBox="1"/>
          <p:nvPr/>
        </p:nvSpPr>
        <p:spPr>
          <a:xfrm>
            <a:off x="623325" y="1487350"/>
            <a:ext cx="27961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B2A08-A1A9-ED96-6878-B118EF577741}"/>
              </a:ext>
            </a:extLst>
          </p:cNvPr>
          <p:cNvSpPr txBox="1"/>
          <p:nvPr/>
        </p:nvSpPr>
        <p:spPr>
          <a:xfrm>
            <a:off x="623325" y="4348332"/>
            <a:ext cx="27961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model_no_max_pool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DFEE326-BB03-425B-4019-131FDCA183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4167077"/>
              </p:ext>
            </p:extLst>
          </p:nvPr>
        </p:nvGraphicFramePr>
        <p:xfrm>
          <a:off x="7478200" y="1825904"/>
          <a:ext cx="4399475" cy="3978276"/>
        </p:xfrm>
        <a:graphic>
          <a:graphicData uri="http://schemas.openxmlformats.org/drawingml/2006/table">
            <a:tbl>
              <a:tblPr/>
              <a:tblGrid>
                <a:gridCol w="818075">
                  <a:extLst>
                    <a:ext uri="{9D8B030D-6E8A-4147-A177-3AD203B41FA5}">
                      <a16:colId xmlns:a16="http://schemas.microsoft.com/office/drawing/2014/main" val="3483686098"/>
                    </a:ext>
                  </a:extLst>
                </a:gridCol>
                <a:gridCol w="1695450">
                  <a:extLst>
                    <a:ext uri="{9D8B030D-6E8A-4147-A177-3AD203B41FA5}">
                      <a16:colId xmlns:a16="http://schemas.microsoft.com/office/drawing/2014/main" val="1922946208"/>
                    </a:ext>
                  </a:extLst>
                </a:gridCol>
                <a:gridCol w="1885950">
                  <a:extLst>
                    <a:ext uri="{9D8B030D-6E8A-4147-A177-3AD203B41FA5}">
                      <a16:colId xmlns:a16="http://schemas.microsoft.com/office/drawing/2014/main" val="2693564908"/>
                    </a:ext>
                  </a:extLst>
                </a:gridCol>
              </a:tblGrid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model_no_max_pool</a:t>
                      </a:r>
                      <a:endParaRPr lang="en-US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맥스 </a:t>
                      </a: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없음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model </a:t>
                      </a:r>
                    </a:p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맥스 </a:t>
                      </a: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있음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222581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특성 맵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크기 변화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(28,28)→(26,26)→(24,24)→(22,22)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(28,28)→(26,26)→(13,13)→(11,11)→(5,5)→(3,3)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5520160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Params)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동일함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(372,234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동일함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(372,234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1717367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연산량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및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메모리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속도가 느리고 메모리 소모 큼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효율적임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속도가 빠르고 메모리 절약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9686081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수용장</a:t>
                      </a:r>
                      <a:endParaRPr lang="en-US" altLang="ko-KR" sz="12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Receptive </a:t>
                      </a:r>
                    </a:p>
                    <a:p>
                      <a:pPr rtl="0" fontAlgn="b">
                        <a:buNone/>
                      </a:pPr>
                      <a:r>
                        <a:rPr 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Field)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좁음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원본의 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7×7 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영역만 바라봄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넓음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원본의 거의 전체 영역을 바라봄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321189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불변성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낮음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높음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사물이 약간 이동해도 안정적으로 인식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8669822"/>
                  </a:ext>
                </a:extLst>
              </a:tr>
            </a:tbl>
          </a:graphicData>
        </a:graphic>
      </p:graphicFrame>
      <p:sp>
        <p:nvSpPr>
          <p:cNvPr id="19" name="직사각형 18">
            <a:extLst>
              <a:ext uri="{FF2B5EF4-FFF2-40B4-BE49-F238E27FC236}">
                <a16:creationId xmlns:a16="http://schemas.microsoft.com/office/drawing/2014/main" id="{34C2B43D-AAF8-8983-87B8-AD31D664D723}"/>
              </a:ext>
            </a:extLst>
          </p:cNvPr>
          <p:cNvSpPr/>
          <p:nvPr/>
        </p:nvSpPr>
        <p:spPr>
          <a:xfrm>
            <a:off x="7305675" y="4438650"/>
            <a:ext cx="4714875" cy="7664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래픽 21" descr="물음표">
            <a:extLst>
              <a:ext uri="{FF2B5EF4-FFF2-40B4-BE49-F238E27FC236}">
                <a16:creationId xmlns:a16="http://schemas.microsoft.com/office/drawing/2014/main" id="{23EAA214-0B9B-753A-2B8C-680B051082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9425" y="3910265"/>
            <a:ext cx="715449" cy="715449"/>
          </a:xfrm>
          <a:prstGeom prst="rect">
            <a:avLst/>
          </a:prstGeom>
        </p:spPr>
      </p:pic>
      <p:pic>
        <p:nvPicPr>
          <p:cNvPr id="23" name="그래픽 22" descr="골프">
            <a:extLst>
              <a:ext uri="{FF2B5EF4-FFF2-40B4-BE49-F238E27FC236}">
                <a16:creationId xmlns:a16="http://schemas.microsoft.com/office/drawing/2014/main" id="{2D91C9E4-DD32-1318-6ADF-40C4C13D6E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7850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8ADD2-CC53-8337-6FB7-6EBAEEF6F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B6AF2-D040-DB0C-EAF2-98771BDDEA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MaxPooling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519D90AE-53BD-C5D2-C397-7C2CCB13F3B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26E39D-D189-E3CB-292C-32D80746A23F}"/>
              </a:ext>
            </a:extLst>
          </p:cNvPr>
          <p:cNvSpPr txBox="1"/>
          <p:nvPr/>
        </p:nvSpPr>
        <p:spPr>
          <a:xfrm>
            <a:off x="561974" y="1277273"/>
            <a:ext cx="11239501" cy="4722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다운 샘플링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이 없을 때 발생하는 2가지 문제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좁은 시야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한계): 3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3번 쌓으면, 3번째 레이어는 원본 이미지에서 7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7 픽셀 영역만 보고 판단하기 때문에 28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28 크기 숫자 이미지 전체 형태(숫자 0, 8 등의 전체 구도)를 알아채지 못함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정보 손실 (과도한 맵 크기): 최종 22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22의 큰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유지한 채 최종 분류기로 넘기기 위해 평균(Global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)을 내면, 수많은 공간 정보가 한 번에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뭉개지면서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심각한 정보 파괴가 발생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lnSpc>
                <a:spcPct val="150000"/>
              </a:lnSpc>
            </a:pP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다운샘플링의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본질적 역할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정보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 정보 변환: 공간 크기(가로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세로)를 줄이는 대신 채널 수를 늘려, "어느 위치에 있는가"에서 "어떤 형상/의미가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존재하는가"로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정보를 집중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시야 확장: 지도 해상도를 줄여 한눈에 전체를 내려다보듯, 후반부 레이어가 이미지 전체 구도를 파악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맥스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Max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)이 가장 뛰어난 이유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)과의 비교: 시각 특징은 특정 패턴이 "거기에 강력하게 존재하는가(최댓값)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"가 중요하며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평균을 내버리면 모서리나 눈, 코 같은 특징 신호가 어두운 배경(0에 가까운 값)과 섞여 희석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)과의 비교: 처음부터 성큼성큼 건너뛰며 이미지 특징을 뽑으면 중요한 미세 특징을 빼먹을 수 있으며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없는 1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 이동으로 빽빽하게 특징을 찾은 뒤, 맥스 풀링으로 정수만 뽑아내는 것이 효과적</a:t>
            </a:r>
          </a:p>
        </p:txBody>
      </p:sp>
    </p:spTree>
    <p:extLst>
      <p:ext uri="{BB962C8B-B14F-4D97-AF65-F5344CB8AC3E}">
        <p14:creationId xmlns:p14="http://schemas.microsoft.com/office/powerpoint/2010/main" val="33070497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4EA85-557B-2909-DB66-4055451DF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17419E-04B5-153B-9DB8-F3120B3EE9B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653024-713F-9DE4-50B8-126CD14F06FB}"/>
              </a:ext>
            </a:extLst>
          </p:cNvPr>
          <p:cNvSpPr txBox="1"/>
          <p:nvPr/>
        </p:nvSpPr>
        <p:spPr>
          <a:xfrm>
            <a:off x="475645" y="1248422"/>
            <a:ext cx="1129725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생성한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서브샘플링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(subsample,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크기를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연산 부하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(computational load),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 사용량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(memory usage),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그리고 파라미터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(number of parameters)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줄이는 것으로 그 결과 모델의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위험을 방지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8AB133-7A6E-A64A-2248-2F7A9BAA4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801" y="2909961"/>
            <a:ext cx="7049449" cy="29985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01F2049-E655-A9F9-92FD-1AAA28AE22C0}"/>
              </a:ext>
            </a:extLst>
          </p:cNvPr>
          <p:cNvSpPr txBox="1"/>
          <p:nvPr/>
        </p:nvSpPr>
        <p:spPr>
          <a:xfrm>
            <a:off x="9262975" y="4776248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2972D-DA00-C47B-7806-9AC805EC2938}"/>
              </a:ext>
            </a:extLst>
          </p:cNvPr>
          <p:cNvSpPr txBox="1"/>
          <p:nvPr/>
        </p:nvSpPr>
        <p:spPr>
          <a:xfrm>
            <a:off x="9263221" y="2981050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 pooling Map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981D003-6310-22A5-1BFC-F5A6FDA1FCFA}"/>
              </a:ext>
            </a:extLst>
          </p:cNvPr>
          <p:cNvCxnSpPr>
            <a:cxnSpLocks/>
          </p:cNvCxnSpPr>
          <p:nvPr/>
        </p:nvCxnSpPr>
        <p:spPr>
          <a:xfrm flipV="1">
            <a:off x="10155425" y="3396682"/>
            <a:ext cx="0" cy="1256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F2964CC-907A-79C3-EF81-7292B7588E7B}"/>
              </a:ext>
            </a:extLst>
          </p:cNvPr>
          <p:cNvSpPr txBox="1"/>
          <p:nvPr/>
        </p:nvSpPr>
        <p:spPr>
          <a:xfrm>
            <a:off x="9277326" y="3851685"/>
            <a:ext cx="228514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F76B625-7BA0-B72D-A7C5-6BE854107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02612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Kernel(Filter)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Pooling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2002698"/>
            <a:ext cx="7538720" cy="424053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92E3EFA-D958-79F5-769A-A37BE29AE76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수영">
            <a:extLst>
              <a:ext uri="{FF2B5EF4-FFF2-40B4-BE49-F238E27FC236}">
                <a16:creationId xmlns:a16="http://schemas.microsoft.com/office/drawing/2014/main" id="{E883276C-5C47-14DA-8DFE-FA31C98661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9761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648CE72-0757-DBDC-D28A-393610070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4" name="그래픽 13" descr="골프">
            <a:extLst>
              <a:ext uri="{FF2B5EF4-FFF2-40B4-BE49-F238E27FC236}">
                <a16:creationId xmlns:a16="http://schemas.microsoft.com/office/drawing/2014/main" id="{2EB9B38C-5F59-2AC3-EBE1-9F019EE4D5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375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D136316-5245-4763-0158-E4EFD17B5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그래픽 4" descr="골프">
            <a:extLst>
              <a:ext uri="{FF2B5EF4-FFF2-40B4-BE49-F238E27FC236}">
                <a16:creationId xmlns:a16="http://schemas.microsoft.com/office/drawing/2014/main" id="{26C349F5-2FAD-84A4-48D9-66D08FAF17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893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45F4F4F-5BF8-05D7-4FEB-E31A73BEC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30" y="2310714"/>
            <a:ext cx="9181581" cy="39081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475645" y="1248422"/>
            <a:ext cx="11297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28 by 28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최종적으로는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이미지로 특성을 표현한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 Network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다시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(Data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Rpresentation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EE04AEE-680C-DFA7-1A3C-9C65E9D14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25051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B4777-F2E7-411D-3C6D-AA8B7C766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4820E8-EF93-CCBF-556A-D6E84E8CB2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Practice for 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05995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" name="그래픽 1" descr="수영">
            <a:extLst>
              <a:ext uri="{FF2B5EF4-FFF2-40B4-BE49-F238E27FC236}">
                <a16:creationId xmlns:a16="http://schemas.microsoft.com/office/drawing/2014/main" id="{EFE637C0-B53E-AB6A-7C98-66EC232252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8710B86-F8A8-1CC8-8523-FEC3C2CCE4D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96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D93140D-C081-07D8-4F6A-DD9463F74E3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5545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041BDA1-4860-C68A-56AF-73EFDE820BE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36760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27B6D81-5581-714B-BEBF-44D1F906F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8259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507DF9E5-B11C-216C-B486-139E237DD2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B0A7963-1477-E978-4CA4-E380097AF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66794397-9BEE-1E46-D744-7C2F990676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ADDF661E-E434-6432-A4D5-22FEF2035B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915007" y="247795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72C328F0-D406-3647-2141-C5F140C15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A9EA-7B98-FDFF-D632-5B74C05F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D5D00C-8810-FA27-6317-9E2B3F7CB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 descr="image">
            <a:extLst>
              <a:ext uri="{FF2B5EF4-FFF2-40B4-BE49-F238E27FC236}">
                <a16:creationId xmlns:a16="http://schemas.microsoft.com/office/drawing/2014/main" id="{91F0AC56-1AD8-E77D-393F-3FA0F42C87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B5D35AD-5B9D-3D46-8ED8-43517A6EE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90" y="1596194"/>
            <a:ext cx="9315406" cy="45188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A92472-7FFC-DEC8-94A2-CC8097F8CD44}"/>
              </a:ext>
            </a:extLst>
          </p:cNvPr>
          <p:cNvSpPr txBox="1"/>
          <p:nvPr/>
        </p:nvSpPr>
        <p:spPr>
          <a:xfrm>
            <a:off x="5062537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8AD35-208A-BBC6-C996-79BA16B24E7C}"/>
              </a:ext>
            </a:extLst>
          </p:cNvPr>
          <p:cNvSpPr txBox="1"/>
          <p:nvPr/>
        </p:nvSpPr>
        <p:spPr>
          <a:xfrm>
            <a:off x="8142286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1C80AD-B6C8-AE6B-32A5-68D73A1BB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20292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1996080"/>
              </p:ext>
            </p:extLst>
          </p:nvPr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367F3F-1ECB-6D5D-5CBE-0320E86B66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04D15-DBFC-4F83-0427-E2AD323FB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330097-C40F-BB9D-A40F-9B1E0C908A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85031C-A522-6D3E-2308-3628A3B3EC40}"/>
              </a:ext>
            </a:extLst>
          </p:cNvPr>
          <p:cNvSpPr txBox="1"/>
          <p:nvPr/>
        </p:nvSpPr>
        <p:spPr>
          <a:xfrm>
            <a:off x="475645" y="1577521"/>
            <a:ext cx="6613064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require a huge amount of RAM especially during training, because the reverse pass of backpropagation requires all the intermediate values computed during the forward pass.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For example, consider a convolutional layer with 5 × 5 filters, outputting 200 feature maps of size 150 × 100, with stride 1 and "same" padding. If input is a 150 × 100 RGB image (three channels)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How many parameters to be calculated during training ?</a:t>
            </a:r>
            <a:endParaRPr lang="ko-KR" altLang="en-US" sz="16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EB3AAF-50FF-8BBA-8A7B-8BA1F4BF6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E097B0-4136-2CBE-9F37-929DF9865E60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22F3A-BE5A-5573-B6B4-B845A81A67C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2ADEF4A-B47A-7977-668C-9B4DFC17B27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그래픽 8" descr="학사모">
            <a:extLst>
              <a:ext uri="{FF2B5EF4-FFF2-40B4-BE49-F238E27FC236}">
                <a16:creationId xmlns:a16="http://schemas.microsoft.com/office/drawing/2014/main" id="{CE24F7DB-8229-E1D7-1D8A-E391726DFD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8761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22BA2-FAF4-3BB4-5F9A-124C05A4F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F03FEBC-9372-DB03-41EA-F44D2CAC02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/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CNN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 계산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(5 x 5 x 3 + 1) x 200 = 15,200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FNN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인 경우보다는 적지만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Filter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개이면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총 뉴런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데이터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150 x 100 x 200 = 3,000,000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컴퓨터는 이 숫자 하나를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32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비트 실수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(float32 =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저장하면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3,000,000 x 4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= 12,000,000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≈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12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MB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blipFill>
                <a:blip r:embed="rId2"/>
                <a:stretch>
                  <a:fillRect l="-276" b="-254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B66E6CDD-E84D-4DC3-6A16-420174865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1CC526-5FAD-A039-E81D-8BC75F9ECB19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2D8120-ED9A-27A1-E7D4-C6E606C3BE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0CC92-FBAC-FB79-C1A0-A9E0D08DD295}"/>
              </a:ext>
            </a:extLst>
          </p:cNvPr>
          <p:cNvSpPr txBox="1"/>
          <p:nvPr/>
        </p:nvSpPr>
        <p:spPr>
          <a:xfrm>
            <a:off x="525883" y="1781576"/>
            <a:ext cx="2031539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2D5FD6-F697-B102-AF41-A1D21A1066BC}"/>
              </a:ext>
            </a:extLst>
          </p:cNvPr>
          <p:cNvSpPr txBox="1"/>
          <p:nvPr/>
        </p:nvSpPr>
        <p:spPr>
          <a:xfrm>
            <a:off x="714043" y="4604837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12MB, 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 묶음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 = 100) = 1.2GB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BC7E95-D4A5-05A2-F8D5-FC06CF584824}"/>
              </a:ext>
            </a:extLst>
          </p:cNvPr>
          <p:cNvSpPr txBox="1"/>
          <p:nvPr/>
        </p:nvSpPr>
        <p:spPr>
          <a:xfrm>
            <a:off x="525883" y="4267488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(100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A44078-D04C-0EE6-DC61-F5FBA7AFAE7E}"/>
              </a:ext>
            </a:extLst>
          </p:cNvPr>
          <p:cNvSpPr txBox="1"/>
          <p:nvPr/>
        </p:nvSpPr>
        <p:spPr>
          <a:xfrm>
            <a:off x="715243" y="5656539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1.2GB x 50 = 60GB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6266A9-7625-680E-D8E7-6E1BAC3CDDC2}"/>
              </a:ext>
            </a:extLst>
          </p:cNvPr>
          <p:cNvSpPr txBox="1"/>
          <p:nvPr/>
        </p:nvSpPr>
        <p:spPr>
          <a:xfrm>
            <a:off x="525883" y="5319825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50 layers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VGG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CE07D09-6557-CD26-DFED-4F839ACCE97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학사모">
            <a:extLst>
              <a:ext uri="{FF2B5EF4-FFF2-40B4-BE49-F238E27FC236}">
                <a16:creationId xmlns:a16="http://schemas.microsoft.com/office/drawing/2014/main" id="{FC1B0D50-16B1-1C13-D57A-EDA8982EBD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2387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0389B-473F-1672-8CA3-518ADC114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FBF5EE-9971-7BDB-25AE-5582899872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Deep Understanding of CNN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25741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F37AE7-162E-24C9-7A48-A38714B8D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811" y="1799944"/>
            <a:ext cx="4032690" cy="4645767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E851A7FB-F6FC-45E6-71A5-54630A6A175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CNN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4191445-F1B0-E5AA-70B4-9AFC52FBCC4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학사모">
            <a:extLst>
              <a:ext uri="{FF2B5EF4-FFF2-40B4-BE49-F238E27FC236}">
                <a16:creationId xmlns:a16="http://schemas.microsoft.com/office/drawing/2014/main" id="{6F846CE4-29AE-87C9-D069-7DD77A126B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05660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634285F-2C47-4B0F-C48A-2FA62B4B9F3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03301-AE56-CCC2-E058-B6282D92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882B39C-9C81-C646-1138-B35886C437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494596-39F6-615D-9013-605F03C9C1FC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https://tensorspace.org/html/playground/alexnet.html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784A6AC-36E5-6717-E624-829B1E3EE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33" y="2002698"/>
            <a:ext cx="5132427" cy="389552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D5C0B1-50E1-7852-0909-A389784D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93" y="3079433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53428EF-2DA9-6E06-7EF4-BBA88C897E2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2203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DAB6-C0A2-5688-D23C-582541552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69FABD5-B583-BD47-45E0-72A5D4FB94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fine tuning Task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778FC2-E3C6-FD32-35F3-D64074491B0D}"/>
              </a:ext>
            </a:extLst>
          </p:cNvPr>
          <p:cNvSpPr txBox="1"/>
          <p:nvPr/>
        </p:nvSpPr>
        <p:spPr>
          <a:xfrm>
            <a:off x="607302" y="1248422"/>
            <a:ext cx="1101238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포켓몬 과제 따라하기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https://ryuzyproject.tistory.com/98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 Tuning CNN :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https://github.com/jihongleejihong/pok8mon_go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 descr="project workflow">
            <a:extLst>
              <a:ext uri="{FF2B5EF4-FFF2-40B4-BE49-F238E27FC236}">
                <a16:creationId xmlns:a16="http://schemas.microsoft.com/office/drawing/2014/main" id="{58F1A779-8263-AE4B-31CF-C8285809A8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7823" y="2545624"/>
            <a:ext cx="9611342" cy="3461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0572C76-76CC-83E2-346F-CA8776467F7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54329EBC-13F4-3682-1549-69D5AD2120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705287" y="2644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45489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2D924-42A6-308A-318F-5DCAB84DE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DA0DEB-F95B-586B-A155-04B24FBBD8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Schematic diagram of a basic Convnet architecture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4B091F1-8133-145F-CA70-BC9BE699244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7F173790-6EC0-B504-8079-B2A6E9542FF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77C7DA6-7E63-383B-7525-8A02E1622E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560" y="2212432"/>
            <a:ext cx="7407282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9646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23E6-C186-5967-405A-469653BF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54753E9-190B-64FD-1066-166374E976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295DC-FE1F-4E93-BF82-21DBF8647E1C}"/>
              </a:ext>
            </a:extLst>
          </p:cNvPr>
          <p:cNvSpPr txBox="1"/>
          <p:nvPr/>
        </p:nvSpPr>
        <p:spPr>
          <a:xfrm>
            <a:off x="615386" y="404323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6 kernels (5,5) 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33C2A-CDC7-01E7-A9FB-0129F1C095B1}"/>
              </a:ext>
            </a:extLst>
          </p:cNvPr>
          <p:cNvSpPr txBox="1"/>
          <p:nvPr/>
        </p:nvSpPr>
        <p:spPr>
          <a:xfrm>
            <a:off x="4284573" y="5235941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B8366-0E8D-4FF5-CC85-F97104EC05B8}"/>
              </a:ext>
            </a:extLst>
          </p:cNvPr>
          <p:cNvSpPr txBox="1"/>
          <p:nvPr/>
        </p:nvSpPr>
        <p:spPr>
          <a:xfrm>
            <a:off x="2539648" y="4450501"/>
            <a:ext cx="5213702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c1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(conv1(input))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s2 = max_pool2d(c1, (2, 2))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default stride 2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C9410A-0A63-BE47-A995-323F026ECD29}"/>
              </a:ext>
            </a:extLst>
          </p:cNvPr>
          <p:cNvSpPr txBox="1"/>
          <p:nvPr/>
        </p:nvSpPr>
        <p:spPr>
          <a:xfrm>
            <a:off x="5652526" y="5609153"/>
            <a:ext cx="3106268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c3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(conv2(s2))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s4 = max_pool2d(c3, 2)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FB92E3-A8B3-1860-A8D2-D3C01D75F34D}"/>
              </a:ext>
            </a:extLst>
          </p:cNvPr>
          <p:cNvSpPr txBox="1"/>
          <p:nvPr/>
        </p:nvSpPr>
        <p:spPr>
          <a:xfrm>
            <a:off x="7629878" y="4316088"/>
            <a:ext cx="2209800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f5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(fc1(s4))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CDE3A0-3FAD-7D02-45A2-9581E9FB538A}"/>
              </a:ext>
            </a:extLst>
          </p:cNvPr>
          <p:cNvSpPr txBox="1"/>
          <p:nvPr/>
        </p:nvSpPr>
        <p:spPr>
          <a:xfrm>
            <a:off x="7601303" y="3984329"/>
            <a:ext cx="3725393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AB45F0-CC27-8FA1-476D-1076192763AC}"/>
              </a:ext>
            </a:extLst>
          </p:cNvPr>
          <p:cNvSpPr txBox="1"/>
          <p:nvPr/>
        </p:nvSpPr>
        <p:spPr>
          <a:xfrm>
            <a:off x="8556213" y="5051686"/>
            <a:ext cx="3048000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f6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(fc2(f5))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1E201A-8E26-8118-AACB-8EB48FD819CF}"/>
              </a:ext>
            </a:extLst>
          </p:cNvPr>
          <p:cNvSpPr txBox="1"/>
          <p:nvPr/>
        </p:nvSpPr>
        <p:spPr>
          <a:xfrm>
            <a:off x="8555860" y="4740643"/>
            <a:ext cx="2807818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CA255-2078-8A4F-5EC2-BB49E33B223E}"/>
              </a:ext>
            </a:extLst>
          </p:cNvPr>
          <p:cNvSpPr txBox="1"/>
          <p:nvPr/>
        </p:nvSpPr>
        <p:spPr>
          <a:xfrm>
            <a:off x="9416374" y="5491889"/>
            <a:ext cx="2880401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3EEAF-ECCE-33E6-4697-30873C0C8140}"/>
              </a:ext>
            </a:extLst>
          </p:cNvPr>
          <p:cNvSpPr txBox="1"/>
          <p:nvPr/>
        </p:nvSpPr>
        <p:spPr>
          <a:xfrm>
            <a:off x="9444949" y="5668033"/>
            <a:ext cx="3048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output = fc3(f6)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775A2-21E3-1FE0-519E-60744981280A}"/>
              </a:ext>
            </a:extLst>
          </p:cNvPr>
          <p:cNvSpPr txBox="1"/>
          <p:nvPr/>
        </p:nvSpPr>
        <p:spPr>
          <a:xfrm>
            <a:off x="153424" y="2407301"/>
            <a:ext cx="923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57CDA5-0BF4-B589-9B91-C2BC97CA256B}"/>
              </a:ext>
            </a:extLst>
          </p:cNvPr>
          <p:cNvSpPr txBox="1"/>
          <p:nvPr/>
        </p:nvSpPr>
        <p:spPr>
          <a:xfrm>
            <a:off x="10906478" y="2407301"/>
            <a:ext cx="933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6EE1B3C-BC1C-E1CA-4D4E-02977B303CBC}"/>
              </a:ext>
            </a:extLst>
          </p:cNvPr>
          <p:cNvCxnSpPr>
            <a:endCxn id="37" idx="1"/>
          </p:cNvCxnSpPr>
          <p:nvPr/>
        </p:nvCxnSpPr>
        <p:spPr>
          <a:xfrm>
            <a:off x="914400" y="2591967"/>
            <a:ext cx="99920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convnet">
            <a:extLst>
              <a:ext uri="{FF2B5EF4-FFF2-40B4-BE49-F238E27FC236}">
                <a16:creationId xmlns:a16="http://schemas.microsoft.com/office/drawing/2014/main" id="{DD331A75-EF93-8703-2D1D-4A080F02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0782" y="1286447"/>
            <a:ext cx="9430546" cy="2611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DDCEE17-4310-5899-53B6-FDB293EF6933}"/>
              </a:ext>
            </a:extLst>
          </p:cNvPr>
          <p:cNvCxnSpPr/>
          <p:nvPr/>
        </p:nvCxnSpPr>
        <p:spPr>
          <a:xfrm>
            <a:off x="6938459" y="3979175"/>
            <a:ext cx="2981325" cy="225932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03E5523-B314-856B-5B11-0BA1DDBD11F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래픽 3" descr="학사모">
            <a:extLst>
              <a:ext uri="{FF2B5EF4-FFF2-40B4-BE49-F238E27FC236}">
                <a16:creationId xmlns:a16="http://schemas.microsoft.com/office/drawing/2014/main" id="{5D86E2D2-D74C-F328-15BD-1360A4B155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54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7" grpId="0"/>
      <p:bldP spid="21" grpId="0"/>
      <p:bldP spid="23" grpId="0"/>
      <p:bldP spid="25" grpId="0"/>
      <p:bldP spid="27" grpId="0"/>
      <p:bldP spid="29" grpId="0"/>
      <p:bldP spid="31" grpId="0"/>
      <p:bldP spid="33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FC8E9-1480-D14F-3218-50A05B4B2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4D717FE-684C-8596-3AB0-D50C173A22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9358C-5555-4398-7724-9F76B86F6376}"/>
              </a:ext>
            </a:extLst>
          </p:cNvPr>
          <p:cNvSpPr txBox="1"/>
          <p:nvPr/>
        </p:nvSpPr>
        <p:spPr>
          <a:xfrm>
            <a:off x="656663" y="1353850"/>
            <a:ext cx="999172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layers,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create_lenet5_functional():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(shape=(32, 32, 1), name='INPUT')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c1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name='C1')(inputs)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s2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name='S2')(c1)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c3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name='C3')(s2)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s4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name='S4')(c3)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flatten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(name='Flatten')(s4)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f5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(units=120,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name='F5')(flatten)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f6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(units=84,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name='F6')(f5)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name='OUTPUT')(f6)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model = Model(inputs=inputs, outputs=outputs, name='LeNet-5_Functional')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create_lenet5_functional()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model.summary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29AE325-904E-83E0-C81B-F776C0673E0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5046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3431D-1872-0B2D-8578-96D199A42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C146B6-CCDA-C51A-0A97-F4089B733E9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6B3466-5FF8-05A7-75B4-76F73CF8DF6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348A826-74D4-49B8-BCD2-DD159BE593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8994999"/>
              </p:ext>
            </p:extLst>
          </p:nvPr>
        </p:nvGraphicFramePr>
        <p:xfrm>
          <a:off x="944670" y="1688595"/>
          <a:ext cx="10217817" cy="4540759"/>
        </p:xfrm>
        <a:graphic>
          <a:graphicData uri="http://schemas.openxmlformats.org/drawingml/2006/table">
            <a:tbl>
              <a:tblPr/>
              <a:tblGrid>
                <a:gridCol w="1156203">
                  <a:extLst>
                    <a:ext uri="{9D8B030D-6E8A-4147-A177-3AD203B41FA5}">
                      <a16:colId xmlns:a16="http://schemas.microsoft.com/office/drawing/2014/main" val="734185853"/>
                    </a:ext>
                  </a:extLst>
                </a:gridCol>
                <a:gridCol w="2197500">
                  <a:extLst>
                    <a:ext uri="{9D8B030D-6E8A-4147-A177-3AD203B41FA5}">
                      <a16:colId xmlns:a16="http://schemas.microsoft.com/office/drawing/2014/main" val="310222506"/>
                    </a:ext>
                  </a:extLst>
                </a:gridCol>
                <a:gridCol w="2429080">
                  <a:extLst>
                    <a:ext uri="{9D8B030D-6E8A-4147-A177-3AD203B41FA5}">
                      <a16:colId xmlns:a16="http://schemas.microsoft.com/office/drawing/2014/main" val="1607935622"/>
                    </a:ext>
                  </a:extLst>
                </a:gridCol>
                <a:gridCol w="2301434">
                  <a:extLst>
                    <a:ext uri="{9D8B030D-6E8A-4147-A177-3AD203B41FA5}">
                      <a16:colId xmlns:a16="http://schemas.microsoft.com/office/drawing/2014/main" val="3896768209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571997856"/>
                    </a:ext>
                  </a:extLst>
                </a:gridCol>
              </a:tblGrid>
              <a:tr h="516382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Layer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종류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Type)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 차원 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Output Shape)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계산식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 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Param #)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1246295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InputLayer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(32, 32, 1)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입력 레이어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329902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C1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(28, 28, 6)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(5×5×1+1) × 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87685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S2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MaxPooling2D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(14, 14, 6)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연산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175149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C3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(10, 10, 16)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(5×5×6+1) × 16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2,416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2911102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S4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MaxPooling2D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(5, 5, 16)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연산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0616768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Flatten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Flatten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(400,)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차원 변환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(5×5×16=400)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6112416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F5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(120,)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(400+1) × 120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48,120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4437103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F6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(84,)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(120+1) × 84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10,164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9680060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OUTPUT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(84+1) × 10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850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41894"/>
                  </a:ext>
                </a:extLst>
              </a:tr>
              <a:tr h="428625">
                <a:tc gridSpan="4"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총계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Total)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61,706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6389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429151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F61F3-8CA8-34FF-0C6A-A94E890AE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9596D3A-F98F-850B-88C3-14ED93298E84}"/>
              </a:ext>
            </a:extLst>
          </p:cNvPr>
          <p:cNvSpPr/>
          <p:nvPr/>
        </p:nvSpPr>
        <p:spPr>
          <a:xfrm>
            <a:off x="536890" y="269303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B6FE77-2843-CA13-638D-5DE107E25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FB323B-1BE2-31D5-78D4-069C9F0327E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134D78-CC18-0E6A-0875-9055DDFAC7E8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793266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CD9C5-51E3-620E-54F4-17FC0E0E3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EA8281-6554-6A95-D0E7-BB0092C992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Augmentation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E206009-87A2-7061-F57B-95B8722866B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0CC2FA-4835-AD93-69C0-D630FDDA83BD}"/>
              </a:ext>
            </a:extLst>
          </p:cNvPr>
          <p:cNvSpPr txBox="1"/>
          <p:nvPr/>
        </p:nvSpPr>
        <p:spPr>
          <a:xfrm>
            <a:off x="552449" y="1267472"/>
            <a:ext cx="1116390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샘플이 너무 적을 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발생하는 근본적인 이유는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데이터의 진짜 원리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핵심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이해하는 대신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특정 샘플의 우연과 노이즈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그대로 암기해버리기 때문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기존의 훈련 데이터에 무작위 변형을 가해 데이터의 양과 다양성을 인위적으로 늘리는 기법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데이터의 정답 라벨을 바꾸지 않으면서 형태나 색상 등에 다양한 변화를 주어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마치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데이터를 본 것처럼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착각하게 만드는 일종의 학습용 눈속임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일반화 모델 향상 및 비용 절감 등의 효과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37297A-736F-8906-3B1B-BE8FE458E0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6050" y="3041452"/>
            <a:ext cx="6334125" cy="3562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335776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6703D-44EA-4061-97CE-91C6F3353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8B9CB1-AF41-ACA2-9FA2-788D90D31D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Training a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from scratch on a small dataset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4A6F86A-20A2-4086-97AA-3E489D0081F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CCC6E2-B224-9E3D-9FD9-FA8D81EE73F4}"/>
              </a:ext>
            </a:extLst>
          </p:cNvPr>
          <p:cNvSpPr txBox="1"/>
          <p:nvPr/>
        </p:nvSpPr>
        <p:spPr>
          <a:xfrm>
            <a:off x="590551" y="1248422"/>
            <a:ext cx="11125804" cy="48537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캐글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(Kaggle)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데이터셋에서 추출한 개와 고양이 사진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훈련용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검증용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2,000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테스트용으로 분할하여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 models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(test accuracy %):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Training a small model from scratch (78.6%)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(85.7%)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extraction using a pretrained model (98.2%)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extraction together with data augmentation (98.4%)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model (test accuracy of 98.7%)</a:t>
            </a:r>
          </a:p>
          <a:p>
            <a:pPr marL="2857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 학습된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(pretrained)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분류 모델을 다운로드하여 활용하면 매우 적은 데이터만으로도 강력한 비전 모델을 구축할 수 있도록 특성을 재사용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reuse)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단 몇 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~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몇 천 장의 적은 데이터만으로도 고성능 모델 생성</a:t>
            </a:r>
          </a:p>
        </p:txBody>
      </p:sp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90F8CC73-CEE9-F248-A870-9150D912F3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05287" y="2644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56567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FC3D0-0987-8025-DA02-60FD2E08E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2AFF4AE-9130-E056-6C98-3C455DDAF5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Building your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4BF051C-E260-7222-BB50-00CCD381827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FEB869-5EAF-4D1C-567F-9CA657F07B45}"/>
              </a:ext>
            </a:extLst>
          </p:cNvPr>
          <p:cNvSpPr txBox="1"/>
          <p:nvPr/>
        </p:nvSpPr>
        <p:spPr>
          <a:xfrm>
            <a:off x="590551" y="1248422"/>
            <a:ext cx="11125804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180×180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고해상도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최종 단계에 이르러서는 공간 정보는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7×7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512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개로 늘어난 고밀도 특징 요약본으로 변환하는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Convnet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6C6D47-610A-2E5D-5BF5-73B1C932E32A}"/>
              </a:ext>
            </a:extLst>
          </p:cNvPr>
          <p:cNvSpPr txBox="1"/>
          <p:nvPr/>
        </p:nvSpPr>
        <p:spPr>
          <a:xfrm>
            <a:off x="647700" y="2212322"/>
            <a:ext cx="11068655" cy="43242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(shape=(180, 180, 3))				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RGB images of size (180, 180, 3) 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7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Rescales inputs to the [0, 1] range by dividing them by 255</a:t>
            </a: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layers.Rescaling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(1.0 / 255)(inputs)</a:t>
            </a:r>
          </a:p>
          <a:p>
            <a:pPr algn="l" latinLnBrk="0">
              <a:buNone/>
            </a:pPr>
            <a:endParaRPr lang="en-US" altLang="ko-KR" sz="9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Conv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MaxPooling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layers.Conv2D(filters=32,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 		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(178, 178, 32) — (180 - 3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(89, 89, 32) — (178 / 2)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# (87, 87, 64) — (89 - 3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(43, 43, 64) — (87 / 2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내림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(41, 41, 128) — (43 - 3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(20, 20, 128) — (41 / 2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내림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(18, 18, 256) — (20 - 3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(9, 9, 256) — (18 / 2)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layers.Conv2D(filters=512,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(7, 7, 512) — (9 - 3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7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Flattens the 3D activations with shape(7,7,512) into 1D activations with shape(512,) by averaging them over spatial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dimensions</a:t>
            </a: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 				# (512,)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25,088(=7x7x512)</a:t>
            </a: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activation="sigmoid")(x) 			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binary classification problem</a:t>
            </a:r>
          </a:p>
          <a:p>
            <a:pPr algn="l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</p:spTree>
    <p:extLst>
      <p:ext uri="{BB962C8B-B14F-4D97-AF65-F5344CB8AC3E}">
        <p14:creationId xmlns:p14="http://schemas.microsoft.com/office/powerpoint/2010/main" val="372780292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CFD00-0A23-2D9F-9CAC-249068ED8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E93D6FE-21A0-61E1-7015-E07FCBD726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preprocessing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BC94D8E-4BFC-2DFE-B497-BB3557059C7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DC1C17-A02C-5CAD-ACBE-8E77196C08F6}"/>
              </a:ext>
            </a:extLst>
          </p:cNvPr>
          <p:cNvSpPr txBox="1"/>
          <p:nvPr/>
        </p:nvSpPr>
        <p:spPr>
          <a:xfrm>
            <a:off x="590551" y="1248422"/>
            <a:ext cx="11125804" cy="41586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images of size (180, 180,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고해상도 데이터를 모델에 주입하려면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부동소수점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(Floating-point tensor)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포맷팅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디스크에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파일로 저장되어 있으므로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모델로 전달하기 위한 과정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읽기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내용을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그리드로 디코딩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부동소수점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이미지를 동일한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180×180)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Resizing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이미지들을 배치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단위로 묶기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장씩 배치 구성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image_dataset_from_directory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함수를 활용하여 데이터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 구성</a:t>
            </a:r>
          </a:p>
        </p:txBody>
      </p:sp>
    </p:spTree>
    <p:extLst>
      <p:ext uri="{BB962C8B-B14F-4D97-AF65-F5344CB8AC3E}">
        <p14:creationId xmlns:p14="http://schemas.microsoft.com/office/powerpoint/2010/main" val="244169389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916CC-EAAC-FB81-F5D0-8BFAECA13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C3A346-7AA9-F5B3-468F-FB2DC957DC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preprocessing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A0DD657-E820-0B32-CA72-19EC4D39D46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4E6EC4-FB3E-628C-D1DC-F795155B81EF}"/>
              </a:ext>
            </a:extLst>
          </p:cNvPr>
          <p:cNvSpPr txBox="1"/>
          <p:nvPr/>
        </p:nvSpPr>
        <p:spPr>
          <a:xfrm>
            <a:off x="590551" y="1248422"/>
            <a:ext cx="11125804" cy="52251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image_dataset_from_directory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디스크에 저장된 이미지 파일들을 딥러닝 모델 학습용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tf.data.Dataset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객체로 일괄 변환해 주는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유틸리티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폴더 구조 기반 자동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라벨링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별도의 라벨 파일 없이 하위 폴더 이름을 클래스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명으로 자동 인식하고 숫자 인덱스를 부여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디코딩 및 리사이징 자동화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크기의 이미지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(JPEG, PNG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읽어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지정한 규격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일정하게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묶기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셔플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(Shuffle)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지정한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대로 데이터를 묶어주며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 데이터 편향을 막기 위해 무작위로 섞어주는 옵션을 제공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(RAM)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효율성 극대화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이미지를 한 번에 메모리에 올리지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학습 시점에 디스크에서 배치 단위로 불러오는 파이프라인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tf.data.Dataset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생성해 메모리 부족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(OOM)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오류를 방지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984063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6EE3C-391C-7D0C-2903-B24DFD227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DF8EEC7-2E59-91B9-1BFC-CB69CACD374F}"/>
              </a:ext>
            </a:extLst>
          </p:cNvPr>
          <p:cNvSpPr/>
          <p:nvPr/>
        </p:nvSpPr>
        <p:spPr>
          <a:xfrm>
            <a:off x="536890" y="334073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4E7EB9-B5E1-11A0-14CD-C481A7C99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15C7BB-19EA-4F6C-8936-9598E9AB78F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12E5EE-327E-8D49-C927-CABFB87CE1F7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577173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76CDC-6E86-40DC-BD05-6CCB1D8AC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234559-C238-D609-3379-923CC9358F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공간정보와 레이어별 역할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9A3AAE2-9269-FC6C-CBAD-D73F1BD0BAE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A5EDBC8-4E49-E190-BEEE-1B803CE779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1442238"/>
              </p:ext>
            </p:extLst>
          </p:nvPr>
        </p:nvGraphicFramePr>
        <p:xfrm>
          <a:off x="641505" y="1745932"/>
          <a:ext cx="11007570" cy="1683068"/>
        </p:xfrm>
        <a:graphic>
          <a:graphicData uri="http://schemas.openxmlformats.org/drawingml/2006/table">
            <a:tbl>
              <a:tblPr/>
              <a:tblGrid>
                <a:gridCol w="2133714">
                  <a:extLst>
                    <a:ext uri="{9D8B030D-6E8A-4147-A177-3AD203B41FA5}">
                      <a16:colId xmlns:a16="http://schemas.microsoft.com/office/drawing/2014/main" val="2554255565"/>
                    </a:ext>
                  </a:extLst>
                </a:gridCol>
                <a:gridCol w="2895765">
                  <a:extLst>
                    <a:ext uri="{9D8B030D-6E8A-4147-A177-3AD203B41FA5}">
                      <a16:colId xmlns:a16="http://schemas.microsoft.com/office/drawing/2014/main" val="115849083"/>
                    </a:ext>
                  </a:extLst>
                </a:gridCol>
                <a:gridCol w="5978091">
                  <a:extLst>
                    <a:ext uri="{9D8B030D-6E8A-4147-A177-3AD203B41FA5}">
                      <a16:colId xmlns:a16="http://schemas.microsoft.com/office/drawing/2014/main" val="2130708573"/>
                    </a:ext>
                  </a:extLst>
                </a:gridCol>
              </a:tblGrid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정보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위치 정확도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역할 및 특징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816413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초반 </a:t>
                      </a: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정밀함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픽셀 단위의 점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모서리 등 미세한 패턴 추출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042498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후반 </a:t>
                      </a: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낮음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대략적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눈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귀 등 사물의 구성 요소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추상적 특징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913921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없음 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완전히 파괴됨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추출된 특징들을 종합하여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고양이일 확률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을 최종 판단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3894647"/>
                  </a:ext>
                </a:extLst>
              </a:tr>
            </a:tbl>
          </a:graphicData>
        </a:graphic>
      </p:graphicFrame>
      <p:pic>
        <p:nvPicPr>
          <p:cNvPr id="6" name="Picture 2" descr="convnet">
            <a:extLst>
              <a:ext uri="{FF2B5EF4-FFF2-40B4-BE49-F238E27FC236}">
                <a16:creationId xmlns:a16="http://schemas.microsoft.com/office/drawing/2014/main" id="{D835A479-6861-2379-A9AF-39FEAE425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9780" y="3926510"/>
            <a:ext cx="8332439" cy="2307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14822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B4FE-CAFA-DC9D-27E2-5413454A5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1AA1063-3618-B70D-D07B-DD620A96D0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 extraction with a pretrained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881C30D-622E-5F02-CF16-46A0AE190FF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347366C-4892-B75A-83EE-0E9308DAFA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1325" y="2461801"/>
            <a:ext cx="5838825" cy="4029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1E7E2C-4BA2-D3EA-B09B-01AF2D603A0E}"/>
              </a:ext>
            </a:extLst>
          </p:cNvPr>
          <p:cNvSpPr txBox="1"/>
          <p:nvPr/>
        </p:nvSpPr>
        <p:spPr>
          <a:xfrm>
            <a:off x="581024" y="1232897"/>
            <a:ext cx="110585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검증된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Pretrained 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훌륭한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특징 추출 카메라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 base)’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그대로 얼려두고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(frozen),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맨 위에 내 목적에 맞는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판단 버튼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(New classifier, Dense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새로 달아서 훈련시키는 과정</a:t>
            </a:r>
          </a:p>
        </p:txBody>
      </p:sp>
    </p:spTree>
    <p:extLst>
      <p:ext uri="{BB962C8B-B14F-4D97-AF65-F5344CB8AC3E}">
        <p14:creationId xmlns:p14="http://schemas.microsoft.com/office/powerpoint/2010/main" val="116639746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026B6-84FF-E1A3-1FFC-EBDF183D5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5548BFC-D6E1-EA97-82BB-CDB2EEE86F43}"/>
              </a:ext>
            </a:extLst>
          </p:cNvPr>
          <p:cNvSpPr/>
          <p:nvPr/>
        </p:nvSpPr>
        <p:spPr>
          <a:xfrm>
            <a:off x="536890" y="393128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C7D609-CEF4-FF96-EDD6-4439CBFE5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420072F-9FEF-405D-3BFE-B530B22A7C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11A9C4-7D5C-21B0-E14D-8ABA2660DA0A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5796904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90DCD-93E1-6FF7-BCC0-D0014B8F2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F2A97E-44E1-4A95-80C7-54CBE52627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Fine-tuning a pretrained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C204DA4-05ED-AAD7-0977-BAF0C1D6C99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B841A3B6-B32B-4396-D78F-AA9A1CD3A99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7DF5F0E-1A9E-9897-8EEB-3F6994152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415" y="1273775"/>
            <a:ext cx="5831286" cy="2861650"/>
          </a:xfrm>
          <a:prstGeom prst="rect">
            <a:avLst/>
          </a:prstGeom>
        </p:spPr>
      </p:pic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E2860F9A-0CA5-BA57-5F4D-E3BAF77821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696119"/>
              </p:ext>
            </p:extLst>
          </p:nvPr>
        </p:nvGraphicFramePr>
        <p:xfrm>
          <a:off x="1179114" y="4230675"/>
          <a:ext cx="9887512" cy="24480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837">
                  <a:extLst>
                    <a:ext uri="{9D8B030D-6E8A-4147-A177-3AD203B41FA5}">
                      <a16:colId xmlns:a16="http://schemas.microsoft.com/office/drawing/2014/main" val="1064459424"/>
                    </a:ext>
                  </a:extLst>
                </a:gridCol>
                <a:gridCol w="4539887">
                  <a:extLst>
                    <a:ext uri="{9D8B030D-6E8A-4147-A177-3AD203B41FA5}">
                      <a16:colId xmlns:a16="http://schemas.microsoft.com/office/drawing/2014/main" val="29696201"/>
                    </a:ext>
                  </a:extLst>
                </a:gridCol>
                <a:gridCol w="5051788">
                  <a:extLst>
                    <a:ext uri="{9D8B030D-6E8A-4147-A177-3AD203B41FA5}">
                      <a16:colId xmlns:a16="http://schemas.microsoft.com/office/drawing/2014/main" val="1258399897"/>
                    </a:ext>
                  </a:extLst>
                </a:gridCol>
              </a:tblGrid>
              <a:tr h="221115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Feature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Extraction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네트워크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(Base Network)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Classification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사용자분류기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(Custom Network/Classifier)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6964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Pre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Trained convolutional base,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대용량 데이터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(ImageNet)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 학습한 </a:t>
                      </a:r>
                      <a:r>
                        <a:rPr lang="ko-KR" altLang="en-US" sz="12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합성곱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레이어들의 집합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New classifier(randomly initialized),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목적에 맞춰 새로 설계하여 붙인 완전 연결 레이어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(Dense Layer)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55001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이미지에서 점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면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눈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입과 같은 시각적 특징을 추출하는 뼈대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(Backbone)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네트워크가 뽑아준 시각적 특징들을 넘겨받아 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최종적으로 개인가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?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고양이인가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?"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판정하는 역할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7253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 추출 능력이 완성되어 있으므로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새로운 문제를 풀 때 가중치가 흔들리지 않도록 동결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(Frozen,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동결 상태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시켜 두고 특성 추출기로 재사용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: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처음 붙였을 때는 가중치가 무작위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(Random)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 초기화되어 있으므로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내 데이터셋을 이용해 이 부분만 새로 훈련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(Train)</a:t>
                      </a:r>
                      <a:endParaRPr lang="ko-KR" altLang="en-US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271672"/>
                  </a:ext>
                </a:extLst>
              </a:tr>
            </a:tbl>
          </a:graphicData>
        </a:graphic>
      </p:graphicFrame>
      <p:pic>
        <p:nvPicPr>
          <p:cNvPr id="12" name="그래픽 11" descr="카메라">
            <a:extLst>
              <a:ext uri="{FF2B5EF4-FFF2-40B4-BE49-F238E27FC236}">
                <a16:creationId xmlns:a16="http://schemas.microsoft.com/office/drawing/2014/main" id="{BFF6339F-819C-FB83-CA0C-E9E2A2579B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1015" y="1339373"/>
            <a:ext cx="914400" cy="914400"/>
          </a:xfrm>
          <a:prstGeom prst="rect">
            <a:avLst/>
          </a:prstGeom>
        </p:spPr>
      </p:pic>
      <p:pic>
        <p:nvPicPr>
          <p:cNvPr id="14" name="그래픽 13" descr="의사봉">
            <a:extLst>
              <a:ext uri="{FF2B5EF4-FFF2-40B4-BE49-F238E27FC236}">
                <a16:creationId xmlns:a16="http://schemas.microsoft.com/office/drawing/2014/main" id="{0C221CDD-EA51-5252-8594-C5BAEC8C192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56701" y="11309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16532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BB083-E500-C1F2-0E8E-F6C8E4EA1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74374E-E5C2-CBBC-E4ED-5029E84D15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Fine-tuning a pretrained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FA35194-94BD-B888-FE1D-601D4B48068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04E8A67A-B00F-1A76-9264-6C181CAC2E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17CBB8-5696-08E9-A78C-76129C475EED}"/>
              </a:ext>
            </a:extLst>
          </p:cNvPr>
          <p:cNvSpPr txBox="1"/>
          <p:nvPr/>
        </p:nvSpPr>
        <p:spPr>
          <a:xfrm>
            <a:off x="552449" y="1248422"/>
            <a:ext cx="1102042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(Fine-tuning)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특성 추출에 사용되었던 동결된 모델 기반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(model base)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동결을 해제하고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 추가된 부분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경우 완전 연결 분류기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기반 모델을 함께 훈련하는 방식으로 재사용하려는 모델의 추상적인 표현을 현재 풀고자 하는 문제에 더 잘 맞도록 미세하게 조정하기 때문에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하며 작업 순서는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6E5F58-4027-3891-2A41-BF495C26B016}"/>
              </a:ext>
            </a:extLst>
          </p:cNvPr>
          <p:cNvSpPr txBox="1"/>
          <p:nvPr/>
        </p:nvSpPr>
        <p:spPr>
          <a:xfrm>
            <a:off x="1937776" y="2839320"/>
            <a:ext cx="7429500" cy="34163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훈련된 기반 네트워크 위에 사용자 정의 네트워크(분류기)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네트워크를 동결(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freeze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 추가한 분류기 부분을 훈련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네트워크의 동결을 해제(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unfreeze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동결을 해제한 기반 레이어들과 새로 추가한 분류기를 함께 훈련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76121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10828</TotalTime>
  <Words>5163</Words>
  <Application>Microsoft Office PowerPoint</Application>
  <PresentationFormat>와이드스크린</PresentationFormat>
  <Paragraphs>623</Paragraphs>
  <Slides>64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64</vt:i4>
      </vt:variant>
    </vt:vector>
  </HeadingPairs>
  <TitlesOfParts>
    <vt:vector size="74" baseType="lpstr">
      <vt:lpstr>D2Coding</vt:lpstr>
      <vt:lpstr>맑은 고딕</vt:lpstr>
      <vt:lpstr>맑은 고딕 Semilight</vt:lpstr>
      <vt:lpstr>바탕</vt:lpstr>
      <vt:lpstr>Arial</vt:lpstr>
      <vt:lpstr>Cambria Math</vt:lpstr>
      <vt:lpstr>Lora</vt:lpstr>
      <vt:lpstr>Times New Roman</vt:lpstr>
      <vt:lpstr>Wingdings</vt:lpstr>
      <vt:lpstr>WelcomeDoc</vt:lpstr>
      <vt:lpstr>Chapter 8 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Kernel, Filter</vt:lpstr>
      <vt:lpstr>PowerPoint 프레젠테이션</vt:lpstr>
      <vt:lpstr>PowerPoint 프레젠테이션</vt:lpstr>
      <vt:lpstr>PowerPoint 프레젠테이션</vt:lpstr>
      <vt:lpstr>PowerPoint 프레젠테이션</vt:lpstr>
      <vt:lpstr>Poolings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Practice for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Understanding of CNN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176</cp:revision>
  <dcterms:created xsi:type="dcterms:W3CDTF">2026-04-06T01:00:39Z</dcterms:created>
  <dcterms:modified xsi:type="dcterms:W3CDTF">2026-08-07T11:14:07Z</dcterms:modified>
  <cp:version/>
</cp:coreProperties>
</file>