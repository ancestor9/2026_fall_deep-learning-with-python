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3"/>
  </p:notesMasterIdLst>
  <p:handoutMasterIdLst>
    <p:handoutMasterId r:id="rId14"/>
  </p:handoutMasterIdLst>
  <p:sldIdLst>
    <p:sldId id="256" r:id="rId2"/>
    <p:sldId id="1143" r:id="rId3"/>
    <p:sldId id="1137" r:id="rId4"/>
    <p:sldId id="1144" r:id="rId5"/>
    <p:sldId id="1145" r:id="rId6"/>
    <p:sldId id="1146" r:id="rId7"/>
    <p:sldId id="1147" r:id="rId8"/>
    <p:sldId id="1148" r:id="rId9"/>
    <p:sldId id="1149" r:id="rId10"/>
    <p:sldId id="1150" r:id="rId11"/>
    <p:sldId id="1151" r:id="rId12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1143"/>
            <p14:sldId id="1137"/>
            <p14:sldId id="1144"/>
            <p14:sldId id="1145"/>
            <p14:sldId id="1146"/>
            <p14:sldId id="1147"/>
            <p14:sldId id="1148"/>
            <p14:sldId id="1149"/>
            <p14:sldId id="1150"/>
            <p14:sldId id="1151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E3FF"/>
    <a:srgbClr val="FF9B45"/>
    <a:srgbClr val="DD462F"/>
    <a:srgbClr val="D24726"/>
    <a:srgbClr val="404040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62" autoAdjust="0"/>
    <p:restoredTop sz="94297" autoAdjust="0"/>
  </p:normalViewPr>
  <p:slideViewPr>
    <p:cSldViewPr snapToGrid="0">
      <p:cViewPr>
        <p:scale>
          <a:sx n="75" d="100"/>
          <a:sy n="75" d="100"/>
        </p:scale>
        <p:origin x="1066" y="16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2026-06-22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2026-06-22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2026-06-22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6/22/2026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2026-06-22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hyperlink" Target="https://www.youtube.com/watch?v=qhXZsFVxGKo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rtlCol="0" anchor="ctr" anchorCtr="0">
            <a:normAutofit/>
          </a:bodyPr>
          <a:lstStyle/>
          <a:p>
            <a:pPr algn="r"/>
            <a:r>
              <a:rPr lang="en-US" altLang="ko-KR" sz="2400" dirty="0">
                <a:solidFill>
                  <a:schemeClr val="bg1"/>
                </a:solidFill>
              </a:rPr>
              <a:t>CHAPTER</a:t>
            </a:r>
            <a:r>
              <a:rPr lang="ko-KR" altLang="en-US" sz="2400" dirty="0">
                <a:solidFill>
                  <a:schemeClr val="bg1"/>
                </a:solidFill>
              </a:rPr>
              <a:t> </a:t>
            </a:r>
            <a:r>
              <a:rPr lang="en-US" altLang="ko-KR" sz="2400" dirty="0">
                <a:solidFill>
                  <a:schemeClr val="bg1"/>
                </a:solidFill>
              </a:rPr>
              <a:t>11</a:t>
            </a:r>
            <a:br>
              <a:rPr lang="en-US" altLang="ko-KR" sz="4800" dirty="0">
                <a:solidFill>
                  <a:schemeClr val="bg1"/>
                </a:solidFill>
              </a:rPr>
            </a:br>
            <a:r>
              <a:rPr lang="en-US" altLang="ko-KR" sz="4400" dirty="0">
                <a:solidFill>
                  <a:schemeClr val="bg1"/>
                </a:solidFill>
              </a:rPr>
              <a:t>Training Deep Neural Networks</a:t>
            </a:r>
            <a:endParaRPr lang="ko-KR" altLang="en-US" sz="4800" dirty="0">
              <a:solidFill>
                <a:schemeClr val="bg1"/>
              </a:solidFill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</a:rPr>
              <a:t>조상구교수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558F6-EE82-66CB-3075-4E6CAC5BE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4452A32D-F5C8-A0EA-0B5B-F6A50572DA2C}"/>
              </a:ext>
            </a:extLst>
          </p:cNvPr>
          <p:cNvSpPr/>
          <p:nvPr/>
        </p:nvSpPr>
        <p:spPr>
          <a:xfrm>
            <a:off x="670590" y="2061254"/>
            <a:ext cx="7467600" cy="5231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0A2965-E80D-28D3-12B2-386CBD8F8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B5973A68-EAC2-99DE-06B4-19369B001A2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Contents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4EEF49-8000-D34C-7C84-1398D3215EF2}"/>
              </a:ext>
            </a:extLst>
          </p:cNvPr>
          <p:cNvSpPr txBox="1"/>
          <p:nvPr/>
        </p:nvSpPr>
        <p:spPr>
          <a:xfrm>
            <a:off x="1896858" y="1555154"/>
            <a:ext cx="9370698" cy="496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ko-KR" sz="2000" b="1" dirty="0">
                <a:latin typeface="Yu Gothic UI Semilight" panose="020B0400000000000000" pitchFamily="34" charset="-128"/>
                <a:ea typeface="Yu Gothic UI Semilight" panose="020B0400000000000000" pitchFamily="34" charset="-128"/>
                <a:cs typeface="맑은 고딕 Semilight" panose="020B0502040204020203" pitchFamily="50" charset="-127"/>
              </a:rPr>
              <a:t>Vanishing gradients Exploding gradients</a:t>
            </a:r>
          </a:p>
        </p:txBody>
      </p:sp>
    </p:spTree>
    <p:extLst>
      <p:ext uri="{BB962C8B-B14F-4D97-AF65-F5344CB8AC3E}">
        <p14:creationId xmlns:p14="http://schemas.microsoft.com/office/powerpoint/2010/main" val="3690334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15B67-A356-B4BE-0671-F08D8841A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22ADFF-AC24-407D-CE1F-AB9F79C6E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265A2223-219C-B79C-18CC-D450BC0B1BF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Vanishing/Exploding gradients</a:t>
            </a:r>
            <a:endParaRPr lang="en-US" altLang="ko-KR" sz="2800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04AC0F-AE85-AC71-DEBC-1A5228575128}"/>
              </a:ext>
            </a:extLst>
          </p:cNvPr>
          <p:cNvSpPr txBox="1"/>
          <p:nvPr/>
        </p:nvSpPr>
        <p:spPr>
          <a:xfrm>
            <a:off x="616189" y="1305493"/>
            <a:ext cx="10952480" cy="465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입력변수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개 출력변수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개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7 Hidden layers (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단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Bias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와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Activation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은 없다고 가정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7DAB61AB-4902-0606-72CE-4A674F15B1F9}"/>
              </a:ext>
            </a:extLst>
          </p:cNvPr>
          <p:cNvSpPr/>
          <p:nvPr/>
        </p:nvSpPr>
        <p:spPr>
          <a:xfrm>
            <a:off x="1388693" y="2476690"/>
            <a:ext cx="434109" cy="43410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08F3ABDE-F74D-4FF4-BB44-5680ED6C7981}"/>
              </a:ext>
            </a:extLst>
          </p:cNvPr>
          <p:cNvSpPr/>
          <p:nvPr/>
        </p:nvSpPr>
        <p:spPr>
          <a:xfrm>
            <a:off x="1388693" y="3354144"/>
            <a:ext cx="434109" cy="43410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E96118A1-7A2C-D0B1-A360-813CBDE5D152}"/>
              </a:ext>
            </a:extLst>
          </p:cNvPr>
          <p:cNvSpPr/>
          <p:nvPr/>
        </p:nvSpPr>
        <p:spPr>
          <a:xfrm>
            <a:off x="2483205" y="2476690"/>
            <a:ext cx="434109" cy="4341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7FB534AC-8928-CBF1-72B6-6A3551A2BF88}"/>
              </a:ext>
            </a:extLst>
          </p:cNvPr>
          <p:cNvSpPr/>
          <p:nvPr/>
        </p:nvSpPr>
        <p:spPr>
          <a:xfrm>
            <a:off x="2483205" y="3354144"/>
            <a:ext cx="434109" cy="4341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0157134B-8DA5-9568-5D54-13899520EFC9}"/>
              </a:ext>
            </a:extLst>
          </p:cNvPr>
          <p:cNvSpPr/>
          <p:nvPr/>
        </p:nvSpPr>
        <p:spPr>
          <a:xfrm>
            <a:off x="3577717" y="2476690"/>
            <a:ext cx="434109" cy="4341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64CB94B7-0BB4-F721-11D5-AD9C3C04051A}"/>
              </a:ext>
            </a:extLst>
          </p:cNvPr>
          <p:cNvSpPr/>
          <p:nvPr/>
        </p:nvSpPr>
        <p:spPr>
          <a:xfrm>
            <a:off x="3577717" y="3354144"/>
            <a:ext cx="434109" cy="4341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13F0224B-95A9-158D-0871-3BE7D30A7EA2}"/>
              </a:ext>
            </a:extLst>
          </p:cNvPr>
          <p:cNvSpPr/>
          <p:nvPr/>
        </p:nvSpPr>
        <p:spPr>
          <a:xfrm>
            <a:off x="4672229" y="2476690"/>
            <a:ext cx="434109" cy="4341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15BD2F3D-21DA-FD7B-58B3-F7BFBDEDB25D}"/>
              </a:ext>
            </a:extLst>
          </p:cNvPr>
          <p:cNvSpPr/>
          <p:nvPr/>
        </p:nvSpPr>
        <p:spPr>
          <a:xfrm>
            <a:off x="4672229" y="3354144"/>
            <a:ext cx="434109" cy="4341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B4E5A1BA-9DCD-F67B-223B-F4B500AE8B41}"/>
              </a:ext>
            </a:extLst>
          </p:cNvPr>
          <p:cNvSpPr/>
          <p:nvPr/>
        </p:nvSpPr>
        <p:spPr>
          <a:xfrm>
            <a:off x="5766741" y="2476690"/>
            <a:ext cx="434109" cy="4341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752A1C47-C550-ED41-1F0E-5401E26AEFF3}"/>
              </a:ext>
            </a:extLst>
          </p:cNvPr>
          <p:cNvSpPr/>
          <p:nvPr/>
        </p:nvSpPr>
        <p:spPr>
          <a:xfrm>
            <a:off x="5766741" y="3354144"/>
            <a:ext cx="434109" cy="4341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094665F9-9B16-2537-909B-C5DB1035BC60}"/>
              </a:ext>
            </a:extLst>
          </p:cNvPr>
          <p:cNvSpPr/>
          <p:nvPr/>
        </p:nvSpPr>
        <p:spPr>
          <a:xfrm>
            <a:off x="6861253" y="2476690"/>
            <a:ext cx="434109" cy="4341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9DFC4854-4A2D-C0E3-D076-886EC9B55C91}"/>
              </a:ext>
            </a:extLst>
          </p:cNvPr>
          <p:cNvSpPr/>
          <p:nvPr/>
        </p:nvSpPr>
        <p:spPr>
          <a:xfrm>
            <a:off x="6861253" y="3354144"/>
            <a:ext cx="434109" cy="4341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ED5B56BF-7D85-31E9-A609-D1469E0E82D1}"/>
              </a:ext>
            </a:extLst>
          </p:cNvPr>
          <p:cNvSpPr/>
          <p:nvPr/>
        </p:nvSpPr>
        <p:spPr>
          <a:xfrm>
            <a:off x="7955765" y="2476690"/>
            <a:ext cx="434109" cy="4341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8C9DC191-BBF6-5C97-3737-0494AB07AA55}"/>
              </a:ext>
            </a:extLst>
          </p:cNvPr>
          <p:cNvSpPr/>
          <p:nvPr/>
        </p:nvSpPr>
        <p:spPr>
          <a:xfrm>
            <a:off x="7955765" y="3354144"/>
            <a:ext cx="434109" cy="4341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2DA94BDA-5C63-04A6-E841-AA3C504AC4D9}"/>
              </a:ext>
            </a:extLst>
          </p:cNvPr>
          <p:cNvSpPr/>
          <p:nvPr/>
        </p:nvSpPr>
        <p:spPr>
          <a:xfrm>
            <a:off x="9050277" y="2476690"/>
            <a:ext cx="434109" cy="4341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16D9EDF6-BF13-DFC6-F0A6-724BCF12146A}"/>
              </a:ext>
            </a:extLst>
          </p:cNvPr>
          <p:cNvSpPr/>
          <p:nvPr/>
        </p:nvSpPr>
        <p:spPr>
          <a:xfrm>
            <a:off x="9050277" y="3354144"/>
            <a:ext cx="434109" cy="4341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73310646-FB79-7409-3833-E3268DB6D249}"/>
              </a:ext>
            </a:extLst>
          </p:cNvPr>
          <p:cNvSpPr/>
          <p:nvPr/>
        </p:nvSpPr>
        <p:spPr>
          <a:xfrm>
            <a:off x="10015248" y="2947744"/>
            <a:ext cx="434109" cy="43410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C942CDD4-F3A0-2E1E-2D0E-873296680E3F}"/>
              </a:ext>
            </a:extLst>
          </p:cNvPr>
          <p:cNvCxnSpPr>
            <a:stCxn id="2" idx="6"/>
            <a:endCxn id="9" idx="2"/>
          </p:cNvCxnSpPr>
          <p:nvPr/>
        </p:nvCxnSpPr>
        <p:spPr>
          <a:xfrm>
            <a:off x="1822802" y="2693745"/>
            <a:ext cx="6604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A5C8C6A4-FBE2-C63E-75E1-256AD9908BF5}"/>
              </a:ext>
            </a:extLst>
          </p:cNvPr>
          <p:cNvCxnSpPr>
            <a:cxnSpLocks/>
            <a:stCxn id="2" idx="6"/>
            <a:endCxn id="13" idx="2"/>
          </p:cNvCxnSpPr>
          <p:nvPr/>
        </p:nvCxnSpPr>
        <p:spPr>
          <a:xfrm>
            <a:off x="1822802" y="2693745"/>
            <a:ext cx="660403" cy="877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1E7B81FA-8A69-8F74-1F44-E4249E0ABB15}"/>
              </a:ext>
            </a:extLst>
          </p:cNvPr>
          <p:cNvCxnSpPr>
            <a:cxnSpLocks/>
            <a:stCxn id="6" idx="6"/>
            <a:endCxn id="9" idx="2"/>
          </p:cNvCxnSpPr>
          <p:nvPr/>
        </p:nvCxnSpPr>
        <p:spPr>
          <a:xfrm flipV="1">
            <a:off x="1822802" y="2693745"/>
            <a:ext cx="660403" cy="877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E41FD153-CDCD-D303-2BA2-9874AF2C3C90}"/>
              </a:ext>
            </a:extLst>
          </p:cNvPr>
          <p:cNvCxnSpPr>
            <a:cxnSpLocks/>
            <a:stCxn id="6" idx="6"/>
            <a:endCxn id="13" idx="2"/>
          </p:cNvCxnSpPr>
          <p:nvPr/>
        </p:nvCxnSpPr>
        <p:spPr>
          <a:xfrm>
            <a:off x="1822802" y="3571199"/>
            <a:ext cx="6604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FF2AFFF3-6D77-5E6A-986A-39BC77D92A0F}"/>
              </a:ext>
            </a:extLst>
          </p:cNvPr>
          <p:cNvCxnSpPr/>
          <p:nvPr/>
        </p:nvCxnSpPr>
        <p:spPr>
          <a:xfrm>
            <a:off x="2917313" y="2693745"/>
            <a:ext cx="6604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94693179-929E-DAC1-8B1E-E29A0C1D2F6F}"/>
              </a:ext>
            </a:extLst>
          </p:cNvPr>
          <p:cNvCxnSpPr>
            <a:cxnSpLocks/>
          </p:cNvCxnSpPr>
          <p:nvPr/>
        </p:nvCxnSpPr>
        <p:spPr>
          <a:xfrm>
            <a:off x="2917313" y="2693745"/>
            <a:ext cx="660403" cy="877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09A4AC6E-3310-779B-7ED8-0A660C65E006}"/>
              </a:ext>
            </a:extLst>
          </p:cNvPr>
          <p:cNvCxnSpPr>
            <a:cxnSpLocks/>
          </p:cNvCxnSpPr>
          <p:nvPr/>
        </p:nvCxnSpPr>
        <p:spPr>
          <a:xfrm flipV="1">
            <a:off x="2917313" y="2693745"/>
            <a:ext cx="660403" cy="877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916C5FF4-4F16-D41D-394A-7D35CA9FDDD3}"/>
              </a:ext>
            </a:extLst>
          </p:cNvPr>
          <p:cNvCxnSpPr>
            <a:cxnSpLocks/>
          </p:cNvCxnSpPr>
          <p:nvPr/>
        </p:nvCxnSpPr>
        <p:spPr>
          <a:xfrm>
            <a:off x="2917313" y="3571199"/>
            <a:ext cx="6604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2D7E0769-00E1-D9F4-5198-6743AC6F522A}"/>
              </a:ext>
            </a:extLst>
          </p:cNvPr>
          <p:cNvCxnSpPr/>
          <p:nvPr/>
        </p:nvCxnSpPr>
        <p:spPr>
          <a:xfrm>
            <a:off x="4011826" y="2701070"/>
            <a:ext cx="6604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FA48A63C-6D8B-7C39-FBD3-7EF09D311268}"/>
              </a:ext>
            </a:extLst>
          </p:cNvPr>
          <p:cNvCxnSpPr>
            <a:cxnSpLocks/>
          </p:cNvCxnSpPr>
          <p:nvPr/>
        </p:nvCxnSpPr>
        <p:spPr>
          <a:xfrm>
            <a:off x="4011826" y="2701070"/>
            <a:ext cx="660403" cy="877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7B361A3B-6642-83E8-A60E-5D01D80D2E25}"/>
              </a:ext>
            </a:extLst>
          </p:cNvPr>
          <p:cNvCxnSpPr>
            <a:cxnSpLocks/>
          </p:cNvCxnSpPr>
          <p:nvPr/>
        </p:nvCxnSpPr>
        <p:spPr>
          <a:xfrm flipV="1">
            <a:off x="4011826" y="2701070"/>
            <a:ext cx="660403" cy="877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5648A0CF-31DC-3A2C-237E-64AA50F983DA}"/>
              </a:ext>
            </a:extLst>
          </p:cNvPr>
          <p:cNvCxnSpPr>
            <a:cxnSpLocks/>
          </p:cNvCxnSpPr>
          <p:nvPr/>
        </p:nvCxnSpPr>
        <p:spPr>
          <a:xfrm>
            <a:off x="4011826" y="3578524"/>
            <a:ext cx="6604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89A592AF-54B9-D0A1-E0DA-6291D6E92F29}"/>
              </a:ext>
            </a:extLst>
          </p:cNvPr>
          <p:cNvCxnSpPr/>
          <p:nvPr/>
        </p:nvCxnSpPr>
        <p:spPr>
          <a:xfrm>
            <a:off x="5106337" y="2701070"/>
            <a:ext cx="6604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27E690F9-C48A-750C-E30B-5EA116A62CD1}"/>
              </a:ext>
            </a:extLst>
          </p:cNvPr>
          <p:cNvCxnSpPr>
            <a:cxnSpLocks/>
          </p:cNvCxnSpPr>
          <p:nvPr/>
        </p:nvCxnSpPr>
        <p:spPr>
          <a:xfrm>
            <a:off x="5106337" y="2701070"/>
            <a:ext cx="660403" cy="877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EFB7F7CA-3F3D-DB47-D9D4-D029DFD466BD}"/>
              </a:ext>
            </a:extLst>
          </p:cNvPr>
          <p:cNvCxnSpPr>
            <a:cxnSpLocks/>
          </p:cNvCxnSpPr>
          <p:nvPr/>
        </p:nvCxnSpPr>
        <p:spPr>
          <a:xfrm flipV="1">
            <a:off x="5106337" y="2701070"/>
            <a:ext cx="660403" cy="877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B269BFE1-56F8-B5EB-027E-4B05E2379463}"/>
              </a:ext>
            </a:extLst>
          </p:cNvPr>
          <p:cNvCxnSpPr>
            <a:cxnSpLocks/>
          </p:cNvCxnSpPr>
          <p:nvPr/>
        </p:nvCxnSpPr>
        <p:spPr>
          <a:xfrm>
            <a:off x="5106337" y="3578524"/>
            <a:ext cx="6604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E676D226-8A34-A7F8-5658-40DBE3D397E7}"/>
              </a:ext>
            </a:extLst>
          </p:cNvPr>
          <p:cNvCxnSpPr/>
          <p:nvPr/>
        </p:nvCxnSpPr>
        <p:spPr>
          <a:xfrm>
            <a:off x="6200848" y="2701070"/>
            <a:ext cx="6604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C790E272-0099-FBEA-0917-248CA4D6A4E0}"/>
              </a:ext>
            </a:extLst>
          </p:cNvPr>
          <p:cNvCxnSpPr>
            <a:cxnSpLocks/>
          </p:cNvCxnSpPr>
          <p:nvPr/>
        </p:nvCxnSpPr>
        <p:spPr>
          <a:xfrm>
            <a:off x="6200848" y="2701070"/>
            <a:ext cx="660403" cy="877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094C0631-9C49-6791-5480-4EE212F630C2}"/>
              </a:ext>
            </a:extLst>
          </p:cNvPr>
          <p:cNvCxnSpPr>
            <a:cxnSpLocks/>
          </p:cNvCxnSpPr>
          <p:nvPr/>
        </p:nvCxnSpPr>
        <p:spPr>
          <a:xfrm flipV="1">
            <a:off x="6200848" y="2701070"/>
            <a:ext cx="660403" cy="877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8B7B887C-BE1F-5082-154C-8D2EDC300489}"/>
              </a:ext>
            </a:extLst>
          </p:cNvPr>
          <p:cNvCxnSpPr>
            <a:cxnSpLocks/>
          </p:cNvCxnSpPr>
          <p:nvPr/>
        </p:nvCxnSpPr>
        <p:spPr>
          <a:xfrm>
            <a:off x="6200848" y="3578524"/>
            <a:ext cx="6604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343FDA97-CF93-25B8-65BF-4E14BCFB10AE}"/>
              </a:ext>
            </a:extLst>
          </p:cNvPr>
          <p:cNvCxnSpPr/>
          <p:nvPr/>
        </p:nvCxnSpPr>
        <p:spPr>
          <a:xfrm>
            <a:off x="7295359" y="2701070"/>
            <a:ext cx="6604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C4E6EBDF-91BB-BF68-A7E1-FEEE6E4F1878}"/>
              </a:ext>
            </a:extLst>
          </p:cNvPr>
          <p:cNvCxnSpPr>
            <a:cxnSpLocks/>
          </p:cNvCxnSpPr>
          <p:nvPr/>
        </p:nvCxnSpPr>
        <p:spPr>
          <a:xfrm>
            <a:off x="7295359" y="2701070"/>
            <a:ext cx="660403" cy="877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39B26608-9635-6944-9F2E-F243B4EBC14C}"/>
              </a:ext>
            </a:extLst>
          </p:cNvPr>
          <p:cNvCxnSpPr>
            <a:cxnSpLocks/>
          </p:cNvCxnSpPr>
          <p:nvPr/>
        </p:nvCxnSpPr>
        <p:spPr>
          <a:xfrm flipV="1">
            <a:off x="7295359" y="2701070"/>
            <a:ext cx="660403" cy="877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4EB3D4EA-E6DF-6DBB-DECD-E6F5C8B655D0}"/>
              </a:ext>
            </a:extLst>
          </p:cNvPr>
          <p:cNvCxnSpPr>
            <a:cxnSpLocks/>
          </p:cNvCxnSpPr>
          <p:nvPr/>
        </p:nvCxnSpPr>
        <p:spPr>
          <a:xfrm>
            <a:off x="7295359" y="3578524"/>
            <a:ext cx="6604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1961781F-7859-B25B-7315-74B707512331}"/>
              </a:ext>
            </a:extLst>
          </p:cNvPr>
          <p:cNvCxnSpPr/>
          <p:nvPr/>
        </p:nvCxnSpPr>
        <p:spPr>
          <a:xfrm>
            <a:off x="8389874" y="2693745"/>
            <a:ext cx="6604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3EB7A26C-946C-80D0-9488-0B856A71B892}"/>
              </a:ext>
            </a:extLst>
          </p:cNvPr>
          <p:cNvCxnSpPr>
            <a:cxnSpLocks/>
          </p:cNvCxnSpPr>
          <p:nvPr/>
        </p:nvCxnSpPr>
        <p:spPr>
          <a:xfrm>
            <a:off x="8389874" y="2693745"/>
            <a:ext cx="660403" cy="877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EC5BB28E-3D0E-D886-4488-5A0A0580C20D}"/>
              </a:ext>
            </a:extLst>
          </p:cNvPr>
          <p:cNvCxnSpPr>
            <a:cxnSpLocks/>
          </p:cNvCxnSpPr>
          <p:nvPr/>
        </p:nvCxnSpPr>
        <p:spPr>
          <a:xfrm flipV="1">
            <a:off x="8389874" y="2693745"/>
            <a:ext cx="660403" cy="877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89BF15D1-AB72-0B2F-EF7B-67A1B53096F4}"/>
              </a:ext>
            </a:extLst>
          </p:cNvPr>
          <p:cNvCxnSpPr>
            <a:cxnSpLocks/>
          </p:cNvCxnSpPr>
          <p:nvPr/>
        </p:nvCxnSpPr>
        <p:spPr>
          <a:xfrm>
            <a:off x="8389874" y="3571199"/>
            <a:ext cx="6604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8364A96C-AB40-5914-28EF-C070B72D129E}"/>
              </a:ext>
            </a:extLst>
          </p:cNvPr>
          <p:cNvCxnSpPr>
            <a:cxnSpLocks/>
            <a:stCxn id="38" idx="6"/>
            <a:endCxn id="42" idx="2"/>
          </p:cNvCxnSpPr>
          <p:nvPr/>
        </p:nvCxnSpPr>
        <p:spPr>
          <a:xfrm>
            <a:off x="9484386" y="2693745"/>
            <a:ext cx="530862" cy="4710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39C5D5AF-575D-B7DF-753E-0A4406FB3854}"/>
              </a:ext>
            </a:extLst>
          </p:cNvPr>
          <p:cNvCxnSpPr>
            <a:cxnSpLocks/>
            <a:stCxn id="40" idx="6"/>
            <a:endCxn id="42" idx="2"/>
          </p:cNvCxnSpPr>
          <p:nvPr/>
        </p:nvCxnSpPr>
        <p:spPr>
          <a:xfrm flipV="1">
            <a:off x="9484386" y="3164799"/>
            <a:ext cx="530862" cy="406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5E40BD79-EC49-C3FC-A200-D8043BEFBDBB}"/>
                  </a:ext>
                </a:extLst>
              </p:cNvPr>
              <p:cNvSpPr txBox="1"/>
              <p:nvPr/>
            </p:nvSpPr>
            <p:spPr>
              <a:xfrm>
                <a:off x="817285" y="2448982"/>
                <a:ext cx="3809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ko-KR" altLang="en-US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5E40BD79-EC49-C3FC-A200-D8043BEFBD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285" y="2448982"/>
                <a:ext cx="380938" cy="369332"/>
              </a:xfrm>
              <a:prstGeom prst="rect">
                <a:avLst/>
              </a:prstGeom>
              <a:blipFill>
                <a:blip r:embed="rId2"/>
                <a:stretch>
                  <a:fillRect l="-7937" r="-4762" b="-1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29817EE4-9443-FA46-D1C8-E1A0FC368F93}"/>
                  </a:ext>
                </a:extLst>
              </p:cNvPr>
              <p:cNvSpPr txBox="1"/>
              <p:nvPr/>
            </p:nvSpPr>
            <p:spPr>
              <a:xfrm>
                <a:off x="831289" y="3236902"/>
                <a:ext cx="38805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24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29817EE4-9443-FA46-D1C8-E1A0FC368F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289" y="3236902"/>
                <a:ext cx="388055" cy="369332"/>
              </a:xfrm>
              <a:prstGeom prst="rect">
                <a:avLst/>
              </a:prstGeom>
              <a:blipFill>
                <a:blip r:embed="rId3"/>
                <a:stretch>
                  <a:fillRect l="-7813" r="-4688" b="-163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55C7F0C1-5CB5-DC57-CD58-E0885BBD64AB}"/>
                  </a:ext>
                </a:extLst>
              </p:cNvPr>
              <p:cNvSpPr txBox="1"/>
              <p:nvPr/>
            </p:nvSpPr>
            <p:spPr>
              <a:xfrm>
                <a:off x="11172865" y="2998667"/>
                <a:ext cx="2617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ko-KR" altLang="en-US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55C7F0C1-5CB5-DC57-CD58-E0885BBD64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2865" y="2998667"/>
                <a:ext cx="261738" cy="369332"/>
              </a:xfrm>
              <a:prstGeom prst="rect">
                <a:avLst/>
              </a:prstGeom>
              <a:blipFill>
                <a:blip r:embed="rId4"/>
                <a:stretch>
                  <a:fillRect l="-25581" t="-15000" r="-74419" b="-3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958D2BB3-428A-76B0-BEAD-59DF5F61F84D}"/>
              </a:ext>
            </a:extLst>
          </p:cNvPr>
          <p:cNvCxnSpPr>
            <a:cxnSpLocks/>
            <a:stCxn id="42" idx="6"/>
            <a:endCxn id="88" idx="1"/>
          </p:cNvCxnSpPr>
          <p:nvPr/>
        </p:nvCxnSpPr>
        <p:spPr>
          <a:xfrm>
            <a:off x="10449357" y="3164799"/>
            <a:ext cx="723508" cy="185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A6BBC89C-C0C9-FCC7-BF54-7F944977BEB7}"/>
                  </a:ext>
                </a:extLst>
              </p:cNvPr>
              <p:cNvSpPr txBox="1"/>
              <p:nvPr/>
            </p:nvSpPr>
            <p:spPr>
              <a:xfrm>
                <a:off x="5896048" y="5208350"/>
                <a:ext cx="1190839" cy="5195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ko-KR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ko-KR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ko-KR" altLang="en-US" sz="20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1.5</m:t>
                                </m:r>
                              </m:e>
                              <m:e>
                                <m:r>
                                  <a:rPr lang="ko-KR" altLang="en-US" sz="20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ko-KR" altLang="en-US" sz="20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ko-KR" altLang="en-US" sz="20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1.5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A6BBC89C-C0C9-FCC7-BF54-7F944977BE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6048" y="5208350"/>
                <a:ext cx="1190839" cy="51950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C6D79763-1980-A7A3-0921-DE4C54F53472}"/>
                  </a:ext>
                </a:extLst>
              </p:cNvPr>
              <p:cNvSpPr txBox="1"/>
              <p:nvPr/>
            </p:nvSpPr>
            <p:spPr>
              <a:xfrm>
                <a:off x="3238824" y="5208350"/>
                <a:ext cx="1190839" cy="5195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ko-KR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ko-KR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sz="20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ko-KR" altLang="en-US" sz="20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.5</m:t>
                                </m:r>
                              </m:e>
                              <m:e>
                                <m:r>
                                  <a:rPr lang="ko-KR" altLang="en-US" sz="20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ko-KR" altLang="en-US" sz="20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0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ko-KR" altLang="en-US" sz="20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C6D79763-1980-A7A3-0921-DE4C54F534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824" y="5208350"/>
                <a:ext cx="1190839" cy="51950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5F628494-51E9-62E7-EE3C-510B3037BDAE}"/>
                  </a:ext>
                </a:extLst>
              </p:cNvPr>
              <p:cNvSpPr txBox="1"/>
              <p:nvPr/>
            </p:nvSpPr>
            <p:spPr>
              <a:xfrm>
                <a:off x="5080220" y="5273002"/>
                <a:ext cx="77143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ko-KR" alt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sz="24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p>
                          <m:r>
                            <a:rPr lang="ko-KR" altLang="en-US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p>
                      <m:r>
                        <a:rPr lang="ko-KR" altLang="en-US" sz="2400" i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5F628494-51E9-62E7-EE3C-510B3037BD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220" y="5273002"/>
                <a:ext cx="771430" cy="369332"/>
              </a:xfrm>
              <a:prstGeom prst="rect">
                <a:avLst/>
              </a:prstGeom>
              <a:blipFill>
                <a:blip r:embed="rId7"/>
                <a:stretch>
                  <a:fillRect l="-3937" r="-23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B9FDCD64-68F1-3345-1CDE-818DCB9FB800}"/>
                  </a:ext>
                </a:extLst>
              </p:cNvPr>
              <p:cNvSpPr txBox="1"/>
              <p:nvPr/>
            </p:nvSpPr>
            <p:spPr>
              <a:xfrm>
                <a:off x="2275193" y="5262328"/>
                <a:ext cx="77143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ko-KR" alt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sz="24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p>
                          <m:r>
                            <a:rPr lang="ko-KR" altLang="en-US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p>
                      <m:r>
                        <a:rPr lang="ko-KR" altLang="en-US" sz="2400" i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B9FDCD64-68F1-3345-1CDE-818DCB9FB8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5193" y="5262328"/>
                <a:ext cx="771430" cy="369332"/>
              </a:xfrm>
              <a:prstGeom prst="rect">
                <a:avLst/>
              </a:prstGeom>
              <a:blipFill>
                <a:blip r:embed="rId8"/>
                <a:stretch>
                  <a:fillRect l="-3937" r="-2362" b="-163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TextBox 100">
            <a:extLst>
              <a:ext uri="{FF2B5EF4-FFF2-40B4-BE49-F238E27FC236}">
                <a16:creationId xmlns:a16="http://schemas.microsoft.com/office/drawing/2014/main" id="{B8C3B0BA-FD06-65D4-A735-9D9F9A7BE094}"/>
              </a:ext>
            </a:extLst>
          </p:cNvPr>
          <p:cNvSpPr txBox="1"/>
          <p:nvPr/>
        </p:nvSpPr>
        <p:spPr>
          <a:xfrm>
            <a:off x="3243585" y="4665706"/>
            <a:ext cx="24554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Vanishing</a:t>
            </a:r>
            <a:endParaRPr lang="ko-KR" altLang="en-US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0049FCA-B6A0-81FB-CDCB-98D0166602B8}"/>
              </a:ext>
            </a:extLst>
          </p:cNvPr>
          <p:cNvSpPr txBox="1"/>
          <p:nvPr/>
        </p:nvSpPr>
        <p:spPr>
          <a:xfrm>
            <a:off x="5818780" y="4665706"/>
            <a:ext cx="12681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Exploding </a:t>
            </a:r>
            <a:endParaRPr lang="ko-KR" altLang="en-US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DD3E6727-D231-F632-A755-3ADAA5B88389}"/>
              </a:ext>
            </a:extLst>
          </p:cNvPr>
          <p:cNvSpPr txBox="1"/>
          <p:nvPr/>
        </p:nvSpPr>
        <p:spPr>
          <a:xfrm>
            <a:off x="6531049" y="6068240"/>
            <a:ext cx="8373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Youtube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850113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6B395-0D3F-5334-B2B7-B3707E7F2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EBE7084-4D72-978F-1456-0C107B4B61A3}"/>
              </a:ext>
            </a:extLst>
          </p:cNvPr>
          <p:cNvSpPr/>
          <p:nvPr/>
        </p:nvSpPr>
        <p:spPr>
          <a:xfrm>
            <a:off x="1960880" y="2285999"/>
            <a:ext cx="650240" cy="189165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12C93DE-2138-BBA0-EDA6-9A8887A1D37A}"/>
              </a:ext>
            </a:extLst>
          </p:cNvPr>
          <p:cNvSpPr/>
          <p:nvPr/>
        </p:nvSpPr>
        <p:spPr>
          <a:xfrm>
            <a:off x="2699544" y="2285999"/>
            <a:ext cx="650240" cy="189165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F902C4F-5E7D-5990-0DE1-785685602C2B}"/>
              </a:ext>
            </a:extLst>
          </p:cNvPr>
          <p:cNvSpPr/>
          <p:nvPr/>
        </p:nvSpPr>
        <p:spPr>
          <a:xfrm>
            <a:off x="3438209" y="2285999"/>
            <a:ext cx="650240" cy="18916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23F105-563D-ECCC-BFD8-8E493E131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F86FFC4-D8BC-9393-A237-2A402D3F188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Batch Normalization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295E6B-4A9E-55C8-95B8-E001CCC1BD59}"/>
              </a:ext>
            </a:extLst>
          </p:cNvPr>
          <p:cNvSpPr txBox="1"/>
          <p:nvPr/>
        </p:nvSpPr>
        <p:spPr>
          <a:xfrm>
            <a:off x="616189" y="1305493"/>
            <a:ext cx="10952480" cy="88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활성화 함수의 입력 값으로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Batch Normalization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을 수행 한 결과 값을 사용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(Batch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개수 만큼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parameters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추정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A880B5-3C7A-D2B5-74AD-A84E2A85E10A}"/>
              </a:ext>
            </a:extLst>
          </p:cNvPr>
          <p:cNvSpPr txBox="1"/>
          <p:nvPr/>
        </p:nvSpPr>
        <p:spPr>
          <a:xfrm rot="10800000">
            <a:off x="1916668" y="2809677"/>
            <a:ext cx="738664" cy="113107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Fully </a:t>
            </a:r>
          </a:p>
          <a:p>
            <a:pPr algn="ctr"/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Connected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6DC2D0-CBD6-BCB8-A9ED-1579B61E2B31}"/>
              </a:ext>
            </a:extLst>
          </p:cNvPr>
          <p:cNvSpPr txBox="1"/>
          <p:nvPr/>
        </p:nvSpPr>
        <p:spPr>
          <a:xfrm rot="10800000">
            <a:off x="2669065" y="3046027"/>
            <a:ext cx="738664" cy="66941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Batch</a:t>
            </a:r>
          </a:p>
          <a:p>
            <a:pPr algn="ctr"/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Norm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CE1F99-FEBF-6375-85B3-269957A2C257}"/>
              </a:ext>
            </a:extLst>
          </p:cNvPr>
          <p:cNvSpPr txBox="1"/>
          <p:nvPr/>
        </p:nvSpPr>
        <p:spPr>
          <a:xfrm rot="10800000">
            <a:off x="3398126" y="2727960"/>
            <a:ext cx="738664" cy="124649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Activation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C22D93A-EC57-151F-FCAE-BFC27A1507EA}"/>
              </a:ext>
            </a:extLst>
          </p:cNvPr>
          <p:cNvSpPr/>
          <p:nvPr/>
        </p:nvSpPr>
        <p:spPr>
          <a:xfrm>
            <a:off x="5110480" y="2285999"/>
            <a:ext cx="650240" cy="189165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EEB34C7-E6AC-CC92-11A3-108664DAE389}"/>
              </a:ext>
            </a:extLst>
          </p:cNvPr>
          <p:cNvSpPr/>
          <p:nvPr/>
        </p:nvSpPr>
        <p:spPr>
          <a:xfrm>
            <a:off x="5849144" y="2285999"/>
            <a:ext cx="650240" cy="189165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1EF0046-010E-B942-EB13-FDF3823A3CDA}"/>
              </a:ext>
            </a:extLst>
          </p:cNvPr>
          <p:cNvSpPr/>
          <p:nvPr/>
        </p:nvSpPr>
        <p:spPr>
          <a:xfrm>
            <a:off x="6587809" y="2285999"/>
            <a:ext cx="650240" cy="18916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D610CC-4157-54C9-6912-801D11D03AEF}"/>
              </a:ext>
            </a:extLst>
          </p:cNvPr>
          <p:cNvSpPr txBox="1"/>
          <p:nvPr/>
        </p:nvSpPr>
        <p:spPr>
          <a:xfrm rot="10800000">
            <a:off x="5074245" y="2702350"/>
            <a:ext cx="738664" cy="113107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Fully </a:t>
            </a:r>
          </a:p>
          <a:p>
            <a:pPr algn="ctr"/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Connected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BA0DCDD-704A-B4C9-3124-8EA6CC74D991}"/>
              </a:ext>
            </a:extLst>
          </p:cNvPr>
          <p:cNvSpPr txBox="1"/>
          <p:nvPr/>
        </p:nvSpPr>
        <p:spPr>
          <a:xfrm rot="10800000">
            <a:off x="5818665" y="3046027"/>
            <a:ext cx="738664" cy="66941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Batch</a:t>
            </a:r>
          </a:p>
          <a:p>
            <a:pPr algn="ctr"/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Norm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03522F4-73D3-3982-293B-B7065C04EF9F}"/>
              </a:ext>
            </a:extLst>
          </p:cNvPr>
          <p:cNvSpPr txBox="1"/>
          <p:nvPr/>
        </p:nvSpPr>
        <p:spPr>
          <a:xfrm rot="10800000">
            <a:off x="6557328" y="2727960"/>
            <a:ext cx="738664" cy="124649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Activation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49482D3-DEAC-9030-C4CB-3A6D411EACF2}"/>
              </a:ext>
            </a:extLst>
          </p:cNvPr>
          <p:cNvSpPr/>
          <p:nvPr/>
        </p:nvSpPr>
        <p:spPr>
          <a:xfrm>
            <a:off x="8239760" y="2285999"/>
            <a:ext cx="650240" cy="189165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EFA9BAE-87F1-6A0B-66C8-7BD198CD6402}"/>
              </a:ext>
            </a:extLst>
          </p:cNvPr>
          <p:cNvSpPr/>
          <p:nvPr/>
        </p:nvSpPr>
        <p:spPr>
          <a:xfrm>
            <a:off x="8978424" y="2285999"/>
            <a:ext cx="650240" cy="189165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2FD7490-A807-6A3A-6E35-B823F3D46F2F}"/>
              </a:ext>
            </a:extLst>
          </p:cNvPr>
          <p:cNvSpPr/>
          <p:nvPr/>
        </p:nvSpPr>
        <p:spPr>
          <a:xfrm>
            <a:off x="9717089" y="2285999"/>
            <a:ext cx="650240" cy="18916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30F1760-0325-25D9-F08F-42A0E72EA1C2}"/>
              </a:ext>
            </a:extLst>
          </p:cNvPr>
          <p:cNvSpPr txBox="1"/>
          <p:nvPr/>
        </p:nvSpPr>
        <p:spPr>
          <a:xfrm rot="10800000">
            <a:off x="8195548" y="2809677"/>
            <a:ext cx="738664" cy="113107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Fully </a:t>
            </a:r>
          </a:p>
          <a:p>
            <a:pPr algn="ctr"/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Connected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1FB1D83-1758-6891-22AF-7799C78D836D}"/>
              </a:ext>
            </a:extLst>
          </p:cNvPr>
          <p:cNvSpPr txBox="1"/>
          <p:nvPr/>
        </p:nvSpPr>
        <p:spPr>
          <a:xfrm rot="10800000">
            <a:off x="8947945" y="3046027"/>
            <a:ext cx="738664" cy="66941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Batch</a:t>
            </a:r>
          </a:p>
          <a:p>
            <a:pPr algn="ctr"/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Norm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9028659-3778-0C5D-0B6E-E89CC91A0285}"/>
              </a:ext>
            </a:extLst>
          </p:cNvPr>
          <p:cNvSpPr txBox="1"/>
          <p:nvPr/>
        </p:nvSpPr>
        <p:spPr>
          <a:xfrm rot="10800000">
            <a:off x="9686608" y="2727961"/>
            <a:ext cx="738664" cy="124649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Activation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C839C82D-E58E-82FE-652D-BBB6A22F4C6D}"/>
              </a:ext>
            </a:extLst>
          </p:cNvPr>
          <p:cNvCxnSpPr>
            <a:cxnSpLocks/>
          </p:cNvCxnSpPr>
          <p:nvPr/>
        </p:nvCxnSpPr>
        <p:spPr>
          <a:xfrm>
            <a:off x="1054180" y="3272588"/>
            <a:ext cx="8929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DF5D7934-C138-266B-6EEB-7030DCF6229F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>
            <a:off x="4088449" y="3231827"/>
            <a:ext cx="10220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9E98D962-ADA5-99BA-2F8B-7793D84B547B}"/>
              </a:ext>
            </a:extLst>
          </p:cNvPr>
          <p:cNvCxnSpPr>
            <a:cxnSpLocks/>
          </p:cNvCxnSpPr>
          <p:nvPr/>
        </p:nvCxnSpPr>
        <p:spPr>
          <a:xfrm>
            <a:off x="7238049" y="3267890"/>
            <a:ext cx="10220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28356FE2-0060-EB9C-941B-FAD665D5E48E}"/>
              </a:ext>
            </a:extLst>
          </p:cNvPr>
          <p:cNvCxnSpPr>
            <a:cxnSpLocks/>
          </p:cNvCxnSpPr>
          <p:nvPr/>
        </p:nvCxnSpPr>
        <p:spPr>
          <a:xfrm>
            <a:off x="10369747" y="3289278"/>
            <a:ext cx="8929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6" name="그림 85">
            <a:extLst>
              <a:ext uri="{FF2B5EF4-FFF2-40B4-BE49-F238E27FC236}">
                <a16:creationId xmlns:a16="http://schemas.microsoft.com/office/drawing/2014/main" id="{86C1B6D1-2E73-5219-1E77-CEA5A1F5FF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8125" y="4670038"/>
            <a:ext cx="6264183" cy="1844200"/>
          </a:xfrm>
          <a:prstGeom prst="rect">
            <a:avLst/>
          </a:prstGeom>
        </p:spPr>
      </p:pic>
      <p:cxnSp>
        <p:nvCxnSpPr>
          <p:cNvPr id="91" name="연결선: 구부러짐 90">
            <a:extLst>
              <a:ext uri="{FF2B5EF4-FFF2-40B4-BE49-F238E27FC236}">
                <a16:creationId xmlns:a16="http://schemas.microsoft.com/office/drawing/2014/main" id="{0B4B36B6-EB48-949A-9356-2A96FE8F36AF}"/>
              </a:ext>
            </a:extLst>
          </p:cNvPr>
          <p:cNvCxnSpPr>
            <a:endCxn id="16" idx="2"/>
          </p:cNvCxnSpPr>
          <p:nvPr/>
        </p:nvCxnSpPr>
        <p:spPr>
          <a:xfrm flipV="1">
            <a:off x="4826000" y="4177655"/>
            <a:ext cx="1348264" cy="492383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연결선: 구부러짐 91">
            <a:extLst>
              <a:ext uri="{FF2B5EF4-FFF2-40B4-BE49-F238E27FC236}">
                <a16:creationId xmlns:a16="http://schemas.microsoft.com/office/drawing/2014/main" id="{7F1E6337-A264-B8D7-7690-DF253554F057}"/>
              </a:ext>
            </a:extLst>
          </p:cNvPr>
          <p:cNvCxnSpPr>
            <a:cxnSpLocks/>
            <a:endCxn id="27" idx="2"/>
          </p:cNvCxnSpPr>
          <p:nvPr/>
        </p:nvCxnSpPr>
        <p:spPr>
          <a:xfrm flipV="1">
            <a:off x="8239760" y="4177655"/>
            <a:ext cx="1063784" cy="48505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537A1218-ABDE-4068-3F51-F6F95D08EEA1}"/>
              </a:ext>
            </a:extLst>
          </p:cNvPr>
          <p:cNvSpPr txBox="1"/>
          <p:nvPr/>
        </p:nvSpPr>
        <p:spPr>
          <a:xfrm>
            <a:off x="2285999" y="4990656"/>
            <a:ext cx="9949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Batch 1</a:t>
            </a:r>
            <a:endParaRPr lang="ko-KR" altLang="en-US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690D3B-B7A9-9622-5958-64850429C0E4}"/>
              </a:ext>
            </a:extLst>
          </p:cNvPr>
          <p:cNvSpPr txBox="1"/>
          <p:nvPr/>
        </p:nvSpPr>
        <p:spPr>
          <a:xfrm>
            <a:off x="2285999" y="5666929"/>
            <a:ext cx="9949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Batch 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01992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0" grpId="0"/>
      <p:bldP spid="16" grpId="0" animBg="1"/>
      <p:bldP spid="21" grpId="0"/>
      <p:bldP spid="27" grpId="0" animBg="1"/>
      <p:bldP spid="33" grpId="0"/>
      <p:bldP spid="98" grpId="0"/>
      <p:bldP spid="10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8E021-D61F-7A22-2B28-57928EFA8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5F834A-EF1A-5876-81E9-FF7A9A30D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6E15B4B-6367-2059-381E-10BDA7C61D2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Batch Normalization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952C542-BEED-89A0-F4FA-067B93E07E4B}"/>
                  </a:ext>
                </a:extLst>
              </p:cNvPr>
              <p:cNvSpPr txBox="1"/>
              <p:nvPr/>
            </p:nvSpPr>
            <p:spPr>
              <a:xfrm>
                <a:off x="616189" y="1305493"/>
                <a:ext cx="10952480" cy="879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Batch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가 끝날 때 마다 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Parameters(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dirty="0">
                        <a:latin typeface="Cambria Math" panose="02040503050406030204" pitchFamily="18" charset="0"/>
                      </a:rPr>
                      <m:t>Weights</m:t>
                    </m:r>
                    <m:r>
                      <a:rPr lang="en-US" altLang="ko-KR" dirty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altLang="ko-KR" dirty="0">
                        <a:latin typeface="Cambria Math" panose="02040503050406030204" pitchFamily="18" charset="0"/>
                      </a:rPr>
                      <m:t>bias</m:t>
                    </m:r>
                    <m:r>
                      <a:rPr lang="en-US" altLang="ko-KR" dirty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ko-KR" altLang="en-US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dirty="0">
                        <a:latin typeface="Cambria Math" panose="02040503050406030204" pitchFamily="18" charset="0"/>
                      </a:rPr>
                      <m:t>&amp;</m:t>
                    </m:r>
                    <m:r>
                      <a:rPr lang="en-US" altLang="ko-KR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 dirty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ko-KR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)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를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</a:t>
                </a:r>
                <a:r>
                  <a:rPr lang="ko-KR" altLang="en-US" dirty="0" err="1">
                    <a:latin typeface="D2Coding" panose="020B0609020101020101" pitchFamily="49" charset="-127"/>
                    <a:ea typeface="D2Coding" panose="020B0609020101020101" pitchFamily="49" charset="-127"/>
                  </a:rPr>
                  <a:t>경사하강법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(Gradient Descent)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으로 딱 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1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회 업데이트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ko-KR" altLang="en-US" i="1" dirty="0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는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학습률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) 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하고 평균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ko-KR" altLang="en-US" i="1" dirty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)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과 분산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ko-KR" altLang="en-US" i="1" dirty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)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parameters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는 계산만 하게 됨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952C542-BEED-89A0-F4FA-067B93E07E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189" y="1305493"/>
                <a:ext cx="10952480" cy="879984"/>
              </a:xfrm>
              <a:prstGeom prst="rect">
                <a:avLst/>
              </a:prstGeom>
              <a:blipFill>
                <a:blip r:embed="rId2"/>
                <a:stretch>
                  <a:fillRect l="-445" b="-96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그림 5">
            <a:extLst>
              <a:ext uri="{FF2B5EF4-FFF2-40B4-BE49-F238E27FC236}">
                <a16:creationId xmlns:a16="http://schemas.microsoft.com/office/drawing/2014/main" id="{A13F4FA6-5BBF-0228-1335-4BEFCED8FA5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190625" y="2810984"/>
            <a:ext cx="3377055" cy="319790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01B1507-D5ED-F706-9301-471A8F8808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0722" y="2810984"/>
            <a:ext cx="1767993" cy="2057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595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8B8CC-BEE0-D101-B4AC-6955C2DB6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949B9C-E0C2-5E0F-73E2-3E2EEB3F2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A79379F2-EF06-0160-1258-B76A6AE0E3C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Batch Normalization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96733AB-4155-C169-0035-A8BBCF0ABB05}"/>
                  </a:ext>
                </a:extLst>
              </p:cNvPr>
              <p:cNvSpPr txBox="1"/>
              <p:nvPr/>
            </p:nvSpPr>
            <p:spPr>
              <a:xfrm>
                <a:off x="616189" y="1305493"/>
                <a:ext cx="10952480" cy="12286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7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아래 모델의 총</a:t>
                </a:r>
                <a:r>
                  <a:rPr lang="en-US" altLang="ko-KR" sz="17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</a:t>
                </a:r>
                <a:r>
                  <a:rPr lang="en-US" altLang="ko-KR" sz="1700" dirty="0" err="1">
                    <a:latin typeface="D2Coding" panose="020B0609020101020101" pitchFamily="49" charset="-127"/>
                    <a:ea typeface="D2Coding" panose="020B0609020101020101" pitchFamily="49" charset="-127"/>
                  </a:rPr>
                  <a:t>paramters</a:t>
                </a:r>
                <a:r>
                  <a:rPr lang="ko-KR" altLang="en-US" sz="17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개수를 구하라</a:t>
                </a:r>
                <a:r>
                  <a:rPr lang="en-US" altLang="ko-KR" sz="17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(</a:t>
                </a:r>
                <a:r>
                  <a:rPr lang="ko-KR" altLang="en-US" sz="17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첫번째 </a:t>
                </a:r>
                <a:r>
                  <a:rPr lang="en-US" altLang="ko-KR" sz="17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Batch norm layer</a:t>
                </a:r>
                <a:r>
                  <a:rPr lang="ko-KR" altLang="en-US" sz="17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의 파라미터 </a:t>
                </a:r>
                <a:r>
                  <a:rPr lang="en-US" altLang="ko-KR" sz="17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3,136(28*28*4)</a:t>
                </a:r>
                <a:r>
                  <a:rPr lang="ko-KR" altLang="en-US" sz="17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개 중에서 </a:t>
                </a:r>
                <a:r>
                  <a:rPr lang="ko-KR" altLang="en-US" sz="1700" dirty="0" err="1">
                    <a:latin typeface="D2Coding" panose="020B0609020101020101" pitchFamily="49" charset="-127"/>
                    <a:ea typeface="D2Coding" panose="020B0609020101020101" pitchFamily="49" charset="-127"/>
                  </a:rPr>
                  <a:t>경사하강법으로</a:t>
                </a:r>
                <a:r>
                  <a:rPr lang="ko-KR" altLang="en-US" sz="17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</a:t>
                </a:r>
                <a:r>
                  <a:rPr lang="ko-KR" altLang="en-US" sz="1700" dirty="0" err="1">
                    <a:latin typeface="D2Coding" panose="020B0609020101020101" pitchFamily="49" charset="-127"/>
                    <a:ea typeface="D2Coding" panose="020B0609020101020101" pitchFamily="49" charset="-127"/>
                  </a:rPr>
                  <a:t>역전파</a:t>
                </a:r>
                <a:r>
                  <a:rPr lang="ko-KR" altLang="en-US" sz="17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때 직접 학습시키는 파라미터</a:t>
                </a:r>
                <a:r>
                  <a:rPr lang="en-US" altLang="ko-KR" sz="17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(Trainable)</a:t>
                </a:r>
                <a:r>
                  <a:rPr lang="ko-KR" altLang="en-US" sz="17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는 </a:t>
                </a:r>
                <a14:m>
                  <m:oMath xmlns:m="http://schemas.openxmlformats.org/officeDocument/2006/math">
                    <m:r>
                      <a:rPr lang="ko-KR" altLang="en-US" sz="1700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ko-KR" sz="17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700" dirty="0">
                        <a:latin typeface="Cambria Math" panose="02040503050406030204" pitchFamily="18" charset="0"/>
                      </a:rPr>
                      <m:t>&amp;</m:t>
                    </m:r>
                    <m:r>
                      <a:rPr lang="en-US" altLang="ko-KR" sz="170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sz="1700" i="1" dirty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ko-KR" sz="17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2</a:t>
                </a:r>
                <a:r>
                  <a:rPr lang="ko-KR" altLang="en-US" sz="17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뿐이라 총 </a:t>
                </a:r>
                <a:r>
                  <a:rPr lang="en-US" altLang="ko-KR" sz="17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1,568</a:t>
                </a:r>
                <a:r>
                  <a:rPr lang="ko-KR" altLang="en-US" sz="17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개</a:t>
                </a:r>
                <a:r>
                  <a:rPr lang="en-US" altLang="ko-KR" sz="17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(784*2)</a:t>
                </a:r>
                <a:r>
                  <a:rPr lang="ko-KR" altLang="en-US" sz="17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이고</a:t>
                </a:r>
                <a:r>
                  <a:rPr lang="en-US" altLang="ko-KR" sz="17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, </a:t>
                </a:r>
                <a:r>
                  <a:rPr lang="ko-KR" altLang="en-US" sz="17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나머지 </a:t>
                </a:r>
                <a:r>
                  <a:rPr lang="en-US" altLang="ko-KR" sz="17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1,568</a:t>
                </a:r>
                <a:r>
                  <a:rPr lang="ko-KR" altLang="en-US" sz="17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개</a:t>
                </a:r>
                <a:r>
                  <a:rPr lang="en-US" altLang="ko-KR" sz="17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ko-KR" altLang="en-US" sz="1700" i="1" dirty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altLang="ko-KR" sz="17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ko-KR" sz="1700" b="0" i="0" dirty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ko-KR" altLang="en-US" sz="1700" i="1" dirty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altLang="ko-KR" sz="17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)</a:t>
                </a:r>
                <a:r>
                  <a:rPr lang="ko-KR" altLang="en-US" sz="17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는 훈련 과정에서 통계를 내어 </a:t>
                </a:r>
                <a:r>
                  <a:rPr lang="ko-KR" altLang="en-US" sz="1700" dirty="0" err="1">
                    <a:latin typeface="D2Coding" panose="020B0609020101020101" pitchFamily="49" charset="-127"/>
                    <a:ea typeface="D2Coding" panose="020B0609020101020101" pitchFamily="49" charset="-127"/>
                  </a:rPr>
                  <a:t>저장만하는</a:t>
                </a:r>
                <a:r>
                  <a:rPr lang="ko-KR" altLang="en-US" sz="17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파라미터</a:t>
                </a:r>
                <a:r>
                  <a:rPr lang="en-US" altLang="ko-KR" sz="17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(Non-trainable) </a:t>
                </a:r>
                <a:r>
                  <a:rPr lang="ko-KR" altLang="en-US" sz="17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임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96733AB-4155-C169-0035-A8BBCF0ABB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189" y="1305493"/>
                <a:ext cx="10952480" cy="1228670"/>
              </a:xfrm>
              <a:prstGeom prst="rect">
                <a:avLst/>
              </a:prstGeom>
              <a:blipFill>
                <a:blip r:embed="rId2"/>
                <a:stretch>
                  <a:fillRect l="-334" r="-111" b="-54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D2EA454E-28E0-3B60-ADC8-85CC06DFDF49}"/>
              </a:ext>
            </a:extLst>
          </p:cNvPr>
          <p:cNvSpPr txBox="1"/>
          <p:nvPr/>
        </p:nvSpPr>
        <p:spPr>
          <a:xfrm>
            <a:off x="720745" y="2798848"/>
            <a:ext cx="7752695" cy="3419975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model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keras.models.Sequential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([</a:t>
            </a:r>
          </a:p>
          <a:p>
            <a:pPr>
              <a:lnSpc>
                <a:spcPct val="150000"/>
              </a:lnSpc>
            </a:pP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keras.layers.Flatten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input_shape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=[28, 28]),</a:t>
            </a:r>
          </a:p>
          <a:p>
            <a:pPr>
              <a:lnSpc>
                <a:spcPct val="150000"/>
              </a:lnSpc>
            </a:pP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keras.layers.BatchNormalization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(),</a:t>
            </a:r>
          </a:p>
          <a:p>
            <a:pPr>
              <a:lnSpc>
                <a:spcPct val="150000"/>
              </a:lnSpc>
            </a:pP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keras.layers.Dense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(300, activation="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elu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",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kernel_initializer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he_normal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"),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keras.layers.BatchNormalization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(),</a:t>
            </a:r>
          </a:p>
          <a:p>
            <a:pPr>
              <a:lnSpc>
                <a:spcPct val="150000"/>
              </a:lnSpc>
            </a:pP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keras.layers.Dense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(100, activation="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elu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",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kernel_initializer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he_normal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"),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keras.layers.BatchNormalization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(),</a:t>
            </a:r>
          </a:p>
          <a:p>
            <a:pPr>
              <a:lnSpc>
                <a:spcPct val="150000"/>
              </a:lnSpc>
            </a:pP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keras.layers.Dense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(10, activation="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softmax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") 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]) 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AutoShape 3" descr="The impact of using the gradient clipping technique in the training stage.">
            <a:extLst>
              <a:ext uri="{FF2B5EF4-FFF2-40B4-BE49-F238E27FC236}">
                <a16:creationId xmlns:a16="http://schemas.microsoft.com/office/drawing/2014/main" id="{1CD6C59C-6278-5A49-41A2-772345BA8AC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0021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8B6F7-5F70-1358-82F3-E75B48610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B84444-B7E6-9F6A-3923-CEDB4AB30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BEFE3250-F48A-9BC6-0AF2-4DF860FD998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Gradient Clipping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A8771F-BDED-BDB5-880C-EAAFE2FF3565}"/>
              </a:ext>
            </a:extLst>
          </p:cNvPr>
          <p:cNvSpPr txBox="1"/>
          <p:nvPr/>
        </p:nvSpPr>
        <p:spPr>
          <a:xfrm>
            <a:off x="616189" y="1305493"/>
            <a:ext cx="11210052" cy="837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경사폭발</a:t>
            </a:r>
            <a:r>
              <a:rPr lang="en-US" altLang="ko-KR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(exploding gradients)</a:t>
            </a:r>
            <a:r>
              <a:rPr lang="ko-KR" altLang="en-US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문제를 완화하기 위해 </a:t>
            </a:r>
            <a:r>
              <a:rPr lang="ko-KR" altLang="en-US" sz="17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역전파</a:t>
            </a:r>
            <a:r>
              <a:rPr lang="en-US" altLang="ko-KR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(backpropagation)</a:t>
            </a:r>
            <a:r>
              <a:rPr lang="ko-KR" altLang="en-US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과정에서 경사도</a:t>
            </a:r>
            <a:r>
              <a:rPr lang="en-US" altLang="ko-KR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(gradients)</a:t>
            </a:r>
            <a:r>
              <a:rPr lang="ko-KR" altLang="en-US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가 일정 </a:t>
            </a:r>
            <a:r>
              <a:rPr lang="ko-KR" altLang="en-US" sz="17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임계값</a:t>
            </a:r>
            <a:r>
              <a:rPr lang="en-US" altLang="ko-KR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(threshold)</a:t>
            </a:r>
            <a:r>
              <a:rPr lang="ko-KR" altLang="en-US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을 절대 넘지 않도록 잘라내는</a:t>
            </a:r>
            <a:r>
              <a:rPr lang="en-US" altLang="ko-KR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(clip) </a:t>
            </a:r>
            <a:r>
              <a:rPr lang="ko-KR" altLang="en-US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것</a:t>
            </a:r>
          </a:p>
        </p:txBody>
      </p:sp>
      <p:sp>
        <p:nvSpPr>
          <p:cNvPr id="9" name="AutoShape 3" descr="The impact of using the gradient clipping technique in the training stage.">
            <a:extLst>
              <a:ext uri="{FF2B5EF4-FFF2-40B4-BE49-F238E27FC236}">
                <a16:creationId xmlns:a16="http://schemas.microsoft.com/office/drawing/2014/main" id="{FBB30304-5214-AC9E-34CC-A440FB6B397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245D965-FE57-205F-A390-78068B1B46C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910782" y="3276600"/>
            <a:ext cx="7483488" cy="2095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058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64F72-0D22-F30C-5D2C-F4FC49274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B619E2-3E93-B6C2-B82F-210F59288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700ABFF-DE7D-C229-9373-CA3C3DB34A5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Reusing Pretrained Layers(Transfer Learning)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5E0C01-65C2-DA6D-DC83-F3BB01FB5714}"/>
              </a:ext>
            </a:extLst>
          </p:cNvPr>
          <p:cNvSpPr txBox="1"/>
          <p:nvPr/>
        </p:nvSpPr>
        <p:spPr>
          <a:xfrm>
            <a:off x="616189" y="1305493"/>
            <a:ext cx="11210052" cy="837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인공지능이 이미 한 분야에서 쌓은 지식과 경험을 바탕으로</a:t>
            </a:r>
            <a:r>
              <a:rPr lang="en-US" altLang="ko-KR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새로운 분야의 문제를 훨씬 더 빠르게 배우도록 만드는 기술</a:t>
            </a:r>
          </a:p>
        </p:txBody>
      </p:sp>
      <p:sp>
        <p:nvSpPr>
          <p:cNvPr id="9" name="AutoShape 3" descr="The impact of using the gradient clipping technique in the training stage.">
            <a:extLst>
              <a:ext uri="{FF2B5EF4-FFF2-40B4-BE49-F238E27FC236}">
                <a16:creationId xmlns:a16="http://schemas.microsoft.com/office/drawing/2014/main" id="{F2B72AE6-8173-1D60-6E7F-357DC0FA6FC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9EDEBAD2-8684-2304-B62D-3AE104E37B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8413186"/>
              </p:ext>
            </p:extLst>
          </p:nvPr>
        </p:nvGraphicFramePr>
        <p:xfrm>
          <a:off x="1156454" y="3271520"/>
          <a:ext cx="9574292" cy="22597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0772">
                  <a:extLst>
                    <a:ext uri="{9D8B030D-6E8A-4147-A177-3AD203B41FA5}">
                      <a16:colId xmlns:a16="http://schemas.microsoft.com/office/drawing/2014/main" val="2486939099"/>
                    </a:ext>
                  </a:extLst>
                </a:gridCol>
                <a:gridCol w="6573520">
                  <a:extLst>
                    <a:ext uri="{9D8B030D-6E8A-4147-A177-3AD203B41FA5}">
                      <a16:colId xmlns:a16="http://schemas.microsoft.com/office/drawing/2014/main" val="198867057"/>
                    </a:ext>
                  </a:extLst>
                </a:gridCol>
              </a:tblGrid>
              <a:tr h="560223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600" b="0" kern="12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기존모델 </a:t>
                      </a:r>
                      <a:r>
                        <a:rPr lang="en-US" altLang="ko-KR" sz="1600" b="0" kern="12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Layers</a:t>
                      </a:r>
                      <a:endParaRPr lang="ko-KR" altLang="en-US" sz="1600" b="0" kern="1200" dirty="0">
                        <a:solidFill>
                          <a:schemeClr val="bg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600" b="0" kern="12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Reusing </a:t>
                      </a:r>
                      <a:r>
                        <a:rPr lang="ko-KR" altLang="en-US" sz="1600" b="0" kern="12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방안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7885245"/>
                  </a:ext>
                </a:extLst>
              </a:tr>
              <a:tr h="560223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600" kern="1200" dirty="0" err="1">
                          <a:solidFill>
                            <a:schemeClr val="dk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출력층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 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(Output Layer)</a:t>
                      </a:r>
                      <a:endParaRPr lang="ko-KR" altLang="en-US" sz="1600" kern="1200" dirty="0">
                        <a:solidFill>
                          <a:schemeClr val="dk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❌ 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무조건 삭제 후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, 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내 정답 개수에 맞게 새로 생성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5239614"/>
                  </a:ext>
                </a:extLst>
              </a:tr>
              <a:tr h="560223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위쪽 </a:t>
                      </a:r>
                      <a:r>
                        <a:rPr lang="ko-KR" altLang="en-US" sz="1600" kern="1200" dirty="0" err="1">
                          <a:solidFill>
                            <a:schemeClr val="dk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은닉층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 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(Upper Layer)</a:t>
                      </a:r>
                      <a:endParaRPr lang="ko-KR" altLang="en-US" sz="1600" kern="1200" dirty="0">
                        <a:solidFill>
                          <a:schemeClr val="dk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3200" kern="1200" dirty="0">
                          <a:solidFill>
                            <a:schemeClr val="dk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⚠️ 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삭제하거나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, 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내 데이터에 맞게 다시 학습 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(Fine-tuning)</a:t>
                      </a:r>
                      <a:endParaRPr lang="ko-KR" altLang="en-US" sz="1600" kern="1200" dirty="0">
                        <a:solidFill>
                          <a:schemeClr val="dk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8137511"/>
                  </a:ext>
                </a:extLst>
              </a:tr>
              <a:tr h="560223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아래쪽 </a:t>
                      </a:r>
                      <a:r>
                        <a:rPr lang="ko-KR" altLang="en-US" sz="1600" kern="1200" dirty="0" err="1">
                          <a:solidFill>
                            <a:schemeClr val="dk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은닉층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 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(Lower Layer)</a:t>
                      </a:r>
                      <a:endParaRPr lang="ko-KR" altLang="en-US" sz="1600" kern="1200" dirty="0">
                        <a:solidFill>
                          <a:schemeClr val="dk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⭕ 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그대로 재사용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! (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가중치 고정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, Freeze)</a:t>
                      </a:r>
                      <a:endParaRPr lang="ko-KR" altLang="en-US" sz="1600" kern="1200" dirty="0">
                        <a:solidFill>
                          <a:schemeClr val="dk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36111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7559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B741A-7BF4-0353-4545-67CA4D6FF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181CFE-7B12-139E-45E8-C35BC6928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CBAB8B9-57C3-49D6-2059-FB252A846B9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Unsupervised Pretraining </a:t>
            </a:r>
          </a:p>
        </p:txBody>
      </p:sp>
      <p:sp>
        <p:nvSpPr>
          <p:cNvPr id="9" name="AutoShape 3" descr="The impact of using the gradient clipping technique in the training stage.">
            <a:extLst>
              <a:ext uri="{FF2B5EF4-FFF2-40B4-BE49-F238E27FC236}">
                <a16:creationId xmlns:a16="http://schemas.microsoft.com/office/drawing/2014/main" id="{7BFDC57F-F14A-009F-EA6A-A05451F013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5E14F8-BD4B-7F9C-69F2-223D5A55C75A}"/>
              </a:ext>
            </a:extLst>
          </p:cNvPr>
          <p:cNvSpPr txBox="1"/>
          <p:nvPr/>
        </p:nvSpPr>
        <p:spPr>
          <a:xfrm>
            <a:off x="602734" y="1712000"/>
            <a:ext cx="11291331" cy="432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latin typeface="D2Coding" panose="020B0609020101020101" pitchFamily="49" charset="-127"/>
                <a:ea typeface="D2Coding" panose="020B0609020101020101" pitchFamily="49" charset="-127"/>
              </a:rPr>
              <a:t>① 2006년 이전: 인공지능의 2차 암흑기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당시 과학자들은 레이어가 깊어질수록 가중치 초기화가 조금만 잘못되어도 신호가 아예 사라지는 기울기 소실(</a:t>
            </a:r>
            <a:r>
              <a:rPr lang="ko-KR" altLang="en-US" sz="17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Vanishing</a:t>
            </a:r>
            <a:r>
              <a:rPr lang="ko-KR" altLang="en-US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7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Gradient</a:t>
            </a:r>
            <a:r>
              <a:rPr lang="ko-KR" altLang="en-US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) 문제를 풀지 못했기 때문에 인공신경망 연구는 사장될 위기에 처함</a:t>
            </a:r>
          </a:p>
          <a:p>
            <a:endParaRPr lang="ko-KR" altLang="en-US"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b="1" dirty="0">
                <a:latin typeface="D2Coding" panose="020B0609020101020101" pitchFamily="49" charset="-127"/>
                <a:ea typeface="D2Coding" panose="020B0609020101020101" pitchFamily="49" charset="-127"/>
              </a:rPr>
              <a:t>② 2006년 힌튼 교수의 돌파구: </a:t>
            </a:r>
            <a:r>
              <a:rPr lang="ko-KR" altLang="en-US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RBM을</a:t>
            </a:r>
            <a:r>
              <a:rPr lang="ko-KR" altLang="en-US" b="1" dirty="0">
                <a:latin typeface="D2Coding" panose="020B0609020101020101" pitchFamily="49" charset="-127"/>
                <a:ea typeface="D2Coding" panose="020B0609020101020101" pitchFamily="49" charset="-127"/>
              </a:rPr>
              <a:t> 통한 사전학습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이때 </a:t>
            </a:r>
            <a:r>
              <a:rPr lang="ko-KR" altLang="en-US" sz="17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제프리</a:t>
            </a:r>
            <a:r>
              <a:rPr lang="ko-KR" altLang="en-US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 힌튼 교수가 "그럼 정답 없는 데이터로 먼저 뼈대(가중치)</a:t>
            </a:r>
            <a:r>
              <a:rPr lang="ko-KR" altLang="en-US" sz="17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를</a:t>
            </a:r>
            <a:r>
              <a:rPr lang="ko-KR" altLang="en-US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 잘 잡아두고 시작하자!"</a:t>
            </a:r>
            <a:r>
              <a:rPr lang="ko-KR" altLang="en-US" sz="17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며</a:t>
            </a:r>
            <a:r>
              <a:rPr lang="ko-KR" altLang="en-US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 RBM(제한된 볼츠만 머신) 비지도 학습 모델로 </a:t>
            </a:r>
            <a:endParaRPr lang="en-US" altLang="ko-KR"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층을 한 단계씩 쌓아 올릴 때마다 정답 없는 데이터를 넣어 가중치가 엉뚱한 곳으로 튀지 않게 기초 가이드라인(사전학습)을 잡고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이렇게 뼈대를 잘 잡아두고 마지막에 지도 학습(</a:t>
            </a:r>
            <a:r>
              <a:rPr lang="ko-KR" altLang="en-US" sz="17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Fine-tuning</a:t>
            </a:r>
            <a:r>
              <a:rPr lang="ko-KR" altLang="en-US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)을 하니, 신기하게도 깊은 신경망이 드디어 정상적으로 작동하기 시작했으며 침체된 인공신경망을 다시 부활시킨 '딥러닝(</a:t>
            </a:r>
            <a:r>
              <a:rPr lang="ko-KR" altLang="en-US" sz="17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Deep</a:t>
            </a:r>
            <a:r>
              <a:rPr lang="ko-KR" altLang="en-US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7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Learning</a:t>
            </a:r>
            <a:r>
              <a:rPr lang="ko-KR" altLang="en-US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)＇의 서막</a:t>
            </a:r>
          </a:p>
          <a:p>
            <a:endParaRPr lang="ko-KR" altLang="en-US"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b="1" dirty="0">
                <a:latin typeface="D2Coding" panose="020B0609020101020101" pitchFamily="49" charset="-127"/>
                <a:ea typeface="D2Coding" panose="020B0609020101020101" pitchFamily="49" charset="-127"/>
              </a:rPr>
              <a:t>③ 2010년 이후: 순수 지도학습의 시대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7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ko-KR" altLang="en-US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 같은 혁신적인 활성화 함수가 나와서 기울기 소실을 물리적으로 막아냈고,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7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He</a:t>
            </a:r>
            <a:r>
              <a:rPr lang="ko-KR" altLang="en-US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 초기화, </a:t>
            </a:r>
            <a:r>
              <a:rPr lang="ko-KR" altLang="en-US" sz="17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Xavier</a:t>
            </a:r>
            <a:r>
              <a:rPr lang="ko-KR" altLang="en-US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 초기화 같은 똑똑한 가중치 초기화 기법(</a:t>
            </a:r>
            <a:r>
              <a:rPr lang="ko-KR" altLang="en-US" sz="17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kernel_initializer</a:t>
            </a:r>
            <a:r>
              <a:rPr lang="ko-KR" altLang="en-US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)이 등장했으며,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배치 정규화(</a:t>
            </a:r>
            <a:r>
              <a:rPr lang="ko-KR" altLang="en-US" sz="17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Batch</a:t>
            </a:r>
            <a:r>
              <a:rPr lang="ko-KR" altLang="en-US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7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Normalization</a:t>
            </a:r>
            <a:r>
              <a:rPr lang="ko-KR" altLang="en-US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)가 출현</a:t>
            </a:r>
          </a:p>
        </p:txBody>
      </p:sp>
    </p:spTree>
    <p:extLst>
      <p:ext uri="{BB962C8B-B14F-4D97-AF65-F5344CB8AC3E}">
        <p14:creationId xmlns:p14="http://schemas.microsoft.com/office/powerpoint/2010/main" val="175567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AACD1-133E-A8E0-DAC4-442DF729E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FC03BD-4073-666F-1FD2-0EC9C7782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0E8A6FF-936D-03D8-F209-CB137EAF7E2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Summary </a:t>
            </a:r>
          </a:p>
        </p:txBody>
      </p:sp>
      <p:sp>
        <p:nvSpPr>
          <p:cNvPr id="9" name="AutoShape 3" descr="The impact of using the gradient clipping technique in the training stage.">
            <a:extLst>
              <a:ext uri="{FF2B5EF4-FFF2-40B4-BE49-F238E27FC236}">
                <a16:creationId xmlns:a16="http://schemas.microsoft.com/office/drawing/2014/main" id="{0627B14D-DAB9-735D-C93D-210C0FC4B63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DD40D1-E20F-03EC-C5C9-3F818DC810F8}"/>
              </a:ext>
            </a:extLst>
          </p:cNvPr>
          <p:cNvSpPr txBox="1"/>
          <p:nvPr/>
        </p:nvSpPr>
        <p:spPr>
          <a:xfrm>
            <a:off x="602734" y="1712000"/>
            <a:ext cx="1129133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딥러닝 모델이 거대해질 때 발생하는 병목 현상을 해결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방안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가중치 초기화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kernel_initializer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):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처음 출발할 때 가중치를 적절한 크기로 잡아서 신호가 소실되거나 폭발하는 것을 방지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활성화 함수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(activation):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계열이나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ELU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를 써서 뉴런이 중간에 죽어버리는 현상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(Dying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을 차단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배치 정규화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BatchNormalization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):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레이어 사이마다 데이터 세탁기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평균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0,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분산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1)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를 두어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경사하강법이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지그재그로 헤매지 않고 직진하게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만듬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전이 학습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(Transfer Learning):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맨땅에 헤딩하지 않고 천재 모델의 뇌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아래쪽 레이어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를 빌려와 속성 과외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(Fine-tuning)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를 시킴</a:t>
            </a:r>
            <a:endParaRPr lang="ko-KR" altLang="en-US"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72254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4C612-D94A-3537-635E-EE224D8F4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66AF1F-41D2-6AF4-DFD8-DE79D86F9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8B7EADE-95A5-435C-1CFC-E960540EFB7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Faster Optimizers </a:t>
            </a:r>
          </a:p>
        </p:txBody>
      </p:sp>
      <p:sp>
        <p:nvSpPr>
          <p:cNvPr id="9" name="AutoShape 3" descr="The impact of using the gradient clipping technique in the training stage.">
            <a:extLst>
              <a:ext uri="{FF2B5EF4-FFF2-40B4-BE49-F238E27FC236}">
                <a16:creationId xmlns:a16="http://schemas.microsoft.com/office/drawing/2014/main" id="{E558A998-54B1-8CBF-A397-0312FEC12DE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299008-1F00-FEB3-8B4D-215989F92075}"/>
              </a:ext>
            </a:extLst>
          </p:cNvPr>
          <p:cNvSpPr txBox="1"/>
          <p:nvPr/>
        </p:nvSpPr>
        <p:spPr>
          <a:xfrm>
            <a:off x="602734" y="1397040"/>
            <a:ext cx="112913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딥러닝 모델의 구조이외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Vanila SGD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대신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Faster Optimizer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02635644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7387</TotalTime>
  <Words>700</Words>
  <Application>Microsoft Office PowerPoint</Application>
  <PresentationFormat>와이드스크린</PresentationFormat>
  <Paragraphs>99</Paragraphs>
  <Slides>11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9" baseType="lpstr">
      <vt:lpstr>D2Coding</vt:lpstr>
      <vt:lpstr>Yu Gothic UI Semilight</vt:lpstr>
      <vt:lpstr>맑은 고딕</vt:lpstr>
      <vt:lpstr>바탕</vt:lpstr>
      <vt:lpstr>Arial</vt:lpstr>
      <vt:lpstr>Cambria Math</vt:lpstr>
      <vt:lpstr>Wingdings</vt:lpstr>
      <vt:lpstr>WelcomeDoc</vt:lpstr>
      <vt:lpstr>CHAPTER 11 Training Deep Neural Networks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Sanggoo Cho</cp:lastModifiedBy>
  <cp:revision>127</cp:revision>
  <dcterms:created xsi:type="dcterms:W3CDTF">2026-04-06T01:00:39Z</dcterms:created>
  <dcterms:modified xsi:type="dcterms:W3CDTF">2026-06-22T21:33:44Z</dcterms:modified>
  <cp:version/>
</cp:coreProperties>
</file>