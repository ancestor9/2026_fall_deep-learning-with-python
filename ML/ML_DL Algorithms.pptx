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1143" r:id="rId3"/>
    <p:sldId id="1137" r:id="rId4"/>
    <p:sldId id="1138" r:id="rId5"/>
    <p:sldId id="1140" r:id="rId6"/>
    <p:sldId id="1141" r:id="rId7"/>
    <p:sldId id="1149" r:id="rId8"/>
    <p:sldId id="1136" r:id="rId9"/>
    <p:sldId id="1147" r:id="rId10"/>
    <p:sldId id="1148" r:id="rId11"/>
    <p:sldId id="1139" r:id="rId12"/>
    <p:sldId id="1146" r:id="rId13"/>
    <p:sldId id="1156" r:id="rId14"/>
    <p:sldId id="1150" r:id="rId15"/>
    <p:sldId id="1151" r:id="rId16"/>
    <p:sldId id="1152" r:id="rId17"/>
    <p:sldId id="1153" r:id="rId18"/>
    <p:sldId id="1155" r:id="rId19"/>
    <p:sldId id="1154" r:id="rId20"/>
    <p:sldId id="1157" r:id="rId21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43"/>
            <p14:sldId id="1137"/>
            <p14:sldId id="1138"/>
            <p14:sldId id="1140"/>
            <p14:sldId id="1141"/>
            <p14:sldId id="1149"/>
            <p14:sldId id="1136"/>
            <p14:sldId id="1147"/>
            <p14:sldId id="1148"/>
            <p14:sldId id="1139"/>
            <p14:sldId id="1146"/>
            <p14:sldId id="1156"/>
            <p14:sldId id="1150"/>
            <p14:sldId id="1151"/>
            <p14:sldId id="1152"/>
            <p14:sldId id="1153"/>
            <p14:sldId id="1155"/>
            <p14:sldId id="1154"/>
            <p14:sldId id="1157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256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2026-06-21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2026-06-21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2026-06-21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2026-06-21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datasets/toy_dataset.html" TargetMode="External"/><Relationship Id="rId2" Type="http://schemas.openxmlformats.org/officeDocument/2006/relationships/hyperlink" Target="https://scikit-learn.org/stable/modules/generated/sklearn.ensemble.RandomForestRegressor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Machine Learning Algorithms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2210395"/>
          </a:xfrm>
        </p:spPr>
        <p:txBody>
          <a:bodyPr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You must understand how ML/DL works.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558F6-EE82-66CB-3075-4E6CAC5B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452A32D-F5C8-A0EA-0B5B-F6A50572DA2C}"/>
              </a:ext>
            </a:extLst>
          </p:cNvPr>
          <p:cNvSpPr/>
          <p:nvPr/>
        </p:nvSpPr>
        <p:spPr>
          <a:xfrm>
            <a:off x="670590" y="2061254"/>
            <a:ext cx="7467600" cy="5231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0A2965-E80D-28D3-12B2-386CBD8F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5973A68-EAC2-99DE-06B4-19369B001A2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EEF49-8000-D34C-7C84-1398D3215EF2}"/>
              </a:ext>
            </a:extLst>
          </p:cNvPr>
          <p:cNvSpPr txBox="1"/>
          <p:nvPr/>
        </p:nvSpPr>
        <p:spPr>
          <a:xfrm>
            <a:off x="1896858" y="1555154"/>
            <a:ext cx="9370698" cy="4189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Problem Definition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Data, algorithm and model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Extrapolation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Logistic</a:t>
            </a:r>
            <a:r>
              <a:rPr lang="ko-KR" altLang="en-US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 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Regression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Ensemble Model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Calibration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Non-Parametric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 vs Parametric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G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enerative vs Deterministic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Imbalance 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D</a:t>
            </a: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ata</a:t>
            </a:r>
          </a:p>
        </p:txBody>
      </p:sp>
    </p:spTree>
    <p:extLst>
      <p:ext uri="{BB962C8B-B14F-4D97-AF65-F5344CB8AC3E}">
        <p14:creationId xmlns:p14="http://schemas.microsoft.com/office/powerpoint/2010/main" val="3690334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15B67-A356-B4BE-0671-F08D8841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타원 10">
            <a:extLst>
              <a:ext uri="{FF2B5EF4-FFF2-40B4-BE49-F238E27FC236}">
                <a16:creationId xmlns:a16="http://schemas.microsoft.com/office/drawing/2014/main" id="{4DEE3B27-AE76-CBFF-2D78-067F8BEB0D6F}"/>
              </a:ext>
            </a:extLst>
          </p:cNvPr>
          <p:cNvSpPr/>
          <p:nvPr/>
        </p:nvSpPr>
        <p:spPr>
          <a:xfrm>
            <a:off x="1296035" y="2626108"/>
            <a:ext cx="2304415" cy="230441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2ADFF-AC24-407D-CE1F-AB9F79C6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65A2223-219C-B79C-18CC-D450BC0B1BF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Problem Definition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04AC0F-AE85-AC71-DEBC-1A5228575128}"/>
              </a:ext>
            </a:extLst>
          </p:cNvPr>
          <p:cNvSpPr txBox="1"/>
          <p:nvPr/>
        </p:nvSpPr>
        <p:spPr>
          <a:xfrm>
            <a:off x="616189" y="1305493"/>
            <a:ext cx="109524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모집단에서 무작위로 추출한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명의 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(Height)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자료이다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전체 모집단의 키를 예측하라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어떤 점을 고려하여야 하나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10" name="그래픽 9" descr="도움말">
            <a:extLst>
              <a:ext uri="{FF2B5EF4-FFF2-40B4-BE49-F238E27FC236}">
                <a16:creationId xmlns:a16="http://schemas.microsoft.com/office/drawing/2014/main" id="{60B19B05-2DFB-E135-E991-4FF5A479A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5166" y="3609842"/>
            <a:ext cx="914400" cy="914400"/>
          </a:xfrm>
          <a:prstGeom prst="rect">
            <a:avLst/>
          </a:prstGeom>
        </p:spPr>
      </p:pic>
      <p:pic>
        <p:nvPicPr>
          <p:cNvPr id="15" name="그래픽 14" descr="시계 방향으로 굽은 줄 화살표">
            <a:extLst>
              <a:ext uri="{FF2B5EF4-FFF2-40B4-BE49-F238E27FC236}">
                <a16:creationId xmlns:a16="http://schemas.microsoft.com/office/drawing/2014/main" id="{99A9BC2C-F6C8-9C28-F85F-DF566CB943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080497">
            <a:off x="3937657" y="2871819"/>
            <a:ext cx="914400" cy="914400"/>
          </a:xfrm>
          <a:prstGeom prst="rect">
            <a:avLst/>
          </a:prstGeom>
        </p:spPr>
      </p:pic>
      <p:pic>
        <p:nvPicPr>
          <p:cNvPr id="16" name="그래픽 15" descr="사람들 집단">
            <a:extLst>
              <a:ext uri="{FF2B5EF4-FFF2-40B4-BE49-F238E27FC236}">
                <a16:creationId xmlns:a16="http://schemas.microsoft.com/office/drawing/2014/main" id="{D90F2403-475A-119D-BAFF-22CBBAFBED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1105" y="3068320"/>
            <a:ext cx="1192477" cy="1192477"/>
          </a:xfrm>
          <a:prstGeom prst="rect">
            <a:avLst/>
          </a:prstGeom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1DD4708-4005-A006-469B-AEE875F51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94594"/>
              </p:ext>
            </p:extLst>
          </p:nvPr>
        </p:nvGraphicFramePr>
        <p:xfrm>
          <a:off x="5465734" y="2626108"/>
          <a:ext cx="1003697" cy="30362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3697">
                  <a:extLst>
                    <a:ext uri="{9D8B030D-6E8A-4147-A177-3AD203B41FA5}">
                      <a16:colId xmlns:a16="http://schemas.microsoft.com/office/drawing/2014/main" val="1387980696"/>
                    </a:ext>
                  </a:extLst>
                </a:gridCol>
              </a:tblGrid>
              <a:tr h="57995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Height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(feet)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7853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6.00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8099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259819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5.58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39751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3308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24656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5635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5.42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534912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5.75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158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11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0269C-4E3B-2E34-C976-70D95889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5F6B8A-2579-7CDB-BDAA-999C00C4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DEB902D-FBAC-EAB0-BFAD-52FF476918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Problem Definition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C609D6-3E07-F1AB-178F-3A080D927B6F}"/>
              </a:ext>
            </a:extLst>
          </p:cNvPr>
          <p:cNvSpPr txBox="1"/>
          <p:nvPr/>
        </p:nvSpPr>
        <p:spPr>
          <a:xfrm>
            <a:off x="619760" y="1248422"/>
            <a:ext cx="109524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모집단에서 무작위로 추출한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명의 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(Height)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몸무게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(Weight)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자료이다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전체 모집단의 키를 예측하는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전제조건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(Assumptions)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방법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(Methods)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대해 토론하라</a:t>
            </a:r>
          </a:p>
        </p:txBody>
      </p:sp>
      <p:pic>
        <p:nvPicPr>
          <p:cNvPr id="10" name="그래픽 9" descr="도움말">
            <a:extLst>
              <a:ext uri="{FF2B5EF4-FFF2-40B4-BE49-F238E27FC236}">
                <a16:creationId xmlns:a16="http://schemas.microsoft.com/office/drawing/2014/main" id="{32745AF9-D6FE-FB25-4D09-F1126EB0F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5166" y="3294247"/>
            <a:ext cx="914400" cy="914400"/>
          </a:xfrm>
          <a:prstGeom prst="rect">
            <a:avLst/>
          </a:prstGeom>
        </p:spPr>
      </p:pic>
      <p:pic>
        <p:nvPicPr>
          <p:cNvPr id="15" name="그래픽 14" descr="시계 방향으로 굽은 줄 화살표">
            <a:extLst>
              <a:ext uri="{FF2B5EF4-FFF2-40B4-BE49-F238E27FC236}">
                <a16:creationId xmlns:a16="http://schemas.microsoft.com/office/drawing/2014/main" id="{16F7F748-5047-BC03-DC9A-D53FDDD71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080497">
            <a:off x="3937657" y="3003899"/>
            <a:ext cx="914400" cy="914400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A52D7A1D-6615-5D34-5FC0-EB122640D5D1}"/>
              </a:ext>
            </a:extLst>
          </p:cNvPr>
          <p:cNvSpPr/>
          <p:nvPr/>
        </p:nvSpPr>
        <p:spPr>
          <a:xfrm>
            <a:off x="1296035" y="2626108"/>
            <a:ext cx="2304415" cy="230441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래픽 16" descr="사람들 집단">
            <a:extLst>
              <a:ext uri="{FF2B5EF4-FFF2-40B4-BE49-F238E27FC236}">
                <a16:creationId xmlns:a16="http://schemas.microsoft.com/office/drawing/2014/main" id="{192B8B61-2B72-8E3D-3A4D-03F9DB2C18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1105" y="3068320"/>
            <a:ext cx="1192477" cy="1192477"/>
          </a:xfrm>
          <a:prstGeom prst="rect">
            <a:avLst/>
          </a:prstGeom>
        </p:spPr>
      </p:pic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567DD75-FE06-A044-681D-1F0A425E9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549874"/>
              </p:ext>
            </p:extLst>
          </p:nvPr>
        </p:nvGraphicFramePr>
        <p:xfrm>
          <a:off x="5251566" y="2895680"/>
          <a:ext cx="2007394" cy="30362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3697">
                  <a:extLst>
                    <a:ext uri="{9D8B030D-6E8A-4147-A177-3AD203B41FA5}">
                      <a16:colId xmlns:a16="http://schemas.microsoft.com/office/drawing/2014/main" val="1387980696"/>
                    </a:ext>
                  </a:extLst>
                </a:gridCol>
                <a:gridCol w="1003697">
                  <a:extLst>
                    <a:ext uri="{9D8B030D-6E8A-4147-A177-3AD203B41FA5}">
                      <a16:colId xmlns:a16="http://schemas.microsoft.com/office/drawing/2014/main" val="675016925"/>
                    </a:ext>
                  </a:extLst>
                </a:gridCol>
              </a:tblGrid>
              <a:tr h="57995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Height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(feet)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Weight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(</a:t>
                      </a:r>
                      <a:r>
                        <a:rPr lang="en-US" sz="1600" dirty="0" err="1">
                          <a:effectLst/>
                        </a:rPr>
                        <a:t>lbs</a:t>
                      </a:r>
                      <a:r>
                        <a:rPr lang="en-US" sz="1600" dirty="0">
                          <a:effectLst/>
                        </a:rPr>
                        <a:t>)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7853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6.00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180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8099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190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259819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5.58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170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39751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165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3308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24656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150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5635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5.42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130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534912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5.75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150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158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317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94872-39DA-CCFF-10A3-CEE047D41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F905F4-BF87-9DB4-F4CD-47AA0B5B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EC010BE-441A-50CB-4E10-448D44826F3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Problem Definition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623CF-42B7-1223-7052-27BFA8FA30E5}"/>
              </a:ext>
            </a:extLst>
          </p:cNvPr>
          <p:cNvSpPr txBox="1"/>
          <p:nvPr/>
        </p:nvSpPr>
        <p:spPr>
          <a:xfrm>
            <a:off x="619760" y="1248422"/>
            <a:ext cx="109524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모집단에서 무작위로 추출한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명의 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(Height)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몸무게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(Weight)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자료이다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전체 모집단의 키를 예측하는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전제조건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(Assumptions)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방법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(Methods)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대해 토론하라</a:t>
            </a:r>
          </a:p>
        </p:txBody>
      </p:sp>
      <p:pic>
        <p:nvPicPr>
          <p:cNvPr id="10" name="그래픽 9" descr="도움말">
            <a:extLst>
              <a:ext uri="{FF2B5EF4-FFF2-40B4-BE49-F238E27FC236}">
                <a16:creationId xmlns:a16="http://schemas.microsoft.com/office/drawing/2014/main" id="{45E3E13B-5099-6DB0-D72D-DEF0CF7DC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6366" y="289568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650C65-CAAB-E551-D4AC-3A61C505DEB5}"/>
              </a:ext>
            </a:extLst>
          </p:cNvPr>
          <p:cNvSpPr txBox="1"/>
          <p:nvPr/>
        </p:nvSpPr>
        <p:spPr>
          <a:xfrm>
            <a:off x="6712801" y="3117512"/>
            <a:ext cx="4926114" cy="203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키와 몸무게는 관계가 있는가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선형관계인가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비선형관계인가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원인과 결과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 X, Y 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키가 크면 몸무게가 많이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나가나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몸무게가 많이 나가면 키가 큰가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600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7C1F47A-C530-FC7D-E0DB-DF7A302EB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479598"/>
              </p:ext>
            </p:extLst>
          </p:nvPr>
        </p:nvGraphicFramePr>
        <p:xfrm>
          <a:off x="2146416" y="2779540"/>
          <a:ext cx="2007394" cy="30362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3697">
                  <a:extLst>
                    <a:ext uri="{9D8B030D-6E8A-4147-A177-3AD203B41FA5}">
                      <a16:colId xmlns:a16="http://schemas.microsoft.com/office/drawing/2014/main" val="1387980696"/>
                    </a:ext>
                  </a:extLst>
                </a:gridCol>
                <a:gridCol w="1003697">
                  <a:extLst>
                    <a:ext uri="{9D8B030D-6E8A-4147-A177-3AD203B41FA5}">
                      <a16:colId xmlns:a16="http://schemas.microsoft.com/office/drawing/2014/main" val="675016925"/>
                    </a:ext>
                  </a:extLst>
                </a:gridCol>
              </a:tblGrid>
              <a:tr h="57995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Height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(feet)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Weight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(</a:t>
                      </a:r>
                      <a:r>
                        <a:rPr lang="en-US" sz="1600" dirty="0" err="1">
                          <a:effectLst/>
                        </a:rPr>
                        <a:t>lbs</a:t>
                      </a:r>
                      <a:r>
                        <a:rPr lang="en-US" sz="1600" dirty="0">
                          <a:effectLst/>
                        </a:rPr>
                        <a:t>)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7853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6.00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180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8099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190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259819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5.58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170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39751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165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3308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24656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150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5635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5.42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130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534912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5.75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150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15808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4C9DB23-F00B-C06C-1193-7BCF075D872D}"/>
              </a:ext>
            </a:extLst>
          </p:cNvPr>
          <p:cNvSpPr txBox="1"/>
          <p:nvPr/>
        </p:nvSpPr>
        <p:spPr>
          <a:xfrm>
            <a:off x="2696513" y="5836206"/>
            <a:ext cx="9071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Karma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28490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AA4C-A791-E344-A26E-FB8308FF0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C82328-B3F4-6E57-A56A-DBD91FA6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44FD553-7B44-77F7-92DC-342AD7BD94A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Problem Definition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3038B6-200F-E2DE-E237-0A6B9F484E11}"/>
              </a:ext>
            </a:extLst>
          </p:cNvPr>
          <p:cNvSpPr txBox="1"/>
          <p:nvPr/>
        </p:nvSpPr>
        <p:spPr>
          <a:xfrm>
            <a:off x="619760" y="1248422"/>
            <a:ext cx="109524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모집단에서 무작위로 추출한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명의 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(Height)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남녀 성별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자료이다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(Height)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자료 유무에 따른 모집단의 성별 분류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(Classification)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은 어떻게 하여야 하나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6" name="그래픽 15" descr="도움말">
            <a:extLst>
              <a:ext uri="{FF2B5EF4-FFF2-40B4-BE49-F238E27FC236}">
                <a16:creationId xmlns:a16="http://schemas.microsoft.com/office/drawing/2014/main" id="{4A042EE7-2601-9705-AFE4-E87D683CC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4141" y="3429000"/>
            <a:ext cx="914400" cy="914400"/>
          </a:xfrm>
          <a:prstGeom prst="rect">
            <a:avLst/>
          </a:prstGeom>
        </p:spPr>
      </p:pic>
      <p:pic>
        <p:nvPicPr>
          <p:cNvPr id="17" name="그래픽 16" descr="시계 방향으로 굽은 줄 화살표">
            <a:extLst>
              <a:ext uri="{FF2B5EF4-FFF2-40B4-BE49-F238E27FC236}">
                <a16:creationId xmlns:a16="http://schemas.microsoft.com/office/drawing/2014/main" id="{3EBBCAA5-FCC4-3808-BB9D-9B744A8290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080497">
            <a:off x="3937657" y="3003899"/>
            <a:ext cx="914400" cy="914400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731F9864-5338-2767-B5F5-3B01FD2E26F1}"/>
              </a:ext>
            </a:extLst>
          </p:cNvPr>
          <p:cNvSpPr/>
          <p:nvPr/>
        </p:nvSpPr>
        <p:spPr>
          <a:xfrm>
            <a:off x="1296035" y="2626108"/>
            <a:ext cx="2304415" cy="230441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0" name="그래픽 19" descr="사람들 집단">
            <a:extLst>
              <a:ext uri="{FF2B5EF4-FFF2-40B4-BE49-F238E27FC236}">
                <a16:creationId xmlns:a16="http://schemas.microsoft.com/office/drawing/2014/main" id="{B98FD023-F4AB-108C-F0DD-2B374C0DD9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1105" y="3068320"/>
            <a:ext cx="1192477" cy="1192477"/>
          </a:xfrm>
          <a:prstGeom prst="rect">
            <a:avLst/>
          </a:prstGeom>
        </p:spPr>
      </p:pic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CB1B7DA-BCB2-5C6F-EBC6-B1D0BF3BE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812421"/>
              </p:ext>
            </p:extLst>
          </p:nvPr>
        </p:nvGraphicFramePr>
        <p:xfrm>
          <a:off x="5021710" y="2742679"/>
          <a:ext cx="2007394" cy="30362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3697">
                  <a:extLst>
                    <a:ext uri="{9D8B030D-6E8A-4147-A177-3AD203B41FA5}">
                      <a16:colId xmlns:a16="http://schemas.microsoft.com/office/drawing/2014/main" val="729620001"/>
                    </a:ext>
                  </a:extLst>
                </a:gridCol>
                <a:gridCol w="1003697">
                  <a:extLst>
                    <a:ext uri="{9D8B030D-6E8A-4147-A177-3AD203B41FA5}">
                      <a16:colId xmlns:a16="http://schemas.microsoft.com/office/drawing/2014/main" val="1387980696"/>
                    </a:ext>
                  </a:extLst>
                </a:gridCol>
              </a:tblGrid>
              <a:tr h="57995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Person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Height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(feet)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7853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6.00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8099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259819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male</a:t>
                      </a:r>
                      <a:endParaRPr lang="en-US" sz="160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5.58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39751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male</a:t>
                      </a:r>
                      <a:endParaRPr lang="en-US" sz="160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3308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24656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5635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5.42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534912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5.75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158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67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683D1-5465-B70A-2146-42BC3AA74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16AC16F8-C4F1-74A0-BC98-D599C7CC2AC8}"/>
              </a:ext>
            </a:extLst>
          </p:cNvPr>
          <p:cNvSpPr/>
          <p:nvPr/>
        </p:nvSpPr>
        <p:spPr>
          <a:xfrm>
            <a:off x="670590" y="2061254"/>
            <a:ext cx="7467600" cy="5231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FDEED9-E661-E944-945D-85C1C643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EDB1133-8922-26F0-0D90-096C3BEAB78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C29E3-F404-D2E5-780E-37229761CBFE}"/>
              </a:ext>
            </a:extLst>
          </p:cNvPr>
          <p:cNvSpPr txBox="1"/>
          <p:nvPr/>
        </p:nvSpPr>
        <p:spPr>
          <a:xfrm>
            <a:off x="1896858" y="1555154"/>
            <a:ext cx="9370698" cy="4189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Problem Definition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Data, algorithm and model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Extrapolation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Logistic</a:t>
            </a:r>
            <a:r>
              <a:rPr lang="ko-KR" altLang="en-US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 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Regression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Ensemble Model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Calibration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Non-Parametric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 vs Parametric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G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enerative vs Deterministic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Imbalance 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D</a:t>
            </a: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ata</a:t>
            </a:r>
          </a:p>
        </p:txBody>
      </p:sp>
    </p:spTree>
    <p:extLst>
      <p:ext uri="{BB962C8B-B14F-4D97-AF65-F5344CB8AC3E}">
        <p14:creationId xmlns:p14="http://schemas.microsoft.com/office/powerpoint/2010/main" val="2570733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E3FF2-7A60-F319-20BF-82E7F0BD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6CFA1-81F1-25FE-5B7A-CAA23635F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A8D8732-EAE3-1CBC-052F-3036B58794A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Data, algorithms and Model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60FF8-C1C0-2E4D-9E77-7B4BDD668F14}"/>
              </a:ext>
            </a:extLst>
          </p:cNvPr>
          <p:cNvSpPr txBox="1"/>
          <p:nvPr/>
        </p:nvSpPr>
        <p:spPr>
          <a:xfrm>
            <a:off x="475645" y="1248422"/>
            <a:ext cx="1124071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예측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(Model)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은 과거 데이터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표본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sample, X)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바탕으로 연구자가 관심있는 대상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(Y)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예측하는 함수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(Function)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40B2F6-F3AA-75CF-CD49-2C9E8729A273}"/>
              </a:ext>
            </a:extLst>
          </p:cNvPr>
          <p:cNvSpPr txBox="1"/>
          <p:nvPr/>
        </p:nvSpPr>
        <p:spPr>
          <a:xfrm>
            <a:off x="6830166" y="3429000"/>
            <a:ext cx="3724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Algorithm(Data)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F82E0A8-79A8-35E8-8A0E-0DB4C6783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464385"/>
              </p:ext>
            </p:extLst>
          </p:nvPr>
        </p:nvGraphicFramePr>
        <p:xfrm>
          <a:off x="2840485" y="2771254"/>
          <a:ext cx="2007394" cy="30362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3697">
                  <a:extLst>
                    <a:ext uri="{9D8B030D-6E8A-4147-A177-3AD203B41FA5}">
                      <a16:colId xmlns:a16="http://schemas.microsoft.com/office/drawing/2014/main" val="729620001"/>
                    </a:ext>
                  </a:extLst>
                </a:gridCol>
                <a:gridCol w="1003697">
                  <a:extLst>
                    <a:ext uri="{9D8B030D-6E8A-4147-A177-3AD203B41FA5}">
                      <a16:colId xmlns:a16="http://schemas.microsoft.com/office/drawing/2014/main" val="1387980696"/>
                    </a:ext>
                  </a:extLst>
                </a:gridCol>
              </a:tblGrid>
              <a:tr h="57995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Person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Height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(feet)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7853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6.00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8099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259819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male</a:t>
                      </a:r>
                      <a:endParaRPr lang="en-US" sz="160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5.58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39751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male</a:t>
                      </a:r>
                      <a:endParaRPr lang="en-US" sz="160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3308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24656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5635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5.42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534912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5.75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158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441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37C15-A6E6-EFD1-890E-1744B6BE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86CE20-BD63-6640-C517-4E36E5C0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995A65-42FB-7E7F-7F86-EAD10A3B658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Data, algorithms and Model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B97981-A28B-0D0B-FCAE-AD5C958A754C}"/>
              </a:ext>
            </a:extLst>
          </p:cNvPr>
          <p:cNvSpPr txBox="1"/>
          <p:nvPr/>
        </p:nvSpPr>
        <p:spPr>
          <a:xfrm>
            <a:off x="475645" y="1248422"/>
            <a:ext cx="11240710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과거 데이터를 바탕으로 컴퓨터에게 새로운 데이터를 예측하게 하는 것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930AF7-209D-AE27-87B3-4F19E862394E}"/>
              </a:ext>
            </a:extLst>
          </p:cNvPr>
          <p:cNvSpPr txBox="1"/>
          <p:nvPr/>
        </p:nvSpPr>
        <p:spPr>
          <a:xfrm>
            <a:off x="609297" y="1877071"/>
            <a:ext cx="9344328" cy="4247317"/>
          </a:xfrm>
          <a:prstGeom prst="rect">
            <a:avLst/>
          </a:prstGeom>
          <a:solidFill>
            <a:srgbClr val="76E3FF"/>
          </a:solidFill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import pandas as pd</a:t>
            </a: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sklearn.linear_model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1. data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확보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data = {</a:t>
            </a: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'height': [6.0, 5.92, 5.58, 5.92, 5.0, 5.5, 5.42, 5.75],</a:t>
            </a: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   'weight': [180, 190, 170, 165, 100, 150, 130, 150]</a:t>
            </a: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pd.DataFrame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(data)</a:t>
            </a: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입력 변수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(X)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와 출력 변수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(y)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설정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: scikit-learn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입력 변수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는 반드시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차원 배열 형태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[['height’]]; y = 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df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['weight']</a:t>
            </a: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선형 회귀 모델 생성 및 학습</a:t>
            </a: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model.fit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(X, y)</a:t>
            </a: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회귀계수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W): {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model.coef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_[0]:.2f},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절편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(b): {model.intercept_:.2f}")</a:t>
            </a:r>
          </a:p>
          <a:p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height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데이터로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weight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예측하기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키가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5.8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피트인 사람과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6.2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피트인 사람의 몸무게 예측</a:t>
            </a:r>
          </a:p>
          <a:p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new_heights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([[5.8], [6.2]])</a:t>
            </a:r>
          </a:p>
          <a:p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predicted_weights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model.predict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new_heights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5863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B820F-0F27-121C-28D8-9C6F04FF5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E87CBA-662C-CC44-FC92-6D65DA746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1BF5CBE-3E7D-50B6-00C0-54F242EC985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Data, algorithms and Model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BC442-BB53-7AF7-2F0B-675E6AABF387}"/>
              </a:ext>
            </a:extLst>
          </p:cNvPr>
          <p:cNvSpPr txBox="1"/>
          <p:nvPr/>
        </p:nvSpPr>
        <p:spPr>
          <a:xfrm>
            <a:off x="475645" y="1248422"/>
            <a:ext cx="1124071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과거 데이터를 바탕으로 컴퓨터에게 새로운 데이터를 예측하게 하는 것으로 모집단을 모두 안다고 가정하고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모집단의 분포를 추정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 Unseen data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대한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forecast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수행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(Guess)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348FD6-926F-BF78-7A9E-8726AF035F35}"/>
              </a:ext>
            </a:extLst>
          </p:cNvPr>
          <p:cNvSpPr txBox="1"/>
          <p:nvPr/>
        </p:nvSpPr>
        <p:spPr>
          <a:xfrm>
            <a:off x="5810250" y="3762375"/>
            <a:ext cx="1091477" cy="553998"/>
          </a:xfrm>
          <a:prstGeom prst="rect">
            <a:avLst/>
          </a:prstGeom>
          <a:solidFill>
            <a:srgbClr val="76E3FF"/>
          </a:solidFill>
        </p:spPr>
        <p:txBody>
          <a:bodyPr wrap="square" rtlCol="0">
            <a:spAutoFit/>
          </a:bodyPr>
          <a:lstStyle/>
          <a:p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C8DF7B3-B8FF-A6B0-ECF5-5D1BDBEF41F7}"/>
              </a:ext>
            </a:extLst>
          </p:cNvPr>
          <p:cNvSpPr/>
          <p:nvPr/>
        </p:nvSpPr>
        <p:spPr>
          <a:xfrm>
            <a:off x="857885" y="2807083"/>
            <a:ext cx="2304415" cy="230441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래픽 5" descr="사람들 집단">
            <a:extLst>
              <a:ext uri="{FF2B5EF4-FFF2-40B4-BE49-F238E27FC236}">
                <a16:creationId xmlns:a16="http://schemas.microsoft.com/office/drawing/2014/main" id="{9908E608-78F8-1746-268F-71100334C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2955" y="3249295"/>
            <a:ext cx="1192477" cy="1192477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C8AE039-BE6E-5D4A-D9CC-425CF67FD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767155"/>
              </p:ext>
            </p:extLst>
          </p:nvPr>
        </p:nvGraphicFramePr>
        <p:xfrm>
          <a:off x="4362624" y="3516962"/>
          <a:ext cx="843968" cy="1493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1984">
                  <a:extLst>
                    <a:ext uri="{9D8B030D-6E8A-4147-A177-3AD203B41FA5}">
                      <a16:colId xmlns:a16="http://schemas.microsoft.com/office/drawing/2014/main" val="729620001"/>
                    </a:ext>
                  </a:extLst>
                </a:gridCol>
                <a:gridCol w="421984">
                  <a:extLst>
                    <a:ext uri="{9D8B030D-6E8A-4147-A177-3AD203B41FA5}">
                      <a16:colId xmlns:a16="http://schemas.microsoft.com/office/drawing/2014/main" val="1387980696"/>
                    </a:ext>
                  </a:extLst>
                </a:gridCol>
              </a:tblGrid>
              <a:tr h="19980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dirty="0">
                          <a:effectLst/>
                        </a:rPr>
                        <a:t>Person</a:t>
                      </a:r>
                      <a:endParaRPr lang="en-US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dirty="0">
                          <a:effectLst/>
                        </a:rPr>
                        <a:t>Height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sz="800" dirty="0">
                          <a:effectLst/>
                        </a:rPr>
                        <a:t>(feet)</a:t>
                      </a:r>
                      <a:endParaRPr lang="en-US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7853"/>
                  </a:ext>
                </a:extLst>
              </a:tr>
              <a:tr h="10578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dirty="0">
                          <a:effectLst/>
                        </a:rPr>
                        <a:t>male</a:t>
                      </a:r>
                      <a:endParaRPr lang="en-US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6.00</a:t>
                      </a:r>
                      <a:endParaRPr lang="en-US" altLang="ko-KR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80991"/>
                  </a:ext>
                </a:extLst>
              </a:tr>
              <a:tr h="10578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dirty="0">
                          <a:effectLst/>
                        </a:rPr>
                        <a:t>male</a:t>
                      </a:r>
                      <a:endParaRPr lang="en-US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5.92</a:t>
                      </a:r>
                      <a:endParaRPr lang="en-US" altLang="ko-KR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259819"/>
                  </a:ext>
                </a:extLst>
              </a:tr>
              <a:tr h="10578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>
                          <a:effectLst/>
                        </a:rPr>
                        <a:t>male</a:t>
                      </a:r>
                      <a:endParaRPr lang="en-US" sz="80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5.58</a:t>
                      </a:r>
                      <a:endParaRPr lang="en-US" altLang="ko-KR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397511"/>
                  </a:ext>
                </a:extLst>
              </a:tr>
              <a:tr h="10578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>
                          <a:effectLst/>
                        </a:rPr>
                        <a:t>male</a:t>
                      </a:r>
                      <a:endParaRPr lang="en-US" sz="80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5.92</a:t>
                      </a:r>
                      <a:endParaRPr lang="en-US" altLang="ko-KR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33087"/>
                  </a:ext>
                </a:extLst>
              </a:tr>
              <a:tr h="10578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dirty="0">
                          <a:effectLst/>
                        </a:rPr>
                        <a:t>female</a:t>
                      </a:r>
                      <a:endParaRPr lang="en-US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5.00</a:t>
                      </a:r>
                      <a:endParaRPr lang="en-US" altLang="ko-KR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24656"/>
                  </a:ext>
                </a:extLst>
              </a:tr>
              <a:tr h="10578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dirty="0">
                          <a:effectLst/>
                        </a:rPr>
                        <a:t>female</a:t>
                      </a:r>
                      <a:endParaRPr lang="en-US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5.50</a:t>
                      </a:r>
                      <a:endParaRPr lang="en-US" altLang="ko-KR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56357"/>
                  </a:ext>
                </a:extLst>
              </a:tr>
              <a:tr h="10578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dirty="0">
                          <a:effectLst/>
                        </a:rPr>
                        <a:t>female</a:t>
                      </a:r>
                      <a:endParaRPr lang="en-US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5.42</a:t>
                      </a:r>
                      <a:endParaRPr lang="en-US" altLang="ko-KR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534912"/>
                  </a:ext>
                </a:extLst>
              </a:tr>
              <a:tr h="10578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dirty="0">
                          <a:effectLst/>
                        </a:rPr>
                        <a:t>female</a:t>
                      </a:r>
                      <a:endParaRPr lang="en-US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5.75</a:t>
                      </a:r>
                      <a:endParaRPr lang="en-US" altLang="ko-KR" sz="8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158088"/>
                  </a:ext>
                </a:extLst>
              </a:tr>
            </a:tbl>
          </a:graphicData>
        </a:graphic>
      </p:graphicFrame>
      <p:sp>
        <p:nvSpPr>
          <p:cNvPr id="10" name="AutoShape 2">
            <a:extLst>
              <a:ext uri="{FF2B5EF4-FFF2-40B4-BE49-F238E27FC236}">
                <a16:creationId xmlns:a16="http://schemas.microsoft.com/office/drawing/2014/main" id="{41607F7B-7D6A-5E33-9DC0-781AA9F35F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05450" y="34575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7A74B9D-7D5F-E6C6-03EC-26714CB8D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442" y="3165003"/>
            <a:ext cx="3473796" cy="2400955"/>
          </a:xfrm>
          <a:prstGeom prst="rect">
            <a:avLst/>
          </a:prstGeom>
        </p:spPr>
      </p:pic>
      <p:pic>
        <p:nvPicPr>
          <p:cNvPr id="13" name="그래픽 12" descr="시계 방향으로 굽은 줄 화살표">
            <a:extLst>
              <a:ext uri="{FF2B5EF4-FFF2-40B4-BE49-F238E27FC236}">
                <a16:creationId xmlns:a16="http://schemas.microsoft.com/office/drawing/2014/main" id="{99A99B86-5867-EE72-BE0C-7E3D92737E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8019828">
            <a:off x="3141463" y="2850360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C85C2E-A02D-A489-1BDF-BF94C8D85D7C}"/>
              </a:ext>
            </a:extLst>
          </p:cNvPr>
          <p:cNvSpPr txBox="1"/>
          <p:nvPr/>
        </p:nvSpPr>
        <p:spPr>
          <a:xfrm>
            <a:off x="1262130" y="5686049"/>
            <a:ext cx="1495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Population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3A8D62-2AD2-A38D-2554-B6AB44BC8A49}"/>
              </a:ext>
            </a:extLst>
          </p:cNvPr>
          <p:cNvSpPr txBox="1"/>
          <p:nvPr/>
        </p:nvSpPr>
        <p:spPr>
          <a:xfrm>
            <a:off x="4242327" y="5686049"/>
            <a:ext cx="1495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Sample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98617-155C-1E7F-7645-B7042B8C918E}"/>
              </a:ext>
            </a:extLst>
          </p:cNvPr>
          <p:cNvSpPr txBox="1"/>
          <p:nvPr/>
        </p:nvSpPr>
        <p:spPr>
          <a:xfrm>
            <a:off x="5907022" y="5686049"/>
            <a:ext cx="1495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coding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B29E15-BCE2-27E9-231F-E14B192DFC48}"/>
              </a:ext>
            </a:extLst>
          </p:cNvPr>
          <p:cNvSpPr txBox="1"/>
          <p:nvPr/>
        </p:nvSpPr>
        <p:spPr>
          <a:xfrm>
            <a:off x="7657442" y="5686049"/>
            <a:ext cx="1495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Guess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5BD845-504D-5BC8-C9B5-7E25EDBF2529}"/>
              </a:ext>
            </a:extLst>
          </p:cNvPr>
          <p:cNvSpPr txBox="1"/>
          <p:nvPr/>
        </p:nvSpPr>
        <p:spPr>
          <a:xfrm>
            <a:off x="3987741" y="2565160"/>
            <a:ext cx="42165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Don't trust ML too much.</a:t>
            </a:r>
            <a:endParaRPr lang="ko-KR" altLang="en-US" sz="24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303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9A62-308D-D6A6-B37A-BA000294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DDFF0-A775-5B89-463A-EABDEC6C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355A227-97FA-500B-F5A7-78E90B2D15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Data, algorithms and Model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B79F42-EA09-DBCC-745D-F6D2734331DD}"/>
              </a:ext>
            </a:extLst>
          </p:cNvPr>
          <p:cNvSpPr txBox="1"/>
          <p:nvPr/>
        </p:nvSpPr>
        <p:spPr>
          <a:xfrm>
            <a:off x="619760" y="1412240"/>
            <a:ext cx="1095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컴퓨터의 학습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(Machine Learning)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Pattern Recognition(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패턴 인식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복잡한 함수를 찾는 과정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”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2BFC6B9-F202-BFAD-F432-6131232CF0F2}"/>
              </a:ext>
            </a:extLst>
          </p:cNvPr>
          <p:cNvGrpSpPr/>
          <p:nvPr/>
        </p:nvGrpSpPr>
        <p:grpSpPr>
          <a:xfrm>
            <a:off x="3196335" y="2774418"/>
            <a:ext cx="3509265" cy="2656715"/>
            <a:chOff x="1611231" y="3054515"/>
            <a:chExt cx="2905125" cy="2082470"/>
          </a:xfrm>
        </p:grpSpPr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4D5A2A2-1D0A-139C-792C-ED458A22F6C2}"/>
                </a:ext>
              </a:extLst>
            </p:cNvPr>
            <p:cNvSpPr/>
            <p:nvPr/>
          </p:nvSpPr>
          <p:spPr>
            <a:xfrm rot="10800000">
              <a:off x="1835069" y="3054515"/>
              <a:ext cx="914400" cy="69182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CDDB1BEC-5AF7-1904-927B-4F10E961F6E8}"/>
                </a:ext>
              </a:extLst>
            </p:cNvPr>
            <p:cNvSpPr/>
            <p:nvPr/>
          </p:nvSpPr>
          <p:spPr>
            <a:xfrm>
              <a:off x="3497179" y="4445165"/>
              <a:ext cx="914400" cy="69182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DBCA37A-1268-D6B7-D45A-C4D4206B9676}"/>
                </a:ext>
              </a:extLst>
            </p:cNvPr>
            <p:cNvSpPr/>
            <p:nvPr/>
          </p:nvSpPr>
          <p:spPr>
            <a:xfrm>
              <a:off x="1611231" y="3429000"/>
              <a:ext cx="2905125" cy="132397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E45705-A708-C4C2-C0FF-E1E0F6B9CE46}"/>
                  </a:ext>
                </a:extLst>
              </p:cNvPr>
              <p:cNvSpPr txBox="1"/>
              <p:nvPr/>
            </p:nvSpPr>
            <p:spPr>
              <a:xfrm>
                <a:off x="2840827" y="2242920"/>
                <a:ext cx="198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/>
                    </a:solidFill>
                  </a:rPr>
                  <a:t>Input (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)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E45705-A708-C4C2-C0FF-E1E0F6B9C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827" y="2242920"/>
                <a:ext cx="1987365" cy="400110"/>
              </a:xfrm>
              <a:prstGeom prst="rect">
                <a:avLst/>
              </a:prstGeom>
              <a:blipFill>
                <a:blip r:embed="rId2"/>
                <a:stretch>
                  <a:fillRect l="-3067" t="-7576" b="-272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B01DA8-982A-FE1C-1414-CE5608543777}"/>
                  </a:ext>
                </a:extLst>
              </p:cNvPr>
              <p:cNvSpPr txBox="1"/>
              <p:nvPr/>
            </p:nvSpPr>
            <p:spPr>
              <a:xfrm>
                <a:off x="5901854" y="5585095"/>
                <a:ext cx="19162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/>
                    </a:solidFill>
                  </a:rPr>
                  <a:t>Output : 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 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B01DA8-982A-FE1C-1414-CE5608543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854" y="5585095"/>
                <a:ext cx="1916266" cy="400110"/>
              </a:xfrm>
              <a:prstGeom prst="rect">
                <a:avLst/>
              </a:prstGeom>
              <a:blipFill>
                <a:blip r:embed="rId3"/>
                <a:stretch>
                  <a:fillRect l="-3175" t="-6061" b="-272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3FFBE0-DF12-2523-6D88-4573F621471A}"/>
                  </a:ext>
                </a:extLst>
              </p:cNvPr>
              <p:cNvSpPr txBox="1"/>
              <p:nvPr/>
            </p:nvSpPr>
            <p:spPr>
              <a:xfrm>
                <a:off x="3727227" y="3714345"/>
                <a:ext cx="9255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3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3FFBE0-DF12-2523-6D88-4573F6214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27" y="3714345"/>
                <a:ext cx="925580" cy="584775"/>
              </a:xfrm>
              <a:prstGeom prst="rect">
                <a:avLst/>
              </a:prstGeom>
              <a:blipFill>
                <a:blip r:embed="rId4"/>
                <a:stretch>
                  <a:fillRect r="-98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10EA859-01DC-3467-8070-A85978F04911}"/>
              </a:ext>
            </a:extLst>
          </p:cNvPr>
          <p:cNvSpPr txBox="1"/>
          <p:nvPr/>
        </p:nvSpPr>
        <p:spPr>
          <a:xfrm>
            <a:off x="7344516" y="3775899"/>
            <a:ext cx="3724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Algorithm(Data)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23DF0C6A-6638-CD9B-D737-8613C8658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982715"/>
              </p:ext>
            </p:extLst>
          </p:nvPr>
        </p:nvGraphicFramePr>
        <p:xfrm>
          <a:off x="1240534" y="2305640"/>
          <a:ext cx="1322228" cy="2746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0557">
                  <a:extLst>
                    <a:ext uri="{9D8B030D-6E8A-4147-A177-3AD203B41FA5}">
                      <a16:colId xmlns:a16="http://schemas.microsoft.com/office/drawing/2014/main" val="4130262302"/>
                    </a:ext>
                  </a:extLst>
                </a:gridCol>
                <a:gridCol w="330557">
                  <a:extLst>
                    <a:ext uri="{9D8B030D-6E8A-4147-A177-3AD203B41FA5}">
                      <a16:colId xmlns:a16="http://schemas.microsoft.com/office/drawing/2014/main" val="1190475043"/>
                    </a:ext>
                  </a:extLst>
                </a:gridCol>
                <a:gridCol w="330557">
                  <a:extLst>
                    <a:ext uri="{9D8B030D-6E8A-4147-A177-3AD203B41FA5}">
                      <a16:colId xmlns:a16="http://schemas.microsoft.com/office/drawing/2014/main" val="2047492532"/>
                    </a:ext>
                  </a:extLst>
                </a:gridCol>
                <a:gridCol w="330557">
                  <a:extLst>
                    <a:ext uri="{9D8B030D-6E8A-4147-A177-3AD203B41FA5}">
                      <a16:colId xmlns:a16="http://schemas.microsoft.com/office/drawing/2014/main" val="2971056949"/>
                    </a:ext>
                  </a:extLst>
                </a:gridCol>
              </a:tblGrid>
              <a:tr h="27467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0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0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0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0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0" marR="0" marT="15240" marB="1524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81480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537FA4B-431D-EAD6-3A2D-36C256D45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361660"/>
              </p:ext>
            </p:extLst>
          </p:nvPr>
        </p:nvGraphicFramePr>
        <p:xfrm>
          <a:off x="4190017" y="5660293"/>
          <a:ext cx="1322228" cy="2746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0557">
                  <a:extLst>
                    <a:ext uri="{9D8B030D-6E8A-4147-A177-3AD203B41FA5}">
                      <a16:colId xmlns:a16="http://schemas.microsoft.com/office/drawing/2014/main" val="4130262302"/>
                    </a:ext>
                  </a:extLst>
                </a:gridCol>
                <a:gridCol w="330557">
                  <a:extLst>
                    <a:ext uri="{9D8B030D-6E8A-4147-A177-3AD203B41FA5}">
                      <a16:colId xmlns:a16="http://schemas.microsoft.com/office/drawing/2014/main" val="1190475043"/>
                    </a:ext>
                  </a:extLst>
                </a:gridCol>
                <a:gridCol w="330557">
                  <a:extLst>
                    <a:ext uri="{9D8B030D-6E8A-4147-A177-3AD203B41FA5}">
                      <a16:colId xmlns:a16="http://schemas.microsoft.com/office/drawing/2014/main" val="2047492532"/>
                    </a:ext>
                  </a:extLst>
                </a:gridCol>
                <a:gridCol w="330557">
                  <a:extLst>
                    <a:ext uri="{9D8B030D-6E8A-4147-A177-3AD203B41FA5}">
                      <a16:colId xmlns:a16="http://schemas.microsoft.com/office/drawing/2014/main" val="2971056949"/>
                    </a:ext>
                  </a:extLst>
                </a:gridCol>
              </a:tblGrid>
              <a:tr h="27467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0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0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0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0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0" marR="0" marT="15240" marB="1524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8148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D5AE722-B4CA-916D-CF85-E384326813DD}"/>
              </a:ext>
            </a:extLst>
          </p:cNvPr>
          <p:cNvSpPr txBox="1"/>
          <p:nvPr/>
        </p:nvSpPr>
        <p:spPr>
          <a:xfrm>
            <a:off x="5158373" y="3738607"/>
            <a:ext cx="13239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</a:rPr>
              <a:t>函數</a:t>
            </a:r>
          </a:p>
        </p:txBody>
      </p:sp>
    </p:spTree>
    <p:extLst>
      <p:ext uri="{BB962C8B-B14F-4D97-AF65-F5344CB8AC3E}">
        <p14:creationId xmlns:p14="http://schemas.microsoft.com/office/powerpoint/2010/main" val="1276206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8DD98-A8E6-D95D-F324-03E6D4D0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5DAA1C-2DA0-72CD-6F6D-CC77E204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B32FA83-238F-4CA2-7C29-E7A9EE19D15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Data, algorithms and Model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4906DE-5E45-64FA-0988-C8AC96F6BB45}"/>
              </a:ext>
            </a:extLst>
          </p:cNvPr>
          <p:cNvSpPr txBox="1"/>
          <p:nvPr/>
        </p:nvSpPr>
        <p:spPr>
          <a:xfrm>
            <a:off x="619760" y="1311322"/>
            <a:ext cx="109524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컴퓨터의 학습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(Machine Learning)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은 입력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(Input)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출력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(Output)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점대점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(point by point)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매핑하는 작업만을 학습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28E103-A789-45F6-4EF3-BBBF18597AB3}"/>
              </a:ext>
            </a:extLst>
          </p:cNvPr>
          <p:cNvSpPr txBox="1"/>
          <p:nvPr/>
        </p:nvSpPr>
        <p:spPr>
          <a:xfrm>
            <a:off x="4384740" y="2671470"/>
            <a:ext cx="819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/>
                </a:solidFill>
              </a:rPr>
              <a:t>Input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8B4BE4-32B7-4488-D780-B3C584605A22}"/>
              </a:ext>
            </a:extLst>
          </p:cNvPr>
          <p:cNvSpPr txBox="1"/>
          <p:nvPr/>
        </p:nvSpPr>
        <p:spPr>
          <a:xfrm>
            <a:off x="5866572" y="2671470"/>
            <a:ext cx="10763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/>
                </a:solidFill>
              </a:rPr>
              <a:t>Output 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83959D-7913-FEE8-8D3E-CB7CF3E6B6A2}"/>
              </a:ext>
            </a:extLst>
          </p:cNvPr>
          <p:cNvSpPr txBox="1"/>
          <p:nvPr/>
        </p:nvSpPr>
        <p:spPr>
          <a:xfrm>
            <a:off x="7981494" y="3532258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Model = Algorithm(Data)</a:t>
            </a:r>
          </a:p>
        </p:txBody>
      </p:sp>
      <p:pic>
        <p:nvPicPr>
          <p:cNvPr id="5" name="Picture 2" descr="function">
            <a:extLst>
              <a:ext uri="{FF2B5EF4-FFF2-40B4-BE49-F238E27FC236}">
                <a16:creationId xmlns:a16="http://schemas.microsoft.com/office/drawing/2014/main" id="{1B7F0A2C-6904-1F76-1050-FD6AE6C64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333" y="3134782"/>
            <a:ext cx="2426754" cy="242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ED1439AA-5E2F-9755-0784-8D305C132E61}"/>
              </a:ext>
            </a:extLst>
          </p:cNvPr>
          <p:cNvSpPr/>
          <p:nvPr/>
        </p:nvSpPr>
        <p:spPr>
          <a:xfrm>
            <a:off x="542144" y="2464183"/>
            <a:ext cx="2304415" cy="230441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" name="그래픽 13" descr="사람들 집단">
            <a:extLst>
              <a:ext uri="{FF2B5EF4-FFF2-40B4-BE49-F238E27FC236}">
                <a16:creationId xmlns:a16="http://schemas.microsoft.com/office/drawing/2014/main" id="{20F63F58-2E7F-F453-D981-C197F8096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214" y="2906395"/>
            <a:ext cx="1192477" cy="1192477"/>
          </a:xfrm>
          <a:prstGeom prst="rect">
            <a:avLst/>
          </a:prstGeom>
        </p:spPr>
      </p:pic>
      <p:pic>
        <p:nvPicPr>
          <p:cNvPr id="15" name="그래픽 14" descr="시계 방향으로 굽은 줄 화살표">
            <a:extLst>
              <a:ext uri="{FF2B5EF4-FFF2-40B4-BE49-F238E27FC236}">
                <a16:creationId xmlns:a16="http://schemas.microsoft.com/office/drawing/2014/main" id="{2AC445D5-9179-B3A9-A33C-11DC953815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6080497">
            <a:off x="2938232" y="2677581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29321A-245F-D73F-28D7-231C870B8D64}"/>
                  </a:ext>
                </a:extLst>
              </p:cNvPr>
              <p:cNvSpPr txBox="1"/>
              <p:nvPr/>
            </p:nvSpPr>
            <p:spPr>
              <a:xfrm>
                <a:off x="7981494" y="3975948"/>
                <a:ext cx="26212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0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0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29321A-245F-D73F-28D7-231C870B8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94" y="3975948"/>
                <a:ext cx="2621280" cy="400110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2DE2B0-52EA-C8A5-F7F7-D265D6837CDA}"/>
                  </a:ext>
                </a:extLst>
              </p:cNvPr>
              <p:cNvSpPr txBox="1"/>
              <p:nvPr/>
            </p:nvSpPr>
            <p:spPr>
              <a:xfrm>
                <a:off x="7981494" y="4614709"/>
                <a:ext cx="178363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2DE2B0-52EA-C8A5-F7F7-D265D6837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94" y="4614709"/>
                <a:ext cx="1783630" cy="307777"/>
              </a:xfrm>
              <a:prstGeom prst="rect">
                <a:avLst/>
              </a:prstGeom>
              <a:blipFill>
                <a:blip r:embed="rId9"/>
                <a:stretch>
                  <a:fillRect l="-2389" t="-172000" b="-26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307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94193-4D93-6262-1D42-12BE57AA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9A4A4-7DD1-4DEA-2822-79A587CE5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923365F-B2E5-D2A0-3F8A-80CFE12EE0E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Data, algorithms and Model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1D397-2036-9061-E025-D6C7AE48B64A}"/>
              </a:ext>
            </a:extLst>
          </p:cNvPr>
          <p:cNvSpPr txBox="1"/>
          <p:nvPr/>
        </p:nvSpPr>
        <p:spPr>
          <a:xfrm>
            <a:off x="619760" y="1311322"/>
            <a:ext cx="10952480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지도학습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비지도학습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차원축소 모델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85F77C-3177-F463-D9A2-5342ACC192E2}"/>
              </a:ext>
            </a:extLst>
          </p:cNvPr>
          <p:cNvSpPr txBox="1"/>
          <p:nvPr/>
        </p:nvSpPr>
        <p:spPr>
          <a:xfrm>
            <a:off x="1333044" y="2316004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Model = Algorithm(Data)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76CE35-3968-B1AC-C622-83D2EED489F7}"/>
                  </a:ext>
                </a:extLst>
              </p:cNvPr>
              <p:cNvSpPr txBox="1"/>
              <p:nvPr/>
            </p:nvSpPr>
            <p:spPr>
              <a:xfrm>
                <a:off x="3031246" y="3028890"/>
                <a:ext cx="26212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0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0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76CE35-3968-B1AC-C622-83D2EED48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46" y="3028890"/>
                <a:ext cx="2621280" cy="400110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796132-C90C-6175-73F0-1A86CA39CFAA}"/>
                  </a:ext>
                </a:extLst>
              </p:cNvPr>
              <p:cNvSpPr txBox="1"/>
              <p:nvPr/>
            </p:nvSpPr>
            <p:spPr>
              <a:xfrm>
                <a:off x="5581131" y="3028890"/>
                <a:ext cx="26212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 ={0, 1}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796132-C90C-6175-73F0-1A86CA39C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131" y="3028890"/>
                <a:ext cx="2621280" cy="400110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7B8489-026A-CC60-6975-5388A7F6724A}"/>
                  </a:ext>
                </a:extLst>
              </p:cNvPr>
              <p:cNvSpPr txBox="1"/>
              <p:nvPr/>
            </p:nvSpPr>
            <p:spPr>
              <a:xfrm>
                <a:off x="5581130" y="3372444"/>
                <a:ext cx="26212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 ={0, 1, 2, 3,…</m:t>
                      </m:r>
                      <m:r>
                        <m:rPr>
                          <m:sty m:val="p"/>
                        </m:rP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7B8489-026A-CC60-6975-5388A7F67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130" y="3372444"/>
                <a:ext cx="2621280" cy="4001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EA0734-904C-683A-AC78-7A4E78AFA2A8}"/>
                  </a:ext>
                </a:extLst>
              </p:cNvPr>
              <p:cNvSpPr txBox="1"/>
              <p:nvPr/>
            </p:nvSpPr>
            <p:spPr>
              <a:xfrm>
                <a:off x="5581130" y="4205554"/>
                <a:ext cx="26212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Real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number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EA0734-904C-683A-AC78-7A4E78AFA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130" y="4205554"/>
                <a:ext cx="2621280" cy="400110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51D1FD-F8DD-11DA-51F7-A239E6FF6B6C}"/>
                  </a:ext>
                </a:extLst>
              </p:cNvPr>
              <p:cNvSpPr txBox="1"/>
              <p:nvPr/>
            </p:nvSpPr>
            <p:spPr>
              <a:xfrm>
                <a:off x="3031246" y="5038665"/>
                <a:ext cx="26212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sz="2000" dirty="0"/>
                  <a:t> </a:t>
                </a:r>
                <a:r>
                  <a:rPr lang="en-US" altLang="ko-KR" sz="20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ko-KR" altLang="en-US" sz="200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ko-KR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ko-KR" altLang="en-US" sz="2000" i="0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51D1FD-F8DD-11DA-51F7-A239E6FF6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46" y="5038665"/>
                <a:ext cx="2621280" cy="400110"/>
              </a:xfrm>
              <a:prstGeom prst="rect">
                <a:avLst/>
              </a:prstGeom>
              <a:blipFill>
                <a:blip r:embed="rId6"/>
                <a:stretch>
                  <a:fillRect l="-930" t="-7692" b="-2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38133B-766B-6075-7F9F-A6113F71A004}"/>
                  </a:ext>
                </a:extLst>
              </p:cNvPr>
              <p:cNvSpPr txBox="1"/>
              <p:nvPr/>
            </p:nvSpPr>
            <p:spPr>
              <a:xfrm>
                <a:off x="5581130" y="5038665"/>
                <a:ext cx="436296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1" dirty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ank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) ≥ </m:t>
                      </m:r>
                      <m:r>
                        <m:rPr>
                          <m:sty m:val="p"/>
                        </m:rP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rank</m:t>
                      </m:r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ko-KR" altLang="en-US" sz="2000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38133B-766B-6075-7F9F-A6113F71A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130" y="5038665"/>
                <a:ext cx="4362969" cy="400110"/>
              </a:xfrm>
              <a:prstGeom prst="rect">
                <a:avLst/>
              </a:prstGeom>
              <a:blipFill>
                <a:blip r:embed="rId7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91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D84C8-6C06-6C62-C7A1-14D0495D8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11CD6B4-BF86-A9FB-A611-325B48582352}"/>
              </a:ext>
            </a:extLst>
          </p:cNvPr>
          <p:cNvSpPr/>
          <p:nvPr/>
        </p:nvSpPr>
        <p:spPr>
          <a:xfrm>
            <a:off x="670590" y="2527979"/>
            <a:ext cx="7467600" cy="5231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967B1-6AF6-AE29-D469-2BD9CD3E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B359186-CFD8-EC99-5FC8-C24D0BDB3D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A8DE2-DFDF-0AC6-63A9-8A35FE4103B1}"/>
              </a:ext>
            </a:extLst>
          </p:cNvPr>
          <p:cNvSpPr txBox="1"/>
          <p:nvPr/>
        </p:nvSpPr>
        <p:spPr>
          <a:xfrm>
            <a:off x="1896858" y="1555154"/>
            <a:ext cx="9370698" cy="4189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Problem Definition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Data, algorithm and model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Extrapolation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Logistic</a:t>
            </a:r>
            <a:r>
              <a:rPr lang="ko-KR" altLang="en-US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 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Regression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Ensemble Model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Calibration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Non-Parametric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 vs Parametric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G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enerative vs Deterministic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Imbalance 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D</a:t>
            </a: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ata</a:t>
            </a:r>
          </a:p>
        </p:txBody>
      </p:sp>
    </p:spTree>
    <p:extLst>
      <p:ext uri="{BB962C8B-B14F-4D97-AF65-F5344CB8AC3E}">
        <p14:creationId xmlns:p14="http://schemas.microsoft.com/office/powerpoint/2010/main" val="3634574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C51D8-06F1-297F-B605-D18FCB30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33FD87-8AD6-42A0-FE45-4CB739C1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104E6D1-E1E6-A112-B9F4-846E00BA083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Randomforest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Regressor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C77526-FF5E-2FB1-E1C8-4EDD1FFA9AD8}"/>
              </a:ext>
            </a:extLst>
          </p:cNvPr>
          <p:cNvSpPr txBox="1"/>
          <p:nvPr/>
        </p:nvSpPr>
        <p:spPr>
          <a:xfrm>
            <a:off x="619760" y="1311322"/>
            <a:ext cx="10952480" cy="878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RandomForestRegressor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알고리즘으로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load_diabetes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“BMI”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입력변수로 학습하고 새로운 데이터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최대값보다 큰 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예측하고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외삽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/>
              <a:t>Extrapolation) Failure</a:t>
            </a:r>
            <a:r>
              <a:rPr lang="ko-KR" altLang="en-US" dirty="0"/>
              <a:t>에 대해 토론하라</a:t>
            </a:r>
            <a:endParaRPr lang="en-US" altLang="ko-KR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DDAEF89-8E96-8EC9-25EA-F71A4B704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685" y="2492081"/>
            <a:ext cx="8448816" cy="367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70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7917F-6090-7350-E136-408D8A9A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8330F0-69DD-AA4A-B52B-DC582EB5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B7F03B9-8D99-FC7D-8ECA-C4C40C1CDC1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Interpolation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43E5A-A6E3-D84F-88B5-2AA7E7BEEA4E}"/>
              </a:ext>
            </a:extLst>
          </p:cNvPr>
          <p:cNvSpPr txBox="1"/>
          <p:nvPr/>
        </p:nvSpPr>
        <p:spPr>
          <a:xfrm>
            <a:off x="2905760" y="3244334"/>
            <a:ext cx="8101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내삽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(Interpolation) vs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외삽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(Extrapolation)</a:t>
            </a:r>
          </a:p>
        </p:txBody>
      </p:sp>
    </p:spTree>
    <p:extLst>
      <p:ext uri="{BB962C8B-B14F-4D97-AF65-F5344CB8AC3E}">
        <p14:creationId xmlns:p14="http://schemas.microsoft.com/office/powerpoint/2010/main" val="64998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A8EE5-C864-FA6F-1485-90C464ED0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A3BD93F-CDCA-B31E-BFCE-661A56ABA5C4}"/>
              </a:ext>
            </a:extLst>
          </p:cNvPr>
          <p:cNvSpPr/>
          <p:nvPr/>
        </p:nvSpPr>
        <p:spPr>
          <a:xfrm>
            <a:off x="670590" y="2956604"/>
            <a:ext cx="7467600" cy="5231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CF901D-F2AE-B3E4-03F2-33D74D38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88AA08C-D1EF-B373-5F1A-89B957A0D0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AFBE2-87CE-1BD6-F3B8-CDA67FC14450}"/>
              </a:ext>
            </a:extLst>
          </p:cNvPr>
          <p:cNvSpPr txBox="1"/>
          <p:nvPr/>
        </p:nvSpPr>
        <p:spPr>
          <a:xfrm>
            <a:off x="1896858" y="1555154"/>
            <a:ext cx="9370698" cy="4189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Problem Definition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Data, algorithm and model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Extrapolation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Logistic</a:t>
            </a:r>
            <a:r>
              <a:rPr lang="ko-KR" altLang="en-US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 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Regression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Ensemble Model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Calibration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Non-Parametric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 vs Parametric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G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enerative vs Deterministic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Imbalance 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D</a:t>
            </a: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ata</a:t>
            </a:r>
          </a:p>
        </p:txBody>
      </p:sp>
    </p:spTree>
    <p:extLst>
      <p:ext uri="{BB962C8B-B14F-4D97-AF65-F5344CB8AC3E}">
        <p14:creationId xmlns:p14="http://schemas.microsoft.com/office/powerpoint/2010/main" val="2678542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740DF-875F-5D13-B6C8-0C7285746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8EA706-2C98-9D95-81C7-563273F3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0FB6279-1DEB-EB79-E28C-34765A15525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Regression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D4F8E-D2F3-DAA3-255A-4777BE0D753B}"/>
              </a:ext>
            </a:extLst>
          </p:cNvPr>
          <p:cNvSpPr txBox="1"/>
          <p:nvPr/>
        </p:nvSpPr>
        <p:spPr>
          <a:xfrm>
            <a:off x="475645" y="1248422"/>
            <a:ext cx="1124071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(Height)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입력변수로 하고 성별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출력변수로 하여 단순회귀 모델을 적용하여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구한 후 회귀식을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시각화하라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구글시트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&amp;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파이썬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5B540336-108C-0228-6DBD-8DA79BE96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464300"/>
              </p:ext>
            </p:extLst>
          </p:nvPr>
        </p:nvGraphicFramePr>
        <p:xfrm>
          <a:off x="1192660" y="2495274"/>
          <a:ext cx="2007394" cy="30362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3697">
                  <a:extLst>
                    <a:ext uri="{9D8B030D-6E8A-4147-A177-3AD203B41FA5}">
                      <a16:colId xmlns:a16="http://schemas.microsoft.com/office/drawing/2014/main" val="729620001"/>
                    </a:ext>
                  </a:extLst>
                </a:gridCol>
                <a:gridCol w="1003697">
                  <a:extLst>
                    <a:ext uri="{9D8B030D-6E8A-4147-A177-3AD203B41FA5}">
                      <a16:colId xmlns:a16="http://schemas.microsoft.com/office/drawing/2014/main" val="1387980696"/>
                    </a:ext>
                  </a:extLst>
                </a:gridCol>
              </a:tblGrid>
              <a:tr h="57995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Person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Height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(feet)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7853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6.00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8099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259819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male</a:t>
                      </a:r>
                      <a:endParaRPr lang="en-US" sz="160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5.58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39751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male</a:t>
                      </a:r>
                      <a:endParaRPr lang="en-US" sz="160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3308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24656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5635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5.42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534912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5.75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158088"/>
                  </a:ext>
                </a:extLst>
              </a:tr>
            </a:tbl>
          </a:graphicData>
        </a:graphic>
      </p:graphicFrame>
      <p:pic>
        <p:nvPicPr>
          <p:cNvPr id="11266" name="Picture 2">
            <a:extLst>
              <a:ext uri="{FF2B5EF4-FFF2-40B4-BE49-F238E27FC236}">
                <a16:creationId xmlns:a16="http://schemas.microsoft.com/office/drawing/2014/main" id="{E531F24A-0D43-8901-1334-68771529A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4" y="2495275"/>
            <a:ext cx="5954763" cy="361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C85B13A-980C-20B1-9604-29C6E314AF92}"/>
                  </a:ext>
                </a:extLst>
              </p:cNvPr>
              <p:cNvSpPr txBox="1"/>
              <p:nvPr/>
            </p:nvSpPr>
            <p:spPr>
              <a:xfrm>
                <a:off x="8983829" y="3705614"/>
                <a:ext cx="1609608" cy="3077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ko-KR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20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ko-KR" altLang="en-US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C85B13A-980C-20B1-9604-29C6E314A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829" y="3705614"/>
                <a:ext cx="1609608" cy="307777"/>
              </a:xfrm>
              <a:prstGeom prst="rect">
                <a:avLst/>
              </a:prstGeom>
              <a:blipFill>
                <a:blip r:embed="rId4"/>
                <a:stretch>
                  <a:fillRect l="-3030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280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4AD0B-D159-4091-49EC-27F737FE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486A0B-665C-CEC3-0D43-C3E7DC3C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071E021-E2DF-EBD1-4FAF-76C96CF4579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Regression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84072C57-E3BF-AF4F-0EAA-DD08A2FD9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2476224"/>
            <a:ext cx="6005158" cy="360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AAB137-19F1-794F-55A6-CF165E5433F9}"/>
              </a:ext>
            </a:extLst>
          </p:cNvPr>
          <p:cNvSpPr txBox="1"/>
          <p:nvPr/>
        </p:nvSpPr>
        <p:spPr>
          <a:xfrm>
            <a:off x="475645" y="1248422"/>
            <a:ext cx="1124071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(Height)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입력변수로 하고 성별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출력변수로 하여 로지스틱 단순회귀 모델을 적용하고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구글시트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&amp;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파이썬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그 의미를 토론하자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4BDA658-90EF-0817-D2D1-2F062E4F5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635577"/>
              </p:ext>
            </p:extLst>
          </p:nvPr>
        </p:nvGraphicFramePr>
        <p:xfrm>
          <a:off x="1192660" y="2476224"/>
          <a:ext cx="2007394" cy="30362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3697">
                  <a:extLst>
                    <a:ext uri="{9D8B030D-6E8A-4147-A177-3AD203B41FA5}">
                      <a16:colId xmlns:a16="http://schemas.microsoft.com/office/drawing/2014/main" val="729620001"/>
                    </a:ext>
                  </a:extLst>
                </a:gridCol>
                <a:gridCol w="1003697">
                  <a:extLst>
                    <a:ext uri="{9D8B030D-6E8A-4147-A177-3AD203B41FA5}">
                      <a16:colId xmlns:a16="http://schemas.microsoft.com/office/drawing/2014/main" val="1387980696"/>
                    </a:ext>
                  </a:extLst>
                </a:gridCol>
              </a:tblGrid>
              <a:tr h="57995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Person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Height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(feet)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7853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6.00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8099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259819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male</a:t>
                      </a:r>
                      <a:endParaRPr lang="en-US" sz="160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5.58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397511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</a:rPr>
                        <a:t>male</a:t>
                      </a:r>
                      <a:endParaRPr lang="en-US" sz="160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5.92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3308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5.00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24656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5.50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56357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5.42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534912"/>
                  </a:ext>
                </a:extLst>
              </a:tr>
              <a:tr h="30703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female</a:t>
                      </a:r>
                      <a:endParaRPr 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</a:rPr>
                        <a:t>5.75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22860" marR="22860" marT="15240" marB="1524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1580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C8F8C4-C96E-F2F3-3FDB-EE8CFEC3E0AF}"/>
                  </a:ext>
                </a:extLst>
              </p:cNvPr>
              <p:cNvSpPr txBox="1"/>
              <p:nvPr/>
            </p:nvSpPr>
            <p:spPr>
              <a:xfrm>
                <a:off x="5810250" y="3994341"/>
                <a:ext cx="2006190" cy="5250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ⅇ</m:t>
                              </m:r>
                            </m:e>
                            <m:sup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C8F8C4-C96E-F2F3-3FDB-EE8CFEC3E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250" y="3994341"/>
                <a:ext cx="2006190" cy="52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096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46333-54FE-98CD-B6F8-E4E15D580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B71BC0C-FD37-3561-DD17-16985DBD291B}"/>
              </a:ext>
            </a:extLst>
          </p:cNvPr>
          <p:cNvSpPr/>
          <p:nvPr/>
        </p:nvSpPr>
        <p:spPr>
          <a:xfrm>
            <a:off x="670590" y="3423329"/>
            <a:ext cx="7467600" cy="5231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091E23-1C23-DFF0-D321-72EC1000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6805401-0AAA-7ABB-3967-3293E8B24D6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615CE-087F-3EB0-FFF2-4A3AD887B7BE}"/>
              </a:ext>
            </a:extLst>
          </p:cNvPr>
          <p:cNvSpPr txBox="1"/>
          <p:nvPr/>
        </p:nvSpPr>
        <p:spPr>
          <a:xfrm>
            <a:off x="1896858" y="1555154"/>
            <a:ext cx="9370698" cy="4189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Problem Definition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Data, algorithm and model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Extrapolation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Logistic</a:t>
            </a:r>
            <a:r>
              <a:rPr lang="ko-KR" altLang="en-US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 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Regression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Ensemble Model</a:t>
            </a:r>
            <a:endParaRPr lang="en-US" altLang="ko-KR" sz="2000" b="1" i="0" dirty="0">
              <a:effectLst/>
              <a:latin typeface="Yu Gothic UI Semilight" panose="020B0400000000000000" pitchFamily="34" charset="-128"/>
              <a:ea typeface="Yu Gothic UI Semilight" panose="020B0400000000000000" pitchFamily="34" charset="-128"/>
              <a:cs typeface="맑은 고딕 Semilight" panose="020B0502040204020203" pitchFamily="50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Calibration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Non-Parametric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 vs Parametric Model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G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enerative vs Deterministic Model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Imbalance </a:t>
            </a:r>
            <a:r>
              <a:rPr lang="en-US" altLang="ko-KR" sz="2000" b="1" dirty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D</a:t>
            </a:r>
            <a:r>
              <a:rPr lang="en-US" altLang="ko-KR" sz="2000" b="1" i="0" dirty="0">
                <a:effectLst/>
                <a:latin typeface="Yu Gothic UI Semilight" panose="020B0400000000000000" pitchFamily="34" charset="-128"/>
                <a:ea typeface="Yu Gothic UI Semilight" panose="020B0400000000000000" pitchFamily="34" charset="-128"/>
                <a:cs typeface="맑은 고딕 Semilight" panose="020B0502040204020203" pitchFamily="50" charset="-127"/>
              </a:rPr>
              <a:t>ata</a:t>
            </a:r>
          </a:p>
        </p:txBody>
      </p:sp>
    </p:spTree>
    <p:extLst>
      <p:ext uri="{BB962C8B-B14F-4D97-AF65-F5344CB8AC3E}">
        <p14:creationId xmlns:p14="http://schemas.microsoft.com/office/powerpoint/2010/main" val="2291955670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6831</TotalTime>
  <Words>1036</Words>
  <Application>Microsoft Office PowerPoint</Application>
  <PresentationFormat>와이드스크린</PresentationFormat>
  <Paragraphs>296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D2Coding</vt:lpstr>
      <vt:lpstr>Yu Gothic UI Semilight</vt:lpstr>
      <vt:lpstr>맑은 고딕</vt:lpstr>
      <vt:lpstr>Batang</vt:lpstr>
      <vt:lpstr>Arial</vt:lpstr>
      <vt:lpstr>Cambria Math</vt:lpstr>
      <vt:lpstr>Wingdings</vt:lpstr>
      <vt:lpstr>WelcomeDoc</vt:lpstr>
      <vt:lpstr>Machine Learning Algorithms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118</cp:revision>
  <dcterms:created xsi:type="dcterms:W3CDTF">2026-04-06T01:00:39Z</dcterms:created>
  <dcterms:modified xsi:type="dcterms:W3CDTF">2026-06-20T23:10:04Z</dcterms:modified>
  <cp:version/>
</cp:coreProperties>
</file>