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136" r:id="rId3"/>
    <p:sldId id="1163" r:id="rId4"/>
    <p:sldId id="1182" r:id="rId5"/>
    <p:sldId id="1183" r:id="rId6"/>
    <p:sldId id="1140" r:id="rId7"/>
    <p:sldId id="1142" r:id="rId8"/>
    <p:sldId id="1168" r:id="rId9"/>
    <p:sldId id="1122" r:id="rId10"/>
    <p:sldId id="1150" r:id="rId11"/>
    <p:sldId id="1137" r:id="rId12"/>
    <p:sldId id="1174" r:id="rId13"/>
    <p:sldId id="1175" r:id="rId14"/>
    <p:sldId id="1177" r:id="rId15"/>
    <p:sldId id="1156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64" r:id="rId25"/>
    <p:sldId id="1166" r:id="rId26"/>
    <p:sldId id="1139" r:id="rId27"/>
    <p:sldId id="1179" r:id="rId28"/>
    <p:sldId id="1185" r:id="rId29"/>
    <p:sldId id="1147" r:id="rId30"/>
    <p:sldId id="1152" r:id="rId31"/>
    <p:sldId id="1134" r:id="rId32"/>
    <p:sldId id="1176" r:id="rId33"/>
    <p:sldId id="1148" r:id="rId34"/>
    <p:sldId id="1181" r:id="rId35"/>
    <p:sldId id="1178" r:id="rId36"/>
    <p:sldId id="1180" r:id="rId37"/>
    <p:sldId id="1157" r:id="rId38"/>
    <p:sldId id="1159" r:id="rId39"/>
    <p:sldId id="1171" r:id="rId40"/>
    <p:sldId id="1144" r:id="rId41"/>
    <p:sldId id="1143" r:id="rId42"/>
    <p:sldId id="1145" r:id="rId43"/>
    <p:sldId id="1165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82"/>
            <p14:sldId id="118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66"/>
            <p14:sldId id="1139"/>
            <p14:sldId id="1179"/>
            <p14:sldId id="1185"/>
            <p14:sldId id="1147"/>
            <p14:sldId id="1152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641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HUcqdCr4&amp;t=633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E752F-40B9-7D21-28D0-6E0EEB09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BD0A0C1-DFBD-9E04-7826-E38CEFB38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26546-AD54-EF05-D6CB-D6AF84B258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 descr="LEGO® Art Gustav Klimt – The Kiss showing a brick-built 3D artwork made up of various elements, like circles and studs.">
            <a:extLst>
              <a:ext uri="{FF2B5EF4-FFF2-40B4-BE49-F238E27FC236}">
                <a16:creationId xmlns:a16="http://schemas.microsoft.com/office/drawing/2014/main" id="{AC6F743F-AE92-9119-1B55-6B93C6175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5151" y="2676525"/>
            <a:ext cx="35242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테이블 위에 앉아있는 다채로운 레고 더미">
            <a:extLst>
              <a:ext uri="{FF2B5EF4-FFF2-40B4-BE49-F238E27FC236}">
                <a16:creationId xmlns:a16="http://schemas.microsoft.com/office/drawing/2014/main" id="{E751A433-46C2-6B7D-D93B-775CB71D5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888" y="2723691"/>
            <a:ext cx="4303712" cy="288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5F37B-6316-BD45-B98C-72761ED72998}"/>
              </a:ext>
            </a:extLst>
          </p:cNvPr>
          <p:cNvSpPr txBox="1"/>
          <p:nvPr/>
        </p:nvSpPr>
        <p:spPr>
          <a:xfrm>
            <a:off x="552450" y="1205984"/>
            <a:ext cx="1138185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아키텍처는 레이어의 종류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 방식의 집합으로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효율적인 모델 설계를 위한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모듈성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(Modularity),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Framework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기초로 활용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E490F23-CBC8-3549-0682-651570C3C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57521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8855-45D2-C990-E9D1-8045E227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757EAE72-AB84-7120-2F49-709333CD4A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BE3D12-1E46-1799-FDBF-BB43A91AF7D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00400AF-868E-CEA5-1352-06AE1684F8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44BE50-7C01-B4DF-563B-2055BD4CBC89}"/>
              </a:ext>
            </a:extLst>
          </p:cNvPr>
          <p:cNvSpPr txBox="1"/>
          <p:nvPr/>
        </p:nvSpPr>
        <p:spPr>
          <a:xfrm>
            <a:off x="133609" y="1189897"/>
            <a:ext cx="1131518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indent="-285750" rtl="0" fontAlgn="base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모듈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(Modularity):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신경망의 각 레이어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(Layer)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블록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(Block)</a:t>
            </a:r>
            <a:endParaRPr lang="en-US" altLang="ko-KR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계층 구조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(Hierarchy):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레이어를 순차적으로 깊게 쌓아 올린 스택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(Stack)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(Reuse):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이미지의 여러 공간적 위치에 동일한 커널 가중치를 적용하는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13794" y="5815835"/>
            <a:ext cx="3119481" cy="383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16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94" y="3276600"/>
            <a:ext cx="11364411" cy="2539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99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경사 하강법이 덜 멍청하게 움직일 수 있도록 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최적의 레이어 조합과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뉴런이 적고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뉴런이 많고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177280" y="2744957"/>
                <a:ext cx="5557520" cy="1136163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235265"/>
                  <a:gd name="adj6" fmla="val -34661"/>
                </a:avLst>
              </a:prstGeom>
              <a:solidFill>
                <a:schemeClr val="tx1"/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</a:p>
              <a:p>
                <a:pPr algn="ctr"/>
                <a:endParaRPr lang="en-US" altLang="ko-KR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 algn="ctr"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평균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solidFill>
                      <a:schemeClr val="bg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7280" y="2744957"/>
                <a:ext cx="5557520" cy="1136163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235265"/>
                  <a:gd name="adj6" fmla="val -34661"/>
                </a:avLst>
              </a:prstGeom>
              <a:blipFill>
                <a:blip r:embed="rId5"/>
                <a:stretch>
                  <a:fillRect t="-1354"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경사 하강법으로 역전파때 직접 학습시키는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6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blipFill>
                <a:blip r:embed="rId2"/>
                <a:stretch>
                  <a:fillRect l="-278" b="-52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4BF787A-9991-CAF4-7417-475E87E0754A}"/>
              </a:ext>
            </a:extLst>
          </p:cNvPr>
          <p:cNvSpPr/>
          <p:nvPr/>
        </p:nvSpPr>
        <p:spPr>
          <a:xfrm>
            <a:off x="424543" y="359083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24F376-ABDC-C469-700D-E44B4D4357CC}"/>
              </a:ext>
            </a:extLst>
          </p:cNvPr>
          <p:cNvSpPr/>
          <p:nvPr/>
        </p:nvSpPr>
        <p:spPr>
          <a:xfrm>
            <a:off x="424543" y="431219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B7F776-2C2F-E64B-8522-BA9D9FD633B1}"/>
              </a:ext>
            </a:extLst>
          </p:cNvPr>
          <p:cNvSpPr/>
          <p:nvPr/>
        </p:nvSpPr>
        <p:spPr>
          <a:xfrm>
            <a:off x="424543" y="5033556"/>
            <a:ext cx="3984171" cy="3715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722167"/>
              </p:ext>
            </p:extLst>
          </p:nvPr>
        </p:nvGraphicFramePr>
        <p:xfrm>
          <a:off x="5052162" y="251989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135655"/>
              </p:ext>
            </p:extLst>
          </p:nvPr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6773110"/>
              </p:ext>
            </p:extLst>
          </p:nvPr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676295"/>
              </p:ext>
            </p:extLst>
          </p:nvPr>
        </p:nvGraphicFramePr>
        <p:xfrm>
          <a:off x="5029302" y="421266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831459"/>
              </p:ext>
            </p:extLst>
          </p:nvPr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953027"/>
              </p:ext>
            </p:extLst>
          </p:nvPr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922919"/>
              </p:ext>
            </p:extLst>
          </p:nvPr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59535"/>
              </p:ext>
            </p:extLst>
          </p:nvPr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395889"/>
              </p:ext>
            </p:extLst>
          </p:nvPr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937330"/>
              </p:ext>
            </p:extLst>
          </p:nvPr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225686"/>
              </p:ext>
            </p:extLst>
          </p:nvPr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390698"/>
              </p:ext>
            </p:extLst>
          </p:nvPr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9568790"/>
              </p:ext>
            </p:extLst>
          </p:nvPr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665677"/>
              </p:ext>
            </p:extLst>
          </p:nvPr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827157"/>
              </p:ext>
            </p:extLst>
          </p:nvPr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2724225"/>
              </p:ext>
            </p:extLst>
          </p:nvPr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398551"/>
              </p:ext>
            </p:extLst>
          </p:nvPr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922" y="2769239"/>
            <a:ext cx="3693260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135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(3x3x3x5) parameters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411837" y="3680909"/>
            <a:ext cx="1146443" cy="1234339"/>
          </a:xfrm>
          <a:prstGeom prst="cube">
            <a:avLst>
              <a:gd name="adj" fmla="val 5394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입력이미지를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 정보를 분리하여 각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공간합성곱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수행하고 그 다음은 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순차적으로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(1x1x3x5)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총 파라미터는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42(27+15)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257039"/>
              </p:ext>
            </p:extLst>
          </p:nvPr>
        </p:nvGraphicFramePr>
        <p:xfrm>
          <a:off x="1260510" y="340804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10929"/>
              </p:ext>
            </p:extLst>
          </p:nvPr>
        </p:nvGraphicFramePr>
        <p:xfrm>
          <a:off x="1260510" y="440620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745057"/>
              </p:ext>
            </p:extLst>
          </p:nvPr>
        </p:nvGraphicFramePr>
        <p:xfrm>
          <a:off x="1260510" y="539110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578589"/>
              </p:ext>
            </p:extLst>
          </p:nvPr>
        </p:nvGraphicFramePr>
        <p:xfrm>
          <a:off x="3865982" y="350950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730284"/>
              </p:ext>
            </p:extLst>
          </p:nvPr>
        </p:nvGraphicFramePr>
        <p:xfrm>
          <a:off x="5444349" y="43650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190905"/>
              </p:ext>
            </p:extLst>
          </p:nvPr>
        </p:nvGraphicFramePr>
        <p:xfrm>
          <a:off x="5596749" y="45174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69795"/>
              </p:ext>
            </p:extLst>
          </p:nvPr>
        </p:nvGraphicFramePr>
        <p:xfrm>
          <a:off x="5749149" y="46698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89077" y="305898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037559" y="6268303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34209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563175"/>
              </p:ext>
            </p:extLst>
          </p:nvPr>
        </p:nvGraphicFramePr>
        <p:xfrm>
          <a:off x="3865982" y="474076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90330"/>
              </p:ext>
            </p:extLst>
          </p:nvPr>
        </p:nvGraphicFramePr>
        <p:xfrm>
          <a:off x="3865982" y="584820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8213761" y="6262738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309437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309556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4386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40364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5910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7434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41888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3412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7418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8942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50466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3297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4821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6345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9635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61159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2683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41259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400373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71766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30791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93707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558071"/>
              </p:ext>
            </p:extLst>
          </p:nvPr>
        </p:nvGraphicFramePr>
        <p:xfrm>
          <a:off x="9132428" y="4214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54139"/>
              </p:ext>
            </p:extLst>
          </p:nvPr>
        </p:nvGraphicFramePr>
        <p:xfrm>
          <a:off x="9284828" y="43665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5613"/>
              </p:ext>
            </p:extLst>
          </p:nvPr>
        </p:nvGraphicFramePr>
        <p:xfrm>
          <a:off x="9437228" y="45189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017705"/>
              </p:ext>
            </p:extLst>
          </p:nvPr>
        </p:nvGraphicFramePr>
        <p:xfrm>
          <a:off x="9589628" y="46713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432161"/>
              </p:ext>
            </p:extLst>
          </p:nvPr>
        </p:nvGraphicFramePr>
        <p:xfrm>
          <a:off x="9742028" y="48237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05606"/>
              </p:ext>
            </p:extLst>
          </p:nvPr>
        </p:nvGraphicFramePr>
        <p:xfrm>
          <a:off x="9894428" y="4976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418287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68689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67724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71413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52583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65609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63986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68767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3094375"/>
            <a:ext cx="4238974" cy="348346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3094374"/>
            <a:ext cx="4238974" cy="347614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5FC2-EC44-0397-875A-5B0470EA5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70D899-8AFD-1DFD-F5B8-96A8314FC4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1x1 Convolution (Pointwise Conv)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C9C948-3DED-66F0-B839-106EACC776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D08E12-6588-122E-0C2E-10A5C2BD1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762" y="1493736"/>
            <a:ext cx="8979627" cy="47318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578425-402B-8F5B-C857-9697D0F75552}"/>
              </a:ext>
            </a:extLst>
          </p:cNvPr>
          <p:cNvSpPr txBox="1"/>
          <p:nvPr/>
        </p:nvSpPr>
        <p:spPr>
          <a:xfrm>
            <a:off x="1219762" y="6247380"/>
            <a:ext cx="7894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1x1 Convolution? Do we really achieve anything with this?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0053622-1AAF-226B-734C-6ADA7E64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0506" y="1493736"/>
            <a:ext cx="5260758" cy="62985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BE6E05E-C964-2987-FD57-D9F73D5BC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0954" y="4172130"/>
            <a:ext cx="5260758" cy="5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018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481097" y="1222270"/>
            <a:ext cx="11229806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채널"은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서로 완전히 독립적인 정보인 경우가 많은데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63599" y="4079739"/>
            <a:ext cx="2315041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스케치북에 검은색 펜으로 캐릭터의 눈, 코, 입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4BC4-E1A3-2086-1AF2-79C143CA14B8}"/>
              </a:ext>
            </a:extLst>
          </p:cNvPr>
          <p:cNvSpPr txBox="1"/>
          <p:nvPr/>
        </p:nvSpPr>
        <p:spPr>
          <a:xfrm>
            <a:off x="7081520" y="4341952"/>
            <a:ext cx="2410504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그려진 선 안에 빨간색, 초록색, 파란색 물감으로 '색칠(채색)＇하기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RGB 채널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C9F4C-3DE9-0698-645B-5AEA3636288B}"/>
              </a:ext>
            </a:extLst>
          </p:cNvPr>
          <p:cNvSpPr txBox="1"/>
          <p:nvPr/>
        </p:nvSpPr>
        <p:spPr>
          <a:xfrm>
            <a:off x="879525" y="5889545"/>
            <a:ext cx="10459708" cy="5232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71122F-4AB5-7C39-EE08-09BAEF84D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641" y="3593159"/>
            <a:ext cx="1821991" cy="209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7084C3-02A4-CD27-99F3-10BA310B2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024" y="3593159"/>
            <a:ext cx="1847209" cy="21317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6E3633-8A9F-6322-D818-F3DEBD581A8F}"/>
              </a:ext>
            </a:extLst>
          </p:cNvPr>
          <p:cNvSpPr txBox="1"/>
          <p:nvPr/>
        </p:nvSpPr>
        <p:spPr>
          <a:xfrm>
            <a:off x="3171964" y="3064339"/>
            <a:ext cx="1833106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 그리기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(공간 정보)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E7E31-F8E4-2904-13D6-5549864DD54F}"/>
              </a:ext>
            </a:extLst>
          </p:cNvPr>
          <p:cNvSpPr txBox="1"/>
          <p:nvPr/>
        </p:nvSpPr>
        <p:spPr>
          <a:xfrm>
            <a:off x="9483895" y="3064339"/>
            <a:ext cx="1858475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(채널 정보)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170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18658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(Inception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멍청한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알고리즘을 똑똑하게 하는 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7FAAAB-8EA4-47C9-9A15-FA2948DF3156}"/>
              </a:ext>
            </a:extLst>
          </p:cNvPr>
          <p:cNvSpPr txBox="1"/>
          <p:nvPr/>
        </p:nvSpPr>
        <p:spPr>
          <a:xfrm>
            <a:off x="1379097" y="2478811"/>
            <a:ext cx="10178436" cy="374782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90296" y="1263662"/>
            <a:ext cx="4133850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11039</TotalTime>
  <Words>3870</Words>
  <Application>Microsoft Office PowerPoint</Application>
  <PresentationFormat>와이드스크린</PresentationFormat>
  <Paragraphs>416</Paragraphs>
  <Slides>43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2" baseType="lpstr">
      <vt:lpstr>D2Coding</vt:lpstr>
      <vt:lpstr>맑은 고딕</vt:lpstr>
      <vt:lpstr>Batang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194</cp:revision>
  <dcterms:created xsi:type="dcterms:W3CDTF">2026-04-06T01:00:39Z</dcterms:created>
  <dcterms:modified xsi:type="dcterms:W3CDTF">2026-09-21T21:26:44Z</dcterms:modified>
  <cp:version/>
</cp:coreProperties>
</file>