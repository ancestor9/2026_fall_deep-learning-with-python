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7"/>
  </p:notesMasterIdLst>
  <p:handoutMasterIdLst>
    <p:handoutMasterId r:id="rId28"/>
  </p:handoutMasterIdLst>
  <p:sldIdLst>
    <p:sldId id="256" r:id="rId2"/>
    <p:sldId id="1136" r:id="rId3"/>
    <p:sldId id="1138" r:id="rId4"/>
    <p:sldId id="1139" r:id="rId5"/>
    <p:sldId id="1134" r:id="rId6"/>
    <p:sldId id="1140" r:id="rId7"/>
    <p:sldId id="1141" r:id="rId8"/>
    <p:sldId id="1142" r:id="rId9"/>
    <p:sldId id="1122" r:id="rId10"/>
    <p:sldId id="1150" r:id="rId11"/>
    <p:sldId id="1137" r:id="rId12"/>
    <p:sldId id="1156" r:id="rId13"/>
    <p:sldId id="1144" r:id="rId14"/>
    <p:sldId id="1143" r:id="rId15"/>
    <p:sldId id="1145" r:id="rId16"/>
    <p:sldId id="1146" r:id="rId17"/>
    <p:sldId id="1149" r:id="rId18"/>
    <p:sldId id="1153" r:id="rId19"/>
    <p:sldId id="1154" r:id="rId20"/>
    <p:sldId id="1155" r:id="rId21"/>
    <p:sldId id="1147" r:id="rId22"/>
    <p:sldId id="1152" r:id="rId23"/>
    <p:sldId id="1148" r:id="rId24"/>
    <p:sldId id="1157" r:id="rId25"/>
    <p:sldId id="1159" r:id="rId2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34"/>
            <p14:sldId id="1140"/>
            <p14:sldId id="1141"/>
            <p14:sldId id="1142"/>
            <p14:sldId id="1122"/>
            <p14:sldId id="1150"/>
            <p14:sldId id="1137"/>
            <p14:sldId id="1156"/>
            <p14:sldId id="1144"/>
            <p14:sldId id="1143"/>
            <p14:sldId id="1145"/>
            <p14:sldId id="1146"/>
            <p14:sldId id="1149"/>
            <p14:sldId id="1153"/>
            <p14:sldId id="1154"/>
            <p14:sldId id="1155"/>
            <p14:sldId id="1147"/>
            <p14:sldId id="1152"/>
            <p14:sldId id="1148"/>
            <p14:sldId id="1157"/>
            <p14:sldId id="115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The modularity-hierarchy-reuse formula for model architecture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An overview of standard best practices for building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: residual connections, batch normalization, and </a:t>
            </a:r>
            <a:r>
              <a:rPr lang="en-US" altLang="ko-KR" sz="2000" dirty="0" err="1"/>
              <a:t>depthwise</a:t>
            </a:r>
            <a:r>
              <a:rPr lang="en-US" altLang="ko-KR" sz="2000" dirty="0"/>
              <a:t> separable convolutions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3" y="123704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C1E675A-A443-5123-7438-B754467A1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243017"/>
              </p:ext>
            </p:extLst>
          </p:nvPr>
        </p:nvGraphicFramePr>
        <p:xfrm>
          <a:off x="1889760" y="34933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9E49924A-46C8-AFC1-D521-56CBB113D5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5763471"/>
              </p:ext>
            </p:extLst>
          </p:nvPr>
        </p:nvGraphicFramePr>
        <p:xfrm>
          <a:off x="2042160" y="36457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6698C2-4567-252A-CC7D-AC8661660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8829347"/>
              </p:ext>
            </p:extLst>
          </p:nvPr>
        </p:nvGraphicFramePr>
        <p:xfrm>
          <a:off x="2194560" y="37981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C0A16A2E-563F-A3E9-7306-D6BF12FE92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5398145"/>
              </p:ext>
            </p:extLst>
          </p:nvPr>
        </p:nvGraphicFramePr>
        <p:xfrm>
          <a:off x="5044542" y="23998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FA1259D-A26F-8148-3D99-A39486897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007775"/>
              </p:ext>
            </p:extLst>
          </p:nvPr>
        </p:nvGraphicFramePr>
        <p:xfrm>
          <a:off x="5196942" y="25522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428D31C0-7B4D-AE9B-9F39-9511E1A1B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793143"/>
              </p:ext>
            </p:extLst>
          </p:nvPr>
        </p:nvGraphicFramePr>
        <p:xfrm>
          <a:off x="5349342" y="270468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74E4616-D376-098E-C069-9E83F2443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014546"/>
              </p:ext>
            </p:extLst>
          </p:nvPr>
        </p:nvGraphicFramePr>
        <p:xfrm>
          <a:off x="5044542" y="40888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5FBF91B-EC89-D614-AA5D-D0A21B7CA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5530094"/>
              </p:ext>
            </p:extLst>
          </p:nvPr>
        </p:nvGraphicFramePr>
        <p:xfrm>
          <a:off x="5196942" y="42412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0458083E-30B7-278C-BA63-01A664CD2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1779506"/>
              </p:ext>
            </p:extLst>
          </p:nvPr>
        </p:nvGraphicFramePr>
        <p:xfrm>
          <a:off x="5349342" y="439364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EEBABC62-7105-9A34-3C5A-BF6E70270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0239950"/>
              </p:ext>
            </p:extLst>
          </p:nvPr>
        </p:nvGraphicFramePr>
        <p:xfrm>
          <a:off x="5057191" y="49478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0C93A6B0-B140-6DF1-7A9C-C75BED43E6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847697"/>
              </p:ext>
            </p:extLst>
          </p:nvPr>
        </p:nvGraphicFramePr>
        <p:xfrm>
          <a:off x="5209591" y="51002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838B3F35-E1DE-FE26-D1AD-2DE85E994C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8877416"/>
              </p:ext>
            </p:extLst>
          </p:nvPr>
        </p:nvGraphicFramePr>
        <p:xfrm>
          <a:off x="5361991" y="5252671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FACE541-6431-444B-FDC0-93F2FDD3D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504148"/>
              </p:ext>
            </p:extLst>
          </p:nvPr>
        </p:nvGraphicFramePr>
        <p:xfrm>
          <a:off x="8218028" y="3466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05AFB0A8-7706-918B-883D-C8E088539D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664411"/>
              </p:ext>
            </p:extLst>
          </p:nvPr>
        </p:nvGraphicFramePr>
        <p:xfrm>
          <a:off x="5057191" y="58132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362262D-794B-26DB-9156-AEBA6CE23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726372"/>
              </p:ext>
            </p:extLst>
          </p:nvPr>
        </p:nvGraphicFramePr>
        <p:xfrm>
          <a:off x="5209591" y="59656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2D43253-6AAA-0068-34BB-C496BD362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792284"/>
              </p:ext>
            </p:extLst>
          </p:nvPr>
        </p:nvGraphicFramePr>
        <p:xfrm>
          <a:off x="5361991" y="611802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E87D6B15-A117-29A5-D255-A31F6D372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4271592"/>
              </p:ext>
            </p:extLst>
          </p:nvPr>
        </p:nvGraphicFramePr>
        <p:xfrm>
          <a:off x="5044542" y="32934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05C39FF-A559-CB0E-07F4-5D351CC888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192898"/>
              </p:ext>
            </p:extLst>
          </p:nvPr>
        </p:nvGraphicFramePr>
        <p:xfrm>
          <a:off x="5196942" y="34458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FD9058A-CAFB-D2FC-8663-B7F799761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1335547"/>
              </p:ext>
            </p:extLst>
          </p:nvPr>
        </p:nvGraphicFramePr>
        <p:xfrm>
          <a:off x="5349342" y="3598255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CABEC7DB-BADC-863B-1B42-75D22322F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872422"/>
              </p:ext>
            </p:extLst>
          </p:nvPr>
        </p:nvGraphicFramePr>
        <p:xfrm>
          <a:off x="8370428" y="36185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472F7D23-7A79-2359-0E95-117E61E4F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679997"/>
              </p:ext>
            </p:extLst>
          </p:nvPr>
        </p:nvGraphicFramePr>
        <p:xfrm>
          <a:off x="8522828" y="37709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A82B0BA2-9D82-8C28-6C7B-36872E2E77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7986609"/>
              </p:ext>
            </p:extLst>
          </p:nvPr>
        </p:nvGraphicFramePr>
        <p:xfrm>
          <a:off x="8675228" y="39233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381042FB-F954-D822-4426-60B8E4891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0505369"/>
              </p:ext>
            </p:extLst>
          </p:nvPr>
        </p:nvGraphicFramePr>
        <p:xfrm>
          <a:off x="8827628" y="40757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501AD673-A456-7340-28DA-8FF1EF2F29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652089"/>
              </p:ext>
            </p:extLst>
          </p:nvPr>
        </p:nvGraphicFramePr>
        <p:xfrm>
          <a:off x="8980028" y="422813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5B5ADE4-0468-8500-6BD7-3F0AA5108308}"/>
              </a:ext>
            </a:extLst>
          </p:cNvPr>
          <p:cNvSpPr txBox="1"/>
          <p:nvPr/>
        </p:nvSpPr>
        <p:spPr>
          <a:xfrm>
            <a:off x="1812960" y="5055372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1867A5-87AF-A0C3-FED2-3ED1474ECF9A}"/>
              </a:ext>
            </a:extLst>
          </p:cNvPr>
          <p:cNvSpPr txBox="1"/>
          <p:nvPr/>
        </p:nvSpPr>
        <p:spPr>
          <a:xfrm>
            <a:off x="6090820" y="5965627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EC95BA85-21C3-9335-82F6-E08B6E30D731}"/>
              </a:ext>
            </a:extLst>
          </p:cNvPr>
          <p:cNvSpPr/>
          <p:nvPr/>
        </p:nvSpPr>
        <p:spPr>
          <a:xfrm rot="16200000">
            <a:off x="1953534" y="3434499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3705B3A2-993B-BC31-8817-80C924CEF672}"/>
              </a:ext>
            </a:extLst>
          </p:cNvPr>
          <p:cNvSpPr/>
          <p:nvPr/>
        </p:nvSpPr>
        <p:spPr>
          <a:xfrm rot="16200000">
            <a:off x="8284739" y="343484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76C92F4F-FFF5-2E66-02BB-AACEF1AC0167}"/>
              </a:ext>
            </a:extLst>
          </p:cNvPr>
          <p:cNvSpPr/>
          <p:nvPr/>
        </p:nvSpPr>
        <p:spPr>
          <a:xfrm rot="16200000">
            <a:off x="5091852" y="2384397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212FA472-F475-7EDC-0B80-7B9675BA27E8}"/>
              </a:ext>
            </a:extLst>
          </p:cNvPr>
          <p:cNvSpPr/>
          <p:nvPr/>
        </p:nvSpPr>
        <p:spPr>
          <a:xfrm rot="16200000">
            <a:off x="5079201" y="325879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EE53F4D9-B4CF-F793-2926-38E7F4803E2C}"/>
              </a:ext>
            </a:extLst>
          </p:cNvPr>
          <p:cNvSpPr/>
          <p:nvPr/>
        </p:nvSpPr>
        <p:spPr>
          <a:xfrm rot="16200000">
            <a:off x="5058283" y="406225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BFC809A8-958D-D18D-94DD-153FE890E259}"/>
              </a:ext>
            </a:extLst>
          </p:cNvPr>
          <p:cNvSpPr/>
          <p:nvPr/>
        </p:nvSpPr>
        <p:spPr>
          <a:xfrm rot="16200000">
            <a:off x="5091852" y="4915003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E773E7FC-8D8A-E3AA-DCEB-D57B2C7F10DE}"/>
              </a:ext>
            </a:extLst>
          </p:cNvPr>
          <p:cNvSpPr/>
          <p:nvPr/>
        </p:nvSpPr>
        <p:spPr>
          <a:xfrm rot="16200000">
            <a:off x="5079201" y="5781505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4CB983B-9144-1F8E-844D-6228BD644B59}"/>
              </a:ext>
            </a:extLst>
          </p:cNvPr>
          <p:cNvSpPr txBox="1"/>
          <p:nvPr/>
        </p:nvSpPr>
        <p:spPr>
          <a:xfrm>
            <a:off x="8266237" y="5006530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12DFC69-36D8-E54F-A13B-F6BBF62CF0EB}"/>
              </a:ext>
            </a:extLst>
          </p:cNvPr>
          <p:cNvSpPr/>
          <p:nvPr/>
        </p:nvSpPr>
        <p:spPr>
          <a:xfrm>
            <a:off x="4295191" y="2589605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604C6C9E-D201-E76A-7253-7C9BF560A1C9}"/>
              </a:ext>
            </a:extLst>
          </p:cNvPr>
          <p:cNvCxnSpPr>
            <a:cxnSpLocks/>
          </p:cNvCxnSpPr>
          <p:nvPr/>
        </p:nvCxnSpPr>
        <p:spPr>
          <a:xfrm>
            <a:off x="6372225" y="4009606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1E944A-B3FD-31BC-2810-0A82A093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82483" y="1256097"/>
            <a:ext cx="11159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경사하강알고리즘이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825227"/>
              </p:ext>
            </p:extLst>
          </p:nvPr>
        </p:nvGraphicFramePr>
        <p:xfrm>
          <a:off x="1555785" y="3069585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57755"/>
              </p:ext>
            </p:extLst>
          </p:nvPr>
        </p:nvGraphicFramePr>
        <p:xfrm>
          <a:off x="1555785" y="4067752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739962"/>
              </p:ext>
            </p:extLst>
          </p:nvPr>
        </p:nvGraphicFramePr>
        <p:xfrm>
          <a:off x="1555785" y="5052646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627946"/>
              </p:ext>
            </p:extLst>
          </p:nvPr>
        </p:nvGraphicFramePr>
        <p:xfrm>
          <a:off x="3865982" y="299007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238976"/>
              </p:ext>
            </p:extLst>
          </p:nvPr>
        </p:nvGraphicFramePr>
        <p:xfrm>
          <a:off x="5444349" y="40265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9371654"/>
              </p:ext>
            </p:extLst>
          </p:nvPr>
        </p:nvGraphicFramePr>
        <p:xfrm>
          <a:off x="5596749" y="41789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870010"/>
              </p:ext>
            </p:extLst>
          </p:nvPr>
        </p:nvGraphicFramePr>
        <p:xfrm>
          <a:off x="5749149" y="4331369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990600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003643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924137"/>
              </p:ext>
            </p:extLst>
          </p:nvPr>
        </p:nvGraphicFramePr>
        <p:xfrm>
          <a:off x="3865982" y="424991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047130"/>
              </p:ext>
            </p:extLst>
          </p:nvPr>
        </p:nvGraphicFramePr>
        <p:xfrm>
          <a:off x="3865982" y="550975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326003" y="620531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3619114" y="2546369"/>
            <a:ext cx="31734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7808320" y="2546369"/>
            <a:ext cx="30210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0144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6122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1668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3192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7646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39170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3176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4700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6224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49055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0579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2103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5393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6917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58441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29884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5795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2934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48837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5128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804963"/>
              </p:ext>
            </p:extLst>
          </p:nvPr>
        </p:nvGraphicFramePr>
        <p:xfrm>
          <a:off x="9427703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574642"/>
              </p:ext>
            </p:extLst>
          </p:nvPr>
        </p:nvGraphicFramePr>
        <p:xfrm>
          <a:off x="9580103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383049"/>
              </p:ext>
            </p:extLst>
          </p:nvPr>
        </p:nvGraphicFramePr>
        <p:xfrm>
          <a:off x="9732503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991645"/>
              </p:ext>
            </p:extLst>
          </p:nvPr>
        </p:nvGraphicFramePr>
        <p:xfrm>
          <a:off x="9884903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4506883"/>
              </p:ext>
            </p:extLst>
          </p:nvPr>
        </p:nvGraphicFramePr>
        <p:xfrm>
          <a:off x="10037303" y="4485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4290752"/>
              </p:ext>
            </p:extLst>
          </p:nvPr>
        </p:nvGraphicFramePr>
        <p:xfrm>
          <a:off x="10189703" y="4637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494414" y="38444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348439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724254" y="54054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14778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1016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317641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68608" y="4301407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3619114" y="2225391"/>
            <a:ext cx="71155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97E0D155-A9A5-675C-C36D-F5389D88D515}"/>
              </a:ext>
            </a:extLst>
          </p:cNvPr>
          <p:cNvSpPr/>
          <p:nvPr/>
        </p:nvSpPr>
        <p:spPr>
          <a:xfrm>
            <a:off x="1555786" y="2225392"/>
            <a:ext cx="9178890" cy="6354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2843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488" y="1893950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8AA6B3-4D31-A466-1653-C57CBD1492AE}"/>
              </a:ext>
            </a:extLst>
          </p:cNvPr>
          <p:cNvSpPr txBox="1"/>
          <p:nvPr/>
        </p:nvSpPr>
        <p:spPr>
          <a:xfrm>
            <a:off x="548640" y="1751876"/>
            <a:ext cx="3870960" cy="227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29A45-FCC3-FB83-0405-9B485CC40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619125" y="1248422"/>
            <a:ext cx="1109723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'수학적/논리적 추론(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)'에서 시작되어 '실험적 시행착오(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)'를 통해 완성된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결합품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첫단계로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가설과 수학적 추론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발명한 사람은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케라스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)의 창시자이자, 우리가 읽고 있는 이 책의 저자인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구글에서 근무할 당시 기존의 고성능 모델이었던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아키텍처의 수학적 본질을 꿰뚫어 보고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'공간(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특징'을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동시에 매핑하는 것이다.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둘을 어느 정도 분리하려고 노력하고 있다. 그렇다면, 이 둘을 아예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따로 분리해서 계산하면 어떻게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될까?“라는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분해하여 "공간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번"으로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쪼개는 구조를 도출한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시작이후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반복하여 완성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방식의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채널을 분리하여 가설 공간을 압축하고 파라미터 수를 획기적으로 줄이는 무대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뼈대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주었습니다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수학적 이정표를 세워준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시행착오의 역할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 이정표 위에서 실제 데이터가 가장 매끄럽게 흐르고 수렴하는 최적의 레이어 조합과 수치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엔지니어링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통찰로 거대한 지도를 그리고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현대 컴퓨터 비전의 명품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CE560-6D29-D8D7-038C-C4C07C087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9646C-7087-2699-B068-ABBD5F1A4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8AD9EA-6C3E-E205-24BA-6EF90F4DD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30B1818-D215-D307-313C-0EDA3743A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157" y="1729081"/>
            <a:ext cx="5301799" cy="4408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96BFC-A995-0DD7-4F4C-CB67813DD2A4}"/>
              </a:ext>
            </a:extLst>
          </p:cNvPr>
          <p:cNvSpPr txBox="1"/>
          <p:nvPr/>
        </p:nvSpPr>
        <p:spPr>
          <a:xfrm>
            <a:off x="570895" y="1995781"/>
            <a:ext cx="474405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Complex systems follow a hierarchical structure and are organized into distinct modules, which are reused multiple times (such as your 4 limbs, which are all variants of the same blueprint, or your 20 fingers).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6001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2CE523-1273-A3ED-F16D-AFE204870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570895" y="1995781"/>
            <a:ext cx="10830530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필수적인 모델 아키텍처 패턴인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89856-6ED1-2640-6E74-634FDC569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CA96D9-6138-3341-1F4E-8A2AF6811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22ADFF-AC24-407D-CE1F-AB9F79C6E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84444-B7E6-9F6A-3923-CEDB4AB30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30549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2D902-13EC-253F-C38E-AAFA4BFC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75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0E069C-7896-D175-04F7-D9397057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0753725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세상에 처음 도입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092" y="4029041"/>
            <a:ext cx="3769319" cy="70770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094" y="3596646"/>
            <a:ext cx="2141568" cy="49176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4478" y="5322937"/>
            <a:ext cx="2081222" cy="657228"/>
          </a:xfrm>
          <a:prstGeom prst="rect">
            <a:avLst/>
          </a:prstGeom>
        </p:spPr>
      </p:pic>
      <p:pic>
        <p:nvPicPr>
          <p:cNvPr id="37" name="Picture 6">
            <a:extLst>
              <a:ext uri="{FF2B5EF4-FFF2-40B4-BE49-F238E27FC236}">
                <a16:creationId xmlns:a16="http://schemas.microsoft.com/office/drawing/2014/main" id="{90806837-E4AF-CB84-8A4A-91D925612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2652" y="3636560"/>
            <a:ext cx="3039555" cy="276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2000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50D492-AB91-F514-FC7B-5099AFE1F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6786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13477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9861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36EEB-0ACE-41A5-C52F-8840FBDD2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8B3800-8CF8-424B-AD44-D1B711A27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0C4342E-BBD6-2A4A-B125-B538065012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37E0B1-DCC9-FB11-9199-CDC17CAA60C7}"/>
              </a:ext>
            </a:extLst>
          </p:cNvPr>
          <p:cNvSpPr txBox="1"/>
          <p:nvPr/>
        </p:nvSpPr>
        <p:spPr>
          <a:xfrm>
            <a:off x="591164" y="1267861"/>
            <a:ext cx="6314461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평균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(Mean)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빼서 데이터를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중심으로 정렬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나누어 단위 표준편차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standard deviation)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갖도록 만드는 것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사실상 이 방식은 데이터가 정규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분포를 따른다고 가정하며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분포가 반드시 중심에 위치하고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(Centered)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 분산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(Unit variance)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갖도록 크기가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(Scaled)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표면이 종 모양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학습 속도가 획기적으로 빨라지고 안정적으로 수렴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C717406-3F84-6988-70F3-EBBA401C6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1519" y="1481723"/>
            <a:ext cx="4103591" cy="366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3139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B8B4C-D924-1D5F-089B-0BA0D28BB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C1A1C9-A992-4105-8264-D9C24D02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E8E6DE-FFD7-DA4B-84C1-AAA68AB4BF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Batch normalization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06E57-2E5A-479F-6AA9-18A2F463F47C}"/>
              </a:ext>
            </a:extLst>
          </p:cNvPr>
          <p:cNvSpPr txBox="1"/>
          <p:nvPr/>
        </p:nvSpPr>
        <p:spPr>
          <a:xfrm>
            <a:off x="542924" y="1318736"/>
            <a:ext cx="11115675" cy="1529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현대 딥러닝 아키텍처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입력할 때만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정규화하지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레이어와 레이어 사이를 통과할 때마다 실시간으로 데이터를 계속 정규화해 버리자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아이디어가 그것이 바로 레이어 중간중간 약초를 뿌리듯 들어있는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정체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엄밀한 수학적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과학이라기보다는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경험적 엔지니어링 우수 사례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(Best Practice)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들의 집합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DF88CC-FDEE-7243-36FC-F51CD0113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297" y="5644039"/>
            <a:ext cx="2575101" cy="49229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73197D2-A0D6-5102-CF24-F92DAA9232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297" y="3423614"/>
            <a:ext cx="2296297" cy="2037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526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EBE7084-4D72-978F-1456-0C107B4B61A3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12C93DE-2138-BBA0-EDA6-9A8887A1D37A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F902C4F-5E7D-5990-0DE1-785685602C2B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23F105-563D-ECCC-BFD8-8E493E131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295E6B-4A9E-55C8-95B8-E001CCC1BD59}"/>
              </a:ext>
            </a:extLst>
          </p:cNvPr>
          <p:cNvSpPr txBox="1"/>
          <p:nvPr/>
        </p:nvSpPr>
        <p:spPr>
          <a:xfrm>
            <a:off x="616189" y="1305493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A880B5-3C7A-D2B5-74AD-A84E2A85E10A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6DC2D0-CBD6-BCB8-A9ED-1579B61E2B31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E1F99-FEBF-6375-85B3-269957A2C257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22D93A-EC57-151F-FCAE-BFC27A1507EA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EEB34C7-E6AC-CC92-11A3-108664DAE38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1EF0046-010E-B942-EB13-FDF3823A3CDA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D610CC-4157-54C9-6912-801D11D03AEF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A0DCDD-704A-B4C9-3124-8EA6CC74D991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3522F4-73D3-3982-293B-B7065C04EF9F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49482D3-DEAC-9030-C4CB-3A6D411EACF2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2EFA9BAE-87F1-6A0B-66C8-7BD198CD6402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2FD7490-A807-6A3A-6E35-B823F3D46F2F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0F1760-0325-25D9-F08F-42A0E72EA1C2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1FB1D83-1758-6891-22AF-7799C78D836D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9028659-3778-0C5D-0B6E-E89CC91A0285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839C82D-E58E-82FE-652D-BBB6A22F4C6D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DF5D7934-C138-266B-6EEB-7030DCF6229F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E98D962-ADA5-99BA-2F8B-7793D84B547B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28356FE2-0060-EB9C-941B-FAD665D5E48E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C1B6D1-2E73-5219-1E77-CEA5A1F5FF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0B4B36B6-EB48-949A-9356-2A96FE8F36AF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7F1E6337-A264-B8D7-7690-DF253554F057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37A1218-ABDE-4068-3F51-F6F95D08EEA1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4690D3B-B7A9-9622-5958-64850429C0E4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F834A-EF1A-5876-81E9-FF7A9A30D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305493"/>
                <a:ext cx="10952480" cy="879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Parameters(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dirty="0">
                        <a:latin typeface="Cambria Math" panose="02040503050406030204" pitchFamily="18" charset="0"/>
                      </a:rPr>
                      <m:t>Weights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dirty="0">
                        <a:latin typeface="Cambria Math" panose="02040503050406030204" pitchFamily="18" charset="0"/>
                      </a:rPr>
                      <m:t>bias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&amp;</m:t>
                    </m:r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딱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하고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계산만 하게 됨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305493"/>
                <a:ext cx="10952480" cy="879984"/>
              </a:xfrm>
              <a:prstGeom prst="rect">
                <a:avLst/>
              </a:prstGeom>
              <a:blipFill>
                <a:blip r:embed="rId2"/>
                <a:stretch>
                  <a:fillRect l="-445" b="-965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2190625" y="2810984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722" y="2810984"/>
            <a:ext cx="1767993" cy="20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949B9C-E0C2-5E0F-73E2-3E2EEB3F2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305493"/>
                <a:ext cx="10952480" cy="1228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경사하강법으로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역전파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때 직접 학습시키는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7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7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7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305493"/>
                <a:ext cx="10952480" cy="1228670"/>
              </a:xfrm>
              <a:prstGeom prst="rect">
                <a:avLst/>
              </a:prstGeom>
              <a:blipFill>
                <a:blip r:embed="rId2"/>
                <a:stretch>
                  <a:fillRect l="-334" r="-111" b="-54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BE6E41-1132-B1AC-6F88-51420CBD9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535474" y="1596509"/>
            <a:ext cx="5762011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많은데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수학적으로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pic>
        <p:nvPicPr>
          <p:cNvPr id="12294" name="Picture 6">
            <a:extLst>
              <a:ext uri="{FF2B5EF4-FFF2-40B4-BE49-F238E27FC236}">
                <a16:creationId xmlns:a16="http://schemas.microsoft.com/office/drawing/2014/main" id="{C9AEA35F-6861-6F42-03E0-02F868B92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159" y="1689717"/>
            <a:ext cx="2238632" cy="4426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923465" y="1689717"/>
            <a:ext cx="2914391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1단계 그리기(공간 정보): 스케치북에 검은색 펜으로 캐릭터의 눈, 코, 입, 테두리 같은 '형태(선화)'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(채널 정보): 그려진 선 안에 빨간색, 초록색, 파란색 물감으로 '색칠(채색)＇하기 (RGB 채널 정보)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D64AC-894D-22C6-B244-C5462050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678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774651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63867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본질을 보면,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많음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두 가지를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빠지기 쉬웠습니다.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두 개념을 수학적으로 완전히 분리하여 경사 하강법에게 "공간 특징 먼저 공부하고,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그다음에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특징 공부해!" 하고 친절하게 문제를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쪼개주었기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때문에, 모델이 노이즈에 휘둘리지 않고 진짜 중요한 핵심 패턴만 아주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CB2A1-7B1C-D50D-C55B-972AAD1B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453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지탱하는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B619E2-3E93-B6C2-B82F-210F59288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30549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/>
        </p:nvGraphicFramePr>
        <p:xfrm>
          <a:off x="1156454" y="327152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FC03BD-4073-666F-1FD2-0EC9C7782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602734" y="1712000"/>
            <a:ext cx="1129133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모델이 거대해질 때 발생하는 병목 현상을 해결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방안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10084</TotalTime>
  <Words>2092</Words>
  <Application>Microsoft Office PowerPoint</Application>
  <PresentationFormat>와이드스크린</PresentationFormat>
  <Paragraphs>186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D2Coding</vt:lpstr>
      <vt:lpstr>맑은 고딕</vt:lpstr>
      <vt:lpstr>Batang</vt:lpstr>
      <vt:lpstr>Arial</vt:lpstr>
      <vt:lpstr>Cambria Math</vt:lpstr>
      <vt:lpstr>Cascadia Code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162</cp:revision>
  <dcterms:created xsi:type="dcterms:W3CDTF">2026-04-06T01:00:39Z</dcterms:created>
  <dcterms:modified xsi:type="dcterms:W3CDTF">2026-07-10T06:15:07Z</dcterms:modified>
  <cp:version/>
</cp:coreProperties>
</file>