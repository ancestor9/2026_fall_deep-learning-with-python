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56" r:id="rId2"/>
    <p:sldId id="1136" r:id="rId3"/>
    <p:sldId id="1138" r:id="rId4"/>
    <p:sldId id="1139" r:id="rId5"/>
    <p:sldId id="1134" r:id="rId6"/>
    <p:sldId id="1140" r:id="rId7"/>
    <p:sldId id="1141" r:id="rId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34"/>
            <p14:sldId id="1140"/>
            <p14:sldId id="114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modularity-hierarchy-reuse formula for model architecture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An overview of standard best practices for building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: residual connections, batch normalization, and </a:t>
            </a:r>
            <a:r>
              <a:rPr lang="en-US" altLang="ko-KR" sz="2000" dirty="0" err="1"/>
              <a:t>depthwise</a:t>
            </a:r>
            <a:r>
              <a:rPr lang="en-US" altLang="ko-KR" sz="2000" dirty="0"/>
              <a:t> separable convolutions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3704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C1E675A-A443-5123-7438-B754467A1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243017"/>
              </p:ext>
            </p:extLst>
          </p:nvPr>
        </p:nvGraphicFramePr>
        <p:xfrm>
          <a:off x="1889760" y="34933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E49924A-46C8-AFC1-D521-56CBB113D5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63471"/>
              </p:ext>
            </p:extLst>
          </p:nvPr>
        </p:nvGraphicFramePr>
        <p:xfrm>
          <a:off x="2042160" y="36457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6698C2-4567-252A-CC7D-AC8661660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29347"/>
              </p:ext>
            </p:extLst>
          </p:nvPr>
        </p:nvGraphicFramePr>
        <p:xfrm>
          <a:off x="2194560" y="37981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A16A2E-563F-A3E9-7306-D6BF12FE9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398145"/>
              </p:ext>
            </p:extLst>
          </p:nvPr>
        </p:nvGraphicFramePr>
        <p:xfrm>
          <a:off x="5044542" y="23998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FA1259D-A26F-8148-3D99-A39486897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007775"/>
              </p:ext>
            </p:extLst>
          </p:nvPr>
        </p:nvGraphicFramePr>
        <p:xfrm>
          <a:off x="5196942" y="25522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28D31C0-7B4D-AE9B-9F39-9511E1A1B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93143"/>
              </p:ext>
            </p:extLst>
          </p:nvPr>
        </p:nvGraphicFramePr>
        <p:xfrm>
          <a:off x="5349342" y="27046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74E4616-D376-098E-C069-9E83F2443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014546"/>
              </p:ext>
            </p:extLst>
          </p:nvPr>
        </p:nvGraphicFramePr>
        <p:xfrm>
          <a:off x="5044542" y="40888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5FBF91B-EC89-D614-AA5D-D0A21B7CA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30094"/>
              </p:ext>
            </p:extLst>
          </p:nvPr>
        </p:nvGraphicFramePr>
        <p:xfrm>
          <a:off x="5196942" y="42412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458083E-30B7-278C-BA63-01A664CD2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779506"/>
              </p:ext>
            </p:extLst>
          </p:nvPr>
        </p:nvGraphicFramePr>
        <p:xfrm>
          <a:off x="5349342" y="43936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EBABC62-7105-9A34-3C5A-BF6E70270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239950"/>
              </p:ext>
            </p:extLst>
          </p:nvPr>
        </p:nvGraphicFramePr>
        <p:xfrm>
          <a:off x="5057191" y="49478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C93A6B0-B140-6DF1-7A9C-C75BED43E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847697"/>
              </p:ext>
            </p:extLst>
          </p:nvPr>
        </p:nvGraphicFramePr>
        <p:xfrm>
          <a:off x="5209591" y="51002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8B3F35-E1DE-FE26-D1AD-2DE85E994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77416"/>
              </p:ext>
            </p:extLst>
          </p:nvPr>
        </p:nvGraphicFramePr>
        <p:xfrm>
          <a:off x="5361991" y="52526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FACE541-6431-444B-FDC0-93F2FDD3D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04148"/>
              </p:ext>
            </p:extLst>
          </p:nvPr>
        </p:nvGraphicFramePr>
        <p:xfrm>
          <a:off x="8218028" y="3466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5AFB0A8-7706-918B-883D-C8E08853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64411"/>
              </p:ext>
            </p:extLst>
          </p:nvPr>
        </p:nvGraphicFramePr>
        <p:xfrm>
          <a:off x="5057191" y="58132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362262D-794B-26DB-9156-AEBA6CE23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372"/>
              </p:ext>
            </p:extLst>
          </p:nvPr>
        </p:nvGraphicFramePr>
        <p:xfrm>
          <a:off x="5209591" y="59656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2D43253-6AAA-0068-34BB-C496BD362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92284"/>
              </p:ext>
            </p:extLst>
          </p:nvPr>
        </p:nvGraphicFramePr>
        <p:xfrm>
          <a:off x="5361991" y="61180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87D6B15-A117-29A5-D255-A31F6D372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271592"/>
              </p:ext>
            </p:extLst>
          </p:nvPr>
        </p:nvGraphicFramePr>
        <p:xfrm>
          <a:off x="5044542" y="32934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05C39FF-A559-CB0E-07F4-5D351CC888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192898"/>
              </p:ext>
            </p:extLst>
          </p:nvPr>
        </p:nvGraphicFramePr>
        <p:xfrm>
          <a:off x="5196942" y="34458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FD9058A-CAFB-D2FC-8663-B7F799761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335547"/>
              </p:ext>
            </p:extLst>
          </p:nvPr>
        </p:nvGraphicFramePr>
        <p:xfrm>
          <a:off x="5349342" y="35982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ABEC7DB-BADC-863B-1B42-75D22322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872422"/>
              </p:ext>
            </p:extLst>
          </p:nvPr>
        </p:nvGraphicFramePr>
        <p:xfrm>
          <a:off x="8370428" y="36185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472F7D23-7A79-2359-0E95-117E61E4F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79997"/>
              </p:ext>
            </p:extLst>
          </p:nvPr>
        </p:nvGraphicFramePr>
        <p:xfrm>
          <a:off x="8522828" y="37709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82B0BA2-9D82-8C28-6C7B-36872E2E7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86609"/>
              </p:ext>
            </p:extLst>
          </p:nvPr>
        </p:nvGraphicFramePr>
        <p:xfrm>
          <a:off x="8675228" y="39233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81042FB-F954-D822-4426-60B8E4891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505369"/>
              </p:ext>
            </p:extLst>
          </p:nvPr>
        </p:nvGraphicFramePr>
        <p:xfrm>
          <a:off x="8827628" y="40757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501AD673-A456-7340-28DA-8FF1EF2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652089"/>
              </p:ext>
            </p:extLst>
          </p:nvPr>
        </p:nvGraphicFramePr>
        <p:xfrm>
          <a:off x="8980028" y="4228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B5ADE4-0468-8500-6BD7-3F0AA5108308}"/>
              </a:ext>
            </a:extLst>
          </p:cNvPr>
          <p:cNvSpPr txBox="1"/>
          <p:nvPr/>
        </p:nvSpPr>
        <p:spPr>
          <a:xfrm>
            <a:off x="1812960" y="5055372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867A5-87AF-A0C3-FED2-3ED1474ECF9A}"/>
              </a:ext>
            </a:extLst>
          </p:cNvPr>
          <p:cNvSpPr txBox="1"/>
          <p:nvPr/>
        </p:nvSpPr>
        <p:spPr>
          <a:xfrm>
            <a:off x="6090820" y="5965627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EC95BA85-21C3-9335-82F6-E08B6E30D731}"/>
              </a:ext>
            </a:extLst>
          </p:cNvPr>
          <p:cNvSpPr/>
          <p:nvPr/>
        </p:nvSpPr>
        <p:spPr>
          <a:xfrm rot="16200000">
            <a:off x="1953534" y="3434499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3705B3A2-993B-BC31-8817-80C924CEF672}"/>
              </a:ext>
            </a:extLst>
          </p:cNvPr>
          <p:cNvSpPr/>
          <p:nvPr/>
        </p:nvSpPr>
        <p:spPr>
          <a:xfrm rot="16200000">
            <a:off x="8284739" y="343484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76C92F4F-FFF5-2E66-02BB-AACEF1AC0167}"/>
              </a:ext>
            </a:extLst>
          </p:cNvPr>
          <p:cNvSpPr/>
          <p:nvPr/>
        </p:nvSpPr>
        <p:spPr>
          <a:xfrm rot="16200000">
            <a:off x="5091852" y="2384397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212FA472-F475-7EDC-0B80-7B9675BA27E8}"/>
              </a:ext>
            </a:extLst>
          </p:cNvPr>
          <p:cNvSpPr/>
          <p:nvPr/>
        </p:nvSpPr>
        <p:spPr>
          <a:xfrm rot="16200000">
            <a:off x="5079201" y="325879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EE53F4D9-B4CF-F793-2926-38E7F4803E2C}"/>
              </a:ext>
            </a:extLst>
          </p:cNvPr>
          <p:cNvSpPr/>
          <p:nvPr/>
        </p:nvSpPr>
        <p:spPr>
          <a:xfrm rot="16200000">
            <a:off x="5058283" y="406225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BFC809A8-958D-D18D-94DD-153FE890E259}"/>
              </a:ext>
            </a:extLst>
          </p:cNvPr>
          <p:cNvSpPr/>
          <p:nvPr/>
        </p:nvSpPr>
        <p:spPr>
          <a:xfrm rot="16200000">
            <a:off x="5091852" y="491500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E773E7FC-8D8A-E3AA-DCEB-D57B2C7F10DE}"/>
              </a:ext>
            </a:extLst>
          </p:cNvPr>
          <p:cNvSpPr/>
          <p:nvPr/>
        </p:nvSpPr>
        <p:spPr>
          <a:xfrm rot="16200000">
            <a:off x="5079201" y="578150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CB983B-9144-1F8E-844D-6228BD644B59}"/>
              </a:ext>
            </a:extLst>
          </p:cNvPr>
          <p:cNvSpPr txBox="1"/>
          <p:nvPr/>
        </p:nvSpPr>
        <p:spPr>
          <a:xfrm>
            <a:off x="8266237" y="5006530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12DFC69-36D8-E54F-A13B-F6BBF62CF0EB}"/>
              </a:ext>
            </a:extLst>
          </p:cNvPr>
          <p:cNvSpPr/>
          <p:nvPr/>
        </p:nvSpPr>
        <p:spPr>
          <a:xfrm>
            <a:off x="4295191" y="2589605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04C6C9E-D201-E76A-7253-7C9BF560A1C9}"/>
              </a:ext>
            </a:extLst>
          </p:cNvPr>
          <p:cNvCxnSpPr>
            <a:cxnSpLocks/>
          </p:cNvCxnSpPr>
          <p:nvPr/>
        </p:nvCxnSpPr>
        <p:spPr>
          <a:xfrm>
            <a:off x="6372225" y="4009606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E944A-B3FD-31BC-2810-0A82A093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82483" y="125609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경사하강알고리즘이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25227"/>
              </p:ext>
            </p:extLst>
          </p:nvPr>
        </p:nvGraphicFramePr>
        <p:xfrm>
          <a:off x="1555785" y="3069585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57755"/>
              </p:ext>
            </p:extLst>
          </p:nvPr>
        </p:nvGraphicFramePr>
        <p:xfrm>
          <a:off x="1555785" y="4067752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39962"/>
              </p:ext>
            </p:extLst>
          </p:nvPr>
        </p:nvGraphicFramePr>
        <p:xfrm>
          <a:off x="1555785" y="50526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627946"/>
              </p:ext>
            </p:extLst>
          </p:nvPr>
        </p:nvGraphicFramePr>
        <p:xfrm>
          <a:off x="3865982" y="299007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238976"/>
              </p:ext>
            </p:extLst>
          </p:nvPr>
        </p:nvGraphicFramePr>
        <p:xfrm>
          <a:off x="5444349" y="40265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371654"/>
              </p:ext>
            </p:extLst>
          </p:nvPr>
        </p:nvGraphicFramePr>
        <p:xfrm>
          <a:off x="5596749" y="41789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70010"/>
              </p:ext>
            </p:extLst>
          </p:nvPr>
        </p:nvGraphicFramePr>
        <p:xfrm>
          <a:off x="5749149" y="43313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990600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003643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24137"/>
              </p:ext>
            </p:extLst>
          </p:nvPr>
        </p:nvGraphicFramePr>
        <p:xfrm>
          <a:off x="3865982" y="424991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47130"/>
              </p:ext>
            </p:extLst>
          </p:nvPr>
        </p:nvGraphicFramePr>
        <p:xfrm>
          <a:off x="3865982" y="550975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326003" y="620531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19114" y="2546369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08320" y="2546369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0144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6122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1668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3192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7646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39170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3176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4700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6224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49055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0579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2103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5393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6917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58441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29884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5795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2934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48837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5128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04963"/>
              </p:ext>
            </p:extLst>
          </p:nvPr>
        </p:nvGraphicFramePr>
        <p:xfrm>
          <a:off x="9427703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4642"/>
              </p:ext>
            </p:extLst>
          </p:nvPr>
        </p:nvGraphicFramePr>
        <p:xfrm>
          <a:off x="9580103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383049"/>
              </p:ext>
            </p:extLst>
          </p:nvPr>
        </p:nvGraphicFramePr>
        <p:xfrm>
          <a:off x="9732503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991645"/>
              </p:ext>
            </p:extLst>
          </p:nvPr>
        </p:nvGraphicFramePr>
        <p:xfrm>
          <a:off x="9884903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506883"/>
              </p:ext>
            </p:extLst>
          </p:nvPr>
        </p:nvGraphicFramePr>
        <p:xfrm>
          <a:off x="10037303" y="4485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90752"/>
              </p:ext>
            </p:extLst>
          </p:nvPr>
        </p:nvGraphicFramePr>
        <p:xfrm>
          <a:off x="10189703" y="4637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494414" y="38444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348439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724254" y="54054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14778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1016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317641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68608" y="4301407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3619114" y="2225391"/>
            <a:ext cx="7115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97E0D155-A9A5-675C-C36D-F5389D88D515}"/>
              </a:ext>
            </a:extLst>
          </p:cNvPr>
          <p:cNvSpPr/>
          <p:nvPr/>
        </p:nvSpPr>
        <p:spPr>
          <a:xfrm>
            <a:off x="1555786" y="2225392"/>
            <a:ext cx="9178890" cy="635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488" y="1893950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8AA6B3-4D31-A466-1653-C57CBD1492AE}"/>
              </a:ext>
            </a:extLst>
          </p:cNvPr>
          <p:cNvSpPr txBox="1"/>
          <p:nvPr/>
        </p:nvSpPr>
        <p:spPr>
          <a:xfrm>
            <a:off x="548640" y="1751876"/>
            <a:ext cx="387096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29A45-FCC3-FB83-0405-9B485CC40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619125" y="1248422"/>
            <a:ext cx="1109723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'수학적/논리적 추론(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)'에서 시작되어 '실험적 시행착오(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)'를 통해 완성된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첫단계로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가설과 수학적 추론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발명한 사람은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케라스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)의 창시자이자, 우리가 읽고 있는 이 책의 저자인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구글에서 근무할 당시 기존의 고성능 모델이었던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아키텍처의 수학적 본질을 꿰뚫어 보고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'공간(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동시에 매핑하는 것이다.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둘을 어느 정도 분리하려고 노력하고 있다. 그렇다면, 이 둘을 아예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따로 분리해서 계산하면 어떻게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될까?“라는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분해하여 "공간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번"으로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쪼개는 구조를 도출한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시작이후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반복하여 완성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방식의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채널을 분리하여 가설 공간을 압축하고 파라미터 수를 획기적으로 줄이는 무대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뼈대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주었습니다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수학적 이정표를 세워준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시행착오의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 이정표 위에서 실제 데이터가 가장 매끄럽게 흐르고 수렴하는 최적의 레이어 조합과 수치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엔지니어링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통찰로 거대한 지도를 그리고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현대 컴퓨터 비전의 명품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E560-6D29-D8D7-038C-C4C07C08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9646C-7087-2699-B068-ABBD5F1A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8AD9EA-6C3E-E205-24BA-6EF90F4DD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30B1818-D215-D307-313C-0EDA3743A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157" y="1729081"/>
            <a:ext cx="5301799" cy="440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96BFC-A995-0DD7-4F4C-CB67813DD2A4}"/>
              </a:ext>
            </a:extLst>
          </p:cNvPr>
          <p:cNvSpPr txBox="1"/>
          <p:nvPr/>
        </p:nvSpPr>
        <p:spPr>
          <a:xfrm>
            <a:off x="570895" y="1995781"/>
            <a:ext cx="47440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Complex systems follow a hierarchical structure and are organized into distinct modules, which are reused multiple times (such as your 4 limbs, which are all variants of the same blueprint, or your 20 fingers).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600178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9292</TotalTime>
  <Words>607</Words>
  <Application>Microsoft Office PowerPoint</Application>
  <PresentationFormat>와이드스크린</PresentationFormat>
  <Paragraphs>44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D2Coding</vt:lpstr>
      <vt:lpstr>맑은 고딕</vt:lpstr>
      <vt:lpstr>바탕</vt:lpstr>
      <vt:lpstr>Arial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153</cp:revision>
  <dcterms:created xsi:type="dcterms:W3CDTF">2026-04-06T01:00:39Z</dcterms:created>
  <dcterms:modified xsi:type="dcterms:W3CDTF">2026-07-08T12:00:42Z</dcterms:modified>
  <cp:version/>
</cp:coreProperties>
</file>