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256" r:id="rId2"/>
    <p:sldId id="1136" r:id="rId3"/>
    <p:sldId id="1163" r:id="rId4"/>
    <p:sldId id="1182" r:id="rId5"/>
    <p:sldId id="1183" r:id="rId6"/>
    <p:sldId id="1140" r:id="rId7"/>
    <p:sldId id="1142" r:id="rId8"/>
    <p:sldId id="1168" r:id="rId9"/>
    <p:sldId id="1122" r:id="rId10"/>
    <p:sldId id="1150" r:id="rId11"/>
    <p:sldId id="1137" r:id="rId12"/>
    <p:sldId id="1174" r:id="rId13"/>
    <p:sldId id="1175" r:id="rId14"/>
    <p:sldId id="1177" r:id="rId15"/>
    <p:sldId id="1156" r:id="rId16"/>
    <p:sldId id="1169" r:id="rId17"/>
    <p:sldId id="1173" r:id="rId18"/>
    <p:sldId id="1153" r:id="rId19"/>
    <p:sldId id="1172" r:id="rId20"/>
    <p:sldId id="1154" r:id="rId21"/>
    <p:sldId id="1155" r:id="rId22"/>
    <p:sldId id="1170" r:id="rId23"/>
    <p:sldId id="1162" r:id="rId24"/>
    <p:sldId id="1164" r:id="rId25"/>
    <p:sldId id="1166" r:id="rId26"/>
    <p:sldId id="1139" r:id="rId27"/>
    <p:sldId id="1179" r:id="rId28"/>
    <p:sldId id="1185" r:id="rId29"/>
    <p:sldId id="1147" r:id="rId30"/>
    <p:sldId id="1152" r:id="rId31"/>
    <p:sldId id="1134" r:id="rId32"/>
    <p:sldId id="1176" r:id="rId33"/>
    <p:sldId id="1148" r:id="rId34"/>
    <p:sldId id="1181" r:id="rId35"/>
    <p:sldId id="1178" r:id="rId36"/>
    <p:sldId id="1180" r:id="rId37"/>
    <p:sldId id="1157" r:id="rId38"/>
    <p:sldId id="1159" r:id="rId39"/>
    <p:sldId id="1171" r:id="rId40"/>
    <p:sldId id="1144" r:id="rId41"/>
    <p:sldId id="1143" r:id="rId42"/>
    <p:sldId id="1145" r:id="rId43"/>
    <p:sldId id="1165" r:id="rId4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3"/>
            <p14:sldId id="1182"/>
            <p14:sldId id="1183"/>
            <p14:sldId id="1140"/>
            <p14:sldId id="1142"/>
            <p14:sldId id="1168"/>
            <p14:sldId id="1122"/>
            <p14:sldId id="1150"/>
            <p14:sldId id="1137"/>
            <p14:sldId id="1174"/>
            <p14:sldId id="1175"/>
            <p14:sldId id="1177"/>
            <p14:sldId id="1156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64"/>
            <p14:sldId id="1166"/>
            <p14:sldId id="1139"/>
            <p14:sldId id="1179"/>
            <p14:sldId id="1185"/>
            <p14:sldId id="1147"/>
            <p14:sldId id="1152"/>
            <p14:sldId id="1134"/>
            <p14:sldId id="1176"/>
            <p14:sldId id="1148"/>
            <p14:sldId id="1181"/>
            <p14:sldId id="1178"/>
            <p14:sldId id="1180"/>
            <p14:sldId id="1157"/>
            <p14:sldId id="1159"/>
            <p14:sldId id="1171"/>
            <p14:sldId id="1144"/>
            <p14:sldId id="1143"/>
            <p14:sldId id="1145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200" d="100"/>
          <a:sy n="200" d="100"/>
        </p:scale>
        <p:origin x="-5021" y="-4003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log.gopenai.com/wrapping-up-cnn-models-shifting-focus-to-attention-based-architectures-5029b87034d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HUcqdCr4&amp;t=633s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619648" y="607695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23087-E6C9-8A39-9F2A-4EE3698F9C6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EC4848-65A9-82AB-2FF7-7C34C90B4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47" y="1385887"/>
            <a:ext cx="10153259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311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E752F-40B9-7D21-28D0-6E0EEB09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BD0A0C1-DFBD-9E04-7826-E38CEFB38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226546-AD54-EF05-D6CB-D6AF84B258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 descr="LEGO® Art Gustav Klimt – The Kiss showing a brick-built 3D artwork made up of various elements, like circles and studs.">
            <a:extLst>
              <a:ext uri="{FF2B5EF4-FFF2-40B4-BE49-F238E27FC236}">
                <a16:creationId xmlns:a16="http://schemas.microsoft.com/office/drawing/2014/main" id="{AC6F743F-AE92-9119-1B55-6B93C6175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5151" y="2676525"/>
            <a:ext cx="3524250" cy="352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테이블 위에 앉아있는 다채로운 레고 더미">
            <a:extLst>
              <a:ext uri="{FF2B5EF4-FFF2-40B4-BE49-F238E27FC236}">
                <a16:creationId xmlns:a16="http://schemas.microsoft.com/office/drawing/2014/main" id="{E751A433-46C2-6B7D-D93B-775CB71D5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888" y="2723691"/>
            <a:ext cx="4303712" cy="288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B5F37B-6316-BD45-B98C-72761ED72998}"/>
              </a:ext>
            </a:extLst>
          </p:cNvPr>
          <p:cNvSpPr txBox="1"/>
          <p:nvPr/>
        </p:nvSpPr>
        <p:spPr>
          <a:xfrm>
            <a:off x="552450" y="1205984"/>
            <a:ext cx="1138185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아키텍처는 레이어의 종류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연결 방식의 집합으로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효율적인 모델 설계를 위한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모듈성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(Modularity),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Framework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기초로 활용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BE490F23-CBC8-3549-0682-651570C3C5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57521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28855-45D2-C990-E9D1-8045E227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757EAE72-AB84-7120-2F49-709333CD4A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BE3D12-1E46-1799-FDBF-BB43A91AF7D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00400AF-868E-CEA5-1352-06AE1684F8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44BE50-7C01-B4DF-563B-2055BD4CBC89}"/>
              </a:ext>
            </a:extLst>
          </p:cNvPr>
          <p:cNvSpPr txBox="1"/>
          <p:nvPr/>
        </p:nvSpPr>
        <p:spPr>
          <a:xfrm>
            <a:off x="133609" y="1189897"/>
            <a:ext cx="1131518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indent="-285750" rtl="0" fontAlgn="base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모듈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(Modularity):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신경망의 각 레이어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(Layer)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블록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(Block)</a:t>
            </a:r>
            <a:endParaRPr lang="en-US" altLang="ko-KR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계층 구조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(Hierarchy):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레이어를 순차적으로 깊게 쌓아 올린 스택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(Stack)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(Reuse):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이미지의 여러 공간적 위치에 동일한 커널 가중치를 적용하는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(Convolution)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13794" y="5815835"/>
            <a:ext cx="3119481" cy="3832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16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94" y="3276600"/>
            <a:ext cx="11364411" cy="2539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990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70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Inception(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인셉션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아키텍처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＂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경사 하강법이 덜 멍청하게 움직일 수 있도록 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분해하는 구조를 도출한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최적의 레이어 조합과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and Error)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3741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뉴런이 적고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뉴런이 많고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B95BD-C278-37D8-553D-E232C6A81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BF561D-E751-2F7D-BD07-DAB30C15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1BD2C2A-AF4D-890C-F444-DC517E336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37" name="Picture 6">
            <a:extLst>
              <a:ext uri="{FF2B5EF4-FFF2-40B4-BE49-F238E27FC236}">
                <a16:creationId xmlns:a16="http://schemas.microsoft.com/office/drawing/2014/main" id="{3609C0FF-BB0B-B653-DA35-1861BC644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" y="2039604"/>
            <a:ext cx="3620441" cy="329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FB748E-DF8E-D8F4-5773-80BBF3B79E03}"/>
              </a:ext>
            </a:extLst>
          </p:cNvPr>
          <p:cNvSpPr txBox="1"/>
          <p:nvPr/>
        </p:nvSpPr>
        <p:spPr>
          <a:xfrm>
            <a:off x="4220280" y="2039604"/>
            <a:ext cx="7534273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Some input tensor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Saves a reference to the original input. This is called the residual.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computation block can potentially be destructive or noisy, and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that's fine.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block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Adds the original input to the layer's output. The final output will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thus always preserve full information about the original input.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5BA4E-CD72-7BFD-25E9-EBF855ABCE45}"/>
              </a:ext>
            </a:extLst>
          </p:cNvPr>
          <p:cNvSpPr txBox="1"/>
          <p:nvPr/>
        </p:nvSpPr>
        <p:spPr>
          <a:xfrm>
            <a:off x="4100210" y="1676466"/>
            <a:ext cx="40474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residual connection in pseudocode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890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484E1-8747-BB18-A9F1-4448F3D6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D8B6-3BB3-0C3A-116A-AB5EA1220F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81C659-80F4-A3C8-C59E-5FCD12A0A3A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0A87C9-3364-E952-8219-A67AF0705A02}"/>
              </a:ext>
            </a:extLst>
          </p:cNvPr>
          <p:cNvSpPr txBox="1"/>
          <p:nvPr/>
        </p:nvSpPr>
        <p:spPr>
          <a:xfrm>
            <a:off x="597113" y="1659285"/>
            <a:ext cx="8127788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layer around which we create a residual connection: </a:t>
            </a:r>
          </a:p>
          <a:p>
            <a:pPr algn="l" latinLnBrk="0">
              <a:buNone/>
            </a:pPr>
            <a:r>
              <a:rPr lang="en-US" altLang="ko-KR" sz="1600" dirty="0">
                <a:solidFill>
                  <a:srgbClr val="70809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it increases the number of output filers from 32 to 64.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The residual only had 32 filters, so we use a 1 x 1 Conv2D to project 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it to the correct shape.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BC2351-157C-8D72-897C-5928D9C3C6F4}"/>
              </a:ext>
            </a:extLst>
          </p:cNvPr>
          <p:cNvSpPr txBox="1"/>
          <p:nvPr/>
        </p:nvSpPr>
        <p:spPr>
          <a:xfrm>
            <a:off x="475645" y="59547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Cascadia Mono SemiLight" panose="020B0609020000020004" pitchFamily="49" charset="0"/>
              </a:rPr>
              <a:t> The target block changing the number of output filters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Cascadia Mono SemiLight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0281-9FD7-E7B0-2BB5-86246DEB9478}"/>
              </a:ext>
            </a:extLst>
          </p:cNvPr>
          <p:cNvSpPr txBox="1"/>
          <p:nvPr/>
        </p:nvSpPr>
        <p:spPr>
          <a:xfrm>
            <a:off x="8896350" y="1670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9CBBA-541B-0598-94B9-3B406F450768}"/>
              </a:ext>
            </a:extLst>
          </p:cNvPr>
          <p:cNvSpPr txBox="1"/>
          <p:nvPr/>
        </p:nvSpPr>
        <p:spPr>
          <a:xfrm>
            <a:off x="8896350" y="203999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CBA14-2439-0F8D-A16A-E99F7A785CF3}"/>
              </a:ext>
            </a:extLst>
          </p:cNvPr>
          <p:cNvSpPr txBox="1"/>
          <p:nvPr/>
        </p:nvSpPr>
        <p:spPr>
          <a:xfrm>
            <a:off x="8896350" y="260197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7CAD5-4B43-06C9-DAEB-8A1339C955B4}"/>
              </a:ext>
            </a:extLst>
          </p:cNvPr>
          <p:cNvSpPr txBox="1"/>
          <p:nvPr/>
        </p:nvSpPr>
        <p:spPr>
          <a:xfrm>
            <a:off x="8896350" y="381780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2C92D3-9817-7488-4141-2F8DB9F38EB0}"/>
              </a:ext>
            </a:extLst>
          </p:cNvPr>
          <p:cNvSpPr txBox="1"/>
          <p:nvPr/>
        </p:nvSpPr>
        <p:spPr>
          <a:xfrm>
            <a:off x="8896349" y="48474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8ECF0-53CF-1D47-CF3D-928B4AF3A13A}"/>
              </a:ext>
            </a:extLst>
          </p:cNvPr>
          <p:cNvSpPr txBox="1"/>
          <p:nvPr/>
        </p:nvSpPr>
        <p:spPr>
          <a:xfrm>
            <a:off x="8896349" y="5552471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AACA4-A6A8-C5B0-2A87-E43232B08F8D}"/>
              </a:ext>
            </a:extLst>
          </p:cNvPr>
          <p:cNvSpPr txBox="1"/>
          <p:nvPr/>
        </p:nvSpPr>
        <p:spPr>
          <a:xfrm>
            <a:off x="10429356" y="555247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4254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C65D-DC08-4063-9D5A-835433A5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3EBC6-F0E5-5D0E-DBFC-AE38101C4D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B73ED6-6046-C6DC-84F8-D15E625238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3B8C0-1444-7318-241D-5FBEB9CCA531}"/>
              </a:ext>
            </a:extLst>
          </p:cNvPr>
          <p:cNvSpPr txBox="1"/>
          <p:nvPr/>
        </p:nvSpPr>
        <p:spPr>
          <a:xfrm>
            <a:off x="638175" y="1451591"/>
            <a:ext cx="81438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block of two layers around which we create a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connection: it includes a 2 x 2 max pooling layer.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in both the convolution layer and the max pooling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layer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MaxPooling2D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We use strides=2 in the residual projection to match the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created by the max pooling layer.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strides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1EE154-258C-5EF6-551F-F6C2454AD0ED}"/>
              </a:ext>
            </a:extLst>
          </p:cNvPr>
          <p:cNvSpPr txBox="1"/>
          <p:nvPr/>
        </p:nvSpPr>
        <p:spPr>
          <a:xfrm>
            <a:off x="63817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target block including a max pooling layer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26944-0F54-C2FA-12A7-AC641EAFAE65}"/>
              </a:ext>
            </a:extLst>
          </p:cNvPr>
          <p:cNvSpPr txBox="1"/>
          <p:nvPr/>
        </p:nvSpPr>
        <p:spPr>
          <a:xfrm>
            <a:off x="8896350" y="14515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EEF37D-C986-B0EF-C6BD-57BBC1F01A2F}"/>
              </a:ext>
            </a:extLst>
          </p:cNvPr>
          <p:cNvSpPr txBox="1"/>
          <p:nvPr/>
        </p:nvSpPr>
        <p:spPr>
          <a:xfrm>
            <a:off x="8896350" y="182092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1A9796-260A-E910-705D-65604C54C36A}"/>
              </a:ext>
            </a:extLst>
          </p:cNvPr>
          <p:cNvSpPr txBox="1"/>
          <p:nvPr/>
        </p:nvSpPr>
        <p:spPr>
          <a:xfrm>
            <a:off x="8896350" y="247814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B0521-197D-D24E-3A73-78E1D302F21D}"/>
              </a:ext>
            </a:extLst>
          </p:cNvPr>
          <p:cNvSpPr txBox="1"/>
          <p:nvPr/>
        </p:nvSpPr>
        <p:spPr>
          <a:xfrm>
            <a:off x="8896350" y="383685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7E8AF-E7D0-2660-5AD1-1454FC590D11}"/>
              </a:ext>
            </a:extLst>
          </p:cNvPr>
          <p:cNvSpPr txBox="1"/>
          <p:nvPr/>
        </p:nvSpPr>
        <p:spPr>
          <a:xfrm>
            <a:off x="8896350" y="42061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A9F0C-2129-7895-263E-AC7C50EEF3C2}"/>
              </a:ext>
            </a:extLst>
          </p:cNvPr>
          <p:cNvSpPr txBox="1"/>
          <p:nvPr/>
        </p:nvSpPr>
        <p:spPr>
          <a:xfrm>
            <a:off x="8896349" y="5104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43024A-E4C3-263E-8932-CD9F6D36AC07}"/>
              </a:ext>
            </a:extLst>
          </p:cNvPr>
          <p:cNvSpPr txBox="1"/>
          <p:nvPr/>
        </p:nvSpPr>
        <p:spPr>
          <a:xfrm>
            <a:off x="8896349" y="5866796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E894A-6174-23F5-E98E-79E0E3143D78}"/>
              </a:ext>
            </a:extLst>
          </p:cNvPr>
          <p:cNvSpPr txBox="1"/>
          <p:nvPr/>
        </p:nvSpPr>
        <p:spPr>
          <a:xfrm>
            <a:off x="10429356" y="586679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487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526" y="4420820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177280" y="2744957"/>
                <a:ext cx="5557520" cy="1136163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235265"/>
                  <a:gd name="adj6" fmla="val -34661"/>
                </a:avLst>
              </a:prstGeom>
              <a:solidFill>
                <a:schemeClr val="tx1"/>
              </a:solid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</a:p>
              <a:p>
                <a:pPr algn="ctr"/>
                <a:endParaRPr lang="en-US" altLang="ko-KR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 algn="ctr"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평균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</a:p>
            </p:txBody>
          </p:sp>
        </mc:Choice>
        <mc:Fallback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7280" y="2744957"/>
                <a:ext cx="5557520" cy="1136163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235265"/>
                  <a:gd name="adj6" fmla="val -34661"/>
                </a:avLst>
              </a:prstGeom>
              <a:blipFill>
                <a:blip r:embed="rId5"/>
                <a:stretch>
                  <a:fillRect t="-1354"/>
                </a:stretch>
              </a:blip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77D73-93E9-CC1F-E98F-399AC758B4CF}"/>
              </a:ext>
            </a:extLst>
          </p:cNvPr>
          <p:cNvSpPr txBox="1"/>
          <p:nvPr/>
        </p:nvSpPr>
        <p:spPr>
          <a:xfrm>
            <a:off x="5532783" y="4113043"/>
            <a:ext cx="2188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 Descent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12963"/>
                <a:ext cx="10952480" cy="1161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경사 하강법으로 역전파때 직접 학습시키는 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6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2963"/>
                <a:ext cx="10952480" cy="1161793"/>
              </a:xfrm>
              <a:prstGeom prst="rect">
                <a:avLst/>
              </a:prstGeom>
              <a:blipFill>
                <a:blip r:embed="rId2"/>
                <a:stretch>
                  <a:fillRect l="-278" b="-52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4BF787A-9991-CAF4-7417-475E87E0754A}"/>
              </a:ext>
            </a:extLst>
          </p:cNvPr>
          <p:cNvSpPr/>
          <p:nvPr/>
        </p:nvSpPr>
        <p:spPr>
          <a:xfrm>
            <a:off x="424543" y="359083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24F376-ABDC-C469-700D-E44B4D4357CC}"/>
              </a:ext>
            </a:extLst>
          </p:cNvPr>
          <p:cNvSpPr/>
          <p:nvPr/>
        </p:nvSpPr>
        <p:spPr>
          <a:xfrm>
            <a:off x="424543" y="431219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B7F776-2C2F-E64B-8522-BA9D9FD633B1}"/>
              </a:ext>
            </a:extLst>
          </p:cNvPr>
          <p:cNvSpPr/>
          <p:nvPr/>
        </p:nvSpPr>
        <p:spPr>
          <a:xfrm>
            <a:off x="424543" y="503355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04878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1937775" y="5499233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22834C-A531-E689-97B2-9AA3716A74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542902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581400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353551" y="2368854"/>
            <a:ext cx="2209800" cy="1551100"/>
          </a:xfrm>
          <a:prstGeom prst="borderCallout2">
            <a:avLst>
              <a:gd name="adj1" fmla="val 14443"/>
              <a:gd name="adj2" fmla="val -574"/>
              <a:gd name="adj3" fmla="val 18750"/>
              <a:gd name="adj4" fmla="val -16667"/>
              <a:gd name="adj5" fmla="val 59378"/>
              <a:gd name="adj6" fmla="val -34952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pPr algn="ctr"/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107684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259903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4449303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722167"/>
              </p:ext>
            </p:extLst>
          </p:nvPr>
        </p:nvGraphicFramePr>
        <p:xfrm>
          <a:off x="5052162" y="251989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135655"/>
              </p:ext>
            </p:extLst>
          </p:nvPr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773110"/>
              </p:ext>
            </p:extLst>
          </p:nvPr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676295"/>
              </p:ext>
            </p:extLst>
          </p:nvPr>
        </p:nvGraphicFramePr>
        <p:xfrm>
          <a:off x="5029302" y="421266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831459"/>
              </p:ext>
            </p:extLst>
          </p:nvPr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953027"/>
              </p:ext>
            </p:extLst>
          </p:nvPr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922919"/>
              </p:ext>
            </p:extLst>
          </p:nvPr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59535"/>
              </p:ext>
            </p:extLst>
          </p:nvPr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4395889"/>
              </p:ext>
            </p:extLst>
          </p:nvPr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937330"/>
              </p:ext>
            </p:extLst>
          </p:nvPr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225686"/>
              </p:ext>
            </p:extLst>
          </p:nvPr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390698"/>
              </p:ext>
            </p:extLst>
          </p:nvPr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9568790"/>
              </p:ext>
            </p:extLst>
          </p:nvPr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665677"/>
              </p:ext>
            </p:extLst>
          </p:nvPr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827157"/>
              </p:ext>
            </p:extLst>
          </p:nvPr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2724225"/>
              </p:ext>
            </p:extLst>
          </p:nvPr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398551"/>
              </p:ext>
            </p:extLst>
          </p:nvPr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922" y="2769239"/>
            <a:ext cx="3693260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135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(3x3x3x5) parameters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411837" y="3680909"/>
            <a:ext cx="1146443" cy="1234339"/>
          </a:xfrm>
          <a:prstGeom prst="cube">
            <a:avLst>
              <a:gd name="adj" fmla="val 5394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340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입력이미지를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 정보를 분리하여 각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공간합성곱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수행하고 그 다음은 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순차적으로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(1x1x3x5) 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총 파라미터는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42(27+15)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257039"/>
              </p:ext>
            </p:extLst>
          </p:nvPr>
        </p:nvGraphicFramePr>
        <p:xfrm>
          <a:off x="1260510" y="340804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10929"/>
              </p:ext>
            </p:extLst>
          </p:nvPr>
        </p:nvGraphicFramePr>
        <p:xfrm>
          <a:off x="1260510" y="440620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5745057"/>
              </p:ext>
            </p:extLst>
          </p:nvPr>
        </p:nvGraphicFramePr>
        <p:xfrm>
          <a:off x="1260510" y="539110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578589"/>
              </p:ext>
            </p:extLst>
          </p:nvPr>
        </p:nvGraphicFramePr>
        <p:xfrm>
          <a:off x="3865982" y="350950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730284"/>
              </p:ext>
            </p:extLst>
          </p:nvPr>
        </p:nvGraphicFramePr>
        <p:xfrm>
          <a:off x="5444349" y="43650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190905"/>
              </p:ext>
            </p:extLst>
          </p:nvPr>
        </p:nvGraphicFramePr>
        <p:xfrm>
          <a:off x="5596749" y="45174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69795"/>
              </p:ext>
            </p:extLst>
          </p:nvPr>
        </p:nvGraphicFramePr>
        <p:xfrm>
          <a:off x="5749149" y="46698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89077" y="305898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037559" y="6268303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34209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563175"/>
              </p:ext>
            </p:extLst>
          </p:nvPr>
        </p:nvGraphicFramePr>
        <p:xfrm>
          <a:off x="3865982" y="474076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90330"/>
              </p:ext>
            </p:extLst>
          </p:nvPr>
        </p:nvGraphicFramePr>
        <p:xfrm>
          <a:off x="3865982" y="584820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8213761" y="6262738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2580746" y="3094374"/>
            <a:ext cx="424995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(Spatial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6965103" y="3095568"/>
            <a:ext cx="421326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4386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40364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5910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7434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41888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3412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7418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8942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50466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3297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4821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6345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9635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61159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2683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41259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400373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71766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30791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93707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558071"/>
              </p:ext>
            </p:extLst>
          </p:nvPr>
        </p:nvGraphicFramePr>
        <p:xfrm>
          <a:off x="9132428" y="4214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54139"/>
              </p:ext>
            </p:extLst>
          </p:nvPr>
        </p:nvGraphicFramePr>
        <p:xfrm>
          <a:off x="9284828" y="43665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85613"/>
              </p:ext>
            </p:extLst>
          </p:nvPr>
        </p:nvGraphicFramePr>
        <p:xfrm>
          <a:off x="9437228" y="45189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017705"/>
              </p:ext>
            </p:extLst>
          </p:nvPr>
        </p:nvGraphicFramePr>
        <p:xfrm>
          <a:off x="9589628" y="46713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432161"/>
              </p:ext>
            </p:extLst>
          </p:nvPr>
        </p:nvGraphicFramePr>
        <p:xfrm>
          <a:off x="9742028" y="48237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505606"/>
              </p:ext>
            </p:extLst>
          </p:nvPr>
        </p:nvGraphicFramePr>
        <p:xfrm>
          <a:off x="9894428" y="4976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418287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68689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67724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71413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52583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65609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63986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687671"/>
            <a:ext cx="8612349" cy="3077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3094375"/>
            <a:ext cx="4238974" cy="348346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3094374"/>
            <a:ext cx="4238974" cy="347614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678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0C2E-56A1-A50F-F55F-9D39DEA4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E05EDD-47CD-BCAE-48FE-9DE11D0FC5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58425C60-6998-40CF-1DFA-EF0D20635C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919-73AC-4879-1174-FBCA3B4380DF}"/>
              </a:ext>
            </a:extLst>
          </p:cNvPr>
          <p:cNvSpPr txBox="1"/>
          <p:nvPr/>
        </p:nvSpPr>
        <p:spPr>
          <a:xfrm>
            <a:off x="1556699" y="2857747"/>
            <a:ext cx="6530027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layers.DepthwiseConv2D(3, padding="same")(x)</a:t>
            </a:r>
          </a:p>
          <a:p>
            <a:pPr rtl="0"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layers.Conv2D(5, 1, padding="same“)(x)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82E58-FA63-DDCC-0326-8113679C54A7}"/>
              </a:ext>
            </a:extLst>
          </p:cNvPr>
          <p:cNvSpPr txBox="1"/>
          <p:nvPr/>
        </p:nvSpPr>
        <p:spPr>
          <a:xfrm>
            <a:off x="1556700" y="5388068"/>
            <a:ext cx="6530026" cy="64633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layers.SeparableConv2D(5, 3, padding="same")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FE737E-D1E4-5B5D-26FB-0DB114EFC64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4821713" y="4335075"/>
            <a:ext cx="0" cy="1052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B8769E-1301-ADC0-2575-2904026A7839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FB22B0-A33C-A2BA-D9BA-681FCFC37753}"/>
              </a:ext>
            </a:extLst>
          </p:cNvPr>
          <p:cNvSpPr txBox="1"/>
          <p:nvPr/>
        </p:nvSpPr>
        <p:spPr>
          <a:xfrm>
            <a:off x="8295889" y="3167398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7D8AA0-4CA4-914D-6050-CDD9B8179337}"/>
              </a:ext>
            </a:extLst>
          </p:cNvPr>
          <p:cNvSpPr txBox="1"/>
          <p:nvPr/>
        </p:nvSpPr>
        <p:spPr>
          <a:xfrm>
            <a:off x="8295889" y="3992401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266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5FC2-EC44-0397-875A-5B0470EA5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70D899-8AFD-1DFD-F5B8-96A8314FC4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1x1 Convolution (Pointwise Conv)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3C9C948-3DED-66F0-B839-106EACC776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D08E12-6588-122E-0C2E-10A5C2BD1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762" y="1493736"/>
            <a:ext cx="8979627" cy="47318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9578425-402B-8F5B-C857-9697D0F75552}"/>
              </a:ext>
            </a:extLst>
          </p:cNvPr>
          <p:cNvSpPr txBox="1"/>
          <p:nvPr/>
        </p:nvSpPr>
        <p:spPr>
          <a:xfrm>
            <a:off x="1219762" y="6247380"/>
            <a:ext cx="7894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1x1 Convolution? Do we really achieve anything with this?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0053622-1AAF-226B-734C-6ADA7E64B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0506" y="1493736"/>
            <a:ext cx="5260758" cy="62985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BE6E05E-C964-2987-FD57-D9F73D5BCA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0954" y="4172130"/>
            <a:ext cx="5260758" cy="5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018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481097" y="1222270"/>
            <a:ext cx="11229806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채널"은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서로 완전히 독립적인 정보인 경우가 많은데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63599" y="4079739"/>
            <a:ext cx="2315041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스케치북에 검은색 펜으로 캐릭터의 눈, 코, 입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94BC4-E1A3-2086-1AF2-79C143CA14B8}"/>
              </a:ext>
            </a:extLst>
          </p:cNvPr>
          <p:cNvSpPr txBox="1"/>
          <p:nvPr/>
        </p:nvSpPr>
        <p:spPr>
          <a:xfrm>
            <a:off x="7081520" y="4341952"/>
            <a:ext cx="2410504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그려진 선 안에 빨간색, 초록색, 파란색 물감으로 '색칠(채색)＇하기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RGB 채널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C9F4C-3DE9-0698-645B-5AEA3636288B}"/>
              </a:ext>
            </a:extLst>
          </p:cNvPr>
          <p:cNvSpPr txBox="1"/>
          <p:nvPr/>
        </p:nvSpPr>
        <p:spPr>
          <a:xfrm>
            <a:off x="879525" y="5889545"/>
            <a:ext cx="10459708" cy="5232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F71122F-4AB5-7C39-EE08-09BAEF84D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641" y="3593159"/>
            <a:ext cx="1821991" cy="209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7084C3-02A4-CD27-99F3-10BA310B2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2024" y="3593159"/>
            <a:ext cx="1847209" cy="21317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6E3633-8A9F-6322-D818-F3DEBD581A8F}"/>
              </a:ext>
            </a:extLst>
          </p:cNvPr>
          <p:cNvSpPr txBox="1"/>
          <p:nvPr/>
        </p:nvSpPr>
        <p:spPr>
          <a:xfrm>
            <a:off x="3171964" y="3064339"/>
            <a:ext cx="1833106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 그리기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(공간 정보)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E7E31-F8E4-2904-13D6-5549864DD54F}"/>
              </a:ext>
            </a:extLst>
          </p:cNvPr>
          <p:cNvSpPr txBox="1"/>
          <p:nvPr/>
        </p:nvSpPr>
        <p:spPr>
          <a:xfrm>
            <a:off x="9483895" y="3064339"/>
            <a:ext cx="1858475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(채널 정보)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170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650826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1399"/>
              <a:gd name="adj3" fmla="val 18750"/>
              <a:gd name="adj4" fmla="val -16667"/>
              <a:gd name="adj5" fmla="val 105430"/>
              <a:gd name="adj6" fmla="val -37414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5AD3-284E-BBC5-6EB0-C85A2270E09F}"/>
              </a:ext>
            </a:extLst>
          </p:cNvPr>
          <p:cNvSpPr txBox="1"/>
          <p:nvPr/>
        </p:nvSpPr>
        <p:spPr>
          <a:xfrm>
            <a:off x="9048116" y="2527235"/>
            <a:ext cx="279125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0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728.</a:t>
            </a: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7712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15E22-4850-A5B6-2260-377DCA7A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DCD64-6D0B-0A15-9C53-ED0C516206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328889-C35B-9B25-0919-FAB35B53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5" y="1772290"/>
            <a:ext cx="3586187" cy="279002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0053F9-46BA-0064-334D-1A4CFEFDA2E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8EB64-774A-CE97-1C45-1386DE051FE3}"/>
              </a:ext>
            </a:extLst>
          </p:cNvPr>
          <p:cNvSpPr txBox="1"/>
          <p:nvPr/>
        </p:nvSpPr>
        <p:spPr>
          <a:xfrm>
            <a:off x="3778461" y="1772290"/>
            <a:ext cx="6546639" cy="443198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=(299, 299, 3))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1~2.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브랜치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3~5.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투영 및 결합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layers.Conv2D(128,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997730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18658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(Inception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멍청한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알고리즘을 똑똑하게 하는 방법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C303DD-15C2-F714-1E80-9160F66755D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7FAAAB-8EA4-47C9-9A15-FA2948DF3156}"/>
              </a:ext>
            </a:extLst>
          </p:cNvPr>
          <p:cNvSpPr txBox="1"/>
          <p:nvPr/>
        </p:nvSpPr>
        <p:spPr>
          <a:xfrm>
            <a:off x="1379097" y="2478811"/>
            <a:ext cx="10178436" cy="374782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FD859-7B24-C7BE-46D0-9D91BD1C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E9DD07-5412-89CE-DF11-C40C758483F2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41E400-4A34-0A79-08F6-E763CEF9B13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1651CE-CA0D-E27B-6E88-C201B386D035}"/>
              </a:ext>
            </a:extLst>
          </p:cNvPr>
          <p:cNvSpPr txBox="1"/>
          <p:nvPr/>
        </p:nvSpPr>
        <p:spPr>
          <a:xfrm>
            <a:off x="633108" y="1248422"/>
            <a:ext cx="7082142" cy="537070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endParaRPr lang="en-US" altLang="ko-KR" sz="7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size in [32, 64, 128, 256, 512]: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x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layers.MaxPooling2D(3, strides=2, padding="same")(x)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layers.Conv2D(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size, 1, strides=2,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=False)(residual)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([x, residual])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8CBE4-44F8-E67F-8728-76B979B36364}"/>
              </a:ext>
            </a:extLst>
          </p:cNvPr>
          <p:cNvSpPr txBox="1"/>
          <p:nvPr/>
        </p:nvSpPr>
        <p:spPr>
          <a:xfrm>
            <a:off x="7790296" y="1263662"/>
            <a:ext cx="4133850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algn="just">
              <a:buFont typeface="+mj-ea"/>
              <a:buAutoNum type="circleNumDbPlain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 &amp; Preprocessing),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블록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Block)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[32, 64, 128, 256, 512]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순서대로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블록을 반복한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 최종적으로 </a:t>
            </a: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Global Average Pooling 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차원을 평균 내어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압축하여 최종 분류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사용: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사용하여 파라미터 수와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대폭 절감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연결): 층이 깊어져도 기울기 소실(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없이 안정적으로 학습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GAP(Global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채널별 평균값을 사용하여 파라미터 수를 획기적으로 줄이고 과적합을 예방</a:t>
            </a:r>
          </a:p>
        </p:txBody>
      </p:sp>
    </p:spTree>
    <p:extLst>
      <p:ext uri="{BB962C8B-B14F-4D97-AF65-F5344CB8AC3E}">
        <p14:creationId xmlns:p14="http://schemas.microsoft.com/office/powerpoint/2010/main" val="411260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D452-9608-A826-7CC5-EA4E0DC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D08A09-CCB4-4D19-F5F9-C94539F1F711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EEE15C5-BCA6-58BD-4A49-01DCA62EF9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FD4F60-2232-787A-9EF2-62D98E450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76" y="1319955"/>
            <a:ext cx="5837149" cy="53226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92E183-1BEE-D9F7-AFE9-2BAB2EE539F9}"/>
              </a:ext>
            </a:extLst>
          </p:cNvPr>
          <p:cNvSpPr txBox="1"/>
          <p:nvPr/>
        </p:nvSpPr>
        <p:spPr>
          <a:xfrm>
            <a:off x="6551524" y="1319955"/>
            <a:ext cx="5029200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Each convolutional and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 convolutional 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followed by a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layer, which is not included in the figure. The architecture uses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around each module, except for the first and last ones.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7351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Pretrained Model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2A5F81F-A4FA-D039-7502-FBB2B791F6A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6625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24834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484306"/>
              </p:ext>
            </p:extLst>
          </p:nvPr>
        </p:nvGraphicFramePr>
        <p:xfrm>
          <a:off x="1461254" y="265964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2D3C9-6F9D-BE4D-D8F4-5B3D5F2F93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878959" y="1559600"/>
            <a:ext cx="10578027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DD545D5-2F34-F510-D73D-E11F90AD19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래픽 4" descr="학사모">
            <a:extLst>
              <a:ext uri="{FF2B5EF4-FFF2-40B4-BE49-F238E27FC236}">
                <a16:creationId xmlns:a16="http://schemas.microsoft.com/office/drawing/2014/main" id="{443516DC-C86E-1673-E279-090CF5E95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9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소개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17" y="3713662"/>
            <a:ext cx="4385069" cy="8233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217" y="4535670"/>
            <a:ext cx="2491410" cy="57210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603" y="5379033"/>
            <a:ext cx="2421208" cy="764592"/>
          </a:xfrm>
          <a:prstGeom prst="rect">
            <a:avLst/>
          </a:prstGeom>
        </p:spPr>
      </p:pic>
      <p:pic>
        <p:nvPicPr>
          <p:cNvPr id="2" name="그래픽 1" descr="학사모">
            <a:extLst>
              <a:ext uri="{FF2B5EF4-FFF2-40B4-BE49-F238E27FC236}">
                <a16:creationId xmlns:a16="http://schemas.microsoft.com/office/drawing/2014/main" id="{D3566E73-4B34-6DB2-FC0B-C57330B22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8F15D8-AC40-C13E-E229-3CB533E594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7908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9135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09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29FBC19-239F-84E0-0233-A2A3B9BFC5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11038</TotalTime>
  <Words>3867</Words>
  <Application>Microsoft Office PowerPoint</Application>
  <PresentationFormat>와이드스크린</PresentationFormat>
  <Paragraphs>416</Paragraphs>
  <Slides>43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2" baseType="lpstr">
      <vt:lpstr>D2Coding</vt:lpstr>
      <vt:lpstr>맑은 고딕</vt:lpstr>
      <vt:lpstr>Batang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Pretrained Model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193</cp:revision>
  <dcterms:created xsi:type="dcterms:W3CDTF">2026-04-06T01:00:39Z</dcterms:created>
  <dcterms:modified xsi:type="dcterms:W3CDTF">2026-09-21T12:00:25Z</dcterms:modified>
  <cp:version/>
</cp:coreProperties>
</file>