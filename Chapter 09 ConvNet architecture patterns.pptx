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1136" r:id="rId3"/>
    <p:sldId id="1163" r:id="rId4"/>
    <p:sldId id="1182" r:id="rId5"/>
    <p:sldId id="1183" r:id="rId6"/>
    <p:sldId id="1140" r:id="rId7"/>
    <p:sldId id="1142" r:id="rId8"/>
    <p:sldId id="1168" r:id="rId9"/>
    <p:sldId id="1122" r:id="rId10"/>
    <p:sldId id="1150" r:id="rId11"/>
    <p:sldId id="1137" r:id="rId12"/>
    <p:sldId id="1174" r:id="rId13"/>
    <p:sldId id="1175" r:id="rId14"/>
    <p:sldId id="1177" r:id="rId15"/>
    <p:sldId id="1156" r:id="rId16"/>
    <p:sldId id="1169" r:id="rId17"/>
    <p:sldId id="1173" r:id="rId18"/>
    <p:sldId id="1153" r:id="rId19"/>
    <p:sldId id="1172" r:id="rId20"/>
    <p:sldId id="1154" r:id="rId21"/>
    <p:sldId id="1155" r:id="rId22"/>
    <p:sldId id="1170" r:id="rId23"/>
    <p:sldId id="1162" r:id="rId24"/>
    <p:sldId id="1166" r:id="rId25"/>
    <p:sldId id="1139" r:id="rId26"/>
    <p:sldId id="1164" r:id="rId27"/>
    <p:sldId id="1185" r:id="rId28"/>
    <p:sldId id="1147" r:id="rId29"/>
    <p:sldId id="1152" r:id="rId30"/>
    <p:sldId id="1179" r:id="rId31"/>
    <p:sldId id="1134" r:id="rId32"/>
    <p:sldId id="1176" r:id="rId33"/>
    <p:sldId id="1148" r:id="rId34"/>
    <p:sldId id="1181" r:id="rId35"/>
    <p:sldId id="1178" r:id="rId36"/>
    <p:sldId id="1180" r:id="rId37"/>
    <p:sldId id="1157" r:id="rId38"/>
    <p:sldId id="1159" r:id="rId39"/>
    <p:sldId id="1171" r:id="rId40"/>
    <p:sldId id="1144" r:id="rId41"/>
    <p:sldId id="1143" r:id="rId42"/>
    <p:sldId id="1145" r:id="rId43"/>
    <p:sldId id="1165" r:id="rId4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63"/>
            <p14:sldId id="1182"/>
            <p14:sldId id="1183"/>
            <p14:sldId id="1140"/>
            <p14:sldId id="1142"/>
            <p14:sldId id="1168"/>
            <p14:sldId id="1122"/>
            <p14:sldId id="1150"/>
            <p14:sldId id="1137"/>
            <p14:sldId id="1174"/>
            <p14:sldId id="1175"/>
            <p14:sldId id="1177"/>
            <p14:sldId id="1156"/>
            <p14:sldId id="1169"/>
            <p14:sldId id="1173"/>
            <p14:sldId id="1153"/>
            <p14:sldId id="1172"/>
            <p14:sldId id="1154"/>
            <p14:sldId id="1155"/>
            <p14:sldId id="1170"/>
            <p14:sldId id="1162"/>
            <p14:sldId id="1166"/>
            <p14:sldId id="1139"/>
            <p14:sldId id="1164"/>
            <p14:sldId id="1185"/>
            <p14:sldId id="1147"/>
            <p14:sldId id="1152"/>
            <p14:sldId id="1179"/>
            <p14:sldId id="1134"/>
            <p14:sldId id="1176"/>
            <p14:sldId id="1148"/>
            <p14:sldId id="1181"/>
            <p14:sldId id="1178"/>
            <p14:sldId id="1180"/>
            <p14:sldId id="1157"/>
            <p14:sldId id="1159"/>
            <p14:sldId id="1171"/>
            <p14:sldId id="1144"/>
            <p14:sldId id="1143"/>
            <p14:sldId id="1145"/>
            <p14:sldId id="116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578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38B8-BB2C-A8B7-16A4-3F8EACD4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B57CA-BA10-3352-19EA-D3CAC9567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564292-8FEE-4D10-C74E-D63D0920C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79169-D6EC-9329-6FEA-95C8DCE7E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352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622A-5EB3-C166-37BD-9E686522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CA25D2-A55E-B18B-1A22-4706CA78A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7B729D-8C3E-07E1-24E0-0B74AB0F1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24529F-A108-5A0C-D55F-6269EA6A1C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18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log.gopenai.com/wrapping-up-cnn-models-shifting-focus-to-attention-based-architectures-5029b87034d9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0.png"/><Relationship Id="rId7" Type="http://schemas.openxmlformats.org/officeDocument/2006/relationships/image" Target="../media/image7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hyperlink" Target="https://www.youtube.com/watch?v=qhXZsFVxGKo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yunsooworld.tistory.com/entry/Inception-v1v2v3v4%EB%8A%94-%EB%AC%B4%EC%97%87%EC%9D%B4-%EB%8B%A4%EB%A5%B8%EA%B0%80-CNN%EC%9D%98-%EC%97%AD%EC%82%AC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f-HUcqdCr4&amp;t=633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9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 err="1">
                <a:solidFill>
                  <a:schemeClr val="bg1"/>
                </a:solidFill>
              </a:rPr>
              <a:t>ConvNet</a:t>
            </a:r>
            <a:r>
              <a:rPr lang="en-US" altLang="ko-KR" sz="4400" dirty="0">
                <a:solidFill>
                  <a:schemeClr val="bg1"/>
                </a:solidFill>
              </a:rPr>
              <a:t> architecture patterns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AC9512-A7C4-45EA-E159-BF364BA59913}"/>
              </a:ext>
            </a:extLst>
          </p:cNvPr>
          <p:cNvSpPr/>
          <p:nvPr/>
        </p:nvSpPr>
        <p:spPr>
          <a:xfrm>
            <a:off x="301473" y="1700179"/>
            <a:ext cx="9713384" cy="585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0" y="1591322"/>
            <a:ext cx="10251877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The modularity-hierarchy-reuse formula for model architecture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An overview of standard best practices for building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normalization, and 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Ongoing design trends for computer vision models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9233762-C29B-53D0-77DD-F171184CF35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E169-5864-5FB4-913E-88625A66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D787613F-C577-C7D2-CEC0-D634EE752E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9C1BA-9FB7-F6A5-32BF-AB696FAF9077}"/>
              </a:ext>
            </a:extLst>
          </p:cNvPr>
          <p:cNvSpPr txBox="1"/>
          <p:nvPr/>
        </p:nvSpPr>
        <p:spPr>
          <a:xfrm>
            <a:off x="619648" y="6076950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</a:t>
            </a:r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-models</a:t>
            </a:r>
            <a:endParaRPr lang="ko-KR" altLang="en-US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5B23087-E6C9-8A39-9F2A-4EE3698F9C6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EC4848-65A9-82AB-2FF7-7C34C90B4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7" y="1385887"/>
            <a:ext cx="10153259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31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752F-40B9-7D21-28D0-6E0EEB09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6BD0A0C1-DFBD-9E04-7826-E38CEFB38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226546-AD54-EF05-D6CB-D6AF84B258F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26" name="Picture 2" descr="LEGO® Art Gustav Klimt – The Kiss showing a brick-built 3D artwork made up of various elements, like circles and studs.">
            <a:extLst>
              <a:ext uri="{FF2B5EF4-FFF2-40B4-BE49-F238E27FC236}">
                <a16:creationId xmlns:a16="http://schemas.microsoft.com/office/drawing/2014/main" id="{AC6F743F-AE92-9119-1B55-6B93C6175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1" y="2676525"/>
            <a:ext cx="35242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테이블 위에 앉아있는 다채로운 레고 더미">
            <a:extLst>
              <a:ext uri="{FF2B5EF4-FFF2-40B4-BE49-F238E27FC236}">
                <a16:creationId xmlns:a16="http://schemas.microsoft.com/office/drawing/2014/main" id="{E751A433-46C2-6B7D-D93B-775CB71D5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2723691"/>
            <a:ext cx="4303712" cy="288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B5F37B-6316-BD45-B98C-72761ED72998}"/>
              </a:ext>
            </a:extLst>
          </p:cNvPr>
          <p:cNvSpPr txBox="1"/>
          <p:nvPr/>
        </p:nvSpPr>
        <p:spPr>
          <a:xfrm>
            <a:off x="552450" y="1253609"/>
            <a:ext cx="11381856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아키텍처는 레이어의 종류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연결 방식의 집합으로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효율적인 모델 설계를 위한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모듈성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(Modularity),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계층구조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(Hierarchy),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재사용성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(Reuse)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Framework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기초로 활용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E490F23-CBC8-3549-0682-651570C3C5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5752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28855-45D2-C990-E9D1-8045E227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757EAE72-AB84-7120-2F49-709333CD4A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BE3D12-1E46-1799-FDBF-BB43A91AF7D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00400AF-868E-CEA5-1352-06AE1684F8C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Model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4BE50-7C01-B4DF-563B-2055BD4CBC89}"/>
              </a:ext>
            </a:extLst>
          </p:cNvPr>
          <p:cNvSpPr txBox="1"/>
          <p:nvPr/>
        </p:nvSpPr>
        <p:spPr>
          <a:xfrm>
            <a:off x="201696" y="1396406"/>
            <a:ext cx="11315181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rtl="0" fontAlgn="base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ko-KR" altLang="en-US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모듈</a:t>
            </a:r>
            <a:r>
              <a:rPr lang="en-US" altLang="ko-KR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(Modularity):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신경망의 각 레이어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(Layer)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블록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(Block)</a:t>
            </a:r>
            <a:endParaRPr lang="en-US" altLang="ko-KR" sz="18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indent="-285750" rtl="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계층 구조</a:t>
            </a:r>
            <a:r>
              <a:rPr lang="en-US" altLang="ko-KR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(Hierarchy):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레이어를 순차적으로 깊게 쌓아 올린 스택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(Stack)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</a:t>
            </a:r>
            <a:endParaRPr lang="ko-KR" altLang="en-US" sz="18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indent="-285750" rtl="0" fontAlgn="base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ko-KR" altLang="en-US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재사용성</a:t>
            </a:r>
            <a:r>
              <a:rPr lang="en-US" altLang="ko-KR" sz="18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(Reuse):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이미지의 여러 공간적 위치에 동일한 커널 가중치를 적용하는 </a:t>
            </a:r>
            <a:r>
              <a:rPr lang="ko-KR" altLang="en-US" sz="16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(Convolution)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연산</a:t>
            </a:r>
            <a:endParaRPr lang="ko-KR" altLang="en-US" sz="18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C348466-368E-8F55-8698-72DFCC2D50FF}"/>
              </a:ext>
            </a:extLst>
          </p:cNvPr>
          <p:cNvSpPr txBox="1">
            <a:spLocks/>
          </p:cNvSpPr>
          <p:nvPr/>
        </p:nvSpPr>
        <p:spPr>
          <a:xfrm>
            <a:off x="1004844" y="5815835"/>
            <a:ext cx="3119481" cy="38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6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Inception v1</a:t>
            </a:r>
            <a:r>
              <a:rPr lang="ko-KR" altLang="en-US" sz="16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model(</a:t>
            </a:r>
            <a:r>
              <a:rPr lang="en-US" altLang="ko-KR" sz="16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GoogLeNet</a:t>
            </a:r>
            <a:r>
              <a:rPr lang="en-US" altLang="ko-KR" sz="16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4A6E8422-F00A-4592-067D-7FA71B4F4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864" y="3429000"/>
            <a:ext cx="10682341" cy="238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99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F97E-54DF-1D20-E38B-DB907E38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F31A72F-9D44-6E7F-113F-2480DF13EC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modularity-hierarchy-reuse formula for model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BA64A-2761-A0AC-363E-6EADC1C24360}"/>
              </a:ext>
            </a:extLst>
          </p:cNvPr>
          <p:cNvSpPr txBox="1"/>
          <p:nvPr/>
        </p:nvSpPr>
        <p:spPr>
          <a:xfrm>
            <a:off x="566435" y="1264803"/>
            <a:ext cx="11097230" cy="470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ception은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수학적 추론(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Deduction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)에서 시작되어 실험적 시행착오(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통해 완성된 결합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수학적 가설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프랑수아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숄레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François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Chollet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)가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구글 근무 당시 기존의 고성능 모델이었던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hlinkClick r:id="rId2" action="ppaction://hlinksldjump"/>
              </a:rPr>
              <a:t>Inception(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  <a:hlinkClick r:id="rId2" action="ppaction://hlinksldjump"/>
              </a:rPr>
              <a:t>인셉션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hlinkClick r:id="rId2" action="ppaction://hlinksldjump"/>
              </a:rPr>
              <a:t>)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  <a:hlinkClick r:id="rId2" action="ppaction://hlinksldjump"/>
              </a:rPr>
              <a:t>아키텍처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를 바탕으로 ＂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연산은 결국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공간(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Spatial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특징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채널(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특징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을 완전히(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Extremly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분리하는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수학적 가설(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)을 세움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공간과 채널을 분리하여 가설 공간을 압축하고 파라미터 수를 획기적으로 줄이는 뼈대를 만들어 주어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경사 하강법이 덜 멍청하게 움직일 수 있도록 함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엔지니어링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가설을 바탕으로 일반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합성곱을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연산(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한 번, 채널 연산(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Pointwise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한 번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분해하는 구조를 도출한 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Extreme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Inception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은 실제 데이터가 가장 매끄럽게 흐르고 수렴하는 최적의 레이어 조합과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를 찾아내는 무수한 실험과 시행착오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(Trial and Error)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엔지니어링을 수행하여 완성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결론적으로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수학적 통찰로 거대한 지도를 그리고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실험적 시행착오로 최적의 지름길을 닦아서 발견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C1F216-9276-3BFC-775A-7B3B39A36B8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1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BB8A-648A-E900-3385-9CB85EEF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EA353B-EC59-0251-B935-1F2E364D434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modularity-hierarchy-reuse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DB880-5C21-6151-A36E-65E28F790707}"/>
              </a:ext>
            </a:extLst>
          </p:cNvPr>
          <p:cNvSpPr txBox="1"/>
          <p:nvPr/>
        </p:nvSpPr>
        <p:spPr>
          <a:xfrm>
            <a:off x="680735" y="1647438"/>
            <a:ext cx="10830530" cy="420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더 깊은 계층 구조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(Deeper hierarchies)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본질적으로 더 우수함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특성의 재사용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(Feature reuse)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촉진하고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결과적으로 추상화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(Abstraction)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가능하게 만들기 때문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일반적으로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공간이 좁고 층이 깊게 쌓인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 deep stack of narrow layers)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공간이 넓고 층이 얕은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 shallow stack of large layers)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보다 더 나은 성능을 발휘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레이어를 얼마나 깊게 쌓을 수록 멍청한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(Gradient descent)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그래디언트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소실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(Vanishing gradients)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문제가 발생되어 한계가 존재하게 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	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필수적인 모델 아키텍처 패턴인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잔차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연결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(Residual connections)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필요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5D55D18-D0FC-A729-EBB6-B1D935643E9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46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D3FC-B032-226A-A49E-FF01F761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CF555A2-F51F-8EB3-096A-1ED20E5AB7DA}"/>
              </a:ext>
            </a:extLst>
          </p:cNvPr>
          <p:cNvSpPr/>
          <p:nvPr/>
        </p:nvSpPr>
        <p:spPr>
          <a:xfrm>
            <a:off x="947057" y="2930266"/>
            <a:ext cx="9067800" cy="585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CDEEA3-F15B-F199-F2F5-AC6BA89C004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162F1-BFA7-1AF8-72D0-652557366CCC}"/>
              </a:ext>
            </a:extLst>
          </p:cNvPr>
          <p:cNvSpPr txBox="1"/>
          <p:nvPr/>
        </p:nvSpPr>
        <p:spPr>
          <a:xfrm>
            <a:off x="577530" y="1591322"/>
            <a:ext cx="10251877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The modularity-hierarchy-reuse formula for model architecture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An overview of standard best practices for building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normalization, and 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Ongoing design trends for computer vision models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8CD52F0-03EC-C387-2540-76EB08FF21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075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CCC-4735-F731-4379-48451D09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0850BA0-0F12-F065-F39D-E210B0964FC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Telephone Game(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말 전달하기 게임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5489D-6F2A-9B19-C55E-FAB775A3AAFD}"/>
              </a:ext>
            </a:extLst>
          </p:cNvPr>
          <p:cNvSpPr txBox="1"/>
          <p:nvPr/>
        </p:nvSpPr>
        <p:spPr>
          <a:xfrm>
            <a:off x="1370616" y="5666929"/>
            <a:ext cx="740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	am	  your	      father</a:t>
            </a:r>
            <a:endParaRPr lang="ko-KR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104" name="Picture 8" descr="Parlour Games During the Holidays: Hapny FolvdaKs">
            <a:extLst>
              <a:ext uri="{FF2B5EF4-FFF2-40B4-BE49-F238E27FC236}">
                <a16:creationId xmlns:a16="http://schemas.microsoft.com/office/drawing/2014/main" id="{2F58ED32-CC7E-7F05-8BEF-5EB9936AE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041" y="1841058"/>
            <a:ext cx="5403850" cy="36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660F56E-9182-C81F-5FEB-0CB0EE4BFAD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90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1D9A-7CBE-F75F-5059-842010DD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79E419E-89B5-0E15-F4A0-E1CB6BDBD0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pic>
        <p:nvPicPr>
          <p:cNvPr id="9218" name="Picture 2" descr="주황색 원뿔형 도로로 둘러싸인 도로 폐쇄 표지판">
            <a:extLst>
              <a:ext uri="{FF2B5EF4-FFF2-40B4-BE49-F238E27FC236}">
                <a16:creationId xmlns:a16="http://schemas.microsoft.com/office/drawing/2014/main" id="{1DC91952-4BFE-D043-1E17-86F8566CE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4" y="1895476"/>
            <a:ext cx="513556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0E2AB52-739D-ECDD-F1C4-46B520D48C1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53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5B67-A356-B4BE-0671-F08D8841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65A2223-219C-B79C-18CC-D450BC0B1BF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Vanishing/Exploding gradients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4AC0F-AE85-AC71-DEBC-1A5228575128}"/>
              </a:ext>
            </a:extLst>
          </p:cNvPr>
          <p:cNvSpPr txBox="1"/>
          <p:nvPr/>
        </p:nvSpPr>
        <p:spPr>
          <a:xfrm>
            <a:off x="616189" y="1305493"/>
            <a:ext cx="10952480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입력변수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출력변수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7 Hidden layers 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단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없다고 가정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DAB61AB-4902-0606-72CE-4A674F15B1F9}"/>
              </a:ext>
            </a:extLst>
          </p:cNvPr>
          <p:cNvSpPr/>
          <p:nvPr/>
        </p:nvSpPr>
        <p:spPr>
          <a:xfrm>
            <a:off x="1388693" y="2476690"/>
            <a:ext cx="434109" cy="43410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F3ABDE-F74D-4FF4-BB44-5680ED6C7981}"/>
              </a:ext>
            </a:extLst>
          </p:cNvPr>
          <p:cNvSpPr/>
          <p:nvPr/>
        </p:nvSpPr>
        <p:spPr>
          <a:xfrm>
            <a:off x="1388693" y="3354144"/>
            <a:ext cx="434109" cy="43410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96118A1-7A2C-D0B1-A360-813CBDE5D152}"/>
              </a:ext>
            </a:extLst>
          </p:cNvPr>
          <p:cNvSpPr/>
          <p:nvPr/>
        </p:nvSpPr>
        <p:spPr>
          <a:xfrm>
            <a:off x="2483205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FB534AC-8928-CBF1-72B6-6A3551A2BF88}"/>
              </a:ext>
            </a:extLst>
          </p:cNvPr>
          <p:cNvSpPr/>
          <p:nvPr/>
        </p:nvSpPr>
        <p:spPr>
          <a:xfrm>
            <a:off x="2483205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57134B-8DA5-9568-5D54-13899520EFC9}"/>
              </a:ext>
            </a:extLst>
          </p:cNvPr>
          <p:cNvSpPr/>
          <p:nvPr/>
        </p:nvSpPr>
        <p:spPr>
          <a:xfrm>
            <a:off x="3577717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4CB94B7-0BB4-F721-11D5-AD9C3C04051A}"/>
              </a:ext>
            </a:extLst>
          </p:cNvPr>
          <p:cNvSpPr/>
          <p:nvPr/>
        </p:nvSpPr>
        <p:spPr>
          <a:xfrm>
            <a:off x="3577717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3F0224B-95A9-158D-0871-3BE7D30A7EA2}"/>
              </a:ext>
            </a:extLst>
          </p:cNvPr>
          <p:cNvSpPr/>
          <p:nvPr/>
        </p:nvSpPr>
        <p:spPr>
          <a:xfrm>
            <a:off x="4672229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5BD2F3D-21DA-FD7B-58B3-F7BFBDEDB25D}"/>
              </a:ext>
            </a:extLst>
          </p:cNvPr>
          <p:cNvSpPr/>
          <p:nvPr/>
        </p:nvSpPr>
        <p:spPr>
          <a:xfrm>
            <a:off x="4672229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4E5A1BA-9DCD-F67B-223B-F4B500AE8B41}"/>
              </a:ext>
            </a:extLst>
          </p:cNvPr>
          <p:cNvSpPr/>
          <p:nvPr/>
        </p:nvSpPr>
        <p:spPr>
          <a:xfrm>
            <a:off x="5766741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52A1C47-C550-ED41-1F0E-5401E26AEFF3}"/>
              </a:ext>
            </a:extLst>
          </p:cNvPr>
          <p:cNvSpPr/>
          <p:nvPr/>
        </p:nvSpPr>
        <p:spPr>
          <a:xfrm>
            <a:off x="5766741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94665F9-9B16-2537-909B-C5DB1035BC60}"/>
              </a:ext>
            </a:extLst>
          </p:cNvPr>
          <p:cNvSpPr/>
          <p:nvPr/>
        </p:nvSpPr>
        <p:spPr>
          <a:xfrm>
            <a:off x="6861253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DFC4854-4A2D-C0E3-D076-886EC9B55C91}"/>
              </a:ext>
            </a:extLst>
          </p:cNvPr>
          <p:cNvSpPr/>
          <p:nvPr/>
        </p:nvSpPr>
        <p:spPr>
          <a:xfrm>
            <a:off x="6861253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D5B56BF-7D85-31E9-A609-D1469E0E82D1}"/>
              </a:ext>
            </a:extLst>
          </p:cNvPr>
          <p:cNvSpPr/>
          <p:nvPr/>
        </p:nvSpPr>
        <p:spPr>
          <a:xfrm>
            <a:off x="7955765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C9DC191-BBF6-5C97-3737-0494AB07AA55}"/>
              </a:ext>
            </a:extLst>
          </p:cNvPr>
          <p:cNvSpPr/>
          <p:nvPr/>
        </p:nvSpPr>
        <p:spPr>
          <a:xfrm>
            <a:off x="7955765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DA94BDA-5C63-04A6-E841-AA3C504AC4D9}"/>
              </a:ext>
            </a:extLst>
          </p:cNvPr>
          <p:cNvSpPr/>
          <p:nvPr/>
        </p:nvSpPr>
        <p:spPr>
          <a:xfrm>
            <a:off x="9050277" y="2476690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6D9EDF6-BF13-DFC6-F0A6-724BCF12146A}"/>
              </a:ext>
            </a:extLst>
          </p:cNvPr>
          <p:cNvSpPr/>
          <p:nvPr/>
        </p:nvSpPr>
        <p:spPr>
          <a:xfrm>
            <a:off x="9050277" y="3354144"/>
            <a:ext cx="434109" cy="434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3310646-FB79-7409-3833-E3268DB6D249}"/>
              </a:ext>
            </a:extLst>
          </p:cNvPr>
          <p:cNvSpPr/>
          <p:nvPr/>
        </p:nvSpPr>
        <p:spPr>
          <a:xfrm>
            <a:off x="10015248" y="2947744"/>
            <a:ext cx="434109" cy="4341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942CDD4-F3A0-2E1E-2D0E-873296680E3F}"/>
              </a:ext>
            </a:extLst>
          </p:cNvPr>
          <p:cNvCxnSpPr>
            <a:stCxn id="2" idx="6"/>
            <a:endCxn id="9" idx="2"/>
          </p:cNvCxnSpPr>
          <p:nvPr/>
        </p:nvCxnSpPr>
        <p:spPr>
          <a:xfrm>
            <a:off x="1822802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5C8C6A4-FBE2-C63E-75E1-256AD9908BF5}"/>
              </a:ext>
            </a:extLst>
          </p:cNvPr>
          <p:cNvCxnSpPr>
            <a:cxnSpLocks/>
            <a:stCxn id="2" idx="6"/>
            <a:endCxn id="13" idx="2"/>
          </p:cNvCxnSpPr>
          <p:nvPr/>
        </p:nvCxnSpPr>
        <p:spPr>
          <a:xfrm>
            <a:off x="1822802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E7B81FA-8A69-8F74-1F44-E4249E0ABB15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1822802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41FD153-CDCD-D303-2BA2-9874AF2C3C90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1822802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F2AFFF3-6D77-5E6A-986A-39BC77D92A0F}"/>
              </a:ext>
            </a:extLst>
          </p:cNvPr>
          <p:cNvCxnSpPr/>
          <p:nvPr/>
        </p:nvCxnSpPr>
        <p:spPr>
          <a:xfrm>
            <a:off x="2917313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4693179-929E-DAC1-8B1E-E29A0C1D2F6F}"/>
              </a:ext>
            </a:extLst>
          </p:cNvPr>
          <p:cNvCxnSpPr>
            <a:cxnSpLocks/>
          </p:cNvCxnSpPr>
          <p:nvPr/>
        </p:nvCxnSpPr>
        <p:spPr>
          <a:xfrm>
            <a:off x="2917313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9A4AC6E-3310-779B-7ED8-0A660C65E006}"/>
              </a:ext>
            </a:extLst>
          </p:cNvPr>
          <p:cNvCxnSpPr>
            <a:cxnSpLocks/>
          </p:cNvCxnSpPr>
          <p:nvPr/>
        </p:nvCxnSpPr>
        <p:spPr>
          <a:xfrm flipV="1">
            <a:off x="2917313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16C5FF4-4F16-D41D-394A-7D35CA9FDDD3}"/>
              </a:ext>
            </a:extLst>
          </p:cNvPr>
          <p:cNvCxnSpPr>
            <a:cxnSpLocks/>
          </p:cNvCxnSpPr>
          <p:nvPr/>
        </p:nvCxnSpPr>
        <p:spPr>
          <a:xfrm>
            <a:off x="2917313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D7E0769-00E1-D9F4-5198-6743AC6F522A}"/>
              </a:ext>
            </a:extLst>
          </p:cNvPr>
          <p:cNvCxnSpPr/>
          <p:nvPr/>
        </p:nvCxnSpPr>
        <p:spPr>
          <a:xfrm>
            <a:off x="4011826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A48A63C-6D8B-7C39-FBD3-7EF09D311268}"/>
              </a:ext>
            </a:extLst>
          </p:cNvPr>
          <p:cNvCxnSpPr>
            <a:cxnSpLocks/>
          </p:cNvCxnSpPr>
          <p:nvPr/>
        </p:nvCxnSpPr>
        <p:spPr>
          <a:xfrm>
            <a:off x="4011826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B361A3B-6642-83E8-A60E-5D01D80D2E25}"/>
              </a:ext>
            </a:extLst>
          </p:cNvPr>
          <p:cNvCxnSpPr>
            <a:cxnSpLocks/>
          </p:cNvCxnSpPr>
          <p:nvPr/>
        </p:nvCxnSpPr>
        <p:spPr>
          <a:xfrm flipV="1">
            <a:off x="4011826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648A0CF-31DC-3A2C-237E-64AA50F983DA}"/>
              </a:ext>
            </a:extLst>
          </p:cNvPr>
          <p:cNvCxnSpPr>
            <a:cxnSpLocks/>
          </p:cNvCxnSpPr>
          <p:nvPr/>
        </p:nvCxnSpPr>
        <p:spPr>
          <a:xfrm>
            <a:off x="4011826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9A592AF-54B9-D0A1-E0DA-6291D6E92F29}"/>
              </a:ext>
            </a:extLst>
          </p:cNvPr>
          <p:cNvCxnSpPr/>
          <p:nvPr/>
        </p:nvCxnSpPr>
        <p:spPr>
          <a:xfrm>
            <a:off x="5106337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7E690F9-C48A-750C-E30B-5EA116A62CD1}"/>
              </a:ext>
            </a:extLst>
          </p:cNvPr>
          <p:cNvCxnSpPr>
            <a:cxnSpLocks/>
          </p:cNvCxnSpPr>
          <p:nvPr/>
        </p:nvCxnSpPr>
        <p:spPr>
          <a:xfrm>
            <a:off x="5106337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EFB7F7CA-3F3D-DB47-D9D4-D029DFD466BD}"/>
              </a:ext>
            </a:extLst>
          </p:cNvPr>
          <p:cNvCxnSpPr>
            <a:cxnSpLocks/>
          </p:cNvCxnSpPr>
          <p:nvPr/>
        </p:nvCxnSpPr>
        <p:spPr>
          <a:xfrm flipV="1">
            <a:off x="5106337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69BFE1-56F8-B5EB-027E-4B05E2379463}"/>
              </a:ext>
            </a:extLst>
          </p:cNvPr>
          <p:cNvCxnSpPr>
            <a:cxnSpLocks/>
          </p:cNvCxnSpPr>
          <p:nvPr/>
        </p:nvCxnSpPr>
        <p:spPr>
          <a:xfrm>
            <a:off x="5106337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676D226-8A34-A7F8-5658-40DBE3D397E7}"/>
              </a:ext>
            </a:extLst>
          </p:cNvPr>
          <p:cNvCxnSpPr/>
          <p:nvPr/>
        </p:nvCxnSpPr>
        <p:spPr>
          <a:xfrm>
            <a:off x="6200848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790E272-0099-FBEA-0917-248CA4D6A4E0}"/>
              </a:ext>
            </a:extLst>
          </p:cNvPr>
          <p:cNvCxnSpPr>
            <a:cxnSpLocks/>
          </p:cNvCxnSpPr>
          <p:nvPr/>
        </p:nvCxnSpPr>
        <p:spPr>
          <a:xfrm>
            <a:off x="6200848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94C0631-9C49-6791-5480-4EE212F630C2}"/>
              </a:ext>
            </a:extLst>
          </p:cNvPr>
          <p:cNvCxnSpPr>
            <a:cxnSpLocks/>
          </p:cNvCxnSpPr>
          <p:nvPr/>
        </p:nvCxnSpPr>
        <p:spPr>
          <a:xfrm flipV="1">
            <a:off x="6200848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B7B887C-BE1F-5082-154C-8D2EDC300489}"/>
              </a:ext>
            </a:extLst>
          </p:cNvPr>
          <p:cNvCxnSpPr>
            <a:cxnSpLocks/>
          </p:cNvCxnSpPr>
          <p:nvPr/>
        </p:nvCxnSpPr>
        <p:spPr>
          <a:xfrm>
            <a:off x="6200848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43FDA97-CF93-25B8-65BF-4E14BCFB10AE}"/>
              </a:ext>
            </a:extLst>
          </p:cNvPr>
          <p:cNvCxnSpPr/>
          <p:nvPr/>
        </p:nvCxnSpPr>
        <p:spPr>
          <a:xfrm>
            <a:off x="7295359" y="2701070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4E6EBDF-91BB-BF68-A7E1-FEEE6E4F1878}"/>
              </a:ext>
            </a:extLst>
          </p:cNvPr>
          <p:cNvCxnSpPr>
            <a:cxnSpLocks/>
          </p:cNvCxnSpPr>
          <p:nvPr/>
        </p:nvCxnSpPr>
        <p:spPr>
          <a:xfrm>
            <a:off x="7295359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9B26608-9635-6944-9F2E-F243B4EBC14C}"/>
              </a:ext>
            </a:extLst>
          </p:cNvPr>
          <p:cNvCxnSpPr>
            <a:cxnSpLocks/>
          </p:cNvCxnSpPr>
          <p:nvPr/>
        </p:nvCxnSpPr>
        <p:spPr>
          <a:xfrm flipV="1">
            <a:off x="7295359" y="2701070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EB3D4EA-E6DF-6DBB-DECD-E6F5C8B655D0}"/>
              </a:ext>
            </a:extLst>
          </p:cNvPr>
          <p:cNvCxnSpPr>
            <a:cxnSpLocks/>
          </p:cNvCxnSpPr>
          <p:nvPr/>
        </p:nvCxnSpPr>
        <p:spPr>
          <a:xfrm>
            <a:off x="7295359" y="3578524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961781F-7859-B25B-7315-74B707512331}"/>
              </a:ext>
            </a:extLst>
          </p:cNvPr>
          <p:cNvCxnSpPr/>
          <p:nvPr/>
        </p:nvCxnSpPr>
        <p:spPr>
          <a:xfrm>
            <a:off x="8389874" y="2693745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EB7A26C-946C-80D0-9488-0B856A71B892}"/>
              </a:ext>
            </a:extLst>
          </p:cNvPr>
          <p:cNvCxnSpPr>
            <a:cxnSpLocks/>
          </p:cNvCxnSpPr>
          <p:nvPr/>
        </p:nvCxnSpPr>
        <p:spPr>
          <a:xfrm>
            <a:off x="8389874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C5BB28E-3D0E-D886-4488-5A0A0580C20D}"/>
              </a:ext>
            </a:extLst>
          </p:cNvPr>
          <p:cNvCxnSpPr>
            <a:cxnSpLocks/>
          </p:cNvCxnSpPr>
          <p:nvPr/>
        </p:nvCxnSpPr>
        <p:spPr>
          <a:xfrm flipV="1">
            <a:off x="8389874" y="2693745"/>
            <a:ext cx="660403" cy="877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9BF15D1-AB72-0B2F-EF7B-67A1B53096F4}"/>
              </a:ext>
            </a:extLst>
          </p:cNvPr>
          <p:cNvCxnSpPr>
            <a:cxnSpLocks/>
          </p:cNvCxnSpPr>
          <p:nvPr/>
        </p:nvCxnSpPr>
        <p:spPr>
          <a:xfrm>
            <a:off x="8389874" y="3571199"/>
            <a:ext cx="66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364A96C-AB40-5914-28EF-C070B72D129E}"/>
              </a:ext>
            </a:extLst>
          </p:cNvPr>
          <p:cNvCxnSpPr>
            <a:cxnSpLocks/>
            <a:stCxn id="38" idx="6"/>
            <a:endCxn id="42" idx="2"/>
          </p:cNvCxnSpPr>
          <p:nvPr/>
        </p:nvCxnSpPr>
        <p:spPr>
          <a:xfrm>
            <a:off x="9484386" y="2693745"/>
            <a:ext cx="530862" cy="47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9C5D5AF-575D-B7DF-753E-0A4406FB3854}"/>
              </a:ext>
            </a:extLst>
          </p:cNvPr>
          <p:cNvCxnSpPr>
            <a:cxnSpLocks/>
            <a:stCxn id="40" idx="6"/>
            <a:endCxn id="42" idx="2"/>
          </p:cNvCxnSpPr>
          <p:nvPr/>
        </p:nvCxnSpPr>
        <p:spPr>
          <a:xfrm flipV="1">
            <a:off x="9484386" y="3164799"/>
            <a:ext cx="530862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40BD79-EC49-C3FC-A200-D8043BEFBDBB}"/>
                  </a:ext>
                </a:extLst>
              </p:cNvPr>
              <p:cNvSpPr txBox="1"/>
              <p:nvPr/>
            </p:nvSpPr>
            <p:spPr>
              <a:xfrm>
                <a:off x="817285" y="2448982"/>
                <a:ext cx="3809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40BD79-EC49-C3FC-A200-D8043BEFB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85" y="2448982"/>
                <a:ext cx="380938" cy="369332"/>
              </a:xfrm>
              <a:prstGeom prst="rect">
                <a:avLst/>
              </a:prstGeom>
              <a:blipFill>
                <a:blip r:embed="rId2"/>
                <a:stretch>
                  <a:fillRect l="-7937" r="-476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9817EE4-9443-FA46-D1C8-E1A0FC368F93}"/>
                  </a:ext>
                </a:extLst>
              </p:cNvPr>
              <p:cNvSpPr txBox="1"/>
              <p:nvPr/>
            </p:nvSpPr>
            <p:spPr>
              <a:xfrm>
                <a:off x="831289" y="3236902"/>
                <a:ext cx="388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9817EE4-9443-FA46-D1C8-E1A0FC368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89" y="3236902"/>
                <a:ext cx="388055" cy="369332"/>
              </a:xfrm>
              <a:prstGeom prst="rect">
                <a:avLst/>
              </a:prstGeom>
              <a:blipFill>
                <a:blip r:embed="rId3"/>
                <a:stretch>
                  <a:fillRect l="-7813" r="-468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5C7F0C1-5CB5-DC57-CD58-E0885BBD64AB}"/>
                  </a:ext>
                </a:extLst>
              </p:cNvPr>
              <p:cNvSpPr txBox="1"/>
              <p:nvPr/>
            </p:nvSpPr>
            <p:spPr>
              <a:xfrm>
                <a:off x="11172865" y="2998667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5C7F0C1-5CB5-DC57-CD58-E0885BBD6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65" y="2998667"/>
                <a:ext cx="261738" cy="369332"/>
              </a:xfrm>
              <a:prstGeom prst="rect">
                <a:avLst/>
              </a:prstGeom>
              <a:blipFill>
                <a:blip r:embed="rId4"/>
                <a:stretch>
                  <a:fillRect l="-25581" t="-15000" r="-74419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58D2BB3-428A-76B0-BEAD-59DF5F61F84D}"/>
              </a:ext>
            </a:extLst>
          </p:cNvPr>
          <p:cNvCxnSpPr>
            <a:cxnSpLocks/>
            <a:stCxn id="42" idx="6"/>
            <a:endCxn id="88" idx="1"/>
          </p:cNvCxnSpPr>
          <p:nvPr/>
        </p:nvCxnSpPr>
        <p:spPr>
          <a:xfrm>
            <a:off x="10449357" y="3164799"/>
            <a:ext cx="723508" cy="18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BBC89C-C0C9-FCC7-BF54-7F944977BEB7}"/>
                  </a:ext>
                </a:extLst>
              </p:cNvPr>
              <p:cNvSpPr txBox="1"/>
              <p:nvPr/>
            </p:nvSpPr>
            <p:spPr>
              <a:xfrm>
                <a:off x="5896048" y="5208350"/>
                <a:ext cx="1190839" cy="51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ko-KR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BBC89C-C0C9-FCC7-BF54-7F944977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48" y="5208350"/>
                <a:ext cx="1190839" cy="5195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6D79763-1980-A7A3-0921-DE4C54F53472}"/>
                  </a:ext>
                </a:extLst>
              </p:cNvPr>
              <p:cNvSpPr txBox="1"/>
              <p:nvPr/>
            </p:nvSpPr>
            <p:spPr>
              <a:xfrm>
                <a:off x="3238824" y="5208350"/>
                <a:ext cx="1190839" cy="51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ko-KR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ko-KR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6D79763-1980-A7A3-0921-DE4C54F5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824" y="5208350"/>
                <a:ext cx="1190839" cy="5195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F628494-51E9-62E7-EE3C-510B3037BDAE}"/>
                  </a:ext>
                </a:extLst>
              </p:cNvPr>
              <p:cNvSpPr txBox="1"/>
              <p:nvPr/>
            </p:nvSpPr>
            <p:spPr>
              <a:xfrm>
                <a:off x="5080220" y="5273002"/>
                <a:ext cx="771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F628494-51E9-62E7-EE3C-510B3037B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220" y="5273002"/>
                <a:ext cx="771430" cy="369332"/>
              </a:xfrm>
              <a:prstGeom prst="rect">
                <a:avLst/>
              </a:prstGeom>
              <a:blipFill>
                <a:blip r:embed="rId7"/>
                <a:stretch>
                  <a:fillRect l="-3937" r="-2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9FDCD64-68F1-3345-1CDE-818DCB9FB800}"/>
                  </a:ext>
                </a:extLst>
              </p:cNvPr>
              <p:cNvSpPr txBox="1"/>
              <p:nvPr/>
            </p:nvSpPr>
            <p:spPr>
              <a:xfrm>
                <a:off x="2275193" y="5262328"/>
                <a:ext cx="771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9FDCD64-68F1-3345-1CDE-818DCB9FB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93" y="5262328"/>
                <a:ext cx="771430" cy="369332"/>
              </a:xfrm>
              <a:prstGeom prst="rect">
                <a:avLst/>
              </a:prstGeom>
              <a:blipFill>
                <a:blip r:embed="rId8"/>
                <a:stretch>
                  <a:fillRect l="-3937" r="-2362"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B8C3B0BA-FD06-65D4-A735-9D9F9A7BE094}"/>
              </a:ext>
            </a:extLst>
          </p:cNvPr>
          <p:cNvSpPr txBox="1"/>
          <p:nvPr/>
        </p:nvSpPr>
        <p:spPr>
          <a:xfrm>
            <a:off x="3243585" y="4665706"/>
            <a:ext cx="2455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049FCA-B6A0-81FB-CDCB-98D0166602B8}"/>
              </a:ext>
            </a:extLst>
          </p:cNvPr>
          <p:cNvSpPr txBox="1"/>
          <p:nvPr/>
        </p:nvSpPr>
        <p:spPr>
          <a:xfrm>
            <a:off x="5818780" y="4665706"/>
            <a:ext cx="1268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Exploding 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D3E6727-D231-F632-A755-3ADAA5B88389}"/>
              </a:ext>
            </a:extLst>
          </p:cNvPr>
          <p:cNvSpPr txBox="1"/>
          <p:nvPr/>
        </p:nvSpPr>
        <p:spPr>
          <a:xfrm>
            <a:off x="6531049" y="6068240"/>
            <a:ext cx="837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ko-KR" altLang="en-US" sz="14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C6B8F31-13A1-05B8-5BC3-A54509DC477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11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95BD-C278-37D8-553D-E232C6A8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BF561D-E751-2F7D-BD07-DAB30C15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1BD2C2A-AF4D-890C-F444-DC517E3365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pic>
        <p:nvPicPr>
          <p:cNvPr id="37" name="Picture 6">
            <a:extLst>
              <a:ext uri="{FF2B5EF4-FFF2-40B4-BE49-F238E27FC236}">
                <a16:creationId xmlns:a16="http://schemas.microsoft.com/office/drawing/2014/main" id="{3609C0FF-BB0B-B653-DA35-1861BC644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64" y="2039604"/>
            <a:ext cx="3620441" cy="329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FB748E-DF8E-D8F4-5773-80BBF3B79E03}"/>
              </a:ext>
            </a:extLst>
          </p:cNvPr>
          <p:cNvSpPr txBox="1"/>
          <p:nvPr/>
        </p:nvSpPr>
        <p:spPr>
          <a:xfrm>
            <a:off x="4220280" y="2039604"/>
            <a:ext cx="7534273" cy="329320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Some input tensor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</a:p>
          <a:p>
            <a:pPr algn="l" latinLnBrk="0">
              <a:buNone/>
            </a:pP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Saves a reference to the original input. This is called the residual.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x</a:t>
            </a:r>
          </a:p>
          <a:p>
            <a:pPr algn="l" latinLnBrk="0">
              <a:buNone/>
            </a:pP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This computation block can potentially be destructive or noisy, and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that's fine.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block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algn="l" latinLnBrk="0">
              <a:buNone/>
            </a:pP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Adds the original input to the layer's output. The final output will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thus always preserve full information about the original input.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add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residual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5BA4E-CD72-7BFD-25E9-EBF855ABCE45}"/>
              </a:ext>
            </a:extLst>
          </p:cNvPr>
          <p:cNvSpPr txBox="1"/>
          <p:nvPr/>
        </p:nvSpPr>
        <p:spPr>
          <a:xfrm>
            <a:off x="4100210" y="1676466"/>
            <a:ext cx="40474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 residual connection in pseudocode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900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84E1-8747-BB18-A9F1-4448F3D6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707D8B6-3BB3-0C3A-116A-AB5EA1220F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81C659-80F4-A3C8-C59E-5FCD12A0A3A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A87C9-3364-E952-8219-A67AF0705A02}"/>
              </a:ext>
            </a:extLst>
          </p:cNvPr>
          <p:cNvSpPr txBox="1"/>
          <p:nvPr/>
        </p:nvSpPr>
        <p:spPr>
          <a:xfrm>
            <a:off x="597113" y="1659285"/>
            <a:ext cx="8127788" cy="427809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b="0" i="0" dirty="0" err="1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activation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 err="1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Sets aside the residual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x</a:t>
            </a: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This is the layer around which we create a residual connection: </a:t>
            </a:r>
          </a:p>
          <a:p>
            <a:pPr algn="l" latinLnBrk="0">
              <a:buNone/>
            </a:pPr>
            <a:r>
              <a:rPr lang="en-US" altLang="ko-KR" sz="1600" dirty="0">
                <a:solidFill>
                  <a:srgbClr val="70809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it increases the number of output filers from 32 to 64. We use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padding="same" to avoid </a:t>
            </a:r>
            <a:r>
              <a:rPr lang="en-US" altLang="ko-KR" sz="1600" b="0" i="0" dirty="0" err="1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downsampling</a:t>
            </a: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due to padding.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64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activation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 err="1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padding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"same"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The residual only had 32 filters, so we use a 1 x 1 Conv2D to project 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it to the correct shape.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64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Now the block output and the residual have the same shape and can be added.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</a:t>
            </a:r>
            <a:r>
              <a:rPr lang="en-US" altLang="ko-KR" sz="1600" b="0" i="0" dirty="0" err="1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residual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C2351-157C-8D72-897C-5928D9C3C6F4}"/>
              </a:ext>
            </a:extLst>
          </p:cNvPr>
          <p:cNvSpPr txBox="1"/>
          <p:nvPr/>
        </p:nvSpPr>
        <p:spPr>
          <a:xfrm>
            <a:off x="475645" y="59547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 The target block changing the number of output filters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B0281-9FD7-E7B0-2BB5-86246DEB9478}"/>
              </a:ext>
            </a:extLst>
          </p:cNvPr>
          <p:cNvSpPr txBox="1"/>
          <p:nvPr/>
        </p:nvSpPr>
        <p:spPr>
          <a:xfrm>
            <a:off x="8896350" y="1670666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(32, 32, 3)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9CBBA-541B-0598-94B9-3B406F450768}"/>
              </a:ext>
            </a:extLst>
          </p:cNvPr>
          <p:cNvSpPr txBox="1"/>
          <p:nvPr/>
        </p:nvSpPr>
        <p:spPr>
          <a:xfrm>
            <a:off x="8896350" y="2039998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(30, 30, 32)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CBA14-2439-0F8D-A16A-E99F7A785CF3}"/>
              </a:ext>
            </a:extLst>
          </p:cNvPr>
          <p:cNvSpPr txBox="1"/>
          <p:nvPr/>
        </p:nvSpPr>
        <p:spPr>
          <a:xfrm>
            <a:off x="8896350" y="2601973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(30, 30, 32)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7CAD5-4B43-06C9-DAEB-8A1339C955B4}"/>
              </a:ext>
            </a:extLst>
          </p:cNvPr>
          <p:cNvSpPr txBox="1"/>
          <p:nvPr/>
        </p:nvSpPr>
        <p:spPr>
          <a:xfrm>
            <a:off x="8896350" y="3817809"/>
            <a:ext cx="1409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(30, 30, 64)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C92D3-9817-7488-4141-2F8DB9F38EB0}"/>
              </a:ext>
            </a:extLst>
          </p:cNvPr>
          <p:cNvSpPr txBox="1"/>
          <p:nvPr/>
        </p:nvSpPr>
        <p:spPr>
          <a:xfrm>
            <a:off x="8896349" y="4847491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(15, 15, 64)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8ECF0-53CF-1D47-CF3D-928B4AF3A13A}"/>
              </a:ext>
            </a:extLst>
          </p:cNvPr>
          <p:cNvSpPr txBox="1"/>
          <p:nvPr/>
        </p:nvSpPr>
        <p:spPr>
          <a:xfrm>
            <a:off x="8896349" y="5552471"/>
            <a:ext cx="1990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(15, 15, 64) +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AACA4-A6A8-C5B0-2A87-E43232B08F8D}"/>
              </a:ext>
            </a:extLst>
          </p:cNvPr>
          <p:cNvSpPr txBox="1"/>
          <p:nvPr/>
        </p:nvSpPr>
        <p:spPr>
          <a:xfrm>
            <a:off x="10429356" y="5552471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(15, 15, 64)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254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C65D-DC08-4063-9D5A-835433A5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3EBC6-F0E5-5D0E-DBFC-AE38101C4D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FB73ED6-6046-C6DC-84F8-D15E625238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3B8C0-1444-7318-241D-5FBEB9CCA531}"/>
              </a:ext>
            </a:extLst>
          </p:cNvPr>
          <p:cNvSpPr txBox="1"/>
          <p:nvPr/>
        </p:nvSpPr>
        <p:spPr>
          <a:xfrm>
            <a:off x="638175" y="1451591"/>
            <a:ext cx="8143876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b="0" i="0" dirty="0" err="1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activation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 err="1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Sets aside the residual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x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This is the block of two layers around which we create a residual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connection: it includes a 2 x 2 max pooling layer. We use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padding="same" in both the convolution layer and the max pooling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layer to avoid </a:t>
            </a:r>
            <a:r>
              <a:rPr lang="en-US" altLang="ko-KR" sz="1600" b="0" i="0" dirty="0" err="1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downsampling</a:t>
            </a: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due to padding.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64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activation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 err="1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padding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"same"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MaxPooling2D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padding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6699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"same"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We use strides=2 in the residual projection to match the </a:t>
            </a:r>
            <a:r>
              <a:rPr lang="en-US" altLang="ko-KR" sz="1600" b="0" i="0" dirty="0" err="1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downsampling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created by the max pooling layer.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layers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64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strides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)(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1600" b="0" i="0" dirty="0">
              <a:solidFill>
                <a:srgbClr val="70809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70809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Now the block output and the residual have the same shape and can be added.</a:t>
            </a:r>
            <a:endParaRPr lang="en-US" altLang="ko-KR" sz="1600" b="0" i="0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buNone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en-US" altLang="ko-KR" sz="1600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</a:t>
            </a:r>
            <a:r>
              <a:rPr lang="en-US" altLang="ko-KR" sz="1600" b="0" i="0" dirty="0" err="1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residual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EE154-258C-5EF6-551F-F6C2454AD0ED}"/>
              </a:ext>
            </a:extLst>
          </p:cNvPr>
          <p:cNvSpPr txBox="1"/>
          <p:nvPr/>
        </p:nvSpPr>
        <p:spPr>
          <a:xfrm>
            <a:off x="638175" y="622212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target block including a max pooling layer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26944-0F54-C2FA-12A7-AC641EAFAE65}"/>
              </a:ext>
            </a:extLst>
          </p:cNvPr>
          <p:cNvSpPr txBox="1"/>
          <p:nvPr/>
        </p:nvSpPr>
        <p:spPr>
          <a:xfrm>
            <a:off x="8896350" y="1451591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(32, 32, 3)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EF37D-C986-B0EF-C6BD-57BBC1F01A2F}"/>
              </a:ext>
            </a:extLst>
          </p:cNvPr>
          <p:cNvSpPr txBox="1"/>
          <p:nvPr/>
        </p:nvSpPr>
        <p:spPr>
          <a:xfrm>
            <a:off x="8896350" y="1820923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(30, 30, 32)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A9796-260A-E910-705D-65604C54C36A}"/>
              </a:ext>
            </a:extLst>
          </p:cNvPr>
          <p:cNvSpPr txBox="1"/>
          <p:nvPr/>
        </p:nvSpPr>
        <p:spPr>
          <a:xfrm>
            <a:off x="8896350" y="2478148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(30, 30, 32)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AB0521-197D-D24E-3A73-78E1D302F21D}"/>
              </a:ext>
            </a:extLst>
          </p:cNvPr>
          <p:cNvSpPr txBox="1"/>
          <p:nvPr/>
        </p:nvSpPr>
        <p:spPr>
          <a:xfrm>
            <a:off x="8896350" y="3836859"/>
            <a:ext cx="1409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(30, 30, 64)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F7E8AF-E7D0-2660-5AD1-1454FC590D11}"/>
              </a:ext>
            </a:extLst>
          </p:cNvPr>
          <p:cNvSpPr txBox="1"/>
          <p:nvPr/>
        </p:nvSpPr>
        <p:spPr>
          <a:xfrm>
            <a:off x="8896350" y="4206191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(15, 15, 64)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A9F0C-2129-7895-263E-AC7C50EEF3C2}"/>
              </a:ext>
            </a:extLst>
          </p:cNvPr>
          <p:cNvSpPr txBox="1"/>
          <p:nvPr/>
        </p:nvSpPr>
        <p:spPr>
          <a:xfrm>
            <a:off x="8896349" y="5104666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(15, 15, 64)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3024A-E4C3-263E-8932-CD9F6D36AC07}"/>
              </a:ext>
            </a:extLst>
          </p:cNvPr>
          <p:cNvSpPr txBox="1"/>
          <p:nvPr/>
        </p:nvSpPr>
        <p:spPr>
          <a:xfrm>
            <a:off x="8896349" y="5866796"/>
            <a:ext cx="1990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(15, 15, 64) +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E894A-6174-23F5-E98E-79E0E3143D78}"/>
              </a:ext>
            </a:extLst>
          </p:cNvPr>
          <p:cNvSpPr txBox="1"/>
          <p:nvPr/>
        </p:nvSpPr>
        <p:spPr>
          <a:xfrm>
            <a:off x="10429356" y="5866796"/>
            <a:ext cx="1381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(15, 15, 64)</a:t>
            </a:r>
            <a:endParaRPr lang="ko-KR" altLang="en-US" sz="1600" dirty="0">
              <a:solidFill>
                <a:schemeClr val="accent2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8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B6F7-5F70-1358-82F3-E75B4861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EFE3250-F48A-9BC6-0AF2-4DF860FD99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Gradient Clipping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8771F-BDED-BDB5-880C-EAAFE2FF3565}"/>
              </a:ext>
            </a:extLst>
          </p:cNvPr>
          <p:cNvSpPr txBox="1"/>
          <p:nvPr/>
        </p:nvSpPr>
        <p:spPr>
          <a:xfrm>
            <a:off x="616189" y="1229291"/>
            <a:ext cx="11210052" cy="83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경사폭발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(exploding gradients)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문제를 완화하기 위해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(backpropagation)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과정에서 경사도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(gradients)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가 일정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임계값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(threshold)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을 절대 넘지 않도록 잘라내는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(clip)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것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FBB30304-5214-AC9E-34CC-A440FB6B3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45D965-FE57-205F-A390-78068B1B46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10782" y="3276600"/>
            <a:ext cx="7483488" cy="209568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828E400-EBBB-3CB1-0D1D-85FAC95BA5F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058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7977-7D21-1801-A042-D9791767C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01660EB-5A34-3840-CE08-EEFAC2F83325}"/>
              </a:ext>
            </a:extLst>
          </p:cNvPr>
          <p:cNvSpPr/>
          <p:nvPr/>
        </p:nvSpPr>
        <p:spPr>
          <a:xfrm>
            <a:off x="947057" y="3539866"/>
            <a:ext cx="9067800" cy="585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9C41B1-02A0-9F4F-0DCA-0D7E0E2C15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3EB37-5A0D-5E53-18E4-B01DDD265AC0}"/>
              </a:ext>
            </a:extLst>
          </p:cNvPr>
          <p:cNvSpPr txBox="1"/>
          <p:nvPr/>
        </p:nvSpPr>
        <p:spPr>
          <a:xfrm>
            <a:off x="577530" y="1591322"/>
            <a:ext cx="10251877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The modularity-hierarchy-reuse formula for model architecture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An overview of standard best practices for building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normalization, and 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Ongoing design trends for computer vision models</a:t>
            </a:r>
          </a:p>
        </p:txBody>
      </p:sp>
    </p:spTree>
    <p:extLst>
      <p:ext uri="{BB962C8B-B14F-4D97-AF65-F5344CB8AC3E}">
        <p14:creationId xmlns:p14="http://schemas.microsoft.com/office/powerpoint/2010/main" val="3831945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79E1-0922-FEF7-B42B-88F76FD3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838A768-09EF-B783-10B0-BE0CC47BFE5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409B027B-F411-531B-2B82-C7E562DBDBF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BCAF6D-AD91-44A9-7B76-A9AF1A1F3854}"/>
              </a:ext>
            </a:extLst>
          </p:cNvPr>
          <p:cNvSpPr txBox="1"/>
          <p:nvPr/>
        </p:nvSpPr>
        <p:spPr>
          <a:xfrm>
            <a:off x="7558179" y="2347024"/>
            <a:ext cx="3944925" cy="342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size 100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(Input) 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평균과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분산을 구하여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스케일링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Hidden Laye(Dense = 6) 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평균과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분산을 구하여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스케일링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6EA7929-AF7E-9DF8-4685-89F5C1EFE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17" y="2357908"/>
            <a:ext cx="6753225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C8DB58-B751-E231-C878-82B1CA25C8CA}"/>
              </a:ext>
            </a:extLst>
          </p:cNvPr>
          <p:cNvSpPr txBox="1"/>
          <p:nvPr/>
        </p:nvSpPr>
        <p:spPr>
          <a:xfrm>
            <a:off x="573617" y="1208313"/>
            <a:ext cx="10929487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scikit-learn</a:t>
            </a:r>
            <a:r>
              <a:rPr lang="ko-KR" altLang="en-US" dirty="0"/>
              <a:t>의 다양한</a:t>
            </a:r>
            <a:r>
              <a:rPr lang="en-US" altLang="ko-KR" dirty="0"/>
              <a:t> </a:t>
            </a:r>
            <a:r>
              <a:rPr lang="ko-KR" altLang="en-US" dirty="0"/>
              <a:t>자료</a:t>
            </a:r>
            <a:r>
              <a:rPr lang="en-US" altLang="ko-KR" dirty="0"/>
              <a:t> </a:t>
            </a:r>
            <a:r>
              <a:rPr lang="ko-KR" altLang="en-US" dirty="0"/>
              <a:t>스케일링 함수를 입력데이터에 정의하는 것과 동일하게 </a:t>
            </a:r>
            <a:r>
              <a:rPr lang="ko-KR" altLang="en-US" dirty="0" err="1"/>
              <a:t>딥러닝의</a:t>
            </a:r>
            <a:r>
              <a:rPr lang="ko-KR" altLang="en-US" dirty="0"/>
              <a:t> 각 </a:t>
            </a:r>
            <a:r>
              <a:rPr lang="en-US" altLang="ko-KR" dirty="0"/>
              <a:t>Layer</a:t>
            </a:r>
            <a:r>
              <a:rPr lang="ko-KR" altLang="en-US" dirty="0"/>
              <a:t>에 </a:t>
            </a:r>
            <a:r>
              <a:rPr lang="en-US" altLang="ko-KR" dirty="0"/>
              <a:t>Batch </a:t>
            </a:r>
            <a:r>
              <a:rPr lang="ko-KR" altLang="en-US" dirty="0"/>
              <a:t>크기를 기준으로 자료 스케일링을 적용하는 것이 </a:t>
            </a:r>
            <a:r>
              <a:rPr lang="en-US" altLang="ko-KR" dirty="0"/>
              <a:t>Batch Normalization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9659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B395-0D3F-5334-B2B7-B3707E7F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F86FFC4-D8BC-9393-A237-2A402D3F1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B76247E2-1882-85F5-7529-283B43E7FE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050" name="Picture 2" descr="Shapes of Batch Norm vectors (Image by Author)">
            <a:extLst>
              <a:ext uri="{FF2B5EF4-FFF2-40B4-BE49-F238E27FC236}">
                <a16:creationId xmlns:a16="http://schemas.microsoft.com/office/drawing/2014/main" id="{233B2D54-E52B-7515-2E82-2420F2C03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66" y="1711097"/>
            <a:ext cx="10286386" cy="434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87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7FAE-BED9-2727-CA24-F3794038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C23EF1-DDFF-1839-9D8B-7177C85C7262}"/>
              </a:ext>
            </a:extLst>
          </p:cNvPr>
          <p:cNvSpPr/>
          <p:nvPr/>
        </p:nvSpPr>
        <p:spPr>
          <a:xfrm>
            <a:off x="196088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84CD78-7A3F-9A2F-0B29-D24F7B181C36}"/>
              </a:ext>
            </a:extLst>
          </p:cNvPr>
          <p:cNvSpPr/>
          <p:nvPr/>
        </p:nvSpPr>
        <p:spPr>
          <a:xfrm>
            <a:off x="269954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202BF2-53E3-2E49-DC29-FA2B965D4E52}"/>
              </a:ext>
            </a:extLst>
          </p:cNvPr>
          <p:cNvSpPr/>
          <p:nvPr/>
        </p:nvSpPr>
        <p:spPr>
          <a:xfrm>
            <a:off x="343820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F2B193E-2EEF-ADDA-CCB6-DFCD8CF77B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7F899-5262-59C3-4264-277DEF8E71CF}"/>
              </a:ext>
            </a:extLst>
          </p:cNvPr>
          <p:cNvSpPr txBox="1"/>
          <p:nvPr/>
        </p:nvSpPr>
        <p:spPr>
          <a:xfrm>
            <a:off x="616189" y="1229291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함수의 입력 값으로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 한 결과 값을 사용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(Batch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개수 만큼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추정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65661-C8B6-C064-EF0E-150A908E08B5}"/>
              </a:ext>
            </a:extLst>
          </p:cNvPr>
          <p:cNvSpPr txBox="1"/>
          <p:nvPr/>
        </p:nvSpPr>
        <p:spPr>
          <a:xfrm rot="10800000">
            <a:off x="1916668" y="2809677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CA745-0CEA-1047-A146-A7A59A0B441D}"/>
              </a:ext>
            </a:extLst>
          </p:cNvPr>
          <p:cNvSpPr txBox="1"/>
          <p:nvPr/>
        </p:nvSpPr>
        <p:spPr>
          <a:xfrm rot="10800000">
            <a:off x="266906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2A022-BC6A-CFA0-A4AA-D6DD1FA3001B}"/>
              </a:ext>
            </a:extLst>
          </p:cNvPr>
          <p:cNvSpPr txBox="1"/>
          <p:nvPr/>
        </p:nvSpPr>
        <p:spPr>
          <a:xfrm rot="10800000">
            <a:off x="3398126" y="2727960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AA14B0-7DFC-6BE7-160E-D612087E0D30}"/>
              </a:ext>
            </a:extLst>
          </p:cNvPr>
          <p:cNvSpPr/>
          <p:nvPr/>
        </p:nvSpPr>
        <p:spPr>
          <a:xfrm>
            <a:off x="511048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3EBB61-7BF0-9A11-EE72-1AC25B70FD49}"/>
              </a:ext>
            </a:extLst>
          </p:cNvPr>
          <p:cNvSpPr/>
          <p:nvPr/>
        </p:nvSpPr>
        <p:spPr>
          <a:xfrm>
            <a:off x="584914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E638AD-4529-DC90-09A3-55939D85F731}"/>
              </a:ext>
            </a:extLst>
          </p:cNvPr>
          <p:cNvSpPr/>
          <p:nvPr/>
        </p:nvSpPr>
        <p:spPr>
          <a:xfrm>
            <a:off x="658780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3DA89-468F-ACF2-742D-86441C556FB8}"/>
              </a:ext>
            </a:extLst>
          </p:cNvPr>
          <p:cNvSpPr txBox="1"/>
          <p:nvPr/>
        </p:nvSpPr>
        <p:spPr>
          <a:xfrm rot="10800000">
            <a:off x="5074245" y="2702350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025CB5-DF3F-9B94-4150-715567357037}"/>
              </a:ext>
            </a:extLst>
          </p:cNvPr>
          <p:cNvSpPr txBox="1"/>
          <p:nvPr/>
        </p:nvSpPr>
        <p:spPr>
          <a:xfrm rot="10800000">
            <a:off x="581866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6EF49C-3876-9FAE-0F94-3EC41C1A9E83}"/>
              </a:ext>
            </a:extLst>
          </p:cNvPr>
          <p:cNvSpPr txBox="1"/>
          <p:nvPr/>
        </p:nvSpPr>
        <p:spPr>
          <a:xfrm rot="10800000">
            <a:off x="6557328" y="2727960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33F49C-E664-F5ED-74C7-180427AE743D}"/>
              </a:ext>
            </a:extLst>
          </p:cNvPr>
          <p:cNvSpPr/>
          <p:nvPr/>
        </p:nvSpPr>
        <p:spPr>
          <a:xfrm>
            <a:off x="8239760" y="2285999"/>
            <a:ext cx="650240" cy="18916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A8A474-E46A-B4D0-2268-589114A4CFBB}"/>
              </a:ext>
            </a:extLst>
          </p:cNvPr>
          <p:cNvSpPr/>
          <p:nvPr/>
        </p:nvSpPr>
        <p:spPr>
          <a:xfrm>
            <a:off x="8978424" y="2285999"/>
            <a:ext cx="650240" cy="1891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585026-F483-D5CE-4C1B-D36FE3B5C185}"/>
              </a:ext>
            </a:extLst>
          </p:cNvPr>
          <p:cNvSpPr/>
          <p:nvPr/>
        </p:nvSpPr>
        <p:spPr>
          <a:xfrm>
            <a:off x="9717089" y="2285999"/>
            <a:ext cx="650240" cy="1891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F511F0-A471-70E1-D259-9B5AE0547CB0}"/>
              </a:ext>
            </a:extLst>
          </p:cNvPr>
          <p:cNvSpPr txBox="1"/>
          <p:nvPr/>
        </p:nvSpPr>
        <p:spPr>
          <a:xfrm rot="10800000">
            <a:off x="8195548" y="2809677"/>
            <a:ext cx="738664" cy="1131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287750-9B39-5618-F09E-F16D6ECCC9E4}"/>
              </a:ext>
            </a:extLst>
          </p:cNvPr>
          <p:cNvSpPr txBox="1"/>
          <p:nvPr/>
        </p:nvSpPr>
        <p:spPr>
          <a:xfrm rot="10800000">
            <a:off x="8947945" y="3046027"/>
            <a:ext cx="738664" cy="6694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Norm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C911DA-6B45-89D8-A538-E33C744AC47B}"/>
              </a:ext>
            </a:extLst>
          </p:cNvPr>
          <p:cNvSpPr txBox="1"/>
          <p:nvPr/>
        </p:nvSpPr>
        <p:spPr>
          <a:xfrm rot="10800000">
            <a:off x="9686608" y="2727961"/>
            <a:ext cx="738664" cy="12464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395B9BE-012C-EBED-BB61-FF95C7BA40D4}"/>
              </a:ext>
            </a:extLst>
          </p:cNvPr>
          <p:cNvCxnSpPr>
            <a:cxnSpLocks/>
          </p:cNvCxnSpPr>
          <p:nvPr/>
        </p:nvCxnSpPr>
        <p:spPr>
          <a:xfrm>
            <a:off x="1054180" y="3272588"/>
            <a:ext cx="892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82FC277-8E0D-566A-2F87-F0E6F618125D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4088449" y="3231827"/>
            <a:ext cx="102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E47F284-8BFC-42E0-B58E-AA4432CEB592}"/>
              </a:ext>
            </a:extLst>
          </p:cNvPr>
          <p:cNvCxnSpPr>
            <a:cxnSpLocks/>
          </p:cNvCxnSpPr>
          <p:nvPr/>
        </p:nvCxnSpPr>
        <p:spPr>
          <a:xfrm>
            <a:off x="7238049" y="3267890"/>
            <a:ext cx="102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CB24659E-0B6F-ADBA-C3AA-6D2496A36A72}"/>
              </a:ext>
            </a:extLst>
          </p:cNvPr>
          <p:cNvCxnSpPr>
            <a:cxnSpLocks/>
          </p:cNvCxnSpPr>
          <p:nvPr/>
        </p:nvCxnSpPr>
        <p:spPr>
          <a:xfrm>
            <a:off x="10369747" y="3289278"/>
            <a:ext cx="892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6" name="그림 85">
            <a:extLst>
              <a:ext uri="{FF2B5EF4-FFF2-40B4-BE49-F238E27FC236}">
                <a16:creationId xmlns:a16="http://schemas.microsoft.com/office/drawing/2014/main" id="{861F0DA7-C1F1-AA79-8DAD-4E1234D7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25" y="4670038"/>
            <a:ext cx="6264183" cy="1844200"/>
          </a:xfrm>
          <a:prstGeom prst="rect">
            <a:avLst/>
          </a:prstGeom>
        </p:spPr>
      </p:pic>
      <p:cxnSp>
        <p:nvCxnSpPr>
          <p:cNvPr id="91" name="연결선: 구부러짐 90">
            <a:extLst>
              <a:ext uri="{FF2B5EF4-FFF2-40B4-BE49-F238E27FC236}">
                <a16:creationId xmlns:a16="http://schemas.microsoft.com/office/drawing/2014/main" id="{9FD675F2-B197-F302-674E-C35F100EE4B7}"/>
              </a:ext>
            </a:extLst>
          </p:cNvPr>
          <p:cNvCxnSpPr>
            <a:endCxn id="16" idx="2"/>
          </p:cNvCxnSpPr>
          <p:nvPr/>
        </p:nvCxnSpPr>
        <p:spPr>
          <a:xfrm flipV="1">
            <a:off x="4826000" y="4177655"/>
            <a:ext cx="1348264" cy="4923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id="{23716568-C784-ACB3-4765-5259BA33E6A3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8239760" y="4177655"/>
            <a:ext cx="1063784" cy="4850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D69D995-616F-2FDE-72DE-C968389BA163}"/>
              </a:ext>
            </a:extLst>
          </p:cNvPr>
          <p:cNvSpPr txBox="1"/>
          <p:nvPr/>
        </p:nvSpPr>
        <p:spPr>
          <a:xfrm>
            <a:off x="2285999" y="4990656"/>
            <a:ext cx="9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1</a:t>
            </a:r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E2AEFD7-6165-5C1E-9CCC-361D690A3F50}"/>
              </a:ext>
            </a:extLst>
          </p:cNvPr>
          <p:cNvSpPr txBox="1"/>
          <p:nvPr/>
        </p:nvSpPr>
        <p:spPr>
          <a:xfrm>
            <a:off x="2285999" y="5666929"/>
            <a:ext cx="9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Batch 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3FCC6-54B6-2E75-2327-2E3A48F2A031}"/>
              </a:ext>
            </a:extLst>
          </p:cNvPr>
          <p:cNvSpPr txBox="1"/>
          <p:nvPr/>
        </p:nvSpPr>
        <p:spPr>
          <a:xfrm>
            <a:off x="9717089" y="4670038"/>
            <a:ext cx="22680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normalization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종 모양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(Bell-shape)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되면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명청한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경사 하강법은 지그재그로 헤맬 필요 없이 어느 지점에서 출발하더라도 중심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최적의 가중치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향해 최단 거리로 곧장 미끄러져 내려갈 수 있어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속도가 빨라지고 안정적으로 수렴</a:t>
            </a: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C241FB7E-AE77-9AC6-F7E8-7511FA468C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58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/>
      <p:bldP spid="16" grpId="0" animBg="1"/>
      <p:bldP spid="21" grpId="0"/>
      <p:bldP spid="27" grpId="0" animBg="1"/>
      <p:bldP spid="33" grpId="0"/>
      <p:bldP spid="98" grpId="0"/>
      <p:bldP spid="10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E021-D61F-7A22-2B28-57928EFA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E15B4B-6367-2059-381E-10BDA7C61D2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52C542-BEED-89A0-F4FA-067B93E07E4B}"/>
                  </a:ext>
                </a:extLst>
              </p:cNvPr>
              <p:cNvSpPr txBox="1"/>
              <p:nvPr/>
            </p:nvSpPr>
            <p:spPr>
              <a:xfrm>
                <a:off x="616189" y="1218407"/>
                <a:ext cx="10952480" cy="1296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Batch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끝날 때 마다 평균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과 분산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),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Untrainable parameters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통계계산만 하고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Weights(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와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Bias(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), Trainable Parameters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경사하강법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(Gradient Descent)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으로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회 업데이트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학습률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하여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Batch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와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Epoch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만큼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Update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52C542-BEED-89A0-F4FA-067B93E07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89" y="1218407"/>
                <a:ext cx="10952480" cy="1296317"/>
              </a:xfrm>
              <a:prstGeom prst="rect">
                <a:avLst/>
              </a:prstGeom>
              <a:blipFill>
                <a:blip r:embed="rId2"/>
                <a:stretch>
                  <a:fillRect l="-445" b="-65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13F4FA6-5BBF-0228-1335-4BEFCED8FA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3939" y="2821870"/>
            <a:ext cx="3377055" cy="31979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1B1507-D5ED-F706-9301-471A8F880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526" y="4420820"/>
            <a:ext cx="1515457" cy="176367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DEEA88A-19C1-6CD1-CC01-BB8F1FA6D33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설명선: 굽은 선 9">
                <a:extLst>
                  <a:ext uri="{FF2B5EF4-FFF2-40B4-BE49-F238E27FC236}">
                    <a16:creationId xmlns:a16="http://schemas.microsoft.com/office/drawing/2014/main" id="{C2E124B8-FA35-46AF-852E-BE9FE1A4E7FD}"/>
                  </a:ext>
                </a:extLst>
              </p:cNvPr>
              <p:cNvSpPr/>
              <p:nvPr/>
            </p:nvSpPr>
            <p:spPr>
              <a:xfrm>
                <a:off x="6607628" y="2899915"/>
                <a:ext cx="5127172" cy="702465"/>
              </a:xfrm>
              <a:prstGeom prst="borderCallout2">
                <a:avLst>
                  <a:gd name="adj1" fmla="val 20300"/>
                  <a:gd name="adj2" fmla="val -3340"/>
                  <a:gd name="adj3" fmla="val 18750"/>
                  <a:gd name="adj4" fmla="val -16667"/>
                  <a:gd name="adj5" fmla="val 362247"/>
                  <a:gd name="adj6" fmla="val -31919"/>
                </a:avLst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스케일 </a:t>
                </a:r>
                <a:r>
                  <a:rPr lang="en-US" altLang="ko-KR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parameter) : Trainable parameter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시프트</a:t>
                </a:r>
                <a:r>
                  <a:rPr lang="en-US" altLang="ko-KR" dirty="0">
                    <a:solidFill>
                      <a:schemeClr val="tx1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parameter) : Trainable parameter</a:t>
                </a:r>
                <a:endParaRPr lang="ko-KR" altLang="en-US" dirty="0">
                  <a:solidFill>
                    <a:schemeClr val="tx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0" name="설명선: 굽은 선 9">
                <a:extLst>
                  <a:ext uri="{FF2B5EF4-FFF2-40B4-BE49-F238E27FC236}">
                    <a16:creationId xmlns:a16="http://schemas.microsoft.com/office/drawing/2014/main" id="{C2E124B8-FA35-46AF-852E-BE9FE1A4E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628" y="2899915"/>
                <a:ext cx="5127172" cy="702465"/>
              </a:xfrm>
              <a:prstGeom prst="borderCallout2">
                <a:avLst>
                  <a:gd name="adj1" fmla="val 20300"/>
                  <a:gd name="adj2" fmla="val -3340"/>
                  <a:gd name="adj3" fmla="val 18750"/>
                  <a:gd name="adj4" fmla="val -16667"/>
                  <a:gd name="adj5" fmla="val 362247"/>
                  <a:gd name="adj6" fmla="val -31919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5D9AD6-5E56-8708-756A-6E6C6B9BC559}"/>
              </a:ext>
            </a:extLst>
          </p:cNvPr>
          <p:cNvSpPr/>
          <p:nvPr/>
        </p:nvSpPr>
        <p:spPr>
          <a:xfrm>
            <a:off x="1251855" y="5475516"/>
            <a:ext cx="3984171" cy="587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77D73-93E9-CC1F-E98F-399AC758B4CF}"/>
              </a:ext>
            </a:extLst>
          </p:cNvPr>
          <p:cNvSpPr txBox="1"/>
          <p:nvPr/>
        </p:nvSpPr>
        <p:spPr>
          <a:xfrm>
            <a:off x="5532783" y="4113043"/>
            <a:ext cx="2188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Gradient Descent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98771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B8CC-BEE0-D101-B4AC-6955C2DB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79379F2-EF06-0160-1258-B76A6AE0E3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6733AB-4155-C169-0035-A8BBCF0ABB05}"/>
                  </a:ext>
                </a:extLst>
              </p:cNvPr>
              <p:cNvSpPr txBox="1"/>
              <p:nvPr/>
            </p:nvSpPr>
            <p:spPr>
              <a:xfrm>
                <a:off x="616189" y="1251063"/>
                <a:ext cx="10952480" cy="1228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아래 모델의 총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paramters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개수를 구하라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첫번째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Batch norm layer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파라미터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3,136(28*28*4)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 중에서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경사하강법으로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역전파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때 직접 학습시키는 파라미터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(Trainable)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7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700" dirty="0">
                        <a:latin typeface="Cambria Math" panose="02040503050406030204" pitchFamily="18" charset="0"/>
                      </a:rPr>
                      <m:t>&amp; 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2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뿐이라 총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1,568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(784*2)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이고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나머지 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1,568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7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훈련 과정에서 통계를 내어 </a:t>
                </a:r>
                <a:r>
                  <a:rPr lang="ko-KR" altLang="en-US" sz="17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저장만하는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파라미터</a:t>
                </a:r>
                <a:r>
                  <a:rPr lang="en-US" altLang="ko-KR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(Non-trainable) </a:t>
                </a:r>
                <a:r>
                  <a:rPr lang="ko-KR" altLang="en-US" sz="17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임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6733AB-4155-C169-0035-A8BBCF0A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89" y="1251063"/>
                <a:ext cx="10952480" cy="1228670"/>
              </a:xfrm>
              <a:prstGeom prst="rect">
                <a:avLst/>
              </a:prstGeom>
              <a:blipFill>
                <a:blip r:embed="rId2"/>
                <a:stretch>
                  <a:fillRect l="-334" r="-111" b="-5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2EA454E-28E0-3B60-ADC8-85CC06DFDF49}"/>
              </a:ext>
            </a:extLst>
          </p:cNvPr>
          <p:cNvSpPr txBox="1"/>
          <p:nvPr/>
        </p:nvSpPr>
        <p:spPr>
          <a:xfrm>
            <a:off x="720745" y="2798848"/>
            <a:ext cx="7752695" cy="34199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keras.models.Sequential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keras.layers.Flatten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input_shape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=[28, 28]),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he_normal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he_normal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keras.layers.Dense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])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1CD6C59C-6278-5A49-41A2-772345BA8A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6451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AC14E443-7B20-2351-5E99-BC2C8E4074D0}"/>
              </a:ext>
            </a:extLst>
          </p:cNvPr>
          <p:cNvSpPr/>
          <p:nvPr/>
        </p:nvSpPr>
        <p:spPr>
          <a:xfrm>
            <a:off x="7661255" y="2951248"/>
            <a:ext cx="3810000" cy="477752"/>
          </a:xfrm>
          <a:prstGeom prst="borderCallout2">
            <a:avLst>
              <a:gd name="adj1" fmla="val 59764"/>
              <a:gd name="adj2" fmla="val -1762"/>
              <a:gd name="adj3" fmla="val 121284"/>
              <a:gd name="adj4" fmla="val -34381"/>
              <a:gd name="adj5" fmla="val 174020"/>
              <a:gd name="adj6" fmla="val -863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784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픽셀 특성 각각에 대해 평균 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 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자동 스케일링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F57E34FA-92E7-CEC7-AF6A-8274942067D7}"/>
              </a:ext>
            </a:extLst>
          </p:cNvPr>
          <p:cNvSpPr/>
          <p:nvPr/>
        </p:nvSpPr>
        <p:spPr>
          <a:xfrm>
            <a:off x="8630492" y="3800872"/>
            <a:ext cx="3136965" cy="1023039"/>
          </a:xfrm>
          <a:prstGeom prst="borderCallout2">
            <a:avLst>
              <a:gd name="adj1" fmla="val 61312"/>
              <a:gd name="adj2" fmla="val -1879"/>
              <a:gd name="adj3" fmla="val 59184"/>
              <a:gd name="adj4" fmla="val -53457"/>
              <a:gd name="adj5" fmla="val 66746"/>
              <a:gd name="adj6" fmla="val -1327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레이어를 거치며 발생하는 분포 변화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(Internal Covariate Shift)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방지하여 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300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노드의 출력을 안정적인 분포로 정돈</a:t>
            </a:r>
          </a:p>
        </p:txBody>
      </p:sp>
      <p:sp>
        <p:nvSpPr>
          <p:cNvPr id="15" name="설명선: 굽은 선 14">
            <a:extLst>
              <a:ext uri="{FF2B5EF4-FFF2-40B4-BE49-F238E27FC236}">
                <a16:creationId xmlns:a16="http://schemas.microsoft.com/office/drawing/2014/main" id="{D87B4E86-570C-96FA-DA31-65B35556E54C}"/>
              </a:ext>
            </a:extLst>
          </p:cNvPr>
          <p:cNvSpPr/>
          <p:nvPr/>
        </p:nvSpPr>
        <p:spPr>
          <a:xfrm>
            <a:off x="8630492" y="5348183"/>
            <a:ext cx="3256708" cy="796867"/>
          </a:xfrm>
          <a:prstGeom prst="borderCallout2">
            <a:avLst>
              <a:gd name="adj1" fmla="val 65196"/>
              <a:gd name="adj2" fmla="val -2405"/>
              <a:gd name="adj3" fmla="val 18750"/>
              <a:gd name="adj4" fmla="val -16667"/>
              <a:gd name="adj5" fmla="val -13996"/>
              <a:gd name="adj6" fmla="val -1299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최종 분류 </a:t>
            </a:r>
            <a:r>
              <a:rPr lang="ko-KR" altLang="en-US" sz="1400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(Dense(10))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진입하기 직전에 </a:t>
            </a:r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피처의 분포를 재정렬</a:t>
            </a:r>
          </a:p>
        </p:txBody>
      </p:sp>
    </p:spTree>
    <p:extLst>
      <p:ext uri="{BB962C8B-B14F-4D97-AF65-F5344CB8AC3E}">
        <p14:creationId xmlns:p14="http://schemas.microsoft.com/office/powerpoint/2010/main" val="1850171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718E-01F3-31E2-543E-53BA994A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FF67889-CC51-4CAE-ADFA-29FB2436B2CE}"/>
              </a:ext>
            </a:extLst>
          </p:cNvPr>
          <p:cNvSpPr/>
          <p:nvPr/>
        </p:nvSpPr>
        <p:spPr>
          <a:xfrm>
            <a:off x="947057" y="4149466"/>
            <a:ext cx="9067800" cy="5858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10C7ABA-4AC6-01B0-9DD9-3041B11E783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81CE2-C6D0-8B5B-F69B-EAC54CFB24C0}"/>
              </a:ext>
            </a:extLst>
          </p:cNvPr>
          <p:cNvSpPr txBox="1"/>
          <p:nvPr/>
        </p:nvSpPr>
        <p:spPr>
          <a:xfrm>
            <a:off x="577530" y="1591322"/>
            <a:ext cx="10251877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The modularity-hierarchy-reuse formula for model architecture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An overview of standard best practices for building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normalization, and 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Ongoing design trends for computer vision models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C11BB82-7286-9EFD-8BC2-DFDE2F3C35C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117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F04F1-7140-D8F3-DD5B-923F1088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A1977-42C6-23CA-2194-76FD5717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B8B134-97AF-376D-4FFE-E164DA5D0A9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Network in Network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19A764B1-6E3C-C6F4-6644-44F66D28A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F5E5CC-D000-D947-9354-C10B70E1B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775" y="3177359"/>
            <a:ext cx="7890899" cy="215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9C6FF-2AE6-31FA-6A8E-9F3EA1AFD777}"/>
              </a:ext>
            </a:extLst>
          </p:cNvPr>
          <p:cNvSpPr txBox="1"/>
          <p:nvPr/>
        </p:nvSpPr>
        <p:spPr>
          <a:xfrm>
            <a:off x="581025" y="1204878"/>
            <a:ext cx="111353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spcAft>
                <a:spcPts val="2400"/>
              </a:spcAft>
              <a:buNone/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사용하는 가장 큰 이유는 차원을 줄이기 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위해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사실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다음과 같이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뿐이라면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이용해도 아래와 같이 차원축소는 커녕 연산의 별 의미가 없음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곱해주는 것이므로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8EC21-CB8A-BD53-7176-3E7A6832BDA3}"/>
              </a:ext>
            </a:extLst>
          </p:cNvPr>
          <p:cNvSpPr txBox="1"/>
          <p:nvPr/>
        </p:nvSpPr>
        <p:spPr>
          <a:xfrm>
            <a:off x="1937775" y="5499233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https://hyunsooworld.tistory.com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822834C-A531-E689-97B2-9AA3716A74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53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8B4B-C519-0507-B5EA-6E264BA5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84DF45-0B41-134B-25EB-DE58166860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10771-E400-FC74-39AE-142EF07DD8C0}"/>
              </a:ext>
            </a:extLst>
          </p:cNvPr>
          <p:cNvSpPr txBox="1"/>
          <p:nvPr/>
        </p:nvSpPr>
        <p:spPr>
          <a:xfrm>
            <a:off x="557070" y="1196787"/>
            <a:ext cx="1115928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 : Image(5,5,3)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filter(3 by 3) 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적용하면 훈련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x 3 x 3 x 5 = 135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(3, 3, 3)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정육면체 필터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원본 이미지의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채널을 한꺼번에 덮으면서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(5, 5)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공간을 훑고 지나가면서 이 필터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각각 전체 공간을 스캔하여 최종적으로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(3, 3, 5)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결과물을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F4B4D9-5AF6-8C19-38E1-1E07EA8D6102}"/>
              </a:ext>
            </a:extLst>
          </p:cNvPr>
          <p:cNvGraphicFramePr>
            <a:graphicFrameLocks noGrp="1"/>
          </p:cNvGraphicFramePr>
          <p:nvPr/>
        </p:nvGraphicFramePr>
        <p:xfrm>
          <a:off x="1889760" y="35981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F6A647-3230-1FEC-3B2B-3431104DA1D1}"/>
              </a:ext>
            </a:extLst>
          </p:cNvPr>
          <p:cNvGraphicFramePr>
            <a:graphicFrameLocks noGrp="1"/>
          </p:cNvGraphicFramePr>
          <p:nvPr/>
        </p:nvGraphicFramePr>
        <p:xfrm>
          <a:off x="2042160" y="37505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251CB82-6C9D-533B-8D05-D5F6526E366B}"/>
              </a:ext>
            </a:extLst>
          </p:cNvPr>
          <p:cNvGraphicFramePr>
            <a:graphicFrameLocks noGrp="1"/>
          </p:cNvGraphicFramePr>
          <p:nvPr/>
        </p:nvGraphicFramePr>
        <p:xfrm>
          <a:off x="2194560" y="39029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C1736A8-0665-C9B6-ED3F-3AEE0572685A}"/>
              </a:ext>
            </a:extLst>
          </p:cNvPr>
          <p:cNvGraphicFramePr>
            <a:graphicFrameLocks noGrp="1"/>
          </p:cNvGraphicFramePr>
          <p:nvPr/>
        </p:nvGraphicFramePr>
        <p:xfrm>
          <a:off x="5044542" y="250465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13AA6C6-AF63-F19B-7A3D-2B7F293030CE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265705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674F403-CDEE-4885-3DE0-5B2D81301F48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280945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5877134-28D6-1E88-C1F9-E524FE8A1953}"/>
              </a:ext>
            </a:extLst>
          </p:cNvPr>
          <p:cNvGraphicFramePr>
            <a:graphicFrameLocks noGrp="1"/>
          </p:cNvGraphicFramePr>
          <p:nvPr/>
        </p:nvGraphicFramePr>
        <p:xfrm>
          <a:off x="5044542" y="419361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FA7BB14-020B-C2DE-D335-D5F0E014F390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434601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AE7141B-B821-CD09-6C3C-D1590859C75E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449841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30AD545-A0AC-4C87-51EC-0FD3FA6D94C0}"/>
              </a:ext>
            </a:extLst>
          </p:cNvPr>
          <p:cNvGraphicFramePr>
            <a:graphicFrameLocks noGrp="1"/>
          </p:cNvGraphicFramePr>
          <p:nvPr/>
        </p:nvGraphicFramePr>
        <p:xfrm>
          <a:off x="5057191" y="50526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FBFA8F4-9315-CF4D-D2F0-761DEC108AEC}"/>
              </a:ext>
            </a:extLst>
          </p:cNvPr>
          <p:cNvGraphicFramePr>
            <a:graphicFrameLocks noGrp="1"/>
          </p:cNvGraphicFramePr>
          <p:nvPr/>
        </p:nvGraphicFramePr>
        <p:xfrm>
          <a:off x="5209591" y="52050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B38B1CC-C672-2BA1-4B27-2C6DB30F2C75}"/>
              </a:ext>
            </a:extLst>
          </p:cNvPr>
          <p:cNvGraphicFramePr>
            <a:graphicFrameLocks noGrp="1"/>
          </p:cNvGraphicFramePr>
          <p:nvPr/>
        </p:nvGraphicFramePr>
        <p:xfrm>
          <a:off x="5361991" y="53574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17C7E54-E637-62AB-4490-82B85D2493EE}"/>
              </a:ext>
            </a:extLst>
          </p:cNvPr>
          <p:cNvGraphicFramePr>
            <a:graphicFrameLocks noGrp="1"/>
          </p:cNvGraphicFramePr>
          <p:nvPr/>
        </p:nvGraphicFramePr>
        <p:xfrm>
          <a:off x="5057191" y="59180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BFF2632-CA4E-CFA1-B084-A4558D7C51EF}"/>
              </a:ext>
            </a:extLst>
          </p:cNvPr>
          <p:cNvGraphicFramePr>
            <a:graphicFrameLocks noGrp="1"/>
          </p:cNvGraphicFramePr>
          <p:nvPr/>
        </p:nvGraphicFramePr>
        <p:xfrm>
          <a:off x="5209591" y="60704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00F89C9-95F3-1B1B-DD41-5609673CE9CF}"/>
              </a:ext>
            </a:extLst>
          </p:cNvPr>
          <p:cNvGraphicFramePr>
            <a:graphicFrameLocks noGrp="1"/>
          </p:cNvGraphicFramePr>
          <p:nvPr/>
        </p:nvGraphicFramePr>
        <p:xfrm>
          <a:off x="5361991" y="62228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23C88FE-28AC-A179-FA3B-F2874F3DE20D}"/>
              </a:ext>
            </a:extLst>
          </p:cNvPr>
          <p:cNvGraphicFramePr>
            <a:graphicFrameLocks noGrp="1"/>
          </p:cNvGraphicFramePr>
          <p:nvPr/>
        </p:nvGraphicFramePr>
        <p:xfrm>
          <a:off x="5044542" y="33982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DEB74F8-1E3B-4593-A647-5975D7DFCAFB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35506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C13DF14-E165-0342-956C-E4DBA45D4DF9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37030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91808C70-3914-48B0-24E5-47EBD3B45FC6}"/>
              </a:ext>
            </a:extLst>
          </p:cNvPr>
          <p:cNvGraphicFramePr>
            <a:graphicFrameLocks noGrp="1"/>
          </p:cNvGraphicFramePr>
          <p:nvPr/>
        </p:nvGraphicFramePr>
        <p:xfrm>
          <a:off x="8370428" y="37233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523FB5E-56E5-7760-B49A-0A197FF9C4E0}"/>
              </a:ext>
            </a:extLst>
          </p:cNvPr>
          <p:cNvGraphicFramePr>
            <a:graphicFrameLocks noGrp="1"/>
          </p:cNvGraphicFramePr>
          <p:nvPr/>
        </p:nvGraphicFramePr>
        <p:xfrm>
          <a:off x="8522828" y="38757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73307BF9-8F3D-9E99-2A31-FAF24A69D7A9}"/>
              </a:ext>
            </a:extLst>
          </p:cNvPr>
          <p:cNvGraphicFramePr>
            <a:graphicFrameLocks noGrp="1"/>
          </p:cNvGraphicFramePr>
          <p:nvPr/>
        </p:nvGraphicFramePr>
        <p:xfrm>
          <a:off x="8675228" y="40281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4611F3C-3FD9-B7A4-A9CA-024D6E0F99EF}"/>
              </a:ext>
            </a:extLst>
          </p:cNvPr>
          <p:cNvGraphicFramePr>
            <a:graphicFrameLocks noGrp="1"/>
          </p:cNvGraphicFramePr>
          <p:nvPr/>
        </p:nvGraphicFramePr>
        <p:xfrm>
          <a:off x="8827628" y="41805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0C87D1F-3699-6AAB-B1A0-9DFF94C1B391}"/>
              </a:ext>
            </a:extLst>
          </p:cNvPr>
          <p:cNvGraphicFramePr>
            <a:graphicFrameLocks noGrp="1"/>
          </p:cNvGraphicFramePr>
          <p:nvPr/>
        </p:nvGraphicFramePr>
        <p:xfrm>
          <a:off x="8980028" y="43329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B8C7ECD-2AA7-E265-C5BA-195771B4EB9E}"/>
              </a:ext>
            </a:extLst>
          </p:cNvPr>
          <p:cNvSpPr txBox="1"/>
          <p:nvPr/>
        </p:nvSpPr>
        <p:spPr>
          <a:xfrm>
            <a:off x="1812960" y="5160147"/>
            <a:ext cx="184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(5,5,3)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A6E60-43CD-F1F3-1AB6-A99900480325}"/>
              </a:ext>
            </a:extLst>
          </p:cNvPr>
          <p:cNvSpPr txBox="1"/>
          <p:nvPr/>
        </p:nvSpPr>
        <p:spPr>
          <a:xfrm>
            <a:off x="6090820" y="6070402"/>
            <a:ext cx="1955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(3,3,3,5)</a:t>
            </a:r>
            <a:endParaRPr lang="ko-KR" altLang="en-US" sz="1400" dirty="0"/>
          </a:p>
        </p:txBody>
      </p:sp>
      <p:sp>
        <p:nvSpPr>
          <p:cNvPr id="28" name="정육면체 27">
            <a:extLst>
              <a:ext uri="{FF2B5EF4-FFF2-40B4-BE49-F238E27FC236}">
                <a16:creationId xmlns:a16="http://schemas.microsoft.com/office/drawing/2014/main" id="{0F1872E2-2C1B-2A63-F695-4C49330EC152}"/>
              </a:ext>
            </a:extLst>
          </p:cNvPr>
          <p:cNvSpPr/>
          <p:nvPr/>
        </p:nvSpPr>
        <p:spPr>
          <a:xfrm rot="16200000">
            <a:off x="1953534" y="3539274"/>
            <a:ext cx="1202216" cy="1329758"/>
          </a:xfrm>
          <a:prstGeom prst="cub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id="{C3B7A5E6-4C26-05E7-5719-FD25F45807C9}"/>
              </a:ext>
            </a:extLst>
          </p:cNvPr>
          <p:cNvSpPr/>
          <p:nvPr/>
        </p:nvSpPr>
        <p:spPr>
          <a:xfrm rot="16200000">
            <a:off x="8425754" y="3669532"/>
            <a:ext cx="1123689" cy="1234340"/>
          </a:xfrm>
          <a:prstGeom prst="cube">
            <a:avLst>
              <a:gd name="adj" fmla="val 5711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정육면체 41">
            <a:extLst>
              <a:ext uri="{FF2B5EF4-FFF2-40B4-BE49-F238E27FC236}">
                <a16:creationId xmlns:a16="http://schemas.microsoft.com/office/drawing/2014/main" id="{F49EEC5E-A7D2-1041-CA07-486F48A0C2C5}"/>
              </a:ext>
            </a:extLst>
          </p:cNvPr>
          <p:cNvSpPr/>
          <p:nvPr/>
        </p:nvSpPr>
        <p:spPr>
          <a:xfrm rot="16200000">
            <a:off x="5091852" y="2489172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정육면체 42">
            <a:extLst>
              <a:ext uri="{FF2B5EF4-FFF2-40B4-BE49-F238E27FC236}">
                <a16:creationId xmlns:a16="http://schemas.microsoft.com/office/drawing/2014/main" id="{9285C7E5-2F47-448E-D25E-9CA42D1B538A}"/>
              </a:ext>
            </a:extLst>
          </p:cNvPr>
          <p:cNvSpPr/>
          <p:nvPr/>
        </p:nvSpPr>
        <p:spPr>
          <a:xfrm rot="16200000">
            <a:off x="5079201" y="3363568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정육면체 43">
            <a:extLst>
              <a:ext uri="{FF2B5EF4-FFF2-40B4-BE49-F238E27FC236}">
                <a16:creationId xmlns:a16="http://schemas.microsoft.com/office/drawing/2014/main" id="{8D323AE5-6382-55B7-1806-D0563D348500}"/>
              </a:ext>
            </a:extLst>
          </p:cNvPr>
          <p:cNvSpPr/>
          <p:nvPr/>
        </p:nvSpPr>
        <p:spPr>
          <a:xfrm rot="16200000">
            <a:off x="5058283" y="4167030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정육면체 44">
            <a:extLst>
              <a:ext uri="{FF2B5EF4-FFF2-40B4-BE49-F238E27FC236}">
                <a16:creationId xmlns:a16="http://schemas.microsoft.com/office/drawing/2014/main" id="{6AF2921A-43FC-0BE7-E36B-398D6FA08028}"/>
              </a:ext>
            </a:extLst>
          </p:cNvPr>
          <p:cNvSpPr/>
          <p:nvPr/>
        </p:nvSpPr>
        <p:spPr>
          <a:xfrm rot="16200000">
            <a:off x="5091852" y="5019778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정육면체 45">
            <a:extLst>
              <a:ext uri="{FF2B5EF4-FFF2-40B4-BE49-F238E27FC236}">
                <a16:creationId xmlns:a16="http://schemas.microsoft.com/office/drawing/2014/main" id="{FC690417-52A5-D786-D58E-408E75730B59}"/>
              </a:ext>
            </a:extLst>
          </p:cNvPr>
          <p:cNvSpPr/>
          <p:nvPr/>
        </p:nvSpPr>
        <p:spPr>
          <a:xfrm rot="16200000">
            <a:off x="5079201" y="5886280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957A28-F6C4-AC8D-D1F0-330E826F0FE8}"/>
              </a:ext>
            </a:extLst>
          </p:cNvPr>
          <p:cNvSpPr txBox="1"/>
          <p:nvPr/>
        </p:nvSpPr>
        <p:spPr>
          <a:xfrm>
            <a:off x="8266237" y="5111305"/>
            <a:ext cx="184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(3,3,5)</a:t>
            </a:r>
            <a:endParaRPr lang="ko-KR" altLang="en-US" sz="1400" dirty="0"/>
          </a:p>
        </p:txBody>
      </p:sp>
      <p:sp>
        <p:nvSpPr>
          <p:cNvPr id="48" name="왼쪽 중괄호 47">
            <a:extLst>
              <a:ext uri="{FF2B5EF4-FFF2-40B4-BE49-F238E27FC236}">
                <a16:creationId xmlns:a16="http://schemas.microsoft.com/office/drawing/2014/main" id="{9BFF6F84-7CDF-81D0-F06F-BAFD10188768}"/>
              </a:ext>
            </a:extLst>
          </p:cNvPr>
          <p:cNvSpPr/>
          <p:nvPr/>
        </p:nvSpPr>
        <p:spPr>
          <a:xfrm>
            <a:off x="4295191" y="2694380"/>
            <a:ext cx="444447" cy="3483977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8F527B3-3562-15B1-BC7C-39C5751EE2B1}"/>
              </a:ext>
            </a:extLst>
          </p:cNvPr>
          <p:cNvCxnSpPr>
            <a:cxnSpLocks/>
          </p:cNvCxnSpPr>
          <p:nvPr/>
        </p:nvCxnSpPr>
        <p:spPr>
          <a:xfrm>
            <a:off x="6372225" y="4114381"/>
            <a:ext cx="167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슬라이드 번호 개체 틀 3">
            <a:extLst>
              <a:ext uri="{FF2B5EF4-FFF2-40B4-BE49-F238E27FC236}">
                <a16:creationId xmlns:a16="http://schemas.microsoft.com/office/drawing/2014/main" id="{51054E1D-0F8A-C331-66EF-09C717A470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34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D9C2-2B10-C67E-4C52-89CE9E80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346244-2271-477F-8C69-0CAFAB7F910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Model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3F527-5334-DD51-872D-A827A058477E}"/>
              </a:ext>
            </a:extLst>
          </p:cNvPr>
          <p:cNvSpPr txBox="1"/>
          <p:nvPr/>
        </p:nvSpPr>
        <p:spPr>
          <a:xfrm>
            <a:off x="634858" y="1179897"/>
            <a:ext cx="1115928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Image(5,5,3)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채널별로 분리한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각 채널별로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x 3 x 3)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파라미터를 훈련하고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공간과 채널 정보를 분리하여 순차적으로 학습하면 총 파라미터는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줄어들게 되어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알고리즘이 빨라지게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A7A1B59-5A80-D95B-D07E-61D1F61A668F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3174360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E5E834-DC77-800C-7F35-110577DBB6A2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4172527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AA73265-A871-7646-C5C2-9C2C0B051FC9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51574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B9EEC37-53CB-F7D2-8FE9-349AD7DC87DB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3275824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2FEC53A-A7A9-9CCE-C050-98C347E84DA5}"/>
              </a:ext>
            </a:extLst>
          </p:cNvPr>
          <p:cNvGraphicFramePr>
            <a:graphicFrameLocks noGrp="1"/>
          </p:cNvGraphicFramePr>
          <p:nvPr/>
        </p:nvGraphicFramePr>
        <p:xfrm>
          <a:off x="5444349" y="413134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8C78EA3E-25FC-0BEE-407E-2FE0728C5715}"/>
              </a:ext>
            </a:extLst>
          </p:cNvPr>
          <p:cNvGraphicFramePr>
            <a:graphicFrameLocks noGrp="1"/>
          </p:cNvGraphicFramePr>
          <p:nvPr/>
        </p:nvGraphicFramePr>
        <p:xfrm>
          <a:off x="5596749" y="428374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534C9330-9A2A-8D89-8999-10A0F7A620C4}"/>
              </a:ext>
            </a:extLst>
          </p:cNvPr>
          <p:cNvGraphicFramePr>
            <a:graphicFrameLocks noGrp="1"/>
          </p:cNvGraphicFramePr>
          <p:nvPr/>
        </p:nvGraphicFramePr>
        <p:xfrm>
          <a:off x="5749149" y="443614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B4A544A-228B-F6D7-9396-1D1E60F54098}"/>
              </a:ext>
            </a:extLst>
          </p:cNvPr>
          <p:cNvSpPr txBox="1"/>
          <p:nvPr/>
        </p:nvSpPr>
        <p:spPr>
          <a:xfrm>
            <a:off x="695325" y="6217236"/>
            <a:ext cx="1875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(5,5,3)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CE59D-0C25-EA92-A91E-EC957FE9D8DD}"/>
              </a:ext>
            </a:extLst>
          </p:cNvPr>
          <p:cNvSpPr txBox="1"/>
          <p:nvPr/>
        </p:nvSpPr>
        <p:spPr>
          <a:xfrm>
            <a:off x="3619114" y="6217236"/>
            <a:ext cx="16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(3,3,3)</a:t>
            </a:r>
            <a:endParaRPr lang="ko-KR" altLang="en-US" sz="1400" dirty="0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id="{BFBE9425-9215-9CF5-204E-9D67DA63F3B6}"/>
              </a:ext>
            </a:extLst>
          </p:cNvPr>
          <p:cNvSpPr/>
          <p:nvPr/>
        </p:nvSpPr>
        <p:spPr>
          <a:xfrm rot="16200000">
            <a:off x="5502695" y="4108418"/>
            <a:ext cx="833769" cy="908618"/>
          </a:xfrm>
          <a:prstGeom prst="cube">
            <a:avLst>
              <a:gd name="adj" fmla="val 3570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236A6C1-6266-471C-2336-8BAA0412ABC3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450708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1AF175A-0EDE-0D6E-2173-8B9A2336C407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561452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667B256-9D9F-E9EB-847A-17684D2AB37D}"/>
              </a:ext>
            </a:extLst>
          </p:cNvPr>
          <p:cNvSpPr txBox="1"/>
          <p:nvPr/>
        </p:nvSpPr>
        <p:spPr>
          <a:xfrm>
            <a:off x="7147060" y="6263004"/>
            <a:ext cx="16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(1,1,3,5)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25297F-7077-F3BE-EAA4-D11B5B963801}"/>
              </a:ext>
            </a:extLst>
          </p:cNvPr>
          <p:cNvSpPr txBox="1"/>
          <p:nvPr/>
        </p:nvSpPr>
        <p:spPr>
          <a:xfrm>
            <a:off x="2580746" y="2860694"/>
            <a:ext cx="424995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공간연산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Conv)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89A431-D795-CD24-5970-C9800A8C6B29}"/>
              </a:ext>
            </a:extLst>
          </p:cNvPr>
          <p:cNvSpPr txBox="1"/>
          <p:nvPr/>
        </p:nvSpPr>
        <p:spPr>
          <a:xfrm>
            <a:off x="6965103" y="2861888"/>
            <a:ext cx="421326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채널연산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(Pointwise Conv)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49DAAC-AFA5-01B2-5F1A-0DCBCED84DF5}"/>
              </a:ext>
            </a:extLst>
          </p:cNvPr>
          <p:cNvSpPr/>
          <p:nvPr/>
        </p:nvSpPr>
        <p:spPr>
          <a:xfrm>
            <a:off x="7581720" y="320493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1E7DE53-1C74-C9A1-6386-C28388F36396}"/>
              </a:ext>
            </a:extLst>
          </p:cNvPr>
          <p:cNvSpPr/>
          <p:nvPr/>
        </p:nvSpPr>
        <p:spPr>
          <a:xfrm>
            <a:off x="7581720" y="380279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1AA2C26-C82D-AF46-C951-4ECC0C5EC9B0}"/>
              </a:ext>
            </a:extLst>
          </p:cNvPr>
          <p:cNvSpPr/>
          <p:nvPr/>
        </p:nvSpPr>
        <p:spPr>
          <a:xfrm>
            <a:off x="7734120" y="335733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E45A4E3-0CDB-E79B-D6A4-AB5901ADDA7A}"/>
              </a:ext>
            </a:extLst>
          </p:cNvPr>
          <p:cNvSpPr/>
          <p:nvPr/>
        </p:nvSpPr>
        <p:spPr>
          <a:xfrm>
            <a:off x="7886520" y="350973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8B71F82-8006-4B31-BBD7-B1564375EE55}"/>
              </a:ext>
            </a:extLst>
          </p:cNvPr>
          <p:cNvSpPr/>
          <p:nvPr/>
        </p:nvSpPr>
        <p:spPr>
          <a:xfrm>
            <a:off x="7734120" y="395519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0B8889B-F01C-BA39-2E5B-B39C4BBF9748}"/>
              </a:ext>
            </a:extLst>
          </p:cNvPr>
          <p:cNvSpPr/>
          <p:nvPr/>
        </p:nvSpPr>
        <p:spPr>
          <a:xfrm>
            <a:off x="7886520" y="410759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A74F19-3A2E-7F46-F04B-410CE260051B}"/>
              </a:ext>
            </a:extLst>
          </p:cNvPr>
          <p:cNvSpPr/>
          <p:nvPr/>
        </p:nvSpPr>
        <p:spPr>
          <a:xfrm>
            <a:off x="7581720" y="450814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0355186-3363-B535-64FE-CF545E52A8EA}"/>
              </a:ext>
            </a:extLst>
          </p:cNvPr>
          <p:cNvSpPr/>
          <p:nvPr/>
        </p:nvSpPr>
        <p:spPr>
          <a:xfrm>
            <a:off x="7734120" y="466054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5285FA2-95CE-10F9-BEE0-75D1F712146A}"/>
              </a:ext>
            </a:extLst>
          </p:cNvPr>
          <p:cNvSpPr/>
          <p:nvPr/>
        </p:nvSpPr>
        <p:spPr>
          <a:xfrm>
            <a:off x="7886520" y="481294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73917E-1475-D978-B9C2-62BAF829F829}"/>
              </a:ext>
            </a:extLst>
          </p:cNvPr>
          <p:cNvSpPr/>
          <p:nvPr/>
        </p:nvSpPr>
        <p:spPr>
          <a:xfrm>
            <a:off x="7581720" y="509607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5973FB8-BCC2-24A0-C7DC-7BEF6D64ED9C}"/>
              </a:ext>
            </a:extLst>
          </p:cNvPr>
          <p:cNvSpPr/>
          <p:nvPr/>
        </p:nvSpPr>
        <p:spPr>
          <a:xfrm>
            <a:off x="7734120" y="524847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8C068A7-7E13-8669-EB60-8F9AA0615DA4}"/>
              </a:ext>
            </a:extLst>
          </p:cNvPr>
          <p:cNvSpPr/>
          <p:nvPr/>
        </p:nvSpPr>
        <p:spPr>
          <a:xfrm>
            <a:off x="7886520" y="540087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379F637-BDCA-B925-600C-FB305B07B609}"/>
              </a:ext>
            </a:extLst>
          </p:cNvPr>
          <p:cNvSpPr/>
          <p:nvPr/>
        </p:nvSpPr>
        <p:spPr>
          <a:xfrm>
            <a:off x="7593100" y="572982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1206BE9-3CD3-3BFD-4CAA-B788EB611948}"/>
              </a:ext>
            </a:extLst>
          </p:cNvPr>
          <p:cNvSpPr/>
          <p:nvPr/>
        </p:nvSpPr>
        <p:spPr>
          <a:xfrm>
            <a:off x="7745500" y="588222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B64798-0B2D-1F0C-344D-70D35952D832}"/>
              </a:ext>
            </a:extLst>
          </p:cNvPr>
          <p:cNvSpPr/>
          <p:nvPr/>
        </p:nvSpPr>
        <p:spPr>
          <a:xfrm>
            <a:off x="7897900" y="603462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정육면체 60">
            <a:extLst>
              <a:ext uri="{FF2B5EF4-FFF2-40B4-BE49-F238E27FC236}">
                <a16:creationId xmlns:a16="http://schemas.microsoft.com/office/drawing/2014/main" id="{5EA27451-A678-14B9-8DC4-46C06B34F066}"/>
              </a:ext>
            </a:extLst>
          </p:cNvPr>
          <p:cNvSpPr/>
          <p:nvPr/>
        </p:nvSpPr>
        <p:spPr>
          <a:xfrm rot="16200000">
            <a:off x="7607743" y="3178913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정육면체 61">
            <a:extLst>
              <a:ext uri="{FF2B5EF4-FFF2-40B4-BE49-F238E27FC236}">
                <a16:creationId xmlns:a16="http://schemas.microsoft.com/office/drawing/2014/main" id="{183C10D6-7AF8-17FB-7916-EB7E58D36DDC}"/>
              </a:ext>
            </a:extLst>
          </p:cNvPr>
          <p:cNvSpPr/>
          <p:nvPr/>
        </p:nvSpPr>
        <p:spPr>
          <a:xfrm rot="16200000">
            <a:off x="7607743" y="3770056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정육면체 62">
            <a:extLst>
              <a:ext uri="{FF2B5EF4-FFF2-40B4-BE49-F238E27FC236}">
                <a16:creationId xmlns:a16="http://schemas.microsoft.com/office/drawing/2014/main" id="{C8080B5D-1293-669E-3C99-7231434C30FA}"/>
              </a:ext>
            </a:extLst>
          </p:cNvPr>
          <p:cNvSpPr/>
          <p:nvPr/>
        </p:nvSpPr>
        <p:spPr>
          <a:xfrm rot="16200000">
            <a:off x="7605888" y="4483989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정육면체 63">
            <a:extLst>
              <a:ext uri="{FF2B5EF4-FFF2-40B4-BE49-F238E27FC236}">
                <a16:creationId xmlns:a16="http://schemas.microsoft.com/office/drawing/2014/main" id="{3626E896-4DB5-9668-6A80-A184BD5BD7FE}"/>
              </a:ext>
            </a:extLst>
          </p:cNvPr>
          <p:cNvSpPr/>
          <p:nvPr/>
        </p:nvSpPr>
        <p:spPr>
          <a:xfrm rot="16200000">
            <a:off x="7607743" y="5074235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정육면체 64">
            <a:extLst>
              <a:ext uri="{FF2B5EF4-FFF2-40B4-BE49-F238E27FC236}">
                <a16:creationId xmlns:a16="http://schemas.microsoft.com/office/drawing/2014/main" id="{680C2271-6422-E27B-CF59-9BE640ACC3E5}"/>
              </a:ext>
            </a:extLst>
          </p:cNvPr>
          <p:cNvSpPr/>
          <p:nvPr/>
        </p:nvSpPr>
        <p:spPr>
          <a:xfrm rot="16200000">
            <a:off x="7615413" y="5703397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55A22C33-7C43-9BDF-C894-4D44B17C607C}"/>
              </a:ext>
            </a:extLst>
          </p:cNvPr>
          <p:cNvGraphicFramePr>
            <a:graphicFrameLocks noGrp="1"/>
          </p:cNvGraphicFramePr>
          <p:nvPr/>
        </p:nvGraphicFramePr>
        <p:xfrm>
          <a:off x="9132428" y="39804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EC556ED6-2CC8-EA5C-0596-072FA51FD963}"/>
              </a:ext>
            </a:extLst>
          </p:cNvPr>
          <p:cNvGraphicFramePr>
            <a:graphicFrameLocks noGrp="1"/>
          </p:cNvGraphicFramePr>
          <p:nvPr/>
        </p:nvGraphicFramePr>
        <p:xfrm>
          <a:off x="9284828" y="41328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FE65A489-D8E4-7A9F-29E2-DA6931F0BEC4}"/>
              </a:ext>
            </a:extLst>
          </p:cNvPr>
          <p:cNvGraphicFramePr>
            <a:graphicFrameLocks noGrp="1"/>
          </p:cNvGraphicFramePr>
          <p:nvPr/>
        </p:nvGraphicFramePr>
        <p:xfrm>
          <a:off x="9437228" y="42852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D5E32E99-03B3-44AB-FFF6-42DBC4C32BD1}"/>
              </a:ext>
            </a:extLst>
          </p:cNvPr>
          <p:cNvGraphicFramePr>
            <a:graphicFrameLocks noGrp="1"/>
          </p:cNvGraphicFramePr>
          <p:nvPr/>
        </p:nvGraphicFramePr>
        <p:xfrm>
          <a:off x="9589628" y="44376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C91BB75F-F2AC-87BF-872D-5EFE1E419699}"/>
              </a:ext>
            </a:extLst>
          </p:cNvPr>
          <p:cNvGraphicFramePr>
            <a:graphicFrameLocks noGrp="1"/>
          </p:cNvGraphicFramePr>
          <p:nvPr/>
        </p:nvGraphicFramePr>
        <p:xfrm>
          <a:off x="9742028" y="45900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FC72E352-F35F-FB48-462F-73E98971B9CE}"/>
              </a:ext>
            </a:extLst>
          </p:cNvPr>
          <p:cNvGraphicFramePr>
            <a:graphicFrameLocks noGrp="1"/>
          </p:cNvGraphicFramePr>
          <p:nvPr/>
        </p:nvGraphicFramePr>
        <p:xfrm>
          <a:off x="9894428" y="474248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76" name="정육면체 75">
            <a:extLst>
              <a:ext uri="{FF2B5EF4-FFF2-40B4-BE49-F238E27FC236}">
                <a16:creationId xmlns:a16="http://schemas.microsoft.com/office/drawing/2014/main" id="{25AB3136-EF86-BF76-DA44-C40924622313}"/>
              </a:ext>
            </a:extLst>
          </p:cNvPr>
          <p:cNvSpPr/>
          <p:nvPr/>
        </p:nvSpPr>
        <p:spPr>
          <a:xfrm rot="16200000">
            <a:off x="9199139" y="3949195"/>
            <a:ext cx="1274236" cy="1365817"/>
          </a:xfrm>
          <a:prstGeom prst="cube">
            <a:avLst>
              <a:gd name="adj" fmla="val 5711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7F4554-B7F7-C26E-8763-368488890A47}"/>
              </a:ext>
            </a:extLst>
          </p:cNvPr>
          <p:cNvSpPr txBox="1"/>
          <p:nvPr/>
        </p:nvSpPr>
        <p:spPr>
          <a:xfrm>
            <a:off x="5077794" y="5453214"/>
            <a:ext cx="184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(3,3,3)</a:t>
            </a:r>
            <a:endParaRPr lang="ko-KR" altLang="en-US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7CCB33-38B8-5DE4-4F34-5CDCA6D1ED9B}"/>
              </a:ext>
            </a:extLst>
          </p:cNvPr>
          <p:cNvSpPr txBox="1"/>
          <p:nvPr/>
        </p:nvSpPr>
        <p:spPr>
          <a:xfrm>
            <a:off x="9333729" y="5443564"/>
            <a:ext cx="184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(3,3,5)</a:t>
            </a:r>
            <a:endParaRPr lang="ko-KR" altLang="en-US" sz="1400" dirty="0"/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A8115B72-4CDD-D0F7-70A3-B99E58E32478}"/>
              </a:ext>
            </a:extLst>
          </p:cNvPr>
          <p:cNvSpPr/>
          <p:nvPr/>
        </p:nvSpPr>
        <p:spPr>
          <a:xfrm>
            <a:off x="3470331" y="3480459"/>
            <a:ext cx="222365" cy="2426244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왼쪽 중괄호 80">
            <a:extLst>
              <a:ext uri="{FF2B5EF4-FFF2-40B4-BE49-F238E27FC236}">
                <a16:creationId xmlns:a16="http://schemas.microsoft.com/office/drawing/2014/main" id="{EBE66D52-71BF-1651-B318-17A70B93B533}"/>
              </a:ext>
            </a:extLst>
          </p:cNvPr>
          <p:cNvSpPr/>
          <p:nvPr/>
        </p:nvSpPr>
        <p:spPr>
          <a:xfrm>
            <a:off x="7128001" y="3292155"/>
            <a:ext cx="243249" cy="2654143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B316EF6-07F7-FA9B-3711-06E954824385}"/>
              </a:ext>
            </a:extLst>
          </p:cNvPr>
          <p:cNvCxnSpPr/>
          <p:nvPr/>
        </p:nvCxnSpPr>
        <p:spPr>
          <a:xfrm>
            <a:off x="4657725" y="4422416"/>
            <a:ext cx="420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D67382-238B-BB8F-181A-49160B7438F0}"/>
              </a:ext>
            </a:extLst>
          </p:cNvPr>
          <p:cNvCxnSpPr/>
          <p:nvPr/>
        </p:nvCxnSpPr>
        <p:spPr>
          <a:xfrm>
            <a:off x="8520983" y="4406182"/>
            <a:ext cx="420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C4F756A-8E8B-E355-2941-23B423F10AEB}"/>
              </a:ext>
            </a:extLst>
          </p:cNvPr>
          <p:cNvSpPr txBox="1"/>
          <p:nvPr/>
        </p:nvSpPr>
        <p:spPr>
          <a:xfrm>
            <a:off x="2580745" y="2453991"/>
            <a:ext cx="8612349" cy="3077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깊이별 분리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C979E19-EA24-93DB-B92F-09B56A23998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5817DD-B353-120D-570F-0BB060907562}"/>
              </a:ext>
            </a:extLst>
          </p:cNvPr>
          <p:cNvSpPr/>
          <p:nvPr/>
        </p:nvSpPr>
        <p:spPr>
          <a:xfrm>
            <a:off x="2580746" y="2860694"/>
            <a:ext cx="4238974" cy="371008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9D773-1220-9B12-D8C6-C8325FB36AF6}"/>
              </a:ext>
            </a:extLst>
          </p:cNvPr>
          <p:cNvSpPr/>
          <p:nvPr/>
        </p:nvSpPr>
        <p:spPr>
          <a:xfrm>
            <a:off x="6954121" y="2860694"/>
            <a:ext cx="4238974" cy="370228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678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15DAD-A64F-546F-75A9-04E8D550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94C7910-1ADA-E7A7-3E09-2DE659158B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Network in Network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C2739D60-97DE-50F9-F9C2-37740D7121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D0BAB-7461-6210-3594-6D8AF5C01130}"/>
              </a:ext>
            </a:extLst>
          </p:cNvPr>
          <p:cNvSpPr txBox="1"/>
          <p:nvPr/>
        </p:nvSpPr>
        <p:spPr>
          <a:xfrm>
            <a:off x="581025" y="1204878"/>
            <a:ext cx="111353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spcAft>
                <a:spcPts val="240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사용하는 </a:t>
            </a:r>
            <a:r>
              <a:rPr lang="en-US" altLang="ko-KR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여러 개로 </a:t>
            </a:r>
            <a:r>
              <a:rPr lang="ko-KR" altLang="en-US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쌓여있는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구조라면 기존의 </a:t>
            </a:r>
            <a:r>
              <a:rPr lang="en-US" altLang="ko-KR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Fully connected layer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이용했을 때 보다 </a:t>
            </a:r>
            <a:r>
              <a:rPr lang="ko-KR" altLang="en-US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연산량이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훨씬 적음</a:t>
            </a:r>
            <a:endParaRPr lang="en-US" altLang="ko-KR" dirty="0">
              <a:solidFill>
                <a:srgbClr val="55555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D10FCB2-41B8-DBEE-F9E3-A2499D5D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33" y="2276295"/>
            <a:ext cx="6999874" cy="32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036AF0-914D-EF27-3B74-291886AA744F}"/>
              </a:ext>
            </a:extLst>
          </p:cNvPr>
          <p:cNvSpPr txBox="1"/>
          <p:nvPr/>
        </p:nvSpPr>
        <p:spPr>
          <a:xfrm>
            <a:off x="2141533" y="5542903"/>
            <a:ext cx="337366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1">
              <a:spcAft>
                <a:spcPts val="2400"/>
              </a:spcAft>
            </a:pPr>
            <a:r>
              <a:rPr lang="en-US" altLang="ko-KR" sz="1200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flatten 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해준 후 가중치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 w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하나하나 곱해져서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FC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전달되는 구조로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이때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모든 값 하나하나가 다른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가지므로 학습 파라미터 수가 많음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8F9DE-C90F-B02B-7E4C-B4BF7994E889}"/>
              </a:ext>
            </a:extLst>
          </p:cNvPr>
          <p:cNvSpPr txBox="1"/>
          <p:nvPr/>
        </p:nvSpPr>
        <p:spPr>
          <a:xfrm>
            <a:off x="6010275" y="5542902"/>
            <a:ext cx="313113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1">
              <a:spcAft>
                <a:spcPts val="2400"/>
              </a:spcAft>
            </a:pP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이용하여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Feature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값과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각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 하나하나가 곱해져 새로운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r>
              <a:rPr lang="ko-KR" altLang="en-US" sz="1200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　만들면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결과적으로는 연산과 차원이 훨씬 </a:t>
            </a:r>
            <a:r>
              <a:rPr lang="ko-KR" altLang="en-US" sz="1200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적어짐</a:t>
            </a:r>
            <a:endParaRPr lang="en-US" altLang="ko-KR" sz="1200" dirty="0">
              <a:solidFill>
                <a:srgbClr val="55555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06EAAA9-4F3F-3FF5-D258-E08E891D64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8FFF0-EAC1-74AA-1CD1-5317395D3361}"/>
              </a:ext>
            </a:extLst>
          </p:cNvPr>
          <p:cNvSpPr txBox="1"/>
          <p:nvPr/>
        </p:nvSpPr>
        <p:spPr>
          <a:xfrm>
            <a:off x="981075" y="3581400"/>
            <a:ext cx="1583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245=(7x7x5)</a:t>
            </a:r>
            <a:endParaRPr lang="ko-KR" altLang="en-US" sz="1600" dirty="0"/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0EF72643-AAD7-06AB-BB1D-EB63D0B7A98A}"/>
              </a:ext>
            </a:extLst>
          </p:cNvPr>
          <p:cNvSpPr/>
          <p:nvPr/>
        </p:nvSpPr>
        <p:spPr>
          <a:xfrm>
            <a:off x="9353551" y="2368854"/>
            <a:ext cx="2209800" cy="1551100"/>
          </a:xfrm>
          <a:prstGeom prst="borderCallout2">
            <a:avLst>
              <a:gd name="adj1" fmla="val 14443"/>
              <a:gd name="adj2" fmla="val -574"/>
              <a:gd name="adj3" fmla="val 18750"/>
              <a:gd name="adj4" fmla="val -16667"/>
              <a:gd name="adj5" fmla="val 59378"/>
              <a:gd name="adj6" fmla="val -34952"/>
            </a:avLst>
          </a:prstGeom>
          <a:solidFill>
            <a:schemeClr val="tx1"/>
          </a:solidFill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같이 입력채널이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D=5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(W,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H,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D)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(7,7,5)</a:t>
            </a:r>
          </a:p>
          <a:p>
            <a:pPr algn="ctr"/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convnet : 5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bias 1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(1x1x5 + 1)*5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계산하면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30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 훈련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0751D-3D75-5569-FD5E-2EF81AC9C842}"/>
              </a:ext>
            </a:extLst>
          </p:cNvPr>
          <p:cNvSpPr txBox="1"/>
          <p:nvPr/>
        </p:nvSpPr>
        <p:spPr>
          <a:xfrm>
            <a:off x="9688204" y="4107684"/>
            <a:ext cx="812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(1,1,5)</a:t>
            </a:r>
            <a:endParaRPr lang="ko-KR" altLang="en-US" sz="14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2F94D5C-DC24-9473-95BB-3AD8B7BC792F}"/>
              </a:ext>
            </a:extLst>
          </p:cNvPr>
          <p:cNvGrpSpPr/>
          <p:nvPr/>
        </p:nvGrpSpPr>
        <p:grpSpPr>
          <a:xfrm>
            <a:off x="10385992" y="4259903"/>
            <a:ext cx="886830" cy="869262"/>
            <a:chOff x="10293931" y="4130576"/>
            <a:chExt cx="1181101" cy="1157704"/>
          </a:xfrm>
        </p:grpSpPr>
        <p:sp>
          <p:nvSpPr>
            <p:cNvPr id="19" name="정육면체 18">
              <a:extLst>
                <a:ext uri="{FF2B5EF4-FFF2-40B4-BE49-F238E27FC236}">
                  <a16:creationId xmlns:a16="http://schemas.microsoft.com/office/drawing/2014/main" id="{9D7C6AE8-64C2-AADD-F455-D4CC0C824A8D}"/>
                </a:ext>
              </a:extLst>
            </p:cNvPr>
            <p:cNvSpPr/>
            <p:nvPr/>
          </p:nvSpPr>
          <p:spPr>
            <a:xfrm>
              <a:off x="10293931" y="41305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정육면체 21">
              <a:extLst>
                <a:ext uri="{FF2B5EF4-FFF2-40B4-BE49-F238E27FC236}">
                  <a16:creationId xmlns:a16="http://schemas.microsoft.com/office/drawing/2014/main" id="{EFA8C4B4-89D5-2969-D47E-61E0DFCF30F3}"/>
                </a:ext>
              </a:extLst>
            </p:cNvPr>
            <p:cNvSpPr/>
            <p:nvPr/>
          </p:nvSpPr>
          <p:spPr>
            <a:xfrm>
              <a:off x="10446331" y="42829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정육면체 22">
              <a:extLst>
                <a:ext uri="{FF2B5EF4-FFF2-40B4-BE49-F238E27FC236}">
                  <a16:creationId xmlns:a16="http://schemas.microsoft.com/office/drawing/2014/main" id="{28DA0519-6ED4-1235-2E3F-85DFFD140A68}"/>
                </a:ext>
              </a:extLst>
            </p:cNvPr>
            <p:cNvSpPr/>
            <p:nvPr/>
          </p:nvSpPr>
          <p:spPr>
            <a:xfrm>
              <a:off x="10598731" y="44353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정육면체 23">
              <a:extLst>
                <a:ext uri="{FF2B5EF4-FFF2-40B4-BE49-F238E27FC236}">
                  <a16:creationId xmlns:a16="http://schemas.microsoft.com/office/drawing/2014/main" id="{3E112AC1-C3AE-3B6E-EC49-013B906978CD}"/>
                </a:ext>
              </a:extLst>
            </p:cNvPr>
            <p:cNvSpPr/>
            <p:nvPr/>
          </p:nvSpPr>
          <p:spPr>
            <a:xfrm>
              <a:off x="10751131" y="45877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정육면체 24">
              <a:extLst>
                <a:ext uri="{FF2B5EF4-FFF2-40B4-BE49-F238E27FC236}">
                  <a16:creationId xmlns:a16="http://schemas.microsoft.com/office/drawing/2014/main" id="{4786CD8B-B84E-9255-762F-4F20A229E13B}"/>
                </a:ext>
              </a:extLst>
            </p:cNvPr>
            <p:cNvSpPr/>
            <p:nvPr/>
          </p:nvSpPr>
          <p:spPr>
            <a:xfrm>
              <a:off x="10903531" y="47401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37E5901-A5BC-67E6-6B8D-D7FC598C830B}"/>
              </a:ext>
            </a:extLst>
          </p:cNvPr>
          <p:cNvSpPr txBox="1"/>
          <p:nvPr/>
        </p:nvSpPr>
        <p:spPr>
          <a:xfrm>
            <a:off x="11387251" y="4449303"/>
            <a:ext cx="4736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620092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5FC2-EC44-0397-875A-5B0470EA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070D899-8AFD-1DFD-F5B8-96A8314FC4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1 x 1 Convolution (Pointwise Conv)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3C9C948-3DED-66F0-B839-106EACC776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D08E12-6588-122E-0C2E-10A5C2BD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62" y="1493736"/>
            <a:ext cx="8979627" cy="4731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578425-402B-8F5B-C857-9697D0F75552}"/>
              </a:ext>
            </a:extLst>
          </p:cNvPr>
          <p:cNvSpPr txBox="1"/>
          <p:nvPr/>
        </p:nvSpPr>
        <p:spPr>
          <a:xfrm>
            <a:off x="1219762" y="6206740"/>
            <a:ext cx="7894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hlinkClick r:id="rId3"/>
              </a:rPr>
              <a:t>What is 1x1 Convolution? Do we really achieve anything with this?</a:t>
            </a:r>
            <a:endParaRPr lang="ko-KR" altLang="en-US" sz="16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0053622-1AAF-226B-734C-6ADA7E64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506" y="1493736"/>
            <a:ext cx="5260758" cy="62985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BE6E05E-C964-2987-FD57-D9F73D5BC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954" y="4172130"/>
            <a:ext cx="5260758" cy="59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01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BAAE0-BC53-79D4-C67F-C1C00DE3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92B1A1-E9C7-5A10-8248-15170069961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Depthwise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separable convolutions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BE4D7-D52F-F8B7-42AA-B2A762F847D6}"/>
              </a:ext>
            </a:extLst>
          </p:cNvPr>
          <p:cNvSpPr txBox="1"/>
          <p:nvPr/>
        </p:nvSpPr>
        <p:spPr>
          <a:xfrm>
            <a:off x="535474" y="1596509"/>
            <a:ext cx="5762011" cy="4117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데이터의 본질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가로·세로의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모양(공간)"과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RGB의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조합(채널)"은 서로 완전히 독립적인 정보인 경우가 많은데 일반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이 두 가지 정보를 한 번에 억지로 섞어서 배우려다 보니 가설 공간이 너무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비대해져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Overfitting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)에 빠지기 쉬운 반면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두 개념을 완전히 분리하여 경사 하강법에게 "공간 특징 먼저 공부하고, 그 다음에 채널 특징 공부해!" 하고 문제를 분리하여 모델이 노이즈에 상관없이 중요한 핵심 패턴만 정확하게 일반화(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)하여 학습</a:t>
            </a: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C9AEA35F-6861-6F42-03E0-02F868B92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159" y="1689717"/>
            <a:ext cx="2238632" cy="442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AFB594-4A65-5CAB-C7EC-926BC6DCFFA7}"/>
              </a:ext>
            </a:extLst>
          </p:cNvPr>
          <p:cNvSpPr txBox="1"/>
          <p:nvPr/>
        </p:nvSpPr>
        <p:spPr>
          <a:xfrm>
            <a:off x="8923465" y="1809855"/>
            <a:ext cx="291439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1단계 그리기(공간 정보): 스케치북에 검은색 펜으로 캐릭터의 눈, 코, 입, 테두리 같은 '형태(선화)'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그리기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가로·세로의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공간 정보)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2단계 색칠하기 (채널 정보): 그려진 선 안에 빨간색, 초록색, 파란색 물감으로 '색칠(채색)＇하기 (RGB 채널 정보)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그림의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잡는 일과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형태를 무슨 색으로 채울지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채널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결정하는 일은 완전히 분리되어 독립적으로 처리해도 아무런 문제가 없는 서로 다른 차원의 정보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3F2A103-E210-3BCA-76FA-93F8D32AA3A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600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C4A4-16DB-22BA-DEBE-10342E8A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ACFD1B-A976-9D9B-C29E-3FEEB98EC7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Depthwise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separable convolutions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B4A1B-8AAE-C12C-32FC-710785C21CC4}"/>
              </a:ext>
            </a:extLst>
          </p:cNvPr>
          <p:cNvSpPr txBox="1"/>
          <p:nvPr/>
        </p:nvSpPr>
        <p:spPr>
          <a:xfrm>
            <a:off x="591164" y="1267861"/>
            <a:ext cx="11115061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입력의 각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독립적으로 공간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(Spatial convolution)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수행한 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점별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(Pointwise convolution, 1 by 1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적용하여 출력 채널들을 한데 섞어서 출력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AA26622-5F07-20C0-B6E2-B7B0B3DCD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2588928"/>
            <a:ext cx="5876925" cy="300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80CB1B-A300-CEDB-A155-0DA2551AC9A9}"/>
              </a:ext>
            </a:extLst>
          </p:cNvPr>
          <p:cNvSpPr txBox="1"/>
          <p:nvPr/>
        </p:nvSpPr>
        <p:spPr>
          <a:xfrm>
            <a:off x="847725" y="5650826"/>
            <a:ext cx="5876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convolution: a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convolution followed by a pointwise convolution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2B15B-2920-AC73-653C-67970429C401}"/>
              </a:ext>
            </a:extLst>
          </p:cNvPr>
          <p:cNvSpPr txBox="1"/>
          <p:nvPr/>
        </p:nvSpPr>
        <p:spPr>
          <a:xfrm>
            <a:off x="6991350" y="2588928"/>
            <a:ext cx="4857750" cy="361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Convolution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공간 특징 추출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채널을 모두 낱개로 쪼갠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(Split)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채널에 독립적으로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필터를 적용하면 채널끼리 정보가 섞이지 않은 상태에서 이미지의 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 공간 정보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테두리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만 집중적으로 학습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Pointwise Convolution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채널 특징 합성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단계를 거친 결과를 다시 하나로 모은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(Concatenate)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(1, 1) Conv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 연산을 통해 서로 따로 놀던 채널 간의 정보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(RGB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색상 조합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하나로 섞어서 최종 출력을 생성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46F4437-4410-4F22-68A5-03CC5D890B4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800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0C2E-56A1-A50F-F55F-9D39DEA4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EE05EDD-47CD-BCAE-48FE-9DE11D0FC5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Model Code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58425C60-6998-40CF-1DFA-EF0D20635C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6F919-73AC-4879-1174-FBCA3B4380DF}"/>
              </a:ext>
            </a:extLst>
          </p:cNvPr>
          <p:cNvSpPr txBox="1"/>
          <p:nvPr/>
        </p:nvSpPr>
        <p:spPr>
          <a:xfrm>
            <a:off x="1556699" y="2857747"/>
            <a:ext cx="6530027" cy="147732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공간연산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1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Conv)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 = layers.DepthwiseConv2D(3, padding="same")(x)</a:t>
            </a:r>
          </a:p>
          <a:p>
            <a:pPr rtl="0"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채널연산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(Pointwise Conv)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 = layers.Conv2D(5, 1, padding="same“)(x)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82E58-FA63-DDCC-0326-8113679C54A7}"/>
              </a:ext>
            </a:extLst>
          </p:cNvPr>
          <p:cNvSpPr txBox="1"/>
          <p:nvPr/>
        </p:nvSpPr>
        <p:spPr>
          <a:xfrm>
            <a:off x="1556700" y="5388068"/>
            <a:ext cx="6530026" cy="64633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1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layers.SeparableConv2D(5, 3, padding="same")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FE737E-D1E4-5B5D-26FB-0DB114EFC642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4821713" y="4335075"/>
            <a:ext cx="0" cy="105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B8769E-1301-ADC0-2575-2904026A7839}"/>
              </a:ext>
            </a:extLst>
          </p:cNvPr>
          <p:cNvSpPr txBox="1"/>
          <p:nvPr/>
        </p:nvSpPr>
        <p:spPr>
          <a:xfrm>
            <a:off x="634858" y="1179897"/>
            <a:ext cx="1115928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Image(5,5,3)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채널별로 분리한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각 채널별로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x 3 x 3)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파라미터를 훈련하고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공간과 채널 정보를 분리하여 순차적으로 학습하면 총 파라미터는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줄어들게 되어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알고리즘이 빨라지게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FB22B0-A33C-A2BA-D9BA-681FCFC37753}"/>
              </a:ext>
            </a:extLst>
          </p:cNvPr>
          <p:cNvSpPr txBox="1"/>
          <p:nvPr/>
        </p:nvSpPr>
        <p:spPr>
          <a:xfrm>
            <a:off x="8295889" y="3167398"/>
            <a:ext cx="2972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D8AA0-4CA4-914D-6050-CDD9B8179337}"/>
              </a:ext>
            </a:extLst>
          </p:cNvPr>
          <p:cNvSpPr txBox="1"/>
          <p:nvPr/>
        </p:nvSpPr>
        <p:spPr>
          <a:xfrm>
            <a:off x="8295889" y="3992401"/>
            <a:ext cx="2972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(1,1,3,5)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266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DCA8-F9CF-EE01-5357-7DFEAC9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C0ADB4E-B488-943F-AE13-01421308D4F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modularity-hierarchy-reuse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67BEC5-A3A7-AFE1-9C3C-CF66B8C5F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3" y="1864015"/>
            <a:ext cx="5157351" cy="457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D6099B6-9460-F580-00E8-C4206EBDEA1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4C671-6939-C268-E7E7-D5FF00FE8973}"/>
              </a:ext>
            </a:extLst>
          </p:cNvPr>
          <p:cNvSpPr txBox="1"/>
          <p:nvPr/>
        </p:nvSpPr>
        <p:spPr>
          <a:xfrm>
            <a:off x="9235440" y="4032455"/>
            <a:ext cx="2509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크기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커널 크기 K,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패딩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스트라이드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때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spatial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크기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E87A53-78BD-AAB9-54E5-7F3CB3C33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848" y="4935203"/>
            <a:ext cx="2095605" cy="7073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DBD8E4-42A9-9814-BEF5-600BB75DA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738" y="2946475"/>
            <a:ext cx="2791253" cy="5337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D232B5B-BE87-418A-F220-4F044F6B7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476" y="3890242"/>
            <a:ext cx="2752333" cy="5115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2C6AC2A-7554-291D-4EBE-BE0AF4A49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7379" y="4884288"/>
            <a:ext cx="2846857" cy="56158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10DA37-02D0-2D93-CD29-902727BDCF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8262" y="5869692"/>
            <a:ext cx="2780133" cy="56158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BEF4B8-4448-E366-43F7-8447F38F99A0}"/>
              </a:ext>
            </a:extLst>
          </p:cNvPr>
          <p:cNvSpPr txBox="1"/>
          <p:nvPr/>
        </p:nvSpPr>
        <p:spPr>
          <a:xfrm>
            <a:off x="572842" y="13169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아키텍처의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엔트리 플로우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(Entry Flow)</a:t>
            </a:r>
            <a:endParaRPr lang="ko-KR" altLang="en-US" dirty="0"/>
          </a:p>
        </p:txBody>
      </p:sp>
      <p:sp>
        <p:nvSpPr>
          <p:cNvPr id="21" name="설명선: 굽은 선 20">
            <a:extLst>
              <a:ext uri="{FF2B5EF4-FFF2-40B4-BE49-F238E27FC236}">
                <a16:creationId xmlns:a16="http://schemas.microsoft.com/office/drawing/2014/main" id="{5005418E-E95C-80B4-4A73-D2DC2EC16085}"/>
              </a:ext>
            </a:extLst>
          </p:cNvPr>
          <p:cNvSpPr/>
          <p:nvPr/>
        </p:nvSpPr>
        <p:spPr>
          <a:xfrm>
            <a:off x="7196980" y="1746996"/>
            <a:ext cx="3983781" cy="789497"/>
          </a:xfrm>
          <a:prstGeom prst="borderCallout2">
            <a:avLst>
              <a:gd name="adj1" fmla="val 18750"/>
              <a:gd name="adj2" fmla="val -1399"/>
              <a:gd name="adj3" fmla="val 18750"/>
              <a:gd name="adj4" fmla="val -16667"/>
              <a:gd name="adj5" fmla="val 105430"/>
              <a:gd name="adj6" fmla="val -37414"/>
            </a:avLst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반복되는 레이어 블록과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299 x 299 x 3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19 x 19 x 728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공간 크기는 점차 줄어들고 채널은 깊어지는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두꺼워지는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피처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E5AD3-284E-BBC5-6EB0-C85A2270E09F}"/>
              </a:ext>
            </a:extLst>
          </p:cNvPr>
          <p:cNvSpPr txBox="1"/>
          <p:nvPr/>
        </p:nvSpPr>
        <p:spPr>
          <a:xfrm>
            <a:off x="9048116" y="2527235"/>
            <a:ext cx="27912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“entry flow” of the </a:t>
            </a:r>
            <a:r>
              <a:rPr lang="en-US" altLang="ko-KR" sz="10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0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architecture: note the repeated layer blocks and the gradually shrinking and deepening feature maps, going from 299 x 299 x 3 to 19 x 19 x 728.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7712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15E22-4850-A5B6-2260-377DCA7A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ADCD64-6D0B-0A15-9C53-ED0C516206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328889-C35B-9B25-0919-FAB35B53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5" y="1772290"/>
            <a:ext cx="3586187" cy="279002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00053F9-46BA-0064-334D-1A4CFEFDA2E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8EB64-774A-CE97-1C45-1386DE051FE3}"/>
              </a:ext>
            </a:extLst>
          </p:cNvPr>
          <p:cNvSpPr txBox="1"/>
          <p:nvPr/>
        </p:nvSpPr>
        <p:spPr>
          <a:xfrm>
            <a:off x="3778461" y="1772290"/>
            <a:ext cx="6546639" cy="443198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=(299, 299, 3))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1~2.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layers.Conv2D(32, 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layers.Conv2D(64, 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브랜치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저장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3~5.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SeparableConv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layers.SeparableConv2D(128, 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layers.ReLU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layers.SeparableConv2D(128, 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layers.MaxPooling2D(3,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투영 및 결합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layers.Conv2D(128,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=2)(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layers.add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99773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0945-A76C-F347-C75E-647D6D3D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3F3F84-50F4-94F9-3269-9F3484FF055C}"/>
              </a:ext>
            </a:extLst>
          </p:cNvPr>
          <p:cNvSpPr txBox="1">
            <a:spLocks/>
          </p:cNvSpPr>
          <p:nvPr/>
        </p:nvSpPr>
        <p:spPr>
          <a:xfrm>
            <a:off x="475644" y="481983"/>
            <a:ext cx="872550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Putting it together: A mini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-like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7BC8D1-B71A-7FE4-708B-5E9521639944}"/>
              </a:ext>
            </a:extLst>
          </p:cNvPr>
          <p:cNvSpPr txBox="1"/>
          <p:nvPr/>
        </p:nvSpPr>
        <p:spPr>
          <a:xfrm>
            <a:off x="591164" y="1267861"/>
            <a:ext cx="11115061" cy="494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이제 이 모든 아이디어를 하나의 모델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분리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극한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(Extreme)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까지 밀어붙인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인셉션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모아보면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 핵심 아키텍처를 사용하여 보자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SeparableConv2D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몸통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대신 이 분리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뼈대로 삼아 모델의 무게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(FLOPS)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획기적으로 줄여 성능은 더 올라가고 모델은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가벼워짐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BatchNormalization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 윤활유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얇고 깊은 분리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층을 통과할 때마다 미쳐 날뛰는 데이터의 분포를 주기적으로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사이로 정렬시켜 경사 하강법이 길을 잃지 않고 안정적으로 가중치를 구함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우회 도로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분리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배치 정규화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촘촘하게 박힌 메인 도로 옆에 아무런 변형도 없는 순수한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우회 지름길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만들어 딥러닝 층이 수십 층 이상으로 깊어져도 오차 신호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그래디언트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소실되지 않고 맨 아래층까지 무사히 전달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C303DD-15C2-F714-1E80-9160F66755D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074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FD859-7B24-C7BE-46D0-9D91BD1C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8E9DD07-5412-89CE-DF11-C40C758483F2}"/>
              </a:ext>
            </a:extLst>
          </p:cNvPr>
          <p:cNvSpPr txBox="1">
            <a:spLocks/>
          </p:cNvSpPr>
          <p:nvPr/>
        </p:nvSpPr>
        <p:spPr>
          <a:xfrm>
            <a:off x="475644" y="481983"/>
            <a:ext cx="872550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Putting it together: A mini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-like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41E400-4A34-0A79-08F6-E763CEF9B13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651CE-CA0D-E27B-6E88-C201B386D035}"/>
              </a:ext>
            </a:extLst>
          </p:cNvPr>
          <p:cNvSpPr txBox="1"/>
          <p:nvPr/>
        </p:nvSpPr>
        <p:spPr>
          <a:xfrm>
            <a:off x="633108" y="1248422"/>
            <a:ext cx="7082142" cy="537070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(shape=(180, 180, 3))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layers.Rescaling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(1.0 / 255)(inputs)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layers.Conv2D(filters=32,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=5,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use_bias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=False)(x)</a:t>
            </a:r>
          </a:p>
          <a:p>
            <a:pPr>
              <a:buNone/>
            </a:pPr>
            <a:endParaRPr lang="en-US" altLang="ko-KR" sz="7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size in [32, 64, 128, 256, 512]: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residual = x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layers.BatchNormalization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layers.Activation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layers.SeparableConv2D(size, 3, padding="same",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use_bias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=False)(x)</a:t>
            </a:r>
          </a:p>
          <a:p>
            <a:pPr>
              <a:buNone/>
            </a:pP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layers.BatchNormalization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layers.Activation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layers.SeparableConv2D(size, 3, padding="same",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use_bias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=False)(x)</a:t>
            </a:r>
          </a:p>
          <a:p>
            <a:pPr>
              <a:buNone/>
            </a:pP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layers.MaxPooling2D(3, strides=2, padding="same")(x)</a:t>
            </a:r>
          </a:p>
          <a:p>
            <a:pPr>
              <a:buNone/>
            </a:pP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residual = layers.Conv2D(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size, 1, strides=2, padding="same",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use_bias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=False)(residual)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layers.add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([x, residual])</a:t>
            </a:r>
          </a:p>
          <a:p>
            <a:pPr>
              <a:buNone/>
            </a:pP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(0.5)(x)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activation="sigmoid")(x)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8CBE4-44F8-E67F-8728-76B979B36364}"/>
              </a:ext>
            </a:extLst>
          </p:cNvPr>
          <p:cNvSpPr txBox="1"/>
          <p:nvPr/>
        </p:nvSpPr>
        <p:spPr>
          <a:xfrm>
            <a:off x="7715250" y="1430984"/>
            <a:ext cx="413385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ea"/>
              <a:buAutoNum type="circleNumDbPlain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및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(Input &amp; Preprocessing),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반복되는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잔차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블록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Block)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algn="just">
              <a:buFont typeface="+mj-ea"/>
              <a:buAutoNum type="circleNumDbPlain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[32, 64, 128, 256, 512]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채널 순서대로 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단계의 블록을 반복한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 최종적으로 </a:t>
            </a:r>
          </a:p>
          <a:p>
            <a:pPr marL="342900" indent="-342900" algn="just">
              <a:buFont typeface="+mj-ea"/>
              <a:buAutoNum type="circleNumDbPlain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Global Average Pooling 2D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공간 차원을 평균 내어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(512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압축하여 최종 분류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사용: 일반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대신 사용하여 파라미터 수와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연산량을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대폭 절감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Residual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Connection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잔차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연결): 층이 깊어져도 기울기 소실(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없이 안정적으로 학습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GAP (Global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대신 채널별 평균값을 사용하여 파라미터 수를 획기적으로 줄이고 과적합을 예방</a:t>
            </a:r>
          </a:p>
        </p:txBody>
      </p:sp>
    </p:spTree>
    <p:extLst>
      <p:ext uri="{BB962C8B-B14F-4D97-AF65-F5344CB8AC3E}">
        <p14:creationId xmlns:p14="http://schemas.microsoft.com/office/powerpoint/2010/main" val="411260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D452-9608-A826-7CC5-EA4E0DC6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5D08A09-CCB4-4D19-F5F9-C94539F1F711}"/>
              </a:ext>
            </a:extLst>
          </p:cNvPr>
          <p:cNvSpPr txBox="1">
            <a:spLocks/>
          </p:cNvSpPr>
          <p:nvPr/>
        </p:nvSpPr>
        <p:spPr>
          <a:xfrm>
            <a:off x="475644" y="481983"/>
            <a:ext cx="872550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Architecture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EEE15C5-BCA6-58BD-4A49-01DCA62EF9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FD4F60-2232-787A-9EF2-62D98E45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76" y="1319955"/>
            <a:ext cx="5837149" cy="53226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2E183-1BEE-D9F7-AFE9-2BAB2EE539F9}"/>
              </a:ext>
            </a:extLst>
          </p:cNvPr>
          <p:cNvSpPr txBox="1"/>
          <p:nvPr/>
        </p:nvSpPr>
        <p:spPr>
          <a:xfrm>
            <a:off x="6551524" y="1319955"/>
            <a:ext cx="5029200" cy="190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Each convolutional and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separable convolutional layer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is followed by a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batch normalization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layer, which is not included in the figure. The architecture uses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around each module, except for the first and last ones.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351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5EB9-826C-E844-135A-60A4E4CB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35DC5-A84F-1F2A-25EF-17BD03C50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Pretrained Model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2A5F81F-A4FA-D039-7502-FBB2B791F6A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662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4F72-0D22-F30C-5D2C-F4FC4927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00ABFF-DE7D-C229-9373-CA3C3DB34A5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Reusing Pretrained Layers(Transfer Learning)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E0C01-65C2-DA6D-DC83-F3BB01FB5714}"/>
              </a:ext>
            </a:extLst>
          </p:cNvPr>
          <p:cNvSpPr txBox="1"/>
          <p:nvPr/>
        </p:nvSpPr>
        <p:spPr>
          <a:xfrm>
            <a:off x="616189" y="1248343"/>
            <a:ext cx="11210052" cy="83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인공지능이 이미 한 분야에서 쌓은 지식과 경험을 바탕으로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분야의 문제를 훨씬 더 빠르게 배우도록 만드는 기술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F2B72AE6-8173-1D60-6E7F-357DC0FA6F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EDEBAD2-8684-2304-B62D-3AE104E37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84306"/>
              </p:ext>
            </p:extLst>
          </p:nvPr>
        </p:nvGraphicFramePr>
        <p:xfrm>
          <a:off x="1461254" y="2659640"/>
          <a:ext cx="9574292" cy="2259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772">
                  <a:extLst>
                    <a:ext uri="{9D8B030D-6E8A-4147-A177-3AD203B41FA5}">
                      <a16:colId xmlns:a16="http://schemas.microsoft.com/office/drawing/2014/main" val="2486939099"/>
                    </a:ext>
                  </a:extLst>
                </a:gridCol>
                <a:gridCol w="6573520">
                  <a:extLst>
                    <a:ext uri="{9D8B030D-6E8A-4147-A177-3AD203B41FA5}">
                      <a16:colId xmlns:a16="http://schemas.microsoft.com/office/drawing/2014/main" val="198867057"/>
                    </a:ext>
                  </a:extLst>
                </a:gridCol>
              </a:tblGrid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기존모델 </a:t>
                      </a:r>
                      <a:r>
                        <a:rPr lang="en-US" altLang="ko-KR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Layers</a:t>
                      </a:r>
                      <a:endParaRPr lang="ko-KR" altLang="en-US" sz="1600" b="0" kern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Reusing </a:t>
                      </a:r>
                      <a:r>
                        <a:rPr lang="ko-KR" altLang="en-US" sz="1600" b="0" kern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885245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출력층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(Output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❌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무조건 삭제 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내 정답 개수에 맞게 새로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239614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위쪽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은닉층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(Upper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32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⚠️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삭제하거나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내 데이터에 맞게 다시 학습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(Fine-tuning)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137511"/>
                  </a:ext>
                </a:extLst>
              </a:tr>
              <a:tr h="560223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아래쪽 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은닉층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(Lower Layer)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⭕ 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그대로 재사용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! (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가중치 고정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Freeze)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611194"/>
                  </a:ext>
                </a:extLst>
              </a:tr>
            </a:tbl>
          </a:graphicData>
        </a:graphic>
      </p:graphicFrame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B42D3C9-6F9D-BE4D-D8F4-5B3D5F2F936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59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ACD1-133E-A8E0-DAC4-442DF729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E8A6FF-936D-03D8-F209-CB137EAF7E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병목현상 해결방안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0627B14D-DAB9-735D-C93D-210C0FC4B6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D40D1-E20F-03EC-C5C9-3F818DC810F8}"/>
              </a:ext>
            </a:extLst>
          </p:cNvPr>
          <p:cNvSpPr txBox="1"/>
          <p:nvPr/>
        </p:nvSpPr>
        <p:spPr>
          <a:xfrm>
            <a:off x="878959" y="1559600"/>
            <a:ext cx="10578027" cy="462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초기화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kernel_initializer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처음 출발할 때 가중치를 적절한 크기로 잡아서 신호가 소실되거나 폭발하는 것을 방지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(activation):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계열이나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ELU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써서 뉴런이 중간에 죽어버리는 현상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(Dying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차단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배치 정규화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BatchNormalization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사이마다 데이터 세탁기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분산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두어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지그재그로 헤매지 않고 직진하게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전이 학습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(Transfer Learning):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맨땅에 헤딩하지 않고 천재 모델의 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아래쪽 레이어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빌려와 속성 과외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시킴</a:t>
            </a:r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DD545D5-2F34-F510-D73D-E11F90AD193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254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7A22-5B2D-55CC-6BC0-84D4BD7F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2BB1-87C3-DA82-BB94-EDDED7830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Appendix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FA7B6A5-DDC8-A121-0FC2-ACBB252F804E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66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51E9-3B25-6785-143D-58355B0D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AEBC776-0CAD-E93F-5C7F-956B4EF69F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7487F43-AF32-A507-61B2-6413456E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41" y="4354896"/>
            <a:ext cx="2575101" cy="4922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B66AB12-21DB-DCBC-B5A7-9C1FDBA3AB4C}"/>
              </a:ext>
            </a:extLst>
          </p:cNvPr>
          <p:cNvSpPr txBox="1"/>
          <p:nvPr/>
        </p:nvSpPr>
        <p:spPr>
          <a:xfrm>
            <a:off x="571500" y="1226801"/>
            <a:ext cx="11049000" cy="254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그래디언트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소실(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 발생 문제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출력층에서 기록된 오차(모델의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손실값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기반으로 맨 앞의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조정하려면 오차 정보를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f4,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f3,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거쳐 역방향으로 계산하여야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하나 만약 함수의 사슬이 너무 깊어지면,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노이즈가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그래디언트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(오차 신호) 정보를 압도하기 시작하고, 결국 역전파가 작동을 멈추게 되어 모델이 전혀 학습되지 않는 '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그래디언트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소실(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Vanishing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 문제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FE4C426-36D0-B95D-0A3D-29F4B3C9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957" y="4354896"/>
            <a:ext cx="3168002" cy="75628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7329A31-2B15-3D4E-22A7-1FF770AC04D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래픽 4" descr="학사모">
            <a:extLst>
              <a:ext uri="{FF2B5EF4-FFF2-40B4-BE49-F238E27FC236}">
                <a16:creationId xmlns:a16="http://schemas.microsoft.com/office/drawing/2014/main" id="{443516DC-C86E-1673-E279-090CF5E95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4650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29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6204-3E91-8F64-9396-F8A66298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2CA2D95-3B03-E6E5-BD61-46C98912FC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904C8-EBB7-391D-31B7-99B879CD2509}"/>
              </a:ext>
            </a:extLst>
          </p:cNvPr>
          <p:cNvSpPr txBox="1"/>
          <p:nvPr/>
        </p:nvSpPr>
        <p:spPr>
          <a:xfrm>
            <a:off x="591164" y="1267861"/>
            <a:ext cx="11252493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Residual connections</a:t>
            </a:r>
          </a:p>
          <a:p>
            <a:pPr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또는 레이어 블록의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그것의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출력값에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그냥 다시 더해주는 것으로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2015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 마이크로소프트가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ResNet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레즈넷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제품군과 함께 소개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오차가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심층 메인 도로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(F(x))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vanish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되더라도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최소한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 ×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오차 신호 만큼은 아무런 손실과 노이즈 없이 맨 앞 레이어까지 다이렉트로 배달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B26DF13-611C-DE7B-4701-3550C78E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17" y="3713662"/>
            <a:ext cx="4385069" cy="82331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9F82750-E007-11E9-9B64-DB4A4172F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17" y="4535670"/>
            <a:ext cx="2491410" cy="57210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5153C6C-0891-CB32-D7D4-FE023D95F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03" y="5379033"/>
            <a:ext cx="2421208" cy="764592"/>
          </a:xfrm>
          <a:prstGeom prst="rect">
            <a:avLst/>
          </a:prstGeom>
        </p:spPr>
      </p:pic>
      <p:pic>
        <p:nvPicPr>
          <p:cNvPr id="2" name="그래픽 1" descr="학사모">
            <a:extLst>
              <a:ext uri="{FF2B5EF4-FFF2-40B4-BE49-F238E27FC236}">
                <a16:creationId xmlns:a16="http://schemas.microsoft.com/office/drawing/2014/main" id="{D3566E73-4B34-6DB2-FC0B-C57330B22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4650" y="299420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8F15D8-AC40-C13E-E229-3CB533E594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90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7F0-43E9-CD4D-E782-CBFD9084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CECB5D-43AE-687B-390E-0801EA4E107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Residual connections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E994C-9ECD-1AEB-5E05-02F78DB1FFB1}"/>
              </a:ext>
            </a:extLst>
          </p:cNvPr>
          <p:cNvSpPr txBox="1"/>
          <p:nvPr/>
        </p:nvSpPr>
        <p:spPr>
          <a:xfrm>
            <a:off x="591164" y="1213431"/>
            <a:ext cx="11115061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첫 번째 블록의 마지막 관문에서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(74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128)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되었을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왼쪽 지름길과 더하기 위해서는 블록의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출력값에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다시 더해준다는 것은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출력값의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형태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(Shape)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형태와 반드시 같아야 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함수가 없는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filter(1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128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Conv2D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(149 x 149 x 32)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적용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선형변환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(74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128)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만들어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출력값에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합산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17E1368-2FE5-A638-6F32-C8A34FCB1120}"/>
              </a:ext>
            </a:extLst>
          </p:cNvPr>
          <p:cNvGrpSpPr/>
          <p:nvPr/>
        </p:nvGrpSpPr>
        <p:grpSpPr>
          <a:xfrm>
            <a:off x="1078100" y="3246239"/>
            <a:ext cx="6284726" cy="2790022"/>
            <a:chOff x="1535299" y="3015621"/>
            <a:chExt cx="6626437" cy="280968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6E6C587-4215-6BAC-0B8E-9F66846CB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5299" y="3015621"/>
              <a:ext cx="3781174" cy="280968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BC8ABEF-5E14-AADB-391B-00D772B67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3133" y="3015621"/>
              <a:ext cx="2898603" cy="2809689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9A49B3-C3A8-5D20-0B8F-FFE83F752F8A}"/>
              </a:ext>
            </a:extLst>
          </p:cNvPr>
          <p:cNvSpPr/>
          <p:nvPr/>
        </p:nvSpPr>
        <p:spPr>
          <a:xfrm>
            <a:off x="4991100" y="5038725"/>
            <a:ext cx="1943100" cy="997536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69D91F-3536-7DE8-EC57-8C4833A885E3}"/>
              </a:ext>
            </a:extLst>
          </p:cNvPr>
          <p:cNvSpPr/>
          <p:nvPr/>
        </p:nvSpPr>
        <p:spPr>
          <a:xfrm>
            <a:off x="4991100" y="4048125"/>
            <a:ext cx="1943100" cy="8382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F69D016-F4F7-6752-5BF0-209B32F50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57" y="3975458"/>
            <a:ext cx="2680806" cy="61559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1B506C-C9E0-8649-67FB-6A08C4EBA292}"/>
              </a:ext>
            </a:extLst>
          </p:cNvPr>
          <p:cNvSpPr/>
          <p:nvPr/>
        </p:nvSpPr>
        <p:spPr>
          <a:xfrm>
            <a:off x="847726" y="5028164"/>
            <a:ext cx="1276350" cy="56197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FD37E0-03D1-5526-23F2-F11B79C3216D}"/>
              </a:ext>
            </a:extLst>
          </p:cNvPr>
          <p:cNvSpPr/>
          <p:nvPr/>
        </p:nvSpPr>
        <p:spPr>
          <a:xfrm>
            <a:off x="9419160" y="3817901"/>
            <a:ext cx="658290" cy="887449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09C0AF-5629-86E4-2E6D-2FB75546484D}"/>
              </a:ext>
            </a:extLst>
          </p:cNvPr>
          <p:cNvSpPr/>
          <p:nvPr/>
        </p:nvSpPr>
        <p:spPr>
          <a:xfrm>
            <a:off x="10296006" y="3817901"/>
            <a:ext cx="381519" cy="88744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F4482-0830-D58D-C1FF-07A64F54FFB5}"/>
              </a:ext>
            </a:extLst>
          </p:cNvPr>
          <p:cNvSpPr txBox="1"/>
          <p:nvPr/>
        </p:nvSpPr>
        <p:spPr>
          <a:xfrm>
            <a:off x="2871193" y="6191351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99D37C-70AB-22B9-59AB-5C78631662E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0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0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7E50-40C1-F5D3-0F4A-BB584250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77C7B0-CF67-EB4A-6DAD-136D69E9DB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Inception v1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model(</a:t>
            </a:r>
            <a:r>
              <a:rPr lang="en-US" altLang="ko-KR" sz="28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GoogLeNet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F510D2CD-D626-8EEF-74AE-75A94468AD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1920" y="35102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b="1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0BB6560-6A88-804A-2C6B-CFA03EB79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947" y="2396139"/>
            <a:ext cx="7579773" cy="405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9B4119-A13D-3BE2-E27D-FAF590D5069C}"/>
              </a:ext>
            </a:extLst>
          </p:cNvPr>
          <p:cNvSpPr txBox="1"/>
          <p:nvPr/>
        </p:nvSpPr>
        <p:spPr>
          <a:xfrm>
            <a:off x="3423920" y="5962164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(256, 28, 28)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A3444-9E7E-500C-E1BD-6C08764420B6}"/>
              </a:ext>
            </a:extLst>
          </p:cNvPr>
          <p:cNvSpPr txBox="1"/>
          <p:nvPr/>
        </p:nvSpPr>
        <p:spPr>
          <a:xfrm>
            <a:off x="2880995" y="4604782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(64,28,28)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EA7AC-08C5-820F-6CE4-BCE883CFF2DA}"/>
              </a:ext>
            </a:extLst>
          </p:cNvPr>
          <p:cNvSpPr txBox="1"/>
          <p:nvPr/>
        </p:nvSpPr>
        <p:spPr>
          <a:xfrm>
            <a:off x="523269" y="1251305"/>
            <a:ext cx="111258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Inception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모듈은 하나의 입력을 4개의 경로로 동시에 통과시키며 이때 이미지의 크기(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유지하는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(3,3), (5,5) 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연산에 적절한 패딩(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)이 적용을 가정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A9405-2F28-4089-5106-D3BD91314C65}"/>
              </a:ext>
            </a:extLst>
          </p:cNvPr>
          <p:cNvSpPr txBox="1"/>
          <p:nvPr/>
        </p:nvSpPr>
        <p:spPr>
          <a:xfrm>
            <a:off x="4719821" y="4155312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(128,28,28)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BE435-D1E7-6B90-0755-9D203B10CBF4}"/>
              </a:ext>
            </a:extLst>
          </p:cNvPr>
          <p:cNvSpPr txBox="1"/>
          <p:nvPr/>
        </p:nvSpPr>
        <p:spPr>
          <a:xfrm>
            <a:off x="4666371" y="5011371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(32, 28, 28)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D7626-0490-EF91-6987-BAFAC1E7CB73}"/>
              </a:ext>
            </a:extLst>
          </p:cNvPr>
          <p:cNvSpPr txBox="1"/>
          <p:nvPr/>
        </p:nvSpPr>
        <p:spPr>
          <a:xfrm>
            <a:off x="6471920" y="4155312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(32,28,28)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D89F1-6C1A-89A1-D278-3ED7B3DC6F78}"/>
              </a:ext>
            </a:extLst>
          </p:cNvPr>
          <p:cNvSpPr txBox="1"/>
          <p:nvPr/>
        </p:nvSpPr>
        <p:spPr>
          <a:xfrm>
            <a:off x="6488307" y="5011371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(16,28,28)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69A23C-7F76-1F41-CA21-B7D68F26EB63}"/>
              </a:ext>
            </a:extLst>
          </p:cNvPr>
          <p:cNvSpPr txBox="1"/>
          <p:nvPr/>
        </p:nvSpPr>
        <p:spPr>
          <a:xfrm>
            <a:off x="8059431" y="5011371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(256,28,28)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6A828-D26B-0747-C0D1-567403F5D52D}"/>
              </a:ext>
            </a:extLst>
          </p:cNvPr>
          <p:cNvSpPr txBox="1"/>
          <p:nvPr/>
        </p:nvSpPr>
        <p:spPr>
          <a:xfrm>
            <a:off x="8224019" y="4155312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(32,28,28)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5DE359-6246-D235-C0DA-8985527C5D53}"/>
              </a:ext>
            </a:extLst>
          </p:cNvPr>
          <p:cNvSpPr txBox="1"/>
          <p:nvPr/>
        </p:nvSpPr>
        <p:spPr>
          <a:xfrm>
            <a:off x="3405371" y="2740345"/>
            <a:ext cx="151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(*256, 28, 28)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27674-9EE4-7249-C9B9-3095F710BF1C}"/>
              </a:ext>
            </a:extLst>
          </p:cNvPr>
          <p:cNvSpPr txBox="1"/>
          <p:nvPr/>
        </p:nvSpPr>
        <p:spPr>
          <a:xfrm>
            <a:off x="1200466" y="2567205"/>
            <a:ext cx="1809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*256=64 +128+32+32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id="{B30BF38F-53C9-1EA8-263B-8869F666E963}"/>
              </a:ext>
            </a:extLst>
          </p:cNvPr>
          <p:cNvSpPr/>
          <p:nvPr/>
        </p:nvSpPr>
        <p:spPr>
          <a:xfrm>
            <a:off x="2109385" y="4166742"/>
            <a:ext cx="377190" cy="374412"/>
          </a:xfrm>
          <a:prstGeom prst="cube">
            <a:avLst>
              <a:gd name="adj" fmla="val 621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A0EB91F0-80E0-648D-BD46-E7A051E3C8C1}"/>
              </a:ext>
            </a:extLst>
          </p:cNvPr>
          <p:cNvSpPr/>
          <p:nvPr/>
        </p:nvSpPr>
        <p:spPr>
          <a:xfrm>
            <a:off x="3891417" y="3314412"/>
            <a:ext cx="774954" cy="770995"/>
          </a:xfrm>
          <a:prstGeom prst="cube">
            <a:avLst>
              <a:gd name="adj" fmla="val 790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정육면체 21">
            <a:extLst>
              <a:ext uri="{FF2B5EF4-FFF2-40B4-BE49-F238E27FC236}">
                <a16:creationId xmlns:a16="http://schemas.microsoft.com/office/drawing/2014/main" id="{70C1B03A-AC3F-FF65-2700-D7A59C67F698}"/>
              </a:ext>
            </a:extLst>
          </p:cNvPr>
          <p:cNvSpPr/>
          <p:nvPr/>
        </p:nvSpPr>
        <p:spPr>
          <a:xfrm>
            <a:off x="6776720" y="3332664"/>
            <a:ext cx="302877" cy="299652"/>
          </a:xfrm>
          <a:prstGeom prst="cube">
            <a:avLst>
              <a:gd name="adj" fmla="val 527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정육면체 22">
            <a:extLst>
              <a:ext uri="{FF2B5EF4-FFF2-40B4-BE49-F238E27FC236}">
                <a16:creationId xmlns:a16="http://schemas.microsoft.com/office/drawing/2014/main" id="{5FC713F6-65BC-9012-F20D-1A445AC9A154}"/>
              </a:ext>
            </a:extLst>
          </p:cNvPr>
          <p:cNvSpPr/>
          <p:nvPr/>
        </p:nvSpPr>
        <p:spPr>
          <a:xfrm>
            <a:off x="7973439" y="3259038"/>
            <a:ext cx="302877" cy="299652"/>
          </a:xfrm>
          <a:prstGeom prst="cube">
            <a:avLst>
              <a:gd name="adj" fmla="val 5274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324507-B1FB-6E62-3790-D916580F0E20}"/>
              </a:ext>
            </a:extLst>
          </p:cNvPr>
          <p:cNvGrpSpPr/>
          <p:nvPr/>
        </p:nvGrpSpPr>
        <p:grpSpPr>
          <a:xfrm>
            <a:off x="2338706" y="2270458"/>
            <a:ext cx="1299874" cy="1284719"/>
            <a:chOff x="9553788" y="3092479"/>
            <a:chExt cx="1299874" cy="1284719"/>
          </a:xfrm>
        </p:grpSpPr>
        <p:sp>
          <p:nvSpPr>
            <p:cNvPr id="27" name="정육면체 26">
              <a:extLst>
                <a:ext uri="{FF2B5EF4-FFF2-40B4-BE49-F238E27FC236}">
                  <a16:creationId xmlns:a16="http://schemas.microsoft.com/office/drawing/2014/main" id="{687288CE-A9CC-075C-9002-49E642BFFE43}"/>
                </a:ext>
              </a:extLst>
            </p:cNvPr>
            <p:cNvSpPr/>
            <p:nvPr/>
          </p:nvSpPr>
          <p:spPr>
            <a:xfrm>
              <a:off x="10550785" y="3092479"/>
              <a:ext cx="302877" cy="299652"/>
            </a:xfrm>
            <a:prstGeom prst="cube">
              <a:avLst>
                <a:gd name="adj" fmla="val 5274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정육면체 25">
              <a:extLst>
                <a:ext uri="{FF2B5EF4-FFF2-40B4-BE49-F238E27FC236}">
                  <a16:creationId xmlns:a16="http://schemas.microsoft.com/office/drawing/2014/main" id="{0F6B8817-1818-05C9-1690-1372B8642B29}"/>
                </a:ext>
              </a:extLst>
            </p:cNvPr>
            <p:cNvSpPr/>
            <p:nvPr/>
          </p:nvSpPr>
          <p:spPr>
            <a:xfrm>
              <a:off x="10392239" y="3248906"/>
              <a:ext cx="302877" cy="299652"/>
            </a:xfrm>
            <a:prstGeom prst="cube">
              <a:avLst>
                <a:gd name="adj" fmla="val 5274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정육면체 24">
              <a:extLst>
                <a:ext uri="{FF2B5EF4-FFF2-40B4-BE49-F238E27FC236}">
                  <a16:creationId xmlns:a16="http://schemas.microsoft.com/office/drawing/2014/main" id="{29F051F7-8D03-AE8A-E7E0-9AFB02BC1CC3}"/>
                </a:ext>
              </a:extLst>
            </p:cNvPr>
            <p:cNvSpPr/>
            <p:nvPr/>
          </p:nvSpPr>
          <p:spPr>
            <a:xfrm>
              <a:off x="9793744" y="3392636"/>
              <a:ext cx="735507" cy="770995"/>
            </a:xfrm>
            <a:prstGeom prst="cube">
              <a:avLst>
                <a:gd name="adj" fmla="val 8316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정육면체 23">
              <a:extLst>
                <a:ext uri="{FF2B5EF4-FFF2-40B4-BE49-F238E27FC236}">
                  <a16:creationId xmlns:a16="http://schemas.microsoft.com/office/drawing/2014/main" id="{311CE79C-BDB9-AA9A-E785-D1BD250A3BE4}"/>
                </a:ext>
              </a:extLst>
            </p:cNvPr>
            <p:cNvSpPr/>
            <p:nvPr/>
          </p:nvSpPr>
          <p:spPr>
            <a:xfrm>
              <a:off x="9553788" y="4002786"/>
              <a:ext cx="377190" cy="374412"/>
            </a:xfrm>
            <a:prstGeom prst="cube">
              <a:avLst>
                <a:gd name="adj" fmla="val 6210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29FBC19-239F-84E0-0233-A2A3B9BFC5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23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 animBg="1"/>
      <p:bldP spid="20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10819</TotalTime>
  <Words>3843</Words>
  <Application>Microsoft Office PowerPoint</Application>
  <PresentationFormat>와이드스크린</PresentationFormat>
  <Paragraphs>408</Paragraphs>
  <Slides>43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D2Coding</vt:lpstr>
      <vt:lpstr>맑은 고딕</vt:lpstr>
      <vt:lpstr>Batang</vt:lpstr>
      <vt:lpstr>Arial</vt:lpstr>
      <vt:lpstr>Cambria Math</vt:lpstr>
      <vt:lpstr>Cascadia Code</vt:lpstr>
      <vt:lpstr>Segoe UI Emoji</vt:lpstr>
      <vt:lpstr>Wingdings</vt:lpstr>
      <vt:lpstr>WelcomeDoc</vt:lpstr>
      <vt:lpstr>Chapter 9  ConvNet architecture patterns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Pretrained Model</vt:lpstr>
      <vt:lpstr>PowerPoint 프레젠테이션</vt:lpstr>
      <vt:lpstr>PowerPoint 프레젠테이션</vt:lpstr>
      <vt:lpstr>Appendix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KBU</cp:lastModifiedBy>
  <cp:revision>188</cp:revision>
  <dcterms:created xsi:type="dcterms:W3CDTF">2026-04-06T01:00:39Z</dcterms:created>
  <dcterms:modified xsi:type="dcterms:W3CDTF">2026-09-18T06:18:28Z</dcterms:modified>
  <cp:version/>
</cp:coreProperties>
</file>