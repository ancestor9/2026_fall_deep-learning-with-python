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3"/>
  </p:notesMasterIdLst>
  <p:handoutMasterIdLst>
    <p:handoutMasterId r:id="rId34"/>
  </p:handoutMasterIdLst>
  <p:sldIdLst>
    <p:sldId id="256" r:id="rId2"/>
    <p:sldId id="1136" r:id="rId3"/>
    <p:sldId id="1138" r:id="rId4"/>
    <p:sldId id="1139" r:id="rId5"/>
    <p:sldId id="1134" r:id="rId6"/>
    <p:sldId id="1140" r:id="rId7"/>
    <p:sldId id="1141" r:id="rId8"/>
    <p:sldId id="1142" r:id="rId9"/>
    <p:sldId id="1122" r:id="rId10"/>
    <p:sldId id="1150" r:id="rId11"/>
    <p:sldId id="1137" r:id="rId12"/>
    <p:sldId id="1156" r:id="rId13"/>
    <p:sldId id="1144" r:id="rId14"/>
    <p:sldId id="1143" r:id="rId15"/>
    <p:sldId id="1145" r:id="rId16"/>
    <p:sldId id="1146" r:id="rId17"/>
    <p:sldId id="1149" r:id="rId18"/>
    <p:sldId id="1153" r:id="rId19"/>
    <p:sldId id="1154" r:id="rId20"/>
    <p:sldId id="1155" r:id="rId21"/>
    <p:sldId id="1147" r:id="rId22"/>
    <p:sldId id="1152" r:id="rId23"/>
    <p:sldId id="1148" r:id="rId24"/>
    <p:sldId id="1157" r:id="rId25"/>
    <p:sldId id="1159" r:id="rId26"/>
    <p:sldId id="1160" r:id="rId27"/>
    <p:sldId id="1163" r:id="rId28"/>
    <p:sldId id="1162" r:id="rId29"/>
    <p:sldId id="1164" r:id="rId30"/>
    <p:sldId id="1165" r:id="rId31"/>
    <p:sldId id="1161" r:id="rId3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39"/>
            <p14:sldId id="1134"/>
            <p14:sldId id="1140"/>
            <p14:sldId id="1141"/>
            <p14:sldId id="1142"/>
            <p14:sldId id="1122"/>
            <p14:sldId id="1150"/>
            <p14:sldId id="1137"/>
            <p14:sldId id="1156"/>
            <p14:sldId id="1144"/>
            <p14:sldId id="1143"/>
            <p14:sldId id="1145"/>
            <p14:sldId id="1146"/>
            <p14:sldId id="1149"/>
            <p14:sldId id="1153"/>
            <p14:sldId id="1154"/>
            <p14:sldId id="1155"/>
            <p14:sldId id="1147"/>
            <p14:sldId id="1152"/>
            <p14:sldId id="1148"/>
            <p14:sldId id="1157"/>
            <p14:sldId id="1159"/>
            <p14:sldId id="1160"/>
            <p14:sldId id="1163"/>
            <p14:sldId id="1162"/>
            <p14:sldId id="1164"/>
            <p14:sldId id="1165"/>
            <p14:sldId id="116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7805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hyperlink" Target="https://www.youtube.com/watch?v=qhXZsFVxGKo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gopenai.com/wrapping-up-cnn-models-shifting-focus-to-attention-based-architectures-5029b87034d9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hyunsooworld.tistory.com/entry/Inception-v1v2v3v4%EB%8A%94-%EB%AC%B4%EC%97%87%EC%9D%B4-%EB%8B%A4%EB%A5%B8%EA%B0%80-CNN%EC%9D%98-%EC%97%AD%EC%82%AC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9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 err="1">
                <a:solidFill>
                  <a:schemeClr val="bg1"/>
                </a:solidFill>
              </a:rPr>
              <a:t>ConvNet</a:t>
            </a:r>
            <a:r>
              <a:rPr lang="en-US" altLang="ko-KR" sz="4400" dirty="0">
                <a:solidFill>
                  <a:schemeClr val="bg1"/>
                </a:solidFill>
              </a:rPr>
              <a:t> architecture patterns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10100629" cy="262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The modularity-hierarchy-reuse formula for model architecture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An overview of standard best practices for building 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: residual connections, batch normalization, and </a:t>
            </a:r>
            <a:r>
              <a:rPr lang="en-US" altLang="ko-KR" sz="2000" dirty="0" err="1"/>
              <a:t>depthwise</a:t>
            </a:r>
            <a:r>
              <a:rPr lang="en-US" altLang="ko-KR" sz="2000" dirty="0"/>
              <a:t> separable convolutions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Ongoing design trends for computer vision models</a:t>
            </a: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5D88C-08F5-7F76-9775-DBDAFF7DBE0E}"/>
              </a:ext>
            </a:extLst>
          </p:cNvPr>
          <p:cNvSpPr txBox="1"/>
          <p:nvPr/>
        </p:nvSpPr>
        <p:spPr>
          <a:xfrm>
            <a:off x="682483" y="1237047"/>
            <a:ext cx="11159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filter(3 by 3)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적용하면 훈련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x 3 x 3 x 5 = 135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정육면체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원본 이미지의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채널을 한꺼번에 덮으면서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훑고 지나가면서 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전체 공간을 스캔하여 최종적으로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결과물을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C1E675A-A443-5123-7438-B754467A1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243017"/>
              </p:ext>
            </p:extLst>
          </p:nvPr>
        </p:nvGraphicFramePr>
        <p:xfrm>
          <a:off x="1889760" y="34933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9E49924A-46C8-AFC1-D521-56CBB113D5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5763471"/>
              </p:ext>
            </p:extLst>
          </p:nvPr>
        </p:nvGraphicFramePr>
        <p:xfrm>
          <a:off x="2042160" y="36457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66698C2-4567-252A-CC7D-AC8661660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8829347"/>
              </p:ext>
            </p:extLst>
          </p:nvPr>
        </p:nvGraphicFramePr>
        <p:xfrm>
          <a:off x="2194560" y="37981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0A16A2E-563F-A3E9-7306-D6BF12FE92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398145"/>
              </p:ext>
            </p:extLst>
          </p:nvPr>
        </p:nvGraphicFramePr>
        <p:xfrm>
          <a:off x="5044542" y="23998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FA1259D-A26F-8148-3D99-A39486897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007775"/>
              </p:ext>
            </p:extLst>
          </p:nvPr>
        </p:nvGraphicFramePr>
        <p:xfrm>
          <a:off x="5196942" y="25522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428D31C0-7B4D-AE9B-9F39-9511E1A1B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793143"/>
              </p:ext>
            </p:extLst>
          </p:nvPr>
        </p:nvGraphicFramePr>
        <p:xfrm>
          <a:off x="5349342" y="27046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874E4616-D376-098E-C069-9E83F2443B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014546"/>
              </p:ext>
            </p:extLst>
          </p:nvPr>
        </p:nvGraphicFramePr>
        <p:xfrm>
          <a:off x="5044542" y="40888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5FBF91B-EC89-D614-AA5D-D0A21B7CA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530094"/>
              </p:ext>
            </p:extLst>
          </p:nvPr>
        </p:nvGraphicFramePr>
        <p:xfrm>
          <a:off x="5196942" y="42412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0458083E-30B7-278C-BA63-01A664CD2B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1779506"/>
              </p:ext>
            </p:extLst>
          </p:nvPr>
        </p:nvGraphicFramePr>
        <p:xfrm>
          <a:off x="5349342" y="43936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EEBABC62-7105-9A34-3C5A-BF6E70270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0239950"/>
              </p:ext>
            </p:extLst>
          </p:nvPr>
        </p:nvGraphicFramePr>
        <p:xfrm>
          <a:off x="5057191" y="49478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0C93A6B0-B140-6DF1-7A9C-C75BED43E6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2847697"/>
              </p:ext>
            </p:extLst>
          </p:nvPr>
        </p:nvGraphicFramePr>
        <p:xfrm>
          <a:off x="5209591" y="51002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838B3F35-E1DE-FE26-D1AD-2DE85E994C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8877416"/>
              </p:ext>
            </p:extLst>
          </p:nvPr>
        </p:nvGraphicFramePr>
        <p:xfrm>
          <a:off x="5361991" y="52526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FACE541-6431-444B-FDC0-93F2FDD3D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5504148"/>
              </p:ext>
            </p:extLst>
          </p:nvPr>
        </p:nvGraphicFramePr>
        <p:xfrm>
          <a:off x="8218028" y="34661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05AFB0A8-7706-918B-883D-C8E088539D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664411"/>
              </p:ext>
            </p:extLst>
          </p:nvPr>
        </p:nvGraphicFramePr>
        <p:xfrm>
          <a:off x="5057191" y="58132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362262D-794B-26DB-9156-AEBA6CE232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726372"/>
              </p:ext>
            </p:extLst>
          </p:nvPr>
        </p:nvGraphicFramePr>
        <p:xfrm>
          <a:off x="5209591" y="59656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92D43253-6AAA-0068-34BB-C496BD3626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792284"/>
              </p:ext>
            </p:extLst>
          </p:nvPr>
        </p:nvGraphicFramePr>
        <p:xfrm>
          <a:off x="5361991" y="61180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E87D6B15-A117-29A5-D255-A31F6D372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4271592"/>
              </p:ext>
            </p:extLst>
          </p:nvPr>
        </p:nvGraphicFramePr>
        <p:xfrm>
          <a:off x="5044542" y="32934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05C39FF-A559-CB0E-07F4-5D351CC888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3192898"/>
              </p:ext>
            </p:extLst>
          </p:nvPr>
        </p:nvGraphicFramePr>
        <p:xfrm>
          <a:off x="5196942" y="34458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FD9058A-CAFB-D2FC-8663-B7F799761C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1335547"/>
              </p:ext>
            </p:extLst>
          </p:nvPr>
        </p:nvGraphicFramePr>
        <p:xfrm>
          <a:off x="5349342" y="35982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CABEC7DB-BADC-863B-1B42-75D22322F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872422"/>
              </p:ext>
            </p:extLst>
          </p:nvPr>
        </p:nvGraphicFramePr>
        <p:xfrm>
          <a:off x="8370428" y="36185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472F7D23-7A79-2359-0E95-117E61E4F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679997"/>
              </p:ext>
            </p:extLst>
          </p:nvPr>
        </p:nvGraphicFramePr>
        <p:xfrm>
          <a:off x="8522828" y="37709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A82B0BA2-9D82-8C28-6C7B-36872E2E7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7986609"/>
              </p:ext>
            </p:extLst>
          </p:nvPr>
        </p:nvGraphicFramePr>
        <p:xfrm>
          <a:off x="8675228" y="39233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381042FB-F954-D822-4426-60B8E4891E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0505369"/>
              </p:ext>
            </p:extLst>
          </p:nvPr>
        </p:nvGraphicFramePr>
        <p:xfrm>
          <a:off x="8827628" y="40757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501AD673-A456-7340-28DA-8FF1EF2F29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652089"/>
              </p:ext>
            </p:extLst>
          </p:nvPr>
        </p:nvGraphicFramePr>
        <p:xfrm>
          <a:off x="8980028" y="42281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5B5ADE4-0468-8500-6BD7-3F0AA5108308}"/>
              </a:ext>
            </a:extLst>
          </p:cNvPr>
          <p:cNvSpPr txBox="1"/>
          <p:nvPr/>
        </p:nvSpPr>
        <p:spPr>
          <a:xfrm>
            <a:off x="1812960" y="5055372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1867A5-87AF-A0C3-FED2-3ED1474ECF9A}"/>
              </a:ext>
            </a:extLst>
          </p:cNvPr>
          <p:cNvSpPr txBox="1"/>
          <p:nvPr/>
        </p:nvSpPr>
        <p:spPr>
          <a:xfrm>
            <a:off x="6090820" y="5965627"/>
            <a:ext cx="19559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(3,3,3,5)</a:t>
            </a:r>
            <a:endParaRPr lang="ko-KR" altLang="en-US" sz="1400" dirty="0"/>
          </a:p>
        </p:txBody>
      </p:sp>
      <p:sp>
        <p:nvSpPr>
          <p:cNvPr id="28" name="정육면체 27">
            <a:extLst>
              <a:ext uri="{FF2B5EF4-FFF2-40B4-BE49-F238E27FC236}">
                <a16:creationId xmlns:a16="http://schemas.microsoft.com/office/drawing/2014/main" id="{EC95BA85-21C3-9335-82F6-E08B6E30D731}"/>
              </a:ext>
            </a:extLst>
          </p:cNvPr>
          <p:cNvSpPr/>
          <p:nvPr/>
        </p:nvSpPr>
        <p:spPr>
          <a:xfrm rot="16200000">
            <a:off x="1953534" y="3434499"/>
            <a:ext cx="1202216" cy="1329758"/>
          </a:xfrm>
          <a:prstGeom prst="cub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3705B3A2-993B-BC31-8817-80C924CEF672}"/>
              </a:ext>
            </a:extLst>
          </p:cNvPr>
          <p:cNvSpPr/>
          <p:nvPr/>
        </p:nvSpPr>
        <p:spPr>
          <a:xfrm rot="16200000">
            <a:off x="8284739" y="3434845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정육면체 41">
            <a:extLst>
              <a:ext uri="{FF2B5EF4-FFF2-40B4-BE49-F238E27FC236}">
                <a16:creationId xmlns:a16="http://schemas.microsoft.com/office/drawing/2014/main" id="{76C92F4F-FFF5-2E66-02BB-AACEF1AC0167}"/>
              </a:ext>
            </a:extLst>
          </p:cNvPr>
          <p:cNvSpPr/>
          <p:nvPr/>
        </p:nvSpPr>
        <p:spPr>
          <a:xfrm rot="16200000">
            <a:off x="5091852" y="2384397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정육면체 42">
            <a:extLst>
              <a:ext uri="{FF2B5EF4-FFF2-40B4-BE49-F238E27FC236}">
                <a16:creationId xmlns:a16="http://schemas.microsoft.com/office/drawing/2014/main" id="{212FA472-F475-7EDC-0B80-7B9675BA27E8}"/>
              </a:ext>
            </a:extLst>
          </p:cNvPr>
          <p:cNvSpPr/>
          <p:nvPr/>
        </p:nvSpPr>
        <p:spPr>
          <a:xfrm rot="16200000">
            <a:off x="5079201" y="3258793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정육면체 43">
            <a:extLst>
              <a:ext uri="{FF2B5EF4-FFF2-40B4-BE49-F238E27FC236}">
                <a16:creationId xmlns:a16="http://schemas.microsoft.com/office/drawing/2014/main" id="{EE53F4D9-B4CF-F793-2926-38E7F4803E2C}"/>
              </a:ext>
            </a:extLst>
          </p:cNvPr>
          <p:cNvSpPr/>
          <p:nvPr/>
        </p:nvSpPr>
        <p:spPr>
          <a:xfrm rot="16200000">
            <a:off x="5058283" y="4062255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정육면체 44">
            <a:extLst>
              <a:ext uri="{FF2B5EF4-FFF2-40B4-BE49-F238E27FC236}">
                <a16:creationId xmlns:a16="http://schemas.microsoft.com/office/drawing/2014/main" id="{BFC809A8-958D-D18D-94DD-153FE890E259}"/>
              </a:ext>
            </a:extLst>
          </p:cNvPr>
          <p:cNvSpPr/>
          <p:nvPr/>
        </p:nvSpPr>
        <p:spPr>
          <a:xfrm rot="16200000">
            <a:off x="5091852" y="4915003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정육면체 45">
            <a:extLst>
              <a:ext uri="{FF2B5EF4-FFF2-40B4-BE49-F238E27FC236}">
                <a16:creationId xmlns:a16="http://schemas.microsoft.com/office/drawing/2014/main" id="{E773E7FC-8D8A-E3AA-DCEB-D57B2C7F10DE}"/>
              </a:ext>
            </a:extLst>
          </p:cNvPr>
          <p:cNvSpPr/>
          <p:nvPr/>
        </p:nvSpPr>
        <p:spPr>
          <a:xfrm rot="16200000">
            <a:off x="5079201" y="5781505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4CB983B-9144-1F8E-844D-6228BD644B59}"/>
              </a:ext>
            </a:extLst>
          </p:cNvPr>
          <p:cNvSpPr txBox="1"/>
          <p:nvPr/>
        </p:nvSpPr>
        <p:spPr>
          <a:xfrm>
            <a:off x="8266237" y="5006530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48" name="왼쪽 중괄호 47">
            <a:extLst>
              <a:ext uri="{FF2B5EF4-FFF2-40B4-BE49-F238E27FC236}">
                <a16:creationId xmlns:a16="http://schemas.microsoft.com/office/drawing/2014/main" id="{912DFC69-36D8-E54F-A13B-F6BBF62CF0EB}"/>
              </a:ext>
            </a:extLst>
          </p:cNvPr>
          <p:cNvSpPr/>
          <p:nvPr/>
        </p:nvSpPr>
        <p:spPr>
          <a:xfrm>
            <a:off x="4295191" y="2589605"/>
            <a:ext cx="444447" cy="3483977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604C6C9E-D201-E76A-7253-7C9BF560A1C9}"/>
              </a:ext>
            </a:extLst>
          </p:cNvPr>
          <p:cNvCxnSpPr>
            <a:cxnSpLocks/>
          </p:cNvCxnSpPr>
          <p:nvPr/>
        </p:nvCxnSpPr>
        <p:spPr>
          <a:xfrm>
            <a:off x="6372225" y="4009606"/>
            <a:ext cx="16744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D9C2-2B10-C67E-4C52-89CE9E80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1E944A-B3FD-31BC-2810-0A82A0936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4346244-2271-477F-8C69-0CAFAB7F91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3F527-5334-DD51-872D-A827A058477E}"/>
              </a:ext>
            </a:extLst>
          </p:cNvPr>
          <p:cNvSpPr txBox="1"/>
          <p:nvPr/>
        </p:nvSpPr>
        <p:spPr>
          <a:xfrm>
            <a:off x="682483" y="1256097"/>
            <a:ext cx="11159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경사하강알고리즘이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A7A1B59-5A80-D95B-D07E-61D1F61A66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825227"/>
              </p:ext>
            </p:extLst>
          </p:nvPr>
        </p:nvGraphicFramePr>
        <p:xfrm>
          <a:off x="1555785" y="3069585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E5E834-DC77-800C-7F35-110577DBB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57755"/>
              </p:ext>
            </p:extLst>
          </p:nvPr>
        </p:nvGraphicFramePr>
        <p:xfrm>
          <a:off x="1555785" y="4067752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AA73265-A871-7646-C5C2-9C2C0B051F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739962"/>
              </p:ext>
            </p:extLst>
          </p:nvPr>
        </p:nvGraphicFramePr>
        <p:xfrm>
          <a:off x="1555785" y="50526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9EEC37-53CB-F7D2-8FE9-349AD7DC87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627946"/>
              </p:ext>
            </p:extLst>
          </p:nvPr>
        </p:nvGraphicFramePr>
        <p:xfrm>
          <a:off x="3865982" y="299007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2FEC53A-A7A9-9CCE-C050-98C347E84D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238976"/>
              </p:ext>
            </p:extLst>
          </p:nvPr>
        </p:nvGraphicFramePr>
        <p:xfrm>
          <a:off x="5444349" y="40265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8C78EA3E-25FC-0BEE-407E-2FE0728C5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9371654"/>
              </p:ext>
            </p:extLst>
          </p:nvPr>
        </p:nvGraphicFramePr>
        <p:xfrm>
          <a:off x="5596749" y="41789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534C9330-9A2A-8D89-8999-10A0F7A620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870010"/>
              </p:ext>
            </p:extLst>
          </p:nvPr>
        </p:nvGraphicFramePr>
        <p:xfrm>
          <a:off x="5749149" y="43313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B4A544A-228B-F6D7-9396-1D1E60F54098}"/>
              </a:ext>
            </a:extLst>
          </p:cNvPr>
          <p:cNvSpPr txBox="1"/>
          <p:nvPr/>
        </p:nvSpPr>
        <p:spPr>
          <a:xfrm>
            <a:off x="990600" y="6217236"/>
            <a:ext cx="18758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59D-0C25-EA92-A91E-EC957FE9D8DD}"/>
              </a:ext>
            </a:extLst>
          </p:cNvPr>
          <p:cNvSpPr txBox="1"/>
          <p:nvPr/>
        </p:nvSpPr>
        <p:spPr>
          <a:xfrm>
            <a:off x="3619114" y="6217236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400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BFBE9425-9215-9CF5-204E-9D67DA63F3B6}"/>
              </a:ext>
            </a:extLst>
          </p:cNvPr>
          <p:cNvSpPr/>
          <p:nvPr/>
        </p:nvSpPr>
        <p:spPr>
          <a:xfrm rot="16200000">
            <a:off x="5502695" y="4003643"/>
            <a:ext cx="833769" cy="908618"/>
          </a:xfrm>
          <a:prstGeom prst="cube">
            <a:avLst>
              <a:gd name="adj" fmla="val 3570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36A6C1-6266-471C-2336-8BAA0412A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924137"/>
              </p:ext>
            </p:extLst>
          </p:nvPr>
        </p:nvGraphicFramePr>
        <p:xfrm>
          <a:off x="3865982" y="424991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1AF175A-0EDE-0D6E-2173-8B9A2336C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047130"/>
              </p:ext>
            </p:extLst>
          </p:nvPr>
        </p:nvGraphicFramePr>
        <p:xfrm>
          <a:off x="3865982" y="550975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667B256-9D9F-E9EB-847A-17684D2AB37D}"/>
              </a:ext>
            </a:extLst>
          </p:cNvPr>
          <p:cNvSpPr txBox="1"/>
          <p:nvPr/>
        </p:nvSpPr>
        <p:spPr>
          <a:xfrm>
            <a:off x="7326003" y="6205314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25297F-7077-F3BE-EAA4-D11B5B963801}"/>
              </a:ext>
            </a:extLst>
          </p:cNvPr>
          <p:cNvSpPr txBox="1"/>
          <p:nvPr/>
        </p:nvSpPr>
        <p:spPr>
          <a:xfrm>
            <a:off x="3619114" y="2546369"/>
            <a:ext cx="31734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9A431-D795-CD24-5970-C9800A8C6B29}"/>
              </a:ext>
            </a:extLst>
          </p:cNvPr>
          <p:cNvSpPr txBox="1"/>
          <p:nvPr/>
        </p:nvSpPr>
        <p:spPr>
          <a:xfrm>
            <a:off x="7808320" y="2546369"/>
            <a:ext cx="30210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449DAAC-AFA5-01B2-5F1A-0DCBCED84DF5}"/>
              </a:ext>
            </a:extLst>
          </p:cNvPr>
          <p:cNvSpPr/>
          <p:nvPr/>
        </p:nvSpPr>
        <p:spPr>
          <a:xfrm>
            <a:off x="7581720" y="30144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1E7DE53-1C74-C9A1-6386-C28388F36396}"/>
              </a:ext>
            </a:extLst>
          </p:cNvPr>
          <p:cNvSpPr/>
          <p:nvPr/>
        </p:nvSpPr>
        <p:spPr>
          <a:xfrm>
            <a:off x="7581720" y="36122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1AA2C26-C82D-AF46-C951-4ECC0C5EC9B0}"/>
              </a:ext>
            </a:extLst>
          </p:cNvPr>
          <p:cNvSpPr/>
          <p:nvPr/>
        </p:nvSpPr>
        <p:spPr>
          <a:xfrm>
            <a:off x="7734120" y="31668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E45A4E3-0CDB-E79B-D6A4-AB5901ADDA7A}"/>
              </a:ext>
            </a:extLst>
          </p:cNvPr>
          <p:cNvSpPr/>
          <p:nvPr/>
        </p:nvSpPr>
        <p:spPr>
          <a:xfrm>
            <a:off x="7886520" y="33192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B71F82-8006-4B31-BBD7-B1564375EE55}"/>
              </a:ext>
            </a:extLst>
          </p:cNvPr>
          <p:cNvSpPr/>
          <p:nvPr/>
        </p:nvSpPr>
        <p:spPr>
          <a:xfrm>
            <a:off x="7734120" y="37646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0B8889B-F01C-BA39-2E5B-B39C4BBF9748}"/>
              </a:ext>
            </a:extLst>
          </p:cNvPr>
          <p:cNvSpPr/>
          <p:nvPr/>
        </p:nvSpPr>
        <p:spPr>
          <a:xfrm>
            <a:off x="7886520" y="39170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A74F19-3A2E-7F46-F04B-410CE260051B}"/>
              </a:ext>
            </a:extLst>
          </p:cNvPr>
          <p:cNvSpPr/>
          <p:nvPr/>
        </p:nvSpPr>
        <p:spPr>
          <a:xfrm>
            <a:off x="7581720" y="43176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0355186-3363-B535-64FE-CF545E52A8EA}"/>
              </a:ext>
            </a:extLst>
          </p:cNvPr>
          <p:cNvSpPr/>
          <p:nvPr/>
        </p:nvSpPr>
        <p:spPr>
          <a:xfrm>
            <a:off x="7734120" y="44700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5285FA2-95CE-10F9-BEE0-75D1F712146A}"/>
              </a:ext>
            </a:extLst>
          </p:cNvPr>
          <p:cNvSpPr/>
          <p:nvPr/>
        </p:nvSpPr>
        <p:spPr>
          <a:xfrm>
            <a:off x="7886520" y="46224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73917E-1475-D978-B9C2-62BAF829F829}"/>
              </a:ext>
            </a:extLst>
          </p:cNvPr>
          <p:cNvSpPr/>
          <p:nvPr/>
        </p:nvSpPr>
        <p:spPr>
          <a:xfrm>
            <a:off x="7581720" y="49055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5973FB8-BCC2-24A0-C7DC-7BEF6D64ED9C}"/>
              </a:ext>
            </a:extLst>
          </p:cNvPr>
          <p:cNvSpPr/>
          <p:nvPr/>
        </p:nvSpPr>
        <p:spPr>
          <a:xfrm>
            <a:off x="7734120" y="50579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8C068A7-7E13-8669-EB60-8F9AA0615DA4}"/>
              </a:ext>
            </a:extLst>
          </p:cNvPr>
          <p:cNvSpPr/>
          <p:nvPr/>
        </p:nvSpPr>
        <p:spPr>
          <a:xfrm>
            <a:off x="7886520" y="52103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379F637-BDCA-B925-600C-FB305B07B609}"/>
              </a:ext>
            </a:extLst>
          </p:cNvPr>
          <p:cNvSpPr/>
          <p:nvPr/>
        </p:nvSpPr>
        <p:spPr>
          <a:xfrm>
            <a:off x="7593100" y="55393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1206BE9-3CD3-3BFD-4CAA-B788EB611948}"/>
              </a:ext>
            </a:extLst>
          </p:cNvPr>
          <p:cNvSpPr/>
          <p:nvPr/>
        </p:nvSpPr>
        <p:spPr>
          <a:xfrm>
            <a:off x="7745500" y="56917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2B64798-0B2D-1F0C-344D-70D35952D832}"/>
              </a:ext>
            </a:extLst>
          </p:cNvPr>
          <p:cNvSpPr/>
          <p:nvPr/>
        </p:nvSpPr>
        <p:spPr>
          <a:xfrm>
            <a:off x="7897900" y="58441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5EA27451-A678-14B9-8DC4-46C06B34F066}"/>
              </a:ext>
            </a:extLst>
          </p:cNvPr>
          <p:cNvSpPr/>
          <p:nvPr/>
        </p:nvSpPr>
        <p:spPr>
          <a:xfrm rot="16200000">
            <a:off x="7607743" y="2988413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정육면체 61">
            <a:extLst>
              <a:ext uri="{FF2B5EF4-FFF2-40B4-BE49-F238E27FC236}">
                <a16:creationId xmlns:a16="http://schemas.microsoft.com/office/drawing/2014/main" id="{183C10D6-7AF8-17FB-7916-EB7E58D36DDC}"/>
              </a:ext>
            </a:extLst>
          </p:cNvPr>
          <p:cNvSpPr/>
          <p:nvPr/>
        </p:nvSpPr>
        <p:spPr>
          <a:xfrm rot="16200000">
            <a:off x="7607743" y="3579556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정육면체 62">
            <a:extLst>
              <a:ext uri="{FF2B5EF4-FFF2-40B4-BE49-F238E27FC236}">
                <a16:creationId xmlns:a16="http://schemas.microsoft.com/office/drawing/2014/main" id="{C8080B5D-1293-669E-3C99-7231434C30FA}"/>
              </a:ext>
            </a:extLst>
          </p:cNvPr>
          <p:cNvSpPr/>
          <p:nvPr/>
        </p:nvSpPr>
        <p:spPr>
          <a:xfrm rot="16200000">
            <a:off x="7605888" y="4293489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정육면체 63">
            <a:extLst>
              <a:ext uri="{FF2B5EF4-FFF2-40B4-BE49-F238E27FC236}">
                <a16:creationId xmlns:a16="http://schemas.microsoft.com/office/drawing/2014/main" id="{3626E896-4DB5-9668-6A80-A184BD5BD7FE}"/>
              </a:ext>
            </a:extLst>
          </p:cNvPr>
          <p:cNvSpPr/>
          <p:nvPr/>
        </p:nvSpPr>
        <p:spPr>
          <a:xfrm rot="16200000">
            <a:off x="7607743" y="4883735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정육면체 64">
            <a:extLst>
              <a:ext uri="{FF2B5EF4-FFF2-40B4-BE49-F238E27FC236}">
                <a16:creationId xmlns:a16="http://schemas.microsoft.com/office/drawing/2014/main" id="{680C2271-6422-E27B-CF59-9BE640ACC3E5}"/>
              </a:ext>
            </a:extLst>
          </p:cNvPr>
          <p:cNvSpPr/>
          <p:nvPr/>
        </p:nvSpPr>
        <p:spPr>
          <a:xfrm rot="16200000">
            <a:off x="7615413" y="5512897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55A22C33-7C43-9BDF-C894-4D44B17C6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7804963"/>
              </p:ext>
            </p:extLst>
          </p:nvPr>
        </p:nvGraphicFramePr>
        <p:xfrm>
          <a:off x="9427703" y="3875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EC556ED6-2CC8-EA5C-0596-072FA51FD9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574642"/>
              </p:ext>
            </p:extLst>
          </p:nvPr>
        </p:nvGraphicFramePr>
        <p:xfrm>
          <a:off x="9580103" y="40281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FE65A489-D8E4-7A9F-29E2-DA6931F0B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383049"/>
              </p:ext>
            </p:extLst>
          </p:nvPr>
        </p:nvGraphicFramePr>
        <p:xfrm>
          <a:off x="9732503" y="41805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D5E32E99-03B3-44AB-FFF6-42DBC4C32B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991645"/>
              </p:ext>
            </p:extLst>
          </p:nvPr>
        </p:nvGraphicFramePr>
        <p:xfrm>
          <a:off x="9884903" y="4332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C91BB75F-F2AC-87BF-872D-5EFE1E4196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4506883"/>
              </p:ext>
            </p:extLst>
          </p:nvPr>
        </p:nvGraphicFramePr>
        <p:xfrm>
          <a:off x="10037303" y="44853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FC72E352-F35F-FB48-462F-73E98971B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4290752"/>
              </p:ext>
            </p:extLst>
          </p:nvPr>
        </p:nvGraphicFramePr>
        <p:xfrm>
          <a:off x="10189703" y="4637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76" name="정육면체 75">
            <a:extLst>
              <a:ext uri="{FF2B5EF4-FFF2-40B4-BE49-F238E27FC236}">
                <a16:creationId xmlns:a16="http://schemas.microsoft.com/office/drawing/2014/main" id="{25AB3136-EF86-BF76-DA44-C40924622313}"/>
              </a:ext>
            </a:extLst>
          </p:cNvPr>
          <p:cNvSpPr/>
          <p:nvPr/>
        </p:nvSpPr>
        <p:spPr>
          <a:xfrm rot="16200000">
            <a:off x="9494414" y="3844420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7F4554-B7F7-C26E-8763-368488890A47}"/>
              </a:ext>
            </a:extLst>
          </p:cNvPr>
          <p:cNvSpPr txBox="1"/>
          <p:nvPr/>
        </p:nvSpPr>
        <p:spPr>
          <a:xfrm>
            <a:off x="5077794" y="5348439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(3,3,3)</a:t>
            </a:r>
            <a:endParaRPr lang="ko-KR" altLang="en-US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CCB33-38B8-5DE4-4F34-5CDCA6D1ED9B}"/>
              </a:ext>
            </a:extLst>
          </p:cNvPr>
          <p:cNvSpPr txBox="1"/>
          <p:nvPr/>
        </p:nvSpPr>
        <p:spPr>
          <a:xfrm>
            <a:off x="9724254" y="540546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80" name="왼쪽 중괄호 79">
            <a:extLst>
              <a:ext uri="{FF2B5EF4-FFF2-40B4-BE49-F238E27FC236}">
                <a16:creationId xmlns:a16="http://schemas.microsoft.com/office/drawing/2014/main" id="{A8115B72-4CDD-D0F7-70A3-B99E58E32478}"/>
              </a:ext>
            </a:extLst>
          </p:cNvPr>
          <p:cNvSpPr/>
          <p:nvPr/>
        </p:nvSpPr>
        <p:spPr>
          <a:xfrm>
            <a:off x="3470331" y="314778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왼쪽 중괄호 80">
            <a:extLst>
              <a:ext uri="{FF2B5EF4-FFF2-40B4-BE49-F238E27FC236}">
                <a16:creationId xmlns:a16="http://schemas.microsoft.com/office/drawing/2014/main" id="{EBE66D52-71BF-1651-B318-17A70B93B533}"/>
              </a:ext>
            </a:extLst>
          </p:cNvPr>
          <p:cNvSpPr/>
          <p:nvPr/>
        </p:nvSpPr>
        <p:spPr>
          <a:xfrm>
            <a:off x="7128001" y="310165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B316EF6-07F7-FA9B-3711-06E954824385}"/>
              </a:ext>
            </a:extLst>
          </p:cNvPr>
          <p:cNvCxnSpPr/>
          <p:nvPr/>
        </p:nvCxnSpPr>
        <p:spPr>
          <a:xfrm>
            <a:off x="4657725" y="4317641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5D67382-238B-BB8F-181A-49160B7438F0}"/>
              </a:ext>
            </a:extLst>
          </p:cNvPr>
          <p:cNvCxnSpPr/>
          <p:nvPr/>
        </p:nvCxnSpPr>
        <p:spPr>
          <a:xfrm>
            <a:off x="8568608" y="4301407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C4F756A-8E8B-E355-2941-23B423F10AEB}"/>
              </a:ext>
            </a:extLst>
          </p:cNvPr>
          <p:cNvSpPr txBox="1"/>
          <p:nvPr/>
        </p:nvSpPr>
        <p:spPr>
          <a:xfrm>
            <a:off x="3619114" y="2225391"/>
            <a:ext cx="71155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깊이별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97E0D155-A9A5-675C-C36D-F5389D88D515}"/>
              </a:ext>
            </a:extLst>
          </p:cNvPr>
          <p:cNvSpPr/>
          <p:nvPr/>
        </p:nvSpPr>
        <p:spPr>
          <a:xfrm>
            <a:off x="1555786" y="2225392"/>
            <a:ext cx="9178890" cy="6354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2843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B90A43-A500-9D98-C5EE-7F7A4C2F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A67BEC5-A3A7-AFE1-9C3C-CF66B8C5F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2488" y="1893950"/>
            <a:ext cx="5157351" cy="457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8AA6B3-4D31-A466-1653-C57CBD1492AE}"/>
              </a:ext>
            </a:extLst>
          </p:cNvPr>
          <p:cNvSpPr txBox="1"/>
          <p:nvPr/>
        </p:nvSpPr>
        <p:spPr>
          <a:xfrm>
            <a:off x="548640" y="1751876"/>
            <a:ext cx="3870960" cy="227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“entry flow” of the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architecture: note the repeated layer blocks and the gradually shrinking and deepening feature maps, going from 299 x 299 x 3 to 19 x 19 x 728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DF97E-54DF-1D20-E38B-DB907E38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529A45-FCC3-FB83-0405-9B485CC40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F31A72F-9D44-6E7F-113F-2480DF13E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 formula for model architecture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2BA64A-2761-A0AC-363E-6EADC1C24360}"/>
              </a:ext>
            </a:extLst>
          </p:cNvPr>
          <p:cNvSpPr txBox="1"/>
          <p:nvPr/>
        </p:nvSpPr>
        <p:spPr>
          <a:xfrm>
            <a:off x="619125" y="1248422"/>
            <a:ext cx="11097230" cy="4583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'수학적/논리적 추론(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Deduction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)'에서 시작되어 '실험적 시행착오(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)'를 통해 완성된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결합품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첫단계로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가설과 수학적 추론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발명한 사람은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케라스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)의 창시자이자, 우리가 읽고 있는 이 책의 저자인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프랑수아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숄레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François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Chollet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구글에서 근무할 당시 기존의 고성능 모델이었던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아키텍처의 수학적 본질을 꿰뚫어 보고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연산은 결국 '공간(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특징'과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'채널(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특징'을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동시에 매핑하는 것이다.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둘을 어느 정도 분리하려고 노력하고 있다. 그렇다면, 이 둘을 아예 완전히(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Extremly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따로 분리해서 계산하면 어떻게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될까?“라는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세움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가설을 바탕으로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수학적으로 분해하여 "공간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번, 채널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Pointwise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번"으로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쪼개는 구조를 도출한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즉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시작이후 무수한 실험과 시행착오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(Trial and Error)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반복하여 완성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방식의 역할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공간과 채널을 분리하여 가설 공간을 압축하고 파라미터 수를 획기적으로 줄이는 무대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뼈대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주었습니다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경사 하강법이 덜 멍청하게 움직일 수 있도록 수학적 이정표를 세워준 것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시행착오의 역할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그 이정표 위에서 실제 데이터가 가장 매끄럽게 흐르고 수렴하는 최적의 레이어 조합과 수치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엔지니어링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결론적으로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통찰로 거대한 지도를 그리고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실험적 시행착오로 최적의 지름길을 닦아서 발견한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현대 컴퓨터 비전의 명품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2971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CE560-6D29-D8D7-038C-C4C07C087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9646C-7087-2699-B068-ABBD5F1A4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8AD9EA-6C3E-E205-24BA-6EF90F4DD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30B1818-D215-D307-313C-0EDA3743A1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0157" y="1729081"/>
            <a:ext cx="5301799" cy="4408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96BFC-A995-0DD7-4F4C-CB67813DD2A4}"/>
              </a:ext>
            </a:extLst>
          </p:cNvPr>
          <p:cNvSpPr txBox="1"/>
          <p:nvPr/>
        </p:nvSpPr>
        <p:spPr>
          <a:xfrm>
            <a:off x="570895" y="1995781"/>
            <a:ext cx="474405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Complex systems follow a hierarchical structure and are organized into distinct modules, which are reused multiple times (such as your 4 limbs, which are all variants of the same blueprint, or your 20 fingers).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6001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2BB8A-648A-E900-3385-9CB85EEFE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2CE523-1273-A3ED-F16D-AFE204870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1EA353B-EC59-0251-B935-1F2E364D43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DB880-5C21-6151-A36E-65E28F790707}"/>
              </a:ext>
            </a:extLst>
          </p:cNvPr>
          <p:cNvSpPr txBox="1"/>
          <p:nvPr/>
        </p:nvSpPr>
        <p:spPr>
          <a:xfrm>
            <a:off x="570895" y="1995781"/>
            <a:ext cx="10830530" cy="337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(Deeper hierarchies)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본질적으로 더 우수함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특성의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촉진하고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추상화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(Abstraction)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가능하게 만들기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공간이 좁고 층이 깊게 쌓인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 deep stack of narrow layers)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공간이 넓고 층이 얕은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 shallow stack of large layers)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보다 더 나은 성능을 발휘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얼마나 깊게 쌓을 수록 멍청한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(Vanishing gradients)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문제가 발생되어 한계가 존재하게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필수적인 모델 아키텍처 패턴인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(Residual connections)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468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ECCC-4735-F731-4379-48451D09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B89856-6ED1-2640-6E74-634FDC569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0850BA0-0F12-F065-F39D-E210B0964F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Telephone Game(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말 전달하기 게임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5489D-6F2A-9B19-C55E-FAB775A3AAFD}"/>
              </a:ext>
            </a:extLst>
          </p:cNvPr>
          <p:cNvSpPr txBox="1"/>
          <p:nvPr/>
        </p:nvSpPr>
        <p:spPr>
          <a:xfrm>
            <a:off x="1370616" y="5666929"/>
            <a:ext cx="7407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	am	  your	      father</a:t>
            </a:r>
            <a:endParaRPr lang="ko-KR" alt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04" name="Picture 8" descr="Parlour Games During the Holidays: Hapny FolvdaKs">
            <a:extLst>
              <a:ext uri="{FF2B5EF4-FFF2-40B4-BE49-F238E27FC236}">
                <a16:creationId xmlns:a16="http://schemas.microsoft.com/office/drawing/2014/main" id="{2F58ED32-CC7E-7F05-8BEF-5EB9936A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041" y="1841058"/>
            <a:ext cx="5403850" cy="3602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7908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B1D9A-7CBE-F75F-5059-842010DD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CA96D9-6138-3341-1F4E-8A2AF6811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79E419E-89B5-0E15-F4A0-E1CB6BDBD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218" name="Picture 2" descr="주황색 원뿔형 도로로 둘러싸인 도로 폐쇄 표지판">
            <a:extLst>
              <a:ext uri="{FF2B5EF4-FFF2-40B4-BE49-F238E27FC236}">
                <a16:creationId xmlns:a16="http://schemas.microsoft.com/office/drawing/2014/main" id="{1DC91952-4BFE-D043-1E17-86F8566CE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614" y="1895476"/>
            <a:ext cx="5135562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953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5B67-A356-B4BE-0671-F08D8841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22ADFF-AC24-407D-CE1F-AB9F79C6E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5A2223-219C-B79C-18CC-D450BC0B1BF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Vanishing/Exploding gradients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4AC0F-AE85-AC71-DEBC-1A5228575128}"/>
              </a:ext>
            </a:extLst>
          </p:cNvPr>
          <p:cNvSpPr txBox="1"/>
          <p:nvPr/>
        </p:nvSpPr>
        <p:spPr>
          <a:xfrm>
            <a:off x="616189" y="1305493"/>
            <a:ext cx="1095248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출력변수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Hidden layers 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없다고 가정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DAB61AB-4902-0606-72CE-4A674F15B1F9}"/>
              </a:ext>
            </a:extLst>
          </p:cNvPr>
          <p:cNvSpPr/>
          <p:nvPr/>
        </p:nvSpPr>
        <p:spPr>
          <a:xfrm>
            <a:off x="1388693" y="2476690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8F3ABDE-F74D-4FF4-BB44-5680ED6C7981}"/>
              </a:ext>
            </a:extLst>
          </p:cNvPr>
          <p:cNvSpPr/>
          <p:nvPr/>
        </p:nvSpPr>
        <p:spPr>
          <a:xfrm>
            <a:off x="1388693" y="3354144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96118A1-7A2C-D0B1-A360-813CBDE5D152}"/>
              </a:ext>
            </a:extLst>
          </p:cNvPr>
          <p:cNvSpPr/>
          <p:nvPr/>
        </p:nvSpPr>
        <p:spPr>
          <a:xfrm>
            <a:off x="248320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FB534AC-8928-CBF1-72B6-6A3551A2BF88}"/>
              </a:ext>
            </a:extLst>
          </p:cNvPr>
          <p:cNvSpPr/>
          <p:nvPr/>
        </p:nvSpPr>
        <p:spPr>
          <a:xfrm>
            <a:off x="248320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157134B-8DA5-9568-5D54-13899520EFC9}"/>
              </a:ext>
            </a:extLst>
          </p:cNvPr>
          <p:cNvSpPr/>
          <p:nvPr/>
        </p:nvSpPr>
        <p:spPr>
          <a:xfrm>
            <a:off x="357771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4CB94B7-0BB4-F721-11D5-AD9C3C04051A}"/>
              </a:ext>
            </a:extLst>
          </p:cNvPr>
          <p:cNvSpPr/>
          <p:nvPr/>
        </p:nvSpPr>
        <p:spPr>
          <a:xfrm>
            <a:off x="357771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13F0224B-95A9-158D-0871-3BE7D30A7EA2}"/>
              </a:ext>
            </a:extLst>
          </p:cNvPr>
          <p:cNvSpPr/>
          <p:nvPr/>
        </p:nvSpPr>
        <p:spPr>
          <a:xfrm>
            <a:off x="4672229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5BD2F3D-21DA-FD7B-58B3-F7BFBDEDB25D}"/>
              </a:ext>
            </a:extLst>
          </p:cNvPr>
          <p:cNvSpPr/>
          <p:nvPr/>
        </p:nvSpPr>
        <p:spPr>
          <a:xfrm>
            <a:off x="4672229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B4E5A1BA-9DCD-F67B-223B-F4B500AE8B41}"/>
              </a:ext>
            </a:extLst>
          </p:cNvPr>
          <p:cNvSpPr/>
          <p:nvPr/>
        </p:nvSpPr>
        <p:spPr>
          <a:xfrm>
            <a:off x="5766741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52A1C47-C550-ED41-1F0E-5401E26AEFF3}"/>
              </a:ext>
            </a:extLst>
          </p:cNvPr>
          <p:cNvSpPr/>
          <p:nvPr/>
        </p:nvSpPr>
        <p:spPr>
          <a:xfrm>
            <a:off x="5766741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094665F9-9B16-2537-909B-C5DB1035BC60}"/>
              </a:ext>
            </a:extLst>
          </p:cNvPr>
          <p:cNvSpPr/>
          <p:nvPr/>
        </p:nvSpPr>
        <p:spPr>
          <a:xfrm>
            <a:off x="6861253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9DFC4854-4A2D-C0E3-D076-886EC9B55C91}"/>
              </a:ext>
            </a:extLst>
          </p:cNvPr>
          <p:cNvSpPr/>
          <p:nvPr/>
        </p:nvSpPr>
        <p:spPr>
          <a:xfrm>
            <a:off x="6861253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ED5B56BF-7D85-31E9-A609-D1469E0E82D1}"/>
              </a:ext>
            </a:extLst>
          </p:cNvPr>
          <p:cNvSpPr/>
          <p:nvPr/>
        </p:nvSpPr>
        <p:spPr>
          <a:xfrm>
            <a:off x="795576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8C9DC191-BBF6-5C97-3737-0494AB07AA55}"/>
              </a:ext>
            </a:extLst>
          </p:cNvPr>
          <p:cNvSpPr/>
          <p:nvPr/>
        </p:nvSpPr>
        <p:spPr>
          <a:xfrm>
            <a:off x="795576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2DA94BDA-5C63-04A6-E841-AA3C504AC4D9}"/>
              </a:ext>
            </a:extLst>
          </p:cNvPr>
          <p:cNvSpPr/>
          <p:nvPr/>
        </p:nvSpPr>
        <p:spPr>
          <a:xfrm>
            <a:off x="905027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6D9EDF6-BF13-DFC6-F0A6-724BCF12146A}"/>
              </a:ext>
            </a:extLst>
          </p:cNvPr>
          <p:cNvSpPr/>
          <p:nvPr/>
        </p:nvSpPr>
        <p:spPr>
          <a:xfrm>
            <a:off x="905027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73310646-FB79-7409-3833-E3268DB6D249}"/>
              </a:ext>
            </a:extLst>
          </p:cNvPr>
          <p:cNvSpPr/>
          <p:nvPr/>
        </p:nvSpPr>
        <p:spPr>
          <a:xfrm>
            <a:off x="10015248" y="2947744"/>
            <a:ext cx="434109" cy="43410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42CDD4-F3A0-2E1E-2D0E-873296680E3F}"/>
              </a:ext>
            </a:extLst>
          </p:cNvPr>
          <p:cNvCxnSpPr>
            <a:stCxn id="2" idx="6"/>
            <a:endCxn id="9" idx="2"/>
          </p:cNvCxnSpPr>
          <p:nvPr/>
        </p:nvCxnSpPr>
        <p:spPr>
          <a:xfrm>
            <a:off x="1822802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5C8C6A4-FBE2-C63E-75E1-256AD9908BF5}"/>
              </a:ext>
            </a:extLst>
          </p:cNvPr>
          <p:cNvCxnSpPr>
            <a:cxnSpLocks/>
            <a:stCxn id="2" idx="6"/>
            <a:endCxn id="13" idx="2"/>
          </p:cNvCxnSpPr>
          <p:nvPr/>
        </p:nvCxnSpPr>
        <p:spPr>
          <a:xfrm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E7B81FA-8A69-8F74-1F44-E4249E0ABB15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41FD153-CDCD-D303-2BA2-9874AF2C3C90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1822802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FF2AFFF3-6D77-5E6A-986A-39BC77D92A0F}"/>
              </a:ext>
            </a:extLst>
          </p:cNvPr>
          <p:cNvCxnSpPr/>
          <p:nvPr/>
        </p:nvCxnSpPr>
        <p:spPr>
          <a:xfrm>
            <a:off x="2917313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4693179-929E-DAC1-8B1E-E29A0C1D2F6F}"/>
              </a:ext>
            </a:extLst>
          </p:cNvPr>
          <p:cNvCxnSpPr>
            <a:cxnSpLocks/>
          </p:cNvCxnSpPr>
          <p:nvPr/>
        </p:nvCxnSpPr>
        <p:spPr>
          <a:xfrm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9A4AC6E-3310-779B-7ED8-0A660C65E006}"/>
              </a:ext>
            </a:extLst>
          </p:cNvPr>
          <p:cNvCxnSpPr>
            <a:cxnSpLocks/>
          </p:cNvCxnSpPr>
          <p:nvPr/>
        </p:nvCxnSpPr>
        <p:spPr>
          <a:xfrm flipV="1"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16C5FF4-4F16-D41D-394A-7D35CA9FDDD3}"/>
              </a:ext>
            </a:extLst>
          </p:cNvPr>
          <p:cNvCxnSpPr>
            <a:cxnSpLocks/>
          </p:cNvCxnSpPr>
          <p:nvPr/>
        </p:nvCxnSpPr>
        <p:spPr>
          <a:xfrm>
            <a:off x="2917313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D7E0769-00E1-D9F4-5198-6743AC6F522A}"/>
              </a:ext>
            </a:extLst>
          </p:cNvPr>
          <p:cNvCxnSpPr/>
          <p:nvPr/>
        </p:nvCxnSpPr>
        <p:spPr>
          <a:xfrm>
            <a:off x="4011826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FA48A63C-6D8B-7C39-FBD3-7EF09D311268}"/>
              </a:ext>
            </a:extLst>
          </p:cNvPr>
          <p:cNvCxnSpPr>
            <a:cxnSpLocks/>
          </p:cNvCxnSpPr>
          <p:nvPr/>
        </p:nvCxnSpPr>
        <p:spPr>
          <a:xfrm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B361A3B-6642-83E8-A60E-5D01D80D2E25}"/>
              </a:ext>
            </a:extLst>
          </p:cNvPr>
          <p:cNvCxnSpPr>
            <a:cxnSpLocks/>
          </p:cNvCxnSpPr>
          <p:nvPr/>
        </p:nvCxnSpPr>
        <p:spPr>
          <a:xfrm flipV="1"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648A0CF-31DC-3A2C-237E-64AA50F983DA}"/>
              </a:ext>
            </a:extLst>
          </p:cNvPr>
          <p:cNvCxnSpPr>
            <a:cxnSpLocks/>
          </p:cNvCxnSpPr>
          <p:nvPr/>
        </p:nvCxnSpPr>
        <p:spPr>
          <a:xfrm>
            <a:off x="4011826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89A592AF-54B9-D0A1-E0DA-6291D6E92F29}"/>
              </a:ext>
            </a:extLst>
          </p:cNvPr>
          <p:cNvCxnSpPr/>
          <p:nvPr/>
        </p:nvCxnSpPr>
        <p:spPr>
          <a:xfrm>
            <a:off x="5106337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27E690F9-C48A-750C-E30B-5EA116A62CD1}"/>
              </a:ext>
            </a:extLst>
          </p:cNvPr>
          <p:cNvCxnSpPr>
            <a:cxnSpLocks/>
          </p:cNvCxnSpPr>
          <p:nvPr/>
        </p:nvCxnSpPr>
        <p:spPr>
          <a:xfrm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FB7F7CA-3F3D-DB47-D9D4-D029DFD466BD}"/>
              </a:ext>
            </a:extLst>
          </p:cNvPr>
          <p:cNvCxnSpPr>
            <a:cxnSpLocks/>
          </p:cNvCxnSpPr>
          <p:nvPr/>
        </p:nvCxnSpPr>
        <p:spPr>
          <a:xfrm flipV="1"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B269BFE1-56F8-B5EB-027E-4B05E2379463}"/>
              </a:ext>
            </a:extLst>
          </p:cNvPr>
          <p:cNvCxnSpPr>
            <a:cxnSpLocks/>
          </p:cNvCxnSpPr>
          <p:nvPr/>
        </p:nvCxnSpPr>
        <p:spPr>
          <a:xfrm>
            <a:off x="5106337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676D226-8A34-A7F8-5658-40DBE3D397E7}"/>
              </a:ext>
            </a:extLst>
          </p:cNvPr>
          <p:cNvCxnSpPr/>
          <p:nvPr/>
        </p:nvCxnSpPr>
        <p:spPr>
          <a:xfrm>
            <a:off x="6200848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C790E272-0099-FBEA-0917-248CA4D6A4E0}"/>
              </a:ext>
            </a:extLst>
          </p:cNvPr>
          <p:cNvCxnSpPr>
            <a:cxnSpLocks/>
          </p:cNvCxnSpPr>
          <p:nvPr/>
        </p:nvCxnSpPr>
        <p:spPr>
          <a:xfrm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94C0631-9C49-6791-5480-4EE212F630C2}"/>
              </a:ext>
            </a:extLst>
          </p:cNvPr>
          <p:cNvCxnSpPr>
            <a:cxnSpLocks/>
          </p:cNvCxnSpPr>
          <p:nvPr/>
        </p:nvCxnSpPr>
        <p:spPr>
          <a:xfrm flipV="1"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B7B887C-BE1F-5082-154C-8D2EDC300489}"/>
              </a:ext>
            </a:extLst>
          </p:cNvPr>
          <p:cNvCxnSpPr>
            <a:cxnSpLocks/>
          </p:cNvCxnSpPr>
          <p:nvPr/>
        </p:nvCxnSpPr>
        <p:spPr>
          <a:xfrm>
            <a:off x="6200848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43FDA97-CF93-25B8-65BF-4E14BCFB10AE}"/>
              </a:ext>
            </a:extLst>
          </p:cNvPr>
          <p:cNvCxnSpPr/>
          <p:nvPr/>
        </p:nvCxnSpPr>
        <p:spPr>
          <a:xfrm>
            <a:off x="7295359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4E6EBDF-91BB-BF68-A7E1-FEEE6E4F1878}"/>
              </a:ext>
            </a:extLst>
          </p:cNvPr>
          <p:cNvCxnSpPr>
            <a:cxnSpLocks/>
          </p:cNvCxnSpPr>
          <p:nvPr/>
        </p:nvCxnSpPr>
        <p:spPr>
          <a:xfrm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39B26608-9635-6944-9F2E-F243B4EBC14C}"/>
              </a:ext>
            </a:extLst>
          </p:cNvPr>
          <p:cNvCxnSpPr>
            <a:cxnSpLocks/>
          </p:cNvCxnSpPr>
          <p:nvPr/>
        </p:nvCxnSpPr>
        <p:spPr>
          <a:xfrm flipV="1"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EB3D4EA-E6DF-6DBB-DECD-E6F5C8B655D0}"/>
              </a:ext>
            </a:extLst>
          </p:cNvPr>
          <p:cNvCxnSpPr>
            <a:cxnSpLocks/>
          </p:cNvCxnSpPr>
          <p:nvPr/>
        </p:nvCxnSpPr>
        <p:spPr>
          <a:xfrm>
            <a:off x="7295359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61781F-7859-B25B-7315-74B707512331}"/>
              </a:ext>
            </a:extLst>
          </p:cNvPr>
          <p:cNvCxnSpPr/>
          <p:nvPr/>
        </p:nvCxnSpPr>
        <p:spPr>
          <a:xfrm>
            <a:off x="8389874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EB7A26C-946C-80D0-9488-0B856A71B892}"/>
              </a:ext>
            </a:extLst>
          </p:cNvPr>
          <p:cNvCxnSpPr>
            <a:cxnSpLocks/>
          </p:cNvCxnSpPr>
          <p:nvPr/>
        </p:nvCxnSpPr>
        <p:spPr>
          <a:xfrm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C5BB28E-3D0E-D886-4488-5A0A0580C20D}"/>
              </a:ext>
            </a:extLst>
          </p:cNvPr>
          <p:cNvCxnSpPr>
            <a:cxnSpLocks/>
          </p:cNvCxnSpPr>
          <p:nvPr/>
        </p:nvCxnSpPr>
        <p:spPr>
          <a:xfrm flipV="1"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9BF15D1-AB72-0B2F-EF7B-67A1B53096F4}"/>
              </a:ext>
            </a:extLst>
          </p:cNvPr>
          <p:cNvCxnSpPr>
            <a:cxnSpLocks/>
          </p:cNvCxnSpPr>
          <p:nvPr/>
        </p:nvCxnSpPr>
        <p:spPr>
          <a:xfrm>
            <a:off x="8389874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8364A96C-AB40-5914-28EF-C070B72D129E}"/>
              </a:ext>
            </a:extLst>
          </p:cNvPr>
          <p:cNvCxnSpPr>
            <a:cxnSpLocks/>
            <a:stCxn id="38" idx="6"/>
            <a:endCxn id="42" idx="2"/>
          </p:cNvCxnSpPr>
          <p:nvPr/>
        </p:nvCxnSpPr>
        <p:spPr>
          <a:xfrm>
            <a:off x="9484386" y="2693745"/>
            <a:ext cx="530862" cy="471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9C5D5AF-575D-B7DF-753E-0A4406FB3854}"/>
              </a:ext>
            </a:extLst>
          </p:cNvPr>
          <p:cNvCxnSpPr>
            <a:cxnSpLocks/>
            <a:stCxn id="40" idx="6"/>
            <a:endCxn id="42" idx="2"/>
          </p:cNvCxnSpPr>
          <p:nvPr/>
        </p:nvCxnSpPr>
        <p:spPr>
          <a:xfrm flipV="1">
            <a:off x="9484386" y="3164799"/>
            <a:ext cx="530862" cy="406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/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blipFill>
                <a:blip r:embed="rId2"/>
                <a:stretch>
                  <a:fillRect l="-7937" r="-4762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/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blipFill>
                <a:blip r:embed="rId3"/>
                <a:stretch>
                  <a:fillRect l="-7813" r="-4688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/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blipFill>
                <a:blip r:embed="rId4"/>
                <a:stretch>
                  <a:fillRect l="-25581" t="-15000" r="-74419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958D2BB3-428A-76B0-BEAD-59DF5F61F84D}"/>
              </a:ext>
            </a:extLst>
          </p:cNvPr>
          <p:cNvCxnSpPr>
            <a:cxnSpLocks/>
            <a:stCxn id="42" idx="6"/>
            <a:endCxn id="88" idx="1"/>
          </p:cNvCxnSpPr>
          <p:nvPr/>
        </p:nvCxnSpPr>
        <p:spPr>
          <a:xfrm>
            <a:off x="10449357" y="3164799"/>
            <a:ext cx="723508" cy="185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/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/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/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blipFill>
                <a:blip r:embed="rId7"/>
                <a:stretch>
                  <a:fillRect l="-3937" r="-23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/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blipFill>
                <a:blip r:embed="rId8"/>
                <a:stretch>
                  <a:fillRect l="-3937" r="-2362"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B8C3B0BA-FD06-65D4-A735-9D9F9A7BE094}"/>
              </a:ext>
            </a:extLst>
          </p:cNvPr>
          <p:cNvSpPr txBox="1"/>
          <p:nvPr/>
        </p:nvSpPr>
        <p:spPr>
          <a:xfrm>
            <a:off x="3243585" y="4665706"/>
            <a:ext cx="2455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endParaRPr lang="ko-KR" altLang="en-US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049FCA-B6A0-81FB-CDCB-98D0166602B8}"/>
              </a:ext>
            </a:extLst>
          </p:cNvPr>
          <p:cNvSpPr txBox="1"/>
          <p:nvPr/>
        </p:nvSpPr>
        <p:spPr>
          <a:xfrm>
            <a:off x="5818780" y="4665706"/>
            <a:ext cx="12681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Exploding </a:t>
            </a:r>
            <a:endParaRPr lang="ko-KR" altLang="en-US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D3E6727-D231-F632-A755-3ADAA5B88389}"/>
              </a:ext>
            </a:extLst>
          </p:cNvPr>
          <p:cNvSpPr txBox="1"/>
          <p:nvPr/>
        </p:nvSpPr>
        <p:spPr>
          <a:xfrm>
            <a:off x="6531049" y="6068240"/>
            <a:ext cx="8373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50113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8B6F7-5F70-1358-82F3-E75B48610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B84444-B7E6-9F6A-3923-CEDB4AB30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EFE3250-F48A-9BC6-0AF2-4DF860FD99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Gradient Clipping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8771F-BDED-BDB5-880C-EAAFE2FF3565}"/>
              </a:ext>
            </a:extLst>
          </p:cNvPr>
          <p:cNvSpPr txBox="1"/>
          <p:nvPr/>
        </p:nvSpPr>
        <p:spPr>
          <a:xfrm>
            <a:off x="616189" y="1305493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경사폭발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(exploding 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문제를 완화하기 위해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(backpropagation)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과정에서 경사도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가 일정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임계값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(threshold)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을 절대 넘지 않도록 잘라내는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(clip)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것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BB30304-5214-AC9E-34CC-A440FB6B39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245D965-FE57-205F-A390-78068B1B46C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10782" y="3276600"/>
            <a:ext cx="7483488" cy="209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0585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51E9-3B25-6785-143D-58355B0D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A2D902-13EC-253F-C38E-AAFA4BFCB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EBC776-0CAD-E93F-5C7F-956B4EF69F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7487F43-AF32-A507-61B2-6413456EB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041" y="4354896"/>
            <a:ext cx="2575101" cy="49229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66AB12-21DB-DCBC-B5A7-9C1FDBA3AB4C}"/>
              </a:ext>
            </a:extLst>
          </p:cNvPr>
          <p:cNvSpPr txBox="1"/>
          <p:nvPr/>
        </p:nvSpPr>
        <p:spPr>
          <a:xfrm>
            <a:off x="571500" y="1226801"/>
            <a:ext cx="11049000" cy="254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발생 문제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출력층에서 기록된 오차(모델의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손실값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기반으로 맨 앞의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조정하려면 오차 정보를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f4,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거쳐 역방향으로 계산하여야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 만약 함수의 사슬이 너무 깊어지면,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노이즈가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(오차 신호) 정보를 압도하기 시작하고, 결국 역전파가 작동을 멈추게 되어 모델이 전혀 학습되지 않는 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 문제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FE4C426-36D0-B95D-0A3D-29F4B3C9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957" y="4354896"/>
            <a:ext cx="3168002" cy="75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57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204-3E91-8F64-9396-F8A66298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0E069C-7896-D175-04F7-D9397057F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2CA2D95-3B03-E6E5-BD61-46C98912FC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E904C8-EBB7-391D-31B7-99B879CD2509}"/>
              </a:ext>
            </a:extLst>
          </p:cNvPr>
          <p:cNvSpPr txBox="1"/>
          <p:nvPr/>
        </p:nvSpPr>
        <p:spPr>
          <a:xfrm>
            <a:off x="591164" y="1267861"/>
            <a:ext cx="10753725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또는 레이어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그것의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그냥 다시 더해주는 것으로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마이크로소프트가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레즈넷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제품군과 함께 세상에 처음 도입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심층 메인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(F(x))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vanish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되더라도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최소한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×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신호 만큼은 아무런 손실과 노이즈 없이 맨 앞 레이어까지 다이렉트로 배달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B26DF13-611C-DE7B-4701-3550C78E7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092" y="4029041"/>
            <a:ext cx="3769319" cy="70770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9F82750-E007-11E9-9B64-DB4A4172F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094" y="3596646"/>
            <a:ext cx="2141568" cy="491767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5153C6C-0891-CB32-D7D4-FE023D95F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4478" y="5322937"/>
            <a:ext cx="2081222" cy="657228"/>
          </a:xfrm>
          <a:prstGeom prst="rect">
            <a:avLst/>
          </a:prstGeom>
        </p:spPr>
      </p:pic>
      <p:pic>
        <p:nvPicPr>
          <p:cNvPr id="37" name="Picture 6">
            <a:extLst>
              <a:ext uri="{FF2B5EF4-FFF2-40B4-BE49-F238E27FC236}">
                <a16:creationId xmlns:a16="http://schemas.microsoft.com/office/drawing/2014/main" id="{90806837-E4AF-CB84-8A4A-91D925612F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2652" y="3636560"/>
            <a:ext cx="3039555" cy="276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2000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D7F0-43E9-CD4D-E782-CBFD9084F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50D492-AB91-F514-FC7B-5099AFE1F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2CECB5D-43AE-687B-390E-0801EA4E10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E994C-9ECD-1AEB-5E05-02F78DB1FFB1}"/>
              </a:ext>
            </a:extLst>
          </p:cNvPr>
          <p:cNvSpPr txBox="1"/>
          <p:nvPr/>
        </p:nvSpPr>
        <p:spPr>
          <a:xfrm>
            <a:off x="591164" y="1267861"/>
            <a:ext cx="11115061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블록의 마지막 관문에서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왼쪽 지름길과 더하기 위해서는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다시 더해준다는 것은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형태와 반드시 같아야 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함수가 없는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(149 x 149 x 32)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합산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17E1368-2FE5-A638-6F32-C8A34FCB1120}"/>
              </a:ext>
            </a:extLst>
          </p:cNvPr>
          <p:cNvGrpSpPr/>
          <p:nvPr/>
        </p:nvGrpSpPr>
        <p:grpSpPr>
          <a:xfrm>
            <a:off x="1078100" y="3246239"/>
            <a:ext cx="6284726" cy="2790022"/>
            <a:chOff x="1535299" y="3015621"/>
            <a:chExt cx="6626437" cy="2809689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6E6C587-4215-6BAC-0B8E-9F66846CB1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5299" y="3015621"/>
              <a:ext cx="3781174" cy="280968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6BC8ABEF-5E14-AADB-391B-00D772B67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63133" y="3015621"/>
              <a:ext cx="2898603" cy="2809689"/>
            </a:xfrm>
            <a:prstGeom prst="rect">
              <a:avLst/>
            </a:prstGeom>
          </p:spPr>
        </p:pic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39A49B3-C3A8-5D20-0B8F-FFE83F752F8A}"/>
              </a:ext>
            </a:extLst>
          </p:cNvPr>
          <p:cNvSpPr/>
          <p:nvPr/>
        </p:nvSpPr>
        <p:spPr>
          <a:xfrm>
            <a:off x="4991100" y="5038725"/>
            <a:ext cx="1943100" cy="997536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69D91F-3536-7DE8-EC57-8C4833A885E3}"/>
              </a:ext>
            </a:extLst>
          </p:cNvPr>
          <p:cNvSpPr/>
          <p:nvPr/>
        </p:nvSpPr>
        <p:spPr>
          <a:xfrm>
            <a:off x="4991100" y="4048125"/>
            <a:ext cx="1943100" cy="838200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F69D016-F4F7-6752-5BF0-209B32F50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7" y="3975458"/>
            <a:ext cx="2680806" cy="615592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1B506C-C9E0-8649-67FB-6A08C4EBA292}"/>
              </a:ext>
            </a:extLst>
          </p:cNvPr>
          <p:cNvSpPr/>
          <p:nvPr/>
        </p:nvSpPr>
        <p:spPr>
          <a:xfrm>
            <a:off x="847726" y="5028164"/>
            <a:ext cx="1276350" cy="561975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2FD37E0-03D1-5526-23F2-F11B79C3216D}"/>
              </a:ext>
            </a:extLst>
          </p:cNvPr>
          <p:cNvSpPr/>
          <p:nvPr/>
        </p:nvSpPr>
        <p:spPr>
          <a:xfrm>
            <a:off x="9419160" y="3817901"/>
            <a:ext cx="658290" cy="887449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09C0AF-5629-86E4-2E6D-2FB75546484D}"/>
              </a:ext>
            </a:extLst>
          </p:cNvPr>
          <p:cNvSpPr/>
          <p:nvPr/>
        </p:nvSpPr>
        <p:spPr>
          <a:xfrm>
            <a:off x="10296006" y="3817901"/>
            <a:ext cx="381519" cy="887449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F4482-0830-D58D-C1FF-07A64F54FFB5}"/>
              </a:ext>
            </a:extLst>
          </p:cNvPr>
          <p:cNvSpPr txBox="1"/>
          <p:nvPr/>
        </p:nvSpPr>
        <p:spPr>
          <a:xfrm>
            <a:off x="2871193" y="6113477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9861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36EEB-0ACE-41A5-C52F-8840FBDD2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8B3800-8CF8-424B-AD44-D1B711A27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0C4342E-BBD6-2A4A-B125-B538065012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Batch normalization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37E0B1-DCC9-FB11-9199-CDC17CAA60C7}"/>
              </a:ext>
            </a:extLst>
          </p:cNvPr>
          <p:cNvSpPr txBox="1"/>
          <p:nvPr/>
        </p:nvSpPr>
        <p:spPr>
          <a:xfrm>
            <a:off x="591164" y="1267861"/>
            <a:ext cx="6314461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데이터에서 평균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(Mean)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빼서 데이터를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중심으로 정렬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(Centering)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표준편차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(Standard deviation)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나누어 단위 표준편차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(Unit standard deviation)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갖도록 만드는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사실상 이 방식은 데이터가 정규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분포를 따른다고 가정하며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분포가 반드시 중심에 위치하고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(Centered)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 분산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(Unit variance)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갖도록 크기가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(Scaled)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표면이 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(Bell-shape)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명청한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경사 하강법은 지그재그로 헤맬 필요 없이 어느 지점에서 출발하더라도 중심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최적의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향해 최단 거리로 곧장 미끄러져 내려갈 수 있어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학습 속도가 획기적으로 빨라지고 안정적으로 수렴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2C717406-3F84-6988-70F3-EBBA401C69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1519" y="1481723"/>
            <a:ext cx="4103591" cy="3661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31393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B8B4C-D924-1D5F-089B-0BA0D28BB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C1A1C9-A992-4105-8264-D9C24D02F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0E8E6DE-FFD7-DA4B-84C1-AAA68AB4BF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Batch normalization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A06E57-2E5A-479F-6AA9-18A2F463F47C}"/>
              </a:ext>
            </a:extLst>
          </p:cNvPr>
          <p:cNvSpPr txBox="1"/>
          <p:nvPr/>
        </p:nvSpPr>
        <p:spPr>
          <a:xfrm>
            <a:off x="542924" y="1318736"/>
            <a:ext cx="11115675" cy="1529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현대 딥러닝 아키텍처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입력할 때만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정규화하지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레이어와 레이어 사이를 통과할 때마다 실시간으로 데이터를 계속 정규화해 버리자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아이디어가 그것이 바로 레이어 중간중간 약초를 뿌리듯 들어있는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정체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엄밀한 수학적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과학이라기보다는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경험적 엔지니어링 우수 사례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(Best Practice)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들의 집합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3DF88CC-FDEE-7243-36FC-F51CD0113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297" y="5644039"/>
            <a:ext cx="2575101" cy="49229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73197D2-A0D6-5102-CF24-F92DAA923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297" y="3423614"/>
            <a:ext cx="2296297" cy="2037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5266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B395-0D3F-5334-B2B7-B3707E7F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EBE7084-4D72-978F-1456-0C107B4B61A3}"/>
              </a:ext>
            </a:extLst>
          </p:cNvPr>
          <p:cNvSpPr/>
          <p:nvPr/>
        </p:nvSpPr>
        <p:spPr>
          <a:xfrm>
            <a:off x="19608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12C93DE-2138-BBA0-EDA6-9A8887A1D37A}"/>
              </a:ext>
            </a:extLst>
          </p:cNvPr>
          <p:cNvSpPr/>
          <p:nvPr/>
        </p:nvSpPr>
        <p:spPr>
          <a:xfrm>
            <a:off x="26995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F902C4F-5E7D-5990-0DE1-785685602C2B}"/>
              </a:ext>
            </a:extLst>
          </p:cNvPr>
          <p:cNvSpPr/>
          <p:nvPr/>
        </p:nvSpPr>
        <p:spPr>
          <a:xfrm>
            <a:off x="34382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23F105-563D-ECCC-BFD8-8E493E131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F86FFC4-D8BC-9393-A237-2A402D3F1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295E6B-4A9E-55C8-95B8-E001CCC1BD59}"/>
              </a:ext>
            </a:extLst>
          </p:cNvPr>
          <p:cNvSpPr txBox="1"/>
          <p:nvPr/>
        </p:nvSpPr>
        <p:spPr>
          <a:xfrm>
            <a:off x="616189" y="1305493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함수의 입력 값으로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 한 결과 값을 사용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 만큼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추정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A880B5-3C7A-D2B5-74AD-A84E2A85E10A}"/>
              </a:ext>
            </a:extLst>
          </p:cNvPr>
          <p:cNvSpPr txBox="1"/>
          <p:nvPr/>
        </p:nvSpPr>
        <p:spPr>
          <a:xfrm rot="10800000">
            <a:off x="191666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6DC2D0-CBD6-BCB8-A9ED-1579B61E2B31}"/>
              </a:ext>
            </a:extLst>
          </p:cNvPr>
          <p:cNvSpPr txBox="1"/>
          <p:nvPr/>
        </p:nvSpPr>
        <p:spPr>
          <a:xfrm rot="10800000">
            <a:off x="26690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CE1F99-FEBF-6375-85B3-269957A2C257}"/>
              </a:ext>
            </a:extLst>
          </p:cNvPr>
          <p:cNvSpPr txBox="1"/>
          <p:nvPr/>
        </p:nvSpPr>
        <p:spPr>
          <a:xfrm rot="10800000">
            <a:off x="3398126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C22D93A-EC57-151F-FCAE-BFC27A1507EA}"/>
              </a:ext>
            </a:extLst>
          </p:cNvPr>
          <p:cNvSpPr/>
          <p:nvPr/>
        </p:nvSpPr>
        <p:spPr>
          <a:xfrm>
            <a:off x="51104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EEB34C7-E6AC-CC92-11A3-108664DAE389}"/>
              </a:ext>
            </a:extLst>
          </p:cNvPr>
          <p:cNvSpPr/>
          <p:nvPr/>
        </p:nvSpPr>
        <p:spPr>
          <a:xfrm>
            <a:off x="58491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1EF0046-010E-B942-EB13-FDF3823A3CDA}"/>
              </a:ext>
            </a:extLst>
          </p:cNvPr>
          <p:cNvSpPr/>
          <p:nvPr/>
        </p:nvSpPr>
        <p:spPr>
          <a:xfrm>
            <a:off x="65878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D610CC-4157-54C9-6912-801D11D03AEF}"/>
              </a:ext>
            </a:extLst>
          </p:cNvPr>
          <p:cNvSpPr txBox="1"/>
          <p:nvPr/>
        </p:nvSpPr>
        <p:spPr>
          <a:xfrm rot="10800000">
            <a:off x="5074245" y="2702350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A0DCDD-704A-B4C9-3124-8EA6CC74D991}"/>
              </a:ext>
            </a:extLst>
          </p:cNvPr>
          <p:cNvSpPr txBox="1"/>
          <p:nvPr/>
        </p:nvSpPr>
        <p:spPr>
          <a:xfrm rot="10800000">
            <a:off x="58186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3522F4-73D3-3982-293B-B7065C04EF9F}"/>
              </a:ext>
            </a:extLst>
          </p:cNvPr>
          <p:cNvSpPr txBox="1"/>
          <p:nvPr/>
        </p:nvSpPr>
        <p:spPr>
          <a:xfrm rot="10800000">
            <a:off x="6557328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49482D3-DEAC-9030-C4CB-3A6D411EACF2}"/>
              </a:ext>
            </a:extLst>
          </p:cNvPr>
          <p:cNvSpPr/>
          <p:nvPr/>
        </p:nvSpPr>
        <p:spPr>
          <a:xfrm>
            <a:off x="823976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EFA9BAE-87F1-6A0B-66C8-7BD198CD6402}"/>
              </a:ext>
            </a:extLst>
          </p:cNvPr>
          <p:cNvSpPr/>
          <p:nvPr/>
        </p:nvSpPr>
        <p:spPr>
          <a:xfrm>
            <a:off x="897842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2FD7490-A807-6A3A-6E35-B823F3D46F2F}"/>
              </a:ext>
            </a:extLst>
          </p:cNvPr>
          <p:cNvSpPr/>
          <p:nvPr/>
        </p:nvSpPr>
        <p:spPr>
          <a:xfrm>
            <a:off x="971708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30F1760-0325-25D9-F08F-42A0E72EA1C2}"/>
              </a:ext>
            </a:extLst>
          </p:cNvPr>
          <p:cNvSpPr txBox="1"/>
          <p:nvPr/>
        </p:nvSpPr>
        <p:spPr>
          <a:xfrm rot="10800000">
            <a:off x="819554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1FB1D83-1758-6891-22AF-7799C78D836D}"/>
              </a:ext>
            </a:extLst>
          </p:cNvPr>
          <p:cNvSpPr txBox="1"/>
          <p:nvPr/>
        </p:nvSpPr>
        <p:spPr>
          <a:xfrm rot="10800000">
            <a:off x="894794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9028659-3778-0C5D-0B6E-E89CC91A0285}"/>
              </a:ext>
            </a:extLst>
          </p:cNvPr>
          <p:cNvSpPr txBox="1"/>
          <p:nvPr/>
        </p:nvSpPr>
        <p:spPr>
          <a:xfrm rot="10800000">
            <a:off x="9686608" y="2727961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839C82D-E58E-82FE-652D-BBB6A22F4C6D}"/>
              </a:ext>
            </a:extLst>
          </p:cNvPr>
          <p:cNvCxnSpPr>
            <a:cxnSpLocks/>
          </p:cNvCxnSpPr>
          <p:nvPr/>
        </p:nvCxnSpPr>
        <p:spPr>
          <a:xfrm>
            <a:off x="1054180" y="327258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DF5D7934-C138-266B-6EEB-7030DCF6229F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4088449" y="3231827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E98D962-ADA5-99BA-2F8B-7793D84B547B}"/>
              </a:ext>
            </a:extLst>
          </p:cNvPr>
          <p:cNvCxnSpPr>
            <a:cxnSpLocks/>
          </p:cNvCxnSpPr>
          <p:nvPr/>
        </p:nvCxnSpPr>
        <p:spPr>
          <a:xfrm>
            <a:off x="7238049" y="3267890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28356FE2-0060-EB9C-941B-FAD665D5E48E}"/>
              </a:ext>
            </a:extLst>
          </p:cNvPr>
          <p:cNvCxnSpPr>
            <a:cxnSpLocks/>
          </p:cNvCxnSpPr>
          <p:nvPr/>
        </p:nvCxnSpPr>
        <p:spPr>
          <a:xfrm>
            <a:off x="10369747" y="328927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6" name="그림 85">
            <a:extLst>
              <a:ext uri="{FF2B5EF4-FFF2-40B4-BE49-F238E27FC236}">
                <a16:creationId xmlns:a16="http://schemas.microsoft.com/office/drawing/2014/main" id="{86C1B6D1-2E73-5219-1E77-CEA5A1F5F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125" y="4670038"/>
            <a:ext cx="6264183" cy="1844200"/>
          </a:xfrm>
          <a:prstGeom prst="rect">
            <a:avLst/>
          </a:prstGeom>
        </p:spPr>
      </p:pic>
      <p:cxnSp>
        <p:nvCxnSpPr>
          <p:cNvPr id="91" name="연결선: 구부러짐 90">
            <a:extLst>
              <a:ext uri="{FF2B5EF4-FFF2-40B4-BE49-F238E27FC236}">
                <a16:creationId xmlns:a16="http://schemas.microsoft.com/office/drawing/2014/main" id="{0B4B36B6-EB48-949A-9356-2A96FE8F36AF}"/>
              </a:ext>
            </a:extLst>
          </p:cNvPr>
          <p:cNvCxnSpPr>
            <a:endCxn id="16" idx="2"/>
          </p:cNvCxnSpPr>
          <p:nvPr/>
        </p:nvCxnSpPr>
        <p:spPr>
          <a:xfrm flipV="1">
            <a:off x="4826000" y="4177655"/>
            <a:ext cx="1348264" cy="49238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연결선: 구부러짐 91">
            <a:extLst>
              <a:ext uri="{FF2B5EF4-FFF2-40B4-BE49-F238E27FC236}">
                <a16:creationId xmlns:a16="http://schemas.microsoft.com/office/drawing/2014/main" id="{7F1E6337-A264-B8D7-7690-DF253554F057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8239760" y="4177655"/>
            <a:ext cx="1063784" cy="4850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37A1218-ABDE-4068-3F51-F6F95D08EEA1}"/>
              </a:ext>
            </a:extLst>
          </p:cNvPr>
          <p:cNvSpPr txBox="1"/>
          <p:nvPr/>
        </p:nvSpPr>
        <p:spPr>
          <a:xfrm>
            <a:off x="2285999" y="4990656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1</a:t>
            </a:r>
            <a:endParaRPr lang="ko-KR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4690D3B-B7A9-9622-5958-64850429C0E4}"/>
              </a:ext>
            </a:extLst>
          </p:cNvPr>
          <p:cNvSpPr txBox="1"/>
          <p:nvPr/>
        </p:nvSpPr>
        <p:spPr>
          <a:xfrm>
            <a:off x="2285999" y="5666929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8587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0" grpId="0"/>
      <p:bldP spid="16" grpId="0" animBg="1"/>
      <p:bldP spid="21" grpId="0"/>
      <p:bldP spid="27" grpId="0" animBg="1"/>
      <p:bldP spid="33" grpId="0"/>
      <p:bldP spid="98" grpId="0"/>
      <p:bldP spid="10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8E021-D61F-7A22-2B28-57928EFA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5F834A-EF1A-5876-81E9-FF7A9A30D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6E15B4B-6367-2059-381E-10BDA7C61D2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/>
              <p:nvPr/>
            </p:nvSpPr>
            <p:spPr>
              <a:xfrm>
                <a:off x="616189" y="1305493"/>
                <a:ext cx="10952480" cy="879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끝날 때 마다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Parameters(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dirty="0">
                        <a:latin typeface="Cambria Math" panose="02040503050406030204" pitchFamily="18" charset="0"/>
                      </a:rPr>
                      <m:t>Weights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dirty="0">
                        <a:latin typeface="Cambria Math" panose="02040503050406030204" pitchFamily="18" charset="0"/>
                      </a:rPr>
                      <m:t>bias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&amp;</m:t>
                    </m:r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 Descent)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딱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회 업데이트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학습률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하고 평균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과 분산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계산만 하게 됨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305493"/>
                <a:ext cx="10952480" cy="879984"/>
              </a:xfrm>
              <a:prstGeom prst="rect">
                <a:avLst/>
              </a:prstGeom>
              <a:blipFill>
                <a:blip r:embed="rId2"/>
                <a:stretch>
                  <a:fillRect l="-445" b="-96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A13F4FA6-5BBF-0228-1335-4BEFCED8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190625" y="2810984"/>
            <a:ext cx="3377055" cy="319790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1B1507-D5ED-F706-9301-471A8F880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0722" y="2810984"/>
            <a:ext cx="1767993" cy="2057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771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B8CC-BEE0-D101-B4AC-6955C2DB6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949B9C-E0C2-5E0F-73E2-3E2EEB3F2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79379F2-EF06-0160-1258-B76A6AE0E3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/>
              <p:nvPr/>
            </p:nvSpPr>
            <p:spPr>
              <a:xfrm>
                <a:off x="616189" y="1305493"/>
                <a:ext cx="10952480" cy="12286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아래 모델의 총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paramters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개수를 구하라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첫번째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 norm layer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파라미터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3,136(28*28*4)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중에서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경사하강법으로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역전파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때 직접 학습시키는 파라미터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(Trainable)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sz="17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700" dirty="0">
                        <a:latin typeface="Cambria Math" panose="02040503050406030204" pitchFamily="18" charset="0"/>
                      </a:rPr>
                      <m:t>&amp; 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뿐이라 총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(784*2)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이고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나머지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  <a14:m>
                  <m:oMath xmlns:m="http://schemas.openxmlformats.org/officeDocument/2006/math">
                    <m:r>
                      <a:rPr lang="en-US" altLang="ko-KR" sz="1700" b="0" i="0" dirty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훈련 과정에서 통계를 내어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저장만하는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(Non-trainable) 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임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305493"/>
                <a:ext cx="10952480" cy="1228670"/>
              </a:xfrm>
              <a:prstGeom prst="rect">
                <a:avLst/>
              </a:prstGeom>
              <a:blipFill>
                <a:blip r:embed="rId2"/>
                <a:stretch>
                  <a:fillRect l="-334" r="-111" b="-54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D2EA454E-28E0-3B60-ADC8-85CC06DFDF49}"/>
              </a:ext>
            </a:extLst>
          </p:cNvPr>
          <p:cNvSpPr txBox="1"/>
          <p:nvPr/>
        </p:nvSpPr>
        <p:spPr>
          <a:xfrm>
            <a:off x="720745" y="2798848"/>
            <a:ext cx="7752695" cy="34199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keras.models.Sequential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keras.layers.Flatten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input_shape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=[28, 28]),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CD6C59C-6278-5A49-41A2-772345BA8A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0171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AAE0-BC53-79D4-C67F-C1C00DE3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BE6E41-1132-B1AC-6F88-51420CBD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E92B1A1-E9C7-5A10-8248-1517006996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0BE4D7-D52F-F8B7-42AA-B2A762F847D6}"/>
              </a:ext>
            </a:extLst>
          </p:cNvPr>
          <p:cNvSpPr txBox="1"/>
          <p:nvPr/>
        </p:nvSpPr>
        <p:spPr>
          <a:xfrm>
            <a:off x="535474" y="1596509"/>
            <a:ext cx="5762011" cy="4117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조합(채널)"은 서로 완전히 독립적인 정보인 경우가 많은데 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 두 가지 정보를 한 번에 억지로 섞어서 배우려다 보니 가설 공간이 너무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 빠지기 쉬운 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두 개념을 수학적으로 완전히 분리하여 경사 하강법에게 "공간 특징 먼저 공부하고, 그 다음에 채널 특징 공부해!" 하고 문제를 분리하여 모델이 노이즈에 상관없이 중요한 핵심 패턴만 정확하게 일반화(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  <p:pic>
        <p:nvPicPr>
          <p:cNvPr id="12294" name="Picture 6">
            <a:extLst>
              <a:ext uri="{FF2B5EF4-FFF2-40B4-BE49-F238E27FC236}">
                <a16:creationId xmlns:a16="http://schemas.microsoft.com/office/drawing/2014/main" id="{C9AEA35F-6861-6F42-03E0-02F868B92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1159" y="1689717"/>
            <a:ext cx="2238632" cy="4426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AAFB594-4A65-5CAB-C7EC-926BC6DCFFA7}"/>
              </a:ext>
            </a:extLst>
          </p:cNvPr>
          <p:cNvSpPr txBox="1"/>
          <p:nvPr/>
        </p:nvSpPr>
        <p:spPr>
          <a:xfrm>
            <a:off x="8923465" y="1689717"/>
            <a:ext cx="291439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1단계 그리기(공간 정보): 스케치북에 검은색 펜으로 캐릭터의 눈, 코, 입, 테두리 같은 '형태(선화)'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그리기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정보)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2단계 색칠하기 (채널 정보): 그려진 선 안에 빨간색, 초록색, 파란색 물감으로 '색칠(채색)＇하기 (RGB 채널 정보)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그림의 형태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잡는 일과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형태를 무슨 색으로 채울지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일은 완전히 분리되어 독립적으로 처리해도 아무런 문제가 없는 서로 다른 차원의 정보</a:t>
            </a:r>
          </a:p>
        </p:txBody>
      </p:sp>
    </p:spTree>
    <p:extLst>
      <p:ext uri="{BB962C8B-B14F-4D97-AF65-F5344CB8AC3E}">
        <p14:creationId xmlns:p14="http://schemas.microsoft.com/office/powerpoint/2010/main" val="1879600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C4A4-16DB-22BA-DEBE-10342E8A4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DD64AC-894D-22C6-B244-C54620500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EACFD1B-A976-9D9B-C29E-3FEEB98EC7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8B4A1B-8AAE-C12C-32FC-710785C21CC4}"/>
              </a:ext>
            </a:extLst>
          </p:cNvPr>
          <p:cNvSpPr txBox="1"/>
          <p:nvPr/>
        </p:nvSpPr>
        <p:spPr>
          <a:xfrm>
            <a:off x="591164" y="126786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입력의 각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독립적으로 공간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출력 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AA26622-5F07-20C0-B6E2-B7B0B3DCD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925" y="2588928"/>
            <a:ext cx="5876925" cy="300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80CB1B-A300-CEDB-A155-0DA2551AC9A9}"/>
              </a:ext>
            </a:extLst>
          </p:cNvPr>
          <p:cNvSpPr txBox="1"/>
          <p:nvPr/>
        </p:nvSpPr>
        <p:spPr>
          <a:xfrm>
            <a:off x="847725" y="5774651"/>
            <a:ext cx="5876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convolution: a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convolution followed by a pointwise convolution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2B15B-2920-AC73-653C-67970429C401}"/>
              </a:ext>
            </a:extLst>
          </p:cNvPr>
          <p:cNvSpPr txBox="1"/>
          <p:nvPr/>
        </p:nvSpPr>
        <p:spPr>
          <a:xfrm>
            <a:off x="6991350" y="2588928"/>
            <a:ext cx="463867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본질을 보면,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조합(채널)"은 서로 완전히 독립적인 정보인 경우가 많음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두 가지를 한 번에 억지로 섞어서 배우려다 보니 가설 공간이 너무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빠지기 쉬웠습니다.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두 개념을 수학적으로 완전히 분리하여 경사 하강법에게 "공간 특징 먼저 공부하고,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그다음에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채널 특징 공부해!" 하고 친절하게 문제를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쪼개주었기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때문에, 모델이 노이즈에 휘둘리지 않고 진짜 중요한 핵심 패턴만 아주 정확하게 일반화(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</p:spTree>
    <p:extLst>
      <p:ext uri="{BB962C8B-B14F-4D97-AF65-F5344CB8AC3E}">
        <p14:creationId xmlns:p14="http://schemas.microsoft.com/office/powerpoint/2010/main" val="656800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20945-A76C-F347-C75E-647D6D3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CB2A1-7B1C-D50D-C55B-972AAD1BA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3F3F84-50F4-94F9-3269-9F3484FF055C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7BC8D1-B71A-7FE4-708B-5E9521639944}"/>
              </a:ext>
            </a:extLst>
          </p:cNvPr>
          <p:cNvSpPr txBox="1"/>
          <p:nvPr/>
        </p:nvSpPr>
        <p:spPr>
          <a:xfrm>
            <a:off x="591164" y="1267861"/>
            <a:ext cx="11115061" cy="453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극한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(Extreme)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밀어붙인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지탱하는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 핵심 아키텍처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SeparableConv2D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몸통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이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뼈대로 삼아 모델의 무게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(FLOPS)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획기적으로 줄여 성능은 더 올라가고 모델은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가벼워짐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윤활유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얇고 깊은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통과할 때마다 미쳐 날뛰는 데이터의 분포를 주기적으로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사이로 정렬시켜 경사 하강법이 길을 잃지 않고 안정적으로 가중치를 구함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촘촘하게 박힌 메인 도로 옆에 아무런 변형도 없는 순수한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지름길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만들어 딥러닝 층이 수십 층 이상으로 깊어져도 오차 신호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소실되지 않고 맨 아래층까지 무사히 전달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1074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4F72-0D22-F30C-5D2C-F4FC49274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B619E2-3E93-B6C2-B82F-210F59288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700ABFF-DE7D-C229-9373-CA3C3DB34A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Reusing Pretrained Layers(Transfer Learning)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E0C01-65C2-DA6D-DC83-F3BB01FB5714}"/>
              </a:ext>
            </a:extLst>
          </p:cNvPr>
          <p:cNvSpPr txBox="1"/>
          <p:nvPr/>
        </p:nvSpPr>
        <p:spPr>
          <a:xfrm>
            <a:off x="616189" y="1305493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인공지능이 이미 한 분야에서 쌓은 지식과 경험을 바탕으로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분야의 문제를 훨씬 더 빠르게 배우도록 만드는 기술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2B72AE6-8173-1D60-6E7F-357DC0FA6F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EDEBAD2-8684-2304-B62D-3AE104E37B1C}"/>
              </a:ext>
            </a:extLst>
          </p:cNvPr>
          <p:cNvGraphicFramePr>
            <a:graphicFrameLocks noGrp="1"/>
          </p:cNvGraphicFramePr>
          <p:nvPr/>
        </p:nvGraphicFramePr>
        <p:xfrm>
          <a:off x="1156454" y="3271520"/>
          <a:ext cx="9574292" cy="22597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772">
                  <a:extLst>
                    <a:ext uri="{9D8B030D-6E8A-4147-A177-3AD203B41FA5}">
                      <a16:colId xmlns:a16="http://schemas.microsoft.com/office/drawing/2014/main" val="2486939099"/>
                    </a:ext>
                  </a:extLst>
                </a:gridCol>
                <a:gridCol w="6573520">
                  <a:extLst>
                    <a:ext uri="{9D8B030D-6E8A-4147-A177-3AD203B41FA5}">
                      <a16:colId xmlns:a16="http://schemas.microsoft.com/office/drawing/2014/main" val="198867057"/>
                    </a:ext>
                  </a:extLst>
                </a:gridCol>
              </a:tblGrid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기존모델 </a:t>
                      </a:r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Layers</a:t>
                      </a:r>
                      <a:endParaRPr lang="ko-KR" altLang="en-US" sz="1600" b="0" kern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Reusing </a:t>
                      </a:r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방안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885245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출력층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(Output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❌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무조건 삭제 후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정답 개수에 맞게 새로 생성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5239614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위쪽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(Upper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32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⚠️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삭제하거나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데이터에 맞게 다시 학습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(Fine-tuning)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8137511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아래쪽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(Lower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⭕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그대로 재사용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! (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가중치 고정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Freeze)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36111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75591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AACD1-133E-A8E0-DAC4-442DF729E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FC03BD-4073-666F-1FD2-0EC9C7782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0E8A6FF-936D-03D8-F209-CB137EAF7E2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병목현상 해결방안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0627B14D-DAB9-735D-C93D-210C0FC4B63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D40D1-E20F-03EC-C5C9-3F818DC810F8}"/>
              </a:ext>
            </a:extLst>
          </p:cNvPr>
          <p:cNvSpPr txBox="1"/>
          <p:nvPr/>
        </p:nvSpPr>
        <p:spPr>
          <a:xfrm>
            <a:off x="602734" y="1712000"/>
            <a:ext cx="1129133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모델이 거대해질 때 발생하는 병목 현상을 해결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방안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초기화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처음 출발할 때 가중치를 적절한 크기로 잡아서 신호가 소실되거나 폭발하는 것을 방지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(activation):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계열이나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써서 뉴런이 중간에 죽어버리는 현상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(Dying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차단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사이마다 데이터 세탁기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두어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지그재그로 헤매지 않고 직진하게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전이 학습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(Transfer Learning):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맨땅에 헤딩하지 않고 천재 모델의 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아래쪽 레이어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빌려와 속성 과외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시킴</a:t>
            </a:r>
            <a:endParaRPr lang="ko-KR" alt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722544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3847E-6DC1-E2D2-9237-DF1BE0460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7CF094-3BEF-AF39-D213-632B722DC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7A4238B-871A-6912-2A83-C1F28929F18F}"/>
              </a:ext>
            </a:extLst>
          </p:cNvPr>
          <p:cNvSpPr txBox="1">
            <a:spLocks/>
          </p:cNvSpPr>
          <p:nvPr/>
        </p:nvSpPr>
        <p:spPr>
          <a:xfrm>
            <a:off x="537021" y="1624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Appendix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B7C5F53-1B4C-A506-DE8B-159805CADC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86188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EE169-5864-5FB4-913E-88625A66E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DD77AD-7FC3-8CBE-162E-758690B85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0235B09-88CE-6731-EC9F-280F72A6AF4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CNN Timeline(1989~2018) 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D787613F-C577-C7D2-CEC0-D634EE752E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30C81D3-AB86-DDE1-5881-481B88031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103" y="1779213"/>
            <a:ext cx="8702198" cy="34108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A9C1BA-9FB7-F6A5-32BF-AB696FAF9077}"/>
              </a:ext>
            </a:extLst>
          </p:cNvPr>
          <p:cNvSpPr txBox="1"/>
          <p:nvPr/>
        </p:nvSpPr>
        <p:spPr>
          <a:xfrm>
            <a:off x="1318103" y="5591175"/>
            <a:ext cx="1388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-models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209508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F04F1-7140-D8F3-DD5B-923F1088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EA1977-42C6-23CA-2194-76FD5717A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B8B134-97AF-376D-4FFE-E164DA5D0A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9A764B1-6E3C-C6F4-6644-44F66D28AA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6F5E5CC-D000-D947-9354-C10B70E1BF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7775" y="3177359"/>
            <a:ext cx="7890899" cy="215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59C6FF-2AE6-31FA-6A8E-9F3EA1AFD777}"/>
              </a:ext>
            </a:extLst>
          </p:cNvPr>
          <p:cNvSpPr txBox="1"/>
          <p:nvPr/>
        </p:nvSpPr>
        <p:spPr>
          <a:xfrm>
            <a:off x="581025" y="1248422"/>
            <a:ext cx="1113533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ct val="150000"/>
              </a:lnSpc>
              <a:spcAft>
                <a:spcPts val="2400"/>
              </a:spcAft>
              <a:buNone/>
            </a:pP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가장 큰 이유는 차원을 줄이기 </a:t>
            </a:r>
            <a:r>
              <a:rPr lang="ko-KR" altLang="en-US" sz="16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사실 </a:t>
            </a: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다음과 같이 </a:t>
            </a: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뿐이라면 </a:t>
            </a: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이용해도 아래와 같이 차원축소는 커녕 연산의 별 의미가 없음</a:t>
            </a: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곱해주는 것이므로</a:t>
            </a: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88EC21-CB8A-BD53-7176-3E7A6832BDA3}"/>
              </a:ext>
            </a:extLst>
          </p:cNvPr>
          <p:cNvSpPr txBox="1"/>
          <p:nvPr/>
        </p:nvSpPr>
        <p:spPr>
          <a:xfrm>
            <a:off x="2124075" y="5895975"/>
            <a:ext cx="305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https://hyunsooworld.tistory.com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275483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15DAD-A64F-546F-75A9-04E8D5507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D2898C-E398-E48B-4590-48BE901AC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94C7910-1ADA-E7A7-3E09-2DE659158B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C2739D60-97DE-50F9-F9C2-37740D7121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0D0BAB-7461-6210-3594-6D8AF5C01130}"/>
              </a:ext>
            </a:extLst>
          </p:cNvPr>
          <p:cNvSpPr txBox="1"/>
          <p:nvPr/>
        </p:nvSpPr>
        <p:spPr>
          <a:xfrm>
            <a:off x="581025" y="1248422"/>
            <a:ext cx="1113533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50000"/>
              </a:lnSpc>
              <a:spcAft>
                <a:spcPts val="2400"/>
              </a:spcAft>
            </a:pPr>
            <a:r>
              <a:rPr lang="en-US" altLang="ko-KR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600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</a:t>
            </a:r>
            <a:r>
              <a:rPr lang="en-US" altLang="ko-KR" sz="16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6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여러 개로 </a:t>
            </a:r>
            <a:r>
              <a:rPr lang="ko-KR" altLang="en-US" sz="1600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쌓여있는</a:t>
            </a:r>
            <a:r>
              <a:rPr lang="ko-KR" altLang="en-US" sz="16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구조라면 기존의 </a:t>
            </a:r>
            <a:r>
              <a:rPr lang="en-US" altLang="ko-KR" sz="16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 connected layer</a:t>
            </a:r>
            <a:r>
              <a:rPr lang="ko-KR" altLang="en-US" sz="16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이용했을 때 보다 </a:t>
            </a:r>
            <a:r>
              <a:rPr lang="ko-KR" altLang="en-US" sz="1600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6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훨씬 적음</a:t>
            </a:r>
            <a:endParaRPr lang="en-US" altLang="ko-KR" sz="1600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D10FCB2-41B8-DBEE-F9E3-A2499D5D05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1533" y="2276295"/>
            <a:ext cx="6999874" cy="326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036AF0-914D-EF27-3B74-291886AA744F}"/>
              </a:ext>
            </a:extLst>
          </p:cNvPr>
          <p:cNvSpPr txBox="1"/>
          <p:nvPr/>
        </p:nvSpPr>
        <p:spPr>
          <a:xfrm>
            <a:off x="2141533" y="5542903"/>
            <a:ext cx="3373669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flatten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해준 후 가중치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 w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하나하나 곱해져서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전달되는 구조로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이때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모든 값 하나하나가 다른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가지므로 학습 파라미터 수가 많음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C8F9DE-C90F-B02B-7E4C-B4BF7994E889}"/>
              </a:ext>
            </a:extLst>
          </p:cNvPr>
          <p:cNvSpPr txBox="1"/>
          <p:nvPr/>
        </p:nvSpPr>
        <p:spPr>
          <a:xfrm>
            <a:off x="5617157" y="5542902"/>
            <a:ext cx="3524250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이용한 것인데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값과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각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 하나하나가 곱해져 새로운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만들면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결과적으로는 연산과 차원이 훨씬 </a:t>
            </a:r>
            <a:r>
              <a:rPr lang="ko-KR" altLang="en-US" sz="1200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적어짐</a:t>
            </a:r>
            <a:endParaRPr lang="ko-KR" altLang="en-US" sz="1200" i="0" dirty="0">
              <a:solidFill>
                <a:srgbClr val="555555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33677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77E50-40C1-F5D3-0F4A-BB584250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C32C86-CB21-98C8-A597-0AA01E374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77C7B0-CF67-EB4A-6DAD-136D69E9DB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510D2CD-D626-8EEF-74AE-75A94468AD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71920" y="351028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b="1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BB6560-6A88-804A-2C6B-CFA03EB79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947" y="2396139"/>
            <a:ext cx="7579773" cy="40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9B4119-A13D-3BE2-E27D-FAF590D5069C}"/>
              </a:ext>
            </a:extLst>
          </p:cNvPr>
          <p:cNvSpPr txBox="1"/>
          <p:nvPr/>
        </p:nvSpPr>
        <p:spPr>
          <a:xfrm>
            <a:off x="3423920" y="5962164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1A3444-9E7E-500C-E1BD-6C08764420B6}"/>
              </a:ext>
            </a:extLst>
          </p:cNvPr>
          <p:cNvSpPr txBox="1"/>
          <p:nvPr/>
        </p:nvSpPr>
        <p:spPr>
          <a:xfrm>
            <a:off x="2880995" y="460478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(64,28,28)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EA7AC-08C5-820F-6CE4-BCE883CFF2DA}"/>
              </a:ext>
            </a:extLst>
          </p:cNvPr>
          <p:cNvSpPr txBox="1"/>
          <p:nvPr/>
        </p:nvSpPr>
        <p:spPr>
          <a:xfrm>
            <a:off x="523269" y="1251305"/>
            <a:ext cx="111258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모듈은 하나의 입력을 4개의 경로로 동시에 통과시키며 이때 이미지의 크기(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(3,3), (5,5) 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연산에 적절한 패딩(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적용을 가정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FA9405-2F28-4089-5106-D3BD91314C65}"/>
              </a:ext>
            </a:extLst>
          </p:cNvPr>
          <p:cNvSpPr txBox="1"/>
          <p:nvPr/>
        </p:nvSpPr>
        <p:spPr>
          <a:xfrm>
            <a:off x="4719821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(128,28,28)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7BE435-D1E7-6B90-0755-9D203B10CBF4}"/>
              </a:ext>
            </a:extLst>
          </p:cNvPr>
          <p:cNvSpPr txBox="1"/>
          <p:nvPr/>
        </p:nvSpPr>
        <p:spPr>
          <a:xfrm>
            <a:off x="466637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BD7626-0490-EF91-6987-BAFAC1E7CB73}"/>
              </a:ext>
            </a:extLst>
          </p:cNvPr>
          <p:cNvSpPr txBox="1"/>
          <p:nvPr/>
        </p:nvSpPr>
        <p:spPr>
          <a:xfrm>
            <a:off x="6471920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D89F1-6C1A-89A1-D278-3ED7B3DC6F78}"/>
              </a:ext>
            </a:extLst>
          </p:cNvPr>
          <p:cNvSpPr txBox="1"/>
          <p:nvPr/>
        </p:nvSpPr>
        <p:spPr>
          <a:xfrm>
            <a:off x="6488307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69A23C-7F76-1F41-CA21-B7D68F26EB63}"/>
              </a:ext>
            </a:extLst>
          </p:cNvPr>
          <p:cNvSpPr txBox="1"/>
          <p:nvPr/>
        </p:nvSpPr>
        <p:spPr>
          <a:xfrm>
            <a:off x="805943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D6A828-D26B-0747-C0D1-567403F5D52D}"/>
              </a:ext>
            </a:extLst>
          </p:cNvPr>
          <p:cNvSpPr txBox="1"/>
          <p:nvPr/>
        </p:nvSpPr>
        <p:spPr>
          <a:xfrm>
            <a:off x="8224019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5DE359-6246-D235-C0DA-8985527C5D53}"/>
              </a:ext>
            </a:extLst>
          </p:cNvPr>
          <p:cNvSpPr txBox="1"/>
          <p:nvPr/>
        </p:nvSpPr>
        <p:spPr>
          <a:xfrm>
            <a:off x="3405371" y="2740345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(*256,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227674-9EE4-7249-C9B9-3095F710BF1C}"/>
              </a:ext>
            </a:extLst>
          </p:cNvPr>
          <p:cNvSpPr txBox="1"/>
          <p:nvPr/>
        </p:nvSpPr>
        <p:spPr>
          <a:xfrm>
            <a:off x="1200466" y="2567205"/>
            <a:ext cx="18098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*256=64 +128+32+32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B30BF38F-53C9-1EA8-263B-8869F666E963}"/>
              </a:ext>
            </a:extLst>
          </p:cNvPr>
          <p:cNvSpPr/>
          <p:nvPr/>
        </p:nvSpPr>
        <p:spPr>
          <a:xfrm>
            <a:off x="2109385" y="4166742"/>
            <a:ext cx="377190" cy="374412"/>
          </a:xfrm>
          <a:prstGeom prst="cube">
            <a:avLst>
              <a:gd name="adj" fmla="val 6210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정육면체 19">
            <a:extLst>
              <a:ext uri="{FF2B5EF4-FFF2-40B4-BE49-F238E27FC236}">
                <a16:creationId xmlns:a16="http://schemas.microsoft.com/office/drawing/2014/main" id="{A0EB91F0-80E0-648D-BD46-E7A051E3C8C1}"/>
              </a:ext>
            </a:extLst>
          </p:cNvPr>
          <p:cNvSpPr/>
          <p:nvPr/>
        </p:nvSpPr>
        <p:spPr>
          <a:xfrm>
            <a:off x="3891417" y="3314412"/>
            <a:ext cx="774954" cy="770995"/>
          </a:xfrm>
          <a:prstGeom prst="cube">
            <a:avLst>
              <a:gd name="adj" fmla="val 7901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정육면체 21">
            <a:extLst>
              <a:ext uri="{FF2B5EF4-FFF2-40B4-BE49-F238E27FC236}">
                <a16:creationId xmlns:a16="http://schemas.microsoft.com/office/drawing/2014/main" id="{70C1B03A-AC3F-FF65-2700-D7A59C67F698}"/>
              </a:ext>
            </a:extLst>
          </p:cNvPr>
          <p:cNvSpPr/>
          <p:nvPr/>
        </p:nvSpPr>
        <p:spPr>
          <a:xfrm>
            <a:off x="6776720" y="3332664"/>
            <a:ext cx="302877" cy="299652"/>
          </a:xfrm>
          <a:prstGeom prst="cube">
            <a:avLst>
              <a:gd name="adj" fmla="val 5274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5FC713F6-65BC-9012-F20D-1A445AC9A154}"/>
              </a:ext>
            </a:extLst>
          </p:cNvPr>
          <p:cNvSpPr/>
          <p:nvPr/>
        </p:nvSpPr>
        <p:spPr>
          <a:xfrm>
            <a:off x="7973439" y="3259038"/>
            <a:ext cx="302877" cy="299652"/>
          </a:xfrm>
          <a:prstGeom prst="cube">
            <a:avLst>
              <a:gd name="adj" fmla="val 52743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E324507-B1FB-6E62-3790-D916580F0E20}"/>
              </a:ext>
            </a:extLst>
          </p:cNvPr>
          <p:cNvGrpSpPr/>
          <p:nvPr/>
        </p:nvGrpSpPr>
        <p:grpSpPr>
          <a:xfrm>
            <a:off x="2338706" y="2270458"/>
            <a:ext cx="1299874" cy="1284719"/>
            <a:chOff x="9553788" y="3092479"/>
            <a:chExt cx="1299874" cy="1284719"/>
          </a:xfrm>
        </p:grpSpPr>
        <p:sp>
          <p:nvSpPr>
            <p:cNvPr id="27" name="정육면체 26">
              <a:extLst>
                <a:ext uri="{FF2B5EF4-FFF2-40B4-BE49-F238E27FC236}">
                  <a16:creationId xmlns:a16="http://schemas.microsoft.com/office/drawing/2014/main" id="{687288CE-A9CC-075C-9002-49E642BFFE43}"/>
                </a:ext>
              </a:extLst>
            </p:cNvPr>
            <p:cNvSpPr/>
            <p:nvPr/>
          </p:nvSpPr>
          <p:spPr>
            <a:xfrm>
              <a:off x="10550785" y="3092479"/>
              <a:ext cx="302877" cy="299652"/>
            </a:xfrm>
            <a:prstGeom prst="cube">
              <a:avLst>
                <a:gd name="adj" fmla="val 52743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정육면체 25">
              <a:extLst>
                <a:ext uri="{FF2B5EF4-FFF2-40B4-BE49-F238E27FC236}">
                  <a16:creationId xmlns:a16="http://schemas.microsoft.com/office/drawing/2014/main" id="{0F6B8817-1818-05C9-1690-1372B8642B29}"/>
                </a:ext>
              </a:extLst>
            </p:cNvPr>
            <p:cNvSpPr/>
            <p:nvPr/>
          </p:nvSpPr>
          <p:spPr>
            <a:xfrm>
              <a:off x="10392239" y="3248906"/>
              <a:ext cx="302877" cy="299652"/>
            </a:xfrm>
            <a:prstGeom prst="cube">
              <a:avLst>
                <a:gd name="adj" fmla="val 52743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29F051F7-8D03-AE8A-E7E0-9AFB02BC1CC3}"/>
                </a:ext>
              </a:extLst>
            </p:cNvPr>
            <p:cNvSpPr/>
            <p:nvPr/>
          </p:nvSpPr>
          <p:spPr>
            <a:xfrm>
              <a:off x="9793744" y="3392636"/>
              <a:ext cx="735507" cy="770995"/>
            </a:xfrm>
            <a:prstGeom prst="cube">
              <a:avLst>
                <a:gd name="adj" fmla="val 8316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11CE79C-BDB9-AA9A-E785-D1BD250A3BE4}"/>
                </a:ext>
              </a:extLst>
            </p:cNvPr>
            <p:cNvSpPr/>
            <p:nvPr/>
          </p:nvSpPr>
          <p:spPr>
            <a:xfrm>
              <a:off x="9553788" y="4002786"/>
              <a:ext cx="377190" cy="374412"/>
            </a:xfrm>
            <a:prstGeom prst="cube">
              <a:avLst>
                <a:gd name="adj" fmla="val 6210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75236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9" grpId="0" animBg="1"/>
      <p:bldP spid="20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DC040-F973-5507-87E9-4F528EE61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42D829-F996-429B-1C83-5C990E8AD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C348466-368E-8F55-8698-72DFCC2D5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6AC96576-3F34-8E16-3D18-ED2DFB748D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4A6E8422-F00A-4592-067D-7FA71B4F4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515" y="2486025"/>
            <a:ext cx="11716970" cy="2618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023739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10129</TotalTime>
  <Words>2333</Words>
  <Application>Microsoft Office PowerPoint</Application>
  <PresentationFormat>와이드스크린</PresentationFormat>
  <Paragraphs>215</Paragraphs>
  <Slides>31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9" baseType="lpstr">
      <vt:lpstr>D2Coding</vt:lpstr>
      <vt:lpstr>맑은 고딕</vt:lpstr>
      <vt:lpstr>바탕</vt:lpstr>
      <vt:lpstr>Arial</vt:lpstr>
      <vt:lpstr>Cambria Math</vt:lpstr>
      <vt:lpstr>Cascadia Code</vt:lpstr>
      <vt:lpstr>Wingdings</vt:lpstr>
      <vt:lpstr>WelcomeDoc</vt:lpstr>
      <vt:lpstr>Chapter 9  ConvNet architecture patterns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166</cp:revision>
  <dcterms:created xsi:type="dcterms:W3CDTF">2026-04-06T01:00:39Z</dcterms:created>
  <dcterms:modified xsi:type="dcterms:W3CDTF">2026-07-10T10:42:47Z</dcterms:modified>
  <cp:version/>
</cp:coreProperties>
</file>