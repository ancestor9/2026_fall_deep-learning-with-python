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5"/>
  </p:notesMasterIdLst>
  <p:handoutMasterIdLst>
    <p:handoutMasterId r:id="rId46"/>
  </p:handoutMasterIdLst>
  <p:sldIdLst>
    <p:sldId id="256" r:id="rId2"/>
    <p:sldId id="1136" r:id="rId3"/>
    <p:sldId id="1163" r:id="rId4"/>
    <p:sldId id="1182" r:id="rId5"/>
    <p:sldId id="1183" r:id="rId6"/>
    <p:sldId id="1140" r:id="rId7"/>
    <p:sldId id="1142" r:id="rId8"/>
    <p:sldId id="1168" r:id="rId9"/>
    <p:sldId id="1122" r:id="rId10"/>
    <p:sldId id="1150" r:id="rId11"/>
    <p:sldId id="1137" r:id="rId12"/>
    <p:sldId id="1174" r:id="rId13"/>
    <p:sldId id="1175" r:id="rId14"/>
    <p:sldId id="1177" r:id="rId15"/>
    <p:sldId id="1156" r:id="rId16"/>
    <p:sldId id="1169" r:id="rId17"/>
    <p:sldId id="1173" r:id="rId18"/>
    <p:sldId id="1153" r:id="rId19"/>
    <p:sldId id="1172" r:id="rId20"/>
    <p:sldId id="1154" r:id="rId21"/>
    <p:sldId id="1155" r:id="rId22"/>
    <p:sldId id="1170" r:id="rId23"/>
    <p:sldId id="1162" r:id="rId24"/>
    <p:sldId id="1164" r:id="rId25"/>
    <p:sldId id="1166" r:id="rId26"/>
    <p:sldId id="1139" r:id="rId27"/>
    <p:sldId id="1179" r:id="rId28"/>
    <p:sldId id="1185" r:id="rId29"/>
    <p:sldId id="1147" r:id="rId30"/>
    <p:sldId id="1152" r:id="rId31"/>
    <p:sldId id="1134" r:id="rId32"/>
    <p:sldId id="1176" r:id="rId33"/>
    <p:sldId id="1148" r:id="rId34"/>
    <p:sldId id="1181" r:id="rId35"/>
    <p:sldId id="1178" r:id="rId36"/>
    <p:sldId id="1180" r:id="rId37"/>
    <p:sldId id="1157" r:id="rId38"/>
    <p:sldId id="1159" r:id="rId39"/>
    <p:sldId id="1171" r:id="rId40"/>
    <p:sldId id="1144" r:id="rId41"/>
    <p:sldId id="1143" r:id="rId42"/>
    <p:sldId id="1145" r:id="rId43"/>
    <p:sldId id="1165" r:id="rId44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3"/>
            <p14:sldId id="1182"/>
            <p14:sldId id="1183"/>
            <p14:sldId id="1140"/>
            <p14:sldId id="1142"/>
            <p14:sldId id="1168"/>
            <p14:sldId id="1122"/>
            <p14:sldId id="1150"/>
            <p14:sldId id="1137"/>
            <p14:sldId id="1174"/>
            <p14:sldId id="1175"/>
            <p14:sldId id="1177"/>
            <p14:sldId id="1156"/>
            <p14:sldId id="1169"/>
            <p14:sldId id="1173"/>
            <p14:sldId id="1153"/>
            <p14:sldId id="1172"/>
            <p14:sldId id="1154"/>
            <p14:sldId id="1155"/>
            <p14:sldId id="1170"/>
            <p14:sldId id="1162"/>
            <p14:sldId id="1164"/>
            <p14:sldId id="1166"/>
            <p14:sldId id="1139"/>
            <p14:sldId id="1179"/>
            <p14:sldId id="1185"/>
            <p14:sldId id="1147"/>
            <p14:sldId id="1152"/>
            <p14:sldId id="1134"/>
            <p14:sldId id="1176"/>
            <p14:sldId id="1148"/>
            <p14:sldId id="1181"/>
            <p14:sldId id="1178"/>
            <p14:sldId id="1180"/>
            <p14:sldId id="1157"/>
            <p14:sldId id="1159"/>
            <p14:sldId id="1171"/>
            <p14:sldId id="1144"/>
            <p14:sldId id="1143"/>
            <p14:sldId id="1145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38B8-BB2C-A8B7-16A4-3F8EACD4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B57CA-BA10-3352-19EA-D3CAC9567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564292-8FEE-4D10-C74E-D63D0920C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79169-D6EC-9329-6FEA-95C8DCE7E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3352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6622A-5EB3-C166-37BD-9E68652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CA25D2-A55E-B18B-1A22-4706CA78A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B729D-8C3E-07E1-24E0-0B74AB0F1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24529F-A108-5A0C-D55F-6269EA6A1C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318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log.gopenai.com/wrapping-up-cnn-models-shifting-focus-to-attention-based-architectures-5029b87034d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hyperlink" Target="https://www.youtube.com/watch?v=qhXZsFVxGKo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hyunsooworld.tistory.com/entry/Inception-v1v2v3v4%EB%8A%94-%EB%AC%B4%EC%97%87%EC%9D%B4-%EB%8B%A4%EB%A5%B8%EA%B0%80-CNN%EC%9D%98-%EC%97%AD%EC%82%AC" TargetMode="Externa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f-HUcqdCr4&amp;t=633s" TargetMode="Externa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7" Type="http://schemas.openxmlformats.org/officeDocument/2006/relationships/image" Target="../media/image32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9AC9512-A7C4-45EA-E159-BF364BA59913}"/>
              </a:ext>
            </a:extLst>
          </p:cNvPr>
          <p:cNvSpPr/>
          <p:nvPr/>
        </p:nvSpPr>
        <p:spPr>
          <a:xfrm>
            <a:off x="301473" y="1700179"/>
            <a:ext cx="9713384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9233762-C29B-53D0-77DD-F171184CF3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E169-5864-5FB4-913E-88625A66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D787613F-C577-C7D2-CEC0-D634EE752E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A9C1BA-9FB7-F6A5-32BF-AB696FAF9077}"/>
              </a:ext>
            </a:extLst>
          </p:cNvPr>
          <p:cNvSpPr txBox="1"/>
          <p:nvPr/>
        </p:nvSpPr>
        <p:spPr>
          <a:xfrm>
            <a:off x="619648" y="6076950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</a:t>
            </a:r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-models</a:t>
            </a:r>
            <a:endParaRPr lang="ko-KR" altLang="en-US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23087-E6C9-8A39-9F2A-4EE3698F9C6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EC4848-65A9-82AB-2FF7-7C34C90B4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647" y="1385887"/>
            <a:ext cx="10153259" cy="4691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3311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E752F-40B9-7D21-28D0-6E0EEB09B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6BD0A0C1-DFBD-9E04-7826-E38CEFB38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226546-AD54-EF05-D6CB-D6AF84B258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 descr="LEGO® Art Gustav Klimt – The Kiss showing a brick-built 3D artwork made up of various elements, like circles and studs.">
            <a:extLst>
              <a:ext uri="{FF2B5EF4-FFF2-40B4-BE49-F238E27FC236}">
                <a16:creationId xmlns:a16="http://schemas.microsoft.com/office/drawing/2014/main" id="{AC6F743F-AE92-9119-1B55-6B93C6175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5151" y="2676525"/>
            <a:ext cx="3524250" cy="352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테이블 위에 앉아있는 다채로운 레고 더미">
            <a:extLst>
              <a:ext uri="{FF2B5EF4-FFF2-40B4-BE49-F238E27FC236}">
                <a16:creationId xmlns:a16="http://schemas.microsoft.com/office/drawing/2014/main" id="{E751A433-46C2-6B7D-D93B-775CB71D5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888" y="2723691"/>
            <a:ext cx="4303712" cy="288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B5F37B-6316-BD45-B98C-72761ED72998}"/>
              </a:ext>
            </a:extLst>
          </p:cNvPr>
          <p:cNvSpPr txBox="1"/>
          <p:nvPr/>
        </p:nvSpPr>
        <p:spPr>
          <a:xfrm>
            <a:off x="552450" y="1205984"/>
            <a:ext cx="1138185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아키텍처는 레이어의 종류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연결 방식의 집합으로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효율적인 모델 설계를 위한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모듈성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(Modularity),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계층구조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(Hierarchy),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Framework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기초로 활용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BE490F23-CBC8-3549-0682-651570C3C5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657521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28855-45D2-C990-E9D1-8045E227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757EAE72-AB84-7120-2F49-709333CD4AF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BE3D12-1E46-1799-FDBF-BB43A91AF7D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800400AF-868E-CEA5-1352-06AE1684F8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44BE50-7C01-B4DF-563B-2055BD4CBC89}"/>
              </a:ext>
            </a:extLst>
          </p:cNvPr>
          <p:cNvSpPr txBox="1"/>
          <p:nvPr/>
        </p:nvSpPr>
        <p:spPr>
          <a:xfrm>
            <a:off x="133609" y="1189897"/>
            <a:ext cx="1131518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indent="-285750" rtl="0" fontAlgn="base">
              <a:lnSpc>
                <a:spcPct val="150000"/>
              </a:lnSpc>
              <a:spcBef>
                <a:spcPts val="1200"/>
              </a:spcBef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모듈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(Modularity):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신경망의 각 레이어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(Layer)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블록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(Block)</a:t>
            </a:r>
            <a:endParaRPr lang="en-US" altLang="ko-KR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계층 구조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(Hierarchy):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레이어를 순차적으로 깊게 쌓아 올린 스택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(Stack)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(Reuse):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이미지의 여러 공간적 위치에 동일한 커널 가중치를 적용하는 </a:t>
            </a:r>
            <a:r>
              <a:rPr lang="ko-KR" altLang="en-US" sz="16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(Convolution)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348466-368E-8F55-8698-72DFCC2D50FF}"/>
              </a:ext>
            </a:extLst>
          </p:cNvPr>
          <p:cNvSpPr txBox="1">
            <a:spLocks/>
          </p:cNvSpPr>
          <p:nvPr/>
        </p:nvSpPr>
        <p:spPr>
          <a:xfrm>
            <a:off x="413794" y="5815835"/>
            <a:ext cx="3119481" cy="3832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16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4A6E8422-F00A-4592-067D-7FA71B4F4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794" y="3276600"/>
            <a:ext cx="11364411" cy="2539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4990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566435" y="1264803"/>
            <a:ext cx="11097230" cy="470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 추론(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)에서 시작되어 실험적 시행착오(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통해 완성된 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근무 당시 기존의 고성능 모델이었던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Inception(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인셉션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아키텍처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＂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완전히(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분리하는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공간과 채널을 분리하여 가설 공간을 압축하고 파라미터 수를 획기적으로 줄이는 뼈대를 만들어 주어 경사 하강법이 덜 멍청하게 움직일 수 있도록 함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가설을 바탕으로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분해하는 구조를 도출한 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최적의 레이어 조합과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무수한 실험과 시행착오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(Trial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and Error)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엔지니어링을 수행하여 완성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수학적 통찰로 거대한 지도를 그리고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C1F216-9276-3BFC-775A-7B3B39A36B8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680735" y="1647438"/>
            <a:ext cx="10830530" cy="3741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뉴런이 적고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층이 깊게 쌓인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뉴런이 많고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층이 얕은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보다 일반적으로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나은 성능을 발휘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필수적인 모델 아키텍처 패턴인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5D55D18-D0FC-A729-EBB6-B1D935643E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4D3FC-B032-226A-A49E-FF01F761F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CF555A2-F51F-8EB3-096A-1ED20E5AB7DA}"/>
              </a:ext>
            </a:extLst>
          </p:cNvPr>
          <p:cNvSpPr/>
          <p:nvPr/>
        </p:nvSpPr>
        <p:spPr>
          <a:xfrm>
            <a:off x="947057" y="29302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CDEEA3-F15B-F199-F2F5-AC6BA89C004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162F1-BFA7-1AF8-72D0-652557366CCC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CD52F0-03EC-C387-2540-76EB08FF21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075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660F56E-9182-C81F-5FEB-0CB0EE4BFAD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E2AB52-739D-ECDD-F1C4-46B520D48C1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C6B8F31-13A1-05B8-5BC3-A54509DC47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B95BD-C278-37D8-553D-E232C6A81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BF561D-E751-2F7D-BD07-DAB30C15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1BD2C2A-AF4D-890C-F444-DC517E336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37" name="Picture 6">
            <a:extLst>
              <a:ext uri="{FF2B5EF4-FFF2-40B4-BE49-F238E27FC236}">
                <a16:creationId xmlns:a16="http://schemas.microsoft.com/office/drawing/2014/main" id="{3609C0FF-BB0B-B653-DA35-1861BC644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64" y="2039604"/>
            <a:ext cx="3620441" cy="3293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FB748E-DF8E-D8F4-5773-80BBF3B79E03}"/>
              </a:ext>
            </a:extLst>
          </p:cNvPr>
          <p:cNvSpPr txBox="1"/>
          <p:nvPr/>
        </p:nvSpPr>
        <p:spPr>
          <a:xfrm>
            <a:off x="4220280" y="2039604"/>
            <a:ext cx="7534273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Some input tensor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Saves a reference to the original input. This is called the residual.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computation block can potentially be destructive or noisy, and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that's fine.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block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Adds the original input to the layer's output. The final output will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thus always preserve full information about the original input.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5BA4E-CD72-7BFD-25E9-EBF855ABCE45}"/>
              </a:ext>
            </a:extLst>
          </p:cNvPr>
          <p:cNvSpPr txBox="1"/>
          <p:nvPr/>
        </p:nvSpPr>
        <p:spPr>
          <a:xfrm>
            <a:off x="4100210" y="1676466"/>
            <a:ext cx="40474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A residual connection in pseudocode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8900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484E1-8747-BB18-A9F1-4448F3D66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707D8B6-3BB3-0C3A-116A-AB5EA1220F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81C659-80F4-A3C8-C59E-5FCD12A0A3A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0A87C9-3364-E952-8219-A67AF0705A02}"/>
              </a:ext>
            </a:extLst>
          </p:cNvPr>
          <p:cNvSpPr txBox="1"/>
          <p:nvPr/>
        </p:nvSpPr>
        <p:spPr>
          <a:xfrm>
            <a:off x="597113" y="1659285"/>
            <a:ext cx="8127788" cy="427809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layer around which we create a residual connection: </a:t>
            </a:r>
          </a:p>
          <a:p>
            <a:pPr algn="l" latinLnBrk="0">
              <a:buNone/>
            </a:pPr>
            <a:r>
              <a:rPr lang="en-US" altLang="ko-KR" sz="1600" dirty="0">
                <a:solidFill>
                  <a:srgbClr val="70809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it increases the number of output filers from 32 to 64.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The residual only had 32 filters, so we use a 1 x 1 Conv2D to project 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it to the correct shape.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BC2351-157C-8D72-897C-5928D9C3C6F4}"/>
              </a:ext>
            </a:extLst>
          </p:cNvPr>
          <p:cNvSpPr txBox="1"/>
          <p:nvPr/>
        </p:nvSpPr>
        <p:spPr>
          <a:xfrm>
            <a:off x="475645" y="59547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Cascadia Mono SemiLight" panose="020B0609020000020004" pitchFamily="49" charset="0"/>
              </a:rPr>
              <a:t> The target block changing the number of output filters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Cascadia Mono SemiLight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AB0281-9FD7-E7B0-2BB5-86246DEB9478}"/>
              </a:ext>
            </a:extLst>
          </p:cNvPr>
          <p:cNvSpPr txBox="1"/>
          <p:nvPr/>
        </p:nvSpPr>
        <p:spPr>
          <a:xfrm>
            <a:off x="8896350" y="1670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9CBBA-541B-0598-94B9-3B406F450768}"/>
              </a:ext>
            </a:extLst>
          </p:cNvPr>
          <p:cNvSpPr txBox="1"/>
          <p:nvPr/>
        </p:nvSpPr>
        <p:spPr>
          <a:xfrm>
            <a:off x="8896350" y="203999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CBA14-2439-0F8D-A16A-E99F7A785CF3}"/>
              </a:ext>
            </a:extLst>
          </p:cNvPr>
          <p:cNvSpPr txBox="1"/>
          <p:nvPr/>
        </p:nvSpPr>
        <p:spPr>
          <a:xfrm>
            <a:off x="8896350" y="260197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67CAD5-4B43-06C9-DAEB-8A1339C955B4}"/>
              </a:ext>
            </a:extLst>
          </p:cNvPr>
          <p:cNvSpPr txBox="1"/>
          <p:nvPr/>
        </p:nvSpPr>
        <p:spPr>
          <a:xfrm>
            <a:off x="8896350" y="381780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2C92D3-9817-7488-4141-2F8DB9F38EB0}"/>
              </a:ext>
            </a:extLst>
          </p:cNvPr>
          <p:cNvSpPr txBox="1"/>
          <p:nvPr/>
        </p:nvSpPr>
        <p:spPr>
          <a:xfrm>
            <a:off x="8896349" y="48474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48ECF0-53CF-1D47-CF3D-928B4AF3A13A}"/>
              </a:ext>
            </a:extLst>
          </p:cNvPr>
          <p:cNvSpPr txBox="1"/>
          <p:nvPr/>
        </p:nvSpPr>
        <p:spPr>
          <a:xfrm>
            <a:off x="8896349" y="5552471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2AACA4-A6A8-C5B0-2A87-E43232B08F8D}"/>
              </a:ext>
            </a:extLst>
          </p:cNvPr>
          <p:cNvSpPr txBox="1"/>
          <p:nvPr/>
        </p:nvSpPr>
        <p:spPr>
          <a:xfrm>
            <a:off x="10429356" y="555247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4254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4C65D-DC08-4063-9D5A-835433A5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3EBC6-F0E5-5D0E-DBFC-AE38101C4D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B73ED6-6046-C6DC-84F8-D15E625238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73B8C0-1444-7318-241D-5FBEB9CCA531}"/>
              </a:ext>
            </a:extLst>
          </p:cNvPr>
          <p:cNvSpPr txBox="1"/>
          <p:nvPr/>
        </p:nvSpPr>
        <p:spPr>
          <a:xfrm>
            <a:off x="638175" y="1451591"/>
            <a:ext cx="81438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block of two layers around which we create a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connection: it includes a 2 x 2 max pooling layer.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in both the convolution layer and the max pooling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layer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MaxPooling2D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We use strides=2 in the residual projection to match the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created by the max pooling layer.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strides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1EE154-258C-5EF6-551F-F6C2454AD0ED}"/>
              </a:ext>
            </a:extLst>
          </p:cNvPr>
          <p:cNvSpPr txBox="1"/>
          <p:nvPr/>
        </p:nvSpPr>
        <p:spPr>
          <a:xfrm>
            <a:off x="638175" y="622212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target block including a max pooling layer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226944-0F54-C2FA-12A7-AC641EAFAE65}"/>
              </a:ext>
            </a:extLst>
          </p:cNvPr>
          <p:cNvSpPr txBox="1"/>
          <p:nvPr/>
        </p:nvSpPr>
        <p:spPr>
          <a:xfrm>
            <a:off x="8896350" y="14515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EEF37D-C986-B0EF-C6BD-57BBC1F01A2F}"/>
              </a:ext>
            </a:extLst>
          </p:cNvPr>
          <p:cNvSpPr txBox="1"/>
          <p:nvPr/>
        </p:nvSpPr>
        <p:spPr>
          <a:xfrm>
            <a:off x="8896350" y="182092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1A9796-260A-E910-705D-65604C54C36A}"/>
              </a:ext>
            </a:extLst>
          </p:cNvPr>
          <p:cNvSpPr txBox="1"/>
          <p:nvPr/>
        </p:nvSpPr>
        <p:spPr>
          <a:xfrm>
            <a:off x="8896350" y="247814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AB0521-197D-D24E-3A73-78E1D302F21D}"/>
              </a:ext>
            </a:extLst>
          </p:cNvPr>
          <p:cNvSpPr txBox="1"/>
          <p:nvPr/>
        </p:nvSpPr>
        <p:spPr>
          <a:xfrm>
            <a:off x="8896350" y="383685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F7E8AF-E7D0-2660-5AD1-1454FC590D11}"/>
              </a:ext>
            </a:extLst>
          </p:cNvPr>
          <p:cNvSpPr txBox="1"/>
          <p:nvPr/>
        </p:nvSpPr>
        <p:spPr>
          <a:xfrm>
            <a:off x="8896350" y="42061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3A9F0C-2129-7895-263E-AC7C50EEF3C2}"/>
              </a:ext>
            </a:extLst>
          </p:cNvPr>
          <p:cNvSpPr txBox="1"/>
          <p:nvPr/>
        </p:nvSpPr>
        <p:spPr>
          <a:xfrm>
            <a:off x="8896349" y="5104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43024A-E4C3-263E-8932-CD9F6D36AC07}"/>
              </a:ext>
            </a:extLst>
          </p:cNvPr>
          <p:cNvSpPr txBox="1"/>
          <p:nvPr/>
        </p:nvSpPr>
        <p:spPr>
          <a:xfrm>
            <a:off x="8896349" y="5866796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E894A-6174-23F5-E98E-79E0E3143D78}"/>
              </a:ext>
            </a:extLst>
          </p:cNvPr>
          <p:cNvSpPr txBox="1"/>
          <p:nvPr/>
        </p:nvSpPr>
        <p:spPr>
          <a:xfrm>
            <a:off x="10429356" y="586679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487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229291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828E400-EBBB-3CB1-0D1D-85FAC95BA5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77977-7D21-1801-A042-D9791767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01660EB-5A34-3840-CE08-EEFAC2F83325}"/>
              </a:ext>
            </a:extLst>
          </p:cNvPr>
          <p:cNvSpPr/>
          <p:nvPr/>
        </p:nvSpPr>
        <p:spPr>
          <a:xfrm>
            <a:off x="947057" y="35398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9C41B1-02A0-9F4F-0DCA-0D7E0E2C1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13EB37-5A0D-5E53-18E4-B01DDD265A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3831945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79E1-0922-FEF7-B42B-88F76FD3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838A768-09EF-B783-10B0-BE0CC47BFE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409B027B-F411-531B-2B82-C7E562DBDB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BCAF6D-AD91-44A9-7B76-A9AF1A1F3854}"/>
              </a:ext>
            </a:extLst>
          </p:cNvPr>
          <p:cNvSpPr txBox="1"/>
          <p:nvPr/>
        </p:nvSpPr>
        <p:spPr>
          <a:xfrm>
            <a:off x="7558179" y="2347024"/>
            <a:ext cx="3944925" cy="342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size 100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Hidden Laye(Dense = 6) 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6EA7929-AF7E-9DF8-4685-89F5C1EFE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617" y="2357908"/>
            <a:ext cx="6753225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C8DB58-B751-E231-C878-82B1CA25C8CA}"/>
              </a:ext>
            </a:extLst>
          </p:cNvPr>
          <p:cNvSpPr txBox="1"/>
          <p:nvPr/>
        </p:nvSpPr>
        <p:spPr>
          <a:xfrm>
            <a:off x="573617" y="1208313"/>
            <a:ext cx="1092948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scikit-learn</a:t>
            </a:r>
            <a:r>
              <a:rPr lang="ko-KR" altLang="en-US" dirty="0"/>
              <a:t>의 다양한</a:t>
            </a:r>
            <a:r>
              <a:rPr lang="en-US" altLang="ko-KR" dirty="0"/>
              <a:t> </a:t>
            </a:r>
            <a:r>
              <a:rPr lang="ko-KR" altLang="en-US" dirty="0"/>
              <a:t>자료</a:t>
            </a:r>
            <a:r>
              <a:rPr lang="en-US" altLang="ko-KR" dirty="0"/>
              <a:t> </a:t>
            </a:r>
            <a:r>
              <a:rPr lang="ko-KR" altLang="en-US" dirty="0"/>
              <a:t>스케일링 함수를 입력데이터에 정의하는 것과 동일하게 </a:t>
            </a:r>
            <a:r>
              <a:rPr lang="ko-KR" altLang="en-US" dirty="0" err="1"/>
              <a:t>딥러닝의</a:t>
            </a:r>
            <a:r>
              <a:rPr lang="ko-KR" altLang="en-US" dirty="0"/>
              <a:t> 각 </a:t>
            </a:r>
            <a:r>
              <a:rPr lang="en-US" altLang="ko-KR" dirty="0"/>
              <a:t>Layer</a:t>
            </a:r>
            <a:r>
              <a:rPr lang="ko-KR" altLang="en-US" dirty="0"/>
              <a:t>에 </a:t>
            </a:r>
            <a:r>
              <a:rPr lang="en-US" altLang="ko-KR" dirty="0"/>
              <a:t>Batch </a:t>
            </a:r>
            <a:r>
              <a:rPr lang="ko-KR" altLang="en-US" dirty="0"/>
              <a:t>크기를 기준으로 자료 스케일링을 적용하는 것이 </a:t>
            </a:r>
            <a:r>
              <a:rPr lang="en-US" altLang="ko-KR" dirty="0"/>
              <a:t>Batch Normalization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96593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B76247E2-1882-85F5-7529-283B43E7FE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 descr="Shapes of Batch Norm vectors (Image by Author)">
            <a:extLst>
              <a:ext uri="{FF2B5EF4-FFF2-40B4-BE49-F238E27FC236}">
                <a16:creationId xmlns:a16="http://schemas.microsoft.com/office/drawing/2014/main" id="{233B2D54-E52B-7515-2E82-2420F2C03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066" y="1711097"/>
            <a:ext cx="10286386" cy="4341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7FAE-BED9-2727-CA24-F3794038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9C23EF1-DDFF-1839-9D8B-7177C85C7262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184CD78-7A3F-9A2F-0B29-D24F7B181C36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202BF2-53E3-2E49-DC29-FA2B965D4E52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2B193E-2EEF-ADDA-CCB6-DFCD8CF77B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27F899-5262-59C3-4264-277DEF8E71CF}"/>
              </a:ext>
            </a:extLst>
          </p:cNvPr>
          <p:cNvSpPr txBox="1"/>
          <p:nvPr/>
        </p:nvSpPr>
        <p:spPr>
          <a:xfrm>
            <a:off x="616189" y="1229291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65661-C8B6-C064-EF0E-150A908E08B5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DCA745-0CEA-1047-A146-A7A59A0B441D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2A022-BC6A-CFA0-A4AA-D6DD1FA3001B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5AA14B0-7DFC-6BE7-160E-D612087E0D30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03EBB61-7BF0-9A11-EE72-1AC25B70FD4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AE638AD-4529-DC90-09A3-55939D85F731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3DA89-468F-ACF2-742D-86441C556FB8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025CB5-DF3F-9B94-4150-715567357037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6EF49C-3876-9FAE-0F94-3EC41C1A9E83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33F49C-E664-F5ED-74C7-180427AE743D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DA8A474-E46A-B4D0-2268-589114A4CFBB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A585026-F483-D5CE-4C1B-D36FE3B5C185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511F0-A471-70E1-D259-9B5AE0547CB0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287750-9B39-5618-F09E-F16D6ECCC9E4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911DA-6B45-89D8-A538-E33C744AC47B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1395B9BE-012C-EBED-BB61-FF95C7BA40D4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82FC277-8E0D-566A-2F87-F0E6F618125D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E47F284-8BFC-42E0-B58E-AA4432CEB592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B24659E-0B6F-ADBA-C3AA-6D2496A36A72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1F0DA7-C1F1-AA79-8DAD-4E1234D70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9FD675F2-B197-F302-674E-C35F100EE4B7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23716568-C784-ACB3-4765-5259BA33E6A3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D69D995-616F-2FDE-72DE-C968389BA163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2AEFD7-6165-5C1E-9CCC-361D690A3F50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83FCC6-54B6-2E75-2327-2E3A48F2A031}"/>
              </a:ext>
            </a:extLst>
          </p:cNvPr>
          <p:cNvSpPr txBox="1"/>
          <p:nvPr/>
        </p:nvSpPr>
        <p:spPr>
          <a:xfrm>
            <a:off x="9717089" y="4670038"/>
            <a:ext cx="226808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normalization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종 모양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속도가 빨라지고 안정적으로 수렴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241FB7E-AE77-9AC6-F7E8-7511FA468C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584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통계계산만 하고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Weights(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Bias(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 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하여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Epoch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만큼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Update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blipFill>
                <a:blip r:embed="rId2"/>
                <a:stretch>
                  <a:fillRect l="-445" b="-65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93939" y="2821870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526" y="4420820"/>
            <a:ext cx="1515457" cy="176367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DEEA88A-19C1-6CD1-CC01-BB8F1FA6D3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/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parameter) : Trainable parameter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시프트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parameter) : Trainable parameter</a:t>
                </a:r>
                <a:endParaRPr lang="ko-KR" altLang="en-US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5D9AD6-5E56-8708-756A-6E6C6B9BC559}"/>
              </a:ext>
            </a:extLst>
          </p:cNvPr>
          <p:cNvSpPr/>
          <p:nvPr/>
        </p:nvSpPr>
        <p:spPr>
          <a:xfrm>
            <a:off x="1251855" y="5475516"/>
            <a:ext cx="3984171" cy="587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577D73-93E9-CC1F-E98F-399AC758B4CF}"/>
              </a:ext>
            </a:extLst>
          </p:cNvPr>
          <p:cNvSpPr txBox="1"/>
          <p:nvPr/>
        </p:nvSpPr>
        <p:spPr>
          <a:xfrm>
            <a:off x="5532783" y="4113043"/>
            <a:ext cx="2188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 Descent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212963"/>
                <a:ext cx="10952480" cy="11617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경사 하강법으로 역전파때 직접 학습시키는 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6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6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6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6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2963"/>
                <a:ext cx="10952480" cy="1161793"/>
              </a:xfrm>
              <a:prstGeom prst="rect">
                <a:avLst/>
              </a:prstGeom>
              <a:blipFill>
                <a:blip r:embed="rId2"/>
                <a:stretch>
                  <a:fillRect l="-278" b="-523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64517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4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AC14E443-7B20-2351-5E99-BC2C8E4074D0}"/>
              </a:ext>
            </a:extLst>
          </p:cNvPr>
          <p:cNvSpPr/>
          <p:nvPr/>
        </p:nvSpPr>
        <p:spPr>
          <a:xfrm>
            <a:off x="7661255" y="2951248"/>
            <a:ext cx="3810000" cy="477752"/>
          </a:xfrm>
          <a:prstGeom prst="borderCallout2">
            <a:avLst>
              <a:gd name="adj1" fmla="val 59764"/>
              <a:gd name="adj2" fmla="val -1762"/>
              <a:gd name="adj3" fmla="val 121284"/>
              <a:gd name="adj4" fmla="val -34381"/>
              <a:gd name="adj5" fmla="val 174020"/>
              <a:gd name="adj6" fmla="val -8638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784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픽셀 특성 각각에 대해 평균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자동 스케일링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F57E34FA-92E7-CEC7-AF6A-8274942067D7}"/>
              </a:ext>
            </a:extLst>
          </p:cNvPr>
          <p:cNvSpPr/>
          <p:nvPr/>
        </p:nvSpPr>
        <p:spPr>
          <a:xfrm>
            <a:off x="8630492" y="3800872"/>
            <a:ext cx="3136965" cy="1023039"/>
          </a:xfrm>
          <a:prstGeom prst="borderCallout2">
            <a:avLst>
              <a:gd name="adj1" fmla="val 61312"/>
              <a:gd name="adj2" fmla="val -1879"/>
              <a:gd name="adj3" fmla="val 59184"/>
              <a:gd name="adj4" fmla="val -53457"/>
              <a:gd name="adj5" fmla="val 66746"/>
              <a:gd name="adj6" fmla="val -132794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레이어를 거치며 발생하는 분포 변화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(Internal Covariate Shift)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방지하여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노드의 출력을 안정적인 분포로 정돈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D87B4E86-570C-96FA-DA31-65B35556E54C}"/>
              </a:ext>
            </a:extLst>
          </p:cNvPr>
          <p:cNvSpPr/>
          <p:nvPr/>
        </p:nvSpPr>
        <p:spPr>
          <a:xfrm>
            <a:off x="8630492" y="5348183"/>
            <a:ext cx="3256708" cy="796867"/>
          </a:xfrm>
          <a:prstGeom prst="borderCallout2">
            <a:avLst>
              <a:gd name="adj1" fmla="val 65196"/>
              <a:gd name="adj2" fmla="val -2405"/>
              <a:gd name="adj3" fmla="val 18750"/>
              <a:gd name="adj4" fmla="val -16667"/>
              <a:gd name="adj5" fmla="val -13996"/>
              <a:gd name="adj6" fmla="val -12997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분류 </a:t>
            </a:r>
            <a:r>
              <a:rPr lang="ko-KR" altLang="en-US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(Dense(10))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진입하기 직전에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피처의 분포를 재정렬</a:t>
            </a:r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718E-01F3-31E2-543E-53BA994AF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FF67889-CC51-4CAE-ADFA-29FB2436B2CE}"/>
              </a:ext>
            </a:extLst>
          </p:cNvPr>
          <p:cNvSpPr/>
          <p:nvPr/>
        </p:nvSpPr>
        <p:spPr>
          <a:xfrm>
            <a:off x="947057" y="41494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0C7ABA-4AC6-01B0-9DD9-3041B11E78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81CE2-C6D0-8B5B-F69B-EAC54CFB24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11BB82-7286-9EFD-8BC2-DFDE2F3C35C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117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04F1-7140-D8F3-DD5B-923F1088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EA1977-42C6-23CA-2194-76FD5717A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B8B134-97AF-376D-4FFE-E164DA5D0A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9A764B1-6E3C-C6F4-6644-44F66D28AA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F5E5CC-D000-D947-9354-C10B70E1B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775" y="3177359"/>
            <a:ext cx="7890899" cy="215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59C6FF-2AE6-31FA-6A8E-9F3EA1AFD777}"/>
              </a:ext>
            </a:extLst>
          </p:cNvPr>
          <p:cNvSpPr txBox="1"/>
          <p:nvPr/>
        </p:nvSpPr>
        <p:spPr>
          <a:xfrm>
            <a:off x="581025" y="1204878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Aft>
                <a:spcPts val="2400"/>
              </a:spcAft>
              <a:buNone/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가장 큰 이유는 차원을 줄이기 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사실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다음과 같이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뿐이라면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이용해도 아래와 같이 차원축소는 커녕 연산의 별 의미가 없음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곱해주는 것이므로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8EC21-CB8A-BD53-7176-3E7A6832BDA3}"/>
              </a:ext>
            </a:extLst>
          </p:cNvPr>
          <p:cNvSpPr txBox="1"/>
          <p:nvPr/>
        </p:nvSpPr>
        <p:spPr>
          <a:xfrm>
            <a:off x="1937775" y="5499233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https://hyunsooworld.tistory.com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22834C-A531-E689-97B2-9AA3716A74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4653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04878"/>
            <a:ext cx="111353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276295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542903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6010275" y="5542902"/>
            <a:ext cx="313113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이용하여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　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en-US" altLang="ko-KR" sz="1200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06EAAA9-4F3F-3FF5-D258-E08E891D64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58FFF0-EAC1-74AA-1CD1-5317395D3361}"/>
              </a:ext>
            </a:extLst>
          </p:cNvPr>
          <p:cNvSpPr txBox="1"/>
          <p:nvPr/>
        </p:nvSpPr>
        <p:spPr>
          <a:xfrm>
            <a:off x="981075" y="3581400"/>
            <a:ext cx="15837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245=(7x7x5)</a:t>
            </a:r>
            <a:endParaRPr lang="ko-KR" altLang="en-US" sz="1600" dirty="0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0EF72643-AAD7-06AB-BB1D-EB63D0B7A98A}"/>
              </a:ext>
            </a:extLst>
          </p:cNvPr>
          <p:cNvSpPr/>
          <p:nvPr/>
        </p:nvSpPr>
        <p:spPr>
          <a:xfrm>
            <a:off x="9353551" y="2368854"/>
            <a:ext cx="2209800" cy="1551100"/>
          </a:xfrm>
          <a:prstGeom prst="borderCallout2">
            <a:avLst>
              <a:gd name="adj1" fmla="val 14443"/>
              <a:gd name="adj2" fmla="val -574"/>
              <a:gd name="adj3" fmla="val 18750"/>
              <a:gd name="adj4" fmla="val -16667"/>
              <a:gd name="adj5" fmla="val 59378"/>
              <a:gd name="adj6" fmla="val -34952"/>
            </a:avLst>
          </a:prstGeom>
          <a:solidFill>
            <a:schemeClr val="tx1"/>
          </a:solidFill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같이 입력채널이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D=5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(W,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D)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(7,7,5)</a:t>
            </a:r>
          </a:p>
          <a:p>
            <a:pPr algn="ctr"/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 : 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(1x1x5 + 1)*5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계산하면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30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만 훈련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0751D-3D75-5569-FD5E-2EF81AC9C842}"/>
              </a:ext>
            </a:extLst>
          </p:cNvPr>
          <p:cNvSpPr txBox="1"/>
          <p:nvPr/>
        </p:nvSpPr>
        <p:spPr>
          <a:xfrm>
            <a:off x="9688204" y="4107684"/>
            <a:ext cx="8122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(1,1,5)</a:t>
            </a:r>
            <a:endParaRPr lang="ko-KR" altLang="en-US" sz="14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2F94D5C-DC24-9473-95BB-3AD8B7BC792F}"/>
              </a:ext>
            </a:extLst>
          </p:cNvPr>
          <p:cNvGrpSpPr/>
          <p:nvPr/>
        </p:nvGrpSpPr>
        <p:grpSpPr>
          <a:xfrm>
            <a:off x="10385992" y="4259903"/>
            <a:ext cx="886830" cy="869262"/>
            <a:chOff x="10293931" y="4130576"/>
            <a:chExt cx="1181101" cy="1157704"/>
          </a:xfrm>
        </p:grpSpPr>
        <p:sp>
          <p:nvSpPr>
            <p:cNvPr id="19" name="정육면체 18">
              <a:extLst>
                <a:ext uri="{FF2B5EF4-FFF2-40B4-BE49-F238E27FC236}">
                  <a16:creationId xmlns:a16="http://schemas.microsoft.com/office/drawing/2014/main" id="{9D7C6AE8-64C2-AADD-F455-D4CC0C824A8D}"/>
                </a:ext>
              </a:extLst>
            </p:cNvPr>
            <p:cNvSpPr/>
            <p:nvPr/>
          </p:nvSpPr>
          <p:spPr>
            <a:xfrm>
              <a:off x="10293931" y="41305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정육면체 21">
              <a:extLst>
                <a:ext uri="{FF2B5EF4-FFF2-40B4-BE49-F238E27FC236}">
                  <a16:creationId xmlns:a16="http://schemas.microsoft.com/office/drawing/2014/main" id="{EFA8C4B4-89D5-2969-D47E-61E0DFCF30F3}"/>
                </a:ext>
              </a:extLst>
            </p:cNvPr>
            <p:cNvSpPr/>
            <p:nvPr/>
          </p:nvSpPr>
          <p:spPr>
            <a:xfrm>
              <a:off x="10446331" y="42829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정육면체 22">
              <a:extLst>
                <a:ext uri="{FF2B5EF4-FFF2-40B4-BE49-F238E27FC236}">
                  <a16:creationId xmlns:a16="http://schemas.microsoft.com/office/drawing/2014/main" id="{28DA0519-6ED4-1235-2E3F-85DFFD140A68}"/>
                </a:ext>
              </a:extLst>
            </p:cNvPr>
            <p:cNvSpPr/>
            <p:nvPr/>
          </p:nvSpPr>
          <p:spPr>
            <a:xfrm>
              <a:off x="10598731" y="44353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E112AC1-C3AE-3B6E-EC49-013B906978CD}"/>
                </a:ext>
              </a:extLst>
            </p:cNvPr>
            <p:cNvSpPr/>
            <p:nvPr/>
          </p:nvSpPr>
          <p:spPr>
            <a:xfrm>
              <a:off x="10751131" y="45877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4786CD8B-B84E-9255-762F-4F20A229E13B}"/>
                </a:ext>
              </a:extLst>
            </p:cNvPr>
            <p:cNvSpPr/>
            <p:nvPr/>
          </p:nvSpPr>
          <p:spPr>
            <a:xfrm>
              <a:off x="10903531" y="47401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37E5901-A5BC-67E6-6B8D-D7FC598C830B}"/>
              </a:ext>
            </a:extLst>
          </p:cNvPr>
          <p:cNvSpPr txBox="1"/>
          <p:nvPr/>
        </p:nvSpPr>
        <p:spPr>
          <a:xfrm>
            <a:off x="11387251" y="4449303"/>
            <a:ext cx="4736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</p:spTree>
    <p:extLst>
      <p:ext uri="{BB962C8B-B14F-4D97-AF65-F5344CB8AC3E}">
        <p14:creationId xmlns:p14="http://schemas.microsoft.com/office/powerpoint/2010/main" val="2620092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8B4B-C519-0507-B5EA-6E264BA5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84DF45-0B41-134B-25EB-DE58166860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10771-E400-FC74-39AE-142EF07DD8C0}"/>
              </a:ext>
            </a:extLst>
          </p:cNvPr>
          <p:cNvSpPr txBox="1"/>
          <p:nvPr/>
        </p:nvSpPr>
        <p:spPr>
          <a:xfrm>
            <a:off x="557070" y="119678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8F4B4D9-5AF6-8C19-38E1-1E07EA8D6102}"/>
              </a:ext>
            </a:extLst>
          </p:cNvPr>
          <p:cNvGraphicFramePr>
            <a:graphicFrameLocks noGrp="1"/>
          </p:cNvGraphicFramePr>
          <p:nvPr/>
        </p:nvGraphicFramePr>
        <p:xfrm>
          <a:off x="1889760" y="35981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F6A647-3230-1FEC-3B2B-3431104DA1D1}"/>
              </a:ext>
            </a:extLst>
          </p:cNvPr>
          <p:cNvGraphicFramePr>
            <a:graphicFrameLocks noGrp="1"/>
          </p:cNvGraphicFramePr>
          <p:nvPr/>
        </p:nvGraphicFramePr>
        <p:xfrm>
          <a:off x="2042160" y="37505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251CB82-6C9D-533B-8D05-D5F6526E366B}"/>
              </a:ext>
            </a:extLst>
          </p:cNvPr>
          <p:cNvGraphicFramePr>
            <a:graphicFrameLocks noGrp="1"/>
          </p:cNvGraphicFramePr>
          <p:nvPr/>
        </p:nvGraphicFramePr>
        <p:xfrm>
          <a:off x="2194560" y="39029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C1736A8-0665-C9B6-ED3F-3AEE0572685A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25046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3AA6C6-AF63-F19B-7A3D-2B7F293030CE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26570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74F403-CDEE-4885-3DE0-5B2D81301F48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28094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E5877134-28D6-1E88-C1F9-E524FE8A1953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41936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FA7BB14-020B-C2DE-D335-D5F0E014F390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43460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AE7141B-B821-CD09-6C3C-D1590859C75E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44984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30AD545-A0AC-4C87-51EC-0FD3FA6D94C0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0526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FBFA8F4-9315-CF4D-D2F0-761DEC108AEC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52050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B38B1CC-C672-2BA1-4B27-2C6DB30F2C75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53574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17C7E54-E637-62AB-4490-82B85D2493EE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9180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BFF2632-CA4E-CFA1-B084-A4558D7C51EF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60704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00F89C9-95F3-1B1B-DD41-5609673CE9CF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62228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23C88FE-28AC-A179-FA3B-F2874F3DE20D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33982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CDEB74F8-1E3B-4593-A647-5975D7DFCAFB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35506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C13DF14-E165-0342-956C-E4DBA45D4DF9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37030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91808C70-3914-48B0-24E5-47EBD3B45FC6}"/>
              </a:ext>
            </a:extLst>
          </p:cNvPr>
          <p:cNvGraphicFramePr>
            <a:graphicFrameLocks noGrp="1"/>
          </p:cNvGraphicFramePr>
          <p:nvPr/>
        </p:nvGraphicFramePr>
        <p:xfrm>
          <a:off x="8370428" y="3723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0523FB5E-56E5-7760-B49A-0A197FF9C4E0}"/>
              </a:ext>
            </a:extLst>
          </p:cNvPr>
          <p:cNvGraphicFramePr>
            <a:graphicFrameLocks noGrp="1"/>
          </p:cNvGraphicFramePr>
          <p:nvPr/>
        </p:nvGraphicFramePr>
        <p:xfrm>
          <a:off x="8522828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73307BF9-8F3D-9E99-2A31-FAF24A69D7A9}"/>
              </a:ext>
            </a:extLst>
          </p:cNvPr>
          <p:cNvGraphicFramePr>
            <a:graphicFrameLocks noGrp="1"/>
          </p:cNvGraphicFramePr>
          <p:nvPr/>
        </p:nvGraphicFramePr>
        <p:xfrm>
          <a:off x="8675228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4611F3C-3FD9-B7A4-A9CA-024D6E0F99EF}"/>
              </a:ext>
            </a:extLst>
          </p:cNvPr>
          <p:cNvGraphicFramePr>
            <a:graphicFrameLocks noGrp="1"/>
          </p:cNvGraphicFramePr>
          <p:nvPr/>
        </p:nvGraphicFramePr>
        <p:xfrm>
          <a:off x="8827628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C0C87D1F-3699-6AAB-B1A0-9DFF94C1B391}"/>
              </a:ext>
            </a:extLst>
          </p:cNvPr>
          <p:cNvGraphicFramePr>
            <a:graphicFrameLocks noGrp="1"/>
          </p:cNvGraphicFramePr>
          <p:nvPr/>
        </p:nvGraphicFramePr>
        <p:xfrm>
          <a:off x="8980028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B8C7ECD-2AA7-E265-C5BA-195771B4EB9E}"/>
              </a:ext>
            </a:extLst>
          </p:cNvPr>
          <p:cNvSpPr txBox="1"/>
          <p:nvPr/>
        </p:nvSpPr>
        <p:spPr>
          <a:xfrm>
            <a:off x="1812960" y="5160147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A6E60-43CD-F1F3-1AB6-A99900480325}"/>
              </a:ext>
            </a:extLst>
          </p:cNvPr>
          <p:cNvSpPr txBox="1"/>
          <p:nvPr/>
        </p:nvSpPr>
        <p:spPr>
          <a:xfrm>
            <a:off x="6090922" y="2769239"/>
            <a:ext cx="3693260" cy="704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135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(3x3x3x5) parameters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0F1872E2-2C1B-2A63-F695-4C49330EC152}"/>
              </a:ext>
            </a:extLst>
          </p:cNvPr>
          <p:cNvSpPr/>
          <p:nvPr/>
        </p:nvSpPr>
        <p:spPr>
          <a:xfrm rot="16200000">
            <a:off x="1953534" y="3539274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C3B7A5E6-4C26-05E7-5719-FD25F45807C9}"/>
              </a:ext>
            </a:extLst>
          </p:cNvPr>
          <p:cNvSpPr/>
          <p:nvPr/>
        </p:nvSpPr>
        <p:spPr>
          <a:xfrm rot="16200000">
            <a:off x="8411837" y="3680909"/>
            <a:ext cx="1146443" cy="1234339"/>
          </a:xfrm>
          <a:prstGeom prst="cube">
            <a:avLst>
              <a:gd name="adj" fmla="val 5394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F49EEC5E-A7D2-1041-CA07-486F48A0C2C5}"/>
              </a:ext>
            </a:extLst>
          </p:cNvPr>
          <p:cNvSpPr/>
          <p:nvPr/>
        </p:nvSpPr>
        <p:spPr>
          <a:xfrm rot="16200000">
            <a:off x="5091852" y="2489172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9285C7E5-2F47-448E-D25E-9CA42D1B538A}"/>
              </a:ext>
            </a:extLst>
          </p:cNvPr>
          <p:cNvSpPr/>
          <p:nvPr/>
        </p:nvSpPr>
        <p:spPr>
          <a:xfrm rot="16200000">
            <a:off x="5079201" y="336356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8D323AE5-6382-55B7-1806-D0563D348500}"/>
              </a:ext>
            </a:extLst>
          </p:cNvPr>
          <p:cNvSpPr/>
          <p:nvPr/>
        </p:nvSpPr>
        <p:spPr>
          <a:xfrm rot="16200000">
            <a:off x="5058283" y="416703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6AF2921A-43FC-0BE7-E36B-398D6FA08028}"/>
              </a:ext>
            </a:extLst>
          </p:cNvPr>
          <p:cNvSpPr/>
          <p:nvPr/>
        </p:nvSpPr>
        <p:spPr>
          <a:xfrm rot="16200000">
            <a:off x="5091852" y="501977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FC690417-52A5-D786-D58E-408E75730B59}"/>
              </a:ext>
            </a:extLst>
          </p:cNvPr>
          <p:cNvSpPr/>
          <p:nvPr/>
        </p:nvSpPr>
        <p:spPr>
          <a:xfrm rot="16200000">
            <a:off x="5079201" y="588628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957A28-F6C4-AC8D-D1F0-330E826F0FE8}"/>
              </a:ext>
            </a:extLst>
          </p:cNvPr>
          <p:cNvSpPr txBox="1"/>
          <p:nvPr/>
        </p:nvSpPr>
        <p:spPr>
          <a:xfrm>
            <a:off x="8266237" y="5111305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BFF6F84-7CDF-81D0-F06F-BAFD10188768}"/>
              </a:ext>
            </a:extLst>
          </p:cNvPr>
          <p:cNvSpPr/>
          <p:nvPr/>
        </p:nvSpPr>
        <p:spPr>
          <a:xfrm>
            <a:off x="4295191" y="2694380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8F527B3-3562-15B1-BC7C-39C5751EE2B1}"/>
              </a:ext>
            </a:extLst>
          </p:cNvPr>
          <p:cNvCxnSpPr>
            <a:cxnSpLocks/>
          </p:cNvCxnSpPr>
          <p:nvPr/>
        </p:nvCxnSpPr>
        <p:spPr>
          <a:xfrm>
            <a:off x="6372225" y="4114381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슬라이드 번호 개체 틀 3">
            <a:extLst>
              <a:ext uri="{FF2B5EF4-FFF2-40B4-BE49-F238E27FC236}">
                <a16:creationId xmlns:a16="http://schemas.microsoft.com/office/drawing/2014/main" id="{51054E1D-0F8A-C331-66EF-09C717A470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340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34858" y="1179897"/>
            <a:ext cx="11159285" cy="1351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입력이미지를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공간과 채널 정보를 분리하여 각 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공간합성곱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수행하고 그 다음은 점별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순차적으로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(3x3x3)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(1x1x3x5) filter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총 파라미터는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42(27+15)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2257039"/>
              </p:ext>
            </p:extLst>
          </p:nvPr>
        </p:nvGraphicFramePr>
        <p:xfrm>
          <a:off x="1260510" y="3408040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10929"/>
              </p:ext>
            </p:extLst>
          </p:nvPr>
        </p:nvGraphicFramePr>
        <p:xfrm>
          <a:off x="1260510" y="4406207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5745057"/>
              </p:ext>
            </p:extLst>
          </p:nvPr>
        </p:nvGraphicFramePr>
        <p:xfrm>
          <a:off x="1260510" y="539110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1578589"/>
              </p:ext>
            </p:extLst>
          </p:nvPr>
        </p:nvGraphicFramePr>
        <p:xfrm>
          <a:off x="3865982" y="350950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730284"/>
              </p:ext>
            </p:extLst>
          </p:nvPr>
        </p:nvGraphicFramePr>
        <p:xfrm>
          <a:off x="5444349" y="43650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190905"/>
              </p:ext>
            </p:extLst>
          </p:nvPr>
        </p:nvGraphicFramePr>
        <p:xfrm>
          <a:off x="5596749" y="45174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369795"/>
              </p:ext>
            </p:extLst>
          </p:nvPr>
        </p:nvGraphicFramePr>
        <p:xfrm>
          <a:off x="5749149" y="466982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689077" y="305898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037559" y="6268303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342098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4563175"/>
              </p:ext>
            </p:extLst>
          </p:nvPr>
        </p:nvGraphicFramePr>
        <p:xfrm>
          <a:off x="3865982" y="474076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390330"/>
              </p:ext>
            </p:extLst>
          </p:nvPr>
        </p:nvGraphicFramePr>
        <p:xfrm>
          <a:off x="3865982" y="584820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8213761" y="6262738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2580746" y="3094374"/>
            <a:ext cx="424995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(Spatial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6965103" y="3095568"/>
            <a:ext cx="421326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4386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40364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5910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74341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41888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434127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7418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8942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504662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53297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4821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63455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9635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61159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626830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341259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400373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71766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530791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93707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9558071"/>
              </p:ext>
            </p:extLst>
          </p:nvPr>
        </p:nvGraphicFramePr>
        <p:xfrm>
          <a:off x="9132428" y="42141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4454139"/>
              </p:ext>
            </p:extLst>
          </p:nvPr>
        </p:nvGraphicFramePr>
        <p:xfrm>
          <a:off x="9284828" y="43665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85613"/>
              </p:ext>
            </p:extLst>
          </p:nvPr>
        </p:nvGraphicFramePr>
        <p:xfrm>
          <a:off x="9437228" y="45189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8017705"/>
              </p:ext>
            </p:extLst>
          </p:nvPr>
        </p:nvGraphicFramePr>
        <p:xfrm>
          <a:off x="9589628" y="46713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7432161"/>
              </p:ext>
            </p:extLst>
          </p:nvPr>
        </p:nvGraphicFramePr>
        <p:xfrm>
          <a:off x="9742028" y="48237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3505606"/>
              </p:ext>
            </p:extLst>
          </p:nvPr>
        </p:nvGraphicFramePr>
        <p:xfrm>
          <a:off x="9894428" y="497616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199139" y="418287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68689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333729" y="567724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714139"/>
            <a:ext cx="222365" cy="2426244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52583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656096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20983" y="4639862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2580745" y="2687671"/>
            <a:ext cx="8612349" cy="3077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C979E19-EA24-93DB-B92F-09B56A2399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5817DD-B353-120D-570F-0BB060907562}"/>
              </a:ext>
            </a:extLst>
          </p:cNvPr>
          <p:cNvSpPr/>
          <p:nvPr/>
        </p:nvSpPr>
        <p:spPr>
          <a:xfrm>
            <a:off x="2580746" y="3094375"/>
            <a:ext cx="4238974" cy="348346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09D773-1220-9B12-D8C6-C8325FB36AF6}"/>
              </a:ext>
            </a:extLst>
          </p:cNvPr>
          <p:cNvSpPr/>
          <p:nvPr/>
        </p:nvSpPr>
        <p:spPr>
          <a:xfrm>
            <a:off x="6954121" y="3094374"/>
            <a:ext cx="4238974" cy="3476141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678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0C2E-56A1-A50F-F55F-9D39DEA4C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E05EDD-47CD-BCAE-48FE-9DE11D0FC5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58425C60-6998-40CF-1DFA-EF0D20635C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86F919-73AC-4879-1174-FBCA3B4380DF}"/>
              </a:ext>
            </a:extLst>
          </p:cNvPr>
          <p:cNvSpPr txBox="1"/>
          <p:nvPr/>
        </p:nvSpPr>
        <p:spPr>
          <a:xfrm>
            <a:off x="1556699" y="2857747"/>
            <a:ext cx="6530027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layers.DepthwiseConv2D(3, padding="same")(x)</a:t>
            </a:r>
          </a:p>
          <a:p>
            <a:pPr rtl="0"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layers.Conv2D(5, 1, padding="same“)(x)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482E58-FA63-DDCC-0326-8113679C54A7}"/>
              </a:ext>
            </a:extLst>
          </p:cNvPr>
          <p:cNvSpPr txBox="1"/>
          <p:nvPr/>
        </p:nvSpPr>
        <p:spPr>
          <a:xfrm>
            <a:off x="1556700" y="5388068"/>
            <a:ext cx="6530026" cy="64633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layers.SeparableConv2D(5, 3, padding="same")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7FE737E-D1E4-5B5D-26FB-0DB114EFC642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4821713" y="4335075"/>
            <a:ext cx="0" cy="1052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BB8769E-1301-ADC0-2575-2904026A7839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히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FB22B0-A33C-A2BA-D9BA-681FCFC37753}"/>
              </a:ext>
            </a:extLst>
          </p:cNvPr>
          <p:cNvSpPr txBox="1"/>
          <p:nvPr/>
        </p:nvSpPr>
        <p:spPr>
          <a:xfrm>
            <a:off x="8295889" y="3167398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7D8AA0-4CA4-914D-6050-CDD9B8179337}"/>
              </a:ext>
            </a:extLst>
          </p:cNvPr>
          <p:cNvSpPr txBox="1"/>
          <p:nvPr/>
        </p:nvSpPr>
        <p:spPr>
          <a:xfrm>
            <a:off x="8295889" y="3992401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42666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45FC2-EC44-0397-875A-5B0470EA5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070D899-8AFD-1DFD-F5B8-96A8314FC4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1x1 Convolution (Pointwise Conv)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3C9C948-3DED-66F0-B839-106EACC7763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D08E12-6588-122E-0C2E-10A5C2BD1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762" y="1493736"/>
            <a:ext cx="8979627" cy="473187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9578425-402B-8F5B-C857-9697D0F75552}"/>
              </a:ext>
            </a:extLst>
          </p:cNvPr>
          <p:cNvSpPr txBox="1"/>
          <p:nvPr/>
        </p:nvSpPr>
        <p:spPr>
          <a:xfrm>
            <a:off x="1219762" y="6247380"/>
            <a:ext cx="7894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1x1 Convolution? Do we really achieve anything with this?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0053622-1AAF-226B-734C-6ADA7E64B2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0506" y="1493736"/>
            <a:ext cx="5260758" cy="629851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2BE6E05E-C964-2987-FD57-D9F73D5BCA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0954" y="4172130"/>
            <a:ext cx="5260758" cy="599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018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481097" y="1222270"/>
            <a:ext cx="11229806" cy="13519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채널"은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서로 완전히 독립적인 정보인 경우가 많은데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63599" y="4079739"/>
            <a:ext cx="2315041" cy="16004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스케치북에 검은색 펜으로 캐릭터의 눈, 코, 입 같은 '형태(선화)'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F2A103-E210-3BCA-76FA-93F8D32AA3A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E94BC4-E1A3-2086-1AF2-79C143CA14B8}"/>
              </a:ext>
            </a:extLst>
          </p:cNvPr>
          <p:cNvSpPr txBox="1"/>
          <p:nvPr/>
        </p:nvSpPr>
        <p:spPr>
          <a:xfrm>
            <a:off x="7081520" y="4341952"/>
            <a:ext cx="2410504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그려진 선 안에 빨간색, 초록색, 파란색 물감으로 '색칠(채색)＇하기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RGB 채널 정보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DC9F4C-3DE9-0698-645B-5AEA3636288B}"/>
              </a:ext>
            </a:extLst>
          </p:cNvPr>
          <p:cNvSpPr txBox="1"/>
          <p:nvPr/>
        </p:nvSpPr>
        <p:spPr>
          <a:xfrm>
            <a:off x="879525" y="5889545"/>
            <a:ext cx="10459708" cy="5232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F71122F-4AB5-7C39-EE08-09BAEF84D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641" y="3593159"/>
            <a:ext cx="1821991" cy="209509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7084C3-02A4-CD27-99F3-10BA310B2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2024" y="3593159"/>
            <a:ext cx="1847209" cy="21317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16E3633-8A9F-6322-D818-F3DEBD581A8F}"/>
              </a:ext>
            </a:extLst>
          </p:cNvPr>
          <p:cNvSpPr txBox="1"/>
          <p:nvPr/>
        </p:nvSpPr>
        <p:spPr>
          <a:xfrm>
            <a:off x="3171964" y="3064339"/>
            <a:ext cx="1833106" cy="5232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1단계 그리기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(공간 정보) 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5E7E31-F8E4-2904-13D6-5549864DD54F}"/>
              </a:ext>
            </a:extLst>
          </p:cNvPr>
          <p:cNvSpPr txBox="1"/>
          <p:nvPr/>
        </p:nvSpPr>
        <p:spPr>
          <a:xfrm>
            <a:off x="9483895" y="3064339"/>
            <a:ext cx="1858475" cy="52322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(채널 정보)</a:t>
            </a:r>
            <a:endParaRPr lang="en-US" altLang="ko-KR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170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650826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857750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공간 특징 추출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채널을 모두 낱개로 쪼갠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(Split)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채널에 독립적으로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필터를 적용하면 채널끼리 정보가 섞이지 않은 상태에서 이미지의 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공간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테두리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 집중적으로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Pointwise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채널 특징 합성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단계를 거친 결과를 다시 하나로 모은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(Concatenate)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(1, 1) Conv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연산을 통해 서로 따로 놀던 채널 간의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(RGB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색상 조합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하나로 섞어서 최종 출력을 생성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6F4437-4410-4F22-68A5-03CC5D890B4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73" y="1864015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099B6-9460-F580-00E8-C4206EBDEA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4C671-6939-C268-E7E7-D5FF00FE8973}"/>
              </a:ext>
            </a:extLst>
          </p:cNvPr>
          <p:cNvSpPr txBox="1"/>
          <p:nvPr/>
        </p:nvSpPr>
        <p:spPr>
          <a:xfrm>
            <a:off x="9235440" y="4032455"/>
            <a:ext cx="2509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커널 크기 K,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패딩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BE87A53-78BD-AAB9-54E5-7F3CB3C33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848" y="4935203"/>
            <a:ext cx="2095605" cy="70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5DBD8E4-42A9-9814-BEF5-600BB75DA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738" y="2946475"/>
            <a:ext cx="2791253" cy="5337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D232B5B-BE87-418A-F220-4F044F6B72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3476" y="3890242"/>
            <a:ext cx="2752333" cy="5115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2C6AC2A-7554-291D-4EBE-BE0AF4A49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7379" y="4884288"/>
            <a:ext cx="2846857" cy="56158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110DA37-02D0-2D93-CD29-902727BDCF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8262" y="5869692"/>
            <a:ext cx="2780133" cy="56158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0BEF4B8-4448-E366-43F7-8447F38F99A0}"/>
              </a:ext>
            </a:extLst>
          </p:cNvPr>
          <p:cNvSpPr txBox="1"/>
          <p:nvPr/>
        </p:nvSpPr>
        <p:spPr>
          <a:xfrm>
            <a:off x="572842" y="13169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아키텍처의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엔트리 플로우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(Entry Flow)</a:t>
            </a:r>
            <a:endParaRPr lang="ko-KR" altLang="en-US" dirty="0"/>
          </a:p>
        </p:txBody>
      </p:sp>
      <p:sp>
        <p:nvSpPr>
          <p:cNvPr id="21" name="설명선: 굽은 선 20">
            <a:extLst>
              <a:ext uri="{FF2B5EF4-FFF2-40B4-BE49-F238E27FC236}">
                <a16:creationId xmlns:a16="http://schemas.microsoft.com/office/drawing/2014/main" id="{5005418E-E95C-80B4-4A73-D2DC2EC16085}"/>
              </a:ext>
            </a:extLst>
          </p:cNvPr>
          <p:cNvSpPr/>
          <p:nvPr/>
        </p:nvSpPr>
        <p:spPr>
          <a:xfrm>
            <a:off x="7196980" y="1746996"/>
            <a:ext cx="3983781" cy="789497"/>
          </a:xfrm>
          <a:prstGeom prst="borderCallout2">
            <a:avLst>
              <a:gd name="adj1" fmla="val 18750"/>
              <a:gd name="adj2" fmla="val -1399"/>
              <a:gd name="adj3" fmla="val 18750"/>
              <a:gd name="adj4" fmla="val -16667"/>
              <a:gd name="adj5" fmla="val 105430"/>
              <a:gd name="adj6" fmla="val -37414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반복되는 레이어 블록과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299 x 299 x 3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 x 19 x 728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공간 크기는 점차 줄어들고 채널은 깊어지는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두꺼워지는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피처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변화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E5AD3-284E-BBC5-6EB0-C85A2270E09F}"/>
              </a:ext>
            </a:extLst>
          </p:cNvPr>
          <p:cNvSpPr txBox="1"/>
          <p:nvPr/>
        </p:nvSpPr>
        <p:spPr>
          <a:xfrm>
            <a:off x="9048116" y="2527235"/>
            <a:ext cx="279125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0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728.</a:t>
            </a: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7712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15E22-4850-A5B6-2260-377DCA7AE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ADCD64-6D0B-0A15-9C53-ED0C516206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1328889-C35B-9B25-0919-FAB35B532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5" y="1772290"/>
            <a:ext cx="3586187" cy="279002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0053F9-46BA-0064-334D-1A4CFEFDA2E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8EB64-774A-CE97-1C45-1386DE051FE3}"/>
              </a:ext>
            </a:extLst>
          </p:cNvPr>
          <p:cNvSpPr txBox="1"/>
          <p:nvPr/>
        </p:nvSpPr>
        <p:spPr>
          <a:xfrm>
            <a:off x="3778461" y="1772290"/>
            <a:ext cx="6546639" cy="443198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=(299, 299, 3))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1~2.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layers.Conv2D(32,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layers.Conv2D(64,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브랜치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저장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3~5.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투영 및 결합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layers.Conv2D(128,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997730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18658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(Inception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모델에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모델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멍청한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descent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알고리즘을 똑똑하게 하는 방법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C303DD-15C2-F714-1E80-9160F66755D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7FAAAB-8EA4-47C9-9A15-FA2948DF3156}"/>
              </a:ext>
            </a:extLst>
          </p:cNvPr>
          <p:cNvSpPr txBox="1"/>
          <p:nvPr/>
        </p:nvSpPr>
        <p:spPr>
          <a:xfrm>
            <a:off x="1379097" y="2478811"/>
            <a:ext cx="10178436" cy="3747821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FD859-7B24-C7BE-46D0-9D91BD1C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E9DD07-5412-89CE-DF11-C40C758483F2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41E400-4A34-0A79-08F6-E763CEF9B13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1651CE-CA0D-E27B-6E88-C201B386D035}"/>
              </a:ext>
            </a:extLst>
          </p:cNvPr>
          <p:cNvSpPr txBox="1"/>
          <p:nvPr/>
        </p:nvSpPr>
        <p:spPr>
          <a:xfrm>
            <a:off x="633108" y="1248422"/>
            <a:ext cx="7082142" cy="537070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endParaRPr lang="en-US" altLang="ko-KR" sz="7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size in [32, 64, 128, 256, 512]: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x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layers.MaxPooling2D(3, strides=2, padding="same")(x)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layers.Conv2D(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size, 1, strides=2,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=False)(residual)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([x, residual])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88CBE4-44F8-E67F-8728-76B979B36364}"/>
              </a:ext>
            </a:extLst>
          </p:cNvPr>
          <p:cNvSpPr txBox="1"/>
          <p:nvPr/>
        </p:nvSpPr>
        <p:spPr>
          <a:xfrm>
            <a:off x="7790296" y="1263662"/>
            <a:ext cx="4133850" cy="461664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342900" indent="-342900" algn="just">
              <a:buFont typeface="+mj-ea"/>
              <a:buAutoNum type="circleNumDbPlain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 &amp; Preprocessing),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블록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Block)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[32, 64, 128, 256, 512]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순서대로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단계의 블록을 반복한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 최종적으로 </a:t>
            </a: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Global Average Pooling 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차원을 평균 내어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압축하여 최종 분류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사용: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사용하여 파라미터 수와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대폭 절감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연결): 층이 깊어져도 기울기 소실(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없이 안정적으로 학습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GAP(Global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채널별 평균값을 사용하여 파라미터 수를 획기적으로 줄이고 과적합을 예방</a:t>
            </a:r>
          </a:p>
        </p:txBody>
      </p:sp>
    </p:spTree>
    <p:extLst>
      <p:ext uri="{BB962C8B-B14F-4D97-AF65-F5344CB8AC3E}">
        <p14:creationId xmlns:p14="http://schemas.microsoft.com/office/powerpoint/2010/main" val="4112601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D452-9608-A826-7CC5-EA4E0DC6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D08A09-CCB4-4D19-F5F9-C94539F1F711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EEE15C5-BCA6-58BD-4A49-01DCA62EF9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FD4F60-2232-787A-9EF2-62D98E450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76" y="1319955"/>
            <a:ext cx="5837149" cy="53226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92E183-1BEE-D9F7-AFE9-2BAB2EE539F9}"/>
              </a:ext>
            </a:extLst>
          </p:cNvPr>
          <p:cNvSpPr txBox="1"/>
          <p:nvPr/>
        </p:nvSpPr>
        <p:spPr>
          <a:xfrm>
            <a:off x="6551524" y="1319955"/>
            <a:ext cx="5029200" cy="190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Each convolutional and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separable convolutional layer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followed by a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layer, which is not included in the figure. The architecture uses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around each module, except for the first and last ones.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73518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5EB9-826C-E844-135A-60A4E4CB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35DC5-A84F-1F2A-25EF-17BD03C508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Pretrained Model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2A5F81F-A4FA-D039-7502-FBB2B791F6A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86625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24834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484306"/>
              </p:ext>
            </p:extLst>
          </p:nvPr>
        </p:nvGraphicFramePr>
        <p:xfrm>
          <a:off x="1461254" y="265964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2D3C9-6F9D-BE4D-D8F4-5B3D5F2F93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878959" y="1559600"/>
            <a:ext cx="10578027" cy="4620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DD545D5-2F34-F510-D73D-E11F90AD19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7A22-5B2D-55CC-6BC0-84D4BD7F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2BB1-87C3-DA82-BB94-EDDED7830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Appendix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FA7B6A5-DDC8-A121-0FC2-ACBB252F804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2669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7329A31-2B15-3D4E-22A7-1FF770AC04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래픽 4" descr="학사모">
            <a:extLst>
              <a:ext uri="{FF2B5EF4-FFF2-40B4-BE49-F238E27FC236}">
                <a16:creationId xmlns:a16="http://schemas.microsoft.com/office/drawing/2014/main" id="{443516DC-C86E-1673-E279-090CF5E95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129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1252493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소개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217" y="3713662"/>
            <a:ext cx="4385069" cy="82331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217" y="4535670"/>
            <a:ext cx="2491410" cy="572101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603" y="5379033"/>
            <a:ext cx="2421208" cy="764592"/>
          </a:xfrm>
          <a:prstGeom prst="rect">
            <a:avLst/>
          </a:prstGeom>
        </p:spPr>
      </p:pic>
      <p:pic>
        <p:nvPicPr>
          <p:cNvPr id="2" name="그래픽 1" descr="학사모">
            <a:extLst>
              <a:ext uri="{FF2B5EF4-FFF2-40B4-BE49-F238E27FC236}">
                <a16:creationId xmlns:a16="http://schemas.microsoft.com/office/drawing/2014/main" id="{D3566E73-4B34-6DB2-FC0B-C57330B22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8F15D8-AC40-C13E-E229-3CB533E594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7908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1343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91351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99D37C-70AB-22B9-59AB-5C78631662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09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77E50-40C1-F5D3-0F4A-BB584250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77C7B0-CF67-EB4A-6DAD-136D69E9DB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510D2CD-D626-8EEF-74AE-75A94468AD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71920" y="351028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b="1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BB6560-6A88-804A-2C6B-CFA03EB79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947" y="2396139"/>
            <a:ext cx="7579773" cy="40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9B4119-A13D-3BE2-E27D-FAF590D5069C}"/>
              </a:ext>
            </a:extLst>
          </p:cNvPr>
          <p:cNvSpPr txBox="1"/>
          <p:nvPr/>
        </p:nvSpPr>
        <p:spPr>
          <a:xfrm>
            <a:off x="3423920" y="5962164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A3444-9E7E-500C-E1BD-6C08764420B6}"/>
              </a:ext>
            </a:extLst>
          </p:cNvPr>
          <p:cNvSpPr txBox="1"/>
          <p:nvPr/>
        </p:nvSpPr>
        <p:spPr>
          <a:xfrm>
            <a:off x="2880995" y="460478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EA7AC-08C5-820F-6CE4-BCE883CFF2DA}"/>
              </a:ext>
            </a:extLst>
          </p:cNvPr>
          <p:cNvSpPr txBox="1"/>
          <p:nvPr/>
        </p:nvSpPr>
        <p:spPr>
          <a:xfrm>
            <a:off x="523269" y="1251305"/>
            <a:ext cx="111258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모듈은 하나의 입력을 4개의 경로로 동시에 통과시키며 이때 이미지의 크기(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(3,3), (5,5)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연산에 적절한 패딩(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적용을 가정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A9405-2F28-4089-5106-D3BD91314C65}"/>
              </a:ext>
            </a:extLst>
          </p:cNvPr>
          <p:cNvSpPr txBox="1"/>
          <p:nvPr/>
        </p:nvSpPr>
        <p:spPr>
          <a:xfrm>
            <a:off x="4719821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(128,28,28)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BE435-D1E7-6B90-0755-9D203B10CBF4}"/>
              </a:ext>
            </a:extLst>
          </p:cNvPr>
          <p:cNvSpPr txBox="1"/>
          <p:nvPr/>
        </p:nvSpPr>
        <p:spPr>
          <a:xfrm>
            <a:off x="466637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BD7626-0490-EF91-6987-BAFAC1E7CB73}"/>
              </a:ext>
            </a:extLst>
          </p:cNvPr>
          <p:cNvSpPr txBox="1"/>
          <p:nvPr/>
        </p:nvSpPr>
        <p:spPr>
          <a:xfrm>
            <a:off x="6471920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D89F1-6C1A-89A1-D278-3ED7B3DC6F78}"/>
              </a:ext>
            </a:extLst>
          </p:cNvPr>
          <p:cNvSpPr txBox="1"/>
          <p:nvPr/>
        </p:nvSpPr>
        <p:spPr>
          <a:xfrm>
            <a:off x="6488307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69A23C-7F76-1F41-CA21-B7D68F26EB63}"/>
              </a:ext>
            </a:extLst>
          </p:cNvPr>
          <p:cNvSpPr txBox="1"/>
          <p:nvPr/>
        </p:nvSpPr>
        <p:spPr>
          <a:xfrm>
            <a:off x="805943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D6A828-D26B-0747-C0D1-567403F5D52D}"/>
              </a:ext>
            </a:extLst>
          </p:cNvPr>
          <p:cNvSpPr txBox="1"/>
          <p:nvPr/>
        </p:nvSpPr>
        <p:spPr>
          <a:xfrm>
            <a:off x="8224019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DE359-6246-D235-C0DA-8985527C5D53}"/>
              </a:ext>
            </a:extLst>
          </p:cNvPr>
          <p:cNvSpPr txBox="1"/>
          <p:nvPr/>
        </p:nvSpPr>
        <p:spPr>
          <a:xfrm>
            <a:off x="3405371" y="2740345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(*256,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27674-9EE4-7249-C9B9-3095F710BF1C}"/>
              </a:ext>
            </a:extLst>
          </p:cNvPr>
          <p:cNvSpPr txBox="1"/>
          <p:nvPr/>
        </p:nvSpPr>
        <p:spPr>
          <a:xfrm>
            <a:off x="1200466" y="2567205"/>
            <a:ext cx="1809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*256=64 +128+32+32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B30BF38F-53C9-1EA8-263B-8869F666E963}"/>
              </a:ext>
            </a:extLst>
          </p:cNvPr>
          <p:cNvSpPr/>
          <p:nvPr/>
        </p:nvSpPr>
        <p:spPr>
          <a:xfrm>
            <a:off x="2109385" y="4166742"/>
            <a:ext cx="377190" cy="374412"/>
          </a:xfrm>
          <a:prstGeom prst="cube">
            <a:avLst>
              <a:gd name="adj" fmla="val 62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정육면체 19">
            <a:extLst>
              <a:ext uri="{FF2B5EF4-FFF2-40B4-BE49-F238E27FC236}">
                <a16:creationId xmlns:a16="http://schemas.microsoft.com/office/drawing/2014/main" id="{A0EB91F0-80E0-648D-BD46-E7A051E3C8C1}"/>
              </a:ext>
            </a:extLst>
          </p:cNvPr>
          <p:cNvSpPr/>
          <p:nvPr/>
        </p:nvSpPr>
        <p:spPr>
          <a:xfrm>
            <a:off x="3891417" y="3314412"/>
            <a:ext cx="774954" cy="770995"/>
          </a:xfrm>
          <a:prstGeom prst="cube">
            <a:avLst>
              <a:gd name="adj" fmla="val 7901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정육면체 21">
            <a:extLst>
              <a:ext uri="{FF2B5EF4-FFF2-40B4-BE49-F238E27FC236}">
                <a16:creationId xmlns:a16="http://schemas.microsoft.com/office/drawing/2014/main" id="{70C1B03A-AC3F-FF65-2700-D7A59C67F698}"/>
              </a:ext>
            </a:extLst>
          </p:cNvPr>
          <p:cNvSpPr/>
          <p:nvPr/>
        </p:nvSpPr>
        <p:spPr>
          <a:xfrm>
            <a:off x="6776720" y="3332664"/>
            <a:ext cx="302877" cy="299652"/>
          </a:xfrm>
          <a:prstGeom prst="cube">
            <a:avLst>
              <a:gd name="adj" fmla="val 527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5FC713F6-65BC-9012-F20D-1A445AC9A154}"/>
              </a:ext>
            </a:extLst>
          </p:cNvPr>
          <p:cNvSpPr/>
          <p:nvPr/>
        </p:nvSpPr>
        <p:spPr>
          <a:xfrm>
            <a:off x="7973439" y="3259038"/>
            <a:ext cx="302877" cy="299652"/>
          </a:xfrm>
          <a:prstGeom prst="cube">
            <a:avLst>
              <a:gd name="adj" fmla="val 52743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324507-B1FB-6E62-3790-D916580F0E20}"/>
              </a:ext>
            </a:extLst>
          </p:cNvPr>
          <p:cNvGrpSpPr/>
          <p:nvPr/>
        </p:nvGrpSpPr>
        <p:grpSpPr>
          <a:xfrm>
            <a:off x="2338706" y="2270458"/>
            <a:ext cx="1299874" cy="1284719"/>
            <a:chOff x="9553788" y="3092479"/>
            <a:chExt cx="1299874" cy="1284719"/>
          </a:xfrm>
        </p:grpSpPr>
        <p:sp>
          <p:nvSpPr>
            <p:cNvPr id="27" name="정육면체 26">
              <a:extLst>
                <a:ext uri="{FF2B5EF4-FFF2-40B4-BE49-F238E27FC236}">
                  <a16:creationId xmlns:a16="http://schemas.microsoft.com/office/drawing/2014/main" id="{687288CE-A9CC-075C-9002-49E642BFFE43}"/>
                </a:ext>
              </a:extLst>
            </p:cNvPr>
            <p:cNvSpPr/>
            <p:nvPr/>
          </p:nvSpPr>
          <p:spPr>
            <a:xfrm>
              <a:off x="10550785" y="3092479"/>
              <a:ext cx="302877" cy="299652"/>
            </a:xfrm>
            <a:prstGeom prst="cube">
              <a:avLst>
                <a:gd name="adj" fmla="val 52743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정육면체 25">
              <a:extLst>
                <a:ext uri="{FF2B5EF4-FFF2-40B4-BE49-F238E27FC236}">
                  <a16:creationId xmlns:a16="http://schemas.microsoft.com/office/drawing/2014/main" id="{0F6B8817-1818-05C9-1690-1372B8642B29}"/>
                </a:ext>
              </a:extLst>
            </p:cNvPr>
            <p:cNvSpPr/>
            <p:nvPr/>
          </p:nvSpPr>
          <p:spPr>
            <a:xfrm>
              <a:off x="10392239" y="3248906"/>
              <a:ext cx="302877" cy="299652"/>
            </a:xfrm>
            <a:prstGeom prst="cube">
              <a:avLst>
                <a:gd name="adj" fmla="val 5274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29F051F7-8D03-AE8A-E7E0-9AFB02BC1CC3}"/>
                </a:ext>
              </a:extLst>
            </p:cNvPr>
            <p:cNvSpPr/>
            <p:nvPr/>
          </p:nvSpPr>
          <p:spPr>
            <a:xfrm>
              <a:off x="9793744" y="3392636"/>
              <a:ext cx="735507" cy="770995"/>
            </a:xfrm>
            <a:prstGeom prst="cube">
              <a:avLst>
                <a:gd name="adj" fmla="val 831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11CE79C-BDB9-AA9A-E785-D1BD250A3BE4}"/>
                </a:ext>
              </a:extLst>
            </p:cNvPr>
            <p:cNvSpPr/>
            <p:nvPr/>
          </p:nvSpPr>
          <p:spPr>
            <a:xfrm>
              <a:off x="9553788" y="4002786"/>
              <a:ext cx="377190" cy="374412"/>
            </a:xfrm>
            <a:prstGeom prst="cube">
              <a:avLst>
                <a:gd name="adj" fmla="val 6210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29FBC19-239F-84E0-0233-A2A3B9BFC5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23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9" grpId="0" animBg="1"/>
      <p:bldP spid="20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10884</TotalTime>
  <Words>3855</Words>
  <Application>Microsoft Office PowerPoint</Application>
  <PresentationFormat>와이드스크린</PresentationFormat>
  <Paragraphs>414</Paragraphs>
  <Slides>43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43</vt:i4>
      </vt:variant>
    </vt:vector>
  </HeadingPairs>
  <TitlesOfParts>
    <vt:vector size="52" baseType="lpstr">
      <vt:lpstr>D2Coding</vt:lpstr>
      <vt:lpstr>맑은 고딕</vt:lpstr>
      <vt:lpstr>Batang</vt:lpstr>
      <vt:lpstr>Arial</vt:lpstr>
      <vt:lpstr>Cambria Math</vt:lpstr>
      <vt:lpstr>Cascadia Code</vt:lpstr>
      <vt:lpstr>Segoe UI Emoji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Pretrained Model</vt:lpstr>
      <vt:lpstr>PowerPoint 프레젠테이션</vt:lpstr>
      <vt:lpstr>PowerPoint 프레젠테이션</vt:lpstr>
      <vt:lpstr>Appendix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191</cp:revision>
  <dcterms:created xsi:type="dcterms:W3CDTF">2026-04-06T01:00:39Z</dcterms:created>
  <dcterms:modified xsi:type="dcterms:W3CDTF">2026-09-18T13:22:27Z</dcterms:modified>
  <cp:version/>
</cp:coreProperties>
</file>