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1135" r:id="rId3"/>
    <p:sldId id="1134" r:id="rId4"/>
    <p:sldId id="1136" r:id="rId5"/>
    <p:sldId id="1137" r:id="rId6"/>
    <p:sldId id="1138" r:id="rId7"/>
    <p:sldId id="1139" r:id="rId8"/>
    <p:sldId id="1140" r:id="rId9"/>
    <p:sldId id="1141" r:id="rId10"/>
    <p:sldId id="1143" r:id="rId11"/>
    <p:sldId id="1144" r:id="rId12"/>
    <p:sldId id="1145" r:id="rId13"/>
    <p:sldId id="1147" r:id="rId14"/>
    <p:sldId id="1148" r:id="rId15"/>
    <p:sldId id="1146" r:id="rId1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4"/>
            <p14:sldId id="1136"/>
            <p14:sldId id="1137"/>
            <p14:sldId id="1138"/>
            <p14:sldId id="1139"/>
            <p14:sldId id="1140"/>
            <p14:sldId id="1141"/>
            <p14:sldId id="1143"/>
            <p14:sldId id="1144"/>
            <p14:sldId id="1145"/>
            <p14:sldId id="1147"/>
            <p14:sldId id="1148"/>
            <p14:sldId id="11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microsoft.com/office/2007/relationships/hdphoto" Target="../media/hdphoto2.wdp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microsoft.com/office/2007/relationships/hdphoto" Target="../media/hdphoto3.wdp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ord2vec.kr/search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Chapter 14 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1" y="1248422"/>
            <a:ext cx="9855200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An introduction to the field of natural language processing (NLP)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Preprocessing text input into numeric input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Building simple text classification models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B4D45B-52A1-9BAE-B34E-30DEDF5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도입과한계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DCD1-4E9F-48E4-F625-46E196CB8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7F65-9198-C6CA-F1F6-EBC8C3536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44A560-52A3-F725-01B6-7FF587CDE3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D3772-68E9-327A-E82C-08DFBAFD6A02}"/>
              </a:ext>
            </a:extLst>
          </p:cNvPr>
          <p:cNvSpPr txBox="1"/>
          <p:nvPr/>
        </p:nvSpPr>
        <p:spPr>
          <a:xfrm>
            <a:off x="543560" y="1415957"/>
            <a:ext cx="1110488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수자로 변환하는 방법이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문자 단위(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맞춤법 교정 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로우레벨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문자 구조를 정밀하게 봐야 하는 문제에 유용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단위(Word)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구조가 단순하고 사람이 읽는 단어와 모델 입력이 1:1로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매핑되므로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결과를 해석하고 예측 중요도를 분석하기에 직관적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드문 단어와 오타 처리에 강해 현대 언어 모델의 표준(가장 권장) 기법</a:t>
            </a:r>
          </a:p>
        </p:txBody>
      </p:sp>
    </p:spTree>
    <p:extLst>
      <p:ext uri="{BB962C8B-B14F-4D97-AF65-F5344CB8AC3E}">
        <p14:creationId xmlns:p14="http://schemas.microsoft.com/office/powerpoint/2010/main" val="2686271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3E95-24D0-EA49-6DA0-5EEA8B3A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DEAA87-13F7-8E0B-B41C-32931B3A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0224450-76A8-D298-8C89-4A69AE294B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vs. sequences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BAF7CE-8AE8-836D-6093-24029ED03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23" y="3827089"/>
            <a:ext cx="3425278" cy="1969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17BABEA1-2DA8-6DEB-983B-BEECB8EAC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950" y="3827089"/>
            <a:ext cx="2387906" cy="204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18B396F-0867-DB26-6452-4D0A271A4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462" y="3827089"/>
            <a:ext cx="2762945" cy="24316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267B12-EFB9-892C-958B-F6B08EC62837}"/>
              </a:ext>
            </a:extLst>
          </p:cNvPr>
          <p:cNvSpPr txBox="1"/>
          <p:nvPr/>
        </p:nvSpPr>
        <p:spPr>
          <a:xfrm>
            <a:off x="385787" y="3251065"/>
            <a:ext cx="2846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Bag of Words :  Sets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C40C-A736-93BC-E31E-C2C52BE09430}"/>
              </a:ext>
            </a:extLst>
          </p:cNvPr>
          <p:cNvSpPr txBox="1"/>
          <p:nvPr/>
        </p:nvSpPr>
        <p:spPr>
          <a:xfrm>
            <a:off x="4548950" y="3251065"/>
            <a:ext cx="3177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RNN : Sequences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ABCB1-B1EB-0FBE-A371-A5DF4CD79EC5}"/>
              </a:ext>
            </a:extLst>
          </p:cNvPr>
          <p:cNvSpPr txBox="1"/>
          <p:nvPr/>
        </p:nvSpPr>
        <p:spPr>
          <a:xfrm>
            <a:off x="7961860" y="3251065"/>
            <a:ext cx="4230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Transformer : Sets + Sequences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0AFBB8-4855-954C-3456-EC0C3259EA69}"/>
              </a:ext>
            </a:extLst>
          </p:cNvPr>
          <p:cNvSpPr txBox="1"/>
          <p:nvPr/>
        </p:nvSpPr>
        <p:spPr>
          <a:xfrm>
            <a:off x="543560" y="1248422"/>
            <a:ext cx="1110488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(Transformer)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알지 못하지만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(order-agnostic like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BOW)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(word-position information)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주입하는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덕분에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달리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 여러 부분을 동시에 바라보면서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동시에 순서를 고려하기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트랜스포머는 둘 다 시퀀스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(sequence models)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8261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001B1-C06C-27ED-D1D1-F17885B2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A2129-3848-E02B-6A7B-60C78BC71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ED311B-580A-FE82-8E3E-CBD4BB711B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N-gram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41C84-D271-4CDF-3EFC-85EED087A42A}"/>
              </a:ext>
            </a:extLst>
          </p:cNvPr>
          <p:cNvSpPr txBox="1"/>
          <p:nvPr/>
        </p:nvSpPr>
        <p:spPr>
          <a:xfrm>
            <a:off x="607725" y="3233396"/>
            <a:ext cx="11104881" cy="1531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an, adorable, little, boy, is, spreading,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adorable, adorable little, little boy, boy is, is spreading,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 little, adorable little boy, little boy is, boy is spreading, is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-grams : an adorable little boy, adorable little boy is, little boy is spreading, boy is spreading smiles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09993-E87A-1487-F856-443503AEB322}"/>
              </a:ext>
            </a:extLst>
          </p:cNvPr>
          <p:cNvSpPr txBox="1"/>
          <p:nvPr/>
        </p:nvSpPr>
        <p:spPr>
          <a:xfrm>
            <a:off x="607725" y="1661750"/>
            <a:ext cx="609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Lucida Sans Unicode" panose="020B0602030504020204" pitchFamily="34" charset="0"/>
              </a:rPr>
              <a:t> An adorable little boy is spreading smiles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Lucida Sans Unicode" panose="020B0602030504020204" pitchFamily="34" charset="0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575F7A3-BB25-FB2F-9F7B-D825552DAC78}"/>
              </a:ext>
            </a:extLst>
          </p:cNvPr>
          <p:cNvCxnSpPr>
            <a:cxnSpLocks/>
          </p:cNvCxnSpPr>
          <p:nvPr/>
        </p:nvCxnSpPr>
        <p:spPr>
          <a:xfrm flipH="1">
            <a:off x="3651583" y="2112362"/>
            <a:ext cx="4142" cy="1088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1C3202-91CC-89D9-1984-FCA960D7F02C}"/>
              </a:ext>
            </a:extLst>
          </p:cNvPr>
          <p:cNvSpPr txBox="1"/>
          <p:nvPr/>
        </p:nvSpPr>
        <p:spPr>
          <a:xfrm>
            <a:off x="1207166" y="2408539"/>
            <a:ext cx="4888834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N-gram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(N-gram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64A8D1-08F3-7E56-3BD0-22DA4E134262}"/>
              </a:ext>
            </a:extLst>
          </p:cNvPr>
          <p:cNvSpPr txBox="1"/>
          <p:nvPr/>
        </p:nvSpPr>
        <p:spPr>
          <a:xfrm>
            <a:off x="607725" y="5388923"/>
            <a:ext cx="902395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1-gram &lt; 2-gram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최소한의 어순을 반영하여 성능이 높음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"This movie is bad"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별로다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"Is this movie bad?"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별론가요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의문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06B5A4-71B4-42E2-8E24-6E905F76BCB5}"/>
              </a:ext>
            </a:extLst>
          </p:cNvPr>
          <p:cNvSpPr txBox="1"/>
          <p:nvPr/>
        </p:nvSpPr>
        <p:spPr>
          <a:xfrm>
            <a:off x="6238750" y="2850919"/>
            <a:ext cx="5473856" cy="3824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countervector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TF-IDF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</a:t>
            </a:r>
          </a:p>
        </p:txBody>
      </p:sp>
    </p:spTree>
    <p:extLst>
      <p:ext uri="{BB962C8B-B14F-4D97-AF65-F5344CB8AC3E}">
        <p14:creationId xmlns:p14="http://schemas.microsoft.com/office/powerpoint/2010/main" val="2542619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9F4E-986F-EA2F-30EA-DF57B620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E393AB-AF36-52FA-064A-4BE2BA92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94C262E-6078-1237-CDCA-E490705821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RNN, 1D_ConvNet, Transformer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A1300-326E-CC49-6EFB-1C0358426165}"/>
              </a:ext>
            </a:extLst>
          </p:cNvPr>
          <p:cNvSpPr txBox="1"/>
          <p:nvPr/>
        </p:nvSpPr>
        <p:spPr>
          <a:xfrm>
            <a:off x="475645" y="1335083"/>
            <a:ext cx="11076275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접근 방식은 </a:t>
            </a:r>
            <a:r>
              <a:rPr lang="ko-KR" altLang="en-US" dirty="0"/>
              <a:t>모델에 가공되지 않은 원본 단어 시퀀스</a:t>
            </a:r>
            <a:r>
              <a:rPr lang="en-US" altLang="ko-KR" dirty="0"/>
              <a:t>(Raw word sequence)</a:t>
            </a:r>
            <a:r>
              <a:rPr lang="ko-KR" altLang="en-US" dirty="0"/>
              <a:t>를 그대로 밀어 넣고</a:t>
            </a:r>
            <a:r>
              <a:rPr lang="en-US" altLang="ko-KR" dirty="0"/>
              <a:t>, </a:t>
            </a:r>
            <a:r>
              <a:rPr lang="ko-KR" altLang="en-US" dirty="0"/>
              <a:t>모델 스스로 단어 간의 위치적 의존성</a:t>
            </a:r>
            <a:r>
              <a:rPr lang="en-US" altLang="ko-KR" dirty="0"/>
              <a:t>(Positional dependencies)</a:t>
            </a:r>
            <a:r>
              <a:rPr lang="ko-KR" altLang="en-US" dirty="0"/>
              <a:t>을 직접 학습하게 만드는 것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3EC77-243F-E59F-1910-E27227F5C5DB}"/>
              </a:ext>
            </a:extLst>
          </p:cNvPr>
          <p:cNvSpPr txBox="1"/>
          <p:nvPr/>
        </p:nvSpPr>
        <p:spPr>
          <a:xfrm>
            <a:off x="1116661" y="2746425"/>
            <a:ext cx="10435258" cy="25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RNN (순환 신경망): 시계열 모델링처럼 단어를 순차적으로 처리하는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(1차원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신경망): 이미지 처리용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단어 시퀀스 차원 위로 필터를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슬라이딩하며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지역 특징을 추출하는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(트랜스포머): 현대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NLP의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핵심 아키텍처</a:t>
            </a:r>
          </a:p>
        </p:txBody>
      </p:sp>
    </p:spTree>
    <p:extLst>
      <p:ext uri="{BB962C8B-B14F-4D97-AF65-F5344CB8AC3E}">
        <p14:creationId xmlns:p14="http://schemas.microsoft.com/office/powerpoint/2010/main" val="2643485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25FC0-B32C-098C-36FC-171F0ECF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7621C9-FB49-4DB8-F2C5-34193DC3B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6C1BBDD-3A0A-F7FB-3F49-96DFCF5A4C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A3541-629B-B559-21C9-1EED5B2CCD94}"/>
              </a:ext>
            </a:extLst>
          </p:cNvPr>
          <p:cNvSpPr txBox="1"/>
          <p:nvPr/>
        </p:nvSpPr>
        <p:spPr>
          <a:xfrm>
            <a:off x="1432560" y="2271053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quick brown fox jumped over the lazy dog"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slow brown badger"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7E4AD-BDB5-26C0-1B2A-39B5A96420B1}"/>
              </a:ext>
            </a:extLst>
          </p:cNvPr>
          <p:cNvSpPr txBox="1"/>
          <p:nvPr/>
        </p:nvSpPr>
        <p:spPr>
          <a:xfrm>
            <a:off x="1432560" y="4217015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"quick", "brown", "fox", "jumped", "over", "the", "lazy"]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"slow", "brown", "badger", "[PAD]", "[PAD]", "[PAD]", "[PAD]"]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B1D3390-79CC-CF07-EF61-925C263D2236}"/>
              </a:ext>
            </a:extLst>
          </p:cNvPr>
          <p:cNvCxnSpPr/>
          <p:nvPr/>
        </p:nvCxnSpPr>
        <p:spPr>
          <a:xfrm>
            <a:off x="5659120" y="3265503"/>
            <a:ext cx="0" cy="849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E533E1-337E-D710-4C45-8AAB538E6D94}"/>
              </a:ext>
            </a:extLst>
          </p:cNvPr>
          <p:cNvSpPr txBox="1"/>
          <p:nvPr/>
        </p:nvSpPr>
        <p:spPr>
          <a:xfrm>
            <a:off x="5063823" y="3429000"/>
            <a:ext cx="1367457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8A4F-48CA-E4EE-9BE2-D762A7E9F19C}"/>
              </a:ext>
            </a:extLst>
          </p:cNvPr>
          <p:cNvSpPr txBox="1"/>
          <p:nvPr/>
        </p:nvSpPr>
        <p:spPr>
          <a:xfrm>
            <a:off x="609600" y="16353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실제 예시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C8B8B2C4-760C-3A23-C4E9-98F9C02012C0}"/>
              </a:ext>
            </a:extLst>
          </p:cNvPr>
          <p:cNvSpPr/>
          <p:nvPr/>
        </p:nvSpPr>
        <p:spPr>
          <a:xfrm>
            <a:off x="2926080" y="5502861"/>
            <a:ext cx="3342640" cy="1066800"/>
          </a:xfrm>
          <a:prstGeom prst="stripedRightArrow">
            <a:avLst>
              <a:gd name="adj1" fmla="val 6714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단어별 원</a:t>
            </a:r>
            <a:r>
              <a:rPr lang="en-US" altLang="ko-KR" dirty="0"/>
              <a:t>-</a:t>
            </a:r>
            <a:r>
              <a:rPr lang="ko-KR" altLang="en-US" dirty="0"/>
              <a:t>핫 인코딩 </a:t>
            </a:r>
            <a:r>
              <a:rPr lang="en-US" altLang="ko-KR" dirty="0"/>
              <a:t>(One-hot Encoding)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935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CBDCF-98DC-92D6-2BC6-D9A7D01C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A6279DAE-28F6-0A77-2D4B-729266794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07906" y="3154611"/>
            <a:ext cx="7199088" cy="324677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45F8814-86D7-4B59-ED99-E60FD3B28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7CA13C-8F67-CB20-25EE-19B2F4AB101A}"/>
              </a:ext>
            </a:extLst>
          </p:cNvPr>
          <p:cNvSpPr txBox="1"/>
          <p:nvPr/>
        </p:nvSpPr>
        <p:spPr>
          <a:xfrm>
            <a:off x="7161595" y="2508280"/>
            <a:ext cx="540959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(x).shape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(32, 600, 30000)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9B408E6-EDFF-6779-00E1-C33FE11E3D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4324" y="1890460"/>
            <a:ext cx="4666082" cy="14197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901D919-B5A6-D81F-6B98-F760237D67B4}"/>
              </a:ext>
            </a:extLst>
          </p:cNvPr>
          <p:cNvSpPr txBox="1"/>
          <p:nvPr/>
        </p:nvSpPr>
        <p:spPr>
          <a:xfrm>
            <a:off x="364324" y="1480273"/>
            <a:ext cx="5398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B259CF-5B1B-9C61-A976-474E5DD51EEB}"/>
              </a:ext>
            </a:extLst>
          </p:cNvPr>
          <p:cNvSpPr txBox="1"/>
          <p:nvPr/>
        </p:nvSpPr>
        <p:spPr>
          <a:xfrm>
            <a:off x="611333" y="3428999"/>
            <a:ext cx="234361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영화 리뷰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리뷰당 들어있는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CA3B5F00-6EC8-571A-8813-43CF6F051476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 rot="955337">
            <a:off x="4430505" y="2408399"/>
            <a:ext cx="3425659" cy="391777"/>
          </a:xfrm>
          <a:prstGeom prst="rect">
            <a:avLst/>
          </a:prstGeom>
        </p:spPr>
      </p:pic>
      <p:pic>
        <p:nvPicPr>
          <p:cNvPr id="5" name="그래픽 4" descr="조금 굽은 화살표">
            <a:extLst>
              <a:ext uri="{FF2B5EF4-FFF2-40B4-BE49-F238E27FC236}">
                <a16:creationId xmlns:a16="http://schemas.microsoft.com/office/drawing/2014/main" id="{74938B72-534C-C6A6-72CF-48F8B3F97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922006">
            <a:off x="4665318" y="257021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26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832E-53BE-F5F7-DC2D-5230B2A5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58D544B-560C-D005-B3BA-5FC248B05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625" y="1497451"/>
            <a:ext cx="6385855" cy="490393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A9EFC3-65B9-AF28-F886-608AFD4D1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62E7F19-284A-3A0A-7FAC-FFF6A2FFF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sklearn.feature_extraction.text.CountVectorizer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3A6AAD7B-1959-8439-69E1-C9545449A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93" y="1956497"/>
            <a:ext cx="4344508" cy="16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45C829-0FBF-E869-481E-D4B66ECAA323}"/>
              </a:ext>
            </a:extLst>
          </p:cNvPr>
          <p:cNvSpPr txBox="1"/>
          <p:nvPr/>
        </p:nvSpPr>
        <p:spPr>
          <a:xfrm>
            <a:off x="2146779" y="3376563"/>
            <a:ext cx="124666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개수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6469B0-0EC6-D620-66F1-06DC661E76BC}"/>
              </a:ext>
            </a:extLst>
          </p:cNvPr>
          <p:cNvSpPr txBox="1"/>
          <p:nvPr/>
        </p:nvSpPr>
        <p:spPr>
          <a:xfrm>
            <a:off x="297659" y="2432934"/>
            <a:ext cx="117554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/>
              <a:t>기사 건수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66524-8D55-8096-3EF1-520DE30E4621}"/>
              </a:ext>
            </a:extLst>
          </p:cNvPr>
          <p:cNvSpPr txBox="1"/>
          <p:nvPr/>
        </p:nvSpPr>
        <p:spPr>
          <a:xfrm>
            <a:off x="1132678" y="3746218"/>
            <a:ext cx="40252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rank-3 text data tensor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B5B094-B072-114D-860C-8082DC17FCDE}"/>
              </a:ext>
            </a:extLst>
          </p:cNvPr>
          <p:cNvSpPr txBox="1"/>
          <p:nvPr/>
        </p:nvSpPr>
        <p:spPr>
          <a:xfrm>
            <a:off x="4219420" y="2848243"/>
            <a:ext cx="76778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46912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41D7E-CC82-A711-AA00-68B8F919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3C601-F884-FA0B-3851-C1314534F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C12E4E-1196-B64A-78CD-5A9663CCBE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B4D7427-E14F-8189-88B6-01B391C71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663" y="1534160"/>
            <a:ext cx="4436510" cy="493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573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890B5-04FF-286C-8FB9-B7246B7A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67EF5C-93FE-8013-8020-224D3CEC0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039274-757B-323D-5A99-F47967AFFA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1EC78B33-0570-791A-C3C2-F37E7B614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40" y="3549720"/>
            <a:ext cx="10196284" cy="1916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56FF4A-0A59-8AD1-49D2-5C71C23AD6A0}"/>
              </a:ext>
            </a:extLst>
          </p:cNvPr>
          <p:cNvSpPr txBox="1"/>
          <p:nvPr/>
        </p:nvSpPr>
        <p:spPr>
          <a:xfrm>
            <a:off x="536605" y="1248422"/>
            <a:ext cx="10891520" cy="2059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단어가 가진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잠재적 특징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(Latent Features)'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인간'에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가까운가?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Apple은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여성성'을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띠는가?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Queen은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3번 차원: 단어가 '시간(과거/현재)'과 관련이 있는가?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4번 차원: 단어가 '부정적인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뉘앙스'를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풍기는가?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awful은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값)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5A85CD-FC7F-40D9-003F-F3D5BBFEE610}"/>
              </a:ext>
            </a:extLst>
          </p:cNvPr>
          <p:cNvCxnSpPr/>
          <p:nvPr/>
        </p:nvCxnSpPr>
        <p:spPr>
          <a:xfrm>
            <a:off x="863600" y="3952240"/>
            <a:ext cx="0" cy="138176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1877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27C3A-51DD-635B-EF83-A40215BA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2A854D-BD54-DC42-7E34-EB6160D66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BD2522-979D-112D-215E-E0216EB798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6E378C00-FD83-8248-F532-ECF047D1D3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43" y="3207328"/>
            <a:ext cx="5307538" cy="305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48D389-B97F-24D4-4FE4-21BB63ECEB23}"/>
              </a:ext>
            </a:extLst>
          </p:cNvPr>
          <p:cNvSpPr txBox="1"/>
          <p:nvPr/>
        </p:nvSpPr>
        <p:spPr>
          <a:xfrm>
            <a:off x="629743" y="1326722"/>
            <a:ext cx="11330275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차원이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것은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가방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(Bag)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속에 갇혀 있던 단어들에게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가지의 서로 다른 성질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특징 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간의 유사도와 문맥적 뉘앙스를 컴퓨터가 다차원 좌표계 위에서 정교하게 계산할 수 있도록 만든 방의 개수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BE333-2335-6573-5323-36199925A0A7}"/>
              </a:ext>
            </a:extLst>
          </p:cNvPr>
          <p:cNvSpPr txBox="1"/>
          <p:nvPr/>
        </p:nvSpPr>
        <p:spPr>
          <a:xfrm>
            <a:off x="7426960" y="3540464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81393-915C-0C49-25CB-595BCB55F9BB}"/>
              </a:ext>
            </a:extLst>
          </p:cNvPr>
          <p:cNvSpPr txBox="1"/>
          <p:nvPr/>
        </p:nvSpPr>
        <p:spPr>
          <a:xfrm>
            <a:off x="7426960" y="4466245"/>
            <a:ext cx="2283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word2vec for Korean</a:t>
            </a:r>
            <a:endParaRPr lang="ko-KR" altLang="en-US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073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01420-D1DF-5D99-A5CE-1498AEE9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7A9A76-6340-5A84-007D-8053C38A7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85D2DD6-AC90-9566-7484-285C3FB14B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0D52F71-897C-94AF-FE9B-13C9DC60D341}"/>
              </a:ext>
            </a:extLst>
          </p:cNvPr>
          <p:cNvGrpSpPr/>
          <p:nvPr/>
        </p:nvGrpSpPr>
        <p:grpSpPr>
          <a:xfrm>
            <a:off x="1076960" y="1676083"/>
            <a:ext cx="8778240" cy="4542740"/>
            <a:chOff x="619760" y="1493521"/>
            <a:chExt cx="8646160" cy="4460653"/>
          </a:xfrm>
        </p:grpSpPr>
        <p:pic>
          <p:nvPicPr>
            <p:cNvPr id="13314" name="Picture 2">
              <a:extLst>
                <a:ext uri="{FF2B5EF4-FFF2-40B4-BE49-F238E27FC236}">
                  <a16:creationId xmlns:a16="http://schemas.microsoft.com/office/drawing/2014/main" id="{2F23464C-7E80-E031-3E85-0C77CF512A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1493521"/>
              <a:ext cx="8646160" cy="1620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316" name="Picture 4">
              <a:extLst>
                <a:ext uri="{FF2B5EF4-FFF2-40B4-BE49-F238E27FC236}">
                  <a16:creationId xmlns:a16="http://schemas.microsoft.com/office/drawing/2014/main" id="{A16B4EF2-775E-5ADE-D736-E377D82479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3429000"/>
              <a:ext cx="8646160" cy="2525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54DC80D-04A7-7C85-6BBF-B5BB2AD60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592" y="5262881"/>
              <a:ext cx="1157008" cy="34611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2D9C732-3E00-B9B1-8303-44D22440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8308" y="5310694"/>
              <a:ext cx="1157008" cy="250487"/>
            </a:xfrm>
            <a:prstGeom prst="rect">
              <a:avLst/>
            </a:prstGeom>
          </p:spPr>
        </p:pic>
      </p:grp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715E916F-2CF2-38F2-19F5-DCD8E0186286}"/>
              </a:ext>
            </a:extLst>
          </p:cNvPr>
          <p:cNvSpPr/>
          <p:nvPr/>
        </p:nvSpPr>
        <p:spPr>
          <a:xfrm>
            <a:off x="10058400" y="4246880"/>
            <a:ext cx="1351280" cy="1046480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ＣＰＵ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ＧＰＵ</a:t>
            </a:r>
          </a:p>
        </p:txBody>
      </p:sp>
    </p:spTree>
    <p:extLst>
      <p:ext uri="{BB962C8B-B14F-4D97-AF65-F5344CB8AC3E}">
        <p14:creationId xmlns:p14="http://schemas.microsoft.com/office/powerpoint/2010/main" val="217725198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7583</TotalTime>
  <Words>928</Words>
  <Application>Microsoft Office PowerPoint</Application>
  <PresentationFormat>와이드스크린</PresentationFormat>
  <Paragraphs>105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1" baseType="lpstr">
      <vt:lpstr>D2Coding</vt:lpstr>
      <vt:lpstr>맑은 고딕</vt:lpstr>
      <vt:lpstr>Batang</vt:lpstr>
      <vt:lpstr>Arial</vt:lpstr>
      <vt:lpstr>Wingdings</vt:lpstr>
      <vt:lpstr>WelcomeDoc</vt:lpstr>
      <vt:lpstr>Chapter 14 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118</cp:revision>
  <dcterms:created xsi:type="dcterms:W3CDTF">2026-04-06T01:00:39Z</dcterms:created>
  <dcterms:modified xsi:type="dcterms:W3CDTF">2026-08-15T08:31:01Z</dcterms:modified>
  <cp:version/>
</cp:coreProperties>
</file>