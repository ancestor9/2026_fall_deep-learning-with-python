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6" r:id="rId2"/>
    <p:sldId id="1135" r:id="rId3"/>
    <p:sldId id="1183" r:id="rId4"/>
    <p:sldId id="1134" r:id="rId5"/>
    <p:sldId id="1136" r:id="rId6"/>
    <p:sldId id="1184" r:id="rId7"/>
    <p:sldId id="1137" r:id="rId8"/>
    <p:sldId id="1149" r:id="rId9"/>
    <p:sldId id="1185" r:id="rId10"/>
    <p:sldId id="1138" r:id="rId11"/>
    <p:sldId id="1139" r:id="rId12"/>
    <p:sldId id="1140" r:id="rId13"/>
    <p:sldId id="1141" r:id="rId14"/>
    <p:sldId id="1143" r:id="rId15"/>
    <p:sldId id="1186" r:id="rId16"/>
    <p:sldId id="1144" r:id="rId17"/>
    <p:sldId id="1145" r:id="rId18"/>
    <p:sldId id="1152" r:id="rId19"/>
    <p:sldId id="1147" r:id="rId20"/>
    <p:sldId id="1151" r:id="rId21"/>
    <p:sldId id="1178" r:id="rId22"/>
    <p:sldId id="1146" r:id="rId23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83"/>
            <p14:sldId id="1134"/>
            <p14:sldId id="1136"/>
            <p14:sldId id="1184"/>
            <p14:sldId id="1137"/>
            <p14:sldId id="1149"/>
            <p14:sldId id="1185"/>
            <p14:sldId id="1138"/>
            <p14:sldId id="1139"/>
            <p14:sldId id="1140"/>
            <p14:sldId id="1141"/>
            <p14:sldId id="1143"/>
            <p14:sldId id="1186"/>
            <p14:sldId id="1144"/>
            <p14:sldId id="1145"/>
            <p14:sldId id="1152"/>
            <p14:sldId id="1147"/>
            <p14:sldId id="1151"/>
            <p14:sldId id="1178"/>
            <p14:sldId id="114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Deep-Learning-with-Python/blob/main/scripts/02_Introduction_to_LLM.ipynb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latform.openai.com/tokenizer" TargetMode="External"/><Relationship Id="rId4" Type="http://schemas.openxmlformats.org/officeDocument/2006/relationships/hyperlink" Target="https://github.com/ancestor9/2026_Fall_Deep-Learning-with-Python/blob/main/scripts/03_Tokens_and_Token_Embeddings.ipynb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microsoft.com/office/2007/relationships/hdphoto" Target="../media/hdphoto2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microsoft.com/office/2007/relationships/hdphoto" Target="../media/hdphoto3.wdp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text.CountVectorizer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hyperlink" Target="https://www.101ai.net/text/word-embed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projector.tensorflow.org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Chapter 14 Text classification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99687-4C48-8DA7-5F76-6B7712A5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526588" y="1905647"/>
            <a:ext cx="11138824" cy="185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An introduction to the field of natural language processing (NLP)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Preprocessing text input into numeric input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Building simple text classification models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F0255-ED48-9BD7-7933-AD793E530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0271BA5-6E05-9D73-0C3E-301728C396C8}"/>
              </a:ext>
            </a:extLst>
          </p:cNvPr>
          <p:cNvSpPr/>
          <p:nvPr/>
        </p:nvSpPr>
        <p:spPr>
          <a:xfrm>
            <a:off x="619125" y="1371599"/>
            <a:ext cx="10277475" cy="39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07097CF-C0DE-0906-486F-8623F8446F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71033C-427E-7405-14CF-2790F673F616}"/>
              </a:ext>
            </a:extLst>
          </p:cNvPr>
          <p:cNvSpPr txBox="1"/>
          <p:nvPr/>
        </p:nvSpPr>
        <p:spPr>
          <a:xfrm>
            <a:off x="861450" y="1400822"/>
            <a:ext cx="10778099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(자연어 처리의 개요/역사)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Preparing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(문자 및 단어 단위 토큰화)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서브워드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 토큰화)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표현 관점의 비교)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영화 리뷰 분류 데이터셋 로딩)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고려하지 않는 집합 기반 모델)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고려하는 시퀀스 기반 모델)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recurrent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(RNN 계열 순환 모델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Understanding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사전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(사전 학습된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기반 분류)</a:t>
            </a:r>
          </a:p>
        </p:txBody>
      </p:sp>
    </p:spTree>
    <p:extLst>
      <p:ext uri="{BB962C8B-B14F-4D97-AF65-F5344CB8AC3E}">
        <p14:creationId xmlns:p14="http://schemas.microsoft.com/office/powerpoint/2010/main" val="318271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1080-7482-4F78-0B32-9350845B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BF09144-883D-B590-22EC-22EF9122830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 brief history of NLP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D14866-6BB3-0E3B-7E2E-4EC742E3B86E}"/>
              </a:ext>
            </a:extLst>
          </p:cNvPr>
          <p:cNvSpPr txBox="1"/>
          <p:nvPr/>
        </p:nvSpPr>
        <p:spPr>
          <a:xfrm>
            <a:off x="568960" y="1478012"/>
            <a:ext cx="11186160" cy="273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1980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 후반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~ 1990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및 통계학의 도입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중심 선회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데이터에서 규칙을 자동 추출하자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접근법을 취하기 시작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통계 모델의 지배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의사결정나무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로지스틱 회귀 등 통계적 모델이 주류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2010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등장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도입과한계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이전 통계 모델보다 훨씬 뛰어난 문맥 이해도를 보여주었으나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문장이 조금만 길어져도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여러 단락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앞 내용을 잊어버리는 한계가 있었고 병렬 연산이 불가능해 학습 속도가 매우 느림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1F31756-78E0-AA2D-572F-B2871DBFED50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090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7E1F9-333C-ABDF-A6E4-EC294224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3FEC1E1-D4CF-BEB2-D53C-A629B27514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 brief history of NLP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FA4CF-0B1D-8AD2-79E4-E48E5C7BA7CF}"/>
              </a:ext>
            </a:extLst>
          </p:cNvPr>
          <p:cNvSpPr txBox="1"/>
          <p:nvPr/>
        </p:nvSpPr>
        <p:spPr>
          <a:xfrm>
            <a:off x="568960" y="1478012"/>
            <a:ext cx="11186160" cy="416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2010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년대 후반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현재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혁명과 대형 언어 모델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 아키텍처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(2017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긴 문맥을 왜곡 없이 기억하면서도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대규모 병렬 연산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(GPU/CPU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활용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가능하여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LSTM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확장성 한계를 완벽히 해결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거대 생성형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트랜스포머를 기반으로 인터넷 전체의 텍스트 데이터를 학습시키고 수천만 달러의 비용을 투입한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ChatGPT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등의 거대 언어 모델이 탄생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본질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모델들은 인간과 같은 실제 지능을 가졌기보다는 단순한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다음 단어 맞히기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(Next-word prediction)'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통계적 패턴 인식을 극대화한 결과물이며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단순한 메커니즘에서 유창하고 복잡한 언어 능력이 발현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D48C704-DBD9-6458-3BAC-861029B3837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5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432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F233A-22C6-8CB3-FA5A-6D7E1CBF6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C58D9D3-E53A-286C-EF8A-74D8F49958C9}"/>
              </a:ext>
            </a:extLst>
          </p:cNvPr>
          <p:cNvSpPr/>
          <p:nvPr/>
        </p:nvSpPr>
        <p:spPr>
          <a:xfrm>
            <a:off x="619125" y="1762124"/>
            <a:ext cx="10277475" cy="39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1DC4550-8A13-714C-FB04-E14F60B90C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070A6-8DB8-5B2D-584A-00CFE3B39A54}"/>
              </a:ext>
            </a:extLst>
          </p:cNvPr>
          <p:cNvSpPr txBox="1"/>
          <p:nvPr/>
        </p:nvSpPr>
        <p:spPr>
          <a:xfrm>
            <a:off x="861450" y="1400822"/>
            <a:ext cx="10778099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(자연어 처리의 개요/역사)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Preparing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(문자 및 단어 단위 토큰화)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서브워드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 토큰화)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표현 관점의 비교)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영화 리뷰 분류 데이터셋 로딩)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고려하지 않는 집합 기반 모델)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고려하는 시퀀스 기반 모델)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recurrent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(RNN 계열 순환 모델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Understanding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사전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(사전 학습된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기반 분류)</a:t>
            </a:r>
          </a:p>
        </p:txBody>
      </p:sp>
    </p:spTree>
    <p:extLst>
      <p:ext uri="{BB962C8B-B14F-4D97-AF65-F5344CB8AC3E}">
        <p14:creationId xmlns:p14="http://schemas.microsoft.com/office/powerpoint/2010/main" val="209440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CDCD1-4E9F-48E4-F625-46E196CB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44A560-52A3-F725-01B6-7FF587CDE3E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Preparing text data : Tokenization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D3772-68E9-327A-E82C-08DFBAFD6A02}"/>
              </a:ext>
            </a:extLst>
          </p:cNvPr>
          <p:cNvSpPr txBox="1"/>
          <p:nvPr/>
        </p:nvSpPr>
        <p:spPr>
          <a:xfrm>
            <a:off x="543560" y="1415957"/>
            <a:ext cx="11104880" cy="444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언어를 수자로 변환하는 방법이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</a:p>
          <a:p>
            <a:pPr>
              <a:lnSpc>
                <a:spcPct val="150000"/>
              </a:lnSpc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문자 단위(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맞춤법 교정 등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로우레벨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문자 구조를 정밀하게 봐야 하는 문제에 유용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단어 단위(Word)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구조가 단순하고 사람이 읽는 단어와 모델 입력이 1:1로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매핑되므로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결과를 해석하고 예측 중요도를 분석하기에 직관적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서브워드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Subword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드문 단어와 오타 처리에 강해 현대 언어 모델의 표준(가장 권장) 기법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4AC491A-F37A-F283-7723-E7176FD77B7B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27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FDAB3-DFA1-525F-9D3A-F25F358A5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A2396B7-71D6-6F39-B425-DBB0C4E46C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Preparing text data : Tokenization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9B9BB9-4D57-4478-6B58-3C98601C2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726" y="1718653"/>
            <a:ext cx="5305425" cy="4018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6EC6A-6BDD-3C10-4AF2-9B6F45530088}"/>
              </a:ext>
            </a:extLst>
          </p:cNvPr>
          <p:cNvSpPr txBox="1"/>
          <p:nvPr/>
        </p:nvSpPr>
        <p:spPr>
          <a:xfrm>
            <a:off x="2604526" y="142282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text preprocessing pipeline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8145291C-399E-FD1C-519C-59D36AD15A5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9C123-BA6B-4705-02E3-F826178F1124}"/>
              </a:ext>
            </a:extLst>
          </p:cNvPr>
          <p:cNvSpPr txBox="1"/>
          <p:nvPr/>
        </p:nvSpPr>
        <p:spPr>
          <a:xfrm>
            <a:off x="2596638" y="6010922"/>
            <a:ext cx="8196475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https://github.com/ancestor9/2026_Fall_Deep-Learning-with-Python/blob/main/scripts/02_Introduction_to_LLM.ipynb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https://github.com/ancestor9/2026_Fall_Deep-Learning-with-Python/blob/main/scripts/03_Tokens_and_Token_Embeddings.ipynb</a:t>
            </a:r>
            <a:endParaRPr lang="en-US" altLang="ko-KR" sz="105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https://platform.openai.com/tokenizer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endParaRPr lang="ko-KR" altLang="en-US" sz="105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0973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ADD6-67A1-B015-98A1-02EB01B9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09B7A39-4725-4154-1725-B3D3675388ED}"/>
              </a:ext>
            </a:extLst>
          </p:cNvPr>
          <p:cNvSpPr/>
          <p:nvPr/>
        </p:nvSpPr>
        <p:spPr>
          <a:xfrm>
            <a:off x="619125" y="3314699"/>
            <a:ext cx="10277475" cy="39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B23E233-A1F6-F7CB-BE50-DCF387A90E6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28DF01-CAC0-5F93-48E9-D059243810F7}"/>
              </a:ext>
            </a:extLst>
          </p:cNvPr>
          <p:cNvSpPr txBox="1"/>
          <p:nvPr/>
        </p:nvSpPr>
        <p:spPr>
          <a:xfrm>
            <a:off x="861450" y="1400822"/>
            <a:ext cx="10778099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(자연어 처리의 개요/역사)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Preparing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(문자 및 단어 단위 토큰화)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서브워드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 토큰화)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표현 관점의 비교)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영화 리뷰 분류 데이터셋 로딩)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고려하지 않는 집합 기반 모델)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고려하는 시퀀스 기반 모델)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recurrent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(RNN 계열 순환 모델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Understanding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사전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(사전 학습된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기반 분류)</a:t>
            </a:r>
          </a:p>
        </p:txBody>
      </p:sp>
    </p:spTree>
    <p:extLst>
      <p:ext uri="{BB962C8B-B14F-4D97-AF65-F5344CB8AC3E}">
        <p14:creationId xmlns:p14="http://schemas.microsoft.com/office/powerpoint/2010/main" val="1887465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3E95-24D0-EA49-6DA0-5EEA8B3A0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0224450-76A8-D298-8C89-4A69AE294B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Sets vs. sequences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BAF7CE-8AE8-836D-6093-24029ED03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23" y="3588964"/>
            <a:ext cx="3425278" cy="1969146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17BABEA1-2DA8-6DEB-983B-BEECB8EAC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949" y="3588963"/>
            <a:ext cx="2432875" cy="20799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18B396F-0867-DB26-6452-4D0A271A4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6462" y="3588964"/>
            <a:ext cx="3296863" cy="29015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267B12-EFB9-892C-958B-F6B08EC62837}"/>
              </a:ext>
            </a:extLst>
          </p:cNvPr>
          <p:cNvSpPr txBox="1"/>
          <p:nvPr/>
        </p:nvSpPr>
        <p:spPr>
          <a:xfrm>
            <a:off x="385787" y="3251065"/>
            <a:ext cx="22891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Bag of Words :  Sets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9C40C-A736-93BC-E31E-C2C52BE09430}"/>
              </a:ext>
            </a:extLst>
          </p:cNvPr>
          <p:cNvSpPr txBox="1"/>
          <p:nvPr/>
        </p:nvSpPr>
        <p:spPr>
          <a:xfrm>
            <a:off x="4548950" y="3251065"/>
            <a:ext cx="25552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RNN : Sequences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0ABCB1-B1EB-0FBE-A371-A5DF4CD79EC5}"/>
              </a:ext>
            </a:extLst>
          </p:cNvPr>
          <p:cNvSpPr txBox="1"/>
          <p:nvPr/>
        </p:nvSpPr>
        <p:spPr>
          <a:xfrm>
            <a:off x="7961860" y="3251065"/>
            <a:ext cx="34014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Transformer : Sets + Sequences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0AFBB8-4855-954C-3456-EC0C3259EA69}"/>
              </a:ext>
            </a:extLst>
          </p:cNvPr>
          <p:cNvSpPr txBox="1"/>
          <p:nvPr/>
        </p:nvSpPr>
        <p:spPr>
          <a:xfrm>
            <a:off x="543560" y="1229372"/>
            <a:ext cx="11104880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트랜스포머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(Transformer)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아키텍처는 단어의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순서를 알지 못하지만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(order-agnostic like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BOW)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단어의 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(word-position information)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주입하는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덕분에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달리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문장의 여러 부분을 동시에 바라보면서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동시에 순서를 고려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트랜스포머는 둘 다 시퀀스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(sequence models))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932CFE9-070C-3828-9E37-6519C158D66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261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01B1-C06C-27ED-D1D1-F17885B22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1ED311B-580A-FE82-8E3E-CBD4BB711B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Sets model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 practice : N-gram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Language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441C84-D271-4CDF-3EFC-85EED087A42A}"/>
              </a:ext>
            </a:extLst>
          </p:cNvPr>
          <p:cNvSpPr txBox="1"/>
          <p:nvPr/>
        </p:nvSpPr>
        <p:spPr>
          <a:xfrm>
            <a:off x="464850" y="3233396"/>
            <a:ext cx="11389633" cy="1531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uni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grams : an, adorable, little, boy, is, spreading, smiles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grams : an adorable, adorable little, little boy, boy is, is spreading, spreading smiles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tri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grams : an adorable little, adorable little boy, little boy is, boy is spreading, is spreading smiles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1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en-US" altLang="ko-KR" sz="1600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-grams : an adorable little boy, adorable little boy is, little boy is spreading, boy is spreading smiles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D09993-E87A-1487-F856-443503AEB322}"/>
              </a:ext>
            </a:extLst>
          </p:cNvPr>
          <p:cNvSpPr txBox="1"/>
          <p:nvPr/>
        </p:nvSpPr>
        <p:spPr>
          <a:xfrm>
            <a:off x="607725" y="1661750"/>
            <a:ext cx="6096000" cy="36933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Lucida Sans Unicode" panose="020B0602030504020204" pitchFamily="34" charset="0"/>
              </a:rPr>
              <a:t> An adorable little boy is spreading smiles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Lucida Sans Unicode" panose="020B0602030504020204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1575F7A3-BB25-FB2F-9F7B-D825552DAC78}"/>
              </a:ext>
            </a:extLst>
          </p:cNvPr>
          <p:cNvCxnSpPr>
            <a:cxnSpLocks/>
          </p:cNvCxnSpPr>
          <p:nvPr/>
        </p:nvCxnSpPr>
        <p:spPr>
          <a:xfrm flipH="1">
            <a:off x="3651583" y="2112362"/>
            <a:ext cx="4142" cy="108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1C3202-91CC-89D9-1984-FCA960D7F02C}"/>
              </a:ext>
            </a:extLst>
          </p:cNvPr>
          <p:cNvSpPr txBox="1"/>
          <p:nvPr/>
        </p:nvSpPr>
        <p:spPr>
          <a:xfrm>
            <a:off x="1207166" y="2408539"/>
            <a:ext cx="4888834" cy="42383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N-gram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언어 모델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(N-gram Language Model)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64A8D1-08F3-7E56-3BD0-22DA4E134262}"/>
              </a:ext>
            </a:extLst>
          </p:cNvPr>
          <p:cNvSpPr txBox="1"/>
          <p:nvPr/>
        </p:nvSpPr>
        <p:spPr>
          <a:xfrm>
            <a:off x="1045875" y="5207948"/>
            <a:ext cx="9023955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1-gram &lt; 2-gram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이 최소한의 어순을 반영하여 성능이 높음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"This movie is bad"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영화는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별로다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"Is this movie bad?"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영화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별론가요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-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 의문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06B5A4-71B4-42E2-8E24-6E905F76BCB5}"/>
              </a:ext>
            </a:extLst>
          </p:cNvPr>
          <p:cNvSpPr txBox="1"/>
          <p:nvPr/>
        </p:nvSpPr>
        <p:spPr>
          <a:xfrm>
            <a:off x="6391150" y="2850919"/>
            <a:ext cx="5473856" cy="38247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scikit-learn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countervector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TF-IDF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와 동일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39184BF-3E4B-C166-6355-E47DE205532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261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9F4E-986F-EA2F-30EA-DF57B620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94C262E-6078-1237-CDCA-E490705821F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Sequence model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 practice: </a:t>
            </a:r>
            <a:r>
              <a:rPr lang="en-US" altLang="ko-KR" sz="20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RNN, 1D_ConvNet, Transformer</a:t>
            </a:r>
            <a:endParaRPr lang="en-US" altLang="ko-KR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6A1300-326E-CC49-6EFB-1C0358426165}"/>
              </a:ext>
            </a:extLst>
          </p:cNvPr>
          <p:cNvSpPr txBox="1"/>
          <p:nvPr/>
        </p:nvSpPr>
        <p:spPr>
          <a:xfrm>
            <a:off x="475645" y="1335083"/>
            <a:ext cx="11076275" cy="878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딥러닝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접근 방식은 모델에 가공되지 않은 원본 단어 시퀀스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(Raw word sequence)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그대로 밀어 넣고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모델 스스로 단어 간의 위치적 의존성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(Positional dependencies)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직접 학습하게 만드는 것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3EC77-243F-E59F-1910-E27227F5C5DB}"/>
              </a:ext>
            </a:extLst>
          </p:cNvPr>
          <p:cNvSpPr txBox="1"/>
          <p:nvPr/>
        </p:nvSpPr>
        <p:spPr>
          <a:xfrm>
            <a:off x="1116661" y="2746425"/>
            <a:ext cx="10435258" cy="25428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RNN (순환 신경망): 시계열 모델링처럼 단어를 순차적으로 처리하는 방식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1D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(1차원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신경망): 이미지 처리용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CNN처럼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, 단어 시퀀스 차원 위로 필터를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슬라이딩하며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지역 특징을 추출하는 방식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Transformer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(트랜스포머): 현대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NLP의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핵심 아키텍처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28CD5C-18C7-EE3F-943E-C5A572F4C1DD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48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5FC0-B32C-098C-36FC-171F0ECF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6C1BBDD-3A0A-F7FB-3F49-96DFCF5A4C5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Sequence model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 practice : LSTM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7A3541-629B-B559-21C9-1EED5B2CCD94}"/>
              </a:ext>
            </a:extLst>
          </p:cNvPr>
          <p:cNvSpPr txBox="1"/>
          <p:nvPr/>
        </p:nvSpPr>
        <p:spPr>
          <a:xfrm>
            <a:off x="1432560" y="2271053"/>
            <a:ext cx="891032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"the quick brown fox jumped over the lazy dog"</a:t>
            </a:r>
          </a:p>
          <a:p>
            <a:pPr algn="l" latinLnBrk="0">
              <a:buNone/>
            </a:pPr>
            <a:endParaRPr lang="en-US" altLang="ko-KR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buNone/>
            </a:pP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"the slow brown badger"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7E4AD-BDB5-26C0-1B2A-39B5A96420B1}"/>
              </a:ext>
            </a:extLst>
          </p:cNvPr>
          <p:cNvSpPr txBox="1"/>
          <p:nvPr/>
        </p:nvSpPr>
        <p:spPr>
          <a:xfrm>
            <a:off x="1432560" y="4217015"/>
            <a:ext cx="891032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["the", "quick", "brown", "fox", "jumped", "over", "the", "lazy"]</a:t>
            </a:r>
          </a:p>
          <a:p>
            <a:pPr algn="l" latinLnBrk="0">
              <a:buNone/>
            </a:pPr>
            <a:endParaRPr lang="en-US" altLang="ko-KR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l">
              <a:buNone/>
            </a:pP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["the", "slow", "brown", "badger", "[PAD]", "[PAD]", "[PAD]", "[PAD]"]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B1D3390-79CC-CF07-EF61-925C263D2236}"/>
              </a:ext>
            </a:extLst>
          </p:cNvPr>
          <p:cNvCxnSpPr/>
          <p:nvPr/>
        </p:nvCxnSpPr>
        <p:spPr>
          <a:xfrm>
            <a:off x="5659120" y="3265503"/>
            <a:ext cx="0" cy="849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E533E1-337E-D710-4C45-8AAB538E6D94}"/>
              </a:ext>
            </a:extLst>
          </p:cNvPr>
          <p:cNvSpPr txBox="1"/>
          <p:nvPr/>
        </p:nvSpPr>
        <p:spPr>
          <a:xfrm>
            <a:off x="5063823" y="3429000"/>
            <a:ext cx="1367457" cy="4653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Padding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E98A4F-48CA-E4EE-9BE2-D762A7E9F19C}"/>
              </a:ext>
            </a:extLst>
          </p:cNvPr>
          <p:cNvSpPr txBox="1"/>
          <p:nvPr/>
        </p:nvSpPr>
        <p:spPr>
          <a:xfrm>
            <a:off x="609600" y="16353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길이를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8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맞추는 실제 예시</a:t>
            </a:r>
          </a:p>
        </p:txBody>
      </p:sp>
      <p:sp>
        <p:nvSpPr>
          <p:cNvPr id="16" name="화살표: 줄무늬가 있는 오른쪽 15">
            <a:extLst>
              <a:ext uri="{FF2B5EF4-FFF2-40B4-BE49-F238E27FC236}">
                <a16:creationId xmlns:a16="http://schemas.microsoft.com/office/drawing/2014/main" id="{C8B8B2C4-760C-3A23-C4E9-98F9C02012C0}"/>
              </a:ext>
            </a:extLst>
          </p:cNvPr>
          <p:cNvSpPr/>
          <p:nvPr/>
        </p:nvSpPr>
        <p:spPr>
          <a:xfrm>
            <a:off x="2926080" y="5502861"/>
            <a:ext cx="3342640" cy="1066800"/>
          </a:xfrm>
          <a:prstGeom prst="stripedRightArrow">
            <a:avLst>
              <a:gd name="adj1" fmla="val 67143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단어별 원</a:t>
            </a:r>
            <a:r>
              <a:rPr lang="en-US" altLang="ko-KR" dirty="0"/>
              <a:t>-</a:t>
            </a:r>
            <a:r>
              <a:rPr lang="ko-KR" altLang="en-US" dirty="0"/>
              <a:t>핫 인코딩 </a:t>
            </a:r>
            <a:r>
              <a:rPr lang="en-US" altLang="ko-KR" dirty="0"/>
              <a:t>(One-hot Encoding)</a:t>
            </a: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C2C5C32-A8E7-3E3B-EB98-45F16FD67097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13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359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CBDCF-98DC-92D6-2BC6-D9A7D01C1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A6279DAE-28F6-0A77-2D4B-729266794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7906" y="3154611"/>
            <a:ext cx="7199088" cy="3246775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D45F8814-86D7-4B59-ED99-E60FD3B288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Sequence model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code practice : LSTM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7CA13C-8F67-CB20-25EE-19B2F4AB101A}"/>
              </a:ext>
            </a:extLst>
          </p:cNvPr>
          <p:cNvSpPr txBox="1"/>
          <p:nvPr/>
        </p:nvSpPr>
        <p:spPr>
          <a:xfrm>
            <a:off x="7161595" y="2508280"/>
            <a:ext cx="54095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one_hot_encoding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(x).shape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(32, 600, 30000)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데이터 형태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9B408E6-EDFF-6779-00E1-C33FE11E3D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6930" y="1887171"/>
            <a:ext cx="3940976" cy="11990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901D919-B5A6-D81F-6B98-F760237D67B4}"/>
              </a:ext>
            </a:extLst>
          </p:cNvPr>
          <p:cNvSpPr txBox="1"/>
          <p:nvPr/>
        </p:nvSpPr>
        <p:spPr>
          <a:xfrm>
            <a:off x="364324" y="1480273"/>
            <a:ext cx="539801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one_hot_encoding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(x)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적용 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(32, 600)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데이터 형태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B259CF-5B1B-9C61-A976-474E5DD51EEB}"/>
              </a:ext>
            </a:extLst>
          </p:cNvPr>
          <p:cNvSpPr txBox="1"/>
          <p:nvPr/>
        </p:nvSpPr>
        <p:spPr>
          <a:xfrm>
            <a:off x="572638" y="3167390"/>
            <a:ext cx="33320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영화 리뷰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</a:p>
          <a:p>
            <a:pPr algn="ctr"/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리뷰당 들어있는 단어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600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CA3B5F00-6EC8-571A-8813-43CF6F051476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 rot="955337">
            <a:off x="4430505" y="2408399"/>
            <a:ext cx="3425659" cy="391777"/>
          </a:xfrm>
          <a:prstGeom prst="rect">
            <a:avLst/>
          </a:prstGeom>
        </p:spPr>
      </p:pic>
      <p:pic>
        <p:nvPicPr>
          <p:cNvPr id="5" name="그래픽 4" descr="조금 굽은 화살표">
            <a:extLst>
              <a:ext uri="{FF2B5EF4-FFF2-40B4-BE49-F238E27FC236}">
                <a16:creationId xmlns:a16="http://schemas.microsoft.com/office/drawing/2014/main" id="{74938B72-534C-C6A6-72CF-48F8B3F97A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922006">
            <a:off x="4115174" y="2873691"/>
            <a:ext cx="914400" cy="91440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AF743D8-BCE4-59A0-8391-D447F4B56F68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14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926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1DF39-ED40-05EB-F623-7CAB1D0A1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BF9E96-340C-0ECE-711C-53B9A1EE73BF}"/>
              </a:ext>
            </a:extLst>
          </p:cNvPr>
          <p:cNvSpPr/>
          <p:nvPr/>
        </p:nvSpPr>
        <p:spPr>
          <a:xfrm>
            <a:off x="619125" y="4229099"/>
            <a:ext cx="10277475" cy="390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F748D4-10D9-484C-1339-9C6972E864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Contents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A79783-C835-C768-ADAD-802A08EC010E}"/>
              </a:ext>
            </a:extLst>
          </p:cNvPr>
          <p:cNvSpPr txBox="1"/>
          <p:nvPr/>
        </p:nvSpPr>
        <p:spPr>
          <a:xfrm>
            <a:off x="861450" y="1400822"/>
            <a:ext cx="10778099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brief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history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natural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language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processing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(자연어 처리의 개요/역사)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Preparing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데이터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(문자 및 단어 단위 토큰화)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Subword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tokenization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서브워드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단위 토큰화)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(텍스트 표현 관점의 비교)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dataset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영화 리뷰 분류 데이터셋 로딩)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고려하지 않는 집합 기반 모델)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-of-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Bigram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 학습)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Sequence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(순서를 고려하는 시퀀스 기반 모델)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recurrent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(RNN 계열 순환 모델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Understanding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개념 이해)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적용)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(단어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사전 학습)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pretrained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(사전 학습된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기반 분류)</a:t>
            </a:r>
          </a:p>
        </p:txBody>
      </p:sp>
    </p:spTree>
    <p:extLst>
      <p:ext uri="{BB962C8B-B14F-4D97-AF65-F5344CB8AC3E}">
        <p14:creationId xmlns:p14="http://schemas.microsoft.com/office/powerpoint/2010/main" val="12001391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832E-53BE-F5F7-DC2D-5230B2A5E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8D544B-560C-D005-B3BA-5FC248B05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850" y="1497451"/>
            <a:ext cx="6385855" cy="4903935"/>
          </a:xfrm>
          <a:prstGeom prst="rect">
            <a:avLst/>
          </a:prstGeom>
          <a:solidFill>
            <a:srgbClr val="76E3FF"/>
          </a:solidFill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662E7F19-284A-3A0A-7FAC-FFF6A2FFF5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sklearn.feature_extraction.text.CountVectorizer</a:t>
            </a:r>
            <a:endParaRPr lang="en-US" altLang="ko-KR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F155038-524C-49B4-6216-EB92A0AA74D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16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B4AC402-0A5A-34C0-0677-8510203EA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711" y="3439334"/>
            <a:ext cx="152389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1,000,000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(100만개 트윗)</a:t>
            </a:r>
            <a:r>
              <a:rPr kumimoji="0" lang="ko-KR" altLang="ko-KR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273F8404-3E04-4E63-DB97-BD7835F9D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883" y="3938050"/>
            <a:ext cx="2476292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280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(최대 280글자)</a:t>
            </a:r>
            <a:endParaRPr kumimoji="0" lang="ko-KR" altLang="ko-KR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316727-EDA2-9935-782F-6215C67071AB}"/>
              </a:ext>
            </a:extLst>
          </p:cNvPr>
          <p:cNvSpPr/>
          <p:nvPr/>
        </p:nvSpPr>
        <p:spPr>
          <a:xfrm>
            <a:off x="2648933" y="1886204"/>
            <a:ext cx="1542067" cy="1200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71627A6-F046-6783-2DFF-27DABC343DFF}"/>
              </a:ext>
            </a:extLst>
          </p:cNvPr>
          <p:cNvSpPr/>
          <p:nvPr/>
        </p:nvSpPr>
        <p:spPr>
          <a:xfrm>
            <a:off x="2363183" y="2057510"/>
            <a:ext cx="1542067" cy="1200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0B357A-BBA0-36A2-FB11-79B322AEC88F}"/>
              </a:ext>
            </a:extLst>
          </p:cNvPr>
          <p:cNvSpPr/>
          <p:nvPr/>
        </p:nvSpPr>
        <p:spPr>
          <a:xfrm>
            <a:off x="2077433" y="2228816"/>
            <a:ext cx="1542067" cy="1200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4F00C6-DAD5-23F0-968A-829907D7785E}"/>
              </a:ext>
            </a:extLst>
          </p:cNvPr>
          <p:cNvSpPr/>
          <p:nvPr/>
        </p:nvSpPr>
        <p:spPr>
          <a:xfrm>
            <a:off x="1782158" y="2400122"/>
            <a:ext cx="1542067" cy="1200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B2C4ED-853D-EB0F-A343-C6290AF79E2B}"/>
              </a:ext>
            </a:extLst>
          </p:cNvPr>
          <p:cNvSpPr/>
          <p:nvPr/>
        </p:nvSpPr>
        <p:spPr>
          <a:xfrm>
            <a:off x="1486883" y="2571430"/>
            <a:ext cx="1542067" cy="12001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A93080-A6D1-3D3C-D44B-845124B0C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174" y="2899735"/>
            <a:ext cx="1837626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128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(문자 인코딩 차원)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One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hot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encoding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6912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41D7E-CC82-A711-AA00-68B8F919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C12E4E-1196-B64A-78CD-5A9663CCBE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Understanding word embeddings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B4D7427-E14F-8189-88B6-01B391C71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3" y="1534160"/>
            <a:ext cx="4436510" cy="493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3174C22-10E1-2D2D-480B-94E7360485D1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17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57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7E25B-7F92-087D-D8A6-F53ABF561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A580AB5-1C55-23A6-33E3-F50CE9C8E28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Using a word embedding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7C0BA9-F3CA-C689-7BC2-B1DD26FEEF59}"/>
              </a:ext>
            </a:extLst>
          </p:cNvPr>
          <p:cNvSpPr txBox="1"/>
          <p:nvPr/>
        </p:nvSpPr>
        <p:spPr>
          <a:xfrm>
            <a:off x="1272280" y="13839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Word Embedding</a:t>
            </a:r>
            <a:endParaRPr lang="en-US" altLang="ko-KR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02751F-0B64-801E-36F9-22731C71E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959" y="1888870"/>
            <a:ext cx="3086216" cy="44265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B214EB3-7FE7-33B1-8CCC-6DA961E9D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149" y="1888870"/>
            <a:ext cx="5819891" cy="4364918"/>
          </a:xfrm>
          <a:prstGeom prst="rect">
            <a:avLst/>
          </a:prstGeom>
        </p:spPr>
      </p:pic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DEABC691-F8F3-6754-228C-C7D4E04942E6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18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DE48A-7735-DF53-6758-43BFE12F8300}"/>
              </a:ext>
            </a:extLst>
          </p:cNvPr>
          <p:cNvSpPr txBox="1"/>
          <p:nvPr/>
        </p:nvSpPr>
        <p:spPr>
          <a:xfrm>
            <a:off x="5010149" y="1430985"/>
            <a:ext cx="348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786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890B5-04FF-286C-8FB9-B7246B7A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2039274-757B-323D-5A99-F47967AFFAF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Understanding word embeddings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1EC78B33-0570-791A-C3C2-F37E7B614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40" y="3549720"/>
            <a:ext cx="10196284" cy="191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56FF4A-0A59-8AD1-49D2-5C71C23AD6A0}"/>
              </a:ext>
            </a:extLst>
          </p:cNvPr>
          <p:cNvSpPr txBox="1"/>
          <p:nvPr/>
        </p:nvSpPr>
        <p:spPr>
          <a:xfrm>
            <a:off x="536605" y="1248422"/>
            <a:ext cx="10891520" cy="2059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단어가 가진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잠재적 특징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(Latent Features)'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개수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1번 차원: 단어가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인간'에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가까운가? (예: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King은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높은 값, Apple은 낮은 값)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2번 차원: 단어가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여성성'을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띠는가? (예: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Queen은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높은 값,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King은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낮은 값)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3번 차원: 단어가 '시간(과거/현재)'과 관련이 있는가?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4번 차원: 단어가 '부정적인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뉘앙스'를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풍기는가? (예: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awful은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높은 값)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E5A85CD-FC7F-40D9-003F-F3D5BBFEE610}"/>
              </a:ext>
            </a:extLst>
          </p:cNvPr>
          <p:cNvCxnSpPr/>
          <p:nvPr/>
        </p:nvCxnSpPr>
        <p:spPr>
          <a:xfrm>
            <a:off x="863600" y="3952240"/>
            <a:ext cx="0" cy="138176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8CF4A3C-95FD-ADF1-0BA7-F69FB71DD972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19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877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6BB75-EA64-8A67-64D7-5F96C1CC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988A04-D654-7F33-F67D-305715A38A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Using a word embedding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5011C3-1E6F-8149-2411-669657317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1990725"/>
            <a:ext cx="9577387" cy="315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EB2046-CD8A-18BD-836A-71B0B6E07825}"/>
              </a:ext>
            </a:extLst>
          </p:cNvPr>
          <p:cNvSpPr txBox="1"/>
          <p:nvPr/>
        </p:nvSpPr>
        <p:spPr>
          <a:xfrm>
            <a:off x="1152525" y="5245445"/>
            <a:ext cx="94678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An </a:t>
            </a:r>
            <a:r>
              <a:rPr lang="en-US" altLang="ko-KR" sz="1600" b="0" i="0" dirty="0">
                <a:solidFill>
                  <a:srgbClr val="990055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layer acts as a dictionary mapping </a:t>
            </a:r>
            <a:r>
              <a:rPr lang="en-US" altLang="ko-KR" sz="16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ints</a:t>
            </a:r>
            <a:r>
              <a:rPr lang="en-US" altLang="ko-KR" sz="16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to floating point vectors.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333B767-49D8-C742-A6E3-BC33943A14EE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20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981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535C-AEDB-6E14-2E05-66E300B9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5C2D724-0AC7-DE84-2E5B-829B33F7388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실습하기</a:t>
            </a:r>
            <a:endParaRPr lang="en-US" altLang="ko-KR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96E4CC-780B-2157-8AE3-8B59B1D7F437}"/>
              </a:ext>
            </a:extLst>
          </p:cNvPr>
          <p:cNvSpPr txBox="1"/>
          <p:nvPr/>
        </p:nvSpPr>
        <p:spPr>
          <a:xfrm>
            <a:off x="475645" y="152439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tensorflow_projector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8210A7A-250D-8F17-3A7C-539977D18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115" y="1524395"/>
            <a:ext cx="7363256" cy="469442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697BCCA-9308-B97A-4EDE-0925D53C0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2487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D02B52-4037-D16D-B545-48A6F9ABE00D}"/>
              </a:ext>
            </a:extLst>
          </p:cNvPr>
          <p:cNvSpPr txBox="1">
            <a:spLocks/>
          </p:cNvSpPr>
          <p:nvPr/>
        </p:nvSpPr>
        <p:spPr>
          <a:xfrm>
            <a:off x="11314887" y="4518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21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524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01420-D1DF-5D99-A5CE-1498AEE9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5D2DD6-AC90-9566-7484-285C3FB14B3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1076274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Understanding word embeddings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0D52F71-897C-94AF-FE9B-13C9DC60D341}"/>
              </a:ext>
            </a:extLst>
          </p:cNvPr>
          <p:cNvGrpSpPr/>
          <p:nvPr/>
        </p:nvGrpSpPr>
        <p:grpSpPr>
          <a:xfrm>
            <a:off x="1076960" y="1676083"/>
            <a:ext cx="8778240" cy="4542740"/>
            <a:chOff x="619760" y="1493521"/>
            <a:chExt cx="8646160" cy="4460653"/>
          </a:xfrm>
        </p:grpSpPr>
        <p:pic>
          <p:nvPicPr>
            <p:cNvPr id="13314" name="Picture 2">
              <a:extLst>
                <a:ext uri="{FF2B5EF4-FFF2-40B4-BE49-F238E27FC236}">
                  <a16:creationId xmlns:a16="http://schemas.microsoft.com/office/drawing/2014/main" id="{2F23464C-7E80-E031-3E85-0C77CF512A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760" y="1493521"/>
              <a:ext cx="8646160" cy="1620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6" name="Picture 4">
              <a:extLst>
                <a:ext uri="{FF2B5EF4-FFF2-40B4-BE49-F238E27FC236}">
                  <a16:creationId xmlns:a16="http://schemas.microsoft.com/office/drawing/2014/main" id="{A16B4EF2-775E-5ADE-D736-E377D82479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9760" y="3429000"/>
              <a:ext cx="8646160" cy="25251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54DC80D-04A7-7C85-6BBF-B5BB2AD60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2592" y="5262881"/>
              <a:ext cx="1157008" cy="34611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2D9C732-3E00-B9B1-8303-44D224404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18308" y="5310694"/>
              <a:ext cx="1157008" cy="250487"/>
            </a:xfrm>
            <a:prstGeom prst="rect">
              <a:avLst/>
            </a:prstGeom>
          </p:spPr>
        </p:pic>
      </p:grpSp>
      <p:sp>
        <p:nvSpPr>
          <p:cNvPr id="12" name="화살표: 줄무늬가 있는 오른쪽 11">
            <a:extLst>
              <a:ext uri="{FF2B5EF4-FFF2-40B4-BE49-F238E27FC236}">
                <a16:creationId xmlns:a16="http://schemas.microsoft.com/office/drawing/2014/main" id="{715E916F-2CF2-38F2-19F5-DCD8E0186286}"/>
              </a:ext>
            </a:extLst>
          </p:cNvPr>
          <p:cNvSpPr/>
          <p:nvPr/>
        </p:nvSpPr>
        <p:spPr>
          <a:xfrm>
            <a:off x="10058400" y="4246880"/>
            <a:ext cx="1351280" cy="1046480"/>
          </a:xfrm>
          <a:prstGeom prst="stripedRightArrow">
            <a:avLst>
              <a:gd name="adj1" fmla="val 73301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ＣＰＵ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ＧＰＵ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5E2A34-1BD9-5568-98B2-9107EBD53EB4}"/>
              </a:ext>
            </a:extLst>
          </p:cNvPr>
          <p:cNvSpPr txBox="1">
            <a:spLocks/>
          </p:cNvSpPr>
          <p:nvPr/>
        </p:nvSpPr>
        <p:spPr>
          <a:xfrm>
            <a:off x="11162487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pPr/>
              <a:t>22</a:t>
            </a:fld>
            <a:endParaRPr lang="en-US" sz="1400" b="1" dirty="0"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251980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8848</TotalTime>
  <Words>1604</Words>
  <Application>Microsoft Office PowerPoint</Application>
  <PresentationFormat>와이드스크린</PresentationFormat>
  <Paragraphs>201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D2Coding</vt:lpstr>
      <vt:lpstr>맑은 고딕</vt:lpstr>
      <vt:lpstr>Batang</vt:lpstr>
      <vt:lpstr>Arial</vt:lpstr>
      <vt:lpstr>Times New Roman</vt:lpstr>
      <vt:lpstr>Wingdings</vt:lpstr>
      <vt:lpstr>WelcomeDoc</vt:lpstr>
      <vt:lpstr>Chapter 14 Text classification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124</cp:revision>
  <dcterms:created xsi:type="dcterms:W3CDTF">2026-04-06T01:00:39Z</dcterms:created>
  <dcterms:modified xsi:type="dcterms:W3CDTF">2026-10-07T12:48:47Z</dcterms:modified>
  <cp:version/>
</cp:coreProperties>
</file>