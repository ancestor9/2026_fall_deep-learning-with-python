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135" r:id="rId3"/>
    <p:sldId id="1183" r:id="rId4"/>
    <p:sldId id="1134" r:id="rId5"/>
    <p:sldId id="1136" r:id="rId6"/>
    <p:sldId id="1184" r:id="rId7"/>
    <p:sldId id="1137" r:id="rId8"/>
    <p:sldId id="1149" r:id="rId9"/>
    <p:sldId id="1185" r:id="rId10"/>
    <p:sldId id="1138" r:id="rId11"/>
    <p:sldId id="1139" r:id="rId12"/>
    <p:sldId id="1140" r:id="rId13"/>
    <p:sldId id="1141" r:id="rId14"/>
    <p:sldId id="1143" r:id="rId15"/>
    <p:sldId id="1186" r:id="rId16"/>
    <p:sldId id="1144" r:id="rId17"/>
    <p:sldId id="1145" r:id="rId18"/>
    <p:sldId id="1150" r:id="rId19"/>
    <p:sldId id="1151" r:id="rId20"/>
    <p:sldId id="1147" r:id="rId21"/>
    <p:sldId id="1152" r:id="rId22"/>
    <p:sldId id="1179" r:id="rId23"/>
    <p:sldId id="1178" r:id="rId24"/>
    <p:sldId id="1148" r:id="rId25"/>
    <p:sldId id="1146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83"/>
            <p14:sldId id="1134"/>
            <p14:sldId id="1136"/>
            <p14:sldId id="1184"/>
            <p14:sldId id="1137"/>
            <p14:sldId id="1149"/>
            <p14:sldId id="1185"/>
            <p14:sldId id="1138"/>
            <p14:sldId id="1139"/>
            <p14:sldId id="1140"/>
            <p14:sldId id="1141"/>
            <p14:sldId id="1143"/>
            <p14:sldId id="1186"/>
            <p14:sldId id="1144"/>
            <p14:sldId id="1145"/>
            <p14:sldId id="1150"/>
            <p14:sldId id="1151"/>
            <p14:sldId id="1147"/>
            <p14:sldId id="1152"/>
            <p14:sldId id="1179"/>
            <p14:sldId id="1178"/>
            <p14:sldId id="1148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microsoft.com/office/2007/relationships/hdphoto" Target="../media/hdphoto2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microsoft.com/office/2007/relationships/hdphoto" Target="../media/hdphoto3.wdp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hyperlink" Target="https://www.101ai.net/text/word-embed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ord2vec.kr/search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26588" y="1905647"/>
            <a:ext cx="11138824" cy="185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0255-ED48-9BD7-7933-AD793E53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0271BA5-6E05-9D73-0C3E-301728C396C8}"/>
              </a:ext>
            </a:extLst>
          </p:cNvPr>
          <p:cNvSpPr/>
          <p:nvPr/>
        </p:nvSpPr>
        <p:spPr>
          <a:xfrm>
            <a:off x="619125" y="139064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07097CF-C0DE-0906-486F-8623F8446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71033C-427E-7405-14CF-2790F673F616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3182710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F31756-78E0-AA2D-572F-B2871DBFED5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48C704-DBD9-6458-3BAC-861029B383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F233A-22C6-8CB3-FA5A-6D7E1CBF6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58D9D3-E53A-286C-EF8A-74D8F49958C9}"/>
              </a:ext>
            </a:extLst>
          </p:cNvPr>
          <p:cNvSpPr/>
          <p:nvPr/>
        </p:nvSpPr>
        <p:spPr>
          <a:xfrm>
            <a:off x="619125" y="18287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1DC4550-8A13-714C-FB04-E14F60B90C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1070A6-8DB8-5B2D-584A-00CFE3B39A54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209440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4AC491A-F37A-F283-7723-E7176FD77B7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FDAB3-DFA1-525F-9D3A-F25F358A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A2396B7-71D6-6F39-B425-DBB0C4E46C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9B9BB9-4D57-4478-6B58-3C98601C2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4526" y="1895476"/>
            <a:ext cx="5305425" cy="401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6EC6A-6BDD-3C10-4AF2-9B6F45530088}"/>
              </a:ext>
            </a:extLst>
          </p:cNvPr>
          <p:cNvSpPr txBox="1"/>
          <p:nvPr/>
        </p:nvSpPr>
        <p:spPr>
          <a:xfrm>
            <a:off x="2604526" y="602021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text preprocessing pipeline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8145291C-399E-FD1C-519C-59D36AD15A5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7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ADD6-67A1-B015-98A1-02EB01B9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09B7A39-4725-4154-1725-B3D3675388ED}"/>
              </a:ext>
            </a:extLst>
          </p:cNvPr>
          <p:cNvSpPr/>
          <p:nvPr/>
        </p:nvSpPr>
        <p:spPr>
          <a:xfrm>
            <a:off x="619125" y="35432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23E233-A1F6-F7CB-BE50-DCF387A90E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8DF01-CAC0-5F93-48E9-D059243810F7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887465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827089"/>
            <a:ext cx="3425278" cy="1969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50" y="3827089"/>
            <a:ext cx="2387906" cy="204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827089"/>
            <a:ext cx="2762945" cy="24316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846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Bag of Words :  Sets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3177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RNN : Sequences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4230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 : Sets + Sequences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4842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932CFE9-070C-3828-9E37-6519C158D66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607725" y="3233396"/>
            <a:ext cx="11104881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607725" y="5388923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238750" y="2850919"/>
            <a:ext cx="5473856" cy="3824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9184BF-3E4B-C166-6355-E47DE205532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practice: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RNN, 1D_ConvNet, Transformer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</a:t>
            </a:r>
            <a:r>
              <a:rPr lang="ko-KR" altLang="en-US" dirty="0"/>
              <a:t>모델에 가공되지 않은 원본 단어 시퀀스</a:t>
            </a:r>
            <a:r>
              <a:rPr lang="en-US" altLang="ko-KR" dirty="0"/>
              <a:t>(Raw word sequence)</a:t>
            </a:r>
            <a:r>
              <a:rPr lang="ko-KR" altLang="en-US" dirty="0"/>
              <a:t>를 그대로 밀어 넣고</a:t>
            </a:r>
            <a:r>
              <a:rPr lang="en-US" altLang="ko-KR" dirty="0"/>
              <a:t>, </a:t>
            </a:r>
            <a:r>
              <a:rPr lang="ko-KR" altLang="en-US" dirty="0"/>
              <a:t>모델 스스로 단어 간의 위치적 의존성</a:t>
            </a:r>
            <a:r>
              <a:rPr lang="en-US" altLang="ko-KR" dirty="0"/>
              <a:t>(Positional dependencies)</a:t>
            </a:r>
            <a:r>
              <a:rPr lang="ko-KR" altLang="en-US" dirty="0"/>
              <a:t>을 직접 학습하게 만드는 것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28CD5C-18C7-EE3F-943E-C5A572F4C1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C2C5C32-A8E7-3E3B-EB98-45F16FD6709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4324" y="1890460"/>
            <a:ext cx="4666082" cy="14197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364324" y="1480273"/>
            <a:ext cx="5398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611333" y="3428999"/>
            <a:ext cx="23436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55337">
            <a:off x="4430505" y="2408399"/>
            <a:ext cx="3425659" cy="391777"/>
          </a:xfrm>
          <a:prstGeom prst="rect">
            <a:avLst/>
          </a:prstGeom>
        </p:spPr>
      </p:pic>
      <p:pic>
        <p:nvPicPr>
          <p:cNvPr id="5" name="그래픽 4" descr="조금 굽은 화살표">
            <a:extLst>
              <a:ext uri="{FF2B5EF4-FFF2-40B4-BE49-F238E27FC236}">
                <a16:creationId xmlns:a16="http://schemas.microsoft.com/office/drawing/2014/main" id="{74938B72-534C-C6A6-72CF-48F8B3F97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922006">
            <a:off x="4665318" y="2570210"/>
            <a:ext cx="914400" cy="914400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AF743D8-BCE4-59A0-8391-D447F4B56F68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DF39-ED40-05EB-F623-7CAB1D0A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BF9E96-340C-0ECE-711C-53B9A1EE73BF}"/>
              </a:ext>
            </a:extLst>
          </p:cNvPr>
          <p:cNvSpPr/>
          <p:nvPr/>
        </p:nvSpPr>
        <p:spPr>
          <a:xfrm>
            <a:off x="619125" y="459104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F748D4-10D9-484C-1339-9C6972E864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79783-C835-C768-ADAD-802A08EC010E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200139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625" y="1497451"/>
            <a:ext cx="6385855" cy="49039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3A6AAD7B-1959-8439-69E1-C9545449A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93" y="1956497"/>
            <a:ext cx="4344508" cy="16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45C829-0FBF-E869-481E-D4B66ECAA323}"/>
              </a:ext>
            </a:extLst>
          </p:cNvPr>
          <p:cNvSpPr txBox="1"/>
          <p:nvPr/>
        </p:nvSpPr>
        <p:spPr>
          <a:xfrm>
            <a:off x="2146779" y="3376563"/>
            <a:ext cx="124666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개수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6469B0-0EC6-D620-66F1-06DC661E76BC}"/>
              </a:ext>
            </a:extLst>
          </p:cNvPr>
          <p:cNvSpPr txBox="1"/>
          <p:nvPr/>
        </p:nvSpPr>
        <p:spPr>
          <a:xfrm>
            <a:off x="297659" y="2432934"/>
            <a:ext cx="117554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/>
              <a:t>기사 건수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66524-8D55-8096-3EF1-520DE30E4621}"/>
              </a:ext>
            </a:extLst>
          </p:cNvPr>
          <p:cNvSpPr txBox="1"/>
          <p:nvPr/>
        </p:nvSpPr>
        <p:spPr>
          <a:xfrm>
            <a:off x="1132678" y="3746218"/>
            <a:ext cx="40252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rank-3 text data tensor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094-B072-114D-860C-8082DC17FCDE}"/>
              </a:ext>
            </a:extLst>
          </p:cNvPr>
          <p:cNvSpPr txBox="1"/>
          <p:nvPr/>
        </p:nvSpPr>
        <p:spPr>
          <a:xfrm>
            <a:off x="4219420" y="2848243"/>
            <a:ext cx="76778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155038-524C-49B4-6216-EB92A0AA74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174C22-10E1-2D2D-480B-94E7360485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B3D6-1EA1-2E15-D1CB-599FD462B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9C6AFB5-68B1-1825-3651-01B01705B5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01AEBAD-5E48-BCDE-589F-AFA68DE64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274" y="1729453"/>
            <a:ext cx="4086999" cy="4205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6508DE-FBA0-E26C-6F4F-0F86CCD3BDC2}"/>
              </a:ext>
            </a:extLst>
          </p:cNvPr>
          <p:cNvSpPr txBox="1"/>
          <p:nvPr/>
        </p:nvSpPr>
        <p:spPr>
          <a:xfrm>
            <a:off x="2581274" y="5995770"/>
            <a:ext cx="4657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toy example of a word-embedding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E258610-9A81-601C-9A2B-32D2CEAF4AC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644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6BB75-EA64-8A67-64D7-5F96C1CC7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988A04-D654-7F33-F67D-305715A38A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F5011C3-1E6F-8149-2411-669657317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963" y="1990725"/>
            <a:ext cx="9577387" cy="3158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EB2046-CD8A-18BD-836A-71B0B6E07825}"/>
              </a:ext>
            </a:extLst>
          </p:cNvPr>
          <p:cNvSpPr txBox="1"/>
          <p:nvPr/>
        </p:nvSpPr>
        <p:spPr>
          <a:xfrm>
            <a:off x="1152525" y="5245445"/>
            <a:ext cx="94678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 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layer acts as a dictionary mapping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to floating point vectors.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333B767-49D8-C742-A6E3-BC33943A14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981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8CF4A3C-95FD-ADF1-0BA7-F69FB71DD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7E25B-7F92-087D-D8A6-F53ABF56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580AB5-1C55-23A6-33E3-F50CE9C8E2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7C0BA9-F3CA-C689-7BC2-B1DD26FEEF59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102751F-0B64-801E-36F9-22731C71E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959" y="1888870"/>
            <a:ext cx="3086216" cy="44265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214EB3-7FE7-33B1-8CCC-6DA961E9D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149" y="1888870"/>
            <a:ext cx="5819891" cy="4364918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EABC691-F8F3-6754-228C-C7D4E04942E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786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3BB4C-FA2C-D41A-F666-11CD79AB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231364-F4C0-F2DD-71F2-7BAA765185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F89228-2350-87E1-BECA-28B7A62E7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655" y="2450886"/>
            <a:ext cx="5174880" cy="2407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DE48A-7735-DF53-6758-43BFE12F8300}"/>
              </a:ext>
            </a:extLst>
          </p:cNvPr>
          <p:cNvSpPr txBox="1"/>
          <p:nvPr/>
        </p:nvSpPr>
        <p:spPr>
          <a:xfrm>
            <a:off x="1358005" y="1909036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028304-34AE-3611-5D02-2AB409D2549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412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D02B52-4037-D16D-B545-48A6F9ABE00D}"/>
              </a:ext>
            </a:extLst>
          </p:cNvPr>
          <p:cNvSpPr txBox="1">
            <a:spLocks/>
          </p:cNvSpPr>
          <p:nvPr/>
        </p:nvSpPr>
        <p:spPr>
          <a:xfrm>
            <a:off x="11314887" y="4518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7C3A-51DD-635B-EF83-A40215BA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BD2522-979D-112D-215E-E0216EB798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E378C00-FD83-8248-F532-ECF047D1D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43" y="3207328"/>
            <a:ext cx="5307538" cy="305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48D389-B97F-24D4-4FE4-21BB63ECEB23}"/>
              </a:ext>
            </a:extLst>
          </p:cNvPr>
          <p:cNvSpPr txBox="1"/>
          <p:nvPr/>
        </p:nvSpPr>
        <p:spPr>
          <a:xfrm>
            <a:off x="629743" y="1326722"/>
            <a:ext cx="11330275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차원이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것은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가방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(Bag)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속에 갇혀 있던 단어들에게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가지의 서로 다른 성질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특징 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간의 유사도와 문맥적 뉘앙스를 컴퓨터가 다차원 좌표계 위에서 정교하게 계산할 수 있도록 만든 방의 개수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BE333-2335-6573-5323-36199925A0A7}"/>
              </a:ext>
            </a:extLst>
          </p:cNvPr>
          <p:cNvSpPr txBox="1"/>
          <p:nvPr/>
        </p:nvSpPr>
        <p:spPr>
          <a:xfrm>
            <a:off x="7426960" y="3540464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81393-915C-0C49-25CB-595BCB55F9BB}"/>
              </a:ext>
            </a:extLst>
          </p:cNvPr>
          <p:cNvSpPr txBox="1"/>
          <p:nvPr/>
        </p:nvSpPr>
        <p:spPr>
          <a:xfrm>
            <a:off x="7426960" y="4466245"/>
            <a:ext cx="2283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word2vec for Korean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33DB487-5AD7-0F9D-C908-CAA437C86B4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073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5E2A34-1BD9-5568-98B2-9107EBD53EB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8527</TotalTime>
  <Words>1604</Words>
  <Application>Microsoft Office PowerPoint</Application>
  <PresentationFormat>와이드스크린</PresentationFormat>
  <Paragraphs>204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D2Coding</vt:lpstr>
      <vt:lpstr>맑은 고딕</vt:lpstr>
      <vt:lpstr>Batang</vt:lpstr>
      <vt:lpstr>Arial</vt:lpstr>
      <vt:lpstr>Times New Roman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120</cp:revision>
  <dcterms:created xsi:type="dcterms:W3CDTF">2026-04-06T01:00:39Z</dcterms:created>
  <dcterms:modified xsi:type="dcterms:W3CDTF">2026-08-16T00:14:35Z</dcterms:modified>
  <cp:version/>
</cp:coreProperties>
</file>