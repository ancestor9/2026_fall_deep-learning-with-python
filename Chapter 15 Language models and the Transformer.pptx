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8"/>
  </p:notesMasterIdLst>
  <p:handoutMasterIdLst>
    <p:handoutMasterId r:id="rId39"/>
  </p:handoutMasterIdLst>
  <p:sldIdLst>
    <p:sldId id="256" r:id="rId2"/>
    <p:sldId id="1135" r:id="rId3"/>
    <p:sldId id="1136" r:id="rId4"/>
    <p:sldId id="1137" r:id="rId5"/>
    <p:sldId id="1138" r:id="rId6"/>
    <p:sldId id="1139" r:id="rId7"/>
    <p:sldId id="1140" r:id="rId8"/>
    <p:sldId id="1141" r:id="rId9"/>
    <p:sldId id="1152" r:id="rId10"/>
    <p:sldId id="1142" r:id="rId11"/>
    <p:sldId id="1143" r:id="rId12"/>
    <p:sldId id="1144" r:id="rId13"/>
    <p:sldId id="1149" r:id="rId14"/>
    <p:sldId id="1145" r:id="rId15"/>
    <p:sldId id="1146" r:id="rId16"/>
    <p:sldId id="1150" r:id="rId17"/>
    <p:sldId id="1151" r:id="rId18"/>
    <p:sldId id="1153" r:id="rId19"/>
    <p:sldId id="1154" r:id="rId20"/>
    <p:sldId id="1172" r:id="rId21"/>
    <p:sldId id="1155" r:id="rId22"/>
    <p:sldId id="1159" r:id="rId23"/>
    <p:sldId id="1160" r:id="rId24"/>
    <p:sldId id="1156" r:id="rId25"/>
    <p:sldId id="1157" r:id="rId26"/>
    <p:sldId id="1158" r:id="rId27"/>
    <p:sldId id="1162" r:id="rId28"/>
    <p:sldId id="1161" r:id="rId29"/>
    <p:sldId id="1163" r:id="rId30"/>
    <p:sldId id="1165" r:id="rId31"/>
    <p:sldId id="1166" r:id="rId32"/>
    <p:sldId id="1167" r:id="rId33"/>
    <p:sldId id="1168" r:id="rId34"/>
    <p:sldId id="1169" r:id="rId35"/>
    <p:sldId id="1170" r:id="rId36"/>
    <p:sldId id="1171" r:id="rId3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36"/>
            <p14:sldId id="1137"/>
            <p14:sldId id="1138"/>
            <p14:sldId id="1139"/>
            <p14:sldId id="1140"/>
            <p14:sldId id="1141"/>
            <p14:sldId id="1152"/>
            <p14:sldId id="1142"/>
            <p14:sldId id="1143"/>
            <p14:sldId id="1144"/>
            <p14:sldId id="1149"/>
            <p14:sldId id="1145"/>
            <p14:sldId id="1146"/>
            <p14:sldId id="1150"/>
            <p14:sldId id="1151"/>
            <p14:sldId id="1153"/>
            <p14:sldId id="1154"/>
            <p14:sldId id="1172"/>
            <p14:sldId id="1155"/>
            <p14:sldId id="1159"/>
            <p14:sldId id="1160"/>
            <p14:sldId id="1156"/>
            <p14:sldId id="1157"/>
            <p14:sldId id="1158"/>
            <p14:sldId id="1162"/>
            <p14:sldId id="1161"/>
            <p14:sldId id="1163"/>
            <p14:sldId id="1165"/>
            <p14:sldId id="1166"/>
            <p14:sldId id="1167"/>
            <p14:sldId id="1168"/>
            <p14:sldId id="1169"/>
            <p14:sldId id="1170"/>
            <p14:sldId id="117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75" d="100"/>
        <a:sy n="75" d="100"/>
      </p:scale>
      <p:origin x="0" y="-589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199640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15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Language models and the Transformer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0" y="1248422"/>
            <a:ext cx="11233469" cy="2932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How to generate text with a deep learning model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Training a model to translate from English to Spanish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The Transformer, a powerful architecture for text modeling problems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B03F11-84CC-EFFA-CE9F-2BECB648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/>
              <p:nvPr/>
            </p:nvSpPr>
            <p:spPr>
              <a:xfrm>
                <a:off x="568960" y="1478012"/>
                <a:ext cx="11186160" cy="24534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가장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단순한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방법은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가능한 모든 출력 정수 시퀀스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단어 조합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설정하고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이를 직접 분류하는 분류기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(Classifier)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학습시키는 것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그러나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대략적으로만 계산해 봐도 이것이 사실상 불가능하다는 것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!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0,000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단어로 이루어진 어휘 사전이 있다면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이루어진 문장의 가짓수만 해도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ko-KR" sz="1600" b="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000</m:t>
                        </m:r>
                      </m:e>
                      <m:sup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즉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160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(Quadrillion)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개에 달하며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만들 수 있는 문장의 가짓수는 우주에 존재하는 원자의 개수보다도 많음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Impossible !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" y="1478012"/>
                <a:ext cx="11186160" cy="2453492"/>
              </a:xfrm>
              <a:prstGeom prst="rect">
                <a:avLst/>
              </a:prstGeom>
              <a:blipFill>
                <a:blip r:embed="rId2"/>
                <a:stretch>
                  <a:fillRect l="-327" b="-198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B2BC8-D20E-6E77-FCFD-FE417302E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C852D9-25F4-F489-3C73-BA5F2FAC5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C05D818-9F1E-3E61-C88A-4B65481CA6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F28F0F-4C41-BB8B-D028-812632A2F2A8}"/>
              </a:ext>
            </a:extLst>
          </p:cNvPr>
          <p:cNvSpPr txBox="1"/>
          <p:nvPr/>
        </p:nvSpPr>
        <p:spPr>
          <a:xfrm>
            <a:off x="568960" y="1478012"/>
            <a:ext cx="11186160" cy="4297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AI(GPT, BERT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 문제를 어떻게 해결했을까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난관을 극복하기 위해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문장을 통째로 맞추는 게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바로 다음에 올 단어 하나만 맞추기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반복하는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자기회귀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단어가 주어졌을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다음에 올 단어 하나만 예측하면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고민해야 하는 선택지는 전체 문장 수가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어휘 사전의 크기인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고정되어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충분히 처리할 수 있는 크기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단어 조합을 다 외우는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단어를 수십 차원의 공간에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표현하면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남자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관계를 기하학적으로 이해하기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굳이 세상의 모든 문장을 다 조합해 보지 않아도 문맥을 유추할 수 있게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왜 우리가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 때 단어를 한 땀 한 땀 차례대로 예측하는 방식을 쓸 수밖에 없는가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증명하는 핵심적인 이론 배경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1858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6AD1A-760B-722A-6778-8D71BF719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95D8A6-E311-F7B2-FBC3-345E5DF5F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8A4C943-3132-F971-67C0-1094F94E28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/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Generative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AI(GPT, BERT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등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바로 다음에 올 단어 하나</a:t>
                </a:r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 맞추기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“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우주에 존재하는 모든 문장을 확률을 한 번에 구하는 대신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체인 규칙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(Chain Rule)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이전 단어들이 주어졌을 때 바로 다음에 올 단어 하나를 맞추는 문제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＂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단순화 시킴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blipFill>
                <a:blip r:embed="rId2"/>
                <a:stretch>
                  <a:fillRect l="-381" b="-70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2B88D720-9EE9-B4DD-9D6C-E020AC06F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378" y="3076059"/>
            <a:ext cx="2756255" cy="38370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882A66D-4B54-2D3D-7F0F-BE1A23F0B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900" y="3912230"/>
            <a:ext cx="2949800" cy="44215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6C31D1-BEE7-0A6E-5E49-B9281B01F7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4900" y="4339339"/>
            <a:ext cx="3890957" cy="37899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3D3D1B-9E60-FCC8-ABEE-954209B6E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5857" y="4369932"/>
            <a:ext cx="3312492" cy="31780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BACD8BB-82DD-D3D2-AD6E-29BAC47A43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4900" y="5180373"/>
            <a:ext cx="4736007" cy="79180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49FB86B-07F0-6B11-9976-BDB7CD993B65}"/>
              </a:ext>
            </a:extLst>
          </p:cNvPr>
          <p:cNvSpPr txBox="1"/>
          <p:nvPr/>
        </p:nvSpPr>
        <p:spPr>
          <a:xfrm>
            <a:off x="1119997" y="3935327"/>
            <a:ext cx="1285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Chain Rule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082A2-6248-1141-D0A0-D1BB966C8BE4}"/>
              </a:ext>
            </a:extLst>
          </p:cNvPr>
          <p:cNvSpPr txBox="1"/>
          <p:nvPr/>
        </p:nvSpPr>
        <p:spPr>
          <a:xfrm>
            <a:off x="1119997" y="2998566"/>
            <a:ext cx="5156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Joint Probability, Conditional Probability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4004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AB750-858A-C272-15A2-7C84C1560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64383E-015B-E384-AEF8-EBFAEB243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27A49D7-0398-90D4-E851-A6A68B937A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Shakespeare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0D94CA-73D3-2527-75B8-9F7446930B9F}"/>
              </a:ext>
            </a:extLst>
          </p:cNvPr>
          <p:cNvSpPr txBox="1"/>
          <p:nvPr/>
        </p:nvSpPr>
        <p:spPr>
          <a:xfrm>
            <a:off x="530195" y="1243241"/>
            <a:ext cx="11186160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Using a character-level tokenizer 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67)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9067A1-3F80-FF96-C857-0BAB9F1B5C3F}"/>
              </a:ext>
            </a:extLst>
          </p:cNvPr>
          <p:cNvSpPr txBox="1"/>
          <p:nvPr/>
        </p:nvSpPr>
        <p:spPr>
          <a:xfrm>
            <a:off x="776547" y="1914901"/>
            <a:ext cx="9737464" cy="448648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256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,),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="int", name="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token_ids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)(inputs)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=True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시퀀스를 다 살려서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뉴런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Unit)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1,024</a:t>
            </a:r>
          </a:p>
          <a:p>
            <a:pPr>
              <a:lnSpc>
                <a:spcPct val="150000"/>
              </a:lnSpc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(0.1)(x)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Outputs a probability distribution over all potential tokens in our vocabulary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(inputs, outputs)</a:t>
            </a:r>
          </a:p>
        </p:txBody>
      </p:sp>
    </p:spTree>
    <p:extLst>
      <p:ext uri="{BB962C8B-B14F-4D97-AF65-F5344CB8AC3E}">
        <p14:creationId xmlns:p14="http://schemas.microsoft.com/office/powerpoint/2010/main" val="373903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7D11A-D473-087C-AD22-CCBBACC04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2567DB-74A6-D14D-D129-5F0E2F7A7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A38F1C6-A4A1-8A8C-CC8E-78C3BF69C4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413D9C-F053-D431-F176-61AE31E7330D}"/>
              </a:ext>
            </a:extLst>
          </p:cNvPr>
          <p:cNvSpPr txBox="1"/>
          <p:nvPr/>
        </p:nvSpPr>
        <p:spPr>
          <a:xfrm>
            <a:off x="571197" y="1248422"/>
            <a:ext cx="11049605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정답이 있는 훈련 때와 달리, 실제 문장을 생성할 때는 내가 방금 만든 단어를 다시 입력으로 넣는 루프(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반복문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사용하면서 이때 매번 처음부터 문장을 다시 읽으면 모델이 너무 느려지니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'직전 단어 1개'와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GRU가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기억하고 있는 '기억 상태(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State)'만 명시적으로 넘겨받아 이어서 쓰도록 모델의 구조를 효율적으로 개조(수술)하여야 함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EAB959-BA64-09A0-D750-1AE22D3BFB7C}"/>
              </a:ext>
            </a:extLst>
          </p:cNvPr>
          <p:cNvSpPr txBox="1"/>
          <p:nvPr/>
        </p:nvSpPr>
        <p:spPr>
          <a:xfrm>
            <a:off x="1471051" y="3008054"/>
            <a:ext cx="8362950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1회차 루프: * 입력: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비어있는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초기 상태)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(처음부터 다시 읽지 않고, 이어서 읽는 효과)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C]</a:t>
            </a:r>
          </a:p>
        </p:txBody>
      </p:sp>
    </p:spTree>
    <p:extLst>
      <p:ext uri="{BB962C8B-B14F-4D97-AF65-F5344CB8AC3E}">
        <p14:creationId xmlns:p14="http://schemas.microsoft.com/office/powerpoint/2010/main" val="1434921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875AE-A03E-A978-45BE-6A5931545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6C02C9-228B-073A-9809-9BD3C964A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DCF3AB8-268F-59C2-7493-DAB34ABA98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57914A-31CE-7894-9B56-D8A4DFEFA1F2}"/>
              </a:ext>
            </a:extLst>
          </p:cNvPr>
          <p:cNvSpPr txBox="1"/>
          <p:nvPr/>
        </p:nvSpPr>
        <p:spPr>
          <a:xfrm>
            <a:off x="1104900" y="2529959"/>
            <a:ext cx="46291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>
                <a:latin typeface="Lora" pitchFamily="2" charset="0"/>
              </a:rPr>
              <a:t>Training a Shakespeare language model</a:t>
            </a:r>
            <a:endParaRPr lang="ko-KR" altLang="en-US" dirty="0">
              <a:latin typeface="Lor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EE6EF-06BF-1F52-96AE-37337AAD405E}"/>
              </a:ext>
            </a:extLst>
          </p:cNvPr>
          <p:cNvSpPr txBox="1"/>
          <p:nvPr/>
        </p:nvSpPr>
        <p:spPr>
          <a:xfrm>
            <a:off x="6867525" y="2529959"/>
            <a:ext cx="46291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latin typeface="Lora" pitchFamily="2" charset="0"/>
              </a:rPr>
              <a:t>Generating Shakespeare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8FC800-7455-DE28-7935-D180CF0F54A7}"/>
              </a:ext>
            </a:extLst>
          </p:cNvPr>
          <p:cNvSpPr txBox="1"/>
          <p:nvPr/>
        </p:nvSpPr>
        <p:spPr>
          <a:xfrm>
            <a:off x="2700337" y="4739944"/>
            <a:ext cx="699135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훈련할 때의 일괄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생성할 때의 실시간 한 글자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차이점을 이해하자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693BCE-0248-09F3-D99B-B057C1BE2BC5}"/>
              </a:ext>
            </a:extLst>
          </p:cNvPr>
          <p:cNvSpPr txBox="1"/>
          <p:nvPr/>
        </p:nvSpPr>
        <p:spPr>
          <a:xfrm>
            <a:off x="2905125" y="2160627"/>
            <a:ext cx="866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B51A5C-268E-CACC-1098-6B745CE19920}"/>
              </a:ext>
            </a:extLst>
          </p:cNvPr>
          <p:cNvSpPr txBox="1"/>
          <p:nvPr/>
        </p:nvSpPr>
        <p:spPr>
          <a:xfrm>
            <a:off x="8348662" y="2160627"/>
            <a:ext cx="18764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Autoregressive</a:t>
            </a:r>
            <a:endParaRPr lang="ko-KR" altLang="en-US" dirty="0"/>
          </a:p>
        </p:txBody>
      </p:sp>
      <p:pic>
        <p:nvPicPr>
          <p:cNvPr id="3074" name="Picture 2" descr="빨간색 옷을 입은 작업자가 덤프 트럭이 모래를 내리는 것을 감독하고 있습니다.">
            <a:extLst>
              <a:ext uri="{FF2B5EF4-FFF2-40B4-BE49-F238E27FC236}">
                <a16:creationId xmlns:a16="http://schemas.microsoft.com/office/drawing/2014/main" id="{51F2301C-A418-9A8A-0ED4-3921538ED5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2899291"/>
            <a:ext cx="2085975" cy="1564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빨간 스포츠 브라를 입은 여자가 달릴 준비를 하고 있다">
            <a:extLst>
              <a:ext uri="{FF2B5EF4-FFF2-40B4-BE49-F238E27FC236}">
                <a16:creationId xmlns:a16="http://schemas.microsoft.com/office/drawing/2014/main" id="{67D1478E-9DC1-89DB-6FF9-DD42E3526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7525" y="2899291"/>
            <a:ext cx="2346720" cy="1564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4423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9EF58-62AB-C8A8-6C80-65ABEE99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EDE831-3042-25C3-9CA8-5D976F3D8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94D6C1-8175-9BCD-F46D-FCD9E8AF4C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Why not bidirectional RNN</a:t>
            </a:r>
            <a:r>
              <a:rPr lang="ko-KR" altLang="en-US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during training a Shakespeare 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EFB6AD-2A4A-E6D2-36ED-11C5CD4BD8D9}"/>
              </a:ext>
            </a:extLst>
          </p:cNvPr>
          <p:cNvSpPr txBox="1"/>
          <p:nvPr/>
        </p:nvSpPr>
        <p:spPr>
          <a:xfrm>
            <a:off x="613801" y="1362722"/>
            <a:ext cx="11501999" cy="5049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단방향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앞에서부터 순서대로 읽기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______"</a:t>
            </a:r>
          </a:p>
          <a:p>
            <a:pPr marL="1085850" lvl="2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순서대로 읽어 내려간다면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빈칸에 들어갈 말로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일어났다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밥을 먹었다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식당에 갔다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 여러 가지를 상상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빈칸의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앞 단어들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만 보고 추측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085850" lvl="2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이것이 일반적인 단방향 모델이 작동하는 방식이며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우리가 실제로 말을 하거나 글을 쓸 때와 똑같음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양방향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뒤의 단어까지 훔쳐보기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______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문을 열자마자 허겁지겁 국밥을 들이켰다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085850" lvl="2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빈칸 뒤에 나오는 내용까지 미리 다 읽어보면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뒤에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국밥을 들이켰다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라는 미래의 정보가 주어지니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빈칸에 들어갈 말이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일어났다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아니라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식당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것을 아주 정확하게 맞출 수 있음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빈칸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앞 단어들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뿐만 아니라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뒤 단어들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미래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역방향으로 한 번 더 읽어서 정보를 양쪽에서 다 활용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085850" lvl="2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완성된 문장 전체를 분석할 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번역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긍정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부정 판단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이 방식이 힌트를 양쪽에서 얻기 때문에 훨씬 더 정확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그런데 왜 문장 생성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셰익스피어 따라 쓰기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쓸 수 없을까요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양방향 모델이 학습할 때는 정답지 문장이 통째로 주어지니까 뒤의 단어들을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컨닝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해서 빈칸을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99%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완벽하게 맞출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수있지만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실제 셰익스피어 소설을 창조하는 실전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 AI)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단계에서는 상황이 다름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"To be or"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쓰고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다음 단어를 창조해야 하는 순간에 양방향 모델은 본능적으로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다음 단어 뒤에는 뭐가 나오지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?＂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하고 미래를 보려고 고개를 돌리는 순간 아직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뒷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문장은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쓰지도 않았기 때문에 미래의 데이터 자체가 존재하지 않음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결국 양방향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훈련할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미래를 훔쳐보던 나쁜 버릇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의존성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)＇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미래 정보가 사라진 실전 화면을 마주하면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패닉에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빠져 아무 단어도 내뱉지 못하고 먹통이 되어버리게 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6174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0AD43-EB09-973C-6915-D5E066254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A443F0-E912-1108-17B8-FEAA865DA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E6AF090-76C3-C112-1DD8-CF6E7DA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1836A54C-8D4D-2FC5-AC63-FAA7BB0713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413" y="2210423"/>
            <a:ext cx="6125137" cy="3808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F032AF-0C22-5A45-005C-F85F6A843816}"/>
              </a:ext>
            </a:extLst>
          </p:cNvPr>
          <p:cNvSpPr txBox="1"/>
          <p:nvPr/>
        </p:nvSpPr>
        <p:spPr>
          <a:xfrm>
            <a:off x="571499" y="1219111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seek to build a model that can take in a source text as a 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fixed input sequence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generate the translated text sequence as a result. Question answering is another classic sequence-to-sequence problem.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B9E4AA-98F0-09C0-027B-A06F34077293}"/>
              </a:ext>
            </a:extLst>
          </p:cNvPr>
          <p:cNvSpPr txBox="1"/>
          <p:nvPr/>
        </p:nvSpPr>
        <p:spPr>
          <a:xfrm>
            <a:off x="7290895" y="2210423"/>
            <a:ext cx="424444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시퀀스 투 시퀀스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(Sequence-to-sequence)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학습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훈련단계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소스 시퀀스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문장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인코더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(Encoder)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의해 처리된 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전송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지금까지 생성된 타겟 시퀀스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 문장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확인하고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미래의 한 걸음만큼 오프셋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시차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간격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둔</a:t>
            </a:r>
            <a:r>
              <a:rPr lang="en-US" altLang="ko-KR" sz="12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1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off by one)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타겟 시퀀스를 예측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입력과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(Label)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쌍을 한 칸씩 어긋나게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(offset)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쪼개서 기계에게 시험을 출제하여 훈련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 데이터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[end]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"[start] ¿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?“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 레이블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[start]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"¿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? [end]"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추론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실전 생성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하나의 타겟 토큰만 생성하며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토큰을 다시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입력으로 피드백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다시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79ABF57-06DF-88E6-6B63-0DD4D3F842D2}"/>
              </a:ext>
            </a:extLst>
          </p:cNvPr>
          <p:cNvSpPr/>
          <p:nvPr/>
        </p:nvSpPr>
        <p:spPr>
          <a:xfrm>
            <a:off x="4324350" y="3657600"/>
            <a:ext cx="2219325" cy="24765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965F600-9B8B-9706-492E-88FBA519AD25}"/>
              </a:ext>
            </a:extLst>
          </p:cNvPr>
          <p:cNvSpPr/>
          <p:nvPr/>
        </p:nvSpPr>
        <p:spPr>
          <a:xfrm>
            <a:off x="4324350" y="2314575"/>
            <a:ext cx="2219325" cy="24765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71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20C3C-F942-13AC-684D-787751364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EF03F6-E721-08DC-5D6B-C3AD49F3E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A70013F-BEEA-B8A7-0F58-494094318D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A36ADC-D77F-7783-4FCC-10767C6969ED}"/>
              </a:ext>
            </a:extLst>
          </p:cNvPr>
          <p:cNvSpPr txBox="1"/>
          <p:nvPr/>
        </p:nvSpPr>
        <p:spPr>
          <a:xfrm>
            <a:off x="590550" y="1251291"/>
            <a:ext cx="10677006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"Who is in this room?"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타겟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"[start] ¿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[end]"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입력과 출력으로 데이터파이프라인 구성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43404E-7FEC-7B4D-0727-9399077405AE}"/>
              </a:ext>
            </a:extLst>
          </p:cNvPr>
          <p:cNvSpPr txBox="1"/>
          <p:nvPr/>
        </p:nvSpPr>
        <p:spPr>
          <a:xfrm>
            <a:off x="638175" y="2287012"/>
            <a:ext cx="11087100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문장 부호 지우기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custom_standardization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함수가 특수문자를 지우고 소문자로 변경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특유의 거꾸로 된 물음표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(¿)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와 물음표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(?)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모두 제거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전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[start] ¿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? [end]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후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[start]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[end]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4F2B1F-3F8F-EF75-8978-0CD9D7F472DE}"/>
              </a:ext>
            </a:extLst>
          </p:cNvPr>
          <p:cNvSpPr txBox="1"/>
          <p:nvPr/>
        </p:nvSpPr>
        <p:spPr>
          <a:xfrm>
            <a:off x="638175" y="3541574"/>
            <a:ext cx="11087100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공백 기준으로 쪼개기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(Tokenization)</a:t>
            </a:r>
          </a:p>
          <a:p>
            <a:pPr>
              <a:buNone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띄어쓰기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공백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기준으로 단어들을 낱개로 분리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앞뒤로 붙인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[start]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[end]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도 하나의 독립된 단어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토큰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로 취급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세어보면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[start]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— </a:t>
            </a:r>
            <a:r>
              <a:rPr lang="ko-KR" altLang="en-US" sz="1500" i="1" dirty="0">
                <a:latin typeface="D2Coding" panose="020B0609020101020101" pitchFamily="49" charset="-127"/>
                <a:ea typeface="D2Coding" panose="020B0609020101020101" pitchFamily="49" charset="-127"/>
              </a:rPr>
              <a:t>시작 토큰</a:t>
            </a:r>
            <a:r>
              <a:rPr lang="en-US" altLang="ko-KR" sz="1500" i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(4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(5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(6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[end]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— </a:t>
            </a:r>
            <a:r>
              <a:rPr lang="ko-KR" altLang="en-US" sz="1500" i="1" dirty="0">
                <a:latin typeface="D2Coding" panose="020B0609020101020101" pitchFamily="49" charset="-127"/>
                <a:ea typeface="D2Coding" panose="020B0609020101020101" pitchFamily="49" charset="-127"/>
              </a:rPr>
              <a:t>끝 토큰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501C71-F409-94C7-6338-21625256D6DF}"/>
              </a:ext>
            </a:extLst>
          </p:cNvPr>
          <p:cNvSpPr txBox="1"/>
          <p:nvPr/>
        </p:nvSpPr>
        <p:spPr>
          <a:xfrm>
            <a:off x="638176" y="5302101"/>
            <a:ext cx="11087100" cy="7848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세어보니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7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개인데요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왜 코드에서는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format_dataset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함수 내부를 다시 보면 다음과 같이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슬라이싱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(:)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처리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 = {"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": spa[:, :-1]}  #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맨 뒤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 빼기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 중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사용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labels = spa[:, 1:]                                   #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맨 앞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 빼기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 중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사용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05730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7978FE-6266-765E-E433-4ACEC393C4E6}"/>
              </a:ext>
            </a:extLst>
          </p:cNvPr>
          <p:cNvSpPr txBox="1"/>
          <p:nvPr/>
        </p:nvSpPr>
        <p:spPr>
          <a:xfrm>
            <a:off x="1505441" y="2238983"/>
            <a:ext cx="9247187" cy="263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features,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["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"] (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 입력): 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[:, :-1]</a:t>
            </a:r>
            <a:endParaRPr lang="en-US" altLang="ko-KR" sz="1600" u="sng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7개 토큰 중 맨 마지막인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]를 잘라내고 앞의 6개만 가져오면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labels, 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targets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 (정답 레이블): </a:t>
            </a:r>
            <a:r>
              <a:rPr lang="ko-KR" altLang="en-US" sz="1600" u="sng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</a:t>
            </a:r>
            <a:r>
              <a:rPr lang="ko-KR" altLang="en-US" sz="1600" u="sng" dirty="0">
                <a:latin typeface="D2Coding" panose="020B0609020101020101" pitchFamily="49" charset="-127"/>
                <a:ea typeface="D2Coding" panose="020B0609020101020101" pitchFamily="49" charset="-127"/>
              </a:rPr>
              <a:t>[:, 1:]</a:t>
            </a:r>
            <a:endParaRPr lang="en-US" altLang="ko-KR" sz="1600" u="sng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7개 토큰 중 맨 앞인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]를 잘라내고 뒤의 6개만 가져오면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habitación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991024-32AE-D6F3-447F-10C166D9622E}"/>
              </a:ext>
            </a:extLst>
          </p:cNvPr>
          <p:cNvSpPr txBox="1"/>
          <p:nvPr/>
        </p:nvSpPr>
        <p:spPr>
          <a:xfrm>
            <a:off x="646577" y="1314578"/>
            <a:ext cx="109167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 = {"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": spa[:, :-1]}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빼기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중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labels = spa[:, 1:]                          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앞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빼기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중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8E7F8E-913E-5F45-86F3-440A041F9FA9}"/>
              </a:ext>
            </a:extLst>
          </p:cNvPr>
          <p:cNvSpPr txBox="1"/>
          <p:nvPr/>
        </p:nvSpPr>
        <p:spPr>
          <a:xfrm>
            <a:off x="2465878" y="5109189"/>
            <a:ext cx="811639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훈련시킬 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하나씩 어긋나는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(Offset by one)"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구조를 만들기 위해 입력과 정답에서 각각 토큰을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개씩 깎아냈기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결과물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(inputs["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"], targets)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패딩 제외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맞춰진 것</a:t>
            </a:r>
          </a:p>
        </p:txBody>
      </p:sp>
      <p:sp>
        <p:nvSpPr>
          <p:cNvPr id="16" name="화살표: 줄무늬가 있는 오른쪽 15">
            <a:extLst>
              <a:ext uri="{FF2B5EF4-FFF2-40B4-BE49-F238E27FC236}">
                <a16:creationId xmlns:a16="http://schemas.microsoft.com/office/drawing/2014/main" id="{747FFEF6-096A-8602-0D9A-4A8962299C12}"/>
              </a:ext>
            </a:extLst>
          </p:cNvPr>
          <p:cNvSpPr/>
          <p:nvPr/>
        </p:nvSpPr>
        <p:spPr>
          <a:xfrm>
            <a:off x="1505441" y="5331411"/>
            <a:ext cx="713858" cy="7048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94190-4E84-0A28-0702-F9F0C8D9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B9780A-4648-728D-B5C5-BB7B46F75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27C6940-5188-BF44-5E98-CFCE10FC25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A6E11-62F8-D0B0-D48E-E29DD3A9FA3B}"/>
              </a:ext>
            </a:extLst>
          </p:cNvPr>
          <p:cNvSpPr txBox="1"/>
          <p:nvPr/>
        </p:nvSpPr>
        <p:spPr>
          <a:xfrm>
            <a:off x="321656" y="1248422"/>
            <a:ext cx="12053540" cy="1218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및 정수 변환 후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토큰화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TextVectorization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문장 부호가 지워지고 단어들이 사전에 등록된 숫자로 바뀐 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남은 빈 공간은 최대 길이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=20)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영어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):[145, 23, 12, 19, 342, 0, 0, 0, 0, 0, 0, 0, 0, 0, 0,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(145='who', 23='is', 12='in', 19='this', 342='room')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(spa):[2, 89, 45, 12, 512, 3, 0, 0, 0, 0, 0, 0, 0, 0, 0, 0,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2='[start]'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,89='quién',45='está',12='en',512='esta',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3='[end]'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3DA617-A97B-F8F6-D20D-84DC098FBF01}"/>
              </a:ext>
            </a:extLst>
          </p:cNvPr>
          <p:cNvSpPr txBox="1"/>
          <p:nvPr/>
        </p:nvSpPr>
        <p:spPr>
          <a:xfrm>
            <a:off x="321656" y="2857208"/>
            <a:ext cx="11601450" cy="3708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format_dataset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을 거친 최종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데이터의 모습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함수를 통과하면 하나의 데이터가 아래처럼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입력용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labels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시험지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기준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가지 묶음으로 분리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입력으로 주는 데이터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두 채널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각각 쪼개져서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들어감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인코더 입력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영어 문장 전체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1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": [145, 23, 12, 19, 342, 0, 0, 0, 0, 0, 0, 0, 0, 0, 0, 0, 0, 0, 0, 0],</a:t>
            </a:r>
          </a:p>
          <a:p>
            <a:pPr lvl="2"/>
            <a:endParaRPr lang="en-US" altLang="ko-KR" sz="11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1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입력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스페인어 문장에서 맨 뒤의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3('[end]')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1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1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": [</a:t>
            </a:r>
            <a:r>
              <a:rPr lang="en-US" altLang="ko-KR" sz="11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89, 45, 12, 512, 0, 0, 0, 0, 0, 0, 0, 0, 0, 0, 0, 0, 0, 0, 0]</a:t>
            </a:r>
          </a:p>
          <a:p>
            <a:pPr lvl="2"/>
            <a:r>
              <a:rPr lang="en-US" altLang="ko-KR" sz="11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pPr lvl="2"/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labels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맞춰야 하는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입력보다 딱 한 칸 미래로 밀린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(offset)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형태입니다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맨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2('[start]')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잘려 나감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2([start])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89(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맞추고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89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45(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맞춰야 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labels = [89, 45, 12, 512, </a:t>
            </a:r>
            <a:r>
              <a:rPr lang="en-US" altLang="ko-KR" sz="12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0, 0, 0, 0, 0, 0, 0, 0, 0, 0, 0, 0, 0, 0, 0]</a:t>
            </a: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반영 여부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(labels)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진짜 단어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True(1),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없는 패딩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False(0)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 스페인어 단어와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[end]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토큰이 있는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채점하고 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들은 무시함</a:t>
            </a:r>
          </a:p>
          <a:p>
            <a:pPr lvl="2"/>
            <a:r>
              <a:rPr lang="en-US" altLang="ko-KR" sz="12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[True, True, True, True, True, False, False, False, …. False, False, False, False, False, False, False]</a:t>
            </a:r>
          </a:p>
        </p:txBody>
      </p:sp>
    </p:spTree>
    <p:extLst>
      <p:ext uri="{BB962C8B-B14F-4D97-AF65-F5344CB8AC3E}">
        <p14:creationId xmlns:p14="http://schemas.microsoft.com/office/powerpoint/2010/main" val="25903057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ACC60-8CD9-2604-14C3-5E280A4B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35D3F5-6C6C-0B73-F197-639CD083A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C45CE89-24E7-5E7E-E6EB-6645FAC136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 with RNNs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163C84-41EC-3A42-E9F3-96C8BD507D47}"/>
              </a:ext>
            </a:extLst>
          </p:cNvPr>
          <p:cNvSpPr txBox="1"/>
          <p:nvPr/>
        </p:nvSpPr>
        <p:spPr>
          <a:xfrm>
            <a:off x="571500" y="1248422"/>
            <a:ext cx="11049000" cy="1441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영어는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"you"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뒤에 나오지만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스페인어는 그에 해당하는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앞에 나와야 하니 원문을 한 단어씩 읽으면서 동시에 실시간으로 번역하는 것은 불가능하기에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(Encoder)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영어 문장 전체를 끝까지 다 읽고 기억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(State)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그 기억을 이어받아 스페인어 첫 글자부터 차례대로 써 내려가는 구조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(Seq2Seq)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써야만 어순이 다른 언어를 제대로 번역할 수 있는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구조가 필요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A4A93C2-D0B3-20F8-6CD2-03F1EA692A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9283" y="3171883"/>
            <a:ext cx="6089417" cy="2374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B49EAB-A5FB-564C-F664-A8942FC2E1DF}"/>
              </a:ext>
            </a:extLst>
          </p:cNvPr>
          <p:cNvSpPr txBox="1"/>
          <p:nvPr/>
        </p:nvSpPr>
        <p:spPr>
          <a:xfrm>
            <a:off x="2492608" y="5574596"/>
            <a:ext cx="61560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sequence-to-sequence RNN: an RNN encoder is used to produce a vector that encodes the entire source sequence, which is used as the initial state for an RNN decoder.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2137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5B106-462C-BB1A-7F8D-2F42E848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B94134-E31A-1108-B02E-422A4CF15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751891-9DC0-347C-5D3E-D8A2EBBE5D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EA4349-EEF0-DB08-B539-AB13B15F32FB}"/>
              </a:ext>
            </a:extLst>
          </p:cNvPr>
          <p:cNvSpPr txBox="1"/>
          <p:nvPr/>
        </p:nvSpPr>
        <p:spPr>
          <a:xfrm>
            <a:off x="624422" y="1320872"/>
            <a:ext cx="6443128" cy="23214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256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=True)(source)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layers.Bidirectional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merge_mode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="sum")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b="1" i="0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7AF0E-1515-68F9-7819-B84A2196B818}"/>
              </a:ext>
            </a:extLst>
          </p:cNvPr>
          <p:cNvSpPr txBox="1"/>
          <p:nvPr/>
        </p:nvSpPr>
        <p:spPr>
          <a:xfrm>
            <a:off x="4304781" y="3886827"/>
            <a:ext cx="6524626" cy="26446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target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=True)(target)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initial_state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Predicts the next word of the translation, given the current word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seq2seq_rnn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([source, target],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5B3B16C8-292E-76A4-CE8F-2C6607434696}"/>
              </a:ext>
            </a:extLst>
          </p:cNvPr>
          <p:cNvCxnSpPr>
            <a:cxnSpLocks/>
            <a:stCxn id="5" idx="2"/>
            <a:endCxn id="9" idx="1"/>
          </p:cNvCxnSpPr>
          <p:nvPr/>
        </p:nvCxnSpPr>
        <p:spPr>
          <a:xfrm rot="16200000" flipH="1">
            <a:off x="3291981" y="4196345"/>
            <a:ext cx="1566804" cy="45879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467716D-79C8-D075-2609-07996E652543}"/>
              </a:ext>
            </a:extLst>
          </p:cNvPr>
          <p:cNvSpPr txBox="1"/>
          <p:nvPr/>
        </p:nvSpPr>
        <p:spPr>
          <a:xfrm>
            <a:off x="2075931" y="3702161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Encoder RNN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9A41A4-C63B-D482-DFE3-2E95439D1286}"/>
              </a:ext>
            </a:extLst>
          </p:cNvPr>
          <p:cNvSpPr txBox="1"/>
          <p:nvPr/>
        </p:nvSpPr>
        <p:spPr>
          <a:xfrm>
            <a:off x="2731560" y="5352462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Decoder RNN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48D1A4-8E53-F5CD-E421-B7EC737D4596}"/>
              </a:ext>
            </a:extLst>
          </p:cNvPr>
          <p:cNvSpPr txBox="1"/>
          <p:nvPr/>
        </p:nvSpPr>
        <p:spPr>
          <a:xfrm>
            <a:off x="1140898" y="4137773"/>
            <a:ext cx="1870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왜 양방향 학습</a:t>
            </a: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17850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171C6-A51C-4250-3D18-CD5EA14E7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7E4480-4914-51E3-5D40-1279B5895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6159C-E559-39AE-A015-F02E36735B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Limitations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of 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4BFC5C-216E-7ABD-9E59-29E45E130B65}"/>
              </a:ext>
            </a:extLst>
          </p:cNvPr>
          <p:cNvSpPr txBox="1"/>
          <p:nvPr/>
        </p:nvSpPr>
        <p:spPr>
          <a:xfrm>
            <a:off x="559313" y="1419057"/>
            <a:ext cx="11073374" cy="4306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RNN(LSTM, GRU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문장을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순서대로 한 단어씩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구조의 한계점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(2017, google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translater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LTSM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layers)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① 정보의 병목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(Bottleneck): "500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 책을 한 줄로 요약해라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인코더는 영어 문장이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끝까지 다 읽은 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하나의 고정된 크기의 기억 상태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State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긴 소설책이라도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페이지짜리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요약본으로 만들어야 하는 것과 같으며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길고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복잡해질수록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중요한 정보들이 이 좁은 병목 구간에서 다 구겨지고 유실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② 장기 기억 상실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앞에서 무슨 말 했더라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단어를 읽을 때마다 기존 기억 위에 새로운 기억을 계속 덮어쓰게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누군가 나에게 단어를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연속으로 말해주는 상황으로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 단어를 들을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때쯤이면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번째로 말했던 단어들은 머릿속에서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흐릿해져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기억나지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않개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번역기는 문장이 길어지면 앞부분의 문맥을 완전히 까먹고 엉뚱한 번역을 하는 고질적인 문제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038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04BCD-0EA9-41D8-A540-61245E54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2912AA-B4D7-5568-3524-A775ECA3C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41DE0DB-EC79-37FC-20F6-B0A318D9D5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5D9538-17D4-5A3B-4535-32EE8A0E37FA}"/>
              </a:ext>
            </a:extLst>
          </p:cNvPr>
          <p:cNvSpPr txBox="1"/>
          <p:nvPr/>
        </p:nvSpPr>
        <p:spPr>
          <a:xfrm>
            <a:off x="5778872" y="1916059"/>
            <a:ext cx="6096000" cy="32909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2017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년도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)'이라고 불리는 이 단순한 메커니즘을 사용하면 순환 레이어(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)를 전혀 사용하지 않고도 강력한 시퀀스 모델을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제시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기반 모델(LSTM, GRU 등)뿐만 아니라, 당시 막강한 대안으로 떠오르던 CNN 기반의 시퀀스 모델(ConvS2S 등)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등을 사용하지 않는 단순한 모델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현재 모든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Gemini,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Ollama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바탕으로 개발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863161F-BF14-267C-746C-B3BEADF2B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47" y="1547212"/>
            <a:ext cx="5206025" cy="4671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178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1C72-4197-8941-AFF5-049D75658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025B8B-B92B-8D67-FD80-6B2158309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7C4970D-D44F-2504-08A7-41E2746F7F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5C9F35C-A020-5175-F5C0-9AE5B7970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73" y="1488141"/>
            <a:ext cx="3980872" cy="421084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723C8B-4332-FD67-9334-8E7E4C519343}"/>
              </a:ext>
            </a:extLst>
          </p:cNvPr>
          <p:cNvSpPr txBox="1"/>
          <p:nvPr/>
        </p:nvSpPr>
        <p:spPr>
          <a:xfrm>
            <a:off x="5006109" y="1488141"/>
            <a:ext cx="6096000" cy="4583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Original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mechanism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 이미지에서 '무엇이 중요한지' 판단하는 과정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흑백 이미지(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보면, 고양이의 얼굴이 있는 중심부만 하얗게(높은 점수) 빛나고 배경은 까맣게(낮은 점수) 처리되어 있습니다. 즉, "여기가 제일 중요하니까 여기에 집중해!"라고 점수를 매긴 지도(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New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이미지에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점수를 곱해 필터링한 최종 결과물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배경은 어둡게 가려지고, 모델이 집중해야 할 고양이의 눈과 얼굴 부분만 선명하게 강조된 새로운 데이터(표현)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이제 이 핵심 정보만을 가지고 다음 연산을 수행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C7CAA5-09E1-A6A3-3719-902385AB2D32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80770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E9-D63A-8877-FBD0-86DAF608C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3CA1F6-2B56-59F1-E942-75DC91FB1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B358AA2-DB8C-38E1-50C1-3130DB2417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 descr="Attention visualization of different layers from our unsupervised pre‐trained model (using a tool from [58]). An attention map was generated with 16‐frame clip inputs and applied to the last frame in the video clips. Each row represents a video sample, whereas each column illustrates the different convolution layers">
            <a:extLst>
              <a:ext uri="{FF2B5EF4-FFF2-40B4-BE49-F238E27FC236}">
                <a16:creationId xmlns:a16="http://schemas.microsoft.com/office/drawing/2014/main" id="{6A73219F-9DD8-F5AD-5E51-900227F14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182" y="2539432"/>
            <a:ext cx="9120853" cy="37234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2571CD-8B62-A93E-2A14-731900273CBB}"/>
              </a:ext>
            </a:extLst>
          </p:cNvPr>
          <p:cNvSpPr txBox="1"/>
          <p:nvPr/>
        </p:nvSpPr>
        <p:spPr>
          <a:xfrm>
            <a:off x="1163783" y="6262886"/>
            <a:ext cx="87350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Exploring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complementary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information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self‐supervised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pretext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tasks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video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pre‐training</a:t>
            </a:r>
            <a:endParaRPr lang="ko-KR" altLang="ko-KR" sz="1200" b="0" i="0" dirty="0">
              <a:solidFill>
                <a:srgbClr val="11111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B6136-F1AC-F851-F77F-4902265FA8B3}"/>
              </a:ext>
            </a:extLst>
          </p:cNvPr>
          <p:cNvSpPr txBox="1"/>
          <p:nvPr/>
        </p:nvSpPr>
        <p:spPr>
          <a:xfrm>
            <a:off x="563417" y="1185280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매커니즘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결합했더니, 레이어가 깊어질수록 인간처럼 영상 속에서 배경에 현혹되지 않고 '행동의 핵심이 되는 인물과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사물'을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스스로 기가 막히게 찾아내어 집중하더라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것을 증명하는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논문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지도 학습(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)인데도 정답 없이 스스로 이 핵심 맥락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발견함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D6C961-7316-807B-F971-F0B9F2EE603F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9631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C98A2-8124-BA79-7AD4-0C80788B4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>
            <a:extLst>
              <a:ext uri="{FF2B5EF4-FFF2-40B4-BE49-F238E27FC236}">
                <a16:creationId xmlns:a16="http://schemas.microsoft.com/office/drawing/2014/main" id="{7C6071FA-7C1A-CB7F-607E-63BFF4BAFF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698" y="2499995"/>
            <a:ext cx="7251057" cy="3449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5FA262-DD16-AF08-3EDB-CED2E9247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384CA70-161B-17F2-D1B1-0D8609D679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6A3FE9-4B12-4D83-A47F-850ADB6C9284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CD669AAA-54B3-98CF-C051-BF2F06E8A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8880" y="2499995"/>
            <a:ext cx="4331909" cy="3467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78B6AB-E92F-575A-2BB1-A9BE449105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3664" y="4172215"/>
            <a:ext cx="825308" cy="9697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2D3A837-B3CC-CBED-65B8-CE7CE1B28E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3904" y="3195320"/>
            <a:ext cx="927070" cy="76643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CF5F620-4B5E-E90A-BF27-690A6AEB5EF1}"/>
              </a:ext>
            </a:extLst>
          </p:cNvPr>
          <p:cNvSpPr txBox="1"/>
          <p:nvPr/>
        </p:nvSpPr>
        <p:spPr>
          <a:xfrm>
            <a:off x="599440" y="1248422"/>
            <a:ext cx="1131824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Word 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시각화한 후 각 포인트의 내적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(Dot-product)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코사인 유사성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(Cosine Similarity)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계산하면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비슷한 데이터 포인트의 내적과 코사인 유사성이 커지게 됨 </a:t>
            </a:r>
          </a:p>
        </p:txBody>
      </p:sp>
    </p:spTree>
    <p:extLst>
      <p:ext uri="{BB962C8B-B14F-4D97-AF65-F5344CB8AC3E}">
        <p14:creationId xmlns:p14="http://schemas.microsoft.com/office/powerpoint/2010/main" val="12682073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2595E-F380-3DED-F8D7-C89968203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E462-7F27-D587-4404-632217ED8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3F55C73-B45C-3AD9-9ACA-ABBD0A1606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81B4F84-B20F-3B18-0D1B-247AEE6AA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75" y="1366661"/>
            <a:ext cx="5869802" cy="26446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DFEDCD-3ACE-670C-3B97-FCE97A3AD0D4}"/>
              </a:ext>
            </a:extLst>
          </p:cNvPr>
          <p:cNvSpPr txBox="1"/>
          <p:nvPr/>
        </p:nvSpPr>
        <p:spPr>
          <a:xfrm>
            <a:off x="6964219" y="1317714"/>
            <a:ext cx="4831520" cy="3910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벡터와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“bring’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단어의 </a:t>
            </a:r>
            <a:r>
              <a:rPr lang="ko-KR" altLang="en-US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벡터의 내적 값</a:t>
            </a: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(attention weight)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구한 후</a:t>
            </a: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임베딩에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곱해서 합을 생성</a:t>
            </a:r>
            <a:endParaRPr lang="ko-KR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배지 1 단색으로 채워진">
            <a:extLst>
              <a:ext uri="{FF2B5EF4-FFF2-40B4-BE49-F238E27FC236}">
                <a16:creationId xmlns:a16="http://schemas.microsoft.com/office/drawing/2014/main" id="{9BB34B10-C2C4-0316-3701-6CC56606A2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7783" y="4627001"/>
            <a:ext cx="276330" cy="276330"/>
          </a:xfrm>
          <a:prstGeom prst="rect">
            <a:avLst/>
          </a:prstGeom>
        </p:spPr>
      </p:pic>
      <p:pic>
        <p:nvPicPr>
          <p:cNvPr id="16" name="그래픽 15" descr="배지 단색으로 채워진">
            <a:extLst>
              <a:ext uri="{FF2B5EF4-FFF2-40B4-BE49-F238E27FC236}">
                <a16:creationId xmlns:a16="http://schemas.microsoft.com/office/drawing/2014/main" id="{C65C769D-DD6E-1D00-8DBE-5F5CF21DF1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7783" y="5039466"/>
            <a:ext cx="276330" cy="276330"/>
          </a:xfrm>
          <a:prstGeom prst="rect">
            <a:avLst/>
          </a:prstGeom>
        </p:spPr>
      </p:pic>
      <p:pic>
        <p:nvPicPr>
          <p:cNvPr id="18" name="그래픽 17" descr="배지 3 단색으로 채워진">
            <a:extLst>
              <a:ext uri="{FF2B5EF4-FFF2-40B4-BE49-F238E27FC236}">
                <a16:creationId xmlns:a16="http://schemas.microsoft.com/office/drawing/2014/main" id="{888A3E31-4E67-1DE8-26B5-8D483AA3364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7783" y="5451931"/>
            <a:ext cx="276330" cy="27633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F65EDEE-4C5F-7812-4F7C-112D4E9FB0ED}"/>
              </a:ext>
            </a:extLst>
          </p:cNvPr>
          <p:cNvSpPr txBox="1"/>
          <p:nvPr/>
        </p:nvSpPr>
        <p:spPr>
          <a:xfrm>
            <a:off x="7375008" y="2318789"/>
            <a:ext cx="2332410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[0.56, 2.51, 0.49, 1.21]</a:t>
            </a:r>
          </a:p>
        </p:txBody>
      </p:sp>
      <p:pic>
        <p:nvPicPr>
          <p:cNvPr id="34" name="그래픽 33" descr="배지 1 단색으로 채워진">
            <a:extLst>
              <a:ext uri="{FF2B5EF4-FFF2-40B4-BE49-F238E27FC236}">
                <a16:creationId xmlns:a16="http://schemas.microsoft.com/office/drawing/2014/main" id="{CC130F45-ED15-6906-4187-F61079D246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76674" y="1485386"/>
            <a:ext cx="276330" cy="276330"/>
          </a:xfrm>
          <a:prstGeom prst="rect">
            <a:avLst/>
          </a:prstGeom>
        </p:spPr>
      </p:pic>
      <p:pic>
        <p:nvPicPr>
          <p:cNvPr id="36" name="그래픽 35" descr="배지 단색으로 채워진">
            <a:extLst>
              <a:ext uri="{FF2B5EF4-FFF2-40B4-BE49-F238E27FC236}">
                <a16:creationId xmlns:a16="http://schemas.microsoft.com/office/drawing/2014/main" id="{818828B1-EC24-5501-448F-FC02FDC86D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76674" y="3210721"/>
            <a:ext cx="276330" cy="276330"/>
          </a:xfrm>
          <a:prstGeom prst="rect">
            <a:avLst/>
          </a:prstGeom>
        </p:spPr>
      </p:pic>
      <p:pic>
        <p:nvPicPr>
          <p:cNvPr id="38" name="그래픽 37" descr="배지 3 단색으로 채워진">
            <a:extLst>
              <a:ext uri="{FF2B5EF4-FFF2-40B4-BE49-F238E27FC236}">
                <a16:creationId xmlns:a16="http://schemas.microsoft.com/office/drawing/2014/main" id="{6B50664C-753A-4A42-027A-323EE8844B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41046" y="4441518"/>
            <a:ext cx="276330" cy="27633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D68CD3C-D03E-4059-5D28-7AAB6407BAFC}"/>
              </a:ext>
            </a:extLst>
          </p:cNvPr>
          <p:cNvSpPr txBox="1"/>
          <p:nvPr/>
        </p:nvSpPr>
        <p:spPr>
          <a:xfrm>
            <a:off x="5004797" y="1696403"/>
            <a:ext cx="1460662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0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0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0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 </a:t>
            </a:r>
            <a:endParaRPr lang="en-US" altLang="ko-KR" sz="10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0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0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0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1C3E297-FCCB-397E-018E-55E4BDE3DA38}"/>
              </a:ext>
            </a:extLst>
          </p:cNvPr>
          <p:cNvSpPr txBox="1"/>
          <p:nvPr/>
        </p:nvSpPr>
        <p:spPr>
          <a:xfrm>
            <a:off x="7375008" y="3632659"/>
            <a:ext cx="3139003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0.6462 , 0.0857, 0.1761]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31C0E0-1E7B-89C8-8987-C0F92717C6A7}"/>
              </a:ext>
            </a:extLst>
          </p:cNvPr>
          <p:cNvSpPr txBox="1"/>
          <p:nvPr/>
        </p:nvSpPr>
        <p:spPr>
          <a:xfrm>
            <a:off x="1656709" y="4129587"/>
            <a:ext cx="2004419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B209FEE-C228-2E1F-12A2-AFB5FF530FF1}"/>
              </a:ext>
            </a:extLst>
          </p:cNvPr>
          <p:cNvSpPr txBox="1"/>
          <p:nvPr/>
        </p:nvSpPr>
        <p:spPr>
          <a:xfrm>
            <a:off x="7375007" y="6247497"/>
            <a:ext cx="3139003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0.6790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0.5929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E4840900-CD8B-5BAD-7BDD-7F374B98F9A8}"/>
              </a:ext>
            </a:extLst>
          </p:cNvPr>
          <p:cNvSpPr/>
          <p:nvPr/>
        </p:nvSpPr>
        <p:spPr>
          <a:xfrm>
            <a:off x="2142836" y="3589410"/>
            <a:ext cx="1080655" cy="4219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72990524-CCF1-788B-512B-37D6EE03ADFA}"/>
              </a:ext>
            </a:extLst>
          </p:cNvPr>
          <p:cNvCxnSpPr>
            <a:cxnSpLocks/>
            <a:endCxn id="52" idx="1"/>
          </p:cNvCxnSpPr>
          <p:nvPr/>
        </p:nvCxnSpPr>
        <p:spPr>
          <a:xfrm>
            <a:off x="5957455" y="2404289"/>
            <a:ext cx="1417552" cy="3997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99FFCC4-6076-77AD-CEA6-EB277323DFB8}"/>
              </a:ext>
            </a:extLst>
          </p:cNvPr>
          <p:cNvSpPr txBox="1"/>
          <p:nvPr/>
        </p:nvSpPr>
        <p:spPr>
          <a:xfrm>
            <a:off x="995348" y="4614998"/>
            <a:ext cx="5331559" cy="116955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 err="1"/>
              <a:t>raw_scores</a:t>
            </a:r>
            <a:r>
              <a:rPr lang="en-US" altLang="ko-KR" sz="1400" dirty="0"/>
              <a:t> 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/>
              <a:t>attention_weights</a:t>
            </a:r>
            <a:r>
              <a:rPr lang="en-US" altLang="ko-KR" sz="1400" dirty="0"/>
              <a:t> 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/>
              <a:t>raw_scores</a:t>
            </a:r>
            <a:r>
              <a:rPr lang="en-US" altLang="ko-KR" sz="1400" dirty="0"/>
              <a:t> 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R="0" indent="0">
              <a:buNone/>
            </a:pP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R="0" indent="0">
              <a:buNone/>
            </a:pP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/>
              <a:t>attention_weights</a:t>
            </a:r>
            <a:r>
              <a:rPr lang="en-US" altLang="ko-KR" sz="1400" dirty="0"/>
              <a:t> 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115801C9-1C49-8A81-C541-5665623596BE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375007" y="5229796"/>
            <a:ext cx="2151067" cy="91885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0DBEE09-3F5C-FB5E-0111-891462181261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B5C2E5-D6C0-FB5A-9AB2-8CCB4BC38C9E}"/>
              </a:ext>
            </a:extLst>
          </p:cNvPr>
          <p:cNvSpPr txBox="1"/>
          <p:nvPr/>
        </p:nvSpPr>
        <p:spPr>
          <a:xfrm>
            <a:off x="954113" y="586439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scores </a:t>
            </a:r>
            <a:r>
              <a:rPr lang="en-US" altLang="ko-KR" b="0" i="0" dirty="0">
                <a:solidFill>
                  <a:srgbClr val="9A6E3A"/>
                </a:solidFill>
                <a:effectLst/>
                <a:latin typeface="Ubuntu Sans Mono"/>
              </a:rPr>
              <a:t>=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[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score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(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target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,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source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)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</a:t>
            </a:r>
            <a:r>
              <a:rPr lang="en-US" altLang="ko-KR" b="0" i="0" dirty="0">
                <a:solidFill>
                  <a:srgbClr val="0077AA"/>
                </a:solidFill>
                <a:effectLst/>
                <a:latin typeface="Ubuntu Sans Mono"/>
              </a:rPr>
              <a:t>for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source </a:t>
            </a:r>
            <a:r>
              <a:rPr lang="en-US" altLang="ko-KR" b="0" i="0" dirty="0">
                <a:solidFill>
                  <a:srgbClr val="0077AA"/>
                </a:solidFill>
                <a:effectLst/>
                <a:latin typeface="Ubuntu Sans Mono"/>
              </a:rPr>
              <a:t>in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sources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]</a:t>
            </a:r>
            <a:endParaRPr lang="en-US" altLang="ko-KR" b="0" i="0" dirty="0">
              <a:solidFill>
                <a:srgbClr val="000000"/>
              </a:solidFill>
              <a:effectLst/>
              <a:latin typeface="Ubuntu Sans Mono"/>
            </a:endParaRPr>
          </a:p>
          <a:p>
            <a:pPr algn="l" latinLnBrk="0">
              <a:buNone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scores </a:t>
            </a:r>
            <a:r>
              <a:rPr lang="en-US" altLang="ko-KR" b="0" i="0" dirty="0">
                <a:solidFill>
                  <a:srgbClr val="9A6E3A"/>
                </a:solidFill>
                <a:effectLst/>
                <a:latin typeface="Ubuntu Sans Mono"/>
              </a:rPr>
              <a:t>=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</a:t>
            </a:r>
            <a:r>
              <a:rPr lang="en-US" altLang="ko-KR" b="0" i="0" dirty="0" err="1">
                <a:solidFill>
                  <a:srgbClr val="000000"/>
                </a:solidFill>
                <a:effectLst/>
                <a:latin typeface="Ubuntu Sans Mono"/>
              </a:rPr>
              <a:t>softmax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(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scores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)</a:t>
            </a:r>
            <a:endParaRPr lang="en-US" altLang="ko-KR" b="0" i="0" dirty="0">
              <a:solidFill>
                <a:srgbClr val="000000"/>
              </a:solidFill>
              <a:effectLst/>
              <a:latin typeface="Ubuntu Sans Mon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combined </a:t>
            </a:r>
            <a:r>
              <a:rPr lang="en-US" altLang="ko-KR" b="0" i="0" dirty="0">
                <a:solidFill>
                  <a:srgbClr val="9A6E3A"/>
                </a:solidFill>
                <a:effectLst/>
                <a:latin typeface="Ubuntu Sans Mono"/>
              </a:rPr>
              <a:t>=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</a:t>
            </a:r>
            <a:r>
              <a:rPr lang="en-US" altLang="ko-KR" b="0" i="0" dirty="0" err="1">
                <a:solidFill>
                  <a:srgbClr val="000000"/>
                </a:solidFill>
                <a:effectLst/>
                <a:latin typeface="Ubuntu Sans Mono"/>
              </a:rPr>
              <a:t>np</a:t>
            </a:r>
            <a:r>
              <a:rPr lang="en-US" altLang="ko-KR" b="0" i="0" dirty="0" err="1">
                <a:solidFill>
                  <a:srgbClr val="999999"/>
                </a:solidFill>
                <a:effectLst/>
                <a:latin typeface="Ubuntu Sans Mono"/>
              </a:rPr>
              <a:t>.</a:t>
            </a:r>
            <a:r>
              <a:rPr lang="en-US" altLang="ko-KR" b="0" i="0" dirty="0" err="1">
                <a:solidFill>
                  <a:srgbClr val="669900"/>
                </a:solidFill>
                <a:effectLst/>
                <a:latin typeface="Ubuntu Sans Mono"/>
              </a:rPr>
              <a:t>sum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(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scores </a:t>
            </a:r>
            <a:r>
              <a:rPr lang="en-US" altLang="ko-KR" b="0" i="0" dirty="0">
                <a:solidFill>
                  <a:srgbClr val="9A6E3A"/>
                </a:solidFill>
                <a:effectLst/>
                <a:latin typeface="Ubuntu Sans Mono"/>
              </a:rPr>
              <a:t>*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sources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)</a:t>
            </a:r>
            <a:endParaRPr lang="en-US" altLang="ko-KR" b="0" i="0" dirty="0"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0423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BBCDE-48D0-D947-2AC3-05D8719F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3944A8-CD14-49B3-1AA8-680D65BD5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0CA67B-0067-E27D-6859-76E0A873E6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B07912B-8FD4-8EAC-1BAA-D3C18E409216}"/>
              </a:ext>
            </a:extLst>
          </p:cNvPr>
          <p:cNvSpPr txBox="1"/>
          <p:nvPr/>
        </p:nvSpPr>
        <p:spPr>
          <a:xfrm>
            <a:off x="537021" y="1551563"/>
            <a:ext cx="1035376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오버플로우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방지를 위해 최댓값을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빼주는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안정적인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np.exp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e_x.sum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점수(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구현: 여기서는 가장 널리 쓰이는 '내적(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Product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)’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4차원 단어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소스 단어들 (스페인어 원문 벡터 리스트)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["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[0.1, 0.2, 0.1, 0.3],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[0.8, 0.9, 0.7, 0.9],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(가져오다 - 의미적 값이 큼)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[0.2, 0.1, 0.3, 0.1],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[0.5, 0.4, 0.6, 0.2]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타겟 단어 (현재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디코더가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출력하려는 영어 단어 벡터)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(가져오다)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([0.7, 0.8, 0.6, 0.9])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E5ACCF5-7BA8-5844-5E37-5232D0C90D7D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69466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6E55A-319D-D843-7B87-BF9001557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00139C-8AB8-BF2F-A5B4-6C7B81506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DF72A09-AEE7-4810-EAAD-B6E381EA6B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06D37C-FFD3-3818-5D79-EADC347494B1}"/>
              </a:ext>
            </a:extLst>
          </p:cNvPr>
          <p:cNvSpPr txBox="1"/>
          <p:nvPr/>
        </p:nvSpPr>
        <p:spPr>
          <a:xfrm>
            <a:off x="572626" y="1500202"/>
            <a:ext cx="9550429" cy="426046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1단계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메커니즘 실행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각 소스 단어와 타겟 단어 간의 연관성 점수 계산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(f"1. 날것의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출력 결과 '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traeré'의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점수가 가장 높음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소프트맥스를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취해 합이 1이 되는 가중치 확률로 변환</a:t>
            </a:r>
          </a:p>
          <a:p>
            <a:pPr>
              <a:lnSpc>
                <a:spcPct val="150000"/>
              </a:lnSpc>
            </a:pP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"\n2.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정규화 후 가중치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가중치 총합: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zip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"],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 -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}: {weight:.4f}")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Weighted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구하기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원소별 곱(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)을 한 뒤, 행(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 기준으로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총합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"\n3. 최종 추출된 문맥 벡터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45E81A-875F-A5EE-79EC-22F770545304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37A705-6C0A-0F98-0A35-AF5ED9B660B6}"/>
              </a:ext>
            </a:extLst>
          </p:cNvPr>
          <p:cNvSpPr txBox="1"/>
          <p:nvPr/>
        </p:nvSpPr>
        <p:spPr>
          <a:xfrm>
            <a:off x="5972175" y="88235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Courier New" panose="02070309020205020404" pitchFamily="49" charset="0"/>
              </a:rPr>
              <a:t>sum(score(target, source) * source)</a:t>
            </a:r>
            <a:r>
              <a:rPr lang="ko-KR" altLang="en-US" dirty="0"/>
              <a:t>로 요약할 수 있습니다</a:t>
            </a:r>
            <a:r>
              <a:rPr lang="en-US" altLang="ko-KR" dirty="0"/>
              <a:t>. </a:t>
            </a:r>
            <a:r>
              <a:rPr lang="ko-KR" altLang="en-US" dirty="0"/>
              <a:t>이를 다른 입력 명칭을 사용하여 동일하게 </a:t>
            </a:r>
            <a:r>
              <a:rPr lang="en-US" altLang="ko-KR" dirty="0">
                <a:latin typeface="Courier New" panose="02070309020205020404" pitchFamily="49" charset="0"/>
              </a:rPr>
              <a:t>sum(score(query, key) * value)</a:t>
            </a:r>
            <a:endParaRPr lang="ko-KR" altLang="en-US" dirty="0"/>
          </a:p>
        </p:txBody>
      </p:sp>
      <p:pic>
        <p:nvPicPr>
          <p:cNvPr id="6" name="그래픽 5" descr="배지 1 단색으로 채워진">
            <a:extLst>
              <a:ext uri="{FF2B5EF4-FFF2-40B4-BE49-F238E27FC236}">
                <a16:creationId xmlns:a16="http://schemas.microsoft.com/office/drawing/2014/main" id="{8D1A90B7-98C0-4091-55B0-6CCC630E5C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7258" y="1912376"/>
            <a:ext cx="276330" cy="276330"/>
          </a:xfrm>
          <a:prstGeom prst="rect">
            <a:avLst/>
          </a:prstGeom>
        </p:spPr>
      </p:pic>
      <p:pic>
        <p:nvPicPr>
          <p:cNvPr id="7" name="그래픽 6" descr="배지 단색으로 채워진">
            <a:extLst>
              <a:ext uri="{FF2B5EF4-FFF2-40B4-BE49-F238E27FC236}">
                <a16:creationId xmlns:a16="http://schemas.microsoft.com/office/drawing/2014/main" id="{48FB9DEE-5FDF-19C5-8AFE-697612A6DC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7258" y="3171720"/>
            <a:ext cx="276330" cy="276330"/>
          </a:xfrm>
          <a:prstGeom prst="rect">
            <a:avLst/>
          </a:prstGeom>
        </p:spPr>
      </p:pic>
      <p:pic>
        <p:nvPicPr>
          <p:cNvPr id="8" name="그래픽 7" descr="배지 3 단색으로 채워진">
            <a:extLst>
              <a:ext uri="{FF2B5EF4-FFF2-40B4-BE49-F238E27FC236}">
                <a16:creationId xmlns:a16="http://schemas.microsoft.com/office/drawing/2014/main" id="{81DAE5CF-BC30-62E7-0DC1-7E18E9F1086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7258" y="5089981"/>
            <a:ext cx="276330" cy="276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9996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B87F7-4577-3A9B-A571-304094268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E6346-525A-0E36-6466-5B78828C5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85AB3F0-4EF5-C7B7-8CC5-74D815029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51A6D1-52D7-E7C4-E4C9-F3AF79593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75" y="1366661"/>
            <a:ext cx="4948745" cy="22296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28AC0E-2712-39EE-3B6F-D2420FAEA1A5}"/>
              </a:ext>
            </a:extLst>
          </p:cNvPr>
          <p:cNvSpPr txBox="1"/>
          <p:nvPr/>
        </p:nvSpPr>
        <p:spPr>
          <a:xfrm>
            <a:off x="1476339" y="3662917"/>
            <a:ext cx="1689897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488CF9-30F3-19FA-39C6-E5D6ED8B648D}"/>
              </a:ext>
            </a:extLst>
          </p:cNvPr>
          <p:cNvSpPr txBox="1"/>
          <p:nvPr/>
        </p:nvSpPr>
        <p:spPr>
          <a:xfrm>
            <a:off x="3004785" y="5759262"/>
            <a:ext cx="2345495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0.679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0.592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14489A3-B97F-4857-94C9-992DACAD2A0C}"/>
              </a:ext>
            </a:extLst>
          </p:cNvPr>
          <p:cNvSpPr/>
          <p:nvPr/>
        </p:nvSpPr>
        <p:spPr>
          <a:xfrm>
            <a:off x="1865746" y="3240628"/>
            <a:ext cx="911085" cy="355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24CC52-E662-7DCB-F345-32678DD6EED8}"/>
              </a:ext>
            </a:extLst>
          </p:cNvPr>
          <p:cNvSpPr txBox="1"/>
          <p:nvPr/>
        </p:nvSpPr>
        <p:spPr>
          <a:xfrm>
            <a:off x="5726546" y="1366661"/>
            <a:ext cx="6096000" cy="4865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Attention Mechanism = 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맞춤형 문맥 가이드라인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벡터는 다음 레이어로 넘겨줄 "스페인어 문장의 엑기스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요약본“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수치를 뜯어보면 소름 돋는 포인트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스페인어 단어 중 가장 중요했던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[0.8, 0.9, 0.7, 0.9]의 값과 최종 결과물 [0.63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0.67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0.59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]를 비교해 보세요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64.6%라는 큰 가중치를 받았기 때문에 전체적인 모양새(수치 경향성)가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쏙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빼닮아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있습니다.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하지만 완전히 똑같진 않죠? 두 번째로 가중치가 높았던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[0.5, 0.4, 0.6, 0.2]의 성분도 17.6%만큼 은은하게 섞여 들어갔기 때문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즉, 이 3번 수치는 단순히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하나만을 뜻하는 게 아니라, "지금 영어로 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bring'을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출력하려는 순간에, 스페인어 원문에서 가져오다('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')라는 행동 정보와 가방('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')이라는 목적어 정보를 최적의 비율로 융합해 놓은 단 하나의 벡터“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＂군더더기(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)는 싹 걸러내고, 핵심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정확하게 버무려진 3번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벡터＂를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전달하면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디코더는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영어 문장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will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you"를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완벽하게 완성해 나갈 수 있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84D2CE-F01F-7E46-26AF-CA2CC9A83760}"/>
              </a:ext>
            </a:extLst>
          </p:cNvPr>
          <p:cNvSpPr txBox="1"/>
          <p:nvPr/>
        </p:nvSpPr>
        <p:spPr>
          <a:xfrm>
            <a:off x="3644511" y="1802420"/>
            <a:ext cx="1720540" cy="83099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 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1D5AB4D7-9798-F976-3FD7-DE3A692E74B0}"/>
              </a:ext>
            </a:extLst>
          </p:cNvPr>
          <p:cNvCxnSpPr>
            <a:cxnSpLocks/>
            <a:stCxn id="24" idx="2"/>
            <a:endCxn id="9" idx="0"/>
          </p:cNvCxnSpPr>
          <p:nvPr/>
        </p:nvCxnSpPr>
        <p:spPr>
          <a:xfrm rot="5400000">
            <a:off x="2778235" y="4032715"/>
            <a:ext cx="3125845" cy="327248"/>
          </a:xfrm>
          <a:prstGeom prst="bentConnector3">
            <a:avLst>
              <a:gd name="adj1" fmla="val 50000"/>
            </a:avLst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657DF47-A658-C852-3125-AC09F4F3C187}"/>
              </a:ext>
            </a:extLst>
          </p:cNvPr>
          <p:cNvSpPr txBox="1"/>
          <p:nvPr/>
        </p:nvSpPr>
        <p:spPr>
          <a:xfrm>
            <a:off x="2847878" y="4939305"/>
            <a:ext cx="27280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10CD02-1A36-093E-930B-928933FA62D2}"/>
              </a:ext>
            </a:extLst>
          </p:cNvPr>
          <p:cNvSpPr txBox="1"/>
          <p:nvPr/>
        </p:nvSpPr>
        <p:spPr>
          <a:xfrm>
            <a:off x="1314889" y="4939304"/>
            <a:ext cx="16898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438E7A-F9F1-38A2-E05E-C7B3A31E60C1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8D586B-E5DC-F053-E5A6-159ABD6EE8B3}"/>
              </a:ext>
            </a:extLst>
          </p:cNvPr>
          <p:cNvSpPr txBox="1"/>
          <p:nvPr/>
        </p:nvSpPr>
        <p:spPr>
          <a:xfrm>
            <a:off x="2868115" y="4360995"/>
            <a:ext cx="2247549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Attention Mechanism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58904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5685C-E50D-BEBD-6B3A-46B2BAFB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38461E-6BA0-5463-C3FC-F1249D8C3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1DF0EEA-41CE-B640-7302-8DB617759E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7ED1426-C41E-BD79-2679-DC470AF3B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466" y="1742979"/>
            <a:ext cx="3804659" cy="346895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A80E212-B6B2-A504-6A2E-DCC6C015C9DF}"/>
              </a:ext>
            </a:extLst>
          </p:cNvPr>
          <p:cNvSpPr/>
          <p:nvPr/>
        </p:nvSpPr>
        <p:spPr>
          <a:xfrm>
            <a:off x="3159126" y="1893150"/>
            <a:ext cx="655782" cy="24978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8D427B87-73DB-9D7A-1E52-8D70E976C23F}"/>
              </a:ext>
            </a:extLst>
          </p:cNvPr>
          <p:cNvCxnSpPr>
            <a:cxnSpLocks/>
            <a:stCxn id="10" idx="3"/>
            <a:endCxn id="17" idx="2"/>
          </p:cNvCxnSpPr>
          <p:nvPr/>
        </p:nvCxnSpPr>
        <p:spPr>
          <a:xfrm flipV="1">
            <a:off x="3814908" y="2456639"/>
            <a:ext cx="4621551" cy="685449"/>
          </a:xfrm>
          <a:prstGeom prst="bentConnector2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F85ECF-26E2-67D4-E12D-AF19B5C9B784}"/>
              </a:ext>
            </a:extLst>
          </p:cNvPr>
          <p:cNvSpPr txBox="1"/>
          <p:nvPr/>
        </p:nvSpPr>
        <p:spPr>
          <a:xfrm>
            <a:off x="6731391" y="1766018"/>
            <a:ext cx="3127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(scores)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03CE3E-8C4C-1C43-E24E-7DA8A2D1DDEA}"/>
              </a:ext>
            </a:extLst>
          </p:cNvPr>
          <p:cNvSpPr txBox="1"/>
          <p:nvPr/>
        </p:nvSpPr>
        <p:spPr>
          <a:xfrm>
            <a:off x="6731391" y="2118085"/>
            <a:ext cx="34101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43EC94-DFD6-D05A-390B-A1F187DA8BE7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67544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5BA04-637B-645C-99DF-7D88A1253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2478E-D13E-4A8E-C969-DB0769245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CF5DFFC-9095-DCA0-C08C-70FAA0EC75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742539-1047-AADF-A318-E21EC294A720}"/>
              </a:ext>
            </a:extLst>
          </p:cNvPr>
          <p:cNvSpPr txBox="1"/>
          <p:nvPr/>
        </p:nvSpPr>
        <p:spPr>
          <a:xfrm>
            <a:off x="600074" y="1383864"/>
            <a:ext cx="8686801" cy="12464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역할 /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역할을 동시에 함 (재탕)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]) # 여기서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(기준)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최종 합산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=0) # 여기서 또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B95FD4-7953-6D6C-949B-752175600DF8}"/>
              </a:ext>
            </a:extLst>
          </p:cNvPr>
          <p:cNvSpPr txBox="1"/>
          <p:nvPr/>
        </p:nvSpPr>
        <p:spPr>
          <a:xfrm>
            <a:off x="600074" y="3400425"/>
            <a:ext cx="7981952" cy="263149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먼저 가중치 행렬(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)을 곱해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values로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완전히 분리해 둡니다.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W_Q)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W_K)    # 점수 매기기 전용 (기존의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함수 안의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대체)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W_V)  # 실제 알맹이 전용 (기존의 최종 합산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대체)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점수 계산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비교)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k)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k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최종 합산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곱함)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</p:txBody>
      </p:sp>
      <p:sp>
        <p:nvSpPr>
          <p:cNvPr id="11" name="설명선: 선(강조선) 10">
            <a:extLst>
              <a:ext uri="{FF2B5EF4-FFF2-40B4-BE49-F238E27FC236}">
                <a16:creationId xmlns:a16="http://schemas.microsoft.com/office/drawing/2014/main" id="{074597CC-5B92-16E9-A4E0-1E54945799A1}"/>
              </a:ext>
            </a:extLst>
          </p:cNvPr>
          <p:cNvSpPr/>
          <p:nvPr/>
        </p:nvSpPr>
        <p:spPr>
          <a:xfrm>
            <a:off x="8975982" y="3133725"/>
            <a:ext cx="2892167" cy="2819400"/>
          </a:xfrm>
          <a:prstGeom prst="accentCallout1">
            <a:avLst>
              <a:gd name="adj1" fmla="val 18750"/>
              <a:gd name="adj2" fmla="val -8333"/>
              <a:gd name="adj3" fmla="val 22237"/>
              <a:gd name="adj4" fmla="val -1325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_Q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W_K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라는 학습 가능한 파라미터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가정하고 행렬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무엇이냐에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따라 이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모델은 데이터를 늘릴 수도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회전시킬 수도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차원을 찌그러뜨릴 수도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가능하게 되어</a:t>
            </a: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모델이 학습을 통해 표현할 수 있는 관계성의 가짓수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함수의 후보들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수억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수조 개로 늘어난 것입니다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이것은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가설 공간을 훨씬 더 풍부하게 만들어 줌</a:t>
            </a:r>
          </a:p>
        </p:txBody>
      </p:sp>
      <p:sp>
        <p:nvSpPr>
          <p:cNvPr id="12" name="설명선: 선(강조선) 11">
            <a:extLst>
              <a:ext uri="{FF2B5EF4-FFF2-40B4-BE49-F238E27FC236}">
                <a16:creationId xmlns:a16="http://schemas.microsoft.com/office/drawing/2014/main" id="{57B4367C-8247-34B9-0338-40B441E54151}"/>
              </a:ext>
            </a:extLst>
          </p:cNvPr>
          <p:cNvSpPr/>
          <p:nvPr/>
        </p:nvSpPr>
        <p:spPr>
          <a:xfrm>
            <a:off x="9680832" y="1383864"/>
            <a:ext cx="2082544" cy="1246495"/>
          </a:xfrm>
          <a:prstGeom prst="accentCallout1">
            <a:avLst>
              <a:gd name="adj1" fmla="val 18750"/>
              <a:gd name="adj2" fmla="val -8333"/>
              <a:gd name="adj3" fmla="val 24529"/>
              <a:gd name="adj4" fmla="val -1965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고정된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임베딩이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약점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apple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 경우에도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맥킨토시나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아이폰 등과 같은 단어와 연관성을 찾기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힘등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아래쪽 12">
            <a:extLst>
              <a:ext uri="{FF2B5EF4-FFF2-40B4-BE49-F238E27FC236}">
                <a16:creationId xmlns:a16="http://schemas.microsoft.com/office/drawing/2014/main" id="{D2CE9684-F397-CE45-DA5F-7FA117778FB7}"/>
              </a:ext>
            </a:extLst>
          </p:cNvPr>
          <p:cNvSpPr/>
          <p:nvPr/>
        </p:nvSpPr>
        <p:spPr>
          <a:xfrm>
            <a:off x="3495676" y="2765801"/>
            <a:ext cx="571499" cy="491749"/>
          </a:xfrm>
          <a:prstGeom prst="downArrow">
            <a:avLst>
              <a:gd name="adj1" fmla="val 5239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62F35F-BD2E-6AA4-45A9-9B80F01E966B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40088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52095-7E9D-6124-A4C4-1764B4C58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7F369A-A8A1-4007-314C-12738C637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8FF8E2D-0FF1-DD0A-8E12-C59DC9C6B6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F5622AD-2E95-BAA7-E12F-D392FDB0F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25" y="2617391"/>
            <a:ext cx="7026249" cy="23014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221C5F-4532-D2D4-37C6-6814A7AF334D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E46BD3-B69B-B7AC-E23D-0DC0C491EF87}"/>
                  </a:ext>
                </a:extLst>
              </p:cNvPr>
              <p:cNvSpPr txBox="1"/>
              <p:nvPr/>
            </p:nvSpPr>
            <p:spPr>
              <a:xfrm>
                <a:off x="542924" y="1286727"/>
                <a:ext cx="11134725" cy="879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입력되는 벡터의 차원을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𝑚𝑜𝑑𝑒𝑙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이라 하고, 우리가 투영(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Projection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)시켜서 보낼 새로운 공간의 차원을 각각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Query와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Key의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차원),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Value의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차원)라고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하면 각 가중치 행렬의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Shape은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다음과 같음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E46BD3-B69B-B7AC-E23D-0DC0C491E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24" y="1286727"/>
                <a:ext cx="11134725" cy="879984"/>
              </a:xfrm>
              <a:prstGeom prst="rect">
                <a:avLst/>
              </a:prstGeom>
              <a:blipFill>
                <a:blip r:embed="rId3"/>
                <a:stretch>
                  <a:fillRect l="-438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2D269311-680F-7BF2-13EB-6EA2F59016CE}"/>
              </a:ext>
            </a:extLst>
          </p:cNvPr>
          <p:cNvSpPr txBox="1"/>
          <p:nvPr/>
        </p:nvSpPr>
        <p:spPr>
          <a:xfrm>
            <a:off x="2028825" y="5190295"/>
            <a:ext cx="20288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학습하여 최적의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찾기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5C6986B-91DE-E5D6-2EDB-1EB0ED3A9810}"/>
              </a:ext>
            </a:extLst>
          </p:cNvPr>
          <p:cNvSpPr/>
          <p:nvPr/>
        </p:nvSpPr>
        <p:spPr>
          <a:xfrm>
            <a:off x="1933574" y="3019425"/>
            <a:ext cx="2124076" cy="2038350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956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D0BDF-C167-0276-F333-6493FB0C3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316891-4BD4-1077-8F3C-92C62683B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6B9E82E-2365-75E6-DB9F-2A53B94107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777C00-5634-18D8-500C-B1B4670E4BA8}"/>
                  </a:ext>
                </a:extLst>
              </p:cNvPr>
              <p:cNvSpPr txBox="1"/>
              <p:nvPr/>
            </p:nvSpPr>
            <p:spPr>
              <a:xfrm>
                <a:off x="625311" y="1196231"/>
                <a:ext cx="10810875" cy="27177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스케일링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sz="1600" b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altLang="ko-KR" sz="1600" b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rad>
                  </m:oMath>
                </a14:m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나누기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):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Scaled Dot-Product Attention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점수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(Query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Key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내적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값이 너무 커지면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소프트맥스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함수 특성상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미분값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가까워져 학습이 안 되는 문제를 방지하기 위해 차원 수의 제곱근으로 점수를 낮춰주는 것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lvl="1">
                  <a:lnSpc>
                    <a:spcPct val="150000"/>
                  </a:lnSpc>
                </a:pP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멀티 헤드 </a:t>
                </a:r>
                <a:r>
                  <a:rPr lang="ko-KR" altLang="en-US" sz="1600" b="1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(Multi-Head Attention)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하나의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어텐션만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쓰면 여러 중요한 정보가 한데 섞여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뭉개지므로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마치 여러 명의 전문가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(Heads)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각자 다른 관점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파라미터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문장을 분석하게 한 뒤 의견을 종합하는 방식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777C00-5634-18D8-500C-B1B4670E4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11" y="1196231"/>
                <a:ext cx="10810875" cy="2717732"/>
              </a:xfrm>
              <a:prstGeom prst="rect">
                <a:avLst/>
              </a:prstGeom>
              <a:blipFill>
                <a:blip r:embed="rId2"/>
                <a:stretch>
                  <a:fillRect l="-282" b="-17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1D58650-FA2D-BECC-ECD9-D072827B175D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9B4EB5B-3787-FEE7-CA61-683BB9358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9010" y="4014236"/>
            <a:ext cx="5446492" cy="238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설명선: 선(강조선) 7">
            <a:extLst>
              <a:ext uri="{FF2B5EF4-FFF2-40B4-BE49-F238E27FC236}">
                <a16:creationId xmlns:a16="http://schemas.microsoft.com/office/drawing/2014/main" id="{692EB135-7323-7885-16BE-43CE88CE441D}"/>
              </a:ext>
            </a:extLst>
          </p:cNvPr>
          <p:cNvSpPr/>
          <p:nvPr/>
        </p:nvSpPr>
        <p:spPr>
          <a:xfrm>
            <a:off x="7282653" y="4120295"/>
            <a:ext cx="3309148" cy="2175032"/>
          </a:xfrm>
          <a:prstGeom prst="accentCallout1">
            <a:avLst>
              <a:gd name="adj1" fmla="val 18750"/>
              <a:gd name="adj2" fmla="val -8333"/>
              <a:gd name="adj3" fmla="val 44512"/>
              <a:gd name="adj4" fmla="val -81042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1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주어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이 문장에서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누가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행동했는지에만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집중해서 점수를 매기겠어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2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문장 부호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문장의 흐름이 어디서 끊기는지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마침표나 쉼표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관계만 보겠어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3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동사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행동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동사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연관성만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추적하겠어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963839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058E7-2E75-6BED-6DB1-CBC2C6512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4A4EFA-471D-442F-41F1-7B3C441CA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7ACB4F-4DB5-2C50-48C1-492B76C920C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8AC6F2-B4C2-727B-91AE-BB7CB491850A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encoder block</a:t>
            </a:r>
          </a:p>
        </p:txBody>
      </p:sp>
    </p:spTree>
    <p:extLst>
      <p:ext uri="{BB962C8B-B14F-4D97-AF65-F5344CB8AC3E}">
        <p14:creationId xmlns:p14="http://schemas.microsoft.com/office/powerpoint/2010/main" val="1610729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51AB6-C939-8353-8B90-093C02A59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219A56-E812-EC9D-4AC5-81DFD81FE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200C2E9-B33E-45AB-6008-39876A11BB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D8129-A3B4-895F-DE26-A71D33F91BB5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encoder block</a:t>
            </a:r>
          </a:p>
        </p:txBody>
      </p:sp>
    </p:spTree>
    <p:extLst>
      <p:ext uri="{BB962C8B-B14F-4D97-AF65-F5344CB8AC3E}">
        <p14:creationId xmlns:p14="http://schemas.microsoft.com/office/powerpoint/2010/main" val="5179728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18BB9-FF88-AC42-C02A-5169F3B74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E75F44-3F26-3C0C-75D6-9E4831889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0C3227B-BEC3-BF17-6247-ECD2C17D9B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C43261-8309-ABA6-C334-C8ED1EB623F1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encoder block</a:t>
            </a:r>
          </a:p>
        </p:txBody>
      </p:sp>
    </p:spTree>
    <p:extLst>
      <p:ext uri="{BB962C8B-B14F-4D97-AF65-F5344CB8AC3E}">
        <p14:creationId xmlns:p14="http://schemas.microsoft.com/office/powerpoint/2010/main" val="22411702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372C5-41FC-9754-4830-C0B67ADEB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C883BE-47E8-D5DA-A28E-954BBA54A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FF1BE88-7706-6316-E74F-CA94894F0E3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64AE2D-BB99-563F-8847-E8512FC74CB1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encoder block</a:t>
            </a:r>
          </a:p>
        </p:txBody>
      </p:sp>
    </p:spTree>
    <p:extLst>
      <p:ext uri="{BB962C8B-B14F-4D97-AF65-F5344CB8AC3E}">
        <p14:creationId xmlns:p14="http://schemas.microsoft.com/office/powerpoint/2010/main" val="18701351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76D13-9606-9ADE-343E-CFDB78AF1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9F7A40-60DF-A678-B51B-7620F8F13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17A03AA-D0E5-0971-6D54-56AEE88554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24059-ABE5-E1BC-4E4E-BC75C76D3D57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decoder block</a:t>
            </a:r>
          </a:p>
        </p:txBody>
      </p:sp>
    </p:spTree>
    <p:extLst>
      <p:ext uri="{BB962C8B-B14F-4D97-AF65-F5344CB8AC3E}">
        <p14:creationId xmlns:p14="http://schemas.microsoft.com/office/powerpoint/2010/main" val="17187482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E6B01-AA32-CA13-32DA-6B07115A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1D9962-B0CE-2EE0-1E46-140807A2E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30A9BD2-0B84-11FF-A28B-35626F1B69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DF28C9-1C25-B37C-D11F-BD3D6C9F8864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decoder block</a:t>
            </a:r>
          </a:p>
        </p:txBody>
      </p:sp>
    </p:spTree>
    <p:extLst>
      <p:ext uri="{BB962C8B-B14F-4D97-AF65-F5344CB8AC3E}">
        <p14:creationId xmlns:p14="http://schemas.microsoft.com/office/powerpoint/2010/main" val="34393323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8D3A4-C8F8-3A62-1DFF-8BA165EF1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24DB55-B4D5-F1AA-CFF1-CCC984361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23DE18-54F8-881C-5BB2-2CF2DC0929D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248F4F-9556-4A8B-E173-9CAB3530080A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decoder block</a:t>
            </a:r>
          </a:p>
        </p:txBody>
      </p:sp>
    </p:spTree>
    <p:extLst>
      <p:ext uri="{BB962C8B-B14F-4D97-AF65-F5344CB8AC3E}">
        <p14:creationId xmlns:p14="http://schemas.microsoft.com/office/powerpoint/2010/main" val="4673501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4EC19-707E-DF6D-24F7-907F00813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A9CFDF-5058-9D80-19A7-DD3B0BE0C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ACE83C2-4DF4-71FE-C303-CD5B230768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906E0D-F540-20E8-7C4D-AF65FC880136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decoder block</a:t>
            </a:r>
          </a:p>
        </p:txBody>
      </p:sp>
    </p:spTree>
    <p:extLst>
      <p:ext uri="{BB962C8B-B14F-4D97-AF65-F5344CB8AC3E}">
        <p14:creationId xmlns:p14="http://schemas.microsoft.com/office/powerpoint/2010/main" val="2562270120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8453</TotalTime>
  <Words>4625</Words>
  <Application>Microsoft Office PowerPoint</Application>
  <PresentationFormat>와이드스크린</PresentationFormat>
  <Paragraphs>368</Paragraphs>
  <Slides>36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6" baseType="lpstr">
      <vt:lpstr>D2Coding</vt:lpstr>
      <vt:lpstr>Ubuntu Sans Mono</vt:lpstr>
      <vt:lpstr>맑은 고딕</vt:lpstr>
      <vt:lpstr>바탕</vt:lpstr>
      <vt:lpstr>Arial</vt:lpstr>
      <vt:lpstr>Cambria Math</vt:lpstr>
      <vt:lpstr>Courier New</vt:lpstr>
      <vt:lpstr>Lora</vt:lpstr>
      <vt:lpstr>Wingdings</vt:lpstr>
      <vt:lpstr>WelcomeDoc</vt:lpstr>
      <vt:lpstr>Chapter 15  Language models and the Transformer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138</cp:revision>
  <dcterms:created xsi:type="dcterms:W3CDTF">2026-04-06T01:00:39Z</dcterms:created>
  <dcterms:modified xsi:type="dcterms:W3CDTF">2026-07-06T12:30:33Z</dcterms:modified>
  <cp:version/>
</cp:coreProperties>
</file>