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1135" r:id="rId3"/>
    <p:sldId id="1136" r:id="rId4"/>
    <p:sldId id="1137" r:id="rId5"/>
    <p:sldId id="1138" r:id="rId6"/>
    <p:sldId id="1141" r:id="rId7"/>
    <p:sldId id="1139" r:id="rId8"/>
    <p:sldId id="1140" r:id="rId9"/>
    <p:sldId id="1152" r:id="rId10"/>
    <p:sldId id="1174" r:id="rId11"/>
    <p:sldId id="1142" r:id="rId12"/>
    <p:sldId id="1143" r:id="rId13"/>
    <p:sldId id="1144" r:id="rId14"/>
    <p:sldId id="1149" r:id="rId15"/>
    <p:sldId id="1173" r:id="rId16"/>
    <p:sldId id="1145" r:id="rId17"/>
    <p:sldId id="1146" r:id="rId18"/>
    <p:sldId id="1150" r:id="rId19"/>
    <p:sldId id="1175" r:id="rId20"/>
    <p:sldId id="1151" r:id="rId21"/>
    <p:sldId id="1153" r:id="rId22"/>
    <p:sldId id="1154" r:id="rId23"/>
    <p:sldId id="1172" r:id="rId24"/>
    <p:sldId id="1155" r:id="rId25"/>
    <p:sldId id="1159" r:id="rId26"/>
    <p:sldId id="1160" r:id="rId27"/>
    <p:sldId id="1156" r:id="rId28"/>
    <p:sldId id="1157" r:id="rId29"/>
    <p:sldId id="1158" r:id="rId30"/>
    <p:sldId id="1176" r:id="rId31"/>
    <p:sldId id="1162" r:id="rId32"/>
    <p:sldId id="1178" r:id="rId33"/>
    <p:sldId id="1179" r:id="rId34"/>
    <p:sldId id="1177" r:id="rId35"/>
    <p:sldId id="1161" r:id="rId36"/>
    <p:sldId id="1163" r:id="rId37"/>
    <p:sldId id="1165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41"/>
            <p14:sldId id="1139"/>
            <p14:sldId id="1140"/>
            <p14:sldId id="1152"/>
            <p14:sldId id="1174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75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76"/>
            <p14:sldId id="1162"/>
            <p14:sldId id="1178"/>
            <p14:sldId id="1179"/>
            <p14:sldId id="1177"/>
            <p14:sldId id="1161"/>
            <p14:sldId id="116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BE4A-FC4B-B886-A818-9CDEC658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772A6-F014-AA8F-5AF6-A105AEFFE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E3A808-4F37-9BA4-B01F-FF577C09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3A77B-DAD2-D139-707D-5474EB7941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76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6B24C-D74C-C7DC-EF47-C3A74412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FF7D5-9314-3C93-156A-24C15F4F7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254F2-F49B-7EFE-3265-6784E6AD68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AE52-A599-9B64-EEC9-2C9E18983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157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hyperlink" Target="https://github.com/jo1jun/Vision_Transformer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3AAA17-EC45-405D-3EC4-5671AD5F717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r="-54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A973B2-265A-5360-2594-DF8829AAD2E4}"/>
              </a:ext>
            </a:extLst>
          </p:cNvPr>
          <p:cNvSpPr/>
          <p:nvPr/>
        </p:nvSpPr>
        <p:spPr>
          <a:xfrm>
            <a:off x="4044425" y="39543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60060B-069F-A724-81B4-997CCACD0BE3}"/>
              </a:ext>
            </a:extLst>
          </p:cNvPr>
          <p:cNvSpPr/>
          <p:nvPr/>
        </p:nvSpPr>
        <p:spPr>
          <a:xfrm>
            <a:off x="5520800" y="42972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234684"/>
            <a:ext cx="47434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Training a Shakespeare language model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619875" y="2234684"/>
            <a:ext cx="5010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Shakespeare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481262" y="5206669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1808202"/>
            <a:ext cx="1102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2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101012" y="1808202"/>
            <a:ext cx="2386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sz="2000" i="1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604016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2604016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F22D2-F683-BEB8-57A7-F2C69B54D45B}"/>
              </a:ext>
            </a:extLst>
          </p:cNvPr>
          <p:cNvSpPr txBox="1"/>
          <p:nvPr/>
        </p:nvSpPr>
        <p:spPr>
          <a:xfrm>
            <a:off x="3165610" y="2616131"/>
            <a:ext cx="275894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 전체 문장을 일괄 처리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통째로 쏟아 넣어서 한 번에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5756A-352A-B744-2FFA-B72477A50C7B}"/>
              </a:ext>
            </a:extLst>
          </p:cNvPr>
          <p:cNvSpPr txBox="1"/>
          <p:nvPr/>
        </p:nvSpPr>
        <p:spPr>
          <a:xfrm>
            <a:off x="8970164" y="2616401"/>
            <a:ext cx="26598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때는 내가 방금 만든 단어와 기억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다음 단계로 전달하는 실시간 순차</a:t>
            </a: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4" y="1243241"/>
            <a:ext cx="11004581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구분이 없는 단일 시퀀스 학습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(Using a character-level tokenizer)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862272" y="1827118"/>
            <a:ext cx="9158028" cy="4459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sequences of 100 characters at a time.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100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256;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05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19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ECCA7-79AD-FA7E-2523-2550CD179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1DF3B-BB98-A1BD-9F4A-68202D774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Sequence-to-sequence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5A97A46-9E82-F6A6-B28B-408473F8E92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27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05675" y="2259165"/>
            <a:ext cx="4561955" cy="199830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1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AD9EA-7F1B-4038-2A80-719D974524DF}"/>
              </a:ext>
            </a:extLst>
          </p:cNvPr>
          <p:cNvSpPr txBox="1"/>
          <p:nvPr/>
        </p:nvSpPr>
        <p:spPr>
          <a:xfrm>
            <a:off x="7305675" y="4491207"/>
            <a:ext cx="4561955" cy="102880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52264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53782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255300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356818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458336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702729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804248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905766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1007284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108802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137160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159714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173842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187970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5197884" y="4383958"/>
            <a:ext cx="182941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644976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659104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673232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687358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8299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18490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28682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38874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49066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73545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83737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93928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104120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14312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73640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83832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94024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104215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14407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344604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763804" y="3919691"/>
            <a:ext cx="5312191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535899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1682765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2585976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369776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4564318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1083940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10114463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9097143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884318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928054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823892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8108905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9215710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10284414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1071889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6512100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576666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581480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541016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308730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916113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344604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854207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D3D1509-47BD-541C-AA25-C8FFC92BEB8C}"/>
              </a:ext>
            </a:extLst>
          </p:cNvPr>
          <p:cNvSpPr/>
          <p:nvPr/>
        </p:nvSpPr>
        <p:spPr>
          <a:xfrm>
            <a:off x="5624838" y="4216783"/>
            <a:ext cx="916952" cy="33435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15A4EAB-4BDC-CD4A-9E8F-9C61C8169477}"/>
              </a:ext>
            </a:extLst>
          </p:cNvPr>
          <p:cNvSpPr/>
          <p:nvPr/>
        </p:nvSpPr>
        <p:spPr>
          <a:xfrm>
            <a:off x="475645" y="3286125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1A3A89-5C49-71D7-61F0-DCFBBE256077}"/>
              </a:ext>
            </a:extLst>
          </p:cNvPr>
          <p:cNvSpPr/>
          <p:nvPr/>
        </p:nvSpPr>
        <p:spPr>
          <a:xfrm>
            <a:off x="7219345" y="4876212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9395-736B-39DF-7E95-2DC40B47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13AD6-ED11-224E-CB94-4BE851D68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Transformer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300CBE6-A68F-D4FD-925F-A3BB91E3EC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976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D49C722-9CC5-B3D0-C4F1-46190B72253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mechanism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B193797-BAB0-C015-0C4A-F2F879C4F47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Attention Mechanism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25" y="2233437"/>
            <a:ext cx="5173550" cy="2330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514230" y="2242322"/>
            <a:ext cx="4831520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내적 점수 계산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 Score)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lvl="1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[0.56, 2.51, 0.49, 1.21]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 Weights):</a:t>
            </a: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[0.0919, 0.6462, 0.0857, 0.1761]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이며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값을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6248526" y="6237517"/>
            <a:ext cx="3139003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14230" y="5296169"/>
            <a:ext cx="2023521" cy="864369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97E6ECC-001F-F4A6-58D3-CAE733490DE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18E027-B3AA-C759-E6A5-DC7B3311FEE0}"/>
              </a:ext>
            </a:extLst>
          </p:cNvPr>
          <p:cNvSpPr txBox="1"/>
          <p:nvPr/>
        </p:nvSpPr>
        <p:spPr>
          <a:xfrm>
            <a:off x="543206" y="1179806"/>
            <a:ext cx="11115394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특정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"bring"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생성할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la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어느 단어에 얼마나 집중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해야 하는지 계산하는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메커니즘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(bring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0.6790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집중하라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!)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862FDC-6EE2-DB87-2CD7-2CACC3E3B6C3}"/>
              </a:ext>
            </a:extLst>
          </p:cNvPr>
          <p:cNvSpPr txBox="1"/>
          <p:nvPr/>
        </p:nvSpPr>
        <p:spPr>
          <a:xfrm>
            <a:off x="711425" y="4818391"/>
            <a:ext cx="2306591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bring  </a:t>
            </a:r>
            <a:r>
              <a:rPr lang="ko-KR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52AD9-6724-D087-3A24-03D2606909D8}"/>
              </a:ext>
            </a:extLst>
          </p:cNvPr>
          <p:cNvSpPr txBox="1"/>
          <p:nvPr/>
        </p:nvSpPr>
        <p:spPr>
          <a:xfrm>
            <a:off x="9351404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5DFE71-28C8-7FD7-5D9B-C3C863148C70}"/>
              </a:ext>
            </a:extLst>
          </p:cNvPr>
          <p:cNvSpPr txBox="1"/>
          <p:nvPr/>
        </p:nvSpPr>
        <p:spPr>
          <a:xfrm>
            <a:off x="635225" y="5711668"/>
            <a:ext cx="234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[0.56, 2.51, 0.49, 1.21]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9945C1-8C3E-908F-2E46-43F1ABFB564C}"/>
              </a:ext>
            </a:extLst>
          </p:cNvPr>
          <p:cNvSpPr txBox="1"/>
          <p:nvPr/>
        </p:nvSpPr>
        <p:spPr>
          <a:xfrm>
            <a:off x="3004270" y="4799373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C9249-E742-400E-B5D0-F31424E55F49}"/>
              </a:ext>
            </a:extLst>
          </p:cNvPr>
          <p:cNvSpPr txBox="1"/>
          <p:nvPr/>
        </p:nvSpPr>
        <p:spPr>
          <a:xfrm>
            <a:off x="6324726" y="4818391"/>
            <a:ext cx="29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([0.56, 2.51, 0.49, 1.21])</a:t>
            </a:r>
          </a:p>
          <a:p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[0.0919, 0.6462, 0.0857, 0.1761]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196B74-2B7E-2E24-BD50-554BFCD52BE0}"/>
              </a:ext>
            </a:extLst>
          </p:cNvPr>
          <p:cNvSpPr txBox="1"/>
          <p:nvPr/>
        </p:nvSpPr>
        <p:spPr>
          <a:xfrm>
            <a:off x="9007466" y="4971856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F3790798-80FB-B532-9719-E5039AB7287E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975695" y="5049224"/>
            <a:ext cx="3349031" cy="800944"/>
          </a:xfrm>
          <a:prstGeom prst="bentConnector3">
            <a:avLst>
              <a:gd name="adj1" fmla="val 8668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3333950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6D508B6-BB2E-01F1-505E-0A98CC11684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98B3D40-C5ED-FECB-6817-4E22B62AF0C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summary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5838279" cy="48653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요약본“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Context vector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＂를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76178" y="4914487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290864" y="413351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6EE169F-085C-5A95-690A-402E498FEFF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B87CE-FB39-4C74-515A-7AD359F055E7}"/>
              </a:ext>
            </a:extLst>
          </p:cNvPr>
          <p:cNvSpPr txBox="1"/>
          <p:nvPr/>
        </p:nvSpPr>
        <p:spPr>
          <a:xfrm>
            <a:off x="1376178" y="573444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vs. RNN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0114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5772150" y="4530103"/>
            <a:ext cx="5868785" cy="200298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hidden state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)에 모든 걸 억지로 밀어 넣어야 해서 긴 문장을 읽을 때 앞부분을 까먹는 한계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 메모리 폭증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0BEA13F-33AC-2946-E451-2887353AFCD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  <p:bldP spid="1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Attention(Query, Key, Value Attention)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D3113B-CEE3-3AB2-CA62-3B7E2CA67EC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B405-D6C7-ADE4-E6C7-13622ED9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14144D-DE28-CC37-6413-8FCCB8D0D7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75F6CC-0992-D203-7166-5DCEC72DD648}"/>
              </a:ext>
            </a:extLst>
          </p:cNvPr>
          <p:cNvSpPr txBox="1"/>
          <p:nvPr/>
        </p:nvSpPr>
        <p:spPr>
          <a:xfrm>
            <a:off x="575700" y="1200061"/>
            <a:ext cx="1148294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Key(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Value(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전용 벡터로 변화하여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문맥에 따라 단어 간의 훨씬 정교하고 풍부한 관계를 학습할 수 있게 한 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그대로 사용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각각 곱해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Query, Key, Value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로 변환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학습된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통해 문맥과 상황에 따라 서로 다른 관계를 학습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와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의 내적으로 어떤 단어가 중요한지 문맥에 따라 계산하고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이용해 필요한 정보를 전달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라는 학습 가능한 가중치 행렬 존재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61" t="-73626" r="-133486" b="-5747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73626" r="-115" b="-5747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02564" r="-115" b="-57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29126" r="-115" b="-3320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627778" r="-115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20CE8B1-ABE8-5C81-749F-A8E7321DA894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3062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4185F4A-F65C-BA94-589F-A9B38B2F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5" y="1341332"/>
            <a:ext cx="3885304" cy="17505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A36960-0F72-93CC-3F41-1A2431A59917}"/>
              </a:ext>
            </a:extLst>
          </p:cNvPr>
          <p:cNvSpPr txBox="1"/>
          <p:nvPr/>
        </p:nvSpPr>
        <p:spPr>
          <a:xfrm>
            <a:off x="4580458" y="1303879"/>
            <a:ext cx="7020257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Q, K, 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변환용 가중치 행렬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(W_Q, W_K, W_V)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업데이트하는 파라미터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무작위 값 설정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pl-PL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W_Q, W_K, W_V = np.random.randn(3, 4, 4)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=============Q, K, V Attention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=================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벡터를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곱해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Q, K, 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선형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query = np.dot(target, W_Q)     # "bring"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던지는 질문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keys = np.dot(sources, W_K)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검색용 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(Keys)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 = np.dot(sources, W_V)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실제 정보 내용물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유사도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(Score)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([np.dot(query, k) for k in keys])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Weights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비율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산출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문맥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곱하는 대신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곱해 합산합니다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combined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* values, axis=0)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CA0D0C-6857-6F9D-7D45-45106F6C1969}"/>
              </a:ext>
            </a:extLst>
          </p:cNvPr>
          <p:cNvSpPr txBox="1"/>
          <p:nvPr/>
        </p:nvSpPr>
        <p:spPr>
          <a:xfrm>
            <a:off x="591285" y="3264293"/>
            <a:ext cx="3885304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입력 벡터 정의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sources: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"la"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target: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("bring")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83DBF423-7C07-C014-6E38-F531491AA1F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6CCA-F3B1-EA7F-A5C1-9A601A93C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3E48D79-74F2-C36F-C05E-871E5EAE56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57F468B6-1054-E5DB-2BA3-E45963BD7C3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AFCD25-01C6-A250-0AB7-5023E87F9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409326"/>
            <a:ext cx="4980943" cy="360068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7ED261-5876-5460-9865-AE4F9FDB446A}"/>
              </a:ext>
            </a:extLst>
          </p:cNvPr>
          <p:cNvSpPr txBox="1"/>
          <p:nvPr/>
        </p:nvSpPr>
        <p:spPr>
          <a:xfrm>
            <a:off x="5630109" y="1409326"/>
            <a:ext cx="6133266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Query (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검색창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"dogs on the beach"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검색창에 친 키워드 그 자체입니다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"dogs on the beach“</a:t>
            </a:r>
          </a:p>
          <a:p>
            <a:pPr>
              <a:buNone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Keys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이미지별 검색 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&amp; Values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 데이터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각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(Key)'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매칭해 둡니다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= [["Beach", "Tree", "Boat"],   # Image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["Beach", "Dog", "Tree"],        # Image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["Dog"]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]  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                    # Image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values = ["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해변과 배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해변의 개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단독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알맹이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(Value)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Match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 계산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비교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그림의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match: 0.5, 1.0, 0.5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수치 반영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([0.5, 1.0, 0.5])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(Attention Weights) -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점수를 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결과 합성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가중치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 ---")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 in enumerate(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{i+1} ({values[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]}): {weight*100:.1f}%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주의 집중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가중치가 가장 높은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(1.0)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강력하게 선택됨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np.argmax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print(f"\n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선택된 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(Value): '{values[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]}'")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738E7-731A-2483-1BC7-734B594AA1BD}"/>
              </a:ext>
            </a:extLst>
          </p:cNvPr>
          <p:cNvSpPr txBox="1"/>
          <p:nvPr/>
        </p:nvSpPr>
        <p:spPr>
          <a:xfrm>
            <a:off x="470321" y="5102644"/>
            <a:ext cx="5015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Lora" pitchFamily="2" charset="0"/>
              </a:rPr>
              <a:t>Retrieving images from a database: the </a:t>
            </a:r>
            <a:r>
              <a:rPr lang="en-US" altLang="ko-KR" sz="1200" b="0" i="1" dirty="0">
                <a:effectLst/>
                <a:latin typeface="Lora" pitchFamily="2" charset="0"/>
              </a:rPr>
              <a:t>query</a:t>
            </a:r>
            <a:r>
              <a:rPr lang="en-US" altLang="ko-KR" sz="1200" b="0" i="0" dirty="0">
                <a:effectLst/>
                <a:latin typeface="Lora" pitchFamily="2" charset="0"/>
              </a:rPr>
              <a:t> is compared to a set of </a:t>
            </a:r>
            <a:r>
              <a:rPr lang="en-US" altLang="ko-KR" sz="1200" b="0" i="1" dirty="0">
                <a:effectLst/>
                <a:latin typeface="Lora" pitchFamily="2" charset="0"/>
              </a:rPr>
              <a:t>keys</a:t>
            </a:r>
            <a:r>
              <a:rPr lang="en-US" altLang="ko-KR" sz="1200" b="0" i="0" dirty="0">
                <a:effectLst/>
                <a:latin typeface="Lora" pitchFamily="2" charset="0"/>
              </a:rPr>
              <a:t>, and the match scores are used to rank </a:t>
            </a:r>
            <a:r>
              <a:rPr lang="en-US" altLang="ko-KR" sz="1200" b="0" i="1" dirty="0">
                <a:effectLst/>
                <a:latin typeface="Lora" pitchFamily="2" charset="0"/>
              </a:rPr>
              <a:t>values</a:t>
            </a:r>
            <a:r>
              <a:rPr lang="en-US" altLang="ko-KR" sz="1200" b="0" i="0" dirty="0">
                <a:effectLst/>
                <a:latin typeface="Lora" pitchFamily="2" charset="0"/>
              </a:rPr>
              <a:t> (images).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944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72087-1466-7411-809D-CC06AA6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1D617-D9A1-3621-A299-26DCCACB7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  <a:hlinkClick r:id="rId2"/>
              </a:rPr>
              <a:t>Vision_Transformer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978E0A24-AE03-4592-86C9-F08CDD724D56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EF3D0C3-9434-C7D6-AB7E-0652EB39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463" y="3662867"/>
            <a:ext cx="6853239" cy="1432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7052A022-2CD6-93B1-3ED0-628E4134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18" y="2038574"/>
            <a:ext cx="6900102" cy="1620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">
            <a:extLst>
              <a:ext uri="{FF2B5EF4-FFF2-40B4-BE49-F238E27FC236}">
                <a16:creationId xmlns:a16="http://schemas.microsoft.com/office/drawing/2014/main" id="{84DBEC53-C730-3D56-D844-C5D504A57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2053025"/>
            <a:ext cx="4252912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">
            <a:extLst>
              <a:ext uri="{FF2B5EF4-FFF2-40B4-BE49-F238E27FC236}">
                <a16:creationId xmlns:a16="http://schemas.microsoft.com/office/drawing/2014/main" id="{EC04911A-33D8-C940-5E07-78C6924D5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3562350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">
            <a:extLst>
              <a:ext uri="{FF2B5EF4-FFF2-40B4-BE49-F238E27FC236}">
                <a16:creationId xmlns:a16="http://schemas.microsoft.com/office/drawing/2014/main" id="{5EA627A6-2E8C-60E2-1959-FE7B83CB4F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5071675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">
            <a:extLst>
              <a:ext uri="{FF2B5EF4-FFF2-40B4-BE49-F238E27FC236}">
                <a16:creationId xmlns:a16="http://schemas.microsoft.com/office/drawing/2014/main" id="{97D71D36-31D6-7F09-2B5F-4542A2A65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2" y="5077028"/>
            <a:ext cx="6837650" cy="149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C67F6-84E0-7DCA-6E28-0CD4476721D6}"/>
              </a:ext>
            </a:extLst>
          </p:cNvPr>
          <p:cNvSpPr txBox="1"/>
          <p:nvPr/>
        </p:nvSpPr>
        <p:spPr>
          <a:xfrm>
            <a:off x="600074" y="1210322"/>
            <a:ext cx="10982325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Vision 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텍스트의 단어들처럼 이미지를 패치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(pixel)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조각으로 쪼개어 읽을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전체를 거쳐 최종 판단에 가장 큰 영향을 준 이미지 상의 핵심 부위가 어디인지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60F83-0BF5-6558-FF46-BBCCCB5E5058}"/>
              </a:ext>
            </a:extLst>
          </p:cNvPr>
          <p:cNvSpPr txBox="1"/>
          <p:nvPr/>
        </p:nvSpPr>
        <p:spPr>
          <a:xfrm>
            <a:off x="6677025" y="1742689"/>
            <a:ext cx="36480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https://github.com/jo1jun/Vision_Transformer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7831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E00E-E44F-1D99-E97D-4311FD23A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6AB8D9-DDFC-D8B0-F6F8-434F930A32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958BC8-59BB-0296-3E25-0CE3071CA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DBD872-DDDB-E0F2-AE04-190D3C6A3E5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17B8C7-E240-B5E9-E7A9-CE591A6C1875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EDFD82D-509C-0F30-2226-5AB284CFA379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1FA4E-3BF9-6C50-7B89-2CD32AB6D6F1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490D21-0B86-8798-E38F-69C82A7792C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24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A1539D-AE19-11AE-D57A-FDC6D97048A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5F972-70E1-67C5-E33B-950E900B919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50FCA0-74CA-59E9-49B2-523F3FBD1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008" y="1704975"/>
            <a:ext cx="5333630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A27231-6C4F-B665-7F95-4CE0235D7609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9188</TotalTime>
  <Words>5688</Words>
  <Application>Microsoft Office PowerPoint</Application>
  <PresentationFormat>와이드스크린</PresentationFormat>
  <Paragraphs>481</Paragraphs>
  <Slides>37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D2Coding</vt:lpstr>
      <vt:lpstr>맑은 고딕</vt:lpstr>
      <vt:lpstr>Batang</vt:lpstr>
      <vt:lpstr>Arial</vt:lpstr>
      <vt:lpstr>Calibri Light</vt:lpstr>
      <vt:lpstr>Cambria Math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Sequence-to-sequence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153</cp:revision>
  <dcterms:created xsi:type="dcterms:W3CDTF">2026-04-06T01:00:39Z</dcterms:created>
  <dcterms:modified xsi:type="dcterms:W3CDTF">2026-10-10T14:29:15Z</dcterms:modified>
  <cp:version/>
</cp:coreProperties>
</file>