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35"/>
  </p:notesMasterIdLst>
  <p:handoutMasterIdLst>
    <p:handoutMasterId r:id="rId36"/>
  </p:handoutMasterIdLst>
  <p:sldIdLst>
    <p:sldId id="256" r:id="rId2"/>
    <p:sldId id="1135" r:id="rId3"/>
    <p:sldId id="1136" r:id="rId4"/>
    <p:sldId id="1137" r:id="rId5"/>
    <p:sldId id="1138" r:id="rId6"/>
    <p:sldId id="1141" r:id="rId7"/>
    <p:sldId id="1139" r:id="rId8"/>
    <p:sldId id="1140" r:id="rId9"/>
    <p:sldId id="1152" r:id="rId10"/>
    <p:sldId id="1174" r:id="rId11"/>
    <p:sldId id="1142" r:id="rId12"/>
    <p:sldId id="1143" r:id="rId13"/>
    <p:sldId id="1144" r:id="rId14"/>
    <p:sldId id="1149" r:id="rId15"/>
    <p:sldId id="1173" r:id="rId16"/>
    <p:sldId id="1145" r:id="rId17"/>
    <p:sldId id="1146" r:id="rId18"/>
    <p:sldId id="1150" r:id="rId19"/>
    <p:sldId id="1175" r:id="rId20"/>
    <p:sldId id="1151" r:id="rId21"/>
    <p:sldId id="1153" r:id="rId22"/>
    <p:sldId id="1154" r:id="rId23"/>
    <p:sldId id="1172" r:id="rId24"/>
    <p:sldId id="1155" r:id="rId25"/>
    <p:sldId id="1159" r:id="rId26"/>
    <p:sldId id="1160" r:id="rId27"/>
    <p:sldId id="1156" r:id="rId28"/>
    <p:sldId id="1157" r:id="rId29"/>
    <p:sldId id="1158" r:id="rId30"/>
    <p:sldId id="1162" r:id="rId31"/>
    <p:sldId id="1161" r:id="rId32"/>
    <p:sldId id="1163" r:id="rId33"/>
    <p:sldId id="1165" r:id="rId34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감사합니다." id="{E75E278A-FF0E-49A4-B170-79828D63BBAD}">
          <p14:sldIdLst>
            <p14:sldId id="256"/>
          </p14:sldIdLst>
        </p14:section>
        <p14:section name="디자인, 모핑, 주석 달기, 공동 작업, 입력하세요" id="{B9B51309-D148-4332-87C2-07BE32FBCA3B}">
          <p14:sldIdLst>
            <p14:sldId id="1135"/>
            <p14:sldId id="1136"/>
            <p14:sldId id="1137"/>
            <p14:sldId id="1138"/>
            <p14:sldId id="1141"/>
            <p14:sldId id="1139"/>
            <p14:sldId id="1140"/>
            <p14:sldId id="1152"/>
            <p14:sldId id="1174"/>
            <p14:sldId id="1142"/>
            <p14:sldId id="1143"/>
            <p14:sldId id="1144"/>
            <p14:sldId id="1149"/>
            <p14:sldId id="1173"/>
            <p14:sldId id="1145"/>
            <p14:sldId id="1146"/>
            <p14:sldId id="1150"/>
            <p14:sldId id="1175"/>
            <p14:sldId id="1151"/>
            <p14:sldId id="1153"/>
            <p14:sldId id="1154"/>
            <p14:sldId id="1172"/>
            <p14:sldId id="1155"/>
            <p14:sldId id="1159"/>
            <p14:sldId id="1160"/>
            <p14:sldId id="1156"/>
            <p14:sldId id="1157"/>
            <p14:sldId id="1158"/>
            <p14:sldId id="1162"/>
            <p14:sldId id="1161"/>
            <p14:sldId id="1163"/>
            <p14:sldId id="1165"/>
          </p14:sldIdLst>
        </p14:section>
        <p14:section name="자세한 정보" id="{2CC34DB2-6590-42C0-AD4B-A04C6060184E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만든 이" initials="오전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6E3FF"/>
    <a:srgbClr val="FF9B45"/>
    <a:srgbClr val="DD462F"/>
    <a:srgbClr val="D24726"/>
    <a:srgbClr val="404040"/>
    <a:srgbClr val="F8CFB6"/>
    <a:srgbClr val="F8CAB6"/>
    <a:srgbClr val="923922"/>
    <a:srgbClr val="F5F5F5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3062" autoAdjust="0"/>
    <p:restoredTop sz="94297" autoAdjust="0"/>
  </p:normalViewPr>
  <p:slideViewPr>
    <p:cSldViewPr snapToGrid="0">
      <p:cViewPr varScale="1">
        <p:scale>
          <a:sx n="80" d="100"/>
          <a:sy n="80" d="100"/>
        </p:scale>
        <p:origin x="874" y="5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59582"/>
    </p:cViewPr>
  </p:outlineViewPr>
  <p:notesTextViewPr>
    <p:cViewPr>
      <p:scale>
        <a:sx n="125" d="100"/>
        <a:sy n="125" d="100"/>
      </p:scale>
      <p:origin x="0" y="0"/>
    </p:cViewPr>
  </p:notesTextViewPr>
  <p:sorterViewPr>
    <p:cViewPr varScale="1">
      <p:scale>
        <a:sx n="1" d="1"/>
        <a:sy n="1" d="1"/>
      </p:scale>
      <p:origin x="0" y="-6648"/>
    </p:cViewPr>
  </p:sorterViewPr>
  <p:notesViewPr>
    <p:cSldViewPr snapToGrid="0">
      <p:cViewPr varScale="1">
        <p:scale>
          <a:sx n="104" d="100"/>
          <a:sy n="104" d="100"/>
        </p:scale>
        <p:origin x="460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viewProps" Target="view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commentAuthors" Target="commentAuthors.xml"/><Relationship Id="rId40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handoutMaster" Target="handoutMasters/handout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24059DE-6CD5-4C59-8233-088CE5808E67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2026-09-27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3E1C3DD-4A19-441D-907C-380838DB51C4}" type="datetime1">
              <a:rPr lang="ko-KR" altLang="en-US" noProof="0" smtClean="0"/>
              <a:t>2026-09-27</a:t>
            </a:fld>
            <a:endParaRPr lang="ko-KR" altLang="en-US" noProof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noProof="0" dirty="0"/>
              <a:t>마스터 텍스트 스타일을 편집하려면 클릭하세요</a:t>
            </a:r>
            <a:r>
              <a:rPr lang="en-US" altLang="ko-KR" noProof="0" dirty="0"/>
              <a:t>.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DF61EA0F-A667-4B49-8422-0062BC55E249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EFBE4A-FC4B-B886-A818-9CDEC658DF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51772A6-F014-AA8F-5AF6-A105AEFFE0B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CE3A808-4F37-9BA4-B01F-FF577C09EB8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633A77B-DAD2-D139-707D-5474EB79416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10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61276000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A6B24C-D74C-C7DC-EF47-C3A74412CA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B6FF7D5-9314-3C93-156A-24C15F4F7A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DB254F2-F49B-7EFE-3265-6784E6AD681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F61AE52-A599-9B64-EEC9-2C9E1898301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19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6915748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61EA0F-A667-4B49-8422-0062BC55E249}" type="slidenum">
              <a:rPr lang="en-US" altLang="ko-KR" noProof="0" smtClean="0"/>
              <a:pPr/>
              <a:t>23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19964062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" name="직선 연결선(S)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  <p:sp>
        <p:nvSpPr>
          <p:cNvPr id="6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90475B5-67CA-4281-BDCA-DA943C3C8EB3}" type="datetime1">
              <a:rPr lang="ko-KR" altLang="en-US" noProof="0" smtClean="0"/>
              <a:t>2026-09-27</a:t>
            </a:fld>
            <a:endParaRPr lang="ko-KR" altLang="en-US" noProof="0"/>
          </a:p>
        </p:txBody>
      </p:sp>
      <p:sp>
        <p:nvSpPr>
          <p:cNvPr id="7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7" name="내용 개체 틀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3AC7079E-4A2B-916C-C464-65DEFE4341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9/27/2026</a:t>
            </a:fld>
            <a:endParaRPr lang="en-US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A9D00E07-4D48-7C0C-4DF1-A39D6E8B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1DFF8BFD-50B2-6671-09A6-3F6A70B5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30270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C655C81E-72E7-4D05-94B5-F45B321A525D}" type="datetime1">
              <a:rPr lang="ko-KR" altLang="en-US" noProof="0" smtClean="0"/>
              <a:t>2026-09-27</a:t>
            </a:fld>
            <a:endParaRPr lang="ko-KR" altLang="en-US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(S)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5" r:id="rId4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0" indent="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228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685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1430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6002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0574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1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svg"/><Relationship Id="rId7" Type="http://schemas.openxmlformats.org/officeDocument/2006/relationships/image" Target="../media/image30.sv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9.png"/><Relationship Id="rId5" Type="http://schemas.openxmlformats.org/officeDocument/2006/relationships/image" Target="../media/image28.svg"/><Relationship Id="rId4" Type="http://schemas.openxmlformats.org/officeDocument/2006/relationships/image" Target="../media/image27.png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0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10.png"/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171575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4400" dirty="0">
                <a:solidFill>
                  <a:schemeClr val="bg1"/>
                </a:solidFill>
              </a:rPr>
              <a:t>Chapter 15 </a:t>
            </a:r>
            <a:br>
              <a:rPr lang="en-US" altLang="ko-KR" sz="4400" dirty="0">
                <a:solidFill>
                  <a:schemeClr val="bg1"/>
                </a:solidFill>
              </a:rPr>
            </a:br>
            <a:r>
              <a:rPr lang="en-US" altLang="ko-KR" sz="4400" dirty="0">
                <a:solidFill>
                  <a:schemeClr val="bg1"/>
                </a:solidFill>
              </a:rPr>
              <a:t>Language models and the Transformer</a:t>
            </a:r>
            <a:endParaRPr lang="ko-KR" altLang="en-US" sz="4400" dirty="0">
              <a:solidFill>
                <a:schemeClr val="bg1"/>
              </a:solidFill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2A693FF-597D-D05E-69BD-7CA96D17F1C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</a:rPr>
              <a:t>조상구교수</a:t>
            </a:r>
            <a:endParaRPr lang="en-US" altLang="ko-KR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F720D6-5AE6-3C71-71A9-7178299E6F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BA99687-4C48-8DA7-5F76-6B7712A597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FD810985-A788-B5F8-19D5-7D75D19399E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Goals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EAAB68B-A2BA-07A3-DB75-5B56921FF4A0}"/>
              </a:ext>
            </a:extLst>
          </p:cNvPr>
          <p:cNvSpPr txBox="1"/>
          <p:nvPr/>
        </p:nvSpPr>
        <p:spPr>
          <a:xfrm>
            <a:off x="577530" y="1248422"/>
            <a:ext cx="11233469" cy="29320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2400" dirty="0"/>
              <a:t>This chapter covers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400" dirty="0"/>
              <a:t>How to generate text with a deep learning model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400" dirty="0"/>
              <a:t>Training a model to translate from English to Spanish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400" dirty="0"/>
              <a:t>The Transformer, a powerful architecture for text modeling problems</a:t>
            </a:r>
          </a:p>
        </p:txBody>
      </p:sp>
    </p:spTree>
    <p:extLst>
      <p:ext uri="{BB962C8B-B14F-4D97-AF65-F5344CB8AC3E}">
        <p14:creationId xmlns:p14="http://schemas.microsoft.com/office/powerpoint/2010/main" val="57843409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E7E1F9-333C-ABDF-A6E4-EC294224FC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9B03F11-84CC-EFFA-CE9F-2BECB6483C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23611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D2Coding" panose="020B0609020101020101" pitchFamily="49" charset="-127"/>
                <a:ea typeface="D2Coding" panose="020B0609020101020101" pitchFamily="49" charset="-127"/>
              </a:rPr>
              <a:pPr/>
              <a:t>3</a:t>
            </a:fld>
            <a:endParaRPr lang="en-US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43FEC1E1-D4CF-BEB2-D53C-A629B275147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language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99BFA4CF-0B1D-8AD2-79E4-E48E5C7BA7CF}"/>
                  </a:ext>
                </a:extLst>
              </p:cNvPr>
              <p:cNvSpPr txBox="1"/>
              <p:nvPr/>
            </p:nvSpPr>
            <p:spPr>
              <a:xfrm>
                <a:off x="568960" y="1478012"/>
                <a:ext cx="11186160" cy="286899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가장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단순한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방법은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가능한 모든 출력 정수 시퀀스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(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단어 조합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)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를 설정하고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, 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이를 직접 분류하는 분류기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(Classifier)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를 학습시키는 것</a:t>
                </a:r>
                <a:endParaRPr lang="en-US" altLang="ko-KR" dirty="0">
                  <a:latin typeface="D2Coding" panose="020B0609020101020101" pitchFamily="49" charset="-127"/>
                  <a:ea typeface="D2Coding" panose="020B0609020101020101" pitchFamily="49" charset="-127"/>
                </a:endParaRP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endParaRPr lang="en-US" altLang="ko-KR" dirty="0">
                  <a:latin typeface="D2Coding" panose="020B0609020101020101" pitchFamily="49" charset="-127"/>
                  <a:ea typeface="D2Coding" panose="020B0609020101020101" pitchFamily="49" charset="-127"/>
                </a:endParaRP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그러나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대략적으로만 계산해 봐도 이것이 사실상 불가능하다는 것 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!</a:t>
                </a:r>
              </a:p>
              <a:p>
                <a:pPr marL="742950" lvl="1" indent="-285750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2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0,000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개의 단어로 이루어진 어휘 사전이 있다면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, 4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개 단어로 이루어진 문장의 가짓수만 해도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ko-KR" altLang="en-US" sz="160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ko-KR" altLang="en-US" sz="1600" dirty="0">
                            <a:latin typeface="Cambria Math" panose="02040503050406030204" pitchFamily="18" charset="0"/>
                          </a:rPr>
                          <m:t>20</m:t>
                        </m:r>
                        <m:r>
                          <a:rPr lang="en-US" altLang="ko-KR" sz="1600" b="0" i="0" dirty="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ko-KR" altLang="en-US" sz="1600" dirty="0">
                            <a:latin typeface="Cambria Math" panose="02040503050406030204" pitchFamily="18" charset="0"/>
                          </a:rPr>
                          <m:t>000</m:t>
                        </m:r>
                      </m:e>
                      <m:sup>
                        <m:r>
                          <a:rPr lang="ko-KR" altLang="en-US" sz="1600" dirty="0"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p>
                  </m:oMath>
                </a14:m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, 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즉 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160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경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(Quadrillion) 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개에 달하며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,</a:t>
                </a:r>
              </a:p>
              <a:p>
                <a:pPr marL="742950" lvl="1" indent="-285750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만약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20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개 단어로 만들 수 있는 문장의 가짓수는 우주에 존재하는 원자의 개수보다도 많음 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  <a:sym typeface="Wingdings" panose="05000000000000000000" pitchFamily="2" charset="2"/>
                  </a:rPr>
                  <a:t> Impossible !</a:t>
                </a:r>
                <a:endParaRPr lang="en-US" altLang="ko-KR" dirty="0">
                  <a:latin typeface="D2Coding" panose="020B0609020101020101" pitchFamily="49" charset="-127"/>
                  <a:ea typeface="D2Coding" panose="020B0609020101020101" pitchFamily="49" charset="-127"/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99BFA4CF-0B1D-8AD2-79E4-E48E5C7BA7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8960" y="1478012"/>
                <a:ext cx="11186160" cy="2868991"/>
              </a:xfrm>
              <a:prstGeom prst="rect">
                <a:avLst/>
              </a:prstGeom>
              <a:blipFill>
                <a:blip r:embed="rId2"/>
                <a:stretch>
                  <a:fillRect l="-327" b="-1699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143271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EB2BC8-D20E-6E77-FCFD-FE417302E8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2C05D818-9F1E-3E61-C88A-4B65481CA6D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language model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DF28F0F-4C41-BB8B-D028-812632A2F2A8}"/>
              </a:ext>
            </a:extLst>
          </p:cNvPr>
          <p:cNvSpPr txBox="1"/>
          <p:nvPr/>
        </p:nvSpPr>
        <p:spPr>
          <a:xfrm>
            <a:off x="568960" y="1478012"/>
            <a:ext cx="11186160" cy="4297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Generative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AI(GPT, BERT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등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는 이 문제를 어떻게 해결했을까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?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 난관을 극복하기 위해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문장을 통째로 맞추는 게 아니라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, "</a:t>
            </a:r>
            <a:r>
              <a:rPr lang="ko-KR" altLang="en-US" b="1" dirty="0">
                <a:latin typeface="D2Coding" panose="020B0609020101020101" pitchFamily="49" charset="-127"/>
                <a:ea typeface="D2Coding" panose="020B0609020101020101" pitchFamily="49" charset="-127"/>
              </a:rPr>
              <a:t>바로 다음에 올 단어 하나만 맞추기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반복하는 것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자기회귀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(Autoregressive)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모델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오늘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", 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날씨가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", 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참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이라는 단어가 주어졌을 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다음에 올 단어 하나만 예측하면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고민해야 하는 선택지는 전체 문장 수가 아니라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어휘 사전의 크기인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20,000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개로 고정되어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컴퓨터가 충분히 처리할 수 있는 크기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단어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임베딩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(Embedding):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모든 단어 조합을 다 외우는 대신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단어를 수십 차원의 공간에 벡터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숫자 배열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로 표현하면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왕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남자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", 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여왕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여자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 관계를 기하학적으로 이해하기 때문에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굳이 세상의 모든 문장을 다 조합해 보지 않아도 문맥을 유추할 수 있게 됨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왜 우리가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Text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Generating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AI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만들 때 단어를 한 땀 한 땀 차례대로 예측하는 방식을 쓸 수밖에 없는가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?"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증명하는 핵심적인 이론 배경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E98C8120-5523-D1DB-2981-5EC057741D77}"/>
              </a:ext>
            </a:extLst>
          </p:cNvPr>
          <p:cNvSpPr txBox="1">
            <a:spLocks/>
          </p:cNvSpPr>
          <p:nvPr/>
        </p:nvSpPr>
        <p:spPr>
          <a:xfrm>
            <a:off x="1112361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D2Coding" panose="020B0609020101020101" pitchFamily="49" charset="-127"/>
                <a:ea typeface="D2Coding" panose="020B0609020101020101" pitchFamily="49" charset="-127"/>
              </a:rPr>
              <a:pPr/>
              <a:t>4</a:t>
            </a:fld>
            <a:endParaRPr lang="en-US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53185848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46AD1A-760B-722A-6778-8D71BF7197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58A4C943-3132-F971-67C0-1094F94E282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language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DEEE6769-455F-97BC-EFFA-7740A3904B76}"/>
                  </a:ext>
                </a:extLst>
              </p:cNvPr>
              <p:cNvSpPr txBox="1"/>
              <p:nvPr/>
            </p:nvSpPr>
            <p:spPr>
              <a:xfrm>
                <a:off x="530195" y="1186091"/>
                <a:ext cx="11186160" cy="129394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Generative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AI(GPT, BERT 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등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)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의 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"</a:t>
                </a:r>
                <a:r>
                  <a:rPr lang="ko-KR" altLang="en-US" b="1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바로 다음에 올 단어 하나</a:t>
                </a:r>
                <a:r>
                  <a:rPr lang="en-US" altLang="ko-KR" b="1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ko-KR" altLang="en-US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b="1" i="1" smtClean="0">
                            <a:latin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ko-KR" altLang="en-US" b="1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altLang="ko-KR" b="1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)</a:t>
                </a:r>
                <a:r>
                  <a:rPr lang="ko-KR" altLang="en-US" b="1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만 맞추기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“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는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우주에 존재하는 모든 문장을 확률을 한 번에 구하는 대신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체인 규칙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(Chain Rule)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로 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"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이전 단어들이 주어졌을 때 바로 다음에 올 단어 하나를 맞추는 문제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＂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로 단순화 시킴</a:t>
                </a:r>
                <a:endParaRPr lang="en-US" altLang="ko-KR" dirty="0">
                  <a:latin typeface="D2Coding" panose="020B0609020101020101" pitchFamily="49" charset="-127"/>
                  <a:ea typeface="D2Coding" panose="020B0609020101020101" pitchFamily="49" charset="-127"/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DEEE6769-455F-97BC-EFFA-7740A3904B7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0195" y="1186091"/>
                <a:ext cx="11186160" cy="1293944"/>
              </a:xfrm>
              <a:prstGeom prst="rect">
                <a:avLst/>
              </a:prstGeom>
              <a:blipFill>
                <a:blip r:embed="rId2"/>
                <a:stretch>
                  <a:fillRect l="-381" b="-707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그림 4">
            <a:extLst>
              <a:ext uri="{FF2B5EF4-FFF2-40B4-BE49-F238E27FC236}">
                <a16:creationId xmlns:a16="http://schemas.microsoft.com/office/drawing/2014/main" id="{2B88D720-9EE9-B4DD-9D6C-E020AC06FB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0378" y="3076059"/>
            <a:ext cx="2756255" cy="383702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E882A66D-4B54-2D3D-7F0F-BE1A23F0B10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34900" y="3912230"/>
            <a:ext cx="2949800" cy="442154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226C31D1-BEE7-0A6E-5E49-B9281B01F71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34900" y="4339339"/>
            <a:ext cx="3890957" cy="378990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203D3D1B-9E60-FCC8-ABEE-954209B6EC8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25857" y="4369932"/>
            <a:ext cx="3312492" cy="317804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8BACD8BB-82DD-D3D2-AD6E-29BAC47A43F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962400" y="5180373"/>
            <a:ext cx="4736007" cy="791802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649FB86B-07F0-6B11-9976-BDB7CD993B65}"/>
              </a:ext>
            </a:extLst>
          </p:cNvPr>
          <p:cNvSpPr txBox="1"/>
          <p:nvPr/>
        </p:nvSpPr>
        <p:spPr>
          <a:xfrm>
            <a:off x="1119997" y="3935327"/>
            <a:ext cx="128587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Chain Rule</a:t>
            </a:r>
            <a:endParaRPr lang="ko-KR" altLang="en-U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DB082A2-6248-1141-D0A0-D1BB966C8BE4}"/>
              </a:ext>
            </a:extLst>
          </p:cNvPr>
          <p:cNvSpPr txBox="1"/>
          <p:nvPr/>
        </p:nvSpPr>
        <p:spPr>
          <a:xfrm>
            <a:off x="1119997" y="2998566"/>
            <a:ext cx="515697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Joint Probability, Conditional Probability</a:t>
            </a:r>
            <a:endParaRPr lang="ko-KR" altLang="en-US" dirty="0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B9FE714E-77D9-F5E4-7F9B-F004538B9E88}"/>
              </a:ext>
            </a:extLst>
          </p:cNvPr>
          <p:cNvSpPr/>
          <p:nvPr/>
        </p:nvSpPr>
        <p:spPr>
          <a:xfrm>
            <a:off x="3962400" y="3912230"/>
            <a:ext cx="7391400" cy="804193"/>
          </a:xfrm>
          <a:prstGeom prst="rect">
            <a:avLst/>
          </a:prstGeom>
          <a:noFill/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슬라이드 번호 개체 틀 3">
            <a:extLst>
              <a:ext uri="{FF2B5EF4-FFF2-40B4-BE49-F238E27FC236}">
                <a16:creationId xmlns:a16="http://schemas.microsoft.com/office/drawing/2014/main" id="{657AA3A4-0EFC-FF07-0358-3BEE910B65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23611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D2Coding" panose="020B0609020101020101" pitchFamily="49" charset="-127"/>
                <a:ea typeface="D2Coding" panose="020B0609020101020101" pitchFamily="49" charset="-127"/>
              </a:rPr>
              <a:pPr/>
              <a:t>5</a:t>
            </a:fld>
            <a:endParaRPr lang="en-US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6440047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8875AE-A03E-A978-45BE-6A5931545A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5DCF3AB8-268F-59C2-7493-DAB34ABA98B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Generating Shakespeare</a:t>
            </a:r>
            <a:endParaRPr lang="en-US" altLang="ko-KR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357914A-31CE-7894-9B56-D8A4DFEFA1F2}"/>
              </a:ext>
            </a:extLst>
          </p:cNvPr>
          <p:cNvSpPr txBox="1"/>
          <p:nvPr/>
        </p:nvSpPr>
        <p:spPr>
          <a:xfrm>
            <a:off x="1104900" y="2234684"/>
            <a:ext cx="4743450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Training a Shakespeare language model</a:t>
            </a:r>
            <a:endParaRPr lang="ko-KR" altLang="en-US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00EE6EF-06BF-1F52-96AE-37337AAD405E}"/>
              </a:ext>
            </a:extLst>
          </p:cNvPr>
          <p:cNvSpPr txBox="1"/>
          <p:nvPr/>
        </p:nvSpPr>
        <p:spPr>
          <a:xfrm>
            <a:off x="6619875" y="2234684"/>
            <a:ext cx="5010150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altLang="ko-KR" sz="1800" cap="none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Generating Shakespeare</a:t>
            </a:r>
            <a:endParaRPr lang="ko-KR" altLang="en-US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68FC800-7455-DE28-7935-D180CF0F54A7}"/>
              </a:ext>
            </a:extLst>
          </p:cNvPr>
          <p:cNvSpPr txBox="1"/>
          <p:nvPr/>
        </p:nvSpPr>
        <p:spPr>
          <a:xfrm>
            <a:off x="2481262" y="5206669"/>
            <a:ext cx="6991350" cy="1296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훈련할 때의 일괄 처리 방식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(Batch)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과 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생성할 때의 실시간 한 글자 처리 방식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(Autoregressive)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의 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차이점을 이해하자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!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E693BCE-0248-09F3-D99B-B057C1BE2BC5}"/>
              </a:ext>
            </a:extLst>
          </p:cNvPr>
          <p:cNvSpPr txBox="1"/>
          <p:nvPr/>
        </p:nvSpPr>
        <p:spPr>
          <a:xfrm>
            <a:off x="2905125" y="1808202"/>
            <a:ext cx="110216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i="1" dirty="0">
                <a:latin typeface="D2Coding" panose="020B0609020101020101" pitchFamily="49" charset="-127"/>
                <a:ea typeface="D2Coding" panose="020B0609020101020101" pitchFamily="49" charset="-127"/>
              </a:rPr>
              <a:t>Batch</a:t>
            </a:r>
            <a:endParaRPr lang="ko-KR" altLang="en-US" sz="2000" i="1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BB51A5C-268E-CACC-1098-6B745CE19920}"/>
              </a:ext>
            </a:extLst>
          </p:cNvPr>
          <p:cNvSpPr txBox="1"/>
          <p:nvPr/>
        </p:nvSpPr>
        <p:spPr>
          <a:xfrm>
            <a:off x="8101012" y="1808202"/>
            <a:ext cx="2386013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i="1" dirty="0">
                <a:latin typeface="D2Coding" panose="020B0609020101020101" pitchFamily="49" charset="-127"/>
                <a:ea typeface="D2Coding" panose="020B0609020101020101" pitchFamily="49" charset="-127"/>
              </a:rPr>
              <a:t>Autoregressive</a:t>
            </a:r>
            <a:endParaRPr lang="ko-KR" altLang="en-US" sz="2000" i="1" dirty="0"/>
          </a:p>
        </p:txBody>
      </p:sp>
      <p:pic>
        <p:nvPicPr>
          <p:cNvPr id="3074" name="Picture 2" descr="빨간색 옷을 입은 작업자가 덤프 트럭이 모래를 내리는 것을 감독하고 있습니다.">
            <a:extLst>
              <a:ext uri="{FF2B5EF4-FFF2-40B4-BE49-F238E27FC236}">
                <a16:creationId xmlns:a16="http://schemas.microsoft.com/office/drawing/2014/main" id="{51F2301C-A418-9A8A-0ED4-3921538ED54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4900" y="2604016"/>
            <a:ext cx="2085975" cy="15644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6" name="Picture 4" descr="빨간 스포츠 브라를 입은 여자가 달릴 준비를 하고 있다">
            <a:extLst>
              <a:ext uri="{FF2B5EF4-FFF2-40B4-BE49-F238E27FC236}">
                <a16:creationId xmlns:a16="http://schemas.microsoft.com/office/drawing/2014/main" id="{67D1478E-9DC1-89DB-6FF9-DD42E3526A5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19875" y="2604016"/>
            <a:ext cx="2346720" cy="15644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86F5E02B-2879-FC28-79C9-ED0FBE4869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23611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D2Coding" panose="020B0609020101020101" pitchFamily="49" charset="-127"/>
                <a:ea typeface="D2Coding" panose="020B0609020101020101" pitchFamily="49" charset="-127"/>
              </a:rPr>
              <a:pPr/>
              <a:t>6</a:t>
            </a:fld>
            <a:endParaRPr lang="en-US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68F22D2-F683-BEB8-57A7-F2C69B54D45B}"/>
              </a:ext>
            </a:extLst>
          </p:cNvPr>
          <p:cNvSpPr txBox="1"/>
          <p:nvPr/>
        </p:nvSpPr>
        <p:spPr>
          <a:xfrm>
            <a:off x="3165610" y="2616131"/>
            <a:ext cx="2758940" cy="1531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학습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(Training)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할 때 전체 문장을 일괄 처리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(Batch)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로 통째로 쏟아 넣어서 한 번에 처리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BE5756A-352A-B744-2FFA-B72477A50C7B}"/>
              </a:ext>
            </a:extLst>
          </p:cNvPr>
          <p:cNvSpPr txBox="1"/>
          <p:nvPr/>
        </p:nvSpPr>
        <p:spPr>
          <a:xfrm>
            <a:off x="8970164" y="2616401"/>
            <a:ext cx="2659861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문장을 생성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(Generating)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할 때는 내가 방금 만든 단어와 기억 상태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(Hidden State)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다음 단계로 전달하는 실시간 순차</a:t>
            </a:r>
          </a:p>
        </p:txBody>
      </p:sp>
    </p:spTree>
    <p:extLst>
      <p:ext uri="{BB962C8B-B14F-4D97-AF65-F5344CB8AC3E}">
        <p14:creationId xmlns:p14="http://schemas.microsoft.com/office/powerpoint/2010/main" val="310442334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CAB750-858A-C272-15A2-7C84C15602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227A49D7-0398-90D4-E851-A6A68B937AE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Training a Shakespeare language model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30D94CA-73D3-2527-75B8-9F7446930B9F}"/>
              </a:ext>
            </a:extLst>
          </p:cNvPr>
          <p:cNvSpPr txBox="1"/>
          <p:nvPr/>
        </p:nvSpPr>
        <p:spPr>
          <a:xfrm>
            <a:off x="530194" y="1243241"/>
            <a:ext cx="11004581" cy="465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인코더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-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디코더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구분이 없는 단일 시퀀스 학습 모델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(Using a character-level tokenizer)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F9067A1-3F80-FF96-C857-0BAB9F1B5C3F}"/>
              </a:ext>
            </a:extLst>
          </p:cNvPr>
          <p:cNvSpPr txBox="1"/>
          <p:nvPr/>
        </p:nvSpPr>
        <p:spPr>
          <a:xfrm>
            <a:off x="862272" y="1827118"/>
            <a:ext cx="9158028" cy="4459554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sequences of 100 characters at a time.</a:t>
            </a:r>
          </a:p>
          <a:p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sequence_length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100</a:t>
            </a: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embedding_dim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256;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hidden_dim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1024</a:t>
            </a:r>
          </a:p>
          <a:p>
            <a:pPr algn="l" latinLnBrk="0">
              <a:lnSpc>
                <a:spcPct val="150000"/>
              </a:lnSpc>
              <a:buNone/>
            </a:pPr>
            <a:endParaRPr lang="en-US" altLang="ko-KR" sz="5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inputs = 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layers.Input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(shape=(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sequence_length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,), 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dtype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="int", name="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token_ids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</a:t>
            </a: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layers.Embedding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vocabulary_size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embedding_dim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)(inputs)</a:t>
            </a:r>
          </a:p>
          <a:p>
            <a:pPr algn="l" latinLnBrk="0">
              <a:lnSpc>
                <a:spcPct val="150000"/>
              </a:lnSpc>
              <a:buNone/>
            </a:pPr>
            <a:endParaRPr lang="en-US" altLang="ko-KR" sz="4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return_sequences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=True :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모든 시퀀스를 다 살려서 연산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뉴런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(Hidden Unit)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개수는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1,024</a:t>
            </a:r>
          </a:p>
          <a:p>
            <a:pPr>
              <a:lnSpc>
                <a:spcPct val="150000"/>
              </a:lnSpc>
            </a:pP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layers.GRU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hidden_dim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return_sequences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=True)(x)</a:t>
            </a: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layers.Dropout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(0.1)(x)</a:t>
            </a:r>
          </a:p>
          <a:p>
            <a:pPr algn="l" latinLnBrk="0">
              <a:lnSpc>
                <a:spcPct val="150000"/>
              </a:lnSpc>
              <a:buNone/>
            </a:pPr>
            <a:endParaRPr lang="en-US" altLang="ko-KR" sz="105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Outputs a probability distribution over all potential tokens in our vocabulary</a:t>
            </a: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outputs = 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layers.Dense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vocabulary_size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activation="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softmax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")(x)</a:t>
            </a:r>
          </a:p>
          <a:p>
            <a:pPr algn="l">
              <a:lnSpc>
                <a:spcPct val="150000"/>
              </a:lnSpc>
              <a:buNone/>
            </a:pP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model = 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keras.Model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(inputs, outputs)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7F1ABA55-90CB-A697-FEEF-CA75D6CEFE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23611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D2Coding" panose="020B0609020101020101" pitchFamily="49" charset="-127"/>
                <a:ea typeface="D2Coding" panose="020B0609020101020101" pitchFamily="49" charset="-127"/>
              </a:rPr>
              <a:pPr/>
              <a:t>7</a:t>
            </a:fld>
            <a:endParaRPr lang="en-US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7390354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E7D11A-D473-087C-AD22-CCBBACC042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A38F1C6-A4A1-8A8C-CC8E-78C3BF69C49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Generating Shakespeare</a:t>
            </a:r>
            <a:endParaRPr lang="en-US" altLang="ko-KR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7413D9C-F053-D431-F176-61AE31E7330D}"/>
              </a:ext>
            </a:extLst>
          </p:cNvPr>
          <p:cNvSpPr txBox="1"/>
          <p:nvPr/>
        </p:nvSpPr>
        <p:spPr>
          <a:xfrm>
            <a:off x="571197" y="1248422"/>
            <a:ext cx="11049605" cy="1531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이미 정답이 있는 훈련 때와 달리, 실제 문장을 생성할 때는 내가 방금 만든 단어를 다시 입력으로 넣는 루프(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반복문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를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사용하면서 이때 매번 처음부터 문장을 다시 읽으면 모델이 너무 느려지니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따라서 '직전 단어 1개'와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GRU가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기억하고 있는 '기억 상태(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Hidden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State)'만 명시적으로 넘겨받아 이어서 쓰도록 모델의 구조를 효율적으로 개조(수술)하여야 함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FEAB959-BA64-09A0-D750-1AE22D3BFB7C}"/>
              </a:ext>
            </a:extLst>
          </p:cNvPr>
          <p:cNvSpPr txBox="1"/>
          <p:nvPr/>
        </p:nvSpPr>
        <p:spPr>
          <a:xfrm>
            <a:off x="1471051" y="3008054"/>
            <a:ext cx="8362950" cy="30091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1회차 루프: * 입력: "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 + 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비어있는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초기 상태)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출력: "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 + [기억 상태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2회차 루프: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입력: "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 + [기억 상태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] (처음부터 다시 읽지 않고, 이어서 읽는 효과)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출력: "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 + [기억 상태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3회차 루프: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입력: "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 + [기억 상태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출력: "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not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 + [기억 상태 C]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F46624C-78B2-5C5E-C753-5310C7FF38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23611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D2Coding" panose="020B0609020101020101" pitchFamily="49" charset="-127"/>
                <a:ea typeface="D2Coding" panose="020B0609020101020101" pitchFamily="49" charset="-127"/>
              </a:rPr>
              <a:pPr/>
              <a:t>8</a:t>
            </a:fld>
            <a:endParaRPr lang="en-US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43492142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19EF58-62AB-C8A8-6C80-65ABEE996E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BA94D6C1-8175-9BCD-F46D-FCD9E8AF4CF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solidFill>
                  <a:schemeClr val="bg2">
                    <a:lumMod val="25000"/>
                  </a:schemeClr>
                </a:solidFill>
                <a:latin typeface="Lora" pitchFamily="2" charset="0"/>
                <a:ea typeface="D2Coding" panose="020B0609020101020101" pitchFamily="49" charset="-127"/>
                <a:cs typeface="Segoe UI Light" panose="020B0502040204020203" pitchFamily="34" charset="0"/>
              </a:rPr>
              <a:t>Why not bidirectional RNN</a:t>
            </a:r>
            <a:r>
              <a:rPr lang="ko-KR" altLang="en-US" sz="2800" b="1" cap="none" dirty="0">
                <a:solidFill>
                  <a:schemeClr val="bg2">
                    <a:lumMod val="25000"/>
                  </a:schemeClr>
                </a:solidFill>
                <a:latin typeface="Lora" pitchFamily="2" charset="0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b="1" cap="none" dirty="0">
                <a:solidFill>
                  <a:schemeClr val="bg2">
                    <a:lumMod val="25000"/>
                  </a:schemeClr>
                </a:solidFill>
                <a:latin typeface="Lora" pitchFamily="2" charset="0"/>
                <a:ea typeface="D2Coding" panose="020B0609020101020101" pitchFamily="49" charset="-127"/>
                <a:cs typeface="Segoe UI Light" panose="020B0502040204020203" pitchFamily="34" charset="0"/>
              </a:rPr>
              <a:t>during training a Shakespeare ?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0EFB6AD-2A4A-E6D2-36ED-11C5CD4BD8D9}"/>
              </a:ext>
            </a:extLst>
          </p:cNvPr>
          <p:cNvSpPr txBox="1"/>
          <p:nvPr/>
        </p:nvSpPr>
        <p:spPr>
          <a:xfrm>
            <a:off x="613802" y="1362722"/>
            <a:ext cx="10997174" cy="49943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b="1" dirty="0">
                <a:latin typeface="D2Coding" panose="020B0609020101020101" pitchFamily="49" charset="-127"/>
                <a:ea typeface="D2Coding" panose="020B0609020101020101" pitchFamily="49" charset="-127"/>
              </a:rPr>
              <a:t>단방향 </a:t>
            </a:r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</a:rPr>
              <a:t>GRU (</a:t>
            </a:r>
            <a:r>
              <a:rPr lang="ko-KR" altLang="en-US" b="1" dirty="0">
                <a:latin typeface="D2Coding" panose="020B0609020101020101" pitchFamily="49" charset="-127"/>
                <a:ea typeface="D2Coding" panose="020B0609020101020101" pitchFamily="49" charset="-127"/>
              </a:rPr>
              <a:t>앞에서부터 순서대로 읽기</a:t>
            </a:r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나는 오늘 배가 너무 고파서 아침 일찍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___" —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앞 단어들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과거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만 보고 빈칸을 추측하면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일어났다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', 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밥을 먹었다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등 여러 가능성이 있는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실제로 말하거나 글을 쓸 때와 같은 방식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</a:rPr>
              <a:t>2. </a:t>
            </a:r>
            <a:r>
              <a:rPr lang="ko-KR" altLang="en-US" b="1" dirty="0">
                <a:latin typeface="D2Coding" panose="020B0609020101020101" pitchFamily="49" charset="-127"/>
                <a:ea typeface="D2Coding" panose="020B0609020101020101" pitchFamily="49" charset="-127"/>
              </a:rPr>
              <a:t>양방향 </a:t>
            </a:r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</a:rPr>
              <a:t>GRU (</a:t>
            </a:r>
            <a:r>
              <a:rPr lang="ko-KR" altLang="en-US" b="1" dirty="0">
                <a:latin typeface="D2Coding" panose="020B0609020101020101" pitchFamily="49" charset="-127"/>
                <a:ea typeface="D2Coding" panose="020B0609020101020101" pitchFamily="49" charset="-127"/>
              </a:rPr>
              <a:t>뒤의 단어까지 훔쳐보기</a:t>
            </a:r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나는 오늘 배가 너무 고파서 아침 일찍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___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문을 열자마자 허겁지겁 국밥을 들이켰다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." 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—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빈칸 뒤의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국밥을 들이켰다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까지 미리 읽으면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식당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처럼 훨씬 정확하게 맞출 수 있는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이미 완성된 문장을 통째로 분석하는 작업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번역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감정 분석 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에는 양방향이 훨씬 유리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</a:rPr>
              <a:t>3. </a:t>
            </a:r>
            <a:r>
              <a:rPr lang="ko-KR" altLang="en-US" b="1" dirty="0">
                <a:latin typeface="D2Coding" panose="020B0609020101020101" pitchFamily="49" charset="-127"/>
                <a:ea typeface="D2Coding" panose="020B0609020101020101" pitchFamily="49" charset="-127"/>
              </a:rPr>
              <a:t>그런데 왜 문장 생성에는 못 쓸까</a:t>
            </a:r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</a:rPr>
              <a:t>?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학습할 때는 정답 문장이 통째로 주어져서 뒤를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컨닝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해 맞출 수 있지만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실제로 글을 새로 쓸 때는 다음 단어 뒤에 나올 문장이 아직 존재하지 않기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때문에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훈련 때 미래를 훔쳐보는 버릇이 들었던 양방향 모델은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미래 정보가 없는 실전 상황에서 아무것도 만들어내지 못하고 먹통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81722D7E-EDC2-CCA6-1406-59446F55BB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23611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D2Coding" panose="020B0609020101020101" pitchFamily="49" charset="-127"/>
                <a:ea typeface="D2Coding" panose="020B0609020101020101" pitchFamily="49" charset="-127"/>
              </a:rPr>
              <a:pPr/>
              <a:t>9</a:t>
            </a:fld>
            <a:endParaRPr lang="en-US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2617499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6ECCA7-79AD-FA7E-2523-2550CD1794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351DF3B-BB98-A1BD-9F4A-68202D7749F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1164324"/>
            <a:ext cx="10620376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4400" dirty="0">
                <a:solidFill>
                  <a:schemeClr val="bg1"/>
                </a:solidFill>
                <a:latin typeface="Lora" pitchFamily="2" charset="0"/>
              </a:rPr>
              <a:t>Sequence-to-sequence</a:t>
            </a:r>
            <a:endParaRPr lang="ko-KR" altLang="en-US" sz="4400" dirty="0">
              <a:solidFill>
                <a:schemeClr val="bg1"/>
              </a:solidFill>
              <a:latin typeface="Lora" pitchFamily="2" charset="0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25A97A46-9E82-F6A6-B28B-408473F8E92A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</a:rPr>
              <a:t>조상구교수</a:t>
            </a:r>
            <a:endParaRPr lang="en-US" altLang="ko-KR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4227756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20AD43-EB09-973C-6915-D5E0662541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A9E9887B-21F8-663E-9978-ED86DA3929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9485" y="2230590"/>
            <a:ext cx="5760940" cy="4292635"/>
          </a:xfrm>
          <a:prstGeom prst="rect">
            <a:avLst/>
          </a:prstGeom>
        </p:spPr>
      </p:pic>
      <p:sp>
        <p:nvSpPr>
          <p:cNvPr id="3" name="제목 1">
            <a:extLst>
              <a:ext uri="{FF2B5EF4-FFF2-40B4-BE49-F238E27FC236}">
                <a16:creationId xmlns:a16="http://schemas.microsoft.com/office/drawing/2014/main" id="{CE6AF090-76C3-C112-1DD8-CF6E7DA510C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Sequence-to-sequence learning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4F032AF-0C22-5A45-005C-F85F6A843816}"/>
              </a:ext>
            </a:extLst>
          </p:cNvPr>
          <p:cNvSpPr txBox="1"/>
          <p:nvPr/>
        </p:nvSpPr>
        <p:spPr>
          <a:xfrm>
            <a:off x="571499" y="1200061"/>
            <a:ext cx="11058525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We seek to build a model that can take in a source text as a </a:t>
            </a:r>
            <a:r>
              <a:rPr lang="en-US" altLang="ko-KR" sz="1600" b="1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fixed input sequence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and generate the translated text sequence as a result. Question answering is another classic sequence-to-sequence problem.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8ABEA23-67B5-9B60-BA2D-0EF55F2D9A40}"/>
              </a:ext>
            </a:extLst>
          </p:cNvPr>
          <p:cNvSpPr txBox="1">
            <a:spLocks/>
          </p:cNvSpPr>
          <p:nvPr/>
        </p:nvSpPr>
        <p:spPr>
          <a:xfrm>
            <a:off x="1112361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D2Coding" panose="020B0609020101020101" pitchFamily="49" charset="-127"/>
                <a:ea typeface="D2Coding" panose="020B0609020101020101" pitchFamily="49" charset="-127"/>
              </a:rPr>
              <a:pPr/>
              <a:t>11</a:t>
            </a:fld>
            <a:endParaRPr lang="en-US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E080CE4-17F0-CC04-A2C5-8F565CA80298}"/>
              </a:ext>
            </a:extLst>
          </p:cNvPr>
          <p:cNvSpPr txBox="1"/>
          <p:nvPr/>
        </p:nvSpPr>
        <p:spPr>
          <a:xfrm>
            <a:off x="1543049" y="2291136"/>
            <a:ext cx="1838325" cy="307777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14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Training Phase</a:t>
            </a:r>
            <a:endParaRPr lang="ko-KR" altLang="en-US" sz="1400" dirty="0">
              <a:solidFill>
                <a:schemeClr val="bg1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C397937-7F44-7A7C-8239-CF2E4FDC3E54}"/>
              </a:ext>
            </a:extLst>
          </p:cNvPr>
          <p:cNvSpPr txBox="1"/>
          <p:nvPr/>
        </p:nvSpPr>
        <p:spPr>
          <a:xfrm>
            <a:off x="1544735" y="4491207"/>
            <a:ext cx="1838325" cy="307777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Inference</a:t>
            </a:r>
            <a:r>
              <a:rPr lang="en-US" altLang="ko-KR" sz="14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Phase</a:t>
            </a:r>
            <a:endParaRPr lang="ko-KR" altLang="en-US" sz="1400" dirty="0">
              <a:solidFill>
                <a:schemeClr val="bg1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B709192-EBA9-F786-9947-09D036EC011F}"/>
              </a:ext>
            </a:extLst>
          </p:cNvPr>
          <p:cNvSpPr txBox="1"/>
          <p:nvPr/>
        </p:nvSpPr>
        <p:spPr>
          <a:xfrm>
            <a:off x="7315201" y="2259165"/>
            <a:ext cx="4019550" cy="4260462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Sequence-to-sequence learning: </a:t>
            </a:r>
          </a:p>
          <a:p>
            <a:pPr>
              <a:lnSpc>
                <a:spcPct val="150000"/>
              </a:lnSpc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[Training Phase]</a:t>
            </a:r>
            <a:endParaRPr lang="en-US" altLang="ko-KR" sz="14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the source sequence is processed by the encoder and is then sent to the decoder. 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The decoder looks at the target sequence so far and predicts the target sequence offset by one step in the future. 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sz="14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[Inference Phase]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During inference, we generate one target token at a time and feed it back into the decoder.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87971494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020C3C-F942-13AC-684D-787751364B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A70013F-BEEA-B8A7-0F58-494094318D0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English-to-Spanish translation : Training Phase</a:t>
            </a:r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3B5A5C05-B3DE-013A-29AA-6E141658916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3198917"/>
            <a:ext cx="4876802" cy="159496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84B804D8-621B-D430-4D8A-3ECC1EDE76D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53362" y="3198917"/>
            <a:ext cx="6305262" cy="313322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B37EB0A2-FB6E-11D7-190F-54960EEB0C4D}"/>
              </a:ext>
            </a:extLst>
          </p:cNvPr>
          <p:cNvSpPr txBox="1"/>
          <p:nvPr/>
        </p:nvSpPr>
        <p:spPr>
          <a:xfrm>
            <a:off x="9791699" y="680536"/>
            <a:ext cx="1838325" cy="369332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Training Phase</a:t>
            </a:r>
            <a:endParaRPr lang="ko-KR" altLang="en-US" dirty="0">
              <a:solidFill>
                <a:schemeClr val="bg1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407E4D2-4861-E968-6552-C84B1860CE71}"/>
              </a:ext>
            </a:extLst>
          </p:cNvPr>
          <p:cNvSpPr txBox="1"/>
          <p:nvPr/>
        </p:nvSpPr>
        <p:spPr>
          <a:xfrm>
            <a:off x="5520875" y="2829585"/>
            <a:ext cx="6337749" cy="307777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2. 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시점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(Timestep)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별 훈련 진행 과정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(Teaching Force)</a:t>
            </a:r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EBB722C-CF2B-16A4-3CD4-A071EC495ACC}"/>
              </a:ext>
            </a:extLst>
          </p:cNvPr>
          <p:cNvSpPr txBox="1"/>
          <p:nvPr/>
        </p:nvSpPr>
        <p:spPr>
          <a:xfrm>
            <a:off x="575124" y="2829585"/>
            <a:ext cx="4911277" cy="307777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1. 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훈련 데이터 구성 비교 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(Off by one)</a:t>
            </a:r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5" name="Rectangle 1">
            <a:extLst>
              <a:ext uri="{FF2B5EF4-FFF2-40B4-BE49-F238E27FC236}">
                <a16:creationId xmlns:a16="http://schemas.microsoft.com/office/drawing/2014/main" id="{BE05BBB6-ED03-25F3-69E9-65546A7FCB1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9600" y="1195204"/>
            <a:ext cx="11020424" cy="135197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342900" lvl="0" indent="-3429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r>
              <a:rPr kumimoji="0" lang="ko-KR" altLang="ko-KR" sz="14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Offset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4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by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One(한 칸씩 시차 두기)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입력 시퀀스와 정답 시퀀스를 딱 한 단어씩 비틀어서(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Shift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 매칭</a:t>
            </a:r>
            <a:r>
              <a:rPr kumimoji="0" lang="ko-KR" altLang="en-US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하여</a:t>
            </a:r>
            <a:r>
              <a:rPr kumimoji="0" lang="en-US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/>
              <a:t>시퀀스와 정답 시퀀스를 딱 한 단어씩 비틀어서</a:t>
            </a:r>
            <a:r>
              <a:rPr lang="en-US" altLang="ko-KR" sz="1400" dirty="0"/>
              <a:t>(Shift) </a:t>
            </a:r>
            <a:r>
              <a:rPr lang="ko-KR" altLang="en-US" sz="1400" dirty="0"/>
              <a:t>매칭시켜 놓는 데이터 구조 설계</a:t>
            </a:r>
            <a:endParaRPr kumimoji="0" lang="ko-KR" altLang="ko-KR" sz="14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marR="0" lvl="0" indent="-3429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ko-KR" altLang="ko-KR" sz="14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Teacher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4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Forcing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(교사 강제)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kumimoji="0" lang="ko-KR" altLang="en-US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매칭</a:t>
            </a:r>
            <a:r>
              <a:rPr kumimoji="0" lang="en-US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데이터를 가지고 시간 순서대로(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=1,2,3..) 학습을 진행하</a:t>
            </a:r>
            <a:r>
              <a:rPr kumimoji="0" lang="ko-KR" altLang="en-US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여</a:t>
            </a:r>
            <a:r>
              <a:rPr kumimoji="0" lang="en-US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이전 시점에서 모델이 무슨 예측을 했든 상관없이, 다음 시점의 입력으로 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Offset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by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One으로 준비해 둔 실제 정답을 주입하며 순차적으로 진행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18B48B6-687A-3F13-E37B-135B81F20D92}"/>
              </a:ext>
            </a:extLst>
          </p:cNvPr>
          <p:cNvSpPr txBox="1"/>
          <p:nvPr/>
        </p:nvSpPr>
        <p:spPr>
          <a:xfrm>
            <a:off x="609599" y="5016465"/>
            <a:ext cx="4876802" cy="7056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데이터는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Offset by One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형태로 배치하고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연산은 순차적으로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Teacher Forcing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을 적용하여 학습</a:t>
            </a:r>
          </a:p>
        </p:txBody>
      </p:sp>
      <p:sp>
        <p:nvSpPr>
          <p:cNvPr id="28" name="슬라이드 번호 개체 틀 3">
            <a:extLst>
              <a:ext uri="{FF2B5EF4-FFF2-40B4-BE49-F238E27FC236}">
                <a16:creationId xmlns:a16="http://schemas.microsoft.com/office/drawing/2014/main" id="{AEE497C7-402F-5025-AE5F-9A34A3679CFF}"/>
              </a:ext>
            </a:extLst>
          </p:cNvPr>
          <p:cNvSpPr txBox="1">
            <a:spLocks/>
          </p:cNvSpPr>
          <p:nvPr/>
        </p:nvSpPr>
        <p:spPr>
          <a:xfrm>
            <a:off x="1112361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D2Coding" panose="020B0609020101020101" pitchFamily="49" charset="-127"/>
                <a:ea typeface="D2Coding" panose="020B0609020101020101" pitchFamily="49" charset="-127"/>
              </a:rPr>
              <a:pPr/>
              <a:t>12</a:t>
            </a:fld>
            <a:endParaRPr lang="en-US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80573060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3A25A0-07BB-CDBB-0F29-43C26D718D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8BA978F-02A6-660E-64AA-E1911BB0D58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English-to-Spanish translation : Inference Phase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90F8835F-0C4C-ACD4-FAC3-97B57E277B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2728" y="1438199"/>
            <a:ext cx="6372891" cy="2362275"/>
          </a:xfrm>
          <a:prstGeom prst="rect">
            <a:avLst/>
          </a:prstGeom>
        </p:spPr>
      </p:pic>
      <p:sp>
        <p:nvSpPr>
          <p:cNvPr id="6" name="Rectangle 1">
            <a:extLst>
              <a:ext uri="{FF2B5EF4-FFF2-40B4-BE49-F238E27FC236}">
                <a16:creationId xmlns:a16="http://schemas.microsoft.com/office/drawing/2014/main" id="{5F8E41AC-C6A8-5D35-A8D8-43180608F74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3539" y="3957499"/>
            <a:ext cx="11058525" cy="2224327"/>
          </a:xfrm>
          <a:prstGeom prst="rect">
            <a:avLst/>
          </a:prstGeom>
          <a:noFill/>
          <a:ln w="9525">
            <a:solidFill>
              <a:schemeClr val="tx1"/>
            </a:solidFill>
            <a:prstDash val="dash"/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실전에서는 스페인어 정답이 없</a:t>
            </a:r>
            <a:r>
              <a:rPr kumimoji="0" lang="ko-KR" altLang="en-US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기</a:t>
            </a:r>
            <a:r>
              <a:rPr kumimoji="0" lang="en-US" altLang="ko-KR" sz="1600" i="0" u="none" strike="noStrike" cap="none" normalizeH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때문에 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자기가 방금 뱉은 단어를 다시 자기 귀로 들으면서 다음 단어를 </a:t>
            </a:r>
            <a:r>
              <a:rPr kumimoji="0" lang="ko-KR" altLang="en-US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생성</a:t>
            </a:r>
            <a:endParaRPr kumimoji="0" lang="ko-KR" altLang="ko-KR" sz="16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작동 순서:</a:t>
            </a:r>
          </a:p>
          <a:p>
            <a:pPr marL="800100" marR="0" lvl="1" indent="-3429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디코더에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[시작] 신호만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제시</a:t>
            </a:r>
            <a:endParaRPr kumimoji="0" lang="ko-KR" altLang="ko-KR" sz="16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marR="0" lvl="1" indent="-3429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모델이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qué라는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첫 단어를 </a:t>
            </a:r>
            <a:r>
              <a:rPr kumimoji="0" lang="ko-KR" altLang="en-US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생성</a:t>
            </a:r>
            <a:endParaRPr kumimoji="0" lang="ko-KR" altLang="ko-KR" sz="16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marR="0" lvl="1" indent="-3429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방금 자기가 말한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qué를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다시 입력으로 넣어서 다음 단어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tiempo를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en-US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생성</a:t>
            </a:r>
            <a:endParaRPr kumimoji="0" lang="ko-KR" altLang="ko-KR" sz="16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marR="0" lvl="1" indent="-3429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이 과정을 [끝] 신호가 나올 때까지 한 단어씩 반복</a:t>
            </a:r>
            <a:r>
              <a:rPr kumimoji="0" lang="en-US" altLang="ko-KR" sz="1600" i="0" u="none" strike="noStrike" cap="none" normalizeH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en-US" sz="1600" i="0" u="none" strike="noStrike" cap="none" normalizeH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생성</a:t>
            </a:r>
            <a:endParaRPr kumimoji="0" lang="ko-KR" altLang="ko-KR" sz="16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4CF57B3-20B3-02B3-7FE0-6A4BCAC8C5B2}"/>
              </a:ext>
            </a:extLst>
          </p:cNvPr>
          <p:cNvSpPr txBox="1"/>
          <p:nvPr/>
        </p:nvSpPr>
        <p:spPr>
          <a:xfrm>
            <a:off x="9401175" y="680536"/>
            <a:ext cx="2228849" cy="369332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</a:t>
            </a:r>
            <a:r>
              <a:rPr lang="en-US" altLang="ko-KR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nference Phase</a:t>
            </a:r>
            <a:endParaRPr lang="ko-KR" altLang="en-US" dirty="0">
              <a:solidFill>
                <a:schemeClr val="bg1"/>
              </a:solidFill>
            </a:endParaRPr>
          </a:p>
        </p:txBody>
      </p:sp>
      <p:sp>
        <p:nvSpPr>
          <p:cNvPr id="9" name="슬라이드 번호 개체 틀 3">
            <a:extLst>
              <a:ext uri="{FF2B5EF4-FFF2-40B4-BE49-F238E27FC236}">
                <a16:creationId xmlns:a16="http://schemas.microsoft.com/office/drawing/2014/main" id="{F72D9875-02DE-3060-6895-061FD76A3C47}"/>
              </a:ext>
            </a:extLst>
          </p:cNvPr>
          <p:cNvSpPr txBox="1">
            <a:spLocks/>
          </p:cNvSpPr>
          <p:nvPr/>
        </p:nvSpPr>
        <p:spPr>
          <a:xfrm>
            <a:off x="1112361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D2Coding" panose="020B0609020101020101" pitchFamily="49" charset="-127"/>
                <a:ea typeface="D2Coding" panose="020B0609020101020101" pitchFamily="49" charset="-127"/>
              </a:rPr>
              <a:pPr/>
              <a:t>13</a:t>
            </a:fld>
            <a:endParaRPr lang="en-US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55550513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C94190-4E84-0A28-0702-F9F0C8D9AB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727C6940-5188-BF44-5E98-CFCE10FC251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English-to-Spanish translation : </a:t>
            </a:r>
            <a:r>
              <a:rPr lang="en-US" altLang="ko-KR" sz="2800" b="1" cap="none" dirty="0" err="1">
                <a:latin typeface="Lora" pitchFamily="2" charset="0"/>
              </a:rPr>
              <a:t>Keras</a:t>
            </a:r>
            <a:r>
              <a:rPr lang="ko-KR" altLang="en-US" sz="2800" b="1" cap="none" dirty="0">
                <a:latin typeface="Lora" pitchFamily="2" charset="0"/>
              </a:rPr>
              <a:t> </a:t>
            </a:r>
            <a:r>
              <a:rPr lang="en-US" altLang="ko-KR" sz="2800" b="1" cap="none" dirty="0">
                <a:latin typeface="Lora" pitchFamily="2" charset="0"/>
              </a:rPr>
              <a:t>Data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91A6E11-62F8-D0B0-D48E-E29DD3A9FA3B}"/>
              </a:ext>
            </a:extLst>
          </p:cNvPr>
          <p:cNvSpPr txBox="1"/>
          <p:nvPr/>
        </p:nvSpPr>
        <p:spPr>
          <a:xfrm>
            <a:off x="594215" y="1593511"/>
            <a:ext cx="11003569" cy="894989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txBody>
          <a:bodyPr wrap="square">
            <a:spAutoFit/>
          </a:bodyPr>
          <a:lstStyle/>
          <a:p>
            <a:pPr marL="171450" indent="-1714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TextVectorization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단어들이 사전에 등록된 숫자로 바뀐 뒤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남은 빈 공간은 최대 길이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sequence_length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=20)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까지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0(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패딩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으로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채워짐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71450" indent="-1714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영어 토큰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eng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):[145, 23, 12, 19, 342, 0, 0, 0, 0, 0, 0, ….., 0, 0, 0, 0, 0, 0]</a:t>
            </a:r>
            <a:r>
              <a:rPr lang="en-US" altLang="ko-KR" sz="1200" i="1" dirty="0">
                <a:latin typeface="D2Coding" panose="020B0609020101020101" pitchFamily="49" charset="-127"/>
                <a:ea typeface="D2Coding" panose="020B0609020101020101" pitchFamily="49" charset="-127"/>
              </a:rPr>
              <a:t>(145='who', 23='is', 12='in', 19='this', 342='room')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71450" indent="-1714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스페인어 토큰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(spa):[2, 89, 45, 12, 512, 3, 0, 0, 0, 0, 0, …., 0, 0, 0, 0, 0]</a:t>
            </a:r>
            <a:r>
              <a:rPr lang="en-US" altLang="ko-KR" sz="1200" i="1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200" i="1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2='[start]'</a:t>
            </a:r>
            <a:r>
              <a:rPr lang="en-US" altLang="ko-KR" sz="1200" i="1" dirty="0">
                <a:latin typeface="D2Coding" panose="020B0609020101020101" pitchFamily="49" charset="-127"/>
                <a:ea typeface="D2Coding" panose="020B0609020101020101" pitchFamily="49" charset="-127"/>
              </a:rPr>
              <a:t>,89='quién',45='está',12='en',512='esta',</a:t>
            </a:r>
            <a:r>
              <a:rPr lang="en-US" altLang="ko-KR" sz="1200" i="1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3='[end]'</a:t>
            </a:r>
            <a:r>
              <a:rPr lang="en-US" altLang="ko-KR" sz="1200" i="1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03DA617-A97B-F8F6-D20D-84DC098FBF01}"/>
              </a:ext>
            </a:extLst>
          </p:cNvPr>
          <p:cNvSpPr txBox="1"/>
          <p:nvPr/>
        </p:nvSpPr>
        <p:spPr>
          <a:xfrm>
            <a:off x="594215" y="3108291"/>
            <a:ext cx="11003569" cy="3062377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2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format_dataset</a:t>
            </a:r>
            <a:r>
              <a:rPr lang="ko-KR" altLang="en-US" sz="1200" b="1" dirty="0">
                <a:latin typeface="D2Coding" panose="020B0609020101020101" pitchFamily="49" charset="-127"/>
                <a:ea typeface="D2Coding" panose="020B0609020101020101" pitchFamily="49" charset="-127"/>
              </a:rPr>
              <a:t>을 거친 데이터의 모습 </a:t>
            </a:r>
            <a:r>
              <a:rPr lang="en-US" altLang="ko-KR" sz="1200" b="1" dirty="0">
                <a:latin typeface="D2Coding" panose="020B0609020101020101" pitchFamily="49" charset="-127"/>
                <a:ea typeface="D2Coding" panose="020B0609020101020101" pitchFamily="49" charset="-127"/>
              </a:rPr>
              <a:t>: features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모델 입력용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), labels(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정답 시험지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), </a:t>
            </a: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sample_weights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채점 기준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의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가지 묶음으로 분리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①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features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모델에 입력으로 주는 데이터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 :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모델의 두 채널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인코더와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디코더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로 각각 쪼개져서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들어감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lvl="2"/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{   #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인코더 입력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영어 문장 전체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길이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20)</a:t>
            </a:r>
          </a:p>
          <a:p>
            <a:pPr lvl="2"/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english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[145, 23, 12, 19, 342, 0, 0, 0, 0, 0, 0, 0, 0, 0, 0, 0, 0, 0, 0, 0],</a:t>
            </a:r>
          </a:p>
          <a:p>
            <a:pPr lvl="2"/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#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디코더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입력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스페인어 문장에서 맨 뒤의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3('[end]')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을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잘라냄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길이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20)</a:t>
            </a:r>
          </a:p>
          <a:p>
            <a:pPr lvl="2"/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spanish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[</a:t>
            </a:r>
            <a:r>
              <a:rPr lang="en-US" altLang="ko-KR" sz="1200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en-US" altLang="ko-KR" sz="12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89, 45, 12, 512, 0, 0, 0, 0, 0, 0, 0, 0, 0, 0, 0, 0, 0, 0, 0]   }</a:t>
            </a:r>
          </a:p>
          <a:p>
            <a:pPr lvl="2"/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②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labels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모델이 맞춰야 하는 정답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 :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디코더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입력보다 딱 한 칸 미래로 밀린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(offset)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형태로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맨 앞의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2('[start]')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가 잘려 나감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lvl="2"/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정답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디코더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입력이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2([start])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일 때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89(</a:t>
            </a: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quién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를 맞추고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89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일 때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45(</a:t>
            </a: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está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를 맞춰야 함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길이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20)</a:t>
            </a:r>
          </a:p>
          <a:p>
            <a:pPr lvl="2"/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labels = [89, 45, 12, 512, 3, 0, 0, 0, 0, 0, 0, 0, 0, 0, 0, 0, 0, 0, 0, 0]</a:t>
            </a:r>
          </a:p>
          <a:p>
            <a:pPr>
              <a:buNone/>
            </a:pP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③ </a:t>
            </a: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sample_weights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채점 반영 여부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 :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정답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(labels)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의 숫자가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이 아닌 진짜 단어 위치는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True(1),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의미 없는 패딩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위치는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False(0)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로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채워짐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lvl="2"/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채점 가중치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실제 스페인어 단어와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[end]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토큰이 있는 앞의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5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개만 채점하고 뒤의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들은 무시함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lvl="2"/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패딩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(0)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부분 오차를 제외하고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실제 단어 위치만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True(1)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로 지정하여 손실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(Loss)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계산</a:t>
            </a:r>
          </a:p>
          <a:p>
            <a:pPr lvl="2"/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sample_weights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= [True, True, True, True, True, False, False, False, …. False, False, False, False, False, False, False]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26313FE9-2632-C987-7E87-958FBE68DD18}"/>
              </a:ext>
            </a:extLst>
          </p:cNvPr>
          <p:cNvSpPr txBox="1">
            <a:spLocks/>
          </p:cNvSpPr>
          <p:nvPr/>
        </p:nvSpPr>
        <p:spPr>
          <a:xfrm>
            <a:off x="1112361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D2Coding" panose="020B0609020101020101" pitchFamily="49" charset="-127"/>
                <a:ea typeface="D2Coding" panose="020B0609020101020101" pitchFamily="49" charset="-127"/>
              </a:rPr>
              <a:pPr/>
              <a:t>14</a:t>
            </a:fld>
            <a:endParaRPr lang="en-US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ACA915D-A8E1-7EC5-B08A-B6F9FAA2116E}"/>
              </a:ext>
            </a:extLst>
          </p:cNvPr>
          <p:cNvSpPr txBox="1"/>
          <p:nvPr/>
        </p:nvSpPr>
        <p:spPr>
          <a:xfrm>
            <a:off x="3901109" y="2801009"/>
            <a:ext cx="4671392" cy="307777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2. 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시점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(Timestep)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별 훈련 진행 과정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(Teaching Force)</a:t>
            </a:r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01FE479-9BF0-D84C-88B3-02D48D966DCE}"/>
              </a:ext>
            </a:extLst>
          </p:cNvPr>
          <p:cNvSpPr txBox="1"/>
          <p:nvPr/>
        </p:nvSpPr>
        <p:spPr>
          <a:xfrm>
            <a:off x="575125" y="2801010"/>
            <a:ext cx="3215826" cy="307777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1. 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훈련 데이터 구성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(Off by one)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3608A1A-ACD6-881F-D19E-4DF08637854D}"/>
              </a:ext>
            </a:extLst>
          </p:cNvPr>
          <p:cNvSpPr txBox="1"/>
          <p:nvPr/>
        </p:nvSpPr>
        <p:spPr>
          <a:xfrm>
            <a:off x="581023" y="1279079"/>
            <a:ext cx="4911277" cy="307777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0.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전처리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및 정수 변환 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(Tokenization)</a:t>
            </a:r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59030573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4F424A-5386-61B7-2B73-2B18D853A0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403BD805-6773-D031-F424-9AD8619E1C6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Sequence-to-sequence learning with RNNs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8105E3BE-07DE-9616-F580-398758DFB9B2}"/>
              </a:ext>
            </a:extLst>
          </p:cNvPr>
          <p:cNvSpPr txBox="1">
            <a:spLocks/>
          </p:cNvSpPr>
          <p:nvPr/>
        </p:nvSpPr>
        <p:spPr>
          <a:xfrm>
            <a:off x="1112361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D2Coding" panose="020B0609020101020101" pitchFamily="49" charset="-127"/>
                <a:ea typeface="D2Coding" panose="020B0609020101020101" pitchFamily="49" charset="-127"/>
              </a:rPr>
              <a:pPr/>
              <a:t>15</a:t>
            </a:fld>
            <a:endParaRPr lang="en-US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21962F56-2AB0-4B72-26AA-1E3FF3B9F7D0}"/>
              </a:ext>
            </a:extLst>
          </p:cNvPr>
          <p:cNvSpPr/>
          <p:nvPr/>
        </p:nvSpPr>
        <p:spPr>
          <a:xfrm>
            <a:off x="970319" y="4076700"/>
            <a:ext cx="614516" cy="614516"/>
          </a:xfrm>
          <a:prstGeom prst="round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4473F8BA-ED60-A573-D8FA-9DB0754746C6}"/>
              </a:ext>
            </a:extLst>
          </p:cNvPr>
          <p:cNvSpPr/>
          <p:nvPr/>
        </p:nvSpPr>
        <p:spPr>
          <a:xfrm>
            <a:off x="1985500" y="4076700"/>
            <a:ext cx="614516" cy="614516"/>
          </a:xfrm>
          <a:prstGeom prst="round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4121251D-0628-97D7-B549-D414A5928B3A}"/>
              </a:ext>
            </a:extLst>
          </p:cNvPr>
          <p:cNvSpPr/>
          <p:nvPr/>
        </p:nvSpPr>
        <p:spPr>
          <a:xfrm>
            <a:off x="3000681" y="4076700"/>
            <a:ext cx="614516" cy="614516"/>
          </a:xfrm>
          <a:prstGeom prst="round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9A25557A-1AC6-D33D-44E1-DF01803947E2}"/>
              </a:ext>
            </a:extLst>
          </p:cNvPr>
          <p:cNvSpPr/>
          <p:nvPr/>
        </p:nvSpPr>
        <p:spPr>
          <a:xfrm>
            <a:off x="4015862" y="4076700"/>
            <a:ext cx="614516" cy="614516"/>
          </a:xfrm>
          <a:prstGeom prst="round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사각형: 둥근 모서리 17">
            <a:extLst>
              <a:ext uri="{FF2B5EF4-FFF2-40B4-BE49-F238E27FC236}">
                <a16:creationId xmlns:a16="http://schemas.microsoft.com/office/drawing/2014/main" id="{D9008178-1420-D469-928D-3EB8EEEDCF0E}"/>
              </a:ext>
            </a:extLst>
          </p:cNvPr>
          <p:cNvSpPr/>
          <p:nvPr/>
        </p:nvSpPr>
        <p:spPr>
          <a:xfrm>
            <a:off x="5031043" y="4076700"/>
            <a:ext cx="614516" cy="614516"/>
          </a:xfrm>
          <a:prstGeom prst="round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DD13A63E-15A3-C408-9AAC-E7F91B414576}"/>
              </a:ext>
            </a:extLst>
          </p:cNvPr>
          <p:cNvSpPr/>
          <p:nvPr/>
        </p:nvSpPr>
        <p:spPr>
          <a:xfrm>
            <a:off x="6503424" y="4076700"/>
            <a:ext cx="614516" cy="614516"/>
          </a:xfrm>
          <a:prstGeom prst="round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사각형: 둥근 모서리 19">
            <a:extLst>
              <a:ext uri="{FF2B5EF4-FFF2-40B4-BE49-F238E27FC236}">
                <a16:creationId xmlns:a16="http://schemas.microsoft.com/office/drawing/2014/main" id="{D886D64A-D843-106D-8B18-A1EC624B798D}"/>
              </a:ext>
            </a:extLst>
          </p:cNvPr>
          <p:cNvSpPr/>
          <p:nvPr/>
        </p:nvSpPr>
        <p:spPr>
          <a:xfrm>
            <a:off x="7518605" y="4076700"/>
            <a:ext cx="614516" cy="614516"/>
          </a:xfrm>
          <a:prstGeom prst="round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사각형: 둥근 모서리 20">
            <a:extLst>
              <a:ext uri="{FF2B5EF4-FFF2-40B4-BE49-F238E27FC236}">
                <a16:creationId xmlns:a16="http://schemas.microsoft.com/office/drawing/2014/main" id="{9B31728B-9744-C6BD-95CF-7D40E9E929E9}"/>
              </a:ext>
            </a:extLst>
          </p:cNvPr>
          <p:cNvSpPr/>
          <p:nvPr/>
        </p:nvSpPr>
        <p:spPr>
          <a:xfrm>
            <a:off x="8533786" y="4076700"/>
            <a:ext cx="614516" cy="614516"/>
          </a:xfrm>
          <a:prstGeom prst="round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6DEF8655-D343-5352-98F7-8F360253EB4E}"/>
              </a:ext>
            </a:extLst>
          </p:cNvPr>
          <p:cNvSpPr/>
          <p:nvPr/>
        </p:nvSpPr>
        <p:spPr>
          <a:xfrm>
            <a:off x="9548967" y="4076700"/>
            <a:ext cx="614516" cy="614516"/>
          </a:xfrm>
          <a:prstGeom prst="round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2A0EFE90-D860-124A-F6A1-A25DBE71E258}"/>
              </a:ext>
            </a:extLst>
          </p:cNvPr>
          <p:cNvSpPr/>
          <p:nvPr/>
        </p:nvSpPr>
        <p:spPr>
          <a:xfrm>
            <a:off x="10564148" y="4076700"/>
            <a:ext cx="614516" cy="614516"/>
          </a:xfrm>
          <a:prstGeom prst="round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6" name="직선 화살표 연결선 25">
            <a:extLst>
              <a:ext uri="{FF2B5EF4-FFF2-40B4-BE49-F238E27FC236}">
                <a16:creationId xmlns:a16="http://schemas.microsoft.com/office/drawing/2014/main" id="{9A0414CE-F338-546B-C420-EE58B44B4BFA}"/>
              </a:ext>
            </a:extLst>
          </p:cNvPr>
          <p:cNvCxnSpPr>
            <a:stCxn id="14" idx="3"/>
            <a:endCxn id="15" idx="1"/>
          </p:cNvCxnSpPr>
          <p:nvPr/>
        </p:nvCxnSpPr>
        <p:spPr>
          <a:xfrm>
            <a:off x="1584835" y="4383958"/>
            <a:ext cx="400665" cy="0"/>
          </a:xfrm>
          <a:prstGeom prst="straightConnector1">
            <a:avLst/>
          </a:prstGeom>
          <a:ln w="1905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1" name="직선 화살표 연결선 30">
            <a:extLst>
              <a:ext uri="{FF2B5EF4-FFF2-40B4-BE49-F238E27FC236}">
                <a16:creationId xmlns:a16="http://schemas.microsoft.com/office/drawing/2014/main" id="{051120F7-19FE-B5BE-AD46-CC68D946ADC5}"/>
              </a:ext>
            </a:extLst>
          </p:cNvPr>
          <p:cNvCxnSpPr>
            <a:cxnSpLocks/>
          </p:cNvCxnSpPr>
          <p:nvPr/>
        </p:nvCxnSpPr>
        <p:spPr>
          <a:xfrm>
            <a:off x="2607389" y="4408536"/>
            <a:ext cx="400665" cy="0"/>
          </a:xfrm>
          <a:prstGeom prst="straightConnector1">
            <a:avLst/>
          </a:prstGeom>
          <a:ln w="1905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2" name="직선 화살표 연결선 31">
            <a:extLst>
              <a:ext uri="{FF2B5EF4-FFF2-40B4-BE49-F238E27FC236}">
                <a16:creationId xmlns:a16="http://schemas.microsoft.com/office/drawing/2014/main" id="{06E23570-ECD4-ED58-F3F9-2E8901BE0B0B}"/>
              </a:ext>
            </a:extLst>
          </p:cNvPr>
          <p:cNvCxnSpPr>
            <a:cxnSpLocks/>
          </p:cNvCxnSpPr>
          <p:nvPr/>
        </p:nvCxnSpPr>
        <p:spPr>
          <a:xfrm>
            <a:off x="3621517" y="4408536"/>
            <a:ext cx="400665" cy="0"/>
          </a:xfrm>
          <a:prstGeom prst="straightConnector1">
            <a:avLst/>
          </a:prstGeom>
          <a:ln w="1905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3" name="직선 화살표 연결선 32">
            <a:extLst>
              <a:ext uri="{FF2B5EF4-FFF2-40B4-BE49-F238E27FC236}">
                <a16:creationId xmlns:a16="http://schemas.microsoft.com/office/drawing/2014/main" id="{D83DD60F-7389-91D9-7E5B-C1022AA11204}"/>
              </a:ext>
            </a:extLst>
          </p:cNvPr>
          <p:cNvCxnSpPr>
            <a:cxnSpLocks/>
          </p:cNvCxnSpPr>
          <p:nvPr/>
        </p:nvCxnSpPr>
        <p:spPr>
          <a:xfrm>
            <a:off x="4635645" y="4408536"/>
            <a:ext cx="400665" cy="0"/>
          </a:xfrm>
          <a:prstGeom prst="straightConnector1">
            <a:avLst/>
          </a:prstGeom>
          <a:ln w="1905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직선 화살표 연결선 33">
            <a:extLst>
              <a:ext uri="{FF2B5EF4-FFF2-40B4-BE49-F238E27FC236}">
                <a16:creationId xmlns:a16="http://schemas.microsoft.com/office/drawing/2014/main" id="{3E782FBA-AB25-5DE5-CF4F-F632AB168F93}"/>
              </a:ext>
            </a:extLst>
          </p:cNvPr>
          <p:cNvCxnSpPr>
            <a:cxnSpLocks/>
            <a:endCxn id="19" idx="1"/>
          </p:cNvCxnSpPr>
          <p:nvPr/>
        </p:nvCxnSpPr>
        <p:spPr>
          <a:xfrm flipV="1">
            <a:off x="5649773" y="4383958"/>
            <a:ext cx="853651" cy="24578"/>
          </a:xfrm>
          <a:prstGeom prst="straightConnector1">
            <a:avLst/>
          </a:prstGeom>
          <a:ln w="1905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5" name="직선 화살표 연결선 34">
            <a:extLst>
              <a:ext uri="{FF2B5EF4-FFF2-40B4-BE49-F238E27FC236}">
                <a16:creationId xmlns:a16="http://schemas.microsoft.com/office/drawing/2014/main" id="{876075AC-BAA5-0D79-0140-6AABD10FAE36}"/>
              </a:ext>
            </a:extLst>
          </p:cNvPr>
          <p:cNvCxnSpPr>
            <a:cxnSpLocks/>
          </p:cNvCxnSpPr>
          <p:nvPr/>
        </p:nvCxnSpPr>
        <p:spPr>
          <a:xfrm>
            <a:off x="7121101" y="4408536"/>
            <a:ext cx="400665" cy="0"/>
          </a:xfrm>
          <a:prstGeom prst="straightConnector1">
            <a:avLst/>
          </a:prstGeom>
          <a:ln w="1905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직선 화살표 연결선 35">
            <a:extLst>
              <a:ext uri="{FF2B5EF4-FFF2-40B4-BE49-F238E27FC236}">
                <a16:creationId xmlns:a16="http://schemas.microsoft.com/office/drawing/2014/main" id="{FE89C03A-0A1B-E212-2DE4-88F8E007514C}"/>
              </a:ext>
            </a:extLst>
          </p:cNvPr>
          <p:cNvCxnSpPr>
            <a:cxnSpLocks/>
          </p:cNvCxnSpPr>
          <p:nvPr/>
        </p:nvCxnSpPr>
        <p:spPr>
          <a:xfrm>
            <a:off x="8135229" y="4408536"/>
            <a:ext cx="400665" cy="0"/>
          </a:xfrm>
          <a:prstGeom prst="straightConnector1">
            <a:avLst/>
          </a:prstGeom>
          <a:ln w="1905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7" name="직선 화살표 연결선 36">
            <a:extLst>
              <a:ext uri="{FF2B5EF4-FFF2-40B4-BE49-F238E27FC236}">
                <a16:creationId xmlns:a16="http://schemas.microsoft.com/office/drawing/2014/main" id="{2BF7AD3B-5640-B4FE-7F59-2F70B619A419}"/>
              </a:ext>
            </a:extLst>
          </p:cNvPr>
          <p:cNvCxnSpPr>
            <a:cxnSpLocks/>
          </p:cNvCxnSpPr>
          <p:nvPr/>
        </p:nvCxnSpPr>
        <p:spPr>
          <a:xfrm>
            <a:off x="9149357" y="4408536"/>
            <a:ext cx="400665" cy="0"/>
          </a:xfrm>
          <a:prstGeom prst="straightConnector1">
            <a:avLst/>
          </a:prstGeom>
          <a:ln w="1905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8" name="직선 화살표 연결선 37">
            <a:extLst>
              <a:ext uri="{FF2B5EF4-FFF2-40B4-BE49-F238E27FC236}">
                <a16:creationId xmlns:a16="http://schemas.microsoft.com/office/drawing/2014/main" id="{6A91B12A-CB2A-45E5-79FC-692002300D91}"/>
              </a:ext>
            </a:extLst>
          </p:cNvPr>
          <p:cNvCxnSpPr>
            <a:cxnSpLocks/>
          </p:cNvCxnSpPr>
          <p:nvPr/>
        </p:nvCxnSpPr>
        <p:spPr>
          <a:xfrm>
            <a:off x="10163483" y="4408536"/>
            <a:ext cx="400665" cy="0"/>
          </a:xfrm>
          <a:prstGeom prst="straightConnector1">
            <a:avLst/>
          </a:prstGeom>
          <a:ln w="1905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0" name="직선 화살표 연결선 39">
            <a:extLst>
              <a:ext uri="{FF2B5EF4-FFF2-40B4-BE49-F238E27FC236}">
                <a16:creationId xmlns:a16="http://schemas.microsoft.com/office/drawing/2014/main" id="{58441426-13A8-8263-90D5-7141D16A1B9D}"/>
              </a:ext>
            </a:extLst>
          </p:cNvPr>
          <p:cNvCxnSpPr>
            <a:cxnSpLocks/>
          </p:cNvCxnSpPr>
          <p:nvPr/>
        </p:nvCxnSpPr>
        <p:spPr>
          <a:xfrm>
            <a:off x="1277577" y="4677082"/>
            <a:ext cx="0" cy="614516"/>
          </a:xfrm>
          <a:prstGeom prst="straightConnector1">
            <a:avLst/>
          </a:prstGeom>
          <a:ln w="19050">
            <a:solidFill>
              <a:schemeClr val="accent5"/>
            </a:solidFill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직선 화살표 연결선 42">
            <a:extLst>
              <a:ext uri="{FF2B5EF4-FFF2-40B4-BE49-F238E27FC236}">
                <a16:creationId xmlns:a16="http://schemas.microsoft.com/office/drawing/2014/main" id="{33321406-A0F6-9DBB-624A-6D82554D78AC}"/>
              </a:ext>
            </a:extLst>
          </p:cNvPr>
          <p:cNvCxnSpPr>
            <a:cxnSpLocks/>
          </p:cNvCxnSpPr>
          <p:nvPr/>
        </p:nvCxnSpPr>
        <p:spPr>
          <a:xfrm>
            <a:off x="2296752" y="4677082"/>
            <a:ext cx="0" cy="614516"/>
          </a:xfrm>
          <a:prstGeom prst="straightConnector1">
            <a:avLst/>
          </a:prstGeom>
          <a:ln w="19050">
            <a:solidFill>
              <a:schemeClr val="accent5"/>
            </a:solidFill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직선 화살표 연결선 43">
            <a:extLst>
              <a:ext uri="{FF2B5EF4-FFF2-40B4-BE49-F238E27FC236}">
                <a16:creationId xmlns:a16="http://schemas.microsoft.com/office/drawing/2014/main" id="{9EF91721-7C99-2036-1437-F77D3C5B5D14}"/>
              </a:ext>
            </a:extLst>
          </p:cNvPr>
          <p:cNvCxnSpPr>
            <a:cxnSpLocks/>
          </p:cNvCxnSpPr>
          <p:nvPr/>
        </p:nvCxnSpPr>
        <p:spPr>
          <a:xfrm>
            <a:off x="3315927" y="4677082"/>
            <a:ext cx="0" cy="614516"/>
          </a:xfrm>
          <a:prstGeom prst="straightConnector1">
            <a:avLst/>
          </a:prstGeom>
          <a:ln w="19050">
            <a:solidFill>
              <a:schemeClr val="accent5"/>
            </a:solidFill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E728B1C3-5792-AAA2-C103-224C640DA5A5}"/>
              </a:ext>
            </a:extLst>
          </p:cNvPr>
          <p:cNvCxnSpPr>
            <a:cxnSpLocks/>
          </p:cNvCxnSpPr>
          <p:nvPr/>
        </p:nvCxnSpPr>
        <p:spPr>
          <a:xfrm>
            <a:off x="4335102" y="4677082"/>
            <a:ext cx="0" cy="614516"/>
          </a:xfrm>
          <a:prstGeom prst="straightConnector1">
            <a:avLst/>
          </a:prstGeom>
          <a:ln w="19050">
            <a:solidFill>
              <a:schemeClr val="accent5"/>
            </a:solidFill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직선 화살표 연결선 45">
            <a:extLst>
              <a:ext uri="{FF2B5EF4-FFF2-40B4-BE49-F238E27FC236}">
                <a16:creationId xmlns:a16="http://schemas.microsoft.com/office/drawing/2014/main" id="{331BBEC7-BC4D-8875-EA7A-59F90833C47C}"/>
              </a:ext>
            </a:extLst>
          </p:cNvPr>
          <p:cNvCxnSpPr>
            <a:cxnSpLocks/>
          </p:cNvCxnSpPr>
          <p:nvPr/>
        </p:nvCxnSpPr>
        <p:spPr>
          <a:xfrm>
            <a:off x="5354277" y="4677082"/>
            <a:ext cx="0" cy="614516"/>
          </a:xfrm>
          <a:prstGeom prst="straightConnector1">
            <a:avLst/>
          </a:prstGeom>
          <a:ln w="19050">
            <a:solidFill>
              <a:schemeClr val="accent5"/>
            </a:solidFill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직선 화살표 연결선 46">
            <a:extLst>
              <a:ext uri="{FF2B5EF4-FFF2-40B4-BE49-F238E27FC236}">
                <a16:creationId xmlns:a16="http://schemas.microsoft.com/office/drawing/2014/main" id="{E74AAF2F-9249-AD8C-2003-25676CF62A30}"/>
              </a:ext>
            </a:extLst>
          </p:cNvPr>
          <p:cNvCxnSpPr>
            <a:cxnSpLocks/>
          </p:cNvCxnSpPr>
          <p:nvPr/>
        </p:nvCxnSpPr>
        <p:spPr>
          <a:xfrm>
            <a:off x="6830652" y="4677082"/>
            <a:ext cx="0" cy="614516"/>
          </a:xfrm>
          <a:prstGeom prst="straightConnector1">
            <a:avLst/>
          </a:prstGeom>
          <a:ln w="19050">
            <a:solidFill>
              <a:schemeClr val="accent5"/>
            </a:solidFill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직선 화살표 연결선 47">
            <a:extLst>
              <a:ext uri="{FF2B5EF4-FFF2-40B4-BE49-F238E27FC236}">
                <a16:creationId xmlns:a16="http://schemas.microsoft.com/office/drawing/2014/main" id="{00F58509-6EA4-26B4-0ABD-CF730D8B5C34}"/>
              </a:ext>
            </a:extLst>
          </p:cNvPr>
          <p:cNvCxnSpPr>
            <a:cxnSpLocks/>
          </p:cNvCxnSpPr>
          <p:nvPr/>
        </p:nvCxnSpPr>
        <p:spPr>
          <a:xfrm>
            <a:off x="7849827" y="4677082"/>
            <a:ext cx="0" cy="614516"/>
          </a:xfrm>
          <a:prstGeom prst="straightConnector1">
            <a:avLst/>
          </a:prstGeom>
          <a:ln w="19050">
            <a:solidFill>
              <a:schemeClr val="accent5"/>
            </a:solidFill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직선 화살표 연결선 48">
            <a:extLst>
              <a:ext uri="{FF2B5EF4-FFF2-40B4-BE49-F238E27FC236}">
                <a16:creationId xmlns:a16="http://schemas.microsoft.com/office/drawing/2014/main" id="{9ECF7DD6-324E-C1C0-264E-B11D40F31EEF}"/>
              </a:ext>
            </a:extLst>
          </p:cNvPr>
          <p:cNvCxnSpPr>
            <a:cxnSpLocks/>
          </p:cNvCxnSpPr>
          <p:nvPr/>
        </p:nvCxnSpPr>
        <p:spPr>
          <a:xfrm>
            <a:off x="8869002" y="4677082"/>
            <a:ext cx="0" cy="614516"/>
          </a:xfrm>
          <a:prstGeom prst="straightConnector1">
            <a:avLst/>
          </a:prstGeom>
          <a:ln w="19050">
            <a:solidFill>
              <a:schemeClr val="accent5"/>
            </a:solidFill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직선 화살표 연결선 49">
            <a:extLst>
              <a:ext uri="{FF2B5EF4-FFF2-40B4-BE49-F238E27FC236}">
                <a16:creationId xmlns:a16="http://schemas.microsoft.com/office/drawing/2014/main" id="{36CB1BE2-D13A-1DD2-5963-13AE18D0F7F6}"/>
              </a:ext>
            </a:extLst>
          </p:cNvPr>
          <p:cNvCxnSpPr>
            <a:cxnSpLocks/>
          </p:cNvCxnSpPr>
          <p:nvPr/>
        </p:nvCxnSpPr>
        <p:spPr>
          <a:xfrm>
            <a:off x="9888177" y="4677082"/>
            <a:ext cx="0" cy="614516"/>
          </a:xfrm>
          <a:prstGeom prst="straightConnector1">
            <a:avLst/>
          </a:prstGeom>
          <a:ln w="19050">
            <a:solidFill>
              <a:schemeClr val="accent5"/>
            </a:solidFill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직선 화살표 연결선 51">
            <a:extLst>
              <a:ext uri="{FF2B5EF4-FFF2-40B4-BE49-F238E27FC236}">
                <a16:creationId xmlns:a16="http://schemas.microsoft.com/office/drawing/2014/main" id="{0E0EA847-86D6-72D1-AF05-05997FC91D53}"/>
              </a:ext>
            </a:extLst>
          </p:cNvPr>
          <p:cNvCxnSpPr>
            <a:cxnSpLocks/>
          </p:cNvCxnSpPr>
          <p:nvPr/>
        </p:nvCxnSpPr>
        <p:spPr>
          <a:xfrm>
            <a:off x="10907352" y="4677082"/>
            <a:ext cx="0" cy="614516"/>
          </a:xfrm>
          <a:prstGeom prst="straightConnector1">
            <a:avLst/>
          </a:prstGeom>
          <a:ln w="19050">
            <a:solidFill>
              <a:schemeClr val="accent5"/>
            </a:solidFill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직선 화살표 연결선 53">
            <a:extLst>
              <a:ext uri="{FF2B5EF4-FFF2-40B4-BE49-F238E27FC236}">
                <a16:creationId xmlns:a16="http://schemas.microsoft.com/office/drawing/2014/main" id="{26213B14-4794-68B8-3705-DE9C00586378}"/>
              </a:ext>
            </a:extLst>
          </p:cNvPr>
          <p:cNvCxnSpPr>
            <a:cxnSpLocks/>
          </p:cNvCxnSpPr>
          <p:nvPr/>
        </p:nvCxnSpPr>
        <p:spPr>
          <a:xfrm>
            <a:off x="6840177" y="3457882"/>
            <a:ext cx="0" cy="614516"/>
          </a:xfrm>
          <a:prstGeom prst="straightConnector1">
            <a:avLst/>
          </a:prstGeom>
          <a:ln w="19050">
            <a:solidFill>
              <a:schemeClr val="accent5"/>
            </a:solidFill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직선 화살표 연결선 54">
            <a:extLst>
              <a:ext uri="{FF2B5EF4-FFF2-40B4-BE49-F238E27FC236}">
                <a16:creationId xmlns:a16="http://schemas.microsoft.com/office/drawing/2014/main" id="{C288BDDB-8A36-CFF6-A632-35E0B6CDAC5A}"/>
              </a:ext>
            </a:extLst>
          </p:cNvPr>
          <p:cNvCxnSpPr>
            <a:cxnSpLocks/>
          </p:cNvCxnSpPr>
          <p:nvPr/>
        </p:nvCxnSpPr>
        <p:spPr>
          <a:xfrm>
            <a:off x="7859352" y="3457882"/>
            <a:ext cx="0" cy="614516"/>
          </a:xfrm>
          <a:prstGeom prst="straightConnector1">
            <a:avLst/>
          </a:prstGeom>
          <a:ln w="19050">
            <a:solidFill>
              <a:schemeClr val="accent5"/>
            </a:solidFill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직선 화살표 연결선 55">
            <a:extLst>
              <a:ext uri="{FF2B5EF4-FFF2-40B4-BE49-F238E27FC236}">
                <a16:creationId xmlns:a16="http://schemas.microsoft.com/office/drawing/2014/main" id="{994F8DC1-0BD3-D017-C719-7D774CE4AFEC}"/>
              </a:ext>
            </a:extLst>
          </p:cNvPr>
          <p:cNvCxnSpPr>
            <a:cxnSpLocks/>
          </p:cNvCxnSpPr>
          <p:nvPr/>
        </p:nvCxnSpPr>
        <p:spPr>
          <a:xfrm>
            <a:off x="8878527" y="3457882"/>
            <a:ext cx="0" cy="614516"/>
          </a:xfrm>
          <a:prstGeom prst="straightConnector1">
            <a:avLst/>
          </a:prstGeom>
          <a:ln w="19050">
            <a:solidFill>
              <a:schemeClr val="accent5"/>
            </a:solidFill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직선 화살표 연결선 56">
            <a:extLst>
              <a:ext uri="{FF2B5EF4-FFF2-40B4-BE49-F238E27FC236}">
                <a16:creationId xmlns:a16="http://schemas.microsoft.com/office/drawing/2014/main" id="{4F7C3906-5837-3870-67D2-35618231D5A8}"/>
              </a:ext>
            </a:extLst>
          </p:cNvPr>
          <p:cNvCxnSpPr>
            <a:cxnSpLocks/>
          </p:cNvCxnSpPr>
          <p:nvPr/>
        </p:nvCxnSpPr>
        <p:spPr>
          <a:xfrm>
            <a:off x="9897702" y="3457882"/>
            <a:ext cx="0" cy="614516"/>
          </a:xfrm>
          <a:prstGeom prst="straightConnector1">
            <a:avLst/>
          </a:prstGeom>
          <a:ln w="19050">
            <a:solidFill>
              <a:schemeClr val="accent5"/>
            </a:solidFill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직선 화살표 연결선 58">
            <a:extLst>
              <a:ext uri="{FF2B5EF4-FFF2-40B4-BE49-F238E27FC236}">
                <a16:creationId xmlns:a16="http://schemas.microsoft.com/office/drawing/2014/main" id="{A0A26BBE-1A45-1867-8411-0E9A008DC580}"/>
              </a:ext>
            </a:extLst>
          </p:cNvPr>
          <p:cNvCxnSpPr>
            <a:cxnSpLocks/>
          </p:cNvCxnSpPr>
          <p:nvPr/>
        </p:nvCxnSpPr>
        <p:spPr>
          <a:xfrm>
            <a:off x="10916877" y="3457882"/>
            <a:ext cx="0" cy="614516"/>
          </a:xfrm>
          <a:prstGeom prst="straightConnector1">
            <a:avLst/>
          </a:prstGeom>
          <a:ln w="19050">
            <a:solidFill>
              <a:schemeClr val="accent5"/>
            </a:solidFill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사각형: 둥근 모서리 59">
            <a:extLst>
              <a:ext uri="{FF2B5EF4-FFF2-40B4-BE49-F238E27FC236}">
                <a16:creationId xmlns:a16="http://schemas.microsoft.com/office/drawing/2014/main" id="{25BF86E4-CE10-BA86-DE15-4BC8DFC58863}"/>
              </a:ext>
            </a:extLst>
          </p:cNvPr>
          <p:cNvSpPr/>
          <p:nvPr/>
        </p:nvSpPr>
        <p:spPr>
          <a:xfrm>
            <a:off x="792279" y="3919691"/>
            <a:ext cx="5102774" cy="91440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1" name="사각형: 둥근 모서리 60">
            <a:extLst>
              <a:ext uri="{FF2B5EF4-FFF2-40B4-BE49-F238E27FC236}">
                <a16:creationId xmlns:a16="http://schemas.microsoft.com/office/drawing/2014/main" id="{11801493-FE4C-76EA-068B-B348193635ED}"/>
              </a:ext>
            </a:extLst>
          </p:cNvPr>
          <p:cNvSpPr/>
          <p:nvPr/>
        </p:nvSpPr>
        <p:spPr>
          <a:xfrm>
            <a:off x="6239929" y="3919691"/>
            <a:ext cx="5312191" cy="91440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D994BB90-5C95-02EB-699B-0446FE2D6935}"/>
              </a:ext>
            </a:extLst>
          </p:cNvPr>
          <p:cNvSpPr txBox="1"/>
          <p:nvPr/>
        </p:nvSpPr>
        <p:spPr>
          <a:xfrm>
            <a:off x="983574" y="5314051"/>
            <a:ext cx="58221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Times New Roman" panose="02020603050405020304" pitchFamily="18" charset="0"/>
                <a:cs typeface="Times New Roman" panose="02020603050405020304" pitchFamily="18" charset="0"/>
              </a:rPr>
              <a:t>how</a:t>
            </a:r>
            <a:endParaRPr lang="ko-KR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08113BCD-AE71-3E6B-16A1-9450CCA26076}"/>
              </a:ext>
            </a:extLst>
          </p:cNvPr>
          <p:cNvSpPr txBox="1"/>
          <p:nvPr/>
        </p:nvSpPr>
        <p:spPr>
          <a:xfrm>
            <a:off x="2130440" y="5314051"/>
            <a:ext cx="6889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latin typeface="Times New Roman" panose="02020603050405020304" pitchFamily="18" charset="0"/>
                <a:cs typeface="Times New Roman" panose="02020603050405020304" pitchFamily="18" charset="0"/>
              </a:rPr>
              <a:t>is</a:t>
            </a:r>
            <a:endParaRPr lang="ko-KR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8BE98911-489E-A2BA-3C29-60DE211A7027}"/>
              </a:ext>
            </a:extLst>
          </p:cNvPr>
          <p:cNvSpPr txBox="1"/>
          <p:nvPr/>
        </p:nvSpPr>
        <p:spPr>
          <a:xfrm>
            <a:off x="3033651" y="5314051"/>
            <a:ext cx="4667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</a:t>
            </a:r>
            <a:endParaRPr lang="ko-KR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A9012D4E-CD30-478A-BF03-7D742D29B3EC}"/>
              </a:ext>
            </a:extLst>
          </p:cNvPr>
          <p:cNvSpPr txBox="1"/>
          <p:nvPr/>
        </p:nvSpPr>
        <p:spPr>
          <a:xfrm>
            <a:off x="3817451" y="5314051"/>
            <a:ext cx="9156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Times New Roman" panose="02020603050405020304" pitchFamily="18" charset="0"/>
                <a:cs typeface="Times New Roman" panose="02020603050405020304" pitchFamily="18" charset="0"/>
              </a:rPr>
              <a:t>weather</a:t>
            </a:r>
            <a:endParaRPr lang="ko-KR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DAE2EC91-906A-5598-F6DA-39E8DE24CA0D}"/>
              </a:ext>
            </a:extLst>
          </p:cNvPr>
          <p:cNvSpPr txBox="1"/>
          <p:nvPr/>
        </p:nvSpPr>
        <p:spPr>
          <a:xfrm>
            <a:off x="5011993" y="5314051"/>
            <a:ext cx="6976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today</a:t>
            </a:r>
            <a:endParaRPr lang="ko-KR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B2D2771C-CC28-0ED3-FEAC-A2467AE7EEC3}"/>
              </a:ext>
            </a:extLst>
          </p:cNvPr>
          <p:cNvSpPr txBox="1"/>
          <p:nvPr/>
        </p:nvSpPr>
        <p:spPr>
          <a:xfrm>
            <a:off x="10560065" y="3007679"/>
            <a:ext cx="76993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i="1" dirty="0">
                <a:latin typeface="Times New Roman" panose="02020603050405020304" pitchFamily="18" charset="0"/>
                <a:ea typeface="D2Coding" panose="020B0609020101020101" pitchFamily="49" charset="-127"/>
                <a:cs typeface="Times New Roman" panose="02020603050405020304" pitchFamily="18" charset="0"/>
              </a:rPr>
              <a:t>[end]</a:t>
            </a:r>
            <a:endParaRPr lang="ko-KR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84588BEA-B0A9-1AA7-665F-2533B4699F13}"/>
              </a:ext>
            </a:extLst>
          </p:cNvPr>
          <p:cNvSpPr txBox="1"/>
          <p:nvPr/>
        </p:nvSpPr>
        <p:spPr>
          <a:xfrm>
            <a:off x="9590588" y="3007679"/>
            <a:ext cx="57457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i="1" dirty="0" err="1">
                <a:latin typeface="Times New Roman" panose="02020603050405020304" pitchFamily="18" charset="0"/>
                <a:ea typeface="D2Coding" panose="020B0609020101020101" pitchFamily="49" charset="-127"/>
                <a:cs typeface="Times New Roman" panose="02020603050405020304" pitchFamily="18" charset="0"/>
              </a:rPr>
              <a:t>esta</a:t>
            </a:r>
            <a:endParaRPr lang="ko-KR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C6491B01-485F-ED65-EE38-832F66A7C7EC}"/>
              </a:ext>
            </a:extLst>
          </p:cNvPr>
          <p:cNvSpPr txBox="1"/>
          <p:nvPr/>
        </p:nvSpPr>
        <p:spPr>
          <a:xfrm>
            <a:off x="8573268" y="3007679"/>
            <a:ext cx="46962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1800" i="1" dirty="0" err="1">
                <a:latin typeface="Times New Roman" panose="02020603050405020304" pitchFamily="18" charset="0"/>
                <a:ea typeface="D2Coding" panose="020B0609020101020101" pitchFamily="49" charset="-127"/>
                <a:cs typeface="Times New Roman" panose="02020603050405020304" pitchFamily="18" charset="0"/>
              </a:rPr>
              <a:t>en</a:t>
            </a:r>
            <a:endParaRPr lang="ko-KR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137D7D17-4D45-829E-CF50-C32A1A7F8E81}"/>
              </a:ext>
            </a:extLst>
          </p:cNvPr>
          <p:cNvSpPr txBox="1"/>
          <p:nvPr/>
        </p:nvSpPr>
        <p:spPr>
          <a:xfrm>
            <a:off x="7360443" y="3007679"/>
            <a:ext cx="73219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1800" i="1" dirty="0" err="1">
                <a:latin typeface="Times New Roman" panose="02020603050405020304" pitchFamily="18" charset="0"/>
                <a:ea typeface="D2Coding" panose="020B0609020101020101" pitchFamily="49" charset="-127"/>
                <a:cs typeface="Times New Roman" panose="02020603050405020304" pitchFamily="18" charset="0"/>
              </a:rPr>
              <a:t>está</a:t>
            </a:r>
            <a:r>
              <a:rPr lang="en-US" altLang="ko-KR" sz="1800" i="1" dirty="0">
                <a:latin typeface="Times New Roman" panose="02020603050405020304" pitchFamily="18" charset="0"/>
                <a:ea typeface="D2Coding" panose="020B0609020101020101" pitchFamily="49" charset="-127"/>
                <a:cs typeface="Times New Roman" panose="02020603050405020304" pitchFamily="18" charset="0"/>
              </a:rPr>
              <a:t> </a:t>
            </a:r>
            <a:endParaRPr lang="ko-KR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F4CA7F3F-E368-08AF-A782-FD8CDECFD050}"/>
              </a:ext>
            </a:extLst>
          </p:cNvPr>
          <p:cNvSpPr txBox="1"/>
          <p:nvPr/>
        </p:nvSpPr>
        <p:spPr>
          <a:xfrm>
            <a:off x="6404179" y="5317241"/>
            <a:ext cx="84434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i="1" dirty="0">
                <a:latin typeface="Times New Roman" panose="02020603050405020304" pitchFamily="18" charset="0"/>
                <a:ea typeface="D2Coding" panose="020B0609020101020101" pitchFamily="49" charset="-127"/>
                <a:cs typeface="Times New Roman" panose="02020603050405020304" pitchFamily="18" charset="0"/>
              </a:rPr>
              <a:t>[start] </a:t>
            </a:r>
            <a:endParaRPr lang="ko-KR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85C9C38C-3D32-AF48-0AFA-8AF2889391D7}"/>
              </a:ext>
            </a:extLst>
          </p:cNvPr>
          <p:cNvSpPr txBox="1"/>
          <p:nvPr/>
        </p:nvSpPr>
        <p:spPr>
          <a:xfrm>
            <a:off x="6300017" y="3007679"/>
            <a:ext cx="77029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1800" i="1" dirty="0" err="1">
                <a:latin typeface="Times New Roman" panose="02020603050405020304" pitchFamily="18" charset="0"/>
                <a:ea typeface="D2Coding" panose="020B0609020101020101" pitchFamily="49" charset="-127"/>
                <a:cs typeface="Times New Roman" panose="02020603050405020304" pitchFamily="18" charset="0"/>
              </a:rPr>
              <a:t>quién</a:t>
            </a:r>
            <a:endParaRPr lang="ko-KR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870F0257-0D71-3A2B-A1EF-5E7D267C3DFE}"/>
              </a:ext>
            </a:extLst>
          </p:cNvPr>
          <p:cNvSpPr txBox="1"/>
          <p:nvPr/>
        </p:nvSpPr>
        <p:spPr>
          <a:xfrm>
            <a:off x="7585030" y="5317241"/>
            <a:ext cx="77029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i="1" dirty="0" err="1">
                <a:latin typeface="Times New Roman" panose="02020603050405020304" pitchFamily="18" charset="0"/>
                <a:ea typeface="D2Coding" panose="020B0609020101020101" pitchFamily="49" charset="-127"/>
                <a:cs typeface="Times New Roman" panose="02020603050405020304" pitchFamily="18" charset="0"/>
              </a:rPr>
              <a:t>quién</a:t>
            </a:r>
            <a:endParaRPr lang="ko-KR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34B80451-84E1-A863-6AED-9139C846BEB8}"/>
              </a:ext>
            </a:extLst>
          </p:cNvPr>
          <p:cNvSpPr txBox="1"/>
          <p:nvPr/>
        </p:nvSpPr>
        <p:spPr>
          <a:xfrm>
            <a:off x="8691835" y="5317241"/>
            <a:ext cx="73219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i="1" dirty="0" err="1">
                <a:latin typeface="Times New Roman" panose="02020603050405020304" pitchFamily="18" charset="0"/>
                <a:ea typeface="D2Coding" panose="020B0609020101020101" pitchFamily="49" charset="-127"/>
                <a:cs typeface="Times New Roman" panose="02020603050405020304" pitchFamily="18" charset="0"/>
              </a:rPr>
              <a:t>está</a:t>
            </a:r>
            <a:r>
              <a:rPr lang="en-US" altLang="ko-KR" sz="1800" i="1" dirty="0">
                <a:latin typeface="Times New Roman" panose="02020603050405020304" pitchFamily="18" charset="0"/>
                <a:ea typeface="D2Coding" panose="020B0609020101020101" pitchFamily="49" charset="-127"/>
                <a:cs typeface="Times New Roman" panose="02020603050405020304" pitchFamily="18" charset="0"/>
              </a:rPr>
              <a:t> </a:t>
            </a:r>
            <a:endParaRPr lang="ko-KR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0116DCD2-168F-6394-A6A8-DEC88D81CD38}"/>
              </a:ext>
            </a:extLst>
          </p:cNvPr>
          <p:cNvSpPr txBox="1"/>
          <p:nvPr/>
        </p:nvSpPr>
        <p:spPr>
          <a:xfrm>
            <a:off x="9760539" y="5317241"/>
            <a:ext cx="45096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i="1" dirty="0" err="1">
                <a:latin typeface="Times New Roman" panose="02020603050405020304" pitchFamily="18" charset="0"/>
                <a:ea typeface="D2Coding" panose="020B0609020101020101" pitchFamily="49" charset="-127"/>
                <a:cs typeface="Times New Roman" panose="02020603050405020304" pitchFamily="18" charset="0"/>
              </a:rPr>
              <a:t>en</a:t>
            </a:r>
            <a:endParaRPr lang="ko-KR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A7808D84-B6E3-8340-5C55-2734117A9AEC}"/>
              </a:ext>
            </a:extLst>
          </p:cNvPr>
          <p:cNvSpPr txBox="1"/>
          <p:nvPr/>
        </p:nvSpPr>
        <p:spPr>
          <a:xfrm>
            <a:off x="10548014" y="5317241"/>
            <a:ext cx="57457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i="1" dirty="0" err="1">
                <a:latin typeface="Times New Roman" panose="02020603050405020304" pitchFamily="18" charset="0"/>
                <a:ea typeface="D2Coding" panose="020B0609020101020101" pitchFamily="49" charset="-127"/>
                <a:cs typeface="Times New Roman" panose="02020603050405020304" pitchFamily="18" charset="0"/>
              </a:rPr>
              <a:t>esta</a:t>
            </a:r>
            <a:endParaRPr lang="ko-KR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83" name="연결선: 구부러짐 82">
            <a:extLst>
              <a:ext uri="{FF2B5EF4-FFF2-40B4-BE49-F238E27FC236}">
                <a16:creationId xmlns:a16="http://schemas.microsoft.com/office/drawing/2014/main" id="{40E46550-A859-556A-1C59-4122EBFB35A4}"/>
              </a:ext>
            </a:extLst>
          </p:cNvPr>
          <p:cNvCxnSpPr>
            <a:stCxn id="75" idx="0"/>
            <a:endCxn id="76" idx="2"/>
          </p:cNvCxnSpPr>
          <p:nvPr/>
        </p:nvCxnSpPr>
        <p:spPr>
          <a:xfrm rot="16200000" flipH="1">
            <a:off x="5988225" y="3704620"/>
            <a:ext cx="2678894" cy="1285013"/>
          </a:xfrm>
          <a:prstGeom prst="curvedConnector5">
            <a:avLst>
              <a:gd name="adj1" fmla="val -8533"/>
              <a:gd name="adj2" fmla="val 50000"/>
              <a:gd name="adj3" fmla="val 108533"/>
            </a:avLst>
          </a:prstGeom>
          <a:ln w="1905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연결선: 구부러짐 83">
            <a:extLst>
              <a:ext uri="{FF2B5EF4-FFF2-40B4-BE49-F238E27FC236}">
                <a16:creationId xmlns:a16="http://schemas.microsoft.com/office/drawing/2014/main" id="{FCCE4E51-5A42-6297-0612-584C2024D43E}"/>
              </a:ext>
            </a:extLst>
          </p:cNvPr>
          <p:cNvCxnSpPr>
            <a:cxnSpLocks/>
            <a:stCxn id="73" idx="0"/>
            <a:endCxn id="77" idx="2"/>
          </p:cNvCxnSpPr>
          <p:nvPr/>
        </p:nvCxnSpPr>
        <p:spPr>
          <a:xfrm rot="16200000" flipH="1">
            <a:off x="7052791" y="3681430"/>
            <a:ext cx="2678894" cy="1331392"/>
          </a:xfrm>
          <a:prstGeom prst="curvedConnector5">
            <a:avLst>
              <a:gd name="adj1" fmla="val -8533"/>
              <a:gd name="adj2" fmla="val 50000"/>
              <a:gd name="adj3" fmla="val 108533"/>
            </a:avLst>
          </a:prstGeom>
          <a:ln w="1905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연결선: 구부러짐 84">
            <a:extLst>
              <a:ext uri="{FF2B5EF4-FFF2-40B4-BE49-F238E27FC236}">
                <a16:creationId xmlns:a16="http://schemas.microsoft.com/office/drawing/2014/main" id="{52F24BB5-920C-EB1B-FAE5-FE37B5175796}"/>
              </a:ext>
            </a:extLst>
          </p:cNvPr>
          <p:cNvCxnSpPr>
            <a:cxnSpLocks/>
            <a:stCxn id="72" idx="0"/>
            <a:endCxn id="78" idx="2"/>
          </p:cNvCxnSpPr>
          <p:nvPr/>
        </p:nvCxnSpPr>
        <p:spPr>
          <a:xfrm rot="16200000" flipH="1">
            <a:off x="8057605" y="3758156"/>
            <a:ext cx="2678894" cy="1177941"/>
          </a:xfrm>
          <a:prstGeom prst="curvedConnector5">
            <a:avLst>
              <a:gd name="adj1" fmla="val -8533"/>
              <a:gd name="adj2" fmla="val 50396"/>
              <a:gd name="adj3" fmla="val 108533"/>
            </a:avLst>
          </a:prstGeom>
          <a:ln w="1905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연결선: 구부러짐 85">
            <a:extLst>
              <a:ext uri="{FF2B5EF4-FFF2-40B4-BE49-F238E27FC236}">
                <a16:creationId xmlns:a16="http://schemas.microsoft.com/office/drawing/2014/main" id="{F16CCFF3-260A-0D9B-D9EB-99CA4DC76787}"/>
              </a:ext>
            </a:extLst>
          </p:cNvPr>
          <p:cNvCxnSpPr>
            <a:cxnSpLocks/>
            <a:stCxn id="71" idx="0"/>
            <a:endCxn id="79" idx="2"/>
          </p:cNvCxnSpPr>
          <p:nvPr/>
        </p:nvCxnSpPr>
        <p:spPr>
          <a:xfrm rot="16200000" flipH="1">
            <a:off x="9017141" y="3868413"/>
            <a:ext cx="2678894" cy="957426"/>
          </a:xfrm>
          <a:prstGeom prst="curvedConnector5">
            <a:avLst>
              <a:gd name="adj1" fmla="val -8533"/>
              <a:gd name="adj2" fmla="val 50000"/>
              <a:gd name="adj3" fmla="val 108533"/>
            </a:avLst>
          </a:prstGeom>
          <a:ln w="1905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5" name="TextBox 94">
            <a:extLst>
              <a:ext uri="{FF2B5EF4-FFF2-40B4-BE49-F238E27FC236}">
                <a16:creationId xmlns:a16="http://schemas.microsoft.com/office/drawing/2014/main" id="{C25D13DE-4E77-85CE-1A17-259EF1633115}"/>
              </a:ext>
            </a:extLst>
          </p:cNvPr>
          <p:cNvSpPr txBox="1"/>
          <p:nvPr/>
        </p:nvSpPr>
        <p:spPr>
          <a:xfrm>
            <a:off x="2756405" y="6209216"/>
            <a:ext cx="90281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Encoder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29217111-F7A7-E59D-7BDB-DD05AB958461}"/>
              </a:ext>
            </a:extLst>
          </p:cNvPr>
          <p:cNvSpPr txBox="1"/>
          <p:nvPr/>
        </p:nvSpPr>
        <p:spPr>
          <a:xfrm>
            <a:off x="8392238" y="6209216"/>
            <a:ext cx="141577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Decoder(RNN)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cxnSp>
        <p:nvCxnSpPr>
          <p:cNvPr id="98" name="직선 연결선 97">
            <a:extLst>
              <a:ext uri="{FF2B5EF4-FFF2-40B4-BE49-F238E27FC236}">
                <a16:creationId xmlns:a16="http://schemas.microsoft.com/office/drawing/2014/main" id="{DD0E327F-488D-87E9-9A94-3F5FC19F8AE0}"/>
              </a:ext>
            </a:extLst>
          </p:cNvPr>
          <p:cNvCxnSpPr/>
          <p:nvPr/>
        </p:nvCxnSpPr>
        <p:spPr>
          <a:xfrm>
            <a:off x="792279" y="6134100"/>
            <a:ext cx="4955497" cy="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직선 연결선 98">
            <a:extLst>
              <a:ext uri="{FF2B5EF4-FFF2-40B4-BE49-F238E27FC236}">
                <a16:creationId xmlns:a16="http://schemas.microsoft.com/office/drawing/2014/main" id="{B8A13201-150C-6F80-4651-B2B56214D958}"/>
              </a:ext>
            </a:extLst>
          </p:cNvPr>
          <p:cNvCxnSpPr/>
          <p:nvPr/>
        </p:nvCxnSpPr>
        <p:spPr>
          <a:xfrm>
            <a:off x="6330332" y="6134100"/>
            <a:ext cx="4955497" cy="0"/>
          </a:xfrm>
          <a:prstGeom prst="line">
            <a:avLst/>
          </a:prstGeom>
          <a:ln w="571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Rectangle 3">
            <a:extLst>
              <a:ext uri="{FF2B5EF4-FFF2-40B4-BE49-F238E27FC236}">
                <a16:creationId xmlns:a16="http://schemas.microsoft.com/office/drawing/2014/main" id="{F3542B14-C40D-09AF-A4DB-DDC7972565BE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4460" y="1207225"/>
            <a:ext cx="11137734" cy="130580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342900" marR="0" lvl="0" indent="-3429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입력-정답 시차 구조: 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디코더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RNN 입력([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start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], 89, 45, 12, 512)과 정답(89, 45, 12, 512, [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end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])이 1 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Timestep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차이로 배치 </a:t>
            </a:r>
          </a:p>
          <a:p>
            <a:pPr marL="342900" marR="0" lvl="0" indent="-3429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첫 시점부터 강제 주입: 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=1([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start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89)부터 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=5까지, 이전 예측과 무관하게 실제 정답 단어를 RNN 입력으로 직접 주입 </a:t>
            </a:r>
          </a:p>
          <a:p>
            <a:pPr marL="342900" marR="0" lvl="0" indent="-3429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은닉 상태(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Hidden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State) 유지: 각 시점의 RNN 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hidden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state가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다음 시점으로 전달되어 전체 문맥 정보가 연결</a:t>
            </a:r>
          </a:p>
          <a:p>
            <a:pPr marL="342900" marR="0" lvl="0" indent="-3429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독립적 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Loss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계산: 각 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Timestep별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출력과 정답을 1:1 비교해 손실을 계산함(패딩 오차는 제외) </a:t>
            </a:r>
          </a:p>
        </p:txBody>
      </p:sp>
    </p:spTree>
    <p:extLst>
      <p:ext uri="{BB962C8B-B14F-4D97-AF65-F5344CB8AC3E}">
        <p14:creationId xmlns:p14="http://schemas.microsoft.com/office/powerpoint/2010/main" val="199537151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9ACC60-8CD9-2604-14C3-5E280A4B82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C45CE89-24E7-5E7E-E6EB-6645FAC1360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Sequence-to-sequence learning with RNNs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D163C84-41EC-3A42-E9F3-96C8BD507D47}"/>
              </a:ext>
            </a:extLst>
          </p:cNvPr>
          <p:cNvSpPr txBox="1"/>
          <p:nvPr/>
        </p:nvSpPr>
        <p:spPr>
          <a:xfrm>
            <a:off x="571500" y="1248422"/>
            <a:ext cx="11049000" cy="14419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영어는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"you"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가 맨 뒤에 나오지만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스페인어는 그에 해당하는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Te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가 맨 앞에 나와야 하니 원문을 한 단어씩 읽으면서 동시에 실시간으로 번역하는 것은 불가능하기에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인코더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(Encoder)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가 영어 문장 전체를 끝까지 다 읽고 기억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(State)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한 뒤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디코더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(Decoder)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가 그 기억을 이어받아 스페인어 첫 글자부터 차례대로 써 내려가는 구조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(Seq2Seq)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를 써야만 어순이 다른 언어를 제대로 번역할 수 있는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모델 구조가 필요</a:t>
            </a:r>
          </a:p>
        </p:txBody>
      </p:sp>
      <p:pic>
        <p:nvPicPr>
          <p:cNvPr id="9218" name="Picture 2">
            <a:extLst>
              <a:ext uri="{FF2B5EF4-FFF2-40B4-BE49-F238E27FC236}">
                <a16:creationId xmlns:a16="http://schemas.microsoft.com/office/drawing/2014/main" id="{8A4A93C2-D0B3-20F8-6CD2-03F1EA692A6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59283" y="3171883"/>
            <a:ext cx="6089417" cy="2374809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24B49EAB-A5FB-564C-F664-A8942FC2E1DF}"/>
              </a:ext>
            </a:extLst>
          </p:cNvPr>
          <p:cNvSpPr txBox="1"/>
          <p:nvPr/>
        </p:nvSpPr>
        <p:spPr>
          <a:xfrm>
            <a:off x="2492607" y="5574596"/>
            <a:ext cx="6156093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 sequence-to-sequence RNN: an RNN encoder is used to produce a vector that encodes the entire source sequence, which is used as the initial state for an RNN decoder.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32BE4E2A-97B4-4364-92AB-B92A13B4ADBF}"/>
              </a:ext>
            </a:extLst>
          </p:cNvPr>
          <p:cNvSpPr txBox="1">
            <a:spLocks/>
          </p:cNvSpPr>
          <p:nvPr/>
        </p:nvSpPr>
        <p:spPr>
          <a:xfrm>
            <a:off x="1112361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D2Coding" panose="020B0609020101020101" pitchFamily="49" charset="-127"/>
                <a:ea typeface="D2Coding" panose="020B0609020101020101" pitchFamily="49" charset="-127"/>
              </a:rPr>
              <a:pPr/>
              <a:t>16</a:t>
            </a:fld>
            <a:endParaRPr lang="en-US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1213792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E5B106-462C-BB1A-7F8D-2F42E848D5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7751891-9DC0-347C-5D3E-D8A2EBBE5D0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Sequence-to-sequence learning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BEA4349-EEF0-DB08-B539-AB13B15F32FB}"/>
              </a:ext>
            </a:extLst>
          </p:cNvPr>
          <p:cNvSpPr txBox="1"/>
          <p:nvPr/>
        </p:nvSpPr>
        <p:spPr>
          <a:xfrm>
            <a:off x="624422" y="1320872"/>
            <a:ext cx="6443128" cy="232146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l" latinLnBrk="0">
              <a:lnSpc>
                <a:spcPct val="150000"/>
              </a:lnSpc>
              <a:buNone/>
            </a:pP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embed_dim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256</a:t>
            </a: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hidden_dim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1024</a:t>
            </a: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source = 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keras.Input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(shape=(None,), 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dtype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="int32", name="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english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</a:t>
            </a: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layers.Embedding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vocab_size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embed_dim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mask_zero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=True)(source)</a:t>
            </a: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rnn_layer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layers.GRU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hidden_dim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rnn_layer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layers.Bidirectional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rnn_layer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merge_mode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="sum")</a:t>
            </a:r>
          </a:p>
          <a:p>
            <a:pPr algn="l">
              <a:lnSpc>
                <a:spcPct val="150000"/>
              </a:lnSpc>
              <a:buNone/>
            </a:pPr>
            <a:r>
              <a:rPr lang="en-US" altLang="ko-KR" sz="1400" b="1" i="0" dirty="0" err="1">
                <a:solidFill>
                  <a:srgbClr val="FF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encoder_output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rnn_layer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(x)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937AF0E-1515-68F9-7819-B84A2196B818}"/>
              </a:ext>
            </a:extLst>
          </p:cNvPr>
          <p:cNvSpPr txBox="1"/>
          <p:nvPr/>
        </p:nvSpPr>
        <p:spPr>
          <a:xfrm>
            <a:off x="4304781" y="3886827"/>
            <a:ext cx="6524626" cy="264463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l" latinLnBrk="0">
              <a:lnSpc>
                <a:spcPct val="150000"/>
              </a:lnSpc>
              <a:buNone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target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keras.Input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(shape=(None,),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dtype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="int32", name="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spanish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")</a:t>
            </a: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x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layers.Embedding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vocab_size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embed_dim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mask_zero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=True)(target)</a:t>
            </a: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rnn_layer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layers.GRU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hidden_dim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return_sequences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=True)</a:t>
            </a: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x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rnn_layer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(x,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initial_state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400" b="1" dirty="0" err="1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encoder_output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x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layers.Dropout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(0.5)(x)</a:t>
            </a: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Predicts the next word of the translation, given the current word</a:t>
            </a: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target_predictions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layers.Dense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vocab_size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activation="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softmax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")(x)</a:t>
            </a:r>
          </a:p>
          <a:p>
            <a:pPr algn="l">
              <a:lnSpc>
                <a:spcPct val="150000"/>
              </a:lnSpc>
              <a:buNone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seq2seq_rnn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keras.Model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([source, target],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target_predictions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</p:txBody>
      </p:sp>
      <p:cxnSp>
        <p:nvCxnSpPr>
          <p:cNvPr id="11" name="연결선: 꺾임 10">
            <a:extLst>
              <a:ext uri="{FF2B5EF4-FFF2-40B4-BE49-F238E27FC236}">
                <a16:creationId xmlns:a16="http://schemas.microsoft.com/office/drawing/2014/main" id="{5B3B16C8-292E-76A4-CE8F-2C6607434696}"/>
              </a:ext>
            </a:extLst>
          </p:cNvPr>
          <p:cNvCxnSpPr>
            <a:cxnSpLocks/>
            <a:stCxn id="5" idx="2"/>
            <a:endCxn id="9" idx="1"/>
          </p:cNvCxnSpPr>
          <p:nvPr/>
        </p:nvCxnSpPr>
        <p:spPr>
          <a:xfrm rot="16200000" flipH="1">
            <a:off x="3291981" y="4196345"/>
            <a:ext cx="1566804" cy="458795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B467716D-79C8-D075-2609-07996E652543}"/>
              </a:ext>
            </a:extLst>
          </p:cNvPr>
          <p:cNvSpPr txBox="1"/>
          <p:nvPr/>
        </p:nvSpPr>
        <p:spPr>
          <a:xfrm>
            <a:off x="2075931" y="3702161"/>
            <a:ext cx="22288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Encoder RNN</a:t>
            </a:r>
            <a:endParaRPr lang="ko-KR" alt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B9A41A4-C63B-D482-DFE3-2E95439D1286}"/>
              </a:ext>
            </a:extLst>
          </p:cNvPr>
          <p:cNvSpPr txBox="1"/>
          <p:nvPr/>
        </p:nvSpPr>
        <p:spPr>
          <a:xfrm>
            <a:off x="2731560" y="5352462"/>
            <a:ext cx="22288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Decoder RNN</a:t>
            </a:r>
            <a:endParaRPr lang="ko-KR" alt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048D1A4-8E53-F5CD-E421-B7EC737D4596}"/>
              </a:ext>
            </a:extLst>
          </p:cNvPr>
          <p:cNvSpPr txBox="1"/>
          <p:nvPr/>
        </p:nvSpPr>
        <p:spPr>
          <a:xfrm>
            <a:off x="2075931" y="3973875"/>
            <a:ext cx="187006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왜 양방향 학습</a:t>
            </a:r>
            <a:r>
              <a:rPr lang="en-US" altLang="ko-KR" sz="160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?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92F12CA5-2A62-1D5F-D5FF-F47F6EB452AE}"/>
              </a:ext>
            </a:extLst>
          </p:cNvPr>
          <p:cNvSpPr txBox="1">
            <a:spLocks/>
          </p:cNvSpPr>
          <p:nvPr/>
        </p:nvSpPr>
        <p:spPr>
          <a:xfrm>
            <a:off x="1112361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D2Coding" panose="020B0609020101020101" pitchFamily="49" charset="-127"/>
                <a:ea typeface="D2Coding" panose="020B0609020101020101" pitchFamily="49" charset="-127"/>
              </a:rPr>
              <a:pPr/>
              <a:t>17</a:t>
            </a:fld>
            <a:endParaRPr lang="en-US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23178509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F171C6-A51C-4250-3D18-CD5EA14E71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27E4480-4914-51E3-5D40-1279B58958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18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2A36159C-E559-39AE-A015-F02E36735B3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Limitations</a:t>
            </a:r>
            <a:r>
              <a:rPr lang="ko-KR" altLang="en-US" sz="2800" b="1" cap="none" dirty="0">
                <a:latin typeface="Lora" pitchFamily="2" charset="0"/>
              </a:rPr>
              <a:t> </a:t>
            </a:r>
            <a:r>
              <a:rPr lang="en-US" altLang="ko-KR" sz="2800" b="1" cap="none" dirty="0">
                <a:latin typeface="Lora" pitchFamily="2" charset="0"/>
              </a:rPr>
              <a:t>of sequence-to-sequence learning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54BFC5C-216E-7ABD-9E59-29E45E130B65}"/>
              </a:ext>
            </a:extLst>
          </p:cNvPr>
          <p:cNvSpPr txBox="1"/>
          <p:nvPr/>
        </p:nvSpPr>
        <p:spPr>
          <a:xfrm>
            <a:off x="559313" y="1419057"/>
            <a:ext cx="11073374" cy="4306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RNN(LSTM, GRU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포함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은 문장을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순서대로 한 단어씩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읽는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구조의 한계점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(2017, google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translater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LTSM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7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layers)</a:t>
            </a:r>
          </a:p>
          <a:p>
            <a:pPr>
              <a:lnSpc>
                <a:spcPct val="150000"/>
              </a:lnSpc>
              <a:buNone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① 정보의 병목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(Bottleneck): "500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페이지 책을 한 줄로 요약해라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RNN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인코더는 영어 문장이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5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단어이든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50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단어이든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끝까지 다 읽은 후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디코더에게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넘겨줄 때는 딱 하나의 고정된 크기의 기억 상태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(Hidden State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벡터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로 압축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200150" lvl="2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아무리 긴 소설책이라도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디코더에게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넘겨줄 때는 딱 한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페이지짜리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요약본으로 만들어야 하는 것과 같으며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문장이 길고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복잡해질수록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중요한 정보들이 이 좁은 병목 구간에서 다 구겨지고 유실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lvl="2">
              <a:lnSpc>
                <a:spcPct val="150000"/>
              </a:lnSpc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② 장기 기억 상실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앞에서 무슨 말 했더라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?"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RNN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은 단어를 읽을 때마다 기존 기억 위에 새로운 기억을 계속 덮어쓰게 됨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200150" lvl="2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누군가 나에게 단어를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100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개 연속으로 말해주는 상황으로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100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번째 단어를 들을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때쯤이면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번째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2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번째로 말했던 단어들은 머릿속에서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흐릿해져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기억나지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않개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됨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따라서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RNN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번역기는 문장이 길어지면 앞부분의 문맥을 완전히 까먹고 엉뚱한 번역을 하는 고질적인 문제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6F85A34-612B-ED67-5E31-C27D62118C63}"/>
              </a:ext>
            </a:extLst>
          </p:cNvPr>
          <p:cNvSpPr txBox="1">
            <a:spLocks/>
          </p:cNvSpPr>
          <p:nvPr/>
        </p:nvSpPr>
        <p:spPr>
          <a:xfrm>
            <a:off x="1112361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D2Coding" panose="020B0609020101020101" pitchFamily="49" charset="-127"/>
                <a:ea typeface="D2Coding" panose="020B0609020101020101" pitchFamily="49" charset="-127"/>
              </a:rPr>
              <a:pPr/>
              <a:t>18</a:t>
            </a:fld>
            <a:endParaRPr lang="en-US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0503846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719395-736B-39DF-7E95-2DC40B47A1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1813AD6-ED11-224E-CB94-4BE851D68E9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1164324"/>
            <a:ext cx="10620376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4400" dirty="0">
                <a:solidFill>
                  <a:schemeClr val="bg1"/>
                </a:solidFill>
                <a:latin typeface="Lora" pitchFamily="2" charset="0"/>
              </a:rPr>
              <a:t>Transformer</a:t>
            </a:r>
            <a:endParaRPr lang="ko-KR" altLang="en-US" sz="4400" dirty="0">
              <a:solidFill>
                <a:schemeClr val="bg1"/>
              </a:solidFill>
              <a:latin typeface="Lora" pitchFamily="2" charset="0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A300CBE6-A68F-D4FD-925F-A3BB91E3EC87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</a:rPr>
              <a:t>조상구교수</a:t>
            </a:r>
            <a:endParaRPr lang="en-US" altLang="ko-KR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2997692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604BCD-0EA9-41D8-A540-61245E549D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141DE0DB-EC79-37FC-20F6-B0A318D9D52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The Transformer architecture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D5D9538-17D4-5A3B-4535-32EE8A0E37FA}"/>
              </a:ext>
            </a:extLst>
          </p:cNvPr>
          <p:cNvSpPr txBox="1"/>
          <p:nvPr/>
        </p:nvSpPr>
        <p:spPr>
          <a:xfrm>
            <a:off x="5778872" y="1547212"/>
            <a:ext cx="6096000" cy="37478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2017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년도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어텐션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Attention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)'이라고 불리는 이 단순한 메커니즘을 사용하면 순환 레이어(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recurrent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layers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)를 전혀 사용하지 않고도 강력한 시퀀스 모델을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제시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RNN 기반 모델(LSTM, GRU 등)뿐만 아니라, 당시 막강한 대안으로 떠오르던 CNN 기반의 시퀀스 모델(ConvS2S 등)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등을 사용하지 않는 단순한 모델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현재 모든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LLM(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chatGPT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claude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Gemini,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Ollama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은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Transformer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모델을 바탕으로 개발</a:t>
            </a: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A863161F-BF14-267C-746C-B3BEADF2BB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2847" y="1547212"/>
            <a:ext cx="5206025" cy="467161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5D68F5A8-9933-7662-BA0E-D31893ABA11C}"/>
              </a:ext>
            </a:extLst>
          </p:cNvPr>
          <p:cNvSpPr txBox="1">
            <a:spLocks/>
          </p:cNvSpPr>
          <p:nvPr/>
        </p:nvSpPr>
        <p:spPr>
          <a:xfrm>
            <a:off x="1112361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D2Coding" panose="020B0609020101020101" pitchFamily="49" charset="-127"/>
                <a:ea typeface="D2Coding" panose="020B0609020101020101" pitchFamily="49" charset="-127"/>
              </a:rPr>
              <a:pPr/>
              <a:t>20</a:t>
            </a:fld>
            <a:endParaRPr lang="en-US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64817830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561C72-4197-8941-AFF5-049D75658C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7C4970D-D44F-2504-08A7-41E2746F7FF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The Transformer architecture</a:t>
            </a: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A5C9F35C-A020-5175-F5C0-9AE5B7970E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673" y="1488141"/>
            <a:ext cx="3980872" cy="4210844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F723C8B-4332-FD67-9334-8E7E4C519343}"/>
              </a:ext>
            </a:extLst>
          </p:cNvPr>
          <p:cNvSpPr txBox="1"/>
          <p:nvPr/>
        </p:nvSpPr>
        <p:spPr>
          <a:xfrm>
            <a:off x="5006109" y="1488141"/>
            <a:ext cx="6096000" cy="45836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Original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representation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ko-KR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Attention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mechanism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&amp;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Attention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scores</a:t>
            </a:r>
            <a:endParaRPr lang="ko-KR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모델은 이 이미지에서 '무엇이 중요한지' 판단하는 과정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흑백 이미지(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Attention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scores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를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보면, 고양이의 얼굴이 있는 중심부만 하얗게(높은 점수) 빛나고 배경은 까맣게(낮은 점수) 처리되어 있습니다. 즉, "여기가 제일 중요하니까 여기에 집중해!"라고 점수를 매긴 지도(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Mask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New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representation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원본 이미지에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어텐션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점수를 곱해 필터링한 최종 결과물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배경은 어둡게 가려지고, 모델이 집중해야 할 고양이의 눈과 얼굴 부분만 선명하게 강조된 새로운 데이터(표현)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생성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모델은 이제 이 핵심 정보만을 가지고 다음 연산을 수행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EC7CAA5-09E1-A6A3-3719-902385AB2D32}"/>
              </a:ext>
            </a:extLst>
          </p:cNvPr>
          <p:cNvSpPr txBox="1"/>
          <p:nvPr/>
        </p:nvSpPr>
        <p:spPr>
          <a:xfrm>
            <a:off x="6966408" y="826899"/>
            <a:ext cx="460028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algn="r">
              <a:buNone/>
            </a:pPr>
            <a:r>
              <a:rPr lang="ko-KR" altLang="ko-KR" sz="1800" b="1" i="0" dirty="0" err="1">
                <a:effectLst/>
                <a:latin typeface="Lora" pitchFamily="2" charset="0"/>
              </a:rPr>
              <a:t>Dot-product</a:t>
            </a:r>
            <a:r>
              <a:rPr lang="ko-KR" altLang="ko-KR" sz="1800" b="1" i="0" dirty="0">
                <a:effectLst/>
                <a:latin typeface="Lora" pitchFamily="2" charset="0"/>
              </a:rPr>
              <a:t> </a:t>
            </a:r>
            <a:r>
              <a:rPr lang="ko-KR" altLang="ko-KR" sz="1800" b="1" i="0" dirty="0" err="1">
                <a:effectLst/>
                <a:latin typeface="Lora" pitchFamily="2" charset="0"/>
              </a:rPr>
              <a:t>attention</a:t>
            </a:r>
            <a:endParaRPr lang="ko-KR" altLang="ko-KR" sz="1800" b="1" i="0" dirty="0">
              <a:effectLst/>
              <a:latin typeface="Lora" pitchFamily="2" charset="0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A18751FE-18F2-9D17-99AF-975D012BEB35}"/>
              </a:ext>
            </a:extLst>
          </p:cNvPr>
          <p:cNvSpPr txBox="1">
            <a:spLocks/>
          </p:cNvSpPr>
          <p:nvPr/>
        </p:nvSpPr>
        <p:spPr>
          <a:xfrm>
            <a:off x="1112361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D2Coding" panose="020B0609020101020101" pitchFamily="49" charset="-127"/>
                <a:ea typeface="D2Coding" panose="020B0609020101020101" pitchFamily="49" charset="-127"/>
              </a:rPr>
              <a:pPr/>
              <a:t>21</a:t>
            </a:fld>
            <a:endParaRPr lang="en-US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08807704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C897E9-D63A-8877-FBD0-86DAF608CB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EB358AA2-DB8C-38E1-50C1-3130DB2417B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The Transformer architecture</a:t>
            </a:r>
          </a:p>
        </p:txBody>
      </p:sp>
      <p:pic>
        <p:nvPicPr>
          <p:cNvPr id="2" name="그림 1" descr="Attention visualization of different layers from our unsupervised pre‐trained model (using a tool from [58]). An attention map was generated with 16‐frame clip inputs and applied to the last frame in the video clips. Each row represents a video sample, whereas each column illustrates the different convolution layers">
            <a:extLst>
              <a:ext uri="{FF2B5EF4-FFF2-40B4-BE49-F238E27FC236}">
                <a16:creationId xmlns:a16="http://schemas.microsoft.com/office/drawing/2014/main" id="{6A73219F-9DD8-F5AD-5E51-900227F14A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4182" y="2539432"/>
            <a:ext cx="9120853" cy="372345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F2571CD-8B62-A93E-2A14-731900273CBB}"/>
              </a:ext>
            </a:extLst>
          </p:cNvPr>
          <p:cNvSpPr txBox="1"/>
          <p:nvPr/>
        </p:nvSpPr>
        <p:spPr>
          <a:xfrm>
            <a:off x="1163783" y="6262886"/>
            <a:ext cx="873500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algn="l">
              <a:buNone/>
            </a:pPr>
            <a:r>
              <a:rPr lang="ko-KR" altLang="ko-KR" sz="1200" b="0" i="0" dirty="0" err="1">
                <a:solidFill>
                  <a:srgbClr val="11111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Exploring</a:t>
            </a:r>
            <a:r>
              <a:rPr lang="ko-KR" altLang="ko-KR" sz="1200" b="0" i="0" dirty="0">
                <a:solidFill>
                  <a:srgbClr val="11111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b="0" i="0" dirty="0" err="1">
                <a:solidFill>
                  <a:srgbClr val="11111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complementary</a:t>
            </a:r>
            <a:r>
              <a:rPr lang="ko-KR" altLang="ko-KR" sz="1200" b="0" i="0" dirty="0">
                <a:solidFill>
                  <a:srgbClr val="11111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b="0" i="0" dirty="0" err="1">
                <a:solidFill>
                  <a:srgbClr val="11111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information</a:t>
            </a:r>
            <a:r>
              <a:rPr lang="ko-KR" altLang="ko-KR" sz="1200" b="0" i="0" dirty="0">
                <a:solidFill>
                  <a:srgbClr val="11111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of </a:t>
            </a:r>
            <a:r>
              <a:rPr lang="ko-KR" altLang="ko-KR" sz="1200" b="0" i="0" dirty="0" err="1">
                <a:solidFill>
                  <a:srgbClr val="11111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self‐supervised</a:t>
            </a:r>
            <a:r>
              <a:rPr lang="ko-KR" altLang="ko-KR" sz="1200" b="0" i="0" dirty="0">
                <a:solidFill>
                  <a:srgbClr val="11111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b="0" i="0" dirty="0" err="1">
                <a:solidFill>
                  <a:srgbClr val="11111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pretext</a:t>
            </a:r>
            <a:r>
              <a:rPr lang="ko-KR" altLang="ko-KR" sz="1200" b="0" i="0" dirty="0">
                <a:solidFill>
                  <a:srgbClr val="11111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b="0" i="0" dirty="0" err="1">
                <a:solidFill>
                  <a:srgbClr val="11111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tasks</a:t>
            </a:r>
            <a:r>
              <a:rPr lang="ko-KR" altLang="ko-KR" sz="1200" b="0" i="0" dirty="0">
                <a:solidFill>
                  <a:srgbClr val="11111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b="0" i="0" dirty="0" err="1">
                <a:solidFill>
                  <a:srgbClr val="11111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for</a:t>
            </a:r>
            <a:r>
              <a:rPr lang="ko-KR" altLang="ko-KR" sz="1200" b="0" i="0" dirty="0">
                <a:solidFill>
                  <a:srgbClr val="11111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b="0" i="0" dirty="0" err="1">
                <a:solidFill>
                  <a:srgbClr val="11111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unsupervised</a:t>
            </a:r>
            <a:r>
              <a:rPr lang="ko-KR" altLang="ko-KR" sz="1200" b="0" i="0" dirty="0">
                <a:solidFill>
                  <a:srgbClr val="11111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b="0" i="0" dirty="0" err="1">
                <a:solidFill>
                  <a:srgbClr val="11111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video</a:t>
            </a:r>
            <a:r>
              <a:rPr lang="ko-KR" altLang="ko-KR" sz="1200" b="0" i="0" dirty="0">
                <a:solidFill>
                  <a:srgbClr val="11111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b="0" i="0" dirty="0" err="1">
                <a:solidFill>
                  <a:srgbClr val="11111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pre‐training</a:t>
            </a:r>
            <a:endParaRPr lang="ko-KR" altLang="ko-KR" sz="1200" b="0" i="0" dirty="0">
              <a:solidFill>
                <a:srgbClr val="11111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53B6136-F1AC-F851-F77F-4902265FA8B3}"/>
              </a:ext>
            </a:extLst>
          </p:cNvPr>
          <p:cNvSpPr txBox="1"/>
          <p:nvPr/>
        </p:nvSpPr>
        <p:spPr>
          <a:xfrm>
            <a:off x="563417" y="1185280"/>
            <a:ext cx="11152937" cy="1162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“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CNN에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어텐션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(attention)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매커니즘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을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결합했더니, 레이어가 깊어질수록 인간처럼 영상 속에서 배경에 현혹되지 않고 '행동의 핵심이 되는 인물과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사물'을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스스로 기가 막히게 찾아내어 집중하더라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”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것을 증명하는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시각 자료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논문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로 비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지도 학습(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Unsupervised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)인데도 정답 없이 스스로 이 핵심 맥락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발견함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5D6C961-7316-807B-F971-F0B9F2EE603F}"/>
              </a:ext>
            </a:extLst>
          </p:cNvPr>
          <p:cNvSpPr txBox="1"/>
          <p:nvPr/>
        </p:nvSpPr>
        <p:spPr>
          <a:xfrm>
            <a:off x="6966408" y="826899"/>
            <a:ext cx="460028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algn="r">
              <a:buNone/>
            </a:pPr>
            <a:r>
              <a:rPr lang="ko-KR" altLang="ko-KR" sz="1800" b="1" i="0" dirty="0" err="1">
                <a:effectLst/>
                <a:latin typeface="Lora" pitchFamily="2" charset="0"/>
              </a:rPr>
              <a:t>Dot-product</a:t>
            </a:r>
            <a:r>
              <a:rPr lang="ko-KR" altLang="ko-KR" sz="1800" b="1" i="0" dirty="0">
                <a:effectLst/>
                <a:latin typeface="Lora" pitchFamily="2" charset="0"/>
              </a:rPr>
              <a:t> </a:t>
            </a:r>
            <a:r>
              <a:rPr lang="ko-KR" altLang="ko-KR" sz="1800" b="1" i="0" dirty="0" err="1">
                <a:effectLst/>
                <a:latin typeface="Lora" pitchFamily="2" charset="0"/>
              </a:rPr>
              <a:t>attention</a:t>
            </a:r>
            <a:endParaRPr lang="ko-KR" altLang="ko-KR" sz="1800" b="1" i="0" dirty="0">
              <a:effectLst/>
              <a:latin typeface="Lora" pitchFamily="2" charset="0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BD49C722-9CC5-B3D0-C4F1-46190B72253D}"/>
              </a:ext>
            </a:extLst>
          </p:cNvPr>
          <p:cNvSpPr txBox="1">
            <a:spLocks/>
          </p:cNvSpPr>
          <p:nvPr/>
        </p:nvSpPr>
        <p:spPr>
          <a:xfrm>
            <a:off x="1112361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D2Coding" panose="020B0609020101020101" pitchFamily="49" charset="-127"/>
                <a:ea typeface="D2Coding" panose="020B0609020101020101" pitchFamily="49" charset="-127"/>
              </a:rPr>
              <a:pPr/>
              <a:t>22</a:t>
            </a:fld>
            <a:endParaRPr lang="en-US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69963127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3C98A2-8124-BA79-7AD4-0C80788B43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82" name="Picture 10">
            <a:extLst>
              <a:ext uri="{FF2B5EF4-FFF2-40B4-BE49-F238E27FC236}">
                <a16:creationId xmlns:a16="http://schemas.microsoft.com/office/drawing/2014/main" id="{7C6071FA-7C1A-CB7F-607E-63BFF4BAFFA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3698" y="2499995"/>
            <a:ext cx="7251057" cy="34495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제목 1">
            <a:extLst>
              <a:ext uri="{FF2B5EF4-FFF2-40B4-BE49-F238E27FC236}">
                <a16:creationId xmlns:a16="http://schemas.microsoft.com/office/drawing/2014/main" id="{D384CA70-161B-17F2-D1B1-0D8609D6799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The Transformer architecture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B36A3FE9-4B12-4D83-A47F-850ADB6C9284}"/>
              </a:ext>
            </a:extLst>
          </p:cNvPr>
          <p:cNvSpPr txBox="1"/>
          <p:nvPr/>
        </p:nvSpPr>
        <p:spPr>
          <a:xfrm>
            <a:off x="6966408" y="826899"/>
            <a:ext cx="460028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algn="r">
              <a:buNone/>
            </a:pPr>
            <a:r>
              <a:rPr lang="ko-KR" altLang="ko-KR" sz="1800" b="1" i="0" dirty="0" err="1">
                <a:effectLst/>
                <a:latin typeface="Lora" pitchFamily="2" charset="0"/>
              </a:rPr>
              <a:t>Dot-product</a:t>
            </a:r>
            <a:r>
              <a:rPr lang="ko-KR" altLang="ko-KR" sz="1800" b="1" i="0" dirty="0">
                <a:effectLst/>
                <a:latin typeface="Lora" pitchFamily="2" charset="0"/>
              </a:rPr>
              <a:t> </a:t>
            </a:r>
            <a:r>
              <a:rPr lang="ko-KR" altLang="ko-KR" sz="1800" b="1" i="0" dirty="0" err="1">
                <a:effectLst/>
                <a:latin typeface="Lora" pitchFamily="2" charset="0"/>
              </a:rPr>
              <a:t>attention</a:t>
            </a:r>
            <a:endParaRPr lang="ko-KR" altLang="ko-KR" sz="1800" b="1" i="0" dirty="0">
              <a:effectLst/>
              <a:latin typeface="Lora" pitchFamily="2" charset="0"/>
            </a:endParaRPr>
          </a:p>
        </p:txBody>
      </p:sp>
      <p:pic>
        <p:nvPicPr>
          <p:cNvPr id="3076" name="Picture 4">
            <a:extLst>
              <a:ext uri="{FF2B5EF4-FFF2-40B4-BE49-F238E27FC236}">
                <a16:creationId xmlns:a16="http://schemas.microsoft.com/office/drawing/2014/main" id="{CD669AAA-54B3-98CF-C051-BF2F06E8A0C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48880" y="2499995"/>
            <a:ext cx="4331909" cy="34678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9878B6AB-E92F-575A-2BB1-A9BE449105B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03664" y="4172215"/>
            <a:ext cx="825308" cy="969738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22D3A837-B3CC-CBED-65B8-CE7CE1B28E9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83904" y="3195320"/>
            <a:ext cx="927070" cy="766439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ACF5F620-4B5E-E90A-BF27-690A6AEB5EF1}"/>
              </a:ext>
            </a:extLst>
          </p:cNvPr>
          <p:cNvSpPr txBox="1"/>
          <p:nvPr/>
        </p:nvSpPr>
        <p:spPr>
          <a:xfrm>
            <a:off x="599440" y="1248422"/>
            <a:ext cx="11318240" cy="7931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차원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Word Embedding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하여 시각화한 후 각 포인트의 내적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(Dot-product)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과 코사인 유사성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(Cosine Similarity)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계산하면 특성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차원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비슷한 데이터 포인트의 내적과 코사인 유사성이 커지게 됨 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AB193797-BAB0-C015-0C4A-F2F879C4F472}"/>
              </a:ext>
            </a:extLst>
          </p:cNvPr>
          <p:cNvSpPr txBox="1">
            <a:spLocks/>
          </p:cNvSpPr>
          <p:nvPr/>
        </p:nvSpPr>
        <p:spPr>
          <a:xfrm>
            <a:off x="1112361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D2Coding" panose="020B0609020101020101" pitchFamily="49" charset="-127"/>
                <a:ea typeface="D2Coding" panose="020B0609020101020101" pitchFamily="49" charset="-127"/>
              </a:rPr>
              <a:pPr/>
              <a:t>23</a:t>
            </a:fld>
            <a:endParaRPr lang="en-US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6820737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22595E-F380-3DED-F8D7-C899682033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53F55C73-B45C-3AD9-9ACA-ABBD0A16063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Attention Mechanism</a:t>
            </a: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381B4F84-B20F-3B18-0D1B-247AEE6AA3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6225" y="2233437"/>
            <a:ext cx="5173550" cy="233098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B6DFEDCD-3ACE-670C-3B97-FCE97A3AD0D4}"/>
              </a:ext>
            </a:extLst>
          </p:cNvPr>
          <p:cNvSpPr txBox="1"/>
          <p:nvPr/>
        </p:nvSpPr>
        <p:spPr>
          <a:xfrm>
            <a:off x="6514230" y="2242322"/>
            <a:ext cx="4831520" cy="2308324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txBody>
          <a:bodyPr wrap="square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ko-KR" altLang="en-US" sz="1200" b="1" dirty="0">
                <a:latin typeface="D2Coding" panose="020B0609020101020101" pitchFamily="49" charset="-127"/>
                <a:ea typeface="D2Coding" panose="020B0609020101020101" pitchFamily="49" charset="-127"/>
              </a:rPr>
              <a:t>내적 점수 계산 </a:t>
            </a:r>
            <a:r>
              <a:rPr lang="en-US" altLang="ko-KR" sz="1200" b="1" dirty="0">
                <a:latin typeface="D2Coding" panose="020B0609020101020101" pitchFamily="49" charset="-127"/>
                <a:ea typeface="D2Coding" panose="020B0609020101020101" pitchFamily="49" charset="-127"/>
              </a:rPr>
              <a:t>(Dot-product Score)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</a:p>
          <a:p>
            <a:pPr lvl="1"/>
            <a:r>
              <a:rPr lang="en-US" altLang="ko-KR" sz="12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  <a:r>
              <a:rPr lang="ko-KR" altLang="ko-KR" sz="12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ko-KR" sz="1200" dirty="0" err="1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Te</a:t>
            </a:r>
            <a:r>
              <a:rPr lang="ko-KR" altLang="ko-KR" sz="12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", "</a:t>
            </a:r>
            <a:r>
              <a:rPr lang="ko-KR" altLang="ko-KR" sz="1200" dirty="0" err="1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traeré</a:t>
            </a:r>
            <a:r>
              <a:rPr lang="ko-KR" altLang="ko-KR" sz="12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", "</a:t>
            </a:r>
            <a:r>
              <a:rPr lang="ko-KR" altLang="ko-KR" sz="1200" dirty="0" err="1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la</a:t>
            </a:r>
            <a:r>
              <a:rPr lang="ko-KR" altLang="ko-KR" sz="12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", "</a:t>
            </a:r>
            <a:r>
              <a:rPr lang="ko-KR" altLang="ko-KR" sz="1200" dirty="0" err="1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bolsa</a:t>
            </a:r>
            <a:r>
              <a:rPr lang="ko-KR" altLang="ko-KR" sz="12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“</a:t>
            </a:r>
            <a:r>
              <a:rPr lang="en-US" altLang="ko-KR" sz="12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  <a:r>
              <a:rPr lang="ko-KR" altLang="en-US" sz="12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의 각 단어 </a:t>
            </a:r>
            <a:r>
              <a:rPr lang="ko-KR" altLang="en-US" sz="1200" dirty="0" err="1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임베딩</a:t>
            </a:r>
            <a:r>
              <a:rPr lang="ko-KR" altLang="en-US" sz="12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벡터와 </a:t>
            </a:r>
            <a:r>
              <a:rPr lang="en-US" altLang="ko-KR" sz="12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“bring’</a:t>
            </a:r>
            <a:r>
              <a:rPr lang="ko-KR" altLang="en-US" sz="12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단어의 </a:t>
            </a:r>
            <a:r>
              <a:rPr lang="ko-KR" altLang="en-US" sz="1200" dirty="0" err="1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임베딩</a:t>
            </a:r>
            <a:r>
              <a:rPr lang="ko-KR" altLang="en-US" sz="12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벡터의 내적 값은</a:t>
            </a:r>
            <a:r>
              <a:rPr lang="en-US" altLang="ko-KR" sz="12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[0.56, 2.51, 0.49, 1.21]</a:t>
            </a:r>
          </a:p>
          <a:p>
            <a:pPr marL="800100" lvl="1" indent="-342900">
              <a:buFont typeface="+mj-lt"/>
              <a:buAutoNum type="arabicPeriod"/>
            </a:pPr>
            <a:endParaRPr lang="en-US" altLang="ko-KR" sz="1200" b="1" dirty="0">
              <a:solidFill>
                <a:srgbClr val="00000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buFont typeface="+mj-lt"/>
              <a:buAutoNum type="arabicPeriod"/>
            </a:pPr>
            <a:r>
              <a:rPr lang="ko-KR" altLang="en-US" sz="12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소프트맥스</a:t>
            </a:r>
            <a:r>
              <a:rPr lang="ko-KR" altLang="en-US" sz="1200" b="1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b="1" dirty="0">
                <a:latin typeface="D2Coding" panose="020B0609020101020101" pitchFamily="49" charset="-127"/>
                <a:ea typeface="D2Coding" panose="020B0609020101020101" pitchFamily="49" charset="-127"/>
              </a:rPr>
              <a:t>(Attention Weights):</a:t>
            </a:r>
            <a:endParaRPr lang="en-US" altLang="ko-KR" sz="1200" b="1" dirty="0">
              <a:solidFill>
                <a:srgbClr val="00000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lvl="1"/>
            <a:r>
              <a:rPr lang="ko-KR" altLang="en-US" sz="1200" dirty="0" err="1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소프트맥스</a:t>
            </a:r>
            <a:r>
              <a:rPr lang="ko-KR" altLang="en-US" sz="12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값</a:t>
            </a:r>
            <a:r>
              <a:rPr lang="en-US" altLang="ko-KR" sz="12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(attention weight)</a:t>
            </a:r>
            <a:r>
              <a:rPr lang="ko-KR" altLang="en-US" sz="12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은</a:t>
            </a:r>
            <a:r>
              <a:rPr lang="en-US" altLang="ko-KR" sz="12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[0.0919, 0.6462, 0.0857, 0.1761]</a:t>
            </a:r>
            <a:r>
              <a:rPr lang="ko-KR" altLang="en-US" sz="12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이며</a:t>
            </a:r>
            <a:r>
              <a:rPr lang="en-US" altLang="ko-KR" sz="12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  <a:p>
            <a:pPr marL="342900" indent="-342900">
              <a:buFont typeface="+mj-lt"/>
              <a:buAutoNum type="arabicPeriod"/>
            </a:pPr>
            <a:endParaRPr lang="en-US" altLang="ko-KR" sz="1200" dirty="0">
              <a:solidFill>
                <a:srgbClr val="00000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buFont typeface="+mj-lt"/>
              <a:buAutoNum type="arabicPeriod"/>
            </a:pPr>
            <a:r>
              <a:rPr lang="ko-KR" altLang="en-US" sz="12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가중합</a:t>
            </a:r>
            <a:r>
              <a:rPr lang="ko-KR" altLang="en-US" sz="1200" b="1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b="1" dirty="0">
                <a:latin typeface="D2Coding" panose="020B0609020101020101" pitchFamily="49" charset="-127"/>
                <a:ea typeface="D2Coding" panose="020B0609020101020101" pitchFamily="49" charset="-127"/>
              </a:rPr>
              <a:t>(Context Vector)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endParaRPr lang="en-US" altLang="ko-KR" sz="1200" dirty="0">
              <a:solidFill>
                <a:srgbClr val="00000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lvl="1"/>
            <a:r>
              <a:rPr lang="ko-KR" altLang="en-US" sz="1200" dirty="0" err="1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소프트맥스</a:t>
            </a:r>
            <a:r>
              <a:rPr lang="ko-KR" altLang="en-US" sz="12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값을</a:t>
            </a:r>
            <a:r>
              <a:rPr lang="en-US" altLang="ko-KR" sz="12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[</a:t>
            </a:r>
            <a:r>
              <a:rPr lang="ko-KR" altLang="ko-KR" sz="12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ko-KR" sz="1200" dirty="0" err="1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Te</a:t>
            </a:r>
            <a:r>
              <a:rPr lang="ko-KR" altLang="ko-KR" sz="12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", "</a:t>
            </a:r>
            <a:r>
              <a:rPr lang="ko-KR" altLang="ko-KR" sz="1200" dirty="0" err="1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traeré</a:t>
            </a:r>
            <a:r>
              <a:rPr lang="ko-KR" altLang="ko-KR" sz="12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", "</a:t>
            </a:r>
            <a:r>
              <a:rPr lang="ko-KR" altLang="ko-KR" sz="1200" dirty="0" err="1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la</a:t>
            </a:r>
            <a:r>
              <a:rPr lang="ko-KR" altLang="ko-KR" sz="12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", "</a:t>
            </a:r>
            <a:r>
              <a:rPr lang="ko-KR" altLang="ko-KR" sz="1200" dirty="0" err="1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bolsa</a:t>
            </a:r>
            <a:r>
              <a:rPr lang="ko-KR" altLang="ko-KR" sz="12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“</a:t>
            </a:r>
            <a:r>
              <a:rPr lang="en-US" altLang="ko-KR" sz="12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  <a:r>
              <a:rPr lang="ko-KR" altLang="en-US" sz="12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의 각 단어 </a:t>
            </a:r>
            <a:r>
              <a:rPr lang="ko-KR" altLang="en-US" sz="1200" dirty="0" err="1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임베딩에</a:t>
            </a:r>
            <a:r>
              <a:rPr lang="ko-KR" altLang="en-US" sz="12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곱해서 합을 생성</a:t>
            </a:r>
            <a:endParaRPr lang="ko-KR" altLang="ko-KR" sz="1200" dirty="0">
              <a:solidFill>
                <a:srgbClr val="00000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AB209FEE-C228-2E1F-12A2-AFB5FF530FF1}"/>
              </a:ext>
            </a:extLst>
          </p:cNvPr>
          <p:cNvSpPr txBox="1"/>
          <p:nvPr/>
        </p:nvSpPr>
        <p:spPr>
          <a:xfrm>
            <a:off x="6248526" y="6237517"/>
            <a:ext cx="3139003" cy="276999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= 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[0.631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4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0.6790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0.5929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0.65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30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57" name="그림 56">
            <a:extLst>
              <a:ext uri="{FF2B5EF4-FFF2-40B4-BE49-F238E27FC236}">
                <a16:creationId xmlns:a16="http://schemas.microsoft.com/office/drawing/2014/main" id="{115801C9-1C49-8A81-C541-5665623596BE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chemeClr val="accent3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6514230" y="5296169"/>
            <a:ext cx="2023521" cy="864369"/>
          </a:xfrm>
          <a:prstGeom prst="rect">
            <a:avLst/>
          </a:prstGeom>
        </p:spPr>
      </p:pic>
      <p:sp>
        <p:nvSpPr>
          <p:cNvPr id="62" name="TextBox 61">
            <a:extLst>
              <a:ext uri="{FF2B5EF4-FFF2-40B4-BE49-F238E27FC236}">
                <a16:creationId xmlns:a16="http://schemas.microsoft.com/office/drawing/2014/main" id="{E0DBEE09-3F5C-FB5E-0111-891462181261}"/>
              </a:ext>
            </a:extLst>
          </p:cNvPr>
          <p:cNvSpPr txBox="1"/>
          <p:nvPr/>
        </p:nvSpPr>
        <p:spPr>
          <a:xfrm>
            <a:off x="6966408" y="826899"/>
            <a:ext cx="460028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algn="r">
              <a:buNone/>
            </a:pPr>
            <a:r>
              <a:rPr lang="ko-KR" altLang="ko-KR" sz="1800" b="1" i="0" dirty="0" err="1">
                <a:effectLst/>
                <a:latin typeface="Lora" pitchFamily="2" charset="0"/>
              </a:rPr>
              <a:t>Dot-product</a:t>
            </a:r>
            <a:r>
              <a:rPr lang="ko-KR" altLang="ko-KR" sz="1800" b="1" i="0" dirty="0">
                <a:effectLst/>
                <a:latin typeface="Lora" pitchFamily="2" charset="0"/>
              </a:rPr>
              <a:t> </a:t>
            </a:r>
            <a:r>
              <a:rPr lang="ko-KR" altLang="ko-KR" sz="1800" b="1" i="0" dirty="0" err="1">
                <a:effectLst/>
                <a:latin typeface="Lora" pitchFamily="2" charset="0"/>
              </a:rPr>
              <a:t>attention</a:t>
            </a:r>
            <a:endParaRPr lang="ko-KR" altLang="ko-KR" sz="1800" b="1" i="0" dirty="0">
              <a:effectLst/>
              <a:latin typeface="Lora" pitchFamily="2" charset="0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297E6ECC-001F-F4A6-58D3-CAE733490DEB}"/>
              </a:ext>
            </a:extLst>
          </p:cNvPr>
          <p:cNvSpPr txBox="1">
            <a:spLocks/>
          </p:cNvSpPr>
          <p:nvPr/>
        </p:nvSpPr>
        <p:spPr>
          <a:xfrm>
            <a:off x="1112361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D2Coding" panose="020B0609020101020101" pitchFamily="49" charset="-127"/>
                <a:ea typeface="D2Coding" panose="020B0609020101020101" pitchFamily="49" charset="-127"/>
              </a:rPr>
              <a:pPr/>
              <a:t>24</a:t>
            </a:fld>
            <a:endParaRPr lang="en-US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618E027-B3AA-C759-E6A5-DC7B3311FEE0}"/>
              </a:ext>
            </a:extLst>
          </p:cNvPr>
          <p:cNvSpPr txBox="1"/>
          <p:nvPr/>
        </p:nvSpPr>
        <p:spPr>
          <a:xfrm>
            <a:off x="543206" y="1179806"/>
            <a:ext cx="11115394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디코더가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특정 단어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"bring"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생성할 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스페인어 입력 문장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6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Te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traeré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 la </a:t>
            </a:r>
            <a:r>
              <a:rPr lang="en-US" altLang="ko-KR" sz="16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bolsa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 어느 단어에 얼마나 집중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(Attention)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해야 하는지 계산하는 </a:t>
            </a:r>
            <a:r>
              <a:rPr lang="ko-KR" altLang="en-US" sz="16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어텐션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(Attention) 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메커니즘 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(bring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은 </a:t>
            </a:r>
            <a:r>
              <a:rPr lang="en-US" altLang="ko-KR" sz="16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traere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에 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0.6790 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집중하라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!)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0862FDC-6EE2-DB87-2CD7-2CACC3E3B6C3}"/>
              </a:ext>
            </a:extLst>
          </p:cNvPr>
          <p:cNvSpPr txBox="1"/>
          <p:nvPr/>
        </p:nvSpPr>
        <p:spPr>
          <a:xfrm>
            <a:off x="711425" y="4818391"/>
            <a:ext cx="2306591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prstDash val="dash"/>
          </a:ln>
        </p:spPr>
        <p:txBody>
          <a:bodyPr wrap="square">
            <a:spAutoFit/>
          </a:bodyPr>
          <a:lstStyle/>
          <a:p>
            <a:r>
              <a:rPr lang="en-US" altLang="ko-KR" sz="12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bring  </a:t>
            </a:r>
            <a:r>
              <a:rPr lang="ko-KR" altLang="ko-KR" sz="12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[0.7, 0.8, 0.6, 0.9]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2D352AD9-6724-D087-3A24-03D2606909D8}"/>
              </a:ext>
            </a:extLst>
          </p:cNvPr>
          <p:cNvSpPr txBox="1"/>
          <p:nvPr/>
        </p:nvSpPr>
        <p:spPr>
          <a:xfrm>
            <a:off x="9351404" y="4818391"/>
            <a:ext cx="2419150" cy="83099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prstDash val="dash"/>
          </a:ln>
        </p:spPr>
        <p:txBody>
          <a:bodyPr wrap="square">
            <a:spAutoFit/>
          </a:bodyPr>
          <a:lstStyle/>
          <a:p>
            <a:pPr algn="r">
              <a:buNone/>
            </a:pPr>
            <a:r>
              <a:rPr lang="en-US" altLang="ko-KR" sz="1200" b="0" dirty="0" err="1">
                <a:solidFill>
                  <a:srgbClr val="00B05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Te</a:t>
            </a:r>
            <a:r>
              <a:rPr lang="en-US" altLang="ko-KR" sz="1200" b="0" dirty="0">
                <a:solidFill>
                  <a:srgbClr val="00B05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</a:t>
            </a:r>
            <a:r>
              <a:rPr lang="ko-KR" altLang="ko-KR" sz="1200" b="0" dirty="0">
                <a:solidFill>
                  <a:srgbClr val="00B05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[0.1, 0.2, 0.1, 0.3]</a:t>
            </a:r>
            <a:endParaRPr lang="en-US" altLang="ko-KR" sz="1200" b="0" dirty="0">
              <a:solidFill>
                <a:srgbClr val="00B05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r">
              <a:buNone/>
            </a:pPr>
            <a:r>
              <a:rPr lang="en-US" altLang="ko-KR" sz="1200" b="0" dirty="0" err="1">
                <a:solidFill>
                  <a:srgbClr val="00B05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traere</a:t>
            </a:r>
            <a:r>
              <a:rPr lang="en-US" altLang="ko-KR" sz="1200" b="0" dirty="0">
                <a:solidFill>
                  <a:srgbClr val="00B05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</a:t>
            </a:r>
            <a:r>
              <a:rPr lang="ko-KR" altLang="ko-KR" sz="1200" b="0" dirty="0">
                <a:solidFill>
                  <a:srgbClr val="00B05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[0.8, 0.9, 0.7, 0.9]</a:t>
            </a:r>
            <a:endParaRPr lang="en-US" altLang="ko-KR" sz="1200" b="0" dirty="0">
              <a:solidFill>
                <a:srgbClr val="00B05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r">
              <a:buNone/>
            </a:pPr>
            <a:r>
              <a:rPr lang="en-US" altLang="ko-KR" sz="1200" b="0" dirty="0">
                <a:solidFill>
                  <a:srgbClr val="00B05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  </a:t>
            </a:r>
            <a:r>
              <a:rPr lang="ko-KR" altLang="ko-KR" sz="1200" b="0" dirty="0">
                <a:solidFill>
                  <a:srgbClr val="00B05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[0.2, 0.1, 0.3, 0.1] </a:t>
            </a:r>
            <a:endParaRPr lang="en-US" altLang="ko-KR" sz="1200" b="0" dirty="0">
              <a:solidFill>
                <a:srgbClr val="00B05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r">
              <a:buNone/>
            </a:pPr>
            <a:r>
              <a:rPr lang="en-US" altLang="ko-KR" sz="1200" b="0" dirty="0" err="1">
                <a:solidFill>
                  <a:srgbClr val="00B05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bolsa</a:t>
            </a:r>
            <a:r>
              <a:rPr lang="en-US" altLang="ko-KR" sz="1200" b="0" dirty="0">
                <a:solidFill>
                  <a:srgbClr val="00B05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</a:t>
            </a:r>
            <a:r>
              <a:rPr lang="ko-KR" altLang="ko-KR" sz="1200" b="0" dirty="0">
                <a:solidFill>
                  <a:srgbClr val="00B05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[0.5, 0.4, 0.6, 0.2]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C35DFE71-28C8-7FD7-5D9B-C3C863148C70}"/>
              </a:ext>
            </a:extLst>
          </p:cNvPr>
          <p:cNvSpPr txBox="1"/>
          <p:nvPr/>
        </p:nvSpPr>
        <p:spPr>
          <a:xfrm>
            <a:off x="635225" y="5711668"/>
            <a:ext cx="234047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12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= [0.56, 2.51, 0.49, 1.21]</a:t>
            </a:r>
            <a:endParaRPr lang="ko-KR" altLang="en-US" sz="1200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C99945C1-8C3E-908F-2E46-43F1ABFB564C}"/>
              </a:ext>
            </a:extLst>
          </p:cNvPr>
          <p:cNvSpPr txBox="1"/>
          <p:nvPr/>
        </p:nvSpPr>
        <p:spPr>
          <a:xfrm>
            <a:off x="3004270" y="4799373"/>
            <a:ext cx="36740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@</a:t>
            </a:r>
            <a:endParaRPr lang="ko-KR" altLang="en-US" sz="1600" dirty="0">
              <a:latin typeface="Calibri Light" panose="020F0302020204030204" pitchFamily="34" charset="0"/>
              <a:ea typeface="D2Coding" panose="020B0609020101020101" pitchFamily="49" charset="-127"/>
              <a:cs typeface="Calibri Light" panose="020F0302020204030204" pitchFamily="34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02C9249-E742-400E-B5D0-F31424E55F49}"/>
              </a:ext>
            </a:extLst>
          </p:cNvPr>
          <p:cNvSpPr txBox="1"/>
          <p:nvPr/>
        </p:nvSpPr>
        <p:spPr>
          <a:xfrm>
            <a:off x="6324726" y="4818391"/>
            <a:ext cx="291324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 err="1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Softmax</a:t>
            </a:r>
            <a:r>
              <a:rPr lang="en-US" altLang="ko-KR" sz="12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([0.56, 2.51, 0.49, 1.21])</a:t>
            </a:r>
          </a:p>
          <a:p>
            <a:r>
              <a:rPr lang="en-US" altLang="ko-KR" sz="12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= [0.0919, 0.6462, 0.0857, 0.1761]</a:t>
            </a:r>
            <a:endParaRPr lang="ko-KR" altLang="en-US" sz="1200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C9196B74-2B7E-2E24-BD50-554BFCD52BE0}"/>
              </a:ext>
            </a:extLst>
          </p:cNvPr>
          <p:cNvSpPr txBox="1"/>
          <p:nvPr/>
        </p:nvSpPr>
        <p:spPr>
          <a:xfrm>
            <a:off x="9007466" y="4971856"/>
            <a:ext cx="36740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@</a:t>
            </a:r>
            <a:endParaRPr lang="ko-KR" altLang="en-US" sz="1600" dirty="0">
              <a:latin typeface="Calibri Light" panose="020F0302020204030204" pitchFamily="34" charset="0"/>
              <a:ea typeface="D2Coding" panose="020B0609020101020101" pitchFamily="49" charset="-127"/>
              <a:cs typeface="Calibri Light" panose="020F0302020204030204" pitchFamily="34" charset="0"/>
            </a:endParaRPr>
          </a:p>
        </p:txBody>
      </p:sp>
      <p:cxnSp>
        <p:nvCxnSpPr>
          <p:cNvPr id="47" name="연결선: 꺾임 46">
            <a:extLst>
              <a:ext uri="{FF2B5EF4-FFF2-40B4-BE49-F238E27FC236}">
                <a16:creationId xmlns:a16="http://schemas.microsoft.com/office/drawing/2014/main" id="{F3790798-80FB-B532-9719-E5039AB7287E}"/>
              </a:ext>
            </a:extLst>
          </p:cNvPr>
          <p:cNvCxnSpPr>
            <a:stCxn id="37" idx="3"/>
            <a:endCxn id="40" idx="1"/>
          </p:cNvCxnSpPr>
          <p:nvPr/>
        </p:nvCxnSpPr>
        <p:spPr>
          <a:xfrm flipV="1">
            <a:off x="2975695" y="5049224"/>
            <a:ext cx="3349031" cy="800944"/>
          </a:xfrm>
          <a:prstGeom prst="bentConnector3">
            <a:avLst>
              <a:gd name="adj1" fmla="val 86689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9D68CD3C-D03E-4059-5D28-7AAB6407BAFC}"/>
              </a:ext>
            </a:extLst>
          </p:cNvPr>
          <p:cNvSpPr txBox="1"/>
          <p:nvPr/>
        </p:nvSpPr>
        <p:spPr>
          <a:xfrm>
            <a:off x="3333950" y="4818391"/>
            <a:ext cx="2419150" cy="83099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prstDash val="dash"/>
          </a:ln>
        </p:spPr>
        <p:txBody>
          <a:bodyPr wrap="square">
            <a:spAutoFit/>
          </a:bodyPr>
          <a:lstStyle/>
          <a:p>
            <a:pPr algn="r">
              <a:buNone/>
            </a:pPr>
            <a:r>
              <a:rPr lang="en-US" altLang="ko-KR" sz="1200" b="0" dirty="0" err="1">
                <a:solidFill>
                  <a:srgbClr val="00B05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Te</a:t>
            </a:r>
            <a:r>
              <a:rPr lang="en-US" altLang="ko-KR" sz="1200" b="0" dirty="0">
                <a:solidFill>
                  <a:srgbClr val="00B05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</a:t>
            </a:r>
            <a:r>
              <a:rPr lang="ko-KR" altLang="ko-KR" sz="1200" b="0" dirty="0">
                <a:solidFill>
                  <a:srgbClr val="00B05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[0.1, 0.2, 0.1, 0.3]</a:t>
            </a:r>
            <a:endParaRPr lang="en-US" altLang="ko-KR" sz="1200" b="0" dirty="0">
              <a:solidFill>
                <a:srgbClr val="00B05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r">
              <a:buNone/>
            </a:pPr>
            <a:r>
              <a:rPr lang="en-US" altLang="ko-KR" sz="1200" b="0" dirty="0" err="1">
                <a:solidFill>
                  <a:srgbClr val="00B05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traere</a:t>
            </a:r>
            <a:r>
              <a:rPr lang="en-US" altLang="ko-KR" sz="1200" b="0" dirty="0">
                <a:solidFill>
                  <a:srgbClr val="00B05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</a:t>
            </a:r>
            <a:r>
              <a:rPr lang="ko-KR" altLang="ko-KR" sz="1200" b="0" dirty="0">
                <a:solidFill>
                  <a:srgbClr val="00B05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[0.8, 0.9, 0.7, 0.9]</a:t>
            </a:r>
            <a:endParaRPr lang="en-US" altLang="ko-KR" sz="1200" b="0" dirty="0">
              <a:solidFill>
                <a:srgbClr val="00B05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r">
              <a:buNone/>
            </a:pPr>
            <a:r>
              <a:rPr lang="en-US" altLang="ko-KR" sz="1200" b="0" dirty="0">
                <a:solidFill>
                  <a:srgbClr val="00B05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  </a:t>
            </a:r>
            <a:r>
              <a:rPr lang="ko-KR" altLang="ko-KR" sz="1200" b="0" dirty="0">
                <a:solidFill>
                  <a:srgbClr val="00B05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[0.2, 0.1, 0.3, 0.1] </a:t>
            </a:r>
            <a:endParaRPr lang="en-US" altLang="ko-KR" sz="1200" b="0" dirty="0">
              <a:solidFill>
                <a:srgbClr val="00B05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r">
              <a:buNone/>
            </a:pPr>
            <a:r>
              <a:rPr lang="en-US" altLang="ko-KR" sz="1200" b="0" dirty="0" err="1">
                <a:solidFill>
                  <a:srgbClr val="00B05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bolsa</a:t>
            </a:r>
            <a:r>
              <a:rPr lang="en-US" altLang="ko-KR" sz="1200" b="0" dirty="0">
                <a:solidFill>
                  <a:srgbClr val="00B05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</a:t>
            </a:r>
            <a:r>
              <a:rPr lang="ko-KR" altLang="ko-KR" sz="1200" b="0" dirty="0">
                <a:solidFill>
                  <a:srgbClr val="00B05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[0.5, 0.4, 0.6, 0.2]</a:t>
            </a:r>
          </a:p>
        </p:txBody>
      </p:sp>
    </p:spTree>
    <p:extLst>
      <p:ext uri="{BB962C8B-B14F-4D97-AF65-F5344CB8AC3E}">
        <p14:creationId xmlns:p14="http://schemas.microsoft.com/office/powerpoint/2010/main" val="100104234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4BBCDE-48D0-D947-2AC3-05D8719F00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ED0CA67B-0067-E27D-6859-76E0A873E67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The Transformer architecture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0B07912B-8FD4-8EAC-1BAA-D3C18E409216}"/>
              </a:ext>
            </a:extLst>
          </p:cNvPr>
          <p:cNvSpPr txBox="1"/>
          <p:nvPr/>
        </p:nvSpPr>
        <p:spPr>
          <a:xfrm>
            <a:off x="537021" y="1551563"/>
            <a:ext cx="10353762" cy="4832092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import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numpy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as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np</a:t>
            </a:r>
            <a:endParaRPr lang="en-US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endParaRPr lang="en-US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1.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소프트맥스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Softmax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함수 구현</a:t>
            </a:r>
            <a:endParaRPr lang="ko-KR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def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softmax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):</a:t>
            </a:r>
          </a:p>
          <a:p>
            <a:pPr>
              <a:buNone/>
            </a:pP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# 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오버플로우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방지를 위해 최댓값을 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빼주는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안정적인 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소프트맥스</a:t>
            </a:r>
            <a:endParaRPr lang="ko-KR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e_x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np.exp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- 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np.max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))</a:t>
            </a:r>
          </a:p>
          <a:p>
            <a:pPr>
              <a:buNone/>
            </a:pP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return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e_x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/ 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e_x.sum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axis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=0)</a:t>
            </a:r>
            <a:endParaRPr lang="en-US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endParaRPr lang="en-US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2. 점수(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Score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함수 구현: 여기서는 가장 널리 쓰이는 '내적(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Dot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Product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)’</a:t>
            </a:r>
            <a:endParaRPr lang="ko-KR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def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score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target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source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):</a:t>
            </a:r>
          </a:p>
          <a:p>
            <a:pPr>
              <a:buNone/>
            </a:pP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return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np.dot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target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source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en-US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endParaRPr lang="ko-KR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4차원 단어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임베딩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벡터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소스 단어들 (스페인어 원문 벡터 리스트)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예: ["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Te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", "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traeré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", "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", "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bolsa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"]</a:t>
            </a:r>
          </a:p>
          <a:p>
            <a:pPr>
              <a:buNone/>
            </a:pP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sources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np.array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([</a:t>
            </a:r>
          </a:p>
          <a:p>
            <a:pPr>
              <a:buNone/>
            </a:pP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[0.1, 0.2, 0.1, 0.3],  # 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Te</a:t>
            </a:r>
            <a:endParaRPr lang="ko-KR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[0.8, 0.9, 0.7, 0.9],  # 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traeré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(가져오다 - 의미적 값이 큼)</a:t>
            </a:r>
          </a:p>
          <a:p>
            <a:pPr>
              <a:buNone/>
            </a:pP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[0.2, 0.1, 0.3, 0.1],  # 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</a:t>
            </a:r>
            <a:endParaRPr lang="ko-KR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[0.5, 0.4, 0.6, 0.2]   # 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bolsa</a:t>
            </a:r>
            <a:endParaRPr lang="ko-KR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])</a:t>
            </a:r>
            <a:endParaRPr lang="en-US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endParaRPr lang="ko-KR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타겟 단어 (현재 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디코더가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출력하려는 영어 단어 벡터)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예: "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bring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 (가져오다)</a:t>
            </a:r>
          </a:p>
          <a:p>
            <a:pPr>
              <a:buNone/>
            </a:pP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target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np.array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([0.7, 0.8, 0.6, 0.9]) </a:t>
            </a:r>
            <a:endParaRPr lang="en-US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9E5ACCF5-7BA8-5844-5E37-5232D0C90D7D}"/>
              </a:ext>
            </a:extLst>
          </p:cNvPr>
          <p:cNvSpPr txBox="1"/>
          <p:nvPr/>
        </p:nvSpPr>
        <p:spPr>
          <a:xfrm>
            <a:off x="6966408" y="826899"/>
            <a:ext cx="460028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algn="r">
              <a:buNone/>
            </a:pPr>
            <a:r>
              <a:rPr lang="ko-KR" altLang="ko-KR" sz="1800" b="1" i="0" dirty="0" err="1">
                <a:effectLst/>
                <a:latin typeface="Lora" pitchFamily="2" charset="0"/>
              </a:rPr>
              <a:t>Dot-product</a:t>
            </a:r>
            <a:r>
              <a:rPr lang="ko-KR" altLang="ko-KR" sz="1800" b="1" i="0" dirty="0">
                <a:effectLst/>
                <a:latin typeface="Lora" pitchFamily="2" charset="0"/>
              </a:rPr>
              <a:t> </a:t>
            </a:r>
            <a:r>
              <a:rPr lang="ko-KR" altLang="ko-KR" sz="1800" b="1" i="0" dirty="0" err="1">
                <a:effectLst/>
                <a:latin typeface="Lora" pitchFamily="2" charset="0"/>
              </a:rPr>
              <a:t>attention</a:t>
            </a:r>
            <a:endParaRPr lang="ko-KR" altLang="ko-KR" sz="1800" b="1" i="0" dirty="0">
              <a:effectLst/>
              <a:latin typeface="Lora" pitchFamily="2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B6D508B6-BB2E-01F1-505E-0A98CC11684A}"/>
              </a:ext>
            </a:extLst>
          </p:cNvPr>
          <p:cNvSpPr txBox="1">
            <a:spLocks/>
          </p:cNvSpPr>
          <p:nvPr/>
        </p:nvSpPr>
        <p:spPr>
          <a:xfrm>
            <a:off x="1112361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D2Coding" panose="020B0609020101020101" pitchFamily="49" charset="-127"/>
                <a:ea typeface="D2Coding" panose="020B0609020101020101" pitchFamily="49" charset="-127"/>
              </a:rPr>
              <a:pPr/>
              <a:t>25</a:t>
            </a:fld>
            <a:endParaRPr lang="en-US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88694667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46E55A-319D-D843-7B87-BF90015575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DF72A09-AEE7-4810-EAAD-B6E381EA6B8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The Transformer architecture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8D06D37C-FFD3-3818-5D79-EADC347494B1}"/>
              </a:ext>
            </a:extLst>
          </p:cNvPr>
          <p:cNvSpPr txBox="1"/>
          <p:nvPr/>
        </p:nvSpPr>
        <p:spPr>
          <a:xfrm>
            <a:off x="572626" y="1500202"/>
            <a:ext cx="9550429" cy="4260462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1단계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어텐션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메커니즘 실행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각 소스 단어와 타겟 단어 간의 연관성 점수 계산 </a:t>
            </a:r>
            <a:endParaRPr lang="en-US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ko-KR" altLang="ko-KR" sz="1400" b="1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raw_scores</a:t>
            </a:r>
            <a:r>
              <a:rPr lang="ko-KR" altLang="ko-KR" sz="1400" b="1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ko-KR" sz="1400" b="1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np.array</a:t>
            </a:r>
            <a:r>
              <a:rPr lang="ko-KR" altLang="ko-KR" sz="1400" b="1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([</a:t>
            </a:r>
            <a:r>
              <a:rPr lang="ko-KR" altLang="ko-KR" sz="1400" b="1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score</a:t>
            </a:r>
            <a:r>
              <a:rPr lang="ko-KR" altLang="ko-KR" sz="1400" b="1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ko-KR" sz="1400" b="1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target</a:t>
            </a:r>
            <a:r>
              <a:rPr lang="ko-KR" altLang="ko-KR" sz="1400" b="1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ko-KR" sz="1400" b="1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</a:t>
            </a:r>
            <a:r>
              <a:rPr lang="ko-KR" altLang="ko-KR" sz="1400" b="1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ko-KR" sz="1400" b="1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for</a:t>
            </a:r>
            <a:r>
              <a:rPr lang="ko-KR" altLang="ko-KR" sz="1400" b="1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b="1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</a:t>
            </a:r>
            <a:r>
              <a:rPr lang="ko-KR" altLang="ko-KR" sz="1400" b="1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b="1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</a:t>
            </a:r>
            <a:r>
              <a:rPr lang="ko-KR" altLang="ko-KR" sz="1400" b="1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b="1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sources</a:t>
            </a:r>
            <a:r>
              <a:rPr lang="ko-KR" altLang="ko-KR" sz="1400" b="1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])</a:t>
            </a:r>
          </a:p>
          <a:p>
            <a:pPr>
              <a:lnSpc>
                <a:spcPct val="150000"/>
              </a:lnSpc>
            </a:pP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print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(f"1. 날것의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어텐션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점수 (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Raw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Scores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): {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raw_scores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}")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출력 결과 '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traeré'의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점수가 가장 높음</a:t>
            </a:r>
            <a:endParaRPr lang="en-US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endParaRPr lang="ko-KR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2단계: 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소프트맥스를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취해 합이 1이 되는 가중치 확률로 변환</a:t>
            </a:r>
          </a:p>
          <a:p>
            <a:pPr>
              <a:lnSpc>
                <a:spcPct val="150000"/>
              </a:lnSpc>
            </a:pPr>
            <a:r>
              <a:rPr lang="ko-KR" altLang="ko-KR" sz="14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attention_weights</a:t>
            </a:r>
            <a:r>
              <a:rPr lang="ko-KR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ko-KR" sz="14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softmax</a:t>
            </a:r>
            <a:r>
              <a:rPr lang="ko-KR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ko-KR" sz="14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raw_scores</a:t>
            </a:r>
            <a:r>
              <a:rPr lang="ko-KR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>
              <a:lnSpc>
                <a:spcPct val="150000"/>
              </a:lnSpc>
            </a:pP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print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"\n2.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소프트맥스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정규화 후 가중치 (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Attention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Weights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가중치 총합: {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np.sum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attention_weights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)}")</a:t>
            </a:r>
          </a:p>
          <a:p>
            <a:pPr>
              <a:lnSpc>
                <a:spcPct val="150000"/>
              </a:lnSpc>
            </a:pP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for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word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weight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zip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(["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Te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", "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traeré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", "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", "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bolsa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"],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attention_weights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):</a:t>
            </a:r>
          </a:p>
          <a:p>
            <a:pPr>
              <a:lnSpc>
                <a:spcPct val="150000"/>
              </a:lnSpc>
            </a:pP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print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 - {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word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}: {weight:.4f}")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endParaRPr lang="ko-KR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3단계: 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가중합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Weighted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Sum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구하기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: 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원소별 곱(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scores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* 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sources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)을 한 뒤, 행(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axis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=0) 기준으로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총합</a:t>
            </a:r>
            <a:endParaRPr lang="ko-KR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ko-KR" altLang="ko-KR" sz="1400" b="1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combined</a:t>
            </a:r>
            <a:r>
              <a:rPr lang="ko-KR" altLang="ko-KR" sz="1400" b="1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ko-KR" sz="1400" b="1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np.sum</a:t>
            </a:r>
            <a:r>
              <a:rPr lang="ko-KR" altLang="ko-KR" sz="1400" b="1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ko-KR" sz="1400" b="1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attention_weights</a:t>
            </a:r>
            <a:r>
              <a:rPr lang="ko-KR" altLang="ko-KR" sz="1400" b="1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[:, </a:t>
            </a:r>
            <a:r>
              <a:rPr lang="ko-KR" altLang="ko-KR" sz="1400" b="1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np.newaxis</a:t>
            </a:r>
            <a:r>
              <a:rPr lang="ko-KR" altLang="ko-KR" sz="1400" b="1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 * </a:t>
            </a:r>
            <a:r>
              <a:rPr lang="ko-KR" altLang="ko-KR" sz="1400" b="1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sources</a:t>
            </a:r>
            <a:r>
              <a:rPr lang="ko-KR" altLang="ko-KR" sz="1400" b="1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ko-KR" sz="1400" b="1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axis</a:t>
            </a:r>
            <a:r>
              <a:rPr lang="ko-KR" altLang="ko-KR" sz="1400" b="1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=0)</a:t>
            </a:r>
          </a:p>
          <a:p>
            <a:pPr>
              <a:lnSpc>
                <a:spcPct val="150000"/>
              </a:lnSpc>
            </a:pP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print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"\n3. 최종 추출된 문맥 벡터 (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Combined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Context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Vector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): {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combined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}")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845E81A-875F-A5EE-79EC-22F770545304}"/>
              </a:ext>
            </a:extLst>
          </p:cNvPr>
          <p:cNvSpPr txBox="1"/>
          <p:nvPr/>
        </p:nvSpPr>
        <p:spPr>
          <a:xfrm>
            <a:off x="6966408" y="826899"/>
            <a:ext cx="460028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algn="r">
              <a:buNone/>
            </a:pPr>
            <a:r>
              <a:rPr lang="ko-KR" altLang="ko-KR" sz="1800" b="1" i="0" dirty="0" err="1">
                <a:effectLst/>
                <a:latin typeface="Lora" pitchFamily="2" charset="0"/>
              </a:rPr>
              <a:t>Dot-product</a:t>
            </a:r>
            <a:r>
              <a:rPr lang="ko-KR" altLang="ko-KR" sz="1800" b="1" i="0" dirty="0">
                <a:effectLst/>
                <a:latin typeface="Lora" pitchFamily="2" charset="0"/>
              </a:rPr>
              <a:t> </a:t>
            </a:r>
            <a:r>
              <a:rPr lang="ko-KR" altLang="ko-KR" sz="1800" b="1" i="0" dirty="0" err="1">
                <a:effectLst/>
                <a:latin typeface="Lora" pitchFamily="2" charset="0"/>
              </a:rPr>
              <a:t>attention</a:t>
            </a:r>
            <a:endParaRPr lang="ko-KR" altLang="ko-KR" sz="1800" b="1" i="0" dirty="0">
              <a:effectLst/>
              <a:latin typeface="Lora" pitchFamily="2" charset="0"/>
            </a:endParaRPr>
          </a:p>
        </p:txBody>
      </p:sp>
      <p:pic>
        <p:nvPicPr>
          <p:cNvPr id="6" name="그래픽 5" descr="배지 1 단색으로 채워진">
            <a:extLst>
              <a:ext uri="{FF2B5EF4-FFF2-40B4-BE49-F238E27FC236}">
                <a16:creationId xmlns:a16="http://schemas.microsoft.com/office/drawing/2014/main" id="{8D1A90B7-98C0-4091-55B0-6CCC630E5C7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87258" y="1912376"/>
            <a:ext cx="276330" cy="276330"/>
          </a:xfrm>
          <a:prstGeom prst="rect">
            <a:avLst/>
          </a:prstGeom>
        </p:spPr>
      </p:pic>
      <p:pic>
        <p:nvPicPr>
          <p:cNvPr id="7" name="그래픽 6" descr="배지 단색으로 채워진">
            <a:extLst>
              <a:ext uri="{FF2B5EF4-FFF2-40B4-BE49-F238E27FC236}">
                <a16:creationId xmlns:a16="http://schemas.microsoft.com/office/drawing/2014/main" id="{48FB9DEE-5FDF-19C5-8AFE-697612A6DC6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87258" y="3171720"/>
            <a:ext cx="276330" cy="276330"/>
          </a:xfrm>
          <a:prstGeom prst="rect">
            <a:avLst/>
          </a:prstGeom>
        </p:spPr>
      </p:pic>
      <p:pic>
        <p:nvPicPr>
          <p:cNvPr id="8" name="그래픽 7" descr="배지 3 단색으로 채워진">
            <a:extLst>
              <a:ext uri="{FF2B5EF4-FFF2-40B4-BE49-F238E27FC236}">
                <a16:creationId xmlns:a16="http://schemas.microsoft.com/office/drawing/2014/main" id="{81DAE5CF-BC30-62E7-0DC1-7E18E9F1086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87258" y="5089981"/>
            <a:ext cx="276330" cy="276330"/>
          </a:xfrm>
          <a:prstGeom prst="rect">
            <a:avLst/>
          </a:prstGeom>
        </p:spPr>
      </p:pic>
      <p:sp>
        <p:nvSpPr>
          <p:cNvPr id="9" name="슬라이드 번호 개체 틀 3">
            <a:extLst>
              <a:ext uri="{FF2B5EF4-FFF2-40B4-BE49-F238E27FC236}">
                <a16:creationId xmlns:a16="http://schemas.microsoft.com/office/drawing/2014/main" id="{398B3D40-C5ED-FECB-6817-4E22B62AF0C0}"/>
              </a:ext>
            </a:extLst>
          </p:cNvPr>
          <p:cNvSpPr txBox="1">
            <a:spLocks/>
          </p:cNvSpPr>
          <p:nvPr/>
        </p:nvSpPr>
        <p:spPr>
          <a:xfrm>
            <a:off x="1112361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D2Coding" panose="020B0609020101020101" pitchFamily="49" charset="-127"/>
                <a:ea typeface="D2Coding" panose="020B0609020101020101" pitchFamily="49" charset="-127"/>
              </a:rPr>
              <a:pPr/>
              <a:t>26</a:t>
            </a:fld>
            <a:endParaRPr lang="en-US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62199961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5B87F7-4577-3A9B-A571-3040942688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185AB3F0-4EF5-C7B7-8CC5-74D81502995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The Transformer architecture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E351A6D1-52D7-E7C4-E4C9-F3AF795934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175" y="1366661"/>
            <a:ext cx="4948745" cy="2229697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1228AC0E-2712-39EE-3B6F-D2420FAEA1A5}"/>
              </a:ext>
            </a:extLst>
          </p:cNvPr>
          <p:cNvSpPr txBox="1"/>
          <p:nvPr/>
        </p:nvSpPr>
        <p:spPr>
          <a:xfrm>
            <a:off x="1476339" y="3662917"/>
            <a:ext cx="1689897" cy="276999"/>
          </a:xfrm>
          <a:prstGeom prst="rect">
            <a:avLst/>
          </a:prstGeom>
          <a:solidFill>
            <a:schemeClr val="bg1"/>
          </a:solidFill>
          <a:ln w="28575"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[0.7, 0.8, 0.6, 0.9]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1488CF9-30F3-19FA-39C6-E5D6ED8B648D}"/>
              </a:ext>
            </a:extLst>
          </p:cNvPr>
          <p:cNvSpPr txBox="1"/>
          <p:nvPr/>
        </p:nvSpPr>
        <p:spPr>
          <a:xfrm>
            <a:off x="3004785" y="5759262"/>
            <a:ext cx="2345495" cy="276999"/>
          </a:xfrm>
          <a:prstGeom prst="rect">
            <a:avLst/>
          </a:prstGeom>
          <a:solidFill>
            <a:schemeClr val="bg1"/>
          </a:solidFill>
          <a:ln w="28575">
            <a:solidFill>
              <a:srgbClr val="00B0F0"/>
            </a:solidFill>
          </a:ln>
        </p:spPr>
        <p:txBody>
          <a:bodyPr wrap="square">
            <a:spAutoFit/>
          </a:bodyPr>
          <a:lstStyle/>
          <a:p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[0.631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0.679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0.592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0.65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214489A3-B97F-4857-94C9-992DACAD2A0C}"/>
              </a:ext>
            </a:extLst>
          </p:cNvPr>
          <p:cNvSpPr/>
          <p:nvPr/>
        </p:nvSpPr>
        <p:spPr>
          <a:xfrm>
            <a:off x="1865746" y="3240628"/>
            <a:ext cx="911085" cy="35573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124CC52-E662-7DCB-F345-32678DD6EED8}"/>
              </a:ext>
            </a:extLst>
          </p:cNvPr>
          <p:cNvSpPr txBox="1"/>
          <p:nvPr/>
        </p:nvSpPr>
        <p:spPr>
          <a:xfrm>
            <a:off x="5726546" y="1366661"/>
            <a:ext cx="5838279" cy="486530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Attention Mechanism = </a:t>
            </a:r>
            <a:r>
              <a:rPr lang="ko-KR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맞춤형 문맥 가이드라인</a:t>
            </a:r>
            <a:endParaRPr lang="en-US" altLang="ko-KR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endParaRPr lang="en-US" altLang="ko-KR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마지막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벡터는 다음 레이어로 넘겨줄 "스페인어 문장의 엑기스 요약본“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원본 스페인어 단어 중 가장 중요했던 "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traeré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 [0.8, 0.9, 0.7, 0.9]의 값과 최종 결과물 [0.63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0.67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9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0.59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0.65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]를 비교해 보세요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64.6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%라는 큰 가중치를 받았기 때문에 전체적인 모양새(수치 경향성)가 "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traeré"를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쏙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빼닮아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있지만 완전히 똑같진 않죠? 두 번째로 가중치가 높았던 "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bolsa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 [0.5, 0.4, 0.6, 0.2]의 성분도 17.6%만큼 은은하게 섞여 들어갔기 때문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즉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최종 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수치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(Context vector)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는 단순히 "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traeré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 하나만을 뜻하는 게 아니라, "지금 영어로 '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bring'을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출력하려는 순간에, 스페인어 원문에서 가져오다('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traeré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')라는 행동 정보와 가방('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bolsa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')이라는 목적어 정보를 최적의 비율로 융합해 놓은 단 하나의 벡터“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Transformer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는 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＂군더더기(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Te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)는 싹 걸러내고, 핵심 맥락(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traeré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+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bolsa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)만 정확하게 버무려진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Context vector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＂를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디코더에게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전달하면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디코더는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영어 문장 "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will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bring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the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bag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you"를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완벽하게 완성해 나갈 수 있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음</a:t>
            </a:r>
            <a:endParaRPr lang="ko-KR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884D2CE-F01F-7E46-26AF-CA2CC9A83760}"/>
              </a:ext>
            </a:extLst>
          </p:cNvPr>
          <p:cNvSpPr txBox="1"/>
          <p:nvPr/>
        </p:nvSpPr>
        <p:spPr>
          <a:xfrm>
            <a:off x="3644511" y="1802420"/>
            <a:ext cx="1720540" cy="830997"/>
          </a:xfrm>
          <a:prstGeom prst="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[0.1, 0.2, 0.1, 0.3]</a:t>
            </a:r>
            <a:endParaRPr lang="en-US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[0.8, 0.9, 0.7, 0.9] </a:t>
            </a:r>
            <a:endParaRPr lang="en-US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[0.2, 0.1, 0.3, 0.1] </a:t>
            </a:r>
            <a:endParaRPr lang="en-US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[0.5, 0.4, 0.6, 0.2]</a:t>
            </a:r>
          </a:p>
        </p:txBody>
      </p:sp>
      <p:cxnSp>
        <p:nvCxnSpPr>
          <p:cNvPr id="30" name="연결선: 꺾임 29">
            <a:extLst>
              <a:ext uri="{FF2B5EF4-FFF2-40B4-BE49-F238E27FC236}">
                <a16:creationId xmlns:a16="http://schemas.microsoft.com/office/drawing/2014/main" id="{1D5AB4D7-9798-F976-3FD7-DE3A692E74B0}"/>
              </a:ext>
            </a:extLst>
          </p:cNvPr>
          <p:cNvCxnSpPr>
            <a:cxnSpLocks/>
            <a:stCxn id="24" idx="2"/>
            <a:endCxn id="9" idx="0"/>
          </p:cNvCxnSpPr>
          <p:nvPr/>
        </p:nvCxnSpPr>
        <p:spPr>
          <a:xfrm rot="5400000">
            <a:off x="2778235" y="4032715"/>
            <a:ext cx="3125845" cy="327248"/>
          </a:xfrm>
          <a:prstGeom prst="bentConnector3">
            <a:avLst>
              <a:gd name="adj1" fmla="val 50000"/>
            </a:avLst>
          </a:prstGeom>
          <a:ln w="28575">
            <a:solidFill>
              <a:srgbClr val="00B0F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C657DF47-A658-C852-3125-AC09F4F3C187}"/>
              </a:ext>
            </a:extLst>
          </p:cNvPr>
          <p:cNvSpPr txBox="1"/>
          <p:nvPr/>
        </p:nvSpPr>
        <p:spPr>
          <a:xfrm>
            <a:off x="2847878" y="4939305"/>
            <a:ext cx="272804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algn="l">
              <a:buNone/>
            </a:pP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[0.0919, 0.646 , 0.0857, 0.1761]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1610CD02-1A36-093E-930B-928933FA62D2}"/>
              </a:ext>
            </a:extLst>
          </p:cNvPr>
          <p:cNvSpPr txBox="1"/>
          <p:nvPr/>
        </p:nvSpPr>
        <p:spPr>
          <a:xfrm>
            <a:off x="1376178" y="4914487"/>
            <a:ext cx="168989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attention_weights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E438E7A-F9F1-38A2-E05E-C7B3A31E60C1}"/>
              </a:ext>
            </a:extLst>
          </p:cNvPr>
          <p:cNvSpPr txBox="1"/>
          <p:nvPr/>
        </p:nvSpPr>
        <p:spPr>
          <a:xfrm>
            <a:off x="6966408" y="826899"/>
            <a:ext cx="460028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algn="r">
              <a:buNone/>
            </a:pPr>
            <a:r>
              <a:rPr lang="ko-KR" altLang="ko-KR" sz="1800" b="1" i="0" dirty="0" err="1">
                <a:effectLst/>
                <a:latin typeface="Lora" pitchFamily="2" charset="0"/>
              </a:rPr>
              <a:t>Dot-product</a:t>
            </a:r>
            <a:r>
              <a:rPr lang="ko-KR" altLang="ko-KR" sz="1800" b="1" i="0" dirty="0">
                <a:effectLst/>
                <a:latin typeface="Lora" pitchFamily="2" charset="0"/>
              </a:rPr>
              <a:t> </a:t>
            </a:r>
            <a:r>
              <a:rPr lang="ko-KR" altLang="ko-KR" sz="1800" b="1" i="0" dirty="0" err="1">
                <a:effectLst/>
                <a:latin typeface="Lora" pitchFamily="2" charset="0"/>
              </a:rPr>
              <a:t>attention</a:t>
            </a:r>
            <a:endParaRPr lang="ko-KR" altLang="ko-KR" sz="1800" b="1" i="0" dirty="0">
              <a:effectLst/>
              <a:latin typeface="Lora" pitchFamily="2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F8D586B-E5DC-F053-E5A6-159ABD6EE8B3}"/>
              </a:ext>
            </a:extLst>
          </p:cNvPr>
          <p:cNvSpPr txBox="1"/>
          <p:nvPr/>
        </p:nvSpPr>
        <p:spPr>
          <a:xfrm>
            <a:off x="3290864" y="4133515"/>
            <a:ext cx="2247549" cy="338554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Attention Mechanism</a:t>
            </a:r>
            <a:endParaRPr lang="ko-KR" altLang="en-US" sz="1600" dirty="0"/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36EE169F-085C-5A95-690A-402E498FEFFA}"/>
              </a:ext>
            </a:extLst>
          </p:cNvPr>
          <p:cNvSpPr txBox="1">
            <a:spLocks/>
          </p:cNvSpPr>
          <p:nvPr/>
        </p:nvSpPr>
        <p:spPr>
          <a:xfrm>
            <a:off x="1112361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D2Coding" panose="020B0609020101020101" pitchFamily="49" charset="-127"/>
                <a:ea typeface="D2Coding" panose="020B0609020101020101" pitchFamily="49" charset="-127"/>
              </a:rPr>
              <a:pPr/>
              <a:t>27</a:t>
            </a:fld>
            <a:endParaRPr lang="en-US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54B87CE-FB39-4C74-515A-7AD359F055E7}"/>
              </a:ext>
            </a:extLst>
          </p:cNvPr>
          <p:cNvSpPr txBox="1"/>
          <p:nvPr/>
        </p:nvSpPr>
        <p:spPr>
          <a:xfrm>
            <a:off x="1376178" y="5734444"/>
            <a:ext cx="168989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context vector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8589045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85685C-E50D-BEBD-6B3A-46B2BAFB75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61DF0EEA-41CE-B640-7302-8DB617759E2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The Transformer architecture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97ED1426-C41E-BD79-2679-DC470AF3B2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266" y="2927906"/>
            <a:ext cx="3804659" cy="3468955"/>
          </a:xfrm>
          <a:prstGeom prst="rect">
            <a:avLst/>
          </a:prstGeom>
        </p:spPr>
      </p:pic>
      <p:sp>
        <p:nvSpPr>
          <p:cNvPr id="10" name="직사각형 9">
            <a:extLst>
              <a:ext uri="{FF2B5EF4-FFF2-40B4-BE49-F238E27FC236}">
                <a16:creationId xmlns:a16="http://schemas.microsoft.com/office/drawing/2014/main" id="{6A80E212-B6B2-A504-6A2E-DCC6C015C9DF}"/>
              </a:ext>
            </a:extLst>
          </p:cNvPr>
          <p:cNvSpPr/>
          <p:nvPr/>
        </p:nvSpPr>
        <p:spPr>
          <a:xfrm>
            <a:off x="2447926" y="3078077"/>
            <a:ext cx="655782" cy="2497875"/>
          </a:xfrm>
          <a:prstGeom prst="rect">
            <a:avLst/>
          </a:prstGeom>
          <a:noFill/>
          <a:ln w="2857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2" name="연결선: 꺾임 11">
            <a:extLst>
              <a:ext uri="{FF2B5EF4-FFF2-40B4-BE49-F238E27FC236}">
                <a16:creationId xmlns:a16="http://schemas.microsoft.com/office/drawing/2014/main" id="{8D427B87-73DB-9D7A-1E52-8D70E976C23F}"/>
              </a:ext>
            </a:extLst>
          </p:cNvPr>
          <p:cNvCxnSpPr>
            <a:cxnSpLocks/>
            <a:stCxn id="10" idx="3"/>
            <a:endCxn id="17" idx="2"/>
          </p:cNvCxnSpPr>
          <p:nvPr/>
        </p:nvCxnSpPr>
        <p:spPr>
          <a:xfrm flipV="1">
            <a:off x="3103708" y="3641566"/>
            <a:ext cx="4621551" cy="685449"/>
          </a:xfrm>
          <a:prstGeom prst="bentConnector2">
            <a:avLst/>
          </a:prstGeom>
          <a:ln w="28575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81F85ECF-26E2-67D4-E12D-AF19B5C9B784}"/>
              </a:ext>
            </a:extLst>
          </p:cNvPr>
          <p:cNvSpPr txBox="1"/>
          <p:nvPr/>
        </p:nvSpPr>
        <p:spPr>
          <a:xfrm>
            <a:off x="6020191" y="2950945"/>
            <a:ext cx="312780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attention_weights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(scores)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303CE3E-8C4C-1C43-E24E-7DA8A2D1DDEA}"/>
              </a:ext>
            </a:extLst>
          </p:cNvPr>
          <p:cNvSpPr txBox="1"/>
          <p:nvPr/>
        </p:nvSpPr>
        <p:spPr>
          <a:xfrm>
            <a:off x="6020191" y="3303012"/>
            <a:ext cx="341013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algn="l">
              <a:buNone/>
            </a:pP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[0.0919, 0.646 , 0.0857, 0.1761]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A43EC94-DFD6-D05A-390B-A1F187DA8BE7}"/>
              </a:ext>
            </a:extLst>
          </p:cNvPr>
          <p:cNvSpPr txBox="1"/>
          <p:nvPr/>
        </p:nvSpPr>
        <p:spPr>
          <a:xfrm>
            <a:off x="6966408" y="826899"/>
            <a:ext cx="460028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algn="r">
              <a:buNone/>
            </a:pPr>
            <a:r>
              <a:rPr lang="ko-KR" altLang="ko-KR" sz="1800" b="1" i="0" dirty="0" err="1">
                <a:effectLst/>
                <a:latin typeface="Lora" pitchFamily="2" charset="0"/>
              </a:rPr>
              <a:t>Dot-product</a:t>
            </a:r>
            <a:r>
              <a:rPr lang="ko-KR" altLang="ko-KR" sz="1800" b="1" i="0" dirty="0">
                <a:effectLst/>
                <a:latin typeface="Lora" pitchFamily="2" charset="0"/>
              </a:rPr>
              <a:t> </a:t>
            </a:r>
            <a:r>
              <a:rPr lang="ko-KR" altLang="ko-KR" sz="1800" b="1" i="0" dirty="0" err="1">
                <a:effectLst/>
                <a:latin typeface="Lora" pitchFamily="2" charset="0"/>
              </a:rPr>
              <a:t>attention</a:t>
            </a:r>
            <a:endParaRPr lang="ko-KR" altLang="ko-KR" sz="1800" b="1" i="0" dirty="0">
              <a:effectLst/>
              <a:latin typeface="Lora" pitchFamily="2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25B9962-25D9-08B9-5AFA-8203049ECF24}"/>
              </a:ext>
            </a:extLst>
          </p:cNvPr>
          <p:cNvSpPr txBox="1"/>
          <p:nvPr/>
        </p:nvSpPr>
        <p:spPr>
          <a:xfrm>
            <a:off x="558799" y="1251977"/>
            <a:ext cx="11007889" cy="1162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트랜스포머 인코더는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RNN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처럼 입력된 문장의 모든 단어 벡터들을 중간에 하나로 뭉치지 않고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입력 문장이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30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100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 단어로 구성되어도 각각 독립된 형태로 메모리에 전부 유지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(ChatGPT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나 다른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AI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모델을 쓸 때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＂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한 번에 입력할 수 있는 글자 수 제한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_Context Window)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A779E95-7CCB-95C4-4EB2-22418D933952}"/>
              </a:ext>
            </a:extLst>
          </p:cNvPr>
          <p:cNvSpPr txBox="1"/>
          <p:nvPr/>
        </p:nvSpPr>
        <p:spPr>
          <a:xfrm>
            <a:off x="5753100" y="4679082"/>
            <a:ext cx="5868785" cy="1725985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RNN은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아무리 긴 문장이 와도 단 하나의 고정된 가방(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Context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Vector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에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모든 걸 억지로 밀어 넣어야 해서 긴 문장을 읽을 때 앞부분을 까먹는 한계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Transformer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는 문장의 모든 단어 벡터를 메모리에 그대로 펼쳐 놓은 뒤,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Query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Key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Value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검색 시스템(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어텐션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)을 통해 매 순간 필요한 단어의 정보로 직접 링크를 연결하여 이 한계를 완벽하게 극복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30BEA13F-33AC-2946-E451-2887353AFCDA}"/>
              </a:ext>
            </a:extLst>
          </p:cNvPr>
          <p:cNvSpPr txBox="1">
            <a:spLocks/>
          </p:cNvSpPr>
          <p:nvPr/>
        </p:nvSpPr>
        <p:spPr>
          <a:xfrm>
            <a:off x="1112361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D2Coding" panose="020B0609020101020101" pitchFamily="49" charset="-127"/>
                <a:ea typeface="D2Coding" panose="020B0609020101020101" pitchFamily="49" charset="-127"/>
              </a:rPr>
              <a:pPr/>
              <a:t>28</a:t>
            </a:fld>
            <a:endParaRPr lang="en-US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64675447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D5BA04-637B-645C-99DF-7D88A1253A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CF5DFFC-9095-DCA0-C08C-70FAA0EC750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The Transformer architecture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6742539-1047-AADF-A318-E21EC294A720}"/>
              </a:ext>
            </a:extLst>
          </p:cNvPr>
          <p:cNvSpPr txBox="1"/>
          <p:nvPr/>
        </p:nvSpPr>
        <p:spPr>
          <a:xfrm>
            <a:off x="600074" y="1383864"/>
            <a:ext cx="8686801" cy="1246495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target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Query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역할 /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Key와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Value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역할을 동시에 함 (재탕)</a:t>
            </a:r>
          </a:p>
          <a:p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raw_scores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np.array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([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score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target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for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sources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]) # 여기서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(기준)</a:t>
            </a:r>
          </a:p>
          <a:p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attention_weights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softmax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raw_scores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# 최종 합산</a:t>
            </a:r>
          </a:p>
          <a:p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combined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np.sum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attention_weights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[:,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np.newaxis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] *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sources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axis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=0) # 여기서 또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sources</a:t>
            </a:r>
            <a:endParaRPr lang="ko-KR" altLang="en-US" sz="15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7B95FD4-7953-6D6C-949B-752175600DF8}"/>
              </a:ext>
            </a:extLst>
          </p:cNvPr>
          <p:cNvSpPr txBox="1"/>
          <p:nvPr/>
        </p:nvSpPr>
        <p:spPr>
          <a:xfrm>
            <a:off x="600074" y="3400425"/>
            <a:ext cx="7981952" cy="2631490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. 먼저 가중치 행렬(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)을 곱해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sources를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keys와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values로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완전히 분리해 둡니다.</a:t>
            </a:r>
          </a:p>
          <a:p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query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np.dot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target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, W_Q)</a:t>
            </a:r>
          </a:p>
          <a:p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keys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np.dot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sources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, W_K)    # 점수 매기기 전용 (기존의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score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함수 안의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대체)</a:t>
            </a:r>
          </a:p>
          <a:p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values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np.dot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sources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, W_V)  # 실제 알맹이 전용 (기존의 최종 합산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sources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대체)</a:t>
            </a:r>
          </a:p>
          <a:p>
            <a:endParaRPr lang="ko-KR" altLang="en-US" sz="15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. 점수 계산 (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Query와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Key를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비교)</a:t>
            </a:r>
          </a:p>
          <a:p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raw_scores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np.array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([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score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query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, k)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for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k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keys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]) </a:t>
            </a:r>
          </a:p>
          <a:p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attention_weights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softmax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raw_scores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endParaRPr lang="ko-KR" altLang="en-US" sz="15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. 최종 합산 (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Value를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곱함)</a:t>
            </a:r>
          </a:p>
          <a:p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combined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np.sum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attention_weights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[:,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np.newaxis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] *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values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axis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=0)</a:t>
            </a:r>
          </a:p>
        </p:txBody>
      </p:sp>
      <p:sp>
        <p:nvSpPr>
          <p:cNvPr id="11" name="설명선: 선(강조선) 10">
            <a:extLst>
              <a:ext uri="{FF2B5EF4-FFF2-40B4-BE49-F238E27FC236}">
                <a16:creationId xmlns:a16="http://schemas.microsoft.com/office/drawing/2014/main" id="{074597CC-5B92-16E9-A4E0-1E54945799A1}"/>
              </a:ext>
            </a:extLst>
          </p:cNvPr>
          <p:cNvSpPr/>
          <p:nvPr/>
        </p:nvSpPr>
        <p:spPr>
          <a:xfrm>
            <a:off x="8975982" y="3133725"/>
            <a:ext cx="2892167" cy="2819400"/>
          </a:xfrm>
          <a:prstGeom prst="accentCallout1">
            <a:avLst>
              <a:gd name="adj1" fmla="val 18750"/>
              <a:gd name="adj2" fmla="val -8333"/>
              <a:gd name="adj3" fmla="val 22237"/>
              <a:gd name="adj4" fmla="val -13251"/>
            </a:avLst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Wingdings" panose="05000000000000000000" pitchFamily="2" charset="2"/>
              <a:buChar char="§"/>
            </a:pPr>
            <a:r>
              <a:rPr lang="en-US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_Q</a:t>
            </a:r>
            <a:r>
              <a: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와 </a:t>
            </a:r>
            <a:r>
              <a:rPr lang="en-US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W_K</a:t>
            </a:r>
            <a:r>
              <a: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라는 학습 가능한 파라미터</a:t>
            </a:r>
            <a:r>
              <a:rPr lang="en-US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행렬</a:t>
            </a:r>
            <a:r>
              <a:rPr lang="en-US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를 가정하고 행렬 </a:t>
            </a:r>
            <a:r>
              <a:rPr lang="en-US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W</a:t>
            </a:r>
            <a:r>
              <a: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의 숫자가 </a:t>
            </a:r>
            <a:r>
              <a:rPr lang="ko-KR" altLang="en-US" sz="1200" dirty="0" err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무엇이냐에</a:t>
            </a:r>
            <a:r>
              <a: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따라 이 </a:t>
            </a:r>
            <a:r>
              <a:rPr lang="ko-KR" altLang="en-US" sz="1200" dirty="0" err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어텐션</a:t>
            </a:r>
            <a:r>
              <a: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모델은 데이터를 늘릴 수도</a:t>
            </a:r>
            <a:r>
              <a:rPr lang="en-US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회전시킬 수도</a:t>
            </a:r>
            <a:r>
              <a:rPr lang="en-US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특정 차원을 찌그러뜨릴 수도 </a:t>
            </a:r>
            <a:r>
              <a:rPr lang="en-US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data</a:t>
            </a:r>
            <a:r>
              <a: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representation</a:t>
            </a:r>
            <a:r>
              <a: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이 가능하게 되어</a:t>
            </a:r>
            <a:endParaRPr lang="en-US" altLang="ko-KR" sz="1200" dirty="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71450" indent="-171450">
              <a:buFont typeface="Wingdings" panose="05000000000000000000" pitchFamily="2" charset="2"/>
              <a:buChar char="§"/>
            </a:pPr>
            <a:r>
              <a: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즉</a:t>
            </a:r>
            <a:r>
              <a:rPr lang="en-US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모델이 학습을 통해 표현할 수 있는 관계성의 가짓수</a:t>
            </a:r>
            <a:r>
              <a:rPr lang="en-US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함수의 후보들</a:t>
            </a:r>
            <a:r>
              <a:rPr lang="en-US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가 수억</a:t>
            </a:r>
            <a:r>
              <a:rPr lang="en-US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수조 개로 늘어난 것입니다</a:t>
            </a:r>
            <a:r>
              <a:rPr lang="en-US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. </a:t>
            </a:r>
            <a:r>
              <a: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이것은 </a:t>
            </a:r>
            <a:r>
              <a:rPr lang="en-US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가설 공간을 훨씬 더 풍부하게 만들어 줌</a:t>
            </a:r>
          </a:p>
        </p:txBody>
      </p:sp>
      <p:sp>
        <p:nvSpPr>
          <p:cNvPr id="12" name="설명선: 선(강조선) 11">
            <a:extLst>
              <a:ext uri="{FF2B5EF4-FFF2-40B4-BE49-F238E27FC236}">
                <a16:creationId xmlns:a16="http://schemas.microsoft.com/office/drawing/2014/main" id="{57B4367C-8247-34B9-0338-40B441E54151}"/>
              </a:ext>
            </a:extLst>
          </p:cNvPr>
          <p:cNvSpPr/>
          <p:nvPr/>
        </p:nvSpPr>
        <p:spPr>
          <a:xfrm>
            <a:off x="9680832" y="1383864"/>
            <a:ext cx="2082544" cy="1246495"/>
          </a:xfrm>
          <a:prstGeom prst="accentCallout1">
            <a:avLst>
              <a:gd name="adj1" fmla="val 18750"/>
              <a:gd name="adj2" fmla="val -8333"/>
              <a:gd name="adj3" fmla="val 24529"/>
              <a:gd name="adj4" fmla="val -19654"/>
            </a:avLst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Wingdings" panose="05000000000000000000" pitchFamily="2" charset="2"/>
              <a:buChar char="§"/>
            </a:pPr>
            <a:r>
              <a: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고정된 </a:t>
            </a:r>
            <a:r>
              <a:rPr lang="ko-KR" altLang="en-US" sz="1200" dirty="0" err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임베딩이</a:t>
            </a:r>
            <a:r>
              <a: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약점</a:t>
            </a:r>
            <a:r>
              <a:rPr lang="en-US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apple</a:t>
            </a:r>
            <a:r>
              <a: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이 </a:t>
            </a:r>
            <a:r>
              <a:rPr lang="en-US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target</a:t>
            </a:r>
            <a:r>
              <a: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인 경우에도 </a:t>
            </a:r>
            <a:r>
              <a:rPr lang="en-US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sources</a:t>
            </a:r>
            <a:r>
              <a: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에 </a:t>
            </a:r>
            <a:r>
              <a:rPr lang="ko-KR" altLang="en-US" sz="1200" dirty="0" err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맥킨토시나</a:t>
            </a:r>
            <a:r>
              <a:rPr lang="en-US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아이폰 등과 같은 단어와 연관성을 찾기 </a:t>
            </a:r>
            <a:r>
              <a:rPr lang="ko-KR" altLang="en-US" sz="1200" dirty="0" err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힘등</a:t>
            </a:r>
            <a:endParaRPr lang="ko-KR" altLang="en-US" sz="1200" dirty="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3" name="화살표: 아래쪽 12">
            <a:extLst>
              <a:ext uri="{FF2B5EF4-FFF2-40B4-BE49-F238E27FC236}">
                <a16:creationId xmlns:a16="http://schemas.microsoft.com/office/drawing/2014/main" id="{D2CE9684-F397-CE45-DA5F-7FA117778FB7}"/>
              </a:ext>
            </a:extLst>
          </p:cNvPr>
          <p:cNvSpPr/>
          <p:nvPr/>
        </p:nvSpPr>
        <p:spPr>
          <a:xfrm>
            <a:off x="3495676" y="2765801"/>
            <a:ext cx="571499" cy="491749"/>
          </a:xfrm>
          <a:prstGeom prst="downArrow">
            <a:avLst>
              <a:gd name="adj1" fmla="val 52391"/>
              <a:gd name="adj2" fmla="val 5000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C62F35F-BD2E-6AA4-45A9-9B80F01E966B}"/>
              </a:ext>
            </a:extLst>
          </p:cNvPr>
          <p:cNvSpPr txBox="1"/>
          <p:nvPr/>
        </p:nvSpPr>
        <p:spPr>
          <a:xfrm>
            <a:off x="6966408" y="826899"/>
            <a:ext cx="460028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algn="r">
              <a:buNone/>
            </a:pPr>
            <a:r>
              <a:rPr lang="ko-KR" altLang="ko-KR" sz="1800" b="1" i="0" dirty="0" err="1">
                <a:effectLst/>
                <a:latin typeface="Lora" pitchFamily="2" charset="0"/>
              </a:rPr>
              <a:t>Dot-product</a:t>
            </a:r>
            <a:r>
              <a:rPr lang="ko-KR" altLang="ko-KR" sz="1800" b="1" i="0" dirty="0">
                <a:effectLst/>
                <a:latin typeface="Lora" pitchFamily="2" charset="0"/>
              </a:rPr>
              <a:t> </a:t>
            </a:r>
            <a:r>
              <a:rPr lang="ko-KR" altLang="ko-KR" sz="1800" b="1" i="0" dirty="0" err="1">
                <a:effectLst/>
                <a:latin typeface="Lora" pitchFamily="2" charset="0"/>
              </a:rPr>
              <a:t>attention</a:t>
            </a:r>
            <a:endParaRPr lang="ko-KR" altLang="ko-KR" sz="1800" b="1" i="0" dirty="0">
              <a:effectLst/>
              <a:latin typeface="Lora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4400880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652095-7E9D-6124-A4C4-1764B4C589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8FF8E2D-0FF1-DD0A-8E12-C59DC9C6B6F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The Transformer architecture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EF5622AD-2E95-BAA7-E12F-D392FDB0F5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8525" y="2617391"/>
            <a:ext cx="7026249" cy="230143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1221C5F-4532-D2D4-37C6-6814A7AF334D}"/>
              </a:ext>
            </a:extLst>
          </p:cNvPr>
          <p:cNvSpPr txBox="1"/>
          <p:nvPr/>
        </p:nvSpPr>
        <p:spPr>
          <a:xfrm>
            <a:off x="6966408" y="826899"/>
            <a:ext cx="460028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algn="r">
              <a:buNone/>
            </a:pPr>
            <a:r>
              <a:rPr lang="ko-KR" altLang="ko-KR" sz="1800" b="1" i="0" dirty="0" err="1">
                <a:effectLst/>
                <a:latin typeface="Lora" pitchFamily="2" charset="0"/>
              </a:rPr>
              <a:t>Dot-product</a:t>
            </a:r>
            <a:r>
              <a:rPr lang="ko-KR" altLang="ko-KR" sz="1800" b="1" i="0" dirty="0">
                <a:effectLst/>
                <a:latin typeface="Lora" pitchFamily="2" charset="0"/>
              </a:rPr>
              <a:t> </a:t>
            </a:r>
            <a:r>
              <a:rPr lang="ko-KR" altLang="ko-KR" sz="1800" b="1" i="0" dirty="0" err="1">
                <a:effectLst/>
                <a:latin typeface="Lora" pitchFamily="2" charset="0"/>
              </a:rPr>
              <a:t>attention</a:t>
            </a:r>
            <a:endParaRPr lang="ko-KR" altLang="ko-KR" sz="1800" b="1" i="0" dirty="0">
              <a:effectLst/>
              <a:latin typeface="Lora" pitchFamily="2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7E46BD3-B69B-B7AC-E23D-0DC0C491EF87}"/>
                  </a:ext>
                </a:extLst>
              </p:cNvPr>
              <p:cNvSpPr txBox="1"/>
              <p:nvPr/>
            </p:nvSpPr>
            <p:spPr>
              <a:xfrm>
                <a:off x="542924" y="1286727"/>
                <a:ext cx="11134725" cy="87998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입력되는 벡터의 차원을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i="1" smtClean="0">
                            <a:latin typeface="Cambria Math" panose="02040503050406030204" pitchFamily="18" charset="0"/>
                            <a:ea typeface="D2Coding" panose="020B0609020101020101" pitchFamily="49" charset="-127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  <a:ea typeface="D2Coding" panose="020B0609020101020101" pitchFamily="49" charset="-127"/>
                          </a:rPr>
                          <m:t>𝑑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  <a:ea typeface="D2Coding" panose="020B0609020101020101" pitchFamily="49" charset="-127"/>
                          </a:rPr>
                          <m:t>𝑚𝑜𝑑𝑒𝑙</m:t>
                        </m:r>
                      </m:sub>
                    </m:sSub>
                  </m:oMath>
                </a14:m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이라 하고, 우리가 투영(</a:t>
                </a:r>
                <a:r>
                  <a:rPr lang="ko-KR" altLang="en-US" dirty="0" err="1">
                    <a:latin typeface="D2Coding" panose="020B0609020101020101" pitchFamily="49" charset="-127"/>
                    <a:ea typeface="D2Coding" panose="020B0609020101020101" pitchFamily="49" charset="-127"/>
                  </a:rPr>
                  <a:t>Projection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)시켜서 보낼 새로운 공간의 차원을 각각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i="1">
                            <a:latin typeface="Cambria Math" panose="02040503050406030204" pitchFamily="18" charset="0"/>
                            <a:ea typeface="D2Coding" panose="020B0609020101020101" pitchFamily="49" charset="-127"/>
                          </a:rPr>
                        </m:ctrlPr>
                      </m:sSubPr>
                      <m:e>
                        <m:r>
                          <a:rPr lang="en-US" altLang="ko-KR" i="1">
                            <a:latin typeface="Cambria Math" panose="02040503050406030204" pitchFamily="18" charset="0"/>
                            <a:ea typeface="D2Coding" panose="020B0609020101020101" pitchFamily="49" charset="-127"/>
                          </a:rPr>
                          <m:t>𝑑</m:t>
                        </m:r>
                      </m:e>
                      <m:sub>
                        <m:r>
                          <a:rPr lang="en-US" altLang="ko-KR" b="1" i="1" smtClean="0">
                            <a:latin typeface="Cambria Math" panose="02040503050406030204" pitchFamily="18" charset="0"/>
                            <a:ea typeface="D2Coding" panose="020B0609020101020101" pitchFamily="49" charset="-127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(</a:t>
                </a:r>
                <a:r>
                  <a:rPr lang="ko-KR" altLang="en-US" dirty="0" err="1">
                    <a:latin typeface="D2Coding" panose="020B0609020101020101" pitchFamily="49" charset="-127"/>
                    <a:ea typeface="D2Coding" panose="020B0609020101020101" pitchFamily="49" charset="-127"/>
                  </a:rPr>
                  <a:t>Query와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</a:t>
                </a:r>
                <a:r>
                  <a:rPr lang="ko-KR" altLang="en-US" dirty="0" err="1">
                    <a:latin typeface="D2Coding" panose="020B0609020101020101" pitchFamily="49" charset="-127"/>
                    <a:ea typeface="D2Coding" panose="020B0609020101020101" pitchFamily="49" charset="-127"/>
                  </a:rPr>
                  <a:t>Key의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차원),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i="1">
                            <a:latin typeface="Cambria Math" panose="02040503050406030204" pitchFamily="18" charset="0"/>
                            <a:ea typeface="D2Coding" panose="020B0609020101020101" pitchFamily="49" charset="-127"/>
                          </a:rPr>
                        </m:ctrlPr>
                      </m:sSubPr>
                      <m:e>
                        <m:r>
                          <a:rPr lang="en-US" altLang="ko-KR" i="1">
                            <a:latin typeface="Cambria Math" panose="02040503050406030204" pitchFamily="18" charset="0"/>
                            <a:ea typeface="D2Coding" panose="020B0609020101020101" pitchFamily="49" charset="-127"/>
                          </a:rPr>
                          <m:t>𝑑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  <a:ea typeface="D2Coding" panose="020B0609020101020101" pitchFamily="49" charset="-127"/>
                          </a:rPr>
                          <m:t>𝑣</m:t>
                        </m:r>
                      </m:sub>
                    </m:sSub>
                  </m:oMath>
                </a14:m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(</a:t>
                </a:r>
                <a:r>
                  <a:rPr lang="ko-KR" altLang="en-US" dirty="0" err="1">
                    <a:latin typeface="D2Coding" panose="020B0609020101020101" pitchFamily="49" charset="-127"/>
                    <a:ea typeface="D2Coding" panose="020B0609020101020101" pitchFamily="49" charset="-127"/>
                  </a:rPr>
                  <a:t>Value의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차원)라고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하면 각 가중치 행렬의 </a:t>
                </a:r>
                <a:r>
                  <a:rPr lang="ko-KR" altLang="en-US" dirty="0" err="1">
                    <a:latin typeface="D2Coding" panose="020B0609020101020101" pitchFamily="49" charset="-127"/>
                    <a:ea typeface="D2Coding" panose="020B0609020101020101" pitchFamily="49" charset="-127"/>
                  </a:rPr>
                  <a:t>Shape은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다음과 같음</a:t>
                </a: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7E46BD3-B69B-B7AC-E23D-0DC0C491EF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2924" y="1286727"/>
                <a:ext cx="11134725" cy="879984"/>
              </a:xfrm>
              <a:prstGeom prst="rect">
                <a:avLst/>
              </a:prstGeom>
              <a:blipFill>
                <a:blip r:embed="rId3"/>
                <a:stretch>
                  <a:fillRect l="-438" b="-1041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extBox 9">
            <a:extLst>
              <a:ext uri="{FF2B5EF4-FFF2-40B4-BE49-F238E27FC236}">
                <a16:creationId xmlns:a16="http://schemas.microsoft.com/office/drawing/2014/main" id="{2D269311-680F-7BF2-13EB-6EA2F59016CE}"/>
              </a:ext>
            </a:extLst>
          </p:cNvPr>
          <p:cNvSpPr txBox="1"/>
          <p:nvPr/>
        </p:nvSpPr>
        <p:spPr>
          <a:xfrm>
            <a:off x="2028825" y="5190295"/>
            <a:ext cx="2028825" cy="1162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Deep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Learning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이 학습하여 최적의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parameters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찾기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!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B5C6986B-91DE-E5D6-2EDB-1EB0ED3A9810}"/>
              </a:ext>
            </a:extLst>
          </p:cNvPr>
          <p:cNvSpPr/>
          <p:nvPr/>
        </p:nvSpPr>
        <p:spPr>
          <a:xfrm>
            <a:off x="1933574" y="3019425"/>
            <a:ext cx="2124076" cy="2038350"/>
          </a:xfrm>
          <a:prstGeom prst="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419568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1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2D0BDF-C167-0276-F333-6493FB0C38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76B9E82E-2365-75E6-DB9F-2A53B94107C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The Transformer architecture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D777C00-5634-18D8-500C-B1B4670E4BA8}"/>
                  </a:ext>
                </a:extLst>
              </p:cNvPr>
              <p:cNvSpPr txBox="1"/>
              <p:nvPr/>
            </p:nvSpPr>
            <p:spPr>
              <a:xfrm>
                <a:off x="625311" y="1196231"/>
                <a:ext cx="10810875" cy="27177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  <a:buFont typeface="+mj-lt"/>
                  <a:buAutoNum type="arabicPeriod"/>
                </a:pPr>
                <a:r>
                  <a:rPr lang="ko-KR" altLang="en-US" sz="1600" b="1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스케일링</a:t>
                </a:r>
                <a:r>
                  <a:rPr lang="en-US" altLang="ko-KR" sz="1600" b="1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(</a:t>
                </a:r>
                <a14:m>
                  <m:oMath xmlns:m="http://schemas.openxmlformats.org/officeDocument/2006/math">
                    <m:rad>
                      <m:radPr>
                        <m:degHide m:val="on"/>
                        <m:ctrlPr>
                          <a:rPr lang="en-US" altLang="ko-KR" sz="1600" b="1" i="1" dirty="0" smtClean="0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sSub>
                          <m:sSubPr>
                            <m:ctrlPr>
                              <a:rPr lang="en-US" altLang="ko-KR" sz="1600" b="1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600" b="1" i="1" dirty="0">
                                <a:latin typeface="Cambria Math" panose="02040503050406030204" pitchFamily="18" charset="0"/>
                              </a:rPr>
                              <m:t>𝑑</m:t>
                            </m:r>
                          </m:e>
                          <m:sub>
                            <m:r>
                              <a:rPr lang="en-US" altLang="ko-KR" sz="1600" b="1" i="1" dirty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rad>
                  </m:oMath>
                </a14:m>
                <a:r>
                  <a:rPr lang="ko-KR" altLang="en-US" sz="1600" b="1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로 나누기</a:t>
                </a:r>
                <a:r>
                  <a:rPr lang="en-US" altLang="ko-KR" sz="1600" b="1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):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</a:t>
                </a:r>
                <a:r>
                  <a:rPr lang="en-US" altLang="ko-KR" sz="1600" b="1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Scaled Dot-Product Attention</a:t>
                </a:r>
              </a:p>
              <a:p>
                <a:pPr lvl="1">
                  <a:lnSpc>
                    <a:spcPct val="150000"/>
                  </a:lnSpc>
                </a:pPr>
                <a:r>
                  <a:rPr lang="ko-KR" altLang="en-US" sz="1600" dirty="0" err="1">
                    <a:latin typeface="D2Coding" panose="020B0609020101020101" pitchFamily="49" charset="-127"/>
                    <a:ea typeface="D2Coding" panose="020B0609020101020101" pitchFamily="49" charset="-127"/>
                  </a:rPr>
                  <a:t>어텐션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점수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(Query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와 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Key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의 내적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) 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값이 너무 커지면 </a:t>
                </a:r>
                <a:r>
                  <a:rPr lang="ko-KR" altLang="en-US" sz="1600" dirty="0" err="1">
                    <a:latin typeface="D2Coding" panose="020B0609020101020101" pitchFamily="49" charset="-127"/>
                    <a:ea typeface="D2Coding" panose="020B0609020101020101" pitchFamily="49" charset="-127"/>
                  </a:rPr>
                  <a:t>소프트맥스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함수 특성상 </a:t>
                </a:r>
                <a:r>
                  <a:rPr lang="ko-KR" altLang="en-US" sz="1600" dirty="0" err="1">
                    <a:latin typeface="D2Coding" panose="020B0609020101020101" pitchFamily="49" charset="-127"/>
                    <a:ea typeface="D2Coding" panose="020B0609020101020101" pitchFamily="49" charset="-127"/>
                  </a:rPr>
                  <a:t>미분값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(gradient)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이 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0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에 가까워져 학습이 안 되는 문제를 방지하기 위해 차원 수의 제곱근으로 점수를 낮춰주는 것</a:t>
                </a:r>
                <a:endParaRPr lang="en-US" altLang="ko-KR" sz="1600" dirty="0">
                  <a:latin typeface="D2Coding" panose="020B0609020101020101" pitchFamily="49" charset="-127"/>
                  <a:ea typeface="D2Coding" panose="020B0609020101020101" pitchFamily="49" charset="-127"/>
                </a:endParaRPr>
              </a:p>
              <a:p>
                <a:pPr lvl="1">
                  <a:lnSpc>
                    <a:spcPct val="150000"/>
                  </a:lnSpc>
                </a:pPr>
                <a:endParaRPr lang="en-US" altLang="ko-KR" sz="1600" dirty="0">
                  <a:latin typeface="D2Coding" panose="020B0609020101020101" pitchFamily="49" charset="-127"/>
                  <a:ea typeface="D2Coding" panose="020B0609020101020101" pitchFamily="49" charset="-127"/>
                </a:endParaRPr>
              </a:p>
              <a:p>
                <a:pPr>
                  <a:lnSpc>
                    <a:spcPct val="150000"/>
                  </a:lnSpc>
                  <a:buFont typeface="+mj-lt"/>
                  <a:buAutoNum type="arabicPeriod"/>
                </a:pPr>
                <a:r>
                  <a:rPr lang="ko-KR" altLang="en-US" sz="1600" b="1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멀티 헤드 </a:t>
                </a:r>
                <a:r>
                  <a:rPr lang="ko-KR" altLang="en-US" sz="1600" b="1" dirty="0" err="1">
                    <a:latin typeface="D2Coding" panose="020B0609020101020101" pitchFamily="49" charset="-127"/>
                    <a:ea typeface="D2Coding" panose="020B0609020101020101" pitchFamily="49" charset="-127"/>
                  </a:rPr>
                  <a:t>어텐션</a:t>
                </a:r>
                <a:r>
                  <a:rPr lang="en-US" altLang="ko-KR" sz="1600" b="1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(Multi-Head Attention)</a:t>
                </a:r>
              </a:p>
              <a:p>
                <a:pPr lvl="1">
                  <a:lnSpc>
                    <a:spcPct val="150000"/>
                  </a:lnSpc>
                </a:pP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하나의 </a:t>
                </a:r>
                <a:r>
                  <a:rPr lang="ko-KR" altLang="en-US" sz="1600" dirty="0" err="1">
                    <a:latin typeface="D2Coding" panose="020B0609020101020101" pitchFamily="49" charset="-127"/>
                    <a:ea typeface="D2Coding" panose="020B0609020101020101" pitchFamily="49" charset="-127"/>
                  </a:rPr>
                  <a:t>어텐션만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쓰면 여러 중요한 정보가 한데 섞여 </a:t>
                </a:r>
                <a:r>
                  <a:rPr lang="ko-KR" altLang="en-US" sz="1600" dirty="0" err="1">
                    <a:latin typeface="D2Coding" panose="020B0609020101020101" pitchFamily="49" charset="-127"/>
                    <a:ea typeface="D2Coding" panose="020B0609020101020101" pitchFamily="49" charset="-127"/>
                  </a:rPr>
                  <a:t>뭉개지므로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, 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마치 여러 명의 전문가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(Heads)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가 각자 다른 관점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(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파라미터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)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으로 문장을 분석하게 한 뒤 의견을 종합하는 방식</a:t>
                </a:r>
                <a:endParaRPr lang="en-US" altLang="ko-KR" sz="1600" dirty="0">
                  <a:latin typeface="D2Coding" panose="020B0609020101020101" pitchFamily="49" charset="-127"/>
                  <a:ea typeface="D2Coding" panose="020B0609020101020101" pitchFamily="49" charset="-127"/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D777C00-5634-18D8-500C-B1B4670E4B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5311" y="1196231"/>
                <a:ext cx="10810875" cy="2717732"/>
              </a:xfrm>
              <a:prstGeom prst="rect">
                <a:avLst/>
              </a:prstGeom>
              <a:blipFill>
                <a:blip r:embed="rId2"/>
                <a:stretch>
                  <a:fillRect l="-282" b="-1794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>
            <a:extLst>
              <a:ext uri="{FF2B5EF4-FFF2-40B4-BE49-F238E27FC236}">
                <a16:creationId xmlns:a16="http://schemas.microsoft.com/office/drawing/2014/main" id="{11D58650-FA2D-BECC-ECD9-D072827B175D}"/>
              </a:ext>
            </a:extLst>
          </p:cNvPr>
          <p:cNvSpPr txBox="1"/>
          <p:nvPr/>
        </p:nvSpPr>
        <p:spPr>
          <a:xfrm>
            <a:off x="6966408" y="826899"/>
            <a:ext cx="460028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algn="r">
              <a:buNone/>
            </a:pPr>
            <a:r>
              <a:rPr lang="ko-KR" altLang="ko-KR" sz="1800" b="1" i="0" dirty="0" err="1">
                <a:effectLst/>
                <a:latin typeface="Lora" pitchFamily="2" charset="0"/>
              </a:rPr>
              <a:t>Dot-product</a:t>
            </a:r>
            <a:r>
              <a:rPr lang="ko-KR" altLang="ko-KR" sz="1800" b="1" i="0" dirty="0">
                <a:effectLst/>
                <a:latin typeface="Lora" pitchFamily="2" charset="0"/>
              </a:rPr>
              <a:t> </a:t>
            </a:r>
            <a:r>
              <a:rPr lang="ko-KR" altLang="ko-KR" sz="1800" b="1" i="0" dirty="0" err="1">
                <a:effectLst/>
                <a:latin typeface="Lora" pitchFamily="2" charset="0"/>
              </a:rPr>
              <a:t>attention</a:t>
            </a:r>
            <a:endParaRPr lang="ko-KR" altLang="ko-KR" sz="1800" b="1" i="0" dirty="0">
              <a:effectLst/>
              <a:latin typeface="Lora" pitchFamily="2" charset="0"/>
            </a:endParaRP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F9B4EB5B-3787-FEE7-CA61-683BB93586B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49010" y="4014236"/>
            <a:ext cx="5446492" cy="23871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설명선: 선(강조선) 7">
            <a:extLst>
              <a:ext uri="{FF2B5EF4-FFF2-40B4-BE49-F238E27FC236}">
                <a16:creationId xmlns:a16="http://schemas.microsoft.com/office/drawing/2014/main" id="{692EB135-7323-7885-16BE-43CE88CE441D}"/>
              </a:ext>
            </a:extLst>
          </p:cNvPr>
          <p:cNvSpPr/>
          <p:nvPr/>
        </p:nvSpPr>
        <p:spPr>
          <a:xfrm>
            <a:off x="7282653" y="4120295"/>
            <a:ext cx="3309148" cy="2175032"/>
          </a:xfrm>
          <a:prstGeom prst="accentCallout1">
            <a:avLst>
              <a:gd name="adj1" fmla="val 18750"/>
              <a:gd name="adj2" fmla="val -8333"/>
              <a:gd name="adj3" fmla="val 44512"/>
              <a:gd name="adj4" fmla="val -81042"/>
            </a:avLst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Wingdings" panose="05000000000000000000" pitchFamily="2" charset="2"/>
              <a:buChar char="§"/>
            </a:pPr>
            <a:r>
              <a:rPr lang="en-US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Head 1 (</a:t>
            </a:r>
            <a:r>
              <a: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주어 전문가</a:t>
            </a:r>
            <a:r>
              <a:rPr lang="en-US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): "</a:t>
            </a:r>
            <a:r>
              <a: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나는 이 문장에서 </a:t>
            </a:r>
            <a:r>
              <a:rPr lang="en-US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누가</a:t>
            </a:r>
            <a:r>
              <a:rPr lang="en-US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주어</a:t>
            </a:r>
            <a:r>
              <a:rPr lang="en-US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)' </a:t>
            </a:r>
            <a:r>
              <a:rPr lang="ko-KR" altLang="en-US" sz="1200" dirty="0" err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행동했는지에만</a:t>
            </a:r>
            <a:r>
              <a: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집중해서 점수를 매기겠어</a:t>
            </a:r>
            <a:r>
              <a:rPr lang="en-US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."</a:t>
            </a:r>
          </a:p>
          <a:p>
            <a:pPr marL="171450" indent="-171450">
              <a:buFont typeface="Wingdings" panose="05000000000000000000" pitchFamily="2" charset="2"/>
              <a:buChar char="§"/>
            </a:pPr>
            <a:endParaRPr lang="en-US" altLang="ko-KR" sz="1200" dirty="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71450" indent="-171450">
              <a:buFont typeface="Wingdings" panose="05000000000000000000" pitchFamily="2" charset="2"/>
              <a:buChar char="§"/>
            </a:pPr>
            <a:r>
              <a:rPr lang="en-US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Head 2 (</a:t>
            </a:r>
            <a:r>
              <a: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문장 부호 전문가</a:t>
            </a:r>
            <a:r>
              <a:rPr lang="en-US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): "</a:t>
            </a:r>
            <a:r>
              <a: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나는 문장의 흐름이 어디서 끊기는지 </a:t>
            </a:r>
            <a:r>
              <a:rPr lang="en-US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마침표나 쉼표</a:t>
            </a:r>
            <a:r>
              <a:rPr lang="en-US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의 관계만 보겠어</a:t>
            </a:r>
            <a:r>
              <a:rPr lang="en-US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."</a:t>
            </a:r>
          </a:p>
          <a:p>
            <a:pPr marL="171450" indent="-171450">
              <a:buFont typeface="Wingdings" panose="05000000000000000000" pitchFamily="2" charset="2"/>
              <a:buChar char="§"/>
            </a:pPr>
            <a:endParaRPr lang="en-US" altLang="ko-KR" sz="1200" dirty="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71450" indent="-171450">
              <a:buFont typeface="Wingdings" panose="05000000000000000000" pitchFamily="2" charset="2"/>
              <a:buChar char="§"/>
            </a:pPr>
            <a:r>
              <a:rPr lang="en-US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Head 3 (</a:t>
            </a:r>
            <a:r>
              <a: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동사 전문가</a:t>
            </a:r>
            <a:r>
              <a:rPr lang="en-US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): "</a:t>
            </a:r>
            <a:r>
              <a: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나는 </a:t>
            </a:r>
            <a:r>
              <a:rPr lang="en-US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행동</a:t>
            </a:r>
            <a:r>
              <a:rPr lang="en-US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동사</a:t>
            </a:r>
            <a:r>
              <a:rPr lang="en-US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)'</a:t>
            </a:r>
            <a:r>
              <a: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의 연관성만 </a:t>
            </a:r>
            <a:r>
              <a:rPr lang="ko-KR" altLang="en-US" sz="1200" dirty="0" err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추적하겠어</a:t>
            </a:r>
            <a:r>
              <a:rPr lang="en-US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."</a:t>
            </a:r>
            <a:endParaRPr lang="ko-KR" altLang="en-US" sz="1200" dirty="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49638397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D058E7-2E75-6BED-6DB1-CBC2C65127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77ACB4F-4DB5-2C50-48C1-492B76C920C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The Transformer architecture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B8AC6F2-B4C2-727B-91AE-BB7CB491850A}"/>
              </a:ext>
            </a:extLst>
          </p:cNvPr>
          <p:cNvSpPr txBox="1"/>
          <p:nvPr/>
        </p:nvSpPr>
        <p:spPr>
          <a:xfrm>
            <a:off x="6966408" y="826899"/>
            <a:ext cx="460028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b="1" dirty="0">
                <a:latin typeface="Lora" pitchFamily="2" charset="0"/>
              </a:rPr>
              <a:t>Transformer encoder block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1358746-50B3-AD72-1BE9-1601D4720F4B}"/>
              </a:ext>
            </a:extLst>
          </p:cNvPr>
          <p:cNvSpPr txBox="1"/>
          <p:nvPr/>
        </p:nvSpPr>
        <p:spPr>
          <a:xfrm>
            <a:off x="618171" y="1247854"/>
            <a:ext cx="10948518" cy="17118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과거 (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Cross-Attention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): 스페인어 원문(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Source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)과 영어 번역문(Target)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처럼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서로 다른 두 문장 사이에서 짝을 맞추는 용도로 사용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트랜스포머 (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Self-Attention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):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query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key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value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자리에 전부 동일한 하나의 문장을 입력하여 문장 스스로가 문장 내부의 다른 단어들과 연관성을 계산하는 방식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16C6FF8-C357-278E-5E1B-BE80BEA89434}"/>
              </a:ext>
            </a:extLst>
          </p:cNvPr>
          <p:cNvSpPr txBox="1"/>
          <p:nvPr/>
        </p:nvSpPr>
        <p:spPr>
          <a:xfrm>
            <a:off x="1243085" y="3343803"/>
            <a:ext cx="10323603" cy="255454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"The train left the 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station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on time."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이제 이 문장 속의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"station＂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은 어떤 종류의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station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대해 말하고 있는 걸까요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? </a:t>
            </a:r>
          </a:p>
          <a:p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-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라디오 방송국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(radio station)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일까요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?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-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국제우주정거장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(International Space Station)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일까요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? </a:t>
            </a:r>
          </a:p>
          <a:p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셀프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어텐션을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이용하면 모델은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"station"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"train"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 쌍에 높은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어텐션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점수를 부여하는 법을 배울 수 있으며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"train"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표현하는 데 사용된 벡터를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"station"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이라는 단어의 표현 속에 합산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(summing)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해 넣을 수 있음</a:t>
            </a:r>
          </a:p>
        </p:txBody>
      </p:sp>
    </p:spTree>
    <p:extLst>
      <p:ext uri="{BB962C8B-B14F-4D97-AF65-F5344CB8AC3E}">
        <p14:creationId xmlns:p14="http://schemas.microsoft.com/office/powerpoint/2010/main" val="16107297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F51AB6-C939-8353-8B90-093C02A595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200C2E9-B33E-45AB-6008-39876A11BBC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The Transformer architecture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0F50FCA0-74CA-59E9-49B2-523F3FBD13A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96008" y="1704975"/>
            <a:ext cx="5333630" cy="45339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17972858"/>
      </p:ext>
    </p:extLst>
  </p:cSld>
  <p:clrMapOvr>
    <a:masterClrMapping/>
  </p:clrMapOvr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0957323_TF10001108_Win32.potx" id="{89E2DA47-811B-41FC-8101-7BA0FB62AE2C}" vid="{0AAAB8A4-2457-4279-BA92-56392840B1F0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{9FD8D820-F221-4C2D-97F8-71B66FDCF583}TF2989475c-5427-4edb-9ec1-00f4ce72165be756b0ce_win32-2ff1dad8fff0</Template>
  <TotalTime>9056</TotalTime>
  <Words>4595</Words>
  <Application>Microsoft Office PowerPoint</Application>
  <PresentationFormat>와이드스크린</PresentationFormat>
  <Paragraphs>379</Paragraphs>
  <Slides>33</Slides>
  <Notes>4</Notes>
  <HiddenSlides>0</HiddenSlides>
  <MMClips>0</MMClips>
  <ScaleCrop>false</ScaleCrop>
  <HeadingPairs>
    <vt:vector size="6" baseType="variant">
      <vt:variant>
        <vt:lpstr>사용한 글꼴</vt:lpstr>
      </vt:variant>
      <vt:variant>
        <vt:i4>9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33</vt:i4>
      </vt:variant>
    </vt:vector>
  </HeadingPairs>
  <TitlesOfParts>
    <vt:vector size="43" baseType="lpstr">
      <vt:lpstr>D2Coding</vt:lpstr>
      <vt:lpstr>맑은 고딕</vt:lpstr>
      <vt:lpstr>Batang</vt:lpstr>
      <vt:lpstr>Arial</vt:lpstr>
      <vt:lpstr>Calibri Light</vt:lpstr>
      <vt:lpstr>Cambria Math</vt:lpstr>
      <vt:lpstr>Lora</vt:lpstr>
      <vt:lpstr>Times New Roman</vt:lpstr>
      <vt:lpstr>Wingdings</vt:lpstr>
      <vt:lpstr>WelcomeDoc</vt:lpstr>
      <vt:lpstr>Chapter 15  Language models and the Transformer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Sequence-to-sequence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Transformer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조상구</dc:creator>
  <cp:keywords/>
  <cp:lastModifiedBy>Sanggoo Cho</cp:lastModifiedBy>
  <cp:revision>147</cp:revision>
  <dcterms:created xsi:type="dcterms:W3CDTF">2026-04-06T01:00:39Z</dcterms:created>
  <dcterms:modified xsi:type="dcterms:W3CDTF">2026-09-26T22:23:13Z</dcterms:modified>
  <cp:version/>
</cp:coreProperties>
</file>