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256" r:id="rId2"/>
    <p:sldId id="1135" r:id="rId3"/>
    <p:sldId id="1136" r:id="rId4"/>
    <p:sldId id="1137" r:id="rId5"/>
    <p:sldId id="1138" r:id="rId6"/>
    <p:sldId id="1141" r:id="rId7"/>
    <p:sldId id="1139" r:id="rId8"/>
    <p:sldId id="1140" r:id="rId9"/>
    <p:sldId id="1152" r:id="rId10"/>
    <p:sldId id="1174" r:id="rId11"/>
    <p:sldId id="1142" r:id="rId12"/>
    <p:sldId id="1143" r:id="rId13"/>
    <p:sldId id="1144" r:id="rId14"/>
    <p:sldId id="1149" r:id="rId15"/>
    <p:sldId id="1173" r:id="rId16"/>
    <p:sldId id="1145" r:id="rId17"/>
    <p:sldId id="1146" r:id="rId18"/>
    <p:sldId id="1150" r:id="rId19"/>
    <p:sldId id="1175" r:id="rId20"/>
    <p:sldId id="1151" r:id="rId21"/>
    <p:sldId id="1153" r:id="rId22"/>
    <p:sldId id="1154" r:id="rId23"/>
    <p:sldId id="1172" r:id="rId24"/>
    <p:sldId id="1155" r:id="rId25"/>
    <p:sldId id="1159" r:id="rId26"/>
    <p:sldId id="1160" r:id="rId27"/>
    <p:sldId id="1156" r:id="rId28"/>
    <p:sldId id="1157" r:id="rId29"/>
    <p:sldId id="1158" r:id="rId30"/>
    <p:sldId id="1176" r:id="rId31"/>
    <p:sldId id="1162" r:id="rId32"/>
    <p:sldId id="1178" r:id="rId33"/>
    <p:sldId id="1179" r:id="rId34"/>
    <p:sldId id="1177" r:id="rId35"/>
    <p:sldId id="1161" r:id="rId36"/>
    <p:sldId id="1163" r:id="rId37"/>
    <p:sldId id="1165" r:id="rId3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41"/>
            <p14:sldId id="1139"/>
            <p14:sldId id="1140"/>
            <p14:sldId id="1152"/>
            <p14:sldId id="1174"/>
            <p14:sldId id="1142"/>
            <p14:sldId id="1143"/>
            <p14:sldId id="1144"/>
            <p14:sldId id="1149"/>
            <p14:sldId id="1173"/>
            <p14:sldId id="1145"/>
            <p14:sldId id="1146"/>
            <p14:sldId id="1150"/>
            <p14:sldId id="1175"/>
            <p14:sldId id="1151"/>
            <p14:sldId id="1153"/>
            <p14:sldId id="1154"/>
            <p14:sldId id="1172"/>
            <p14:sldId id="1155"/>
            <p14:sldId id="1159"/>
            <p14:sldId id="1160"/>
            <p14:sldId id="1156"/>
            <p14:sldId id="1157"/>
            <p14:sldId id="1158"/>
            <p14:sldId id="1176"/>
            <p14:sldId id="1162"/>
            <p14:sldId id="1178"/>
            <p14:sldId id="1179"/>
            <p14:sldId id="1177"/>
            <p14:sldId id="1161"/>
            <p14:sldId id="1163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362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FBE4A-FC4B-B886-A818-9CDEC658D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772A6-F014-AA8F-5AF6-A105AEFFE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E3A808-4F37-9BA4-B01F-FF577C09E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33A77B-DAD2-D139-707D-5474EB7941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760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6B24C-D74C-C7DC-EF47-C3A74412C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6FF7D5-9314-3C93-156A-24C15F4F7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B254F2-F49B-7EFE-3265-6784E6AD68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AE52-A599-9B64-EEC9-2C9E189830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157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199640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hyperlink" Target="https://github.com/jo1jun/Vision_Transformer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3AAA17-EC45-405D-3EC4-5671AD5F717E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blipFill>
                <a:blip r:embed="rId2"/>
                <a:stretch>
                  <a:fillRect l="-327" b="-16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8C8120-5523-D1DB-2981-5EC057741D7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r="-54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2400" y="5180373"/>
            <a:ext cx="4736007" cy="7918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9FE714E-77D9-F5E4-7F9B-F004538B9E88}"/>
              </a:ext>
            </a:extLst>
          </p:cNvPr>
          <p:cNvSpPr/>
          <p:nvPr/>
        </p:nvSpPr>
        <p:spPr>
          <a:xfrm>
            <a:off x="3962400" y="3912230"/>
            <a:ext cx="7391400" cy="80419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57AA3A4-0EFC-FF07-0358-3BEE910B6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9A973B2-265A-5360-2594-DF8829AAD2E4}"/>
              </a:ext>
            </a:extLst>
          </p:cNvPr>
          <p:cNvSpPr/>
          <p:nvPr/>
        </p:nvSpPr>
        <p:spPr>
          <a:xfrm>
            <a:off x="4044425" y="3954377"/>
            <a:ext cx="956200" cy="378991"/>
          </a:xfrm>
          <a:prstGeom prst="rect">
            <a:avLst/>
          </a:prstGeom>
          <a:noFill/>
          <a:ln>
            <a:solidFill>
              <a:srgbClr val="D24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C60060B-069F-A724-81B4-997CCACD0BE3}"/>
              </a:ext>
            </a:extLst>
          </p:cNvPr>
          <p:cNvSpPr/>
          <p:nvPr/>
        </p:nvSpPr>
        <p:spPr>
          <a:xfrm>
            <a:off x="5520800" y="4297277"/>
            <a:ext cx="956200" cy="378991"/>
          </a:xfrm>
          <a:prstGeom prst="rect">
            <a:avLst/>
          </a:prstGeom>
          <a:noFill/>
          <a:ln>
            <a:solidFill>
              <a:srgbClr val="D247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234684"/>
            <a:ext cx="47434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Training a Shakespeare language model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619875" y="2234684"/>
            <a:ext cx="5010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Shakespeare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481262" y="5206669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1808202"/>
            <a:ext cx="1102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sz="20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101012" y="1808202"/>
            <a:ext cx="23860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sz="2000" i="1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604016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875" y="2604016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F5E02B-2879-FC28-79C9-ED0FBE486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F22D2-F683-BEB8-57A7-F2C69B54D45B}"/>
              </a:ext>
            </a:extLst>
          </p:cNvPr>
          <p:cNvSpPr txBox="1"/>
          <p:nvPr/>
        </p:nvSpPr>
        <p:spPr>
          <a:xfrm>
            <a:off x="3165610" y="2616131"/>
            <a:ext cx="2758940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할 때 전체 문장을 일괄 처리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통째로 쏟아 넣어서 한 번에 처리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E5756A-352A-B744-2FFA-B72477A50C7B}"/>
              </a:ext>
            </a:extLst>
          </p:cNvPr>
          <p:cNvSpPr txBox="1"/>
          <p:nvPr/>
        </p:nvSpPr>
        <p:spPr>
          <a:xfrm>
            <a:off x="8970164" y="2616401"/>
            <a:ext cx="265986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(Generating)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할 때는 내가 방금 만든 단어와 기억 상태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다음 단계로 전달하는 실시간 순차</a:t>
            </a:r>
          </a:p>
        </p:txBody>
      </p:sp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4" y="1243241"/>
            <a:ext cx="11004581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구분이 없는 단일 시퀀스 학습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(Using a character-level tokenizer)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862272" y="1827118"/>
            <a:ext cx="9158028" cy="44595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sequences of 100 characters at a time.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100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256;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05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1ABA55-90CB-A697-FEEF-CA75D6CE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19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6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46624C-78B2-5C5E-C753-5310C7FF3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EF58-62AB-C8A8-6C80-65ABEE99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A94D6C1-8175-9BCD-F46D-FCD9E8AF4C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Why not bidirectional RNN</a:t>
            </a:r>
            <a:r>
              <a:rPr lang="ko-KR" altLang="en-US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during training a Shakespeare 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FB6AD-2A4A-E6D2-36ED-11C5CD4BD8D9}"/>
              </a:ext>
            </a:extLst>
          </p:cNvPr>
          <p:cNvSpPr txBox="1"/>
          <p:nvPr/>
        </p:nvSpPr>
        <p:spPr>
          <a:xfrm>
            <a:off x="613802" y="1362722"/>
            <a:ext cx="10997174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단방향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앞에서부터 순서대로 읽기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___" 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보고 빈칸을 추측하면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밥을 먹었다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여러 가능성이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말하거나 글을 쓸 때와 같은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뒤의 단어까지 훔쳐보기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문을 열자마자 허겁지겁 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빈칸 뒤의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미리 읽으면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처럼 훨씬 정확하게 맞출 수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완성된 문장을 통째로 분석하는 작업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감정 분석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에는 양방향이 훨씬 유리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그런데 왜 문장 생성에는 못 쓸까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학습할 때는 정답 문장이 통째로 주어져서 뒤를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맞출 수 있지만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글을 새로 쓸 때는 다음 단어 뒤에 나올 문장이 아직 존재하지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때 미래를 훔쳐보는 버릇이 들었던 양방향 모델은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미래 정보가 없는 실전 상황에서 아무것도 만들어내지 못하고 먹통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722D7E-EDC2-CCA6-1406-59446F55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617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ECCA7-79AD-FA7E-2523-2550CD179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51DF3B-BB98-A1BD-9F4A-68202D7749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203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Lora" pitchFamily="2" charset="0"/>
              </a:rPr>
              <a:t>Sequence-to-sequence</a:t>
            </a:r>
            <a:endParaRPr lang="ko-KR" altLang="en-US" sz="4400" dirty="0">
              <a:solidFill>
                <a:schemeClr val="bg1"/>
              </a:solidFill>
              <a:latin typeface="Lora" pitchFamily="2" charset="0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5A97A46-9E82-F6A6-B28B-408473F8E92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2277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9E9887B-21F8-663E-9978-ED86DA392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485" y="2230590"/>
            <a:ext cx="5760940" cy="429263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71499" y="1200061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seek to build a model that can take in a source text as a 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fixed input sequence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generate the translated text sequence as a result. Question answering is another classic sequence-to-sequence problem.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8ABEA23-67B5-9B60-BA2D-0EF55F2D9A4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080CE4-17F0-CC04-A2C5-8F565CA80298}"/>
              </a:ext>
            </a:extLst>
          </p:cNvPr>
          <p:cNvSpPr txBox="1"/>
          <p:nvPr/>
        </p:nvSpPr>
        <p:spPr>
          <a:xfrm>
            <a:off x="1543049" y="2291136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397937-7F44-7A7C-8239-CF2E4FDC3E54}"/>
              </a:ext>
            </a:extLst>
          </p:cNvPr>
          <p:cNvSpPr txBox="1"/>
          <p:nvPr/>
        </p:nvSpPr>
        <p:spPr>
          <a:xfrm>
            <a:off x="1544735" y="4491207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09192-EBA9-F786-9947-09D036EC011F}"/>
              </a:ext>
            </a:extLst>
          </p:cNvPr>
          <p:cNvSpPr txBox="1"/>
          <p:nvPr/>
        </p:nvSpPr>
        <p:spPr>
          <a:xfrm>
            <a:off x="7305675" y="2259165"/>
            <a:ext cx="4561955" cy="199830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[Training Phase]</a:t>
            </a:r>
            <a:endParaRPr lang="en-US" altLang="ko-KR" sz="1400" b="1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source sequence is processed by the encoder and is then sent to the decoder.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decoder looks at the target sequence so far and predicts the target sequence offset by one step in the future.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3AD9EA-7F1B-4038-2A80-719D974524DF}"/>
              </a:ext>
            </a:extLst>
          </p:cNvPr>
          <p:cNvSpPr txBox="1"/>
          <p:nvPr/>
        </p:nvSpPr>
        <p:spPr>
          <a:xfrm>
            <a:off x="7305675" y="4491207"/>
            <a:ext cx="4561955" cy="102880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[Inference Phase]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During inference, we generate one target token at a time and feed it back into the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0C3C-F942-13AC-684D-78775136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70013F-BEEA-B8A7-0F58-494094318D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Training Phase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5A5C05-B3DE-013A-29AA-6E1416589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98917"/>
            <a:ext cx="4876802" cy="15949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4B804D8-621B-D430-4D8A-3ECC1EDE7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362" y="3198917"/>
            <a:ext cx="6305262" cy="31332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37EB0A2-FB6E-11D7-190F-54960EEB0C4D}"/>
              </a:ext>
            </a:extLst>
          </p:cNvPr>
          <p:cNvSpPr txBox="1"/>
          <p:nvPr/>
        </p:nvSpPr>
        <p:spPr>
          <a:xfrm>
            <a:off x="9791699" y="680536"/>
            <a:ext cx="183832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07E4D2-4861-E968-6552-C84B1860CE71}"/>
              </a:ext>
            </a:extLst>
          </p:cNvPr>
          <p:cNvSpPr txBox="1"/>
          <p:nvPr/>
        </p:nvSpPr>
        <p:spPr>
          <a:xfrm>
            <a:off x="5520875" y="2829585"/>
            <a:ext cx="6337749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BB722C-CF2B-16A4-3CD4-A071EC495ACC}"/>
              </a:ext>
            </a:extLst>
          </p:cNvPr>
          <p:cNvSpPr txBox="1"/>
          <p:nvPr/>
        </p:nvSpPr>
        <p:spPr>
          <a:xfrm>
            <a:off x="575124" y="2829585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 비교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BE05BBB6-ED03-25F3-69E9-65546A7FC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195204"/>
            <a:ext cx="11020424" cy="13519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One(한 칸씩 시차 두기)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입력 시퀀스와 정답 시퀀스를 딱 한 단어씩 비틀어서(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Shift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매칭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/>
              <a:t>시퀀스와 정답 시퀀스를 딱 한 단어씩 비틀어서</a:t>
            </a:r>
            <a:r>
              <a:rPr lang="en-US" altLang="ko-KR" sz="1400" dirty="0"/>
              <a:t>(Shift) </a:t>
            </a:r>
            <a:r>
              <a:rPr lang="ko-KR" altLang="en-US" sz="1400" dirty="0"/>
              <a:t>매칭시켜 놓는 데이터 구조 설계</a:t>
            </a: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Teacher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Forcing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(교사 강제)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매칭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데이터를 가지고 시간 순서대로(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=1,2,3..) 학습을 진행하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이전 시점에서 모델이 무슨 예측을 했든 상관없이, 다음 시점의 입력으로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One으로 준비해 둔 실제 정답을 주입하며 순차적으로 진행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8B48B6-687A-3F13-E37B-135B81F20D92}"/>
              </a:ext>
            </a:extLst>
          </p:cNvPr>
          <p:cNvSpPr txBox="1"/>
          <p:nvPr/>
        </p:nvSpPr>
        <p:spPr>
          <a:xfrm>
            <a:off x="609599" y="5016465"/>
            <a:ext cx="4876802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Offset by One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배치하고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연산은 순차적으로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Teacher Forcing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학습</a:t>
            </a:r>
          </a:p>
        </p:txBody>
      </p:sp>
      <p:sp>
        <p:nvSpPr>
          <p:cNvPr id="28" name="슬라이드 번호 개체 틀 3">
            <a:extLst>
              <a:ext uri="{FF2B5EF4-FFF2-40B4-BE49-F238E27FC236}">
                <a16:creationId xmlns:a16="http://schemas.microsoft.com/office/drawing/2014/main" id="{AEE497C7-402F-5025-AE5F-9A34A3679CF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5730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Inference Phase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0F8835F-0C4C-ACD4-FAC3-97B57E277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28" y="1438199"/>
            <a:ext cx="6372891" cy="2362275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F8E41AC-C6A8-5D35-A8D8-43180608F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539" y="3957499"/>
            <a:ext cx="11058525" cy="222432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실전에서는 스페인어 정답이 없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자기가 방금 뱉은 단어를 다시 자기 귀로 들으면서 다음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작동 순서: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디코더에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[시작] 신호만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qué라는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방금 자기가 말한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다시 입력으로 넣어서 다음 단어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tiempo를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과정을 [끝] 신호가 나올 때까지 한 단어씩 반복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F57B3-20B3-02B3-7FE0-6A4BCAC8C5B2}"/>
              </a:ext>
            </a:extLst>
          </p:cNvPr>
          <p:cNvSpPr txBox="1"/>
          <p:nvPr/>
        </p:nvSpPr>
        <p:spPr>
          <a:xfrm>
            <a:off x="9401175" y="680536"/>
            <a:ext cx="2228849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nference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72D9875-02DE-3060-6895-061FD76A3C4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94190-4E84-0A28-0702-F9F0C8D9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7C6940-5188-BF44-5E98-CFCE10FC25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A6E11-62F8-D0B0-D48E-E29DD3A9FA3B}"/>
              </a:ext>
            </a:extLst>
          </p:cNvPr>
          <p:cNvSpPr txBox="1"/>
          <p:nvPr/>
        </p:nvSpPr>
        <p:spPr>
          <a:xfrm>
            <a:off x="594215" y="1593511"/>
            <a:ext cx="11003569" cy="8949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TextVectorization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단어들이 사전에 등록된 숫자로 바뀐 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남은 빈 공간은 최대 길이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):[145, 23, 12, 19, 342, 0, 0, 0, 0, 0, 0, …..,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(145='who', 23='is', 12='in', 19='this', 342='room')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(spa):[2, 89, 45, 12, 512, 3, 0, 0, 0, 0, 0, ….,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2='[start]'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,89='quién',45='está',12='en',512='esta',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3='[end]'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DA617-A97B-F8F6-D20D-84DC098FBF01}"/>
              </a:ext>
            </a:extLst>
          </p:cNvPr>
          <p:cNvSpPr txBox="1"/>
          <p:nvPr/>
        </p:nvSpPr>
        <p:spPr>
          <a:xfrm>
            <a:off x="594215" y="3108291"/>
            <a:ext cx="11003569" cy="30623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거친 데이터의 모습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features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입력용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labels(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시험지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가지 묶음으로 분리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입력으로 주는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두 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각각 쪼개져서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들어감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{  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문장 전체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[145, 23, 12, 19, 342, 0, 0, 0, 0, 0, 0, 0, 0, 0, 0, 0, 0, 0, 0, 0],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문장에서 맨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3('[end]')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89, 45, 12, 512, 0, 0, 0, 0, 0, 0, 0, 0, 0, 0, 0, 0, 0, 0, 0]   }</a:t>
            </a:r>
          </a:p>
          <a:p>
            <a:pPr lvl="2"/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맞춰야 하는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입력보다 딱 한 칸 미래로 밀린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맨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2('[start]')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잘려 나감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2([start])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맞추고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89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45(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맞춰야 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[89, 45, 12, 512, 3, 0, 0, 0, 0, 0, 0, 0, 0, 0, 0, 0, 0, 0, 0, 0]</a:t>
            </a: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반영 여부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진짜 단어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없는 패딩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False(0)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스페인어 단어와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토큰이 있는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채점하고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들은 무시함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부분 오차를 제외하고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단어 위치만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지정하여 손실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(Loss)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 lvl="2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[True, True, True, True, True, False, False, False, …. False, False, False, False, False, False, False]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313FE9-2632-C987-7E87-958FBE68DD18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A915D-A8E1-7EC5-B08A-B6F9FAA2116E}"/>
              </a:ext>
            </a:extLst>
          </p:cNvPr>
          <p:cNvSpPr txBox="1"/>
          <p:nvPr/>
        </p:nvSpPr>
        <p:spPr>
          <a:xfrm>
            <a:off x="3901109" y="2801009"/>
            <a:ext cx="4671392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E479-9BF0-D84C-88B3-02D48D966DCE}"/>
              </a:ext>
            </a:extLst>
          </p:cNvPr>
          <p:cNvSpPr txBox="1"/>
          <p:nvPr/>
        </p:nvSpPr>
        <p:spPr>
          <a:xfrm>
            <a:off x="575125" y="2801010"/>
            <a:ext cx="321582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08A1A-ACD6-881F-D19E-4DF08637854D}"/>
              </a:ext>
            </a:extLst>
          </p:cNvPr>
          <p:cNvSpPr txBox="1"/>
          <p:nvPr/>
        </p:nvSpPr>
        <p:spPr>
          <a:xfrm>
            <a:off x="581023" y="1279079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정수 변환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(Tokenization)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0305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F424A-5386-61B7-2B73-2B18D853A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3BD805-6773-D031-F424-9AD8619E1C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05E3BE-07DE-9616-F580-398758DFB9B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1962F56-2AB0-4B72-26AA-1E3FF3B9F7D0}"/>
              </a:ext>
            </a:extLst>
          </p:cNvPr>
          <p:cNvSpPr/>
          <p:nvPr/>
        </p:nvSpPr>
        <p:spPr>
          <a:xfrm>
            <a:off x="522644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473F8BA-ED60-A573-D8FA-9DB0754746C6}"/>
              </a:ext>
            </a:extLst>
          </p:cNvPr>
          <p:cNvSpPr/>
          <p:nvPr/>
        </p:nvSpPr>
        <p:spPr>
          <a:xfrm>
            <a:off x="1537825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121251D-0628-97D7-B549-D414A5928B3A}"/>
              </a:ext>
            </a:extLst>
          </p:cNvPr>
          <p:cNvSpPr/>
          <p:nvPr/>
        </p:nvSpPr>
        <p:spPr>
          <a:xfrm>
            <a:off x="2553006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A25557A-1AC6-D33D-44E1-DF01803947E2}"/>
              </a:ext>
            </a:extLst>
          </p:cNvPr>
          <p:cNvSpPr/>
          <p:nvPr/>
        </p:nvSpPr>
        <p:spPr>
          <a:xfrm>
            <a:off x="3568187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9008178-1420-D469-928D-3EB8EEEDCF0E}"/>
              </a:ext>
            </a:extLst>
          </p:cNvPr>
          <p:cNvSpPr/>
          <p:nvPr/>
        </p:nvSpPr>
        <p:spPr>
          <a:xfrm>
            <a:off x="4583368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13A63E-15A3-C408-9AAC-E7F91B414576}"/>
              </a:ext>
            </a:extLst>
          </p:cNvPr>
          <p:cNvSpPr/>
          <p:nvPr/>
        </p:nvSpPr>
        <p:spPr>
          <a:xfrm>
            <a:off x="7027299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886D64A-D843-106D-8B18-A1EC624B798D}"/>
              </a:ext>
            </a:extLst>
          </p:cNvPr>
          <p:cNvSpPr/>
          <p:nvPr/>
        </p:nvSpPr>
        <p:spPr>
          <a:xfrm>
            <a:off x="8042480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B31728B-9744-C6BD-95CF-7D40E9E929E9}"/>
              </a:ext>
            </a:extLst>
          </p:cNvPr>
          <p:cNvSpPr/>
          <p:nvPr/>
        </p:nvSpPr>
        <p:spPr>
          <a:xfrm>
            <a:off x="9057661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DEF8655-D343-5352-98F7-8F360253EB4E}"/>
              </a:ext>
            </a:extLst>
          </p:cNvPr>
          <p:cNvSpPr/>
          <p:nvPr/>
        </p:nvSpPr>
        <p:spPr>
          <a:xfrm>
            <a:off x="10072842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A0EFE90-D860-124A-F6A1-A25DBE71E258}"/>
              </a:ext>
            </a:extLst>
          </p:cNvPr>
          <p:cNvSpPr/>
          <p:nvPr/>
        </p:nvSpPr>
        <p:spPr>
          <a:xfrm>
            <a:off x="11088023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A0414CE-F338-546B-C420-EE58B44B4BFA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1137160" y="4383958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051120F7-19FE-B5BE-AD46-CC68D946ADC5}"/>
              </a:ext>
            </a:extLst>
          </p:cNvPr>
          <p:cNvCxnSpPr>
            <a:cxnSpLocks/>
          </p:cNvCxnSpPr>
          <p:nvPr/>
        </p:nvCxnSpPr>
        <p:spPr>
          <a:xfrm>
            <a:off x="2159714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6E23570-ECD4-ED58-F3F9-2E8901BE0B0B}"/>
              </a:ext>
            </a:extLst>
          </p:cNvPr>
          <p:cNvCxnSpPr>
            <a:cxnSpLocks/>
          </p:cNvCxnSpPr>
          <p:nvPr/>
        </p:nvCxnSpPr>
        <p:spPr>
          <a:xfrm>
            <a:off x="3173842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83DD60F-7389-91D9-7E5B-C1022AA11204}"/>
              </a:ext>
            </a:extLst>
          </p:cNvPr>
          <p:cNvCxnSpPr>
            <a:cxnSpLocks/>
          </p:cNvCxnSpPr>
          <p:nvPr/>
        </p:nvCxnSpPr>
        <p:spPr>
          <a:xfrm>
            <a:off x="4187970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3E782FBA-AB25-5DE5-CF4F-F632AB168F93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5197884" y="4383958"/>
            <a:ext cx="182941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76075AC-BAA5-0D79-0140-6AABD10FAE36}"/>
              </a:ext>
            </a:extLst>
          </p:cNvPr>
          <p:cNvCxnSpPr>
            <a:cxnSpLocks/>
          </p:cNvCxnSpPr>
          <p:nvPr/>
        </p:nvCxnSpPr>
        <p:spPr>
          <a:xfrm>
            <a:off x="7644976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E89C03A-0A1B-E212-2DE4-88F8E007514C}"/>
              </a:ext>
            </a:extLst>
          </p:cNvPr>
          <p:cNvCxnSpPr>
            <a:cxnSpLocks/>
          </p:cNvCxnSpPr>
          <p:nvPr/>
        </p:nvCxnSpPr>
        <p:spPr>
          <a:xfrm>
            <a:off x="8659104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BF7AD3B-5640-B4FE-7F59-2F70B619A419}"/>
              </a:ext>
            </a:extLst>
          </p:cNvPr>
          <p:cNvCxnSpPr>
            <a:cxnSpLocks/>
          </p:cNvCxnSpPr>
          <p:nvPr/>
        </p:nvCxnSpPr>
        <p:spPr>
          <a:xfrm>
            <a:off x="9673232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A91B12A-CB2A-45E5-79FC-692002300D91}"/>
              </a:ext>
            </a:extLst>
          </p:cNvPr>
          <p:cNvCxnSpPr>
            <a:cxnSpLocks/>
          </p:cNvCxnSpPr>
          <p:nvPr/>
        </p:nvCxnSpPr>
        <p:spPr>
          <a:xfrm>
            <a:off x="10687358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8441426-13A8-8263-90D5-7141D16A1B9D}"/>
              </a:ext>
            </a:extLst>
          </p:cNvPr>
          <p:cNvCxnSpPr>
            <a:cxnSpLocks/>
          </p:cNvCxnSpPr>
          <p:nvPr/>
        </p:nvCxnSpPr>
        <p:spPr>
          <a:xfrm>
            <a:off x="8299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33321406-A0F6-9DBB-624A-6D82554D78AC}"/>
              </a:ext>
            </a:extLst>
          </p:cNvPr>
          <p:cNvCxnSpPr>
            <a:cxnSpLocks/>
          </p:cNvCxnSpPr>
          <p:nvPr/>
        </p:nvCxnSpPr>
        <p:spPr>
          <a:xfrm>
            <a:off x="18490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EF91721-7C99-2036-1437-F77D3C5B5D14}"/>
              </a:ext>
            </a:extLst>
          </p:cNvPr>
          <p:cNvCxnSpPr>
            <a:cxnSpLocks/>
          </p:cNvCxnSpPr>
          <p:nvPr/>
        </p:nvCxnSpPr>
        <p:spPr>
          <a:xfrm>
            <a:off x="28682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728B1C3-5792-AAA2-C103-224C640DA5A5}"/>
              </a:ext>
            </a:extLst>
          </p:cNvPr>
          <p:cNvCxnSpPr>
            <a:cxnSpLocks/>
          </p:cNvCxnSpPr>
          <p:nvPr/>
        </p:nvCxnSpPr>
        <p:spPr>
          <a:xfrm>
            <a:off x="38874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31BBEC7-BC4D-8875-EA7A-59F90833C47C}"/>
              </a:ext>
            </a:extLst>
          </p:cNvPr>
          <p:cNvCxnSpPr>
            <a:cxnSpLocks/>
          </p:cNvCxnSpPr>
          <p:nvPr/>
        </p:nvCxnSpPr>
        <p:spPr>
          <a:xfrm>
            <a:off x="49066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74AAF2F-9249-AD8C-2003-25676CF62A30}"/>
              </a:ext>
            </a:extLst>
          </p:cNvPr>
          <p:cNvCxnSpPr>
            <a:cxnSpLocks/>
          </p:cNvCxnSpPr>
          <p:nvPr/>
        </p:nvCxnSpPr>
        <p:spPr>
          <a:xfrm>
            <a:off x="73545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0F58509-6EA4-26B4-0ABD-CF730D8B5C34}"/>
              </a:ext>
            </a:extLst>
          </p:cNvPr>
          <p:cNvCxnSpPr>
            <a:cxnSpLocks/>
          </p:cNvCxnSpPr>
          <p:nvPr/>
        </p:nvCxnSpPr>
        <p:spPr>
          <a:xfrm>
            <a:off x="83737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ECF7DD6-324E-C1C0-264E-B11D40F31EEF}"/>
              </a:ext>
            </a:extLst>
          </p:cNvPr>
          <p:cNvCxnSpPr>
            <a:cxnSpLocks/>
          </p:cNvCxnSpPr>
          <p:nvPr/>
        </p:nvCxnSpPr>
        <p:spPr>
          <a:xfrm>
            <a:off x="93928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6CB1BE2-D13A-1DD2-5963-13AE18D0F7F6}"/>
              </a:ext>
            </a:extLst>
          </p:cNvPr>
          <p:cNvCxnSpPr>
            <a:cxnSpLocks/>
          </p:cNvCxnSpPr>
          <p:nvPr/>
        </p:nvCxnSpPr>
        <p:spPr>
          <a:xfrm>
            <a:off x="104120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0E0EA847-86D6-72D1-AF05-05997FC91D53}"/>
              </a:ext>
            </a:extLst>
          </p:cNvPr>
          <p:cNvCxnSpPr>
            <a:cxnSpLocks/>
          </p:cNvCxnSpPr>
          <p:nvPr/>
        </p:nvCxnSpPr>
        <p:spPr>
          <a:xfrm>
            <a:off x="114312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6213B14-4794-68B8-3705-DE9C00586378}"/>
              </a:ext>
            </a:extLst>
          </p:cNvPr>
          <p:cNvCxnSpPr>
            <a:cxnSpLocks/>
          </p:cNvCxnSpPr>
          <p:nvPr/>
        </p:nvCxnSpPr>
        <p:spPr>
          <a:xfrm>
            <a:off x="736405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C288BDDB-8A36-CFF6-A632-35E0B6CDAC5A}"/>
              </a:ext>
            </a:extLst>
          </p:cNvPr>
          <p:cNvCxnSpPr>
            <a:cxnSpLocks/>
          </p:cNvCxnSpPr>
          <p:nvPr/>
        </p:nvCxnSpPr>
        <p:spPr>
          <a:xfrm>
            <a:off x="838322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94F8DC1-0BD3-D017-C719-7D774CE4AFEC}"/>
              </a:ext>
            </a:extLst>
          </p:cNvPr>
          <p:cNvCxnSpPr>
            <a:cxnSpLocks/>
          </p:cNvCxnSpPr>
          <p:nvPr/>
        </p:nvCxnSpPr>
        <p:spPr>
          <a:xfrm>
            <a:off x="940240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F7C3906-5837-3870-67D2-35618231D5A8}"/>
              </a:ext>
            </a:extLst>
          </p:cNvPr>
          <p:cNvCxnSpPr>
            <a:cxnSpLocks/>
          </p:cNvCxnSpPr>
          <p:nvPr/>
        </p:nvCxnSpPr>
        <p:spPr>
          <a:xfrm>
            <a:off x="1042157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0A26BBE-1A45-1867-8411-0E9A008DC580}"/>
              </a:ext>
            </a:extLst>
          </p:cNvPr>
          <p:cNvCxnSpPr>
            <a:cxnSpLocks/>
          </p:cNvCxnSpPr>
          <p:nvPr/>
        </p:nvCxnSpPr>
        <p:spPr>
          <a:xfrm>
            <a:off x="1144075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5BF86E4-CE10-BA86-DE15-4BC8DFC58863}"/>
              </a:ext>
            </a:extLst>
          </p:cNvPr>
          <p:cNvSpPr/>
          <p:nvPr/>
        </p:nvSpPr>
        <p:spPr>
          <a:xfrm>
            <a:off x="344604" y="3919691"/>
            <a:ext cx="5102774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11801493-FE4C-76EA-068B-B348193635ED}"/>
              </a:ext>
            </a:extLst>
          </p:cNvPr>
          <p:cNvSpPr/>
          <p:nvPr/>
        </p:nvSpPr>
        <p:spPr>
          <a:xfrm>
            <a:off x="6823892" y="3919691"/>
            <a:ext cx="5029987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94BB90-5C95-02EB-699B-0446FE2D6935}"/>
              </a:ext>
            </a:extLst>
          </p:cNvPr>
          <p:cNvSpPr txBox="1"/>
          <p:nvPr/>
        </p:nvSpPr>
        <p:spPr>
          <a:xfrm>
            <a:off x="535899" y="5314051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8113BCD-AE71-3E6B-16A1-9450CCA26076}"/>
              </a:ext>
            </a:extLst>
          </p:cNvPr>
          <p:cNvSpPr txBox="1"/>
          <p:nvPr/>
        </p:nvSpPr>
        <p:spPr>
          <a:xfrm>
            <a:off x="1682765" y="5314051"/>
            <a:ext cx="688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BE98911-489E-A2BA-3C29-60DE211A7027}"/>
              </a:ext>
            </a:extLst>
          </p:cNvPr>
          <p:cNvSpPr txBox="1"/>
          <p:nvPr/>
        </p:nvSpPr>
        <p:spPr>
          <a:xfrm>
            <a:off x="2585976" y="5314051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9012D4E-CD30-478A-BF03-7D742D29B3EC}"/>
              </a:ext>
            </a:extLst>
          </p:cNvPr>
          <p:cNvSpPr txBox="1"/>
          <p:nvPr/>
        </p:nvSpPr>
        <p:spPr>
          <a:xfrm>
            <a:off x="3369776" y="5314051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weather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E2EC91-906A-5598-F6DA-39E8DE24CA0D}"/>
              </a:ext>
            </a:extLst>
          </p:cNvPr>
          <p:cNvSpPr txBox="1"/>
          <p:nvPr/>
        </p:nvSpPr>
        <p:spPr>
          <a:xfrm>
            <a:off x="4564318" y="5314051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D2771C-CC28-0ED3-FEAC-A2467AE7EEC3}"/>
              </a:ext>
            </a:extLst>
          </p:cNvPr>
          <p:cNvSpPr txBox="1"/>
          <p:nvPr/>
        </p:nvSpPr>
        <p:spPr>
          <a:xfrm>
            <a:off x="11083940" y="3007679"/>
            <a:ext cx="7699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[end]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4588BEA-B0A9-1AA7-665F-2533B4699F13}"/>
              </a:ext>
            </a:extLst>
          </p:cNvPr>
          <p:cNvSpPr txBox="1"/>
          <p:nvPr/>
        </p:nvSpPr>
        <p:spPr>
          <a:xfrm>
            <a:off x="10114463" y="3007679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491B01-485F-ED65-EE38-832F66A7C7EC}"/>
              </a:ext>
            </a:extLst>
          </p:cNvPr>
          <p:cNvSpPr txBox="1"/>
          <p:nvPr/>
        </p:nvSpPr>
        <p:spPr>
          <a:xfrm>
            <a:off x="9097143" y="3007679"/>
            <a:ext cx="4696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7D7D17-4D45-829E-CF50-C32A1A7F8E81}"/>
              </a:ext>
            </a:extLst>
          </p:cNvPr>
          <p:cNvSpPr txBox="1"/>
          <p:nvPr/>
        </p:nvSpPr>
        <p:spPr>
          <a:xfrm>
            <a:off x="7884318" y="3007679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CA7F3F-E368-08AF-A782-FD8CDECFD050}"/>
              </a:ext>
            </a:extLst>
          </p:cNvPr>
          <p:cNvSpPr txBox="1"/>
          <p:nvPr/>
        </p:nvSpPr>
        <p:spPr>
          <a:xfrm>
            <a:off x="6928054" y="5317241"/>
            <a:ext cx="844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[start]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5C9C38C-3D32-AF48-0AFA-8AF2889391D7}"/>
              </a:ext>
            </a:extLst>
          </p:cNvPr>
          <p:cNvSpPr txBox="1"/>
          <p:nvPr/>
        </p:nvSpPr>
        <p:spPr>
          <a:xfrm>
            <a:off x="6823892" y="3007679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0F0257-0D71-3A2B-A1EF-5E7D267C3DFE}"/>
              </a:ext>
            </a:extLst>
          </p:cNvPr>
          <p:cNvSpPr txBox="1"/>
          <p:nvPr/>
        </p:nvSpPr>
        <p:spPr>
          <a:xfrm>
            <a:off x="8108905" y="5317241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4B80451-84E1-A863-6AED-9139C846BEB8}"/>
              </a:ext>
            </a:extLst>
          </p:cNvPr>
          <p:cNvSpPr txBox="1"/>
          <p:nvPr/>
        </p:nvSpPr>
        <p:spPr>
          <a:xfrm>
            <a:off x="9215710" y="5317241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16DCD2-168F-6394-A6A8-DEC88D81CD38}"/>
              </a:ext>
            </a:extLst>
          </p:cNvPr>
          <p:cNvSpPr txBox="1"/>
          <p:nvPr/>
        </p:nvSpPr>
        <p:spPr>
          <a:xfrm>
            <a:off x="10284414" y="5317241"/>
            <a:ext cx="450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7808D84-B6E3-8340-5C55-2734117A9AEC}"/>
              </a:ext>
            </a:extLst>
          </p:cNvPr>
          <p:cNvSpPr txBox="1"/>
          <p:nvPr/>
        </p:nvSpPr>
        <p:spPr>
          <a:xfrm>
            <a:off x="11071889" y="5317241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3" name="연결선: 구부러짐 82">
            <a:extLst>
              <a:ext uri="{FF2B5EF4-FFF2-40B4-BE49-F238E27FC236}">
                <a16:creationId xmlns:a16="http://schemas.microsoft.com/office/drawing/2014/main" id="{40E46550-A859-556A-1C59-4122EBFB35A4}"/>
              </a:ext>
            </a:extLst>
          </p:cNvPr>
          <p:cNvCxnSpPr>
            <a:stCxn id="75" idx="0"/>
            <a:endCxn id="76" idx="2"/>
          </p:cNvCxnSpPr>
          <p:nvPr/>
        </p:nvCxnSpPr>
        <p:spPr>
          <a:xfrm rot="16200000" flipH="1">
            <a:off x="6512100" y="3704620"/>
            <a:ext cx="2678894" cy="1285013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구부러짐 83">
            <a:extLst>
              <a:ext uri="{FF2B5EF4-FFF2-40B4-BE49-F238E27FC236}">
                <a16:creationId xmlns:a16="http://schemas.microsoft.com/office/drawing/2014/main" id="{FCCE4E51-5A42-6297-0612-584C2024D43E}"/>
              </a:ext>
            </a:extLst>
          </p:cNvPr>
          <p:cNvCxnSpPr>
            <a:cxnSpLocks/>
            <a:stCxn id="73" idx="0"/>
            <a:endCxn id="77" idx="2"/>
          </p:cNvCxnSpPr>
          <p:nvPr/>
        </p:nvCxnSpPr>
        <p:spPr>
          <a:xfrm rot="16200000" flipH="1">
            <a:off x="7576666" y="3681430"/>
            <a:ext cx="2678894" cy="1331392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구부러짐 84">
            <a:extLst>
              <a:ext uri="{FF2B5EF4-FFF2-40B4-BE49-F238E27FC236}">
                <a16:creationId xmlns:a16="http://schemas.microsoft.com/office/drawing/2014/main" id="{52F24BB5-920C-EB1B-FAE5-FE37B5175796}"/>
              </a:ext>
            </a:extLst>
          </p:cNvPr>
          <p:cNvCxnSpPr>
            <a:cxnSpLocks/>
            <a:stCxn id="72" idx="0"/>
            <a:endCxn id="78" idx="2"/>
          </p:cNvCxnSpPr>
          <p:nvPr/>
        </p:nvCxnSpPr>
        <p:spPr>
          <a:xfrm rot="16200000" flipH="1">
            <a:off x="8581480" y="3758156"/>
            <a:ext cx="2678894" cy="1177941"/>
          </a:xfrm>
          <a:prstGeom prst="curvedConnector5">
            <a:avLst>
              <a:gd name="adj1" fmla="val -8533"/>
              <a:gd name="adj2" fmla="val 50396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연결선: 구부러짐 85">
            <a:extLst>
              <a:ext uri="{FF2B5EF4-FFF2-40B4-BE49-F238E27FC236}">
                <a16:creationId xmlns:a16="http://schemas.microsoft.com/office/drawing/2014/main" id="{F16CCFF3-260A-0D9B-D9EB-99CA4DC76787}"/>
              </a:ext>
            </a:extLst>
          </p:cNvPr>
          <p:cNvCxnSpPr>
            <a:cxnSpLocks/>
            <a:stCxn id="71" idx="0"/>
            <a:endCxn id="79" idx="2"/>
          </p:cNvCxnSpPr>
          <p:nvPr/>
        </p:nvCxnSpPr>
        <p:spPr>
          <a:xfrm rot="16200000" flipH="1">
            <a:off x="9541016" y="3868413"/>
            <a:ext cx="2678894" cy="957426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25D13DE-4E77-85CE-1A17-259EF1633115}"/>
              </a:ext>
            </a:extLst>
          </p:cNvPr>
          <p:cNvSpPr txBox="1"/>
          <p:nvPr/>
        </p:nvSpPr>
        <p:spPr>
          <a:xfrm>
            <a:off x="2308730" y="6209216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9217111-F7A7-E59D-7BDB-DD05AB958461}"/>
              </a:ext>
            </a:extLst>
          </p:cNvPr>
          <p:cNvSpPr txBox="1"/>
          <p:nvPr/>
        </p:nvSpPr>
        <p:spPr>
          <a:xfrm>
            <a:off x="8916113" y="620921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Decoder(RNN)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DD0E327F-488D-87E9-9A94-3F5FC19F8AE0}"/>
              </a:ext>
            </a:extLst>
          </p:cNvPr>
          <p:cNvCxnSpPr/>
          <p:nvPr/>
        </p:nvCxnSpPr>
        <p:spPr>
          <a:xfrm>
            <a:off x="344604" y="6134100"/>
            <a:ext cx="495549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8A13201-150C-6F80-4651-B2B56214D958}"/>
              </a:ext>
            </a:extLst>
          </p:cNvPr>
          <p:cNvCxnSpPr/>
          <p:nvPr/>
        </p:nvCxnSpPr>
        <p:spPr>
          <a:xfrm>
            <a:off x="6854207" y="6134100"/>
            <a:ext cx="495549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3">
            <a:extLst>
              <a:ext uri="{FF2B5EF4-FFF2-40B4-BE49-F238E27FC236}">
                <a16:creationId xmlns:a16="http://schemas.microsoft.com/office/drawing/2014/main" id="{F3542B14-C40D-09AF-A4DB-DDC7972565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460" y="1207225"/>
            <a:ext cx="11137734" cy="1305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입력-정답 시차 구조: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RNN 입력([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 89, 45, 12, 512)과 정답(89, 45, 12, 512, 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])이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차이로 배치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첫 시점부터 강제 주입: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89)부터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=5까지, 이전 예측과 무관하게 실제 정답 단어를 RNN 입력으로 직접 주입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은닉 상태(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State) 유지: 각 시점의 RNN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state가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다음 시점으로 전달되어 전체 문맥 정보가 연결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독립적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계산: 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Timestep별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출력과 정답을 1:1 비교해 손실을 계산함(패딩 오차는 제외) 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4D3D1509-47BD-541C-AA25-C8FFC92BEB8C}"/>
              </a:ext>
            </a:extLst>
          </p:cNvPr>
          <p:cNvSpPr/>
          <p:nvPr/>
        </p:nvSpPr>
        <p:spPr>
          <a:xfrm>
            <a:off x="5624838" y="4216783"/>
            <a:ext cx="916952" cy="334350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Context vector</a:t>
            </a:r>
            <a:endParaRPr lang="ko-KR" altLang="en-US" sz="12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5371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ACC60-8CD9-2604-14C3-5E280A4B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45CE89-24E7-5E7E-E6EB-6645FAC136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163C84-41EC-3A42-E9F3-96C8BD507D47}"/>
              </a:ext>
            </a:extLst>
          </p:cNvPr>
          <p:cNvSpPr txBox="1"/>
          <p:nvPr/>
        </p:nvSpPr>
        <p:spPr>
          <a:xfrm>
            <a:off x="571500" y="1248422"/>
            <a:ext cx="11049000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영어는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"you"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뒤에 나오지만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스페인어는 그에 해당하는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앞에 나와야 하니 원문을 한 단어씩 읽으면서 동시에 실시간으로 번역하는 것은 불가능하기에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영어 문장 전체를 끝까지 다 읽고 기억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그 기억을 이어받아 스페인어 첫 글자부터 차례대로 써 내려가는 구조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(Seq2Seq)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써야만 어순이 다른 언어를 제대로 번역할 수 있는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구조가 필요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4A93C2-D0B3-20F8-6CD2-03F1EA69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283" y="3171883"/>
            <a:ext cx="6089417" cy="237480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B49EAB-A5FB-564C-F664-A8942FC2E1DF}"/>
              </a:ext>
            </a:extLst>
          </p:cNvPr>
          <p:cNvSpPr txBox="1"/>
          <p:nvPr/>
        </p:nvSpPr>
        <p:spPr>
          <a:xfrm>
            <a:off x="2492607" y="5574596"/>
            <a:ext cx="61560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sequence-to-sequence RNN: an RNN encoder is used to produce a vector that encodes the entire source sequence, which is used as the initial state for an RNN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BE4E2A-97B4-4364-92AB-B92A13B4ADB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137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B106-462C-BB1A-7F8D-2F42E848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751891-9DC0-347C-5D3E-D8A2EBBE5D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49-EEF0-DB08-B539-AB13B15F32FB}"/>
              </a:ext>
            </a:extLst>
          </p:cNvPr>
          <p:cNvSpPr txBox="1"/>
          <p:nvPr/>
        </p:nvSpPr>
        <p:spPr>
          <a:xfrm>
            <a:off x="624422" y="1320872"/>
            <a:ext cx="6443128" cy="23214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=True)(source)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layers.Bidirectional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merge_mode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="sum")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b="1" i="0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7AF0E-1515-68F9-7819-B84A2196B818}"/>
              </a:ext>
            </a:extLst>
          </p:cNvPr>
          <p:cNvSpPr txBox="1"/>
          <p:nvPr/>
        </p:nvSpPr>
        <p:spPr>
          <a:xfrm>
            <a:off x="4304781" y="3886827"/>
            <a:ext cx="6524626" cy="26446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=True)(target)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initial_state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Predicts the next word of the translation, given the current word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seq2seq_rnn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([source, target],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B3B16C8-292E-76A4-CE8F-2C6607434696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3291981" y="4196345"/>
            <a:ext cx="1566804" cy="4587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67716D-79C8-D075-2609-07996E652543}"/>
              </a:ext>
            </a:extLst>
          </p:cNvPr>
          <p:cNvSpPr txBox="1"/>
          <p:nvPr/>
        </p:nvSpPr>
        <p:spPr>
          <a:xfrm>
            <a:off x="2075931" y="3702161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Encoder RNN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A41A4-C63B-D482-DFE3-2E95439D1286}"/>
              </a:ext>
            </a:extLst>
          </p:cNvPr>
          <p:cNvSpPr txBox="1"/>
          <p:nvPr/>
        </p:nvSpPr>
        <p:spPr>
          <a:xfrm>
            <a:off x="2731560" y="5352462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Decoder RNN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8D1A4-8E53-F5CD-E421-B7EC737D4596}"/>
              </a:ext>
            </a:extLst>
          </p:cNvPr>
          <p:cNvSpPr txBox="1"/>
          <p:nvPr/>
        </p:nvSpPr>
        <p:spPr>
          <a:xfrm>
            <a:off x="2075931" y="3973875"/>
            <a:ext cx="1870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왜 양방향 학습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F12CA5-2A62-1D5F-D5FF-F47F6EB452AE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15A4EAB-4BDC-CD4A-9E8F-9C61C8169477}"/>
              </a:ext>
            </a:extLst>
          </p:cNvPr>
          <p:cNvSpPr/>
          <p:nvPr/>
        </p:nvSpPr>
        <p:spPr>
          <a:xfrm>
            <a:off x="475645" y="3286125"/>
            <a:ext cx="1600286" cy="44681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41A3A89-5C49-71D7-61F0-DCFBBE256077}"/>
              </a:ext>
            </a:extLst>
          </p:cNvPr>
          <p:cNvSpPr/>
          <p:nvPr/>
        </p:nvSpPr>
        <p:spPr>
          <a:xfrm>
            <a:off x="7219345" y="4876212"/>
            <a:ext cx="1600286" cy="44681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17850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71C6-A51C-4250-3D18-CD5EA14E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E4480-4914-51E3-5D40-1279B5895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6159C-E559-39AE-A015-F02E36735B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Limitations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of 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BFC5C-216E-7ABD-9E59-29E45E130B65}"/>
              </a:ext>
            </a:extLst>
          </p:cNvPr>
          <p:cNvSpPr txBox="1"/>
          <p:nvPr/>
        </p:nvSpPr>
        <p:spPr>
          <a:xfrm>
            <a:off x="559313" y="1419057"/>
            <a:ext cx="11073374" cy="430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RNN(LSTM, GRU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문장을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한 단어씩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구조의 한계점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(2017, google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translater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LTSM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① 정보의 병목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(Bottleneck): "500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책을 한 줄로 요약해라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인코더는 영어 문장이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끝까지 다 읽은 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하나의 고정된 크기의 기억 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긴 소설책이라도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페이지짜리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요약본으로 만들어야 하는 것과 같으며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길고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복잡해질수록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중요한 정보들이 이 좁은 병목 구간에서 다 구겨지고 유실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장기 기억 상실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 무슨 말 했더라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단어를 읽을 때마다 기존 기억 위에 새로운 기억을 계속 덮어쓰게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누군가 나에게 단어를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연속으로 말해주는 상황으로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단어를 들을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때쯤이면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번째로 말했던 단어들은 머릿속에서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흐릿해져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기억나지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않개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번역기는 문장이 길어지면 앞부분의 문맥을 완전히 까먹고 엉뚱한 번역을 하는 고질적인 문제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F85A34-612B-ED67-5E31-C27D62118C63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8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9395-736B-39DF-7E95-2DC40B47A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13AD6-ED11-224E-CB94-4BE851D68E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203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Lora" pitchFamily="2" charset="0"/>
              </a:rPr>
              <a:t>Transformer</a:t>
            </a:r>
            <a:endParaRPr lang="ko-KR" altLang="en-US" sz="4400" dirty="0">
              <a:solidFill>
                <a:schemeClr val="bg1"/>
              </a:solidFill>
              <a:latin typeface="Lora" pitchFamily="2" charset="0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A300CBE6-A68F-D4FD-925F-A3BB91E3EC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976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4BCD-0EA9-41D8-A540-61245E54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41DE0DB-EC79-37FC-20F6-B0A318D9D5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D9538-17D4-5A3B-4535-32EE8A0E37FA}"/>
              </a:ext>
            </a:extLst>
          </p:cNvPr>
          <p:cNvSpPr txBox="1"/>
          <p:nvPr/>
        </p:nvSpPr>
        <p:spPr>
          <a:xfrm>
            <a:off x="5778872" y="1547212"/>
            <a:ext cx="6096000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)'이라고 불리는 이 단순한 메커니즘을 사용하면 순환 레이어(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전혀 사용하지 않고도 강력한 시퀀스 모델을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 기반 모델(LSTM, GRU 등)뿐만 아니라, 당시 막강한 대안으로 떠오르던 CNN 기반의 시퀀스 모델(ConvS2S 등)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사용하지 않는 단순한 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현재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Ollama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바탕으로 개발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63161F-BF14-267C-746C-B3BEADF2B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47" y="1547212"/>
            <a:ext cx="5206025" cy="467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8F5A8-9933-7662-BA0E-D31893ABA11C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20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81783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1C72-4197-8941-AFF5-049D7565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7C4970D-D44F-2504-08A7-41E2746F7F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5C9F35C-A020-5175-F5C0-9AE5B7970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73" y="1488141"/>
            <a:ext cx="3980872" cy="42108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23C8B-4332-FD67-9334-8E7E4C519343}"/>
              </a:ext>
            </a:extLst>
          </p:cNvPr>
          <p:cNvSpPr txBox="1"/>
          <p:nvPr/>
        </p:nvSpPr>
        <p:spPr>
          <a:xfrm>
            <a:off x="5006109" y="1488141"/>
            <a:ext cx="609600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Original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mechanism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 이미지에서 '무엇이 중요한지' 판단하는 과정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흑백 이미지(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보면, 고양이의 얼굴이 있는 중심부만 하얗게(높은 점수) 빛나고 배경은 까맣게(낮은 점수) 처리되어 있습니다. 즉, "여기가 제일 중요하니까 여기에 집중해!"라고 점수를 매긴 지도(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이미지에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곱해 필터링한 최종 결과물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배경은 어둡게 가려지고, 모델이 집중해야 할 고양이의 눈과 얼굴 부분만 선명하게 강조된 새로운 데이터(표현)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이제 이 핵심 정보만을 가지고 다음 연산을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7CAA5-09E1-A6A3-3719-902385AB2D32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18751FE-18F2-9D17-99AF-975D012BEB35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077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E9-D63A-8877-FBD0-86DAF608C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B358AA2-DB8C-38E1-50C1-3130DB2417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 descr="Attention visualization of different layers from our unsupervised pre‐trained model (using a tool from [58]). An attention map was generated with 16‐frame clip inputs and applied to the last frame in the video clips. Each row represents a video sample, whereas each column illustrates the different convolution layers">
            <a:extLst>
              <a:ext uri="{FF2B5EF4-FFF2-40B4-BE49-F238E27FC236}">
                <a16:creationId xmlns:a16="http://schemas.microsoft.com/office/drawing/2014/main" id="{6A73219F-9DD8-F5AD-5E51-900227F1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182" y="2539432"/>
            <a:ext cx="9120853" cy="3723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2571CD-8B62-A93E-2A14-731900273CBB}"/>
              </a:ext>
            </a:extLst>
          </p:cNvPr>
          <p:cNvSpPr txBox="1"/>
          <p:nvPr/>
        </p:nvSpPr>
        <p:spPr>
          <a:xfrm>
            <a:off x="1163783" y="6262886"/>
            <a:ext cx="8735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Exploring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complementary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information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self‐supervised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pretext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tasks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video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pre‐training</a:t>
            </a:r>
            <a:endParaRPr lang="ko-KR" altLang="ko-KR" sz="1200" b="0" i="0" dirty="0">
              <a:solidFill>
                <a:srgbClr val="11111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B6136-F1AC-F851-F77F-4902265FA8B3}"/>
              </a:ext>
            </a:extLst>
          </p:cNvPr>
          <p:cNvSpPr txBox="1"/>
          <p:nvPr/>
        </p:nvSpPr>
        <p:spPr>
          <a:xfrm>
            <a:off x="563417" y="1185280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매커니즘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결합했더니, 레이어가 깊어질수록 인간처럼 영상 속에서 배경에 현혹되지 않고 '행동의 핵심이 되는 인물과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사물'을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스스로 기가 막히게 찾아내어 집중하더라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것을 증명하는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논문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지도 학습(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)인데도 정답 없이 스스로 이 핵심 맥락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발견함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6C961-7316-807B-F971-F0B9F2EE603F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D49C722-9CC5-B3D0-C4F1-46190B72253D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9631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98A2-8124-BA79-7AD4-0C80788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>
            <a:extLst>
              <a:ext uri="{FF2B5EF4-FFF2-40B4-BE49-F238E27FC236}">
                <a16:creationId xmlns:a16="http://schemas.microsoft.com/office/drawing/2014/main" id="{7C6071FA-7C1A-CB7F-607E-63BFF4BA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98" y="2499995"/>
            <a:ext cx="7251057" cy="3449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D384CA70-161B-17F2-D1B1-0D8609D679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mechanism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D669AAA-54B3-98CF-C051-BF2F06E8A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2499995"/>
            <a:ext cx="4331909" cy="346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78B6AB-E92F-575A-2BB1-A9BE449105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3664" y="4172215"/>
            <a:ext cx="825308" cy="969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2D3A837-B3CC-CBED-65B8-CE7CE1B28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3904" y="3195320"/>
            <a:ext cx="927070" cy="7664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F5F620-4B5E-E90A-BF27-690A6AEB5EF1}"/>
              </a:ext>
            </a:extLst>
          </p:cNvPr>
          <p:cNvSpPr txBox="1"/>
          <p:nvPr/>
        </p:nvSpPr>
        <p:spPr>
          <a:xfrm>
            <a:off x="599440" y="1248422"/>
            <a:ext cx="1131824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Word 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시각화한 후 각 포인트의 내적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코사인 유사성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(Cosine Similarity)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계산하면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비슷한 데이터 포인트의 내적과 코사인 유사성이 커지게 됨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B193797-BAB0-C015-0C4A-F2F879C4F47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8207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595E-F380-3DED-F8D7-C89968203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3F55C73-B45C-3AD9-9ACA-ABBD0A1606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Attention Mechanism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81B4F84-B20F-3B18-0D1B-247AEE6AA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25" y="2233437"/>
            <a:ext cx="5173550" cy="23309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FEDCD-3ACE-670C-3B97-FCE97A3AD0D4}"/>
              </a:ext>
            </a:extLst>
          </p:cNvPr>
          <p:cNvSpPr txBox="1"/>
          <p:nvPr/>
        </p:nvSpPr>
        <p:spPr>
          <a:xfrm>
            <a:off x="6514230" y="2242322"/>
            <a:ext cx="4831520" cy="230832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내적 점수 계산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 Score)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lvl="1"/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벡터와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“bring’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단어의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벡터의 내적 값은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[0.56, 2.51, 0.49, 1.21]</a:t>
            </a:r>
          </a:p>
          <a:p>
            <a:pPr marL="800100" lvl="1" indent="-342900">
              <a:buFont typeface="+mj-lt"/>
              <a:buAutoNum type="arabicPeriod"/>
            </a:pPr>
            <a:endParaRPr lang="en-US" altLang="ko-KR" sz="12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 Weights):</a:t>
            </a:r>
            <a:endParaRPr lang="en-US" altLang="ko-KR" sz="12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(attention weight)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[0.0919, 0.6462, 0.0857, 0.1761]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이며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endParaRPr lang="en-US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값을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임베딩에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곱해서 합을 생성</a:t>
            </a:r>
            <a:endParaRPr lang="ko-KR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209FEE-C228-2E1F-12A2-AFB5FF530FF1}"/>
              </a:ext>
            </a:extLst>
          </p:cNvPr>
          <p:cNvSpPr txBox="1"/>
          <p:nvPr/>
        </p:nvSpPr>
        <p:spPr>
          <a:xfrm>
            <a:off x="6248526" y="6237517"/>
            <a:ext cx="3139003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0.6790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115801C9-1C49-8A81-C541-5665623596B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514230" y="5296169"/>
            <a:ext cx="2023521" cy="864369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97E6ECC-001F-F4A6-58D3-CAE733490DEB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18E027-B3AA-C759-E6A5-DC7B3311FEE0}"/>
              </a:ext>
            </a:extLst>
          </p:cNvPr>
          <p:cNvSpPr txBox="1"/>
          <p:nvPr/>
        </p:nvSpPr>
        <p:spPr>
          <a:xfrm>
            <a:off x="543206" y="1179806"/>
            <a:ext cx="11115394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특정 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"bring"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생성할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입력 문장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la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어느 단어에 얼마나 집중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해야 하는지 계산하는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메커니즘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(bring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0.6790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집중하라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!)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862FDC-6EE2-DB87-2CD7-2CACC3E3B6C3}"/>
              </a:ext>
            </a:extLst>
          </p:cNvPr>
          <p:cNvSpPr txBox="1"/>
          <p:nvPr/>
        </p:nvSpPr>
        <p:spPr>
          <a:xfrm>
            <a:off x="711425" y="4818391"/>
            <a:ext cx="2306591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bring  </a:t>
            </a:r>
            <a:r>
              <a:rPr lang="ko-KR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D352AD9-6724-D087-3A24-03D2606909D8}"/>
              </a:ext>
            </a:extLst>
          </p:cNvPr>
          <p:cNvSpPr txBox="1"/>
          <p:nvPr/>
        </p:nvSpPr>
        <p:spPr>
          <a:xfrm>
            <a:off x="9351404" y="4818391"/>
            <a:ext cx="24191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5DFE71-28C8-7FD7-5D9B-C3C863148C70}"/>
              </a:ext>
            </a:extLst>
          </p:cNvPr>
          <p:cNvSpPr txBox="1"/>
          <p:nvPr/>
        </p:nvSpPr>
        <p:spPr>
          <a:xfrm>
            <a:off x="635225" y="5711668"/>
            <a:ext cx="234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[0.56, 2.51, 0.49, 1.21]</a:t>
            </a:r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9945C1-8C3E-908F-2E46-43F1ABFB564C}"/>
              </a:ext>
            </a:extLst>
          </p:cNvPr>
          <p:cNvSpPr txBox="1"/>
          <p:nvPr/>
        </p:nvSpPr>
        <p:spPr>
          <a:xfrm>
            <a:off x="3004270" y="4799373"/>
            <a:ext cx="3674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@</a:t>
            </a:r>
            <a:endParaRPr lang="ko-KR" altLang="en-US" sz="1600" dirty="0">
              <a:latin typeface="Calibri Light" panose="020F030202020403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2C9249-E742-400E-B5D0-F31424E55F49}"/>
              </a:ext>
            </a:extLst>
          </p:cNvPr>
          <p:cNvSpPr txBox="1"/>
          <p:nvPr/>
        </p:nvSpPr>
        <p:spPr>
          <a:xfrm>
            <a:off x="6324726" y="4818391"/>
            <a:ext cx="29132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([0.56, 2.51, 0.49, 1.21])</a:t>
            </a:r>
          </a:p>
          <a:p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[0.0919, 0.6462, 0.0857, 0.1761]</a:t>
            </a:r>
            <a:endParaRPr lang="ko-KR" alt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196B74-2B7E-2E24-BD50-554BFCD52BE0}"/>
              </a:ext>
            </a:extLst>
          </p:cNvPr>
          <p:cNvSpPr txBox="1"/>
          <p:nvPr/>
        </p:nvSpPr>
        <p:spPr>
          <a:xfrm>
            <a:off x="9007466" y="4971856"/>
            <a:ext cx="3674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@</a:t>
            </a:r>
            <a:endParaRPr lang="ko-KR" altLang="en-US" sz="1600" dirty="0">
              <a:latin typeface="Calibri Light" panose="020F030202020403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</p:txBody>
      </p:sp>
      <p:cxnSp>
        <p:nvCxnSpPr>
          <p:cNvPr id="47" name="연결선: 꺾임 46">
            <a:extLst>
              <a:ext uri="{FF2B5EF4-FFF2-40B4-BE49-F238E27FC236}">
                <a16:creationId xmlns:a16="http://schemas.microsoft.com/office/drawing/2014/main" id="{F3790798-80FB-B532-9719-E5039AB7287E}"/>
              </a:ext>
            </a:extLst>
          </p:cNvPr>
          <p:cNvCxnSpPr>
            <a:stCxn id="37" idx="3"/>
            <a:endCxn id="40" idx="1"/>
          </p:cNvCxnSpPr>
          <p:nvPr/>
        </p:nvCxnSpPr>
        <p:spPr>
          <a:xfrm flipV="1">
            <a:off x="2975695" y="5049224"/>
            <a:ext cx="3349031" cy="800944"/>
          </a:xfrm>
          <a:prstGeom prst="bentConnector3">
            <a:avLst>
              <a:gd name="adj1" fmla="val 8668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D68CD3C-D03E-4059-5D28-7AAB6407BAFC}"/>
              </a:ext>
            </a:extLst>
          </p:cNvPr>
          <p:cNvSpPr txBox="1"/>
          <p:nvPr/>
        </p:nvSpPr>
        <p:spPr>
          <a:xfrm>
            <a:off x="3333950" y="4818391"/>
            <a:ext cx="24191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</p:spTree>
    <p:extLst>
      <p:ext uri="{BB962C8B-B14F-4D97-AF65-F5344CB8AC3E}">
        <p14:creationId xmlns:p14="http://schemas.microsoft.com/office/powerpoint/2010/main" val="1001042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BCDE-48D0-D947-2AC3-05D8719F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0CA67B-0067-E27D-6859-76E0A873E6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07912B-8FD4-8EAC-1BAA-D3C18E409216}"/>
              </a:ext>
            </a:extLst>
          </p:cNvPr>
          <p:cNvSpPr txBox="1"/>
          <p:nvPr/>
        </p:nvSpPr>
        <p:spPr>
          <a:xfrm>
            <a:off x="537021" y="1551563"/>
            <a:ext cx="1035376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오버플로우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방지를 위해 최댓값을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빼주는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안정적인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점수(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구현: 여기서는 가장 널리 쓰이는 '내적(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)’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4차원 단어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소스 단어들 (스페인어 원문 벡터 리스트)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["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(가져오다 - 의미적 값이 큼)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타겟 단어 (현재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출력하려는 영어 단어 벡터)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(가져오다)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6D508B6-BB2E-01F1-505E-0A98CC11684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6946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E55A-319D-D843-7B87-BF9001557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F72A09-AEE7-4810-EAAD-B6E381EA6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06D37C-FFD3-3818-5D79-EADC347494B1}"/>
              </a:ext>
            </a:extLst>
          </p:cNvPr>
          <p:cNvSpPr txBox="1"/>
          <p:nvPr/>
        </p:nvSpPr>
        <p:spPr>
          <a:xfrm>
            <a:off x="572626" y="1500202"/>
            <a:ext cx="9550429" cy="426046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1단계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각 소스 단어와 타겟 단어 간의 연관성 점수 계산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(f"1. 날것의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출력 결과 '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traeré'의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점수가 가장 높음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소프트맥스를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취해 합이 1이 되는 가중치 확률로 변환</a:t>
            </a:r>
          </a:p>
          <a:p>
            <a:pPr>
              <a:lnSpc>
                <a:spcPct val="150000"/>
              </a:lnSpc>
            </a:pP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"\n2.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정규화 후 가중치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가중치 총합: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zip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"],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-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}: {weight:.4f}")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Weighted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구하기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원소별 곱(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)을 한 뒤, 행(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 기준으로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총합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"\n3. 최종 추출된 문맥 벡터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pic>
        <p:nvPicPr>
          <p:cNvPr id="6" name="그래픽 5" descr="배지 1 단색으로 채워진">
            <a:extLst>
              <a:ext uri="{FF2B5EF4-FFF2-40B4-BE49-F238E27FC236}">
                <a16:creationId xmlns:a16="http://schemas.microsoft.com/office/drawing/2014/main" id="{8D1A90B7-98C0-4091-55B0-6CCC630E5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258" y="1912376"/>
            <a:ext cx="276330" cy="276330"/>
          </a:xfrm>
          <a:prstGeom prst="rect">
            <a:avLst/>
          </a:prstGeom>
        </p:spPr>
      </p:pic>
      <p:pic>
        <p:nvPicPr>
          <p:cNvPr id="7" name="그래픽 6" descr="배지 단색으로 채워진">
            <a:extLst>
              <a:ext uri="{FF2B5EF4-FFF2-40B4-BE49-F238E27FC236}">
                <a16:creationId xmlns:a16="http://schemas.microsoft.com/office/drawing/2014/main" id="{48FB9DEE-5FDF-19C5-8AFE-697612A6D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58" y="3171720"/>
            <a:ext cx="276330" cy="276330"/>
          </a:xfrm>
          <a:prstGeom prst="rect">
            <a:avLst/>
          </a:prstGeom>
        </p:spPr>
      </p:pic>
      <p:pic>
        <p:nvPicPr>
          <p:cNvPr id="8" name="그래픽 7" descr="배지 3 단색으로 채워진">
            <a:extLst>
              <a:ext uri="{FF2B5EF4-FFF2-40B4-BE49-F238E27FC236}">
                <a16:creationId xmlns:a16="http://schemas.microsoft.com/office/drawing/2014/main" id="{81DAE5CF-BC30-62E7-0DC1-7E18E9F108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7258" y="5089981"/>
            <a:ext cx="276330" cy="276330"/>
          </a:xfrm>
          <a:prstGeom prst="rect">
            <a:avLst/>
          </a:prstGeom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98B3D40-C5ED-FECB-6817-4E22B62AF0C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1999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B87F7-4577-3A9B-A571-30409426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85AB3F0-4EF5-C7B7-8CC5-74D815029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: summary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51A6D1-52D7-E7C4-E4C9-F3AF79593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4948745" cy="2229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28AC0E-2712-39EE-3B6F-D2420FAEA1A5}"/>
              </a:ext>
            </a:extLst>
          </p:cNvPr>
          <p:cNvSpPr txBox="1"/>
          <p:nvPr/>
        </p:nvSpPr>
        <p:spPr>
          <a:xfrm>
            <a:off x="1476339" y="3662917"/>
            <a:ext cx="168989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488CF9-30F3-19FA-39C6-E5D6ED8B648D}"/>
              </a:ext>
            </a:extLst>
          </p:cNvPr>
          <p:cNvSpPr txBox="1"/>
          <p:nvPr/>
        </p:nvSpPr>
        <p:spPr>
          <a:xfrm>
            <a:off x="3004785" y="5759262"/>
            <a:ext cx="2345495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4489A3-B97F-4857-94C9-992DACAD2A0C}"/>
              </a:ext>
            </a:extLst>
          </p:cNvPr>
          <p:cNvSpPr/>
          <p:nvPr/>
        </p:nvSpPr>
        <p:spPr>
          <a:xfrm>
            <a:off x="1865746" y="3240628"/>
            <a:ext cx="911085" cy="355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24CC52-E662-7DCB-F345-32678DD6EED8}"/>
              </a:ext>
            </a:extLst>
          </p:cNvPr>
          <p:cNvSpPr txBox="1"/>
          <p:nvPr/>
        </p:nvSpPr>
        <p:spPr>
          <a:xfrm>
            <a:off x="5726546" y="1366661"/>
            <a:ext cx="5838279" cy="48653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Mechanism = 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맞춤형 문맥 가이드라인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벡터는 다음 레이어로 넘겨줄 "스페인어 문장의 엑기스 요약본“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스페인어 단어 중 가장 중요했던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[0.8, 0.9, 0.7, 0.9]의 값과 최종 결과물 [0.63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0.67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0.59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]를 비교해 보세요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64.6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%라는 큰 가중치를 받았기 때문에 전체적인 모양새(수치 경향성)가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쏙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빼닮아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있지만 완전히 똑같진 않죠? 두 번째로 가중치가 높았던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[0.5, 0.4, 0.6, 0.2]의 성분도 17.6%만큼 은은하게 섞여 들어갔기 때문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최종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단순히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하나만을 뜻하는 게 아니라, "지금 영어로 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bring'을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출력하려는 순간에, 스페인어 원문에서 가져오다('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')라는 행동 정보와 가방('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')이라는 목적어 정보를 최적의 비율로 융합해 놓은 단 하나의 벡터“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＂군더더기(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싹 걸러내고, 핵심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정확하게 버무려진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Context vector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＂를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전달하면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영어 문장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will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you"를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완벽하게 완성해 나갈 수 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84D2CE-F01F-7E46-26AF-CA2CC9A83760}"/>
              </a:ext>
            </a:extLst>
          </p:cNvPr>
          <p:cNvSpPr txBox="1"/>
          <p:nvPr/>
        </p:nvSpPr>
        <p:spPr>
          <a:xfrm>
            <a:off x="3644511" y="1802420"/>
            <a:ext cx="1720540" cy="83099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1D5AB4D7-9798-F976-3FD7-DE3A692E74B0}"/>
              </a:ext>
            </a:extLst>
          </p:cNvPr>
          <p:cNvCxnSpPr>
            <a:cxnSpLocks/>
            <a:stCxn id="24" idx="2"/>
            <a:endCxn id="9" idx="0"/>
          </p:cNvCxnSpPr>
          <p:nvPr/>
        </p:nvCxnSpPr>
        <p:spPr>
          <a:xfrm rot="5400000">
            <a:off x="2778235" y="4032715"/>
            <a:ext cx="3125845" cy="327248"/>
          </a:xfrm>
          <a:prstGeom prst="bentConnector3">
            <a:avLst>
              <a:gd name="adj1" fmla="val 50000"/>
            </a:avLst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657DF47-A658-C852-3125-AC09F4F3C187}"/>
              </a:ext>
            </a:extLst>
          </p:cNvPr>
          <p:cNvSpPr txBox="1"/>
          <p:nvPr/>
        </p:nvSpPr>
        <p:spPr>
          <a:xfrm>
            <a:off x="2847878" y="4939305"/>
            <a:ext cx="2728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0CD02-1A36-093E-930B-928933FA62D2}"/>
              </a:ext>
            </a:extLst>
          </p:cNvPr>
          <p:cNvSpPr txBox="1"/>
          <p:nvPr/>
        </p:nvSpPr>
        <p:spPr>
          <a:xfrm>
            <a:off x="1376178" y="4914487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8D586B-E5DC-F053-E5A6-159ABD6EE8B3}"/>
              </a:ext>
            </a:extLst>
          </p:cNvPr>
          <p:cNvSpPr txBox="1"/>
          <p:nvPr/>
        </p:nvSpPr>
        <p:spPr>
          <a:xfrm>
            <a:off x="3290864" y="4133515"/>
            <a:ext cx="2247549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Attention Mechanism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6EE169F-085C-5A95-690A-402E498FEFF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4B87CE-FB39-4C74-515A-7AD359F055E7}"/>
              </a:ext>
            </a:extLst>
          </p:cNvPr>
          <p:cNvSpPr txBox="1"/>
          <p:nvPr/>
        </p:nvSpPr>
        <p:spPr>
          <a:xfrm>
            <a:off x="1376178" y="5734444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context vector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8904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685C-E50D-BEBD-6B3A-46B2BAF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1DF0EEA-41CE-B640-7302-8DB617759E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Dot-product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attention</a:t>
            </a:r>
            <a:r>
              <a:rPr lang="en-US" altLang="ko-KR" sz="2800" b="1" cap="none" dirty="0">
                <a:latin typeface="Lora" pitchFamily="2" charset="0"/>
              </a:rPr>
              <a:t> vs. RNN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ED1426-C41E-BD79-2679-DC470AF3B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66" y="2927906"/>
            <a:ext cx="3804659" cy="34689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A80E212-B6B2-A504-6A2E-DCC6C015C9DF}"/>
              </a:ext>
            </a:extLst>
          </p:cNvPr>
          <p:cNvSpPr/>
          <p:nvPr/>
        </p:nvSpPr>
        <p:spPr>
          <a:xfrm>
            <a:off x="2447926" y="3078077"/>
            <a:ext cx="655782" cy="24978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D427B87-73DB-9D7A-1E52-8D70E976C23F}"/>
              </a:ext>
            </a:extLst>
          </p:cNvPr>
          <p:cNvCxnSpPr>
            <a:cxnSpLocks/>
            <a:stCxn id="10" idx="3"/>
            <a:endCxn id="17" idx="2"/>
          </p:cNvCxnSpPr>
          <p:nvPr/>
        </p:nvCxnSpPr>
        <p:spPr>
          <a:xfrm flipV="1">
            <a:off x="3103708" y="3641566"/>
            <a:ext cx="4621551" cy="685449"/>
          </a:xfrm>
          <a:prstGeom prst="bentConnector2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85ECF-26E2-67D4-E12D-AF19B5C9B784}"/>
              </a:ext>
            </a:extLst>
          </p:cNvPr>
          <p:cNvSpPr txBox="1"/>
          <p:nvPr/>
        </p:nvSpPr>
        <p:spPr>
          <a:xfrm>
            <a:off x="6001141" y="2950945"/>
            <a:ext cx="3127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(scores)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03CE3E-8C4C-1C43-E24E-7DA8A2D1DDEA}"/>
              </a:ext>
            </a:extLst>
          </p:cNvPr>
          <p:cNvSpPr txBox="1"/>
          <p:nvPr/>
        </p:nvSpPr>
        <p:spPr>
          <a:xfrm>
            <a:off x="6020191" y="3303012"/>
            <a:ext cx="3410136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B9962-25D9-08B9-5AFA-8203049ECF24}"/>
              </a:ext>
            </a:extLst>
          </p:cNvPr>
          <p:cNvSpPr txBox="1"/>
          <p:nvPr/>
        </p:nvSpPr>
        <p:spPr>
          <a:xfrm>
            <a:off x="558799" y="1251977"/>
            <a:ext cx="1100788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인코더는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처럼 입력된 문장의 모든 단어 벡터들을 중간에 하나로 뭉치지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단어로 구성되어도 각각 독립된 형태로 메모리에 전부 유지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(ChatGPT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다른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쓸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입력할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_Context Window)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779E95-7CCB-95C4-4EB2-22418D933952}"/>
              </a:ext>
            </a:extLst>
          </p:cNvPr>
          <p:cNvSpPr txBox="1"/>
          <p:nvPr/>
        </p:nvSpPr>
        <p:spPr>
          <a:xfrm>
            <a:off x="5772150" y="4530103"/>
            <a:ext cx="5868785" cy="200298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아무리 긴 문장을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hidden state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단 하나의 고정된 가방(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)에 모든 걸 억지로 밀어 넣어야 해서 긴 문장을 읽을 때 앞부분을 까먹는 한계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문장의 모든 단어 벡터를 메모리에 그대로 펼쳐 놓은 뒤,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검색 시스템(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통해 매 순간 필요한 단어의 정보로 직접 링크를 연결하여 이 한계를 완벽하게 극복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단 메모리 폭증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0BEA13F-33AC-2946-E451-2887353AFCD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6754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/>
      <p:bldP spid="1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A04-637B-645C-99DF-7D88A125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F5DFFC-9095-DCA0-C08C-70FAA0EC7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Attention(Query, Key, Value Attention)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742539-1047-AADF-A318-E21EC294A720}"/>
              </a:ext>
            </a:extLst>
          </p:cNvPr>
          <p:cNvSpPr txBox="1"/>
          <p:nvPr/>
        </p:nvSpPr>
        <p:spPr>
          <a:xfrm>
            <a:off x="600074" y="1383864"/>
            <a:ext cx="8686801" cy="12464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/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동시에 함 (재탕)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# 여기서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(기준)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최종 합산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 # 여기서 또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B95FD4-7953-6D6C-949B-752175600DF8}"/>
              </a:ext>
            </a:extLst>
          </p:cNvPr>
          <p:cNvSpPr txBox="1"/>
          <p:nvPr/>
        </p:nvSpPr>
        <p:spPr>
          <a:xfrm>
            <a:off x="600074" y="3400425"/>
            <a:ext cx="7981952" cy="26314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먼저 가중치 행렬(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곱해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values로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완전히 분리해 둡니다.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W_Q)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W_K)    # 점수 매기기 전용 (기존의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안의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W_V)  # 실제 알맹이 전용 (기존의 최종 합산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점수 계산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비교)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k)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k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최종 합산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곱함)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  <p:sp>
        <p:nvSpPr>
          <p:cNvPr id="11" name="설명선: 선(강조선) 10">
            <a:extLst>
              <a:ext uri="{FF2B5EF4-FFF2-40B4-BE49-F238E27FC236}">
                <a16:creationId xmlns:a16="http://schemas.microsoft.com/office/drawing/2014/main" id="{074597CC-5B92-16E9-A4E0-1E54945799A1}"/>
              </a:ext>
            </a:extLst>
          </p:cNvPr>
          <p:cNvSpPr/>
          <p:nvPr/>
        </p:nvSpPr>
        <p:spPr>
          <a:xfrm>
            <a:off x="8975982" y="3133725"/>
            <a:ext cx="2892167" cy="2819400"/>
          </a:xfrm>
          <a:prstGeom prst="accentCallout1">
            <a:avLst>
              <a:gd name="adj1" fmla="val 18750"/>
              <a:gd name="adj2" fmla="val -8333"/>
              <a:gd name="adj3" fmla="val 22237"/>
              <a:gd name="adj4" fmla="val -132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_Q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W_K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라는 학습 가능한 파라미터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가정하고 행렬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무엇이냐에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따라 이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모델은 데이터를 늘릴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회전시킬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차원을 찌그러뜨릴 수도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가능하게 되어</a:t>
            </a: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표현할 수 있는 관계성의 가짓수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함수의 후보들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수억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수조 개로 늘어난 것입니다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이것은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가설 공간을 훨씬 더 풍부하게 만들어 줌</a:t>
            </a:r>
          </a:p>
        </p:txBody>
      </p:sp>
      <p:sp>
        <p:nvSpPr>
          <p:cNvPr id="12" name="설명선: 선(강조선) 11">
            <a:extLst>
              <a:ext uri="{FF2B5EF4-FFF2-40B4-BE49-F238E27FC236}">
                <a16:creationId xmlns:a16="http://schemas.microsoft.com/office/drawing/2014/main" id="{57B4367C-8247-34B9-0338-40B441E54151}"/>
              </a:ext>
            </a:extLst>
          </p:cNvPr>
          <p:cNvSpPr/>
          <p:nvPr/>
        </p:nvSpPr>
        <p:spPr>
          <a:xfrm>
            <a:off x="9680832" y="1383864"/>
            <a:ext cx="2082544" cy="1246495"/>
          </a:xfrm>
          <a:prstGeom prst="accentCallout1">
            <a:avLst>
              <a:gd name="adj1" fmla="val 18750"/>
              <a:gd name="adj2" fmla="val -8333"/>
              <a:gd name="adj3" fmla="val 24529"/>
              <a:gd name="adj4" fmla="val -19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고정된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임베딩이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약점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apple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경우에도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맥킨토시나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아이폰 등과 같은 단어와 연관성을 찾기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힘등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D2CE9684-F397-CE45-DA5F-7FA117778FB7}"/>
              </a:ext>
            </a:extLst>
          </p:cNvPr>
          <p:cNvSpPr/>
          <p:nvPr/>
        </p:nvSpPr>
        <p:spPr>
          <a:xfrm>
            <a:off x="3495676" y="2765801"/>
            <a:ext cx="571499" cy="491749"/>
          </a:xfrm>
          <a:prstGeom prst="downArrow">
            <a:avLst>
              <a:gd name="adj1" fmla="val 5239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BD3113B-CEE3-3AB2-CA62-3B7E2CA67ECB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40088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CB405-D6C7-ADE4-E6C7-13622ED9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14144D-DE28-CC37-6413-8FCCB8D0D76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75F6CC-0992-D203-7166-5DCEC72DD648}"/>
              </a:ext>
            </a:extLst>
          </p:cNvPr>
          <p:cNvSpPr txBox="1"/>
          <p:nvPr/>
        </p:nvSpPr>
        <p:spPr>
          <a:xfrm>
            <a:off x="575700" y="1200061"/>
            <a:ext cx="1148294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통해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Query(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Key(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Value(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전용 벡터로 변화하여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문맥에 따라 단어 간의 훨씬 정교하고 풍부한 관계를 학습할 수 있게 한 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표 9">
                <a:extLst>
                  <a:ext uri="{FF2B5EF4-FFF2-40B4-BE49-F238E27FC236}">
                    <a16:creationId xmlns:a16="http://schemas.microsoft.com/office/drawing/2014/main" id="{AB2ADE68-BE8A-4178-3BFB-88FD36E644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390820"/>
                  </p:ext>
                </p:extLst>
              </p:nvPr>
            </p:nvGraphicFramePr>
            <p:xfrm>
              <a:off x="741681" y="2182071"/>
              <a:ext cx="10890886" cy="4127635"/>
            </p:xfrm>
            <a:graphic>
              <a:graphicData uri="http://schemas.openxmlformats.org/drawingml/2006/table">
                <a:tbl>
                  <a:tblPr/>
                  <a:tblGrid>
                    <a:gridCol w="1595119">
                      <a:extLst>
                        <a:ext uri="{9D8B030D-6E8A-4147-A177-3AD203B41FA5}">
                          <a16:colId xmlns:a16="http://schemas.microsoft.com/office/drawing/2014/main" val="2224551114"/>
                        </a:ext>
                      </a:extLst>
                    </a:gridCol>
                    <a:gridCol w="3982720">
                      <a:extLst>
                        <a:ext uri="{9D8B030D-6E8A-4147-A177-3AD203B41FA5}">
                          <a16:colId xmlns:a16="http://schemas.microsoft.com/office/drawing/2014/main" val="229012036"/>
                        </a:ext>
                      </a:extLst>
                    </a:gridCol>
                    <a:gridCol w="5313047">
                      <a:extLst>
                        <a:ext uri="{9D8B030D-6E8A-4147-A177-3AD203B41FA5}">
                          <a16:colId xmlns:a16="http://schemas.microsoft.com/office/drawing/2014/main" val="315845768"/>
                        </a:ext>
                      </a:extLst>
                    </a:gridCol>
                  </a:tblGrid>
                  <a:tr h="39856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구분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기존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단순 내적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Dot-product</a:t>
                          </a:r>
                          <a:r>
                            <a:rPr lang="ko-KR" altLang="ko-KR" sz="1200" b="0" kern="1200" dirty="0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attention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Q, K, V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(W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행렬 도입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2738945"/>
                      </a:ext>
                    </a:extLst>
                  </a:tr>
                  <a:tr h="5535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입력 벡터의 활용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단어 벡터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그대로 사용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벡터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에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각각 곱해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Query, Key, Value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로 변환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24384018"/>
                      </a:ext>
                    </a:extLst>
                  </a:tr>
                  <a:tr h="4787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표현의 유연성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단어가 가진 고정된 벡터 관계를 중심으로 유사도 측정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학습된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통해 문맥과 상황에 따라 서로 다른 관계를 학습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10125211"/>
                      </a:ext>
                    </a:extLst>
                  </a:tr>
                  <a:tr h="62302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계산 방식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두 벡터의 단순 내적을 통해 관련성 계산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와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의 내적으로 어떤 단어가 중요한지 문맥에 따라 계산하고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2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oMath>
                          </a14:m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를 이용해 필요한 정보를 전달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95332"/>
                      </a:ext>
                    </a:extLst>
                  </a:tr>
                  <a:tr h="32925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 가능한 매개변수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별도의 학습 가능한 가중치 행렬이 없음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  <m: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ko-KR" altLang="en-US" sz="12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ko-KR" altLang="en-US" sz="12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라는 학습 가능한 가중치 행렬 존재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0106235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각 벡터의 역할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벡터가 모든 역할을 담당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검색 기준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실제 전달할 정보로 역할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3279722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제한적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문장 내 다른 단어 들과의 관계를 고려하여 동적으로 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1526133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학습의 표현력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비교적 단순한 관계 표현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서로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다른 관점에서 관계를 학습하여 더 정교하고 풍부한 관계 표현 가능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5635667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 한 장으로 모든 일을 처리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Key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/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색인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Value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본문 내용으로 역할을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028493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표 9">
                <a:extLst>
                  <a:ext uri="{FF2B5EF4-FFF2-40B4-BE49-F238E27FC236}">
                    <a16:creationId xmlns:a16="http://schemas.microsoft.com/office/drawing/2014/main" id="{AB2ADE68-BE8A-4178-3BFB-88FD36E644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6390820"/>
                  </p:ext>
                </p:extLst>
              </p:nvPr>
            </p:nvGraphicFramePr>
            <p:xfrm>
              <a:off x="741681" y="2182071"/>
              <a:ext cx="10890886" cy="4127635"/>
            </p:xfrm>
            <a:graphic>
              <a:graphicData uri="http://schemas.openxmlformats.org/drawingml/2006/table">
                <a:tbl>
                  <a:tblPr/>
                  <a:tblGrid>
                    <a:gridCol w="1595119">
                      <a:extLst>
                        <a:ext uri="{9D8B030D-6E8A-4147-A177-3AD203B41FA5}">
                          <a16:colId xmlns:a16="http://schemas.microsoft.com/office/drawing/2014/main" val="2224551114"/>
                        </a:ext>
                      </a:extLst>
                    </a:gridCol>
                    <a:gridCol w="3982720">
                      <a:extLst>
                        <a:ext uri="{9D8B030D-6E8A-4147-A177-3AD203B41FA5}">
                          <a16:colId xmlns:a16="http://schemas.microsoft.com/office/drawing/2014/main" val="229012036"/>
                        </a:ext>
                      </a:extLst>
                    </a:gridCol>
                    <a:gridCol w="5313047">
                      <a:extLst>
                        <a:ext uri="{9D8B030D-6E8A-4147-A177-3AD203B41FA5}">
                          <a16:colId xmlns:a16="http://schemas.microsoft.com/office/drawing/2014/main" val="315845768"/>
                        </a:ext>
                      </a:extLst>
                    </a:gridCol>
                  </a:tblGrid>
                  <a:tr h="39856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구분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기존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단순 내적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Dot-product</a:t>
                          </a:r>
                          <a:r>
                            <a:rPr lang="ko-KR" altLang="ko-KR" sz="1200" b="0" kern="1200" dirty="0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 </a:t>
                          </a:r>
                          <a:r>
                            <a:rPr lang="ko-KR" altLang="ko-KR" sz="1200" b="0" kern="1200" dirty="0" err="1">
                              <a:solidFill>
                                <a:schemeClr val="tx1"/>
                              </a:solidFill>
                              <a:latin typeface="D2Coding" panose="020B0609020101020101" pitchFamily="49" charset="-127"/>
                              <a:ea typeface="D2Coding" panose="020B0609020101020101" pitchFamily="49" charset="-127"/>
                              <a:cs typeface="+mn-cs"/>
                            </a:rPr>
                            <a:t>attention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Q, K, V </a:t>
                          </a:r>
                          <a:r>
                            <a:rPr lang="ko-KR" altLang="en-US" sz="1200" b="0" dirty="0" err="1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어텐션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(W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행렬 도입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)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2738945"/>
                      </a:ext>
                    </a:extLst>
                  </a:tr>
                  <a:tr h="5535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입력 벡터의 활용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0061" t="-73626" r="-133486" b="-5747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73626" r="-115" b="-5747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4384018"/>
                      </a:ext>
                    </a:extLst>
                  </a:tr>
                  <a:tr h="47877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 표현의 유연성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단어가 가진 고정된 벡터 관계를 중심으로 유사도 측정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202564" r="-115" b="-57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10125211"/>
                      </a:ext>
                    </a:extLst>
                  </a:tr>
                  <a:tr h="62302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계산 방식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두 벡터의 단순 내적을 통해 관련성 계산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229126" r="-115" b="-3320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00095332"/>
                      </a:ext>
                    </a:extLst>
                  </a:tr>
                  <a:tr h="32925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학습 가능한 매개변수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별도의 학습 가능한 가중치 행렬이 없음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5046" t="-627778" r="-115" b="-5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0106235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각 벡터의 역할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하나의 벡터가 모든 역할을 담당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검색 기준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실제 전달할 정보로 역할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32797226"/>
                      </a:ext>
                    </a:extLst>
                  </a:tr>
                  <a:tr h="3987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제한적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문장 내 다른 단어 들과의 관계를 고려하여 동적으로 문맥 반영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1526133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관계 학습의 표현력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비교적 단순한 관계 표현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서로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다른 관점에서 관계를 학습하여 더 정교하고 풍부한 관계 표현 가능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5635667"/>
                      </a:ext>
                    </a:extLst>
                  </a:tr>
                  <a:tr h="47349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비유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 한 장으로 모든 일을 처리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Query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질문지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Key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명함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/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색인</a:t>
                          </a:r>
                          <a:r>
                            <a:rPr lang="en-US" altLang="ko-KR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, Value = </a:t>
                          </a:r>
                          <a:r>
                            <a:rPr lang="ko-KR" altLang="en-US" sz="1200" b="0" dirty="0">
                              <a:latin typeface="D2Coding" panose="020B0609020101020101" pitchFamily="49" charset="-127"/>
                              <a:ea typeface="D2Coding" panose="020B0609020101020101" pitchFamily="49" charset="-127"/>
                            </a:rPr>
                            <a:t>본문 내용으로 역할을 분리</a:t>
                          </a:r>
                        </a:p>
                      </a:txBody>
                      <a:tcPr marL="24921" marR="24921" marT="12461" marB="12461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0284931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20CE8B1-ABE8-5C81-749F-A8E7321DA894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30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30627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2095-7E9D-6124-A4C4-1764B4C58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FF8E2D-0FF1-DD0A-8E12-C59DC9C6B6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4185F4A-F65C-BA94-589F-A9B38B2F0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85" y="1341332"/>
            <a:ext cx="3885304" cy="17505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A36960-0F72-93CC-3F41-1A2431A59917}"/>
              </a:ext>
            </a:extLst>
          </p:cNvPr>
          <p:cNvSpPr txBox="1"/>
          <p:nvPr/>
        </p:nvSpPr>
        <p:spPr>
          <a:xfrm>
            <a:off x="4580458" y="1303879"/>
            <a:ext cx="7020257" cy="5262979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Q, K, 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변환용 가중치 행렬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(W_Q, W_K, W_V)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업데이트하는 파라미터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무작위 값 설정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pl-PL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W_Q, W_K, W_V = np.random.randn(3, 4, 4)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=============Q, K, V Attention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과정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=================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=========================================================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벡터를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행렬에 곱해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Q, K, 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선형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query = np.dot(target, W_Q)     # "bring"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던지는 질문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(Query)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keys = np.dot(sources, W_K) 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단어들의 검색용 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(Keys)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values = np.dot(sources, W_V)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단어들의 실제 정보 내용물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(Values)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유사도 점수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(Score)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계산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([np.dot(query, k) for k in keys])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3.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Weights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비율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산출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Step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문맥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(Value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곱하는 대신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곱해 합산합니다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combined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* values, axis=0)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CA0D0C-6857-6F9D-7D45-45106F6C1969}"/>
              </a:ext>
            </a:extLst>
          </p:cNvPr>
          <p:cNvSpPr txBox="1"/>
          <p:nvPr/>
        </p:nvSpPr>
        <p:spPr>
          <a:xfrm>
            <a:off x="591285" y="3264293"/>
            <a:ext cx="3885304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입력 벡터 정의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sources: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입력 문장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sources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"la"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target: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("bring")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</a:t>
            </a: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83DBF423-7C07-C014-6E38-F531491AA1FD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9568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A6CCA-F3B1-EA7F-A5C1-9A601A93C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3E48D79-74F2-C36F-C05E-871E5EAE56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Q, K, V Attention (Query, Key, Value Attention)</a:t>
            </a: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57F468B6-1054-E5DB-2BA3-E45963BD7C3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AFCD25-01C6-A250-0AB7-5023E87F9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5" y="1409326"/>
            <a:ext cx="4980943" cy="360068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7ED261-5876-5460-9865-AE4F9FDB446A}"/>
              </a:ext>
            </a:extLst>
          </p:cNvPr>
          <p:cNvSpPr txBox="1"/>
          <p:nvPr/>
        </p:nvSpPr>
        <p:spPr>
          <a:xfrm>
            <a:off x="5630109" y="1409326"/>
            <a:ext cx="6133266" cy="500136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Query (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검색창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"dogs on the beach"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Query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검색창에 친 키워드 그 자체입니다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query = "dogs on the beach“</a:t>
            </a:r>
          </a:p>
          <a:p>
            <a:pPr>
              <a:buNone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Keys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이미지별 검색 태그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&amp; Values 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 이미지 데이터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각 이미지의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태그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(Key)'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 이미지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(Value)'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매칭해 둡니다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keys = [["Beach", "Tree", "Boat"],   # Image 1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["Beach", "Dog", "Tree"],        # Image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</a:p>
          <a:p>
            <a:pPr>
              <a:buNone/>
            </a:pP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["Dog"]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]  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                    # Image 3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태그</a:t>
            </a: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values = ["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해변과 배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해변의 개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단독 사진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알맹이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(Value)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Match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 계산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(Query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Keys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비교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그림의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match: 0.5, 1.0, 0.5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수치 반영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match_scores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([0.5, 1.0, 0.5])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(Attention Weights) -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점수를 비율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=1)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match_scores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결과 합성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print("--- [</a:t>
            </a:r>
            <a:r>
              <a:rPr lang="ko-KR" altLang="en-US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가중치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)] ---")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weight in enumerate(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{i+1} ({values[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]}): {weight*100:.1f}%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주의 집중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가중치가 가장 높은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(1.0) 2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번째 이미지의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강력하게 선택됨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1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best_image_idx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np.argmax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print(f"\n</a:t>
            </a:r>
            <a:r>
              <a:rPr lang="ko-KR" altLang="en-US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 선택된 이미지 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(Value): '{values[</a:t>
            </a:r>
            <a:r>
              <a:rPr lang="en-US" altLang="ko-KR" sz="11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best_image_idx</a:t>
            </a:r>
            <a:r>
              <a:rPr lang="en-US" altLang="ko-KR" sz="11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]}'")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738E7-731A-2483-1BC7-734B594AA1BD}"/>
              </a:ext>
            </a:extLst>
          </p:cNvPr>
          <p:cNvSpPr txBox="1"/>
          <p:nvPr/>
        </p:nvSpPr>
        <p:spPr>
          <a:xfrm>
            <a:off x="470321" y="5102644"/>
            <a:ext cx="50154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Lora" pitchFamily="2" charset="0"/>
              </a:rPr>
              <a:t>Retrieving images from a database: the </a:t>
            </a:r>
            <a:r>
              <a:rPr lang="en-US" altLang="ko-KR" sz="1200" b="0" i="1" dirty="0">
                <a:effectLst/>
                <a:latin typeface="Lora" pitchFamily="2" charset="0"/>
              </a:rPr>
              <a:t>query</a:t>
            </a:r>
            <a:r>
              <a:rPr lang="en-US" altLang="ko-KR" sz="1200" b="0" i="0" dirty="0">
                <a:effectLst/>
                <a:latin typeface="Lora" pitchFamily="2" charset="0"/>
              </a:rPr>
              <a:t> is compared to a set of </a:t>
            </a:r>
            <a:r>
              <a:rPr lang="en-US" altLang="ko-KR" sz="1200" b="0" i="1" dirty="0">
                <a:effectLst/>
                <a:latin typeface="Lora" pitchFamily="2" charset="0"/>
              </a:rPr>
              <a:t>keys</a:t>
            </a:r>
            <a:r>
              <a:rPr lang="en-US" altLang="ko-KR" sz="1200" b="0" i="0" dirty="0">
                <a:effectLst/>
                <a:latin typeface="Lora" pitchFamily="2" charset="0"/>
              </a:rPr>
              <a:t>, and the match scores are used to rank </a:t>
            </a:r>
            <a:r>
              <a:rPr lang="en-US" altLang="ko-KR" sz="1200" b="0" i="1" dirty="0">
                <a:effectLst/>
                <a:latin typeface="Lora" pitchFamily="2" charset="0"/>
              </a:rPr>
              <a:t>values</a:t>
            </a:r>
            <a:r>
              <a:rPr lang="en-US" altLang="ko-KR" sz="1200" b="0" i="0" dirty="0">
                <a:effectLst/>
                <a:latin typeface="Lora" pitchFamily="2" charset="0"/>
              </a:rPr>
              <a:t> (images).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1944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72087-1466-7411-809D-CC06AA604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1D617-D9A1-3621-A299-26DCCACB7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  <a:hlinkClick r:id="rId2"/>
              </a:rPr>
              <a:t>Vision_Transformer</a:t>
            </a:r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15" name="슬라이드 번호 개체 틀 3">
            <a:extLst>
              <a:ext uri="{FF2B5EF4-FFF2-40B4-BE49-F238E27FC236}">
                <a16:creationId xmlns:a16="http://schemas.microsoft.com/office/drawing/2014/main" id="{978E0A24-AE03-4592-86C9-F08CDD724D56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5EF3D0C3-9434-C7D6-AB7E-0652EB390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463" y="3662867"/>
            <a:ext cx="6853239" cy="1432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7052A022-2CD6-93B1-3ED0-628E4134D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918" y="2038574"/>
            <a:ext cx="6900102" cy="1620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">
            <a:extLst>
              <a:ext uri="{FF2B5EF4-FFF2-40B4-BE49-F238E27FC236}">
                <a16:creationId xmlns:a16="http://schemas.microsoft.com/office/drawing/2014/main" id="{84DBEC53-C730-3D56-D844-C5D504A57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2053025"/>
            <a:ext cx="4252912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">
            <a:extLst>
              <a:ext uri="{FF2B5EF4-FFF2-40B4-BE49-F238E27FC236}">
                <a16:creationId xmlns:a16="http://schemas.microsoft.com/office/drawing/2014/main" id="{EC04911A-33D8-C940-5E07-78C6924D5C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3562350"/>
            <a:ext cx="4252910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mage">
            <a:extLst>
              <a:ext uri="{FF2B5EF4-FFF2-40B4-BE49-F238E27FC236}">
                <a16:creationId xmlns:a16="http://schemas.microsoft.com/office/drawing/2014/main" id="{5EA627A6-2E8C-60E2-1959-FE7B83CB4F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887" y="5071675"/>
            <a:ext cx="4252910" cy="1476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image">
            <a:extLst>
              <a:ext uri="{FF2B5EF4-FFF2-40B4-BE49-F238E27FC236}">
                <a16:creationId xmlns:a16="http://schemas.microsoft.com/office/drawing/2014/main" id="{97D71D36-31D6-7F09-2B5F-4542A2A65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2" y="5077028"/>
            <a:ext cx="6837650" cy="1495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5C67F6-84E0-7DCA-6E28-0CD4476721D6}"/>
              </a:ext>
            </a:extLst>
          </p:cNvPr>
          <p:cNvSpPr txBox="1"/>
          <p:nvPr/>
        </p:nvSpPr>
        <p:spPr>
          <a:xfrm>
            <a:off x="600074" y="1210322"/>
            <a:ext cx="10982325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Vision Transformer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텍스트의 단어들처럼 이미지를 패치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(pixel)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조각으로 쪼개어 읽을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전체를 거쳐 최종 판단에 가장 큰 영향을 준 이미지 상의 핵심 부위가 어디인지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860F83-0BF5-6558-FF46-BBCCCB5E5058}"/>
              </a:ext>
            </a:extLst>
          </p:cNvPr>
          <p:cNvSpPr txBox="1"/>
          <p:nvPr/>
        </p:nvSpPr>
        <p:spPr>
          <a:xfrm>
            <a:off x="6677025" y="1742689"/>
            <a:ext cx="36480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https://github.com/jo1jun/Vision_Transformer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78317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AE00E-E44F-1D99-E97D-4311FD23A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6AB8D9-DDFC-D8B0-F6F8-434F930A32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958BC8-59BB-0296-3E25-0CE3071CA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5" y="2617391"/>
            <a:ext cx="7026249" cy="23014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DBD872-DDDB-E0F2-AE04-190D3C6A3E5B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617B8C7-E240-B5E9-E7A9-CE591A6C1875}"/>
                  </a:ext>
                </a:extLst>
              </p:cNvPr>
              <p:cNvSpPr txBox="1"/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입력되는 벡터의 차원을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𝑚𝑜𝑑𝑒𝑙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이라 하고, 우리가 투영(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Projection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)시켜서 보낼 새로운 공간의 차원을 각각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Key의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Value의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차원)라고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하면 각 가중치 행렬의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Shape은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다음과 같음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EDFD82D-509C-0F30-2226-5AB284CFA379}"/>
              </a:ext>
            </a:extLst>
          </p:cNvPr>
          <p:cNvSpPr txBox="1"/>
          <p:nvPr/>
        </p:nvSpPr>
        <p:spPr>
          <a:xfrm>
            <a:off x="2028825" y="5190295"/>
            <a:ext cx="2028825" cy="116249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학습하여 최적의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찾기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1FA4E-3BF9-6C50-7B89-2CD32AB6D6F1}"/>
              </a:ext>
            </a:extLst>
          </p:cNvPr>
          <p:cNvSpPr/>
          <p:nvPr/>
        </p:nvSpPr>
        <p:spPr>
          <a:xfrm>
            <a:off x="1933574" y="3019425"/>
            <a:ext cx="2124076" cy="2038350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490D21-0B86-8798-E38F-69C82A7792C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2242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0BDF-C167-0276-F333-6493FB0C3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B9E82E-2365-75E6-DB9F-2A53B94107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/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스케일링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600" b="1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나누기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):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Scaled Dot-Product Attention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점수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Key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내적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값이 너무 커지면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소프트맥스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함수 특성상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미분값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가까워져 학습이 안 되는 문제를 방지하기 위해 차원 수의 제곱근으로 점수를 낮춰주는 것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멀티 헤드 </a:t>
                </a:r>
                <a:r>
                  <a:rPr lang="ko-KR" altLang="en-US" sz="1600" b="1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(Multi-Head Attention)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하나의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어텐션만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쓰면 여러 중요한 정보가 한데 섞여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뭉개지므로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마치 여러 명의 전문가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(Heads)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각자 다른 관점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문장을 분석하게 한 뒤 의견을 종합하는 방식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blipFill>
                <a:blip r:embed="rId2"/>
                <a:stretch>
                  <a:fillRect l="-282" b="-17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F9B4EB5B-3787-FEE7-CA61-683BB9358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9010" y="4014236"/>
            <a:ext cx="5446492" cy="238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설명선: 선(강조선) 7">
            <a:extLst>
              <a:ext uri="{FF2B5EF4-FFF2-40B4-BE49-F238E27FC236}">
                <a16:creationId xmlns:a16="http://schemas.microsoft.com/office/drawing/2014/main" id="{692EB135-7323-7885-16BE-43CE88CE441D}"/>
              </a:ext>
            </a:extLst>
          </p:cNvPr>
          <p:cNvSpPr/>
          <p:nvPr/>
        </p:nvSpPr>
        <p:spPr>
          <a:xfrm>
            <a:off x="7282653" y="4120295"/>
            <a:ext cx="3309148" cy="2175032"/>
          </a:xfrm>
          <a:prstGeom prst="accentCallout1">
            <a:avLst>
              <a:gd name="adj1" fmla="val 18750"/>
              <a:gd name="adj2" fmla="val -8333"/>
              <a:gd name="adj3" fmla="val 44512"/>
              <a:gd name="adj4" fmla="val -8104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1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이 문장에서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누가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행동했는지에만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집중해서 점수를 매기겠어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2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문장 부호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문장의 흐름이 어디서 끊기는지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마침표나 쉼표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관계만 보겠어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3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연관성만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추적하겠어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A1539D-AE19-11AE-D57A-FDC6D97048A1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63839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58E7-2E75-6BED-6DB1-CBC2C6512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7ACB4F-4DB5-2C50-48C1-492B76C920C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AC6F2-B4C2-727B-91AE-BB7CB49185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58746-50B3-AD72-1BE9-1601D4720F4B}"/>
              </a:ext>
            </a:extLst>
          </p:cNvPr>
          <p:cNvSpPr txBox="1"/>
          <p:nvPr/>
        </p:nvSpPr>
        <p:spPr>
          <a:xfrm>
            <a:off x="618171" y="1247854"/>
            <a:ext cx="10948518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스페인어 원문(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)과 영어 번역문(Target)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서로 다른 두 문장 사이에서 짝을 맞추는 용도로 사용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자리에 전부 동일한 하나의 문장을 입력하여 문장 스스로가 문장 내부의 다른 단어들과 연관성을 계산하는 방식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C6FF8-C357-278E-5E1B-BE80BEA89434}"/>
              </a:ext>
            </a:extLst>
          </p:cNvPr>
          <p:cNvSpPr txBox="1"/>
          <p:nvPr/>
        </p:nvSpPr>
        <p:spPr>
          <a:xfrm>
            <a:off x="1243085" y="3343803"/>
            <a:ext cx="10323603" cy="2554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"The train left the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on time."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이제 이 문장 속의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어떤 종류의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말하고 있는 걸까요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라디오 방송국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(radio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국제우주정거장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(International Space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셀프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이용하면 모델은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쌍에 높은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부여하는 법을 배울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표현하는 데 사용된 벡터를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단어의 표현 속에 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(summing)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넣을 수 있음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5F972-70E1-67C5-E33B-950E900B9191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0729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1AB6-C939-8353-8B90-093C02A5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00C2E9-B33E-45AB-6008-39876A11BB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50FCA0-74CA-59E9-49B2-523F3FBD13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6008" y="1704975"/>
            <a:ext cx="5333630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8A27231-6C4F-B665-7F95-4CE0235D7609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797285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9189</TotalTime>
  <Words>5688</Words>
  <Application>Microsoft Office PowerPoint</Application>
  <PresentationFormat>와이드스크린</PresentationFormat>
  <Paragraphs>481</Paragraphs>
  <Slides>37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7" baseType="lpstr">
      <vt:lpstr>D2Coding</vt:lpstr>
      <vt:lpstr>맑은 고딕</vt:lpstr>
      <vt:lpstr>Batang</vt:lpstr>
      <vt:lpstr>Arial</vt:lpstr>
      <vt:lpstr>Calibri Light</vt:lpstr>
      <vt:lpstr>Cambria Math</vt:lpstr>
      <vt:lpstr>Lora</vt:lpstr>
      <vt:lpstr>Times New Roman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Sequence-to-sequence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154</cp:revision>
  <dcterms:created xsi:type="dcterms:W3CDTF">2026-04-06T01:00:39Z</dcterms:created>
  <dcterms:modified xsi:type="dcterms:W3CDTF">2026-10-10T14:30:31Z</dcterms:modified>
  <cp:version/>
</cp:coreProperties>
</file>