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5"/>
  </p:notesMasterIdLst>
  <p:handoutMasterIdLst>
    <p:handoutMasterId r:id="rId26"/>
  </p:handoutMasterIdLst>
  <p:sldIdLst>
    <p:sldId id="256" r:id="rId2"/>
    <p:sldId id="1135" r:id="rId3"/>
    <p:sldId id="1136" r:id="rId4"/>
    <p:sldId id="1137" r:id="rId5"/>
    <p:sldId id="1138" r:id="rId6"/>
    <p:sldId id="1139" r:id="rId7"/>
    <p:sldId id="1140" r:id="rId8"/>
    <p:sldId id="1141" r:id="rId9"/>
    <p:sldId id="1152" r:id="rId10"/>
    <p:sldId id="1142" r:id="rId11"/>
    <p:sldId id="1143" r:id="rId12"/>
    <p:sldId id="1144" r:id="rId13"/>
    <p:sldId id="1149" r:id="rId14"/>
    <p:sldId id="1145" r:id="rId15"/>
    <p:sldId id="1146" r:id="rId16"/>
    <p:sldId id="1150" r:id="rId17"/>
    <p:sldId id="1151" r:id="rId18"/>
    <p:sldId id="1153" r:id="rId19"/>
    <p:sldId id="1154" r:id="rId20"/>
    <p:sldId id="1155" r:id="rId21"/>
    <p:sldId id="1156" r:id="rId22"/>
    <p:sldId id="1157" r:id="rId23"/>
    <p:sldId id="1158" r:id="rId24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5"/>
            <p14:sldId id="1136"/>
            <p14:sldId id="1137"/>
            <p14:sldId id="1138"/>
            <p14:sldId id="1139"/>
            <p14:sldId id="1140"/>
            <p14:sldId id="1141"/>
            <p14:sldId id="1152"/>
            <p14:sldId id="1142"/>
            <p14:sldId id="1143"/>
            <p14:sldId id="1144"/>
            <p14:sldId id="1149"/>
            <p14:sldId id="1145"/>
            <p14:sldId id="1146"/>
            <p14:sldId id="1150"/>
            <p14:sldId id="1151"/>
            <p14:sldId id="1153"/>
            <p14:sldId id="1154"/>
            <p14:sldId id="1155"/>
            <p14:sldId id="1156"/>
            <p14:sldId id="1157"/>
            <p14:sldId id="115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2026-07-01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2026-07-01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2026-07-01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7/1/2026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2026-07-01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15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Language models and the Transformer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20D6-5AE6-3C71-71A9-7178299E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99687-4C48-8DA7-5F76-6B7712A59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810985-A788-B5F8-19D5-7D75D19399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AB68B-A2BA-07A3-DB75-5B56921FF4A0}"/>
              </a:ext>
            </a:extLst>
          </p:cNvPr>
          <p:cNvSpPr txBox="1"/>
          <p:nvPr/>
        </p:nvSpPr>
        <p:spPr>
          <a:xfrm>
            <a:off x="577530" y="1248422"/>
            <a:ext cx="11233469" cy="2932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How to generate text with a deep learning model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Training a model to translate from English to Spanish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The Transformer, a powerful architecture for text modeling problems</a:t>
            </a:r>
          </a:p>
        </p:txBody>
      </p:sp>
    </p:spTree>
    <p:extLst>
      <p:ext uri="{BB962C8B-B14F-4D97-AF65-F5344CB8AC3E}">
        <p14:creationId xmlns:p14="http://schemas.microsoft.com/office/powerpoint/2010/main" val="5784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7E1F9-333C-ABDF-A6E4-EC294224F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B03F11-84CC-EFFA-CE9F-2BECB648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FEC1E1-D4CF-BEB2-D53C-A629B275147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language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9BFA4CF-0B1D-8AD2-79E4-E48E5C7BA7CF}"/>
                  </a:ext>
                </a:extLst>
              </p:cNvPr>
              <p:cNvSpPr txBox="1"/>
              <p:nvPr/>
            </p:nvSpPr>
            <p:spPr>
              <a:xfrm>
                <a:off x="568960" y="1478012"/>
                <a:ext cx="11186160" cy="24534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가장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단순한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방법은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가능한 모든 출력 정수 시퀀스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단어 조합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를 설정하고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이를 직접 분류하는 분류기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(Classifier)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를 학습시키는 것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그러나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대략적으로만 계산해 봐도 이것이 사실상 불가능하다는 것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!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0,000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개의 단어로 이루어진 어휘 사전이 있다면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 단어로 이루어진 문장의 가짓수만 해도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sz="1600" dirty="0">
                            <a:latin typeface="Cambria Math" panose="02040503050406030204" pitchFamily="18" charset="0"/>
                          </a:rPr>
                          <m:t>20</m:t>
                        </m:r>
                        <m:r>
                          <a:rPr lang="en-US" altLang="ko-KR" sz="1600" b="0" i="0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ko-KR" altLang="en-US" sz="1600" dirty="0">
                            <a:latin typeface="Cambria Math" panose="02040503050406030204" pitchFamily="18" charset="0"/>
                          </a:rPr>
                          <m:t>000</m:t>
                        </m:r>
                      </m:e>
                      <m:sup>
                        <m:r>
                          <a:rPr lang="ko-KR" altLang="en-US" sz="1600" dirty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즉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160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경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(Quadrillion)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개에 달하며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만약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20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 단어로 만들 수 있는 문장의 가짓수는 우주에 존재하는 원자의 개수보다도 많음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Impossible !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9BFA4CF-0B1D-8AD2-79E4-E48E5C7BA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960" y="1478012"/>
                <a:ext cx="11186160" cy="2453492"/>
              </a:xfrm>
              <a:prstGeom prst="rect">
                <a:avLst/>
              </a:prstGeom>
              <a:blipFill>
                <a:blip r:embed="rId2"/>
                <a:stretch>
                  <a:fillRect l="-327" b="-198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14327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B2BC8-D20E-6E77-FCFD-FE417302E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C852D9-25F4-F489-3C73-BA5F2FAC5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C05D818-9F1E-3E61-C88A-4B65481CA6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language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F28F0F-4C41-BB8B-D028-812632A2F2A8}"/>
              </a:ext>
            </a:extLst>
          </p:cNvPr>
          <p:cNvSpPr txBox="1"/>
          <p:nvPr/>
        </p:nvSpPr>
        <p:spPr>
          <a:xfrm>
            <a:off x="568960" y="1478012"/>
            <a:ext cx="11186160" cy="4297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AI(GPT, BERT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이 문제를 어떻게 해결했을까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난관을 극복하기 위해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문장을 통째로 맞추는 게 아니라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"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바로 다음에 올 단어 하나만 맞추기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반복하는 것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자기회귀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(Autoregressive)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날씨가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이라는 단어가 주어졌을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다음에 올 단어 하나만 예측하면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고민해야 하는 선택지는 전체 문장 수가 아니라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어휘 사전의 크기인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고정되어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충분히 처리할 수 있는 크기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(Embedding):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단어 조합을 다 외우는 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단어를 수십 차원의 공간에 벡터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숫자 배열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표현하면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남자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관계를 기하학적으로 이해하기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굳이 세상의 모든 문장을 다 조합해 보지 않아도 문맥을 유추할 수 있게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왜 우리가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Generating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 때 단어를 한 땀 한 땀 차례대로 예측하는 방식을 쓸 수밖에 없는가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증명하는 핵심적인 이론 배경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318584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6AD1A-760B-722A-6778-8D71BF719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95D8A6-E311-F7B2-FBC3-345E5DF5F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8A4C943-3132-F971-67C0-1094F94E282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language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EEE6769-455F-97BC-EFFA-7740A3904B76}"/>
                  </a:ext>
                </a:extLst>
              </p:cNvPr>
              <p:cNvSpPr txBox="1"/>
              <p:nvPr/>
            </p:nvSpPr>
            <p:spPr>
              <a:xfrm>
                <a:off x="530195" y="1186091"/>
                <a:ext cx="11186160" cy="12939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Generative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AI(GPT, BERT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등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"</a:t>
                </a:r>
                <a:r>
                  <a:rPr lang="ko-KR" altLang="en-US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바로 다음에 올 단어 하나</a:t>
                </a:r>
                <a:r>
                  <a:rPr lang="en-US" altLang="ko-KR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b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b="1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ko-KR" altLang="en-US" b="1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 맞추기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“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우주에 존재하는 모든 문장을 확률을 한 번에 구하는 대신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체인 규칙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(Chain Rule)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"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이전 단어들이 주어졌을 때 바로 다음에 올 단어 하나를 맞추는 문제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＂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단순화 시킴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EEE6769-455F-97BC-EFFA-7740A3904B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95" y="1186091"/>
                <a:ext cx="11186160" cy="1293944"/>
              </a:xfrm>
              <a:prstGeom prst="rect">
                <a:avLst/>
              </a:prstGeom>
              <a:blipFill>
                <a:blip r:embed="rId2"/>
                <a:stretch>
                  <a:fillRect l="-381" b="-70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2B88D720-9EE9-B4DD-9D6C-E020AC06F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378" y="3076059"/>
            <a:ext cx="2756255" cy="38370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882A66D-4B54-2D3D-7F0F-BE1A23F0B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4900" y="3912230"/>
            <a:ext cx="2949800" cy="44215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26C31D1-BEE7-0A6E-5E49-B9281B01F7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4900" y="4339339"/>
            <a:ext cx="3890957" cy="37899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03D3D1B-9E60-FCC8-ABEE-954209B6EC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5857" y="4369932"/>
            <a:ext cx="3312492" cy="317804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BACD8BB-82DD-D3D2-AD6E-29BAC47A43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34900" y="5180373"/>
            <a:ext cx="4736007" cy="79180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49FB86B-07F0-6B11-9976-BDB7CD993B65}"/>
              </a:ext>
            </a:extLst>
          </p:cNvPr>
          <p:cNvSpPr txBox="1"/>
          <p:nvPr/>
        </p:nvSpPr>
        <p:spPr>
          <a:xfrm>
            <a:off x="1119997" y="3935327"/>
            <a:ext cx="12858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Chain Rule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B082A2-6248-1141-D0A0-D1BB966C8BE4}"/>
              </a:ext>
            </a:extLst>
          </p:cNvPr>
          <p:cNvSpPr txBox="1"/>
          <p:nvPr/>
        </p:nvSpPr>
        <p:spPr>
          <a:xfrm>
            <a:off x="1119997" y="2998566"/>
            <a:ext cx="5156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Joint Probability, Conditional Probability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4004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AB750-858A-C272-15A2-7C84C1560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64383E-015B-E384-AEF8-EBFAEB243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27A49D7-0398-90D4-E851-A6A68B937A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Training a Shakespeare language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0D94CA-73D3-2527-75B8-9F7446930B9F}"/>
              </a:ext>
            </a:extLst>
          </p:cNvPr>
          <p:cNvSpPr txBox="1"/>
          <p:nvPr/>
        </p:nvSpPr>
        <p:spPr>
          <a:xfrm>
            <a:off x="530195" y="1243241"/>
            <a:ext cx="11186160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Using a character-level tokenizer 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vocabulary_size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67)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9067A1-3F80-FF96-C857-0BAB9F1B5C3F}"/>
              </a:ext>
            </a:extLst>
          </p:cNvPr>
          <p:cNvSpPr txBox="1"/>
          <p:nvPr/>
        </p:nvSpPr>
        <p:spPr>
          <a:xfrm>
            <a:off x="776547" y="1914901"/>
            <a:ext cx="9737464" cy="448648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embedding_dim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256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1024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sequence_length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,),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dtype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="int", name="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token_ids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layers.Embedding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vocabulary_size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embedding_dim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)(inputs)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return_sequences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=True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시퀀스를 다 살려서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뉴런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(Hidden Unit)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1,024</a:t>
            </a:r>
          </a:p>
          <a:p>
            <a:pPr>
              <a:lnSpc>
                <a:spcPct val="150000"/>
              </a:lnSpc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layers.GRU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return_sequences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(0.1)(x)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Outputs a probability distribution over all potential tokens in our vocabulary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vocabulary_size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(inputs, outputs)</a:t>
            </a:r>
          </a:p>
        </p:txBody>
      </p:sp>
    </p:spTree>
    <p:extLst>
      <p:ext uri="{BB962C8B-B14F-4D97-AF65-F5344CB8AC3E}">
        <p14:creationId xmlns:p14="http://schemas.microsoft.com/office/powerpoint/2010/main" val="3739035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7D11A-D473-087C-AD22-CCBBACC04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2567DB-74A6-D14D-D129-5F0E2F7A7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A38F1C6-A4A1-8A8C-CC8E-78C3BF69C4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Generating Shakespeare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413D9C-F053-D431-F176-61AE31E7330D}"/>
              </a:ext>
            </a:extLst>
          </p:cNvPr>
          <p:cNvSpPr txBox="1"/>
          <p:nvPr/>
        </p:nvSpPr>
        <p:spPr>
          <a:xfrm>
            <a:off x="571197" y="1248422"/>
            <a:ext cx="11049605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정답이 있는 훈련 때와 달리, 실제 문장을 생성할 때는 내가 방금 만든 단어를 다시 입력으로 넣는 루프(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반복문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사용하면서 이때 매번 처음부터 문장을 다시 읽으면 모델이 너무 느려지니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'직전 단어 1개'와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GRU가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기억하고 있는 '기억 상태(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State)'만 명시적으로 넘겨받아 이어서 쓰도록 모델의 구조를 효율적으로 개조(수술)하여야 함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EAB959-BA64-09A0-D750-1AE22D3BFB7C}"/>
              </a:ext>
            </a:extLst>
          </p:cNvPr>
          <p:cNvSpPr txBox="1"/>
          <p:nvPr/>
        </p:nvSpPr>
        <p:spPr>
          <a:xfrm>
            <a:off x="1471051" y="3008054"/>
            <a:ext cx="8362950" cy="3009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1회차 루프: * 입력: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비어있는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초기 상태)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2회차 루프: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 (처음부터 다시 읽지 않고, 이어서 읽는 효과)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3회차 루프: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C]</a:t>
            </a:r>
          </a:p>
        </p:txBody>
      </p:sp>
    </p:spTree>
    <p:extLst>
      <p:ext uri="{BB962C8B-B14F-4D97-AF65-F5344CB8AC3E}">
        <p14:creationId xmlns:p14="http://schemas.microsoft.com/office/powerpoint/2010/main" val="14349214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875AE-A03E-A978-45BE-6A5931545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6C02C9-228B-073A-9809-9BD3C964A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DCF3AB8-268F-59C2-7493-DAB34ABA98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Generating Shakespeare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57914A-31CE-7894-9B56-D8A4DFEFA1F2}"/>
              </a:ext>
            </a:extLst>
          </p:cNvPr>
          <p:cNvSpPr txBox="1"/>
          <p:nvPr/>
        </p:nvSpPr>
        <p:spPr>
          <a:xfrm>
            <a:off x="1104900" y="2529959"/>
            <a:ext cx="46291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>
                <a:latin typeface="Lora" pitchFamily="2" charset="0"/>
              </a:rPr>
              <a:t>Training a Shakespeare language model</a:t>
            </a:r>
            <a:endParaRPr lang="ko-KR" altLang="en-US" dirty="0">
              <a:latin typeface="Lora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0EE6EF-06BF-1F52-96AE-37337AAD405E}"/>
              </a:ext>
            </a:extLst>
          </p:cNvPr>
          <p:cNvSpPr txBox="1"/>
          <p:nvPr/>
        </p:nvSpPr>
        <p:spPr>
          <a:xfrm>
            <a:off x="6867525" y="2529959"/>
            <a:ext cx="46291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latin typeface="Lora" pitchFamily="2" charset="0"/>
              </a:rPr>
              <a:t>Generating Shakespeare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8FC800-7455-DE28-7935-D180CF0F54A7}"/>
              </a:ext>
            </a:extLst>
          </p:cNvPr>
          <p:cNvSpPr txBox="1"/>
          <p:nvPr/>
        </p:nvSpPr>
        <p:spPr>
          <a:xfrm>
            <a:off x="2700337" y="4739944"/>
            <a:ext cx="699135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훈련할 때의 일괄 처리 방식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(Batch)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생성할 때의 실시간 한 글자 처리 방식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(Autoregressive)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차이점을 이해하자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693BCE-0248-09F3-D99B-B057C1BE2BC5}"/>
              </a:ext>
            </a:extLst>
          </p:cNvPr>
          <p:cNvSpPr txBox="1"/>
          <p:nvPr/>
        </p:nvSpPr>
        <p:spPr>
          <a:xfrm>
            <a:off x="2905125" y="2160627"/>
            <a:ext cx="8667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B51A5C-268E-CACC-1098-6B745CE19920}"/>
              </a:ext>
            </a:extLst>
          </p:cNvPr>
          <p:cNvSpPr txBox="1"/>
          <p:nvPr/>
        </p:nvSpPr>
        <p:spPr>
          <a:xfrm>
            <a:off x="8348662" y="2160627"/>
            <a:ext cx="18764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Autoregressive</a:t>
            </a:r>
            <a:endParaRPr lang="ko-KR" altLang="en-US" dirty="0"/>
          </a:p>
        </p:txBody>
      </p:sp>
      <p:pic>
        <p:nvPicPr>
          <p:cNvPr id="3074" name="Picture 2" descr="빨간색 옷을 입은 작업자가 덤프 트럭이 모래를 내리는 것을 감독하고 있습니다.">
            <a:extLst>
              <a:ext uri="{FF2B5EF4-FFF2-40B4-BE49-F238E27FC236}">
                <a16:creationId xmlns:a16="http://schemas.microsoft.com/office/drawing/2014/main" id="{51F2301C-A418-9A8A-0ED4-3921538ED5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00" y="2899291"/>
            <a:ext cx="2085975" cy="1564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빨간 스포츠 브라를 입은 여자가 달릴 준비를 하고 있다">
            <a:extLst>
              <a:ext uri="{FF2B5EF4-FFF2-40B4-BE49-F238E27FC236}">
                <a16:creationId xmlns:a16="http://schemas.microsoft.com/office/drawing/2014/main" id="{67D1478E-9DC1-89DB-6FF9-DD42E3526A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7525" y="2899291"/>
            <a:ext cx="2346720" cy="1564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44233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9EF58-62AB-C8A8-6C80-65ABEE996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EDE831-3042-25C3-9CA8-5D976F3D8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A94D6C1-8175-9BCD-F46D-FCD9E8AF4C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solidFill>
                  <a:schemeClr val="bg2">
                    <a:lumMod val="25000"/>
                  </a:schemeClr>
                </a:solidFill>
                <a:latin typeface="Lora" pitchFamily="2" charset="0"/>
                <a:ea typeface="D2Coding" panose="020B0609020101020101" pitchFamily="49" charset="-127"/>
                <a:cs typeface="Segoe UI Light" panose="020B0502040204020203" pitchFamily="34" charset="0"/>
              </a:rPr>
              <a:t>Why not bidirectional RNN</a:t>
            </a:r>
            <a:r>
              <a:rPr lang="ko-KR" altLang="en-US" sz="2800" b="1" cap="none" dirty="0">
                <a:solidFill>
                  <a:schemeClr val="bg2">
                    <a:lumMod val="25000"/>
                  </a:schemeClr>
                </a:solidFill>
                <a:latin typeface="Lora" pitchFamily="2" charset="0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b="1" cap="none" dirty="0">
                <a:solidFill>
                  <a:schemeClr val="bg2">
                    <a:lumMod val="25000"/>
                  </a:schemeClr>
                </a:solidFill>
                <a:latin typeface="Lora" pitchFamily="2" charset="0"/>
                <a:ea typeface="D2Coding" panose="020B0609020101020101" pitchFamily="49" charset="-127"/>
                <a:cs typeface="Segoe UI Light" panose="020B0502040204020203" pitchFamily="34" charset="0"/>
              </a:rPr>
              <a:t>during training a Shakespeare 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EFB6AD-2A4A-E6D2-36ED-11C5CD4BD8D9}"/>
              </a:ext>
            </a:extLst>
          </p:cNvPr>
          <p:cNvSpPr txBox="1"/>
          <p:nvPr/>
        </p:nvSpPr>
        <p:spPr>
          <a:xfrm>
            <a:off x="613801" y="1362722"/>
            <a:ext cx="11501999" cy="5049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단방향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GRU 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앞에서부터 순서대로 읽기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나는 오늘 배가 너무 고파서 아침 일찍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______"</a:t>
            </a:r>
          </a:p>
          <a:p>
            <a:pPr marL="1085850" lvl="2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순서대로 읽어 내려간다면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빈칸에 들어갈 말로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일어났다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밥을 먹었다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식당에 갔다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등 여러 가지를 상상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특징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빈칸의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앞 단어들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과거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만 보고 추측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085850" lvl="2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이것이 일반적인 단방향 모델이 작동하는 방식이며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우리가 실제로 말을 하거나 글을 쓸 때와 똑같음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양방향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GRU 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뒤의 단어까지 훔쳐보기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나는 오늘 배가 너무 고파서 아침 일찍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______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문을 열자마자 허겁지겁 국밥을 들이켰다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pPr marL="1085850" lvl="2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빈칸 뒤에 나오는 내용까지 미리 다 읽어보면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뒤에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국밥을 들이켰다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라는 미래의 정보가 주어지니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빈칸에 들어갈 말이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일어났다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아니라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식당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가게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라는 것을 아주 정확하게 맞출 수 있음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특징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빈칸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앞 단어들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과거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뿐만 아니라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뒤 단어들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미래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까지 역방향으로 한 번 더 읽어서 정보를 양쪽에서 다 활용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085850" lvl="2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이미 완성된 문장 전체를 분석할 때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번역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긍정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부정 판단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이 방식이 힌트를 양쪽에서 얻기 때문에 훨씬 더 정확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그런데 왜 문장 생성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셰익스피어 따라 쓰기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쓸 수 없을까요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양방향 모델이 학습할 때는 정답지 문장이 통째로 주어지니까 뒤의 단어들을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컨닝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해서 빈칸을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99%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확률로 완벽하게 맞출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수있지만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실제 셰익스피어 소설을 창조하는 실전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(Generative AI)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단계에서는 상황이 다름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"To be or"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까지 쓰고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 다음 단어를 창조해야 하는 순간에 양방향 모델은 본능적으로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＂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 다음 단어 뒤에는 뭐가 나오지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?＂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하고 미래를 보려고 고개를 돌리는 순간 아직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뒷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문장은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쓰지도 않았기 때문에 미래의 데이터 자체가 존재하지 않음</a:t>
            </a: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결국 양방향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훈련할 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＇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미래를 훔쳐보던 나쁜 버릇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의존성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)＇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때문에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미래 정보가 사라진 실전 화면을 마주하면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패닉에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빠져 아무 단어도 내뱉지 못하고 먹통이 되어버리게 됨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261749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0AD43-EB09-973C-6915-D5E066254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A443F0-E912-1108-17B8-FEAA865DA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E6AF090-76C3-C112-1DD8-CF6E7DA510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</a:t>
            </a:r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1836A54C-8D4D-2FC5-AC63-FAA7BB0713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2413" y="2210423"/>
            <a:ext cx="6125137" cy="3808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4F032AF-0C22-5A45-005C-F85F6A843816}"/>
              </a:ext>
            </a:extLst>
          </p:cNvPr>
          <p:cNvSpPr txBox="1"/>
          <p:nvPr/>
        </p:nvSpPr>
        <p:spPr>
          <a:xfrm>
            <a:off x="571499" y="1219111"/>
            <a:ext cx="110585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 seek to build a model that can take in a source text as a 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fixed input sequence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and generate the translated text sequence as a result. Question answering is another classic sequence-to-sequence problem.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B9E4AA-98F0-09C0-027B-A06F34077293}"/>
              </a:ext>
            </a:extLst>
          </p:cNvPr>
          <p:cNvSpPr txBox="1"/>
          <p:nvPr/>
        </p:nvSpPr>
        <p:spPr>
          <a:xfrm>
            <a:off x="7290895" y="2210423"/>
            <a:ext cx="4244442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시퀀스 투 시퀀스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(Sequence-to-sequence) 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학습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훈련단계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소스 시퀀스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입력 문장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인코더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(Encoder)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 의해 처리된 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(Decoder)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전송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지금까지 생성된 타겟 시퀀스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정답 문장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확인하고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미래의 한 걸음만큼 오프셋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시차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간격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둔</a:t>
            </a:r>
            <a:r>
              <a:rPr lang="en-US" altLang="ko-KR" sz="12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1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off by one)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타겟 시퀀스를 예측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입력과 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(Label)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쌍을 한 칸씩 어긋나게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(offset)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쪼개서 기계에게 시험을 출제하여 훈련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 데이터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뒤의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[end]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잘라냄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"[start] ¿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esta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habitación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?“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정답 레이블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앞의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[start]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잘라냄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"¿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esta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habitación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? [end]"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추론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실전 생성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한 번에 하나의 타겟 토큰만 생성하며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토큰을 다시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디코더의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입력으로 피드백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전달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다시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예측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79ABF57-06DF-88E6-6B63-0DD4D3F842D2}"/>
              </a:ext>
            </a:extLst>
          </p:cNvPr>
          <p:cNvSpPr/>
          <p:nvPr/>
        </p:nvSpPr>
        <p:spPr>
          <a:xfrm>
            <a:off x="4324350" y="3657600"/>
            <a:ext cx="2219325" cy="247651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965F600-9B8B-9706-492E-88FBA519AD25}"/>
              </a:ext>
            </a:extLst>
          </p:cNvPr>
          <p:cNvSpPr/>
          <p:nvPr/>
        </p:nvSpPr>
        <p:spPr>
          <a:xfrm>
            <a:off x="4324350" y="2314575"/>
            <a:ext cx="2219325" cy="247651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714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20C3C-F942-13AC-684D-787751364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EF03F6-E721-08DC-5D6B-C3AD49F3E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A70013F-BEEA-B8A7-0F58-494094318D0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English-to-Spanish translation :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A36ADC-D77F-7783-4FCC-10767C6969ED}"/>
              </a:ext>
            </a:extLst>
          </p:cNvPr>
          <p:cNvSpPr txBox="1"/>
          <p:nvPr/>
        </p:nvSpPr>
        <p:spPr>
          <a:xfrm>
            <a:off x="590550" y="1251291"/>
            <a:ext cx="10677006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"Who is in this room?"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 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타겟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"[start] ¿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esta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habitación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[end]"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토큰 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입력과 출력으로 데이터파이프라인 구성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43404E-7FEC-7B4D-0727-9399077405AE}"/>
              </a:ext>
            </a:extLst>
          </p:cNvPr>
          <p:cNvSpPr txBox="1"/>
          <p:nvPr/>
        </p:nvSpPr>
        <p:spPr>
          <a:xfrm>
            <a:off x="638175" y="2287012"/>
            <a:ext cx="11087100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문장 부호 지우기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custom_standardization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함수가 특수문자를 지우고 소문자로 변경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특유의 거꾸로 된 물음표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(¿)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와 물음표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(?)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모두 제거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전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[start] ¿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esta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habitación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? [end]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후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[start]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esta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habitación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[end]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34F2B1F-3F8F-EF75-8978-0CD9D7F472DE}"/>
              </a:ext>
            </a:extLst>
          </p:cNvPr>
          <p:cNvSpPr txBox="1"/>
          <p:nvPr/>
        </p:nvSpPr>
        <p:spPr>
          <a:xfrm>
            <a:off x="638175" y="3541574"/>
            <a:ext cx="11087100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공백 기준으로 쪼개기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(Tokenization)</a:t>
            </a:r>
          </a:p>
          <a:p>
            <a:pPr>
              <a:buNone/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띄어쓰기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공백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를 기준으로 단어들을 낱개로 분리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앞뒤로 붙인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[start]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[end]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도 하나의 독립된 단어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토큰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로 취급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세어보면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[start]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(1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— </a:t>
            </a:r>
            <a:r>
              <a:rPr lang="ko-KR" altLang="en-US" sz="1500" i="1" dirty="0">
                <a:latin typeface="D2Coding" panose="020B0609020101020101" pitchFamily="49" charset="-127"/>
                <a:ea typeface="D2Coding" panose="020B0609020101020101" pitchFamily="49" charset="-127"/>
              </a:rPr>
              <a:t>시작 토큰</a:t>
            </a:r>
            <a:r>
              <a:rPr lang="en-US" altLang="ko-KR" sz="1500" i="1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(2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(3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(4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esta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(5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habitación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(6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[end]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(7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— </a:t>
            </a:r>
            <a:r>
              <a:rPr lang="ko-KR" altLang="en-US" sz="1500" i="1" dirty="0">
                <a:latin typeface="D2Coding" panose="020B0609020101020101" pitchFamily="49" charset="-127"/>
                <a:ea typeface="D2Coding" panose="020B0609020101020101" pitchFamily="49" charset="-127"/>
              </a:rPr>
              <a:t>끝 토큰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501C71-F409-94C7-6338-21625256D6DF}"/>
              </a:ext>
            </a:extLst>
          </p:cNvPr>
          <p:cNvSpPr txBox="1"/>
          <p:nvPr/>
        </p:nvSpPr>
        <p:spPr>
          <a:xfrm>
            <a:off x="638176" y="5302101"/>
            <a:ext cx="11087100" cy="7848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3.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세어보니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7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개인데요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왜 코드에서는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format_dataset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함수 내부를 다시 보면 다음과 같이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슬라이싱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(:)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처리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 = {"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english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"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": spa[:, :-1]}  #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맨 뒤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 빼기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(7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 중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개만 사용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labels = spa[:, 1:]                                   #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맨 앞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 빼기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(7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 중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개만 사용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057306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A25A0-07BB-CDBB-0F29-43C26D718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1BC892-601E-1AA8-C846-9F4AAFE73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BA978F-02A6-660E-64AA-E1911BB0D5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English-to-Spanish translation :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7978FE-6266-765E-E433-4ACEC393C4E6}"/>
              </a:ext>
            </a:extLst>
          </p:cNvPr>
          <p:cNvSpPr txBox="1"/>
          <p:nvPr/>
        </p:nvSpPr>
        <p:spPr>
          <a:xfrm>
            <a:off x="1505441" y="2238983"/>
            <a:ext cx="9247187" cy="263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features,</a:t>
            </a:r>
            <a:r>
              <a:rPr lang="ko-KR" altLang="en-US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u="sng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["</a:t>
            </a:r>
            <a:r>
              <a:rPr lang="ko-KR" altLang="en-US" sz="1600" u="sng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ko-KR" altLang="en-US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"] (</a:t>
            </a:r>
            <a:r>
              <a:rPr lang="ko-KR" altLang="en-US" sz="1600" u="sng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 입력): </a:t>
            </a:r>
            <a:r>
              <a:rPr lang="ko-KR" altLang="en-US" sz="1600" u="sng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</a:t>
            </a:r>
            <a:r>
              <a:rPr lang="ko-KR" altLang="en-US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[:, :-1]</a:t>
            </a:r>
            <a:endParaRPr lang="en-US" altLang="ko-KR" sz="1600" u="sng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전체 7개 토큰 중 맨 마지막인 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]를 잘라내고 앞의 6개만 가져오면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habitación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labels, </a:t>
            </a:r>
            <a:r>
              <a:rPr lang="ko-KR" altLang="en-US" sz="1600" u="sng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targets</a:t>
            </a:r>
            <a:r>
              <a:rPr lang="ko-KR" altLang="en-US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 (정답 레이블): </a:t>
            </a:r>
            <a:r>
              <a:rPr lang="ko-KR" altLang="en-US" sz="1600" u="sng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</a:t>
            </a:r>
            <a:r>
              <a:rPr lang="ko-KR" altLang="en-US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[:, 1:]</a:t>
            </a:r>
            <a:endParaRPr lang="en-US" altLang="ko-KR" sz="1600" u="sng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전체 7개 토큰 중 맨 앞인 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]를 잘라내고 뒤의 6개만 가져오면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habitación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991024-32AE-D6F3-447F-10C166D9622E}"/>
              </a:ext>
            </a:extLst>
          </p:cNvPr>
          <p:cNvSpPr txBox="1"/>
          <p:nvPr/>
        </p:nvSpPr>
        <p:spPr>
          <a:xfrm>
            <a:off x="646577" y="1314578"/>
            <a:ext cx="10916773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 = {"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english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": spa[:, :-1]}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맨 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빼기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중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개만 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labels = spa[:, 1:]                              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맨 앞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빼기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중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개만 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8E7F8E-913E-5F45-86F3-440A041F9FA9}"/>
              </a:ext>
            </a:extLst>
          </p:cNvPr>
          <p:cNvSpPr txBox="1"/>
          <p:nvPr/>
        </p:nvSpPr>
        <p:spPr>
          <a:xfrm>
            <a:off x="2465878" y="5109189"/>
            <a:ext cx="8116397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모델을 훈련시킬 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하나씩 어긋나는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(Offset by one)"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구조를 만들기 위해 입력과 정답에서 각각 토큰을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개씩 깎아냈기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결과물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(inputs["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"], targets)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패딩 제외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맞춰진 것</a:t>
            </a:r>
          </a:p>
        </p:txBody>
      </p:sp>
      <p:sp>
        <p:nvSpPr>
          <p:cNvPr id="16" name="화살표: 줄무늬가 있는 오른쪽 15">
            <a:extLst>
              <a:ext uri="{FF2B5EF4-FFF2-40B4-BE49-F238E27FC236}">
                <a16:creationId xmlns:a16="http://schemas.microsoft.com/office/drawing/2014/main" id="{747FFEF6-096A-8602-0D9A-4A8962299C12}"/>
              </a:ext>
            </a:extLst>
          </p:cNvPr>
          <p:cNvSpPr/>
          <p:nvPr/>
        </p:nvSpPr>
        <p:spPr>
          <a:xfrm>
            <a:off x="1505441" y="5331411"/>
            <a:ext cx="713858" cy="704850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55051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94190-4E84-0A28-0702-F9F0C8D9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B9780A-4648-728D-B5C5-BB7B46F75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27C6940-5188-BF44-5E98-CFCE10FC251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English-to-Spanish translation : 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1A6E11-62F8-D0B0-D48E-E29DD3A9FA3B}"/>
              </a:ext>
            </a:extLst>
          </p:cNvPr>
          <p:cNvSpPr txBox="1"/>
          <p:nvPr/>
        </p:nvSpPr>
        <p:spPr>
          <a:xfrm>
            <a:off x="321656" y="1248422"/>
            <a:ext cx="12053540" cy="1218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및 정수 변환 후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토큰화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TextVectorization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문장 부호가 지워지고 단어들이 사전에 등록된 숫자로 바뀐 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남은 빈 공간은 최대 길이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sequence_length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=20)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까지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패딩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채워짐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영어 토큰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):[145, 23, 12, 19, 342, 0, 0, 0, 0, 0, 0, 0, 0, 0, 0, 0, 0, 0, 0, 0]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(145='who', 23='is', 12='in', 19='this', 342='room')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토큰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(spa):[2, 89, 45, 12, 512, 3, 0, 0, 0, 0, 0, 0, 0, 0, 0, 0, 0, 0, 0, 0, 0]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2='[start]'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,89='quién',45='está',12='en',512='esta',</a:t>
            </a:r>
            <a:r>
              <a:rPr lang="en-US" altLang="ko-KR" sz="1200" i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3='[end]'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3DA617-A97B-F8F6-D20D-84DC098FBF01}"/>
              </a:ext>
            </a:extLst>
          </p:cNvPr>
          <p:cNvSpPr txBox="1"/>
          <p:nvPr/>
        </p:nvSpPr>
        <p:spPr>
          <a:xfrm>
            <a:off x="321656" y="2857208"/>
            <a:ext cx="11601450" cy="3708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format_dataset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을 거친 최종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개 데이터의 모습</a:t>
            </a:r>
          </a:p>
          <a:p>
            <a:pPr>
              <a:lnSpc>
                <a:spcPct val="150000"/>
              </a:lnSpc>
              <a:buNone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함수를 통과하면 하나의 데이터가 아래처럼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입력용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), labels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시험지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sample_weights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채점 기준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가지 묶음으로 분리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모델에 입력으로 주는 데이터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모델의 두 채널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각각 쪼개져서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들어감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 lvl="2"/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인코더 입력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영어 문장 전체 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20)</a:t>
            </a:r>
          </a:p>
          <a:p>
            <a:pPr lvl="2"/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en-US" altLang="ko-KR" sz="11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english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": [145, 23, 12, 19, 342, 0, 0, 0, 0, 0, 0, 0, 0, 0, 0, 0, 0, 0, 0, 0],</a:t>
            </a:r>
          </a:p>
          <a:p>
            <a:pPr lvl="2"/>
            <a:endParaRPr lang="en-US" altLang="ko-KR" sz="11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1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입력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스페인어 문장에서 맨 뒤의 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3('[end]')</a:t>
            </a:r>
            <a:r>
              <a:rPr lang="ko-KR" altLang="en-US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ko-KR" altLang="en-US" sz="11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잘라냄</a:t>
            </a:r>
            <a:r>
              <a:rPr lang="ko-KR" altLang="en-US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20)</a:t>
            </a:r>
          </a:p>
          <a:p>
            <a:pPr lvl="2"/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en-US" altLang="ko-KR" sz="11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": [</a:t>
            </a:r>
            <a:r>
              <a:rPr lang="en-US" altLang="ko-KR" sz="11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89, 45, 12, 512, 0, 0, 0, 0, 0, 0, 0, 0, 0, 0, 0, 0, 0, 0, 0]</a:t>
            </a:r>
          </a:p>
          <a:p>
            <a:pPr lvl="2"/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pPr lvl="2"/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②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labels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맞춰야 하는 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입력보다 딱 한 칸 미래로 밀린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(offset)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형태입니다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맨 앞의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2('[start]')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잘려 나감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2([start])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일 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89(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맞추고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89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일 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45(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맞춰야 함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20)</a:t>
            </a:r>
          </a:p>
          <a:p>
            <a:pPr lvl="2"/>
            <a:r>
              <a:rPr lang="en-US" altLang="ko-KR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labels = [89, 45, 12, 512, </a:t>
            </a:r>
            <a:r>
              <a:rPr lang="en-US" altLang="ko-KR" sz="12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0, 0, 0, 0, 0, 0, 0, 0, 0, 0, 0, 0, 0, 0, 0]</a:t>
            </a:r>
          </a:p>
          <a:p>
            <a:pPr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③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sample_weights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채점 반영 여부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(labels)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숫자가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아닌 진짜 단어 위치는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True(1),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의미 없는 패딩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위치는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False(0)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채워짐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채점 가중치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실제 스페인어 단어와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[end]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토큰이 있는 앞의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개만 채점하고 뒤의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들은 무시함</a:t>
            </a:r>
          </a:p>
          <a:p>
            <a:pPr lvl="2"/>
            <a:r>
              <a:rPr lang="en-US" altLang="ko-KR" sz="12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sample_weights</a:t>
            </a:r>
            <a:r>
              <a:rPr lang="en-US" altLang="ko-KR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[True, True, True, True, True, False, False, False, …. False, False, False, False, False, False, False]</a:t>
            </a:r>
          </a:p>
        </p:txBody>
      </p:sp>
    </p:spTree>
    <p:extLst>
      <p:ext uri="{BB962C8B-B14F-4D97-AF65-F5344CB8AC3E}">
        <p14:creationId xmlns:p14="http://schemas.microsoft.com/office/powerpoint/2010/main" val="25903057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ACC60-8CD9-2604-14C3-5E280A4B8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35D3F5-6C6C-0B73-F197-639CD083A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C45CE89-24E7-5E7E-E6EB-6645FAC136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 with RNNs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163C84-41EC-3A42-E9F3-96C8BD507D47}"/>
              </a:ext>
            </a:extLst>
          </p:cNvPr>
          <p:cNvSpPr txBox="1"/>
          <p:nvPr/>
        </p:nvSpPr>
        <p:spPr>
          <a:xfrm>
            <a:off x="571500" y="1248422"/>
            <a:ext cx="11049000" cy="14419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영어는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"you"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맨 뒤에 나오지만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스페인어는 그에 해당하는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맨 앞에 나와야 하니 원문을 한 단어씩 읽으면서 동시에 실시간으로 번역하는 것은 불가능하기에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(Encoder)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영어 문장 전체를 끝까지 다 읽고 기억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(State)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한 뒤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(Decoder)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그 기억을 이어받아 스페인어 첫 글자부터 차례대로 써 내려가는 구조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(Seq2Seq)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를 써야만 어순이 다른 언어를 제대로 번역할 수 있는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모델 구조가 필요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A4A93C2-D0B3-20F8-6CD2-03F1EA692A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9283" y="3171883"/>
            <a:ext cx="6089417" cy="2374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4B49EAB-A5FB-564C-F664-A8942FC2E1DF}"/>
              </a:ext>
            </a:extLst>
          </p:cNvPr>
          <p:cNvSpPr txBox="1"/>
          <p:nvPr/>
        </p:nvSpPr>
        <p:spPr>
          <a:xfrm>
            <a:off x="2492608" y="5574596"/>
            <a:ext cx="61560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 sequence-to-sequence RNN: an RNN encoder is used to produce a vector that encodes the entire source sequence, which is used as the initial state for an RNN decoder.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121379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5B106-462C-BB1A-7F8D-2F42E848D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B94134-E31A-1108-B02E-422A4CF15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7751891-9DC0-347C-5D3E-D8A2EBBE5D0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EA4349-EEF0-DB08-B539-AB13B15F32FB}"/>
              </a:ext>
            </a:extLst>
          </p:cNvPr>
          <p:cNvSpPr txBox="1"/>
          <p:nvPr/>
        </p:nvSpPr>
        <p:spPr>
          <a:xfrm>
            <a:off x="624422" y="1320872"/>
            <a:ext cx="6443128" cy="232146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256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1024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(shape=(None,),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dtype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="int32", name="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english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layers.Embedding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mask_zero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=True)(source)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layers.GRU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layers.Bidirectional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merge_mode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="sum")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400" b="1" i="0" dirty="0" err="1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encoder_output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7AF0E-1515-68F9-7819-B84A2196B818}"/>
              </a:ext>
            </a:extLst>
          </p:cNvPr>
          <p:cNvSpPr txBox="1"/>
          <p:nvPr/>
        </p:nvSpPr>
        <p:spPr>
          <a:xfrm>
            <a:off x="4304781" y="3886827"/>
            <a:ext cx="6524626" cy="26446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target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(shape=(None,),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="int32", name="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layers.Embedding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mask_zero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=True)(target)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layers.GRU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return_sequences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initial_state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encoder_output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(0.5)(x)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Predicts the next word of the translation, given the current word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target_predictions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seq2seq_rnn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([source, target],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target_predictions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5B3B16C8-292E-76A4-CE8F-2C6607434696}"/>
              </a:ext>
            </a:extLst>
          </p:cNvPr>
          <p:cNvCxnSpPr>
            <a:cxnSpLocks/>
            <a:stCxn id="5" idx="2"/>
            <a:endCxn id="9" idx="1"/>
          </p:cNvCxnSpPr>
          <p:nvPr/>
        </p:nvCxnSpPr>
        <p:spPr>
          <a:xfrm rot="16200000" flipH="1">
            <a:off x="3291981" y="4196345"/>
            <a:ext cx="1566804" cy="45879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467716D-79C8-D075-2609-07996E652543}"/>
              </a:ext>
            </a:extLst>
          </p:cNvPr>
          <p:cNvSpPr txBox="1"/>
          <p:nvPr/>
        </p:nvSpPr>
        <p:spPr>
          <a:xfrm>
            <a:off x="2075931" y="3702161"/>
            <a:ext cx="2228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Encoder RNN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9A41A4-C63B-D482-DFE3-2E95439D1286}"/>
              </a:ext>
            </a:extLst>
          </p:cNvPr>
          <p:cNvSpPr txBox="1"/>
          <p:nvPr/>
        </p:nvSpPr>
        <p:spPr>
          <a:xfrm>
            <a:off x="2731560" y="5352462"/>
            <a:ext cx="2228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Decoder RNN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48D1A4-8E53-F5CD-E421-B7EC737D4596}"/>
              </a:ext>
            </a:extLst>
          </p:cNvPr>
          <p:cNvSpPr txBox="1"/>
          <p:nvPr/>
        </p:nvSpPr>
        <p:spPr>
          <a:xfrm>
            <a:off x="1140898" y="4137773"/>
            <a:ext cx="18700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왜 양방향 학습</a:t>
            </a:r>
            <a:r>
              <a:rPr lang="en-US" altLang="ko-KR" sz="16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317850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171C6-A51C-4250-3D18-CD5EA14E7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7E4480-4914-51E3-5D40-1279B5895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A36159C-E559-39AE-A015-F02E36735B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Limitations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of sequence-to-sequence learning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4BFC5C-216E-7ABD-9E59-29E45E130B65}"/>
              </a:ext>
            </a:extLst>
          </p:cNvPr>
          <p:cNvSpPr txBox="1"/>
          <p:nvPr/>
        </p:nvSpPr>
        <p:spPr>
          <a:xfrm>
            <a:off x="559313" y="1419057"/>
            <a:ext cx="11073374" cy="4306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RNN(LSTM, GRU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포함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문장을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순서대로 한 단어씩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읽는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구조의 한계점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(2017, google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translater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LTSM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layers)</a:t>
            </a:r>
          </a:p>
          <a:p>
            <a:pPr>
              <a:lnSpc>
                <a:spcPct val="150000"/>
              </a:lnSpc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① 정보의 병목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(Bottleneck): "500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페이지 책을 한 줄로 요약해라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인코더는 영어 문장이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단어이든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단어이든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끝까지 다 읽은 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디코더에게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넘겨줄 때는 딱 하나의 고정된 크기의 기억 상태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(Hidden State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압축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아무리 긴 소설책이라도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디코더에게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넘겨줄 때는 딱 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페이지짜리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요약본으로 만들어야 하는 것과 같으며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문장이 길고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복잡해질수록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중요한 정보들이 이 좁은 병목 구간에서 다 구겨지고 유실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② 장기 기억 상실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앞에서 무슨 말 했더라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단어를 읽을 때마다 기존 기억 위에 새로운 기억을 계속 덮어쓰게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누군가 나에게 단어를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연속으로 말해주는 상황으로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번째 단어를 들을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때쯤이면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2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번째로 말했던 단어들은 머릿속에서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흐릿해져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기억나지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않개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번역기는 문장이 길어지면 앞부분의 문맥을 완전히 까먹고 엉뚱한 번역을 하는 고질적인 문제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50384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04BCD-0EA9-41D8-A540-61245E549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2912AA-B4D7-5568-3524-A775ECA3C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41DE0DB-EC79-37FC-20F6-B0A318D9D52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</p:spTree>
    <p:extLst>
      <p:ext uri="{BB962C8B-B14F-4D97-AF65-F5344CB8AC3E}">
        <p14:creationId xmlns:p14="http://schemas.microsoft.com/office/powerpoint/2010/main" val="36481783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61C72-4197-8941-AFF5-049D75658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025B8B-B92B-8D67-FD80-6B2158309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7C4970D-D44F-2504-08A7-41E2746F7FF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</p:spTree>
    <p:extLst>
      <p:ext uri="{BB962C8B-B14F-4D97-AF65-F5344CB8AC3E}">
        <p14:creationId xmlns:p14="http://schemas.microsoft.com/office/powerpoint/2010/main" val="30880770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897E9-D63A-8877-FBD0-86DAF608C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3CA1F6-2B56-59F1-E942-75DC91FB1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B358AA2-DB8C-38E1-50C1-3130DB2417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</p:spTree>
    <p:extLst>
      <p:ext uri="{BB962C8B-B14F-4D97-AF65-F5344CB8AC3E}">
        <p14:creationId xmlns:p14="http://schemas.microsoft.com/office/powerpoint/2010/main" val="36996312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2595E-F380-3DED-F8D7-C89968203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1EE462-7F27-D587-4404-632217ED8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3F55C73-B45C-3AD9-9ACA-ABBD0A1606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</p:spTree>
    <p:extLst>
      <p:ext uri="{BB962C8B-B14F-4D97-AF65-F5344CB8AC3E}">
        <p14:creationId xmlns:p14="http://schemas.microsoft.com/office/powerpoint/2010/main" val="10010423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B87F7-4577-3A9B-A571-304094268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CE6346-525A-0E36-6466-5B78828C5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85AB3F0-4EF5-C7B7-8CC5-74D8150299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</p:spTree>
    <p:extLst>
      <p:ext uri="{BB962C8B-B14F-4D97-AF65-F5344CB8AC3E}">
        <p14:creationId xmlns:p14="http://schemas.microsoft.com/office/powerpoint/2010/main" val="2858904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5685C-E50D-BEBD-6B3A-46B2BAFB7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38461E-6BA0-5463-C3FC-F1249D8C3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1DF0EEA-41CE-B640-7302-8DB617759E2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</p:spTree>
    <p:extLst>
      <p:ext uri="{BB962C8B-B14F-4D97-AF65-F5344CB8AC3E}">
        <p14:creationId xmlns:p14="http://schemas.microsoft.com/office/powerpoint/2010/main" val="36467544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5BA04-637B-645C-99DF-7D88A1253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2478E-D13E-4A8E-C969-DB0769245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CF5DFFC-9095-DCA0-C08C-70FAA0EC75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</p:spTree>
    <p:extLst>
      <p:ext uri="{BB962C8B-B14F-4D97-AF65-F5344CB8AC3E}">
        <p14:creationId xmlns:p14="http://schemas.microsoft.com/office/powerpoint/2010/main" val="3644008806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8022</TotalTime>
  <Words>2768</Words>
  <Application>Microsoft Office PowerPoint</Application>
  <PresentationFormat>와이드스크린</PresentationFormat>
  <Paragraphs>195</Paragraphs>
  <Slides>23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31" baseType="lpstr">
      <vt:lpstr>D2Coding</vt:lpstr>
      <vt:lpstr>맑은 고딕</vt:lpstr>
      <vt:lpstr>바탕</vt:lpstr>
      <vt:lpstr>Arial</vt:lpstr>
      <vt:lpstr>Cambria Math</vt:lpstr>
      <vt:lpstr>Lora</vt:lpstr>
      <vt:lpstr>Wingdings</vt:lpstr>
      <vt:lpstr>WelcomeDoc</vt:lpstr>
      <vt:lpstr>Chapter 15  Language models and the Transformer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129</cp:revision>
  <dcterms:created xsi:type="dcterms:W3CDTF">2026-04-06T01:00:39Z</dcterms:created>
  <dcterms:modified xsi:type="dcterms:W3CDTF">2026-07-02T02:07:59Z</dcterms:modified>
  <cp:version/>
</cp:coreProperties>
</file>