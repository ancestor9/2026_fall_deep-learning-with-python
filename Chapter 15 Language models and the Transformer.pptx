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1135" r:id="rId3"/>
    <p:sldId id="1136" r:id="rId4"/>
    <p:sldId id="1137" r:id="rId5"/>
    <p:sldId id="1138" r:id="rId6"/>
    <p:sldId id="1139" r:id="rId7"/>
    <p:sldId id="1140" r:id="rId8"/>
    <p:sldId id="1141" r:id="rId9"/>
    <p:sldId id="1152" r:id="rId10"/>
    <p:sldId id="1142" r:id="rId11"/>
    <p:sldId id="1143" r:id="rId12"/>
    <p:sldId id="1144" r:id="rId13"/>
    <p:sldId id="1149" r:id="rId14"/>
    <p:sldId id="1145" r:id="rId15"/>
    <p:sldId id="1146" r:id="rId16"/>
    <p:sldId id="1150" r:id="rId17"/>
    <p:sldId id="1151" r:id="rId18"/>
    <p:sldId id="1153" r:id="rId19"/>
    <p:sldId id="1154" r:id="rId20"/>
    <p:sldId id="1155" r:id="rId21"/>
    <p:sldId id="1159" r:id="rId22"/>
    <p:sldId id="1160" r:id="rId23"/>
    <p:sldId id="1156" r:id="rId24"/>
    <p:sldId id="1157" r:id="rId25"/>
    <p:sldId id="1158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39"/>
            <p14:sldId id="1140"/>
            <p14:sldId id="1141"/>
            <p14:sldId id="1152"/>
            <p14:sldId id="1142"/>
            <p14:sldId id="1143"/>
            <p14:sldId id="1144"/>
            <p14:sldId id="1149"/>
            <p14:sldId id="1145"/>
            <p14:sldId id="1146"/>
            <p14:sldId id="1150"/>
            <p14:sldId id="1151"/>
            <p14:sldId id="1153"/>
            <p14:sldId id="1154"/>
            <p14:sldId id="1155"/>
            <p14:sldId id="1159"/>
            <p14:sldId id="1160"/>
            <p14:sldId id="1156"/>
            <p14:sldId id="1157"/>
            <p14:sldId id="115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8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blipFill>
                <a:blip r:embed="rId2"/>
                <a:stretch>
                  <a:fillRect l="-327" b="-19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852D9-25F4-F489-3C73-BA5F2FAC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95D8A6-E311-F7B2-FBC3-345E5DF5F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4900" y="5180373"/>
            <a:ext cx="4736007" cy="7918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64383E-015B-E384-AEF8-EBFAEB243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5" y="1243241"/>
            <a:ext cx="1118616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Using a character-level tokenizer 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67)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776547" y="1914901"/>
            <a:ext cx="9737464" cy="44864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2567DB-74A6-D14D-D129-5F0E2F7A7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6C02C9-228B-073A-9809-9BD3C964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latin typeface="Lora" pitchFamily="2" charset="0"/>
              </a:rPr>
              <a:t>Training a Shakespeare language model</a:t>
            </a:r>
            <a:endParaRPr lang="ko-KR" altLang="en-US" dirty="0">
              <a:latin typeface="Lo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867525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latin typeface="Lora" pitchFamily="2" charset="0"/>
              </a:rPr>
              <a:t>Generating Shakespeare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700337" y="4739944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2160627"/>
            <a:ext cx="866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348662" y="2160627"/>
            <a:ext cx="1876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899291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7525" y="2899291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EDE831-3042-25C3-9CA8-5D976F3D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1" y="1362722"/>
            <a:ext cx="11501999" cy="5049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읽어 내려간다면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식당에 갔다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 여러 가지를 상상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추측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이것이 일반적인 단방향 모델이 작동하는 방식이며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우리가 실제로 말을 하거나 글을 쓸 때와 똑같음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뒤에 나오는 내용까지 미리 다 읽어보면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미래의 정보가 주어지니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아니라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것을 아주 정확하게 맞출 수 있음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뿐만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역방향으로 한 번 더 읽어서 정보를 양쪽에서 다 활용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 전체를 분석할 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긍정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부정 판단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이 방식이 힌트를 양쪽에서 얻기 때문에 훨씬 더 정확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셰익스피어 따라 쓰기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쓸 수 없을까요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모델이 학습할 때는 정답지 문장이 통째로 주어지니까 뒤의 단어들을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빈칸을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99%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완벽하게 맞출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수있지만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실제 셰익스피어 소설을 창조하는 실전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단계에서는 상황이 다름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"To be or"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쓰고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단어를 창조해야 하는 순간에 양방향 모델은 본능적으로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 뒤에는 뭐가 나오지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하고 미래를 보려고 고개를 돌리는 순간 아직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쓰지도 않았기 때문에 미래의 데이터 자체가 존재하지 않음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결국 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훈련할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미래를 훔쳐보던 나쁜 버릇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의존성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)＇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사라진 실전 화면을 마주하면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패닉에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빠져 아무 단어도 내뱉지 못하고 먹통이 되어버리게 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836A54C-8D4D-2FC5-AC63-FAA7BB071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13" y="2210423"/>
            <a:ext cx="6125137" cy="3808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1911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B9E4AA-98F0-09C0-027B-A06F34077293}"/>
              </a:ext>
            </a:extLst>
          </p:cNvPr>
          <p:cNvSpPr txBox="1"/>
          <p:nvPr/>
        </p:nvSpPr>
        <p:spPr>
          <a:xfrm>
            <a:off x="7290895" y="2210423"/>
            <a:ext cx="424444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시퀀스 투 시퀀스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(Sequence-to-sequence)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훈련단계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소스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인코더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처리된 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전송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지금까지 생성된 타겟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확인하고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미래의 한 걸음만큼 오프셋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시차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간격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둔</a:t>
            </a:r>
            <a:r>
              <a:rPr lang="en-US" altLang="ko-KR" sz="12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off by one)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타겟 시퀀스를 예측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입력과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쌍을 한 칸씩 어긋나게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쪼개서 기계에게 시험을 출제하여 훈련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데이터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레이블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실전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하나의 타겟 토큰만 생성하며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토큰을 다시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입력으로 피드백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9ABF57-06DF-88E6-6B63-0DD4D3F842D2}"/>
              </a:ext>
            </a:extLst>
          </p:cNvPr>
          <p:cNvSpPr/>
          <p:nvPr/>
        </p:nvSpPr>
        <p:spPr>
          <a:xfrm>
            <a:off x="4324350" y="3657600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965F600-9B8B-9706-492E-88FBA519AD25}"/>
              </a:ext>
            </a:extLst>
          </p:cNvPr>
          <p:cNvSpPr/>
          <p:nvPr/>
        </p:nvSpPr>
        <p:spPr>
          <a:xfrm>
            <a:off x="4324350" y="2314575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EF03F6-E721-08DC-5D6B-C3AD49F3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A36ADC-D77F-7783-4FCC-10767C6969ED}"/>
              </a:ext>
            </a:extLst>
          </p:cNvPr>
          <p:cNvSpPr txBox="1"/>
          <p:nvPr/>
        </p:nvSpPr>
        <p:spPr>
          <a:xfrm>
            <a:off x="590550" y="1251291"/>
            <a:ext cx="1067700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"Who is in this room?"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입력과 출력으로 데이터파이프라인 구성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3404E-7FEC-7B4D-0727-9399077405AE}"/>
              </a:ext>
            </a:extLst>
          </p:cNvPr>
          <p:cNvSpPr txBox="1"/>
          <p:nvPr/>
        </p:nvSpPr>
        <p:spPr>
          <a:xfrm>
            <a:off x="638175" y="2287012"/>
            <a:ext cx="1108710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문장 부호 지우기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custom_standardization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함수가 특수문자를 지우고 소문자로 변경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특유의 거꾸로 된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(¿)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(?)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모두 제거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¿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4F2B1F-3F8F-EF75-8978-0CD9D7F472DE}"/>
              </a:ext>
            </a:extLst>
          </p:cNvPr>
          <p:cNvSpPr txBox="1"/>
          <p:nvPr/>
        </p:nvSpPr>
        <p:spPr>
          <a:xfrm>
            <a:off x="638175" y="3541574"/>
            <a:ext cx="1108710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 기준으로 쪼개기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</a:p>
          <a:p>
            <a:pPr>
              <a:buNone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기준으로 단어들을 낱개로 분리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앞뒤로 붙인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도 하나의 독립된 단어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토큰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로 취급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세어보면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시작 토큰</a:t>
            </a:r>
            <a:r>
              <a:rPr lang="en-US" altLang="ko-KR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끝 토큰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01C71-F409-94C7-6338-21625256D6DF}"/>
              </a:ext>
            </a:extLst>
          </p:cNvPr>
          <p:cNvSpPr txBox="1"/>
          <p:nvPr/>
        </p:nvSpPr>
        <p:spPr>
          <a:xfrm>
            <a:off x="638176" y="5302101"/>
            <a:ext cx="11087100" cy="784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세어보니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개인데요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왜 코드에서는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내부를 다시 보면 다음과 같이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(:)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처리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978FE-6266-765E-E433-4ACEC393C4E6}"/>
              </a:ext>
            </a:extLst>
          </p:cNvPr>
          <p:cNvSpPr txBox="1"/>
          <p:nvPr/>
        </p:nvSpPr>
        <p:spPr>
          <a:xfrm>
            <a:off x="1505441" y="2238983"/>
            <a:ext cx="9247187" cy="263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features,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"] (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입력):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:-1]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마지막인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앞의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labels,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(정답 레이블):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1:]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앞인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뒤의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991024-32AE-D6F3-447F-10C166D9622E}"/>
              </a:ext>
            </a:extLst>
          </p:cNvPr>
          <p:cNvSpPr txBox="1"/>
          <p:nvPr/>
        </p:nvSpPr>
        <p:spPr>
          <a:xfrm>
            <a:off x="646577" y="1314578"/>
            <a:ext cx="109167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7F8E-913E-5F45-86F3-440A041F9FA9}"/>
              </a:ext>
            </a:extLst>
          </p:cNvPr>
          <p:cNvSpPr txBox="1"/>
          <p:nvPr/>
        </p:nvSpPr>
        <p:spPr>
          <a:xfrm>
            <a:off x="2465878" y="5109189"/>
            <a:ext cx="811639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훈련시킬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하나씩 어긋나는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(Offset by one)"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만들기 위해 입력과 정답에서 각각 토큰을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개씩 깎아냈기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결과물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(inputs["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"], targets)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패딩 제외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맞춰진 것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747FFEF6-096A-8602-0D9A-4A8962299C12}"/>
              </a:ext>
            </a:extLst>
          </p:cNvPr>
          <p:cNvSpPr/>
          <p:nvPr/>
        </p:nvSpPr>
        <p:spPr>
          <a:xfrm>
            <a:off x="1505441" y="5331411"/>
            <a:ext cx="713858" cy="7048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B9780A-4648-728D-B5C5-BB7B46F75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321656" y="1248422"/>
            <a:ext cx="12053540" cy="1218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정수 변환 후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토큰화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 부호가 지워지고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321656" y="2857208"/>
            <a:ext cx="11601450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최종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데이터의 모습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함수를 통과하면 하나의 데이터가 아래처럼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endParaRPr lang="en-US" altLang="ko-KR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1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89, 45, 12, 512, 0, 0, 0, 0, 0, 0, 0, 0, 0, 0, 0, 0, 0, 0, 0]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 lvl="2"/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형태입니다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</a:p>
          <a:p>
            <a:pPr lvl="2"/>
            <a:r>
              <a:rPr lang="en-US" altLang="ko-KR" sz="12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35D3F5-6C6C-0B73-F197-639CD083A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8" y="5574596"/>
            <a:ext cx="61560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B94134-E31A-1108-B02E-422A4CF15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1140898" y="4137773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2912AA-B4D7-5568-3524-A775ECA3C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916059"/>
            <a:ext cx="6096000" cy="3290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025B8B-B92B-8D67-FD80-6B215830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3CA1F6-2B56-59F1-E942-75DC91FB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E462-7F27-D587-4404-632217ED8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5869802" cy="2644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964219" y="1317714"/>
            <a:ext cx="4549998" cy="3910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맥스 값을 구한 후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(scaling)</a:t>
            </a: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배지 1 단색으로 채워진">
            <a:extLst>
              <a:ext uri="{FF2B5EF4-FFF2-40B4-BE49-F238E27FC236}">
                <a16:creationId xmlns:a16="http://schemas.microsoft.com/office/drawing/2014/main" id="{9BB34B10-C2C4-0316-3701-6CC56606A2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783" y="4627001"/>
            <a:ext cx="276330" cy="276330"/>
          </a:xfrm>
          <a:prstGeom prst="rect">
            <a:avLst/>
          </a:prstGeom>
        </p:spPr>
      </p:pic>
      <p:pic>
        <p:nvPicPr>
          <p:cNvPr id="16" name="그래픽 15" descr="배지 단색으로 채워진">
            <a:extLst>
              <a:ext uri="{FF2B5EF4-FFF2-40B4-BE49-F238E27FC236}">
                <a16:creationId xmlns:a16="http://schemas.microsoft.com/office/drawing/2014/main" id="{C65C769D-DD6E-1D00-8DBE-5F5CF21DF1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7783" y="5039466"/>
            <a:ext cx="276330" cy="276330"/>
          </a:xfrm>
          <a:prstGeom prst="rect">
            <a:avLst/>
          </a:prstGeom>
        </p:spPr>
      </p:pic>
      <p:pic>
        <p:nvPicPr>
          <p:cNvPr id="18" name="그래픽 17" descr="배지 3 단색으로 채워진">
            <a:extLst>
              <a:ext uri="{FF2B5EF4-FFF2-40B4-BE49-F238E27FC236}">
                <a16:creationId xmlns:a16="http://schemas.microsoft.com/office/drawing/2014/main" id="{888A3E31-4E67-1DE8-26B5-8D483AA33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7783" y="5451931"/>
            <a:ext cx="276330" cy="27633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F65EDEE-4C5F-7812-4F7C-112D4E9FB0ED}"/>
              </a:ext>
            </a:extLst>
          </p:cNvPr>
          <p:cNvSpPr txBox="1"/>
          <p:nvPr/>
        </p:nvSpPr>
        <p:spPr>
          <a:xfrm>
            <a:off x="7375008" y="2318789"/>
            <a:ext cx="2332410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[0.56, 2.51, 0.49, 1.21]</a:t>
            </a:r>
          </a:p>
        </p:txBody>
      </p:sp>
      <p:pic>
        <p:nvPicPr>
          <p:cNvPr id="34" name="그래픽 33" descr="배지 1 단색으로 채워진">
            <a:extLst>
              <a:ext uri="{FF2B5EF4-FFF2-40B4-BE49-F238E27FC236}">
                <a16:creationId xmlns:a16="http://schemas.microsoft.com/office/drawing/2014/main" id="{CC130F45-ED15-6906-4187-F61079D24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76674" y="1485386"/>
            <a:ext cx="276330" cy="276330"/>
          </a:xfrm>
          <a:prstGeom prst="rect">
            <a:avLst/>
          </a:prstGeom>
        </p:spPr>
      </p:pic>
      <p:pic>
        <p:nvPicPr>
          <p:cNvPr id="36" name="그래픽 35" descr="배지 단색으로 채워진">
            <a:extLst>
              <a:ext uri="{FF2B5EF4-FFF2-40B4-BE49-F238E27FC236}">
                <a16:creationId xmlns:a16="http://schemas.microsoft.com/office/drawing/2014/main" id="{818828B1-EC24-5501-448F-FC02FDC86D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6674" y="3210721"/>
            <a:ext cx="276330" cy="276330"/>
          </a:xfrm>
          <a:prstGeom prst="rect">
            <a:avLst/>
          </a:prstGeom>
        </p:spPr>
      </p:pic>
      <p:pic>
        <p:nvPicPr>
          <p:cNvPr id="38" name="그래픽 37" descr="배지 3 단색으로 채워진">
            <a:extLst>
              <a:ext uri="{FF2B5EF4-FFF2-40B4-BE49-F238E27FC236}">
                <a16:creationId xmlns:a16="http://schemas.microsoft.com/office/drawing/2014/main" id="{6B50664C-753A-4A42-027A-323EE8844B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41046" y="4441518"/>
            <a:ext cx="276330" cy="27633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5004797" y="1696403"/>
            <a:ext cx="1460662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C3E297-FCCB-397E-018E-55E4BDE3DA38}"/>
              </a:ext>
            </a:extLst>
          </p:cNvPr>
          <p:cNvSpPr txBox="1"/>
          <p:nvPr/>
        </p:nvSpPr>
        <p:spPr>
          <a:xfrm>
            <a:off x="7375008" y="3632659"/>
            <a:ext cx="313900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0.6462 , 0.0857, 0.1761]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31C0E0-1E7B-89C8-8987-C0F92717C6A7}"/>
              </a:ext>
            </a:extLst>
          </p:cNvPr>
          <p:cNvSpPr txBox="1"/>
          <p:nvPr/>
        </p:nvSpPr>
        <p:spPr>
          <a:xfrm>
            <a:off x="1656709" y="4129587"/>
            <a:ext cx="2004419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7375007" y="6247497"/>
            <a:ext cx="313900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E4840900-CD8B-5BAD-7BDD-7F374B98F9A8}"/>
              </a:ext>
            </a:extLst>
          </p:cNvPr>
          <p:cNvSpPr/>
          <p:nvPr/>
        </p:nvSpPr>
        <p:spPr>
          <a:xfrm>
            <a:off x="2142836" y="3589410"/>
            <a:ext cx="1080655" cy="4219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72990524-CCF1-788B-512B-37D6EE03ADFA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5957455" y="2404289"/>
            <a:ext cx="1417552" cy="399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99FFCC4-6076-77AD-CEA6-EB277323DFB8}"/>
              </a:ext>
            </a:extLst>
          </p:cNvPr>
          <p:cNvSpPr txBox="1"/>
          <p:nvPr/>
        </p:nvSpPr>
        <p:spPr>
          <a:xfrm>
            <a:off x="995348" y="4614998"/>
            <a:ext cx="5331559" cy="116955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R="0" indent="0">
              <a:buNone/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R="0" indent="0">
              <a:buNone/>
            </a:pP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75007" y="5229796"/>
            <a:ext cx="2151067" cy="91885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0DBEE09-3F5C-FB5E-0111-89146218126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3944A8-CD14-49B3-1AA8-680D65BD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5ACCF5-7BA8-5844-5E37-5232D0C90D7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00139C-8AB8-BF2F-A5B4-6C7B8150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5E81A-875F-A5EE-79EC-22F77054530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E6346-525A-0E36-6466-5B78828C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3053757" y="4179119"/>
            <a:ext cx="22475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6096000" cy="4865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요약본“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수치를 뜯어보면 소름 돋는 포인트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있습니다.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즉, 이 3번 수치는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 3번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벡터＂를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1"/>
            <a:endCxn id="9" idx="0"/>
          </p:cNvCxnSpPr>
          <p:nvPr/>
        </p:nvCxnSpPr>
        <p:spPr>
          <a:xfrm rot="10800000" flipH="1" flipV="1">
            <a:off x="3644511" y="2217918"/>
            <a:ext cx="533022" cy="3541343"/>
          </a:xfrm>
          <a:prstGeom prst="bentConnector4">
            <a:avLst>
              <a:gd name="adj1" fmla="val -42888"/>
              <a:gd name="adj2" fmla="val 55866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14889" y="493930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38E7A-F9F1-38A2-E05E-C7B3A31E60C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38461E-6BA0-5463-C3FC-F1249D8C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66" y="1752504"/>
            <a:ext cx="4467078" cy="407292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3454401" y="1988400"/>
            <a:ext cx="655782" cy="2823746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4110183" y="2456639"/>
            <a:ext cx="4326276" cy="943634"/>
          </a:xfrm>
          <a:prstGeom prst="bentConnector2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731391" y="1766018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731391" y="2118085"/>
            <a:ext cx="34101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3EC94-DFD6-D05A-390B-A1F187DA8BE7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2478E-D13E-4A8E-C969-DB076924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8306</TotalTime>
  <Words>3931</Words>
  <Application>Microsoft Office PowerPoint</Application>
  <PresentationFormat>와이드스크린</PresentationFormat>
  <Paragraphs>296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D2Coding</vt:lpstr>
      <vt:lpstr>맑은 고딕</vt:lpstr>
      <vt:lpstr>Batang</vt:lpstr>
      <vt:lpstr>Arial</vt:lpstr>
      <vt:lpstr>Cambria Math</vt:lpstr>
      <vt:lpstr>Lora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133</cp:revision>
  <dcterms:created xsi:type="dcterms:W3CDTF">2026-04-06T01:00:39Z</dcterms:created>
  <dcterms:modified xsi:type="dcterms:W3CDTF">2026-07-06T07:29:53Z</dcterms:modified>
  <cp:version/>
</cp:coreProperties>
</file>