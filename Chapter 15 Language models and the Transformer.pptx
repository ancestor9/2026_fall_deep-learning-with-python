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0"/>
  </p:notesMasterIdLst>
  <p:handoutMasterIdLst>
    <p:handoutMasterId r:id="rId41"/>
  </p:handoutMasterIdLst>
  <p:sldIdLst>
    <p:sldId id="256" r:id="rId2"/>
    <p:sldId id="1135" r:id="rId3"/>
    <p:sldId id="1136" r:id="rId4"/>
    <p:sldId id="1137" r:id="rId5"/>
    <p:sldId id="1138" r:id="rId6"/>
    <p:sldId id="1141" r:id="rId7"/>
    <p:sldId id="1139" r:id="rId8"/>
    <p:sldId id="1140" r:id="rId9"/>
    <p:sldId id="1152" r:id="rId10"/>
    <p:sldId id="1174" r:id="rId11"/>
    <p:sldId id="1142" r:id="rId12"/>
    <p:sldId id="1143" r:id="rId13"/>
    <p:sldId id="1144" r:id="rId14"/>
    <p:sldId id="1149" r:id="rId15"/>
    <p:sldId id="1173" r:id="rId16"/>
    <p:sldId id="1145" r:id="rId17"/>
    <p:sldId id="1146" r:id="rId18"/>
    <p:sldId id="1150" r:id="rId19"/>
    <p:sldId id="1175" r:id="rId20"/>
    <p:sldId id="1151" r:id="rId21"/>
    <p:sldId id="1153" r:id="rId22"/>
    <p:sldId id="1154" r:id="rId23"/>
    <p:sldId id="1172" r:id="rId24"/>
    <p:sldId id="1180" r:id="rId25"/>
    <p:sldId id="1155" r:id="rId26"/>
    <p:sldId id="1159" r:id="rId27"/>
    <p:sldId id="1160" r:id="rId28"/>
    <p:sldId id="1156" r:id="rId29"/>
    <p:sldId id="1157" r:id="rId30"/>
    <p:sldId id="1158" r:id="rId31"/>
    <p:sldId id="1176" r:id="rId32"/>
    <p:sldId id="1162" r:id="rId33"/>
    <p:sldId id="1178" r:id="rId34"/>
    <p:sldId id="1179" r:id="rId35"/>
    <p:sldId id="1177" r:id="rId36"/>
    <p:sldId id="1161" r:id="rId37"/>
    <p:sldId id="1163" r:id="rId38"/>
    <p:sldId id="1165" r:id="rId39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35"/>
            <p14:sldId id="1136"/>
            <p14:sldId id="1137"/>
            <p14:sldId id="1138"/>
            <p14:sldId id="1141"/>
            <p14:sldId id="1139"/>
            <p14:sldId id="1140"/>
            <p14:sldId id="1152"/>
            <p14:sldId id="1174"/>
            <p14:sldId id="1142"/>
            <p14:sldId id="1143"/>
            <p14:sldId id="1144"/>
            <p14:sldId id="1149"/>
            <p14:sldId id="1173"/>
            <p14:sldId id="1145"/>
            <p14:sldId id="1146"/>
            <p14:sldId id="1150"/>
            <p14:sldId id="1175"/>
            <p14:sldId id="1151"/>
            <p14:sldId id="1153"/>
            <p14:sldId id="1154"/>
            <p14:sldId id="1172"/>
            <p14:sldId id="1180"/>
            <p14:sldId id="1155"/>
            <p14:sldId id="1159"/>
            <p14:sldId id="1160"/>
            <p14:sldId id="1156"/>
            <p14:sldId id="1157"/>
            <p14:sldId id="1158"/>
            <p14:sldId id="1176"/>
            <p14:sldId id="1162"/>
            <p14:sldId id="1178"/>
            <p14:sldId id="1179"/>
            <p14:sldId id="1177"/>
            <p14:sldId id="1161"/>
            <p14:sldId id="1163"/>
            <p14:sldId id="1165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D24726"/>
    <a:srgbClr val="FF9B45"/>
    <a:srgbClr val="DD462F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87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-6648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2026-10-14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2026-10-14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FBE4A-FC4B-B886-A818-9CDEC658D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1772A6-F014-AA8F-5AF6-A105AEFFE0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E3A808-4F37-9BA4-B01F-FF577C09EB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33A77B-DAD2-D139-707D-5474EB7941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2760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6B24C-D74C-C7DC-EF47-C3A74412C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6FF7D5-9314-3C93-156A-24C15F4F7A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B254F2-F49B-7EFE-3265-6784E6AD68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61AE52-A599-9B64-EEC9-2C9E189830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9157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altLang="ko-KR" noProof="0" smtClean="0"/>
              <a:pPr/>
              <a:t>23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1996406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204BD-07BF-C332-E60D-DAD52F493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86C0408-A978-1E62-27DB-F158C7D487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C4D7C3D-E657-94C5-4963-872EEF9D55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05D332-B9D1-F7F2-7EAF-3F0AB4FD62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altLang="ko-KR" noProof="0" smtClean="0"/>
              <a:pPr/>
              <a:t>24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595000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2026-10-14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2026-10-14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101ai.net/text/word-embed" TargetMode="External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hyperlink" Target="https://word2vec.kr/search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7" Type="http://schemas.openxmlformats.org/officeDocument/2006/relationships/image" Target="../media/image33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hyperlink" Target="https://github.com/jo1jun/Vision_Transformer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171575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Chapter 15 </a:t>
            </a:r>
            <a:br>
              <a:rPr lang="en-US" altLang="ko-KR" sz="4400" dirty="0">
                <a:solidFill>
                  <a:schemeClr val="bg1"/>
                </a:solidFill>
              </a:rPr>
            </a:br>
            <a:r>
              <a:rPr lang="en-US" altLang="ko-KR" sz="4400" dirty="0">
                <a:solidFill>
                  <a:schemeClr val="bg1"/>
                </a:solidFill>
              </a:rPr>
              <a:t>Language models and the Transformer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D33AAA17-EC45-405D-3EC4-5671AD5F717E}"/>
              </a:ext>
            </a:extLst>
          </p:cNvPr>
          <p:cNvSpPr txBox="1">
            <a:spLocks/>
          </p:cNvSpPr>
          <p:nvPr/>
        </p:nvSpPr>
        <p:spPr>
          <a:xfrm>
            <a:off x="1112361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1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720D6-5AE6-3C71-71A9-7178299E6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A99687-4C48-8DA7-5F76-6B7712A59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D810985-A788-B5F8-19D5-7D75D19399E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Goals</a:t>
            </a:r>
            <a:endParaRPr lang="ko-KR" altLang="en-US" sz="2800" b="1" cap="none" dirty="0">
              <a:latin typeface="Lor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AAB68B-A2BA-07A3-DB75-5B56921FF4A0}"/>
              </a:ext>
            </a:extLst>
          </p:cNvPr>
          <p:cNvSpPr txBox="1"/>
          <p:nvPr/>
        </p:nvSpPr>
        <p:spPr>
          <a:xfrm>
            <a:off x="577530" y="1248422"/>
            <a:ext cx="11233469" cy="2932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400" dirty="0"/>
              <a:t>This chapter covers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/>
              <a:t>How to generate text with a deep learning model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/>
              <a:t>Training a model to translate from English to Spanish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/>
              <a:t>The Transformer, a powerful architecture for text modeling problems</a:t>
            </a:r>
          </a:p>
        </p:txBody>
      </p:sp>
    </p:spTree>
    <p:extLst>
      <p:ext uri="{BB962C8B-B14F-4D97-AF65-F5344CB8AC3E}">
        <p14:creationId xmlns:p14="http://schemas.microsoft.com/office/powerpoint/2010/main" val="578434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7E1F9-333C-ABDF-A6E4-EC294224F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B03F11-84CC-EFFA-CE9F-2BECB6483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61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3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3FEC1E1-D4CF-BEB2-D53C-A629B275147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The language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9BFA4CF-0B1D-8AD2-79E4-E48E5C7BA7CF}"/>
                  </a:ext>
                </a:extLst>
              </p:cNvPr>
              <p:cNvSpPr txBox="1"/>
              <p:nvPr/>
            </p:nvSpPr>
            <p:spPr>
              <a:xfrm>
                <a:off x="568960" y="1478012"/>
                <a:ext cx="11186160" cy="28689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가장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단순한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방법은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가능한 모든 출력 정수 시퀀스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단어 조합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)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를 설정하고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, 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이를 직접 분류하는 분류기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(Classifier)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를 학습시키는 것</a:t>
                </a:r>
                <a:endParaRPr lang="en-US" altLang="ko-KR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endParaRPr lang="en-US" altLang="ko-KR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그러나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대략적으로만 계산해 봐도 이것이 사실상 불가능하다는 것 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!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2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0,000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개의 단어로 이루어진 어휘 사전이 있다면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, 4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개 단어로 이루어진 문장의 가짓수만 해도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sz="16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1600" dirty="0"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US" altLang="ko-KR" sz="1600" b="0" i="0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1600" dirty="0">
                            <a:latin typeface="Cambria Math" panose="02040503050406030204" pitchFamily="18" charset="0"/>
                          </a:rPr>
                          <m:t>000</m:t>
                        </m:r>
                      </m:e>
                      <m:sup>
                        <m:r>
                          <a:rPr lang="ko-KR" altLang="en-US" sz="1600" dirty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, 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즉 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160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경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(Quadrillion) 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개에 달하며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,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만약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20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개 단어로 만들 수 있는 문장의 가짓수는 우주에 존재하는 원자의 개수보다도 많음 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  <a:sym typeface="Wingdings" panose="05000000000000000000" pitchFamily="2" charset="2"/>
                  </a:rPr>
                  <a:t> Impossible !</a:t>
                </a:r>
                <a:endParaRPr lang="en-US" altLang="ko-KR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9BFA4CF-0B1D-8AD2-79E4-E48E5C7BA7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960" y="1478012"/>
                <a:ext cx="11186160" cy="2868991"/>
              </a:xfrm>
              <a:prstGeom prst="rect">
                <a:avLst/>
              </a:prstGeom>
              <a:blipFill>
                <a:blip r:embed="rId2"/>
                <a:stretch>
                  <a:fillRect l="-327" b="-16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432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B2BC8-D20E-6E77-FCFD-FE417302E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C05D818-9F1E-3E61-C88A-4B65481CA6D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The language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F28F0F-4C41-BB8B-D028-812632A2F2A8}"/>
              </a:ext>
            </a:extLst>
          </p:cNvPr>
          <p:cNvSpPr txBox="1"/>
          <p:nvPr/>
        </p:nvSpPr>
        <p:spPr>
          <a:xfrm>
            <a:off x="568960" y="1478012"/>
            <a:ext cx="11186160" cy="4297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Generative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AI(GPT, BERT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는 이 문제를 어떻게 해결했을까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?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 난관을 극복하기 위해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문장을 통째로 맞추는 게 아니라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"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바로 다음에 올 단어 하나만 맞추기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반복하는 것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자기회귀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(Autoregressive)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오늘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", 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날씨가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", 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이라는 단어가 주어졌을 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다음에 올 단어 하나만 예측하면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고민해야 하는 선택지는 전체 문장 수가 아니라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어휘 사전의 크기인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20,000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개로 고정되어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컴퓨터가 충분히 처리할 수 있는 크기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단어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(Embedding):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모든 단어 조합을 다 외우는 대신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단어를 수십 차원의 공간에 벡터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숫자 배열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표현하면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남자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", 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여왕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여자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관계를 기하학적으로 이해하기 때문에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굳이 세상의 모든 문장을 다 조합해 보지 않아도 문맥을 유추할 수 있게 됨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왜 우리가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Text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Generating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만들 때 단어를 한 땀 한 땀 차례대로 예측하는 방식을 쓸 수밖에 없는가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?"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증명하는 핵심적인 이론 배경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98C8120-5523-D1DB-2981-5EC057741D77}"/>
              </a:ext>
            </a:extLst>
          </p:cNvPr>
          <p:cNvSpPr txBox="1">
            <a:spLocks/>
          </p:cNvSpPr>
          <p:nvPr/>
        </p:nvSpPr>
        <p:spPr>
          <a:xfrm>
            <a:off x="1112361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4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1858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6AD1A-760B-722A-6778-8D71BF719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A4C943-3132-F971-67C0-1094F94E282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The conditional</a:t>
            </a:r>
            <a:r>
              <a:rPr lang="ko-KR" altLang="en-US" sz="2800" b="1" cap="none" dirty="0">
                <a:latin typeface="Lora" pitchFamily="2" charset="0"/>
              </a:rPr>
              <a:t> </a:t>
            </a:r>
            <a:r>
              <a:rPr lang="en-US" altLang="ko-KR" sz="2800" b="1" cap="none" dirty="0">
                <a:latin typeface="Lora" pitchFamily="2" charset="0"/>
              </a:rPr>
              <a:t>probability</a:t>
            </a:r>
            <a:r>
              <a:rPr lang="ko-KR" altLang="en-US" sz="2800" b="1" cap="none" dirty="0">
                <a:latin typeface="Lora" pitchFamily="2" charset="0"/>
              </a:rPr>
              <a:t> </a:t>
            </a:r>
            <a:r>
              <a:rPr lang="en-US" altLang="ko-KR" sz="2800" b="1" cap="none" dirty="0">
                <a:latin typeface="Lora" pitchFamily="2" charset="0"/>
              </a:rPr>
              <a:t>language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EEE6769-455F-97BC-EFFA-7740A3904B76}"/>
                  </a:ext>
                </a:extLst>
              </p:cNvPr>
              <p:cNvSpPr txBox="1"/>
              <p:nvPr/>
            </p:nvSpPr>
            <p:spPr>
              <a:xfrm>
                <a:off x="530195" y="1186091"/>
                <a:ext cx="11186160" cy="12939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Generative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AI(GPT 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등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)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의 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"</a:t>
                </a:r>
                <a:r>
                  <a:rPr lang="ko-KR" altLang="en-US" b="1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바로 다음에 올 단어 하나</a:t>
                </a:r>
                <a:r>
                  <a:rPr lang="en-US" altLang="ko-KR" b="1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1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ko-KR" altLang="en-US" b="1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ko-KR" b="1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)</a:t>
                </a:r>
                <a:r>
                  <a:rPr lang="ko-KR" altLang="en-US" b="1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만 맞추기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“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는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우주에 존재하는 모든 문장을 확률을 한 번에 구하는 대신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체인 규칙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(Chain Rule)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로 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"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이전 단어들이 주어졌을 때 바로 다음에 올 단어 하나를 맞추는 문제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＂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로 단순화 시킴</a:t>
                </a:r>
                <a:endParaRPr lang="en-US" altLang="ko-KR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EEE6769-455F-97BC-EFFA-7740A3904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95" y="1186091"/>
                <a:ext cx="11186160" cy="1293944"/>
              </a:xfrm>
              <a:prstGeom prst="rect">
                <a:avLst/>
              </a:prstGeom>
              <a:blipFill>
                <a:blip r:embed="rId2"/>
                <a:stretch>
                  <a:fillRect l="-381" r="-54" b="-70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2B88D720-9EE9-B4DD-9D6C-E020AC06F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378" y="3076059"/>
            <a:ext cx="2756255" cy="3837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882A66D-4B54-2D3D-7F0F-BE1A23F0B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4900" y="3912230"/>
            <a:ext cx="2949800" cy="44215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26C31D1-BEE7-0A6E-5E49-B9281B01F7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4900" y="4339339"/>
            <a:ext cx="3890957" cy="37899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03D3D1B-9E60-FCC8-ABEE-954209B6EC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5857" y="4369932"/>
            <a:ext cx="3312492" cy="31780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BACD8BB-82DD-D3D2-AD6E-29BAC47A43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2400" y="5180373"/>
            <a:ext cx="4736007" cy="79180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49FB86B-07F0-6B11-9976-BDB7CD993B65}"/>
              </a:ext>
            </a:extLst>
          </p:cNvPr>
          <p:cNvSpPr txBox="1"/>
          <p:nvPr/>
        </p:nvSpPr>
        <p:spPr>
          <a:xfrm>
            <a:off x="1119997" y="3935327"/>
            <a:ext cx="12858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Chain Rule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B082A2-6248-1141-D0A0-D1BB966C8BE4}"/>
              </a:ext>
            </a:extLst>
          </p:cNvPr>
          <p:cNvSpPr txBox="1"/>
          <p:nvPr/>
        </p:nvSpPr>
        <p:spPr>
          <a:xfrm>
            <a:off x="1119997" y="2998566"/>
            <a:ext cx="5156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Joint Probability, Conditional Probability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9FE714E-77D9-F5E4-7F9B-F004538B9E88}"/>
              </a:ext>
            </a:extLst>
          </p:cNvPr>
          <p:cNvSpPr/>
          <p:nvPr/>
        </p:nvSpPr>
        <p:spPr>
          <a:xfrm>
            <a:off x="3962400" y="3912230"/>
            <a:ext cx="7391400" cy="80419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57AA3A4-0EFC-FF07-0358-3BEE910B6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61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5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9A973B2-265A-5360-2594-DF8829AAD2E4}"/>
              </a:ext>
            </a:extLst>
          </p:cNvPr>
          <p:cNvSpPr/>
          <p:nvPr/>
        </p:nvSpPr>
        <p:spPr>
          <a:xfrm>
            <a:off x="4044425" y="3954377"/>
            <a:ext cx="956200" cy="378991"/>
          </a:xfrm>
          <a:prstGeom prst="rect">
            <a:avLst/>
          </a:prstGeom>
          <a:noFill/>
          <a:ln>
            <a:solidFill>
              <a:srgbClr val="D24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C60060B-069F-A724-81B4-997CCACD0BE3}"/>
              </a:ext>
            </a:extLst>
          </p:cNvPr>
          <p:cNvSpPr/>
          <p:nvPr/>
        </p:nvSpPr>
        <p:spPr>
          <a:xfrm>
            <a:off x="5520800" y="4297277"/>
            <a:ext cx="956200" cy="378991"/>
          </a:xfrm>
          <a:prstGeom prst="rect">
            <a:avLst/>
          </a:prstGeom>
          <a:noFill/>
          <a:ln>
            <a:solidFill>
              <a:srgbClr val="D24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004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875AE-A03E-A978-45BE-6A5931545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DCF3AB8-268F-59C2-7493-DAB34ABA98B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How to train and generate Shakespeare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57914A-31CE-7894-9B56-D8A4DFEFA1F2}"/>
              </a:ext>
            </a:extLst>
          </p:cNvPr>
          <p:cNvSpPr txBox="1"/>
          <p:nvPr/>
        </p:nvSpPr>
        <p:spPr>
          <a:xfrm>
            <a:off x="1104900" y="2234684"/>
            <a:ext cx="474345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Training a Shakespeare language model</a:t>
            </a:r>
            <a:endParaRPr lang="ko-KR" altLang="en-US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0EE6EF-06BF-1F52-96AE-37337AAD405E}"/>
              </a:ext>
            </a:extLst>
          </p:cNvPr>
          <p:cNvSpPr txBox="1"/>
          <p:nvPr/>
        </p:nvSpPr>
        <p:spPr>
          <a:xfrm>
            <a:off x="6619875" y="2234684"/>
            <a:ext cx="501015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800" cap="none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Generating Shakespeare</a:t>
            </a:r>
            <a:endParaRPr lang="ko-KR" altLang="en-US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8FC800-7455-DE28-7935-D180CF0F54A7}"/>
              </a:ext>
            </a:extLst>
          </p:cNvPr>
          <p:cNvSpPr txBox="1"/>
          <p:nvPr/>
        </p:nvSpPr>
        <p:spPr>
          <a:xfrm>
            <a:off x="2481262" y="5206669"/>
            <a:ext cx="6991350" cy="1296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훈련할 때의 일괄 처리 방식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(Batch)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생성할 때의 실시간 한 글자 처리 방식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(Autoregressive)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차이점을 이해하자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!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693BCE-0248-09F3-D99B-B057C1BE2BC5}"/>
              </a:ext>
            </a:extLst>
          </p:cNvPr>
          <p:cNvSpPr txBox="1"/>
          <p:nvPr/>
        </p:nvSpPr>
        <p:spPr>
          <a:xfrm>
            <a:off x="2905125" y="1808202"/>
            <a:ext cx="11021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i="1" dirty="0">
                <a:latin typeface="D2Coding" panose="020B0609020101020101" pitchFamily="49" charset="-127"/>
                <a:ea typeface="D2Coding" panose="020B0609020101020101" pitchFamily="49" charset="-127"/>
              </a:rPr>
              <a:t>Batch</a:t>
            </a:r>
            <a:endParaRPr lang="ko-KR" altLang="en-US" sz="2000" i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B51A5C-268E-CACC-1098-6B745CE19920}"/>
              </a:ext>
            </a:extLst>
          </p:cNvPr>
          <p:cNvSpPr txBox="1"/>
          <p:nvPr/>
        </p:nvSpPr>
        <p:spPr>
          <a:xfrm>
            <a:off x="8101012" y="1808202"/>
            <a:ext cx="2386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i="1" dirty="0">
                <a:latin typeface="D2Coding" panose="020B0609020101020101" pitchFamily="49" charset="-127"/>
                <a:ea typeface="D2Coding" panose="020B0609020101020101" pitchFamily="49" charset="-127"/>
              </a:rPr>
              <a:t>Autoregressive</a:t>
            </a:r>
            <a:endParaRPr lang="ko-KR" altLang="en-US" sz="2000" i="1" dirty="0"/>
          </a:p>
        </p:txBody>
      </p:sp>
      <p:pic>
        <p:nvPicPr>
          <p:cNvPr id="3074" name="Picture 2" descr="빨간색 옷을 입은 작업자가 덤프 트럭이 모래를 내리는 것을 감독하고 있습니다.">
            <a:extLst>
              <a:ext uri="{FF2B5EF4-FFF2-40B4-BE49-F238E27FC236}">
                <a16:creationId xmlns:a16="http://schemas.microsoft.com/office/drawing/2014/main" id="{51F2301C-A418-9A8A-0ED4-3921538ED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2604016"/>
            <a:ext cx="2085975" cy="1564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빨간 스포츠 브라를 입은 여자가 달릴 준비를 하고 있다">
            <a:extLst>
              <a:ext uri="{FF2B5EF4-FFF2-40B4-BE49-F238E27FC236}">
                <a16:creationId xmlns:a16="http://schemas.microsoft.com/office/drawing/2014/main" id="{67D1478E-9DC1-89DB-6FF9-DD42E3526A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875" y="2604016"/>
            <a:ext cx="2346720" cy="156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6F5E02B-2879-FC28-79C9-ED0FBE486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61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6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8F22D2-F683-BEB8-57A7-F2C69B54D45B}"/>
              </a:ext>
            </a:extLst>
          </p:cNvPr>
          <p:cNvSpPr txBox="1"/>
          <p:nvPr/>
        </p:nvSpPr>
        <p:spPr>
          <a:xfrm>
            <a:off x="3165610" y="2616131"/>
            <a:ext cx="2758940" cy="1531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학습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(Training)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할 때 전체 문장을 일괄 처리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(Batch)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통째로 쏟아 넣어서 한 번에 처리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E5756A-352A-B744-2FFA-B72477A50C7B}"/>
              </a:ext>
            </a:extLst>
          </p:cNvPr>
          <p:cNvSpPr txBox="1"/>
          <p:nvPr/>
        </p:nvSpPr>
        <p:spPr>
          <a:xfrm>
            <a:off x="8970164" y="2616401"/>
            <a:ext cx="265986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문장을 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(Generating)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할 때는 내가 방금 만든 단어와 기억 상태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(Hidden State)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다음 단계로 전달하는 실시간 순차</a:t>
            </a:r>
          </a:p>
        </p:txBody>
      </p:sp>
    </p:spTree>
    <p:extLst>
      <p:ext uri="{BB962C8B-B14F-4D97-AF65-F5344CB8AC3E}">
        <p14:creationId xmlns:p14="http://schemas.microsoft.com/office/powerpoint/2010/main" val="3104423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AB750-858A-C272-15A2-7C84C1560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27A49D7-0398-90D4-E851-A6A68B937AE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Training a Shakespeare language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0D94CA-73D3-2527-75B8-9F7446930B9F}"/>
              </a:ext>
            </a:extLst>
          </p:cNvPr>
          <p:cNvSpPr txBox="1"/>
          <p:nvPr/>
        </p:nvSpPr>
        <p:spPr>
          <a:xfrm>
            <a:off x="530194" y="1243241"/>
            <a:ext cx="11004581" cy="46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인코더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디코더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구분이 없는 단일 시퀀스 학습 모델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(Using a character-level tokenizer)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9067A1-3F80-FF96-C857-0BAB9F1B5C3F}"/>
              </a:ext>
            </a:extLst>
          </p:cNvPr>
          <p:cNvSpPr txBox="1"/>
          <p:nvPr/>
        </p:nvSpPr>
        <p:spPr>
          <a:xfrm>
            <a:off x="862272" y="1827118"/>
            <a:ext cx="9158028" cy="4459554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sequences of 100 characters at a time.</a:t>
            </a:r>
          </a:p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sequence_length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100</a:t>
            </a: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embedding_dim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256;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hidden_dim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1024</a:t>
            </a:r>
          </a:p>
          <a:p>
            <a:pPr algn="l" latinLnBrk="0">
              <a:lnSpc>
                <a:spcPct val="150000"/>
              </a:lnSpc>
              <a:buNone/>
            </a:pPr>
            <a:endParaRPr lang="en-US" altLang="ko-KR" sz="5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inputs = 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layers.Input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(shape=(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sequence_length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,), 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dtype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="int", name="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token_ids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layers.Embedding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vocabulary_size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embedding_dim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)(inputs)</a:t>
            </a:r>
          </a:p>
          <a:p>
            <a:pPr algn="l" latinLnBrk="0">
              <a:lnSpc>
                <a:spcPct val="150000"/>
              </a:lnSpc>
              <a:buNone/>
            </a:pPr>
            <a:endParaRPr lang="en-US" altLang="ko-KR" sz="4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return_sequences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=True 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모든 시퀀스를 다 살려서 연산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뉴런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(Hidden Unit)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1,024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layers.GRU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hidden_dim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return_sequences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=True)(x)</a:t>
            </a: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layers.Dropout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(0.1)(x)</a:t>
            </a:r>
          </a:p>
          <a:p>
            <a:pPr algn="l" latinLnBrk="0">
              <a:lnSpc>
                <a:spcPct val="150000"/>
              </a:lnSpc>
              <a:buNone/>
            </a:pPr>
            <a:endParaRPr lang="en-US" altLang="ko-KR" sz="105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Outputs a probability distribution over all potential tokens in our vocabulary</a:t>
            </a: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outputs = 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vocabulary_size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activation="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</a:p>
          <a:p>
            <a:pPr algn="l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 = 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keras.Model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(inputs, outputs)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F1ABA55-90CB-A697-FEEF-CA75D6CEF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61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7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903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7D11A-D473-087C-AD22-CCBBACC04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A38F1C6-A4A1-8A8C-CC8E-78C3BF69C49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Generating novel like Shakespeare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413D9C-F053-D431-F176-61AE31E7330D}"/>
              </a:ext>
            </a:extLst>
          </p:cNvPr>
          <p:cNvSpPr txBox="1"/>
          <p:nvPr/>
        </p:nvSpPr>
        <p:spPr>
          <a:xfrm>
            <a:off x="571197" y="1248422"/>
            <a:ext cx="11049605" cy="1531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 정답이 있는 훈련 때와 달리, 실제 문장을 생성할 때는 내가 방금 만든 단어를 다시 입력으로 넣는 루프(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반복문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사용하면서 이때 매번 처음부터 문장을 다시 읽으면 모델이 너무 느려지니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따라서 '직전 단어 1개'와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GRU가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기억하고 있는 '기억 상태(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Hidden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State)'만 명시적으로 넘겨받아 이어서 쓰도록 모델의 구조를 효율적으로 개조(수술)하여야 함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EAB959-BA64-09A0-D750-1AE22D3BFB7C}"/>
              </a:ext>
            </a:extLst>
          </p:cNvPr>
          <p:cNvSpPr txBox="1"/>
          <p:nvPr/>
        </p:nvSpPr>
        <p:spPr>
          <a:xfrm>
            <a:off x="1471051" y="3008054"/>
            <a:ext cx="8362950" cy="319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1회차 루프: 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입력: 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 +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비어있는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초기 상태)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출력: </a:t>
            </a: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</a:t>
            </a:r>
            <a:r>
              <a:rPr lang="ko-KR" altLang="en-US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</a:t>
            </a: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+ [기억 상태 </a:t>
            </a:r>
            <a:r>
              <a:rPr lang="ko-KR" altLang="en-US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endParaRPr lang="ko-KR" altLang="en-US" sz="1600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2회차 루프: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입력: </a:t>
            </a: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</a:t>
            </a:r>
            <a:r>
              <a:rPr lang="ko-KR" altLang="en-US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</a:t>
            </a: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+ [기억 상태 </a:t>
            </a:r>
            <a:r>
              <a:rPr lang="ko-KR" altLang="en-US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(처음부터 다시 읽지 않고, 이어서 읽는 효과)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출력: </a:t>
            </a:r>
            <a:r>
              <a:rPr lang="ko-KR" altLang="en-US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</a:t>
            </a:r>
            <a:r>
              <a:rPr lang="ko-KR" altLang="en-US" sz="14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</a:t>
            </a:r>
            <a:r>
              <a:rPr lang="ko-KR" altLang="en-US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+ [기억 상태 </a:t>
            </a:r>
            <a:r>
              <a:rPr lang="ko-KR" altLang="en-US" sz="14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  <a:r>
              <a:rPr lang="ko-KR" altLang="en-US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3회차 루프: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입력: </a:t>
            </a:r>
            <a:r>
              <a:rPr lang="ko-KR" altLang="en-US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</a:t>
            </a:r>
            <a:r>
              <a:rPr lang="ko-KR" altLang="en-US" sz="14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</a:t>
            </a:r>
            <a:r>
              <a:rPr lang="ko-KR" altLang="en-US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+ [기억 상태 </a:t>
            </a:r>
            <a:r>
              <a:rPr lang="ko-KR" altLang="en-US" sz="14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  <a:r>
              <a:rPr lang="ko-KR" altLang="en-US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출력: "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 + [기억 상태 C]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F46624C-78B2-5C5E-C753-5310C7FF3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61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8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34921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9EF58-62AB-C8A8-6C80-65ABEE99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A94D6C1-8175-9BCD-F46D-FCD9E8AF4CF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solidFill>
                  <a:schemeClr val="bg2">
                    <a:lumMod val="25000"/>
                  </a:schemeClr>
                </a:solidFill>
                <a:latin typeface="Lora" pitchFamily="2" charset="0"/>
                <a:ea typeface="D2Coding" panose="020B0609020101020101" pitchFamily="49" charset="-127"/>
                <a:cs typeface="Segoe UI Light" panose="020B0502040204020203" pitchFamily="34" charset="0"/>
              </a:rPr>
              <a:t>Why not bidirectional RNN</a:t>
            </a:r>
            <a:r>
              <a:rPr lang="ko-KR" altLang="en-US" sz="2800" b="1" cap="none" dirty="0">
                <a:solidFill>
                  <a:schemeClr val="bg2">
                    <a:lumMod val="25000"/>
                  </a:schemeClr>
                </a:solidFill>
                <a:latin typeface="Lora" pitchFamily="2" charset="0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b="1" cap="none" dirty="0">
                <a:solidFill>
                  <a:schemeClr val="bg2">
                    <a:lumMod val="25000"/>
                  </a:schemeClr>
                </a:solidFill>
                <a:latin typeface="Lora" pitchFamily="2" charset="0"/>
                <a:ea typeface="D2Coding" panose="020B0609020101020101" pitchFamily="49" charset="-127"/>
                <a:cs typeface="Segoe UI Light" panose="020B0502040204020203" pitchFamily="34" charset="0"/>
              </a:rPr>
              <a:t>during training a Shakespeare 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EFB6AD-2A4A-E6D2-36ED-11C5CD4BD8D9}"/>
              </a:ext>
            </a:extLst>
          </p:cNvPr>
          <p:cNvSpPr txBox="1"/>
          <p:nvPr/>
        </p:nvSpPr>
        <p:spPr>
          <a:xfrm>
            <a:off x="613802" y="1362722"/>
            <a:ext cx="10997174" cy="4994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단방향 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GRU (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앞에서부터 순서대로 읽기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나는 오늘 배가 너무 고파서 아침 일찍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___" —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앞 단어들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만 보고 빈칸을 추측하면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일어났다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밥을 먹었다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등 여러 가능성이 있는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실제로 말하거나 글을 쓸 때와 같은 방식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2. 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양방향 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GRU (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뒤의 단어까지 훔쳐보기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나는 오늘 배가 너무 고파서 아침 일찍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___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문을 열자마자 허겁지겁 국밥을 들이켰다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."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—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빈칸 뒤의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국밥을 들이켰다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까지 미리 읽으면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식당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처럼 훨씬 정확하게 맞출 수 있는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 완성된 문장을 통째로 분석하는 작업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번역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감정 분석 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에는 양방향이 훨씬 유리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3. 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그런데 왜 문장 생성에는 못 쓸까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학습할 때는 정답 문장이 통째로 주어져서 뒤를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컨닝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해 맞출 수 있지만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실제로 글을 새로 쓸 때는 다음 단어 뒤에 나올 문장이 아직 존재하지 않기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때문에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훈련 때 미래를 훔쳐보는 버릇이 들었던 양방향 모델은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미래 정보가 없는 실전 상황에서 아무것도 만들어내지 못하고 먹통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1722D7E-EDC2-CCA6-1406-59446F55B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61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9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6174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ECCA7-79AD-FA7E-2523-2550CD179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51DF3B-BB98-A1BD-9F4A-68202D7749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620376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Sequence-to-sequence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2277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0AD43-EB09-973C-6915-D5E066254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A9E9887B-21F8-663E-9978-ED86DA392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485" y="2230590"/>
            <a:ext cx="5760940" cy="4292635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CE6AF090-76C3-C112-1DD8-CF6E7DA510C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Sequence-to-sequence learning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F032AF-0C22-5A45-005C-F85F6A843816}"/>
              </a:ext>
            </a:extLst>
          </p:cNvPr>
          <p:cNvSpPr txBox="1"/>
          <p:nvPr/>
        </p:nvSpPr>
        <p:spPr>
          <a:xfrm>
            <a:off x="571499" y="1200061"/>
            <a:ext cx="11058525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We seek to build a model that can take in a source text as a </a:t>
            </a:r>
            <a:r>
              <a:rPr lang="en-US" altLang="ko-KR" sz="1600" b="1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fixed input sequence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and generate the translated text sequence as a result. Question answering is another classic sequence-to-sequence problem.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8ABEA23-67B5-9B60-BA2D-0EF55F2D9A40}"/>
              </a:ext>
            </a:extLst>
          </p:cNvPr>
          <p:cNvSpPr txBox="1">
            <a:spLocks/>
          </p:cNvSpPr>
          <p:nvPr/>
        </p:nvSpPr>
        <p:spPr>
          <a:xfrm>
            <a:off x="1112361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11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080CE4-17F0-CC04-A2C5-8F565CA80298}"/>
              </a:ext>
            </a:extLst>
          </p:cNvPr>
          <p:cNvSpPr txBox="1"/>
          <p:nvPr/>
        </p:nvSpPr>
        <p:spPr>
          <a:xfrm>
            <a:off x="1543049" y="2291136"/>
            <a:ext cx="1838325" cy="30777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Training Phase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397937-7F44-7A7C-8239-CF2E4FDC3E54}"/>
              </a:ext>
            </a:extLst>
          </p:cNvPr>
          <p:cNvSpPr txBox="1"/>
          <p:nvPr/>
        </p:nvSpPr>
        <p:spPr>
          <a:xfrm>
            <a:off x="1544735" y="4491207"/>
            <a:ext cx="1838325" cy="30777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Inference</a:t>
            </a:r>
            <a:r>
              <a:rPr lang="en-US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Phase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709192-EBA9-F786-9947-09D036EC011F}"/>
              </a:ext>
            </a:extLst>
          </p:cNvPr>
          <p:cNvSpPr txBox="1"/>
          <p:nvPr/>
        </p:nvSpPr>
        <p:spPr>
          <a:xfrm>
            <a:off x="7305675" y="2259165"/>
            <a:ext cx="4561955" cy="199830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[Training Phase]</a:t>
            </a:r>
            <a:endParaRPr lang="en-US" altLang="ko-KR" sz="1400" b="1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the source sequence is processed by the encoder and is then sent to the decoder.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The decoder looks at the target sequence so far and predicts the target sequence offset by one step in the future.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3AD9EA-7F1B-4038-2A80-719D974524DF}"/>
              </a:ext>
            </a:extLst>
          </p:cNvPr>
          <p:cNvSpPr txBox="1"/>
          <p:nvPr/>
        </p:nvSpPr>
        <p:spPr>
          <a:xfrm>
            <a:off x="7305675" y="4491207"/>
            <a:ext cx="4561955" cy="102880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[Inference Phase]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During inference, we generate one target token at a time and feed it back into the decoder.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9714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20C3C-F942-13AC-684D-787751364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A70013F-BEEA-B8A7-0F58-494094318D0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English-to-Spanish translation : Training Phase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B5A5C05-B3DE-013A-29AA-6E1416589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198917"/>
            <a:ext cx="4876802" cy="15949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4B804D8-621B-D430-4D8A-3ECC1EDE7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3362" y="3198917"/>
            <a:ext cx="6305262" cy="31332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37EB0A2-FB6E-11D7-190F-54960EEB0C4D}"/>
              </a:ext>
            </a:extLst>
          </p:cNvPr>
          <p:cNvSpPr txBox="1"/>
          <p:nvPr/>
        </p:nvSpPr>
        <p:spPr>
          <a:xfrm>
            <a:off x="9791699" y="680536"/>
            <a:ext cx="1838325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Training Phase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07E4D2-4861-E968-6552-C84B1860CE71}"/>
              </a:ext>
            </a:extLst>
          </p:cNvPr>
          <p:cNvSpPr txBox="1"/>
          <p:nvPr/>
        </p:nvSpPr>
        <p:spPr>
          <a:xfrm>
            <a:off x="5520875" y="2829585"/>
            <a:ext cx="6337749" cy="30777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2.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시점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(Timestep)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별 훈련 진행 과정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(Teaching Force)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BB722C-CF2B-16A4-3CD4-A071EC495ACC}"/>
              </a:ext>
            </a:extLst>
          </p:cNvPr>
          <p:cNvSpPr txBox="1"/>
          <p:nvPr/>
        </p:nvSpPr>
        <p:spPr>
          <a:xfrm>
            <a:off x="575124" y="2829585"/>
            <a:ext cx="4911277" cy="30777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1.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훈련 데이터 구성 비교 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(Off by one)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5" name="Rectangle 1">
            <a:extLst>
              <a:ext uri="{FF2B5EF4-FFF2-40B4-BE49-F238E27FC236}">
                <a16:creationId xmlns:a16="http://schemas.microsoft.com/office/drawing/2014/main" id="{BE05BBB6-ED03-25F3-69E9-65546A7FC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195204"/>
            <a:ext cx="11020424" cy="1351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Offset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by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One(한 칸씩 시차 두기)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입력 시퀀스와 정답 시퀀스를 딱 한 단어씩 비틀어서(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Shift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매칭</a:t>
            </a:r>
            <a:r>
              <a:rPr kumimoji="0" lang="ko-KR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하여</a:t>
            </a:r>
            <a:r>
              <a:rPr kumimoji="0" lang="en-US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/>
              <a:t>시퀀스와 정답 시퀀스를 딱 한 단어씩 비틀어서</a:t>
            </a:r>
            <a:r>
              <a:rPr lang="en-US" altLang="ko-KR" sz="1400" dirty="0"/>
              <a:t>(Shift) </a:t>
            </a:r>
            <a:r>
              <a:rPr lang="ko-KR" altLang="en-US" sz="1400" dirty="0"/>
              <a:t>매칭시켜 놓는 데이터 구조 설계</a:t>
            </a:r>
            <a:endParaRPr kumimoji="0" lang="ko-KR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Teacher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Forcing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(교사 강제)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0" lang="ko-KR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매칭</a:t>
            </a:r>
            <a:r>
              <a:rPr kumimoji="0" lang="en-US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데이터를 가지고 시간 순서대로(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=1,2,3..) 학습을 진행하</a:t>
            </a:r>
            <a:r>
              <a:rPr kumimoji="0" lang="ko-KR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여</a:t>
            </a:r>
            <a:r>
              <a:rPr kumimoji="0" lang="en-US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이전 시점에서 모델이 무슨 예측을 했든 상관없이, 다음 시점의 입력으로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Offset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by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One으로 준비해 둔 실제 정답을 주입하며 순차적으로 진행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8B48B6-687A-3F13-E37B-135B81F20D92}"/>
              </a:ext>
            </a:extLst>
          </p:cNvPr>
          <p:cNvSpPr txBox="1"/>
          <p:nvPr/>
        </p:nvSpPr>
        <p:spPr>
          <a:xfrm>
            <a:off x="609599" y="5016465"/>
            <a:ext cx="4876802" cy="705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데이터는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Offset by One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형태로 배치하고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연산은 순차적으로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Teacher Forcing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 적용하여 학습</a:t>
            </a:r>
          </a:p>
        </p:txBody>
      </p:sp>
      <p:sp>
        <p:nvSpPr>
          <p:cNvPr id="28" name="슬라이드 번호 개체 틀 3">
            <a:extLst>
              <a:ext uri="{FF2B5EF4-FFF2-40B4-BE49-F238E27FC236}">
                <a16:creationId xmlns:a16="http://schemas.microsoft.com/office/drawing/2014/main" id="{AEE497C7-402F-5025-AE5F-9A34A3679CFF}"/>
              </a:ext>
            </a:extLst>
          </p:cNvPr>
          <p:cNvSpPr txBox="1">
            <a:spLocks/>
          </p:cNvSpPr>
          <p:nvPr/>
        </p:nvSpPr>
        <p:spPr>
          <a:xfrm>
            <a:off x="1112361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12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5730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A25A0-07BB-CDBB-0F29-43C26D718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8BA978F-02A6-660E-64AA-E1911BB0D58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English-to-Spanish translation : Inference Phase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0F8835F-0C4C-ACD4-FAC3-97B57E277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728" y="1438199"/>
            <a:ext cx="6372891" cy="2362275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F8E41AC-C6A8-5D35-A8D8-43180608F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539" y="3957499"/>
            <a:ext cx="11058525" cy="2224327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실전에서는 스페인어 정답이 없</a:t>
            </a: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기</a:t>
            </a:r>
            <a:r>
              <a:rPr kumimoji="0" lang="en-US" altLang="ko-KR" sz="16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때문에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자기가 방금 뱉은 단어를 다시 자기 귀로 들으면서 다음 단어를 </a:t>
            </a: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생성</a:t>
            </a: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작동 순서:</a:t>
            </a:r>
          </a:p>
          <a:p>
            <a:pPr marL="800100" marR="0" lvl="1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디코더에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[시작] 신호만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제시</a:t>
            </a: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모델이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qué라는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첫 단어를 </a:t>
            </a: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생성</a:t>
            </a: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방금 자기가 말한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qué를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다시 입력으로 넣어서 다음 단어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tiempo를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생성</a:t>
            </a: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 과정을 [끝] 신호가 나올 때까지 한 단어씩 반복</a:t>
            </a:r>
            <a:r>
              <a:rPr kumimoji="0" lang="en-US" altLang="ko-KR" sz="16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en-US" sz="16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생성</a:t>
            </a: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CF57B3-20B3-02B3-7FE0-6A4BCAC8C5B2}"/>
              </a:ext>
            </a:extLst>
          </p:cNvPr>
          <p:cNvSpPr txBox="1"/>
          <p:nvPr/>
        </p:nvSpPr>
        <p:spPr>
          <a:xfrm>
            <a:off x="9401175" y="680536"/>
            <a:ext cx="2228849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nference Phase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F72D9875-02DE-3060-6895-061FD76A3C47}"/>
              </a:ext>
            </a:extLst>
          </p:cNvPr>
          <p:cNvSpPr txBox="1">
            <a:spLocks/>
          </p:cNvSpPr>
          <p:nvPr/>
        </p:nvSpPr>
        <p:spPr>
          <a:xfrm>
            <a:off x="1112361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13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5505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94190-4E84-0A28-0702-F9F0C8D9A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27C6940-5188-BF44-5E98-CFCE10FC251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English-to-Spanish translation : </a:t>
            </a:r>
            <a:r>
              <a:rPr lang="en-US" altLang="ko-KR" sz="2800" b="1" cap="none" dirty="0" err="1">
                <a:latin typeface="Lora" pitchFamily="2" charset="0"/>
              </a:rPr>
              <a:t>Keras</a:t>
            </a:r>
            <a:r>
              <a:rPr lang="ko-KR" altLang="en-US" sz="2800" b="1" cap="none" dirty="0">
                <a:latin typeface="Lora" pitchFamily="2" charset="0"/>
              </a:rPr>
              <a:t> </a:t>
            </a:r>
            <a:r>
              <a:rPr lang="en-US" altLang="ko-KR" sz="2800" b="1" cap="none" dirty="0">
                <a:latin typeface="Lora" pitchFamily="2" charset="0"/>
              </a:rPr>
              <a:t>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1A6E11-62F8-D0B0-D48E-E29DD3A9FA3B}"/>
              </a:ext>
            </a:extLst>
          </p:cNvPr>
          <p:cNvSpPr txBox="1"/>
          <p:nvPr/>
        </p:nvSpPr>
        <p:spPr>
          <a:xfrm>
            <a:off x="594215" y="1593511"/>
            <a:ext cx="11003569" cy="89498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TextVectorization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단어들이 사전에 등록된 숫자로 바뀐 뒤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남은 빈 공간은 최대 길이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sequence_length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=20)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까지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0(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패딩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으로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채워짐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영어 토큰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eng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):[145, 23, 12, 19, 342, 0, 0, 0, 0, 0, 0, ….., 0, 0, 0, 0, 0, 0]</a:t>
            </a:r>
            <a:r>
              <a:rPr lang="en-US" altLang="ko-KR" sz="1200" i="1" dirty="0">
                <a:latin typeface="D2Coding" panose="020B0609020101020101" pitchFamily="49" charset="-127"/>
                <a:ea typeface="D2Coding" panose="020B0609020101020101" pitchFamily="49" charset="-127"/>
              </a:rPr>
              <a:t>(145='who', 23='is', 12='in', 19='this', 342='room')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스페인어 토큰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(spa):[2, 89, 45, 12, 512, 3, 0, 0, 0, 0, 0, …., 0, 0, 0, 0, 0]</a:t>
            </a:r>
            <a:r>
              <a:rPr lang="en-US" altLang="ko-KR" sz="1200" i="1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i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2='[start]'</a:t>
            </a:r>
            <a:r>
              <a:rPr lang="en-US" altLang="ko-KR" sz="1200" i="1" dirty="0">
                <a:latin typeface="D2Coding" panose="020B0609020101020101" pitchFamily="49" charset="-127"/>
                <a:ea typeface="D2Coding" panose="020B0609020101020101" pitchFamily="49" charset="-127"/>
              </a:rPr>
              <a:t>,89='quién',45='está',12='en',512='esta',</a:t>
            </a:r>
            <a:r>
              <a:rPr lang="en-US" altLang="ko-KR" sz="1200" i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3='[end]'</a:t>
            </a:r>
            <a:r>
              <a:rPr lang="en-US" altLang="ko-KR" sz="1200" i="1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3DA617-A97B-F8F6-D20D-84DC098FBF01}"/>
              </a:ext>
            </a:extLst>
          </p:cNvPr>
          <p:cNvSpPr txBox="1"/>
          <p:nvPr/>
        </p:nvSpPr>
        <p:spPr>
          <a:xfrm>
            <a:off x="594215" y="3108291"/>
            <a:ext cx="11003569" cy="306237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2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format_dataset</a:t>
            </a:r>
            <a:r>
              <a:rPr lang="ko-KR" altLang="en-US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을 거친 데이터의 모습 </a:t>
            </a:r>
            <a:r>
              <a:rPr lang="en-US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: features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모델 입력용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), labels(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정답 시험지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),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sample_weights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채점 기준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가지 묶음으로 분리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①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features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모델에 입력으로 주는 데이터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 :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모델의 두 채널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인코더와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디코더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로 각각 쪼개져서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들어감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2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{   #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인코더 입력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영어 문장 전체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길이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20)</a:t>
            </a:r>
          </a:p>
          <a:p>
            <a:pPr lvl="2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english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[145, 23, 12, 19, 342, 0, 0, 0, 0, 0, 0, 0, 0, 0, 0, 0, 0, 0, 0, 0],</a:t>
            </a:r>
          </a:p>
          <a:p>
            <a:pPr lvl="2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디코더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입력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스페인어 문장에서 맨 뒤의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3('[end]')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을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잘라냄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길이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20)</a:t>
            </a:r>
          </a:p>
          <a:p>
            <a:pPr lvl="2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spanish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[</a:t>
            </a:r>
            <a:r>
              <a:rPr lang="en-US" altLang="ko-KR" sz="12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en-US" altLang="ko-KR" sz="12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89, 45, 12, 512, 0, 0, 0, 0, 0, 0, 0, 0, 0, 0, 0, 0, 0, 0, 0]   }</a:t>
            </a:r>
          </a:p>
          <a:p>
            <a:pPr lvl="2"/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②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labels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모델이 맞춰야 하는 정답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 :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디코더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입력보다 딱 한 칸 미래로 밀린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(offset)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형태로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맨 앞의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2('[start]')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가 잘려 나감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2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정답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디코더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입력이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2([start])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일 때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89(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quién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를 맞추고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89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일 때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45(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está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를 맞춰야 함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길이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20)</a:t>
            </a:r>
          </a:p>
          <a:p>
            <a:pPr lvl="2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labels = [89, 45, 12, 512, 3, 0, 0, 0, 0, 0, 0, 0, 0, 0, 0, 0, 0, 0, 0, 0]</a:t>
            </a:r>
          </a:p>
          <a:p>
            <a:pPr>
              <a:buNone/>
            </a:pP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③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sample_weights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채점 반영 여부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 :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정답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(labels)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의 숫자가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이 아닌 진짜 단어 위치는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True(1),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의미 없는 패딩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위치는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False(0)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로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채워짐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2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채점 가중치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실제 스페인어 단어와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[end]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토큰이 있는 앞의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개만 채점하고 뒤의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들은 무시함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2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패딩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(0)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부분 오차를 제외하고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실제 단어 위치만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True(1)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로 지정하여 손실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(Loss)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계산</a:t>
            </a:r>
          </a:p>
          <a:p>
            <a:pPr lvl="2"/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sample_weights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= [True, True, True, True, True, False, False, False, …. False, False, False, False, False, False, False]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6313FE9-2632-C987-7E87-958FBE68DD18}"/>
              </a:ext>
            </a:extLst>
          </p:cNvPr>
          <p:cNvSpPr txBox="1">
            <a:spLocks/>
          </p:cNvSpPr>
          <p:nvPr/>
        </p:nvSpPr>
        <p:spPr>
          <a:xfrm>
            <a:off x="1112361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14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CA915D-A8E1-7EC5-B08A-B6F9FAA2116E}"/>
              </a:ext>
            </a:extLst>
          </p:cNvPr>
          <p:cNvSpPr txBox="1"/>
          <p:nvPr/>
        </p:nvSpPr>
        <p:spPr>
          <a:xfrm>
            <a:off x="3901109" y="2801009"/>
            <a:ext cx="4671392" cy="30777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2.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시점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(Timestep)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별 훈련 진행 과정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(Teaching Force)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1FE479-9BF0-D84C-88B3-02D48D966DCE}"/>
              </a:ext>
            </a:extLst>
          </p:cNvPr>
          <p:cNvSpPr txBox="1"/>
          <p:nvPr/>
        </p:nvSpPr>
        <p:spPr>
          <a:xfrm>
            <a:off x="575125" y="2801010"/>
            <a:ext cx="3215826" cy="30777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1.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훈련 데이터 구성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(Off by one)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608A1A-ACD6-881F-D19E-4DF08637854D}"/>
              </a:ext>
            </a:extLst>
          </p:cNvPr>
          <p:cNvSpPr txBox="1"/>
          <p:nvPr/>
        </p:nvSpPr>
        <p:spPr>
          <a:xfrm>
            <a:off x="581023" y="1279079"/>
            <a:ext cx="4911277" cy="30777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0.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전처리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및 정수 변환 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(Tokenization)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0305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F424A-5386-61B7-2B73-2B18D853A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03BD805-6773-D031-F424-9AD8619E1C6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Sequence-to-sequence learning with RNNs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105E3BE-07DE-9616-F580-398758DFB9B2}"/>
              </a:ext>
            </a:extLst>
          </p:cNvPr>
          <p:cNvSpPr txBox="1">
            <a:spLocks/>
          </p:cNvSpPr>
          <p:nvPr/>
        </p:nvSpPr>
        <p:spPr>
          <a:xfrm>
            <a:off x="1112361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15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1962F56-2AB0-4B72-26AA-1E3FF3B9F7D0}"/>
              </a:ext>
            </a:extLst>
          </p:cNvPr>
          <p:cNvSpPr/>
          <p:nvPr/>
        </p:nvSpPr>
        <p:spPr>
          <a:xfrm>
            <a:off x="522644" y="4076700"/>
            <a:ext cx="614516" cy="614516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473F8BA-ED60-A573-D8FA-9DB0754746C6}"/>
              </a:ext>
            </a:extLst>
          </p:cNvPr>
          <p:cNvSpPr/>
          <p:nvPr/>
        </p:nvSpPr>
        <p:spPr>
          <a:xfrm>
            <a:off x="1537825" y="4076700"/>
            <a:ext cx="614516" cy="614516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121251D-0628-97D7-B549-D414A5928B3A}"/>
              </a:ext>
            </a:extLst>
          </p:cNvPr>
          <p:cNvSpPr/>
          <p:nvPr/>
        </p:nvSpPr>
        <p:spPr>
          <a:xfrm>
            <a:off x="2553006" y="4076700"/>
            <a:ext cx="614516" cy="614516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A25557A-1AC6-D33D-44E1-DF01803947E2}"/>
              </a:ext>
            </a:extLst>
          </p:cNvPr>
          <p:cNvSpPr/>
          <p:nvPr/>
        </p:nvSpPr>
        <p:spPr>
          <a:xfrm>
            <a:off x="3568187" y="4076700"/>
            <a:ext cx="614516" cy="614516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9008178-1420-D469-928D-3EB8EEEDCF0E}"/>
              </a:ext>
            </a:extLst>
          </p:cNvPr>
          <p:cNvSpPr/>
          <p:nvPr/>
        </p:nvSpPr>
        <p:spPr>
          <a:xfrm>
            <a:off x="4583368" y="4076700"/>
            <a:ext cx="614516" cy="614516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D13A63E-15A3-C408-9AAC-E7F91B414576}"/>
              </a:ext>
            </a:extLst>
          </p:cNvPr>
          <p:cNvSpPr/>
          <p:nvPr/>
        </p:nvSpPr>
        <p:spPr>
          <a:xfrm>
            <a:off x="7027299" y="4076700"/>
            <a:ext cx="614516" cy="614516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886D64A-D843-106D-8B18-A1EC624B798D}"/>
              </a:ext>
            </a:extLst>
          </p:cNvPr>
          <p:cNvSpPr/>
          <p:nvPr/>
        </p:nvSpPr>
        <p:spPr>
          <a:xfrm>
            <a:off x="8042480" y="4076700"/>
            <a:ext cx="614516" cy="614516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B31728B-9744-C6BD-95CF-7D40E9E929E9}"/>
              </a:ext>
            </a:extLst>
          </p:cNvPr>
          <p:cNvSpPr/>
          <p:nvPr/>
        </p:nvSpPr>
        <p:spPr>
          <a:xfrm>
            <a:off x="9057661" y="4076700"/>
            <a:ext cx="614516" cy="614516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DEF8655-D343-5352-98F7-8F360253EB4E}"/>
              </a:ext>
            </a:extLst>
          </p:cNvPr>
          <p:cNvSpPr/>
          <p:nvPr/>
        </p:nvSpPr>
        <p:spPr>
          <a:xfrm>
            <a:off x="10072842" y="4076700"/>
            <a:ext cx="614516" cy="614516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A0EFE90-D860-124A-F6A1-A25DBE71E258}"/>
              </a:ext>
            </a:extLst>
          </p:cNvPr>
          <p:cNvSpPr/>
          <p:nvPr/>
        </p:nvSpPr>
        <p:spPr>
          <a:xfrm>
            <a:off x="11088023" y="4076700"/>
            <a:ext cx="614516" cy="614516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9A0414CE-F338-546B-C420-EE58B44B4BFA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1137160" y="4383958"/>
            <a:ext cx="400665" cy="0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051120F7-19FE-B5BE-AD46-CC68D946ADC5}"/>
              </a:ext>
            </a:extLst>
          </p:cNvPr>
          <p:cNvCxnSpPr>
            <a:cxnSpLocks/>
          </p:cNvCxnSpPr>
          <p:nvPr/>
        </p:nvCxnSpPr>
        <p:spPr>
          <a:xfrm>
            <a:off x="2159714" y="4408536"/>
            <a:ext cx="400665" cy="0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06E23570-ECD4-ED58-F3F9-2E8901BE0B0B}"/>
              </a:ext>
            </a:extLst>
          </p:cNvPr>
          <p:cNvCxnSpPr>
            <a:cxnSpLocks/>
          </p:cNvCxnSpPr>
          <p:nvPr/>
        </p:nvCxnSpPr>
        <p:spPr>
          <a:xfrm>
            <a:off x="3173842" y="4408536"/>
            <a:ext cx="400665" cy="0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D83DD60F-7389-91D9-7E5B-C1022AA11204}"/>
              </a:ext>
            </a:extLst>
          </p:cNvPr>
          <p:cNvCxnSpPr>
            <a:cxnSpLocks/>
          </p:cNvCxnSpPr>
          <p:nvPr/>
        </p:nvCxnSpPr>
        <p:spPr>
          <a:xfrm>
            <a:off x="4187970" y="4408536"/>
            <a:ext cx="400665" cy="0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3E782FBA-AB25-5DE5-CF4F-F632AB168F93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5197884" y="4383958"/>
            <a:ext cx="1829415" cy="0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876075AC-BAA5-0D79-0140-6AABD10FAE36}"/>
              </a:ext>
            </a:extLst>
          </p:cNvPr>
          <p:cNvCxnSpPr>
            <a:cxnSpLocks/>
          </p:cNvCxnSpPr>
          <p:nvPr/>
        </p:nvCxnSpPr>
        <p:spPr>
          <a:xfrm>
            <a:off x="7644976" y="4408536"/>
            <a:ext cx="400665" cy="0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FE89C03A-0A1B-E212-2DE4-88F8E007514C}"/>
              </a:ext>
            </a:extLst>
          </p:cNvPr>
          <p:cNvCxnSpPr>
            <a:cxnSpLocks/>
          </p:cNvCxnSpPr>
          <p:nvPr/>
        </p:nvCxnSpPr>
        <p:spPr>
          <a:xfrm>
            <a:off x="8659104" y="4408536"/>
            <a:ext cx="400665" cy="0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2BF7AD3B-5640-B4FE-7F59-2F70B619A419}"/>
              </a:ext>
            </a:extLst>
          </p:cNvPr>
          <p:cNvCxnSpPr>
            <a:cxnSpLocks/>
          </p:cNvCxnSpPr>
          <p:nvPr/>
        </p:nvCxnSpPr>
        <p:spPr>
          <a:xfrm>
            <a:off x="9673232" y="4408536"/>
            <a:ext cx="400665" cy="0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6A91B12A-CB2A-45E5-79FC-692002300D91}"/>
              </a:ext>
            </a:extLst>
          </p:cNvPr>
          <p:cNvCxnSpPr>
            <a:cxnSpLocks/>
          </p:cNvCxnSpPr>
          <p:nvPr/>
        </p:nvCxnSpPr>
        <p:spPr>
          <a:xfrm>
            <a:off x="10687358" y="4408536"/>
            <a:ext cx="400665" cy="0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58441426-13A8-8263-90D5-7141D16A1B9D}"/>
              </a:ext>
            </a:extLst>
          </p:cNvPr>
          <p:cNvCxnSpPr>
            <a:cxnSpLocks/>
          </p:cNvCxnSpPr>
          <p:nvPr/>
        </p:nvCxnSpPr>
        <p:spPr>
          <a:xfrm>
            <a:off x="829902" y="4677082"/>
            <a:ext cx="0" cy="614516"/>
          </a:xfrm>
          <a:prstGeom prst="straightConnector1">
            <a:avLst/>
          </a:prstGeom>
          <a:ln w="19050">
            <a:solidFill>
              <a:schemeClr val="accent5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33321406-A0F6-9DBB-624A-6D82554D78AC}"/>
              </a:ext>
            </a:extLst>
          </p:cNvPr>
          <p:cNvCxnSpPr>
            <a:cxnSpLocks/>
          </p:cNvCxnSpPr>
          <p:nvPr/>
        </p:nvCxnSpPr>
        <p:spPr>
          <a:xfrm>
            <a:off x="1849077" y="4677082"/>
            <a:ext cx="0" cy="614516"/>
          </a:xfrm>
          <a:prstGeom prst="straightConnector1">
            <a:avLst/>
          </a:prstGeom>
          <a:ln w="19050">
            <a:solidFill>
              <a:schemeClr val="accent5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9EF91721-7C99-2036-1437-F77D3C5B5D14}"/>
              </a:ext>
            </a:extLst>
          </p:cNvPr>
          <p:cNvCxnSpPr>
            <a:cxnSpLocks/>
          </p:cNvCxnSpPr>
          <p:nvPr/>
        </p:nvCxnSpPr>
        <p:spPr>
          <a:xfrm>
            <a:off x="2868252" y="4677082"/>
            <a:ext cx="0" cy="614516"/>
          </a:xfrm>
          <a:prstGeom prst="straightConnector1">
            <a:avLst/>
          </a:prstGeom>
          <a:ln w="19050">
            <a:solidFill>
              <a:schemeClr val="accent5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E728B1C3-5792-AAA2-C103-224C640DA5A5}"/>
              </a:ext>
            </a:extLst>
          </p:cNvPr>
          <p:cNvCxnSpPr>
            <a:cxnSpLocks/>
          </p:cNvCxnSpPr>
          <p:nvPr/>
        </p:nvCxnSpPr>
        <p:spPr>
          <a:xfrm>
            <a:off x="3887427" y="4677082"/>
            <a:ext cx="0" cy="614516"/>
          </a:xfrm>
          <a:prstGeom prst="straightConnector1">
            <a:avLst/>
          </a:prstGeom>
          <a:ln w="19050">
            <a:solidFill>
              <a:schemeClr val="accent5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331BBEC7-BC4D-8875-EA7A-59F90833C47C}"/>
              </a:ext>
            </a:extLst>
          </p:cNvPr>
          <p:cNvCxnSpPr>
            <a:cxnSpLocks/>
          </p:cNvCxnSpPr>
          <p:nvPr/>
        </p:nvCxnSpPr>
        <p:spPr>
          <a:xfrm>
            <a:off x="4906602" y="4677082"/>
            <a:ext cx="0" cy="614516"/>
          </a:xfrm>
          <a:prstGeom prst="straightConnector1">
            <a:avLst/>
          </a:prstGeom>
          <a:ln w="19050">
            <a:solidFill>
              <a:schemeClr val="accent5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E74AAF2F-9249-AD8C-2003-25676CF62A30}"/>
              </a:ext>
            </a:extLst>
          </p:cNvPr>
          <p:cNvCxnSpPr>
            <a:cxnSpLocks/>
          </p:cNvCxnSpPr>
          <p:nvPr/>
        </p:nvCxnSpPr>
        <p:spPr>
          <a:xfrm>
            <a:off x="7354527" y="4677082"/>
            <a:ext cx="0" cy="614516"/>
          </a:xfrm>
          <a:prstGeom prst="straightConnector1">
            <a:avLst/>
          </a:prstGeom>
          <a:ln w="19050">
            <a:solidFill>
              <a:schemeClr val="accent5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00F58509-6EA4-26B4-0ABD-CF730D8B5C34}"/>
              </a:ext>
            </a:extLst>
          </p:cNvPr>
          <p:cNvCxnSpPr>
            <a:cxnSpLocks/>
          </p:cNvCxnSpPr>
          <p:nvPr/>
        </p:nvCxnSpPr>
        <p:spPr>
          <a:xfrm>
            <a:off x="8373702" y="4677082"/>
            <a:ext cx="0" cy="614516"/>
          </a:xfrm>
          <a:prstGeom prst="straightConnector1">
            <a:avLst/>
          </a:prstGeom>
          <a:ln w="19050">
            <a:solidFill>
              <a:schemeClr val="accent5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9ECF7DD6-324E-C1C0-264E-B11D40F31EEF}"/>
              </a:ext>
            </a:extLst>
          </p:cNvPr>
          <p:cNvCxnSpPr>
            <a:cxnSpLocks/>
          </p:cNvCxnSpPr>
          <p:nvPr/>
        </p:nvCxnSpPr>
        <p:spPr>
          <a:xfrm>
            <a:off x="9392877" y="4677082"/>
            <a:ext cx="0" cy="614516"/>
          </a:xfrm>
          <a:prstGeom prst="straightConnector1">
            <a:avLst/>
          </a:prstGeom>
          <a:ln w="19050">
            <a:solidFill>
              <a:schemeClr val="accent5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36CB1BE2-D13A-1DD2-5963-13AE18D0F7F6}"/>
              </a:ext>
            </a:extLst>
          </p:cNvPr>
          <p:cNvCxnSpPr>
            <a:cxnSpLocks/>
          </p:cNvCxnSpPr>
          <p:nvPr/>
        </p:nvCxnSpPr>
        <p:spPr>
          <a:xfrm>
            <a:off x="10412052" y="4677082"/>
            <a:ext cx="0" cy="614516"/>
          </a:xfrm>
          <a:prstGeom prst="straightConnector1">
            <a:avLst/>
          </a:prstGeom>
          <a:ln w="19050">
            <a:solidFill>
              <a:schemeClr val="accent5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0E0EA847-86D6-72D1-AF05-05997FC91D53}"/>
              </a:ext>
            </a:extLst>
          </p:cNvPr>
          <p:cNvCxnSpPr>
            <a:cxnSpLocks/>
          </p:cNvCxnSpPr>
          <p:nvPr/>
        </p:nvCxnSpPr>
        <p:spPr>
          <a:xfrm>
            <a:off x="11431227" y="4677082"/>
            <a:ext cx="0" cy="614516"/>
          </a:xfrm>
          <a:prstGeom prst="straightConnector1">
            <a:avLst/>
          </a:prstGeom>
          <a:ln w="19050">
            <a:solidFill>
              <a:schemeClr val="accent5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26213B14-4794-68B8-3705-DE9C00586378}"/>
              </a:ext>
            </a:extLst>
          </p:cNvPr>
          <p:cNvCxnSpPr>
            <a:cxnSpLocks/>
          </p:cNvCxnSpPr>
          <p:nvPr/>
        </p:nvCxnSpPr>
        <p:spPr>
          <a:xfrm>
            <a:off x="7364052" y="3457882"/>
            <a:ext cx="0" cy="614516"/>
          </a:xfrm>
          <a:prstGeom prst="straightConnector1">
            <a:avLst/>
          </a:prstGeom>
          <a:ln w="19050">
            <a:solidFill>
              <a:schemeClr val="accent5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C288BDDB-8A36-CFF6-A632-35E0B6CDAC5A}"/>
              </a:ext>
            </a:extLst>
          </p:cNvPr>
          <p:cNvCxnSpPr>
            <a:cxnSpLocks/>
          </p:cNvCxnSpPr>
          <p:nvPr/>
        </p:nvCxnSpPr>
        <p:spPr>
          <a:xfrm>
            <a:off x="8383227" y="3457882"/>
            <a:ext cx="0" cy="614516"/>
          </a:xfrm>
          <a:prstGeom prst="straightConnector1">
            <a:avLst/>
          </a:prstGeom>
          <a:ln w="19050">
            <a:solidFill>
              <a:schemeClr val="accent5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994F8DC1-0BD3-D017-C719-7D774CE4AFEC}"/>
              </a:ext>
            </a:extLst>
          </p:cNvPr>
          <p:cNvCxnSpPr>
            <a:cxnSpLocks/>
          </p:cNvCxnSpPr>
          <p:nvPr/>
        </p:nvCxnSpPr>
        <p:spPr>
          <a:xfrm>
            <a:off x="9402402" y="3457882"/>
            <a:ext cx="0" cy="614516"/>
          </a:xfrm>
          <a:prstGeom prst="straightConnector1">
            <a:avLst/>
          </a:prstGeom>
          <a:ln w="19050">
            <a:solidFill>
              <a:schemeClr val="accent5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4F7C3906-5837-3870-67D2-35618231D5A8}"/>
              </a:ext>
            </a:extLst>
          </p:cNvPr>
          <p:cNvCxnSpPr>
            <a:cxnSpLocks/>
          </p:cNvCxnSpPr>
          <p:nvPr/>
        </p:nvCxnSpPr>
        <p:spPr>
          <a:xfrm>
            <a:off x="10421577" y="3457882"/>
            <a:ext cx="0" cy="614516"/>
          </a:xfrm>
          <a:prstGeom prst="straightConnector1">
            <a:avLst/>
          </a:prstGeom>
          <a:ln w="19050">
            <a:solidFill>
              <a:schemeClr val="accent5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A0A26BBE-1A45-1867-8411-0E9A008DC580}"/>
              </a:ext>
            </a:extLst>
          </p:cNvPr>
          <p:cNvCxnSpPr>
            <a:cxnSpLocks/>
          </p:cNvCxnSpPr>
          <p:nvPr/>
        </p:nvCxnSpPr>
        <p:spPr>
          <a:xfrm>
            <a:off x="11440752" y="3457882"/>
            <a:ext cx="0" cy="614516"/>
          </a:xfrm>
          <a:prstGeom prst="straightConnector1">
            <a:avLst/>
          </a:prstGeom>
          <a:ln w="19050">
            <a:solidFill>
              <a:schemeClr val="accent5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25BF86E4-CE10-BA86-DE15-4BC8DFC58863}"/>
              </a:ext>
            </a:extLst>
          </p:cNvPr>
          <p:cNvSpPr/>
          <p:nvPr/>
        </p:nvSpPr>
        <p:spPr>
          <a:xfrm>
            <a:off x="344604" y="3919691"/>
            <a:ext cx="5102774" cy="9144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11801493-FE4C-76EA-068B-B348193635ED}"/>
              </a:ext>
            </a:extLst>
          </p:cNvPr>
          <p:cNvSpPr/>
          <p:nvPr/>
        </p:nvSpPr>
        <p:spPr>
          <a:xfrm>
            <a:off x="6823892" y="3919691"/>
            <a:ext cx="5029987" cy="9144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994BB90-5C95-02EB-699B-0446FE2D6935}"/>
              </a:ext>
            </a:extLst>
          </p:cNvPr>
          <p:cNvSpPr txBox="1"/>
          <p:nvPr/>
        </p:nvSpPr>
        <p:spPr>
          <a:xfrm>
            <a:off x="535899" y="5314051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8113BCD-AE71-3E6B-16A1-9450CCA26076}"/>
              </a:ext>
            </a:extLst>
          </p:cNvPr>
          <p:cNvSpPr txBox="1"/>
          <p:nvPr/>
        </p:nvSpPr>
        <p:spPr>
          <a:xfrm>
            <a:off x="1682765" y="5314051"/>
            <a:ext cx="688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BE98911-489E-A2BA-3C29-60DE211A7027}"/>
              </a:ext>
            </a:extLst>
          </p:cNvPr>
          <p:cNvSpPr txBox="1"/>
          <p:nvPr/>
        </p:nvSpPr>
        <p:spPr>
          <a:xfrm>
            <a:off x="2585976" y="5314051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9012D4E-CD30-478A-BF03-7D742D29B3EC}"/>
              </a:ext>
            </a:extLst>
          </p:cNvPr>
          <p:cNvSpPr txBox="1"/>
          <p:nvPr/>
        </p:nvSpPr>
        <p:spPr>
          <a:xfrm>
            <a:off x="3369776" y="5314051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AE2EC91-906A-5598-F6DA-39E8DE24CA0D}"/>
              </a:ext>
            </a:extLst>
          </p:cNvPr>
          <p:cNvSpPr txBox="1"/>
          <p:nvPr/>
        </p:nvSpPr>
        <p:spPr>
          <a:xfrm>
            <a:off x="4564318" y="5314051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D2771C-CC28-0ED3-FEAC-A2467AE7EEC3}"/>
              </a:ext>
            </a:extLst>
          </p:cNvPr>
          <p:cNvSpPr txBox="1"/>
          <p:nvPr/>
        </p:nvSpPr>
        <p:spPr>
          <a:xfrm>
            <a:off x="11083940" y="3007679"/>
            <a:ext cx="7699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i="1" dirty="0">
                <a:latin typeface="Times New Roman" panose="02020603050405020304" pitchFamily="18" charset="0"/>
                <a:ea typeface="D2Coding" panose="020B0609020101020101" pitchFamily="49" charset="-127"/>
                <a:cs typeface="Times New Roman" panose="02020603050405020304" pitchFamily="18" charset="0"/>
              </a:rPr>
              <a:t>[end]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4588BEA-B0A9-1AA7-665F-2533B4699F13}"/>
              </a:ext>
            </a:extLst>
          </p:cNvPr>
          <p:cNvSpPr txBox="1"/>
          <p:nvPr/>
        </p:nvSpPr>
        <p:spPr>
          <a:xfrm>
            <a:off x="10114463" y="3007679"/>
            <a:ext cx="5745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i="1" dirty="0" err="1">
                <a:latin typeface="Times New Roman" panose="02020603050405020304" pitchFamily="18" charset="0"/>
                <a:ea typeface="D2Coding" panose="020B0609020101020101" pitchFamily="49" charset="-127"/>
                <a:cs typeface="Times New Roman" panose="02020603050405020304" pitchFamily="18" charset="0"/>
              </a:rPr>
              <a:t>esta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6491B01-485F-ED65-EE38-832F66A7C7EC}"/>
              </a:ext>
            </a:extLst>
          </p:cNvPr>
          <p:cNvSpPr txBox="1"/>
          <p:nvPr/>
        </p:nvSpPr>
        <p:spPr>
          <a:xfrm>
            <a:off x="9097143" y="3007679"/>
            <a:ext cx="4696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800" i="1" dirty="0" err="1">
                <a:latin typeface="Times New Roman" panose="02020603050405020304" pitchFamily="18" charset="0"/>
                <a:ea typeface="D2Coding" panose="020B0609020101020101" pitchFamily="49" charset="-127"/>
                <a:cs typeface="Times New Roman" panose="02020603050405020304" pitchFamily="18" charset="0"/>
              </a:rPr>
              <a:t>en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37D7D17-4D45-829E-CF50-C32A1A7F8E81}"/>
              </a:ext>
            </a:extLst>
          </p:cNvPr>
          <p:cNvSpPr txBox="1"/>
          <p:nvPr/>
        </p:nvSpPr>
        <p:spPr>
          <a:xfrm>
            <a:off x="7884318" y="3007679"/>
            <a:ext cx="7321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800" i="1" dirty="0" err="1">
                <a:latin typeface="Times New Roman" panose="02020603050405020304" pitchFamily="18" charset="0"/>
                <a:ea typeface="D2Coding" panose="020B0609020101020101" pitchFamily="49" charset="-127"/>
                <a:cs typeface="Times New Roman" panose="02020603050405020304" pitchFamily="18" charset="0"/>
              </a:rPr>
              <a:t>está</a:t>
            </a:r>
            <a:r>
              <a:rPr lang="en-US" altLang="ko-KR" sz="1800" i="1" dirty="0">
                <a:latin typeface="Times New Roman" panose="02020603050405020304" pitchFamily="18" charset="0"/>
                <a:ea typeface="D2Coding" panose="020B0609020101020101" pitchFamily="49" charset="-127"/>
                <a:cs typeface="Times New Roman" panose="02020603050405020304" pitchFamily="18" charset="0"/>
              </a:rPr>
              <a:t> 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4CA7F3F-E368-08AF-A782-FD8CDECFD050}"/>
              </a:ext>
            </a:extLst>
          </p:cNvPr>
          <p:cNvSpPr txBox="1"/>
          <p:nvPr/>
        </p:nvSpPr>
        <p:spPr>
          <a:xfrm>
            <a:off x="6928054" y="5317241"/>
            <a:ext cx="844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i="1" dirty="0">
                <a:latin typeface="Times New Roman" panose="02020603050405020304" pitchFamily="18" charset="0"/>
                <a:ea typeface="D2Coding" panose="020B0609020101020101" pitchFamily="49" charset="-127"/>
                <a:cs typeface="Times New Roman" panose="02020603050405020304" pitchFamily="18" charset="0"/>
              </a:rPr>
              <a:t>[start] 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5C9C38C-3D32-AF48-0AFA-8AF2889391D7}"/>
              </a:ext>
            </a:extLst>
          </p:cNvPr>
          <p:cNvSpPr txBox="1"/>
          <p:nvPr/>
        </p:nvSpPr>
        <p:spPr>
          <a:xfrm>
            <a:off x="6823892" y="3007679"/>
            <a:ext cx="7702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800" i="1" dirty="0" err="1">
                <a:latin typeface="Times New Roman" panose="02020603050405020304" pitchFamily="18" charset="0"/>
                <a:ea typeface="D2Coding" panose="020B0609020101020101" pitchFamily="49" charset="-127"/>
                <a:cs typeface="Times New Roman" panose="02020603050405020304" pitchFamily="18" charset="0"/>
              </a:rPr>
              <a:t>quién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70F0257-0D71-3A2B-A1EF-5E7D267C3DFE}"/>
              </a:ext>
            </a:extLst>
          </p:cNvPr>
          <p:cNvSpPr txBox="1"/>
          <p:nvPr/>
        </p:nvSpPr>
        <p:spPr>
          <a:xfrm>
            <a:off x="8108905" y="5317241"/>
            <a:ext cx="7702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i="1" dirty="0" err="1">
                <a:latin typeface="Times New Roman" panose="02020603050405020304" pitchFamily="18" charset="0"/>
                <a:ea typeface="D2Coding" panose="020B0609020101020101" pitchFamily="49" charset="-127"/>
                <a:cs typeface="Times New Roman" panose="02020603050405020304" pitchFamily="18" charset="0"/>
              </a:rPr>
              <a:t>quién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4B80451-84E1-A863-6AED-9139C846BEB8}"/>
              </a:ext>
            </a:extLst>
          </p:cNvPr>
          <p:cNvSpPr txBox="1"/>
          <p:nvPr/>
        </p:nvSpPr>
        <p:spPr>
          <a:xfrm>
            <a:off x="9215710" y="5317241"/>
            <a:ext cx="7321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i="1" dirty="0" err="1">
                <a:latin typeface="Times New Roman" panose="02020603050405020304" pitchFamily="18" charset="0"/>
                <a:ea typeface="D2Coding" panose="020B0609020101020101" pitchFamily="49" charset="-127"/>
                <a:cs typeface="Times New Roman" panose="02020603050405020304" pitchFamily="18" charset="0"/>
              </a:rPr>
              <a:t>está</a:t>
            </a:r>
            <a:r>
              <a:rPr lang="en-US" altLang="ko-KR" sz="1800" i="1" dirty="0">
                <a:latin typeface="Times New Roman" panose="02020603050405020304" pitchFamily="18" charset="0"/>
                <a:ea typeface="D2Coding" panose="020B0609020101020101" pitchFamily="49" charset="-127"/>
                <a:cs typeface="Times New Roman" panose="02020603050405020304" pitchFamily="18" charset="0"/>
              </a:rPr>
              <a:t> 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116DCD2-168F-6394-A6A8-DEC88D81CD38}"/>
              </a:ext>
            </a:extLst>
          </p:cNvPr>
          <p:cNvSpPr txBox="1"/>
          <p:nvPr/>
        </p:nvSpPr>
        <p:spPr>
          <a:xfrm>
            <a:off x="10284414" y="5317241"/>
            <a:ext cx="4509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i="1" dirty="0" err="1">
                <a:latin typeface="Times New Roman" panose="02020603050405020304" pitchFamily="18" charset="0"/>
                <a:ea typeface="D2Coding" panose="020B0609020101020101" pitchFamily="49" charset="-127"/>
                <a:cs typeface="Times New Roman" panose="02020603050405020304" pitchFamily="18" charset="0"/>
              </a:rPr>
              <a:t>en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7808D84-B6E3-8340-5C55-2734117A9AEC}"/>
              </a:ext>
            </a:extLst>
          </p:cNvPr>
          <p:cNvSpPr txBox="1"/>
          <p:nvPr/>
        </p:nvSpPr>
        <p:spPr>
          <a:xfrm>
            <a:off x="11071889" y="5317241"/>
            <a:ext cx="5745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i="1" dirty="0" err="1">
                <a:latin typeface="Times New Roman" panose="02020603050405020304" pitchFamily="18" charset="0"/>
                <a:ea typeface="D2Coding" panose="020B0609020101020101" pitchFamily="49" charset="-127"/>
                <a:cs typeface="Times New Roman" panose="02020603050405020304" pitchFamily="18" charset="0"/>
              </a:rPr>
              <a:t>esta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3" name="연결선: 구부러짐 82">
            <a:extLst>
              <a:ext uri="{FF2B5EF4-FFF2-40B4-BE49-F238E27FC236}">
                <a16:creationId xmlns:a16="http://schemas.microsoft.com/office/drawing/2014/main" id="{40E46550-A859-556A-1C59-4122EBFB35A4}"/>
              </a:ext>
            </a:extLst>
          </p:cNvPr>
          <p:cNvCxnSpPr>
            <a:stCxn id="75" idx="0"/>
            <a:endCxn id="76" idx="2"/>
          </p:cNvCxnSpPr>
          <p:nvPr/>
        </p:nvCxnSpPr>
        <p:spPr>
          <a:xfrm rot="16200000" flipH="1">
            <a:off x="6512100" y="3704620"/>
            <a:ext cx="2678894" cy="1285013"/>
          </a:xfrm>
          <a:prstGeom prst="curvedConnector5">
            <a:avLst>
              <a:gd name="adj1" fmla="val -8533"/>
              <a:gd name="adj2" fmla="val 50000"/>
              <a:gd name="adj3" fmla="val 108533"/>
            </a:avLst>
          </a:prstGeom>
          <a:ln w="190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연결선: 구부러짐 83">
            <a:extLst>
              <a:ext uri="{FF2B5EF4-FFF2-40B4-BE49-F238E27FC236}">
                <a16:creationId xmlns:a16="http://schemas.microsoft.com/office/drawing/2014/main" id="{FCCE4E51-5A42-6297-0612-584C2024D43E}"/>
              </a:ext>
            </a:extLst>
          </p:cNvPr>
          <p:cNvCxnSpPr>
            <a:cxnSpLocks/>
            <a:stCxn id="73" idx="0"/>
            <a:endCxn id="77" idx="2"/>
          </p:cNvCxnSpPr>
          <p:nvPr/>
        </p:nvCxnSpPr>
        <p:spPr>
          <a:xfrm rot="16200000" flipH="1">
            <a:off x="7576666" y="3681430"/>
            <a:ext cx="2678894" cy="1331392"/>
          </a:xfrm>
          <a:prstGeom prst="curvedConnector5">
            <a:avLst>
              <a:gd name="adj1" fmla="val -8533"/>
              <a:gd name="adj2" fmla="val 50000"/>
              <a:gd name="adj3" fmla="val 108533"/>
            </a:avLst>
          </a:prstGeom>
          <a:ln w="190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연결선: 구부러짐 84">
            <a:extLst>
              <a:ext uri="{FF2B5EF4-FFF2-40B4-BE49-F238E27FC236}">
                <a16:creationId xmlns:a16="http://schemas.microsoft.com/office/drawing/2014/main" id="{52F24BB5-920C-EB1B-FAE5-FE37B5175796}"/>
              </a:ext>
            </a:extLst>
          </p:cNvPr>
          <p:cNvCxnSpPr>
            <a:cxnSpLocks/>
            <a:stCxn id="72" idx="0"/>
            <a:endCxn id="78" idx="2"/>
          </p:cNvCxnSpPr>
          <p:nvPr/>
        </p:nvCxnSpPr>
        <p:spPr>
          <a:xfrm rot="16200000" flipH="1">
            <a:off x="8581480" y="3758156"/>
            <a:ext cx="2678894" cy="1177941"/>
          </a:xfrm>
          <a:prstGeom prst="curvedConnector5">
            <a:avLst>
              <a:gd name="adj1" fmla="val -8533"/>
              <a:gd name="adj2" fmla="val 50396"/>
              <a:gd name="adj3" fmla="val 108533"/>
            </a:avLst>
          </a:prstGeom>
          <a:ln w="190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연결선: 구부러짐 85">
            <a:extLst>
              <a:ext uri="{FF2B5EF4-FFF2-40B4-BE49-F238E27FC236}">
                <a16:creationId xmlns:a16="http://schemas.microsoft.com/office/drawing/2014/main" id="{F16CCFF3-260A-0D9B-D9EB-99CA4DC76787}"/>
              </a:ext>
            </a:extLst>
          </p:cNvPr>
          <p:cNvCxnSpPr>
            <a:cxnSpLocks/>
            <a:stCxn id="71" idx="0"/>
            <a:endCxn id="79" idx="2"/>
          </p:cNvCxnSpPr>
          <p:nvPr/>
        </p:nvCxnSpPr>
        <p:spPr>
          <a:xfrm rot="16200000" flipH="1">
            <a:off x="9541016" y="3868413"/>
            <a:ext cx="2678894" cy="957426"/>
          </a:xfrm>
          <a:prstGeom prst="curvedConnector5">
            <a:avLst>
              <a:gd name="adj1" fmla="val -8533"/>
              <a:gd name="adj2" fmla="val 50000"/>
              <a:gd name="adj3" fmla="val 108533"/>
            </a:avLst>
          </a:prstGeom>
          <a:ln w="190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C25D13DE-4E77-85CE-1A17-259EF1633115}"/>
              </a:ext>
            </a:extLst>
          </p:cNvPr>
          <p:cNvSpPr txBox="1"/>
          <p:nvPr/>
        </p:nvSpPr>
        <p:spPr>
          <a:xfrm>
            <a:off x="2308730" y="6209216"/>
            <a:ext cx="9028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Encoder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9217111-F7A7-E59D-7BDB-DD05AB958461}"/>
              </a:ext>
            </a:extLst>
          </p:cNvPr>
          <p:cNvSpPr txBox="1"/>
          <p:nvPr/>
        </p:nvSpPr>
        <p:spPr>
          <a:xfrm>
            <a:off x="8916113" y="6209216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Decoder(RNN)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DD0E327F-488D-87E9-9A94-3F5FC19F8AE0}"/>
              </a:ext>
            </a:extLst>
          </p:cNvPr>
          <p:cNvCxnSpPr/>
          <p:nvPr/>
        </p:nvCxnSpPr>
        <p:spPr>
          <a:xfrm>
            <a:off x="344604" y="6134100"/>
            <a:ext cx="495549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B8A13201-150C-6F80-4651-B2B56214D958}"/>
              </a:ext>
            </a:extLst>
          </p:cNvPr>
          <p:cNvCxnSpPr/>
          <p:nvPr/>
        </p:nvCxnSpPr>
        <p:spPr>
          <a:xfrm>
            <a:off x="6854207" y="6134100"/>
            <a:ext cx="4955497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3">
            <a:extLst>
              <a:ext uri="{FF2B5EF4-FFF2-40B4-BE49-F238E27FC236}">
                <a16:creationId xmlns:a16="http://schemas.microsoft.com/office/drawing/2014/main" id="{F3542B14-C40D-09AF-A4DB-DDC797256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460" y="1207225"/>
            <a:ext cx="11137734" cy="1305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입력-정답 시차 구조: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디코더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RNN 입력([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start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], 89, 45, 12, 512)과 정답(89, 45, 12, 512, [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end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])이 1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Timestep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차이로 배치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첫 시점부터 강제 주입: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=1([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start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89)부터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=5까지, 이전 예측과 무관하게 실제 정답 단어를 RNN 입력으로 직접 주입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은닉 상태(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Hidden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State) 유지: 각 시점의 RNN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hidden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state가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다음 시점으로 전달되어 전체 문맥 정보가 연결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독립적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Loss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계산: 각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Timestep별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출력과 정답을 1:1 비교해 손실을 계산함(패딩 오차는 제외) 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D3D1509-47BD-541C-AA25-C8FFC92BEB8C}"/>
              </a:ext>
            </a:extLst>
          </p:cNvPr>
          <p:cNvSpPr/>
          <p:nvPr/>
        </p:nvSpPr>
        <p:spPr>
          <a:xfrm>
            <a:off x="5624838" y="4216783"/>
            <a:ext cx="916952" cy="33435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Context vector</a:t>
            </a:r>
            <a:endParaRPr lang="ko-KR" altLang="en-US" sz="12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5371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ACC60-8CD9-2604-14C3-5E280A4B8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C45CE89-24E7-5E7E-E6EB-6645FAC1360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Sequence-to-sequence learning with RNNs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163C84-41EC-3A42-E9F3-96C8BD507D47}"/>
              </a:ext>
            </a:extLst>
          </p:cNvPr>
          <p:cNvSpPr txBox="1"/>
          <p:nvPr/>
        </p:nvSpPr>
        <p:spPr>
          <a:xfrm>
            <a:off x="571500" y="1248422"/>
            <a:ext cx="11049000" cy="1441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영어는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"you"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가 맨 뒤에 나오지만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스페인어는 그에 해당하는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가 맨 앞에 나와야 하니 원문을 한 단어씩 읽으면서 동시에 실시간으로 번역하는 것은 불가능하기에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인코더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(Encoder)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가 영어 문장 전체를 끝까지 다 읽고 기억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(State)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한 뒤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디코더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(Decoder)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가 그 기억을 이어받아 스페인어 첫 글자부터 차례대로 써 내려가는 구조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(Seq2Seq)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를 써야만 어순이 다른 언어를 제대로 번역할 수 있는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모델 구조가 필요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8A4A93C2-D0B3-20F8-6CD2-03F1EA692A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9283" y="3171883"/>
            <a:ext cx="6089417" cy="2374809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B49EAB-A5FB-564C-F664-A8942FC2E1DF}"/>
              </a:ext>
            </a:extLst>
          </p:cNvPr>
          <p:cNvSpPr txBox="1"/>
          <p:nvPr/>
        </p:nvSpPr>
        <p:spPr>
          <a:xfrm>
            <a:off x="2492607" y="5574596"/>
            <a:ext cx="615609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 sequence-to-sequence RNN: an RNN encoder is used to produce a vector that encodes the entire source sequence, which is used as the initial state for an RNN decoder.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32BE4E2A-97B4-4364-92AB-B92A13B4ADBF}"/>
              </a:ext>
            </a:extLst>
          </p:cNvPr>
          <p:cNvSpPr txBox="1">
            <a:spLocks/>
          </p:cNvSpPr>
          <p:nvPr/>
        </p:nvSpPr>
        <p:spPr>
          <a:xfrm>
            <a:off x="1112361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16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2137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5B106-462C-BB1A-7F8D-2F42E848D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7751891-9DC0-347C-5D3E-D8A2EBBE5D0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Sequence-to-sequence learning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EA4349-EEF0-DB08-B539-AB13B15F32FB}"/>
              </a:ext>
            </a:extLst>
          </p:cNvPr>
          <p:cNvSpPr txBox="1"/>
          <p:nvPr/>
        </p:nvSpPr>
        <p:spPr>
          <a:xfrm>
            <a:off x="624422" y="1320872"/>
            <a:ext cx="6443128" cy="23214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 latinLnBrk="0">
              <a:lnSpc>
                <a:spcPct val="150000"/>
              </a:lnSpc>
              <a:buNone/>
            </a:pP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embed_dim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256</a:t>
            </a: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hidden_dim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1024</a:t>
            </a: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source = 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keras.Input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(shape=(None,), 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dtype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="int32", name="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english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layers.Embedding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vocab_size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embed_dim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mask_zero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=True)(source)</a:t>
            </a: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rnn_layer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layers.GRU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hidden_dim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rnn_layer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layers.Bidirectional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rnn_layer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merge_mode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="sum")</a:t>
            </a:r>
          </a:p>
          <a:p>
            <a:pPr algn="l">
              <a:lnSpc>
                <a:spcPct val="150000"/>
              </a:lnSpc>
              <a:buNone/>
            </a:pPr>
            <a:r>
              <a:rPr lang="en-US" altLang="ko-KR" sz="1400" b="1" i="0" dirty="0" err="1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encoder_output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rnn_layer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(x)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37AF0E-1515-68F9-7819-B84A2196B818}"/>
              </a:ext>
            </a:extLst>
          </p:cNvPr>
          <p:cNvSpPr txBox="1"/>
          <p:nvPr/>
        </p:nvSpPr>
        <p:spPr>
          <a:xfrm>
            <a:off x="4304781" y="3886827"/>
            <a:ext cx="6524626" cy="26446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 latinLnBrk="0">
              <a:lnSpc>
                <a:spcPct val="150000"/>
              </a:lnSpc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target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keras.Input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(shape=(None,),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dtype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="int32", name="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spanish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x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layers.Embedding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vocab_size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embed_dim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mask_zero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=True)(target)</a:t>
            </a: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rnn_layer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layers.GRU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hidden_dim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return_sequences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=True)</a:t>
            </a: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x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rnn_layer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(x,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initial_state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b="1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encoder_output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x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layers.Dropout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(0.5)(x)</a:t>
            </a: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Predicts the next word of the translation, given the current word</a:t>
            </a: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target_predictions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vocab_size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activation="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</a:p>
          <a:p>
            <a:pPr algn="l">
              <a:lnSpc>
                <a:spcPct val="150000"/>
              </a:lnSpc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seq2seq_rnn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keras.Model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([source, target],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target_predictions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5B3B16C8-292E-76A4-CE8F-2C6607434696}"/>
              </a:ext>
            </a:extLst>
          </p:cNvPr>
          <p:cNvCxnSpPr>
            <a:cxnSpLocks/>
            <a:stCxn id="5" idx="2"/>
            <a:endCxn id="9" idx="1"/>
          </p:cNvCxnSpPr>
          <p:nvPr/>
        </p:nvCxnSpPr>
        <p:spPr>
          <a:xfrm rot="16200000" flipH="1">
            <a:off x="3291981" y="4196345"/>
            <a:ext cx="1566804" cy="45879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467716D-79C8-D075-2609-07996E652543}"/>
              </a:ext>
            </a:extLst>
          </p:cNvPr>
          <p:cNvSpPr txBox="1"/>
          <p:nvPr/>
        </p:nvSpPr>
        <p:spPr>
          <a:xfrm>
            <a:off x="2075931" y="3702161"/>
            <a:ext cx="2228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Encoder RNN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9A41A4-C63B-D482-DFE3-2E95439D1286}"/>
              </a:ext>
            </a:extLst>
          </p:cNvPr>
          <p:cNvSpPr txBox="1"/>
          <p:nvPr/>
        </p:nvSpPr>
        <p:spPr>
          <a:xfrm>
            <a:off x="2731560" y="5352462"/>
            <a:ext cx="2228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Decoder RNN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48D1A4-8E53-F5CD-E421-B7EC737D4596}"/>
              </a:ext>
            </a:extLst>
          </p:cNvPr>
          <p:cNvSpPr txBox="1"/>
          <p:nvPr/>
        </p:nvSpPr>
        <p:spPr>
          <a:xfrm>
            <a:off x="2075931" y="3973875"/>
            <a:ext cx="18700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왜 양방향 학습</a:t>
            </a:r>
            <a:r>
              <a:rPr lang="en-US" altLang="ko-KR" sz="160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92F12CA5-2A62-1D5F-D5FF-F47F6EB452AE}"/>
              </a:ext>
            </a:extLst>
          </p:cNvPr>
          <p:cNvSpPr txBox="1">
            <a:spLocks/>
          </p:cNvSpPr>
          <p:nvPr/>
        </p:nvSpPr>
        <p:spPr>
          <a:xfrm>
            <a:off x="1112361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17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15A4EAB-4BDC-CD4A-9E8F-9C61C8169477}"/>
              </a:ext>
            </a:extLst>
          </p:cNvPr>
          <p:cNvSpPr/>
          <p:nvPr/>
        </p:nvSpPr>
        <p:spPr>
          <a:xfrm>
            <a:off x="475645" y="3286125"/>
            <a:ext cx="1600286" cy="44681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41A3A89-5C49-71D7-61F0-DCFBBE256077}"/>
              </a:ext>
            </a:extLst>
          </p:cNvPr>
          <p:cNvSpPr/>
          <p:nvPr/>
        </p:nvSpPr>
        <p:spPr>
          <a:xfrm>
            <a:off x="7219345" y="4876212"/>
            <a:ext cx="1600286" cy="44681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7850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171C6-A51C-4250-3D18-CD5EA14E7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7E4480-4914-51E3-5D40-1279B5895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A36159C-E559-39AE-A015-F02E36735B3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Limitations</a:t>
            </a:r>
            <a:r>
              <a:rPr lang="ko-KR" altLang="en-US" sz="2800" b="1" cap="none" dirty="0">
                <a:latin typeface="Lora" pitchFamily="2" charset="0"/>
              </a:rPr>
              <a:t> </a:t>
            </a:r>
            <a:r>
              <a:rPr lang="en-US" altLang="ko-KR" sz="2800" b="1" cap="none" dirty="0">
                <a:latin typeface="Lora" pitchFamily="2" charset="0"/>
              </a:rPr>
              <a:t>of sequence-to-sequence learning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4BFC5C-216E-7ABD-9E59-29E45E130B65}"/>
              </a:ext>
            </a:extLst>
          </p:cNvPr>
          <p:cNvSpPr txBox="1"/>
          <p:nvPr/>
        </p:nvSpPr>
        <p:spPr>
          <a:xfrm>
            <a:off x="559313" y="1228557"/>
            <a:ext cx="11073374" cy="467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RNN(LSTM, GRU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포함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은 문장을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순서대로 한 단어씩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읽는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구조의 한계점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(2017, google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translater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LTSM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7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layers)</a:t>
            </a:r>
          </a:p>
          <a:p>
            <a:pPr>
              <a:lnSpc>
                <a:spcPct val="150000"/>
              </a:lnSpc>
              <a:buNone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① 정보의 병목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(Bottleneck): "500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페이지 책을 한 줄로 요약해라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RNN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인코더는 영어 문장이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단어이든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50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단어이든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끝까지 다 읽은 후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디코더에게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넘겨줄 때는 딱 하나의 고정된 크기의 기억 상태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(Hidden State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벡터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 압축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아무리 긴 소설책이라도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디코더에게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넘겨줄 때는 딱 한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페이지짜리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요약본으로 만들어야 하는 것과 같으며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문장이 길고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복잡해질수록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중요한 정보들이 이 좁은 병목 구간에서 다 구겨지고 유실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2">
              <a:lnSpc>
                <a:spcPct val="150000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② 장기 기억 상실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앞에서 무슨 말 했더라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?"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RNN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은 단어를 읽을 때마다 기존 기억 위에 새로운 기억을 계속 덮어쓰게 됨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누군가 나에게 단어를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100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개 연속으로 말해주는 상황으로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100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번째 단어를 들을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때쯤이면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번째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2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번째로 말했던 단어들은 머릿속에서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흐릿해져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기억나지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않개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됨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따라서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RNN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번역기는 문장이 길어지면 앞부분의 문맥을 완전히 까먹고 엉뚱한 번역을 하는 고질적인 문제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6F85A34-612B-ED67-5E31-C27D62118C63}"/>
              </a:ext>
            </a:extLst>
          </p:cNvPr>
          <p:cNvSpPr txBox="1">
            <a:spLocks/>
          </p:cNvSpPr>
          <p:nvPr/>
        </p:nvSpPr>
        <p:spPr>
          <a:xfrm>
            <a:off x="1112361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18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0384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19395-736B-39DF-7E95-2DC40B47A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813AD6-ED11-224E-CB94-4BE851D68E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620376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Transformer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99769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04BCD-0EA9-41D8-A540-61245E549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41DE0DB-EC79-37FC-20F6-B0A318D9D52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The Transformer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5D9538-17D4-5A3B-4535-32EE8A0E37FA}"/>
              </a:ext>
            </a:extLst>
          </p:cNvPr>
          <p:cNvSpPr txBox="1"/>
          <p:nvPr/>
        </p:nvSpPr>
        <p:spPr>
          <a:xfrm>
            <a:off x="5778872" y="1547212"/>
            <a:ext cx="6096000" cy="3747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2017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년도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어텐션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Attention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)'이라고 불리는 이 단순한 메커니즘을 사용하면 순환 레이어(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recurrent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)를 전혀 사용하지 않고도 강력한 시퀀스 모델을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제시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RNN 기반 모델(LSTM, GRU 등)뿐만 아니라, 당시 막강한 대안으로 떠오르던 CNN 기반의 시퀀스 모델(ConvS2S 등)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등을 사용하지 않는 단순한 모델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현재 모든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chatGPT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claude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Gemini,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Ollama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Transformer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모델을 바탕으로 개발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863161F-BF14-267C-746C-B3BEADF2B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47" y="1547212"/>
            <a:ext cx="5206025" cy="46716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D68F5A8-9933-7662-BA0E-D31893ABA11C}"/>
              </a:ext>
            </a:extLst>
          </p:cNvPr>
          <p:cNvSpPr txBox="1">
            <a:spLocks/>
          </p:cNvSpPr>
          <p:nvPr/>
        </p:nvSpPr>
        <p:spPr>
          <a:xfrm>
            <a:off x="1112361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20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81783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61C72-4197-8941-AFF5-049D75658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7C4970D-D44F-2504-08A7-41E2746F7FF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The Transformer architecture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5C9F35C-A020-5175-F5C0-9AE5B7970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73" y="1488141"/>
            <a:ext cx="3980872" cy="42108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723C8B-4332-FD67-9334-8E7E4C519343}"/>
              </a:ext>
            </a:extLst>
          </p:cNvPr>
          <p:cNvSpPr txBox="1"/>
          <p:nvPr/>
        </p:nvSpPr>
        <p:spPr>
          <a:xfrm>
            <a:off x="5006109" y="1383366"/>
            <a:ext cx="6096000" cy="4583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Original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representation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Attention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mechanism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&amp;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Attention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scores</a:t>
            </a:r>
            <a:endParaRPr lang="ko-KR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모델은 이 이미지에서 '무엇이 중요한지' 판단하는 과정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흑백 이미지(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Attention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scores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보면, 고양이의 얼굴이 있는 중심부만 하얗게(높은 점수) 빛나고 배경은 까맣게(낮은 점수) 처리되어 있습니다. 즉, "여기가 제일 중요하니까 여기에 집중해!"라고 점수를 매긴 지도(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Mask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New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representation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원본 이미지에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어텐션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점수를 곱해 필터링한 최종 결과물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배경은 어둡게 가려지고, 모델이 집중해야 할 고양이의 눈과 얼굴 부분만 선명하게 강조된 새로운 데이터(표현)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생성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모델은 이제 이 핵심 정보만을 가지고 다음 연산을 수행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C7CAA5-09E1-A6A3-3719-902385AB2D32}"/>
              </a:ext>
            </a:extLst>
          </p:cNvPr>
          <p:cNvSpPr txBox="1"/>
          <p:nvPr/>
        </p:nvSpPr>
        <p:spPr>
          <a:xfrm>
            <a:off x="6966408" y="826899"/>
            <a:ext cx="46002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r">
              <a:buNone/>
            </a:pPr>
            <a:r>
              <a:rPr lang="ko-KR" altLang="ko-KR" sz="1800" b="1" i="0" dirty="0" err="1">
                <a:effectLst/>
                <a:latin typeface="Lora" pitchFamily="2" charset="0"/>
              </a:rPr>
              <a:t>Dot-product</a:t>
            </a:r>
            <a:r>
              <a:rPr lang="ko-KR" altLang="ko-KR" sz="1800" b="1" i="0" dirty="0">
                <a:effectLst/>
                <a:latin typeface="Lora" pitchFamily="2" charset="0"/>
              </a:rPr>
              <a:t> </a:t>
            </a:r>
            <a:r>
              <a:rPr lang="ko-KR" altLang="ko-KR" sz="1800" b="1" i="0" dirty="0" err="1">
                <a:effectLst/>
                <a:latin typeface="Lora" pitchFamily="2" charset="0"/>
              </a:rPr>
              <a:t>attention</a:t>
            </a:r>
            <a:endParaRPr lang="ko-KR" altLang="ko-KR" sz="1800" b="1" i="0" dirty="0">
              <a:effectLst/>
              <a:latin typeface="Lora" pitchFamily="2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A18751FE-18F2-9D17-99AF-975D012BEB35}"/>
              </a:ext>
            </a:extLst>
          </p:cNvPr>
          <p:cNvSpPr txBox="1">
            <a:spLocks/>
          </p:cNvSpPr>
          <p:nvPr/>
        </p:nvSpPr>
        <p:spPr>
          <a:xfrm>
            <a:off x="1112361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21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880770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897E9-D63A-8877-FBD0-86DAF608C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B358AA2-DB8C-38E1-50C1-3130DB2417B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The Transformer architecture</a:t>
            </a:r>
          </a:p>
        </p:txBody>
      </p:sp>
      <p:pic>
        <p:nvPicPr>
          <p:cNvPr id="2" name="그림 1" descr="Attention visualization of different layers from our unsupervised pre‐trained model (using a tool from [58]). An attention map was generated with 16‐frame clip inputs and applied to the last frame in the video clips. Each row represents a video sample, whereas each column illustrates the different convolution layers">
            <a:extLst>
              <a:ext uri="{FF2B5EF4-FFF2-40B4-BE49-F238E27FC236}">
                <a16:creationId xmlns:a16="http://schemas.microsoft.com/office/drawing/2014/main" id="{6A73219F-9DD8-F5AD-5E51-900227F14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182" y="2539432"/>
            <a:ext cx="9120853" cy="37234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2571CD-8B62-A93E-2A14-731900273CBB}"/>
              </a:ext>
            </a:extLst>
          </p:cNvPr>
          <p:cNvSpPr txBox="1"/>
          <p:nvPr/>
        </p:nvSpPr>
        <p:spPr>
          <a:xfrm>
            <a:off x="1163783" y="6262886"/>
            <a:ext cx="87350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ko-KR" altLang="ko-KR" sz="1200" b="0" i="0" dirty="0" err="1">
                <a:solidFill>
                  <a:srgbClr val="11111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Exploring</a:t>
            </a:r>
            <a:r>
              <a:rPr lang="ko-KR" altLang="ko-KR" sz="1200" b="0" i="0" dirty="0">
                <a:solidFill>
                  <a:srgbClr val="11111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i="0" dirty="0" err="1">
                <a:solidFill>
                  <a:srgbClr val="11111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complementary</a:t>
            </a:r>
            <a:r>
              <a:rPr lang="ko-KR" altLang="ko-KR" sz="1200" b="0" i="0" dirty="0">
                <a:solidFill>
                  <a:srgbClr val="11111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i="0" dirty="0" err="1">
                <a:solidFill>
                  <a:srgbClr val="11111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information</a:t>
            </a:r>
            <a:r>
              <a:rPr lang="ko-KR" altLang="ko-KR" sz="1200" b="0" i="0" dirty="0">
                <a:solidFill>
                  <a:srgbClr val="11111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of </a:t>
            </a:r>
            <a:r>
              <a:rPr lang="ko-KR" altLang="ko-KR" sz="1200" b="0" i="0" dirty="0" err="1">
                <a:solidFill>
                  <a:srgbClr val="11111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self‐supervised</a:t>
            </a:r>
            <a:r>
              <a:rPr lang="ko-KR" altLang="ko-KR" sz="1200" b="0" i="0" dirty="0">
                <a:solidFill>
                  <a:srgbClr val="11111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i="0" dirty="0" err="1">
                <a:solidFill>
                  <a:srgbClr val="11111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pretext</a:t>
            </a:r>
            <a:r>
              <a:rPr lang="ko-KR" altLang="ko-KR" sz="1200" b="0" i="0" dirty="0">
                <a:solidFill>
                  <a:srgbClr val="11111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i="0" dirty="0" err="1">
                <a:solidFill>
                  <a:srgbClr val="11111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tasks</a:t>
            </a:r>
            <a:r>
              <a:rPr lang="ko-KR" altLang="ko-KR" sz="1200" b="0" i="0" dirty="0">
                <a:solidFill>
                  <a:srgbClr val="11111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i="0" dirty="0" err="1">
                <a:solidFill>
                  <a:srgbClr val="11111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ko-KR" sz="1200" b="0" i="0" dirty="0">
                <a:solidFill>
                  <a:srgbClr val="11111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i="0" dirty="0" err="1">
                <a:solidFill>
                  <a:srgbClr val="11111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unsupervised</a:t>
            </a:r>
            <a:r>
              <a:rPr lang="ko-KR" altLang="ko-KR" sz="1200" b="0" i="0" dirty="0">
                <a:solidFill>
                  <a:srgbClr val="11111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i="0" dirty="0" err="1">
                <a:solidFill>
                  <a:srgbClr val="11111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video</a:t>
            </a:r>
            <a:r>
              <a:rPr lang="ko-KR" altLang="ko-KR" sz="1200" b="0" i="0" dirty="0">
                <a:solidFill>
                  <a:srgbClr val="11111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i="0" dirty="0" err="1">
                <a:solidFill>
                  <a:srgbClr val="11111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pre‐training</a:t>
            </a:r>
            <a:endParaRPr lang="ko-KR" altLang="ko-KR" sz="1200" b="0" i="0" dirty="0">
              <a:solidFill>
                <a:srgbClr val="11111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3B6136-F1AC-F851-F77F-4902265FA8B3}"/>
              </a:ext>
            </a:extLst>
          </p:cNvPr>
          <p:cNvSpPr txBox="1"/>
          <p:nvPr/>
        </p:nvSpPr>
        <p:spPr>
          <a:xfrm>
            <a:off x="563417" y="1185280"/>
            <a:ext cx="11152937" cy="102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“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CNN에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어텐션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(attention)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매커니즘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을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결합했더니, 레이어가 깊어질수록 인간처럼 영상 속에서 배경에 현혹되지 않고 '행동의 핵심이 되는 인물과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사물'을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스스로 기가 막히게 찾아내어 집중하더라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”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는 것을 증명하는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시각 자료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논문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 비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지도 학습(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Unsupervised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)인데도 정답 없이 스스로 이 핵심 맥락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발견함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D6C961-7316-807B-F971-F0B9F2EE603F}"/>
              </a:ext>
            </a:extLst>
          </p:cNvPr>
          <p:cNvSpPr txBox="1"/>
          <p:nvPr/>
        </p:nvSpPr>
        <p:spPr>
          <a:xfrm>
            <a:off x="6966408" y="826899"/>
            <a:ext cx="46002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r">
              <a:buNone/>
            </a:pPr>
            <a:r>
              <a:rPr lang="ko-KR" altLang="ko-KR" sz="1800" b="1" i="0" dirty="0" err="1">
                <a:effectLst/>
                <a:latin typeface="Lora" pitchFamily="2" charset="0"/>
              </a:rPr>
              <a:t>Dot-product</a:t>
            </a:r>
            <a:r>
              <a:rPr lang="ko-KR" altLang="ko-KR" sz="1800" b="1" i="0" dirty="0">
                <a:effectLst/>
                <a:latin typeface="Lora" pitchFamily="2" charset="0"/>
              </a:rPr>
              <a:t> </a:t>
            </a:r>
            <a:r>
              <a:rPr lang="ko-KR" altLang="ko-KR" sz="1800" b="1" i="0" dirty="0" err="1">
                <a:effectLst/>
                <a:latin typeface="Lora" pitchFamily="2" charset="0"/>
              </a:rPr>
              <a:t>attention</a:t>
            </a:r>
            <a:endParaRPr lang="ko-KR" altLang="ko-KR" sz="1800" b="1" i="0" dirty="0">
              <a:effectLst/>
              <a:latin typeface="Lora" pitchFamily="2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BD49C722-9CC5-B3D0-C4F1-46190B72253D}"/>
              </a:ext>
            </a:extLst>
          </p:cNvPr>
          <p:cNvSpPr txBox="1">
            <a:spLocks/>
          </p:cNvSpPr>
          <p:nvPr/>
        </p:nvSpPr>
        <p:spPr>
          <a:xfrm>
            <a:off x="1112361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22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96312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C98A2-8124-BA79-7AD4-0C80788B4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384CA70-161B-17F2-D1B1-0D8609D6799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cosine similarity &amp;</a:t>
            </a:r>
            <a:r>
              <a:rPr lang="ko-KR" altLang="en-US" sz="2800" b="1" cap="none" dirty="0">
                <a:latin typeface="Lora" pitchFamily="2" charset="0"/>
              </a:rPr>
              <a:t> </a:t>
            </a:r>
            <a:r>
              <a:rPr lang="en-US" altLang="ko-KR" sz="2800" b="1" cap="none" dirty="0">
                <a:latin typeface="Lora" pitchFamily="2" charset="0"/>
              </a:rPr>
              <a:t>d</a:t>
            </a:r>
            <a:r>
              <a:rPr lang="ko-KR" altLang="ko-KR" sz="2800" b="1" cap="none" dirty="0" err="1">
                <a:latin typeface="Lora" pitchFamily="2" charset="0"/>
              </a:rPr>
              <a:t>ot-product</a:t>
            </a:r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AB193797-BAB0-C015-0C4A-F2F879C4F472}"/>
              </a:ext>
            </a:extLst>
          </p:cNvPr>
          <p:cNvSpPr txBox="1">
            <a:spLocks/>
          </p:cNvSpPr>
          <p:nvPr/>
        </p:nvSpPr>
        <p:spPr>
          <a:xfrm>
            <a:off x="1112361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23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C521B8-E374-12B4-D20B-2956211D5F0C}"/>
              </a:ext>
            </a:extLst>
          </p:cNvPr>
          <p:cNvSpPr txBox="1"/>
          <p:nvPr/>
        </p:nvSpPr>
        <p:spPr>
          <a:xfrm>
            <a:off x="1681104" y="2103418"/>
            <a:ext cx="20670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Word Embedding</a:t>
            </a:r>
            <a:endParaRPr lang="en-US" altLang="ko-KR" dirty="0">
              <a:solidFill>
                <a:srgbClr val="00B0F0"/>
              </a:solidFill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FE1774-6F16-F43C-6EC9-7E6B3A3917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1104" y="2472750"/>
            <a:ext cx="2757546" cy="39551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FCD1B31-94E7-936E-09C1-D6F1D0E614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2522" y="2472749"/>
            <a:ext cx="5204356" cy="390326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69EE908-39F8-08CA-8C47-B99D4969EC4A}"/>
              </a:ext>
            </a:extLst>
          </p:cNvPr>
          <p:cNvSpPr txBox="1"/>
          <p:nvPr/>
        </p:nvSpPr>
        <p:spPr>
          <a:xfrm>
            <a:off x="590550" y="1216054"/>
            <a:ext cx="11068050" cy="46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아래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단어 간의 내적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(dot-product)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과 코사인 유사성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(cosine similarity)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을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모두 구하라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26" name="Picture 2" descr="calculation of cosine of the angle between A and B">
            <a:extLst>
              <a:ext uri="{FF2B5EF4-FFF2-40B4-BE49-F238E27FC236}">
                <a16:creationId xmlns:a16="http://schemas.microsoft.com/office/drawing/2014/main" id="{02212AE0-DE7D-A556-161A-AEC9E2926A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5929" y="1838031"/>
            <a:ext cx="3125917" cy="111442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82073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43B56-3AB8-6208-001C-955D9B896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2" name="Picture 10">
            <a:extLst>
              <a:ext uri="{FF2B5EF4-FFF2-40B4-BE49-F238E27FC236}">
                <a16:creationId xmlns:a16="http://schemas.microsoft.com/office/drawing/2014/main" id="{1C97C0A8-BD55-E377-C5DB-53C51BBDC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698" y="2499995"/>
            <a:ext cx="7251057" cy="3449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4A44F9FF-4873-CC2F-50C5-B8087353645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ko-KR" sz="2800" b="1" cap="none" dirty="0" err="1">
                <a:latin typeface="Lora" pitchFamily="2" charset="0"/>
              </a:rPr>
              <a:t>Dot-product</a:t>
            </a:r>
            <a:r>
              <a:rPr lang="ko-KR" altLang="ko-KR" sz="2800" b="1" cap="none" dirty="0">
                <a:latin typeface="Lora" pitchFamily="2" charset="0"/>
              </a:rPr>
              <a:t> </a:t>
            </a:r>
            <a:r>
              <a:rPr lang="ko-KR" altLang="ko-KR" sz="2800" b="1" cap="none" dirty="0" err="1">
                <a:latin typeface="Lora" pitchFamily="2" charset="0"/>
              </a:rPr>
              <a:t>attention</a:t>
            </a:r>
            <a:r>
              <a:rPr lang="en-US" altLang="ko-KR" sz="2800" b="1" cap="none" dirty="0">
                <a:latin typeface="Lora" pitchFamily="2" charset="0"/>
              </a:rPr>
              <a:t> mechanism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29F0CE62-6F9F-A881-7658-690856E5B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8880" y="2499995"/>
            <a:ext cx="4331909" cy="3467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CE07A69-4DEF-BB11-0AF7-9DA2F7B412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3664" y="4172215"/>
            <a:ext cx="825308" cy="96973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5060E88-1A3A-D901-C26B-3331FC72F3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3904" y="3195320"/>
            <a:ext cx="927070" cy="76643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C50A4BA-C061-C143-6781-16049570F5E2}"/>
              </a:ext>
            </a:extLst>
          </p:cNvPr>
          <p:cNvSpPr txBox="1"/>
          <p:nvPr/>
        </p:nvSpPr>
        <p:spPr>
          <a:xfrm>
            <a:off x="599440" y="1210322"/>
            <a:ext cx="11318240" cy="793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차원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Word Embedding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하여 시각화한 후 각 포인트의 내적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(Dot-product)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 코사인 유사성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(Cosine Similarity)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계산하면 특성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차원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비슷한 데이터 포인트의 내적과 코사인 유사성이 커지게 됨 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3EDB40D1-30F7-D8DD-BEBB-514D7801CDA5}"/>
              </a:ext>
            </a:extLst>
          </p:cNvPr>
          <p:cNvSpPr txBox="1">
            <a:spLocks/>
          </p:cNvSpPr>
          <p:nvPr/>
        </p:nvSpPr>
        <p:spPr>
          <a:xfrm>
            <a:off x="1112361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24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75887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2595E-F380-3DED-F8D7-C89968203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3F55C73-B45C-3AD9-9ACA-ABBD0A16063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Attention Mechanism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81B4F84-B20F-3B18-0D1B-247AEE6AA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25" y="2233437"/>
            <a:ext cx="5173550" cy="23309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DFEDCD-3ACE-670C-3B97-FCE97A3AD0D4}"/>
              </a:ext>
            </a:extLst>
          </p:cNvPr>
          <p:cNvSpPr txBox="1"/>
          <p:nvPr/>
        </p:nvSpPr>
        <p:spPr>
          <a:xfrm>
            <a:off x="6514230" y="2242322"/>
            <a:ext cx="4831520" cy="230832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내적 점수 계산 </a:t>
            </a:r>
            <a:r>
              <a:rPr lang="en-US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(Dot-product Score)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 lvl="1"/>
            <a:r>
              <a:rPr lang="en-US" altLang="ko-KR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ko-KR" altLang="ko-KR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ko-KR" sz="1200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</a:t>
            </a:r>
            <a:r>
              <a:rPr lang="ko-KR" altLang="ko-KR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"</a:t>
            </a:r>
            <a:r>
              <a:rPr lang="ko-KR" altLang="ko-KR" sz="1200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traeré</a:t>
            </a:r>
            <a:r>
              <a:rPr lang="ko-KR" altLang="ko-KR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"</a:t>
            </a:r>
            <a:r>
              <a:rPr lang="ko-KR" altLang="ko-KR" sz="1200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</a:t>
            </a:r>
            <a:r>
              <a:rPr lang="ko-KR" altLang="ko-KR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"</a:t>
            </a:r>
            <a:r>
              <a:rPr lang="ko-KR" altLang="ko-KR" sz="1200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bolsa</a:t>
            </a:r>
            <a:r>
              <a:rPr lang="ko-KR" altLang="ko-KR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“</a:t>
            </a:r>
            <a:r>
              <a:rPr lang="en-US" altLang="ko-KR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ko-KR" altLang="en-US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의 각 단어 </a:t>
            </a:r>
            <a:r>
              <a:rPr lang="ko-KR" altLang="en-US" sz="1200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벡터와 </a:t>
            </a:r>
            <a:r>
              <a:rPr lang="en-US" altLang="ko-KR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“bring’</a:t>
            </a:r>
            <a:r>
              <a:rPr lang="ko-KR" altLang="en-US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단어의 </a:t>
            </a:r>
            <a:r>
              <a:rPr lang="ko-KR" altLang="en-US" sz="1200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벡터의 내적 값은</a:t>
            </a:r>
            <a:r>
              <a:rPr lang="en-US" altLang="ko-KR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[0.56, 2.51, 0.49, 1.21]</a:t>
            </a:r>
          </a:p>
          <a:p>
            <a:pPr marL="800100" lvl="1" indent="-342900">
              <a:buFont typeface="+mj-lt"/>
              <a:buAutoNum type="arabicPeriod"/>
            </a:pPr>
            <a:endParaRPr lang="en-US" altLang="ko-KR" sz="1200" b="1" dirty="0">
              <a:solidFill>
                <a:srgbClr val="00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2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소프트맥스</a:t>
            </a:r>
            <a:r>
              <a:rPr lang="ko-KR" altLang="en-US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(Attention Weights):</a:t>
            </a:r>
            <a:endParaRPr lang="en-US" altLang="ko-KR" sz="1200" b="1" dirty="0">
              <a:solidFill>
                <a:srgbClr val="00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1"/>
            <a:r>
              <a:rPr lang="ko-KR" altLang="en-US" sz="1200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소프트맥스</a:t>
            </a:r>
            <a:r>
              <a:rPr lang="ko-KR" altLang="en-US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값</a:t>
            </a:r>
            <a:r>
              <a:rPr lang="en-US" altLang="ko-KR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(attention weight)</a:t>
            </a:r>
            <a:r>
              <a:rPr lang="ko-KR" altLang="en-US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은</a:t>
            </a:r>
            <a:r>
              <a:rPr lang="en-US" altLang="ko-KR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[0.0919, 0.6462, 0.0857, 0.1761]</a:t>
            </a:r>
            <a:r>
              <a:rPr lang="ko-KR" altLang="en-US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이며</a:t>
            </a:r>
            <a:r>
              <a:rPr lang="en-US" altLang="ko-KR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200" dirty="0">
              <a:solidFill>
                <a:srgbClr val="00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2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가중합</a:t>
            </a:r>
            <a:r>
              <a:rPr lang="ko-KR" altLang="en-US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(Context Vector)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endParaRPr lang="en-US" altLang="ko-KR" sz="1200" dirty="0">
              <a:solidFill>
                <a:srgbClr val="00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1"/>
            <a:r>
              <a:rPr lang="ko-KR" altLang="en-US" sz="1200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소프트맥스</a:t>
            </a:r>
            <a:r>
              <a:rPr lang="ko-KR" altLang="en-US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값을</a:t>
            </a:r>
            <a:r>
              <a:rPr lang="en-US" altLang="ko-KR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[</a:t>
            </a:r>
            <a:r>
              <a:rPr lang="ko-KR" altLang="ko-KR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ko-KR" sz="1200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</a:t>
            </a:r>
            <a:r>
              <a:rPr lang="ko-KR" altLang="ko-KR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"</a:t>
            </a:r>
            <a:r>
              <a:rPr lang="ko-KR" altLang="ko-KR" sz="1200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traeré</a:t>
            </a:r>
            <a:r>
              <a:rPr lang="ko-KR" altLang="ko-KR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"</a:t>
            </a:r>
            <a:r>
              <a:rPr lang="ko-KR" altLang="ko-KR" sz="1200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</a:t>
            </a:r>
            <a:r>
              <a:rPr lang="ko-KR" altLang="ko-KR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"</a:t>
            </a:r>
            <a:r>
              <a:rPr lang="ko-KR" altLang="ko-KR" sz="1200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bolsa</a:t>
            </a:r>
            <a:r>
              <a:rPr lang="ko-KR" altLang="ko-KR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“</a:t>
            </a:r>
            <a:r>
              <a:rPr lang="en-US" altLang="ko-KR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ko-KR" altLang="en-US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의 각 단어 </a:t>
            </a:r>
            <a:r>
              <a:rPr lang="ko-KR" altLang="en-US" sz="1200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임베딩에</a:t>
            </a:r>
            <a:r>
              <a:rPr lang="ko-KR" altLang="en-US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곱해서 합을 생성</a:t>
            </a:r>
            <a:endParaRPr lang="ko-KR" altLang="ko-KR" sz="1200" dirty="0">
              <a:solidFill>
                <a:srgbClr val="00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B209FEE-C228-2E1F-12A2-AFB5FF530FF1}"/>
              </a:ext>
            </a:extLst>
          </p:cNvPr>
          <p:cNvSpPr txBox="1"/>
          <p:nvPr/>
        </p:nvSpPr>
        <p:spPr>
          <a:xfrm>
            <a:off x="6248526" y="6237517"/>
            <a:ext cx="3139003" cy="27699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[0.631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0.6790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0.5929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0.65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30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115801C9-1C49-8A81-C541-5665623596B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514230" y="5296169"/>
            <a:ext cx="2023521" cy="864369"/>
          </a:xfrm>
          <a:prstGeom prst="rect">
            <a:avLst/>
          </a:prstGeom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297E6ECC-001F-F4A6-58D3-CAE733490DEB}"/>
              </a:ext>
            </a:extLst>
          </p:cNvPr>
          <p:cNvSpPr txBox="1">
            <a:spLocks/>
          </p:cNvSpPr>
          <p:nvPr/>
        </p:nvSpPr>
        <p:spPr>
          <a:xfrm>
            <a:off x="1112361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25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18E027-B3AA-C759-E6A5-DC7B3311FEE0}"/>
              </a:ext>
            </a:extLst>
          </p:cNvPr>
          <p:cNvSpPr txBox="1"/>
          <p:nvPr/>
        </p:nvSpPr>
        <p:spPr>
          <a:xfrm>
            <a:off x="543206" y="1179806"/>
            <a:ext cx="11115394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디코더가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특정 단어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"bring"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생성할 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스페인어 입력 문장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traeré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 la </a:t>
            </a:r>
            <a:r>
              <a:rPr lang="en-US" altLang="ko-KR" sz="16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bolsa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어느 단어에 얼마나 집중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(Attention)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해야 하는지 계산하는 </a:t>
            </a:r>
            <a:r>
              <a:rPr lang="ko-KR" altLang="en-US" sz="16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어텐션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(Attention) 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메커니즘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(bring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은 </a:t>
            </a:r>
            <a:r>
              <a:rPr lang="en-US" altLang="ko-KR" sz="16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traere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에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0.6790 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집중하라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!)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862FDC-6EE2-DB87-2CD7-2CACC3E3B6C3}"/>
              </a:ext>
            </a:extLst>
          </p:cNvPr>
          <p:cNvSpPr txBox="1"/>
          <p:nvPr/>
        </p:nvSpPr>
        <p:spPr>
          <a:xfrm>
            <a:off x="711425" y="4818391"/>
            <a:ext cx="2306591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bring  </a:t>
            </a:r>
            <a:r>
              <a:rPr lang="ko-KR" altLang="ko-KR" sz="12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[0.7, 0.8, 0.6, 0.9]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D352AD9-6724-D087-3A24-03D2606909D8}"/>
              </a:ext>
            </a:extLst>
          </p:cNvPr>
          <p:cNvSpPr txBox="1"/>
          <p:nvPr/>
        </p:nvSpPr>
        <p:spPr>
          <a:xfrm>
            <a:off x="9351404" y="4818391"/>
            <a:ext cx="2419150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sz="1200" b="0" dirty="0" err="1">
                <a:solidFill>
                  <a:srgbClr val="00B05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Te</a:t>
            </a:r>
            <a:r>
              <a:rPr lang="en-US" altLang="ko-KR" sz="1200" b="0" dirty="0">
                <a:solidFill>
                  <a:srgbClr val="00B05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ko-KR" altLang="ko-KR" sz="1200" b="0" dirty="0">
                <a:solidFill>
                  <a:srgbClr val="00B05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[0.1, 0.2, 0.1, 0.3]</a:t>
            </a:r>
            <a:endParaRPr lang="en-US" altLang="ko-KR" sz="1200" b="0" dirty="0">
              <a:solidFill>
                <a:srgbClr val="00B05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r">
              <a:buNone/>
            </a:pPr>
            <a:r>
              <a:rPr lang="en-US" altLang="ko-KR" sz="1200" b="0" dirty="0" err="1">
                <a:solidFill>
                  <a:srgbClr val="00B05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traere</a:t>
            </a:r>
            <a:r>
              <a:rPr lang="en-US" altLang="ko-KR" sz="1200" b="0" dirty="0">
                <a:solidFill>
                  <a:srgbClr val="00B05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ko-KR" altLang="ko-KR" sz="1200" b="0" dirty="0">
                <a:solidFill>
                  <a:srgbClr val="00B05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[0.8, 0.9, 0.7, 0.9]</a:t>
            </a:r>
            <a:endParaRPr lang="en-US" altLang="ko-KR" sz="1200" b="0" dirty="0">
              <a:solidFill>
                <a:srgbClr val="00B05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r">
              <a:buNone/>
            </a:pPr>
            <a:r>
              <a:rPr lang="en-US" altLang="ko-KR" sz="1200" b="0" dirty="0">
                <a:solidFill>
                  <a:srgbClr val="00B05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  </a:t>
            </a:r>
            <a:r>
              <a:rPr lang="ko-KR" altLang="ko-KR" sz="1200" b="0" dirty="0">
                <a:solidFill>
                  <a:srgbClr val="00B05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[0.2, 0.1, 0.3, 0.1] </a:t>
            </a:r>
            <a:endParaRPr lang="en-US" altLang="ko-KR" sz="1200" b="0" dirty="0">
              <a:solidFill>
                <a:srgbClr val="00B05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r">
              <a:buNone/>
            </a:pPr>
            <a:r>
              <a:rPr lang="en-US" altLang="ko-KR" sz="1200" b="0" dirty="0" err="1">
                <a:solidFill>
                  <a:srgbClr val="00B05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bolsa</a:t>
            </a:r>
            <a:r>
              <a:rPr lang="en-US" altLang="ko-KR" sz="1200" b="0" dirty="0">
                <a:solidFill>
                  <a:srgbClr val="00B05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ko-KR" altLang="ko-KR" sz="1200" b="0" dirty="0">
                <a:solidFill>
                  <a:srgbClr val="00B05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[0.5, 0.4, 0.6, 0.2]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5DFE71-28C8-7FD7-5D9B-C3C863148C70}"/>
              </a:ext>
            </a:extLst>
          </p:cNvPr>
          <p:cNvSpPr txBox="1"/>
          <p:nvPr/>
        </p:nvSpPr>
        <p:spPr>
          <a:xfrm>
            <a:off x="635225" y="5711668"/>
            <a:ext cx="23404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 [0.56, 2.51, 0.49, 1.21]</a:t>
            </a:r>
            <a:endParaRPr lang="ko-KR" altLang="en-US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9945C1-8C3E-908F-2E46-43F1ABFB564C}"/>
              </a:ext>
            </a:extLst>
          </p:cNvPr>
          <p:cNvSpPr txBox="1"/>
          <p:nvPr/>
        </p:nvSpPr>
        <p:spPr>
          <a:xfrm>
            <a:off x="3004270" y="4799373"/>
            <a:ext cx="3674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@</a:t>
            </a:r>
            <a:endParaRPr lang="ko-KR" altLang="en-US" sz="1600" dirty="0">
              <a:latin typeface="Calibri Light" panose="020F0302020204030204" pitchFamily="34" charset="0"/>
              <a:ea typeface="D2Coding" panose="020B0609020101020101" pitchFamily="49" charset="-127"/>
              <a:cs typeface="Calibri Light" panose="020F03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02C9249-E742-400E-B5D0-F31424E55F49}"/>
              </a:ext>
            </a:extLst>
          </p:cNvPr>
          <p:cNvSpPr txBox="1"/>
          <p:nvPr/>
        </p:nvSpPr>
        <p:spPr>
          <a:xfrm>
            <a:off x="6324726" y="4818391"/>
            <a:ext cx="29132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r>
              <a:rPr lang="en-US" altLang="ko-KR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([0.56, 2.51, 0.49, 1.21])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 [0.0919, 0.6462, 0.0857, 0.1761]</a:t>
            </a:r>
            <a:endParaRPr lang="ko-KR" altLang="en-US" sz="12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9196B74-2B7E-2E24-BD50-554BFCD52BE0}"/>
              </a:ext>
            </a:extLst>
          </p:cNvPr>
          <p:cNvSpPr txBox="1"/>
          <p:nvPr/>
        </p:nvSpPr>
        <p:spPr>
          <a:xfrm>
            <a:off x="9007466" y="4971856"/>
            <a:ext cx="3674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@</a:t>
            </a:r>
            <a:endParaRPr lang="ko-KR" altLang="en-US" sz="1600" dirty="0">
              <a:latin typeface="Calibri Light" panose="020F0302020204030204" pitchFamily="34" charset="0"/>
              <a:ea typeface="D2Coding" panose="020B0609020101020101" pitchFamily="49" charset="-127"/>
              <a:cs typeface="Calibri Light" panose="020F0302020204030204" pitchFamily="34" charset="0"/>
            </a:endParaRPr>
          </a:p>
        </p:txBody>
      </p: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F3790798-80FB-B532-9719-E5039AB7287E}"/>
              </a:ext>
            </a:extLst>
          </p:cNvPr>
          <p:cNvCxnSpPr>
            <a:stCxn id="37" idx="3"/>
            <a:endCxn id="40" idx="1"/>
          </p:cNvCxnSpPr>
          <p:nvPr/>
        </p:nvCxnSpPr>
        <p:spPr>
          <a:xfrm flipV="1">
            <a:off x="2975695" y="5049224"/>
            <a:ext cx="3349031" cy="800944"/>
          </a:xfrm>
          <a:prstGeom prst="bentConnector3">
            <a:avLst>
              <a:gd name="adj1" fmla="val 8668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D68CD3C-D03E-4059-5D28-7AAB6407BAFC}"/>
              </a:ext>
            </a:extLst>
          </p:cNvPr>
          <p:cNvSpPr txBox="1"/>
          <p:nvPr/>
        </p:nvSpPr>
        <p:spPr>
          <a:xfrm>
            <a:off x="3333950" y="4818391"/>
            <a:ext cx="2419150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sz="1200" b="0" dirty="0" err="1">
                <a:solidFill>
                  <a:srgbClr val="00B05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Te</a:t>
            </a:r>
            <a:r>
              <a:rPr lang="en-US" altLang="ko-KR" sz="1200" b="0" dirty="0">
                <a:solidFill>
                  <a:srgbClr val="00B05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ko-KR" altLang="ko-KR" sz="1200" b="0" dirty="0">
                <a:solidFill>
                  <a:srgbClr val="00B05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[0.1, 0.2, 0.1, 0.3]</a:t>
            </a:r>
            <a:endParaRPr lang="en-US" altLang="ko-KR" sz="1200" b="0" dirty="0">
              <a:solidFill>
                <a:srgbClr val="00B05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r">
              <a:buNone/>
            </a:pPr>
            <a:r>
              <a:rPr lang="en-US" altLang="ko-KR" sz="1200" b="0" dirty="0" err="1">
                <a:solidFill>
                  <a:srgbClr val="00B05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traere</a:t>
            </a:r>
            <a:r>
              <a:rPr lang="en-US" altLang="ko-KR" sz="1200" b="0" dirty="0">
                <a:solidFill>
                  <a:srgbClr val="00B05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ko-KR" altLang="ko-KR" sz="1200" b="0" dirty="0">
                <a:solidFill>
                  <a:srgbClr val="00B05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[0.8, 0.9, 0.7, 0.9]</a:t>
            </a:r>
            <a:endParaRPr lang="en-US" altLang="ko-KR" sz="1200" b="0" dirty="0">
              <a:solidFill>
                <a:srgbClr val="00B05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r">
              <a:buNone/>
            </a:pPr>
            <a:r>
              <a:rPr lang="en-US" altLang="ko-KR" sz="1200" b="0" dirty="0">
                <a:solidFill>
                  <a:srgbClr val="00B05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  </a:t>
            </a:r>
            <a:r>
              <a:rPr lang="ko-KR" altLang="ko-KR" sz="1200" b="0" dirty="0">
                <a:solidFill>
                  <a:srgbClr val="00B05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[0.2, 0.1, 0.3, 0.1] </a:t>
            </a:r>
            <a:endParaRPr lang="en-US" altLang="ko-KR" sz="1200" b="0" dirty="0">
              <a:solidFill>
                <a:srgbClr val="00B05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r">
              <a:buNone/>
            </a:pPr>
            <a:r>
              <a:rPr lang="en-US" altLang="ko-KR" sz="1200" b="0" dirty="0" err="1">
                <a:solidFill>
                  <a:srgbClr val="00B05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bolsa</a:t>
            </a:r>
            <a:r>
              <a:rPr lang="en-US" altLang="ko-KR" sz="1200" b="0" dirty="0">
                <a:solidFill>
                  <a:srgbClr val="00B05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ko-KR" altLang="ko-KR" sz="1200" b="0" dirty="0">
                <a:solidFill>
                  <a:srgbClr val="00B05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[0.5, 0.4, 0.6, 0.2]</a:t>
            </a:r>
          </a:p>
        </p:txBody>
      </p:sp>
    </p:spTree>
    <p:extLst>
      <p:ext uri="{BB962C8B-B14F-4D97-AF65-F5344CB8AC3E}">
        <p14:creationId xmlns:p14="http://schemas.microsoft.com/office/powerpoint/2010/main" val="10010423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BBCDE-48D0-D947-2AC3-05D8719F0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D0CA67B-0067-E27D-6859-76E0A873E67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ko-KR" sz="2800" b="1" cap="none" dirty="0" err="1">
                <a:latin typeface="Lora" pitchFamily="2" charset="0"/>
              </a:rPr>
              <a:t>Dot-product</a:t>
            </a:r>
            <a:r>
              <a:rPr lang="ko-KR" altLang="ko-KR" sz="2800" b="1" cap="none" dirty="0">
                <a:latin typeface="Lora" pitchFamily="2" charset="0"/>
              </a:rPr>
              <a:t> </a:t>
            </a:r>
            <a:r>
              <a:rPr lang="ko-KR" altLang="ko-KR" sz="2800" b="1" cap="none" dirty="0" err="1">
                <a:latin typeface="Lora" pitchFamily="2" charset="0"/>
              </a:rPr>
              <a:t>attention</a:t>
            </a:r>
            <a:r>
              <a:rPr lang="en-US" altLang="ko-KR" sz="2800" b="1" cap="none" dirty="0">
                <a:latin typeface="Lora" pitchFamily="2" charset="0"/>
              </a:rPr>
              <a:t> : </a:t>
            </a:r>
            <a:r>
              <a:rPr lang="en-US" altLang="ko-KR" sz="2800" b="1" cap="none" dirty="0" err="1">
                <a:latin typeface="Lora" pitchFamily="2" charset="0"/>
              </a:rPr>
              <a:t>Keras</a:t>
            </a:r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B07912B-8FD4-8EAC-1BAA-D3C18E409216}"/>
              </a:ext>
            </a:extLst>
          </p:cNvPr>
          <p:cNvSpPr txBox="1"/>
          <p:nvPr/>
        </p:nvSpPr>
        <p:spPr>
          <a:xfrm>
            <a:off x="537021" y="1551563"/>
            <a:ext cx="10353762" cy="4832092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as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1.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소프트맥스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함수 구현</a:t>
            </a:r>
            <a:endParaRPr lang="ko-KR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def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pPr>
              <a:buNone/>
            </a:pP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오버플로우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방지를 위해 최댓값을 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빼주는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안정적인 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소프트맥스</a:t>
            </a:r>
            <a:endParaRPr lang="ko-KR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e_x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np.exp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- 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np.max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</a:t>
            </a:r>
          </a:p>
          <a:p>
            <a:pPr>
              <a:buNone/>
            </a:pP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e_x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/ 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e_x.sum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axis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=0)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2. 점수(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Score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함수 구현: 여기서는 가장 널리 쓰이는 '내적(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Dot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Product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)’</a:t>
            </a:r>
            <a:endParaRPr lang="ko-KR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def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score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target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source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pPr>
              <a:buNone/>
            </a:pP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np.dot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target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source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ko-KR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4차원 단어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벡터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소스 단어들 (스페인어 원문 벡터 리스트)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예: ["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Te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", "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traeré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", "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", "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bolsa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"]</a:t>
            </a:r>
          </a:p>
          <a:p>
            <a:pPr>
              <a:buNone/>
            </a:pP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sources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np.array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([</a:t>
            </a:r>
          </a:p>
          <a:p>
            <a:pPr>
              <a:buNone/>
            </a:pP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[0.1, 0.2, 0.1, 0.3],  # 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Te</a:t>
            </a:r>
            <a:endParaRPr lang="ko-KR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[0.8, 0.9, 0.7, 0.9],  # 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traeré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(가져오다 - 의미적 값이 큼)</a:t>
            </a:r>
          </a:p>
          <a:p>
            <a:pPr>
              <a:buNone/>
            </a:pP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[0.2, 0.1, 0.3, 0.1],  # 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</a:t>
            </a:r>
            <a:endParaRPr lang="ko-KR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[0.5, 0.4, 0.6, 0.2]   # 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bolsa</a:t>
            </a:r>
            <a:endParaRPr lang="ko-KR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])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ko-KR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타겟 단어 (현재 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디코더가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출력하려는 영어 단어 벡터)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예: "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bring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 (가져오다)</a:t>
            </a:r>
          </a:p>
          <a:p>
            <a:pPr>
              <a:buNone/>
            </a:pP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target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np.array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([0.7, 0.8, 0.6, 0.9]) 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6D508B6-BB2E-01F1-505E-0A98CC11684A}"/>
              </a:ext>
            </a:extLst>
          </p:cNvPr>
          <p:cNvSpPr txBox="1">
            <a:spLocks/>
          </p:cNvSpPr>
          <p:nvPr/>
        </p:nvSpPr>
        <p:spPr>
          <a:xfrm>
            <a:off x="1112361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26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869466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6E55A-319D-D843-7B87-BF9001557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DF72A09-AEE7-4810-EAAD-B6E381EA6B8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ko-KR" sz="2800" b="1" cap="none" dirty="0" err="1">
                <a:latin typeface="Lora" pitchFamily="2" charset="0"/>
              </a:rPr>
              <a:t>Dot-product</a:t>
            </a:r>
            <a:r>
              <a:rPr lang="ko-KR" altLang="ko-KR" sz="2800" b="1" cap="none" dirty="0">
                <a:latin typeface="Lora" pitchFamily="2" charset="0"/>
              </a:rPr>
              <a:t> </a:t>
            </a:r>
            <a:r>
              <a:rPr lang="ko-KR" altLang="ko-KR" sz="2800" b="1" cap="none" dirty="0" err="1">
                <a:latin typeface="Lora" pitchFamily="2" charset="0"/>
              </a:rPr>
              <a:t>attention</a:t>
            </a:r>
            <a:r>
              <a:rPr lang="en-US" altLang="ko-KR" sz="2800" b="1" cap="none" dirty="0">
                <a:latin typeface="Lora" pitchFamily="2" charset="0"/>
              </a:rPr>
              <a:t> : </a:t>
            </a:r>
            <a:r>
              <a:rPr lang="en-US" altLang="ko-KR" sz="2800" b="1" cap="none" dirty="0" err="1">
                <a:latin typeface="Lora" pitchFamily="2" charset="0"/>
              </a:rPr>
              <a:t>Keras</a:t>
            </a:r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D06D37C-FFD3-3818-5D79-EADC347494B1}"/>
              </a:ext>
            </a:extLst>
          </p:cNvPr>
          <p:cNvSpPr txBox="1"/>
          <p:nvPr/>
        </p:nvSpPr>
        <p:spPr>
          <a:xfrm>
            <a:off x="572626" y="1500202"/>
            <a:ext cx="9550429" cy="4260462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1단계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어텐션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메커니즘 실행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각 소스 단어와 타겟 단어 간의 연관성 점수 계산 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ko-KR" sz="1400" b="1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raw_scores</a:t>
            </a:r>
            <a:r>
              <a:rPr lang="ko-KR" altLang="ko-KR" sz="1400" b="1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400" b="1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np.array</a:t>
            </a:r>
            <a:r>
              <a:rPr lang="ko-KR" altLang="ko-KR" sz="1400" b="1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([</a:t>
            </a:r>
            <a:r>
              <a:rPr lang="ko-KR" altLang="ko-KR" sz="1400" b="1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score</a:t>
            </a:r>
            <a:r>
              <a:rPr lang="ko-KR" altLang="ko-KR" sz="1400" b="1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400" b="1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target</a:t>
            </a:r>
            <a:r>
              <a:rPr lang="ko-KR" altLang="ko-KR" sz="1400" b="1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400" b="1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</a:t>
            </a:r>
            <a:r>
              <a:rPr lang="ko-KR" altLang="ko-KR" sz="1400" b="1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ko-KR" sz="1400" b="1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ko-KR" sz="1400" b="1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b="1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</a:t>
            </a:r>
            <a:r>
              <a:rPr lang="ko-KR" altLang="ko-KR" sz="1400" b="1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b="1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lang="ko-KR" altLang="ko-KR" sz="1400" b="1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b="1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sources</a:t>
            </a:r>
            <a:r>
              <a:rPr lang="ko-KR" altLang="ko-KR" sz="1400" b="1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])</a:t>
            </a:r>
          </a:p>
          <a:p>
            <a:pPr>
              <a:lnSpc>
                <a:spcPct val="150000"/>
              </a:lnSpc>
            </a:pP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(f"1. 날것의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어텐션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점수 (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Raw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Scores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{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raw_scores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}")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출력 결과 '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traeré'의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점수가 가장 높음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endParaRPr lang="ko-KR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2단계: 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소프트맥스를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취해 합이 1이 되는 가중치 확률로 변환</a:t>
            </a:r>
          </a:p>
          <a:p>
            <a:pPr>
              <a:lnSpc>
                <a:spcPct val="150000"/>
              </a:lnSpc>
            </a:pPr>
            <a:r>
              <a:rPr lang="ko-KR" altLang="ko-KR" sz="14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attention_weights</a:t>
            </a:r>
            <a:r>
              <a:rPr lang="ko-KR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4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r>
              <a:rPr lang="ko-KR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4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raw_scores</a:t>
            </a:r>
            <a:r>
              <a:rPr lang="ko-KR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"\n2.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소프트맥스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정규화 후 가중치 (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Attention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Weights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가중치 총합: {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np.sum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attention_weights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)}")</a:t>
            </a:r>
          </a:p>
          <a:p>
            <a:pPr>
              <a:lnSpc>
                <a:spcPct val="150000"/>
              </a:lnSpc>
            </a:pP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word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weight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zip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(["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", "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traeré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", "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", "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bolsa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"],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attention_weights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 - {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word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}: {weight:.4f}")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ko-KR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3단계: 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가중합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Weighted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Sum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구하기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원소별 곱(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scores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* 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sources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)을 한 뒤, 행(</a:t>
            </a:r>
            <a:r>
              <a:rPr lang="ko-KR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axis</a:t>
            </a:r>
            <a:r>
              <a:rPr lang="ko-K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=0) 기준으로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총합</a:t>
            </a:r>
            <a:endParaRPr lang="ko-KR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ko-KR" sz="1400" b="1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combined</a:t>
            </a:r>
            <a:r>
              <a:rPr lang="ko-KR" altLang="ko-KR" sz="1400" b="1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400" b="1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np.sum</a:t>
            </a:r>
            <a:r>
              <a:rPr lang="ko-KR" altLang="ko-KR" sz="1400" b="1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400" b="1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attention_weights</a:t>
            </a:r>
            <a:r>
              <a:rPr lang="ko-KR" altLang="ko-KR" sz="1400" b="1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[:, </a:t>
            </a:r>
            <a:r>
              <a:rPr lang="ko-KR" altLang="ko-KR" sz="1400" b="1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np.newaxis</a:t>
            </a:r>
            <a:r>
              <a:rPr lang="ko-KR" altLang="ko-KR" sz="1400" b="1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 * </a:t>
            </a:r>
            <a:r>
              <a:rPr lang="ko-KR" altLang="ko-KR" sz="1400" b="1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sources</a:t>
            </a:r>
            <a:r>
              <a:rPr lang="ko-KR" altLang="ko-KR" sz="1400" b="1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400" b="1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axis</a:t>
            </a:r>
            <a:r>
              <a:rPr lang="ko-KR" altLang="ko-KR" sz="1400" b="1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=0)</a:t>
            </a:r>
          </a:p>
          <a:p>
            <a:pPr>
              <a:lnSpc>
                <a:spcPct val="150000"/>
              </a:lnSpc>
            </a:pP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"\n3. 최종 추출된 문맥 벡터 (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Combined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Context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Vector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{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combined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}")</a:t>
            </a:r>
          </a:p>
        </p:txBody>
      </p:sp>
      <p:pic>
        <p:nvPicPr>
          <p:cNvPr id="6" name="그래픽 5" descr="배지 1 단색으로 채워진">
            <a:extLst>
              <a:ext uri="{FF2B5EF4-FFF2-40B4-BE49-F238E27FC236}">
                <a16:creationId xmlns:a16="http://schemas.microsoft.com/office/drawing/2014/main" id="{8D1A90B7-98C0-4091-55B0-6CCC630E5C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7258" y="1912376"/>
            <a:ext cx="276330" cy="276330"/>
          </a:xfrm>
          <a:prstGeom prst="rect">
            <a:avLst/>
          </a:prstGeom>
        </p:spPr>
      </p:pic>
      <p:pic>
        <p:nvPicPr>
          <p:cNvPr id="7" name="그래픽 6" descr="배지 단색으로 채워진">
            <a:extLst>
              <a:ext uri="{FF2B5EF4-FFF2-40B4-BE49-F238E27FC236}">
                <a16:creationId xmlns:a16="http://schemas.microsoft.com/office/drawing/2014/main" id="{48FB9DEE-5FDF-19C5-8AFE-697612A6DC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7258" y="3171720"/>
            <a:ext cx="276330" cy="276330"/>
          </a:xfrm>
          <a:prstGeom prst="rect">
            <a:avLst/>
          </a:prstGeom>
        </p:spPr>
      </p:pic>
      <p:pic>
        <p:nvPicPr>
          <p:cNvPr id="8" name="그래픽 7" descr="배지 3 단색으로 채워진">
            <a:extLst>
              <a:ext uri="{FF2B5EF4-FFF2-40B4-BE49-F238E27FC236}">
                <a16:creationId xmlns:a16="http://schemas.microsoft.com/office/drawing/2014/main" id="{81DAE5CF-BC30-62E7-0DC1-7E18E9F108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7258" y="5089981"/>
            <a:ext cx="276330" cy="276330"/>
          </a:xfrm>
          <a:prstGeom prst="rect">
            <a:avLst/>
          </a:prstGeom>
        </p:spPr>
      </p:pic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398B3D40-C5ED-FECB-6817-4E22B62AF0C0}"/>
              </a:ext>
            </a:extLst>
          </p:cNvPr>
          <p:cNvSpPr txBox="1">
            <a:spLocks/>
          </p:cNvSpPr>
          <p:nvPr/>
        </p:nvSpPr>
        <p:spPr>
          <a:xfrm>
            <a:off x="1112361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27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19996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B87F7-4577-3A9B-A571-304094268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85AB3F0-4EF5-C7B7-8CC5-74D81502995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ko-KR" sz="2800" b="1" cap="none" dirty="0" err="1">
                <a:latin typeface="Lora" pitchFamily="2" charset="0"/>
              </a:rPr>
              <a:t>Dot-product</a:t>
            </a:r>
            <a:r>
              <a:rPr lang="ko-KR" altLang="ko-KR" sz="2800" b="1" cap="none" dirty="0">
                <a:latin typeface="Lora" pitchFamily="2" charset="0"/>
              </a:rPr>
              <a:t> </a:t>
            </a:r>
            <a:r>
              <a:rPr lang="ko-KR" altLang="ko-KR" sz="2800" b="1" cap="none" dirty="0" err="1">
                <a:latin typeface="Lora" pitchFamily="2" charset="0"/>
              </a:rPr>
              <a:t>attention</a:t>
            </a:r>
            <a:r>
              <a:rPr lang="en-US" altLang="ko-KR" sz="2800" b="1" cap="none" dirty="0">
                <a:latin typeface="Lora" pitchFamily="2" charset="0"/>
              </a:rPr>
              <a:t> : summary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351A6D1-52D7-E7C4-E4C9-F3AF79593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75" y="1366661"/>
            <a:ext cx="4948745" cy="22296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28AC0E-2712-39EE-3B6F-D2420FAEA1A5}"/>
              </a:ext>
            </a:extLst>
          </p:cNvPr>
          <p:cNvSpPr txBox="1"/>
          <p:nvPr/>
        </p:nvSpPr>
        <p:spPr>
          <a:xfrm>
            <a:off x="1476339" y="3662917"/>
            <a:ext cx="1689897" cy="276999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[0.7, 0.8, 0.6, 0.9]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488CF9-30F3-19FA-39C6-E5D6ED8B648D}"/>
              </a:ext>
            </a:extLst>
          </p:cNvPr>
          <p:cNvSpPr txBox="1"/>
          <p:nvPr/>
        </p:nvSpPr>
        <p:spPr>
          <a:xfrm>
            <a:off x="3004785" y="5759262"/>
            <a:ext cx="2345495" cy="276999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[0.631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0.679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0.592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0.65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14489A3-B97F-4857-94C9-992DACAD2A0C}"/>
              </a:ext>
            </a:extLst>
          </p:cNvPr>
          <p:cNvSpPr/>
          <p:nvPr/>
        </p:nvSpPr>
        <p:spPr>
          <a:xfrm>
            <a:off x="1865746" y="3240628"/>
            <a:ext cx="911085" cy="3557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24CC52-E662-7DCB-F345-32678DD6EED8}"/>
              </a:ext>
            </a:extLst>
          </p:cNvPr>
          <p:cNvSpPr txBox="1"/>
          <p:nvPr/>
        </p:nvSpPr>
        <p:spPr>
          <a:xfrm>
            <a:off x="5726546" y="1366661"/>
            <a:ext cx="5838279" cy="48653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Attention Mechanism = </a:t>
            </a:r>
            <a:r>
              <a:rPr lang="ko-KR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맞춤형 문맥 가이드라인</a:t>
            </a:r>
            <a:endParaRPr lang="en-US" altLang="ko-KR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마지막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벡터는 다음 레이어로 넘겨줄 "스페인어 문장의 엑기스 요약본“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원본 스페인어 단어 중 가장 중요했던 "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traeré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 [0.8, 0.9, 0.7, 0.9]의 값과 최종 결과물 [0.63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0.67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9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0.59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0.65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]를 비교해 보세요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64.6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%라는 큰 가중치를 받았기 때문에 전체적인 모양새(수치 경향성)가 "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traeré"를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쏙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빼닮아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있지만 완전히 똑같진 않죠? 두 번째로 가중치가 높았던 "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bolsa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 [0.5, 0.4, 0.6, 0.2]의 성분도 17.6%만큼 은은하게 섞여 들어갔기 때문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즉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최종 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수치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(Context vector)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는 단순히 "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traeré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 하나만을 뜻하는 게 아니라, "지금 영어로 '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bring'을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출력하려는 순간에, 스페인어 원문에서 가져오다('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traeré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')라는 행동 정보와 가방('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bolsa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')이라는 목적어 정보를 최적의 비율로 융합해 놓은 단 하나의 벡터“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Transformer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＂군더더기(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)는 싹 걸러내고, 핵심 맥락(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traeré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bolsa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)만 정확하게 버무려진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Context vector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＂를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디코더에게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전달하면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디코더는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영어 문장 "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will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bring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bag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you"를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완벽하게 완성해 나갈 수 있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음</a:t>
            </a:r>
            <a:endParaRPr lang="ko-KR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84D2CE-F01F-7E46-26AF-CA2CC9A83760}"/>
              </a:ext>
            </a:extLst>
          </p:cNvPr>
          <p:cNvSpPr txBox="1"/>
          <p:nvPr/>
        </p:nvSpPr>
        <p:spPr>
          <a:xfrm>
            <a:off x="3644511" y="1802420"/>
            <a:ext cx="1720540" cy="83099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[0.1, 0.2, 0.1, 0.3]</a:t>
            </a: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[0.8, 0.9, 0.7, 0.9] </a:t>
            </a: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[0.2, 0.1, 0.3, 0.1] </a:t>
            </a: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[0.5, 0.4, 0.6, 0.2]</a:t>
            </a:r>
          </a:p>
        </p:txBody>
      </p: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1D5AB4D7-9798-F976-3FD7-DE3A692E74B0}"/>
              </a:ext>
            </a:extLst>
          </p:cNvPr>
          <p:cNvCxnSpPr>
            <a:cxnSpLocks/>
            <a:stCxn id="24" idx="2"/>
            <a:endCxn id="9" idx="0"/>
          </p:cNvCxnSpPr>
          <p:nvPr/>
        </p:nvCxnSpPr>
        <p:spPr>
          <a:xfrm rot="5400000">
            <a:off x="2778235" y="4032715"/>
            <a:ext cx="3125845" cy="327248"/>
          </a:xfrm>
          <a:prstGeom prst="bentConnector3">
            <a:avLst>
              <a:gd name="adj1" fmla="val 50000"/>
            </a:avLst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657DF47-A658-C852-3125-AC09F4F3C187}"/>
              </a:ext>
            </a:extLst>
          </p:cNvPr>
          <p:cNvSpPr txBox="1"/>
          <p:nvPr/>
        </p:nvSpPr>
        <p:spPr>
          <a:xfrm>
            <a:off x="2847878" y="4939305"/>
            <a:ext cx="27280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[0.0919, 0.646 , 0.0857, 0.1761]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610CD02-1A36-093E-930B-928933FA62D2}"/>
              </a:ext>
            </a:extLst>
          </p:cNvPr>
          <p:cNvSpPr txBox="1"/>
          <p:nvPr/>
        </p:nvSpPr>
        <p:spPr>
          <a:xfrm>
            <a:off x="1376178" y="4914487"/>
            <a:ext cx="16898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attention_weights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8D586B-E5DC-F053-E5A6-159ABD6EE8B3}"/>
              </a:ext>
            </a:extLst>
          </p:cNvPr>
          <p:cNvSpPr txBox="1"/>
          <p:nvPr/>
        </p:nvSpPr>
        <p:spPr>
          <a:xfrm>
            <a:off x="3290864" y="4133515"/>
            <a:ext cx="2247549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Attention Mechanism</a:t>
            </a:r>
            <a:endParaRPr lang="ko-KR" altLang="en-US" sz="1600" dirty="0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36EE169F-085C-5A95-690A-402E498FEFFA}"/>
              </a:ext>
            </a:extLst>
          </p:cNvPr>
          <p:cNvSpPr txBox="1">
            <a:spLocks/>
          </p:cNvSpPr>
          <p:nvPr/>
        </p:nvSpPr>
        <p:spPr>
          <a:xfrm>
            <a:off x="1112361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28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4B87CE-FB39-4C74-515A-7AD359F055E7}"/>
              </a:ext>
            </a:extLst>
          </p:cNvPr>
          <p:cNvSpPr txBox="1"/>
          <p:nvPr/>
        </p:nvSpPr>
        <p:spPr>
          <a:xfrm>
            <a:off x="1376178" y="5734444"/>
            <a:ext cx="16898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context vector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8904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5685C-E50D-BEBD-6B3A-46B2BAFB7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1DF0EEA-41CE-B640-7302-8DB617759E2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ko-KR" sz="2800" b="1" cap="none" dirty="0" err="1">
                <a:latin typeface="Lora" pitchFamily="2" charset="0"/>
              </a:rPr>
              <a:t>Dot-product</a:t>
            </a:r>
            <a:r>
              <a:rPr lang="ko-KR" altLang="ko-KR" sz="2800" b="1" cap="none" dirty="0">
                <a:latin typeface="Lora" pitchFamily="2" charset="0"/>
              </a:rPr>
              <a:t> </a:t>
            </a:r>
            <a:r>
              <a:rPr lang="ko-KR" altLang="ko-KR" sz="2800" b="1" cap="none" dirty="0" err="1">
                <a:latin typeface="Lora" pitchFamily="2" charset="0"/>
              </a:rPr>
              <a:t>attention</a:t>
            </a:r>
            <a:r>
              <a:rPr lang="en-US" altLang="ko-KR" sz="2800" b="1" cap="none" dirty="0">
                <a:latin typeface="Lora" pitchFamily="2" charset="0"/>
              </a:rPr>
              <a:t> vs. RNN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7ED1426-C41E-BD79-2679-DC470AF3B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266" y="2927906"/>
            <a:ext cx="3804659" cy="34689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A80E212-B6B2-A504-6A2E-DCC6C015C9DF}"/>
              </a:ext>
            </a:extLst>
          </p:cNvPr>
          <p:cNvSpPr/>
          <p:nvPr/>
        </p:nvSpPr>
        <p:spPr>
          <a:xfrm>
            <a:off x="2447926" y="3078077"/>
            <a:ext cx="655782" cy="24978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8D427B87-73DB-9D7A-1E52-8D70E976C23F}"/>
              </a:ext>
            </a:extLst>
          </p:cNvPr>
          <p:cNvCxnSpPr>
            <a:cxnSpLocks/>
            <a:stCxn id="10" idx="3"/>
            <a:endCxn id="17" idx="2"/>
          </p:cNvCxnSpPr>
          <p:nvPr/>
        </p:nvCxnSpPr>
        <p:spPr>
          <a:xfrm flipV="1">
            <a:off x="3103708" y="3641566"/>
            <a:ext cx="4621551" cy="685449"/>
          </a:xfrm>
          <a:prstGeom prst="bentConnector2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1F85ECF-26E2-67D4-E12D-AF19B5C9B784}"/>
              </a:ext>
            </a:extLst>
          </p:cNvPr>
          <p:cNvSpPr txBox="1"/>
          <p:nvPr/>
        </p:nvSpPr>
        <p:spPr>
          <a:xfrm>
            <a:off x="6001141" y="2950945"/>
            <a:ext cx="31278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attention_weights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(scores)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03CE3E-8C4C-1C43-E24E-7DA8A2D1DDEA}"/>
              </a:ext>
            </a:extLst>
          </p:cNvPr>
          <p:cNvSpPr txBox="1"/>
          <p:nvPr/>
        </p:nvSpPr>
        <p:spPr>
          <a:xfrm>
            <a:off x="6020191" y="3303012"/>
            <a:ext cx="3410136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[0.0919, 0.646 , 0.0857, 0.1761]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5B9962-25D9-08B9-5AFA-8203049ECF24}"/>
              </a:ext>
            </a:extLst>
          </p:cNvPr>
          <p:cNvSpPr txBox="1"/>
          <p:nvPr/>
        </p:nvSpPr>
        <p:spPr>
          <a:xfrm>
            <a:off x="558799" y="1251977"/>
            <a:ext cx="11007889" cy="116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트랜스포머 인코더는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RNN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처럼 입력된 문장의 모든 단어 벡터들을 중간에 하나로 뭉치지 않고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입력 문장이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100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 단어로 구성되어도 각각 독립된 형태로 메모리에 전부 유지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(ChatGPT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나 다른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모델을 쓸 때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＂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한 번에 입력할 수 있는 글자 수 제한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_Context Window)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779E95-7CCB-95C4-4EB2-22418D933952}"/>
              </a:ext>
            </a:extLst>
          </p:cNvPr>
          <p:cNvSpPr txBox="1"/>
          <p:nvPr/>
        </p:nvSpPr>
        <p:spPr>
          <a:xfrm>
            <a:off x="5772150" y="4530103"/>
            <a:ext cx="5868785" cy="200298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RNN은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아무리 긴 문장을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마지막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hidden state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에 단 하나의 고정된 가방(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Context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Vector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)에 모든 걸 억지로 밀어 넣어야 해서 긴 문장을 읽을 때 앞부분을 까먹는 한계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Transformer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는 문장의 모든 단어 벡터를 메모리에 그대로 펼쳐 놓은 뒤,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Query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Value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검색 시스템(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어텐션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)을 통해 매 순간 필요한 단어의 정보로 직접 링크를 연결하여 이 한계를 완벽하게 극복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단 메모리 폭증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30BEA13F-33AC-2946-E451-2887353AFCDA}"/>
              </a:ext>
            </a:extLst>
          </p:cNvPr>
          <p:cNvSpPr txBox="1">
            <a:spLocks/>
          </p:cNvSpPr>
          <p:nvPr/>
        </p:nvSpPr>
        <p:spPr>
          <a:xfrm>
            <a:off x="1112361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29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6754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/>
      <p:bldP spid="1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5BA04-637B-645C-99DF-7D88A1253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CF5DFFC-9095-DCA0-C08C-70FAA0EC750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Q, K, V Attention(Query, Key, Value Attention)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742539-1047-AADF-A318-E21EC294A720}"/>
              </a:ext>
            </a:extLst>
          </p:cNvPr>
          <p:cNvSpPr txBox="1"/>
          <p:nvPr/>
        </p:nvSpPr>
        <p:spPr>
          <a:xfrm>
            <a:off x="600074" y="1383864"/>
            <a:ext cx="8686801" cy="1246495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target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Query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역할 /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Key와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Value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역할을 동시에 함 (재탕)</a:t>
            </a:r>
          </a:p>
          <a:p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raw_scores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np.array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([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score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target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sources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]) # 여기서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(기준)</a:t>
            </a:r>
          </a:p>
          <a:p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attention_weights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raw_scores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# 최종 합산</a:t>
            </a:r>
          </a:p>
          <a:p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combined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np.sum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attention_weights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[:,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np.newaxis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] *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sources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axis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=0) # 여기서 또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sources</a:t>
            </a:r>
            <a:endParaRPr lang="ko-KR" altLang="en-US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B95FD4-7953-6D6C-949B-752175600DF8}"/>
              </a:ext>
            </a:extLst>
          </p:cNvPr>
          <p:cNvSpPr txBox="1"/>
          <p:nvPr/>
        </p:nvSpPr>
        <p:spPr>
          <a:xfrm>
            <a:off x="600074" y="3400425"/>
            <a:ext cx="7981952" cy="2631490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. 먼저 가중치 행렬(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)을 곱해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sources를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keys와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values로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완전히 분리해 둡니다.</a:t>
            </a:r>
          </a:p>
          <a:p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query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np.dot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target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, W_Q)</a:t>
            </a:r>
          </a:p>
          <a:p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keys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np.dot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sources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, W_K)    # 점수 매기기 전용 (기존의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score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함수 안의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대체)</a:t>
            </a:r>
          </a:p>
          <a:p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values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np.dot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sources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, W_V)  # 실제 알맹이 전용 (기존의 최종 합산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sources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대체)</a:t>
            </a:r>
          </a:p>
          <a:p>
            <a:endParaRPr lang="ko-KR" altLang="en-US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. 점수 계산 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Query와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Key를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비교)</a:t>
            </a:r>
          </a:p>
          <a:p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raw_scores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np.array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([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score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query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, k)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k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keys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]) </a:t>
            </a:r>
          </a:p>
          <a:p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attention_weights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raw_scores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ko-KR" altLang="en-US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. 최종 합산 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Value를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곱함)</a:t>
            </a:r>
          </a:p>
          <a:p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combined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np.sum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attention_weights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[:,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np.newaxis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] *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values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axis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=0)</a:t>
            </a:r>
          </a:p>
        </p:txBody>
      </p:sp>
      <p:sp>
        <p:nvSpPr>
          <p:cNvPr id="11" name="설명선: 선(강조선) 10">
            <a:extLst>
              <a:ext uri="{FF2B5EF4-FFF2-40B4-BE49-F238E27FC236}">
                <a16:creationId xmlns:a16="http://schemas.microsoft.com/office/drawing/2014/main" id="{074597CC-5B92-16E9-A4E0-1E54945799A1}"/>
              </a:ext>
            </a:extLst>
          </p:cNvPr>
          <p:cNvSpPr/>
          <p:nvPr/>
        </p:nvSpPr>
        <p:spPr>
          <a:xfrm>
            <a:off x="8975982" y="3133725"/>
            <a:ext cx="2892167" cy="2819400"/>
          </a:xfrm>
          <a:prstGeom prst="accentCallout1">
            <a:avLst>
              <a:gd name="adj1" fmla="val 18750"/>
              <a:gd name="adj2" fmla="val -8333"/>
              <a:gd name="adj3" fmla="val 22237"/>
              <a:gd name="adj4" fmla="val -13251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_Q</a:t>
            </a:r>
            <a:r>
              <a:rPr lang="ko-KR" altLang="en-US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W_K</a:t>
            </a:r>
            <a:r>
              <a:rPr lang="ko-KR" altLang="en-US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라는 학습 가능한 파라미터</a:t>
            </a:r>
            <a:r>
              <a:rPr lang="en-US" altLang="ko-KR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행렬</a:t>
            </a:r>
            <a:r>
              <a:rPr lang="en-US" altLang="ko-KR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를 가정하고 행렬 </a:t>
            </a:r>
            <a:r>
              <a:rPr lang="en-US" altLang="ko-KR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ko-KR" altLang="en-US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의 숫자가 </a:t>
            </a:r>
            <a:r>
              <a:rPr lang="ko-KR" altLang="en-US" sz="12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무엇이냐에</a:t>
            </a:r>
            <a:r>
              <a:rPr lang="ko-KR" altLang="en-US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따라 이 </a:t>
            </a:r>
            <a:r>
              <a:rPr lang="ko-KR" altLang="en-US" sz="12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어텐션</a:t>
            </a:r>
            <a:r>
              <a:rPr lang="ko-KR" altLang="en-US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모델은 데이터를 늘릴 수도</a:t>
            </a:r>
            <a:r>
              <a:rPr lang="en-US" altLang="ko-KR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회전시킬 수도</a:t>
            </a:r>
            <a:r>
              <a:rPr lang="en-US" altLang="ko-KR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특정 차원을 찌그러뜨릴 수도 </a:t>
            </a:r>
            <a:r>
              <a:rPr lang="en-US" altLang="ko-KR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r>
              <a:rPr lang="ko-KR" altLang="en-US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representation</a:t>
            </a:r>
            <a:r>
              <a:rPr lang="ko-KR" altLang="en-US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 가능하게 되어</a:t>
            </a:r>
            <a:endParaRPr lang="en-US" altLang="ko-KR" sz="1200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즉</a:t>
            </a:r>
            <a:r>
              <a:rPr lang="en-US" altLang="ko-KR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모델이 학습을 통해 표현할 수 있는 관계성의 가짓수</a:t>
            </a:r>
            <a:r>
              <a:rPr lang="en-US" altLang="ko-KR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함수의 후보들</a:t>
            </a:r>
            <a:r>
              <a:rPr lang="en-US" altLang="ko-KR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 수억</a:t>
            </a:r>
            <a:r>
              <a:rPr lang="en-US" altLang="ko-KR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수조 개로 늘어난 것입니다</a:t>
            </a:r>
            <a:r>
              <a:rPr lang="en-US" altLang="ko-KR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이것은 </a:t>
            </a:r>
            <a:r>
              <a:rPr lang="en-US" altLang="ko-KR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가설 공간을 훨씬 더 풍부하게 만들어 줌</a:t>
            </a:r>
          </a:p>
        </p:txBody>
      </p:sp>
      <p:sp>
        <p:nvSpPr>
          <p:cNvPr id="12" name="설명선: 선(강조선) 11">
            <a:extLst>
              <a:ext uri="{FF2B5EF4-FFF2-40B4-BE49-F238E27FC236}">
                <a16:creationId xmlns:a16="http://schemas.microsoft.com/office/drawing/2014/main" id="{57B4367C-8247-34B9-0338-40B441E54151}"/>
              </a:ext>
            </a:extLst>
          </p:cNvPr>
          <p:cNvSpPr/>
          <p:nvPr/>
        </p:nvSpPr>
        <p:spPr>
          <a:xfrm>
            <a:off x="9680832" y="1383864"/>
            <a:ext cx="2082544" cy="1246495"/>
          </a:xfrm>
          <a:prstGeom prst="accentCallout1">
            <a:avLst>
              <a:gd name="adj1" fmla="val 18750"/>
              <a:gd name="adj2" fmla="val -8333"/>
              <a:gd name="adj3" fmla="val 24529"/>
              <a:gd name="adj4" fmla="val -19654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고정된 </a:t>
            </a:r>
            <a:r>
              <a:rPr lang="ko-KR" altLang="en-US" sz="12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임베딩이</a:t>
            </a:r>
            <a:r>
              <a:rPr lang="ko-KR" altLang="en-US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약점</a:t>
            </a:r>
            <a:r>
              <a:rPr lang="en-US" altLang="ko-KR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apple</a:t>
            </a:r>
            <a:r>
              <a:rPr lang="ko-KR" altLang="en-US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 </a:t>
            </a:r>
            <a:r>
              <a:rPr lang="en-US" altLang="ko-KR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target</a:t>
            </a:r>
            <a:r>
              <a:rPr lang="ko-KR" altLang="en-US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인 경우에도 </a:t>
            </a:r>
            <a:r>
              <a:rPr lang="en-US" altLang="ko-KR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sources</a:t>
            </a:r>
            <a:r>
              <a:rPr lang="ko-KR" altLang="en-US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 </a:t>
            </a:r>
            <a:r>
              <a:rPr lang="ko-KR" altLang="en-US" sz="12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맥킨토시나</a:t>
            </a:r>
            <a:r>
              <a:rPr lang="en-US" altLang="ko-KR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아이폰 등과 같은 단어와 연관성을 찾기 </a:t>
            </a:r>
            <a:r>
              <a:rPr lang="ko-KR" altLang="en-US" sz="12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힘등</a:t>
            </a:r>
            <a:endParaRPr lang="ko-KR" altLang="en-US" sz="1200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화살표: 아래쪽 12">
            <a:extLst>
              <a:ext uri="{FF2B5EF4-FFF2-40B4-BE49-F238E27FC236}">
                <a16:creationId xmlns:a16="http://schemas.microsoft.com/office/drawing/2014/main" id="{D2CE9684-F397-CE45-DA5F-7FA117778FB7}"/>
              </a:ext>
            </a:extLst>
          </p:cNvPr>
          <p:cNvSpPr/>
          <p:nvPr/>
        </p:nvSpPr>
        <p:spPr>
          <a:xfrm>
            <a:off x="3495676" y="2765801"/>
            <a:ext cx="571499" cy="491749"/>
          </a:xfrm>
          <a:prstGeom prst="downArrow">
            <a:avLst>
              <a:gd name="adj1" fmla="val 52391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FBD3113B-CEE3-3AB2-CA62-3B7E2CA67ECB}"/>
              </a:ext>
            </a:extLst>
          </p:cNvPr>
          <p:cNvSpPr txBox="1">
            <a:spLocks/>
          </p:cNvSpPr>
          <p:nvPr/>
        </p:nvSpPr>
        <p:spPr>
          <a:xfrm>
            <a:off x="1112361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30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40088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CB405-D6C7-ADE4-E6C7-13622ED96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214144D-DE28-CC37-6413-8FCCB8D0D76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Q, K, V Attention (Query, Key, Value Attention)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75F6CC-0992-D203-7166-5DCEC72DD648}"/>
              </a:ext>
            </a:extLst>
          </p:cNvPr>
          <p:cNvSpPr txBox="1"/>
          <p:nvPr/>
        </p:nvSpPr>
        <p:spPr>
          <a:xfrm>
            <a:off x="575700" y="1200061"/>
            <a:ext cx="11482949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["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", "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traeré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", "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", "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bolsa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"]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고정된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입력벡터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대신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W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행렬을 통해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Query(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질문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), Key(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검색키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), Value(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내용물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3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가지 전용 벡터로 변화하여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문맥에 따라 단어 간의 훨씬 정교하고 풍부한 관계를 학습할 수 있게 한 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AB2ADE68-BE8A-4178-3BFB-88FD36E644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6390820"/>
                  </p:ext>
                </p:extLst>
              </p:nvPr>
            </p:nvGraphicFramePr>
            <p:xfrm>
              <a:off x="741681" y="2182071"/>
              <a:ext cx="10890886" cy="4127635"/>
            </p:xfrm>
            <a:graphic>
              <a:graphicData uri="http://schemas.openxmlformats.org/drawingml/2006/table">
                <a:tbl>
                  <a:tblPr/>
                  <a:tblGrid>
                    <a:gridCol w="1595119">
                      <a:extLst>
                        <a:ext uri="{9D8B030D-6E8A-4147-A177-3AD203B41FA5}">
                          <a16:colId xmlns:a16="http://schemas.microsoft.com/office/drawing/2014/main" val="2224551114"/>
                        </a:ext>
                      </a:extLst>
                    </a:gridCol>
                    <a:gridCol w="3982720">
                      <a:extLst>
                        <a:ext uri="{9D8B030D-6E8A-4147-A177-3AD203B41FA5}">
                          <a16:colId xmlns:a16="http://schemas.microsoft.com/office/drawing/2014/main" val="229012036"/>
                        </a:ext>
                      </a:extLst>
                    </a:gridCol>
                    <a:gridCol w="5313047">
                      <a:extLst>
                        <a:ext uri="{9D8B030D-6E8A-4147-A177-3AD203B41FA5}">
                          <a16:colId xmlns:a16="http://schemas.microsoft.com/office/drawing/2014/main" val="315845768"/>
                        </a:ext>
                      </a:extLst>
                    </a:gridCol>
                  </a:tblGrid>
                  <a:tr h="39856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구분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기존 </a:t>
                          </a:r>
                          <a:r>
                            <a:rPr lang="ko-KR" altLang="en-US" sz="1200" b="0" dirty="0" err="1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어텐션</a:t>
                          </a: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 </a:t>
                          </a:r>
                          <a:r>
                            <a:rPr lang="en-US" altLang="ko-KR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(</a:t>
                          </a: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단순 내적</a:t>
                          </a:r>
                          <a:r>
                            <a:rPr lang="en-US" altLang="ko-KR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, </a:t>
                          </a:r>
                          <a:r>
                            <a:rPr lang="ko-KR" altLang="ko-KR" sz="1200" b="0" kern="1200" dirty="0" err="1">
                              <a:solidFill>
                                <a:schemeClr val="tx1"/>
                              </a:solidFill>
                              <a:latin typeface="D2Coding" panose="020B0609020101020101" pitchFamily="49" charset="-127"/>
                              <a:ea typeface="D2Coding" panose="020B0609020101020101" pitchFamily="49" charset="-127"/>
                              <a:cs typeface="+mn-cs"/>
                            </a:rPr>
                            <a:t>Dot-product</a:t>
                          </a:r>
                          <a:r>
                            <a:rPr lang="ko-KR" altLang="ko-KR" sz="1200" b="0" kern="1200" dirty="0">
                              <a:solidFill>
                                <a:schemeClr val="tx1"/>
                              </a:solidFill>
                              <a:latin typeface="D2Coding" panose="020B0609020101020101" pitchFamily="49" charset="-127"/>
                              <a:ea typeface="D2Coding" panose="020B0609020101020101" pitchFamily="49" charset="-127"/>
                              <a:cs typeface="+mn-cs"/>
                            </a:rPr>
                            <a:t> </a:t>
                          </a:r>
                          <a:r>
                            <a:rPr lang="ko-KR" altLang="ko-KR" sz="1200" b="0" kern="1200" dirty="0" err="1">
                              <a:solidFill>
                                <a:schemeClr val="tx1"/>
                              </a:solidFill>
                              <a:latin typeface="D2Coding" panose="020B0609020101020101" pitchFamily="49" charset="-127"/>
                              <a:ea typeface="D2Coding" panose="020B0609020101020101" pitchFamily="49" charset="-127"/>
                              <a:cs typeface="+mn-cs"/>
                            </a:rPr>
                            <a:t>attention</a:t>
                          </a:r>
                          <a:r>
                            <a:rPr lang="en-US" altLang="ko-KR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)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ko-KR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Q, K, V </a:t>
                          </a:r>
                          <a:r>
                            <a:rPr lang="ko-KR" altLang="en-US" sz="1200" b="0" dirty="0" err="1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어텐션</a:t>
                          </a: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 </a:t>
                          </a:r>
                          <a:r>
                            <a:rPr lang="en-US" altLang="ko-KR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(W </a:t>
                          </a: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행렬 도입</a:t>
                          </a:r>
                          <a:r>
                            <a:rPr lang="en-US" altLang="ko-KR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)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2738945"/>
                      </a:ext>
                    </a:extLst>
                  </a:tr>
                  <a:tr h="55354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입력 벡터의 활용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하나의 단어 벡터 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sz="1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를 그대로 사용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단어 벡터 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sz="1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에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ko-KR" altLang="en-US" sz="1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2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ko-KR" altLang="en-US" sz="1200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sub>
                              </m:sSub>
                              <m:r>
                                <a:rPr lang="en-US" altLang="ko-KR" sz="1200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ko-KR" altLang="en-US" sz="1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2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ko-KR" altLang="en-US" sz="12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b>
                              </m:sSub>
                              <m:r>
                                <a:rPr lang="en-US" altLang="ko-KR" sz="1200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ko-KR" altLang="en-US" sz="1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2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ko-KR" altLang="en-US" sz="12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sub>
                              </m:sSub>
                            </m:oMath>
                          </a14:m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를 각각 곱해 </a:t>
                          </a:r>
                          <a:r>
                            <a:rPr lang="en-US" altLang="ko-KR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Query, Key, Value</a:t>
                          </a: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로 변환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24384018"/>
                      </a:ext>
                    </a:extLst>
                  </a:tr>
                  <a:tr h="47877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단어 표현의 유연성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단어가 가진 고정된 벡터 관계를 중심으로 유사도 측정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학습된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ko-KR" altLang="en-US" sz="1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2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ko-KR" altLang="en-US" sz="1200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sub>
                              </m:sSub>
                              <m:r>
                                <a:rPr lang="en-US" altLang="ko-KR" sz="1200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ko-KR" altLang="en-US" sz="1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2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ko-KR" altLang="en-US" sz="12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b>
                              </m:sSub>
                              <m:r>
                                <a:rPr lang="en-US" altLang="ko-KR" sz="1200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ko-KR" altLang="en-US" sz="1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2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ko-KR" altLang="en-US" sz="12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sub>
                              </m:sSub>
                            </m:oMath>
                          </a14:m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를 통해 문맥과 상황에 따라 서로 다른 관계를 학습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10125211"/>
                      </a:ext>
                    </a:extLst>
                  </a:tr>
                  <a:tr h="62302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관계 계산 방식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두 벡터의 단순 내적을 통해 관련성 계산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2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oMath>
                          </a14:m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와 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sz="12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의 내적으로 어떤 단어가 중요한지 문맥에 따라 계산하고</a:t>
                          </a:r>
                          <a:r>
                            <a:rPr lang="en-US" altLang="ko-KR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sz="12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oMath>
                          </a14:m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를 이용해 필요한 정보를 전달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00095332"/>
                      </a:ext>
                    </a:extLst>
                  </a:tr>
                  <a:tr h="32925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학습 가능한 매개변수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별도의 학습 가능한 가중치 행렬이 없음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ko-KR" altLang="en-US" sz="1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2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ko-KR" altLang="en-US" sz="1200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sub>
                              </m:sSub>
                              <m:r>
                                <a:rPr lang="en-US" altLang="ko-KR" sz="1200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ko-KR" altLang="en-US" sz="1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2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ko-KR" altLang="en-US" sz="12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b>
                              </m:sSub>
                              <m:r>
                                <a:rPr lang="en-US" altLang="ko-KR" sz="1200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ko-KR" altLang="en-US" sz="1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2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ko-KR" altLang="en-US" sz="12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sub>
                              </m:sSub>
                            </m:oMath>
                          </a14:m>
                          <a:r>
                            <a:rPr lang="ko-KR" altLang="en-US" sz="1200" b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라는 학습 가능한 가중치 행렬 존재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01062356"/>
                      </a:ext>
                    </a:extLst>
                  </a:tr>
                  <a:tr h="39873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각 벡터의 역할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하나의 벡터가 모든 역할을 담당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ko-KR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Q = </a:t>
                          </a: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질문</a:t>
                          </a:r>
                          <a:r>
                            <a:rPr lang="en-US" altLang="ko-KR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, K = </a:t>
                          </a: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검색 기준</a:t>
                          </a:r>
                          <a:r>
                            <a:rPr lang="en-US" altLang="ko-KR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, V = </a:t>
                          </a: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실제 전달할 정보로 역할 분리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32797226"/>
                      </a:ext>
                    </a:extLst>
                  </a:tr>
                  <a:tr h="39873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200" b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문맥 반영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제한적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문장 내 다른 단어 들과의 관계를 고려하여 동적으로 문맥 반영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31526133"/>
                      </a:ext>
                    </a:extLst>
                  </a:tr>
                  <a:tr h="47349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관계 학습의 표현력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비교적 단순한 관계 표현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서로</a:t>
                          </a:r>
                          <a:r>
                            <a:rPr lang="en-US" altLang="ko-KR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 </a:t>
                          </a: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다른 관점에서 관계를 학습하여 더 정교하고 풍부한 관계 표현 가능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35635667"/>
                      </a:ext>
                    </a:extLst>
                  </a:tr>
                  <a:tr h="47349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200" b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비유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명함 한 장으로 모든 일을 처리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ko-KR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Query = </a:t>
                          </a: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질문지</a:t>
                          </a:r>
                          <a:r>
                            <a:rPr lang="en-US" altLang="ko-KR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, Key = </a:t>
                          </a: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명함</a:t>
                          </a:r>
                          <a:r>
                            <a:rPr lang="en-US" altLang="ko-KR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/</a:t>
                          </a: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색인</a:t>
                          </a:r>
                          <a:r>
                            <a:rPr lang="en-US" altLang="ko-KR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, Value = </a:t>
                          </a: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본문 내용으로 역할을 분리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028493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AB2ADE68-BE8A-4178-3BFB-88FD36E644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6390820"/>
                  </p:ext>
                </p:extLst>
              </p:nvPr>
            </p:nvGraphicFramePr>
            <p:xfrm>
              <a:off x="741681" y="2182071"/>
              <a:ext cx="10890886" cy="4127635"/>
            </p:xfrm>
            <a:graphic>
              <a:graphicData uri="http://schemas.openxmlformats.org/drawingml/2006/table">
                <a:tbl>
                  <a:tblPr/>
                  <a:tblGrid>
                    <a:gridCol w="1595119">
                      <a:extLst>
                        <a:ext uri="{9D8B030D-6E8A-4147-A177-3AD203B41FA5}">
                          <a16:colId xmlns:a16="http://schemas.microsoft.com/office/drawing/2014/main" val="2224551114"/>
                        </a:ext>
                      </a:extLst>
                    </a:gridCol>
                    <a:gridCol w="3982720">
                      <a:extLst>
                        <a:ext uri="{9D8B030D-6E8A-4147-A177-3AD203B41FA5}">
                          <a16:colId xmlns:a16="http://schemas.microsoft.com/office/drawing/2014/main" val="229012036"/>
                        </a:ext>
                      </a:extLst>
                    </a:gridCol>
                    <a:gridCol w="5313047">
                      <a:extLst>
                        <a:ext uri="{9D8B030D-6E8A-4147-A177-3AD203B41FA5}">
                          <a16:colId xmlns:a16="http://schemas.microsoft.com/office/drawing/2014/main" val="315845768"/>
                        </a:ext>
                      </a:extLst>
                    </a:gridCol>
                  </a:tblGrid>
                  <a:tr h="39856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구분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기존 </a:t>
                          </a:r>
                          <a:r>
                            <a:rPr lang="ko-KR" altLang="en-US" sz="1200" b="0" dirty="0" err="1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어텐션</a:t>
                          </a: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 </a:t>
                          </a:r>
                          <a:r>
                            <a:rPr lang="en-US" altLang="ko-KR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(</a:t>
                          </a: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단순 내적</a:t>
                          </a:r>
                          <a:r>
                            <a:rPr lang="en-US" altLang="ko-KR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, </a:t>
                          </a:r>
                          <a:r>
                            <a:rPr lang="ko-KR" altLang="ko-KR" sz="1200" b="0" kern="1200" dirty="0" err="1">
                              <a:solidFill>
                                <a:schemeClr val="tx1"/>
                              </a:solidFill>
                              <a:latin typeface="D2Coding" panose="020B0609020101020101" pitchFamily="49" charset="-127"/>
                              <a:ea typeface="D2Coding" panose="020B0609020101020101" pitchFamily="49" charset="-127"/>
                              <a:cs typeface="+mn-cs"/>
                            </a:rPr>
                            <a:t>Dot-product</a:t>
                          </a:r>
                          <a:r>
                            <a:rPr lang="ko-KR" altLang="ko-KR" sz="1200" b="0" kern="1200" dirty="0">
                              <a:solidFill>
                                <a:schemeClr val="tx1"/>
                              </a:solidFill>
                              <a:latin typeface="D2Coding" panose="020B0609020101020101" pitchFamily="49" charset="-127"/>
                              <a:ea typeface="D2Coding" panose="020B0609020101020101" pitchFamily="49" charset="-127"/>
                              <a:cs typeface="+mn-cs"/>
                            </a:rPr>
                            <a:t> </a:t>
                          </a:r>
                          <a:r>
                            <a:rPr lang="ko-KR" altLang="ko-KR" sz="1200" b="0" kern="1200" dirty="0" err="1">
                              <a:solidFill>
                                <a:schemeClr val="tx1"/>
                              </a:solidFill>
                              <a:latin typeface="D2Coding" panose="020B0609020101020101" pitchFamily="49" charset="-127"/>
                              <a:ea typeface="D2Coding" panose="020B0609020101020101" pitchFamily="49" charset="-127"/>
                              <a:cs typeface="+mn-cs"/>
                            </a:rPr>
                            <a:t>attention</a:t>
                          </a:r>
                          <a:r>
                            <a:rPr lang="en-US" altLang="ko-KR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)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ko-KR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Q, K, V </a:t>
                          </a:r>
                          <a:r>
                            <a:rPr lang="ko-KR" altLang="en-US" sz="1200" b="0" dirty="0" err="1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어텐션</a:t>
                          </a: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 </a:t>
                          </a:r>
                          <a:r>
                            <a:rPr lang="en-US" altLang="ko-KR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(W </a:t>
                          </a: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행렬 도입</a:t>
                          </a:r>
                          <a:r>
                            <a:rPr lang="en-US" altLang="ko-KR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)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2738945"/>
                      </a:ext>
                    </a:extLst>
                  </a:tr>
                  <a:tr h="55354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입력 벡터의 활용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24921" marR="24921" marT="12461" marB="124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61" t="-73626" r="-133486" b="-5747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24921" marR="24921" marT="12461" marB="124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5046" t="-73626" r="-115" b="-5747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4384018"/>
                      </a:ext>
                    </a:extLst>
                  </a:tr>
                  <a:tr h="47877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단어 표현의 유연성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단어가 가진 고정된 벡터 관계를 중심으로 유사도 측정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24921" marR="24921" marT="12461" marB="124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5046" t="-202564" r="-115" b="-5705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0125211"/>
                      </a:ext>
                    </a:extLst>
                  </a:tr>
                  <a:tr h="62302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관계 계산 방식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두 벡터의 단순 내적을 통해 관련성 계산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24921" marR="24921" marT="12461" marB="124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5046" t="-229126" r="-115" b="-3320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0095332"/>
                      </a:ext>
                    </a:extLst>
                  </a:tr>
                  <a:tr h="32925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학습 가능한 매개변수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별도의 학습 가능한 가중치 행렬이 없음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24921" marR="24921" marT="12461" marB="124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5046" t="-627778" r="-115" b="-5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1062356"/>
                      </a:ext>
                    </a:extLst>
                  </a:tr>
                  <a:tr h="39873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각 벡터의 역할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하나의 벡터가 모든 역할을 담당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ko-KR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Q = </a:t>
                          </a: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질문</a:t>
                          </a:r>
                          <a:r>
                            <a:rPr lang="en-US" altLang="ko-KR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, K = </a:t>
                          </a: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검색 기준</a:t>
                          </a:r>
                          <a:r>
                            <a:rPr lang="en-US" altLang="ko-KR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, V = </a:t>
                          </a: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실제 전달할 정보로 역할 분리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32797226"/>
                      </a:ext>
                    </a:extLst>
                  </a:tr>
                  <a:tr h="39873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200" b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문맥 반영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제한적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문장 내 다른 단어 들과의 관계를 고려하여 동적으로 문맥 반영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31526133"/>
                      </a:ext>
                    </a:extLst>
                  </a:tr>
                  <a:tr h="47349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관계 학습의 표현력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비교적 단순한 관계 표현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서로</a:t>
                          </a:r>
                          <a:r>
                            <a:rPr lang="en-US" altLang="ko-KR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 </a:t>
                          </a: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다른 관점에서 관계를 학습하여 더 정교하고 풍부한 관계 표현 가능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35635667"/>
                      </a:ext>
                    </a:extLst>
                  </a:tr>
                  <a:tr h="47349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200" b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비유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명함 한 장으로 모든 일을 처리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ko-KR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Query = </a:t>
                          </a: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질문지</a:t>
                          </a:r>
                          <a:r>
                            <a:rPr lang="en-US" altLang="ko-KR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, Key = </a:t>
                          </a: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명함</a:t>
                          </a:r>
                          <a:r>
                            <a:rPr lang="en-US" altLang="ko-KR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/</a:t>
                          </a: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색인</a:t>
                          </a:r>
                          <a:r>
                            <a:rPr lang="en-US" altLang="ko-KR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, Value = </a:t>
                          </a:r>
                          <a:r>
                            <a:rPr lang="ko-KR" altLang="en-US" sz="1200" b="0" dirty="0">
                              <a:latin typeface="D2Coding" panose="020B0609020101020101" pitchFamily="49" charset="-127"/>
                              <a:ea typeface="D2Coding" panose="020B0609020101020101" pitchFamily="49" charset="-127"/>
                            </a:rPr>
                            <a:t>본문 내용으로 역할을 분리</a:t>
                          </a:r>
                        </a:p>
                      </a:txBody>
                      <a:tcPr marL="24921" marR="24921" marT="12461" marB="124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0284931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슬라이드 번호 개체 틀 3">
            <a:extLst>
              <a:ext uri="{FF2B5EF4-FFF2-40B4-BE49-F238E27FC236}">
                <a16:creationId xmlns:a16="http://schemas.microsoft.com/office/drawing/2014/main" id="{920CE8B1-ABE8-5C81-749F-A8E7321DA894}"/>
              </a:ext>
            </a:extLst>
          </p:cNvPr>
          <p:cNvSpPr txBox="1">
            <a:spLocks/>
          </p:cNvSpPr>
          <p:nvPr/>
        </p:nvSpPr>
        <p:spPr>
          <a:xfrm>
            <a:off x="1112361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31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30627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52095-7E9D-6124-A4C4-1764B4C58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8FF8E2D-0FF1-DD0A-8E12-C59DC9C6B6F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Q, K, V Attention (Query, Key, Value Attention)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4185F4A-F65C-BA94-589F-A9B38B2F0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85" y="1341332"/>
            <a:ext cx="3885304" cy="17505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AA36960-0F72-93CC-3F41-1A2431A59917}"/>
              </a:ext>
            </a:extLst>
          </p:cNvPr>
          <p:cNvSpPr txBox="1"/>
          <p:nvPr/>
        </p:nvSpPr>
        <p:spPr>
          <a:xfrm>
            <a:off x="4580458" y="1303879"/>
            <a:ext cx="7020257" cy="5262979"/>
          </a:xfrm>
          <a:prstGeom prst="rect">
            <a:avLst/>
          </a:prstGeom>
          <a:solidFill>
            <a:srgbClr val="76E3FF"/>
          </a:solidFill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2. Q, K, V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변환용 가중치 행렬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(W_Q, W_K, W_V)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모델이 학습을 통해 업데이트하는 파라미터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여기서는 무작위 값 설정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np.random.seed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(100)</a:t>
            </a:r>
          </a:p>
          <a:p>
            <a:r>
              <a:rPr lang="pl-PL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W_Q, W_K, W_V = np.random.randn(3, 4, 4)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=============Q, K, V Attention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핵심 과정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=================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=========================================================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Step 1.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고정된 벡터를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W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행렬에 곱해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Q, K, V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 변환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선형 변환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query = np.dot(target, W_Q)     # "bring"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 던지는 질문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(Query)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keys = np.dot(sources, W_K)     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스페인어 단어들의 검색용 키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(Keys)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values = np.dot(sources, W_V)   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스페인어 단어들의 실제 정보 내용물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(Values)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Step 2.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유사도 점수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(Score)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계산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(Query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Key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의 내적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raw_scores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np.array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([np.dot(query, k) for k in keys])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Step 3.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적용하여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Attention Weights 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가중치 비율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산출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def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(x):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e_x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np.exp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(x -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np.max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(x))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return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e_x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/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e_x.sum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attention_weights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raw_scores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Step 4.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최종 문맥 벡터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(Context Vector)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합성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(Value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가중합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sources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곱하는 대신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변환된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values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곱해 합산합니다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combined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np.sum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attention_weights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[:,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np.newaxis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 * values, axis=0)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CA0D0C-6857-6F9D-7D45-45106F6C1969}"/>
              </a:ext>
            </a:extLst>
          </p:cNvPr>
          <p:cNvSpPr txBox="1"/>
          <p:nvPr/>
        </p:nvSpPr>
        <p:spPr>
          <a:xfrm>
            <a:off x="591285" y="3264293"/>
            <a:ext cx="3885304" cy="2677656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as np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1.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고정된 입력 벡터 정의 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sources: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스페인어 입력 문장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sources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np.array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([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[0.1, 0.2, 0.1, 0.3],  # 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[0.8, 0.9, 0.7, 0.9],  # 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traeré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[0.2, 0.1, 0.3, 0.1],  # "la"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[0.5, 0.4, 0.6, 0.2]   # 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bolsa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target: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영어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디코더의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단어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("bring")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target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np.array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([0.7, 0.8, 0.6, 0.9])</a:t>
            </a:r>
          </a:p>
        </p:txBody>
      </p:sp>
      <p:sp>
        <p:nvSpPr>
          <p:cNvPr id="15" name="슬라이드 번호 개체 틀 3">
            <a:extLst>
              <a:ext uri="{FF2B5EF4-FFF2-40B4-BE49-F238E27FC236}">
                <a16:creationId xmlns:a16="http://schemas.microsoft.com/office/drawing/2014/main" id="{83DBF423-7C07-C014-6E38-F531491AA1FD}"/>
              </a:ext>
            </a:extLst>
          </p:cNvPr>
          <p:cNvSpPr txBox="1">
            <a:spLocks/>
          </p:cNvSpPr>
          <p:nvPr/>
        </p:nvSpPr>
        <p:spPr>
          <a:xfrm>
            <a:off x="1112361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32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19568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A6CCA-F3B1-EA7F-A5C1-9A601A93C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3E48D79-74F2-C36F-C05E-871E5EAE560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Q, K, V Attention (Query, Key, Value Attention)</a:t>
            </a:r>
          </a:p>
        </p:txBody>
      </p:sp>
      <p:sp>
        <p:nvSpPr>
          <p:cNvPr id="15" name="슬라이드 번호 개체 틀 3">
            <a:extLst>
              <a:ext uri="{FF2B5EF4-FFF2-40B4-BE49-F238E27FC236}">
                <a16:creationId xmlns:a16="http://schemas.microsoft.com/office/drawing/2014/main" id="{57F468B6-1054-E5DB-2BA3-E45963BD7C37}"/>
              </a:ext>
            </a:extLst>
          </p:cNvPr>
          <p:cNvSpPr txBox="1">
            <a:spLocks/>
          </p:cNvSpPr>
          <p:nvPr/>
        </p:nvSpPr>
        <p:spPr>
          <a:xfrm>
            <a:off x="1112361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33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2AFCD25-01C6-A250-0AB7-5023E87F9F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" y="1409326"/>
            <a:ext cx="4980943" cy="360068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7ED261-5876-5460-9865-AE4F9FDB446A}"/>
              </a:ext>
            </a:extLst>
          </p:cNvPr>
          <p:cNvSpPr txBox="1"/>
          <p:nvPr/>
        </p:nvSpPr>
        <p:spPr>
          <a:xfrm>
            <a:off x="5630109" y="1409326"/>
            <a:ext cx="6133266" cy="5001369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as np</a:t>
            </a:r>
          </a:p>
          <a:p>
            <a:pPr>
              <a:buNone/>
            </a:pPr>
            <a:endParaRPr lang="en-US" altLang="ko-KR" sz="11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1. Query (</a:t>
            </a:r>
            <a:r>
              <a:rPr lang="ko-KR" altLang="en-US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검색창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입력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): "dogs on the beach"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Query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는 검색창에 친 키워드 그 자체입니다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sz="11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query = "dogs on the beach“</a:t>
            </a:r>
          </a:p>
          <a:p>
            <a:pPr>
              <a:buNone/>
            </a:pP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2. Keys (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이미지별 검색 태그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&amp; Values (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실제 이미지 데이터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1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각 이미지의 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태그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(Key)'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실제 이미지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(Value)'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매칭해 둡니다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sz="11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keys = [["Beach", "Tree", "Boat"],   # Image 1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 태그</a:t>
            </a:r>
          </a:p>
          <a:p>
            <a:pPr>
              <a:buNone/>
            </a:pP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["Beach", "Dog", "Tree"],        # Image 2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 태그</a:t>
            </a:r>
          </a:p>
          <a:p>
            <a:pPr>
              <a:buNone/>
            </a:pP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["Dog"]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]   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                     # Image 3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 태그</a:t>
            </a:r>
            <a:endParaRPr lang="en-US" altLang="ko-KR" sz="11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1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values = ["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해변과 배 사진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해변의 개 사진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 단독 사진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"]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알맹이 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(Value)</a:t>
            </a:r>
            <a:endParaRPr lang="ko-KR" altLang="en-US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1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3. Match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점수 계산 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(Query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Keys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비교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1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그림의 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match: 0.5, 1.0, 0.5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수치 반영</a:t>
            </a:r>
          </a:p>
          <a:p>
            <a:pPr>
              <a:buNone/>
            </a:pP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match_scores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np.array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([0.5, 1.0, 0.5])</a:t>
            </a:r>
          </a:p>
          <a:p>
            <a:pPr>
              <a:buNone/>
            </a:pPr>
            <a:endParaRPr lang="en-US" altLang="ko-KR" sz="11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4.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(Attention Weights) -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점수를 비율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합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=1)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로 변환</a:t>
            </a:r>
          </a:p>
          <a:p>
            <a:pPr>
              <a:buNone/>
            </a:pP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attention_weights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match_scores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endParaRPr lang="en-US" altLang="ko-KR" sz="11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5.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최종 결과 합성 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(Value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에 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Weight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곱함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1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print("--- [</a:t>
            </a:r>
            <a:r>
              <a:rPr lang="ko-KR" altLang="en-US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어텐션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가중치 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비율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)] ---")</a:t>
            </a:r>
            <a:endParaRPr lang="ko-KR" altLang="en-US" sz="11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weight in enumerate(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attention_weights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print(f"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이미지 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{i+1} ({values[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]}): {weight*100:.1f}%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주의 집중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  <a:endParaRPr lang="ko-KR" altLang="en-US" sz="11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ko-KR" altLang="en-US" sz="11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가중치가 가장 높은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(1.0) 2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번째 이미지의 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Value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가 가장 강력하게 선택됨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!</a:t>
            </a:r>
            <a:endParaRPr lang="ko-KR" altLang="en-US" sz="11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best_image_idx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np.argmax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attention_weights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print(f"\n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최종 선택된 이미지 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(Value): '{values[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best_image_idx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]}'")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4738E7-731A-2483-1BC7-734B594AA1BD}"/>
              </a:ext>
            </a:extLst>
          </p:cNvPr>
          <p:cNvSpPr txBox="1"/>
          <p:nvPr/>
        </p:nvSpPr>
        <p:spPr>
          <a:xfrm>
            <a:off x="470321" y="5102644"/>
            <a:ext cx="50154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 i="0" dirty="0">
                <a:effectLst/>
                <a:latin typeface="Lora" pitchFamily="2" charset="0"/>
              </a:rPr>
              <a:t>Retrieving images from a database: the </a:t>
            </a:r>
            <a:r>
              <a:rPr lang="en-US" altLang="ko-KR" sz="1200" b="0" i="1" dirty="0">
                <a:effectLst/>
                <a:latin typeface="Lora" pitchFamily="2" charset="0"/>
              </a:rPr>
              <a:t>query</a:t>
            </a:r>
            <a:r>
              <a:rPr lang="en-US" altLang="ko-KR" sz="1200" b="0" i="0" dirty="0">
                <a:effectLst/>
                <a:latin typeface="Lora" pitchFamily="2" charset="0"/>
              </a:rPr>
              <a:t> is compared to a set of </a:t>
            </a:r>
            <a:r>
              <a:rPr lang="en-US" altLang="ko-KR" sz="1200" b="0" i="1" dirty="0">
                <a:effectLst/>
                <a:latin typeface="Lora" pitchFamily="2" charset="0"/>
              </a:rPr>
              <a:t>keys</a:t>
            </a:r>
            <a:r>
              <a:rPr lang="en-US" altLang="ko-KR" sz="1200" b="0" i="0" dirty="0">
                <a:effectLst/>
                <a:latin typeface="Lora" pitchFamily="2" charset="0"/>
              </a:rPr>
              <a:t>, and the match scores are used to rank </a:t>
            </a:r>
            <a:r>
              <a:rPr lang="en-US" altLang="ko-KR" sz="1200" b="0" i="1" dirty="0">
                <a:effectLst/>
                <a:latin typeface="Lora" pitchFamily="2" charset="0"/>
              </a:rPr>
              <a:t>values</a:t>
            </a:r>
            <a:r>
              <a:rPr lang="en-US" altLang="ko-KR" sz="1200" b="0" i="0" dirty="0">
                <a:effectLst/>
                <a:latin typeface="Lora" pitchFamily="2" charset="0"/>
              </a:rPr>
              <a:t> (images).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819445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72087-1466-7411-809D-CC06AA604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8F1D617-D9A1-3621-A299-26DCCACB780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  <a:hlinkClick r:id="rId2"/>
              </a:rPr>
              <a:t>Vision_Transformer</a:t>
            </a:r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15" name="슬라이드 번호 개체 틀 3">
            <a:extLst>
              <a:ext uri="{FF2B5EF4-FFF2-40B4-BE49-F238E27FC236}">
                <a16:creationId xmlns:a16="http://schemas.microsoft.com/office/drawing/2014/main" id="{978E0A24-AE03-4592-86C9-F08CDD724D56}"/>
              </a:ext>
            </a:extLst>
          </p:cNvPr>
          <p:cNvSpPr txBox="1">
            <a:spLocks/>
          </p:cNvSpPr>
          <p:nvPr/>
        </p:nvSpPr>
        <p:spPr>
          <a:xfrm>
            <a:off x="1112361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34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5EF3D0C3-9434-C7D6-AB7E-0652EB390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463" y="3662867"/>
            <a:ext cx="6853239" cy="143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">
            <a:extLst>
              <a:ext uri="{FF2B5EF4-FFF2-40B4-BE49-F238E27FC236}">
                <a16:creationId xmlns:a16="http://schemas.microsoft.com/office/drawing/2014/main" id="{7052A022-2CD6-93B1-3ED0-628E4134D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918" y="2038574"/>
            <a:ext cx="6900102" cy="1620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">
            <a:extLst>
              <a:ext uri="{FF2B5EF4-FFF2-40B4-BE49-F238E27FC236}">
                <a16:creationId xmlns:a16="http://schemas.microsoft.com/office/drawing/2014/main" id="{84DBEC53-C730-3D56-D844-C5D504A57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1887" y="2053025"/>
            <a:ext cx="4252912" cy="1476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">
            <a:extLst>
              <a:ext uri="{FF2B5EF4-FFF2-40B4-BE49-F238E27FC236}">
                <a16:creationId xmlns:a16="http://schemas.microsoft.com/office/drawing/2014/main" id="{EC04911A-33D8-C940-5E07-78C6924D5C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1887" y="3562350"/>
            <a:ext cx="4252910" cy="1476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mage">
            <a:extLst>
              <a:ext uri="{FF2B5EF4-FFF2-40B4-BE49-F238E27FC236}">
                <a16:creationId xmlns:a16="http://schemas.microsoft.com/office/drawing/2014/main" id="{5EA627A6-2E8C-60E2-1959-FE7B83CB4F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1887" y="5071675"/>
            <a:ext cx="4252910" cy="1476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age">
            <a:extLst>
              <a:ext uri="{FF2B5EF4-FFF2-40B4-BE49-F238E27FC236}">
                <a16:creationId xmlns:a16="http://schemas.microsoft.com/office/drawing/2014/main" id="{97D71D36-31D6-7F09-2B5F-4542A2A65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2" y="5077028"/>
            <a:ext cx="6837650" cy="1495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5C67F6-84E0-7DCA-6E28-0CD4476721D6}"/>
              </a:ext>
            </a:extLst>
          </p:cNvPr>
          <p:cNvSpPr txBox="1"/>
          <p:nvPr/>
        </p:nvSpPr>
        <p:spPr>
          <a:xfrm>
            <a:off x="600074" y="1210322"/>
            <a:ext cx="10982325" cy="705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Vision Transformer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모델이 텍스트의 단어들처럼 이미지를 패치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(pixel)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조각으로 쪼개어 읽을 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레이어 전체를 거쳐 최종 판단에 가장 큰 영향을 준 이미지 상의 핵심 부위가 어디인지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860F83-0BF5-6558-FF46-BBCCCB5E5058}"/>
              </a:ext>
            </a:extLst>
          </p:cNvPr>
          <p:cNvSpPr txBox="1"/>
          <p:nvPr/>
        </p:nvSpPr>
        <p:spPr>
          <a:xfrm>
            <a:off x="6677025" y="1742689"/>
            <a:ext cx="36480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https://github.com/jo1jun/Vision_Transformer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78317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AE00E-E44F-1D99-E97D-4311FD23A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A6AB8D9-DDFC-D8B0-F6F8-434F930A322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The Transformer architecture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958BC8-59BB-0296-3E25-0CE3071CA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525" y="2617391"/>
            <a:ext cx="7026249" cy="23014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DBD872-DDDB-E0F2-AE04-190D3C6A3E5B}"/>
              </a:ext>
            </a:extLst>
          </p:cNvPr>
          <p:cNvSpPr txBox="1"/>
          <p:nvPr/>
        </p:nvSpPr>
        <p:spPr>
          <a:xfrm>
            <a:off x="6966408" y="826899"/>
            <a:ext cx="46002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r">
              <a:buNone/>
            </a:pPr>
            <a:r>
              <a:rPr lang="ko-KR" altLang="ko-KR" sz="1800" b="1" i="0" dirty="0" err="1">
                <a:effectLst/>
                <a:latin typeface="Lora" pitchFamily="2" charset="0"/>
              </a:rPr>
              <a:t>Dot-product</a:t>
            </a:r>
            <a:r>
              <a:rPr lang="ko-KR" altLang="ko-KR" sz="1800" b="1" i="0" dirty="0">
                <a:effectLst/>
                <a:latin typeface="Lora" pitchFamily="2" charset="0"/>
              </a:rPr>
              <a:t> </a:t>
            </a:r>
            <a:r>
              <a:rPr lang="ko-KR" altLang="ko-KR" sz="1800" b="1" i="0" dirty="0" err="1">
                <a:effectLst/>
                <a:latin typeface="Lora" pitchFamily="2" charset="0"/>
              </a:rPr>
              <a:t>attention</a:t>
            </a:r>
            <a:endParaRPr lang="ko-KR" altLang="ko-KR" sz="1800" b="1" i="0" dirty="0">
              <a:effectLst/>
              <a:latin typeface="Lora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617B8C7-E240-B5E9-E7A9-CE591A6C1875}"/>
                  </a:ext>
                </a:extLst>
              </p:cNvPr>
              <p:cNvSpPr txBox="1"/>
              <p:nvPr/>
            </p:nvSpPr>
            <p:spPr>
              <a:xfrm>
                <a:off x="542924" y="1286727"/>
                <a:ext cx="11134725" cy="879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입력되는 벡터의 차원을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D2Coding" panose="020B0609020101020101" pitchFamily="49" charset="-127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D2Coding" panose="020B0609020101020101" pitchFamily="49" charset="-127"/>
                          </a:rPr>
                          <m:t>𝑑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D2Coding" panose="020B0609020101020101" pitchFamily="49" charset="-127"/>
                          </a:rPr>
                          <m:t>𝑚𝑜𝑑𝑒𝑙</m:t>
                        </m:r>
                      </m:sub>
                    </m:sSub>
                  </m:oMath>
                </a14:m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이라 하고, 우리가 투영(</a:t>
                </a:r>
                <a:r>
                  <a:rPr lang="ko-KR" altLang="en-US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Projection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)시켜서 보낼 새로운 공간의 차원을 각각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D2Coding" panose="020B0609020101020101" pitchFamily="49" charset="-127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D2Coding" panose="020B0609020101020101" pitchFamily="49" charset="-127"/>
                          </a:rPr>
                          <m:t>𝑑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D2Coding" panose="020B0609020101020101" pitchFamily="49" charset="-127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</a:t>
                </a:r>
                <a:r>
                  <a:rPr lang="ko-KR" altLang="en-US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Query와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ko-KR" altLang="en-US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Key의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차원),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D2Coding" panose="020B0609020101020101" pitchFamily="49" charset="-127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D2Coding" panose="020B0609020101020101" pitchFamily="49" charset="-127"/>
                          </a:rPr>
                          <m:t>𝑑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D2Coding" panose="020B0609020101020101" pitchFamily="49" charset="-127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</a:t>
                </a:r>
                <a:r>
                  <a:rPr lang="ko-KR" altLang="en-US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Value의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차원)라고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하면 각 가중치 행렬의 </a:t>
                </a:r>
                <a:r>
                  <a:rPr lang="ko-KR" altLang="en-US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Shape은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다음과 같음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7E46BD3-B69B-B7AC-E23D-0DC0C491E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24" y="1286727"/>
                <a:ext cx="11134725" cy="879984"/>
              </a:xfrm>
              <a:prstGeom prst="rect">
                <a:avLst/>
              </a:prstGeom>
              <a:blipFill>
                <a:blip r:embed="rId3"/>
                <a:stretch>
                  <a:fillRect l="-438" b="-104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4EDFD82D-509C-0F30-2226-5AB284CFA379}"/>
              </a:ext>
            </a:extLst>
          </p:cNvPr>
          <p:cNvSpPr txBox="1"/>
          <p:nvPr/>
        </p:nvSpPr>
        <p:spPr>
          <a:xfrm>
            <a:off x="2028825" y="5190295"/>
            <a:ext cx="2028825" cy="116249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Deep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Learning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이 학습하여 최적의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parameters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찾기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!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2F1FA4E-3BF9-6C50-7B89-2CD32AB6D6F1}"/>
              </a:ext>
            </a:extLst>
          </p:cNvPr>
          <p:cNvSpPr/>
          <p:nvPr/>
        </p:nvSpPr>
        <p:spPr>
          <a:xfrm>
            <a:off x="1933574" y="3019425"/>
            <a:ext cx="2124076" cy="203835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B490D21-0B86-8798-E38F-69C82A7792C7}"/>
              </a:ext>
            </a:extLst>
          </p:cNvPr>
          <p:cNvSpPr txBox="1">
            <a:spLocks/>
          </p:cNvSpPr>
          <p:nvPr/>
        </p:nvSpPr>
        <p:spPr>
          <a:xfrm>
            <a:off x="1112361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35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2242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D0BDF-C167-0276-F333-6493FB0C3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6B9E82E-2365-75E6-DB9F-2A53B94107C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The Transformer architecture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777C00-5634-18D8-500C-B1B4670E4BA8}"/>
                  </a:ext>
                </a:extLst>
              </p:cNvPr>
              <p:cNvSpPr txBox="1"/>
              <p:nvPr/>
            </p:nvSpPr>
            <p:spPr>
              <a:xfrm>
                <a:off x="625311" y="1196231"/>
                <a:ext cx="10810875" cy="2717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ko-KR" altLang="en-US" sz="1600" b="1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스케일링</a:t>
                </a:r>
                <a:r>
                  <a:rPr lang="en-US" altLang="ko-KR" sz="1600" b="1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ko-KR" sz="1600" b="1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ko-KR" sz="16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1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ko-KR" sz="1600" b="1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rad>
                  </m:oMath>
                </a14:m>
                <a:r>
                  <a:rPr lang="ko-KR" altLang="en-US" sz="1600" b="1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로 나누기</a:t>
                </a:r>
                <a:r>
                  <a:rPr lang="en-US" altLang="ko-KR" sz="1600" b="1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):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en-US" altLang="ko-KR" sz="1600" b="1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Scaled Dot-Product Attention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1600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어텐션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점수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(Query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와 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Key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의 내적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) 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값이 너무 커지면 </a:t>
                </a:r>
                <a:r>
                  <a:rPr lang="ko-KR" altLang="en-US" sz="1600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소프트맥스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함수 특성상 </a:t>
                </a:r>
                <a:r>
                  <a:rPr lang="ko-KR" altLang="en-US" sz="1600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미분값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(gradient)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이 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0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에 가까워져 학습이 안 되는 문제를 방지하기 위해 차원 수의 제곱근으로 점수를 낮춰주는 것</a:t>
                </a:r>
                <a:endParaRPr lang="en-US" altLang="ko-KR" sz="1600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  <a:p>
                <a:pPr lvl="1">
                  <a:lnSpc>
                    <a:spcPct val="150000"/>
                  </a:lnSpc>
                </a:pPr>
                <a:endParaRPr lang="en-US" altLang="ko-KR" sz="1600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  <a:p>
                <a:pPr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ko-KR" altLang="en-US" sz="1600" b="1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멀티 헤드 </a:t>
                </a:r>
                <a:r>
                  <a:rPr lang="ko-KR" altLang="en-US" sz="1600" b="1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어텐션</a:t>
                </a:r>
                <a:r>
                  <a:rPr lang="en-US" altLang="ko-KR" sz="1600" b="1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(Multi-Head Attention)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하나의 </a:t>
                </a:r>
                <a:r>
                  <a:rPr lang="ko-KR" altLang="en-US" sz="1600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어텐션만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쓰면 여러 중요한 정보가 한데 섞여 </a:t>
                </a:r>
                <a:r>
                  <a:rPr lang="ko-KR" altLang="en-US" sz="1600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뭉개지므로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, 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마치 여러 명의 전문가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(Heads)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가 각자 다른 관점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파라미터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)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으로 문장을 분석하게 한 뒤 의견을 종합하는 방식</a:t>
                </a:r>
                <a:endParaRPr lang="en-US" altLang="ko-KR" sz="1600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777C00-5634-18D8-500C-B1B4670E4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311" y="1196231"/>
                <a:ext cx="10810875" cy="2717732"/>
              </a:xfrm>
              <a:prstGeom prst="rect">
                <a:avLst/>
              </a:prstGeom>
              <a:blipFill>
                <a:blip r:embed="rId2"/>
                <a:stretch>
                  <a:fillRect l="-282" b="-17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F9B4EB5B-3787-FEE7-CA61-683BB9358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010" y="4014236"/>
            <a:ext cx="5446492" cy="238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설명선: 선(강조선) 7">
            <a:extLst>
              <a:ext uri="{FF2B5EF4-FFF2-40B4-BE49-F238E27FC236}">
                <a16:creationId xmlns:a16="http://schemas.microsoft.com/office/drawing/2014/main" id="{692EB135-7323-7885-16BE-43CE88CE441D}"/>
              </a:ext>
            </a:extLst>
          </p:cNvPr>
          <p:cNvSpPr/>
          <p:nvPr/>
        </p:nvSpPr>
        <p:spPr>
          <a:xfrm>
            <a:off x="7282653" y="4120295"/>
            <a:ext cx="3309148" cy="2175032"/>
          </a:xfrm>
          <a:prstGeom prst="accentCallout1">
            <a:avLst>
              <a:gd name="adj1" fmla="val 18750"/>
              <a:gd name="adj2" fmla="val -8333"/>
              <a:gd name="adj3" fmla="val 44512"/>
              <a:gd name="adj4" fmla="val -81042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 1 (</a:t>
            </a:r>
            <a:r>
              <a:rPr lang="ko-KR" altLang="en-US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주어 전문가</a:t>
            </a:r>
            <a:r>
              <a:rPr lang="en-US" altLang="ko-KR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): "</a:t>
            </a:r>
            <a:r>
              <a:rPr lang="ko-KR" altLang="en-US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나는 이 문장에서 </a:t>
            </a:r>
            <a:r>
              <a:rPr lang="en-US" altLang="ko-KR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누가</a:t>
            </a:r>
            <a:r>
              <a:rPr lang="en-US" altLang="ko-KR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주어</a:t>
            </a:r>
            <a:r>
              <a:rPr lang="en-US" altLang="ko-KR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)' </a:t>
            </a:r>
            <a:r>
              <a:rPr lang="ko-KR" altLang="en-US" sz="12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행동했는지에만</a:t>
            </a:r>
            <a:r>
              <a:rPr lang="ko-KR" altLang="en-US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집중해서 점수를 매기겠어</a:t>
            </a:r>
            <a:r>
              <a:rPr lang="en-US" altLang="ko-KR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altLang="ko-KR" sz="1200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 2 (</a:t>
            </a:r>
            <a:r>
              <a:rPr lang="ko-KR" altLang="en-US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문장 부호 전문가</a:t>
            </a:r>
            <a:r>
              <a:rPr lang="en-US" altLang="ko-KR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): "</a:t>
            </a:r>
            <a:r>
              <a:rPr lang="ko-KR" altLang="en-US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나는 문장의 흐름이 어디서 끊기는지 </a:t>
            </a:r>
            <a:r>
              <a:rPr lang="en-US" altLang="ko-KR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마침표나 쉼표</a:t>
            </a:r>
            <a:r>
              <a:rPr lang="en-US" altLang="ko-KR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의 관계만 보겠어</a:t>
            </a:r>
            <a:r>
              <a:rPr lang="en-US" altLang="ko-KR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altLang="ko-KR" sz="1200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 3 (</a:t>
            </a:r>
            <a:r>
              <a:rPr lang="ko-KR" altLang="en-US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동사 전문가</a:t>
            </a:r>
            <a:r>
              <a:rPr lang="en-US" altLang="ko-KR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): "</a:t>
            </a:r>
            <a:r>
              <a:rPr lang="ko-KR" altLang="en-US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나는 </a:t>
            </a:r>
            <a:r>
              <a:rPr lang="en-US" altLang="ko-KR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행동</a:t>
            </a:r>
            <a:r>
              <a:rPr lang="en-US" altLang="ko-KR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동사</a:t>
            </a:r>
            <a:r>
              <a:rPr lang="en-US" altLang="ko-KR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)'</a:t>
            </a:r>
            <a:r>
              <a:rPr lang="ko-KR" altLang="en-US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의 연관성만 </a:t>
            </a:r>
            <a:r>
              <a:rPr lang="ko-KR" altLang="en-US" sz="12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추적하겠어</a:t>
            </a:r>
            <a:r>
              <a:rPr lang="en-US" altLang="ko-KR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  <a:endParaRPr lang="ko-KR" altLang="en-US" sz="1200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EA1539D-AE19-11AE-D57A-FDC6D97048A1}"/>
              </a:ext>
            </a:extLst>
          </p:cNvPr>
          <p:cNvSpPr txBox="1">
            <a:spLocks/>
          </p:cNvSpPr>
          <p:nvPr/>
        </p:nvSpPr>
        <p:spPr>
          <a:xfrm>
            <a:off x="1112361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36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63839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058E7-2E75-6BED-6DB1-CBC2C6512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77ACB4F-4DB5-2C50-48C1-492B76C920C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The Transformer architecture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8AC6F2-B4C2-727B-91AE-BB7CB491850A}"/>
              </a:ext>
            </a:extLst>
          </p:cNvPr>
          <p:cNvSpPr txBox="1"/>
          <p:nvPr/>
        </p:nvSpPr>
        <p:spPr>
          <a:xfrm>
            <a:off x="6966408" y="826899"/>
            <a:ext cx="46002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b="1" dirty="0">
                <a:latin typeface="Lora" pitchFamily="2" charset="0"/>
              </a:rPr>
              <a:t>Transformer encoder block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358746-50B3-AD72-1BE9-1601D4720F4B}"/>
              </a:ext>
            </a:extLst>
          </p:cNvPr>
          <p:cNvSpPr txBox="1"/>
          <p:nvPr/>
        </p:nvSpPr>
        <p:spPr>
          <a:xfrm>
            <a:off x="618171" y="1247854"/>
            <a:ext cx="10948518" cy="1711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과거 (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Cross-Attention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): 스페인어 원문(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Source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)과 영어 번역문(Target)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처럼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서로 다른 두 문장 사이에서 짝을 맞추는 용도로 사용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트랜스포머 (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Self-Attention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query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key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value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자리에 전부 동일한 하나의 문장을 입력하여 문장 스스로가 문장 내부의 다른 단어들과 연관성을 계산하는 방식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6C6FF8-C357-278E-5E1B-BE80BEA89434}"/>
              </a:ext>
            </a:extLst>
          </p:cNvPr>
          <p:cNvSpPr txBox="1"/>
          <p:nvPr/>
        </p:nvSpPr>
        <p:spPr>
          <a:xfrm>
            <a:off x="1243085" y="3343803"/>
            <a:ext cx="10323603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"The train left the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station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on time."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이제 이 문장 속의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"station＂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은 어떤 종류의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station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대해 말하고 있는 걸까요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 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-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라디오 방송국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(radio station)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일까요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 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-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국제우주정거장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(International Space Station)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일까요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 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셀프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어텐션을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이용하면 모델은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"station"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"train"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쌍에 높은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어텐션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점수를 부여하는 법을 배울 수 있으며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"train"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표현하는 데 사용된 벡터를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"station"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이라는 단어의 표현 속에 합산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(summing)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해 넣을 수 있음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35F972-70E1-67C5-E33B-950E900B9191}"/>
              </a:ext>
            </a:extLst>
          </p:cNvPr>
          <p:cNvSpPr txBox="1">
            <a:spLocks/>
          </p:cNvSpPr>
          <p:nvPr/>
        </p:nvSpPr>
        <p:spPr>
          <a:xfrm>
            <a:off x="1112361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37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0729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51AB6-C939-8353-8B90-093C02A59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200C2E9-B33E-45AB-6008-39876A11BBC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The Transformer architecture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F50FCA0-74CA-59E9-49B2-523F3FBD13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6008" y="1704975"/>
            <a:ext cx="5333630" cy="453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8A27231-6C4F-B665-7F95-4CE0235D7609}"/>
              </a:ext>
            </a:extLst>
          </p:cNvPr>
          <p:cNvSpPr txBox="1">
            <a:spLocks/>
          </p:cNvSpPr>
          <p:nvPr/>
        </p:nvSpPr>
        <p:spPr>
          <a:xfrm>
            <a:off x="1112361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D2Coding" panose="020B0609020101020101" pitchFamily="49" charset="-127"/>
                <a:ea typeface="D2Coding" panose="020B0609020101020101" pitchFamily="49" charset="-127"/>
              </a:rPr>
              <a:pPr/>
              <a:t>38</a:t>
            </a:fld>
            <a:endParaRPr 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7972858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9203</TotalTime>
  <Words>5716</Words>
  <Application>Microsoft Office PowerPoint</Application>
  <PresentationFormat>와이드스크린</PresentationFormat>
  <Paragraphs>483</Paragraphs>
  <Slides>38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8" baseType="lpstr">
      <vt:lpstr>D2Coding</vt:lpstr>
      <vt:lpstr>맑은 고딕</vt:lpstr>
      <vt:lpstr>Batang</vt:lpstr>
      <vt:lpstr>Arial</vt:lpstr>
      <vt:lpstr>Calibri Light</vt:lpstr>
      <vt:lpstr>Cambria Math</vt:lpstr>
      <vt:lpstr>Lora</vt:lpstr>
      <vt:lpstr>Times New Roman</vt:lpstr>
      <vt:lpstr>Wingdings</vt:lpstr>
      <vt:lpstr>WelcomeDoc</vt:lpstr>
      <vt:lpstr>Chapter 15  Language models and the Transformer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Sequence-to-sequence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Transformer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157</cp:revision>
  <dcterms:created xsi:type="dcterms:W3CDTF">2026-04-06T01:00:39Z</dcterms:created>
  <dcterms:modified xsi:type="dcterms:W3CDTF">2026-10-14T12:13:54Z</dcterms:modified>
  <cp:version/>
</cp:coreProperties>
</file>