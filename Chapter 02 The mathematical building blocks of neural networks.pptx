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1135" r:id="rId3"/>
    <p:sldId id="1144" r:id="rId4"/>
    <p:sldId id="1146" r:id="rId5"/>
    <p:sldId id="1147" r:id="rId6"/>
    <p:sldId id="1148" r:id="rId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44"/>
            <p14:sldId id="1146"/>
            <p14:sldId id="1147"/>
            <p14:sldId id="114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6869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hyperlink" Target="https://deeplearningwithpython.io/chapters/chapter02_mathematical-building-blocks/" TargetMode="Externa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 fontScale="90000"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2 </a:t>
            </a:r>
            <a:br>
              <a:rPr lang="en-US" altLang="ko-KR" sz="4400" dirty="0">
                <a:solidFill>
                  <a:schemeClr val="bg1"/>
                </a:solidFill>
              </a:rPr>
            </a:b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000" dirty="0">
                <a:solidFill>
                  <a:schemeClr val="bg1"/>
                </a:solidFill>
              </a:rPr>
              <a:t>The mathematical building blocks of neural networks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577530" y="1248422"/>
            <a:ext cx="11233469" cy="29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High-level definitions of fundamental concepts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A soft introduction to the principles behind machine learning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/>
              <a:t>Deep learning’s rising popularity and future potential</a:t>
            </a: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BC892-601E-1AA8-C846-9F4AAFE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 first look at a neural network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ED817DB-A798-0F4A-C19F-93C22A2D0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200275"/>
            <a:ext cx="90487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D5B9D5-C203-7E49-0F82-AAB1FC1CC3D5}"/>
              </a:ext>
            </a:extLst>
          </p:cNvPr>
          <p:cNvSpPr txBox="1"/>
          <p:nvPr/>
        </p:nvSpPr>
        <p:spPr>
          <a:xfrm>
            <a:off x="666750" y="42012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MNIST sample digits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568E-BB0A-E6FA-390F-63519107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667B48-5B62-68A0-1660-CFDEA541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DA588E4-0C77-11C8-5DC4-F3AE9EF788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 geometric interpretation of deep learning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A6A21AA-3C7B-7BBE-2090-DA22F965E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2171700"/>
            <a:ext cx="88582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D001D8-9362-68FC-DE19-9DBC61DF92D4}"/>
              </a:ext>
            </a:extLst>
          </p:cNvPr>
          <p:cNvSpPr txBox="1"/>
          <p:nvPr/>
        </p:nvSpPr>
        <p:spPr>
          <a:xfrm>
            <a:off x="1666875" y="480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Uncrumpling a complicated manifold of data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83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C73B-DA8F-7135-751E-12C7FA33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0BDC9-6B93-B4D5-318A-B7AD7512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79BEF9F-C89A-FF1C-CDCF-39304765EC9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The engine of neural networks: Gradient-based optimization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085F34-4C13-D248-BB7F-41FBD84F56FD}"/>
              </a:ext>
            </a:extLst>
          </p:cNvPr>
          <p:cNvSpPr txBox="1"/>
          <p:nvPr/>
        </p:nvSpPr>
        <p:spPr>
          <a:xfrm>
            <a:off x="619125" y="1577459"/>
            <a:ext cx="6096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output </a:t>
            </a:r>
            <a:r>
              <a:rPr lang="en-US" altLang="ko-KR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matmul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W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i="0" dirty="0">
                <a:solidFill>
                  <a:srgbClr val="9A6E3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</a:t>
            </a:r>
            <a:r>
              <a:rPr lang="en-US" altLang="ko-KR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3A682-0FDA-F164-4082-489945B8E719}"/>
              </a:ext>
            </a:extLst>
          </p:cNvPr>
          <p:cNvSpPr txBox="1"/>
          <p:nvPr/>
        </p:nvSpPr>
        <p:spPr>
          <a:xfrm>
            <a:off x="619125" y="2280761"/>
            <a:ext cx="11106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and </a:t>
            </a:r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are tensors that are attributes of the layer. They’re called the </a:t>
            </a:r>
            <a:r>
              <a:rPr lang="en-US" altLang="ko-KR" b="0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weights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or </a:t>
            </a:r>
            <a:r>
              <a:rPr lang="en-US" altLang="ko-KR" b="0" i="1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trainable parameters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of the layer (the </a:t>
            </a:r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and </a:t>
            </a:r>
            <a:r>
              <a:rPr lang="en-US" altLang="ko-KR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attributes, respectively). These weights contain the information learned by the model from exposure to training data.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4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480F-3C70-FF1C-7A46-5D94F89F5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8362E9-4066-A7EA-C960-F947A839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BB28688-7113-61E7-6758-4A28C94FB8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en-US" altLang="ko-KR" sz="2800" b="1" cap="none" dirty="0">
              <a:latin typeface="Lora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138444-2120-277B-AC42-EBDE89FC9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1494775"/>
            <a:ext cx="5897877" cy="4881242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C66BDFD4-0A9D-839C-2FC5-E240A9E2091E}"/>
              </a:ext>
            </a:extLst>
          </p:cNvPr>
          <p:cNvSpPr txBox="1">
            <a:spLocks/>
          </p:cNvSpPr>
          <p:nvPr/>
        </p:nvSpPr>
        <p:spPr>
          <a:xfrm>
            <a:off x="537021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Exercise</a:t>
            </a:r>
          </a:p>
        </p:txBody>
      </p:sp>
      <p:pic>
        <p:nvPicPr>
          <p:cNvPr id="10" name="그래픽 9" descr="조금 굽은 줄 화살표">
            <a:extLst>
              <a:ext uri="{FF2B5EF4-FFF2-40B4-BE49-F238E27FC236}">
                <a16:creationId xmlns:a16="http://schemas.microsoft.com/office/drawing/2014/main" id="{88A1E73E-7E20-5753-D541-4078951BF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8525" y="2066925"/>
            <a:ext cx="914400" cy="914400"/>
          </a:xfrm>
          <a:prstGeom prst="rect">
            <a:avLst/>
          </a:prstGeom>
        </p:spPr>
      </p:pic>
      <p:pic>
        <p:nvPicPr>
          <p:cNvPr id="11" name="그래픽 10" descr="조금 굽은 줄 화살표">
            <a:extLst>
              <a:ext uri="{FF2B5EF4-FFF2-40B4-BE49-F238E27FC236}">
                <a16:creationId xmlns:a16="http://schemas.microsoft.com/office/drawing/2014/main" id="{BAD56559-28FF-7498-7AB5-2D0EA5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8525" y="512186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3C0833-4C52-A9A6-291B-0FDD94504F3C}"/>
              </a:ext>
            </a:extLst>
          </p:cNvPr>
          <p:cNvSpPr txBox="1"/>
          <p:nvPr/>
        </p:nvSpPr>
        <p:spPr>
          <a:xfrm>
            <a:off x="8237223" y="3882316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실습</a:t>
            </a:r>
          </a:p>
        </p:txBody>
      </p:sp>
      <p:pic>
        <p:nvPicPr>
          <p:cNvPr id="13" name="그래픽 12" descr="조금 굽은 줄 화살표">
            <a:extLst>
              <a:ext uri="{FF2B5EF4-FFF2-40B4-BE49-F238E27FC236}">
                <a16:creationId xmlns:a16="http://schemas.microsoft.com/office/drawing/2014/main" id="{2AD679E1-E086-ED8F-AA39-5D3AB04E1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8525" y="3594393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256A0F-A593-63D7-1CCC-5FDA61493D26}"/>
              </a:ext>
            </a:extLst>
          </p:cNvPr>
          <p:cNvSpPr txBox="1"/>
          <p:nvPr/>
        </p:nvSpPr>
        <p:spPr>
          <a:xfrm>
            <a:off x="8237223" y="2354848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본문만 읽기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선형대수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Linear Algebra)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B1CA51-75D9-9B8E-11EF-0C3E3E0A5455}"/>
              </a:ext>
            </a:extLst>
          </p:cNvPr>
          <p:cNvSpPr txBox="1"/>
          <p:nvPr/>
        </p:nvSpPr>
        <p:spPr>
          <a:xfrm>
            <a:off x="8237222" y="5409784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Full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</a:p>
        </p:txBody>
      </p:sp>
      <p:pic>
        <p:nvPicPr>
          <p:cNvPr id="17" name="그래픽 16" descr="축구">
            <a:extLst>
              <a:ext uri="{FF2B5EF4-FFF2-40B4-BE49-F238E27FC236}">
                <a16:creationId xmlns:a16="http://schemas.microsoft.com/office/drawing/2014/main" id="{93D9F8F2-9584-82E8-BBF6-DBE48E20D4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03259" y="456614"/>
            <a:ext cx="693416" cy="69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1006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8178</TotalTime>
  <Words>148</Words>
  <Application>Microsoft Office PowerPoint</Application>
  <PresentationFormat>와이드스크린</PresentationFormat>
  <Paragraphs>27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D2Coding</vt:lpstr>
      <vt:lpstr>맑은 고딕</vt:lpstr>
      <vt:lpstr>Batang</vt:lpstr>
      <vt:lpstr>Arial</vt:lpstr>
      <vt:lpstr>Lora</vt:lpstr>
      <vt:lpstr>Wingdings</vt:lpstr>
      <vt:lpstr>WelcomeDoc</vt:lpstr>
      <vt:lpstr>Chapter 2   The mathematical building blocks of neural networks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138</cp:revision>
  <dcterms:created xsi:type="dcterms:W3CDTF">2026-04-06T01:00:39Z</dcterms:created>
  <dcterms:modified xsi:type="dcterms:W3CDTF">2026-09-03T12:03:46Z</dcterms:modified>
  <cp:version/>
</cp:coreProperties>
</file>