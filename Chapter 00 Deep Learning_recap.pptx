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56" r:id="rId2"/>
    <p:sldId id="930" r:id="rId3"/>
    <p:sldId id="1099" r:id="rId4"/>
    <p:sldId id="958" r:id="rId5"/>
    <p:sldId id="970" r:id="rId6"/>
    <p:sldId id="946" r:id="rId7"/>
    <p:sldId id="1100" r:id="rId8"/>
    <p:sldId id="984" r:id="rId9"/>
    <p:sldId id="852" r:id="rId10"/>
    <p:sldId id="988" r:id="rId11"/>
    <p:sldId id="974" r:id="rId12"/>
    <p:sldId id="997" r:id="rId13"/>
    <p:sldId id="1101" r:id="rId14"/>
    <p:sldId id="1002" r:id="rId15"/>
    <p:sldId id="993" r:id="rId16"/>
    <p:sldId id="1098" r:id="rId17"/>
    <p:sldId id="1102" r:id="rId18"/>
    <p:sldId id="978" r:id="rId19"/>
    <p:sldId id="973" r:id="rId20"/>
    <p:sldId id="977" r:id="rId21"/>
    <p:sldId id="986" r:id="rId22"/>
    <p:sldId id="1103" r:id="rId23"/>
    <p:sldId id="954" r:id="rId24"/>
    <p:sldId id="882" r:id="rId25"/>
    <p:sldId id="883" r:id="rId26"/>
    <p:sldId id="886" r:id="rId27"/>
    <p:sldId id="1104" r:id="rId28"/>
    <p:sldId id="1092" r:id="rId29"/>
    <p:sldId id="1093" r:id="rId30"/>
    <p:sldId id="1072" r:id="rId31"/>
    <p:sldId id="1073" r:id="rId32"/>
    <p:sldId id="987" r:id="rId33"/>
    <p:sldId id="968" r:id="rId34"/>
    <p:sldId id="1105" r:id="rId35"/>
    <p:sldId id="1089" r:id="rId36"/>
    <p:sldId id="1085" r:id="rId37"/>
    <p:sldId id="1106" r:id="rId38"/>
    <p:sldId id="272" r:id="rId39"/>
    <p:sldId id="273" r:id="rId40"/>
    <p:sldId id="270" r:id="rId41"/>
    <p:sldId id="271" r:id="rId42"/>
    <p:sldId id="274" r:id="rId43"/>
    <p:sldId id="269" r:id="rId44"/>
    <p:sldId id="275" r:id="rId45"/>
    <p:sldId id="1107" r:id="rId4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930"/>
            <p14:sldId id="1099"/>
            <p14:sldId id="958"/>
            <p14:sldId id="970"/>
            <p14:sldId id="946"/>
            <p14:sldId id="1100"/>
            <p14:sldId id="984"/>
            <p14:sldId id="852"/>
            <p14:sldId id="988"/>
            <p14:sldId id="974"/>
            <p14:sldId id="997"/>
            <p14:sldId id="1101"/>
            <p14:sldId id="1002"/>
            <p14:sldId id="993"/>
            <p14:sldId id="1098"/>
            <p14:sldId id="1102"/>
            <p14:sldId id="978"/>
            <p14:sldId id="973"/>
            <p14:sldId id="977"/>
            <p14:sldId id="986"/>
            <p14:sldId id="1103"/>
            <p14:sldId id="954"/>
            <p14:sldId id="882"/>
            <p14:sldId id="883"/>
            <p14:sldId id="886"/>
            <p14:sldId id="1104"/>
            <p14:sldId id="1092"/>
            <p14:sldId id="1093"/>
            <p14:sldId id="1072"/>
            <p14:sldId id="1073"/>
            <p14:sldId id="987"/>
            <p14:sldId id="968"/>
            <p14:sldId id="1105"/>
            <p14:sldId id="1089"/>
            <p14:sldId id="1085"/>
            <p14:sldId id="1106"/>
            <p14:sldId id="272"/>
            <p14:sldId id="273"/>
            <p14:sldId id="270"/>
            <p14:sldId id="271"/>
            <p14:sldId id="274"/>
            <p14:sldId id="269"/>
            <p14:sldId id="275"/>
            <p14:sldId id="110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DD462F"/>
    <a:srgbClr val="404040"/>
    <a:srgbClr val="FF9B45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413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6149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2026-07-08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2509-A687-85EC-3956-9A0A7F71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9EDB7-56A6-39E2-AD6D-AEE8C09A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B3BD2-007D-29AD-630B-B58C7F774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F7988-991C-6E3E-0AAD-4AC2004A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949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1A2E-C2F0-DC97-0EA6-A6FA9930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89E6CB-FD0C-964A-F5C0-E244A9FF4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573AAD-E74F-5BCC-3C1D-4819C21F7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F0306-46A7-AC69-CD30-6AF963E25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231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E9381-AD37-61AD-E9AB-821A7F93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C53905-F80D-8DB0-6CAC-2AE2305F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7F1A17-329B-9D9C-701E-DC947207C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10C56-7DD0-CBC7-F983-23483BBFC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618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E1F0-3060-EEFC-178D-BFD9B0C2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732584-F87F-DBDD-68FC-BA9E52C3A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C83A38-1EFF-26DE-6BF0-D2FCE8357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E83B6-9EBF-E2FD-CD68-2B41247DC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8778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AE1E5-DD18-B7F8-A0D9-8482F25E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614062-8B62-5328-4DD6-ABC253E77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A9FEAE-153F-6110-F0F8-582662919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C8146-E0FB-FBDA-BA45-3E7E70AA5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34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B731-EFE9-D7A5-3631-BA11E658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30C58A-052B-8930-11DD-C3144E8F9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5705EB-BB0A-21E6-BAC7-B67BDE5F2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B26B0-7603-65A0-EF98-BE296485F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060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3844-3903-175E-0DE6-28323784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B45FB0-EEAB-8DA9-22FE-A4EC8BE80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A26690-58E3-DF72-B5D8-357A90FC2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0B63C0-B662-D924-0615-3A3D0CBE1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220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C0C2-973F-DE63-4C3C-0054EDA8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6C4ED5-9489-8E34-C768-ABB216579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91DDFC-6297-AA55-6734-F8FFECE25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C8EE3-B7AC-BB77-0044-2D83630FF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6778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58F7-5F3A-6690-5EE8-E87C257C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4B0770-5C70-8F6A-2D8D-F499FE7AE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4C637-A408-7122-170A-346A2F38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40E65-7F57-4622-5720-C9A563CAB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7493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F5D0-C04B-3291-9B91-EFBB6DE3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F14C60-E517-0B9C-87A0-744BC0E22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67C385-3E2E-E870-9DBF-D13E63AF7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FEB7D-1C99-79FB-E3EB-82C632258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0957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5650-9BE8-51E4-45B0-6CC4EC87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775A53-BA10-CC4C-0FD7-9A05BBCE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F9564-7015-92A0-DE91-51DF0DE0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016B6E-46FA-490C-ADC4-BFD4E53E6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965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DAF-507D-30A7-4D36-4B1C3987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7D58A-F007-F03D-80A7-47BA8340E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2AEEE-7901-9BD8-0C5A-D040E79A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7704-7EE3-7F57-8A60-1BD9BBB3C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533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327D-FD14-C3F3-CB16-6DAFD84D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E10565-F602-5BF3-30B3-4AA1D1F0B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D735D6-6918-C074-EE42-537E6F38F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A6AA6-BF2F-F3E1-2F28-646150342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474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F1B2-C174-E815-D409-0A3F77E5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2F3EB6-6D78-86EC-C34E-AC16F6838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03FFD-0CAF-439F-9645-8DFDBEEC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B9B655-4B54-32DD-0A1C-BBBE25F5C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2106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560D-60B5-CBEE-2F03-3A123D20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AF83A-0425-14D8-7169-A42513D0E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D1CB96-AE80-F4E7-D3FD-BA86D28B9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8AF8D-086C-219C-9037-D25A219E2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6788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9ACB1-5943-85E2-19CE-B7D872D0B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6E539B-B26F-4E72-88F8-1ED86193A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26878-F63D-1A0C-3317-91A849E02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3DFE5-6CFF-5363-5BD1-192886175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10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2026-07-08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2026-07-08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ancestor9/mathematics-for-machine-learning/blob/main/excel/stochasti%20gradient%20descent.xlsx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s://github.com/ancestor9/mathematics-for-machine-learning/blob/main/scripts/w4_stochastic_gradient_descent.ipynb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41.png"/><Relationship Id="rId3" Type="http://schemas.openxmlformats.org/officeDocument/2006/relationships/image" Target="../media/image640.png"/><Relationship Id="rId7" Type="http://schemas.openxmlformats.org/officeDocument/2006/relationships/image" Target="../media/image680.png"/><Relationship Id="rId12" Type="http://schemas.openxmlformats.org/officeDocument/2006/relationships/image" Target="../media/image730.png"/><Relationship Id="rId2" Type="http://schemas.openxmlformats.org/officeDocument/2006/relationships/hyperlink" Target="https://github.com/ancestor9/mathematics-for-machine-learning/blob/main/excel/stochasti%20gradient%20descent.xlsx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0.png"/><Relationship Id="rId11" Type="http://schemas.openxmlformats.org/officeDocument/2006/relationships/image" Target="../media/image18.png"/><Relationship Id="rId5" Type="http://schemas.openxmlformats.org/officeDocument/2006/relationships/image" Target="../media/image660.png"/><Relationship Id="rId10" Type="http://schemas.openxmlformats.org/officeDocument/2006/relationships/image" Target="../media/image710.png"/><Relationship Id="rId4" Type="http://schemas.openxmlformats.org/officeDocument/2006/relationships/image" Target="../media/image650.pn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8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s://www.101ai.net/nnet/backprop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excel/stochasti%20gradient%20descent.xlsx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hyperlink" Target="https://docs.pytorch.org/tutorials/beginner/basics/quickstart_tutorial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ped.ai/blog/cosine-similarity-not-the-silver-bullet-we-thought-it-was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rojector.tensorflow.org/" TargetMode="External"/><Relationship Id="rId5" Type="http://schemas.openxmlformats.org/officeDocument/2006/relationships/image" Target="../media/image67.png"/><Relationship Id="rId4" Type="http://schemas.openxmlformats.org/officeDocument/2006/relationships/hyperlink" Target="https://word2vec.kr/search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 Recap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3867-2510-7649-E7B5-1E72CAE6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E9B65AA-C3F3-147A-EBE3-ECA92901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Goals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AA23A0F-5651-9A9E-2053-9E4164366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60CF9-92EE-44B5-F8B8-0506E0067B62}"/>
              </a:ext>
            </a:extLst>
          </p:cNvPr>
          <p:cNvSpPr txBox="1"/>
          <p:nvPr/>
        </p:nvSpPr>
        <p:spPr>
          <a:xfrm>
            <a:off x="1221219" y="1948334"/>
            <a:ext cx="10008756" cy="2055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딥러닝의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핵심인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경사하강법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(Gradient Descent Algorithm)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모델을 이해하고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Perceptron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관련성을 활성화함수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(activation function),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심층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Layer. batch,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(Backpropagation)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등을 통해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ANN(Artificial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Neural Network)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구조를 파악한 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backward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기능으로 딥러닝 코드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(from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scratch,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optimizer, model)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36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260C-C84D-C232-2931-7A27EB29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82EB371-732C-5C96-1E1E-E572F973C1BF}"/>
              </a:ext>
            </a:extLst>
          </p:cNvPr>
          <p:cNvSpPr/>
          <p:nvPr/>
        </p:nvSpPr>
        <p:spPr>
          <a:xfrm>
            <a:off x="781627" y="1869818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332890D-62E4-E657-FEED-B5D62840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4F1DF52-51F9-90E2-7401-989BA2F4B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B89F4-E5F8-9266-654E-F2ED5AD82887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117569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2B94-E098-6BEA-3052-DD8E91F8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3BC25-A2E9-D93A-4820-90A92286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5B770CE-C0D0-41B8-616D-4A7A95E2C6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Stochastic Gradient Descent Algorithm(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/>
              </a:rPr>
              <a:t>sgd.xlsx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5AA7C4-A787-42EC-8403-2ADB14EE8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5" y="1604437"/>
            <a:ext cx="5381131" cy="39848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C6645B1-FA5F-DFFA-7F41-0AADE5D706B0}"/>
              </a:ext>
            </a:extLst>
          </p:cNvPr>
          <p:cNvSpPr/>
          <p:nvPr/>
        </p:nvSpPr>
        <p:spPr>
          <a:xfrm>
            <a:off x="2905919" y="2156425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구부러진 연결선 11">
            <a:extLst>
              <a:ext uri="{FF2B5EF4-FFF2-40B4-BE49-F238E27FC236}">
                <a16:creationId xmlns:a16="http://schemas.microsoft.com/office/drawing/2014/main" id="{D2E8ABF2-FD97-9482-CAB5-B0141AA2DCF4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3124616" y="2458456"/>
            <a:ext cx="2896815" cy="27581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417B34-C254-4F01-49E2-FF64AD86F2F5}"/>
              </a:ext>
            </a:extLst>
          </p:cNvPr>
          <p:cNvSpPr txBox="1"/>
          <p:nvPr/>
        </p:nvSpPr>
        <p:spPr>
          <a:xfrm>
            <a:off x="7620514" y="1434004"/>
            <a:ext cx="2648935" cy="888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Let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=0,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y_hat =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 +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ko-KR" altLang="en-US" sz="1200">
                <a:latin typeface="Arial Narrow" panose="020B0606020202030204" pitchFamily="34" charset="0"/>
                <a:ea typeface="맑은 고딕" panose="020B0503020000020004" pitchFamily="50" charset="-127"/>
              </a:rPr>
              <a:t>* 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X(instance)   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error = y_hat - y</a:t>
            </a:r>
            <a:endParaRPr lang="ko-KR" altLang="en-US" sz="1200">
              <a:latin typeface="Arial Narrow" panose="020B0606020202030204" pitchFamily="34" charset="0"/>
            </a:endParaRPr>
          </a:p>
        </p:txBody>
      </p:sp>
      <p:pic>
        <p:nvPicPr>
          <p:cNvPr id="12" name="_x422600552" descr="DRW00004be805ca">
            <a:extLst>
              <a:ext uri="{FF2B5EF4-FFF2-40B4-BE49-F238E27FC236}">
                <a16:creationId xmlns:a16="http://schemas.microsoft.com/office/drawing/2014/main" id="{4EADB233-588F-C11C-5B9E-AAE593EB7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501" y="1604437"/>
            <a:ext cx="2362060" cy="54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14E7CD-C67B-3A4D-7F2F-3D06D53F15BD}"/>
              </a:ext>
            </a:extLst>
          </p:cNvPr>
          <p:cNvSpPr/>
          <p:nvPr/>
        </p:nvSpPr>
        <p:spPr>
          <a:xfrm>
            <a:off x="6200911" y="2414721"/>
            <a:ext cx="1478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Recursive iterations</a:t>
            </a:r>
            <a:endParaRPr lang="ko-KR" altLang="en-US" sz="1400" u="sng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D23006-5A11-5A2D-AB80-34067D6B26BE}"/>
              </a:ext>
            </a:extLst>
          </p:cNvPr>
          <p:cNvSpPr/>
          <p:nvPr/>
        </p:nvSpPr>
        <p:spPr>
          <a:xfrm>
            <a:off x="6266634" y="1266956"/>
            <a:ext cx="1346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Initialized settings</a:t>
            </a:r>
            <a:endParaRPr lang="ko-KR" altLang="en-US" sz="1400" u="sng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F7763A0-5F10-90F8-CA2D-7DCBCCC4DC68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6940056" y="1574733"/>
            <a:ext cx="0" cy="83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1489412-AE07-CA87-6810-2F75A3E32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096" y="4535612"/>
            <a:ext cx="5346757" cy="150064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19B963-2A8F-570B-8ADF-E216636CC975}"/>
              </a:ext>
            </a:extLst>
          </p:cNvPr>
          <p:cNvSpPr/>
          <p:nvPr/>
        </p:nvSpPr>
        <p:spPr>
          <a:xfrm>
            <a:off x="3588200" y="2136863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구부러진 연결선 24">
            <a:extLst>
              <a:ext uri="{FF2B5EF4-FFF2-40B4-BE49-F238E27FC236}">
                <a16:creationId xmlns:a16="http://schemas.microsoft.com/office/drawing/2014/main" id="{C9588AE1-5A12-75C5-1093-D747904B6E4F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4533700" y="1712092"/>
            <a:ext cx="1241319" cy="25562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3BDFB097-4555-EF5C-B891-91D987324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486" y="2864884"/>
            <a:ext cx="5254874" cy="149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8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B7E8-B3A7-FF21-5480-DC3A3EAB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2BC70-D57D-EEF5-DC69-826FD9B8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07CE7DD-C1AA-1B94-76C5-A133AAA325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C0C27-BF30-17B6-8611-0466BFA8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66" y="2617573"/>
            <a:ext cx="5524466" cy="36421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AD90B98-B534-CE1E-4664-22109CC86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509" y="2617573"/>
            <a:ext cx="3010047" cy="204953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4BF5BD5-920A-1FD2-1CB3-E878BBAE3D97}"/>
              </a:ext>
            </a:extLst>
          </p:cNvPr>
          <p:cNvSpPr txBox="1"/>
          <p:nvPr/>
        </p:nvSpPr>
        <p:spPr>
          <a:xfrm>
            <a:off x="561974" y="1248422"/>
            <a:ext cx="11334751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손실함수에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미분 값은 어느 방향으로 갈지 알려주고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 rate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얼마나 갈지 조절하여 주며 오차가 줄어드는 방향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반대 방향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빼기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이동하는 것을 데이터 샘플마다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마다 반복하면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α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β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점점 최적 값에 수렴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F3420-B60D-A0AB-406C-314060F97DB8}"/>
              </a:ext>
            </a:extLst>
          </p:cNvPr>
          <p:cNvSpPr txBox="1"/>
          <p:nvPr/>
        </p:nvSpPr>
        <p:spPr>
          <a:xfrm>
            <a:off x="6772275" y="5504135"/>
            <a:ext cx="3010048" cy="57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손실함수를 각각 미분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하면 엑셀파일의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error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컬럼의 수식과 동일 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3C44E182-C676-7470-220F-30A25F83B508}"/>
              </a:ext>
            </a:extLst>
          </p:cNvPr>
          <p:cNvSpPr/>
          <p:nvPr/>
        </p:nvSpPr>
        <p:spPr>
          <a:xfrm>
            <a:off x="6503394" y="4667110"/>
            <a:ext cx="268881" cy="1124091"/>
          </a:xfrm>
          <a:prstGeom prst="rightBrace">
            <a:avLst>
              <a:gd name="adj1" fmla="val 6317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2F6344-F0AB-2549-CF51-F499889F7A73}"/>
              </a:ext>
            </a:extLst>
          </p:cNvPr>
          <p:cNvCxnSpPr/>
          <p:nvPr/>
        </p:nvCxnSpPr>
        <p:spPr>
          <a:xfrm flipV="1">
            <a:off x="6772275" y="3642341"/>
            <a:ext cx="1095375" cy="405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52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C0AD-3AB3-5407-547E-AEDB97A5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EACAD-2DA9-7882-C5FE-170D5745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E437DBA-F9C0-72D0-8FCB-9F1F8774153F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F72B0-F5E5-AE3C-97C3-695C729CF417}"/>
              </a:ext>
            </a:extLst>
          </p:cNvPr>
          <p:cNvSpPr txBox="1"/>
          <p:nvPr/>
        </p:nvSpPr>
        <p:spPr>
          <a:xfrm>
            <a:off x="924444" y="2313008"/>
            <a:ext cx="2701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stochastic_gradient_descent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Fitting a line batch by batch. The loss decreases and the weights approach their true values.">
            <a:extLst>
              <a:ext uri="{FF2B5EF4-FFF2-40B4-BE49-F238E27FC236}">
                <a16:creationId xmlns:a16="http://schemas.microsoft.com/office/drawing/2014/main" id="{FFD30AC7-690D-B68B-FBDA-E352845E2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4" y="2651562"/>
            <a:ext cx="9999532" cy="374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8F6135-E0C8-4ED3-386F-31501C547AA0}"/>
              </a:ext>
            </a:extLst>
          </p:cNvPr>
          <p:cNvSpPr txBox="1"/>
          <p:nvPr/>
        </p:nvSpPr>
        <p:spPr>
          <a:xfrm>
            <a:off x="537021" y="1457088"/>
            <a:ext cx="1132247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Fitted Line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여러 직선식은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마다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fitting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되는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 line)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73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BED1-BFF5-4B78-3632-2FEFD3AF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59FF1A2-DFB9-34A0-A504-8654F87A19BF}"/>
              </a:ext>
            </a:extLst>
          </p:cNvPr>
          <p:cNvSpPr/>
          <p:nvPr/>
        </p:nvSpPr>
        <p:spPr>
          <a:xfrm>
            <a:off x="781627" y="237464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14C243BB-6F9D-801C-9D6D-2EA82D8A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662B68D-A1A3-834B-4C3F-CCA02875A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0079C-81BF-2099-B0CB-B4824BA67F81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148860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2FAC-8B02-DA13-DAE8-966A3227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EC2E-5196-074D-322B-509B171E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2D5A94B-E061-E099-9B4C-9E9A6E951E3C}"/>
              </a:ext>
            </a:extLst>
          </p:cNvPr>
          <p:cNvSpPr txBox="1">
            <a:spLocks/>
          </p:cNvSpPr>
          <p:nvPr/>
        </p:nvSpPr>
        <p:spPr>
          <a:xfrm>
            <a:off x="523270" y="653433"/>
            <a:ext cx="10353762" cy="519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single feature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856092-EDD6-EC9C-D886-71ADC1243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11" y="3104579"/>
            <a:ext cx="5805481" cy="2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C2383A87-F863-3AFA-D1FB-6DEE152802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Simple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단일변수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 single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  <a:blipFill>
                <a:blip r:embed="rId3"/>
                <a:stretch>
                  <a:fillRect l="-399" t="-2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B4876512-3D48-91AA-A13B-93244032FA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88379" y="3380613"/>
            <a:ext cx="1824265" cy="435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58EB2E36-0D6F-AB9C-80C5-D24974DE3DB1}"/>
              </a:ext>
            </a:extLst>
          </p:cNvPr>
          <p:cNvGrpSpPr/>
          <p:nvPr/>
        </p:nvGrpSpPr>
        <p:grpSpPr>
          <a:xfrm>
            <a:off x="5960736" y="2976946"/>
            <a:ext cx="5303753" cy="2942019"/>
            <a:chOff x="6513186" y="2510221"/>
            <a:chExt cx="5303753" cy="294201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3C12CD5-543E-BB21-54C6-DCE133E172FE}"/>
                </a:ext>
              </a:extLst>
            </p:cNvPr>
            <p:cNvGrpSpPr/>
            <p:nvPr/>
          </p:nvGrpSpPr>
          <p:grpSpPr>
            <a:xfrm>
              <a:off x="6513186" y="3349535"/>
              <a:ext cx="5288289" cy="2102705"/>
              <a:chOff x="4608186" y="4222810"/>
              <a:chExt cx="5288289" cy="210270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22CDF3-5DD6-F66C-C35A-EAE2B1C39BC7}"/>
                  </a:ext>
                </a:extLst>
              </p:cNvPr>
              <p:cNvSpPr txBox="1"/>
              <p:nvPr/>
            </p:nvSpPr>
            <p:spPr>
              <a:xfrm>
                <a:off x="7009199" y="5986961"/>
                <a:ext cx="288727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+mj-ea"/>
                  </a:rPr>
                  <a:t>(n, 1) = (n, 1) @ (1, 1) + (n,1)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99E39E23-5161-FCAB-8AA6-8E20DB1ECC0F}"/>
                  </a:ext>
                </a:extLst>
              </p:cNvPr>
              <p:cNvGrpSpPr/>
              <p:nvPr/>
            </p:nvGrpSpPr>
            <p:grpSpPr>
              <a:xfrm>
                <a:off x="4608186" y="4222810"/>
                <a:ext cx="5288289" cy="1822532"/>
                <a:chOff x="4961700" y="4115748"/>
                <a:chExt cx="4509666" cy="1554191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23D3747-96E8-F6F2-6F50-C27559716D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9199" y="4115748"/>
                  <a:ext cx="2462167" cy="1554191"/>
                </a:xfrm>
                <a:prstGeom prst="rect">
                  <a:avLst/>
                </a:prstGeom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5C5C93A0-F36E-96AC-940F-DD74C468C3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61700" y="4636720"/>
                  <a:ext cx="1917954" cy="256124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6DF7F2-12DB-7355-3986-58EFD56012A5}"/>
                </a:ext>
              </a:extLst>
            </p:cNvPr>
            <p:cNvSpPr txBox="1"/>
            <p:nvPr/>
          </p:nvSpPr>
          <p:spPr>
            <a:xfrm>
              <a:off x="9515475" y="2510221"/>
              <a:ext cx="23014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/>
                <a:t>Matrix Formulation</a:t>
              </a:r>
              <a:endParaRPr lang="ko-KR" altLang="en-US" sz="16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2D65160-C9B6-110E-9ECA-B23CFE20B8CC}"/>
              </a:ext>
            </a:extLst>
          </p:cNvPr>
          <p:cNvSpPr txBox="1"/>
          <p:nvPr/>
        </p:nvSpPr>
        <p:spPr>
          <a:xfrm>
            <a:off x="2503055" y="4386166"/>
            <a:ext cx="40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0200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270-A613-BE98-819E-33BAE79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3AD91-9546-54D2-90A5-EBC10903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DADF338-872C-BF9C-68A7-5537D71ED3F3}"/>
              </a:ext>
            </a:extLst>
          </p:cNvPr>
          <p:cNvSpPr txBox="1">
            <a:spLocks/>
          </p:cNvSpPr>
          <p:nvPr/>
        </p:nvSpPr>
        <p:spPr>
          <a:xfrm>
            <a:off x="561370" y="615334"/>
            <a:ext cx="10353762" cy="5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multiple features</a:t>
            </a:r>
            <a:endParaRPr lang="ko-KR" altLang="en-US" sz="2800" cap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</a:t>
                </a:r>
                <a:r>
                  <a:rPr lang="en-US" altLang="ko-KR" sz="18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Mutiple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다중변수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(multiple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  <a:blipFill>
                <a:blip r:embed="rId2"/>
                <a:stretch>
                  <a:fillRect l="-399" t="-2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52D6F70-4FDF-23ED-F1D3-92D182B7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2624259"/>
            <a:ext cx="6054374" cy="32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B00755-4DB1-2290-0D18-9768794AE216}"/>
              </a:ext>
            </a:extLst>
          </p:cNvPr>
          <p:cNvSpPr txBox="1"/>
          <p:nvPr/>
        </p:nvSpPr>
        <p:spPr>
          <a:xfrm>
            <a:off x="7944345" y="5243953"/>
            <a:ext cx="397903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휴먼옛체" panose="02030504000101010101" pitchFamily="18" charset="-127"/>
                <a:ea typeface="휴먼옛체" panose="02030504000101010101" pitchFamily="18" charset="-127"/>
                <a:cs typeface="맑은 고딕 Semilight" panose="020B0502040204020203" pitchFamily="50" charset="-127"/>
              </a:rPr>
              <a:t>(n, 1)   =   (n, 3) @ (3, 1)       +  (n,1)</a:t>
            </a:r>
            <a:endParaRPr lang="ko-KR" altLang="en-US" sz="1600" dirty="0">
              <a:latin typeface="휴먼옛체" panose="02030504000101010101" pitchFamily="18" charset="-127"/>
              <a:ea typeface="휴먼옛체" panose="02030504000101010101" pitchFamily="18" charset="-127"/>
              <a:cs typeface="맑은 고딕 Semilight" panose="020B0502040204020203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AF9DB-ABDC-0C64-5932-6FEDD3D030B8}"/>
              </a:ext>
            </a:extLst>
          </p:cNvPr>
          <p:cNvSpPr txBox="1"/>
          <p:nvPr/>
        </p:nvSpPr>
        <p:spPr>
          <a:xfrm>
            <a:off x="8667037" y="2624259"/>
            <a:ext cx="2476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Matrix Formulation</a:t>
            </a:r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5D8B4D-97A1-8C20-11EB-B9303DFAC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354" y="3573619"/>
            <a:ext cx="4172517" cy="15551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79EF01-D57D-603E-DF74-20AFD0602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220" y="3170262"/>
            <a:ext cx="3021634" cy="4033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580D25-A326-79AF-8BEB-82A610205982}"/>
              </a:ext>
            </a:extLst>
          </p:cNvPr>
          <p:cNvSpPr txBox="1"/>
          <p:nvPr/>
        </p:nvSpPr>
        <p:spPr>
          <a:xfrm>
            <a:off x="4433714" y="304350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B973A4-BB2F-89A0-144B-F1083641FB50}"/>
              </a:ext>
            </a:extLst>
          </p:cNvPr>
          <p:cNvCxnSpPr>
            <a:cxnSpLocks/>
          </p:cNvCxnSpPr>
          <p:nvPr/>
        </p:nvCxnSpPr>
        <p:spPr>
          <a:xfrm>
            <a:off x="4325015" y="3006620"/>
            <a:ext cx="115584" cy="5357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0496E7-7A1A-4360-7E78-37EC0CEDD0E3}"/>
                  </a:ext>
                </a:extLst>
              </p:cNvPr>
              <p:cNvSpPr txBox="1"/>
              <p:nvPr/>
            </p:nvSpPr>
            <p:spPr>
              <a:xfrm>
                <a:off x="3907241" y="2625449"/>
                <a:ext cx="7296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b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0496E7-7A1A-4360-7E78-37EC0CEDD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241" y="2625449"/>
                <a:ext cx="72967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73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9BFE-49D7-574E-C129-957F2C23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5DC6CD-EBCB-D35A-A7AE-7294F7D1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1FF0B4B-7793-E514-358D-D1BA70DA9969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Recap :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Percetron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= simple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C5D0CF-AE7B-3A3F-7E3A-A8B2970A10DB}"/>
              </a:ext>
            </a:extLst>
          </p:cNvPr>
          <p:cNvSpPr txBox="1"/>
          <p:nvPr/>
        </p:nvSpPr>
        <p:spPr>
          <a:xfrm>
            <a:off x="544320" y="1224192"/>
            <a:ext cx="11392317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sgd.xlsx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입력변수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(5,1) 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 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구조로 아래와 같이 설정하고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데이터를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개씩 입력하여 최종 예측 결과인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실제 값의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차이의 제곱을 최소화하는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a, b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찾는 과정 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5217D06-30A4-CE06-3738-BF261C5E2678}"/>
              </a:ext>
            </a:extLst>
          </p:cNvPr>
          <p:cNvSpPr/>
          <p:nvPr/>
        </p:nvSpPr>
        <p:spPr>
          <a:xfrm>
            <a:off x="5263926" y="3515240"/>
            <a:ext cx="840286" cy="8402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C8572B-97CA-C333-CD3B-76E722D1B9B9}"/>
                  </a:ext>
                </a:extLst>
              </p:cNvPr>
              <p:cNvSpPr txBox="1"/>
              <p:nvPr/>
            </p:nvSpPr>
            <p:spPr>
              <a:xfrm>
                <a:off x="4785601" y="2774368"/>
                <a:ext cx="1706399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latinLnBrk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C8572B-97CA-C333-CD3B-76E722D1B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01" y="2774368"/>
                <a:ext cx="1706399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D423EE6-C918-F311-380F-E9FA1D062375}"/>
              </a:ext>
            </a:extLst>
          </p:cNvPr>
          <p:cNvCxnSpPr>
            <a:cxnSpLocks/>
            <a:stCxn id="19" idx="0"/>
            <a:endCxn id="19" idx="4"/>
          </p:cNvCxnSpPr>
          <p:nvPr/>
        </p:nvCxnSpPr>
        <p:spPr>
          <a:xfrm>
            <a:off x="5684069" y="3515240"/>
            <a:ext cx="0" cy="8402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9FEEF38-324F-0593-546E-CDFA90C60E5E}"/>
              </a:ext>
            </a:extLst>
          </p:cNvPr>
          <p:cNvGrpSpPr/>
          <p:nvPr/>
        </p:nvGrpSpPr>
        <p:grpSpPr>
          <a:xfrm>
            <a:off x="2962544" y="2386853"/>
            <a:ext cx="2376814" cy="3330552"/>
            <a:chOff x="3305444" y="2386853"/>
            <a:chExt cx="2376814" cy="3330552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E5B0194-4379-CEFE-15AC-E1CC9C7CDA34}"/>
                </a:ext>
              </a:extLst>
            </p:cNvPr>
            <p:cNvCxnSpPr>
              <a:cxnSpLocks/>
              <a:stCxn id="3" idx="6"/>
              <a:endCxn id="19" idx="2"/>
            </p:cNvCxnSpPr>
            <p:nvPr/>
          </p:nvCxnSpPr>
          <p:spPr>
            <a:xfrm>
              <a:off x="3383459" y="3924230"/>
              <a:ext cx="2223367" cy="1115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B41539A-E268-F490-CC02-5C475E24698F}"/>
                </a:ext>
              </a:extLst>
            </p:cNvPr>
            <p:cNvSpPr/>
            <p:nvPr/>
          </p:nvSpPr>
          <p:spPr>
            <a:xfrm>
              <a:off x="3905777" y="4899425"/>
              <a:ext cx="840284" cy="8179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1</a:t>
              </a:r>
              <a:endParaRPr lang="ko-KR" altLang="en-US" sz="1200" b="1" dirty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23B24C2-28A6-4D10-0B3A-B029DC9411F4}"/>
                </a:ext>
              </a:extLst>
            </p:cNvPr>
            <p:cNvCxnSpPr>
              <a:cxnSpLocks/>
              <a:stCxn id="10" idx="7"/>
              <a:endCxn id="19" idx="3"/>
            </p:cNvCxnSpPr>
            <p:nvPr/>
          </p:nvCxnSpPr>
          <p:spPr>
            <a:xfrm flipV="1">
              <a:off x="4623004" y="4232469"/>
              <a:ext cx="1059254" cy="78674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5CB086C-2BAF-4A22-FB82-6AC8CAD9716F}"/>
                    </a:ext>
                  </a:extLst>
                </p:cNvPr>
                <p:cNvSpPr txBox="1"/>
                <p:nvPr/>
              </p:nvSpPr>
              <p:spPr>
                <a:xfrm>
                  <a:off x="3897369" y="3567293"/>
                  <a:ext cx="36484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000" i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5CB086C-2BAF-4A22-FB82-6AC8CAD97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369" y="3567293"/>
                  <a:ext cx="364843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6667" r="-3333" b="-176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01D02E-6AC5-B238-E1BB-D925EE1B5A4D}"/>
                    </a:ext>
                  </a:extLst>
                </p:cNvPr>
                <p:cNvSpPr txBox="1"/>
                <p:nvPr/>
              </p:nvSpPr>
              <p:spPr>
                <a:xfrm>
                  <a:off x="4586134" y="4455259"/>
                  <a:ext cx="37080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000" i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01D02E-6AC5-B238-E1BB-D925EE1B5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6134" y="4455259"/>
                  <a:ext cx="370806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6557" r="-3279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F0D505-7E90-D3A5-3CAD-21E3C3F5D99F}"/>
                </a:ext>
              </a:extLst>
            </p:cNvPr>
            <p:cNvSpPr/>
            <p:nvPr/>
          </p:nvSpPr>
          <p:spPr>
            <a:xfrm>
              <a:off x="3305444" y="2386853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Weights</a:t>
              </a: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19BC54-88B7-DDEC-9A83-7D18D33813FB}"/>
              </a:ext>
            </a:extLst>
          </p:cNvPr>
          <p:cNvSpPr/>
          <p:nvPr/>
        </p:nvSpPr>
        <p:spPr>
          <a:xfrm>
            <a:off x="4655660" y="2387418"/>
            <a:ext cx="2249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Weighted sum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B84292-048D-CC2D-611C-4D849A0875F8}"/>
              </a:ext>
            </a:extLst>
          </p:cNvPr>
          <p:cNvSpPr/>
          <p:nvPr/>
        </p:nvSpPr>
        <p:spPr>
          <a:xfrm>
            <a:off x="3318552" y="2716823"/>
            <a:ext cx="4744428" cy="311247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NanumGothicExtraBold" pitchFamily="2" charset="-127"/>
              <a:ea typeface="NanumGothicExtra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254B521-12D5-09E7-6038-24D7247A778F}"/>
                  </a:ext>
                </a:extLst>
              </p:cNvPr>
              <p:cNvSpPr/>
              <p:nvPr/>
            </p:nvSpPr>
            <p:spPr>
              <a:xfrm>
                <a:off x="9316411" y="3754953"/>
                <a:ext cx="60117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ko-KR" altLang="en-US" sz="1600" dirty="0"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254B521-12D5-09E7-6038-24D7247A7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411" y="3754953"/>
                <a:ext cx="601170" cy="338554"/>
              </a:xfrm>
              <a:prstGeom prst="rect">
                <a:avLst/>
              </a:prstGeom>
              <a:blipFill>
                <a:blip r:embed="rId6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1772D94C-741B-EBFA-3B29-5FA5D231070E}"/>
              </a:ext>
            </a:extLst>
          </p:cNvPr>
          <p:cNvGrpSpPr/>
          <p:nvPr/>
        </p:nvGrpSpPr>
        <p:grpSpPr>
          <a:xfrm>
            <a:off x="1728509" y="2386853"/>
            <a:ext cx="1780186" cy="3372848"/>
            <a:chOff x="2071409" y="2386853"/>
            <a:chExt cx="1780186" cy="33728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9425AEA0-D31F-45C0-DF21-5BF14AF47300}"/>
                    </a:ext>
                  </a:extLst>
                </p:cNvPr>
                <p:cNvSpPr/>
                <p:nvPr/>
              </p:nvSpPr>
              <p:spPr>
                <a:xfrm>
                  <a:off x="2543175" y="3515240"/>
                  <a:ext cx="840284" cy="81798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9425AEA0-D31F-45C0-DF21-5BF14AF473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3175" y="3515240"/>
                  <a:ext cx="840284" cy="81798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1C87C6D-B6F7-E7F9-521E-3D2F40D3D3F4}"/>
                </a:ext>
              </a:extLst>
            </p:cNvPr>
            <p:cNvSpPr/>
            <p:nvPr/>
          </p:nvSpPr>
          <p:spPr>
            <a:xfrm>
              <a:off x="2071409" y="2386853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Input</a:t>
              </a: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E615629-25CC-350E-7711-C87E5ED90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20336" y="4506459"/>
              <a:ext cx="1214595" cy="1253242"/>
            </a:xfrm>
            <a:prstGeom prst="rect">
              <a:avLst/>
            </a:pr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D8550AB-9C20-98FE-6676-60C812652640}"/>
              </a:ext>
            </a:extLst>
          </p:cNvPr>
          <p:cNvGrpSpPr/>
          <p:nvPr/>
        </p:nvGrpSpPr>
        <p:grpSpPr>
          <a:xfrm>
            <a:off x="8730552" y="2379460"/>
            <a:ext cx="1780186" cy="3385071"/>
            <a:chOff x="8921052" y="2379460"/>
            <a:chExt cx="1780186" cy="3385071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E48D8F8-98D4-7429-88BE-455A8189E92F}"/>
                </a:ext>
              </a:extLst>
            </p:cNvPr>
            <p:cNvSpPr/>
            <p:nvPr/>
          </p:nvSpPr>
          <p:spPr>
            <a:xfrm>
              <a:off x="8921052" y="2379460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Actual y</a:t>
              </a: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E3D4FDAA-A454-51E2-EB7C-210D15852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37802" y="4506343"/>
              <a:ext cx="1020153" cy="1258188"/>
            </a:xfrm>
            <a:prstGeom prst="rect">
              <a:avLst/>
            </a:prstGeom>
          </p:spPr>
        </p:pic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683254E-05B3-69DB-03AA-78002D833ED4}"/>
              </a:ext>
            </a:extLst>
          </p:cNvPr>
          <p:cNvCxnSpPr>
            <a:cxnSpLocks/>
            <a:stCxn id="19" idx="6"/>
            <a:endCxn id="68" idx="1"/>
          </p:cNvCxnSpPr>
          <p:nvPr/>
        </p:nvCxnSpPr>
        <p:spPr>
          <a:xfrm flipV="1">
            <a:off x="6104212" y="3924230"/>
            <a:ext cx="2411138" cy="111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7C0E1453-7E49-CDCC-2AF1-A77EF7802BED}"/>
                  </a:ext>
                </a:extLst>
              </p:cNvPr>
              <p:cNvSpPr/>
              <p:nvPr/>
            </p:nvSpPr>
            <p:spPr>
              <a:xfrm>
                <a:off x="8515350" y="3754953"/>
                <a:ext cx="617549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en-US" altLang="ko-KR" sz="1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1600" dirty="0"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7C0E1453-7E49-CDCC-2AF1-A77EF7802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350" y="3754953"/>
                <a:ext cx="617549" cy="338554"/>
              </a:xfrm>
              <a:prstGeom prst="rect">
                <a:avLst/>
              </a:prstGeom>
              <a:blipFill>
                <a:blip r:embed="rId10"/>
                <a:stretch>
                  <a:fillRect r="-6931" b="-5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E8BC853E-83A7-748B-1018-8D4A0AEE5605}"/>
              </a:ext>
            </a:extLst>
          </p:cNvPr>
          <p:cNvSpPr/>
          <p:nvPr/>
        </p:nvSpPr>
        <p:spPr>
          <a:xfrm>
            <a:off x="7861821" y="2386853"/>
            <a:ext cx="16868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Output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24A0F54-2BAF-349B-5B5D-97E3FA6EEC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5481" y="4490956"/>
            <a:ext cx="516826" cy="1284248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CBD519E3-12B3-F187-F1F2-55669C9B7DD2}"/>
              </a:ext>
            </a:extLst>
          </p:cNvPr>
          <p:cNvGrpSpPr/>
          <p:nvPr/>
        </p:nvGrpSpPr>
        <p:grpSpPr>
          <a:xfrm>
            <a:off x="9876865" y="2386853"/>
            <a:ext cx="1780186" cy="1706654"/>
            <a:chOff x="10000690" y="2386853"/>
            <a:chExt cx="1780186" cy="1706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B1EC05C-CFA8-42F0-9ED9-E5A51104A20D}"/>
                    </a:ext>
                  </a:extLst>
                </p:cNvPr>
                <p:cNvSpPr/>
                <p:nvPr/>
              </p:nvSpPr>
              <p:spPr>
                <a:xfrm>
                  <a:off x="10472937" y="3754953"/>
                  <a:ext cx="981075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acc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sty m:val="p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ko-KR" altLang="en-US" sz="1600" dirty="0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B1EC05C-CFA8-42F0-9ED9-E5A51104A2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2937" y="3754953"/>
                  <a:ext cx="981075" cy="338554"/>
                </a:xfrm>
                <a:prstGeom prst="rect">
                  <a:avLst/>
                </a:prstGeom>
                <a:blipFill>
                  <a:blip r:embed="rId12"/>
                  <a:stretch>
                    <a:fillRect l="-6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08F5C12-BAAE-4ECE-8B92-DFE290463671}"/>
                </a:ext>
              </a:extLst>
            </p:cNvPr>
            <p:cNvSpPr/>
            <p:nvPr/>
          </p:nvSpPr>
          <p:spPr>
            <a:xfrm>
              <a:off x="10000690" y="2386853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Squared error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49CE807-98D0-88FD-70A1-D6FBDF4D41CB}"/>
              </a:ext>
            </a:extLst>
          </p:cNvPr>
          <p:cNvGrpSpPr/>
          <p:nvPr/>
        </p:nvGrpSpPr>
        <p:grpSpPr>
          <a:xfrm>
            <a:off x="6610349" y="2243978"/>
            <a:ext cx="1282281" cy="1988491"/>
            <a:chOff x="6610349" y="2243978"/>
            <a:chExt cx="1282281" cy="1988491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5BE57420-61E3-16F4-35BB-8FC03FD12D2C}"/>
                </a:ext>
              </a:extLst>
            </p:cNvPr>
            <p:cNvGrpSpPr/>
            <p:nvPr/>
          </p:nvGrpSpPr>
          <p:grpSpPr>
            <a:xfrm>
              <a:off x="6610349" y="2243978"/>
              <a:ext cx="1282281" cy="1061583"/>
              <a:chOff x="6953249" y="2243978"/>
              <a:chExt cx="1282281" cy="10615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2899664-0529-7DFF-D057-7CA68DD92522}"/>
                      </a:ext>
                    </a:extLst>
                  </p:cNvPr>
                  <p:cNvSpPr txBox="1"/>
                  <p:nvPr/>
                </p:nvSpPr>
                <p:spPr>
                  <a:xfrm>
                    <a:off x="6953249" y="2967007"/>
                    <a:ext cx="1282281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ko-KR" altLang="en-US" sz="160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2899664-0529-7DFF-D057-7CA68DD925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53249" y="2967007"/>
                    <a:ext cx="1282281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45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E9C596E4-1E62-4B84-87BB-5BB08482914A}"/>
                  </a:ext>
                </a:extLst>
              </p:cNvPr>
              <p:cNvSpPr/>
              <p:nvPr/>
            </p:nvSpPr>
            <p:spPr>
              <a:xfrm>
                <a:off x="6964841" y="2243978"/>
                <a:ext cx="1224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ctr" defTabSz="914400" rtl="0" eaLnBrk="1" fontAlgn="base" latinLnBrk="1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altLang="ko-KR" sz="1200" dirty="0">
                    <a:solidFill>
                      <a:prstClr val="black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Activation function</a:t>
                </a:r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AFF570E8-BCAB-F313-5B67-FE98143CB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905624" y="3643485"/>
              <a:ext cx="803628" cy="5889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32183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/>
      <p:bldP spid="6" grpId="0"/>
      <p:bldP spid="13" grpId="0" animBg="1"/>
      <p:bldP spid="20" grpId="0"/>
      <p:bldP spid="68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19D5-9F23-8555-D59C-C41F083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6CB72-5B48-1EA8-DAE7-36CBC37D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5E39D3E-B93A-FFDE-BB36-30AD59B0C59F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Activation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94B26EBA-7806-CC17-6CCE-79B909B8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7" y="1321328"/>
            <a:ext cx="11034365" cy="106534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활성화 함수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(Activation Function)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인공 신경망의 각 노드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뉴런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입력받은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신호의 총합을 출력 신호로 변환해주는 수학적 함수로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쉽게 비유하자면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우리 뇌의 뉴런이 일정 수준 이상의 자극을 받았을 때만 다음 뉴런으로 전기 신호를 보내는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전달 통로의 문지기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역할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204A54-9B4D-9FE8-6DBD-2FC79DE2C40B}"/>
              </a:ext>
            </a:extLst>
          </p:cNvPr>
          <p:cNvSpPr txBox="1"/>
          <p:nvPr/>
        </p:nvSpPr>
        <p:spPr>
          <a:xfrm>
            <a:off x="578817" y="3362236"/>
            <a:ext cx="3805653" cy="12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활성화 함수가 필요한가</a:t>
            </a:r>
            <a:r>
              <a:rPr lang="en-US" altLang="ko-KR" sz="1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모델에 비선형성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(Non-linearity)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추가하기 위해서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6DE9A7-791E-7489-EBC3-BDF9C1EAC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755" y="2488808"/>
            <a:ext cx="5216525" cy="400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97C5A6A-3B6B-A2D6-548B-71FA1CC02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835" y="3242033"/>
            <a:ext cx="725689" cy="180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3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D0B6-A6ED-F6E5-D9BA-7D375EA25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AD31B-30C8-7B17-79C6-D1ED41A4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7167576-2A3B-AC12-A254-7AEAC9DFA3C7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A08A5927-BCE8-17F3-722E-F94816AA1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7" y="1321329"/>
            <a:ext cx="11064543" cy="88847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인공신경망 핵심 원리인 보편적 근사 정리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(Universal Approximation Theorem) :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신경망이 충분한 수의 노드와 적절한 활성화 함수를 가지고 있다면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이론적으로 어떤 형태의 연속 함수라도 근사할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 있음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03D2B85-BC15-4243-74EF-3794CD00BFC2}"/>
              </a:ext>
            </a:extLst>
          </p:cNvPr>
          <p:cNvSpPr txBox="1">
            <a:spLocks/>
          </p:cNvSpPr>
          <p:nvPr/>
        </p:nvSpPr>
        <p:spPr>
          <a:xfrm>
            <a:off x="689421" y="57042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Neural Networks(NN)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29C735-FFCB-09AC-B689-80584795B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593" y="2611764"/>
            <a:ext cx="3433309" cy="2359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3ABEBF-19DE-0F25-AD3C-A57C4D163004}"/>
              </a:ext>
            </a:extLst>
          </p:cNvPr>
          <p:cNvSpPr txBox="1"/>
          <p:nvPr/>
        </p:nvSpPr>
        <p:spPr>
          <a:xfrm>
            <a:off x="2280593" y="5502899"/>
            <a:ext cx="6496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series of operations that can approximate (practically) any function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사실상 어떤 함수도 근사할 수 있는 일련의 연산들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: </a:t>
            </a:r>
            <a:endParaRPr lang="ko-KR" altLang="en-US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EACF0A5-9708-AFEA-817F-D84AEE041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902" y="2611764"/>
            <a:ext cx="4167390" cy="23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8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714C-6046-28A1-CEA5-49FF6A60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FE43485-928D-07EA-57F7-E63453A93A6D}"/>
              </a:ext>
            </a:extLst>
          </p:cNvPr>
          <p:cNvSpPr/>
          <p:nvPr/>
        </p:nvSpPr>
        <p:spPr>
          <a:xfrm>
            <a:off x="781627" y="281279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3A23948-9688-8D72-00AF-765DA468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F1532DC-51F3-65BE-E18E-E8ED187C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D30F9D-1D0B-B964-E0D6-D452F576D081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31238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B932-2EF8-649B-F43A-5F508507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F1670-BAC1-AD99-B2F9-A6E14FE6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62A780B-E056-2441-C581-B6259A3E62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 by Chain Rule of Derivatives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0E52C76F-F19C-8F6F-244F-7E3C63C0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224949"/>
            <a:ext cx="2010184" cy="15945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09B8A8-1F86-AACF-2635-B1936BE26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309" y="2239279"/>
            <a:ext cx="7144108" cy="139446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2877D11-0050-8567-D7B0-AF7609B57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717564"/>
            <a:ext cx="1666758" cy="24440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B28289-EBC5-1F5A-B55D-779F25E6C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807" y="4278616"/>
            <a:ext cx="3292749" cy="8111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0D63F3-67FB-5E75-9CDF-1727090D8C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675" y="4628272"/>
            <a:ext cx="3286740" cy="7871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B08982-871B-BAB7-43F5-367DCF863D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3389" y="4953894"/>
            <a:ext cx="3292749" cy="75108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DD44507-119A-BF6A-CA34-4F0E3FAD44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811" y="5243464"/>
            <a:ext cx="3274723" cy="7631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9483210-42EC-B83E-1CF9-E3A73E792A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956" y="5545050"/>
            <a:ext cx="3304766" cy="793144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32D7BFF-98C4-CCA5-70D8-095757EC91B3}"/>
              </a:ext>
            </a:extLst>
          </p:cNvPr>
          <p:cNvCxnSpPr>
            <a:cxnSpLocks/>
          </p:cNvCxnSpPr>
          <p:nvPr/>
        </p:nvCxnSpPr>
        <p:spPr>
          <a:xfrm>
            <a:off x="6896828" y="3644430"/>
            <a:ext cx="0" cy="8654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425FA68-D577-0001-59AC-3D70E1723BA6}"/>
              </a:ext>
            </a:extLst>
          </p:cNvPr>
          <p:cNvCxnSpPr>
            <a:cxnSpLocks/>
          </p:cNvCxnSpPr>
          <p:nvPr/>
        </p:nvCxnSpPr>
        <p:spPr>
          <a:xfrm>
            <a:off x="6083394" y="3644430"/>
            <a:ext cx="0" cy="11637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D8C00EF-DB26-421C-3809-E9F29274EC42}"/>
              </a:ext>
            </a:extLst>
          </p:cNvPr>
          <p:cNvCxnSpPr>
            <a:cxnSpLocks/>
          </p:cNvCxnSpPr>
          <p:nvPr/>
        </p:nvCxnSpPr>
        <p:spPr>
          <a:xfrm>
            <a:off x="5014689" y="3644430"/>
            <a:ext cx="0" cy="1396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638B7BC-0E16-7220-0B97-BD9A9E0D8C20}"/>
              </a:ext>
            </a:extLst>
          </p:cNvPr>
          <p:cNvCxnSpPr>
            <a:cxnSpLocks/>
          </p:cNvCxnSpPr>
          <p:nvPr/>
        </p:nvCxnSpPr>
        <p:spPr>
          <a:xfrm>
            <a:off x="4165014" y="3644430"/>
            <a:ext cx="0" cy="17309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ADE6ADE-7564-EE16-A685-505C23174C7D}"/>
              </a:ext>
            </a:extLst>
          </p:cNvPr>
          <p:cNvCxnSpPr>
            <a:cxnSpLocks/>
          </p:cNvCxnSpPr>
          <p:nvPr/>
        </p:nvCxnSpPr>
        <p:spPr>
          <a:xfrm>
            <a:off x="8634188" y="3644430"/>
            <a:ext cx="0" cy="5275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F90924B2-067C-D55F-6207-3111E53A3C9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81189" y="3252140"/>
            <a:ext cx="3005355" cy="36405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DC42014-027B-C349-05D0-139E3B0DEE3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37125" y="3624941"/>
            <a:ext cx="3564238" cy="7631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1">
                <a:extLst>
                  <a:ext uri="{FF2B5EF4-FFF2-40B4-BE49-F238E27FC236}">
                    <a16:creationId xmlns:a16="http://schemas.microsoft.com/office/drawing/2014/main" id="{A50697A0-DBB7-F7A8-2649-2447218A3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028" y="1287458"/>
                <a:ext cx="11238670" cy="6835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이미지의 신경망 구조를 바탕으로, 손실 함수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ko-KR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대한 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</a:t>
                </a:r>
                <a:r>
                  <a:rPr kumimoji="0" lang="ko-KR" altLang="ko-KR" sz="16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편미분</a:t>
                </a:r>
                <a:r>
                  <a:rPr kumimoji="0" lang="en-US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ko-KR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ko-KR" sz="16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ko-KR" altLang="ko-KR" sz="1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과정을 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출력층에서 시작하여 </a:t>
                </a:r>
                <a:r>
                  <a:rPr lang="ko-KR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입력</a:t>
                </a:r>
                <a:r>
                  <a:rPr lang="ko-KR" altLang="en-US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층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방향으로 거슬러 올라가는 </a:t>
                </a:r>
                <a:r>
                  <a:rPr lang="ko-KR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Chain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Rule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(연쇄 법칙)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kumimoji="0" lang="ko-KR" altLang="ko-KR" sz="16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역전파</a:t>
                </a:r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kumimoji="0" lang="ko-KR" altLang="ko-KR" sz="16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Backpropagation</a:t>
                </a:r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흐름의 핵심은 각 단계의 변화율을 곱하는 것</a:t>
                </a:r>
              </a:p>
            </p:txBody>
          </p:sp>
        </mc:Choice>
        <mc:Fallback xmlns="">
          <p:sp>
            <p:nvSpPr>
              <p:cNvPr id="42" name="Rectangle 1">
                <a:extLst>
                  <a:ext uri="{FF2B5EF4-FFF2-40B4-BE49-F238E27FC236}">
                    <a16:creationId xmlns:a16="http://schemas.microsoft.com/office/drawing/2014/main" id="{A50697A0-DBB7-F7A8-2649-2447218A30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028" y="1287458"/>
                <a:ext cx="11238670" cy="683585"/>
              </a:xfrm>
              <a:prstGeom prst="rect">
                <a:avLst/>
              </a:prstGeom>
              <a:blipFill>
                <a:blip r:embed="rId12"/>
                <a:stretch>
                  <a:fillRect l="-271" t="-893" b="-107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4E13A0F6-FB56-CF47-9417-5E3D1C68DF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6021" y="4278616"/>
            <a:ext cx="1089660" cy="290576"/>
          </a:xfrm>
          <a:prstGeom prst="rect">
            <a:avLst/>
          </a:prstGeom>
        </p:spPr>
      </p:pic>
      <p:sp>
        <p:nvSpPr>
          <p:cNvPr id="44" name="타원 43">
            <a:extLst>
              <a:ext uri="{FF2B5EF4-FFF2-40B4-BE49-F238E27FC236}">
                <a16:creationId xmlns:a16="http://schemas.microsoft.com/office/drawing/2014/main" id="{E5F0B88D-BCAB-B966-9358-21476CD19836}"/>
              </a:ext>
            </a:extLst>
          </p:cNvPr>
          <p:cNvSpPr/>
          <p:nvPr/>
        </p:nvSpPr>
        <p:spPr>
          <a:xfrm rot="20476699">
            <a:off x="5668662" y="5188915"/>
            <a:ext cx="5742152" cy="62241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4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0770-A5A1-D8F7-701A-E2146CB1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702CB-7775-B97C-29D2-15638255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243CFD4-FEB4-426A-D021-E60D6B6D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995" y="1248067"/>
            <a:ext cx="11182955" cy="76643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 Forward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후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Propagate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반복적으로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epoch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늘려가면서 학습하는 과정을 통해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Backpropagation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이해하고 실습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(SGD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엑셀실습파일 알고리즘과 동일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A5849E8-EADB-BBF5-4F28-29C7483880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OR gate : 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186ECCEC-F4F8-7DCE-BAC1-50ED6FBD8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309" y="66675"/>
            <a:ext cx="1731242" cy="114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A18C4E-012D-807C-8C67-6C63AEC39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612" y="2091009"/>
            <a:ext cx="7257371" cy="41363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913EAB-BA36-16A9-AB24-CFEE9F746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613" y="2075770"/>
            <a:ext cx="7265694" cy="41280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C31180-20D2-3B0D-25E1-D40D04274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452" y="2050369"/>
            <a:ext cx="7307307" cy="414469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81A65D-316B-A000-FF90-C6D63C9BF426}"/>
              </a:ext>
            </a:extLst>
          </p:cNvPr>
          <p:cNvSpPr/>
          <p:nvPr/>
        </p:nvSpPr>
        <p:spPr>
          <a:xfrm>
            <a:off x="2000612" y="4907280"/>
            <a:ext cx="1984648" cy="1335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2BD06AB-5FDE-B384-3EBD-43406BC57E76}"/>
              </a:ext>
            </a:extLst>
          </p:cNvPr>
          <p:cNvGrpSpPr/>
          <p:nvPr/>
        </p:nvGrpSpPr>
        <p:grpSpPr>
          <a:xfrm>
            <a:off x="4660202" y="2362200"/>
            <a:ext cx="1931098" cy="2125980"/>
            <a:chOff x="4660202" y="2362200"/>
            <a:chExt cx="1931098" cy="212598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6F2BBD8-C52D-5984-A974-6856F1852FF8}"/>
                </a:ext>
              </a:extLst>
            </p:cNvPr>
            <p:cNvSpPr/>
            <p:nvPr/>
          </p:nvSpPr>
          <p:spPr>
            <a:xfrm>
              <a:off x="4660202" y="2362200"/>
              <a:ext cx="1001458" cy="64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BFC4C29-E792-8B4F-63B9-D39685359B47}"/>
                </a:ext>
              </a:extLst>
            </p:cNvPr>
            <p:cNvSpPr/>
            <p:nvPr/>
          </p:nvSpPr>
          <p:spPr>
            <a:xfrm>
              <a:off x="4660202" y="3482634"/>
              <a:ext cx="1001458" cy="64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05F8C82-8681-BCFE-A635-280F2B203808}"/>
                </a:ext>
              </a:extLst>
            </p:cNvPr>
            <p:cNvSpPr/>
            <p:nvPr/>
          </p:nvSpPr>
          <p:spPr>
            <a:xfrm>
              <a:off x="5798803" y="4159193"/>
              <a:ext cx="792497" cy="3289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59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9246-7915-8DA6-755D-8A10F8F0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20EAF2-C06C-E501-4D3C-47736FEE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 dirty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FD243BE2-6A7B-22A3-454B-9C3AC37A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Gradient Descent Methods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FBEC9-D5E5-3B2F-CFC2-54257B6E12AD}"/>
              </a:ext>
            </a:extLst>
          </p:cNvPr>
          <p:cNvSpPr txBox="1"/>
          <p:nvPr/>
        </p:nvSpPr>
        <p:spPr>
          <a:xfrm>
            <a:off x="647700" y="1257300"/>
            <a:ext cx="1100082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Epoch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전체 데이터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Iteration(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안에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한 번에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FWD/BWD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할 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포인크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개씩 할지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 size(n &lt;= 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할 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일반적으로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 사용함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4660D-7C44-1AE5-DF14-D2A2ABCBFAEA}"/>
              </a:ext>
            </a:extLst>
          </p:cNvPr>
          <p:cNvSpPr txBox="1"/>
          <p:nvPr/>
        </p:nvSpPr>
        <p:spPr>
          <a:xfrm>
            <a:off x="5120004" y="2510872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안정적이지만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계산량이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많음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F42DC-6EEB-7010-D630-E3BE98BA6717}"/>
              </a:ext>
            </a:extLst>
          </p:cNvPr>
          <p:cNvSpPr txBox="1"/>
          <p:nvPr/>
        </p:nvSpPr>
        <p:spPr>
          <a:xfrm>
            <a:off x="5120004" y="3826168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빠르지만 경로가 매우 불규칙함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5302B-331B-B6EF-35C7-B30AC5D333B1}"/>
              </a:ext>
            </a:extLst>
          </p:cNvPr>
          <p:cNvSpPr txBox="1"/>
          <p:nvPr/>
        </p:nvSpPr>
        <p:spPr>
          <a:xfrm>
            <a:off x="5120004" y="5141463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SGD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</a:t>
            </a: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배치 사이즈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효율과 안정성의 균형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AC76FC-0798-C080-7845-1D26119EE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603235"/>
            <a:ext cx="2867025" cy="3732162"/>
          </a:xfrm>
          <a:prstGeom prst="rect">
            <a:avLst/>
          </a:prstGeom>
        </p:spPr>
      </p:pic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BB8DB900-4FFD-E6C4-2286-8BB8EA883C1F}"/>
              </a:ext>
            </a:extLst>
          </p:cNvPr>
          <p:cNvSpPr/>
          <p:nvPr/>
        </p:nvSpPr>
        <p:spPr>
          <a:xfrm>
            <a:off x="4737477" y="2805328"/>
            <a:ext cx="294034" cy="2551764"/>
          </a:xfrm>
          <a:prstGeom prst="leftBrace">
            <a:avLst>
              <a:gd name="adj1" fmla="val 3796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B7183-ED37-2D03-2B43-F497448D7B23}"/>
              </a:ext>
            </a:extLst>
          </p:cNvPr>
          <p:cNvSpPr txBox="1"/>
          <p:nvPr/>
        </p:nvSpPr>
        <p:spPr>
          <a:xfrm>
            <a:off x="3669893" y="3813056"/>
            <a:ext cx="1293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미분계산</a:t>
            </a: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횟수</a:t>
            </a:r>
          </a:p>
        </p:txBody>
      </p:sp>
    </p:spTree>
    <p:extLst>
      <p:ext uri="{BB962C8B-B14F-4D97-AF65-F5344CB8AC3E}">
        <p14:creationId xmlns:p14="http://schemas.microsoft.com/office/powerpoint/2010/main" val="217349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0E3B-6364-A231-9B51-6CD4E9E4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01C99CB-C71F-85D1-ECF6-442B7986D871}"/>
              </a:ext>
            </a:extLst>
          </p:cNvPr>
          <p:cNvSpPr/>
          <p:nvPr/>
        </p:nvSpPr>
        <p:spPr>
          <a:xfrm>
            <a:off x="781627" y="3298568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6D9EDD7-C1BB-5222-1EEB-333B2B83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61E8F94-FF8A-D627-417B-5C3A6A4EB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C5CFA6-6D8E-3DB8-6926-C3B1AF97B894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132511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24E00A9-B7BD-84B1-C8C9-4379A44B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96" y="2796363"/>
            <a:ext cx="4492179" cy="23747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B39FB3-BDC3-5CE1-2660-D71F27A4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95" y="2796363"/>
            <a:ext cx="4737003" cy="3063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0331E-189C-7790-90B5-D620BD0EBE3F}"/>
              </a:ext>
            </a:extLst>
          </p:cNvPr>
          <p:cNvSpPr txBox="1"/>
          <p:nvPr/>
        </p:nvSpPr>
        <p:spPr>
          <a:xfrm>
            <a:off x="2177634" y="5497523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47EDD-F717-2F86-B83C-CA5F3D943427}"/>
              </a:ext>
            </a:extLst>
          </p:cNvPr>
          <p:cNvSpPr txBox="1"/>
          <p:nvPr/>
        </p:nvSpPr>
        <p:spPr>
          <a:xfrm>
            <a:off x="561974" y="1265090"/>
            <a:ext cx="10835829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시험 문제를 풀고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네크워크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구조 설정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채점을 해서 몇 점 틀렸는지 확인한 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틀린 문제의 해설지를 보며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개념이 부족했는지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파악하여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부족했던 개념을 새로 공부해서 머릿속 지식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고쳐가는 과정을 수천 번 반복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(Epoch)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모델은 점점 정답에 가까워지게 학습</a:t>
            </a:r>
          </a:p>
        </p:txBody>
      </p:sp>
    </p:spTree>
    <p:extLst>
      <p:ext uri="{BB962C8B-B14F-4D97-AF65-F5344CB8AC3E}">
        <p14:creationId xmlns:p14="http://schemas.microsoft.com/office/powerpoint/2010/main" val="873202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F35-8C4C-4F00-48DE-2BB61011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D8FB9-E995-C351-50A4-21CB273C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792CE88-920B-B9FD-AFAF-2A44541C1D43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AEA3D4-B2E7-81BF-4EC0-71283B16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E0A323-CDF3-5091-9096-CEF8B599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6" y="3073075"/>
            <a:ext cx="4492179" cy="23747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90370B-53E0-61CC-7F18-218A76E249D3}"/>
              </a:ext>
            </a:extLst>
          </p:cNvPr>
          <p:cNvSpPr txBox="1"/>
          <p:nvPr/>
        </p:nvSpPr>
        <p:spPr>
          <a:xfrm>
            <a:off x="537021" y="1245750"/>
            <a:ext cx="10902504" cy="15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순전파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수학적 연산이 수행되는 순방향 과정을 나타내며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연산의 구성은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숫자 2가 '더하기(+)' 노드로 들어가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결과값(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)은 이 노드를 거쳐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+ 2라는 결과가 도출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PyTorch에서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+ 2라고 쓰는 순간, 내부적으로는 이런 연산그래프 노드가 생성되며 이때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y는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단순한 숫자 값이 아니라, 어떤 연산을 통해 만들어졌는지에 대한 정보를 함께 가지게 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4B6B8-49C6-CCD9-83EC-AFA53128D93F}"/>
              </a:ext>
            </a:extLst>
          </p:cNvPr>
          <p:cNvSpPr txBox="1"/>
          <p:nvPr/>
        </p:nvSpPr>
        <p:spPr>
          <a:xfrm>
            <a:off x="5534025" y="3073075"/>
            <a:ext cx="6096000" cy="286232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(기울기를 계산하도록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설정)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(1.0,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순전파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초록색 화살표 과정</a:t>
            </a: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 연산 수행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결과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y.item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()}")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이미지의 '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AddBackward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 확인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f"연산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식별자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}") </a:t>
            </a:r>
          </a:p>
        </p:txBody>
      </p:sp>
    </p:spTree>
    <p:extLst>
      <p:ext uri="{BB962C8B-B14F-4D97-AF65-F5344CB8AC3E}">
        <p14:creationId xmlns:p14="http://schemas.microsoft.com/office/powerpoint/2010/main" val="1085259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2DF-39AA-EAFD-BC6B-0B41748E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2FEE9-46F5-EA57-68C2-427AFE42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1F5082A-5927-C6E1-DA4F-5F71251E9A7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4D307B3-1256-BA92-853B-52BFE54F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1D5DF3-B10F-E653-EEF7-4FEF83290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5" y="3175319"/>
            <a:ext cx="4737003" cy="306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5F44A6-312B-CF7E-D95F-868985B25DBA}"/>
              </a:ext>
            </a:extLst>
          </p:cNvPr>
          <p:cNvSpPr txBox="1"/>
          <p:nvPr/>
        </p:nvSpPr>
        <p:spPr>
          <a:xfrm>
            <a:off x="537021" y="1259068"/>
            <a:ext cx="11410028" cy="1611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 Pass(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 계수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계산하는 역방향 연산 결과로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grad_fn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속성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즉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연산으로 만들어졌기 때문에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AddBackward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미분용 함수가 자동으로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태깅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나중에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역전파할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때 이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규칙에 맞춰 미분해라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메모지로 학습 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y.backward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호출하면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화살표가 반대 방향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빨간색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흐르면서 미분을 하여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결과값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미치는 영향력을 계산하여 뒤로 전달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FD6F-F034-68FF-258C-3F04261064E7}"/>
              </a:ext>
            </a:extLst>
          </p:cNvPr>
          <p:cNvSpPr txBox="1"/>
          <p:nvPr/>
        </p:nvSpPr>
        <p:spPr>
          <a:xfrm>
            <a:off x="5713902" y="3175319"/>
            <a:ext cx="6096000" cy="18158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빨간색 화살표 과정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미분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계산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결과 확인 (기울기)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+ 2 이므로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1이 생성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f"x의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기울기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2395888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02DA-20F1-737B-D0B0-2E568ECD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C83A0-3BE3-EEE2-FFEA-0272A1C8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B8FDAC1-BF69-9FDB-D572-0A0F2FD47949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6FAD018-9242-05E9-922B-D4A1BE8D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599F50-01FB-2B8F-FDD0-55673AF023E0}"/>
              </a:ext>
            </a:extLst>
          </p:cNvPr>
          <p:cNvSpPr txBox="1"/>
          <p:nvPr/>
        </p:nvSpPr>
        <p:spPr>
          <a:xfrm>
            <a:off x="743196" y="1749284"/>
            <a:ext cx="4644578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정의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속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 x,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2.0, 4.0, 3.0, 5.0])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3.0, 3.0, 2.0, 5.0])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파라미터 초기화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초기 설정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α=β=0)</a:t>
            </a:r>
          </a:p>
          <a:p>
            <a:pPr>
              <a:lnSpc>
                <a:spcPts val="1575"/>
              </a:lnSpc>
              <a:buNone/>
            </a:pP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절편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(alpha)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 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(beta)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 설정하고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epochs = 4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alpha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beta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():.4f}\n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시작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(Recursive iterations)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iteration = 0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646A4-8B9E-6FA2-816C-B833DF47B5F4}"/>
              </a:ext>
            </a:extLst>
          </p:cNvPr>
          <p:cNvSpPr txBox="1"/>
          <p:nvPr/>
        </p:nvSpPr>
        <p:spPr>
          <a:xfrm>
            <a:off x="5425490" y="1749285"/>
            <a:ext cx="6023314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epoch in range(1, epochs + 1):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print(f"--- {epoch} epoch ---")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엑셀처럼 각 데이터 샘플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(instance)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마다 업데이트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(SGD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방식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x, y in zip(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 + β *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alpha + beta * x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오차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(error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 = (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 ** 2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/2  #(y_hat-y)^2/2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미분하면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-y)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됨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(Gradient)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기록을 건드리지 않기 위해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beta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다음 반복을 위해 기울기 초기화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f"Iteration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{iteration}: alpha={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\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beta={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error={(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y).item():.4f}")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iteration += 1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95D80-1965-E9EF-FD9B-071FD52325B3}"/>
              </a:ext>
            </a:extLst>
          </p:cNvPr>
          <p:cNvSpPr txBox="1"/>
          <p:nvPr/>
        </p:nvSpPr>
        <p:spPr>
          <a:xfrm>
            <a:off x="613223" y="1314829"/>
            <a:ext cx="3577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3"/>
              </a:rPr>
              <a:t>sgd.xlsx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예제를 </a:t>
            </a:r>
            <a:r>
              <a:rPr lang="en-US" altLang="ko-KR" dirty="0" err="1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12287B-57AD-1713-2D34-689C3872A1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1338" y="4356701"/>
            <a:ext cx="1702369" cy="6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4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F5C8-E014-0466-6CF0-74C7C0BF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7D73C5C-E211-9E70-3641-4F5C4B505829}"/>
              </a:ext>
            </a:extLst>
          </p:cNvPr>
          <p:cNvSpPr/>
          <p:nvPr/>
        </p:nvSpPr>
        <p:spPr>
          <a:xfrm>
            <a:off x="781627" y="374624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CA808C4-CC2B-DE69-600B-0DC349EF7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B4ADB79-3714-54B3-1B99-7034A4E6A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8DF73B-DD7E-AA43-E0A0-833C0E0E23A7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360977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88F4-6748-E841-E0E3-483933AD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E7AD4-7BCA-95C3-7C88-BC8155EA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B515A5C-DA20-BC13-5438-4B1150B64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E924BA77-E126-365B-1D98-17E2D890614A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 learning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82618558-9150-3E19-1792-361A6085A7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942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70EA1D-911F-24B8-8E6F-96DA98BB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14" y="1428036"/>
            <a:ext cx="8103909" cy="4420314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447872B-B3C5-94D3-7C72-301489D8F589}"/>
              </a:ext>
            </a:extLst>
          </p:cNvPr>
          <p:cNvSpPr/>
          <p:nvPr/>
        </p:nvSpPr>
        <p:spPr>
          <a:xfrm>
            <a:off x="5151121" y="311621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DFE2DA-C3BD-251B-198F-2B1990842850}"/>
              </a:ext>
            </a:extLst>
          </p:cNvPr>
          <p:cNvSpPr/>
          <p:nvPr/>
        </p:nvSpPr>
        <p:spPr>
          <a:xfrm>
            <a:off x="2477136" y="2736862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C9D2F0-B4E0-EC80-CF75-E660D41D3532}"/>
              </a:ext>
            </a:extLst>
          </p:cNvPr>
          <p:cNvSpPr/>
          <p:nvPr/>
        </p:nvSpPr>
        <p:spPr>
          <a:xfrm>
            <a:off x="2473072" y="2995815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B7EBFA9-E6D4-E650-A98E-7740DF72FB9D}"/>
              </a:ext>
            </a:extLst>
          </p:cNvPr>
          <p:cNvSpPr/>
          <p:nvPr/>
        </p:nvSpPr>
        <p:spPr>
          <a:xfrm>
            <a:off x="2472056" y="245835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08BE5-1402-7A84-2942-DE3F8A5E5406}"/>
              </a:ext>
            </a:extLst>
          </p:cNvPr>
          <p:cNvSpPr txBox="1"/>
          <p:nvPr/>
        </p:nvSpPr>
        <p:spPr>
          <a:xfrm>
            <a:off x="2230075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(1,64)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BCBBB-7271-38B8-8212-7FBBFDFE103B}"/>
              </a:ext>
            </a:extLst>
          </p:cNvPr>
          <p:cNvSpPr txBox="1"/>
          <p:nvPr/>
        </p:nvSpPr>
        <p:spPr>
          <a:xfrm>
            <a:off x="4909140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(1,10)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5A2DD-ED2E-AF9A-0043-6F6B40CF4801}"/>
              </a:ext>
            </a:extLst>
          </p:cNvPr>
          <p:cNvSpPr txBox="1"/>
          <p:nvPr/>
        </p:nvSpPr>
        <p:spPr>
          <a:xfrm>
            <a:off x="7339103" y="5959169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(1, 15)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A1407-8DBE-204F-4F08-DABAE4BD3137}"/>
              </a:ext>
            </a:extLst>
          </p:cNvPr>
          <p:cNvSpPr txBox="1"/>
          <p:nvPr/>
        </p:nvSpPr>
        <p:spPr>
          <a:xfrm>
            <a:off x="9110753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(1, 9)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15398-2B94-0D7E-99AA-75C0407E8C3A}"/>
              </a:ext>
            </a:extLst>
          </p:cNvPr>
          <p:cNvSpPr txBox="1"/>
          <p:nvPr/>
        </p:nvSpPr>
        <p:spPr>
          <a:xfrm>
            <a:off x="3200635" y="5959169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@(64,10)    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1D6A35-1376-424B-B677-B4EA4E6E0DE2}"/>
              </a:ext>
            </a:extLst>
          </p:cNvPr>
          <p:cNvSpPr txBox="1"/>
          <p:nvPr/>
        </p:nvSpPr>
        <p:spPr>
          <a:xfrm>
            <a:off x="5915800" y="595916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@(10,15)   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E4FFF-8581-2131-CF06-3882FD7FD06F}"/>
              </a:ext>
            </a:extLst>
          </p:cNvPr>
          <p:cNvSpPr txBox="1"/>
          <p:nvPr/>
        </p:nvSpPr>
        <p:spPr>
          <a:xfrm>
            <a:off x="8159116" y="59591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@(15,9)=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78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8076-D70D-47AD-1AED-75E19C2B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9B271-5192-2F15-5D59-382800A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ABE30C-8E3D-1211-EEE6-CFC56729DE3B}"/>
              </a:ext>
            </a:extLst>
          </p:cNvPr>
          <p:cNvSpPr txBox="1">
            <a:spLocks/>
          </p:cNvSpPr>
          <p:nvPr/>
        </p:nvSpPr>
        <p:spPr>
          <a:xfrm>
            <a:off x="537021" y="47785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1266" name="Picture 2" descr="Artificial Neural Network Architecture">
            <a:extLst>
              <a:ext uri="{FF2B5EF4-FFF2-40B4-BE49-F238E27FC236}">
                <a16:creationId xmlns:a16="http://schemas.microsoft.com/office/drawing/2014/main" id="{0559266C-556E-C20E-726A-EF66A6386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96" y="2528301"/>
            <a:ext cx="5387529" cy="409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9EBA6B-BE2D-894D-8A52-21457E8B9BC5}"/>
              </a:ext>
            </a:extLst>
          </p:cNvPr>
          <p:cNvSpPr txBox="1">
            <a:spLocks/>
          </p:cNvSpPr>
          <p:nvPr/>
        </p:nvSpPr>
        <p:spPr>
          <a:xfrm>
            <a:off x="8279032" y="3508747"/>
            <a:ext cx="3375947" cy="14387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Regression,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Classification, dimension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reduction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</a:t>
            </a:r>
            <a:r>
              <a:rPr lang="en-US" altLang="ko-KR" sz="21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어떻게 생겼는가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FF5A5E1-CCFD-6B34-F29C-C8D92D21275C}"/>
              </a:ext>
            </a:extLst>
          </p:cNvPr>
          <p:cNvSpPr/>
          <p:nvPr/>
        </p:nvSpPr>
        <p:spPr>
          <a:xfrm>
            <a:off x="7354354" y="4035052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83CCFBA-E216-2015-6715-EBC28686CDD6}"/>
              </a:ext>
            </a:extLst>
          </p:cNvPr>
          <p:cNvSpPr/>
          <p:nvPr/>
        </p:nvSpPr>
        <p:spPr>
          <a:xfrm>
            <a:off x="7354354" y="4410272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BF8BD44-F5E6-FCBF-93AE-D7F808A38E12}"/>
              </a:ext>
            </a:extLst>
          </p:cNvPr>
          <p:cNvSpPr/>
          <p:nvPr/>
        </p:nvSpPr>
        <p:spPr>
          <a:xfrm>
            <a:off x="7354354" y="4785492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339965D-4EBA-D4E6-7578-064A4D91EE9F}"/>
              </a:ext>
            </a:extLst>
          </p:cNvPr>
          <p:cNvSpPr/>
          <p:nvPr/>
        </p:nvSpPr>
        <p:spPr>
          <a:xfrm>
            <a:off x="7354354" y="5160713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A6574-C2E1-9D1E-C444-A4A96DB447BA}"/>
              </a:ext>
            </a:extLst>
          </p:cNvPr>
          <p:cNvSpPr txBox="1"/>
          <p:nvPr/>
        </p:nvSpPr>
        <p:spPr>
          <a:xfrm>
            <a:off x="7091650" y="3664205"/>
            <a:ext cx="10443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Actual</a:t>
            </a:r>
            <a:r>
              <a:rPr lang="ko-KR" altLang="en-US" sz="11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value</a:t>
            </a:r>
            <a:endParaRPr lang="ko-KR" altLang="en-US" sz="1100" dirty="0"/>
          </a:p>
        </p:txBody>
      </p:sp>
      <p:sp>
        <p:nvSpPr>
          <p:cNvPr id="10" name="오른쪽 중괄호 9">
            <a:extLst>
              <a:ext uri="{FF2B5EF4-FFF2-40B4-BE49-F238E27FC236}">
                <a16:creationId xmlns:a16="http://schemas.microsoft.com/office/drawing/2014/main" id="{1114997C-232C-A35A-FA82-3229E992C608}"/>
              </a:ext>
            </a:extLst>
          </p:cNvPr>
          <p:cNvSpPr/>
          <p:nvPr/>
        </p:nvSpPr>
        <p:spPr>
          <a:xfrm rot="16200000">
            <a:off x="6243861" y="2361263"/>
            <a:ext cx="342900" cy="2125953"/>
          </a:xfrm>
          <a:prstGeom prst="rightBrace">
            <a:avLst>
              <a:gd name="adj1" fmla="val 5055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3A587-DD26-0ADC-554C-6E07EC680F43}"/>
              </a:ext>
            </a:extLst>
          </p:cNvPr>
          <p:cNvSpPr txBox="1"/>
          <p:nvPr/>
        </p:nvSpPr>
        <p:spPr>
          <a:xfrm>
            <a:off x="6135299" y="2942448"/>
            <a:ext cx="2125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(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값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예측 값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ABC2B9-1277-5855-6C7C-350722F3F8A7}"/>
                  </a:ext>
                </a:extLst>
              </p:cNvPr>
              <p:cNvSpPr txBox="1"/>
              <p:nvPr/>
            </p:nvSpPr>
            <p:spPr>
              <a:xfrm>
                <a:off x="639986" y="1196666"/>
                <a:ext cx="10912028" cy="1152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Forward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에서는 입력 </a:t>
                </a:r>
                <a14:m>
                  <m:oMath xmlns:m="http://schemas.openxmlformats.org/officeDocument/2006/math">
                    <m:r>
                      <a:rPr lang="ko-KR" altLang="en-US" sz="16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가중치 </a:t>
                </a:r>
                <a14:m>
                  <m:oMath xmlns:m="http://schemas.openxmlformats.org/officeDocument/2006/math">
                    <m:r>
                      <a:rPr lang="ko-KR" altLang="en-US" sz="1600" b="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편향 </a:t>
                </a:r>
                <a14:m>
                  <m:oMath xmlns:m="http://schemas.openxmlformats.org/officeDocument/2006/math">
                    <m:r>
                      <a:rPr lang="ko-KR" altLang="en-US" sz="1600" b="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거쳐 예측 값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6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만들고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실제 값과 비교해 손실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(Loss)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계산한 다음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Backward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에서는 연쇄법칙으로 각 파라미터의 기울기를 계산하고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Optimization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단계에서는 기울기를 반영해 파라미터를 업데이트하며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과정을 반복해 모델 성능을 개선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ABC2B9-1277-5855-6C7C-350722F3F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86" y="1196666"/>
                <a:ext cx="10912028" cy="1152688"/>
              </a:xfrm>
              <a:prstGeom prst="rect">
                <a:avLst/>
              </a:prstGeom>
              <a:blipFill>
                <a:blip r:embed="rId3"/>
                <a:stretch>
                  <a:fillRect l="-335"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C89F8B0-3F83-559E-AD1B-88D425554888}"/>
              </a:ext>
            </a:extLst>
          </p:cNvPr>
          <p:cNvCxnSpPr/>
          <p:nvPr/>
        </p:nvCxnSpPr>
        <p:spPr>
          <a:xfrm>
            <a:off x="1152525" y="2676525"/>
            <a:ext cx="4991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A3AAA1E-813F-45CC-D23E-EF63A3CD92DE}"/>
              </a:ext>
            </a:extLst>
          </p:cNvPr>
          <p:cNvCxnSpPr>
            <a:cxnSpLocks/>
          </p:cNvCxnSpPr>
          <p:nvPr/>
        </p:nvCxnSpPr>
        <p:spPr>
          <a:xfrm flipH="1">
            <a:off x="1104900" y="6363286"/>
            <a:ext cx="4991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A07C6B-0744-E350-2486-24F68E111E5E}"/>
              </a:ext>
            </a:extLst>
          </p:cNvPr>
          <p:cNvSpPr txBox="1"/>
          <p:nvPr/>
        </p:nvSpPr>
        <p:spPr>
          <a:xfrm>
            <a:off x="1032321" y="2721708"/>
            <a:ext cx="12216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E19B0-C9EC-E3F7-B1BE-1DBA278F3D77}"/>
              </a:ext>
            </a:extLst>
          </p:cNvPr>
          <p:cNvSpPr txBox="1"/>
          <p:nvPr/>
        </p:nvSpPr>
        <p:spPr>
          <a:xfrm>
            <a:off x="4938937" y="5979550"/>
            <a:ext cx="11570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89937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FF96-AFFC-CB97-69B7-FCC1654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450C-758E-5DB8-ECB4-A2C14D85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77AF110-24A1-8FC5-BE25-6FC4F14B084D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2EACEF-AECA-904D-E6D9-8316CA45A2A3}"/>
              </a:ext>
            </a:extLst>
          </p:cNvPr>
          <p:cNvSpPr txBox="1"/>
          <p:nvPr/>
        </p:nvSpPr>
        <p:spPr>
          <a:xfrm>
            <a:off x="537021" y="1412240"/>
            <a:ext cx="6979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But what is a neural network? | Deep learning chapter 1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유튜브 동영상 보기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5D80E86D-5AED-94C3-6A24-06D296329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45" y="2230173"/>
            <a:ext cx="5075557" cy="359427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A6ED75-9CD7-26AF-BB51-C91C68A88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347" y="2230173"/>
            <a:ext cx="5215970" cy="359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80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212533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FCCN : 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Fully Connected Neural Network (FCNN)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행렬식으로 표현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97431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44439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44439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97431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005ECD-90F7-F8D9-E7DE-965B532432D2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464511" y="2624204"/>
            <a:ext cx="286056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AFA676-AF72-0916-0AAC-6B4B11DF8AD2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>
            <a:off x="1464511" y="3154118"/>
            <a:ext cx="2860563" cy="4177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75D6BC9-B6ED-0D7A-35A1-284A46102C7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464511" y="3154118"/>
            <a:ext cx="2860563" cy="13653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260C829-F2C5-E49A-1BFB-5BE4D6ADAA75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464511" y="2624204"/>
            <a:ext cx="2860563" cy="1365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81E488-706A-B873-E6DD-BEF6151CBE5F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1464511" y="3989597"/>
            <a:ext cx="286056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40B20F-3D4A-5E1D-9237-5220A9C29E48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464511" y="3571858"/>
            <a:ext cx="2860563" cy="4177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970888C-91D3-F4D3-A71E-32CD1322FD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665718" y="2624204"/>
            <a:ext cx="2879531" cy="166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6" name="직선 연결선 9215">
            <a:extLst>
              <a:ext uri="{FF2B5EF4-FFF2-40B4-BE49-F238E27FC236}">
                <a16:creationId xmlns:a16="http://schemas.microsoft.com/office/drawing/2014/main" id="{0746B69C-144B-848F-E473-03BE6A00EA4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665718" y="2640895"/>
            <a:ext cx="2879530" cy="6150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8" name="직선 연결선 9217">
            <a:extLst>
              <a:ext uri="{FF2B5EF4-FFF2-40B4-BE49-F238E27FC236}">
                <a16:creationId xmlns:a16="http://schemas.microsoft.com/office/drawing/2014/main" id="{AC5FEAD9-7439-0FA3-8080-211FBEB0FA1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665718" y="2640895"/>
            <a:ext cx="2887552" cy="1246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27" name="직선 연결선 9226">
            <a:extLst>
              <a:ext uri="{FF2B5EF4-FFF2-40B4-BE49-F238E27FC236}">
                <a16:creationId xmlns:a16="http://schemas.microsoft.com/office/drawing/2014/main" id="{14B5EE2C-DD21-AF7E-08DB-75BF03181C1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4684685" y="2624204"/>
            <a:ext cx="2868585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0" name="직선 연결선 9229">
            <a:extLst>
              <a:ext uri="{FF2B5EF4-FFF2-40B4-BE49-F238E27FC236}">
                <a16:creationId xmlns:a16="http://schemas.microsoft.com/office/drawing/2014/main" id="{A7E4E79E-E8C7-DC17-23EC-DD0E175492BA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 flipV="1">
            <a:off x="4684685" y="2624204"/>
            <a:ext cx="2860564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2" name="직선 연결선 9231">
            <a:extLst>
              <a:ext uri="{FF2B5EF4-FFF2-40B4-BE49-F238E27FC236}">
                <a16:creationId xmlns:a16="http://schemas.microsoft.com/office/drawing/2014/main" id="{C2A752F4-5609-D677-C163-0D94FCC4A02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684685" y="3255973"/>
            <a:ext cx="2860563" cy="3158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3" name="직선 연결선 9232">
            <a:extLst>
              <a:ext uri="{FF2B5EF4-FFF2-40B4-BE49-F238E27FC236}">
                <a16:creationId xmlns:a16="http://schemas.microsoft.com/office/drawing/2014/main" id="{FDE5058E-9D38-8806-95EF-4646F08D006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4684685" y="3571858"/>
            <a:ext cx="2868585" cy="3158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4" name="직선 연결선 9233">
            <a:extLst>
              <a:ext uri="{FF2B5EF4-FFF2-40B4-BE49-F238E27FC236}">
                <a16:creationId xmlns:a16="http://schemas.microsoft.com/office/drawing/2014/main" id="{A3CAE824-5655-C703-9F94-23DDF8A1BFAB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684685" y="3571858"/>
            <a:ext cx="2868585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4" name="직선 연결선 9243">
            <a:extLst>
              <a:ext uri="{FF2B5EF4-FFF2-40B4-BE49-F238E27FC236}">
                <a16:creationId xmlns:a16="http://schemas.microsoft.com/office/drawing/2014/main" id="{087E6F6E-3F1F-FE42-D673-2BA8FC1AC801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684685" y="2624204"/>
            <a:ext cx="2860564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5" name="직선 연결선 9244">
            <a:extLst>
              <a:ext uri="{FF2B5EF4-FFF2-40B4-BE49-F238E27FC236}">
                <a16:creationId xmlns:a16="http://schemas.microsoft.com/office/drawing/2014/main" id="{EFB2D543-D01E-C14E-7DAC-701319F53EE5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263119"/>
            <a:ext cx="2822632" cy="1256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6" name="직선 연결선 9245">
            <a:extLst>
              <a:ext uri="{FF2B5EF4-FFF2-40B4-BE49-F238E27FC236}">
                <a16:creationId xmlns:a16="http://schemas.microsoft.com/office/drawing/2014/main" id="{96C9A1C2-B992-FDA5-3163-757CC1000F66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882105"/>
            <a:ext cx="2842090" cy="6374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7" name="직선 연결선 9246">
            <a:extLst>
              <a:ext uri="{FF2B5EF4-FFF2-40B4-BE49-F238E27FC236}">
                <a16:creationId xmlns:a16="http://schemas.microsoft.com/office/drawing/2014/main" id="{E4844EAC-73FF-A91C-DBF8-C62D7E13A983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4684685" y="4519512"/>
            <a:ext cx="2842090" cy="237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56" name="직선 연결선 9255">
            <a:extLst>
              <a:ext uri="{FF2B5EF4-FFF2-40B4-BE49-F238E27FC236}">
                <a16:creationId xmlns:a16="http://schemas.microsoft.com/office/drawing/2014/main" id="{CB643D58-E287-AE6D-0BEF-D4649E64BF96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7904860" y="2624204"/>
            <a:ext cx="286858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60" name="그림 9259">
            <a:extLst>
              <a:ext uri="{FF2B5EF4-FFF2-40B4-BE49-F238E27FC236}">
                <a16:creationId xmlns:a16="http://schemas.microsoft.com/office/drawing/2014/main" id="{A07A9FC6-DF4E-29FA-0FFF-BA65FF59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11" y="4788268"/>
            <a:ext cx="1760062" cy="544446"/>
          </a:xfrm>
          <a:prstGeom prst="rect">
            <a:avLst/>
          </a:prstGeom>
        </p:spPr>
      </p:pic>
      <p:pic>
        <p:nvPicPr>
          <p:cNvPr id="9262" name="그림 9261">
            <a:extLst>
              <a:ext uri="{FF2B5EF4-FFF2-40B4-BE49-F238E27FC236}">
                <a16:creationId xmlns:a16="http://schemas.microsoft.com/office/drawing/2014/main" id="{BA1A2289-2A8F-7DEB-5AD9-F3A40F02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17" y="4788268"/>
            <a:ext cx="2842090" cy="913070"/>
          </a:xfrm>
          <a:prstGeom prst="rect">
            <a:avLst/>
          </a:prstGeom>
        </p:spPr>
      </p:pic>
      <p:pic>
        <p:nvPicPr>
          <p:cNvPr id="9264" name="그림 9263">
            <a:extLst>
              <a:ext uri="{FF2B5EF4-FFF2-40B4-BE49-F238E27FC236}">
                <a16:creationId xmlns:a16="http://schemas.microsoft.com/office/drawing/2014/main" id="{220CC5A9-AC8B-0983-EE81-A8966A549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053" y="4788268"/>
            <a:ext cx="2263383" cy="1138122"/>
          </a:xfrm>
          <a:prstGeom prst="rect">
            <a:avLst/>
          </a:prstGeom>
        </p:spPr>
      </p:pic>
      <p:cxnSp>
        <p:nvCxnSpPr>
          <p:cNvPr id="9265" name="직선 연결선 9264">
            <a:extLst>
              <a:ext uri="{FF2B5EF4-FFF2-40B4-BE49-F238E27FC236}">
                <a16:creationId xmlns:a16="http://schemas.microsoft.com/office/drawing/2014/main" id="{9D98EAFC-EB3A-D7A1-9E2A-6E3124CF31B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912881" y="2623452"/>
            <a:ext cx="2868583" cy="13661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8" name="직선 연결선 9267">
            <a:extLst>
              <a:ext uri="{FF2B5EF4-FFF2-40B4-BE49-F238E27FC236}">
                <a16:creationId xmlns:a16="http://schemas.microsoft.com/office/drawing/2014/main" id="{D0DDA572-0297-EBBC-FC61-5AA42657A663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904859" y="3154118"/>
            <a:ext cx="2868584" cy="1018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9" name="직선 연결선 9268">
            <a:extLst>
              <a:ext uri="{FF2B5EF4-FFF2-40B4-BE49-F238E27FC236}">
                <a16:creationId xmlns:a16="http://schemas.microsoft.com/office/drawing/2014/main" id="{C8CAD3FF-0044-B9B8-F677-82192D67F268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7904859" y="3255973"/>
            <a:ext cx="2876605" cy="7336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6" name="직선 연결선 9275">
            <a:extLst>
              <a:ext uri="{FF2B5EF4-FFF2-40B4-BE49-F238E27FC236}">
                <a16:creationId xmlns:a16="http://schemas.microsoft.com/office/drawing/2014/main" id="{4CDE6AD4-1E47-14D6-17B5-06E1D3B4BBC2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896838" y="3154118"/>
            <a:ext cx="2876605" cy="7493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7" name="직선 연결선 9276">
            <a:extLst>
              <a:ext uri="{FF2B5EF4-FFF2-40B4-BE49-F238E27FC236}">
                <a16:creationId xmlns:a16="http://schemas.microsoft.com/office/drawing/2014/main" id="{54DE2942-69C1-7B5C-0AD5-E269C565C6D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896838" y="3903496"/>
            <a:ext cx="2884626" cy="861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3" name="직선 연결선 9282">
            <a:extLst>
              <a:ext uri="{FF2B5EF4-FFF2-40B4-BE49-F238E27FC236}">
                <a16:creationId xmlns:a16="http://schemas.microsoft.com/office/drawing/2014/main" id="{02A0287C-6FE0-9435-78E7-4D26BD03BE09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7912881" y="3192272"/>
            <a:ext cx="2805728" cy="13272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4" name="직선 연결선 9283">
            <a:extLst>
              <a:ext uri="{FF2B5EF4-FFF2-40B4-BE49-F238E27FC236}">
                <a16:creationId xmlns:a16="http://schemas.microsoft.com/office/drawing/2014/main" id="{367806B9-1578-FF26-FE3C-C7C57661481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7912881" y="3989597"/>
            <a:ext cx="286858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89" name="TextBox 9288">
            <a:extLst>
              <a:ext uri="{FF2B5EF4-FFF2-40B4-BE49-F238E27FC236}">
                <a16:creationId xmlns:a16="http://schemas.microsoft.com/office/drawing/2014/main" id="{1A24241E-380F-D2C3-547B-9F5D8C68B62B}"/>
              </a:ext>
            </a:extLst>
          </p:cNvPr>
          <p:cNvSpPr txBox="1"/>
          <p:nvPr/>
        </p:nvSpPr>
        <p:spPr>
          <a:xfrm>
            <a:off x="1493842" y="5322157"/>
            <a:ext cx="176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@ (2,3) = (1,3)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0" name="TextBox 9289">
            <a:extLst>
              <a:ext uri="{FF2B5EF4-FFF2-40B4-BE49-F238E27FC236}">
                <a16:creationId xmlns:a16="http://schemas.microsoft.com/office/drawing/2014/main" id="{04C3A569-4FF4-C87E-ABDA-8042FB8FB291}"/>
              </a:ext>
            </a:extLst>
          </p:cNvPr>
          <p:cNvSpPr txBox="1"/>
          <p:nvPr/>
        </p:nvSpPr>
        <p:spPr>
          <a:xfrm>
            <a:off x="5197265" y="5701338"/>
            <a:ext cx="212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(1,3) @ (3,4) = (1,4)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1" name="TextBox 9290">
            <a:extLst>
              <a:ext uri="{FF2B5EF4-FFF2-40B4-BE49-F238E27FC236}">
                <a16:creationId xmlns:a16="http://schemas.microsoft.com/office/drawing/2014/main" id="{43BD9FC8-ECB1-B386-5E43-ADB19B72463A}"/>
              </a:ext>
            </a:extLst>
          </p:cNvPr>
          <p:cNvSpPr txBox="1"/>
          <p:nvPr/>
        </p:nvSpPr>
        <p:spPr>
          <a:xfrm>
            <a:off x="8943010" y="5942851"/>
            <a:ext cx="182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 @ (4,2) = (1,2)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3" name="TextBox 9292">
            <a:extLst>
              <a:ext uri="{FF2B5EF4-FFF2-40B4-BE49-F238E27FC236}">
                <a16:creationId xmlns:a16="http://schemas.microsoft.com/office/drawing/2014/main" id="{7A175B21-AA0B-37A5-44B1-4A7B24D8B789}"/>
              </a:ext>
            </a:extLst>
          </p:cNvPr>
          <p:cNvSpPr txBox="1"/>
          <p:nvPr/>
        </p:nvSpPr>
        <p:spPr>
          <a:xfrm>
            <a:off x="80154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4" name="TextBox 9293">
            <a:extLst>
              <a:ext uri="{FF2B5EF4-FFF2-40B4-BE49-F238E27FC236}">
                <a16:creationId xmlns:a16="http://schemas.microsoft.com/office/drawing/2014/main" id="{771A204D-88A8-9A56-6DAF-14EA444F77B9}"/>
              </a:ext>
            </a:extLst>
          </p:cNvPr>
          <p:cNvSpPr txBox="1"/>
          <p:nvPr/>
        </p:nvSpPr>
        <p:spPr>
          <a:xfrm>
            <a:off x="1035899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put(y)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5" name="TextBox 9294">
            <a:extLst>
              <a:ext uri="{FF2B5EF4-FFF2-40B4-BE49-F238E27FC236}">
                <a16:creationId xmlns:a16="http://schemas.microsoft.com/office/drawing/2014/main" id="{5728B3CC-2C9B-CCFC-C174-806DBFC6CEAA}"/>
              </a:ext>
            </a:extLst>
          </p:cNvPr>
          <p:cNvSpPr txBox="1"/>
          <p:nvPr/>
        </p:nvSpPr>
        <p:spPr>
          <a:xfrm>
            <a:off x="3836296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1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6" name="TextBox 9295">
            <a:extLst>
              <a:ext uri="{FF2B5EF4-FFF2-40B4-BE49-F238E27FC236}">
                <a16:creationId xmlns:a16="http://schemas.microsoft.com/office/drawing/2014/main" id="{A517200C-63F5-B913-E926-2ABDAA65B72A}"/>
              </a:ext>
            </a:extLst>
          </p:cNvPr>
          <p:cNvSpPr txBox="1"/>
          <p:nvPr/>
        </p:nvSpPr>
        <p:spPr>
          <a:xfrm>
            <a:off x="6506798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016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99DE-54F1-5ECB-2B13-266AB2E8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F9DD937-E4A8-D3CF-99E2-3F996368F74E}"/>
              </a:ext>
            </a:extLst>
          </p:cNvPr>
          <p:cNvSpPr/>
          <p:nvPr/>
        </p:nvSpPr>
        <p:spPr>
          <a:xfrm>
            <a:off x="781627" y="420344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EFE8AD2-2542-98A8-6ADB-4E3FEFE7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9D1A68D-EB14-17F7-A8A8-446936520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0AB38-9A3D-D124-05EF-F9907356F1B1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336738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85D0-E40D-6319-65CF-CDF22EB8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46DD5E0-4589-F6F3-318A-D985B71F4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28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8C5ECE83-B258-E8FA-26D3-41DF8248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5203319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Generate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B840E-DF80-14F4-3624-15A2E02BF76A}"/>
              </a:ext>
            </a:extLst>
          </p:cNvPr>
          <p:cNvSpPr txBox="1"/>
          <p:nvPr/>
        </p:nvSpPr>
        <p:spPr>
          <a:xfrm>
            <a:off x="639015" y="1433415"/>
            <a:ext cx="8429076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Our batch of data will have 10 data points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 = 10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Each data point has 1 input feature and 1 output value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our input data X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our true target labels y by using the "true" W and b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The "true" W is 2.0, the "true" b is 1.0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([[2.0]])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(1.0)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X @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* 0.1 # Add a little noise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Hyperparameters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49058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FA36-00AC-A287-F93C-D47C0F17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3B21E1B-9F32-E4A0-EEE6-396CE5EBC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29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D11157D5-88C0-D570-CE46-D896CD48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5203319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from scratch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95FA8-01D4-A678-2D10-F56BCDEE5E05}"/>
              </a:ext>
            </a:extLst>
          </p:cNvPr>
          <p:cNvSpPr txBox="1"/>
          <p:nvPr/>
        </p:nvSpPr>
        <p:spPr>
          <a:xfrm>
            <a:off x="648250" y="1292721"/>
            <a:ext cx="8429076" cy="50167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Re-initialize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914360A-9527-B548-6FB1-3E8295F92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703" y="3049726"/>
            <a:ext cx="3875272" cy="2933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6931AD6-9B84-91C1-B0B1-C2694A832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931" y="4035971"/>
            <a:ext cx="3492869" cy="26137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8B8E914-2DA8-98A3-E183-647758225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4785916"/>
            <a:ext cx="4429125" cy="27682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10D7A38-2DC4-0AD6-E6FC-33B2A17BE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322" y="5932939"/>
            <a:ext cx="3492869" cy="28819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E3D5CAF1-EF4D-5838-3CA3-F43F49CAF447}"/>
              </a:ext>
            </a:extLst>
          </p:cNvPr>
          <p:cNvSpPr/>
          <p:nvPr/>
        </p:nvSpPr>
        <p:spPr>
          <a:xfrm>
            <a:off x="1053843" y="3056191"/>
            <a:ext cx="4014859" cy="532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0CEAC8-4B18-C5D3-4F20-9601158BF239}"/>
              </a:ext>
            </a:extLst>
          </p:cNvPr>
          <p:cNvSpPr/>
          <p:nvPr/>
        </p:nvSpPr>
        <p:spPr>
          <a:xfrm>
            <a:off x="1053843" y="4037744"/>
            <a:ext cx="1841757" cy="2881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778F37-BF6E-5760-1E89-BA2DBC2E8B72}"/>
              </a:ext>
            </a:extLst>
          </p:cNvPr>
          <p:cNvSpPr/>
          <p:nvPr/>
        </p:nvSpPr>
        <p:spPr>
          <a:xfrm>
            <a:off x="1053843" y="4790219"/>
            <a:ext cx="6299457" cy="775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DFF235-5C9B-2984-5DB1-5011A38031CD}"/>
              </a:ext>
            </a:extLst>
          </p:cNvPr>
          <p:cNvSpPr/>
          <p:nvPr/>
        </p:nvSpPr>
        <p:spPr>
          <a:xfrm>
            <a:off x="1053843" y="5936102"/>
            <a:ext cx="3222479" cy="294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21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4FAC-B223-469F-E1F4-C97CEF85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F55043D-FC03-8D46-C9F4-B31597F8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30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E4AB6FB6-8CB9-3B10-A733-F29F1590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optimizer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F9961-7108-DC6D-FBD5-4479DA899F99}"/>
              </a:ext>
            </a:extLst>
          </p:cNvPr>
          <p:cNvSpPr txBox="1"/>
          <p:nvPr/>
        </p:nvSpPr>
        <p:spPr>
          <a:xfrm>
            <a:off x="1116124" y="1433415"/>
            <a:ext cx="8295726" cy="477053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설정 및 데이터 준비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100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(여기서는 확률적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SGD 사용)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torch.optim.SGD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--- 핵심 세 줄 (The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Lines) ---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# 1. 기울기 초기화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# 2. 기울기 계산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Backpropagation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# 3. 파라미터 업데이트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82592-89FE-C19F-F26F-AD1B07F74070}"/>
              </a:ext>
            </a:extLst>
          </p:cNvPr>
          <p:cNvSpPr txBox="1"/>
          <p:nvPr/>
        </p:nvSpPr>
        <p:spPr>
          <a:xfrm>
            <a:off x="8371926" y="4880513"/>
            <a:ext cx="3552825" cy="1323439"/>
          </a:xfrm>
          <a:prstGeom prst="rect">
            <a:avLst/>
          </a:prstGeom>
          <a:solidFill>
            <a:schemeClr val="accent4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학습된 가중치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편향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f"Weights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(W):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“)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(b):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미분 가능한지 정보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print(W,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91219B-0CEE-EDD2-761E-FD1FBCE22D08}"/>
              </a:ext>
            </a:extLst>
          </p:cNvPr>
          <p:cNvSpPr/>
          <p:nvPr/>
        </p:nvSpPr>
        <p:spPr>
          <a:xfrm>
            <a:off x="646545" y="5369745"/>
            <a:ext cx="7241305" cy="8142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6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E097-C711-6CF6-8DE7-2B7B8AD1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02C0A7-A6A8-B895-32F2-0FA366C80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31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43FBE808-6515-6DB7-0F50-D8426B9C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model (like pro)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27140-F2A9-19E7-B045-CFFC37E9B382}"/>
              </a:ext>
            </a:extLst>
          </p:cNvPr>
          <p:cNvSpPr txBox="1"/>
          <p:nvPr/>
        </p:nvSpPr>
        <p:spPr>
          <a:xfrm>
            <a:off x="941999" y="1371860"/>
            <a:ext cx="5030260" cy="483209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클래스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상속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super(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self).__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W, 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자동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Linear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예측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X @ W + b)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0.01; epochs = 100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(Mean Squared Error)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criterion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nn.MSELoss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9E2D7-CAE7-EBF8-88FC-ED6E4DF6D0C7}"/>
              </a:ext>
            </a:extLst>
          </p:cNvPr>
          <p:cNvSpPr txBox="1"/>
          <p:nvPr/>
        </p:nvSpPr>
        <p:spPr>
          <a:xfrm>
            <a:off x="6400897" y="1371860"/>
            <a:ext cx="5190850" cy="4616648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옵티마이저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(SGD)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optimizer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optim.SGD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model.parameters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(Training Loop)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초기화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model(X)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모델을 통한 예측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loss = criterion(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	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계산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if (epoch + 1) % 10 == 0: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f'Epoch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[{epoch+1}/{epochs}], Loss: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loss.item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():.4f}’)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저장 및 확인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print("\n[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파라미터 확인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FF61B4-C3E4-021B-E1A6-9CFDBB592E4F}"/>
              </a:ext>
            </a:extLst>
          </p:cNvPr>
          <p:cNvSpPr/>
          <p:nvPr/>
        </p:nvSpPr>
        <p:spPr>
          <a:xfrm>
            <a:off x="521207" y="2469527"/>
            <a:ext cx="5574793" cy="2074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15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CD14-C5EB-9287-8D73-F9F1BB28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B0587-D91B-8580-6E0F-BD875D1A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B9D7CF7-62C2-EF58-A712-6F1CA1C6E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ADE5B218-DB00-6927-3154-13E34DC8DC40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B3273-5808-C357-A26E-D8D5B7FC9953}"/>
              </a:ext>
            </a:extLst>
          </p:cNvPr>
          <p:cNvSpPr txBox="1"/>
          <p:nvPr/>
        </p:nvSpPr>
        <p:spPr>
          <a:xfrm>
            <a:off x="610995" y="2214901"/>
            <a:ext cx="5061079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torch.optim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데이터 생성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2x + 1)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([[1.0], [2.0], [3.0], [4.0]],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([[3.0], [5.0], [7.0], [9.0]],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모델 정의 (입력 1개, 출력 1개인 선형 회귀)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손실 함수와 최적화 도구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nn.MSELoss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model_reg.parameters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39E4D-3AB5-541E-8D0B-A6AC490A60A2}"/>
              </a:ext>
            </a:extLst>
          </p:cNvPr>
          <p:cNvSpPr txBox="1"/>
          <p:nvPr/>
        </p:nvSpPr>
        <p:spPr>
          <a:xfrm>
            <a:off x="5886450" y="2207588"/>
            <a:ext cx="5981075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학습 (1000번 반복)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(1000):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  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backpropagation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예측 (5를 넣었을 때 11에 가까운 값이 나와야 함)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f"회귀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예측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5.0):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item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():.4f}")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7791B-4972-60A0-42AF-E11FBE129692}"/>
              </a:ext>
            </a:extLst>
          </p:cNvPr>
          <p:cNvSpPr txBox="1"/>
          <p:nvPr/>
        </p:nvSpPr>
        <p:spPr>
          <a:xfrm>
            <a:off x="525270" y="1361159"/>
            <a:ext cx="113923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연속적인 숫자 값을 예측하는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 = 2x + 1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선형 관계를 학습</a:t>
            </a:r>
          </a:p>
        </p:txBody>
      </p:sp>
    </p:spTree>
    <p:extLst>
      <p:ext uri="{BB962C8B-B14F-4D97-AF65-F5344CB8AC3E}">
        <p14:creationId xmlns:p14="http://schemas.microsoft.com/office/powerpoint/2010/main" val="2277746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DFB2-48BA-7EB0-99DE-16C02139227D}"/>
              </a:ext>
            </a:extLst>
          </p:cNvPr>
          <p:cNvSpPr txBox="1"/>
          <p:nvPr/>
        </p:nvSpPr>
        <p:spPr>
          <a:xfrm>
            <a:off x="677670" y="1883738"/>
            <a:ext cx="5199255" cy="461664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 생성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([[-2.0], [-1.0], [1.0], [2.0]],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([[0.0], [0.0], [1.0], [1.0]],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모델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0~1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확률값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super().__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이진 교차 엔트로피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최적화 도구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nn.BCELoss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model_cls.parameters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=0.1)</a:t>
            </a:r>
            <a:endParaRPr lang="ko-KR" altLang="en-US" sz="14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191A9-AF39-DFA2-DD6E-A46ACD670F8A}"/>
              </a:ext>
            </a:extLst>
          </p:cNvPr>
          <p:cNvSpPr txBox="1"/>
          <p:nvPr/>
        </p:nvSpPr>
        <p:spPr>
          <a:xfrm>
            <a:off x="6210991" y="1883738"/>
            <a:ext cx="5314260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학습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epoch in range(500):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out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loss = criterion(out,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예측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([[-5.0]])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(-5.0):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(+5.0):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D529-0B99-F34C-9456-A4BCF215413E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분류는 입력 데이터가 어느 그룹에 속하는지 판단하는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0, 0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크면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분류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D9D1-46C0-6724-72E3-73D9163C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EAABE7-6C0F-A11F-89E2-AA1C61A9D12D}"/>
              </a:ext>
            </a:extLst>
          </p:cNvPr>
          <p:cNvSpPr/>
          <p:nvPr/>
        </p:nvSpPr>
        <p:spPr>
          <a:xfrm>
            <a:off x="781627" y="464159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0829EC6-B76C-42E4-6C93-E4B35317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0192F02-B202-C070-2C11-62206F1B3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34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EFABB-26FF-D48F-E9D7-BC3FA50DDB42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242436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F69F-5F21-9965-5FF5-3C563F82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36A6429-98B6-0EEE-AEE1-F592305EC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35</a:t>
            </a:fld>
            <a:endParaRPr lang="ko-KR" altLang="en-US" noProof="0"/>
          </a:p>
        </p:txBody>
      </p:sp>
      <p:sp>
        <p:nvSpPr>
          <p:cNvPr id="6" name="제목 7">
            <a:extLst>
              <a:ext uri="{FF2B5EF4-FFF2-40B4-BE49-F238E27FC236}">
                <a16:creationId xmlns:a16="http://schemas.microsoft.com/office/drawing/2014/main" id="{77043BCF-860E-7E9C-4462-D6539A24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22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Hands-on : FNN(feed-forward neural networks) 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9EA13C3-4AEE-C90F-56A0-A0BA7A0EA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455" y="2124"/>
            <a:ext cx="1775896" cy="10860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47D98B-3A5A-EA27-BD67-65ED7F2E9C89}"/>
              </a:ext>
            </a:extLst>
          </p:cNvPr>
          <p:cNvSpPr txBox="1"/>
          <p:nvPr/>
        </p:nvSpPr>
        <p:spPr>
          <a:xfrm>
            <a:off x="589396" y="1280968"/>
            <a:ext cx="80497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beginner tutorials :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beginner/basics/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quickstart_tutorial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실습하기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A247DB-62BC-D297-EEBF-9C1ADD451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97" y="1928092"/>
            <a:ext cx="8660628" cy="43820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348AE8C-9754-5F92-FDF7-7599B2467D74}"/>
              </a:ext>
            </a:extLst>
          </p:cNvPr>
          <p:cNvSpPr/>
          <p:nvPr/>
        </p:nvSpPr>
        <p:spPr>
          <a:xfrm>
            <a:off x="742950" y="2695575"/>
            <a:ext cx="1600201" cy="3171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3AC939-CEC8-D94D-6832-3F219F350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075" y="3048557"/>
            <a:ext cx="2088991" cy="214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6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7E7B-0F19-1E16-CBC6-51DC8973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C9ECA61-0EEC-A8B4-30D5-AF32553C5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36</a:t>
            </a:fld>
            <a:endParaRPr lang="ko-KR" altLang="en-US" noProof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4C073D-8DB8-7B88-625B-A1F53826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5671"/>
            <a:ext cx="9248775" cy="3973066"/>
          </a:xfrm>
          <a:prstGeom prst="rect">
            <a:avLst/>
          </a:prstGeom>
        </p:spPr>
      </p:pic>
      <p:sp>
        <p:nvSpPr>
          <p:cNvPr id="6" name="제목 7">
            <a:extLst>
              <a:ext uri="{FF2B5EF4-FFF2-40B4-BE49-F238E27FC236}">
                <a16:creationId xmlns:a16="http://schemas.microsoft.com/office/drawing/2014/main" id="{16A9DD86-4E9A-1A71-D4E7-9627164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22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Hands-on : FNN(feed-forward neural networks) 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4C62C5-03F9-52C5-6C25-FCF862E23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55" y="2124"/>
            <a:ext cx="1775896" cy="108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ECA0-2C6D-CA5C-9BE9-46B0DB9F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02D1BD-D209-E5D5-3728-64A1CC15EF1E}"/>
              </a:ext>
            </a:extLst>
          </p:cNvPr>
          <p:cNvSpPr/>
          <p:nvPr/>
        </p:nvSpPr>
        <p:spPr>
          <a:xfrm>
            <a:off x="781627" y="5108318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564E3A1-DFAB-81F8-F77F-4A9021F2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B45CD3D-0FDE-2FF3-7F49-5761F662A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150E3-57D1-B161-A907-C88B74B2EF4D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45566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8EA2-1D1C-3D69-F2FB-74220EC5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3B368-01D3-E5BB-D3EC-92C4CE00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Tabular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B2582-2EE4-E288-8D0F-3011BA86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38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7AA4FA-3116-CA57-AD18-C9809B67B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18" y="1768288"/>
            <a:ext cx="9986682" cy="405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7071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82DC-8BBD-15D8-DA3A-4CBB39F0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C4C8D-79C1-85B7-6263-8A18A8D2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>
                <a:latin typeface="+mj-ea"/>
                <a:ea typeface="+mj-ea"/>
              </a:rPr>
              <a:t>Matrix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816F05-7E2E-B1A7-9D30-4F4A6367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39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6541674-EE95-D067-66D7-E0B3A4BA3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99" y="1371602"/>
            <a:ext cx="4870705" cy="476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C2D14F-F4F1-02DD-722C-E8C0A0984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375" y="1371601"/>
            <a:ext cx="4374836" cy="379207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3557A4C-4204-676B-956A-0993A7273504}"/>
              </a:ext>
            </a:extLst>
          </p:cNvPr>
          <p:cNvSpPr/>
          <p:nvPr/>
        </p:nvSpPr>
        <p:spPr>
          <a:xfrm>
            <a:off x="3677920" y="1966559"/>
            <a:ext cx="2153582" cy="1931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65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F118-AC29-8C19-5901-2A3F57E3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AD840-93BC-6315-97A2-E0A152F5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Image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2012DB-4B62-6480-EF9A-A8C129AC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40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72B07A-3137-B053-5911-A533C3B61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41" y="1630177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A4B640E-CB10-9925-C2A5-15FEC03AC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388" y="2309878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05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2CA8-248E-5B9D-51B7-8A8D9AC4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A6AD-3475-497E-5736-A2A4872B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Timeseries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BD6C7-3450-4770-90E0-5466B47B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41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D4D00D-55E8-672F-E565-E0E2C55BB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33" y="1921720"/>
            <a:ext cx="7995491" cy="43385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120FEF-5BCB-C3B3-16A6-FE2C406E7E9B}"/>
              </a:ext>
            </a:extLst>
          </p:cNvPr>
          <p:cNvSpPr txBox="1"/>
          <p:nvPr/>
        </p:nvSpPr>
        <p:spPr>
          <a:xfrm>
            <a:off x="735106" y="1273005"/>
            <a:ext cx="10739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시계열 데이터를 지도 학습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(Supervised Learning)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용 데이터로 변환하는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슬라이딩 윈도우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(Sliding Window)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A4C85CA-A46B-2950-3A59-14AD368B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391" y="4737622"/>
            <a:ext cx="1849549" cy="15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31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C186-6846-E13D-A4DA-1996241C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7972F-8CF9-D27F-C597-6AF36C77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Timeseries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F8AE1-D508-94F4-6B7B-4E9A3F9C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6146" name="Picture 2" descr="One prediction 24h into the future.">
            <a:extLst>
              <a:ext uri="{FF2B5EF4-FFF2-40B4-BE49-F238E27FC236}">
                <a16:creationId xmlns:a16="http://schemas.microsoft.com/office/drawing/2014/main" id="{45131D4F-A077-8980-8F1A-641ABAA53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08" y="1866600"/>
            <a:ext cx="581977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ne prediction 1h into the future.">
            <a:extLst>
              <a:ext uri="{FF2B5EF4-FFF2-40B4-BE49-F238E27FC236}">
                <a16:creationId xmlns:a16="http://schemas.microsoft.com/office/drawing/2014/main" id="{6E94C269-9143-52A9-109A-FFEA890F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143" y="3330109"/>
            <a:ext cx="417195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85E79A-191C-753A-D14C-436A16A2DC4C}"/>
              </a:ext>
            </a:extLst>
          </p:cNvPr>
          <p:cNvSpPr txBox="1"/>
          <p:nvPr/>
        </p:nvSpPr>
        <p:spPr>
          <a:xfrm>
            <a:off x="588308" y="1561688"/>
            <a:ext cx="69330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기록이 주어졌을 때 앞으로 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미래를 단일 예측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BFA81-AF2D-A658-2C39-A6D197A2B8A4}"/>
              </a:ext>
            </a:extLst>
          </p:cNvPr>
          <p:cNvSpPr txBox="1"/>
          <p:nvPr/>
        </p:nvSpPr>
        <p:spPr>
          <a:xfrm>
            <a:off x="6723529" y="2991555"/>
            <a:ext cx="5190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r>
              <a:rPr lang="ko-KR" altLang="en-US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기록이 주어졌을 때 앞으로 </a:t>
            </a:r>
            <a:r>
              <a:rPr lang="en-US" altLang="ko-KR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미래 예측</a:t>
            </a:r>
          </a:p>
        </p:txBody>
      </p:sp>
    </p:spTree>
    <p:extLst>
      <p:ext uri="{BB962C8B-B14F-4D97-AF65-F5344CB8AC3E}">
        <p14:creationId xmlns:p14="http://schemas.microsoft.com/office/powerpoint/2010/main" val="22013896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D6ED-E468-D2BF-7304-96EC5521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51A16-CD96-58E5-1D9F-7956A2AA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Text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167AF-6F10-C9A5-2D70-973B68F8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78" name="Picture 6" descr="Image Source:AI Tech Trend(Modified from the original)">
            <a:extLst>
              <a:ext uri="{FF2B5EF4-FFF2-40B4-BE49-F238E27FC236}">
                <a16:creationId xmlns:a16="http://schemas.microsoft.com/office/drawing/2014/main" id="{4527801C-40B4-91A7-2F94-B12CDDFB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9" y="2230238"/>
            <a:ext cx="4516446" cy="351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9D8E3-27F0-BDC7-91B0-0CBF0E2AA7AB}"/>
              </a:ext>
            </a:extLst>
          </p:cNvPr>
          <p:cNvSpPr txBox="1"/>
          <p:nvPr/>
        </p:nvSpPr>
        <p:spPr>
          <a:xfrm>
            <a:off x="815788" y="580464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3"/>
              </a:rPr>
              <a:t>https://www.shaped.ai/blog/cosine-similarity-not-the-silver-bullet-we-thought-it-was</a:t>
            </a:r>
            <a:r>
              <a:rPr lang="ko-KR" altLang="en-US" sz="105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C38B3-8CA7-3D31-53F6-C6B5B2D0A771}"/>
              </a:ext>
            </a:extLst>
          </p:cNvPr>
          <p:cNvSpPr txBox="1"/>
          <p:nvPr/>
        </p:nvSpPr>
        <p:spPr>
          <a:xfrm>
            <a:off x="6508376" y="186090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한국어 </a:t>
            </a:r>
            <a:r>
              <a:rPr lang="ko-KR" altLang="en-U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B4F4FE0-39D5-C03A-8606-C3AF219B6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517" y="2230238"/>
            <a:ext cx="5005742" cy="19423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FE1928-722E-B132-1533-0BA9AC464040}"/>
              </a:ext>
            </a:extLst>
          </p:cNvPr>
          <p:cNvSpPr txBox="1"/>
          <p:nvPr/>
        </p:nvSpPr>
        <p:spPr>
          <a:xfrm>
            <a:off x="6612517" y="493955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외국어 </a:t>
            </a:r>
            <a:r>
              <a:rPr lang="ko-KR" altLang="en-US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451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2998-1672-B762-8239-137824D1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DEF40-AFCF-A49A-7FAA-8E0AFB9F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Text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C2774-5169-0F02-8ACE-804F1D9D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44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815E73-9C36-E15E-D054-4B83AD61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76" y="1186207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3A10512-64AF-1FD8-8C5B-F4BC83CFE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1" y="3309137"/>
            <a:ext cx="10104500" cy="295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693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8B16-5DF5-C997-56C5-D7E89236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455E5-36A5-1801-FFB7-1E4BC5BC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45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290528-A2B4-EF60-077E-F075B3CC3E40}"/>
              </a:ext>
            </a:extLst>
          </p:cNvPr>
          <p:cNvSpPr txBox="1"/>
          <p:nvPr/>
        </p:nvSpPr>
        <p:spPr>
          <a:xfrm>
            <a:off x="619430" y="1312367"/>
            <a:ext cx="9193163" cy="52629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1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?): 딥러닝 정의 및 역사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2 (The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mathematical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blocks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neural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networks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및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3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Introduction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JAX,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핵심 프레임워크 비교 및 사용법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4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regression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기본 분류 및 회귀 모델 구현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5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Fundamentals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과대적합 방지와 일반화 원리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6 (The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universal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전체 프로세스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7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dive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고급 기능 및 커스텀 모델링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8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CNN 기초 및 이미지 분류 실습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9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patterns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최신 CNN 설계 패턴 및 기법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10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Interpreting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CNN 내부 표현 시각화 및 분석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11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segmentation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픽셀 단위 이미지 분할 구현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12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Object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detection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사물 위치 탐지 및 분류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13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Timeseries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forecasting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시계열 데이터 및 순환 신경망(RNN) 예측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14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텍스트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및 자연어 분류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15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Transformer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메커니즘과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Transformer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16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생성형 언어 모델 구현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17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GAN,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Diffusion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 이미지 생성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18 (Best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practices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world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튜닝 및 실전 배포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19 (The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future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AI):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한계와 향후 발전 전망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20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Conclusions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전체 요약 및 엔지니어 지침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8CD01D10-2D9F-A7B5-5EEE-761DB4992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409" y="3520691"/>
            <a:ext cx="2758901" cy="305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제목 7">
            <a:extLst>
              <a:ext uri="{FF2B5EF4-FFF2-40B4-BE49-F238E27FC236}">
                <a16:creationId xmlns:a16="http://schemas.microsoft.com/office/drawing/2014/main" id="{160AD69B-F239-9289-B297-60FF7442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Deep Learning with Python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63882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3075</TotalTime>
  <Words>3846</Words>
  <Application>Microsoft Office PowerPoint</Application>
  <PresentationFormat>와이드스크린</PresentationFormat>
  <Paragraphs>513</Paragraphs>
  <Slides>45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8" baseType="lpstr">
      <vt:lpstr>D2Coding</vt:lpstr>
      <vt:lpstr>NanumGothicExtraBold</vt:lpstr>
      <vt:lpstr>맑은 고딕</vt:lpstr>
      <vt:lpstr>맑은 고딕 Semilight</vt:lpstr>
      <vt:lpstr>Batang</vt:lpstr>
      <vt:lpstr>휴먼옛체</vt:lpstr>
      <vt:lpstr>ADLaM Display</vt:lpstr>
      <vt:lpstr>Arial</vt:lpstr>
      <vt:lpstr>Arial Narrow</vt:lpstr>
      <vt:lpstr>Cambria Math</vt:lpstr>
      <vt:lpstr>Segoe UI Light</vt:lpstr>
      <vt:lpstr>Wingdings</vt:lpstr>
      <vt:lpstr>WelcomeDoc</vt:lpstr>
      <vt:lpstr>Deep Learning</vt:lpstr>
      <vt:lpstr>Goals</vt:lpstr>
      <vt:lpstr>Contents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Gradient Descent Methods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Generate Data </vt:lpstr>
      <vt:lpstr>1. from scratch</vt:lpstr>
      <vt:lpstr>2. optimizer</vt:lpstr>
      <vt:lpstr>3. model (like pro)</vt:lpstr>
      <vt:lpstr>PowerPoint 프레젠테이션</vt:lpstr>
      <vt:lpstr>PowerPoint 프레젠테이션</vt:lpstr>
      <vt:lpstr>Contents</vt:lpstr>
      <vt:lpstr>Hands-on : FNN(feed-forward neural networks) </vt:lpstr>
      <vt:lpstr>Hands-on : FNN(feed-forward neural networks) </vt:lpstr>
      <vt:lpstr>Contents</vt:lpstr>
      <vt:lpstr>Tabular Data</vt:lpstr>
      <vt:lpstr>Matrix Data</vt:lpstr>
      <vt:lpstr>Image Data</vt:lpstr>
      <vt:lpstr>Timeseries Data</vt:lpstr>
      <vt:lpstr>Timeseries Data</vt:lpstr>
      <vt:lpstr>Text Data</vt:lpstr>
      <vt:lpstr>Text Data</vt:lpstr>
      <vt:lpstr>Deep Learning with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94</cp:revision>
  <dcterms:created xsi:type="dcterms:W3CDTF">2026-04-06T01:00:39Z</dcterms:created>
  <dcterms:modified xsi:type="dcterms:W3CDTF">2026-07-08T02:46:02Z</dcterms:modified>
  <cp:version/>
</cp:coreProperties>
</file>