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9"/>
  </p:notesMasterIdLst>
  <p:handoutMasterIdLst>
    <p:handoutMasterId r:id="rId50"/>
  </p:handoutMasterIdLst>
  <p:sldIdLst>
    <p:sldId id="256" r:id="rId2"/>
    <p:sldId id="1109" r:id="rId3"/>
    <p:sldId id="1110" r:id="rId4"/>
    <p:sldId id="930" r:id="rId5"/>
    <p:sldId id="1099" r:id="rId6"/>
    <p:sldId id="1108" r:id="rId7"/>
    <p:sldId id="970" r:id="rId8"/>
    <p:sldId id="946" r:id="rId9"/>
    <p:sldId id="1100" r:id="rId10"/>
    <p:sldId id="984" r:id="rId11"/>
    <p:sldId id="852" r:id="rId12"/>
    <p:sldId id="988" r:id="rId13"/>
    <p:sldId id="974" r:id="rId14"/>
    <p:sldId id="997" r:id="rId15"/>
    <p:sldId id="1101" r:id="rId16"/>
    <p:sldId id="1002" r:id="rId17"/>
    <p:sldId id="993" r:id="rId18"/>
    <p:sldId id="1098" r:id="rId19"/>
    <p:sldId id="1102" r:id="rId20"/>
    <p:sldId id="978" r:id="rId21"/>
    <p:sldId id="973" r:id="rId22"/>
    <p:sldId id="977" r:id="rId23"/>
    <p:sldId id="986" r:id="rId24"/>
    <p:sldId id="1103" r:id="rId25"/>
    <p:sldId id="954" r:id="rId26"/>
    <p:sldId id="882" r:id="rId27"/>
    <p:sldId id="883" r:id="rId28"/>
    <p:sldId id="886" r:id="rId29"/>
    <p:sldId id="1104" r:id="rId30"/>
    <p:sldId id="1092" r:id="rId31"/>
    <p:sldId id="1093" r:id="rId32"/>
    <p:sldId id="1072" r:id="rId33"/>
    <p:sldId id="1073" r:id="rId34"/>
    <p:sldId id="987" r:id="rId35"/>
    <p:sldId id="968" r:id="rId36"/>
    <p:sldId id="1105" r:id="rId37"/>
    <p:sldId id="1089" r:id="rId38"/>
    <p:sldId id="1085" r:id="rId39"/>
    <p:sldId id="1106" r:id="rId40"/>
    <p:sldId id="272" r:id="rId41"/>
    <p:sldId id="273" r:id="rId42"/>
    <p:sldId id="270" r:id="rId43"/>
    <p:sldId id="271" r:id="rId44"/>
    <p:sldId id="274" r:id="rId45"/>
    <p:sldId id="269" r:id="rId46"/>
    <p:sldId id="275" r:id="rId47"/>
    <p:sldId id="1107" r:id="rId4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09"/>
            <p14:sldId id="1110"/>
            <p14:sldId id="930"/>
            <p14:sldId id="1099"/>
            <p14:sldId id="1108"/>
            <p14:sldId id="970"/>
            <p14:sldId id="946"/>
            <p14:sldId id="1100"/>
            <p14:sldId id="984"/>
            <p14:sldId id="852"/>
            <p14:sldId id="988"/>
            <p14:sldId id="974"/>
            <p14:sldId id="997"/>
            <p14:sldId id="1101"/>
            <p14:sldId id="1002"/>
            <p14:sldId id="993"/>
            <p14:sldId id="1098"/>
            <p14:sldId id="1102"/>
            <p14:sldId id="978"/>
            <p14:sldId id="973"/>
            <p14:sldId id="977"/>
            <p14:sldId id="986"/>
            <p14:sldId id="1103"/>
            <p14:sldId id="954"/>
            <p14:sldId id="882"/>
            <p14:sldId id="883"/>
            <p14:sldId id="886"/>
            <p14:sldId id="1104"/>
            <p14:sldId id="1092"/>
            <p14:sldId id="1093"/>
            <p14:sldId id="1072"/>
            <p14:sldId id="1073"/>
            <p14:sldId id="987"/>
            <p14:sldId id="968"/>
            <p14:sldId id="1105"/>
            <p14:sldId id="1089"/>
            <p14:sldId id="1085"/>
            <p14:sldId id="1106"/>
            <p14:sldId id="272"/>
            <p14:sldId id="273"/>
            <p14:sldId id="270"/>
            <p14:sldId id="271"/>
            <p14:sldId id="274"/>
            <p14:sldId id="269"/>
            <p14:sldId id="275"/>
            <p14:sldId id="110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23041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413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handoutMaster" Target="handoutMasters/handout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commentAuthors" Target="comment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A1A2E-C2F0-DC97-0EA6-A6FA9930B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89E6CB-FD0C-964A-F5C0-E244A9FF4E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573AAD-E74F-5BCC-3C1D-4819C21F77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DF0306-46A7-AC69-CD30-6AF963E25B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23141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E9381-AD37-61AD-E9AB-821A7F93D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C53905-F80D-8DB0-6CAC-2AE2305F38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7F1A17-329B-9D9C-701E-DC947207C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010C56-7DD0-CBC7-F983-23483BBFC0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3618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AE1F0-3060-EEFC-178D-BFD9B0C22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732584-F87F-DBDD-68FC-BA9E52C3A2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C83A38-1EFF-26DE-6BF0-D2FCE8357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FE83B6-9EBF-E2FD-CD68-2B41247DCD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87781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AE1E5-DD18-B7F8-A0D9-8482F25E2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614062-8B62-5328-4DD6-ABC253E77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A9FEAE-153F-6110-F0F8-5826629190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C8146-E0FB-FBDA-BA45-3E7E70AA53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345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7B731-EFE9-D7A5-3631-BA11E6585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30C58A-052B-8930-11DD-C3144E8F95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5705EB-BB0A-21E6-BAC7-B67BDE5F21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2B26B0-7603-65A0-EF98-BE296485FC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10607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F3844-3903-175E-0DE6-28323784D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B45FB0-EEAB-8DA9-22FE-A4EC8BE802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A26690-58E3-DF72-B5D8-357A90FC26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0B63C0-B662-D924-0615-3A3D0CBE1B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2201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8C0C2-973F-DE63-4C3C-0054EDA82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6C4ED5-9489-8E34-C768-ABB216579B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91DDFC-6297-AA55-6734-F8FFECE255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8C8EE3-B7AC-BB77-0044-2D83630FF0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67787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A58F7-5F3A-6690-5EE8-E87C257C9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4B0770-5C70-8F6A-2D8D-F499FE7AE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E4C637-A408-7122-170A-346A2F387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40E65-7F57-4622-5720-C9A563CAB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74932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1F5D0-C04B-3291-9B91-EFBB6DE3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F14C60-E517-0B9C-87A0-744BC0E22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67C385-3E2E-E870-9DBF-D13E63AF7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FFEB7D-1C99-79FB-E3EB-82C6322583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09578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15650-9BE8-51E4-45B0-6CC4EC87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775A53-BA10-CC4C-0FD7-9A05BBCEF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BF9564-7015-92A0-DE91-51DF0DE0C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016B6E-46FA-490C-ADC4-BFD4E53E6F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19658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DAF-507D-30A7-4D36-4B1C3987B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0E7D58A-F007-F03D-80A7-47BA8340E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42AEEE-7901-9BD8-0C5A-D040E79A5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B7704-7EE3-7F57-8A60-1BD9BBB3C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5333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B327D-FD14-C3F3-CB16-6DAFD84DE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E10565-F602-5BF3-30B3-4AA1D1F0B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D735D6-6918-C074-EE42-537E6F38F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7A6AA6-BF2F-F3E1-2F28-6461503428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94744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8F1B2-C174-E815-D409-0A3F77E5D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2F3EB6-6D78-86EC-C34E-AC16F68386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803FFD-0CAF-439F-9645-8DFDBEEC0C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B9B655-4B54-32DD-0A1C-BBBE25F5C5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21068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7560D-60B5-CBEE-2F03-3A123D207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1AF83A-0425-14D8-7169-A42513D0E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D1CB96-AE80-F4E7-D3FD-BA86D28B9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08AF8D-086C-219C-9037-D25A219E21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67881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9ACB1-5943-85E2-19CE-B7D872D0B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6E539B-B26F-4E72-88F8-1ED86193A5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326878-F63D-1A0C-3317-91A849E024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33DFE5-6CFF-5363-5BD1-1928861752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21050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geeksforgeeks.org/deep-learning/deep-learning-tutorial/" TargetMode="Externa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www.geeksforgeeks.org/deep-learning/layers-in-artificial-neural-networks-ann/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hyperlink" Target="https://github.com/ancestor9/mathematics-for-machine-learning/blob/main/scripts/w4_stochastic_gradient_descent.ipynb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71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741.png"/><Relationship Id="rId3" Type="http://schemas.openxmlformats.org/officeDocument/2006/relationships/image" Target="../media/image640.png"/><Relationship Id="rId7" Type="http://schemas.openxmlformats.org/officeDocument/2006/relationships/image" Target="../media/image680.png"/><Relationship Id="rId12" Type="http://schemas.openxmlformats.org/officeDocument/2006/relationships/image" Target="../media/image730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70.png"/><Relationship Id="rId11" Type="http://schemas.openxmlformats.org/officeDocument/2006/relationships/image" Target="../media/image20.png"/><Relationship Id="rId5" Type="http://schemas.openxmlformats.org/officeDocument/2006/relationships/image" Target="../media/image660.png"/><Relationship Id="rId10" Type="http://schemas.openxmlformats.org/officeDocument/2006/relationships/image" Target="../media/image710.png"/><Relationship Id="rId4" Type="http://schemas.openxmlformats.org/officeDocument/2006/relationships/image" Target="../media/image650.png"/><Relationship Id="rId9" Type="http://schemas.openxmlformats.org/officeDocument/2006/relationships/image" Target="../media/image19.png"/><Relationship Id="rId1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5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89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svg"/><Relationship Id="rId3" Type="http://schemas.openxmlformats.org/officeDocument/2006/relationships/image" Target="../media/image53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sv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sv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hyperlink" Target="https://docs.pytorch.org/tutorials/beginner/basics/quickstart_tutorial.html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haped.ai/blog/cosine-similarity-not-the-silver-bullet-we-thought-it-was" TargetMode="External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projector.tensorflow.org/" TargetMode="External"/><Relationship Id="rId5" Type="http://schemas.openxmlformats.org/officeDocument/2006/relationships/image" Target="../media/image71.png"/><Relationship Id="rId4" Type="http://schemas.openxmlformats.org/officeDocument/2006/relationships/hyperlink" Target="https://word2vec.kr/search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 Recap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F7AFC-1C8C-9B11-2B5C-B5F66D61A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81CA5B-B0B2-09C1-6B0E-5CD6A3385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F762443-96AC-3360-4C04-16FD0195FD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Artificial Neural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Network(ANN)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_neural_network">
            <a:extLst>
              <a:ext uri="{FF2B5EF4-FFF2-40B4-BE49-F238E27FC236}">
                <a16:creationId xmlns:a16="http://schemas.microsoft.com/office/drawing/2014/main" id="{BFBDBB93-337B-13A9-11B3-222243FB87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DA527C-F81A-AEC2-8C1F-03E9B9E955A3}"/>
              </a:ext>
            </a:extLst>
          </p:cNvPr>
          <p:cNvSpPr txBox="1"/>
          <p:nvPr/>
        </p:nvSpPr>
        <p:spPr>
          <a:xfrm>
            <a:off x="6124575" y="195850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deep-learning</a:t>
            </a:r>
            <a:endParaRPr lang="ko-KR" altLang="en-US" sz="2000" b="1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AutoShape 4" descr="_neural_network">
            <a:extLst>
              <a:ext uri="{FF2B5EF4-FFF2-40B4-BE49-F238E27FC236}">
                <a16:creationId xmlns:a16="http://schemas.microsoft.com/office/drawing/2014/main" id="{57C807C8-E541-6499-F20E-A3513249D9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AD2A04-B599-53CC-E721-0748A39C9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575" y="2415107"/>
            <a:ext cx="5777778" cy="264281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332D493-EA9B-C34D-0CFC-0852C011FD79}"/>
              </a:ext>
            </a:extLst>
          </p:cNvPr>
          <p:cNvSpPr txBox="1"/>
          <p:nvPr/>
        </p:nvSpPr>
        <p:spPr>
          <a:xfrm>
            <a:off x="677399" y="1940729"/>
            <a:ext cx="5418601" cy="427809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COMPOSED OF NODE LAYERS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(노드 레이어들로 구성됨)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LINEAR REGRESSION MODEL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(선형 회귀 모델을 사용함)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RELY ON TRAINING DATA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(훈련 데이터에 의존함)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DATA IS PASSED BETWEEN NODES FEED FORWARD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(데이터가 노드 간에 순방향으로 전달됨)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LEARN using gradient descent and backpropagation </a:t>
            </a:r>
            <a:endParaRPr lang="ko-KR" altLang="en-US" sz="1600" cap="all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역전파로 학습함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altLang="ko-KR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Neural Networks have multiple types</a:t>
            </a:r>
          </a:p>
          <a:p>
            <a:r>
              <a:rPr lang="en-US" altLang="ko-KR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여러 형태의 </a:t>
            </a:r>
            <a:r>
              <a:rPr lang="en-US" altLang="ko-KR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r>
              <a:rPr lang="ko-KR" altLang="en-US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</a:t>
            </a:r>
            <a:r>
              <a:rPr lang="en-US" altLang="ko-KR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4" name="AutoShape 7" descr="layers_in_ann">
            <a:extLst>
              <a:ext uri="{FF2B5EF4-FFF2-40B4-BE49-F238E27FC236}">
                <a16:creationId xmlns:a16="http://schemas.microsoft.com/office/drawing/2014/main" id="{90692167-3CC6-DC38-8A7A-CE1748BD43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089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2CDE7-2B25-5ECC-0DF7-DC6BD1FC7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78309C-D33D-0E2E-FB2B-790247BA5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05C7F9-808D-2263-732B-934D91261CC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Artificial Neural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Network(ANN)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_neural_network">
            <a:extLst>
              <a:ext uri="{FF2B5EF4-FFF2-40B4-BE49-F238E27FC236}">
                <a16:creationId xmlns:a16="http://schemas.microsoft.com/office/drawing/2014/main" id="{B1A88B98-1640-CE97-68B9-B81702EAAF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E0D397-DA50-9EA0-12FD-B1B490A662C9}"/>
              </a:ext>
            </a:extLst>
          </p:cNvPr>
          <p:cNvSpPr txBox="1"/>
          <p:nvPr/>
        </p:nvSpPr>
        <p:spPr>
          <a:xfrm>
            <a:off x="581025" y="1662346"/>
            <a:ext cx="480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layers-in-artificial-neural-networks</a:t>
            </a:r>
            <a:endParaRPr lang="ko-KR" altLang="en-US" sz="20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AutoShape 4" descr="_neural_network">
            <a:extLst>
              <a:ext uri="{FF2B5EF4-FFF2-40B4-BE49-F238E27FC236}">
                <a16:creationId xmlns:a16="http://schemas.microsoft.com/office/drawing/2014/main" id="{D2E8E660-66B2-1282-0358-9B97784A576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AutoShape 7" descr="layers_in_ann">
            <a:extLst>
              <a:ext uri="{FF2B5EF4-FFF2-40B4-BE49-F238E27FC236}">
                <a16:creationId xmlns:a16="http://schemas.microsoft.com/office/drawing/2014/main" id="{554AA9D4-E449-6131-508E-053ECCD9F5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AutoShape 2" descr="layers_in_ann">
            <a:extLst>
              <a:ext uri="{FF2B5EF4-FFF2-40B4-BE49-F238E27FC236}">
                <a16:creationId xmlns:a16="http://schemas.microsoft.com/office/drawing/2014/main" id="{2BB53C93-6C3A-E51B-0B7C-82D80DABDE7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0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5A9FD4C-004F-86A2-F2D4-D1488CAB98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8542" y="2229832"/>
            <a:ext cx="6542083" cy="3806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393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221219" y="1948334"/>
            <a:ext cx="10008756" cy="2055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딥러닝의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핵심인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경사하강법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(Gradient Descent Algorithm)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모델을 이해하고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Perceptron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관련성을 활성화함수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(activation function),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심층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Layer. batch,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(Backpropagation)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등을 통해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ANN(Artificial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Neural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구조를 파악한 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backward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기능으로 딥러닝 코드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(from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scratch,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optimizer, model)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D260C-C84D-C232-2931-7A27EB292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82EB371-732C-5C96-1E1E-E572F973C1BF}"/>
              </a:ext>
            </a:extLst>
          </p:cNvPr>
          <p:cNvSpPr/>
          <p:nvPr/>
        </p:nvSpPr>
        <p:spPr>
          <a:xfrm>
            <a:off x="781627" y="1869818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332890D-62E4-E657-FEED-B5D62840D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4F1DF52-51F9-90E2-7401-989BA2F4B7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6B89F4-E5F8-9266-654E-F2ED5AD82887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1175699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BFED0-F830-72DA-72BA-E6DE536BE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C6B46A-7309-CA4F-EF8E-BD94F1926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0B04396-2F7E-56B0-F472-44D482EE5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C53CDAE-291A-CC52-1520-B1DDEC9BB8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FFF507EF-5437-318C-308A-D812739A7D8F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2326550-A26A-FCD3-70E0-5FB5457D2665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0056E9-FCB9-C589-670A-C860F2AB4823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31D62555-8B8F-CF8C-5D62-B77EE2AAAC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B7537887-C925-24A9-6644-FC4D110A3B19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24EC59E-CA12-D98C-EB98-73B10397AC1D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4DF6D98-1723-4F93-95A8-4D8C3DDC8932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CD7B41DD-06C2-D675-C148-05F0C13A3C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DA4B3E-E48C-337A-166F-3F37C87280A8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1960B43-ADD6-F495-5A09-31F2B3BEB863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F41FEA74-ED02-5A38-E8EB-C023B852EA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905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509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BF3420-B60D-A0AB-406C-314060F97DB8}"/>
              </a:ext>
            </a:extLst>
          </p:cNvPr>
          <p:cNvSpPr txBox="1"/>
          <p:nvPr/>
        </p:nvSpPr>
        <p:spPr>
          <a:xfrm>
            <a:off x="6772275" y="5504135"/>
            <a:ext cx="3010048" cy="574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손실함수를 각각 미분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하면 엑셀파일의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error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컬럼의 수식과 동일 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오른쪽 중괄호 8">
            <a:extLst>
              <a:ext uri="{FF2B5EF4-FFF2-40B4-BE49-F238E27FC236}">
                <a16:creationId xmlns:a16="http://schemas.microsoft.com/office/drawing/2014/main" id="{3C44E182-C676-7470-220F-30A25F83B508}"/>
              </a:ext>
            </a:extLst>
          </p:cNvPr>
          <p:cNvSpPr/>
          <p:nvPr/>
        </p:nvSpPr>
        <p:spPr>
          <a:xfrm>
            <a:off x="6503394" y="4667110"/>
            <a:ext cx="268881" cy="1124091"/>
          </a:xfrm>
          <a:prstGeom prst="rightBrace">
            <a:avLst>
              <a:gd name="adj1" fmla="val 6317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A2F6344-F0AB-2549-CF51-F499889F7A73}"/>
              </a:ext>
            </a:extLst>
          </p:cNvPr>
          <p:cNvCxnSpPr/>
          <p:nvPr/>
        </p:nvCxnSpPr>
        <p:spPr>
          <a:xfrm flipV="1">
            <a:off x="6772275" y="3642341"/>
            <a:ext cx="1095375" cy="405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BED1-BFF5-4B78-3632-2FEFD3AF9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59FF1A2-DFB9-34A0-A504-8654F87A19BF}"/>
              </a:ext>
            </a:extLst>
          </p:cNvPr>
          <p:cNvSpPr/>
          <p:nvPr/>
        </p:nvSpPr>
        <p:spPr>
          <a:xfrm>
            <a:off x="781627" y="2374643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14C243BB-6F9D-801C-9D6D-2EA82D8AB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662B68D-A1A3-834B-4C3F-CCA02875A2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10079C-81BF-2099-B0CB-B4824BA67F81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1488609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2D65160-C9B6-110E-9ECA-B23CFE20B8CC}"/>
              </a:ext>
            </a:extLst>
          </p:cNvPr>
          <p:cNvSpPr txBox="1"/>
          <p:nvPr/>
        </p:nvSpPr>
        <p:spPr>
          <a:xfrm>
            <a:off x="2503055" y="4386166"/>
            <a:ext cx="40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1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580D25-A326-79AF-8BEB-82A610205982}"/>
              </a:ext>
            </a:extLst>
          </p:cNvPr>
          <p:cNvSpPr txBox="1"/>
          <p:nvPr/>
        </p:nvSpPr>
        <p:spPr>
          <a:xfrm>
            <a:off x="4433714" y="3043504"/>
            <a:ext cx="40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EB973A4-BB2F-89A0-144B-F1083641FB50}"/>
              </a:ext>
            </a:extLst>
          </p:cNvPr>
          <p:cNvCxnSpPr>
            <a:cxnSpLocks/>
          </p:cNvCxnSpPr>
          <p:nvPr/>
        </p:nvCxnSpPr>
        <p:spPr>
          <a:xfrm>
            <a:off x="4325015" y="3006620"/>
            <a:ext cx="115584" cy="5357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0496E7-7A1A-4360-7E78-37EC0CEDD0E3}"/>
                  </a:ext>
                </a:extLst>
              </p:cNvPr>
              <p:cNvSpPr txBox="1"/>
              <p:nvPr/>
            </p:nvSpPr>
            <p:spPr>
              <a:xfrm>
                <a:off x="3907241" y="2625449"/>
                <a:ext cx="7296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b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0496E7-7A1A-4360-7E78-37EC0CEDD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241" y="2625449"/>
                <a:ext cx="72967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5263926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4785601" y="2774368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5601" y="2774368"/>
                <a:ext cx="1706399" cy="672172"/>
              </a:xfrm>
              <a:prstGeom prst="rect">
                <a:avLst/>
              </a:prstGeom>
              <a:blipFill>
                <a:blip r:embed="rId3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5684069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69FEEF38-324F-0593-546E-CDFA90C60E5E}"/>
              </a:ext>
            </a:extLst>
          </p:cNvPr>
          <p:cNvGrpSpPr/>
          <p:nvPr/>
        </p:nvGrpSpPr>
        <p:grpSpPr>
          <a:xfrm>
            <a:off x="2962544" y="2386853"/>
            <a:ext cx="2376814" cy="3330552"/>
            <a:chOff x="3305444" y="2386853"/>
            <a:chExt cx="2376814" cy="3330552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E5B0194-4379-CEFE-15AC-E1CC9C7CDA34}"/>
                </a:ext>
              </a:extLst>
            </p:cNvPr>
            <p:cNvCxnSpPr>
              <a:cxnSpLocks/>
              <a:stCxn id="3" idx="6"/>
              <a:endCxn id="19" idx="2"/>
            </p:cNvCxnSpPr>
            <p:nvPr/>
          </p:nvCxnSpPr>
          <p:spPr>
            <a:xfrm>
              <a:off x="3383459" y="3924230"/>
              <a:ext cx="2223367" cy="11153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2B41539A-E268-F490-CC02-5C475E24698F}"/>
                </a:ext>
              </a:extLst>
            </p:cNvPr>
            <p:cNvSpPr/>
            <p:nvPr/>
          </p:nvSpPr>
          <p:spPr>
            <a:xfrm>
              <a:off x="3905777" y="4899425"/>
              <a:ext cx="840284" cy="81798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1</a:t>
              </a:r>
              <a:endParaRPr lang="ko-KR" altLang="en-US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123B24C2-28A6-4D10-0B3A-B029DC9411F4}"/>
                </a:ext>
              </a:extLst>
            </p:cNvPr>
            <p:cNvCxnSpPr>
              <a:cxnSpLocks/>
              <a:stCxn id="10" idx="7"/>
              <a:endCxn id="19" idx="3"/>
            </p:cNvCxnSpPr>
            <p:nvPr/>
          </p:nvCxnSpPr>
          <p:spPr>
            <a:xfrm flipV="1">
              <a:off x="4623004" y="4232469"/>
              <a:ext cx="1059254" cy="786746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5CB086C-2BAF-4A22-FB82-6AC8CAD9716F}"/>
                    </a:ext>
                  </a:extLst>
                </p:cNvPr>
                <p:cNvSpPr txBox="1"/>
                <p:nvPr/>
              </p:nvSpPr>
              <p:spPr>
                <a:xfrm>
                  <a:off x="3897369" y="3567293"/>
                  <a:ext cx="364843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2000" i="1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5CB086C-2BAF-4A22-FB82-6AC8CAD971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7369" y="3567293"/>
                  <a:ext cx="364843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6667" r="-3333" b="-176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201D02E-6AC5-B238-E1BB-D925EE1B5A4D}"/>
                    </a:ext>
                  </a:extLst>
                </p:cNvPr>
                <p:cNvSpPr txBox="1"/>
                <p:nvPr/>
              </p:nvSpPr>
              <p:spPr>
                <a:xfrm>
                  <a:off x="4586134" y="4455259"/>
                  <a:ext cx="370806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ko-KR" altLang="en-US" sz="2000" i="1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201D02E-6AC5-B238-E1BB-D925EE1B5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6134" y="4455259"/>
                  <a:ext cx="37080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6557" r="-3279" b="-20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AF0D505-7E90-D3A5-3CAD-21E3C3F5D99F}"/>
                </a:ext>
              </a:extLst>
            </p:cNvPr>
            <p:cNvSpPr/>
            <p:nvPr/>
          </p:nvSpPr>
          <p:spPr>
            <a:xfrm>
              <a:off x="3305444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Weights</a:t>
              </a:r>
            </a:p>
          </p:txBody>
        </p:sp>
      </p:grp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4655660" y="2387418"/>
            <a:ext cx="224996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318552" y="2716823"/>
            <a:ext cx="4744428" cy="311247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9316411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6411" y="3754953"/>
                <a:ext cx="601170" cy="338554"/>
              </a:xfrm>
              <a:prstGeom prst="rect">
                <a:avLst/>
              </a:prstGeom>
              <a:blipFill>
                <a:blip r:embed="rId6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그룹 27">
            <a:extLst>
              <a:ext uri="{FF2B5EF4-FFF2-40B4-BE49-F238E27FC236}">
                <a16:creationId xmlns:a16="http://schemas.microsoft.com/office/drawing/2014/main" id="{1772D94C-741B-EBFA-3B29-5FA5D231070E}"/>
              </a:ext>
            </a:extLst>
          </p:cNvPr>
          <p:cNvGrpSpPr/>
          <p:nvPr/>
        </p:nvGrpSpPr>
        <p:grpSpPr>
          <a:xfrm>
            <a:off x="1728509" y="2386853"/>
            <a:ext cx="1780186" cy="3372848"/>
            <a:chOff x="2071409" y="2386853"/>
            <a:chExt cx="1780186" cy="33728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9425AEA0-D31F-45C0-DF21-5BF14AF47300}"/>
                    </a:ext>
                  </a:extLst>
                </p:cNvPr>
                <p:cNvSpPr/>
                <p:nvPr/>
              </p:nvSpPr>
              <p:spPr>
                <a:xfrm>
                  <a:off x="2543175" y="3515240"/>
                  <a:ext cx="840284" cy="817980"/>
                </a:xfrm>
                <a:prstGeom prst="ellipse">
                  <a:avLst/>
                </a:prstGeom>
                <a:solidFill>
                  <a:srgbClr val="00B0F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oMath>
                    </m:oMathPara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9425AEA0-D31F-45C0-DF21-5BF14AF4730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3175" y="3515240"/>
                  <a:ext cx="840284" cy="81798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D1C87C6D-B6F7-E7F9-521E-3D2F40D3D3F4}"/>
                </a:ext>
              </a:extLst>
            </p:cNvPr>
            <p:cNvSpPr/>
            <p:nvPr/>
          </p:nvSpPr>
          <p:spPr>
            <a:xfrm>
              <a:off x="2071409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Input</a:t>
              </a:r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5E615629-25CC-350E-7711-C87E5ED906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320336" y="4506459"/>
              <a:ext cx="1214595" cy="1253242"/>
            </a:xfrm>
            <a:prstGeom prst="rect">
              <a:avLst/>
            </a:prstGeom>
          </p:spPr>
        </p:pic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0D8550AB-9C20-98FE-6676-60C812652640}"/>
              </a:ext>
            </a:extLst>
          </p:cNvPr>
          <p:cNvGrpSpPr/>
          <p:nvPr/>
        </p:nvGrpSpPr>
        <p:grpSpPr>
          <a:xfrm>
            <a:off x="8730552" y="2379460"/>
            <a:ext cx="1780186" cy="3385071"/>
            <a:chOff x="8921052" y="2379460"/>
            <a:chExt cx="1780186" cy="3385071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E48D8F8-98D4-7429-88BE-455A8189E92F}"/>
                </a:ext>
              </a:extLst>
            </p:cNvPr>
            <p:cNvSpPr/>
            <p:nvPr/>
          </p:nvSpPr>
          <p:spPr>
            <a:xfrm>
              <a:off x="8921052" y="2379460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Actual y</a:t>
              </a:r>
            </a:p>
          </p:txBody>
        </p:sp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E3D4FDAA-A454-51E2-EB7C-210D158527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937802" y="4506343"/>
              <a:ext cx="1020153" cy="1258188"/>
            </a:xfrm>
            <a:prstGeom prst="rect">
              <a:avLst/>
            </a:prstGeom>
          </p:spPr>
        </p:pic>
      </p:grp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  <a:endCxn id="68" idx="1"/>
          </p:cNvCxnSpPr>
          <p:nvPr/>
        </p:nvCxnSpPr>
        <p:spPr>
          <a:xfrm flipV="1">
            <a:off x="6104212" y="3924230"/>
            <a:ext cx="2411138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515350" y="3754953"/>
                <a:ext cx="617549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5350" y="3754953"/>
                <a:ext cx="617549" cy="338554"/>
              </a:xfrm>
              <a:prstGeom prst="rect">
                <a:avLst/>
              </a:prstGeom>
              <a:blipFill>
                <a:blip r:embed="rId10"/>
                <a:stretch>
                  <a:fillRect r="-6931"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7861821" y="2386853"/>
            <a:ext cx="168689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624A0F54-2BAF-349B-5B5D-97E3FA6EEC2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85481" y="4490956"/>
            <a:ext cx="516826" cy="1284248"/>
          </a:xfrm>
          <a:prstGeom prst="rect">
            <a:avLst/>
          </a:prstGeom>
        </p:spPr>
      </p:pic>
      <p:grpSp>
        <p:nvGrpSpPr>
          <p:cNvPr id="38" name="그룹 37">
            <a:extLst>
              <a:ext uri="{FF2B5EF4-FFF2-40B4-BE49-F238E27FC236}">
                <a16:creationId xmlns:a16="http://schemas.microsoft.com/office/drawing/2014/main" id="{CBD519E3-12B3-F187-F1F2-55669C9B7DD2}"/>
              </a:ext>
            </a:extLst>
          </p:cNvPr>
          <p:cNvGrpSpPr/>
          <p:nvPr/>
        </p:nvGrpSpPr>
        <p:grpSpPr>
          <a:xfrm>
            <a:off x="9876865" y="2386853"/>
            <a:ext cx="1780186" cy="1706654"/>
            <a:chOff x="10000690" y="2386853"/>
            <a:chExt cx="1780186" cy="170665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DB1EC05C-CFA8-42F0-9ED9-E5A51104A20D}"/>
                    </a:ext>
                  </a:extLst>
                </p:cNvPr>
                <p:cNvSpPr/>
                <p:nvPr/>
              </p:nvSpPr>
              <p:spPr>
                <a:xfrm>
                  <a:off x="10472937" y="3754953"/>
                  <a:ext cx="981075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</m:acc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r>
                              <m:rPr>
                                <m:sty m:val="p"/>
                              </m:r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ko-KR" altLang="en-US" sz="1600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DB1EC05C-CFA8-42F0-9ED9-E5A51104A20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72937" y="3754953"/>
                  <a:ext cx="981075" cy="338554"/>
                </a:xfrm>
                <a:prstGeom prst="rect">
                  <a:avLst/>
                </a:prstGeom>
                <a:blipFill>
                  <a:blip r:embed="rId12"/>
                  <a:stretch>
                    <a:fillRect l="-621" b="-1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D08F5C12-BAAE-4ECE-8B92-DFE290463671}"/>
                </a:ext>
              </a:extLst>
            </p:cNvPr>
            <p:cNvSpPr/>
            <p:nvPr/>
          </p:nvSpPr>
          <p:spPr>
            <a:xfrm>
              <a:off x="10000690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Squared error</a:t>
              </a: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49CE807-98D0-88FD-70A1-D6FBDF4D41CB}"/>
              </a:ext>
            </a:extLst>
          </p:cNvPr>
          <p:cNvGrpSpPr/>
          <p:nvPr/>
        </p:nvGrpSpPr>
        <p:grpSpPr>
          <a:xfrm>
            <a:off x="6610349" y="2243978"/>
            <a:ext cx="1282281" cy="1988491"/>
            <a:chOff x="6610349" y="2243978"/>
            <a:chExt cx="1282281" cy="1988491"/>
          </a:xfrm>
        </p:grpSpPr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5BE57420-61E3-16F4-35BB-8FC03FD12D2C}"/>
                </a:ext>
              </a:extLst>
            </p:cNvPr>
            <p:cNvGrpSpPr/>
            <p:nvPr/>
          </p:nvGrpSpPr>
          <p:grpSpPr>
            <a:xfrm>
              <a:off x="6610349" y="2243978"/>
              <a:ext cx="1282281" cy="1061583"/>
              <a:chOff x="6953249" y="2243978"/>
              <a:chExt cx="1282281" cy="106158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12899664-0529-7DFF-D057-7CA68DD92522}"/>
                      </a:ext>
                    </a:extLst>
                  </p:cNvPr>
                  <p:cNvSpPr txBox="1"/>
                  <p:nvPr/>
                </p:nvSpPr>
                <p:spPr>
                  <a:xfrm>
                    <a:off x="6953249" y="2967007"/>
                    <a:ext cx="1282281" cy="33855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𝜎</m:t>
                          </m:r>
                          <m:d>
                            <m:d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oMath>
                      </m:oMathPara>
                    </a14:m>
                    <a:endParaRPr lang="ko-KR" altLang="en-US" sz="1600" dirty="0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12899664-0529-7DFF-D057-7CA68DD925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53249" y="2967007"/>
                    <a:ext cx="1282281" cy="33855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5455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7" name="직사각형 66">
                <a:extLst>
                  <a:ext uri="{FF2B5EF4-FFF2-40B4-BE49-F238E27FC236}">
                    <a16:creationId xmlns:a16="http://schemas.microsoft.com/office/drawing/2014/main" id="{E9C596E4-1E62-4B84-87BB-5BB08482914A}"/>
                  </a:ext>
                </a:extLst>
              </p:cNvPr>
              <p:cNvSpPr/>
              <p:nvPr/>
            </p:nvSpPr>
            <p:spPr>
              <a:xfrm>
                <a:off x="6964841" y="2243978"/>
                <a:ext cx="1224754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R="0" lvl="0" algn="ctr" defTabSz="914400" rtl="0" eaLnBrk="1" fontAlgn="base" latinLnBrk="1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lang="en-US" altLang="ko-KR" sz="1200" dirty="0">
                    <a:solidFill>
                      <a:prstClr val="black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Activation function</a:t>
                </a:r>
              </a:p>
            </p:txBody>
          </p:sp>
        </p:grpSp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AFF570E8-BCAB-F313-5B67-FE98143CB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905624" y="3643485"/>
              <a:ext cx="803628" cy="5889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2" grpId="0"/>
      <p:bldP spid="6" grpId="0"/>
      <p:bldP spid="13" grpId="0" animBg="1"/>
      <p:bldP spid="20" grpId="0"/>
      <p:bldP spid="68" grpId="0"/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97C5A6A-3B6B-A2D6-548B-71FA1CC02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835" y="3242033"/>
            <a:ext cx="725689" cy="1803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D0B6-A6ED-F6E5-D9BA-7D375EA25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AD31B-30C8-7B17-79C6-D1ED41A4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7167576-2A3B-AC12-A254-7AEAC9DFA3C7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A08A5927-BCE8-17F3-722E-F94816AA1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9"/>
            <a:ext cx="11064543" cy="888472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인공신경망 핵심 원리인 보편적 근사 정리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(Universal Approximation Theorem) :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신경망이 충분한 수의 노드와 적절한 활성화 함수를 가지고 있다면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이론적으로 어떤 형태의 연속 함수라도 근사할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 있음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03D2B85-BC15-4243-74EF-3794CD00BFC2}"/>
              </a:ext>
            </a:extLst>
          </p:cNvPr>
          <p:cNvSpPr txBox="1">
            <a:spLocks/>
          </p:cNvSpPr>
          <p:nvPr/>
        </p:nvSpPr>
        <p:spPr>
          <a:xfrm>
            <a:off x="689421" y="57042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Networks(NN)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F29C735-FFCB-09AC-B689-80584795B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593" y="2611764"/>
            <a:ext cx="3433309" cy="23590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3ABEBF-19DE-0F25-AD3C-A57C4D163004}"/>
              </a:ext>
            </a:extLst>
          </p:cNvPr>
          <p:cNvSpPr txBox="1"/>
          <p:nvPr/>
        </p:nvSpPr>
        <p:spPr>
          <a:xfrm>
            <a:off x="2280593" y="5502899"/>
            <a:ext cx="64960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series of operations that can approximate (practically) any function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사실상 어떤 함수도 근사할 수 있는 일련의 연산들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endParaRPr lang="ko-KR" altLang="en-US" sz="16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EACF0A5-9708-AFEA-817F-D84AEE041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902" y="2611764"/>
            <a:ext cx="4167390" cy="2359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85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D714C-6046-28A1-CEA5-49FF6A608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FE43485-928D-07EA-57F7-E63453A93A6D}"/>
              </a:ext>
            </a:extLst>
          </p:cNvPr>
          <p:cNvSpPr/>
          <p:nvPr/>
        </p:nvSpPr>
        <p:spPr>
          <a:xfrm>
            <a:off x="781627" y="2812793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93A23948-9688-8D72-00AF-765DA468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F1532DC-51F3-65BE-E18E-E8ED187C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D30F9D-1D0B-B964-E0D6-D452F576D081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3123822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AB932-2EF8-649B-F43A-5F5085079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F1670-BAC1-AD99-B2F9-A6E14FE6D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2A780B-E056-2441-C581-B6259A3E62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0E52C76F-F19C-8F6F-244F-7E3C63C08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" y="2224949"/>
            <a:ext cx="2010184" cy="159457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09B8A8-1F86-AACF-2635-B1936BE26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9309" y="2239279"/>
            <a:ext cx="7144108" cy="139446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82877D11-0050-8567-D7B0-AF7609B57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" y="3717564"/>
            <a:ext cx="1666758" cy="24440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4B28289-EBC5-1F5A-B55D-779F25E6CB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4807" y="4278616"/>
            <a:ext cx="3292749" cy="81117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20D63F3-67FB-5E75-9CDF-1727090D8C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8675" y="4628272"/>
            <a:ext cx="3286740" cy="78713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DB08982-871B-BAB7-43F5-367DCF863D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3389" y="4953894"/>
            <a:ext cx="3292749" cy="75108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DD44507-119A-BF6A-CA34-4F0E3FAD44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0811" y="5243464"/>
            <a:ext cx="3274723" cy="76310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9483210-42EC-B83E-1CF9-E3A73E792A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956" y="5545050"/>
            <a:ext cx="3304766" cy="793144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32D7BFF-98C4-CCA5-70D8-095757EC91B3}"/>
              </a:ext>
            </a:extLst>
          </p:cNvPr>
          <p:cNvCxnSpPr>
            <a:cxnSpLocks/>
          </p:cNvCxnSpPr>
          <p:nvPr/>
        </p:nvCxnSpPr>
        <p:spPr>
          <a:xfrm>
            <a:off x="6896828" y="3644430"/>
            <a:ext cx="0" cy="86548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0425FA68-D577-0001-59AC-3D70E1723BA6}"/>
              </a:ext>
            </a:extLst>
          </p:cNvPr>
          <p:cNvCxnSpPr>
            <a:cxnSpLocks/>
          </p:cNvCxnSpPr>
          <p:nvPr/>
        </p:nvCxnSpPr>
        <p:spPr>
          <a:xfrm>
            <a:off x="6083394" y="3644430"/>
            <a:ext cx="0" cy="116379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D8C00EF-DB26-421C-3809-E9F29274EC42}"/>
              </a:ext>
            </a:extLst>
          </p:cNvPr>
          <p:cNvCxnSpPr>
            <a:cxnSpLocks/>
          </p:cNvCxnSpPr>
          <p:nvPr/>
        </p:nvCxnSpPr>
        <p:spPr>
          <a:xfrm>
            <a:off x="5014689" y="3644430"/>
            <a:ext cx="0" cy="1396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638B7BC-0E16-7220-0B97-BD9A9E0D8C20}"/>
              </a:ext>
            </a:extLst>
          </p:cNvPr>
          <p:cNvCxnSpPr>
            <a:cxnSpLocks/>
          </p:cNvCxnSpPr>
          <p:nvPr/>
        </p:nvCxnSpPr>
        <p:spPr>
          <a:xfrm>
            <a:off x="4165014" y="3644430"/>
            <a:ext cx="0" cy="173097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BADE6ADE-7564-EE16-A685-505C23174C7D}"/>
              </a:ext>
            </a:extLst>
          </p:cNvPr>
          <p:cNvCxnSpPr>
            <a:cxnSpLocks/>
          </p:cNvCxnSpPr>
          <p:nvPr/>
        </p:nvCxnSpPr>
        <p:spPr>
          <a:xfrm>
            <a:off x="8634188" y="3644430"/>
            <a:ext cx="0" cy="5275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림 35">
            <a:extLst>
              <a:ext uri="{FF2B5EF4-FFF2-40B4-BE49-F238E27FC236}">
                <a16:creationId xmlns:a16="http://schemas.microsoft.com/office/drawing/2014/main" id="{F90924B2-067C-D55F-6207-3111E53A3C91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681189" y="3252140"/>
            <a:ext cx="3005355" cy="364051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DC42014-027B-C349-05D0-139E3B0DEE3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637125" y="3624941"/>
            <a:ext cx="3564238" cy="7631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이미지의 신경망 구조를 바탕으로, 손실 함수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0" lang="ko-KR" altLang="ko-KR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대한 가중치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편미분</a:t>
                </a:r>
                <a:r>
                  <a:rPr kumimoji="0" lang="en-US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ko-KR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과정을 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출력층에서 시작하여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입력</a:t>
                </a:r>
                <a:r>
                  <a:rPr lang="ko-KR" altLang="en-US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층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방향으로 거슬러 올라가는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Chain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Rule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(연쇄 법칙)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역전파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Backpropagation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흐름의 핵심은 각 단계의 변화율을 곱하는 것</a:t>
                </a:r>
              </a:p>
            </p:txBody>
          </p:sp>
        </mc:Choice>
        <mc:Fallback xmlns=""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blipFill>
                <a:blip r:embed="rId12"/>
                <a:stretch>
                  <a:fillRect l="-271" t="-893" b="-107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4E13A0F6-FB56-CF47-9417-5E3D1C68DF0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66021" y="4278616"/>
            <a:ext cx="1089660" cy="290576"/>
          </a:xfrm>
          <a:prstGeom prst="rect">
            <a:avLst/>
          </a:prstGeom>
        </p:spPr>
      </p:pic>
      <p:sp>
        <p:nvSpPr>
          <p:cNvPr id="44" name="타원 43">
            <a:extLst>
              <a:ext uri="{FF2B5EF4-FFF2-40B4-BE49-F238E27FC236}">
                <a16:creationId xmlns:a16="http://schemas.microsoft.com/office/drawing/2014/main" id="{E5F0B88D-BCAB-B966-9358-21476CD19836}"/>
              </a:ext>
            </a:extLst>
          </p:cNvPr>
          <p:cNvSpPr/>
          <p:nvPr/>
        </p:nvSpPr>
        <p:spPr>
          <a:xfrm rot="20476699">
            <a:off x="5668662" y="5188915"/>
            <a:ext cx="5742152" cy="622417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648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2A18C4E-012D-807C-8C67-6C63AEC39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612" y="2091009"/>
            <a:ext cx="7257371" cy="413636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913EAB-BA36-16A9-AB24-CFEE9F746E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0613" y="2075770"/>
            <a:ext cx="7265694" cy="412804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C31180-20D2-3B0D-25E1-D40D042744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0452" y="2050369"/>
            <a:ext cx="7307307" cy="4144691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381A65D-316B-A000-FF90-C6D63C9BF426}"/>
              </a:ext>
            </a:extLst>
          </p:cNvPr>
          <p:cNvSpPr/>
          <p:nvPr/>
        </p:nvSpPr>
        <p:spPr>
          <a:xfrm>
            <a:off x="2000612" y="4907280"/>
            <a:ext cx="1984648" cy="1335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2BD06AB-5FDE-B384-3EBD-43406BC57E76}"/>
              </a:ext>
            </a:extLst>
          </p:cNvPr>
          <p:cNvGrpSpPr/>
          <p:nvPr/>
        </p:nvGrpSpPr>
        <p:grpSpPr>
          <a:xfrm>
            <a:off x="4660202" y="2362200"/>
            <a:ext cx="1931098" cy="2125980"/>
            <a:chOff x="4660202" y="2362200"/>
            <a:chExt cx="1931098" cy="2125980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56F2BBD8-C52D-5984-A974-6856F1852FF8}"/>
                </a:ext>
              </a:extLst>
            </p:cNvPr>
            <p:cNvSpPr/>
            <p:nvPr/>
          </p:nvSpPr>
          <p:spPr>
            <a:xfrm>
              <a:off x="4660202" y="2362200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DBFC4C29-E792-8B4F-63B9-D39685359B47}"/>
                </a:ext>
              </a:extLst>
            </p:cNvPr>
            <p:cNvSpPr/>
            <p:nvPr/>
          </p:nvSpPr>
          <p:spPr>
            <a:xfrm>
              <a:off x="4660202" y="3482634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805F8C82-8681-BCFE-A635-280F2B203808}"/>
                </a:ext>
              </a:extLst>
            </p:cNvPr>
            <p:cNvSpPr/>
            <p:nvPr/>
          </p:nvSpPr>
          <p:spPr>
            <a:xfrm>
              <a:off x="5798803" y="4159193"/>
              <a:ext cx="792497" cy="3289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19246-7915-8DA6-755D-8A10F8F0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720EAF2-C06C-E501-4D3C-47736FEE20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 dirty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FD243BE2-6A7B-22A3-454B-9C3AC37A4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Gradient Descent Methods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BFBEC9-D5E5-3B2F-CFC2-54257B6E12AD}"/>
              </a:ext>
            </a:extLst>
          </p:cNvPr>
          <p:cNvSpPr txBox="1"/>
          <p:nvPr/>
        </p:nvSpPr>
        <p:spPr>
          <a:xfrm>
            <a:off x="647700" y="1257300"/>
            <a:ext cx="1100082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Epoch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전체 데이터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이며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Iteration(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안에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한 번에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FWD/BWD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포인크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할지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size(n &lt;= 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할 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일반적으로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사용함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44660D-7C44-1AE5-DF14-D2A2ABCBFAEA}"/>
              </a:ext>
            </a:extLst>
          </p:cNvPr>
          <p:cNvSpPr txBox="1"/>
          <p:nvPr/>
        </p:nvSpPr>
        <p:spPr>
          <a:xfrm>
            <a:off x="5120004" y="2510872"/>
            <a:ext cx="6503843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</a:t>
            </a:r>
            <a:r>
              <a:rPr lang="ko-KR" altLang="en-US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ward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안정적이지만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계산량이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많음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EF42DC-6EEB-7010-D630-E3BE98BA6717}"/>
              </a:ext>
            </a:extLst>
          </p:cNvPr>
          <p:cNvSpPr txBox="1"/>
          <p:nvPr/>
        </p:nvSpPr>
        <p:spPr>
          <a:xfrm>
            <a:off x="5120004" y="3826168"/>
            <a:ext cx="6503843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ward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빠르지만 경로가 매우 불규칙함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15302B-331B-B6EF-35C7-B30AC5D333B1}"/>
              </a:ext>
            </a:extLst>
          </p:cNvPr>
          <p:cNvSpPr txBox="1"/>
          <p:nvPr/>
        </p:nvSpPr>
        <p:spPr>
          <a:xfrm>
            <a:off x="5120004" y="5141463"/>
            <a:ext cx="6503843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SGD </a:t>
            </a:r>
            <a:r>
              <a:rPr lang="ko-KR" altLang="en-US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</a:t>
            </a:r>
            <a:r>
              <a:rPr lang="en-US" altLang="ko-KR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ward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배치 사이즈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효율과 안정성의 균형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9AC76FC-0798-C080-7845-1D26119EE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2603235"/>
            <a:ext cx="2867025" cy="3732162"/>
          </a:xfrm>
          <a:prstGeom prst="rect">
            <a:avLst/>
          </a:prstGeom>
        </p:spPr>
      </p:pic>
      <p:sp>
        <p:nvSpPr>
          <p:cNvPr id="3" name="왼쪽 중괄호 2">
            <a:extLst>
              <a:ext uri="{FF2B5EF4-FFF2-40B4-BE49-F238E27FC236}">
                <a16:creationId xmlns:a16="http://schemas.microsoft.com/office/drawing/2014/main" id="{BB8DB900-4FFD-E6C4-2286-8BB8EA883C1F}"/>
              </a:ext>
            </a:extLst>
          </p:cNvPr>
          <p:cNvSpPr/>
          <p:nvPr/>
        </p:nvSpPr>
        <p:spPr>
          <a:xfrm>
            <a:off x="4737477" y="2805328"/>
            <a:ext cx="294034" cy="2551764"/>
          </a:xfrm>
          <a:prstGeom prst="leftBrace">
            <a:avLst>
              <a:gd name="adj1" fmla="val 3796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6B7183-ED37-2D03-2B43-F497448D7B23}"/>
              </a:ext>
            </a:extLst>
          </p:cNvPr>
          <p:cNvSpPr txBox="1"/>
          <p:nvPr/>
        </p:nvSpPr>
        <p:spPr>
          <a:xfrm>
            <a:off x="3669893" y="3813056"/>
            <a:ext cx="12930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미분계산</a:t>
            </a:r>
            <a:r>
              <a:rPr lang="en-US" altLang="ko-KR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횟수</a:t>
            </a:r>
          </a:p>
        </p:txBody>
      </p:sp>
    </p:spTree>
    <p:extLst>
      <p:ext uri="{BB962C8B-B14F-4D97-AF65-F5344CB8AC3E}">
        <p14:creationId xmlns:p14="http://schemas.microsoft.com/office/powerpoint/2010/main" val="2173493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10E3B-6364-A231-9B51-6CD4E9E46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01C99CB-C71F-85D1-ECF6-442B7986D871}"/>
              </a:ext>
            </a:extLst>
          </p:cNvPr>
          <p:cNvSpPr/>
          <p:nvPr/>
        </p:nvSpPr>
        <p:spPr>
          <a:xfrm>
            <a:off x="781627" y="3298568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6D9EDD7-C1BB-5222-1EEB-333B2B831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61E8F94-FF8A-D627-417B-5C3A6A4EB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C5CFA6-6D8E-3DB8-6926-C3B1AF97B894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1325110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8732020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10852597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23958887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743196" y="1749284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25490" y="1749285"/>
            <a:ext cx="6023314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41338" y="435670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2849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7F5C8-E014-0466-6CF0-74C7C0BF1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7D73C5C-E211-9E70-3641-4F5C4B505829}"/>
              </a:ext>
            </a:extLst>
          </p:cNvPr>
          <p:cNvSpPr/>
          <p:nvPr/>
        </p:nvSpPr>
        <p:spPr>
          <a:xfrm>
            <a:off x="781627" y="3746243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CA808C4-CC2B-DE69-600B-0DC349EF7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B4ADB79-3714-54B3-1B99-7034A4E6A0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8DF73B-DD7E-AA43-E0A0-833C0E0E23A7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3609770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5781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9899373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45" y="2230173"/>
            <a:ext cx="5075557" cy="35942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3A6ED75-9CD7-26AF-BB51-C91C68A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347" y="2230173"/>
            <a:ext cx="5215970" cy="359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4807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040166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A99DE-54F1-5ECB-2B13-266AB2E8E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5F9DD937-E4A8-D3CF-99E2-3F996368F74E}"/>
              </a:ext>
            </a:extLst>
          </p:cNvPr>
          <p:cNvSpPr/>
          <p:nvPr/>
        </p:nvSpPr>
        <p:spPr>
          <a:xfrm>
            <a:off x="781627" y="4203443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EFE8AD2-2542-98A8-6ADB-4E3FEFE7E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9D1A68D-EB14-17F7-A8A8-4469365205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00AB38-9A3D-D124-05EF-F9907356F1B1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3367382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085D0-E40D-6319-65CF-CDF22EB8F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46DD5E0-4589-F6F3-318A-D985B71F4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30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C5ECE83-B258-E8FA-26D3-41DF8248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B840E-DF80-14F4-3624-15A2E02BF76A}"/>
              </a:ext>
            </a:extLst>
          </p:cNvPr>
          <p:cNvSpPr txBox="1"/>
          <p:nvPr/>
        </p:nvSpPr>
        <p:spPr>
          <a:xfrm>
            <a:off x="639015" y="1433415"/>
            <a:ext cx="84290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Our batch of data will have 10 data points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10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Each data point has 1 input feature and 1 output value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input data X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true target labels y by using the "true" W and b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The "true" W is 2.0, the "true" b is 1.0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([[2.0]])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(1.0)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X @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* 0.1 # Add a little noise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Hyperparameters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00</a:t>
            </a:r>
          </a:p>
        </p:txBody>
      </p:sp>
      <p:pic>
        <p:nvPicPr>
          <p:cNvPr id="3" name="그래픽 2" descr="축구">
            <a:extLst>
              <a:ext uri="{FF2B5EF4-FFF2-40B4-BE49-F238E27FC236}">
                <a16:creationId xmlns:a16="http://schemas.microsoft.com/office/drawing/2014/main" id="{7190136F-A4B8-6D24-A8DC-FB46E1BE24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53724" y="361334"/>
            <a:ext cx="799551" cy="79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584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FA36-00AC-A287-F93C-D47C0F174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B21E1B-9F32-E4A0-EEE6-396CE5EBC7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31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D11157D5-88C0-D570-CE46-D896CD48C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from scratch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795FA8-01D4-A678-2D10-F56BCDEE5E05}"/>
              </a:ext>
            </a:extLst>
          </p:cNvPr>
          <p:cNvSpPr txBox="1"/>
          <p:nvPr/>
        </p:nvSpPr>
        <p:spPr>
          <a:xfrm>
            <a:off x="648250" y="1292721"/>
            <a:ext cx="8429076" cy="50167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Re-initialize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914360A-9527-B548-6FB1-3E8295F92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703" y="3049726"/>
            <a:ext cx="3875272" cy="29332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6931AD6-9B84-91C1-B0B1-C2694A832A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31" y="4035971"/>
            <a:ext cx="3492869" cy="26137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68B8E914-2DA8-98A3-E183-6477582251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300" y="4785916"/>
            <a:ext cx="4429125" cy="27682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010D7A38-2DC4-0AD6-E6FC-33B2A17BE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6322" y="5932939"/>
            <a:ext cx="3492869" cy="28819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E3D5CAF1-EF4D-5838-3CA3-F43F49CAF447}"/>
              </a:ext>
            </a:extLst>
          </p:cNvPr>
          <p:cNvSpPr/>
          <p:nvPr/>
        </p:nvSpPr>
        <p:spPr>
          <a:xfrm>
            <a:off x="1053843" y="3056191"/>
            <a:ext cx="4014859" cy="532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10CEAC8-4B18-C5D3-4F20-9601158BF239}"/>
              </a:ext>
            </a:extLst>
          </p:cNvPr>
          <p:cNvSpPr/>
          <p:nvPr/>
        </p:nvSpPr>
        <p:spPr>
          <a:xfrm>
            <a:off x="1053843" y="4037744"/>
            <a:ext cx="1841757" cy="2881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A778F37-BF6E-5760-1E89-BA2DBC2E8B72}"/>
              </a:ext>
            </a:extLst>
          </p:cNvPr>
          <p:cNvSpPr/>
          <p:nvPr/>
        </p:nvSpPr>
        <p:spPr>
          <a:xfrm>
            <a:off x="1053843" y="4790219"/>
            <a:ext cx="6299457" cy="7750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4DFF235-5C9B-2984-5DB1-5011A38031CD}"/>
              </a:ext>
            </a:extLst>
          </p:cNvPr>
          <p:cNvSpPr/>
          <p:nvPr/>
        </p:nvSpPr>
        <p:spPr>
          <a:xfrm>
            <a:off x="1053843" y="5936102"/>
            <a:ext cx="3222479" cy="294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래픽 1" descr="축구">
            <a:extLst>
              <a:ext uri="{FF2B5EF4-FFF2-40B4-BE49-F238E27FC236}">
                <a16:creationId xmlns:a16="http://schemas.microsoft.com/office/drawing/2014/main" id="{095717DC-4ADF-A055-F950-23E833DA1E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753724" y="361334"/>
            <a:ext cx="799551" cy="79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217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74FAC-B223-469F-E1F4-C97CEF85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F55043D-FC03-8D46-C9F4-B31597F8A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E4AB6FB6-8CB9-3B10-A733-F29F1590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optimizer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FF9961-7108-DC6D-FBD5-4479DA899F99}"/>
              </a:ext>
            </a:extLst>
          </p:cNvPr>
          <p:cNvSpPr txBox="1"/>
          <p:nvPr/>
        </p:nvSpPr>
        <p:spPr>
          <a:xfrm>
            <a:off x="1116124" y="1433415"/>
            <a:ext cx="8295726" cy="4770537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설정 및 데이터 준비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100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(여기서는 확률적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SGD 사용)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torch.optim.SGD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--- 핵심 세 줄 (The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Lines) ---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# 1. 기울기 초기화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# 2. 기울기 계산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Backpropagation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# 3. 파라미터 업데이트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382592-89FE-C19F-F26F-AD1B07F74070}"/>
              </a:ext>
            </a:extLst>
          </p:cNvPr>
          <p:cNvSpPr txBox="1"/>
          <p:nvPr/>
        </p:nvSpPr>
        <p:spPr>
          <a:xfrm>
            <a:off x="8371926" y="4880513"/>
            <a:ext cx="3552825" cy="1323439"/>
          </a:xfrm>
          <a:prstGeom prst="rect">
            <a:avLst/>
          </a:prstGeom>
          <a:solidFill>
            <a:schemeClr val="accent4"/>
          </a:solidFill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학습된 가중치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(W)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편향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f"Weights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(W):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(b):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미분 가능한지 정보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print(W,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791219B-0CEE-EDD2-761E-FD1FBCE22D08}"/>
              </a:ext>
            </a:extLst>
          </p:cNvPr>
          <p:cNvSpPr/>
          <p:nvPr/>
        </p:nvSpPr>
        <p:spPr>
          <a:xfrm>
            <a:off x="646545" y="5369745"/>
            <a:ext cx="7241305" cy="814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래픽 1" descr="축구">
            <a:extLst>
              <a:ext uri="{FF2B5EF4-FFF2-40B4-BE49-F238E27FC236}">
                <a16:creationId xmlns:a16="http://schemas.microsoft.com/office/drawing/2014/main" id="{21C23C7A-1EE3-C718-1E6D-415A5CC708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53724" y="361334"/>
            <a:ext cx="799551" cy="79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6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CE097-C711-6CF6-8DE7-2B7B8AD1B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02C0A7-A6A8-B895-32F2-0FA366C806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33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43FBE808-6515-6DB7-0F50-D8426B9C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model (like pro)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327140-F2A9-19E7-B045-CFFC37E9B382}"/>
              </a:ext>
            </a:extLst>
          </p:cNvPr>
          <p:cNvSpPr txBox="1"/>
          <p:nvPr/>
        </p:nvSpPr>
        <p:spPr>
          <a:xfrm>
            <a:off x="941999" y="1371860"/>
            <a:ext cx="5030260" cy="4832092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클래스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상속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super(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self).__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W, 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자동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Linear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예측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X @ W + b)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0.01; epochs = 100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(Mean Squared Error)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criterion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nn.MSELoss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F9E2D7-CAE7-EBF8-88FC-ED6E4DF6D0C7}"/>
              </a:ext>
            </a:extLst>
          </p:cNvPr>
          <p:cNvSpPr txBox="1"/>
          <p:nvPr/>
        </p:nvSpPr>
        <p:spPr>
          <a:xfrm>
            <a:off x="6400897" y="1371860"/>
            <a:ext cx="5190850" cy="4616648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(SGD)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optim.SGD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 Loop)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model(X)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통한 예측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loss = criterion(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	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계산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(epoch + 1) % 10 == 0: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f'Epoch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[{epoch+1}/{epochs}], Loss: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():.4f}’)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저장 및 확인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print("\n[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파라미터 확인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torch.save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model.pth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CFF61B4-C3E4-021B-E1A6-9CFDBB592E4F}"/>
              </a:ext>
            </a:extLst>
          </p:cNvPr>
          <p:cNvSpPr/>
          <p:nvPr/>
        </p:nvSpPr>
        <p:spPr>
          <a:xfrm>
            <a:off x="521207" y="2469527"/>
            <a:ext cx="5574793" cy="20747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래픽 4" descr="축구">
            <a:extLst>
              <a:ext uri="{FF2B5EF4-FFF2-40B4-BE49-F238E27FC236}">
                <a16:creationId xmlns:a16="http://schemas.microsoft.com/office/drawing/2014/main" id="{50673FFF-CD2C-5256-013F-2B4B3C14DA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53724" y="361334"/>
            <a:ext cx="799551" cy="79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152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  <p:pic>
        <p:nvPicPr>
          <p:cNvPr id="2" name="그래픽 1" descr="축구">
            <a:extLst>
              <a:ext uri="{FF2B5EF4-FFF2-40B4-BE49-F238E27FC236}">
                <a16:creationId xmlns:a16="http://schemas.microsoft.com/office/drawing/2014/main" id="{7F6DFE08-C237-F163-B8E8-3894A4CD1C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3724" y="361334"/>
            <a:ext cx="799551" cy="79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래픽 1" descr="축구">
            <a:extLst>
              <a:ext uri="{FF2B5EF4-FFF2-40B4-BE49-F238E27FC236}">
                <a16:creationId xmlns:a16="http://schemas.microsoft.com/office/drawing/2014/main" id="{63528B09-785D-A235-8389-7FEC95C292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53724" y="361334"/>
            <a:ext cx="799551" cy="79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8D9D1-46C0-6724-72E3-73D9163C2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4EAABE7-6C0F-A11F-89E2-AA1C61A9D12D}"/>
              </a:ext>
            </a:extLst>
          </p:cNvPr>
          <p:cNvSpPr/>
          <p:nvPr/>
        </p:nvSpPr>
        <p:spPr>
          <a:xfrm>
            <a:off x="781627" y="4641593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0829EC6-B76C-42E4-6C93-E4B35317F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0192F02-B202-C070-2C11-62206F1B32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EFABB-26FF-D48F-E9D7-BC3FA50DDB42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2424367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6F69F-5F21-9965-5FF5-3C563F827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36A6429-98B6-0EEE-AEE1-F592305EC2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37</a:t>
            </a:fld>
            <a:endParaRPr lang="ko-KR" altLang="en-US" noProof="0"/>
          </a:p>
        </p:txBody>
      </p:sp>
      <p:sp>
        <p:nvSpPr>
          <p:cNvPr id="6" name="제목 7">
            <a:extLst>
              <a:ext uri="{FF2B5EF4-FFF2-40B4-BE49-F238E27FC236}">
                <a16:creationId xmlns:a16="http://schemas.microsoft.com/office/drawing/2014/main" id="{77043BCF-860E-7E9C-4462-D6539A246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222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 : FNN(feed-forward neural networks) 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9EA13C3-4AEE-C90F-56A0-A0BA7A0EA4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7455" y="2124"/>
            <a:ext cx="1775896" cy="108601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F47D98B-3A5A-EA27-BD67-65ED7F2E9C89}"/>
              </a:ext>
            </a:extLst>
          </p:cNvPr>
          <p:cNvSpPr txBox="1"/>
          <p:nvPr/>
        </p:nvSpPr>
        <p:spPr>
          <a:xfrm>
            <a:off x="589396" y="1280968"/>
            <a:ext cx="80497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beginner tutorials :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beginner/basics/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quickstart_tutorial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실습하기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A247DB-62BC-D297-EEBF-9C1ADD451A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197" y="1928092"/>
            <a:ext cx="8660628" cy="438200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2348AE8C-9754-5F92-FDF7-7599B2467D74}"/>
              </a:ext>
            </a:extLst>
          </p:cNvPr>
          <p:cNvSpPr/>
          <p:nvPr/>
        </p:nvSpPr>
        <p:spPr>
          <a:xfrm>
            <a:off x="742950" y="2695575"/>
            <a:ext cx="1600201" cy="31718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F3AC939-CEC8-D94D-6832-3F219F3503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4075" y="3048557"/>
            <a:ext cx="2088991" cy="2141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64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E7E7B-0F19-1E16-CBC6-51DC89735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C9ECA61-0EEC-A8B4-30D5-AF32553C51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38</a:t>
            </a:fld>
            <a:endParaRPr lang="ko-KR" altLang="en-US" noProof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4C073D-8DB8-7B88-625B-A1F53826E0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05671"/>
            <a:ext cx="9248775" cy="3973066"/>
          </a:xfrm>
          <a:prstGeom prst="rect">
            <a:avLst/>
          </a:prstGeom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16A9DD86-4E9A-1A71-D4E7-9627164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222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 : FNN(feed-forward neural networks) 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54C62C5-03F9-52C5-6C25-FCF862E238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7455" y="2124"/>
            <a:ext cx="1775896" cy="1086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772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7ECA0-2C6D-CA5C-9BE9-46B0DB9F5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5602D1BD-D209-E5D5-3728-64A1CC15EF1E}"/>
              </a:ext>
            </a:extLst>
          </p:cNvPr>
          <p:cNvSpPr/>
          <p:nvPr/>
        </p:nvSpPr>
        <p:spPr>
          <a:xfrm>
            <a:off x="781627" y="5108318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C564E3A1-DFAB-81F8-F77F-4A9021F2C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B45CD3D-0FDE-2FF3-7F49-5761F662A5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0150E3-57D1-B161-A907-C88B74B2EF4D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455667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48EA2-1D1C-3D69-F2FB-74220EC55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73B368-01D3-E5BB-D3EC-92C4CE00C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Tabular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0B2582-2EE4-E288-8D0F-3011BA86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40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67AA4FA-3116-CA57-AD18-C9809B67B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8518" y="1768288"/>
            <a:ext cx="9986682" cy="4057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17071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82DC-8BBD-15D8-DA3A-4CBB39F04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EC4C8D-79C1-85B7-6263-8A18A8D2D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>
                <a:latin typeface="+mj-ea"/>
                <a:ea typeface="+mj-ea"/>
              </a:rPr>
              <a:t>Matrix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816F05-7E2E-B1A7-9D30-4F4A63678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41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56541674-EE95-D067-66D7-E0B3A4BA39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399" y="1371602"/>
            <a:ext cx="4870705" cy="4768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8C2D14F-F4F1-02DD-722C-E8C0A0984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3375" y="1371601"/>
            <a:ext cx="4374836" cy="3792071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F3557A4C-4204-676B-956A-0993A7273504}"/>
              </a:ext>
            </a:extLst>
          </p:cNvPr>
          <p:cNvSpPr/>
          <p:nvPr/>
        </p:nvSpPr>
        <p:spPr>
          <a:xfrm>
            <a:off x="3677920" y="1966559"/>
            <a:ext cx="2153582" cy="1931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6659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8F118-AC29-8C19-5901-2A3F57E3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AD840-93BC-6315-97A2-E0A152F58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Image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2012DB-4B62-6480-EF9A-A8C129AC7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42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D72B07A-3137-B053-5911-A533C3B614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541" y="1630177"/>
            <a:ext cx="8937812" cy="3385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A4B640E-CB10-9925-C2A5-15FEC03AC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7388" y="2309878"/>
            <a:ext cx="8937812" cy="3790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6059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32CA8-248E-5B9D-51B7-8A8D9AC4F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72A6AD-3475-497E-5736-A2A4872B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Timeseries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1BD6C7-3450-4770-90E0-5466B47B5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43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8D4D00D-55E8-672F-E565-E0E2C55BB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133" y="1921720"/>
            <a:ext cx="7995491" cy="433851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A120FEF-5BCB-C3B3-16A6-FE2C406E7E9B}"/>
              </a:ext>
            </a:extLst>
          </p:cNvPr>
          <p:cNvSpPr txBox="1"/>
          <p:nvPr/>
        </p:nvSpPr>
        <p:spPr>
          <a:xfrm>
            <a:off x="735106" y="1273005"/>
            <a:ext cx="107397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시계열 데이터를 지도 학습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(Supervised Learning)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용 데이터로 변환하는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슬라이딩 윈도우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(Sliding Window)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기법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4C85CA-A46B-2950-3A59-14AD368BA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9391" y="4737622"/>
            <a:ext cx="1849549" cy="152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4311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3C186-6846-E13D-A4DA-1996241C0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67972F-8CF9-D27F-C597-6AF36C772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Timeseries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0F8AE1-D508-94F4-6B7B-4E9A3F9C6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44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6146" name="Picture 2" descr="One prediction 24h into the future.">
            <a:extLst>
              <a:ext uri="{FF2B5EF4-FFF2-40B4-BE49-F238E27FC236}">
                <a16:creationId xmlns:a16="http://schemas.microsoft.com/office/drawing/2014/main" id="{45131D4F-A077-8980-8F1A-641ABAA530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308" y="1866600"/>
            <a:ext cx="5819775" cy="2581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ne prediction 1h into the future.">
            <a:extLst>
              <a:ext uri="{FF2B5EF4-FFF2-40B4-BE49-F238E27FC236}">
                <a16:creationId xmlns:a16="http://schemas.microsoft.com/office/drawing/2014/main" id="{6E94C269-9143-52A9-109A-FFEA890F8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9143" y="3330109"/>
            <a:ext cx="4171950" cy="2600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85E79A-191C-753A-D14C-436A16A2DC4C}"/>
              </a:ext>
            </a:extLst>
          </p:cNvPr>
          <p:cNvSpPr txBox="1"/>
          <p:nvPr/>
        </p:nvSpPr>
        <p:spPr>
          <a:xfrm>
            <a:off x="588308" y="1561688"/>
            <a:ext cx="693307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solidFill>
                  <a:srgbClr val="20212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sz="1600" b="0" i="0" dirty="0">
                <a:solidFill>
                  <a:srgbClr val="20212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시간의 기록이 주어졌을 때 앞으로 </a:t>
            </a:r>
            <a:r>
              <a:rPr lang="en-US" altLang="ko-KR" sz="1600" b="0" i="0" dirty="0">
                <a:solidFill>
                  <a:srgbClr val="20212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sz="1600" b="0" i="0" dirty="0">
                <a:solidFill>
                  <a:srgbClr val="20212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시간의 미래를 단일 예측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8BFA81-AF2D-A658-2C39-A6D197A2B8A4}"/>
              </a:ext>
            </a:extLst>
          </p:cNvPr>
          <p:cNvSpPr txBox="1"/>
          <p:nvPr/>
        </p:nvSpPr>
        <p:spPr>
          <a:xfrm>
            <a:off x="6723529" y="2991555"/>
            <a:ext cx="51905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202124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sz="1600" dirty="0">
                <a:solidFill>
                  <a:srgbClr val="202124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시간의 기록이 주어졌을 때 앞으로 </a:t>
            </a:r>
            <a:r>
              <a:rPr lang="en-US" altLang="ko-KR" sz="1600" dirty="0">
                <a:solidFill>
                  <a:srgbClr val="202124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rgbClr val="202124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시간의 미래 예측</a:t>
            </a:r>
          </a:p>
        </p:txBody>
      </p:sp>
    </p:spTree>
    <p:extLst>
      <p:ext uri="{BB962C8B-B14F-4D97-AF65-F5344CB8AC3E}">
        <p14:creationId xmlns:p14="http://schemas.microsoft.com/office/powerpoint/2010/main" val="22013896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FD6ED-E468-D2BF-7304-96EC55219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351A16-CD96-58E5-1D9F-7956A2AA1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Text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8167AF-6F10-C9A5-2D70-973B68F80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45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078" name="Picture 6" descr="Image Source:AI Tech Trend(Modified from the original)">
            <a:extLst>
              <a:ext uri="{FF2B5EF4-FFF2-40B4-BE49-F238E27FC236}">
                <a16:creationId xmlns:a16="http://schemas.microsoft.com/office/drawing/2014/main" id="{4527801C-40B4-91A7-2F94-B12CDDFBE9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29" y="2230238"/>
            <a:ext cx="4516446" cy="3516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99D8E3-27F0-BDC7-91B0-0CBF0E2AA7AB}"/>
              </a:ext>
            </a:extLst>
          </p:cNvPr>
          <p:cNvSpPr txBox="1"/>
          <p:nvPr/>
        </p:nvSpPr>
        <p:spPr>
          <a:xfrm>
            <a:off x="815788" y="5804647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>
                <a:hlinkClick r:id="rId3"/>
              </a:rPr>
              <a:t>https://www.shaped.ai/blog/cosine-similarity-not-the-silver-bullet-we-thought-it-was</a:t>
            </a:r>
            <a:r>
              <a:rPr lang="ko-KR" altLang="en-US" sz="105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BC38B3-8CA7-3D31-53F6-C6B5B2D0A771}"/>
              </a:ext>
            </a:extLst>
          </p:cNvPr>
          <p:cNvSpPr txBox="1"/>
          <p:nvPr/>
        </p:nvSpPr>
        <p:spPr>
          <a:xfrm>
            <a:off x="6508376" y="1860906"/>
            <a:ext cx="1633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한국어 </a:t>
            </a:r>
            <a:r>
              <a:rPr lang="ko-KR" altLang="en-US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임베딩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B4F4FE0-39D5-C03A-8606-C3AF219B61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517" y="2230238"/>
            <a:ext cx="5005742" cy="194236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FE1928-722E-B132-1533-0BA9AC464040}"/>
              </a:ext>
            </a:extLst>
          </p:cNvPr>
          <p:cNvSpPr txBox="1"/>
          <p:nvPr/>
        </p:nvSpPr>
        <p:spPr>
          <a:xfrm>
            <a:off x="6612517" y="4939553"/>
            <a:ext cx="1633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외국어 </a:t>
            </a:r>
            <a:r>
              <a:rPr lang="ko-KR" altLang="en-US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임베딩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445170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52998-1672-B762-8239-137824D1E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6DEF40-AFCF-A49A-7FAA-8E0AFB9F1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Text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4C2774-5169-0F02-8ACE-804F1D9D2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46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9815E73-9C36-E15E-D054-4B83AD614F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5776" y="1186207"/>
            <a:ext cx="10104502" cy="18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23A10512-64AF-1FD8-8C5B-F4BC83CFE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291" y="3309137"/>
            <a:ext cx="10104500" cy="2951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16932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C8B16-5DF5-C997-56C5-D7E89236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B455E5-36A5-1801-FFB7-1E4BC5BCE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47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290528-A2B4-EF60-077E-F075B3CC3E40}"/>
              </a:ext>
            </a:extLst>
          </p:cNvPr>
          <p:cNvSpPr txBox="1"/>
          <p:nvPr/>
        </p:nvSpPr>
        <p:spPr>
          <a:xfrm>
            <a:off x="619430" y="1312367"/>
            <a:ext cx="9193163" cy="52629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?): 딥러닝 정의 및 역사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 (The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mathematical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blocks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neural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networks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및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Introduction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JAX,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핵심 프레임워크 비교 및 사용법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4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기본 분류 및 회귀 모델 구현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5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Fundamentals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과대적합 방지와 일반화 원리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6 (The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universal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프로젝트 전체 프로세스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7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dive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고급 기능 및 커스텀 모델링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8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CNN 기초 및 이미지 분류 실습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9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patterns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최신 CNN 설계 패턴 및 기법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Interpreting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CNN 내부 표현 시각화 및 분석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11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segmentation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픽셀 단위 이미지 분할 구현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12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detection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사물 위치 탐지 및 분류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13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Timeseries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forecasting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시계열 데이터 및 순환 신경망(RNN) 예측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14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텍스트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및 자연어 분류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15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메커니즘과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16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생성형 언어 모델 구현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17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GAN,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Diffusion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 이미지 생성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18 (Best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practices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world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튜닝 및 실전 배포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19 (The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future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of AI):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한계와 향후 발전 전망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20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Conclusions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전체 요약 및 엔지니어 지침</a:t>
            </a: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8CD01D10-2D9F-A7B5-5EEE-761DB4992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3409" y="3520691"/>
            <a:ext cx="2758901" cy="305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제목 7">
            <a:extLst>
              <a:ext uri="{FF2B5EF4-FFF2-40B4-BE49-F238E27FC236}">
                <a16:creationId xmlns:a16="http://schemas.microsoft.com/office/drawing/2014/main" id="{160AD69B-F239-9289-B297-60FF74426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Deep Learning with Python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63882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3121</TotalTime>
  <Words>3928</Words>
  <Application>Microsoft Office PowerPoint</Application>
  <PresentationFormat>와이드스크린</PresentationFormat>
  <Paragraphs>536</Paragraphs>
  <Slides>47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60" baseType="lpstr">
      <vt:lpstr>D2Coding</vt:lpstr>
      <vt:lpstr>NanumGothicExtraBold</vt:lpstr>
      <vt:lpstr>맑은 고딕</vt:lpstr>
      <vt:lpstr>맑은 고딕 Semilight</vt:lpstr>
      <vt:lpstr>Batang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PowerPoint 프레젠테이션</vt:lpstr>
      <vt:lpstr>PowerPoint 프레젠테이션</vt:lpstr>
      <vt:lpstr>Goals</vt:lpstr>
      <vt:lpstr>Contents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Gradient Descent Methods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Generate Data </vt:lpstr>
      <vt:lpstr>1. from scratch</vt:lpstr>
      <vt:lpstr>2. optimizer</vt:lpstr>
      <vt:lpstr>3. model (like pro)</vt:lpstr>
      <vt:lpstr>PowerPoint 프레젠테이션</vt:lpstr>
      <vt:lpstr>PowerPoint 프레젠테이션</vt:lpstr>
      <vt:lpstr>Contents</vt:lpstr>
      <vt:lpstr>Hands-on : FNN(feed-forward neural networks) </vt:lpstr>
      <vt:lpstr>Hands-on : FNN(feed-forward neural networks) </vt:lpstr>
      <vt:lpstr>Contents</vt:lpstr>
      <vt:lpstr>Tabular Data</vt:lpstr>
      <vt:lpstr>Matrix Data</vt:lpstr>
      <vt:lpstr>Image Data</vt:lpstr>
      <vt:lpstr>Timeseries Data</vt:lpstr>
      <vt:lpstr>Timeseries Data</vt:lpstr>
      <vt:lpstr>Text Data</vt:lpstr>
      <vt:lpstr>Text Data</vt:lpstr>
      <vt:lpstr>Deep Learning with Python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97</cp:revision>
  <dcterms:created xsi:type="dcterms:W3CDTF">2026-04-06T01:00:39Z</dcterms:created>
  <dcterms:modified xsi:type="dcterms:W3CDTF">2026-09-03T20:49:53Z</dcterms:modified>
  <cp:version/>
</cp:coreProperties>
</file>