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9"/>
  </p:notesMasterIdLst>
  <p:handoutMasterIdLst>
    <p:handoutMasterId r:id="rId60"/>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136" r:id="rId15"/>
    <p:sldId id="1145" r:id="rId16"/>
    <p:sldId id="1158" r:id="rId17"/>
    <p:sldId id="1150" r:id="rId18"/>
    <p:sldId id="1152" r:id="rId19"/>
    <p:sldId id="1149" r:id="rId20"/>
    <p:sldId id="1153" r:id="rId21"/>
    <p:sldId id="1151" r:id="rId22"/>
    <p:sldId id="1154" r:id="rId23"/>
    <p:sldId id="1159" r:id="rId24"/>
    <p:sldId id="1161" r:id="rId25"/>
    <p:sldId id="1173" r:id="rId26"/>
    <p:sldId id="1174" r:id="rId27"/>
    <p:sldId id="1139" r:id="rId28"/>
    <p:sldId id="1172" r:id="rId29"/>
    <p:sldId id="1133" r:id="rId30"/>
    <p:sldId id="1163" r:id="rId31"/>
    <p:sldId id="1164" r:id="rId32"/>
    <p:sldId id="1165" r:id="rId33"/>
    <p:sldId id="1166" r:id="rId34"/>
    <p:sldId id="1121" r:id="rId35"/>
    <p:sldId id="1168" r:id="rId36"/>
    <p:sldId id="1135" r:id="rId37"/>
    <p:sldId id="1167" r:id="rId38"/>
    <p:sldId id="1160" r:id="rId39"/>
    <p:sldId id="1175" r:id="rId40"/>
    <p:sldId id="1132" r:id="rId41"/>
    <p:sldId id="1170" r:id="rId42"/>
    <p:sldId id="1171" r:id="rId43"/>
    <p:sldId id="1125" r:id="rId44"/>
    <p:sldId id="1127" r:id="rId45"/>
    <p:sldId id="1128" r:id="rId46"/>
    <p:sldId id="1123" r:id="rId47"/>
    <p:sldId id="1130" r:id="rId48"/>
    <p:sldId id="1131" r:id="rId49"/>
    <p:sldId id="1137" r:id="rId50"/>
    <p:sldId id="1138" r:id="rId51"/>
    <p:sldId id="1129" r:id="rId52"/>
    <p:sldId id="1162" r:id="rId53"/>
    <p:sldId id="1217" r:id="rId54"/>
    <p:sldId id="1220" r:id="rId55"/>
    <p:sldId id="1221" r:id="rId56"/>
    <p:sldId id="1218" r:id="rId57"/>
    <p:sldId id="1219" r:id="rId58"/>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136"/>
            <p14:sldId id="1145"/>
            <p14:sldId id="1158"/>
            <p14:sldId id="1150"/>
            <p14:sldId id="1152"/>
            <p14:sldId id="1149"/>
            <p14:sldId id="1153"/>
            <p14:sldId id="1151"/>
            <p14:sldId id="1154"/>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162"/>
            <p14:sldId id="1217"/>
            <p14:sldId id="1220"/>
            <p14:sldId id="1221"/>
            <p14:sldId id="1218"/>
            <p14:sldId id="121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17784"/>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commentAuthors" Target="commentAuthor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2026-09-17</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2026-09-17</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44</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53</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777197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2026-09-17</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9/17/2026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2026-09-17</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hdphoto" Target="../media/hdphoto1.wdp"/><Relationship Id="rId7"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4.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4.xml"/><Relationship Id="rId4" Type="http://schemas.openxmlformats.org/officeDocument/2006/relationships/image" Target="../media/image72.svg"/></Relationships>
</file>

<file path=ppt/slides/_rels/slide4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77.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9.png"/><Relationship Id="rId5" Type="http://schemas.openxmlformats.org/officeDocument/2006/relationships/image" Target="../media/image78.png"/><Relationship Id="rId4" Type="http://schemas.microsoft.com/office/2007/relationships/hdphoto" Target="../media/hdphoto2.wdp"/></Relationships>
</file>

<file path=ppt/slides/_rels/slide44.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9.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80.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9.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82.png"/><Relationship Id="rId1" Type="http://schemas.openxmlformats.org/officeDocument/2006/relationships/slideLayout" Target="../slideLayouts/slideLayout4.xml"/><Relationship Id="rId5" Type="http://schemas.openxmlformats.org/officeDocument/2006/relationships/image" Target="../media/image83.png"/><Relationship Id="rId4" Type="http://schemas.microsoft.com/office/2007/relationships/hdphoto" Target="../media/hdphoto3.wdp"/></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4.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4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7.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4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5.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
        <p:nvSpPr>
          <p:cNvPr id="4" name="TextBox 3">
            <a:extLst>
              <a:ext uri="{FF2B5EF4-FFF2-40B4-BE49-F238E27FC236}">
                <a16:creationId xmlns:a16="http://schemas.microsoft.com/office/drawing/2014/main" id="{6561AAD7-56D4-58BF-FEAE-D0D8305EA254}"/>
              </a:ext>
            </a:extLst>
          </p:cNvPr>
          <p:cNvSpPr txBox="1"/>
          <p:nvPr/>
        </p:nvSpPr>
        <p:spPr>
          <a:xfrm rot="20985267">
            <a:off x="3219856" y="3828387"/>
            <a:ext cx="7932611" cy="793166"/>
          </a:xfrm>
          <a:prstGeom prst="rect">
            <a:avLst/>
          </a:prstGeom>
          <a:noFill/>
        </p:spPr>
        <p:txBody>
          <a:bodyPr wrap="square">
            <a:spAutoFit/>
          </a:bodyPr>
          <a:lstStyle/>
          <a:p>
            <a:pPr>
              <a:lnSpc>
                <a:spcPct val="150000"/>
              </a:lnSpc>
            </a:pPr>
            <a:r>
              <a:rPr lang="en-US" altLang="ko-KR" sz="1600" b="0" i="0" dirty="0">
                <a:solidFill>
                  <a:srgbClr val="FFFF00"/>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1600" dirty="0">
              <a:solidFill>
                <a:srgbClr val="FFFF00"/>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B32F42C0-07C8-1960-872A-C341FE529FB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916184" y="1563806"/>
            <a:ext cx="5932415" cy="4813092"/>
          </a:xfrm>
          <a:prstGeom prst="rect">
            <a:avLst/>
          </a:prstGeom>
        </p:spPr>
      </p:pic>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14</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16</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063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적합</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날씨데이터는 평행이동 불변성</a:t>
            </a:r>
            <a:r>
              <a:rPr lang="en-US" altLang="ko-KR" sz="1600" dirty="0">
                <a:latin typeface="D2Coding" panose="020B0609020101020101" pitchFamily="49" charset="-127"/>
                <a:ea typeface="D2Coding" panose="020B0609020101020101" pitchFamily="49" charset="-127"/>
              </a:rPr>
              <a:t>(Translation Invariance)</a:t>
            </a:r>
            <a:r>
              <a:rPr lang="ko-KR" altLang="en-US" sz="1600" dirty="0">
                <a:latin typeface="D2Coding" panose="020B0609020101020101" pitchFamily="49" charset="-127"/>
                <a:ea typeface="D2Coding" panose="020B0609020101020101" pitchFamily="49" charset="-127"/>
              </a:rPr>
              <a:t>에 적합하지 않음</a:t>
            </a:r>
            <a:endParaRPr lang="en-US" altLang="ko-KR" sz="16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어느 위치</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공간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나 어느 시점</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시간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에서 발생하더라도 그 본질적인 의미나 성질이 변하지 않고 일정하게 유지되는 성질</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이미지에는 위치에 따라 불변하지만 기후 데이터에는 적합하지 않음</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강아지 이미지가 왼쪽</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오른쪽</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아래에 있든 똑같이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강아지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로 인식하여 데이터의 본질은 변하지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표현이 글의 맨 앞에 나오든 맨 뒤에 나오든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23</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2181225"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2181225"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2181225"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2181225"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2181225"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683921" y="56065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683921"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683921" y="2228076"/>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683921"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683921" y="307269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683921"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683921" y="391730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683921"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683921" y="476192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683921"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4171950"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657475"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657475"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657475"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657475"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657475"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8009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8009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8009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8009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8009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7303673" y="567628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73036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7303673" y="2297821"/>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73036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7303673" y="31424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73036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7303673" y="398705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73036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7303673" y="48316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73036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7917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82772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82772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82772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82772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82772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7917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4641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5" y="1518293"/>
            <a:ext cx="354806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p>
        </p:txBody>
      </p:sp>
      <p:sp>
        <p:nvSpPr>
          <p:cNvPr id="61" name="TextBox 60">
            <a:extLst>
              <a:ext uri="{FF2B5EF4-FFF2-40B4-BE49-F238E27FC236}">
                <a16:creationId xmlns:a16="http://schemas.microsoft.com/office/drawing/2014/main" id="{E096E5C1-A3FB-DB11-0E9D-069DCAF6EE18}"/>
              </a:ext>
            </a:extLst>
          </p:cNvPr>
          <p:cNvSpPr txBox="1"/>
          <p:nvPr/>
        </p:nvSpPr>
        <p:spPr>
          <a:xfrm>
            <a:off x="1349591"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3708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5790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Tree>
    <p:extLst>
      <p:ext uri="{BB962C8B-B14F-4D97-AF65-F5344CB8AC3E}">
        <p14:creationId xmlns:p14="http://schemas.microsoft.com/office/powerpoint/2010/main" val="2388091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461641"/>
            <a:ext cx="7086600" cy="1815882"/>
          </a:xfrm>
          <a:prstGeom prst="rect">
            <a:avLst/>
          </a:prstGeom>
          <a:solidFill>
            <a:srgbClr val="76E3FF"/>
          </a:solidFill>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4928127"/>
            <a:ext cx="7086600" cy="1077218"/>
          </a:xfrm>
          <a:prstGeom prst="rect">
            <a:avLst/>
          </a:prstGeom>
          <a:solidFill>
            <a:srgbClr val="76E3FF"/>
          </a:solidFill>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4277523"/>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Pseudocode RNN</a:t>
            </a:r>
            <a:endParaRPr lang="ko-KR" altLang="en-US" sz="1600" dirty="0">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6031850"/>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pseudocode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7976960" y="3228976"/>
            <a:ext cx="3960911" cy="2840986"/>
          </a:xfrm>
          <a:prstGeom prst="rect">
            <a:avLst/>
          </a:prstGeom>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p:spPr>
      </p:pic>
      <p:sp>
        <p:nvSpPr>
          <p:cNvPr id="6" name="직사각형 5">
            <a:extLst>
              <a:ext uri="{FF2B5EF4-FFF2-40B4-BE49-F238E27FC236}">
                <a16:creationId xmlns:a16="http://schemas.microsoft.com/office/drawing/2014/main" id="{2A2B9C36-B64D-46EA-E19A-22CDA0A585BB}"/>
              </a:ext>
            </a:extLst>
          </p:cNvPr>
          <p:cNvSpPr/>
          <p:nvPr/>
        </p:nvSpPr>
        <p:spPr>
          <a:xfrm>
            <a:off x="958284" y="169545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958284" y="1969294"/>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958284" y="224313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958284" y="2516982"/>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958284" y="27908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958284" y="373380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958284" y="40100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rot="10800000">
            <a:off x="649346" y="1695450"/>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1434533" y="4019551"/>
            <a:ext cx="209550" cy="1057275"/>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27541" y="2721412"/>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896997" y="4740234"/>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5273835" y="179959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(32,)</a:t>
            </a:r>
            <a:endParaRPr lang="ko-KR" altLang="en-US" sz="1600" dirty="0">
              <a:solidFill>
                <a:schemeClr val="tx1"/>
              </a:solidFill>
            </a:endParaRPr>
          </a:p>
        </p:txBody>
      </p:sp>
      <p:sp>
        <p:nvSpPr>
          <p:cNvPr id="19" name="직사각형 18">
            <a:extLst>
              <a:ext uri="{FF2B5EF4-FFF2-40B4-BE49-F238E27FC236}">
                <a16:creationId xmlns:a16="http://schemas.microsoft.com/office/drawing/2014/main" id="{18D4909B-5806-AD49-FB56-121ABED34D54}"/>
              </a:ext>
            </a:extLst>
          </p:cNvPr>
          <p:cNvSpPr/>
          <p:nvPr/>
        </p:nvSpPr>
        <p:spPr>
          <a:xfrm>
            <a:off x="4064670" y="1790939"/>
            <a:ext cx="1162050" cy="1670447"/>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(64,32)</a:t>
            </a:r>
            <a:endParaRPr lang="ko-KR" altLang="en-US" sz="1600" dirty="0">
              <a:solidFill>
                <a:schemeClr val="tx1"/>
              </a:solidFill>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8409881" y="1799598"/>
            <a:ext cx="1670446" cy="265834"/>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bg1"/>
                </a:solidFill>
              </a:rPr>
              <a:t>(64,)</a:t>
            </a:r>
            <a:endParaRPr lang="ko-KR" altLang="en-US" sz="1600" dirty="0">
              <a:solidFill>
                <a:schemeClr val="bg1"/>
              </a:solidFill>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3071088" y="1337572"/>
            <a:ext cx="7962900" cy="307585"/>
          </a:xfrm>
          <a:prstGeom prst="rect">
            <a:avLst/>
          </a:prstGeom>
          <a:no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6620998" y="1799598"/>
            <a:ext cx="1670445" cy="1670447"/>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(64,64)</a:t>
            </a:r>
            <a:endParaRPr lang="ko-KR" altLang="en-US" sz="1600" dirty="0">
              <a:solidFill>
                <a:schemeClr val="tx1"/>
              </a:solidFill>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198765" y="1790939"/>
            <a:ext cx="1670446" cy="265834"/>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t>(64,)</a:t>
            </a:r>
            <a:endParaRPr lang="ko-KR" altLang="en-US" sz="1600" dirty="0"/>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02289" y="6193856"/>
            <a:ext cx="3936447" cy="325776"/>
          </a:xfrm>
          <a:prstGeom prst="rect">
            <a:avLst/>
          </a:prstGeom>
          <a:ln w="12700">
            <a:solidFill>
              <a:schemeClr val="tx1"/>
            </a:solidFill>
          </a:ln>
        </p:spPr>
      </p:pic>
      <p:sp>
        <p:nvSpPr>
          <p:cNvPr id="42" name="TextBox 41">
            <a:extLst>
              <a:ext uri="{FF2B5EF4-FFF2-40B4-BE49-F238E27FC236}">
                <a16:creationId xmlns:a16="http://schemas.microsoft.com/office/drawing/2014/main" id="{D9B8D9F8-80EE-89C6-210B-F23C84C11985}"/>
              </a:ext>
            </a:extLst>
          </p:cNvPr>
          <p:cNvSpPr txBox="1"/>
          <p:nvPr/>
        </p:nvSpPr>
        <p:spPr>
          <a:xfrm>
            <a:off x="5306859" y="2097881"/>
            <a:ext cx="1162050" cy="338554"/>
          </a:xfrm>
          <a:prstGeom prst="rect">
            <a:avLst/>
          </a:prstGeom>
          <a:noFill/>
        </p:spPr>
        <p:txBody>
          <a:bodyPr wrap="square">
            <a:spAutoFit/>
          </a:bodyPr>
          <a:lstStyle/>
          <a:p>
            <a:r>
              <a:rPr lang="en-US" altLang="ko-KR" sz="1600" dirty="0" err="1">
                <a:latin typeface="D2Coding" panose="020B0609020101020101" pitchFamily="49" charset="-127"/>
                <a:ea typeface="D2Coding" panose="020B0609020101020101" pitchFamily="49" charset="-127"/>
              </a:rPr>
              <a:t>in</a:t>
            </a:r>
            <a:r>
              <a:rPr lang="en-US" altLang="ko-KR" sz="1600" b="0" dirty="0" err="1">
                <a:effectLst/>
                <a:latin typeface="D2Coding" panose="020B0609020101020101" pitchFamily="49" charset="-127"/>
                <a:ea typeface="D2Coding" panose="020B0609020101020101" pitchFamily="49" charset="-127"/>
              </a:rPr>
              <a:t>put_t</a:t>
            </a:r>
            <a:endParaRPr lang="ko-KR" altLang="en-US" sz="1600" dirty="0"/>
          </a:p>
        </p:txBody>
      </p:sp>
      <p:sp>
        <p:nvSpPr>
          <p:cNvPr id="44" name="TextBox 43">
            <a:extLst>
              <a:ext uri="{FF2B5EF4-FFF2-40B4-BE49-F238E27FC236}">
                <a16:creationId xmlns:a16="http://schemas.microsoft.com/office/drawing/2014/main" id="{163177FC-A382-77DE-791A-B40E701EF883}"/>
              </a:ext>
            </a:extLst>
          </p:cNvPr>
          <p:cNvSpPr txBox="1"/>
          <p:nvPr/>
        </p:nvSpPr>
        <p:spPr>
          <a:xfrm>
            <a:off x="127541" y="3081398"/>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905896" y="1279439"/>
            <a:ext cx="116205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a:t>
            </a:r>
            <a:r>
              <a:rPr lang="en-US" altLang="ko-KR" b="0" dirty="0">
                <a:effectLst/>
                <a:latin typeface="D2Coding" panose="020B0609020101020101" pitchFamily="49" charset="-127"/>
                <a:ea typeface="D2Coding" panose="020B0609020101020101" pitchFamily="49" charset="-127"/>
              </a:rPr>
              <a:t>put</a:t>
            </a:r>
            <a:r>
              <a:rPr lang="en-US" altLang="ko-KR" dirty="0">
                <a:latin typeface="D2Coding" panose="020B0609020101020101" pitchFamily="49" charset="-127"/>
                <a:ea typeface="D2Coding" panose="020B0609020101020101" pitchFamily="49" charset="-127"/>
              </a:rPr>
              <a:t>s</a:t>
            </a:r>
            <a:endParaRPr lang="ko-KR" altLang="en-US" dirty="0"/>
          </a:p>
        </p:txBody>
      </p:sp>
      <p:cxnSp>
        <p:nvCxnSpPr>
          <p:cNvPr id="48" name="연결선: 구부러짐 47">
            <a:extLst>
              <a:ext uri="{FF2B5EF4-FFF2-40B4-BE49-F238E27FC236}">
                <a16:creationId xmlns:a16="http://schemas.microsoft.com/office/drawing/2014/main" id="{7BB50E53-507D-5F76-ADF4-EB41671D0DDB}"/>
              </a:ext>
            </a:extLst>
          </p:cNvPr>
          <p:cNvCxnSpPr>
            <a:stCxn id="6" idx="3"/>
            <a:endCxn id="18" idx="0"/>
          </p:cNvCxnSpPr>
          <p:nvPr/>
        </p:nvCxnSpPr>
        <p:spPr>
          <a:xfrm flipV="1">
            <a:off x="2120334" y="1799598"/>
            <a:ext cx="3734526" cy="24440"/>
          </a:xfrm>
          <a:prstGeom prst="curvedConnector4">
            <a:avLst>
              <a:gd name="adj1" fmla="val 37630"/>
              <a:gd name="adj2" fmla="val 526137"/>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305447" y="1778481"/>
            <a:ext cx="1291658"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 :</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8816941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np.dot(</a:t>
            </a:r>
            <a:r>
              <a:rPr lang="en-US" altLang="ko-KR" sz="2000" b="1" dirty="0">
                <a:solidFill>
                  <a:schemeClr val="accent4"/>
                </a:solidFill>
                <a:effectLst/>
                <a:latin typeface="D2Coding" panose="020B0609020101020101" pitchFamily="49" charset="-127"/>
                <a:ea typeface="D2Coding" panose="020B0609020101020101" pitchFamily="49" charset="-127"/>
              </a:rPr>
              <a:t>U</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5"/>
                </a:solidFill>
                <a:effectLst/>
                <a:latin typeface="D2Coding" panose="020B0609020101020101" pitchFamily="49" charset="-127"/>
                <a:ea typeface="D2Coding" panose="020B0609020101020101" pitchFamily="49" charset="-127"/>
              </a:rPr>
              <a:t>state_t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400110"/>
          </a:xfrm>
          <a:prstGeom prst="rect">
            <a:avLst/>
          </a:prstGeom>
          <a:solidFill>
            <a:srgbClr val="76E3FF"/>
          </a:solidFill>
        </p:spPr>
        <p:txBody>
          <a:bodyPr wrap="square">
            <a:spAutoFit/>
          </a:bodyPr>
          <a:lstStyle/>
          <a:p>
            <a:r>
              <a:rPr lang="en-US" altLang="ko-KR" sz="2000" dirty="0" err="1">
                <a:latin typeface="D2Coding" panose="020B0609020101020101" pitchFamily="49" charset="-127"/>
                <a:ea typeface="D2Coding" panose="020B0609020101020101" pitchFamily="49" charset="-127"/>
              </a:rPr>
              <a:t>SimpleRNN</a:t>
            </a:r>
            <a:r>
              <a:rPr lang="en-US" altLang="ko-KR" sz="2000" dirty="0">
                <a:effectLst/>
                <a:latin typeface="D2Coding" panose="020B0609020101020101" pitchFamily="49" charset="-127"/>
                <a:ea typeface="D2Coding" panose="020B0609020101020101" pitchFamily="49" charset="-127"/>
              </a:rPr>
              <a:t>(64,</a:t>
            </a:r>
            <a:r>
              <a:rPr lang="en-US" altLang="ko-KR" sz="2000" dirty="0">
                <a:latin typeface="D2Coding" panose="020B0609020101020101" pitchFamily="49" charset="-127"/>
                <a:ea typeface="D2Coding" panose="020B0609020101020101" pitchFamily="49" charset="-127"/>
              </a:rPr>
              <a:t> </a:t>
            </a:r>
            <a:r>
              <a:rPr lang="en-US" altLang="ko-KR" sz="2000" dirty="0" err="1">
                <a:effectLst/>
                <a:latin typeface="D2Coding" panose="020B0609020101020101" pitchFamily="49" charset="-127"/>
                <a:ea typeface="D2Coding" panose="020B0609020101020101" pitchFamily="49" charset="-127"/>
              </a:rPr>
              <a:t>input_shape</a:t>
            </a:r>
            <a:r>
              <a:rPr lang="en-US" altLang="ko-KR" sz="2000" dirty="0">
                <a:latin typeface="D2Coding" panose="020B0609020101020101" pitchFamily="49" charset="-127"/>
                <a:ea typeface="D2Coding" panose="020B0609020101020101" pitchFamily="49" charset="-127"/>
              </a:rPr>
              <a:t>=</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timesteps</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 </a:t>
            </a:r>
            <a:r>
              <a:rPr lang="en-US" altLang="ko-KR" sz="2000" dirty="0" err="1">
                <a:latin typeface="D2Coding" panose="020B0609020101020101" pitchFamily="49" charset="-127"/>
                <a:ea typeface="D2Coding" panose="020B0609020101020101" pitchFamily="49" charset="-127"/>
              </a:rPr>
              <a:t>input_features</a:t>
            </a:r>
            <a:r>
              <a:rPr lang="en-US" altLang="ko-KR" sz="2000" dirty="0">
                <a:effectLst/>
                <a:latin typeface="D2Coding" panose="020B0609020101020101" pitchFamily="49" charset="-127"/>
                <a:ea typeface="D2Coding" panose="020B0609020101020101" pitchFamily="49" charset="-127"/>
              </a:rPr>
              <a:t>))</a:t>
            </a:r>
            <a:endParaRPr lang="ko-KR" altLang="en-US" sz="2000"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880819"/>
          </a:xfrm>
          <a:prstGeom prst="rect">
            <a:avLst/>
          </a:prstGeom>
          <a:noFill/>
        </p:spPr>
        <p:txBody>
          <a:bodyPr wrap="square" rtlCol="0">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의 은닉층의 노드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뉴런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의 개수는 </a:t>
            </a:r>
            <a:r>
              <a:rPr lang="en-US" altLang="ko-KR" dirty="0">
                <a:latin typeface="D2Coding" panose="020B0609020101020101" pitchFamily="49" charset="-127"/>
                <a:ea typeface="D2Coding" panose="020B0609020101020101" pitchFamily="49" charset="-127"/>
              </a:rPr>
              <a:t>64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en-US" altLang="ko-KR" dirty="0" err="1">
                <a:latin typeface="D2Coding" panose="020B0609020101020101" pitchFamily="49" charset="-127"/>
                <a:ea typeface="D2Coding" panose="020B0609020101020101" pitchFamily="49" charset="-127"/>
              </a:rPr>
              <a:t>output_features</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로 </a:t>
            </a:r>
            <a:r>
              <a:rPr lang="en-US" altLang="ko-KR" dirty="0" err="1">
                <a:latin typeface="D2Coding" panose="020B0609020101020101" pitchFamily="49" charset="-127"/>
                <a:ea typeface="D2Coding" panose="020B0609020101020101" pitchFamily="49" charset="-127"/>
              </a:rPr>
              <a:t>input_features</a:t>
            </a:r>
            <a:r>
              <a:rPr lang="en-US" altLang="ko-KR" dirty="0">
                <a:latin typeface="D2Coding" panose="020B0609020101020101" pitchFamily="49" charset="-127"/>
                <a:ea typeface="D2Coding" panose="020B0609020101020101" pitchFamily="49" charset="-127"/>
              </a:rPr>
              <a:t> 32</a:t>
            </a:r>
            <a:r>
              <a:rPr lang="ko-KR" altLang="en-US" dirty="0">
                <a:latin typeface="D2Coding" panose="020B0609020101020101" pitchFamily="49" charset="-127"/>
                <a:ea typeface="D2Coding" panose="020B0609020101020101" pitchFamily="49" charset="-127"/>
              </a:rPr>
              <a:t>개 노드를 받아 </a:t>
            </a:r>
            <a:r>
              <a:rPr lang="en-US" altLang="ko-KR" dirty="0">
                <a:latin typeface="D2Coding" panose="020B0609020101020101" pitchFamily="49" charset="-127"/>
                <a:ea typeface="D2Coding" panose="020B0609020101020101" pitchFamily="49" charset="-127"/>
              </a:rPr>
              <a:t>timesteps 100</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최근 </a:t>
            </a:r>
            <a:r>
              <a:rPr lang="en-US" altLang="ko-KR" dirty="0">
                <a:latin typeface="D2Coding" panose="020B0609020101020101" pitchFamily="49" charset="-127"/>
                <a:ea typeface="D2Coding" panose="020B0609020101020101" pitchFamily="49" charset="-127"/>
              </a:rPr>
              <a:t>100</a:t>
            </a:r>
            <a:r>
              <a:rPr lang="ko-KR" altLang="en-US" dirty="0">
                <a:latin typeface="D2Coding" panose="020B0609020101020101" pitchFamily="49" charset="-127"/>
                <a:ea typeface="D2Coding" panose="020B0609020101020101" pitchFamily="49" charset="-127"/>
              </a:rPr>
              <a:t>일 동안 주가</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과거의 </a:t>
            </a:r>
            <a:r>
              <a:rPr lang="en-US" altLang="ko-KR" dirty="0">
                <a:latin typeface="D2Coding" panose="020B0609020101020101" pitchFamily="49" charset="-127"/>
                <a:ea typeface="D2Coding" panose="020B0609020101020101" pitchFamily="49" charset="-127"/>
              </a:rPr>
              <a:t>state</a:t>
            </a:r>
            <a:r>
              <a:rPr lang="ko-KR" altLang="en-US" dirty="0">
                <a:latin typeface="D2Coding" panose="020B0609020101020101" pitchFamily="49" charset="-127"/>
                <a:ea typeface="D2Coding" panose="020B0609020101020101" pitchFamily="49" charset="-127"/>
              </a:rPr>
              <a:t>를 계속 </a:t>
            </a:r>
            <a:r>
              <a:rPr lang="en-US" altLang="ko-KR" dirty="0">
                <a:latin typeface="D2Coding" panose="020B0609020101020101" pitchFamily="49" charset="-127"/>
                <a:ea typeface="D2Coding" panose="020B0609020101020101" pitchFamily="49" charset="-127"/>
              </a:rPr>
              <a:t>memory</a:t>
            </a:r>
            <a:r>
              <a:rPr lang="ko-KR" altLang="en-US"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RNN(Recurrent Neural Network)</a:t>
            </a:r>
            <a:endParaRPr lang="ko-KR" altLang="en-US" sz="2000" u="sng" dirty="0"/>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6181725"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FCNN(Fully Connected Neural Network)</a:t>
            </a:r>
            <a:endParaRPr lang="ko-KR" altLang="en-US" sz="2000" u="sng" dirty="0"/>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2000"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84775"/>
          </a:xfrm>
          <a:prstGeom prst="rect">
            <a:avLst/>
          </a:prstGeom>
          <a:noFill/>
          <a:ln w="28575">
            <a:noFill/>
          </a:ln>
        </p:spPr>
        <p:txBody>
          <a:bodyPr wrap="square">
            <a:spAutoFit/>
          </a:bodyPr>
          <a:lstStyle/>
          <a:p>
            <a:r>
              <a:rPr lang="en-US" altLang="ko-KR" sz="1600" b="0" dirty="0">
                <a:effectLst/>
                <a:latin typeface="D2Coding" panose="020B0609020101020101" pitchFamily="49" charset="-127"/>
                <a:ea typeface="D2Coding" panose="020B0609020101020101" pitchFamily="49" charset="-127"/>
              </a:rPr>
              <a:t>np.dot(</a:t>
            </a:r>
            <a:r>
              <a:rPr lang="en-US" altLang="ko-KR" sz="1600" b="1" dirty="0">
                <a:solidFill>
                  <a:schemeClr val="accent4"/>
                </a:solidFill>
                <a:effectLst/>
                <a:latin typeface="D2Coding" panose="020B0609020101020101" pitchFamily="49" charset="-127"/>
                <a:ea typeface="D2Coding" panose="020B0609020101020101" pitchFamily="49" charset="-127"/>
              </a:rPr>
              <a:t>U</a:t>
            </a:r>
            <a:r>
              <a:rPr lang="en-US" altLang="ko-KR" sz="1600" b="1" dirty="0">
                <a:effectLst/>
                <a:latin typeface="D2Coding" panose="020B0609020101020101" pitchFamily="49" charset="-127"/>
                <a:ea typeface="D2Coding" panose="020B0609020101020101" pitchFamily="49" charset="-127"/>
              </a:rPr>
              <a:t>, </a:t>
            </a:r>
            <a:r>
              <a:rPr lang="en-US" altLang="ko-KR" sz="1600" b="1" dirty="0" err="1">
                <a:solidFill>
                  <a:schemeClr val="accent5"/>
                </a:solidFill>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이전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하는 수식 항</a:t>
            </a:r>
            <a:endParaRPr lang="ko-KR" altLang="en-US" sz="16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78753"/>
          </a:xfrm>
          <a:prstGeom prst="curvedConnector4">
            <a:avLst>
              <a:gd name="adj1" fmla="val -32000"/>
              <a:gd name="adj2" fmla="val 62402"/>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499864"/>
            <a:ext cx="7675230" cy="4053211"/>
          </a:xfrm>
          <a:prstGeom prst="rect">
            <a:avLst/>
          </a:prstGeom>
        </p:spPr>
      </p:pic>
      <p:sp>
        <p:nvSpPr>
          <p:cNvPr id="6" name="TextBox 5">
            <a:extLst>
              <a:ext uri="{FF2B5EF4-FFF2-40B4-BE49-F238E27FC236}">
                <a16:creationId xmlns:a16="http://schemas.microsoft.com/office/drawing/2014/main" id="{DF2DCB4E-8036-5F8F-788D-405F90D49285}"/>
              </a:ext>
            </a:extLst>
          </p:cNvPr>
          <p:cNvSpPr txBox="1"/>
          <p:nvPr/>
        </p:nvSpPr>
        <p:spPr>
          <a:xfrm>
            <a:off x="2053325" y="5619851"/>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52518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56517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 </a:t>
            </a:r>
            <a:r>
              <a:rPr lang="en-US" altLang="ko-KR" sz="1600" b="0" dirty="0" err="1">
                <a:effectLst/>
                <a:latin typeface="D2Coding" panose="020B0609020101020101" pitchFamily="49" charset="-127"/>
                <a:ea typeface="D2Coding" panose="020B0609020101020101" pitchFamily="49" charset="-127"/>
              </a:rPr>
              <a:t>return_sequences</a:t>
            </a:r>
            <a:r>
              <a:rPr lang="en-US" altLang="ko-KR" sz="1600" b="0" dirty="0">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layers.Bidirectional</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37</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793928" cy="369332"/>
          </a:xfrm>
          <a:prstGeom prst="rect">
            <a:avLst/>
          </a:prstGeom>
          <a:noFill/>
        </p:spPr>
        <p:txBody>
          <a:bodyPr wrap="none" rtlCol="0">
            <a:spAutoFit/>
          </a:bodyPr>
          <a:lstStyle/>
          <a:p>
            <a:r>
              <a:rPr lang="en-US" altLang="ko-KR" dirty="0">
                <a:hlinkClick r:id="rId3"/>
              </a:rPr>
              <a:t>MIT 6.S191 (2025): Recurrent Neural Networks, Transformers, and Attention</a:t>
            </a:r>
            <a:endParaRPr lang="ko-KR" altLang="en-US" dirty="0"/>
          </a:p>
        </p:txBody>
      </p:sp>
    </p:spTree>
    <p:extLst>
      <p:ext uri="{BB962C8B-B14F-4D97-AF65-F5344CB8AC3E}">
        <p14:creationId xmlns:p14="http://schemas.microsoft.com/office/powerpoint/2010/main" val="439599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32532984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2299125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640486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42526057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3281610437"/>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7385</TotalTime>
  <Words>5421</Words>
  <Application>Microsoft Office PowerPoint</Application>
  <PresentationFormat>와이드스크린</PresentationFormat>
  <Paragraphs>647</Paragraphs>
  <Slides>57</Slides>
  <Notes>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57</vt:i4>
      </vt:variant>
    </vt:vector>
  </HeadingPairs>
  <TitlesOfParts>
    <vt:vector size="67" baseType="lpstr">
      <vt:lpstr>D2Coding</vt:lpstr>
      <vt:lpstr>맑은 고딕</vt:lpstr>
      <vt:lpstr>바탕</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CNN for Timeseries Data</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128</cp:revision>
  <dcterms:created xsi:type="dcterms:W3CDTF">2026-04-06T01:00:39Z</dcterms:created>
  <dcterms:modified xsi:type="dcterms:W3CDTF">2026-09-17T14:01:45Z</dcterms:modified>
  <cp:version/>
</cp:coreProperties>
</file>