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5"/>
  </p:notesMasterIdLst>
  <p:handoutMasterIdLst>
    <p:handoutMasterId r:id="rId76"/>
  </p:handoutMasterIdLst>
  <p:sldIdLst>
    <p:sldId id="256" r:id="rId2"/>
    <p:sldId id="1155" r:id="rId3"/>
    <p:sldId id="1393" r:id="rId4"/>
    <p:sldId id="1394" r:id="rId5"/>
    <p:sldId id="1122" r:id="rId6"/>
    <p:sldId id="1134" r:id="rId7"/>
    <p:sldId id="1399" r:id="rId8"/>
    <p:sldId id="1140" r:id="rId9"/>
    <p:sldId id="1141" r:id="rId10"/>
    <p:sldId id="1144" r:id="rId11"/>
    <p:sldId id="1142" r:id="rId12"/>
    <p:sldId id="1143" r:id="rId13"/>
    <p:sldId id="1169" r:id="rId14"/>
    <p:sldId id="1395" r:id="rId15"/>
    <p:sldId id="1157" r:id="rId16"/>
    <p:sldId id="1146" r:id="rId17"/>
    <p:sldId id="1148" r:id="rId18"/>
    <p:sldId id="1222" r:id="rId19"/>
    <p:sldId id="1224" r:id="rId20"/>
    <p:sldId id="1396" r:id="rId21"/>
    <p:sldId id="1145" r:id="rId22"/>
    <p:sldId id="1397" r:id="rId23"/>
    <p:sldId id="1225" r:id="rId24"/>
    <p:sldId id="1226" r:id="rId25"/>
    <p:sldId id="1158" r:id="rId26"/>
    <p:sldId id="1150" r:id="rId27"/>
    <p:sldId id="1152" r:id="rId28"/>
    <p:sldId id="1149" r:id="rId29"/>
    <p:sldId id="1159" r:id="rId30"/>
    <p:sldId id="1161" r:id="rId31"/>
    <p:sldId id="1173" r:id="rId32"/>
    <p:sldId id="1174" r:id="rId33"/>
    <p:sldId id="1139" r:id="rId34"/>
    <p:sldId id="1400" r:id="rId35"/>
    <p:sldId id="1172" r:id="rId36"/>
    <p:sldId id="1133" r:id="rId37"/>
    <p:sldId id="1163" r:id="rId38"/>
    <p:sldId id="1164" r:id="rId39"/>
    <p:sldId id="1165" r:id="rId40"/>
    <p:sldId id="1166" r:id="rId41"/>
    <p:sldId id="1121" r:id="rId42"/>
    <p:sldId id="1168" r:id="rId43"/>
    <p:sldId id="1135" r:id="rId44"/>
    <p:sldId id="1167" r:id="rId45"/>
    <p:sldId id="1160" r:id="rId46"/>
    <p:sldId id="1132" r:id="rId47"/>
    <p:sldId id="1170" r:id="rId48"/>
    <p:sldId id="1171" r:id="rId49"/>
    <p:sldId id="1125" r:id="rId50"/>
    <p:sldId id="1398" r:id="rId51"/>
    <p:sldId id="1127" r:id="rId52"/>
    <p:sldId id="1128" r:id="rId53"/>
    <p:sldId id="1123" r:id="rId54"/>
    <p:sldId id="1130" r:id="rId55"/>
    <p:sldId id="1131" r:id="rId56"/>
    <p:sldId id="1137" r:id="rId57"/>
    <p:sldId id="1138" r:id="rId58"/>
    <p:sldId id="1129" r:id="rId59"/>
    <p:sldId id="1392" r:id="rId60"/>
    <p:sldId id="1162" r:id="rId61"/>
    <p:sldId id="1217" r:id="rId62"/>
    <p:sldId id="1220" r:id="rId63"/>
    <p:sldId id="1221" r:id="rId64"/>
    <p:sldId id="1218" r:id="rId65"/>
    <p:sldId id="1219" r:id="rId66"/>
    <p:sldId id="1153" r:id="rId67"/>
    <p:sldId id="1151" r:id="rId68"/>
    <p:sldId id="1154" r:id="rId69"/>
    <p:sldId id="1391" r:id="rId70"/>
    <p:sldId id="1381" r:id="rId71"/>
    <p:sldId id="1378" r:id="rId72"/>
    <p:sldId id="1380" r:id="rId73"/>
    <p:sldId id="1379" r:id="rId74"/>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393"/>
            <p14:sldId id="1394"/>
            <p14:sldId id="1122"/>
            <p14:sldId id="1134"/>
            <p14:sldId id="1399"/>
            <p14:sldId id="1140"/>
            <p14:sldId id="1141"/>
            <p14:sldId id="1144"/>
            <p14:sldId id="1142"/>
            <p14:sldId id="1143"/>
            <p14:sldId id="1169"/>
            <p14:sldId id="1395"/>
            <p14:sldId id="1157"/>
            <p14:sldId id="1146"/>
            <p14:sldId id="1148"/>
            <p14:sldId id="1222"/>
            <p14:sldId id="1224"/>
            <p14:sldId id="1396"/>
            <p14:sldId id="1145"/>
            <p14:sldId id="1397"/>
            <p14:sldId id="1225"/>
            <p14:sldId id="1226"/>
            <p14:sldId id="1158"/>
            <p14:sldId id="1150"/>
            <p14:sldId id="1152"/>
            <p14:sldId id="1149"/>
            <p14:sldId id="1159"/>
            <p14:sldId id="1161"/>
            <p14:sldId id="1173"/>
            <p14:sldId id="1174"/>
            <p14:sldId id="1139"/>
            <p14:sldId id="1400"/>
            <p14:sldId id="1172"/>
            <p14:sldId id="1133"/>
            <p14:sldId id="1163"/>
            <p14:sldId id="1164"/>
            <p14:sldId id="1165"/>
            <p14:sldId id="1166"/>
            <p14:sldId id="1121"/>
            <p14:sldId id="1168"/>
            <p14:sldId id="1135"/>
            <p14:sldId id="1167"/>
            <p14:sldId id="1160"/>
            <p14:sldId id="1132"/>
            <p14:sldId id="1170"/>
            <p14:sldId id="1171"/>
            <p14:sldId id="1125"/>
            <p14:sldId id="1398"/>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1651" autoAdjust="0"/>
    <p:restoredTop sz="94297" autoAdjust="0"/>
  </p:normalViewPr>
  <p:slideViewPr>
    <p:cSldViewPr snapToGrid="0">
      <p:cViewPr>
        <p:scale>
          <a:sx n="100" d="100"/>
          <a:sy n="100" d="100"/>
        </p:scale>
        <p:origin x="168" y="-806"/>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p:scale>
        <a:sx n="125" d="100"/>
        <a:sy n="125" d="100"/>
      </p:scale>
      <p:origin x="0" y="-38424"/>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2026-10-06</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2026-10-06</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51</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59</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69</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2026-10-06</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10/6/2026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2026-10-06</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cestor9/2026_Fall_Deep-Learning-with-Python/blob/main/scripts/Perceptron_1957_to_AlexNet_2012.ipynb" TargetMode="External"/><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hyperlink" Target="https://github.com/ancestor9/2026_Fall_Deep-Learning-with-Python/blob/main/appendix/01_sliding%20windows%20with%20time%20series.xlsx" TargetMode="External"/><Relationship Id="rId5" Type="http://schemas.openxmlformats.org/officeDocument/2006/relationships/image" Target="../media/image10.sv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0.svg"/><Relationship Id="rId2" Type="http://schemas.openxmlformats.org/officeDocument/2006/relationships/image" Target="../media/image11.png"/><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0.sv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e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1.xml.rels><?xml version="1.0" encoding="UTF-8" standalone="yes"?>
<Relationships xmlns="http://schemas.openxmlformats.org/package/2006/relationships"><Relationship Id="rId8" Type="http://schemas.openxmlformats.org/officeDocument/2006/relationships/image" Target="../media/image390.png"/><Relationship Id="rId13" Type="http://schemas.openxmlformats.org/officeDocument/2006/relationships/image" Target="../media/image44.png"/><Relationship Id="rId18" Type="http://schemas.openxmlformats.org/officeDocument/2006/relationships/image" Target="../media/image49.png"/><Relationship Id="rId26" Type="http://schemas.openxmlformats.org/officeDocument/2006/relationships/image" Target="../media/image57.png"/><Relationship Id="rId21" Type="http://schemas.openxmlformats.org/officeDocument/2006/relationships/image" Target="../media/image52.png"/><Relationship Id="rId7" Type="http://schemas.openxmlformats.org/officeDocument/2006/relationships/image" Target="../media/image381.png"/><Relationship Id="rId12" Type="http://schemas.openxmlformats.org/officeDocument/2006/relationships/image" Target="../media/image430.png"/><Relationship Id="rId17" Type="http://schemas.openxmlformats.org/officeDocument/2006/relationships/image" Target="../media/image48.png"/><Relationship Id="rId25" Type="http://schemas.openxmlformats.org/officeDocument/2006/relationships/image" Target="../media/image56.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11" Type="http://schemas.openxmlformats.org/officeDocument/2006/relationships/image" Target="../media/image420.png"/><Relationship Id="rId24" Type="http://schemas.openxmlformats.org/officeDocument/2006/relationships/image" Target="../media/image55.png"/><Relationship Id="rId15" Type="http://schemas.openxmlformats.org/officeDocument/2006/relationships/image" Target="../media/image46.png"/><Relationship Id="rId23" Type="http://schemas.openxmlformats.org/officeDocument/2006/relationships/image" Target="../media/image54.png"/><Relationship Id="rId10" Type="http://schemas.openxmlformats.org/officeDocument/2006/relationships/image" Target="../media/image410.png"/><Relationship Id="rId19" Type="http://schemas.openxmlformats.org/officeDocument/2006/relationships/image" Target="../media/image50.png"/><Relationship Id="rId9" Type="http://schemas.openxmlformats.org/officeDocument/2006/relationships/image" Target="../media/image400.png"/><Relationship Id="rId14" Type="http://schemas.openxmlformats.org/officeDocument/2006/relationships/image" Target="../media/image45.png"/><Relationship Id="rId22" Type="http://schemas.openxmlformats.org/officeDocument/2006/relationships/image" Target="../media/image53.png"/></Relationships>
</file>

<file path=ppt/slides/_rels/slide32.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0.png"/><Relationship Id="rId3" Type="http://schemas.openxmlformats.org/officeDocument/2006/relationships/image" Target="../media/image390.png"/><Relationship Id="rId7" Type="http://schemas.openxmlformats.org/officeDocument/2006/relationships/image" Target="../media/image430.png"/><Relationship Id="rId12" Type="http://schemas.openxmlformats.org/officeDocument/2006/relationships/image" Target="../media/image48.png"/><Relationship Id="rId17" Type="http://schemas.openxmlformats.org/officeDocument/2006/relationships/image" Target="../media/image530.png"/><Relationship Id="rId2" Type="http://schemas.openxmlformats.org/officeDocument/2006/relationships/image" Target="../media/image381.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0.png"/><Relationship Id="rId11" Type="http://schemas.openxmlformats.org/officeDocument/2006/relationships/image" Target="../media/image47.png"/><Relationship Id="rId5" Type="http://schemas.openxmlformats.org/officeDocument/2006/relationships/image" Target="../media/image410.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0.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66.png"/><Relationship Id="rId3" Type="http://schemas.microsoft.com/office/2007/relationships/hdphoto" Target="../media/hdphoto1.wdp"/><Relationship Id="rId7" Type="http://schemas.openxmlformats.org/officeDocument/2006/relationships/image" Target="../media/image65.png"/><Relationship Id="rId2" Type="http://schemas.openxmlformats.org/officeDocument/2006/relationships/image" Target="../media/image61.png"/><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3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79.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81.png"/><Relationship Id="rId5" Type="http://schemas.openxmlformats.org/officeDocument/2006/relationships/image" Target="../media/image80.png"/><Relationship Id="rId4" Type="http://schemas.microsoft.com/office/2007/relationships/hdphoto" Target="../media/hdphoto2.wdp"/></Relationships>
</file>

<file path=ppt/slides/_rels/slide5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1.png"/><Relationship Id="rId7" Type="http://schemas.openxmlformats.org/officeDocument/2006/relationships/image" Target="../media/image86.png"/><Relationship Id="rId12" Type="http://schemas.openxmlformats.org/officeDocument/2006/relationships/image" Target="../media/image91.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85.png"/><Relationship Id="rId11" Type="http://schemas.openxmlformats.org/officeDocument/2006/relationships/image" Target="../media/image90.png"/><Relationship Id="rId5" Type="http://schemas.openxmlformats.org/officeDocument/2006/relationships/image" Target="../media/image84.png"/><Relationship Id="rId10" Type="http://schemas.openxmlformats.org/officeDocument/2006/relationships/image" Target="../media/image89.png"/><Relationship Id="rId4" Type="http://schemas.microsoft.com/office/2007/relationships/hdphoto" Target="../media/hdphoto3.wdp"/><Relationship Id="rId9" Type="http://schemas.openxmlformats.org/officeDocument/2006/relationships/image" Target="../media/image88.png"/></Relationships>
</file>

<file path=ppt/slides/_rels/slide52.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92.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81.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5.png"/><Relationship Id="rId4" Type="http://schemas.microsoft.com/office/2007/relationships/hdphoto" Target="../media/hdphoto3.wdp"/></Relationships>
</file>

<file path=ppt/slides/_rels/slide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96.jpeg"/><Relationship Id="rId1" Type="http://schemas.openxmlformats.org/officeDocument/2006/relationships/slideLayout" Target="../slideLayouts/slideLayout4.xml"/><Relationship Id="rId4" Type="http://schemas.openxmlformats.org/officeDocument/2006/relationships/image" Target="../media/image10.svg"/></Relationships>
</file>

<file path=ppt/slides/_rels/slide5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9.png"/><Relationship Id="rId1" Type="http://schemas.openxmlformats.org/officeDocument/2006/relationships/slideLayout" Target="../slideLayouts/slideLayout4.xml"/><Relationship Id="rId5" Type="http://schemas.openxmlformats.org/officeDocument/2006/relationships/image" Target="../media/image10.svg"/><Relationship Id="rId4" Type="http://schemas.openxmlformats.org/officeDocument/2006/relationships/image" Target="../media/image9.png"/></Relationships>
</file>

<file path=ppt/slides/_rels/slide5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10.svg"/><Relationship Id="rId4" Type="http://schemas.openxmlformats.org/officeDocument/2006/relationships/image" Target="../media/image9.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100.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103.svg"/><Relationship Id="rId4" Type="http://schemas.openxmlformats.org/officeDocument/2006/relationships/image" Target="../media/image102.png"/></Relationships>
</file>

<file path=ppt/slides/_rels/slide71.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s>
</file>

<file path=ppt/slides/_rels/slide73.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 Id="rId5" Type="http://schemas.openxmlformats.org/officeDocument/2006/relationships/image" Target="../media/image108.png"/><Relationship Id="rId4" Type="http://schemas.openxmlformats.org/officeDocument/2006/relationships/image" Target="../media/image10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RNN(Recurrent Neural Network)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LSTM(Long Short-Term Memory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GRU(Gated Recurrent Unit)</a:t>
            </a:r>
            <a:endParaRPr lang="ko-KR" altLang="en-US"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DB0AA873-E7D7-B4EA-4E0B-B8C26182E3ED}"/>
              </a:ext>
            </a:extLst>
          </p:cNvPr>
          <p:cNvPicPr>
            <a:picLocks noChangeAspect="1"/>
          </p:cNvPicPr>
          <p:nvPr/>
        </p:nvPicPr>
        <p:blipFill>
          <a:blip r:embed="rId2"/>
          <a:stretch>
            <a:fillRect/>
          </a:stretch>
        </p:blipFill>
        <p:spPr>
          <a:xfrm>
            <a:off x="624146" y="1367879"/>
            <a:ext cx="10829407" cy="5059928"/>
          </a:xfrm>
          <a:prstGeom prst="rect">
            <a:avLst/>
          </a:prstGeom>
        </p:spPr>
      </p:pic>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0" name="TextBox 9">
            <a:extLst>
              <a:ext uri="{FF2B5EF4-FFF2-40B4-BE49-F238E27FC236}">
                <a16:creationId xmlns:a16="http://schemas.microsoft.com/office/drawing/2014/main" id="{7107B6D7-BA6F-BCDC-8980-1D081CD9A249}"/>
              </a:ext>
            </a:extLst>
          </p:cNvPr>
          <p:cNvSpPr txBox="1"/>
          <p:nvPr/>
        </p:nvSpPr>
        <p:spPr>
          <a:xfrm>
            <a:off x="552450" y="1377404"/>
            <a:ext cx="11087100" cy="369332"/>
          </a:xfrm>
          <a:prstGeom prst="rect">
            <a:avLst/>
          </a:prstGeom>
          <a:noFill/>
        </p:spPr>
        <p:txBody>
          <a:bodyPr wrap="square">
            <a:spAutoFit/>
          </a:bodyPr>
          <a:lstStyle/>
          <a:p>
            <a:r>
              <a:rPr lang="en-US" altLang="ko-KR" b="1" dirty="0">
                <a:latin typeface="D2Coding" panose="020B0609020101020101" pitchFamily="49" charset="-127"/>
                <a:ea typeface="D2Coding" panose="020B0609020101020101" pitchFamily="49" charset="-127"/>
                <a:hlinkClick r:id="rId3"/>
              </a:rPr>
              <a:t>Perceptron_1957_to_AlexNet_2012.ipynb</a:t>
            </a:r>
            <a:r>
              <a:rPr lang="en-US" altLang="ko-KR" b="1" dirty="0">
                <a:latin typeface="D2Coding" panose="020B0609020101020101" pitchFamily="49" charset="-127"/>
                <a:ea typeface="D2Coding" panose="020B0609020101020101" pitchFamily="49" charset="-127"/>
              </a:rPr>
              <a:t> </a:t>
            </a:r>
          </a:p>
        </p:txBody>
      </p:sp>
    </p:spTree>
    <p:extLst>
      <p:ext uri="{BB962C8B-B14F-4D97-AF65-F5344CB8AC3E}">
        <p14:creationId xmlns:p14="http://schemas.microsoft.com/office/powerpoint/2010/main" val="2309904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D739-3CD0-CCA2-9928-4AE3D14AC3C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9D7069-1FB1-2CA2-8C7A-A8267B0210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1FB0A38B-BE23-F493-D16C-1D774316A3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3EEF370-2FCC-E88C-CCF7-8647FB631C12}"/>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B8238B59-87C1-4E54-C4B2-C7D3ED424475}"/>
              </a:ext>
            </a:extLst>
          </p:cNvPr>
          <p:cNvSpPr txBox="1"/>
          <p:nvPr/>
        </p:nvSpPr>
        <p:spPr>
          <a:xfrm>
            <a:off x="5652526" y="2083028"/>
            <a:ext cx="6091799" cy="3524042"/>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시계열</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문장 등과 같은 순서가 있는 데이터에 적합</a:t>
            </a:r>
          </a:p>
          <a:p>
            <a:pPr marL="742950" lvl="1" indent="-285750">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RNN/LSTM</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시퀀스에서 중요한 문맥 정보</a:t>
            </a:r>
            <a:r>
              <a:rPr lang="en-US" altLang="ko-KR" sz="1100" dirty="0">
                <a:latin typeface="D2Coding" panose="020B0609020101020101" pitchFamily="49" charset="-127"/>
                <a:ea typeface="D2Coding" panose="020B0609020101020101" pitchFamily="49" charset="-127"/>
              </a:rPr>
              <a:t>(context)</a:t>
            </a:r>
            <a:r>
              <a:rPr lang="ko-KR" altLang="en-US" sz="1100" dirty="0">
                <a:latin typeface="D2Coding" panose="020B0609020101020101" pitchFamily="49" charset="-127"/>
                <a:ea typeface="D2Coding" panose="020B0609020101020101" pitchFamily="49" charset="-127"/>
              </a:rPr>
              <a:t>를 포착하기 어려움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문장을 처리할수록 학습 시간이 증가</a:t>
            </a:r>
            <a:endParaRPr lang="en-US" altLang="ko-KR" sz="1100" dirty="0">
              <a:latin typeface="D2Coding" panose="020B0609020101020101" pitchFamily="49" charset="-127"/>
              <a:ea typeface="D2Coding" panose="020B0609020101020101" pitchFamily="49" charset="-127"/>
            </a:endParaRPr>
          </a:p>
          <a:p>
            <a:pPr marL="1200150" lvl="2" indent="-285750">
              <a:buFont typeface="Wingdings" panose="05000000000000000000" pitchFamily="2" charset="2"/>
              <a:buChar char="§"/>
            </a:pP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단어를 벡터로 표현하는 </a:t>
            </a:r>
            <a:r>
              <a:rPr lang="ko-KR" altLang="en-US" sz="1200" dirty="0" err="1">
                <a:latin typeface="D2Coding" panose="020B0609020101020101" pitchFamily="49" charset="-127"/>
                <a:ea typeface="D2Coding" panose="020B0609020101020101" pitchFamily="49" charset="-127"/>
              </a:rPr>
              <a:t>임베딩</a:t>
            </a:r>
            <a:r>
              <a:rPr lang="ko-KR" altLang="en-US" sz="12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대표적인 방법 </a:t>
            </a:r>
            <a:r>
              <a:rPr lang="en-US" altLang="ko-KR" sz="1200" dirty="0">
                <a:latin typeface="D2Coding" panose="020B0609020101020101" pitchFamily="49" charset="-127"/>
                <a:ea typeface="D2Coding" panose="020B0609020101020101" pitchFamily="49" charset="-127"/>
              </a:rPr>
              <a:t>: Word2Vec,</a:t>
            </a:r>
            <a:r>
              <a:rPr lang="ko-KR" altLang="en-US"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GloVe</a:t>
            </a:r>
            <a:r>
              <a:rPr lang="en-US" altLang="ko-KR"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FastText</a:t>
            </a:r>
            <a:r>
              <a:rPr lang="ko-KR" altLang="en-US" sz="1200" dirty="0">
                <a:latin typeface="D2Coding" panose="020B0609020101020101" pitchFamily="49" charset="-127"/>
                <a:ea typeface="D2Coding" panose="020B0609020101020101" pitchFamily="49" charset="-127"/>
              </a:rPr>
              <a:t>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기존 </a:t>
            </a:r>
            <a:r>
              <a:rPr lang="en-US" altLang="ko-KR" sz="1200" dirty="0">
                <a:latin typeface="D2Coding" panose="020B0609020101020101" pitchFamily="49" charset="-127"/>
                <a:ea typeface="D2Coding" panose="020B0609020101020101" pitchFamily="49" charset="-127"/>
              </a:rPr>
              <a:t>Word Embedding</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문장이나 주변 단어에 따라 달라지는 문맥적 의미</a:t>
            </a:r>
            <a:r>
              <a:rPr lang="en-US" altLang="ko-KR" sz="1100" dirty="0">
                <a:latin typeface="D2Coding" panose="020B0609020101020101" pitchFamily="49" charset="-127"/>
                <a:ea typeface="D2Coding" panose="020B0609020101020101" pitchFamily="49" charset="-127"/>
              </a:rPr>
              <a:t>(contextual meaning)</a:t>
            </a:r>
            <a:r>
              <a:rPr lang="ko-KR" altLang="en-US" sz="1100" dirty="0">
                <a:latin typeface="D2Coding" panose="020B0609020101020101" pitchFamily="49" charset="-127"/>
                <a:ea typeface="D2Coding" panose="020B0609020101020101" pitchFamily="49" charset="-127"/>
              </a:rPr>
              <a:t>를 반영하기 어려움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en-US" altLang="ko-KR" sz="1100" i="1" dirty="0">
                <a:latin typeface="D2Coding" panose="020B0609020101020101" pitchFamily="49" charset="-127"/>
                <a:ea typeface="D2Coding" panose="020B0609020101020101" pitchFamily="49" charset="-127"/>
              </a:rPr>
              <a:t>bank</a:t>
            </a:r>
            <a:r>
              <a:rPr lang="ko-KR" altLang="en-US" sz="1100" dirty="0">
                <a:latin typeface="D2Coding" panose="020B0609020101020101" pitchFamily="49" charset="-127"/>
                <a:ea typeface="D2Coding" panose="020B0609020101020101" pitchFamily="49" charset="-127"/>
              </a:rPr>
              <a:t>가 문맥에 따라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은행</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또는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강둑</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을 의미하는 차이를 제대로 표현하기 어려움</a:t>
            </a:r>
            <a:r>
              <a:rPr lang="en-US" altLang="ko-KR" sz="1100" dirty="0">
                <a:latin typeface="D2Coding" panose="020B0609020101020101" pitchFamily="49" charset="-127"/>
                <a:ea typeface="D2Coding" panose="020B0609020101020101" pitchFamily="49" charset="-127"/>
              </a:rPr>
              <a:t>)</a:t>
            </a:r>
          </a:p>
          <a:p>
            <a:pPr marL="1200150" lvl="2" indent="-285750">
              <a:buFont typeface="Wingdings" panose="05000000000000000000" pitchFamily="2" charset="2"/>
              <a:buChar char="§"/>
            </a:pP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대규모 사전학습 언어모델</a:t>
            </a:r>
            <a:r>
              <a:rPr lang="en-US" altLang="ko-KR" sz="1200" dirty="0">
                <a:latin typeface="D2Coding" panose="020B0609020101020101" pitchFamily="49" charset="-127"/>
                <a:ea typeface="D2Coding" panose="020B0609020101020101" pitchFamily="49" charset="-127"/>
              </a:rPr>
              <a:t>(Pre-trained Language Model)</a:t>
            </a:r>
            <a:r>
              <a:rPr lang="ko-KR" altLang="en-US" sz="12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이후 </a:t>
            </a:r>
            <a:r>
              <a:rPr lang="en-US" altLang="ko-KR" sz="1200" dirty="0">
                <a:latin typeface="D2Coding" panose="020B0609020101020101" pitchFamily="49" charset="-127"/>
                <a:ea typeface="D2Coding" panose="020B0609020101020101" pitchFamily="49" charset="-127"/>
              </a:rPr>
              <a:t>BERT, GPT</a:t>
            </a:r>
            <a:r>
              <a:rPr lang="ko-KR" altLang="en-US" sz="1200" dirty="0">
                <a:latin typeface="D2Coding" panose="020B0609020101020101" pitchFamily="49" charset="-127"/>
                <a:ea typeface="D2Coding" panose="020B0609020101020101" pitchFamily="49" charset="-127"/>
              </a:rPr>
              <a:t>와 같은 </a:t>
            </a:r>
            <a:r>
              <a:rPr lang="en-US" altLang="ko-KR" sz="1200" dirty="0">
                <a:latin typeface="D2Coding" panose="020B0609020101020101" pitchFamily="49" charset="-127"/>
                <a:ea typeface="D2Coding" panose="020B0609020101020101" pitchFamily="49" charset="-127"/>
              </a:rPr>
              <a:t>Transformer </a:t>
            </a:r>
            <a:r>
              <a:rPr lang="ko-KR" altLang="en-US" sz="1200" dirty="0">
                <a:latin typeface="D2Coding" panose="020B0609020101020101" pitchFamily="49" charset="-127"/>
                <a:ea typeface="D2Coding" panose="020B0609020101020101" pitchFamily="49" charset="-127"/>
              </a:rPr>
              <a:t>기반 언어모델로 발전함</a:t>
            </a:r>
            <a:r>
              <a:rPr lang="ko-KR" altLang="en-US" sz="1400" dirty="0">
                <a:latin typeface="D2Coding" panose="020B0609020101020101" pitchFamily="49" charset="-127"/>
                <a:ea typeface="D2Coding" panose="020B0609020101020101" pitchFamily="49" charset="-127"/>
              </a:rPr>
              <a:t> </a:t>
            </a:r>
          </a:p>
        </p:txBody>
      </p:sp>
      <p:sp>
        <p:nvSpPr>
          <p:cNvPr id="10" name="TextBox 9">
            <a:extLst>
              <a:ext uri="{FF2B5EF4-FFF2-40B4-BE49-F238E27FC236}">
                <a16:creationId xmlns:a16="http://schemas.microsoft.com/office/drawing/2014/main" id="{25D98A1F-877F-18FD-5084-0F7FD34C0823}"/>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Transformer/Contextual Embedding → Pre-Trained LLM</a:t>
            </a:r>
          </a:p>
        </p:txBody>
      </p:sp>
    </p:spTree>
    <p:extLst>
      <p:ext uri="{BB962C8B-B14F-4D97-AF65-F5344CB8AC3E}">
        <p14:creationId xmlns:p14="http://schemas.microsoft.com/office/powerpoint/2010/main" val="2345501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29AD9-B2C1-B49E-B9BF-634BE378AFC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6D48F08-B102-C621-E10B-9FB8F64BC54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 실습</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EC30A17E-67FC-20F8-8B0C-D51945166DE0}"/>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16FE903A-9C1D-1244-608C-C79E994A6C30}"/>
              </a:ext>
            </a:extLst>
          </p:cNvPr>
          <p:cNvSpPr txBox="1"/>
          <p:nvPr/>
        </p:nvSpPr>
        <p:spPr>
          <a:xfrm>
            <a:off x="1108364" y="1939636"/>
            <a:ext cx="9467272" cy="2058064"/>
          </a:xfrm>
          <a:prstGeom prst="rect">
            <a:avLst/>
          </a:prstGeom>
          <a:solidFill>
            <a:schemeClr val="tx1"/>
          </a:solidFill>
        </p:spPr>
        <p:txBody>
          <a:bodyPr wrap="square" rtlCol="0">
            <a:spAutoFit/>
          </a:bodyPr>
          <a:lstStyle/>
          <a:p>
            <a:pPr marL="342900" indent="-342900">
              <a:lnSpc>
                <a:spcPct val="250000"/>
              </a:lnSpc>
              <a:buFont typeface="+mj-lt"/>
              <a:buAutoNum type="arabicPeriod"/>
            </a:pPr>
            <a:r>
              <a:rPr lang="ko-KR" altLang="en-US" dirty="0">
                <a:solidFill>
                  <a:schemeClr val="bg1"/>
                </a:solidFill>
                <a:latin typeface="D2Coding" panose="020B0609020101020101" pitchFamily="49" charset="-127"/>
                <a:ea typeface="D2Coding" panose="020B0609020101020101" pitchFamily="49" charset="-127"/>
              </a:rPr>
              <a:t>엑셀로 시계열자료를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a:solidFill>
                  <a:schemeClr val="bg1"/>
                </a:solidFill>
                <a:latin typeface="D2Coding" panose="020B0609020101020101" pitchFamily="49" charset="-127"/>
                <a:ea typeface="D2Coding" panose="020B0609020101020101" pitchFamily="49" charset="-127"/>
              </a:rPr>
              <a:t>Python </a:t>
            </a:r>
            <a:r>
              <a:rPr lang="ko-KR" altLang="en-US" dirty="0">
                <a:solidFill>
                  <a:schemeClr val="bg1"/>
                </a:solidFill>
                <a:latin typeface="D2Coding" panose="020B0609020101020101" pitchFamily="49" charset="-127"/>
                <a:ea typeface="D2Coding" panose="020B0609020101020101" pitchFamily="49" charset="-127"/>
              </a:rPr>
              <a:t>반복문으로 시계열 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err="1">
                <a:solidFill>
                  <a:schemeClr val="bg1"/>
                </a:solidFill>
                <a:latin typeface="D2Coding" panose="020B0609020101020101" pitchFamily="49" charset="-127"/>
                <a:ea typeface="D2Coding" panose="020B0609020101020101" pitchFamily="49" charset="-127"/>
              </a:rPr>
              <a:t>Tensorflow</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err="1">
                <a:solidFill>
                  <a:schemeClr val="bg1"/>
                </a:solidFill>
                <a:latin typeface="D2Coding" panose="020B0609020101020101" pitchFamily="49" charset="-127"/>
                <a:ea typeface="D2Coding" panose="020B0609020101020101" pitchFamily="49" charset="-127"/>
              </a:rPr>
              <a:t>keras.utils.timeseries_dataset_from_array</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a:solidFill>
                  <a:schemeClr val="bg1"/>
                </a:solidFill>
                <a:latin typeface="D2Coding" panose="020B0609020101020101" pitchFamily="49" charset="-127"/>
                <a:ea typeface="D2Coding" panose="020B0609020101020101" pitchFamily="49" charset="-127"/>
              </a:rPr>
              <a:t>시계열 자료를 실습</a:t>
            </a:r>
            <a:r>
              <a:rPr lang="en-US" altLang="ko-KR" dirty="0">
                <a:solidFill>
                  <a:schemeClr val="bg1"/>
                </a:solidFill>
                <a:latin typeface="D2Coding" panose="020B0609020101020101" pitchFamily="49" charset="-127"/>
                <a:ea typeface="D2Coding" panose="020B0609020101020101" pitchFamily="49" charset="-127"/>
              </a:rPr>
              <a:t> </a:t>
            </a:r>
            <a:endParaRPr lang="ko-KR" altLang="en-US" dirty="0">
              <a:solidFill>
                <a:schemeClr val="bg1"/>
              </a:solidFill>
              <a:latin typeface="D2Coding" panose="020B0609020101020101" pitchFamily="49" charset="-127"/>
              <a:ea typeface="D2Coding" panose="020B0609020101020101" pitchFamily="49" charset="-127"/>
            </a:endParaRPr>
          </a:p>
        </p:txBody>
      </p:sp>
      <p:pic>
        <p:nvPicPr>
          <p:cNvPr id="6" name="그래픽 5" descr="크리켓 단색으로 채워진">
            <a:extLst>
              <a:ext uri="{FF2B5EF4-FFF2-40B4-BE49-F238E27FC236}">
                <a16:creationId xmlns:a16="http://schemas.microsoft.com/office/drawing/2014/main" id="{F347C455-8C50-5937-F37A-8566431F53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24859" y="299420"/>
            <a:ext cx="914400" cy="914400"/>
          </a:xfrm>
          <a:prstGeom prst="rect">
            <a:avLst/>
          </a:prstGeom>
        </p:spPr>
      </p:pic>
    </p:spTree>
    <p:extLst>
      <p:ext uri="{BB962C8B-B14F-4D97-AF65-F5344CB8AC3E}">
        <p14:creationId xmlns:p14="http://schemas.microsoft.com/office/powerpoint/2010/main" val="380708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835947" cy="4843914"/>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4F44B0F3-25E6-A657-77F4-ED64D91CE0E2}"/>
              </a:ext>
            </a:extLst>
          </p:cNvPr>
          <p:cNvSpPr txBox="1"/>
          <p:nvPr/>
        </p:nvSpPr>
        <p:spPr>
          <a:xfrm>
            <a:off x="512864" y="1248422"/>
            <a:ext cx="1826141"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6"/>
              </a:rPr>
              <a:t>Time-series.xlsx</a:t>
            </a:r>
            <a:endParaRPr lang="ko-KR" altLang="en-US" sz="1600" dirty="0">
              <a:latin typeface="D2Coding" panose="020B0609020101020101" pitchFamily="49" charset="-127"/>
              <a:ea typeface="D2Coding" panose="020B0609020101020101" pitchFamily="49" charset="-127"/>
            </a:endParaRPr>
          </a:p>
        </p:txBody>
      </p:sp>
      <p:sp>
        <p:nvSpPr>
          <p:cNvPr id="5" name="직사각형 4">
            <a:extLst>
              <a:ext uri="{FF2B5EF4-FFF2-40B4-BE49-F238E27FC236}">
                <a16:creationId xmlns:a16="http://schemas.microsoft.com/office/drawing/2014/main" id="{5EF63DD8-3043-B281-84A8-C0FE46931C41}"/>
              </a:ext>
            </a:extLst>
          </p:cNvPr>
          <p:cNvSpPr/>
          <p:nvPr/>
        </p:nvSpPr>
        <p:spPr>
          <a:xfrm>
            <a:off x="4162424" y="4410075"/>
            <a:ext cx="619125" cy="21717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설명선: 굽은 선 6">
            <a:extLst>
              <a:ext uri="{FF2B5EF4-FFF2-40B4-BE49-F238E27FC236}">
                <a16:creationId xmlns:a16="http://schemas.microsoft.com/office/drawing/2014/main" id="{A879FA5F-B755-1516-5FD7-4C332147929E}"/>
              </a:ext>
            </a:extLst>
          </p:cNvPr>
          <p:cNvSpPr/>
          <p:nvPr/>
        </p:nvSpPr>
        <p:spPr>
          <a:xfrm>
            <a:off x="6237167" y="4857298"/>
            <a:ext cx="3144957" cy="369332"/>
          </a:xfrm>
          <a:prstGeom prst="borderCallout2">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latin typeface="D2Coding" panose="020B0609020101020101" pitchFamily="49" charset="-127"/>
                <a:ea typeface="D2Coding" panose="020B0609020101020101" pitchFamily="49" charset="-127"/>
              </a:rPr>
              <a:t>과거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일 동안의 평균을 기억하고 있음</a:t>
            </a:r>
          </a:p>
        </p:txBody>
      </p:sp>
    </p:spTree>
    <p:extLst>
      <p:ext uri="{BB962C8B-B14F-4D97-AF65-F5344CB8AC3E}">
        <p14:creationId xmlns:p14="http://schemas.microsoft.com/office/powerpoint/2010/main" val="23184673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7581D-3B69-D7B8-7BD1-D9C95353FCE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FD4F066-D256-883B-A556-AB50529B242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 series data analysis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683F156A-0939-A650-AE4D-419E927966E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7" name="Rectangle 2">
            <a:extLst>
              <a:ext uri="{FF2B5EF4-FFF2-40B4-BE49-F238E27FC236}">
                <a16:creationId xmlns:a16="http://schemas.microsoft.com/office/drawing/2014/main" id="{B5D3A5FB-5C68-D63B-561D-F8449CDABB0B}"/>
              </a:ext>
            </a:extLst>
          </p:cNvPr>
          <p:cNvSpPr>
            <a:spLocks noChangeArrowheads="1"/>
          </p:cNvSpPr>
          <p:nvPr/>
        </p:nvSpPr>
        <p:spPr bwMode="auto">
          <a:xfrm>
            <a:off x="557862" y="1537223"/>
            <a:ext cx="11076275" cy="88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삼성전자</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과거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12</a:t>
            </a:r>
            <a:r>
              <a:rPr kumimoji="0" lang="ko-KR" altLang="ko-KR" b="0" i="0" u="none" strike="noStrike" cap="none" normalizeH="0" baseline="0" dirty="0" err="1">
                <a:ln>
                  <a:noFill/>
                </a:ln>
                <a:solidFill>
                  <a:srgbClr val="1F1F1F"/>
                </a:solidFill>
                <a:effectLst/>
                <a:latin typeface="D2Coding" panose="020B0609020101020101" pitchFamily="49" charset="-127"/>
                <a:ea typeface="D2Coding" panose="020B0609020101020101" pitchFamily="49" charset="-127"/>
              </a:rPr>
              <a:t>개월치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데이터를 사용하여 종가</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a:t>
            </a:r>
            <a:r>
              <a:rPr kumimoji="0" lang="en-US" altLang="ko-KR" b="0" i="0" u="none" strike="noStrike" cap="none" normalizeH="0" dirty="0">
                <a:ln>
                  <a:noFill/>
                </a:ln>
                <a:solidFill>
                  <a:srgbClr val="1F1F1F"/>
                </a:solidFill>
                <a:effectLst/>
                <a:latin typeface="D2Coding" panose="020B0609020101020101" pitchFamily="49" charset="-127"/>
                <a:ea typeface="D2Coding" panose="020B0609020101020101" pitchFamily="49" charset="-127"/>
              </a:rPr>
              <a:t>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거래량</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외국인</a:t>
            </a:r>
            <a:r>
              <a:rPr lang="en-US" altLang="ko-KR" dirty="0">
                <a:solidFill>
                  <a:srgbClr val="1F1F1F"/>
                </a:solidFill>
                <a:latin typeface="D2Coding" panose="020B0609020101020101" pitchFamily="49" charset="-127"/>
                <a:ea typeface="D2Coding" panose="020B0609020101020101" pitchFamily="49" charset="-127"/>
              </a:rPr>
              <a:t> </a:t>
            </a:r>
            <a:r>
              <a:rPr lang="ko-KR" altLang="en-US" dirty="0" err="1">
                <a:solidFill>
                  <a:srgbClr val="1F1F1F"/>
                </a:solidFill>
                <a:latin typeface="D2Coding" panose="020B0609020101020101" pitchFamily="49" charset="-127"/>
                <a:ea typeface="D2Coding" panose="020B0609020101020101" pitchFamily="49" charset="-127"/>
              </a:rPr>
              <a:t>매매량</a:t>
            </a:r>
            <a:r>
              <a:rPr lang="ko-KR" altLang="en-US" dirty="0">
                <a:solidFill>
                  <a:srgbClr val="1F1F1F"/>
                </a:solidFill>
                <a:latin typeface="D2Coding" panose="020B0609020101020101" pitchFamily="49" charset="-127"/>
                <a:ea typeface="D2Coding" panose="020B0609020101020101" pitchFamily="49" charset="-127"/>
              </a:rPr>
              <a:t> 등</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바탕으로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최근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6</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10</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15</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 등의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Timestep</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기준으로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시계열 예측</a:t>
            </a:r>
            <a:endParaRPr kumimoji="0" lang="ko-KR" altLang="ko-KR" b="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282280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994009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1887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609240" y="4746002"/>
            <a:ext cx="2240703"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a:t>
            </a:r>
            <a:r>
              <a:rPr lang="en-US" altLang="ko-KR" sz="1600" dirty="0">
                <a:latin typeface="D2Coding" panose="020B0609020101020101" pitchFamily="49" charset="-127"/>
                <a:ea typeface="D2Coding" panose="020B0609020101020101" pitchFamily="49" charset="-127"/>
              </a:rPr>
              <a:t>Features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(현재가</a:t>
            </a:r>
            <a:r>
              <a:rPr lang="en-US" altLang="ko-KR" sz="1600" dirty="0">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고가</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877910" y="5500276"/>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days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2902047" y="5989507"/>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min</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07268" y="3789584"/>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21518" y="396089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35768" y="4132196"/>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0493" y="4303502"/>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45218" y="447481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왼쪽 중괄호 6">
            <a:extLst>
              <a:ext uri="{FF2B5EF4-FFF2-40B4-BE49-F238E27FC236}">
                <a16:creationId xmlns:a16="http://schemas.microsoft.com/office/drawing/2014/main" id="{627DBF7F-4DEA-5C88-2727-354E5C3DD492}"/>
              </a:ext>
            </a:extLst>
          </p:cNvPr>
          <p:cNvSpPr/>
          <p:nvPr/>
        </p:nvSpPr>
        <p:spPr>
          <a:xfrm>
            <a:off x="2802572" y="4490748"/>
            <a:ext cx="190246" cy="94923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9" name="왼쪽 중괄호 8">
            <a:extLst>
              <a:ext uri="{FF2B5EF4-FFF2-40B4-BE49-F238E27FC236}">
                <a16:creationId xmlns:a16="http://schemas.microsoft.com/office/drawing/2014/main" id="{DBB2F763-D1A0-5F12-E69A-366DB63B9C91}"/>
              </a:ext>
            </a:extLst>
          </p:cNvPr>
          <p:cNvSpPr/>
          <p:nvPr/>
        </p:nvSpPr>
        <p:spPr>
          <a:xfrm rot="16200000">
            <a:off x="4097986" y="4706853"/>
            <a:ext cx="218948" cy="205312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왼쪽 중괄호 10">
            <a:extLst>
              <a:ext uri="{FF2B5EF4-FFF2-40B4-BE49-F238E27FC236}">
                <a16:creationId xmlns:a16="http://schemas.microsoft.com/office/drawing/2014/main" id="{8621A218-679E-9132-63F5-3B49374C1CE9}"/>
              </a:ext>
            </a:extLst>
          </p:cNvPr>
          <p:cNvSpPr/>
          <p:nvPr/>
        </p:nvSpPr>
        <p:spPr>
          <a:xfrm rot="14331003">
            <a:off x="5912756" y="4646144"/>
            <a:ext cx="218948" cy="136565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818BB3DE-384A-29CE-CA30-64AA8876FE71}"/>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(250, 390, 3) </a:t>
            </a:r>
            <a:r>
              <a:rPr lang="en-US" altLang="ko-KR" sz="1200" b="0" i="0" dirty="0">
                <a:solidFill>
                  <a:schemeClr val="bg1"/>
                </a:solidFill>
                <a:effectLst/>
                <a:latin typeface="D2Coding" panose="020B0609020101020101" pitchFamily="49" charset="-127"/>
                <a:ea typeface="D2Coding" panose="020B0609020101020101" pitchFamily="49" charset="-127"/>
                <a:sym typeface="Wingdings" panose="05000000000000000000" pitchFamily="2" charset="2"/>
              </a:rPr>
              <a:t> </a:t>
            </a:r>
            <a:r>
              <a:rPr lang="en-US" altLang="ko-KR" sz="1200" dirty="0">
                <a:solidFill>
                  <a:schemeClr val="bg1"/>
                </a:solidFill>
                <a:latin typeface="D2Coding" panose="020B0609020101020101" pitchFamily="49" charset="-127"/>
                <a:ea typeface="D2Coding" panose="020B0609020101020101" pitchFamily="49" charset="-127"/>
              </a:rPr>
              <a:t>(Batch size, Timesteps, # of Features)</a:t>
            </a:r>
            <a:endParaRPr lang="ko-KR" altLang="en-US" sz="1200" dirty="0">
              <a:solidFill>
                <a:schemeClr val="bg1"/>
              </a:solidFill>
            </a:endParaRPr>
          </a:p>
        </p:txBody>
      </p:sp>
    </p:spTree>
    <p:extLst>
      <p:ext uri="{BB962C8B-B14F-4D97-AF65-F5344CB8AC3E}">
        <p14:creationId xmlns:p14="http://schemas.microsoft.com/office/powerpoint/2010/main" val="213279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18616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629040" y="4704048"/>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algn="ct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algn="ct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457825" y="5487271"/>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2981533" y="602588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377316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94447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411578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428708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445839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14E785C6-7C76-9799-CA07-10B72D0F1215}"/>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a:t>
            </a:r>
            <a:r>
              <a:rPr lang="en-US" altLang="ko-KR" sz="1200" dirty="0">
                <a:solidFill>
                  <a:schemeClr val="bg1"/>
                </a:solidFill>
                <a:latin typeface="D2Coding" panose="020B0609020101020101" pitchFamily="49" charset="-127"/>
                <a:ea typeface="D2Coding" panose="020B0609020101020101" pitchFamily="49" charset="-127"/>
              </a:rPr>
              <a:t>1000000</a:t>
            </a:r>
            <a:r>
              <a:rPr lang="en-US" altLang="ko-KR" sz="1200" b="0" i="0" dirty="0">
                <a:solidFill>
                  <a:schemeClr val="bg1"/>
                </a:solidFill>
                <a:effectLst/>
                <a:latin typeface="D2Coding" panose="020B0609020101020101" pitchFamily="49" charset="-127"/>
                <a:ea typeface="D2Coding" panose="020B0609020101020101" pitchFamily="49" charset="-127"/>
              </a:rPr>
              <a:t>, 128, 280)</a:t>
            </a:r>
            <a:endParaRPr lang="ko-KR" altLang="en-US" sz="1200" dirty="0">
              <a:solidFill>
                <a:schemeClr val="bg1"/>
              </a:solidFill>
            </a:endParaRPr>
          </a:p>
        </p:txBody>
      </p:sp>
    </p:spTree>
    <p:extLst>
      <p:ext uri="{BB962C8B-B14F-4D97-AF65-F5344CB8AC3E}">
        <p14:creationId xmlns:p14="http://schemas.microsoft.com/office/powerpoint/2010/main" val="571416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AAA10-92FA-439D-F74D-9A80214BE4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EEAE251-2A05-9C4E-A130-5AC7534E833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Text 3D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D629CD8-BB2D-C0A5-E1B6-4B4C3A981B8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2050" name="Picture 2">
            <a:extLst>
              <a:ext uri="{FF2B5EF4-FFF2-40B4-BE49-F238E27FC236}">
                <a16:creationId xmlns:a16="http://schemas.microsoft.com/office/drawing/2014/main" id="{65A0A580-6277-A579-0A9F-5E1CC7B5C7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8759" y="1780802"/>
            <a:ext cx="7504008" cy="2191600"/>
          </a:xfrm>
          <a:prstGeom prst="rect">
            <a:avLst/>
          </a:prstGeom>
          <a:solidFill>
            <a:schemeClr val="accent1"/>
          </a:solidFill>
          <a:ln>
            <a:solidFill>
              <a:schemeClr val="tx1"/>
            </a:solidFill>
          </a:ln>
        </p:spPr>
      </p:pic>
      <p:pic>
        <p:nvPicPr>
          <p:cNvPr id="15" name="Picture 2">
            <a:extLst>
              <a:ext uri="{FF2B5EF4-FFF2-40B4-BE49-F238E27FC236}">
                <a16:creationId xmlns:a16="http://schemas.microsoft.com/office/drawing/2014/main" id="{B8434580-D760-69EC-7818-214C834AB6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880" y="2178766"/>
            <a:ext cx="7504008" cy="2191600"/>
          </a:xfrm>
          <a:prstGeom prst="rect">
            <a:avLst/>
          </a:prstGeom>
          <a:solidFill>
            <a:schemeClr val="accent1"/>
          </a:solidFill>
          <a:ln>
            <a:solidFill>
              <a:schemeClr val="tx1"/>
            </a:solidFill>
          </a:ln>
        </p:spPr>
      </p:pic>
      <p:pic>
        <p:nvPicPr>
          <p:cNvPr id="16" name="Picture 2">
            <a:extLst>
              <a:ext uri="{FF2B5EF4-FFF2-40B4-BE49-F238E27FC236}">
                <a16:creationId xmlns:a16="http://schemas.microsoft.com/office/drawing/2014/main" id="{5D462795-E6F0-51BC-22D0-E9311C89C2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9001" y="2591360"/>
            <a:ext cx="7504008" cy="2191600"/>
          </a:xfrm>
          <a:prstGeom prst="rect">
            <a:avLst/>
          </a:prstGeom>
          <a:solidFill>
            <a:schemeClr val="accent1"/>
          </a:solidFill>
          <a:ln>
            <a:solidFill>
              <a:schemeClr val="tx1"/>
            </a:solidFill>
          </a:ln>
        </p:spPr>
      </p:pic>
      <p:pic>
        <p:nvPicPr>
          <p:cNvPr id="17" name="Picture 2">
            <a:extLst>
              <a:ext uri="{FF2B5EF4-FFF2-40B4-BE49-F238E27FC236}">
                <a16:creationId xmlns:a16="http://schemas.microsoft.com/office/drawing/2014/main" id="{0D8F1ABF-A2CD-1845-AEC3-5CE64B0FA5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9122" y="2994414"/>
            <a:ext cx="7504008" cy="2191600"/>
          </a:xfrm>
          <a:prstGeom prst="rect">
            <a:avLst/>
          </a:prstGeom>
          <a:solidFill>
            <a:schemeClr val="accent1"/>
          </a:solidFill>
          <a:ln>
            <a:solidFill>
              <a:schemeClr val="tx1"/>
            </a:solidFill>
          </a:ln>
        </p:spPr>
      </p:pic>
      <p:pic>
        <p:nvPicPr>
          <p:cNvPr id="18" name="Picture 2">
            <a:extLst>
              <a:ext uri="{FF2B5EF4-FFF2-40B4-BE49-F238E27FC236}">
                <a16:creationId xmlns:a16="http://schemas.microsoft.com/office/drawing/2014/main" id="{2891BFF9-C865-EA79-E389-2ABF50F61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9243" y="3422658"/>
            <a:ext cx="7504008" cy="2191600"/>
          </a:xfrm>
          <a:prstGeom prst="rect">
            <a:avLst/>
          </a:prstGeom>
          <a:solidFill>
            <a:schemeClr val="accent1"/>
          </a:solidFill>
          <a:ln>
            <a:solidFill>
              <a:schemeClr val="tx1"/>
            </a:solidFill>
          </a:ln>
        </p:spPr>
      </p:pic>
      <p:grpSp>
        <p:nvGrpSpPr>
          <p:cNvPr id="26" name="그룹 25">
            <a:extLst>
              <a:ext uri="{FF2B5EF4-FFF2-40B4-BE49-F238E27FC236}">
                <a16:creationId xmlns:a16="http://schemas.microsoft.com/office/drawing/2014/main" id="{33879313-55F3-335F-E8F1-05C67B4698CF}"/>
              </a:ext>
            </a:extLst>
          </p:cNvPr>
          <p:cNvGrpSpPr/>
          <p:nvPr/>
        </p:nvGrpSpPr>
        <p:grpSpPr>
          <a:xfrm>
            <a:off x="1757188" y="3850904"/>
            <a:ext cx="7504008" cy="2191600"/>
            <a:chOff x="1542445" y="3555615"/>
            <a:chExt cx="8747760" cy="2554847"/>
          </a:xfrm>
          <a:solidFill>
            <a:schemeClr val="accent1"/>
          </a:solidFill>
        </p:grpSpPr>
        <p:pic>
          <p:nvPicPr>
            <p:cNvPr id="19" name="Picture 2">
              <a:extLst>
                <a:ext uri="{FF2B5EF4-FFF2-40B4-BE49-F238E27FC236}">
                  <a16:creationId xmlns:a16="http://schemas.microsoft.com/office/drawing/2014/main" id="{EBB20374-3BDC-1E9F-6CD9-31580CEFA9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2445" y="3555615"/>
              <a:ext cx="8747760" cy="2554847"/>
            </a:xfrm>
            <a:prstGeom prst="rect">
              <a:avLst/>
            </a:prstGeom>
            <a:grpFill/>
            <a:ln>
              <a:solidFill>
                <a:schemeClr val="tx1"/>
              </a:solidFill>
            </a:ln>
          </p:spPr>
        </p:pic>
        <p:pic>
          <p:nvPicPr>
            <p:cNvPr id="23" name="그림 22">
              <a:extLst>
                <a:ext uri="{FF2B5EF4-FFF2-40B4-BE49-F238E27FC236}">
                  <a16:creationId xmlns:a16="http://schemas.microsoft.com/office/drawing/2014/main" id="{2199D197-6300-AA6F-A6A5-8F593C24E193}"/>
                </a:ext>
              </a:extLst>
            </p:cNvPr>
            <p:cNvPicPr>
              <a:picLocks noChangeAspect="1"/>
            </p:cNvPicPr>
            <p:nvPr/>
          </p:nvPicPr>
          <p:blipFill>
            <a:blip r:embed="rId3"/>
            <a:stretch>
              <a:fillRect/>
            </a:stretch>
          </p:blipFill>
          <p:spPr>
            <a:xfrm>
              <a:off x="8218786" y="5547807"/>
              <a:ext cx="1920406" cy="228620"/>
            </a:xfrm>
            <a:prstGeom prst="rect">
              <a:avLst/>
            </a:prstGeom>
            <a:grpFill/>
            <a:ln>
              <a:noFill/>
            </a:ln>
          </p:spPr>
        </p:pic>
        <p:pic>
          <p:nvPicPr>
            <p:cNvPr id="25" name="그림 24">
              <a:extLst>
                <a:ext uri="{FF2B5EF4-FFF2-40B4-BE49-F238E27FC236}">
                  <a16:creationId xmlns:a16="http://schemas.microsoft.com/office/drawing/2014/main" id="{A8A4C009-67BC-591B-1876-CE6C1141242D}"/>
                </a:ext>
              </a:extLst>
            </p:cNvPr>
            <p:cNvPicPr>
              <a:picLocks noChangeAspect="1"/>
            </p:cNvPicPr>
            <p:nvPr/>
          </p:nvPicPr>
          <p:blipFill>
            <a:blip r:embed="rId4"/>
            <a:stretch>
              <a:fillRect/>
            </a:stretch>
          </p:blipFill>
          <p:spPr>
            <a:xfrm>
              <a:off x="1542445" y="5452362"/>
              <a:ext cx="1386960" cy="205758"/>
            </a:xfrm>
            <a:prstGeom prst="rect">
              <a:avLst/>
            </a:prstGeom>
            <a:grpFill/>
            <a:ln>
              <a:noFill/>
            </a:ln>
          </p:spPr>
        </p:pic>
      </p:grpSp>
    </p:spTree>
    <p:extLst>
      <p:ext uri="{BB962C8B-B14F-4D97-AF65-F5344CB8AC3E}">
        <p14:creationId xmlns:p14="http://schemas.microsoft.com/office/powerpoint/2010/main" val="2574542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2310" y="1864995"/>
            <a:ext cx="5312410" cy="408342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05785" y="6068240"/>
            <a:ext cx="5980430"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5D231-7434-CD87-78CE-F3607DC4A8C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DEC688-B8D1-C8D8-A0E6-D810F1388C5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9330E3DC-F38F-CAD5-33AE-FB611FBD28F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3074" name="Picture 2">
            <a:extLst>
              <a:ext uri="{FF2B5EF4-FFF2-40B4-BE49-F238E27FC236}">
                <a16:creationId xmlns:a16="http://schemas.microsoft.com/office/drawing/2014/main" id="{65601198-4604-9731-8577-602A3FFD05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065" y="1289501"/>
            <a:ext cx="6349964" cy="240521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9BC0AC2-EBA0-2BD1-CFAC-447C94B94C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7766" y="3735794"/>
            <a:ext cx="5671493" cy="24052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D3F6F06-7BE2-8203-E291-E65B12CEE7E8}"/>
              </a:ext>
            </a:extLst>
          </p:cNvPr>
          <p:cNvSpPr txBox="1"/>
          <p:nvPr/>
        </p:nvSpPr>
        <p:spPr>
          <a:xfrm>
            <a:off x="661065" y="3694715"/>
            <a:ext cx="634996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1) (Batch size, Width, Height, Channel)</a:t>
            </a:r>
            <a:endParaRPr lang="ko-KR" altLang="en-US" sz="1400" dirty="0"/>
          </a:p>
        </p:txBody>
      </p:sp>
      <p:sp>
        <p:nvSpPr>
          <p:cNvPr id="7" name="TextBox 6">
            <a:extLst>
              <a:ext uri="{FF2B5EF4-FFF2-40B4-BE49-F238E27FC236}">
                <a16:creationId xmlns:a16="http://schemas.microsoft.com/office/drawing/2014/main" id="{DC804969-74E9-21D8-7F87-1E128AFDF6AF}"/>
              </a:ext>
            </a:extLst>
          </p:cNvPr>
          <p:cNvSpPr txBox="1"/>
          <p:nvPr/>
        </p:nvSpPr>
        <p:spPr>
          <a:xfrm>
            <a:off x="5867766" y="6179683"/>
            <a:ext cx="567149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3) (Batch size, Width, Height, Channel)</a:t>
            </a:r>
            <a:endParaRPr lang="ko-KR" altLang="en-US" sz="1400" dirty="0"/>
          </a:p>
        </p:txBody>
      </p:sp>
    </p:spTree>
    <p:extLst>
      <p:ext uri="{BB962C8B-B14F-4D97-AF65-F5344CB8AC3E}">
        <p14:creationId xmlns:p14="http://schemas.microsoft.com/office/powerpoint/2010/main" val="8114081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99625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816" y="3398520"/>
            <a:ext cx="3591819" cy="2677656"/>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855437" y="286142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91104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590967"/>
            <a:ext cx="6096000" cy="738664"/>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a:t>
            </a:r>
          </a:p>
        </p:txBody>
      </p:sp>
    </p:spTree>
    <p:extLst>
      <p:ext uri="{BB962C8B-B14F-4D97-AF65-F5344CB8AC3E}">
        <p14:creationId xmlns:p14="http://schemas.microsoft.com/office/powerpoint/2010/main" val="37040049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1194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294251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82B93E8-41CB-4E2A-3A8B-06E1FC1F47A9}"/>
                  </a:ext>
                </a:extLst>
              </p:cNvPr>
              <p:cNvSpPr txBox="1"/>
              <p:nvPr/>
            </p:nvSpPr>
            <p:spPr>
              <a:xfrm>
                <a:off x="1161434" y="206012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161434" y="2060122"/>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E84DE0C-CA9C-A61A-5820-3CD0F252AEE9}"/>
                  </a:ext>
                </a:extLst>
              </p:cNvPr>
              <p:cNvSpPr txBox="1"/>
              <p:nvPr/>
            </p:nvSpPr>
            <p:spPr>
              <a:xfrm>
                <a:off x="1161434" y="538311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161434" y="5383115"/>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DF1A498E-6E99-F4E3-A14D-95CC8C056690}"/>
                  </a:ext>
                </a:extLst>
              </p:cNvPr>
              <p:cNvSpPr txBox="1"/>
              <p:nvPr/>
            </p:nvSpPr>
            <p:spPr>
              <a:xfrm>
                <a:off x="1161434" y="45523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161434" y="4552366"/>
                <a:ext cx="604653" cy="307777"/>
              </a:xfrm>
              <a:prstGeom prst="rect">
                <a:avLst/>
              </a:prstGeom>
              <a:blipFill>
                <a:blip r:embed="rId4"/>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8499FFF9-DD42-9968-958E-D67807A9C555}"/>
                  </a:ext>
                </a:extLst>
              </p:cNvPr>
              <p:cNvSpPr txBox="1"/>
              <p:nvPr/>
            </p:nvSpPr>
            <p:spPr>
              <a:xfrm>
                <a:off x="1161434" y="372161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161434" y="3721618"/>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0BC165B-AA94-8611-C4D3-739D9A257934}"/>
                  </a:ext>
                </a:extLst>
              </p:cNvPr>
              <p:cNvSpPr txBox="1"/>
              <p:nvPr/>
            </p:nvSpPr>
            <p:spPr>
              <a:xfrm>
                <a:off x="1161434" y="289087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161434" y="2890870"/>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98ED520A-387A-9325-77ED-62A03C46376B}"/>
                  </a:ext>
                </a:extLst>
              </p:cNvPr>
              <p:cNvSpPr txBox="1"/>
              <p:nvPr/>
            </p:nvSpPr>
            <p:spPr>
              <a:xfrm>
                <a:off x="6819284" y="211727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6" name="TextBox 5">
                <a:extLst>
                  <a:ext uri="{FF2B5EF4-FFF2-40B4-BE49-F238E27FC236}">
                    <a16:creationId xmlns:a16="http://schemas.microsoft.com/office/drawing/2014/main" id="{98ED520A-387A-9325-77ED-62A03C46376B}"/>
                  </a:ext>
                </a:extLst>
              </p:cNvPr>
              <p:cNvSpPr txBox="1">
                <a:spLocks noRot="1" noChangeAspect="1" noMove="1" noResize="1" noEditPoints="1" noAdjustHandles="1" noChangeArrowheads="1" noChangeShapeType="1" noTextEdit="1"/>
              </p:cNvSpPr>
              <p:nvPr/>
            </p:nvSpPr>
            <p:spPr>
              <a:xfrm>
                <a:off x="6819284" y="2117272"/>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10C6A176-C29B-9E40-8305-A0A0E9CBB1A2}"/>
                  </a:ext>
                </a:extLst>
              </p:cNvPr>
              <p:cNvSpPr txBox="1"/>
              <p:nvPr/>
            </p:nvSpPr>
            <p:spPr>
              <a:xfrm>
                <a:off x="6819284" y="544026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2" name="TextBox 11">
                <a:extLst>
                  <a:ext uri="{FF2B5EF4-FFF2-40B4-BE49-F238E27FC236}">
                    <a16:creationId xmlns:a16="http://schemas.microsoft.com/office/drawing/2014/main" id="{10C6A176-C29B-9E40-8305-A0A0E9CBB1A2}"/>
                  </a:ext>
                </a:extLst>
              </p:cNvPr>
              <p:cNvSpPr txBox="1">
                <a:spLocks noRot="1" noChangeAspect="1" noMove="1" noResize="1" noEditPoints="1" noAdjustHandles="1" noChangeArrowheads="1" noChangeShapeType="1" noTextEdit="1"/>
              </p:cNvSpPr>
              <p:nvPr/>
            </p:nvSpPr>
            <p:spPr>
              <a:xfrm>
                <a:off x="6819284" y="5440265"/>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840120E2-A4B7-2B8E-ADBE-C88DCF8202D4}"/>
                  </a:ext>
                </a:extLst>
              </p:cNvPr>
              <p:cNvSpPr txBox="1"/>
              <p:nvPr/>
            </p:nvSpPr>
            <p:spPr>
              <a:xfrm>
                <a:off x="6819284" y="460951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4" name="TextBox 13">
                <a:extLst>
                  <a:ext uri="{FF2B5EF4-FFF2-40B4-BE49-F238E27FC236}">
                    <a16:creationId xmlns:a16="http://schemas.microsoft.com/office/drawing/2014/main" id="{840120E2-A4B7-2B8E-ADBE-C88DCF8202D4}"/>
                  </a:ext>
                </a:extLst>
              </p:cNvPr>
              <p:cNvSpPr txBox="1">
                <a:spLocks noRot="1" noChangeAspect="1" noMove="1" noResize="1" noEditPoints="1" noAdjustHandles="1" noChangeArrowheads="1" noChangeShapeType="1" noTextEdit="1"/>
              </p:cNvSpPr>
              <p:nvPr/>
            </p:nvSpPr>
            <p:spPr>
              <a:xfrm>
                <a:off x="6819284" y="460951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A9B77C1F-F66E-D09A-215E-B300D794E5DA}"/>
                  </a:ext>
                </a:extLst>
              </p:cNvPr>
              <p:cNvSpPr txBox="1"/>
              <p:nvPr/>
            </p:nvSpPr>
            <p:spPr>
              <a:xfrm>
                <a:off x="6819284" y="377876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6" name="TextBox 15">
                <a:extLst>
                  <a:ext uri="{FF2B5EF4-FFF2-40B4-BE49-F238E27FC236}">
                    <a16:creationId xmlns:a16="http://schemas.microsoft.com/office/drawing/2014/main" id="{A9B77C1F-F66E-D09A-215E-B300D794E5DA}"/>
                  </a:ext>
                </a:extLst>
              </p:cNvPr>
              <p:cNvSpPr txBox="1">
                <a:spLocks noRot="1" noChangeAspect="1" noMove="1" noResize="1" noEditPoints="1" noAdjustHandles="1" noChangeArrowheads="1" noChangeShapeType="1" noTextEdit="1"/>
              </p:cNvSpPr>
              <p:nvPr/>
            </p:nvSpPr>
            <p:spPr>
              <a:xfrm>
                <a:off x="6819284" y="3778768"/>
                <a:ext cx="604653" cy="307777"/>
              </a:xfrm>
              <a:prstGeom prst="rect">
                <a:avLst/>
              </a:prstGeom>
              <a:blipFill>
                <a:blip r:embed="rId10"/>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0987E11-CF89-02B7-1F4A-9689F0BF2666}"/>
                  </a:ext>
                </a:extLst>
              </p:cNvPr>
              <p:cNvSpPr txBox="1"/>
              <p:nvPr/>
            </p:nvSpPr>
            <p:spPr>
              <a:xfrm>
                <a:off x="6819284" y="294802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8" name="TextBox 17">
                <a:extLst>
                  <a:ext uri="{FF2B5EF4-FFF2-40B4-BE49-F238E27FC236}">
                    <a16:creationId xmlns:a16="http://schemas.microsoft.com/office/drawing/2014/main" id="{60987E11-CF89-02B7-1F4A-9689F0BF2666}"/>
                  </a:ext>
                </a:extLst>
              </p:cNvPr>
              <p:cNvSpPr txBox="1">
                <a:spLocks noRot="1" noChangeAspect="1" noMove="1" noResize="1" noEditPoints="1" noAdjustHandles="1" noChangeArrowheads="1" noChangeShapeType="1" noTextEdit="1"/>
              </p:cNvSpPr>
              <p:nvPr/>
            </p:nvSpPr>
            <p:spPr>
              <a:xfrm>
                <a:off x="6819284" y="2948020"/>
                <a:ext cx="604653" cy="307777"/>
              </a:xfrm>
              <a:prstGeom prst="rect">
                <a:avLst/>
              </a:prstGeom>
              <a:blipFill>
                <a:blip r:embed="rId11"/>
                <a:stretch>
                  <a:fillRect b="-16000"/>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388091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8C4BE1C1-0CD0-A8C4-CD8A-0EBC1878E620}"/>
                  </a:ext>
                </a:extLst>
              </p:cNvPr>
              <p:cNvSpPr txBox="1"/>
              <p:nvPr/>
            </p:nvSpPr>
            <p:spPr>
              <a:xfrm>
                <a:off x="637559" y="209822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 name="TextBox 1">
                <a:extLst>
                  <a:ext uri="{FF2B5EF4-FFF2-40B4-BE49-F238E27FC236}">
                    <a16:creationId xmlns:a16="http://schemas.microsoft.com/office/drawing/2014/main" id="{8C4BE1C1-0CD0-A8C4-CD8A-0EBC1878E620}"/>
                  </a:ext>
                </a:extLst>
              </p:cNvPr>
              <p:cNvSpPr txBox="1">
                <a:spLocks noRot="1" noChangeAspect="1" noMove="1" noResize="1" noEditPoints="1" noAdjustHandles="1" noChangeArrowheads="1" noChangeShapeType="1" noTextEdit="1"/>
              </p:cNvSpPr>
              <p:nvPr/>
            </p:nvSpPr>
            <p:spPr>
              <a:xfrm>
                <a:off x="637559" y="2098222"/>
                <a:ext cx="604653" cy="307777"/>
              </a:xfrm>
              <a:prstGeom prst="rect">
                <a:avLst/>
              </a:prstGeom>
              <a:blipFill>
                <a:blip r:embed="rId22"/>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8964160-40BE-CFAA-F234-B66511777EE1}"/>
                  </a:ext>
                </a:extLst>
              </p:cNvPr>
              <p:cNvSpPr txBox="1"/>
              <p:nvPr/>
            </p:nvSpPr>
            <p:spPr>
              <a:xfrm>
                <a:off x="637559" y="542121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 name="TextBox 3">
                <a:extLst>
                  <a:ext uri="{FF2B5EF4-FFF2-40B4-BE49-F238E27FC236}">
                    <a16:creationId xmlns:a16="http://schemas.microsoft.com/office/drawing/2014/main" id="{68964160-40BE-CFAA-F234-B66511777EE1}"/>
                  </a:ext>
                </a:extLst>
              </p:cNvPr>
              <p:cNvSpPr txBox="1">
                <a:spLocks noRot="1" noChangeAspect="1" noMove="1" noResize="1" noEditPoints="1" noAdjustHandles="1" noChangeArrowheads="1" noChangeShapeType="1" noTextEdit="1"/>
              </p:cNvSpPr>
              <p:nvPr/>
            </p:nvSpPr>
            <p:spPr>
              <a:xfrm>
                <a:off x="637559" y="5421215"/>
                <a:ext cx="359393" cy="307777"/>
              </a:xfrm>
              <a:prstGeom prst="rect">
                <a:avLst/>
              </a:prstGeom>
              <a:blipFill>
                <a:blip r:embed="rId2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1314EEF9-012B-5188-6CB0-EBB4914AC86A}"/>
                  </a:ext>
                </a:extLst>
              </p:cNvPr>
              <p:cNvSpPr txBox="1"/>
              <p:nvPr/>
            </p:nvSpPr>
            <p:spPr>
              <a:xfrm>
                <a:off x="637559" y="45904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7" name="TextBox 6">
                <a:extLst>
                  <a:ext uri="{FF2B5EF4-FFF2-40B4-BE49-F238E27FC236}">
                    <a16:creationId xmlns:a16="http://schemas.microsoft.com/office/drawing/2014/main" id="{1314EEF9-012B-5188-6CB0-EBB4914AC86A}"/>
                  </a:ext>
                </a:extLst>
              </p:cNvPr>
              <p:cNvSpPr txBox="1">
                <a:spLocks noRot="1" noChangeAspect="1" noMove="1" noResize="1" noEditPoints="1" noAdjustHandles="1" noChangeArrowheads="1" noChangeShapeType="1" noTextEdit="1"/>
              </p:cNvSpPr>
              <p:nvPr/>
            </p:nvSpPr>
            <p:spPr>
              <a:xfrm>
                <a:off x="637559" y="4590466"/>
                <a:ext cx="604653" cy="307777"/>
              </a:xfrm>
              <a:prstGeom prst="rect">
                <a:avLst/>
              </a:prstGeom>
              <a:blipFill>
                <a:blip r:embed="rId2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34B7F059-7760-58AA-AC40-2C6E61BA382D}"/>
                  </a:ext>
                </a:extLst>
              </p:cNvPr>
              <p:cNvSpPr txBox="1"/>
              <p:nvPr/>
            </p:nvSpPr>
            <p:spPr>
              <a:xfrm>
                <a:off x="637559" y="375971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8" name="TextBox 7">
                <a:extLst>
                  <a:ext uri="{FF2B5EF4-FFF2-40B4-BE49-F238E27FC236}">
                    <a16:creationId xmlns:a16="http://schemas.microsoft.com/office/drawing/2014/main" id="{34B7F059-7760-58AA-AC40-2C6E61BA382D}"/>
                  </a:ext>
                </a:extLst>
              </p:cNvPr>
              <p:cNvSpPr txBox="1">
                <a:spLocks noRot="1" noChangeAspect="1" noMove="1" noResize="1" noEditPoints="1" noAdjustHandles="1" noChangeArrowheads="1" noChangeShapeType="1" noTextEdit="1"/>
              </p:cNvSpPr>
              <p:nvPr/>
            </p:nvSpPr>
            <p:spPr>
              <a:xfrm>
                <a:off x="637559" y="3759718"/>
                <a:ext cx="604653" cy="307777"/>
              </a:xfrm>
              <a:prstGeom prst="rect">
                <a:avLst/>
              </a:prstGeom>
              <a:blipFill>
                <a:blip r:embed="rId2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062BC530-240E-FBEA-9B9F-1A70A30017CA}"/>
                  </a:ext>
                </a:extLst>
              </p:cNvPr>
              <p:cNvSpPr txBox="1"/>
              <p:nvPr/>
            </p:nvSpPr>
            <p:spPr>
              <a:xfrm>
                <a:off x="637559" y="292897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9" name="TextBox 8">
                <a:extLst>
                  <a:ext uri="{FF2B5EF4-FFF2-40B4-BE49-F238E27FC236}">
                    <a16:creationId xmlns:a16="http://schemas.microsoft.com/office/drawing/2014/main" id="{062BC530-240E-FBEA-9B9F-1A70A30017CA}"/>
                  </a:ext>
                </a:extLst>
              </p:cNvPr>
              <p:cNvSpPr txBox="1">
                <a:spLocks noRot="1" noChangeAspect="1" noMove="1" noResize="1" noEditPoints="1" noAdjustHandles="1" noChangeArrowheads="1" noChangeShapeType="1" noTextEdit="1"/>
              </p:cNvSpPr>
              <p:nvPr/>
            </p:nvSpPr>
            <p:spPr>
              <a:xfrm>
                <a:off x="637559" y="2928970"/>
                <a:ext cx="604653" cy="307777"/>
              </a:xfrm>
              <a:prstGeom prst="rect">
                <a:avLst/>
              </a:prstGeom>
              <a:blipFill>
                <a:blip r:embed="rId26"/>
                <a:stretch>
                  <a:fillRect b="-13725"/>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3111789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 – Hidden Layer 1</a:t>
            </a:r>
            <a:r>
              <a:rPr lang="ko-KR" altLang="en-US" dirty="0">
                <a:latin typeface="D2Coding" panose="020B0609020101020101" pitchFamily="49" charset="-127"/>
                <a:ea typeface="D2Coding" panose="020B0609020101020101" pitchFamily="49" charset="-127"/>
              </a:rPr>
              <a:t>개에 노드가</a:t>
            </a:r>
            <a:r>
              <a:rPr lang="en-US" altLang="ko-KR" dirty="0">
                <a:latin typeface="D2Coding" panose="020B0609020101020101" pitchFamily="49" charset="-127"/>
                <a:ea typeface="D2Coding" panose="020B0609020101020101" pitchFamily="49" charset="-127"/>
              </a:rPr>
              <a:t> 1</a:t>
            </a:r>
            <a:r>
              <a:rPr lang="ko-KR" altLang="en-US" dirty="0">
                <a:latin typeface="D2Coding" panose="020B0609020101020101" pitchFamily="49" charset="-127"/>
                <a:ea typeface="D2Coding" panose="020B0609020101020101" pitchFamily="49" charset="-127"/>
              </a:rPr>
              <a:t>개인 경우 유사코드</a:t>
            </a:r>
          </a:p>
        </p:txBody>
      </p:sp>
      <p:sp>
        <p:nvSpPr>
          <p:cNvPr id="8" name="TextBox 7">
            <a:extLst>
              <a:ext uri="{FF2B5EF4-FFF2-40B4-BE49-F238E27FC236}">
                <a16:creationId xmlns:a16="http://schemas.microsoft.com/office/drawing/2014/main" id="{6E6A316E-DB75-8B18-216D-F7057789E7AE}"/>
              </a:ext>
            </a:extLst>
          </p:cNvPr>
          <p:cNvSpPr txBox="1"/>
          <p:nvPr/>
        </p:nvSpPr>
        <p:spPr>
          <a:xfrm>
            <a:off x="94297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 # </a:t>
            </a:r>
            <a:r>
              <a:rPr lang="ko-KR" altLang="en-US" sz="1600" b="0" i="0" dirty="0">
                <a:solidFill>
                  <a:srgbClr val="990055"/>
                </a:solidFill>
                <a:effectLst/>
                <a:latin typeface="D2Coding" panose="020B0609020101020101" pitchFamily="49" charset="-127"/>
                <a:ea typeface="D2Coding" panose="020B0609020101020101" pitchFamily="49" charset="-127"/>
              </a:rPr>
              <a:t>노드가 </a:t>
            </a:r>
            <a:r>
              <a:rPr lang="en-US" altLang="ko-KR" sz="1600" b="0" i="0" dirty="0">
                <a:solidFill>
                  <a:srgbClr val="990055"/>
                </a:solidFill>
                <a:effectLst/>
                <a:latin typeface="D2Coding" panose="020B0609020101020101" pitchFamily="49" charset="-127"/>
                <a:ea typeface="D2Coding" panose="020B0609020101020101" pitchFamily="49" charset="-127"/>
              </a:rPr>
              <a:t>2</a:t>
            </a:r>
            <a:r>
              <a:rPr lang="ko-KR" altLang="en-US" sz="1600" b="0" i="0" dirty="0">
                <a:solidFill>
                  <a:srgbClr val="990055"/>
                </a:solidFill>
                <a:effectLst/>
                <a:latin typeface="D2Coding" panose="020B0609020101020101" pitchFamily="49" charset="-127"/>
                <a:ea typeface="D2Coding" panose="020B0609020101020101" pitchFamily="49" charset="-127"/>
              </a:rPr>
              <a:t>개이면 </a:t>
            </a:r>
            <a:r>
              <a:rPr lang="en-US" altLang="ko-KR" sz="1600" b="0" i="0" dirty="0" err="1">
                <a:solidFill>
                  <a:srgbClr val="990055"/>
                </a:solidFill>
                <a:effectLst/>
                <a:latin typeface="D2Coding" panose="020B0609020101020101" pitchFamily="49" charset="-127"/>
                <a:ea typeface="D2Coding" panose="020B0609020101020101" pitchFamily="49" charset="-127"/>
              </a:rPr>
              <a:t>np.zeros</a:t>
            </a:r>
            <a:r>
              <a:rPr lang="en-US" altLang="ko-KR" sz="1600" b="0" i="0" dirty="0">
                <a:solidFill>
                  <a:srgbClr val="990055"/>
                </a:solidFill>
                <a:effectLst/>
                <a:latin typeface="D2Coding" panose="020B0609020101020101" pitchFamily="49" charset="-127"/>
                <a:ea typeface="D2Coding" panose="020B0609020101020101" pitchFamily="49" charset="-127"/>
              </a:rPr>
              <a:t>(2)</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942975" y="5002905"/>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94297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942975" y="4664351"/>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B9D78744-2A77-D257-03D7-8506606151D1}"/>
              </a:ext>
            </a:extLst>
          </p:cNvPr>
          <p:cNvSpPr/>
          <p:nvPr/>
        </p:nvSpPr>
        <p:spPr>
          <a:xfrm>
            <a:off x="10037720" y="520851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A33C7C0-D631-A68F-1F76-AF31D6CBED54}"/>
                  </a:ext>
                </a:extLst>
              </p:cNvPr>
              <p:cNvSpPr txBox="1"/>
              <p:nvPr/>
            </p:nvSpPr>
            <p:spPr>
              <a:xfrm>
                <a:off x="10452473" y="5637458"/>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 name="TextBox 4">
                <a:extLst>
                  <a:ext uri="{FF2B5EF4-FFF2-40B4-BE49-F238E27FC236}">
                    <a16:creationId xmlns:a16="http://schemas.microsoft.com/office/drawing/2014/main" id="{2A33C7C0-D631-A68F-1F76-AF31D6CBED54}"/>
                  </a:ext>
                </a:extLst>
              </p:cNvPr>
              <p:cNvSpPr txBox="1">
                <a:spLocks noRot="1" noChangeAspect="1" noMove="1" noResize="1" noEditPoints="1" noAdjustHandles="1" noChangeArrowheads="1" noChangeShapeType="1" noTextEdit="1"/>
              </p:cNvSpPr>
              <p:nvPr/>
            </p:nvSpPr>
            <p:spPr>
              <a:xfrm>
                <a:off x="10452473" y="5637458"/>
                <a:ext cx="359393" cy="307777"/>
              </a:xfrm>
              <a:prstGeom prst="rect">
                <a:avLst/>
              </a:prstGeom>
              <a:blipFill>
                <a:blip r:embed="rId2"/>
                <a:stretch>
                  <a:fillRect b="-16000"/>
                </a:stretch>
              </a:blipFill>
            </p:spPr>
            <p:txBody>
              <a:bodyPr/>
              <a:lstStyle/>
              <a:p>
                <a:r>
                  <a:rPr lang="ko-KR" altLang="en-US">
                    <a:noFill/>
                  </a:rPr>
                  <a:t> </a:t>
                </a:r>
              </a:p>
            </p:txBody>
          </p:sp>
        </mc:Fallback>
      </mc:AlternateContent>
      <p:sp>
        <p:nvSpPr>
          <p:cNvPr id="6" name="타원 5">
            <a:extLst>
              <a:ext uri="{FF2B5EF4-FFF2-40B4-BE49-F238E27FC236}">
                <a16:creationId xmlns:a16="http://schemas.microsoft.com/office/drawing/2014/main" id="{EE3793A3-1C6E-3F25-CF83-EE5BA264F37F}"/>
              </a:ext>
            </a:extLst>
          </p:cNvPr>
          <p:cNvSpPr/>
          <p:nvPr/>
        </p:nvSpPr>
        <p:spPr>
          <a:xfrm>
            <a:off x="10037720" y="260086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99C4E45E-20D0-C296-3AA7-47F40726F808}"/>
                  </a:ext>
                </a:extLst>
              </p:cNvPr>
              <p:cNvSpPr txBox="1"/>
              <p:nvPr/>
            </p:nvSpPr>
            <p:spPr>
              <a:xfrm>
                <a:off x="10425723" y="3038030"/>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7" name="TextBox 6">
                <a:extLst>
                  <a:ext uri="{FF2B5EF4-FFF2-40B4-BE49-F238E27FC236}">
                    <a16:creationId xmlns:a16="http://schemas.microsoft.com/office/drawing/2014/main" id="{99C4E45E-20D0-C296-3AA7-47F40726F808}"/>
                  </a:ext>
                </a:extLst>
              </p:cNvPr>
              <p:cNvSpPr txBox="1">
                <a:spLocks noRot="1" noChangeAspect="1" noMove="1" noResize="1" noEditPoints="1" noAdjustHandles="1" noChangeArrowheads="1" noChangeShapeType="1" noTextEdit="1"/>
              </p:cNvSpPr>
              <p:nvPr/>
            </p:nvSpPr>
            <p:spPr>
              <a:xfrm>
                <a:off x="10425723" y="3038030"/>
                <a:ext cx="355482" cy="307777"/>
              </a:xfrm>
              <a:prstGeom prst="rect">
                <a:avLst/>
              </a:prstGeom>
              <a:blipFill>
                <a:blip r:embed="rId3"/>
                <a:stretch>
                  <a:fillRect l="-6780" b="-23529"/>
                </a:stretch>
              </a:blipFill>
            </p:spPr>
            <p:txBody>
              <a:bodyPr/>
              <a:lstStyle/>
              <a:p>
                <a:r>
                  <a:rPr lang="ko-KR" altLang="en-US">
                    <a:noFill/>
                  </a:rPr>
                  <a:t> </a:t>
                </a:r>
              </a:p>
            </p:txBody>
          </p:sp>
        </mc:Fallback>
      </mc:AlternateContent>
      <p:sp>
        <p:nvSpPr>
          <p:cNvPr id="9" name="타원 8">
            <a:extLst>
              <a:ext uri="{FF2B5EF4-FFF2-40B4-BE49-F238E27FC236}">
                <a16:creationId xmlns:a16="http://schemas.microsoft.com/office/drawing/2014/main" id="{061FB860-F272-0892-9C18-80026AC46911}"/>
              </a:ext>
            </a:extLst>
          </p:cNvPr>
          <p:cNvSpPr/>
          <p:nvPr/>
        </p:nvSpPr>
        <p:spPr>
          <a:xfrm>
            <a:off x="10037720" y="40153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60A10993-B354-6FA2-B029-B7764C55D1B3}"/>
                  </a:ext>
                </a:extLst>
              </p:cNvPr>
              <p:cNvSpPr txBox="1"/>
              <p:nvPr/>
            </p:nvSpPr>
            <p:spPr>
              <a:xfrm>
                <a:off x="10365519" y="45838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1" name="TextBox 10">
                <a:extLst>
                  <a:ext uri="{FF2B5EF4-FFF2-40B4-BE49-F238E27FC236}">
                    <a16:creationId xmlns:a16="http://schemas.microsoft.com/office/drawing/2014/main" id="{60A10993-B354-6FA2-B029-B7764C55D1B3}"/>
                  </a:ext>
                </a:extLst>
              </p:cNvPr>
              <p:cNvSpPr txBox="1">
                <a:spLocks noRot="1" noChangeAspect="1" noMove="1" noResize="1" noEditPoints="1" noAdjustHandles="1" noChangeArrowheads="1" noChangeShapeType="1" noTextEdit="1"/>
              </p:cNvSpPr>
              <p:nvPr/>
            </p:nvSpPr>
            <p:spPr>
              <a:xfrm>
                <a:off x="10365519" y="4583872"/>
                <a:ext cx="366703" cy="307777"/>
              </a:xfrm>
              <a:prstGeom prst="rect">
                <a:avLst/>
              </a:prstGeom>
              <a:blipFill>
                <a:blip r:embed="rId4"/>
                <a:stretch>
                  <a:fillRect l="-6557" b="-16000"/>
                </a:stretch>
              </a:blipFill>
            </p:spPr>
            <p:txBody>
              <a:bodyPr/>
              <a:lstStyle/>
              <a:p>
                <a:r>
                  <a:rPr lang="ko-KR" altLang="en-US">
                    <a:noFill/>
                  </a:rPr>
                  <a:t> </a:t>
                </a:r>
              </a:p>
            </p:txBody>
          </p:sp>
        </mc:Fallback>
      </mc:AlternateContent>
      <p:cxnSp>
        <p:nvCxnSpPr>
          <p:cNvPr id="13" name="직선 화살표 연결선 12">
            <a:extLst>
              <a:ext uri="{FF2B5EF4-FFF2-40B4-BE49-F238E27FC236}">
                <a16:creationId xmlns:a16="http://schemas.microsoft.com/office/drawing/2014/main" id="{84F4380C-34D8-2AA0-8C75-6244F14694CA}"/>
              </a:ext>
            </a:extLst>
          </p:cNvPr>
          <p:cNvCxnSpPr>
            <a:cxnSpLocks/>
            <a:stCxn id="2" idx="0"/>
            <a:endCxn id="9" idx="4"/>
          </p:cNvCxnSpPr>
          <p:nvPr/>
        </p:nvCxnSpPr>
        <p:spPr>
          <a:xfrm flipV="1">
            <a:off x="10275845" y="4491575"/>
            <a:ext cx="0" cy="7169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직선 화살표 연결선 14">
            <a:extLst>
              <a:ext uri="{FF2B5EF4-FFF2-40B4-BE49-F238E27FC236}">
                <a16:creationId xmlns:a16="http://schemas.microsoft.com/office/drawing/2014/main" id="{DD4199B2-92D0-CF7C-AFE9-3568D2AA5F88}"/>
              </a:ext>
            </a:extLst>
          </p:cNvPr>
          <p:cNvCxnSpPr>
            <a:cxnSpLocks/>
            <a:stCxn id="9" idx="0"/>
            <a:endCxn id="6" idx="4"/>
          </p:cNvCxnSpPr>
          <p:nvPr/>
        </p:nvCxnSpPr>
        <p:spPr>
          <a:xfrm flipV="1">
            <a:off x="10275845" y="3077111"/>
            <a:ext cx="0" cy="938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연결선: 구부러짐 15">
            <a:extLst>
              <a:ext uri="{FF2B5EF4-FFF2-40B4-BE49-F238E27FC236}">
                <a16:creationId xmlns:a16="http://schemas.microsoft.com/office/drawing/2014/main" id="{584D1859-678D-E109-21FD-7A3F61FCEE20}"/>
              </a:ext>
            </a:extLst>
          </p:cNvPr>
          <p:cNvCxnSpPr>
            <a:cxnSpLocks/>
            <a:stCxn id="9" idx="5"/>
            <a:endCxn id="9" idx="7"/>
          </p:cNvCxnSpPr>
          <p:nvPr/>
        </p:nvCxnSpPr>
        <p:spPr>
          <a:xfrm rot="5400000" flipH="1">
            <a:off x="10275845" y="42534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940558C-7282-11B1-1F64-08A0D552B210}"/>
              </a:ext>
            </a:extLst>
          </p:cNvPr>
          <p:cNvSpPr txBox="1"/>
          <p:nvPr/>
        </p:nvSpPr>
        <p:spPr>
          <a:xfrm>
            <a:off x="8808995" y="5320597"/>
            <a:ext cx="1905000" cy="338554"/>
          </a:xfrm>
          <a:prstGeom prst="rect">
            <a:avLst/>
          </a:prstGeom>
          <a:noFill/>
        </p:spPr>
        <p:txBody>
          <a:bodyPr wrap="square">
            <a:spAutoFit/>
          </a:bodyPr>
          <a:lstStyle/>
          <a:p>
            <a:r>
              <a:rPr lang="en-US" altLang="ko-KR" sz="1600" b="0" i="0" dirty="0" err="1">
                <a:solidFill>
                  <a:srgbClr val="000000"/>
                </a:solidFill>
                <a:effectLst/>
                <a:latin typeface="D2Coding" panose="020B0609020101020101" pitchFamily="49" charset="-127"/>
                <a:ea typeface="D2Coding" panose="020B0609020101020101" pitchFamily="49" charset="-127"/>
              </a:rPr>
              <a:t>input_t</a:t>
            </a:r>
            <a:endParaRPr lang="ko-KR" altLang="en-US" sz="1600" dirty="0"/>
          </a:p>
        </p:txBody>
      </p:sp>
      <p:sp>
        <p:nvSpPr>
          <p:cNvPr id="21" name="TextBox 20">
            <a:extLst>
              <a:ext uri="{FF2B5EF4-FFF2-40B4-BE49-F238E27FC236}">
                <a16:creationId xmlns:a16="http://schemas.microsoft.com/office/drawing/2014/main" id="{5AD0258C-58B4-FAE4-CA54-790326F81FFD}"/>
              </a:ext>
            </a:extLst>
          </p:cNvPr>
          <p:cNvSpPr txBox="1"/>
          <p:nvPr/>
        </p:nvSpPr>
        <p:spPr>
          <a:xfrm>
            <a:off x="8808995" y="4058848"/>
            <a:ext cx="1504950" cy="338554"/>
          </a:xfrm>
          <a:prstGeom prst="rect">
            <a:avLst/>
          </a:prstGeom>
          <a:noFill/>
        </p:spPr>
        <p:txBody>
          <a:bodyPr wrap="square">
            <a:spAutoFit/>
          </a:bodyPr>
          <a:lstStyle/>
          <a:p>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endParaRPr lang="ko-KR" altLang="en-US" sz="1600" dirty="0"/>
          </a:p>
        </p:txBody>
      </p:sp>
    </p:spTree>
    <p:extLst>
      <p:ext uri="{BB962C8B-B14F-4D97-AF65-F5344CB8AC3E}">
        <p14:creationId xmlns:p14="http://schemas.microsoft.com/office/powerpoint/2010/main" val="37676460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1E487-426D-8FCA-61E6-83E323DD5E6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29DFB5-F0EF-A412-75D8-5B882CE9EDD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DC2882CA-426C-E25B-DE73-53707BFBEBE7}"/>
              </a:ext>
            </a:extLst>
          </p:cNvPr>
          <p:cNvSpPr txBox="1"/>
          <p:nvPr/>
        </p:nvSpPr>
        <p:spPr>
          <a:xfrm>
            <a:off x="1143000" y="1947291"/>
            <a:ext cx="10077450" cy="4278094"/>
          </a:xfrm>
          <a:prstGeom prst="rect">
            <a:avLst/>
          </a:prstGeom>
          <a:solidFill>
            <a:srgbClr val="76E3FF"/>
          </a:solidFill>
          <a:ln>
            <a:solidFill>
              <a:schemeClr val="tx1"/>
            </a:solidFill>
          </a:ln>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numpy</a:t>
            </a:r>
            <a:r>
              <a:rPr lang="en-US" altLang="ko-KR" sz="1600" dirty="0">
                <a:latin typeface="D2Coding" panose="020B0609020101020101" pitchFamily="49" charset="-127"/>
                <a:ea typeface="D2Coding" panose="020B0609020101020101" pitchFamily="49" charset="-127"/>
              </a:rPr>
              <a:t> as np</a:t>
            </a: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은닉층의 이전 상태 초기화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개이므로 각각 크기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벡터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state_layer1_t = </a:t>
            </a:r>
            <a:r>
              <a:rPr lang="en-US" altLang="ko-KR" sz="1600" dirty="0" err="1">
                <a:latin typeface="D2Coding" panose="020B0609020101020101" pitchFamily="49" charset="-127"/>
                <a:ea typeface="D2Coding" panose="020B0609020101020101" pitchFamily="49" charset="-127"/>
              </a:rPr>
              <a:t>np.zeros</a:t>
            </a:r>
            <a:r>
              <a:rPr lang="en-US" altLang="ko-KR" sz="1600" dirty="0">
                <a:latin typeface="D2Coding" panose="020B0609020101020101" pitchFamily="49" charset="-127"/>
                <a:ea typeface="D2Coding" panose="020B0609020101020101" pitchFamily="49" charset="-127"/>
              </a:rPr>
              <a:t>(2)</a:t>
            </a:r>
          </a:p>
          <a:p>
            <a:r>
              <a:rPr lang="en-US" altLang="ko-KR" sz="1600" dirty="0">
                <a:latin typeface="D2Coding" panose="020B0609020101020101" pitchFamily="49" charset="-127"/>
                <a:ea typeface="D2Coding" panose="020B0609020101020101" pitchFamily="49" charset="-127"/>
              </a:rPr>
              <a:t>state_layer2_t = </a:t>
            </a:r>
            <a:r>
              <a:rPr lang="en-US" altLang="ko-KR" sz="1600" dirty="0" err="1">
                <a:latin typeface="D2Coding" panose="020B0609020101020101" pitchFamily="49" charset="-127"/>
                <a:ea typeface="D2Coding" panose="020B0609020101020101" pitchFamily="49" charset="-127"/>
              </a:rPr>
              <a:t>np.zeros</a:t>
            </a:r>
            <a:r>
              <a:rPr lang="en-US" altLang="ko-KR" sz="1600" dirty="0">
                <a:latin typeface="D2Coding" panose="020B0609020101020101" pitchFamily="49" charset="-127"/>
                <a:ea typeface="D2Coding" panose="020B0609020101020101" pitchFamily="49" charset="-127"/>
              </a:rPr>
              <a:t>(2)</a:t>
            </a: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Iterates over sequence elements</a:t>
            </a:r>
          </a:p>
          <a:p>
            <a:r>
              <a:rPr lang="en-US" altLang="ko-KR" sz="1600" dirty="0">
                <a:latin typeface="D2Coding" panose="020B0609020101020101" pitchFamily="49" charset="-127"/>
                <a:ea typeface="D2Coding" panose="020B0609020101020101" pitchFamily="49" charset="-127"/>
              </a:rPr>
              <a:t>for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in </a:t>
            </a:r>
            <a:r>
              <a:rPr lang="en-US" altLang="ko-KR" sz="1600" dirty="0" err="1">
                <a:latin typeface="D2Coding" panose="020B0609020101020101" pitchFamily="49" charset="-127"/>
                <a:ea typeface="D2Coding" panose="020B0609020101020101" pitchFamily="49" charset="-127"/>
              </a:rPr>
              <a:t>input_sequence</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 1. </a:t>
            </a:r>
            <a:r>
              <a:rPr lang="ko-KR" altLang="en-US" sz="1600" dirty="0">
                <a:latin typeface="D2Coding" panose="020B0609020101020101" pitchFamily="49" charset="-127"/>
                <a:ea typeface="D2Coding" panose="020B0609020101020101" pitchFamily="49" charset="-127"/>
              </a:rPr>
              <a:t>첫 번째 </a:t>
            </a:r>
            <a:r>
              <a:rPr lang="ko-KR" altLang="en-US" sz="1600" dirty="0" err="1">
                <a:latin typeface="D2Coding" panose="020B0609020101020101" pitchFamily="49" charset="-127"/>
                <a:ea typeface="D2Coding" panose="020B0609020101020101" pitchFamily="49" charset="-127"/>
              </a:rPr>
              <a:t>은닉층</a:t>
            </a:r>
            <a:r>
              <a:rPr lang="ko-KR" altLang="en-US" sz="1600" dirty="0">
                <a:latin typeface="D2Coding" panose="020B0609020101020101" pitchFamily="49" charset="-127"/>
                <a:ea typeface="D2Coding" panose="020B0609020101020101" pitchFamily="49" charset="-127"/>
              </a:rPr>
              <a:t> 연산 </a:t>
            </a:r>
            <a:r>
              <a:rPr lang="en-US" altLang="ko-KR"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입력값</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input_t</a:t>
            </a:r>
            <a:r>
              <a:rPr lang="ko-KR" altLang="en-US" sz="1600" dirty="0">
                <a:latin typeface="D2Coding" panose="020B0609020101020101" pitchFamily="49" charset="-127"/>
                <a:ea typeface="D2Coding" panose="020B0609020101020101" pitchFamily="49" charset="-127"/>
              </a:rPr>
              <a:t>와 </a:t>
            </a:r>
            <a:r>
              <a:rPr lang="en-US" altLang="ko-KR" sz="1600" dirty="0">
                <a:latin typeface="D2Coding" panose="020B0609020101020101" pitchFamily="49" charset="-127"/>
                <a:ea typeface="D2Coding" panose="020B0609020101020101" pitchFamily="49" charset="-127"/>
              </a:rPr>
              <a:t>Layer 1</a:t>
            </a:r>
            <a:r>
              <a:rPr lang="ko-KR" altLang="en-US" sz="1600" dirty="0">
                <a:latin typeface="D2Coding" panose="020B0609020101020101" pitchFamily="49" charset="-127"/>
                <a:ea typeface="D2Coding" panose="020B0609020101020101" pitchFamily="49" charset="-127"/>
              </a:rPr>
              <a:t>의 이전 상태 연산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output_layer1_t = f1(</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state_layer1_t)</a:t>
            </a:r>
          </a:p>
          <a:p>
            <a:r>
              <a:rPr lang="en-US" altLang="ko-KR" sz="1600" dirty="0">
                <a:latin typeface="D2Coding" panose="020B0609020101020101" pitchFamily="49" charset="-127"/>
                <a:ea typeface="D2Coding" panose="020B0609020101020101" pitchFamily="49" charset="-127"/>
              </a:rPr>
              <a:t>    </a:t>
            </a:r>
          </a:p>
          <a:p>
            <a:r>
              <a:rPr lang="en-US" altLang="ko-KR" sz="1600" dirty="0">
                <a:latin typeface="D2Coding" panose="020B0609020101020101" pitchFamily="49" charset="-127"/>
                <a:ea typeface="D2Coding" panose="020B0609020101020101" pitchFamily="49" charset="-127"/>
              </a:rPr>
              <a:t>    # 2. </a:t>
            </a:r>
            <a:r>
              <a:rPr lang="ko-KR" altLang="en-US" sz="1600" dirty="0">
                <a:latin typeface="D2Coding" panose="020B0609020101020101" pitchFamily="49" charset="-127"/>
                <a:ea typeface="D2Coding" panose="020B0609020101020101" pitchFamily="49" charset="-127"/>
              </a:rPr>
              <a:t>두 번째 </a:t>
            </a:r>
            <a:r>
              <a:rPr lang="ko-KR" altLang="en-US" sz="1600" dirty="0" err="1">
                <a:latin typeface="D2Coding" panose="020B0609020101020101" pitchFamily="49" charset="-127"/>
                <a:ea typeface="D2Coding" panose="020B0609020101020101" pitchFamily="49" charset="-127"/>
              </a:rPr>
              <a:t>은닉층</a:t>
            </a:r>
            <a:r>
              <a:rPr lang="ko-KR" altLang="en-US" sz="1600" dirty="0">
                <a:latin typeface="D2Coding" panose="020B0609020101020101" pitchFamily="49" charset="-127"/>
                <a:ea typeface="D2Coding" panose="020B0609020101020101" pitchFamily="49" charset="-127"/>
              </a:rPr>
              <a:t> 연산 </a:t>
            </a:r>
            <a:r>
              <a:rPr lang="en-US" altLang="ko-KR" sz="1600" dirty="0">
                <a:latin typeface="D2Coding" panose="020B0609020101020101" pitchFamily="49" charset="-127"/>
                <a:ea typeface="D2Coding" panose="020B0609020101020101" pitchFamily="49" charset="-127"/>
              </a:rPr>
              <a:t>(Layer 1</a:t>
            </a:r>
            <a:r>
              <a:rPr lang="ko-KR" altLang="en-US" sz="1600" dirty="0">
                <a:latin typeface="D2Coding" panose="020B0609020101020101" pitchFamily="49" charset="-127"/>
                <a:ea typeface="D2Coding" panose="020B0609020101020101" pitchFamily="49" charset="-127"/>
              </a:rPr>
              <a:t>의 출력을 입력으로 받고</a:t>
            </a:r>
            <a:r>
              <a:rPr lang="en-US" altLang="ko-KR" sz="1600" dirty="0">
                <a:latin typeface="D2Coding" panose="020B0609020101020101" pitchFamily="49" charset="-127"/>
                <a:ea typeface="D2Coding" panose="020B0609020101020101" pitchFamily="49" charset="-127"/>
              </a:rPr>
              <a:t>, Layer 2</a:t>
            </a:r>
            <a:r>
              <a:rPr lang="ko-KR" altLang="en-US" sz="1600" dirty="0">
                <a:latin typeface="D2Coding" panose="020B0609020101020101" pitchFamily="49" charset="-127"/>
                <a:ea typeface="D2Coding" panose="020B0609020101020101" pitchFamily="49" charset="-127"/>
              </a:rPr>
              <a:t>의 이전 상태 연산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output_layer2_t = f2(output_layer1_t, state_layer2_t)</a:t>
            </a:r>
          </a:p>
          <a:p>
            <a:r>
              <a:rPr lang="en-US" altLang="ko-KR" sz="1600" dirty="0">
                <a:latin typeface="D2Coding" panose="020B0609020101020101" pitchFamily="49" charset="-127"/>
                <a:ea typeface="D2Coding" panose="020B0609020101020101" pitchFamily="49" charset="-127"/>
              </a:rPr>
              <a:t>    </a:t>
            </a:r>
          </a:p>
          <a:p>
            <a:r>
              <a:rPr lang="en-US" altLang="ko-KR" sz="1600" dirty="0">
                <a:latin typeface="D2Coding" panose="020B0609020101020101" pitchFamily="49" charset="-127"/>
                <a:ea typeface="D2Coding" panose="020B0609020101020101" pitchFamily="49" charset="-127"/>
              </a:rPr>
              <a:t>    # 3. </a:t>
            </a:r>
            <a:r>
              <a:rPr lang="ko-KR" altLang="en-US" sz="1600" dirty="0">
                <a:latin typeface="D2Coding" panose="020B0609020101020101" pitchFamily="49" charset="-127"/>
                <a:ea typeface="D2Coding" panose="020B0609020101020101" pitchFamily="49" charset="-127"/>
              </a:rPr>
              <a:t>다음 타임스텝</a:t>
            </a:r>
            <a:r>
              <a:rPr lang="en-US" altLang="ko-KR" sz="1600" dirty="0">
                <a:latin typeface="D2Coding" panose="020B0609020101020101" pitchFamily="49" charset="-127"/>
                <a:ea typeface="D2Coding" panose="020B0609020101020101" pitchFamily="49" charset="-127"/>
              </a:rPr>
              <a:t>(t+1)</a:t>
            </a:r>
            <a:r>
              <a:rPr lang="ko-KR" altLang="en-US" sz="1600" dirty="0">
                <a:latin typeface="D2Coding" panose="020B0609020101020101" pitchFamily="49" charset="-127"/>
                <a:ea typeface="D2Coding" panose="020B0609020101020101" pitchFamily="49" charset="-127"/>
              </a:rPr>
              <a:t>을 위해 각 층의 상태 업데이트</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state_layer1_t = output_layer1_t</a:t>
            </a:r>
          </a:p>
          <a:p>
            <a:r>
              <a:rPr lang="en-US" altLang="ko-KR" sz="1600" dirty="0">
                <a:latin typeface="D2Coding" panose="020B0609020101020101" pitchFamily="49" charset="-127"/>
                <a:ea typeface="D2Coding" panose="020B0609020101020101" pitchFamily="49" charset="-127"/>
              </a:rPr>
              <a:t>    state_layer2_t = output_layer2_t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B1A940AB-8152-7382-5CC3-EE1F1CEE44BB}"/>
              </a:ext>
            </a:extLst>
          </p:cNvPr>
          <p:cNvSpPr txBox="1"/>
          <p:nvPr/>
        </p:nvSpPr>
        <p:spPr>
          <a:xfrm>
            <a:off x="1143000" y="1610261"/>
            <a:ext cx="10077450" cy="369332"/>
          </a:xfrm>
          <a:prstGeom prst="rect">
            <a:avLst/>
          </a:prstGeom>
          <a:solidFill>
            <a:schemeClr val="tx1"/>
          </a:solidFill>
        </p:spPr>
        <p:txBody>
          <a:bodyPr wrap="square">
            <a:spAutoFit/>
          </a:bodyPr>
          <a:lstStyle/>
          <a:p>
            <a:r>
              <a:rPr lang="en-US" altLang="ko-KR" b="0" i="0" dirty="0">
                <a:solidFill>
                  <a:schemeClr val="bg1"/>
                </a:solidFill>
                <a:effectLst/>
                <a:latin typeface="D2Coding" panose="020B0609020101020101" pitchFamily="49" charset="-127"/>
                <a:ea typeface="D2Coding" panose="020B0609020101020101" pitchFamily="49" charset="-127"/>
              </a:rPr>
              <a:t>Pseudocode RNN (2 </a:t>
            </a:r>
            <a:r>
              <a:rPr lang="en-US" altLang="ko-KR" dirty="0">
                <a:solidFill>
                  <a:schemeClr val="bg1"/>
                </a:solidFill>
                <a:latin typeface="D2Coding" panose="020B0609020101020101" pitchFamily="49" charset="-127"/>
                <a:ea typeface="D2Coding" panose="020B0609020101020101" pitchFamily="49" charset="-127"/>
              </a:rPr>
              <a:t>Hidden</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Layers, 2 nodes per layer)</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722C0DA4-01C1-26E7-3B27-244F90726EE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611503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43782320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1470-8656-464B-06C4-C067937AE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9D2C877-831B-8CBF-51C8-3C773B3671A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36794778-297A-F830-9286-DF74C43504C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AutoShape 2" descr=", AI로 생성">
            <a:extLst>
              <a:ext uri="{FF2B5EF4-FFF2-40B4-BE49-F238E27FC236}">
                <a16:creationId xmlns:a16="http://schemas.microsoft.com/office/drawing/2014/main" id="{5E2825BF-340E-EA25-41CB-E1A860DB73E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6" name="그림 5">
            <a:extLst>
              <a:ext uri="{FF2B5EF4-FFF2-40B4-BE49-F238E27FC236}">
                <a16:creationId xmlns:a16="http://schemas.microsoft.com/office/drawing/2014/main" id="{6EB88C18-BA7C-B571-0DEE-B746C08D80A4}"/>
              </a:ext>
            </a:extLst>
          </p:cNvPr>
          <p:cNvPicPr>
            <a:picLocks noChangeAspect="1"/>
          </p:cNvPicPr>
          <p:nvPr/>
        </p:nvPicPr>
        <p:blipFill>
          <a:blip r:embed="rId2"/>
          <a:stretch>
            <a:fillRect/>
          </a:stretch>
        </p:blipFill>
        <p:spPr>
          <a:xfrm>
            <a:off x="6371473" y="2690770"/>
            <a:ext cx="5312527" cy="2410962"/>
          </a:xfrm>
          <a:prstGeom prst="rect">
            <a:avLst/>
          </a:prstGeom>
          <a:ln>
            <a:solidFill>
              <a:schemeClr val="tx1"/>
            </a:solidFill>
          </a:ln>
        </p:spPr>
      </p:pic>
      <p:pic>
        <p:nvPicPr>
          <p:cNvPr id="8" name="그림 7">
            <a:extLst>
              <a:ext uri="{FF2B5EF4-FFF2-40B4-BE49-F238E27FC236}">
                <a16:creationId xmlns:a16="http://schemas.microsoft.com/office/drawing/2014/main" id="{8C5FFDD5-943E-07A6-655C-289EE003F9AE}"/>
              </a:ext>
            </a:extLst>
          </p:cNvPr>
          <p:cNvPicPr>
            <a:picLocks noChangeAspect="1"/>
          </p:cNvPicPr>
          <p:nvPr/>
        </p:nvPicPr>
        <p:blipFill>
          <a:blip r:embed="rId3"/>
          <a:stretch>
            <a:fillRect/>
          </a:stretch>
        </p:blipFill>
        <p:spPr>
          <a:xfrm>
            <a:off x="608994" y="2690770"/>
            <a:ext cx="5312527" cy="2410962"/>
          </a:xfrm>
          <a:prstGeom prst="rect">
            <a:avLst/>
          </a:prstGeom>
          <a:ln>
            <a:solidFill>
              <a:schemeClr val="tx1"/>
            </a:solidFill>
          </a:ln>
        </p:spPr>
      </p:pic>
    </p:spTree>
    <p:extLst>
      <p:ext uri="{BB962C8B-B14F-4D97-AF65-F5344CB8AC3E}">
        <p14:creationId xmlns:p14="http://schemas.microsoft.com/office/powerpoint/2010/main" val="25159525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0777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개를 </a:t>
            </a:r>
            <a:r>
              <a:rPr lang="en-US" altLang="ko-KR" sz="1600" dirty="0">
                <a:latin typeface="D2Coding" panose="020B0609020101020101" pitchFamily="49" charset="-127"/>
                <a:ea typeface="D2Coding" panose="020B0609020101020101" pitchFamily="49" charset="-127"/>
              </a:rPr>
              <a:t>time step 2</a:t>
            </a:r>
            <a:r>
              <a:rPr lang="ko-KR" altLang="en-US" sz="1600" dirty="0">
                <a:latin typeface="D2Coding" panose="020B0609020101020101" pitchFamily="49" charset="-127"/>
                <a:ea typeface="D2Coding" panose="020B0609020101020101" pitchFamily="49" charset="-127"/>
              </a:rPr>
              <a:t>를 연속으로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를 통과시키고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층이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Time step</a:t>
            </a:r>
            <a:r>
              <a:rPr lang="ko-KR" altLang="en-US" sz="1600" dirty="0">
                <a:latin typeface="D2Coding" panose="020B0609020101020101" pitchFamily="49" charset="-127"/>
                <a:ea typeface="D2Coding" panose="020B0609020101020101" pitchFamily="49" charset="-127"/>
              </a:rPr>
              <a:t>의 크기와 행렬의 크기</a:t>
            </a:r>
            <a:r>
              <a:rPr lang="en-US" altLang="ko-KR" sz="1600" dirty="0">
                <a:latin typeface="D2Coding" panose="020B0609020101020101" pitchFamily="49" charset="-127"/>
                <a:ea typeface="D2Coding" panose="020B0609020101020101" pitchFamily="49" charset="-127"/>
              </a:rPr>
              <a:t>, Parameters</a:t>
            </a:r>
            <a:r>
              <a:rPr lang="ko-KR" altLang="en-US" sz="1600" dirty="0">
                <a:latin typeface="D2Coding" panose="020B0609020101020101" pitchFamily="49" charset="-127"/>
                <a:ea typeface="D2Coding" panose="020B0609020101020101" pitchFamily="49" charset="-127"/>
              </a:rPr>
              <a:t>의 크기와는 상관없음</a:t>
            </a: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720434" y="234157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060866852"/>
              </p:ext>
            </p:extLst>
          </p:nvPr>
        </p:nvGraphicFramePr>
        <p:xfrm>
          <a:off x="10479996" y="293115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AD137ADF-6CB3-B86E-4942-B14CA6568D82}"/>
                  </a:ext>
                </a:extLst>
              </p:cNvPr>
              <p:cNvSpPr txBox="1"/>
              <p:nvPr/>
            </p:nvSpPr>
            <p:spPr>
              <a:xfrm>
                <a:off x="1632557" y="4049712"/>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1632557" y="4049712"/>
                <a:ext cx="301685" cy="307777"/>
              </a:xfrm>
              <a:prstGeom prst="rect">
                <a:avLst/>
              </a:prstGeom>
              <a:blipFill>
                <a:blip r:embed="rId5"/>
                <a:stretch>
                  <a:fillRect l="-10204" r="-4082" b="-17647"/>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DF06342A-37B3-9415-D525-46B94B9F427A}"/>
                  </a:ext>
                </a:extLst>
              </p:cNvPr>
              <p:cNvSpPr txBox="1"/>
              <p:nvPr/>
            </p:nvSpPr>
            <p:spPr>
              <a:xfrm>
                <a:off x="2697645" y="3827068"/>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2697645" y="3827068"/>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8" name="TextBox 27">
                <a:extLst>
                  <a:ext uri="{FF2B5EF4-FFF2-40B4-BE49-F238E27FC236}">
                    <a16:creationId xmlns:a16="http://schemas.microsoft.com/office/drawing/2014/main" id="{3E33882C-3868-43AA-696B-8DFC83771771}"/>
                  </a:ext>
                </a:extLst>
              </p:cNvPr>
              <p:cNvSpPr txBox="1"/>
              <p:nvPr/>
            </p:nvSpPr>
            <p:spPr>
              <a:xfrm>
                <a:off x="5669280" y="375589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5669280" y="3755898"/>
                <a:ext cx="427938" cy="276999"/>
              </a:xfrm>
              <a:prstGeom prst="rect">
                <a:avLst/>
              </a:prstGeom>
              <a:blipFill>
                <a:blip r:embed="rId7"/>
                <a:stretch>
                  <a:fillRect l="-20000" r="-12857" b="-17391"/>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F0A1DDA6-2F84-5A9C-F4B1-0CCDBAFABC5C}"/>
                  </a:ext>
                </a:extLst>
              </p:cNvPr>
              <p:cNvSpPr txBox="1"/>
              <p:nvPr/>
            </p:nvSpPr>
            <p:spPr>
              <a:xfrm>
                <a:off x="10614172" y="322156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10614172" y="3221561"/>
                <a:ext cx="341247" cy="298928"/>
              </a:xfrm>
              <a:prstGeom prst="rect">
                <a:avLst/>
              </a:prstGeom>
              <a:blipFill>
                <a:blip r:embed="rId8"/>
                <a:stretch>
                  <a:fillRect l="-8929" r="-5357" b="-18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35534E30-766A-C751-6FB0-889841807268}"/>
                  </a:ext>
                </a:extLst>
              </p:cNvPr>
              <p:cNvSpPr txBox="1"/>
              <p:nvPr/>
            </p:nvSpPr>
            <p:spPr>
              <a:xfrm>
                <a:off x="9117576" y="375012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9117576" y="375012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2" name="TextBox 31">
                <a:extLst>
                  <a:ext uri="{FF2B5EF4-FFF2-40B4-BE49-F238E27FC236}">
                    <a16:creationId xmlns:a16="http://schemas.microsoft.com/office/drawing/2014/main" id="{8F3179C1-D380-E74F-C961-95BF46AADDF4}"/>
                  </a:ext>
                </a:extLst>
              </p:cNvPr>
              <p:cNvSpPr txBox="1"/>
              <p:nvPr/>
            </p:nvSpPr>
            <p:spPr>
              <a:xfrm>
                <a:off x="9122962" y="252512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9122962" y="252512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1D708158-DCA9-7ADF-F7AC-EEBC25E8423A}"/>
                  </a:ext>
                </a:extLst>
              </p:cNvPr>
              <p:cNvSpPr txBox="1"/>
              <p:nvPr/>
            </p:nvSpPr>
            <p:spPr>
              <a:xfrm>
                <a:off x="5746673" y="250519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5746673" y="2505192"/>
                <a:ext cx="422552" cy="276999"/>
              </a:xfrm>
              <a:prstGeom prst="rect">
                <a:avLst/>
              </a:prstGeom>
              <a:blipFill>
                <a:blip r:embed="rId11"/>
                <a:stretch>
                  <a:fillRect l="-20290" r="-13043" b="-3111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2274108569"/>
              </p:ext>
            </p:extLst>
          </p:nvPr>
        </p:nvGraphicFramePr>
        <p:xfrm>
          <a:off x="1263465" y="4626879"/>
          <a:ext cx="996840" cy="1276100"/>
        </p:xfrm>
        <a:graphic>
          <a:graphicData uri="http://schemas.openxmlformats.org/drawingml/2006/table">
            <a:tbl>
              <a:tblPr firstRow="1" bandRow="1">
                <a:tableStyleId>{5C22544A-7EE6-4342-B048-85BDC9FD1C3A}</a:tableStyleId>
              </a:tblPr>
              <a:tblGrid>
                <a:gridCol w="498420">
                  <a:extLst>
                    <a:ext uri="{9D8B030D-6E8A-4147-A177-3AD203B41FA5}">
                      <a16:colId xmlns:a16="http://schemas.microsoft.com/office/drawing/2014/main" val="3902393823"/>
                    </a:ext>
                  </a:extLst>
                </a:gridCol>
                <a:gridCol w="498420">
                  <a:extLst>
                    <a:ext uri="{9D8B030D-6E8A-4147-A177-3AD203B41FA5}">
                      <a16:colId xmlns:a16="http://schemas.microsoft.com/office/drawing/2014/main" val="1276603007"/>
                    </a:ext>
                  </a:extLst>
                </a:gridCol>
              </a:tblGrid>
              <a:tr h="319025">
                <a:tc>
                  <a:txBody>
                    <a:bodyPr/>
                    <a:lstStyle/>
                    <a:p>
                      <a:pPr latinLnBrk="1"/>
                      <a:endParaRPr lang="ko-KR" altLang="en-US" sz="600" dirty="0"/>
                    </a:p>
                  </a:txBody>
                  <a:tcPr/>
                </a:tc>
                <a:tc>
                  <a:txBody>
                    <a:bodyPr/>
                    <a:lstStyle/>
                    <a:p>
                      <a:pPr latinLnBrk="1"/>
                      <a:endParaRPr lang="ko-KR" altLang="en-US" sz="600"/>
                    </a:p>
                  </a:txBody>
                  <a:tcPr/>
                </a:tc>
                <a:extLst>
                  <a:ext uri="{0D108BD9-81ED-4DB2-BD59-A6C34878D82A}">
                    <a16:rowId xmlns:a16="http://schemas.microsoft.com/office/drawing/2014/main" val="3272695305"/>
                  </a:ext>
                </a:extLst>
              </a:tr>
              <a:tr h="319025">
                <a:tc>
                  <a:txBody>
                    <a:bodyPr/>
                    <a:lstStyle/>
                    <a:p>
                      <a:pPr latinLnBrk="1"/>
                      <a:endParaRPr lang="ko-KR" altLang="en-US" sz="600"/>
                    </a:p>
                  </a:txBody>
                  <a:tcPr/>
                </a:tc>
                <a:tc>
                  <a:txBody>
                    <a:bodyPr/>
                    <a:lstStyle/>
                    <a:p>
                      <a:pPr latinLnBrk="1"/>
                      <a:endParaRPr lang="ko-KR" altLang="en-US" sz="600" dirty="0"/>
                    </a:p>
                  </a:txBody>
                  <a:tcPr/>
                </a:tc>
                <a:extLst>
                  <a:ext uri="{0D108BD9-81ED-4DB2-BD59-A6C34878D82A}">
                    <a16:rowId xmlns:a16="http://schemas.microsoft.com/office/drawing/2014/main" val="2023984079"/>
                  </a:ext>
                </a:extLst>
              </a:tr>
              <a:tr h="319025">
                <a:tc>
                  <a:txBody>
                    <a:bodyPr/>
                    <a:lstStyle/>
                    <a:p>
                      <a:pPr latinLnBrk="1"/>
                      <a:endParaRPr lang="ko-KR" altLang="en-US" sz="600"/>
                    </a:p>
                  </a:txBody>
                  <a:tcPr/>
                </a:tc>
                <a:tc>
                  <a:txBody>
                    <a:bodyPr/>
                    <a:lstStyle/>
                    <a:p>
                      <a:pPr latinLnBrk="1"/>
                      <a:endParaRPr lang="ko-KR" altLang="en-US" sz="600"/>
                    </a:p>
                  </a:txBody>
                  <a:tcPr/>
                </a:tc>
                <a:extLst>
                  <a:ext uri="{0D108BD9-81ED-4DB2-BD59-A6C34878D82A}">
                    <a16:rowId xmlns:a16="http://schemas.microsoft.com/office/drawing/2014/main" val="1253757925"/>
                  </a:ext>
                </a:extLst>
              </a:tr>
              <a:tr h="319025">
                <a:tc>
                  <a:txBody>
                    <a:bodyPr/>
                    <a:lstStyle/>
                    <a:p>
                      <a:pPr latinLnBrk="1"/>
                      <a:endParaRPr lang="ko-KR" altLang="en-US" sz="600"/>
                    </a:p>
                  </a:txBody>
                  <a:tcPr/>
                </a:tc>
                <a:tc>
                  <a:txBody>
                    <a:bodyPr/>
                    <a:lstStyle/>
                    <a:p>
                      <a:pPr latinLnBrk="1"/>
                      <a:endParaRPr lang="ko-KR" altLang="en-US" sz="60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217594872"/>
              </p:ext>
            </p:extLst>
          </p:nvPr>
        </p:nvGraphicFramePr>
        <p:xfrm>
          <a:off x="3264536" y="392712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864537549"/>
              </p:ext>
            </p:extLst>
          </p:nvPr>
        </p:nvGraphicFramePr>
        <p:xfrm>
          <a:off x="7219614" y="362167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275B8952-2952-53CB-AEF3-60B4D02FC038}"/>
                  </a:ext>
                </a:extLst>
              </p:cNvPr>
              <p:cNvSpPr txBox="1"/>
              <p:nvPr/>
            </p:nvSpPr>
            <p:spPr>
              <a:xfrm>
                <a:off x="7348033" y="388862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7348033" y="388862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9" name="직사각형 38">
            <a:extLst>
              <a:ext uri="{FF2B5EF4-FFF2-40B4-BE49-F238E27FC236}">
                <a16:creationId xmlns:a16="http://schemas.microsoft.com/office/drawing/2014/main" id="{6C792020-F87E-2D5A-C317-CEC6108C9734}"/>
              </a:ext>
            </a:extLst>
          </p:cNvPr>
          <p:cNvSpPr/>
          <p:nvPr/>
        </p:nvSpPr>
        <p:spPr>
          <a:xfrm>
            <a:off x="1281159" y="4626879"/>
            <a:ext cx="474320" cy="1276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35D6AF93-2744-D789-D334-DA877C4C1B9F}"/>
              </a:ext>
            </a:extLst>
          </p:cNvPr>
          <p:cNvSpPr>
            <a:spLocks noChangeArrowheads="1"/>
          </p:cNvSpPr>
          <p:nvPr/>
        </p:nvSpPr>
        <p:spPr bwMode="auto">
          <a:xfrm>
            <a:off x="367902" y="5301690"/>
            <a:ext cx="803674"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4</a:t>
            </a:r>
            <a:r>
              <a:rPr kumimoji="0" lang="ko-KR"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endPar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Features</a:t>
            </a:r>
          </a:p>
        </p:txBody>
      </p:sp>
      <p:sp>
        <p:nvSpPr>
          <p:cNvPr id="8" name="왼쪽 중괄호 7">
            <a:extLst>
              <a:ext uri="{FF2B5EF4-FFF2-40B4-BE49-F238E27FC236}">
                <a16:creationId xmlns:a16="http://schemas.microsoft.com/office/drawing/2014/main" id="{7B732451-9361-B1A5-0D24-D7290ACD2D2D}"/>
              </a:ext>
            </a:extLst>
          </p:cNvPr>
          <p:cNvSpPr/>
          <p:nvPr/>
        </p:nvSpPr>
        <p:spPr>
          <a:xfrm rot="16200000">
            <a:off x="1663328" y="5575390"/>
            <a:ext cx="219887" cy="974069"/>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0" name="왼쪽 중괄호 9">
            <a:extLst>
              <a:ext uri="{FF2B5EF4-FFF2-40B4-BE49-F238E27FC236}">
                <a16:creationId xmlns:a16="http://schemas.microsoft.com/office/drawing/2014/main" id="{DB53105A-0C91-C697-C9F8-2BC54E6D1C0D}"/>
              </a:ext>
            </a:extLst>
          </p:cNvPr>
          <p:cNvSpPr/>
          <p:nvPr/>
        </p:nvSpPr>
        <p:spPr>
          <a:xfrm>
            <a:off x="1007823" y="4659097"/>
            <a:ext cx="196865" cy="121166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Rectangle 1">
            <a:extLst>
              <a:ext uri="{FF2B5EF4-FFF2-40B4-BE49-F238E27FC236}">
                <a16:creationId xmlns:a16="http://schemas.microsoft.com/office/drawing/2014/main" id="{A331A81B-E9B6-1267-DC07-6587E5379B6F}"/>
              </a:ext>
            </a:extLst>
          </p:cNvPr>
          <p:cNvSpPr>
            <a:spLocks noChangeArrowheads="1"/>
          </p:cNvSpPr>
          <p:nvPr/>
        </p:nvSpPr>
        <p:spPr bwMode="auto">
          <a:xfrm>
            <a:off x="1490231" y="6222108"/>
            <a:ext cx="803674"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a:t>
            </a:r>
            <a:r>
              <a:rPr kumimoji="0" lang="ko-KR"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endPar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Time</a:t>
            </a:r>
            <a:r>
              <a:rPr lang="ko-KR" altLang="en-US" sz="1200" dirty="0">
                <a:latin typeface="D2Coding" panose="020B0609020101020101" pitchFamily="49" charset="-127"/>
                <a:ea typeface="D2Coding" panose="020B0609020101020101" pitchFamily="49" charset="-127"/>
              </a:rPr>
              <a:t> </a:t>
            </a:r>
            <a:r>
              <a:rPr lang="en-US" altLang="ko-KR" sz="1200" dirty="0">
                <a:latin typeface="D2Coding" panose="020B0609020101020101" pitchFamily="49" charset="-127"/>
                <a:ea typeface="D2Coding" panose="020B0609020101020101" pitchFamily="49" charset="-127"/>
              </a:rPr>
              <a:t>step</a:t>
            </a:r>
          </a:p>
        </p:txBody>
      </p:sp>
      <p:sp>
        <p:nvSpPr>
          <p:cNvPr id="14" name="직사각형 13">
            <a:extLst>
              <a:ext uri="{FF2B5EF4-FFF2-40B4-BE49-F238E27FC236}">
                <a16:creationId xmlns:a16="http://schemas.microsoft.com/office/drawing/2014/main" id="{A5C31EC2-01D6-BE37-C9DA-0C6189C21EB3}"/>
              </a:ext>
            </a:extLst>
          </p:cNvPr>
          <p:cNvSpPr/>
          <p:nvPr/>
        </p:nvSpPr>
        <p:spPr>
          <a:xfrm>
            <a:off x="1785984" y="4626879"/>
            <a:ext cx="474320"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DB06ACBF-E8A2-9196-D5AF-1AD521261775}"/>
              </a:ext>
            </a:extLst>
          </p:cNvPr>
          <p:cNvSpPr/>
          <p:nvPr/>
        </p:nvSpPr>
        <p:spPr>
          <a:xfrm>
            <a:off x="3696667" y="4809168"/>
            <a:ext cx="3541998" cy="63805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900C58DD-7EED-3241-3EC0-2A4A8AF245A5}"/>
              </a:ext>
            </a:extLst>
          </p:cNvPr>
          <p:cNvSpPr/>
          <p:nvPr/>
        </p:nvSpPr>
        <p:spPr>
          <a:xfrm>
            <a:off x="7887667" y="4818693"/>
            <a:ext cx="3541998" cy="638050"/>
          </a:xfrm>
          <a:prstGeom prst="rect">
            <a:avLst/>
          </a:prstGeom>
          <a:no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BC7DC9E9-3583-E7E8-5BA3-FF54005D26B8}"/>
              </a:ext>
            </a:extLst>
          </p:cNvPr>
          <p:cNvSpPr/>
          <p:nvPr/>
        </p:nvSpPr>
        <p:spPr>
          <a:xfrm>
            <a:off x="3264536" y="3923760"/>
            <a:ext cx="1300480" cy="30341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a:extLst>
              <a:ext uri="{FF2B5EF4-FFF2-40B4-BE49-F238E27FC236}">
                <a16:creationId xmlns:a16="http://schemas.microsoft.com/office/drawing/2014/main" id="{C3B793CC-90F2-CAAA-3FA9-B0FBFB5D94B0}"/>
              </a:ext>
            </a:extLst>
          </p:cNvPr>
          <p:cNvSpPr/>
          <p:nvPr/>
        </p:nvSpPr>
        <p:spPr>
          <a:xfrm>
            <a:off x="3264536" y="4238933"/>
            <a:ext cx="1300480" cy="303417"/>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14" grpId="0" animBg="1"/>
      <p:bldP spid="15" grpId="0" animBg="1"/>
      <p:bldP spid="16"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972542865"/>
              </p:ext>
            </p:extLst>
          </p:nvPr>
        </p:nvGraphicFramePr>
        <p:xfrm>
          <a:off x="2687169" y="2197339"/>
          <a:ext cx="61468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5409899" cy="3115298"/>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700878"/>
            <a:ext cx="7711440" cy="1675139"/>
          </a:xfrm>
          <a:prstGeom prst="rect">
            <a:avLst/>
          </a:prstGeom>
          <a:solidFill>
            <a:srgbClr val="76E3FF"/>
          </a:solidFill>
        </p:spPr>
        <p:txBody>
          <a:bodyPr wrap="square">
            <a:spAutoFit/>
          </a:bodyPr>
          <a:lstStyle/>
          <a:p>
            <a:pPr>
              <a:lnSpc>
                <a:spcPct val="150000"/>
              </a:lnSpc>
            </a:pPr>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=[None, 1]),</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(1)</a:t>
            </a:r>
          </a:p>
          <a:p>
            <a:pPr>
              <a:lnSpc>
                <a:spcPct val="150000"/>
              </a:lnSpc>
            </a:pP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035810" y="1586384"/>
            <a:ext cx="9689068" cy="4575956"/>
          </a:xfrm>
          <a:prstGeom prst="rect">
            <a:avLst/>
          </a:prstGeom>
          <a:ln>
            <a:solidFill>
              <a:schemeClr val="tx1"/>
            </a:solidFill>
          </a:ln>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9312</TotalTime>
  <Words>7321</Words>
  <Application>Microsoft Office PowerPoint</Application>
  <PresentationFormat>와이드스크린</PresentationFormat>
  <Paragraphs>828</Paragraphs>
  <Slides>73</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73</vt:i4>
      </vt:variant>
    </vt:vector>
  </HeadingPairs>
  <TitlesOfParts>
    <vt:vector size="85"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145</cp:revision>
  <dcterms:created xsi:type="dcterms:W3CDTF">2026-04-06T01:00:39Z</dcterms:created>
  <dcterms:modified xsi:type="dcterms:W3CDTF">2026-10-06T11:49:55Z</dcterms:modified>
  <cp:version/>
</cp:coreProperties>
</file>