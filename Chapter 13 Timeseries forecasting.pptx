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0"/>
  </p:notesMasterIdLst>
  <p:handoutMasterIdLst>
    <p:handoutMasterId r:id="rId71"/>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222" r:id="rId15"/>
    <p:sldId id="1223" r:id="rId16"/>
    <p:sldId id="1224" r:id="rId17"/>
    <p:sldId id="1145" r:id="rId18"/>
    <p:sldId id="1225" r:id="rId19"/>
    <p:sldId id="1226" r:id="rId20"/>
    <p:sldId id="1158" r:id="rId21"/>
    <p:sldId id="1150" r:id="rId22"/>
    <p:sldId id="1152" r:id="rId23"/>
    <p:sldId id="1149" r:id="rId24"/>
    <p:sldId id="1159" r:id="rId25"/>
    <p:sldId id="1393" r:id="rId26"/>
    <p:sldId id="1161" r:id="rId27"/>
    <p:sldId id="1173" r:id="rId28"/>
    <p:sldId id="1174" r:id="rId29"/>
    <p:sldId id="1139" r:id="rId30"/>
    <p:sldId id="1172" r:id="rId31"/>
    <p:sldId id="1133" r:id="rId32"/>
    <p:sldId id="1163" r:id="rId33"/>
    <p:sldId id="1164" r:id="rId34"/>
    <p:sldId id="1165" r:id="rId35"/>
    <p:sldId id="1166" r:id="rId36"/>
    <p:sldId id="1121" r:id="rId37"/>
    <p:sldId id="1168" r:id="rId38"/>
    <p:sldId id="1135" r:id="rId39"/>
    <p:sldId id="1167" r:id="rId40"/>
    <p:sldId id="1160" r:id="rId41"/>
    <p:sldId id="1175" r:id="rId42"/>
    <p:sldId id="1132" r:id="rId43"/>
    <p:sldId id="1170" r:id="rId44"/>
    <p:sldId id="1171" r:id="rId45"/>
    <p:sldId id="1125" r:id="rId46"/>
    <p:sldId id="1127" r:id="rId47"/>
    <p:sldId id="1128" r:id="rId48"/>
    <p:sldId id="1123" r:id="rId49"/>
    <p:sldId id="1130" r:id="rId50"/>
    <p:sldId id="1131" r:id="rId51"/>
    <p:sldId id="1137" r:id="rId52"/>
    <p:sldId id="1138" r:id="rId53"/>
    <p:sldId id="1129" r:id="rId54"/>
    <p:sldId id="1392" r:id="rId55"/>
    <p:sldId id="1162" r:id="rId56"/>
    <p:sldId id="1217" r:id="rId57"/>
    <p:sldId id="1220" r:id="rId58"/>
    <p:sldId id="1221" r:id="rId59"/>
    <p:sldId id="1218" r:id="rId60"/>
    <p:sldId id="1219" r:id="rId61"/>
    <p:sldId id="1153" r:id="rId62"/>
    <p:sldId id="1151" r:id="rId63"/>
    <p:sldId id="1154" r:id="rId64"/>
    <p:sldId id="1391" r:id="rId65"/>
    <p:sldId id="1381" r:id="rId66"/>
    <p:sldId id="1378" r:id="rId67"/>
    <p:sldId id="1380" r:id="rId68"/>
    <p:sldId id="1379" r:id="rId69"/>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222"/>
            <p14:sldId id="1223"/>
            <p14:sldId id="1224"/>
            <p14:sldId id="1145"/>
            <p14:sldId id="1225"/>
            <p14:sldId id="1226"/>
            <p14:sldId id="1158"/>
            <p14:sldId id="1150"/>
            <p14:sldId id="1152"/>
            <p14:sldId id="1149"/>
            <p14:sldId id="1159"/>
            <p14:sldId id="1393"/>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67"/>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6413"/>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2026-10-04</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2026-10-04</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46</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54</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56</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64</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2026-10-04</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10/4/2026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2026-10-04</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27.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28.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8" Type="http://schemas.openxmlformats.org/officeDocument/2006/relationships/image" Target="../media/image60.png"/><Relationship Id="rId3" Type="http://schemas.microsoft.com/office/2007/relationships/hdphoto" Target="../media/hdphoto1.wdp"/><Relationship Id="rId7" Type="http://schemas.openxmlformats.org/officeDocument/2006/relationships/image" Target="../media/image59.png"/><Relationship Id="rId2" Type="http://schemas.openxmlformats.org/officeDocument/2006/relationships/image" Target="../media/image26.png"/><Relationship Id="rId1" Type="http://schemas.openxmlformats.org/officeDocument/2006/relationships/slideLayout" Target="../slideLayouts/slideLayout4.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3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 Id="rId4" Type="http://schemas.openxmlformats.org/officeDocument/2006/relationships/image" Target="../media/image71.sv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76.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8.png"/><Relationship Id="rId5" Type="http://schemas.openxmlformats.org/officeDocument/2006/relationships/image" Target="../media/image77.png"/><Relationship Id="rId4" Type="http://schemas.microsoft.com/office/2007/relationships/hdphoto" Target="../media/hdphoto2.wdp"/></Relationships>
</file>

<file path=ppt/slides/_rels/slide46.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8.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7.xml.rels><?xml version="1.0" encoding="UTF-8" standalone="yes"?>
<Relationships xmlns="http://schemas.openxmlformats.org/package/2006/relationships"><Relationship Id="rId8" Type="http://schemas.openxmlformats.org/officeDocument/2006/relationships/image" Target="../media/image80.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79.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8.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81.png"/><Relationship Id="rId1" Type="http://schemas.openxmlformats.org/officeDocument/2006/relationships/slideLayout" Target="../slideLayouts/slideLayout4.xml"/><Relationship Id="rId5" Type="http://schemas.openxmlformats.org/officeDocument/2006/relationships/image" Target="../media/image82.png"/><Relationship Id="rId4" Type="http://schemas.microsoft.com/office/2007/relationships/hdphoto" Target="../media/hdphoto3.wdp"/></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3.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5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6.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4.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87.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6" Type="http://schemas.openxmlformats.org/officeDocument/2006/relationships/hyperlink" Target="https://github.com/ancestor9/AI-with-python" TargetMode="External"/><Relationship Id="rId5" Type="http://schemas.openxmlformats.org/officeDocument/2006/relationships/image" Target="../media/image90.svg"/><Relationship Id="rId4" Type="http://schemas.openxmlformats.org/officeDocument/2006/relationships/image" Target="../media/image89.png"/></Relationships>
</file>

<file path=ppt/slides/_rels/slide66.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png"/><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91.png"/></Relationships>
</file>

<file path=ppt/slides/_rels/slide68.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png"/><Relationship Id="rId1" Type="http://schemas.openxmlformats.org/officeDocument/2006/relationships/slideLayout" Target="../slideLayouts/slideLayout4.xml"/><Relationship Id="rId5" Type="http://schemas.openxmlformats.org/officeDocument/2006/relationships/image" Target="../media/image95.png"/><Relationship Id="rId4" Type="http://schemas.openxmlformats.org/officeDocument/2006/relationships/image" Target="../media/image9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2649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812213" y="388023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(현재가/고가/저가)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915026" y="3753741"/>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3234178" y="4492286"/>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15809" y="3048540"/>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30059" y="321984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44309" y="3391152"/>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9034" y="3562458"/>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53759" y="3733766"/>
            <a:ext cx="2142142" cy="492632"/>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132790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8C702-916B-4E37-5B18-0C0FECE96F1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A76000-FAA5-7FF5-6095-CEF483FE22C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FC730BCD-8501-950A-7929-F8D341453A14}"/>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165CDD7A-EBDF-5314-F57C-D47A1AA8D6D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9E14C44D-4A5D-1F8F-D59B-D8A406DA7A29}"/>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One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hot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encoding</a:t>
            </a:r>
            <a:endParaRPr lang="ko-KR"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A1FE1F92-1369-237E-0D4F-2F5327D8174E}"/>
              </a:ext>
            </a:extLst>
          </p:cNvPr>
          <p:cNvSpPr txBox="1"/>
          <p:nvPr/>
        </p:nvSpPr>
        <p:spPr>
          <a:xfrm>
            <a:off x="7439280" y="2672202"/>
            <a:ext cx="4114802" cy="3831818"/>
          </a:xfrm>
          <a:prstGeom prst="rect">
            <a:avLst/>
          </a:prstGeom>
          <a:solidFill>
            <a:schemeClr val="tx1"/>
          </a:solidFill>
        </p:spPr>
        <p:txBody>
          <a:bodyPr wrap="square">
            <a:spAutoFit/>
          </a:bodyPr>
          <a:lstStyle/>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0 (첫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 : 1번째 글자 ('</a:t>
            </a:r>
            <a:r>
              <a:rPr lang="ko-KR" altLang="en-US" sz="900" dirty="0" err="1">
                <a:solidFill>
                  <a:schemeClr val="bg1"/>
                </a:solidFill>
                <a:latin typeface="Calibri Light" panose="020F0302020204030204" pitchFamily="34" charset="0"/>
                <a:cs typeface="Calibri Light" panose="020F0302020204030204" pitchFamily="34" charset="0"/>
              </a:rPr>
              <a:t>T'의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 128차원)</a:t>
            </a:r>
          </a:p>
          <a:p>
            <a:r>
              <a:rPr lang="ko-KR" altLang="en-US" sz="900" dirty="0">
                <a:solidFill>
                  <a:schemeClr val="bg1"/>
                </a:solidFill>
                <a:latin typeface="Calibri Light" panose="020F0302020204030204" pitchFamily="34" charset="0"/>
                <a:cs typeface="Calibri Light" panose="020F0302020204030204" pitchFamily="34" charset="0"/>
              </a:rPr>
              <a:t>        [0., 0., ..., </a:t>
            </a:r>
            <a:r>
              <a:rPr lang="en-US" altLang="ko-KR" sz="900" dirty="0">
                <a:solidFill>
                  <a:schemeClr val="bg1"/>
                </a:solidFill>
                <a:latin typeface="Calibri Light" panose="020F0302020204030204" pitchFamily="34" charset="0"/>
                <a:cs typeface="Calibri Light" panose="020F0302020204030204" pitchFamily="34" charset="0"/>
              </a:rPr>
              <a:t>0</a:t>
            </a:r>
            <a:r>
              <a:rPr lang="ko-KR" altLang="en-US" sz="900" dirty="0">
                <a:solidFill>
                  <a:schemeClr val="bg1"/>
                </a:solidFill>
                <a:latin typeface="Calibri Light" panose="020F0302020204030204" pitchFamily="34" charset="0"/>
                <a:cs typeface="Calibri Light" panose="020F0302020204030204" pitchFamily="34" charset="0"/>
              </a:rPr>
              <a:t>.,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 : 2번째 글자 ('</a:t>
            </a:r>
            <a:r>
              <a:rPr lang="ko-KR" altLang="en-US" sz="900" dirty="0" err="1">
                <a:solidFill>
                  <a:schemeClr val="bg1"/>
                </a:solidFill>
                <a:latin typeface="Calibri Light" panose="020F0302020204030204" pitchFamily="34" charset="0"/>
                <a:cs typeface="Calibri Light" panose="020F0302020204030204" pitchFamily="34" charset="0"/>
              </a:rPr>
              <a:t>w'의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 : 3번째 글자 ('</a:t>
            </a:r>
            <a:r>
              <a:rPr lang="ko-KR" altLang="en-US" sz="900" dirty="0" err="1">
                <a:solidFill>
                  <a:schemeClr val="bg1"/>
                </a:solidFill>
                <a:latin typeface="Calibri Light" panose="020F0302020204030204" pitchFamily="34" charset="0"/>
                <a:cs typeface="Calibri Light" panose="020F0302020204030204" pitchFamily="34" charset="0"/>
              </a:rPr>
              <a:t>e'의</a:t>
            </a:r>
            <a:r>
              <a:rPr lang="ko-KR" altLang="en-US" sz="900" dirty="0">
                <a:solidFill>
                  <a:schemeClr val="bg1"/>
                </a:solidFill>
                <a:latin typeface="Calibri Light" panose="020F0302020204030204" pitchFamily="34" charset="0"/>
                <a:cs typeface="Calibri Light" panose="020F0302020204030204" pitchFamily="34" charset="0"/>
              </a:rPr>
              <a:t>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0., ..., 1.]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 280번째 글자 ('!'의 One-</a:t>
            </a:r>
            <a:r>
              <a:rPr lang="ko-KR" altLang="en-US" sz="900" dirty="0" err="1">
                <a:solidFill>
                  <a:schemeClr val="bg1"/>
                </a:solidFill>
                <a:latin typeface="Calibri Light" panose="020F0302020204030204" pitchFamily="34" charset="0"/>
                <a:cs typeface="Calibri Light" panose="020F0302020204030204" pitchFamily="34" charset="0"/>
              </a:rPr>
              <a:t>Hot</a:t>
            </a:r>
            <a:r>
              <a:rPr lang="ko-KR" altLang="en-US" sz="900" dirty="0">
                <a:solidFill>
                  <a:schemeClr val="bg1"/>
                </a:solidFill>
                <a:latin typeface="Calibri Light" panose="020F0302020204030204" pitchFamily="34" charset="0"/>
                <a:cs typeface="Calibri Light" panose="020F0302020204030204" pitchFamily="34" charset="0"/>
              </a:rPr>
              <a:t> 벡터)</a:t>
            </a: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Shape</a:t>
            </a:r>
            <a:r>
              <a:rPr lang="ko-KR" altLang="en-US" sz="900" dirty="0">
                <a:solidFill>
                  <a:schemeClr val="bg1"/>
                </a:solidFill>
                <a:latin typeface="Calibri Light" panose="020F0302020204030204" pitchFamily="34" charset="0"/>
                <a:cs typeface="Calibri Light" panose="020F0302020204030204" pitchFamily="34" charset="0"/>
              </a:rPr>
              <a:t>: (280, 128) -&gt; 단일 트윗의 2D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1 (두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[0.,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1</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[1., 0.,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 --- </a:t>
            </a:r>
            <a:r>
              <a:rPr lang="ko-KR" altLang="en-US" sz="900" dirty="0" err="1">
                <a:solidFill>
                  <a:schemeClr val="bg1"/>
                </a:solidFill>
                <a:latin typeface="Calibri Light" panose="020F0302020204030204" pitchFamily="34" charset="0"/>
                <a:cs typeface="Calibri Light" panose="020F0302020204030204" pitchFamily="34" charset="0"/>
              </a:rPr>
              <a:t>Sample</a:t>
            </a:r>
            <a:r>
              <a:rPr lang="ko-KR" altLang="en-US" sz="900" dirty="0">
                <a:solidFill>
                  <a:schemeClr val="bg1"/>
                </a:solidFill>
                <a:latin typeface="Calibri Light" panose="020F0302020204030204" pitchFamily="34" charset="0"/>
                <a:cs typeface="Calibri Light" panose="020F0302020204030204" pitchFamily="34" charset="0"/>
              </a:rPr>
              <a:t> 999999 (100만 번째 트윗) ---</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1., ..., 0.,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0</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        [0., 0., ..., 1., ..., 0.]   # </a:t>
            </a:r>
            <a:r>
              <a:rPr lang="ko-KR" altLang="en-US" sz="900" dirty="0" err="1">
                <a:solidFill>
                  <a:schemeClr val="bg1"/>
                </a:solidFill>
                <a:latin typeface="Calibri Light" panose="020F0302020204030204" pitchFamily="34" charset="0"/>
                <a:cs typeface="Calibri Light" panose="020F0302020204030204" pitchFamily="34" charset="0"/>
              </a:rPr>
              <a:t>Timestep</a:t>
            </a:r>
            <a:r>
              <a:rPr lang="ko-KR" altLang="en-US" sz="900" dirty="0">
                <a:solidFill>
                  <a:schemeClr val="bg1"/>
                </a:solidFill>
                <a:latin typeface="Calibri Light" panose="020F0302020204030204" pitchFamily="34" charset="0"/>
                <a:cs typeface="Calibri Light" panose="020F0302020204030204" pitchFamily="34" charset="0"/>
              </a:rPr>
              <a:t> 279</a:t>
            </a:r>
          </a:p>
          <a:p>
            <a:r>
              <a:rPr lang="ko-KR" altLang="en-US" sz="900" dirty="0">
                <a:solidFill>
                  <a:schemeClr val="bg1"/>
                </a:solidFill>
                <a:latin typeface="Calibri Light" panose="020F0302020204030204" pitchFamily="34" charset="0"/>
                <a:cs typeface="Calibri Light" panose="020F0302020204030204" pitchFamily="34" charset="0"/>
              </a:rPr>
              <a:t>    ]</a:t>
            </a:r>
          </a:p>
          <a:p>
            <a:r>
              <a:rPr lang="ko-KR" altLang="en-US" sz="900" dirty="0">
                <a:solidFill>
                  <a:schemeClr val="bg1"/>
                </a:solidFill>
                <a:latin typeface="Calibri Light" panose="020F0302020204030204" pitchFamily="34" charset="0"/>
                <a:cs typeface="Calibri Light" panose="020F0302020204030204" pitchFamily="34" charset="0"/>
              </a:rPr>
              <a:t>]</a:t>
            </a:r>
          </a:p>
        </p:txBody>
      </p:sp>
      <p:sp>
        <p:nvSpPr>
          <p:cNvPr id="17" name="Rectangle 1">
            <a:extLst>
              <a:ext uri="{FF2B5EF4-FFF2-40B4-BE49-F238E27FC236}">
                <a16:creationId xmlns:a16="http://schemas.microsoft.com/office/drawing/2014/main" id="{82484200-2BCA-7F35-BA89-8F6CCE7CB76B}"/>
              </a:ext>
            </a:extLst>
          </p:cNvPr>
          <p:cNvSpPr>
            <a:spLocks noChangeArrowheads="1"/>
          </p:cNvSpPr>
          <p:nvPr/>
        </p:nvSpPr>
        <p:spPr bwMode="auto">
          <a:xfrm>
            <a:off x="5277157" y="4116385"/>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18" name="Rectangle 1">
            <a:extLst>
              <a:ext uri="{FF2B5EF4-FFF2-40B4-BE49-F238E27FC236}">
                <a16:creationId xmlns:a16="http://schemas.microsoft.com/office/drawing/2014/main" id="{3D400564-7F35-5A17-BF5E-FB7B036E1884}"/>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19" name="직사각형 18">
            <a:extLst>
              <a:ext uri="{FF2B5EF4-FFF2-40B4-BE49-F238E27FC236}">
                <a16:creationId xmlns:a16="http://schemas.microsoft.com/office/drawing/2014/main" id="{DA22FFE9-EBF1-F9DC-34D5-A019B053E2F4}"/>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직사각형 19">
            <a:extLst>
              <a:ext uri="{FF2B5EF4-FFF2-40B4-BE49-F238E27FC236}">
                <a16:creationId xmlns:a16="http://schemas.microsoft.com/office/drawing/2014/main" id="{34281C7B-5A84-14D5-1A2C-ABEF2038AB42}"/>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직사각형 20">
            <a:extLst>
              <a:ext uri="{FF2B5EF4-FFF2-40B4-BE49-F238E27FC236}">
                <a16:creationId xmlns:a16="http://schemas.microsoft.com/office/drawing/2014/main" id="{353671CC-5C7B-6563-BAD8-E3AC7CD0439E}"/>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2" name="직사각형 21">
            <a:extLst>
              <a:ext uri="{FF2B5EF4-FFF2-40B4-BE49-F238E27FC236}">
                <a16:creationId xmlns:a16="http://schemas.microsoft.com/office/drawing/2014/main" id="{FEC0C6D4-4C44-0B9D-B126-A3DE910F502C}"/>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직사각형 22">
            <a:extLst>
              <a:ext uri="{FF2B5EF4-FFF2-40B4-BE49-F238E27FC236}">
                <a16:creationId xmlns:a16="http://schemas.microsoft.com/office/drawing/2014/main" id="{785DBFD8-6380-5362-2B66-98C37819D3CA}"/>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93857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22680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858647" y="3804889"/>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32</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228915" y="4101102"/>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3039458" y="4895077"/>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287400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04531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321662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338792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355923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5714161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2108835"/>
            <a:ext cx="5312410" cy="408342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91510" y="1812786"/>
            <a:ext cx="5980430" cy="307777"/>
          </a:xfrm>
          <a:prstGeom prst="rect">
            <a:avLst/>
          </a:prstGeom>
          <a:noFill/>
        </p:spPr>
        <p:txBody>
          <a:bodyPr wrap="square">
            <a:spAutoFit/>
          </a:bodyPr>
          <a:lstStyle/>
          <a:p>
            <a:pPr algn="l">
              <a:spcAft>
                <a:spcPts val="300"/>
              </a:spcAft>
              <a:buNone/>
            </a:pPr>
            <a:r>
              <a:rPr lang="en-US" altLang="ko-KR" sz="1400" b="0" i="0" dirty="0">
                <a:effectLst/>
                <a:latin typeface="D2Coding" panose="020B0609020101020101" pitchFamily="49" charset="-127"/>
                <a:ea typeface="D2Coding" panose="020B0609020101020101" pitchFamily="49" charset="-127"/>
              </a:rPr>
              <a:t>Chapter 2 </a:t>
            </a:r>
            <a:r>
              <a:rPr lang="en-US" altLang="ko-KR" sz="1400" b="1" i="0" dirty="0">
                <a:effectLst/>
                <a:latin typeface="D2Coding" panose="020B0609020101020101" pitchFamily="49" charset="-127"/>
                <a:ea typeface="D2Coding" panose="020B0609020101020101" pitchFamily="49" charset="-127"/>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20</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4242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24</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4837F8DA-C3A9-D02C-2B70-13BA4BBA51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6100" y="1312163"/>
            <a:ext cx="6486525" cy="48708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B4DB56F-2BA1-477A-7D26-DC927D15D82C}"/>
              </a:ext>
            </a:extLst>
          </p:cNvPr>
          <p:cNvSpPr txBox="1"/>
          <p:nvPr/>
        </p:nvSpPr>
        <p:spPr>
          <a:xfrm>
            <a:off x="3048000" y="6222128"/>
            <a:ext cx="6096000" cy="307777"/>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hlinkClick r:id="rId3"/>
              </a:rPr>
              <a:t>https://link.springer.com/article/10.1007/s10462-025-11162-5</a:t>
            </a:r>
            <a:r>
              <a:rPr lang="ko-KR" altLang="en-US" sz="1400" dirty="0">
                <a:latin typeface="D2Coding" panose="020B0609020101020101" pitchFamily="49" charset="-127"/>
                <a:ea typeface="D2Coding" panose="020B0609020101020101" pitchFamily="49" charset="-127"/>
              </a:rPr>
              <a:t> </a:t>
            </a:r>
          </a:p>
        </p:txBody>
      </p:sp>
    </p:spTree>
    <p:extLst>
      <p:ext uri="{BB962C8B-B14F-4D97-AF65-F5344CB8AC3E}">
        <p14:creationId xmlns:p14="http://schemas.microsoft.com/office/powerpoint/2010/main" val="750219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39</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6"/>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4"/>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5"/>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6"/>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8476</TotalTime>
  <Words>7302</Words>
  <Application>Microsoft Office PowerPoint</Application>
  <PresentationFormat>와이드스크린</PresentationFormat>
  <Paragraphs>841</Paragraphs>
  <Slides>68</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68</vt:i4>
      </vt:variant>
    </vt:vector>
  </HeadingPairs>
  <TitlesOfParts>
    <vt:vector size="80"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135</cp:revision>
  <dcterms:created xsi:type="dcterms:W3CDTF">2026-04-06T01:00:39Z</dcterms:created>
  <dcterms:modified xsi:type="dcterms:W3CDTF">2026-10-04T06:40:44Z</dcterms:modified>
  <cp:version/>
</cp:coreProperties>
</file>