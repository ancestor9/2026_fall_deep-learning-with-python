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3"/>
  </p:notesMasterIdLst>
  <p:handoutMasterIdLst>
    <p:handoutMasterId r:id="rId34"/>
  </p:handoutMasterIdLst>
  <p:sldIdLst>
    <p:sldId id="256" r:id="rId2"/>
    <p:sldId id="1122" r:id="rId3"/>
    <p:sldId id="1134" r:id="rId4"/>
    <p:sldId id="1140" r:id="rId5"/>
    <p:sldId id="1141" r:id="rId6"/>
    <p:sldId id="1144" r:id="rId7"/>
    <p:sldId id="1142" r:id="rId8"/>
    <p:sldId id="1143" r:id="rId9"/>
    <p:sldId id="1146" r:id="rId10"/>
    <p:sldId id="1148" r:id="rId11"/>
    <p:sldId id="1136" r:id="rId12"/>
    <p:sldId id="1145" r:id="rId13"/>
    <p:sldId id="1150" r:id="rId14"/>
    <p:sldId id="1152" r:id="rId15"/>
    <p:sldId id="1149" r:id="rId16"/>
    <p:sldId id="1151" r:id="rId17"/>
    <p:sldId id="1135" r:id="rId18"/>
    <p:sldId id="1132" r:id="rId19"/>
    <p:sldId id="1133" r:id="rId20"/>
    <p:sldId id="1125" r:id="rId21"/>
    <p:sldId id="1127" r:id="rId22"/>
    <p:sldId id="1128" r:id="rId23"/>
    <p:sldId id="1123" r:id="rId24"/>
    <p:sldId id="1130" r:id="rId25"/>
    <p:sldId id="1131" r:id="rId26"/>
    <p:sldId id="1137" r:id="rId27"/>
    <p:sldId id="1138" r:id="rId28"/>
    <p:sldId id="1129" r:id="rId29"/>
    <p:sldId id="1139" r:id="rId30"/>
    <p:sldId id="978" r:id="rId31"/>
    <p:sldId id="1121" r:id="rId32"/>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22"/>
            <p14:sldId id="1134"/>
            <p14:sldId id="1140"/>
            <p14:sldId id="1141"/>
            <p14:sldId id="1144"/>
            <p14:sldId id="1142"/>
            <p14:sldId id="1143"/>
            <p14:sldId id="1146"/>
            <p14:sldId id="1148"/>
            <p14:sldId id="1136"/>
            <p14:sldId id="1145"/>
            <p14:sldId id="1150"/>
            <p14:sldId id="1152"/>
            <p14:sldId id="1149"/>
            <p14:sldId id="1151"/>
            <p14:sldId id="1135"/>
            <p14:sldId id="1132"/>
            <p14:sldId id="1133"/>
            <p14:sldId id="1125"/>
            <p14:sldId id="1127"/>
            <p14:sldId id="1128"/>
            <p14:sldId id="1123"/>
            <p14:sldId id="1130"/>
            <p14:sldId id="1131"/>
            <p14:sldId id="1137"/>
            <p14:sldId id="1138"/>
            <p14:sldId id="1129"/>
            <p14:sldId id="1139"/>
            <p14:sldId id="978"/>
            <p14:sldId id="1121"/>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FF9B45"/>
    <a:srgbClr val="DD462F"/>
    <a:srgbClr val="D24726"/>
    <a:srgbClr val="404040"/>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3629"/>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commentAuthors" Target="commentAuthor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2026-08-13</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2026-08-13</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21</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2026-08-13</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8/13/2026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2026-08-13</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 Id="rId4" Type="http://schemas.openxmlformats.org/officeDocument/2006/relationships/image" Target="../media/image23.sv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 Id="rId5" Type="http://schemas.openxmlformats.org/officeDocument/2006/relationships/image" Target="../media/image27.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7" Type="http://schemas.microsoft.com/office/2007/relationships/hdphoto" Target="../media/hdphoto2.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32.png"/><Relationship Id="rId5" Type="http://schemas.openxmlformats.org/officeDocument/2006/relationships/image" Target="../media/image31.png"/><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32.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2.wdp"/><Relationship Id="rId9" Type="http://schemas.openxmlformats.org/officeDocument/2006/relationships/image" Target="../media/image140.png"/></Relationships>
</file>

<file path=ppt/slides/_rels/slide22.xml.rels><?xml version="1.0" encoding="UTF-8" standalone="yes"?>
<Relationships xmlns="http://schemas.openxmlformats.org/package/2006/relationships"><Relationship Id="rId8" Type="http://schemas.openxmlformats.org/officeDocument/2006/relationships/image" Target="../media/image34.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png"/><Relationship Id="rId7" Type="http://schemas.openxmlformats.org/officeDocument/2006/relationships/image" Target="../media/image33.png"/><Relationship Id="rId12" Type="http://schemas.microsoft.com/office/2007/relationships/hdphoto" Target="../media/hdphoto2.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32.png"/><Relationship Id="rId24" Type="http://schemas.openxmlformats.org/officeDocument/2006/relationships/image" Target="../media/image38.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9.png"/><Relationship Id="rId1" Type="http://schemas.openxmlformats.org/officeDocument/2006/relationships/slideLayout" Target="../slideLayouts/slideLayout4.xml"/><Relationship Id="rId5" Type="http://schemas.openxmlformats.org/officeDocument/2006/relationships/image" Target="../media/image40.png"/><Relationship Id="rId4" Type="http://schemas.microsoft.com/office/2007/relationships/hdphoto" Target="../media/hdphoto2.wdp"/></Relationships>
</file>

<file path=ppt/slides/_rels/slide24.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BB4D45B-52A1-9BAE-B34E-30DEDF59CFAE}"/>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a:t>
            </a:fld>
            <a:endParaRPr lang="en-US" dirty="0"/>
          </a:p>
        </p:txBody>
      </p:sp>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5" name="TextBox 4">
            <a:extLst>
              <a:ext uri="{FF2B5EF4-FFF2-40B4-BE49-F238E27FC236}">
                <a16:creationId xmlns:a16="http://schemas.microsoft.com/office/drawing/2014/main" id="{6561AAD7-56D4-58BF-FEAE-D0D8305EA254}"/>
              </a:ext>
            </a:extLst>
          </p:cNvPr>
          <p:cNvSpPr txBox="1"/>
          <p:nvPr/>
        </p:nvSpPr>
        <p:spPr>
          <a:xfrm>
            <a:off x="658811" y="1729061"/>
            <a:ext cx="9855200" cy="968407"/>
          </a:xfrm>
          <a:prstGeom prst="rect">
            <a:avLst/>
          </a:prstGeom>
          <a:noFill/>
        </p:spPr>
        <p:txBody>
          <a:bodyPr wrap="square">
            <a:spAutoFit/>
          </a:bodyPr>
          <a:lstStyle/>
          <a:p>
            <a:pPr>
              <a:lnSpc>
                <a:spcPct val="150000"/>
              </a:lnSpc>
            </a:pPr>
            <a:r>
              <a:rPr lang="en-US" altLang="ko-KR" sz="2000" b="0" i="0" dirty="0">
                <a:solidFill>
                  <a:srgbClr val="181818"/>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20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843279" y="3178108"/>
            <a:ext cx="9010821" cy="2858154"/>
          </a:xfrm>
          <a:prstGeom prst="rect">
            <a:avLst/>
          </a:prstGeom>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585461"/>
            <a:ext cx="4625741" cy="4633362"/>
          </a:xfrm>
          <a:prstGeom prst="rect">
            <a:avLst/>
          </a:prstGeom>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3509458122"/>
              </p:ext>
            </p:extLst>
          </p:nvPr>
        </p:nvGraphicFramePr>
        <p:xfrm>
          <a:off x="5966613" y="1585461"/>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684530"/>
            <a:ext cx="4922947" cy="4534293"/>
          </a:xfrm>
          <a:prstGeom prst="rect">
            <a:avLst/>
          </a:prstGeom>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684530"/>
            <a:ext cx="5922987" cy="2632438"/>
          </a:xfrm>
          <a:prstGeom prst="rect">
            <a:avLst/>
          </a:prstGeom>
          <a:noFill/>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327948"/>
            <a:ext cx="2032691" cy="580769"/>
          </a:xfrm>
          <a:prstGeom prst="rect">
            <a:avLst/>
          </a:prstGeom>
        </p:spPr>
      </p:pic>
      <p:sp>
        <p:nvSpPr>
          <p:cNvPr id="21" name="TextBox 20">
            <a:extLst>
              <a:ext uri="{FF2B5EF4-FFF2-40B4-BE49-F238E27FC236}">
                <a16:creationId xmlns:a16="http://schemas.microsoft.com/office/drawing/2014/main" id="{B1524DAB-EF70-3649-069E-FB29009BA9B5}"/>
              </a:ext>
            </a:extLst>
          </p:cNvPr>
          <p:cNvSpPr txBox="1"/>
          <p:nvPr/>
        </p:nvSpPr>
        <p:spPr>
          <a:xfrm>
            <a:off x="8371957" y="497507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364374"/>
            <a:ext cx="1838735" cy="388726"/>
          </a:xfrm>
          <a:prstGeom prst="rect">
            <a:avLst/>
          </a:prstGeom>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846102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9ADFDA56-EEF0-D16A-D819-DE0640B405FD}"/>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6</a:t>
            </a:fld>
            <a:endParaRPr lang="en-US" dirty="0"/>
          </a:p>
        </p:txBody>
      </p:sp>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E62AEDA-A1E7-AA89-A7CE-55969AFB281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573097" y="1562600"/>
            <a:ext cx="7102455" cy="4656223"/>
          </a:xfrm>
          <a:prstGeom prst="rect">
            <a:avLst/>
          </a:prstGeom>
        </p:spPr>
      </p:pic>
      <p:sp>
        <p:nvSpPr>
          <p:cNvPr id="7" name="TextBox 6">
            <a:extLst>
              <a:ext uri="{FF2B5EF4-FFF2-40B4-BE49-F238E27FC236}">
                <a16:creationId xmlns:a16="http://schemas.microsoft.com/office/drawing/2014/main" id="{999475E9-8640-6AB3-88BC-8DD3A0B30BE3}"/>
              </a:ext>
            </a:extLst>
          </p:cNvPr>
          <p:cNvSpPr txBox="1"/>
          <p:nvPr/>
        </p:nvSpPr>
        <p:spPr>
          <a:xfrm>
            <a:off x="7913677" y="18995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13677" y="3308278"/>
            <a:ext cx="3859223" cy="404874"/>
          </a:xfrm>
          <a:prstGeom prst="rect">
            <a:avLst/>
          </a:prstGeom>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4776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475645" y="1609016"/>
            <a:ext cx="10829407" cy="4079208"/>
          </a:xfrm>
          <a:prstGeom prst="rect">
            <a:avLst/>
          </a:prstGeom>
        </p:spPr>
      </p:pic>
      <p:sp>
        <p:nvSpPr>
          <p:cNvPr id="8" name="TextBox 7">
            <a:extLst>
              <a:ext uri="{FF2B5EF4-FFF2-40B4-BE49-F238E27FC236}">
                <a16:creationId xmlns:a16="http://schemas.microsoft.com/office/drawing/2014/main" id="{8FA609BE-B859-A023-68DF-9C7588D7B915}"/>
              </a:ext>
            </a:extLst>
          </p:cNvPr>
          <p:cNvSpPr txBox="1"/>
          <p:nvPr/>
        </p:nvSpPr>
        <p:spPr>
          <a:xfrm>
            <a:off x="6877357" y="5770498"/>
            <a:ext cx="5121603" cy="793166"/>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16294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973" y="2153920"/>
            <a:ext cx="6524625" cy="24479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34874" y="3505496"/>
            <a:ext cx="2233204" cy="830997"/>
          </a:xfrm>
          <a:prstGeom prst="rect">
            <a:avLst/>
          </a:prstGeom>
          <a:noFill/>
        </p:spPr>
        <p:txBody>
          <a:bodyPr wrap="square">
            <a:spAutoFit/>
          </a:bodyPr>
          <a:lstStyle/>
          <a:p>
            <a:r>
              <a:rPr lang="en-US" altLang="ko-KR" sz="1600" dirty="0">
                <a:solidFill>
                  <a:schemeClr val="accent5"/>
                </a:solidFill>
                <a:latin typeface="D2Coding" panose="020B0609020101020101" pitchFamily="49" charset="-127"/>
                <a:ea typeface="D2Coding" panose="020B0609020101020101" pitchFamily="49" charset="-127"/>
              </a:rPr>
              <a:t>Samples/Batch size </a:t>
            </a:r>
            <a:r>
              <a:rPr lang="ko-KR" altLang="en-US" sz="1600" dirty="0">
                <a:solidFill>
                  <a:schemeClr val="accent5"/>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accent5"/>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0410" y="4688522"/>
            <a:ext cx="3914790"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Sliding window length</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367340" y="2845097"/>
            <a:ext cx="2533902"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temps, winds,…</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39138" y="5293022"/>
            <a:ext cx="609600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340995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E6BFDEC1-13C8-458B-91B1-61EB80D5178C}"/>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2240038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1889760"/>
            <a:ext cx="5312410" cy="408342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201670" y="5973180"/>
            <a:ext cx="538353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(10qns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880819"/>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무작위 </a:t>
            </a:r>
            <a:r>
              <a:rPr lang="en-US" altLang="ko-KR" dirty="0">
                <a:latin typeface="D2Coding" panose="020B0609020101020101" pitchFamily="49" charset="-127"/>
                <a:ea typeface="D2Coding" panose="020B0609020101020101" pitchFamily="49" charset="-127"/>
              </a:rPr>
              <a:t>shuffling </a:t>
            </a:r>
            <a:r>
              <a:rPr lang="ko-KR" altLang="en-US" dirty="0">
                <a:latin typeface="D2Coding" panose="020B0609020101020101" pitchFamily="49" charset="-127"/>
                <a:ea typeface="D2Coding" panose="020B0609020101020101" pitchFamily="49" charset="-127"/>
              </a:rPr>
              <a:t>할까</a:t>
            </a:r>
            <a:r>
              <a:rPr lang="en-US" altLang="ko-KR" dirty="0">
                <a:latin typeface="D2Coding" panose="020B0609020101020101" pitchFamily="49" charset="-127"/>
                <a:ea typeface="D2Coding" panose="020B0609020101020101" pitchFamily="49" charset="-127"/>
              </a:rPr>
              <a:t>?</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651901" y="2643714"/>
            <a:ext cx="4834499" cy="2800767"/>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120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+ 24 – 1)</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600" b="1" dirty="0">
                <a:effectLst/>
                <a:latin typeface="D2Coding" panose="020B0609020101020101" pitchFamily="49" charset="-127"/>
                <a:ea typeface="D2Coding" panose="020B0609020101020101" pitchFamily="49" charset="-127"/>
              </a:rPr>
              <a:t>    shuffle=True,</a:t>
            </a:r>
          </a:p>
          <a:p>
            <a:pPr>
              <a:buNone/>
            </a:pPr>
            <a:r>
              <a:rPr lang="en-US" altLang="ko-KR" sz="1600" b="1" dirty="0">
                <a:effectLst/>
                <a:latin typeface="D2Coding" panose="020B0609020101020101" pitchFamily="49" charset="-127"/>
                <a:ea typeface="D2Coding" panose="020B0609020101020101" pitchFamily="49" charset="-127"/>
              </a:rPr>
              <a:t>    </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p:txBody>
      </p:sp>
      <p:sp>
        <p:nvSpPr>
          <p:cNvPr id="5" name="TextBox 4">
            <a:extLst>
              <a:ext uri="{FF2B5EF4-FFF2-40B4-BE49-F238E27FC236}">
                <a16:creationId xmlns:a16="http://schemas.microsoft.com/office/drawing/2014/main" id="{9C91A9F0-7C13-27E3-3B62-4DDAA995BE6A}"/>
              </a:ext>
            </a:extLst>
          </p:cNvPr>
          <p:cNvSpPr txBox="1"/>
          <p:nvPr/>
        </p:nvSpPr>
        <p:spPr>
          <a:xfrm>
            <a:off x="5652526" y="2643714"/>
            <a:ext cx="5987024" cy="2639825"/>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만약 순서대로 넣으면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모델이 한동안 계속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여름철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만 보다가 그 다음엔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겨울철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만 보는 식으로 편중되게 학습하게 되나</a:t>
            </a:r>
            <a:r>
              <a:rPr lang="en-US" altLang="ko-KR" sz="16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600" dirty="0">
                <a:latin typeface="D2Coding" panose="020B0609020101020101" pitchFamily="49" charset="-127"/>
                <a:ea typeface="D2Coding" panose="020B0609020101020101" pitchFamily="49" charset="-127"/>
              </a:rPr>
              <a:t>(gradient descent </a:t>
            </a:r>
            <a:r>
              <a:rPr lang="ko-KR" altLang="en-US" sz="1600" dirty="0">
                <a:latin typeface="D2Coding" panose="020B0609020101020101" pitchFamily="49" charset="-127"/>
                <a:ea typeface="D2Coding" panose="020B0609020101020101" pitchFamily="49" charset="-127"/>
              </a:rPr>
              <a:t>학습이 잘 될 수 있는 이유</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939174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93145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93829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92109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9114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9456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8511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Tree>
    <p:extLst>
      <p:ext uri="{BB962C8B-B14F-4D97-AF65-F5344CB8AC3E}">
        <p14:creationId xmlns:p14="http://schemas.microsoft.com/office/powerpoint/2010/main" val="3276406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이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layer(2.69),</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Convnet(3.13), RNN(2.61)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5BBA9A35-3077-C662-F52E-A0EB5B27B029}"/>
              </a:ext>
            </a:extLst>
          </p:cNvPr>
          <p:cNvPicPr>
            <a:picLocks noChangeAspect="1"/>
          </p:cNvPicPr>
          <p:nvPr/>
        </p:nvPicPr>
        <p:blipFill>
          <a:blip r:embed="rId2"/>
          <a:stretch>
            <a:fillRect/>
          </a:stretch>
        </p:blipFill>
        <p:spPr>
          <a:xfrm>
            <a:off x="2521910" y="2426883"/>
            <a:ext cx="7148179" cy="2004234"/>
          </a:xfrm>
          <a:prstGeom prst="rect">
            <a:avLst/>
          </a:prstGeom>
        </p:spPr>
      </p:pic>
    </p:spTree>
    <p:extLst>
      <p:ext uri="{BB962C8B-B14F-4D97-AF65-F5344CB8AC3E}">
        <p14:creationId xmlns:p14="http://schemas.microsoft.com/office/powerpoint/2010/main" val="38330380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67D8800B-CA56-2E83-5A7A-80A20196A54A}"/>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17</a:t>
            </a:fld>
            <a:endParaRPr lang="en-US" dirty="0"/>
          </a:p>
        </p:txBody>
      </p:sp>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2C74E2C-5185-4FDF-D522-52BB3849DFCA}"/>
              </a:ext>
            </a:extLst>
          </p:cNvPr>
          <p:cNvGraphicFramePr>
            <a:graphicFrameLocks noGrp="1"/>
          </p:cNvGraphicFramePr>
          <p:nvPr>
            <p:extLst>
              <p:ext uri="{D42A27DB-BD31-4B8C-83A1-F6EECF244321}">
                <p14:modId xmlns:p14="http://schemas.microsoft.com/office/powerpoint/2010/main" val="2323456157"/>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E1682B08-CD59-3A1E-9AE1-1640A4F3ECFB}"/>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일자별로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기존</a:t>
            </a:r>
            <a:r>
              <a:rPr lang="en-US" altLang="ko-KR" dirty="0">
                <a:latin typeface="D2Coding" panose="020B0609020101020101" pitchFamily="49" charset="-127"/>
                <a:ea typeface="D2Coding" panose="020B0609020101020101" pitchFamily="49" charset="-127"/>
              </a:rPr>
              <a:t> ANN </a:t>
            </a:r>
            <a:r>
              <a:rPr lang="ko-KR" altLang="en-US" dirty="0">
                <a:latin typeface="D2Coding" panose="020B0609020101020101" pitchFamily="49" charset="-127"/>
                <a:ea typeface="D2Coding" panose="020B0609020101020101" pitchFamily="49" charset="-127"/>
              </a:rPr>
              <a:t>모델의 한계는 무엇이고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이 필요한지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토론하고 주가 예측 방식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F71D6366-ECCB-4037-D8F7-9766B35574CC}"/>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A37A5489-EAC6-4176-D325-AC523BE36B7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B150B105-D9C4-E76C-1B99-300BC744F8DC}"/>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409F955C-5EBE-00F4-6BD3-25B7D293FF8A}"/>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Tree>
    <p:extLst>
      <p:ext uri="{BB962C8B-B14F-4D97-AF65-F5344CB8AC3E}">
        <p14:creationId xmlns:p14="http://schemas.microsoft.com/office/powerpoint/2010/main" val="1679317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8B379BC-6767-AD77-457E-EB53B375D37C}"/>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18</a:t>
            </a:fld>
            <a:endParaRPr lang="en-US" dirty="0"/>
          </a:p>
        </p:txBody>
      </p:sp>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2E670359-5BC0-FB3E-8DE8-B2B54F51B77E}"/>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en-US" altLang="ko-KR" dirty="0" err="1">
                <a:latin typeface="D2Coding" panose="020B0609020101020101" pitchFamily="49" charset="-127"/>
                <a:ea typeface="D2Coding" panose="020B0609020101020101" pitchFamily="49" charset="-127"/>
              </a:rPr>
              <a:t>Pytorch</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로 실습하기</a:t>
            </a:r>
          </a:p>
        </p:txBody>
      </p:sp>
      <p:pic>
        <p:nvPicPr>
          <p:cNvPr id="12290" name="Picture 2">
            <a:extLst>
              <a:ext uri="{FF2B5EF4-FFF2-40B4-BE49-F238E27FC236}">
                <a16:creationId xmlns:a16="http://schemas.microsoft.com/office/drawing/2014/main" id="{8DD0180E-C9DE-EB92-9660-924DD6059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5890" y="2123073"/>
            <a:ext cx="3878897" cy="3342586"/>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a:extLst>
              <a:ext uri="{FF2B5EF4-FFF2-40B4-BE49-F238E27FC236}">
                <a16:creationId xmlns:a16="http://schemas.microsoft.com/office/drawing/2014/main" id="{A695156D-C55E-CA0E-FC4F-4B1F4F6750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7600" y="2141922"/>
            <a:ext cx="4114800" cy="1828800"/>
          </a:xfrm>
          <a:prstGeom prst="rect">
            <a:avLst/>
          </a:prstGeom>
          <a:noFill/>
          <a:extLst>
            <a:ext uri="{909E8E84-426E-40DD-AFC4-6F175D3DCCD1}">
              <a14:hiddenFill xmlns:a14="http://schemas.microsoft.com/office/drawing/2010/main">
                <a:solidFill>
                  <a:srgbClr val="FFFFFF"/>
                </a:solidFill>
              </a14:hiddenFill>
            </a:ext>
          </a:extLst>
        </p:spPr>
      </p:pic>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5645" y="2193228"/>
            <a:ext cx="20574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5645" y="4446484"/>
            <a:ext cx="2143125" cy="20383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91E92F0-24D1-A4C6-C88E-46DACC42881F}"/>
              </a:ext>
            </a:extLst>
          </p:cNvPr>
          <p:cNvSpPr txBox="1"/>
          <p:nvPr/>
        </p:nvSpPr>
        <p:spPr>
          <a:xfrm>
            <a:off x="3271520" y="1719231"/>
            <a:ext cx="3708400" cy="369332"/>
          </a:xfrm>
          <a:prstGeom prst="rect">
            <a:avLst/>
          </a:prstGeom>
          <a:noFill/>
        </p:spPr>
        <p:txBody>
          <a:bodyPr wrap="square">
            <a:spAutoFit/>
          </a:bodyPr>
          <a:lstStyle/>
          <a:p>
            <a:r>
              <a:rPr lang="en-US" altLang="ko-KR" dirty="0"/>
              <a:t>Multi-layer RNN, Deep RNN</a:t>
            </a:r>
            <a:endParaRPr lang="ko-KR" altLang="en-US" dirty="0"/>
          </a:p>
        </p:txBody>
      </p:sp>
      <p:sp>
        <p:nvSpPr>
          <p:cNvPr id="9" name="TextBox 8">
            <a:extLst>
              <a:ext uri="{FF2B5EF4-FFF2-40B4-BE49-F238E27FC236}">
                <a16:creationId xmlns:a16="http://schemas.microsoft.com/office/drawing/2014/main" id="{951E8203-15D6-D19A-3513-F1DC6553F9B4}"/>
              </a:ext>
            </a:extLst>
          </p:cNvPr>
          <p:cNvSpPr txBox="1"/>
          <p:nvPr/>
        </p:nvSpPr>
        <p:spPr>
          <a:xfrm>
            <a:off x="7376160" y="1738080"/>
            <a:ext cx="4114800" cy="369332"/>
          </a:xfrm>
          <a:prstGeom prst="rect">
            <a:avLst/>
          </a:prstGeom>
          <a:noFill/>
        </p:spPr>
        <p:txBody>
          <a:bodyPr wrap="square">
            <a:spAutoFit/>
          </a:bodyPr>
          <a:lstStyle/>
          <a:p>
            <a:r>
              <a:rPr lang="en-US" altLang="ko-KR" dirty="0"/>
              <a:t>Bidirectional Recurrent Neural Network</a:t>
            </a:r>
          </a:p>
        </p:txBody>
      </p:sp>
      <p:sp>
        <p:nvSpPr>
          <p:cNvPr id="12" name="TextBox 11">
            <a:extLst>
              <a:ext uri="{FF2B5EF4-FFF2-40B4-BE49-F238E27FC236}">
                <a16:creationId xmlns:a16="http://schemas.microsoft.com/office/drawing/2014/main" id="{886CCDB5-764B-CB55-2600-DA1AE97727D1}"/>
              </a:ext>
            </a:extLst>
          </p:cNvPr>
          <p:cNvSpPr txBox="1"/>
          <p:nvPr/>
        </p:nvSpPr>
        <p:spPr>
          <a:xfrm>
            <a:off x="475645" y="1738080"/>
            <a:ext cx="2319942" cy="369332"/>
          </a:xfrm>
          <a:prstGeom prst="rect">
            <a:avLst/>
          </a:prstGeom>
          <a:noFill/>
        </p:spPr>
        <p:txBody>
          <a:bodyPr wrap="square">
            <a:spAutoFit/>
          </a:bodyPr>
          <a:lstStyle/>
          <a:p>
            <a:r>
              <a:rPr lang="en-US" altLang="ko-KR" dirty="0"/>
              <a:t>Shallow RNN</a:t>
            </a:r>
            <a:endParaRPr lang="ko-KR" altLang="en-US" dirty="0"/>
          </a:p>
        </p:txBody>
      </p:sp>
    </p:spTree>
    <p:extLst>
      <p:ext uri="{BB962C8B-B14F-4D97-AF65-F5344CB8AC3E}">
        <p14:creationId xmlns:p14="http://schemas.microsoft.com/office/powerpoint/2010/main" val="4916977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E344706C-F3C3-2E7B-38B5-A4331501DE6C}"/>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19</a:t>
            </a:fld>
            <a:endParaRPr lang="en-US" dirty="0"/>
          </a:p>
        </p:txBody>
      </p:sp>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594536"/>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053941"/>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3777734"/>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287198"/>
            <a:ext cx="4827639" cy="369332"/>
          </a:xfrm>
          <a:prstGeom prst="rect">
            <a:avLst/>
          </a:prstGeom>
          <a:noFill/>
        </p:spPr>
        <p:txBody>
          <a:bodyPr wrap="square" rtlCol="0">
            <a:spAutoFit/>
          </a:bodyPr>
          <a:lstStyle/>
          <a:p>
            <a:r>
              <a:rPr lang="en-US" altLang="ko-KR" dirty="0"/>
              <a:t>I	am	  your		      father</a:t>
            </a:r>
            <a:endParaRPr lang="ko-KR" altLang="en-US" dirty="0"/>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666929"/>
            <a:ext cx="4827639" cy="369332"/>
          </a:xfrm>
          <a:prstGeom prst="rect">
            <a:avLst/>
          </a:prstGeom>
          <a:noFill/>
        </p:spPr>
        <p:txBody>
          <a:bodyPr wrap="square" rtlCol="0">
            <a:spAutoFit/>
          </a:bodyPr>
          <a:lstStyle/>
          <a:p>
            <a:r>
              <a:rPr lang="en-US" altLang="ko-KR" dirty="0"/>
              <a:t>t-3	t-2	  t-1		      t</a:t>
            </a:r>
            <a:endParaRPr lang="ko-KR" altLang="en-US" dirty="0"/>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Tree>
    <p:extLst>
      <p:ext uri="{BB962C8B-B14F-4D97-AF65-F5344CB8AC3E}">
        <p14:creationId xmlns:p14="http://schemas.microsoft.com/office/powerpoint/2010/main" val="17989263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2CDDC161-4693-0F50-FD2C-C6BEDB68B1A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20</a:t>
            </a:fld>
            <a:endParaRPr lang="en-US" dirty="0"/>
          </a:p>
        </p:txBody>
      </p:sp>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46080FFC-FC8C-595E-7C4B-2788C99CE8D9}"/>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21</a:t>
            </a:fld>
            <a:endParaRPr lang="en-US" dirty="0"/>
          </a:p>
        </p:txBody>
      </p:sp>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B0BB9591-FBE7-E7AA-BC75-BCB04A807B74}"/>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22</a:t>
            </a:fld>
            <a:endParaRPr lang="en-US" dirty="0"/>
          </a:p>
        </p:txBody>
      </p:sp>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F96B781-302F-27AB-E192-CDB2AB5F32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23</a:t>
            </a:fld>
            <a:endParaRPr lang="en-US" dirty="0"/>
          </a:p>
        </p:txBody>
      </p:sp>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1800746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0CBC867F-634A-CA6A-7E8F-C93BE0151EF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24</a:t>
            </a:fld>
            <a:endParaRPr lang="en-US" dirty="0"/>
          </a:p>
        </p:txBody>
      </p:sp>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1710703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0BE85354-CB4E-EC03-450B-ACACADCF6519}"/>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25</a:t>
            </a:fld>
            <a:endParaRPr lang="en-US" dirty="0"/>
          </a:p>
        </p:txBody>
      </p:sp>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DC2A6246-2F11-7E99-42F8-C724EAE1BC1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26</a:t>
            </a:fld>
            <a:endParaRPr lang="en-US" dirty="0"/>
          </a:p>
        </p:txBody>
      </p:sp>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5262979"/>
          </a:xfrm>
          <a:prstGeom prst="rect">
            <a:avLst/>
          </a:prstGeom>
          <a:solidFill>
            <a:schemeClr val="accent6">
              <a:lumMod val="40000"/>
              <a:lumOff val="6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import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as </a:t>
            </a:r>
            <a:r>
              <a:rPr lang="en-US" altLang="ko-KR" sz="1600" dirty="0" err="1">
                <a:latin typeface="D2Coding" panose="020B0609020101020101" pitchFamily="49" charset="-127"/>
                <a:ea typeface="D2Coding" panose="020B0609020101020101" pitchFamily="49" charset="-127"/>
              </a:rPr>
              <a:t>tfimport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as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tf</a:t>
            </a:r>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import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a:t>
            </a:r>
            <a:endParaRPr lang="en-US" altLang="ko-KR" sz="1600" dirty="0">
              <a:latin typeface="D2Coding" panose="020B0609020101020101" pitchFamily="49" charset="-127"/>
              <a:ea typeface="D2Coding" panose="020B0609020101020101" pitchFamily="49" charset="-127"/>
            </a:endParaRPr>
          </a:p>
          <a:p>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1. </a:t>
            </a:r>
            <a:r>
              <a:rPr lang="ko-KR" altLang="en-US" sz="1600" dirty="0">
                <a:latin typeface="D2Coding" panose="020B0609020101020101" pitchFamily="49" charset="-127"/>
                <a:ea typeface="D2Coding" panose="020B0609020101020101" pitchFamily="49" charset="-127"/>
              </a:rPr>
              <a:t>가상 데이터 생성 </a:t>
            </a:r>
            <a:r>
              <a:rPr lang="en-US" altLang="ko-KR" sz="1600" dirty="0">
                <a:latin typeface="D2Coding" panose="020B0609020101020101" pitchFamily="49" charset="-127"/>
                <a:ea typeface="D2Coding" panose="020B0609020101020101" pitchFamily="49" charset="-127"/>
              </a:rPr>
              <a:t>(Matrix) </a:t>
            </a:r>
            <a:r>
              <a:rPr lang="ko-KR" altLang="en-US" sz="1600" dirty="0">
                <a:latin typeface="D2Coding" panose="020B0609020101020101" pitchFamily="49" charset="-127"/>
                <a:ea typeface="D2Coding" panose="020B0609020101020101" pitchFamily="49" charset="-127"/>
              </a:rPr>
              <a:t>단어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번 </a:t>
            </a:r>
            <a:r>
              <a:rPr lang="en-US" altLang="ko-KR" sz="1600" dirty="0">
                <a:latin typeface="D2Coding" panose="020B0609020101020101" pitchFamily="49" charset="-127"/>
                <a:ea typeface="D2Coding" panose="020B0609020101020101" pitchFamily="49" charset="-127"/>
              </a:rPr>
              <a:t>(timesteps=4), </a:t>
            </a:r>
            <a:r>
              <a:rPr lang="ko-KR" altLang="en-US" sz="1600" dirty="0">
                <a:latin typeface="D2Coding" panose="020B0609020101020101" pitchFamily="49" charset="-127"/>
                <a:ea typeface="D2Coding" panose="020B0609020101020101" pitchFamily="49" charset="-127"/>
              </a:rPr>
              <a:t>각 단어는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차원 벡터 </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=4)</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timesteps = 4;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 = 4</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a:t>
            </a:r>
            <a:r>
              <a:rPr lang="en-US" altLang="ko-KR" sz="1600" dirty="0">
                <a:latin typeface="D2Coding" panose="020B0609020101020101" pitchFamily="49" charset="-127"/>
                <a:ea typeface="D2Coding" panose="020B0609020101020101" pitchFamily="49" charset="-127"/>
              </a:rPr>
              <a:t> RNN </a:t>
            </a:r>
            <a:r>
              <a:rPr lang="ko-KR" altLang="en-US" sz="1600" dirty="0">
                <a:latin typeface="D2Coding" panose="020B0609020101020101" pitchFamily="49" charset="-127"/>
                <a:ea typeface="D2Coding" panose="020B0609020101020101" pitchFamily="49" charset="-127"/>
              </a:rPr>
              <a:t>연산을 위해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배치 크기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타임스텝</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특징 차원</a:t>
            </a:r>
            <a:r>
              <a:rPr lang="en-US" altLang="ko-KR" sz="1600" dirty="0">
                <a:latin typeface="D2Coding" panose="020B0609020101020101" pitchFamily="49" charset="-127"/>
                <a:ea typeface="D2Coding" panose="020B0609020101020101" pitchFamily="49" charset="-127"/>
              </a:rPr>
              <a:t>] -&gt; [1, 4, 4] </a:t>
            </a:r>
            <a:r>
              <a:rPr lang="ko-KR" altLang="en-US" sz="1600" dirty="0">
                <a:latin typeface="D2Coding" panose="020B0609020101020101" pitchFamily="49" charset="-127"/>
                <a:ea typeface="D2Coding" panose="020B0609020101020101" pitchFamily="49" charset="-127"/>
              </a:rPr>
              <a:t>형태로 입력 데이터 준비</a:t>
            </a: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실제 환경에서는 </a:t>
            </a:r>
            <a:r>
              <a:rPr lang="en-US" altLang="ko-KR" sz="1600" dirty="0" err="1">
                <a:latin typeface="D2Coding" panose="020B0609020101020101" pitchFamily="49" charset="-127"/>
                <a:ea typeface="D2Coding" panose="020B0609020101020101" pitchFamily="49" charset="-127"/>
              </a:rPr>
              <a:t>Gensim</a:t>
            </a:r>
            <a:r>
              <a:rPr lang="en-US" altLang="ko-KR" sz="1600" dirty="0">
                <a:latin typeface="D2Coding" panose="020B0609020101020101" pitchFamily="49" charset="-127"/>
                <a:ea typeface="D2Coding" panose="020B0609020101020101" pitchFamily="49" charset="-127"/>
              </a:rPr>
              <a:t> Word2Vec </a:t>
            </a:r>
            <a:r>
              <a:rPr lang="ko-KR" altLang="en-US" sz="1600" dirty="0">
                <a:latin typeface="D2Coding" panose="020B0609020101020101" pitchFamily="49" charset="-127"/>
                <a:ea typeface="D2Coding" panose="020B0609020101020101" pitchFamily="49" charset="-127"/>
              </a:rPr>
              <a:t>결과값이 들어가는 자리</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err="1">
                <a:latin typeface="D2Coding" panose="020B0609020101020101" pitchFamily="49" charset="-127"/>
                <a:ea typeface="D2Coding" panose="020B0609020101020101" pitchFamily="49" charset="-127"/>
              </a:rPr>
              <a:t>X_dummy</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np.random.rand</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timesteps,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astype</a:t>
            </a:r>
            <a:r>
              <a:rPr lang="en-US" altLang="ko-KR" sz="1600" dirty="0">
                <a:latin typeface="D2Coding" panose="020B0609020101020101" pitchFamily="49" charset="-127"/>
                <a:ea typeface="D2Coding" panose="020B0609020101020101" pitchFamily="49" charset="-127"/>
              </a:rPr>
              <a:t>(np.float32)</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2. </a:t>
            </a:r>
            <a:r>
              <a:rPr lang="ko-KR" altLang="en-US" sz="1600" dirty="0">
                <a:latin typeface="D2Coding" panose="020B0609020101020101" pitchFamily="49" charset="-127"/>
                <a:ea typeface="D2Coding" panose="020B0609020101020101" pitchFamily="49" charset="-127"/>
              </a:rPr>
              <a:t>그림 구조를 반영한 </a:t>
            </a:r>
            <a:r>
              <a:rPr lang="en-US" altLang="ko-KR" sz="1600" dirty="0" err="1">
                <a:latin typeface="D2Coding" panose="020B0609020101020101" pitchFamily="49" charset="-127"/>
                <a:ea typeface="D2Coding" panose="020B0609020101020101" pitchFamily="49" charset="-127"/>
              </a:rPr>
              <a:t>Keras</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 설계</a:t>
            </a:r>
          </a:p>
          <a:p>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은닉층</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노드가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은닉 상태 크기 </a:t>
            </a:r>
            <a:r>
              <a:rPr lang="en-US" altLang="ko-KR" sz="1600" dirty="0">
                <a:latin typeface="D2Coding" panose="020B0609020101020101" pitchFamily="49" charset="-127"/>
                <a:ea typeface="D2Coding" panose="020B0609020101020101" pitchFamily="49" charset="-127"/>
              </a:rPr>
              <a:t>2 (</a:t>
            </a:r>
            <a:r>
              <a:rPr lang="en-US" altLang="ko-KR" sz="1600" dirty="0" err="1">
                <a:latin typeface="D2Coding" panose="020B0609020101020101" pitchFamily="49" charset="-127"/>
                <a:ea typeface="D2Coding" panose="020B0609020101020101" pitchFamily="49" charset="-127"/>
              </a:rPr>
              <a:t>hidden_size</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인 </a:t>
            </a:r>
            <a:r>
              <a:rPr lang="en-US" altLang="ko-KR" sz="1600" dirty="0" err="1">
                <a:latin typeface="D2Coding" panose="020B0609020101020101" pitchFamily="49" charset="-127"/>
                <a:ea typeface="D2Coding" panose="020B0609020101020101" pitchFamily="49" charset="-127"/>
              </a:rPr>
              <a:t>SimpleRNN</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activation='tanh',</a:t>
            </a:r>
            <a:r>
              <a:rPr lang="ko-KR" altLang="en-US" sz="1600" dirty="0">
                <a:latin typeface="D2Coding" panose="020B0609020101020101" pitchFamily="49" charset="-127"/>
                <a:ea typeface="D2Coding" panose="020B0609020101020101" pitchFamily="49" charset="-127"/>
              </a:rPr>
              <a:t> </a:t>
            </a: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time step</a:t>
            </a:r>
            <a:r>
              <a:rPr lang="ko-KR" altLang="en-US" sz="1600" dirty="0">
                <a:latin typeface="D2Coding" panose="020B0609020101020101" pitchFamily="49" charset="-127"/>
                <a:ea typeface="D2Coding" panose="020B0609020101020101" pitchFamily="49" charset="-127"/>
              </a:rPr>
              <a:t>마다 출력이 위로 </a:t>
            </a:r>
            <a:r>
              <a:rPr lang="ko-KR" altLang="en-US" sz="1600" dirty="0" err="1">
                <a:latin typeface="D2Coding" panose="020B0609020101020101" pitchFamily="49" charset="-127"/>
                <a:ea typeface="D2Coding" panose="020B0609020101020101" pitchFamily="49" charset="-127"/>
              </a:rPr>
              <a:t>뻗어나가므로</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ko-KR" altLang="en-US" sz="1600" dirty="0">
                <a:latin typeface="D2Coding" panose="020B0609020101020101" pitchFamily="49" charset="-127"/>
                <a:ea typeface="D2Coding" panose="020B0609020101020101" pitchFamily="49" charset="-127"/>
              </a:rPr>
              <a:t>설정</a:t>
            </a: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=[timesteps,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 name="</a:t>
            </a:r>
            <a:r>
              <a:rPr lang="en-US" altLang="ko-KR" sz="1600" dirty="0" err="1">
                <a:latin typeface="D2Coding" panose="020B0609020101020101" pitchFamily="49" charset="-127"/>
                <a:ea typeface="D2Coding" panose="020B0609020101020101" pitchFamily="49" charset="-127"/>
              </a:rPr>
              <a:t>Hidden_Layer</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keras.layers.Dense</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name="</a:t>
            </a:r>
            <a:r>
              <a:rPr lang="en-US" altLang="ko-KR" sz="1600" dirty="0" err="1">
                <a:latin typeface="D2Coding" panose="020B0609020101020101" pitchFamily="49" charset="-127"/>
                <a:ea typeface="D2Coding" panose="020B0609020101020101" pitchFamily="49" charset="-127"/>
              </a:rPr>
              <a:t>Output_Layer</a:t>
            </a:r>
            <a:r>
              <a:rPr lang="en-US" altLang="ko-KR"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출력층</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각 타임스텝마다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차원 </a:t>
            </a:r>
            <a:r>
              <a:rPr lang="ko-KR" altLang="en-US" sz="1600" dirty="0" err="1">
                <a:latin typeface="D2Coding" panose="020B0609020101020101" pitchFamily="49" charset="-127"/>
                <a:ea typeface="D2Coding" panose="020B0609020101020101" pitchFamily="49" charset="-127"/>
              </a:rPr>
              <a:t>출력층</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담당하는 전결합층</a:t>
            </a: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1538502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254C28B-4B8A-88A3-DB1F-C0B434866D6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27</a:t>
            </a:fld>
            <a:endParaRPr lang="en-US" dirty="0"/>
          </a:p>
        </p:txBody>
      </p:sp>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539430"/>
          </a:xfrm>
          <a:prstGeom prst="rect">
            <a:avLst/>
          </a:prstGeom>
          <a:solidFill>
            <a:schemeClr val="accent6">
              <a:lumMod val="40000"/>
              <a:lumOff val="6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 3. </a:t>
            </a:r>
            <a:r>
              <a:rPr lang="ko-KR" altLang="en-US" sz="1600" dirty="0">
                <a:latin typeface="D2Coding" panose="020B0609020101020101" pitchFamily="49" charset="-127"/>
                <a:ea typeface="D2Coding" panose="020B0609020101020101" pitchFamily="49" charset="-127"/>
              </a:rPr>
              <a:t>모델 구조 확인 및 예측 수행</a:t>
            </a: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 컴파일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err="1">
                <a:latin typeface="D2Coding" panose="020B0609020101020101" pitchFamily="49" charset="-127"/>
                <a:ea typeface="D2Coding" panose="020B0609020101020101" pitchFamily="49" charset="-127"/>
              </a:rPr>
              <a:t>model.compile</a:t>
            </a:r>
            <a:r>
              <a:rPr lang="en-US" altLang="ko-KR" sz="1600" dirty="0">
                <a:latin typeface="D2Coding" panose="020B0609020101020101" pitchFamily="49" charset="-127"/>
                <a:ea typeface="D2Coding" panose="020B0609020101020101" pitchFamily="49" charset="-127"/>
              </a:rPr>
              <a:t>(loss="</a:t>
            </a:r>
            <a:r>
              <a:rPr lang="en-US" altLang="ko-KR" sz="1600" dirty="0" err="1">
                <a:latin typeface="D2Coding" panose="020B0609020101020101" pitchFamily="49" charset="-127"/>
                <a:ea typeface="D2Coding" panose="020B0609020101020101" pitchFamily="49" charset="-127"/>
              </a:rPr>
              <a:t>mse</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optimizer="</a:t>
            </a:r>
            <a:r>
              <a:rPr lang="en-US" altLang="ko-KR" sz="1600" dirty="0" err="1">
                <a:latin typeface="D2Coding" panose="020B0609020101020101" pitchFamily="49" charset="-127"/>
                <a:ea typeface="D2Coding" panose="020B0609020101020101" pitchFamily="49" charset="-127"/>
              </a:rPr>
              <a:t>adam</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br>
              <a:rPr lang="ko-KR" altLang="en-US" sz="1600" dirty="0">
                <a:latin typeface="D2Coding" panose="020B0609020101020101" pitchFamily="49" charset="-127"/>
                <a:ea typeface="D2Coding" panose="020B0609020101020101" pitchFamily="49" charset="-127"/>
              </a:rPr>
            </a:b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가중치</a:t>
            </a:r>
            <a:r>
              <a:rPr lang="en-US" altLang="ko-KR" sz="1600" dirty="0">
                <a:latin typeface="D2Coding" panose="020B0609020101020101" pitchFamily="49" charset="-127"/>
                <a:ea typeface="D2Coding" panose="020B0609020101020101" pitchFamily="49" charset="-127"/>
              </a:rPr>
              <a:t>(Param) </a:t>
            </a:r>
            <a:r>
              <a:rPr lang="ko-KR" altLang="en-US" sz="1600" dirty="0">
                <a:latin typeface="D2Coding" panose="020B0609020101020101" pitchFamily="49" charset="-127"/>
                <a:ea typeface="D2Coding" panose="020B0609020101020101" pitchFamily="49" charset="-127"/>
              </a:rPr>
              <a:t>개수가 그림과 일치하는지 요약 표 출력</a:t>
            </a:r>
          </a:p>
          <a:p>
            <a:r>
              <a:rPr lang="en-US" altLang="ko-KR" sz="1600" dirty="0" err="1">
                <a:latin typeface="D2Coding" panose="020B0609020101020101" pitchFamily="49" charset="-127"/>
                <a:ea typeface="D2Coding" panose="020B0609020101020101" pitchFamily="49" charset="-127"/>
              </a:rPr>
              <a:t>model.summary</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br>
              <a:rPr lang="ko-KR" altLang="en-US" sz="1600" dirty="0">
                <a:latin typeface="D2Coding" panose="020B0609020101020101" pitchFamily="49" charset="-127"/>
                <a:ea typeface="D2Coding" panose="020B0609020101020101" pitchFamily="49" charset="-127"/>
              </a:rPr>
            </a:b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가상 데이터를 모델에 통과시켜 </a:t>
            </a:r>
            <a:r>
              <a:rPr lang="ko-KR" altLang="en-US" sz="1600" dirty="0" err="1">
                <a:latin typeface="D2Coding" panose="020B0609020101020101" pitchFamily="49" charset="-127"/>
                <a:ea typeface="D2Coding" panose="020B0609020101020101" pitchFamily="49" charset="-127"/>
              </a:rPr>
              <a:t>출력값</a:t>
            </a:r>
            <a:r>
              <a:rPr lang="ko-KR" altLang="en-US" sz="1600" dirty="0">
                <a:latin typeface="D2Coding" panose="020B0609020101020101" pitchFamily="49" charset="-127"/>
                <a:ea typeface="D2Coding" panose="020B0609020101020101" pitchFamily="49" charset="-127"/>
              </a:rPr>
              <a:t> 확인</a:t>
            </a:r>
          </a:p>
          <a:p>
            <a:r>
              <a:rPr lang="en-US" altLang="ko-KR" sz="1600" dirty="0">
                <a:latin typeface="D2Coding" panose="020B0609020101020101" pitchFamily="49" charset="-127"/>
                <a:ea typeface="D2Coding" panose="020B0609020101020101" pitchFamily="49" charset="-127"/>
              </a:rPr>
              <a:t>output = </a:t>
            </a:r>
            <a:r>
              <a:rPr lang="en-US" altLang="ko-KR" sz="1600" dirty="0" err="1">
                <a:latin typeface="D2Coding" panose="020B0609020101020101" pitchFamily="49" charset="-127"/>
                <a:ea typeface="D2Coding" panose="020B0609020101020101" pitchFamily="49" charset="-127"/>
              </a:rPr>
              <a:t>model.predict</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X_dummy</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print("\n=== </a:t>
            </a:r>
            <a:r>
              <a:rPr lang="ko-KR" altLang="en-US" sz="1600" dirty="0">
                <a:latin typeface="D2Coding" panose="020B0609020101020101" pitchFamily="49" charset="-127"/>
                <a:ea typeface="D2Coding" panose="020B0609020101020101" pitchFamily="49" charset="-127"/>
              </a:rPr>
              <a:t>최종 출력 데이터 모양 </a:t>
            </a:r>
            <a:r>
              <a:rPr lang="en-US" altLang="ko-KR" sz="1600" dirty="0">
                <a:latin typeface="D2Coding" panose="020B0609020101020101" pitchFamily="49" charset="-127"/>
                <a:ea typeface="D2Coding" panose="020B0609020101020101" pitchFamily="49" charset="-127"/>
              </a:rPr>
              <a:t>(Output Shape)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a:t>
            </a:r>
            <a:r>
              <a:rPr lang="ko-KR" altLang="en-US" sz="1600" dirty="0">
                <a:latin typeface="D2Coding" panose="020B0609020101020101" pitchFamily="49" charset="-127"/>
                <a:ea typeface="D2Coding" panose="020B0609020101020101" pitchFamily="49" charset="-127"/>
              </a:rPr>
              <a:t>결과 배열 크기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output.shape</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크기</a:t>
            </a:r>
            <a:r>
              <a:rPr lang="en-US" altLang="ko-KR" sz="1600" dirty="0">
                <a:latin typeface="D2Coding" panose="020B0609020101020101" pitchFamily="49" charset="-127"/>
                <a:ea typeface="D2Coding" panose="020B0609020101020101" pitchFamily="49" charset="-127"/>
              </a:rPr>
              <a:t>: (1, 4, 2) -&gt; [</a:t>
            </a:r>
            <a:r>
              <a:rPr lang="ko-KR" altLang="en-US" sz="1600" dirty="0">
                <a:latin typeface="D2Coding" panose="020B0609020101020101" pitchFamily="49" charset="-127"/>
                <a:ea typeface="D2Coding" panose="020B0609020101020101" pitchFamily="49" charset="-127"/>
              </a:rPr>
              <a:t>배치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타임스텝</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출력차원</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print("\n=== </a:t>
            </a:r>
            <a:r>
              <a:rPr lang="ko-KR" altLang="en-US" sz="1600" dirty="0">
                <a:latin typeface="D2Coding" panose="020B0609020101020101" pitchFamily="49" charset="-127"/>
                <a:ea typeface="D2Coding" panose="020B0609020101020101" pitchFamily="49" charset="-127"/>
              </a:rPr>
              <a:t>실제 출력된 값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 시점별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차원 출력</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print(output[0])</a:t>
            </a:r>
            <a:endParaRPr lang="ko-KR" altLang="en-US" sz="16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Tree>
    <p:extLst>
      <p:ext uri="{BB962C8B-B14F-4D97-AF65-F5344CB8AC3E}">
        <p14:creationId xmlns:p14="http://schemas.microsoft.com/office/powerpoint/2010/main" val="26230321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2E9DA771-6870-123A-1128-9F853C7FC970}"/>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28</a:t>
            </a:fld>
            <a:endParaRPr lang="en-US" dirty="0"/>
          </a:p>
        </p:txBody>
      </p:sp>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Tree>
    <p:extLst>
      <p:ext uri="{BB962C8B-B14F-4D97-AF65-F5344CB8AC3E}">
        <p14:creationId xmlns:p14="http://schemas.microsoft.com/office/powerpoint/2010/main" val="6522042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ADB3AF37-E42F-565B-46B9-6B7245CE7DE5}"/>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29</a:t>
            </a:fld>
            <a:endParaRPr lang="en-US" dirty="0"/>
          </a:p>
        </p:txBody>
      </p:sp>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339970A5-A681-2B27-3205-D7A4C775AA7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7055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FB53F-5797-0BB2-9323-F166DE5B6771}"/>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DBFB5B3E-2733-6F10-C433-7C314850C9FE}"/>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30</a:t>
            </a:fld>
            <a:endParaRPr lang="en-US" dirty="0"/>
          </a:p>
        </p:txBody>
      </p:sp>
      <p:sp>
        <p:nvSpPr>
          <p:cNvPr id="3" name="제목 1">
            <a:extLst>
              <a:ext uri="{FF2B5EF4-FFF2-40B4-BE49-F238E27FC236}">
                <a16:creationId xmlns:a16="http://schemas.microsoft.com/office/drawing/2014/main" id="{C56A9490-8D65-6528-22C1-98B7D50809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A9EEC3D1-0BD5-4541-4799-448270E1E17E}"/>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33600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42091B1E-C426-25FD-67B2-B1CF234C6B7A}"/>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31</a:t>
            </a:fld>
            <a:endParaRPr lang="en-US" dirty="0"/>
          </a:p>
        </p:txBody>
      </p:sp>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 name="Picture 4">
            <a:extLst>
              <a:ext uri="{FF2B5EF4-FFF2-40B4-BE49-F238E27FC236}">
                <a16:creationId xmlns:a16="http://schemas.microsoft.com/office/drawing/2014/main" id="{912112BE-FB30-E488-53B7-8D87ECB97B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99" y="1374234"/>
            <a:ext cx="6061090" cy="243074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13025" y="3892807"/>
            <a:ext cx="6061091" cy="25964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730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6769</TotalTime>
  <Words>2739</Words>
  <Application>Microsoft Office PowerPoint</Application>
  <PresentationFormat>와이드스크린</PresentationFormat>
  <Paragraphs>321</Paragraphs>
  <Slides>31</Slides>
  <Notes>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31</vt:i4>
      </vt:variant>
    </vt:vector>
  </HeadingPairs>
  <TitlesOfParts>
    <vt:vector size="41" baseType="lpstr">
      <vt:lpstr>D2Coding</vt:lpstr>
      <vt:lpstr>맑은 고딕</vt:lpstr>
      <vt:lpstr>Batang</vt:lpstr>
      <vt:lpstr>Arial</vt:lpstr>
      <vt:lpstr>Cambria Math</vt:lpstr>
      <vt:lpstr>Cascadia Code</vt:lpstr>
      <vt:lpstr>Lora</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116</cp:revision>
  <dcterms:created xsi:type="dcterms:W3CDTF">2026-04-06T01:00:39Z</dcterms:created>
  <dcterms:modified xsi:type="dcterms:W3CDTF">2026-08-14T03:44:46Z</dcterms:modified>
  <cp:version/>
</cp:coreProperties>
</file>