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4"/>
  </p:notesMasterIdLst>
  <p:handoutMasterIdLst>
    <p:handoutMasterId r:id="rId75"/>
  </p:handoutMasterIdLst>
  <p:sldIdLst>
    <p:sldId id="256" r:id="rId2"/>
    <p:sldId id="1155" r:id="rId3"/>
    <p:sldId id="1393" r:id="rId4"/>
    <p:sldId id="1394" r:id="rId5"/>
    <p:sldId id="1122" r:id="rId6"/>
    <p:sldId id="1134" r:id="rId7"/>
    <p:sldId id="1140" r:id="rId8"/>
    <p:sldId id="1141" r:id="rId9"/>
    <p:sldId id="1144" r:id="rId10"/>
    <p:sldId id="1142" r:id="rId11"/>
    <p:sldId id="1143" r:id="rId12"/>
    <p:sldId id="1169" r:id="rId13"/>
    <p:sldId id="1395" r:id="rId14"/>
    <p:sldId id="1157" r:id="rId15"/>
    <p:sldId id="1146" r:id="rId16"/>
    <p:sldId id="1148" r:id="rId17"/>
    <p:sldId id="1222" r:id="rId18"/>
    <p:sldId id="1224" r:id="rId19"/>
    <p:sldId id="1396" r:id="rId20"/>
    <p:sldId id="1145" r:id="rId21"/>
    <p:sldId id="1397" r:id="rId22"/>
    <p:sldId id="1225" r:id="rId23"/>
    <p:sldId id="1226" r:id="rId24"/>
    <p:sldId id="1158" r:id="rId25"/>
    <p:sldId id="1150" r:id="rId26"/>
    <p:sldId id="1152" r:id="rId27"/>
    <p:sldId id="1149" r:id="rId28"/>
    <p:sldId id="1159" r:id="rId29"/>
    <p:sldId id="1161" r:id="rId30"/>
    <p:sldId id="1173" r:id="rId31"/>
    <p:sldId id="1174" r:id="rId32"/>
    <p:sldId id="1139" r:id="rId33"/>
    <p:sldId id="1172" r:id="rId34"/>
    <p:sldId id="1133" r:id="rId35"/>
    <p:sldId id="1163" r:id="rId36"/>
    <p:sldId id="1164" r:id="rId37"/>
    <p:sldId id="1165" r:id="rId38"/>
    <p:sldId id="1166" r:id="rId39"/>
    <p:sldId id="1121" r:id="rId40"/>
    <p:sldId id="1168" r:id="rId41"/>
    <p:sldId id="1135" r:id="rId42"/>
    <p:sldId id="1167" r:id="rId43"/>
    <p:sldId id="1160" r:id="rId44"/>
    <p:sldId id="1175" r:id="rId45"/>
    <p:sldId id="1132" r:id="rId46"/>
    <p:sldId id="1170" r:id="rId47"/>
    <p:sldId id="1171" r:id="rId48"/>
    <p:sldId id="1125" r:id="rId49"/>
    <p:sldId id="1398" r:id="rId50"/>
    <p:sldId id="1127" r:id="rId51"/>
    <p:sldId id="1128" r:id="rId52"/>
    <p:sldId id="1123" r:id="rId53"/>
    <p:sldId id="1130" r:id="rId54"/>
    <p:sldId id="1131" r:id="rId55"/>
    <p:sldId id="1137" r:id="rId56"/>
    <p:sldId id="1138" r:id="rId57"/>
    <p:sldId id="1129" r:id="rId58"/>
    <p:sldId id="1392" r:id="rId59"/>
    <p:sldId id="1162" r:id="rId60"/>
    <p:sldId id="1217" r:id="rId61"/>
    <p:sldId id="1220" r:id="rId62"/>
    <p:sldId id="1221" r:id="rId63"/>
    <p:sldId id="1218" r:id="rId64"/>
    <p:sldId id="1219" r:id="rId65"/>
    <p:sldId id="1153" r:id="rId66"/>
    <p:sldId id="1151" r:id="rId67"/>
    <p:sldId id="1154" r:id="rId68"/>
    <p:sldId id="1391" r:id="rId69"/>
    <p:sldId id="1381" r:id="rId70"/>
    <p:sldId id="1378" r:id="rId71"/>
    <p:sldId id="1380" r:id="rId72"/>
    <p:sldId id="1379" r:id="rId73"/>
  </p:sldIdLst>
  <p:sldSz cx="12192000" cy="6858000"/>
  <p:notesSz cx="6858000" cy="9144000"/>
  <p:defaultTextStyle>
    <a:defPPr rtl="0">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감사합니다." id="{E75E278A-FF0E-49A4-B170-79828D63BBAD}">
          <p14:sldIdLst>
            <p14:sldId id="256"/>
          </p14:sldIdLst>
        </p14:section>
        <p14:section name="디자인, 모핑, 주석 달기, 공동 작업, 입력하세요" id="{B9B51309-D148-4332-87C2-07BE32FBCA3B}">
          <p14:sldIdLst>
            <p14:sldId id="1155"/>
            <p14:sldId id="1393"/>
            <p14:sldId id="1394"/>
            <p14:sldId id="1122"/>
            <p14:sldId id="1134"/>
            <p14:sldId id="1140"/>
            <p14:sldId id="1141"/>
            <p14:sldId id="1144"/>
            <p14:sldId id="1142"/>
            <p14:sldId id="1143"/>
            <p14:sldId id="1169"/>
            <p14:sldId id="1395"/>
            <p14:sldId id="1157"/>
            <p14:sldId id="1146"/>
            <p14:sldId id="1148"/>
            <p14:sldId id="1222"/>
            <p14:sldId id="1224"/>
            <p14:sldId id="1396"/>
            <p14:sldId id="1145"/>
            <p14:sldId id="1397"/>
            <p14:sldId id="1225"/>
            <p14:sldId id="1226"/>
            <p14:sldId id="1158"/>
            <p14:sldId id="1150"/>
            <p14:sldId id="1152"/>
            <p14:sldId id="1149"/>
            <p14:sldId id="1159"/>
            <p14:sldId id="1161"/>
            <p14:sldId id="1173"/>
            <p14:sldId id="1174"/>
            <p14:sldId id="1139"/>
            <p14:sldId id="1172"/>
            <p14:sldId id="1133"/>
            <p14:sldId id="1163"/>
            <p14:sldId id="1164"/>
            <p14:sldId id="1165"/>
            <p14:sldId id="1166"/>
            <p14:sldId id="1121"/>
            <p14:sldId id="1168"/>
            <p14:sldId id="1135"/>
            <p14:sldId id="1167"/>
            <p14:sldId id="1160"/>
            <p14:sldId id="1175"/>
            <p14:sldId id="1132"/>
            <p14:sldId id="1170"/>
            <p14:sldId id="1171"/>
            <p14:sldId id="1125"/>
            <p14:sldId id="1398"/>
            <p14:sldId id="1127"/>
            <p14:sldId id="1128"/>
            <p14:sldId id="1123"/>
            <p14:sldId id="1130"/>
            <p14:sldId id="1131"/>
            <p14:sldId id="1137"/>
            <p14:sldId id="1138"/>
            <p14:sldId id="1129"/>
            <p14:sldId id="1392"/>
            <p14:sldId id="1162"/>
            <p14:sldId id="1217"/>
            <p14:sldId id="1220"/>
            <p14:sldId id="1221"/>
            <p14:sldId id="1218"/>
            <p14:sldId id="1219"/>
            <p14:sldId id="1153"/>
            <p14:sldId id="1151"/>
            <p14:sldId id="1154"/>
            <p14:sldId id="1391"/>
            <p14:sldId id="1381"/>
            <p14:sldId id="1378"/>
            <p14:sldId id="1380"/>
            <p14:sldId id="1379"/>
          </p14:sldIdLst>
        </p14:section>
        <p14:section name="자세한 정보"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만든 이" initials="오전"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404040"/>
    <a:srgbClr val="D24726"/>
    <a:srgbClr val="FF9B45"/>
    <a:srgbClr val="DD462F"/>
    <a:srgbClr val="F8CFB6"/>
    <a:srgbClr val="F8CAB6"/>
    <a:srgbClr val="923922"/>
    <a:srgbClr val="F5F5F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1651" autoAdjust="0"/>
    <p:restoredTop sz="94297" autoAdjust="0"/>
  </p:normalViewPr>
  <p:slideViewPr>
    <p:cSldViewPr snapToGrid="0">
      <p:cViewPr>
        <p:scale>
          <a:sx n="75" d="100"/>
          <a:sy n="75" d="100"/>
        </p:scale>
        <p:origin x="1128" y="168"/>
      </p:cViewPr>
      <p:guideLst>
        <p:guide orient="horz" pos="2160"/>
        <p:guide pos="3840"/>
      </p:guideLst>
    </p:cSldViewPr>
  </p:slideViewPr>
  <p:outlineViewPr>
    <p:cViewPr>
      <p:scale>
        <a:sx n="33" d="100"/>
        <a:sy n="33" d="100"/>
      </p:scale>
      <p:origin x="0" y="-59582"/>
    </p:cViewPr>
  </p:outlineViewPr>
  <p:notesTextViewPr>
    <p:cViewPr>
      <p:scale>
        <a:sx n="3" d="2"/>
        <a:sy n="3" d="2"/>
      </p:scale>
      <p:origin x="0" y="0"/>
    </p:cViewPr>
  </p:notesTextViewPr>
  <p:sorterViewPr>
    <p:cViewPr>
      <p:scale>
        <a:sx n="125" d="100"/>
        <a:sy n="125" d="100"/>
      </p:scale>
      <p:origin x="0" y="-11616"/>
    </p:cViewPr>
  </p:sorterViewPr>
  <p:notesViewPr>
    <p:cSldViewPr snapToGrid="0">
      <p:cViewPr varScale="1">
        <p:scale>
          <a:sx n="104" d="100"/>
          <a:sy n="104" d="100"/>
        </p:scale>
        <p:origin x="4608"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51312;&#44540;&#54616;\Downloads\01_sliding%20windows%20with%20time%20seri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50" baseline="0">
                <a:solidFill>
                  <a:schemeClr val="tx1">
                    <a:lumMod val="50000"/>
                    <a:lumOff val="50000"/>
                  </a:schemeClr>
                </a:solidFill>
                <a:latin typeface="D2Coding" panose="020B0609020101020101" pitchFamily="49" charset="-127"/>
                <a:ea typeface="D2Coding" panose="020B0609020101020101" pitchFamily="49" charset="-127"/>
                <a:cs typeface="+mn-cs"/>
              </a:defRPr>
            </a:pPr>
            <a:r>
              <a:rPr lang="en-US" sz="1600"/>
              <a:t>7</a:t>
            </a:r>
            <a:r>
              <a:rPr lang="ko-KR" sz="1600"/>
              <a:t>일기준 일일 기온 이동평균선</a:t>
            </a:r>
          </a:p>
        </c:rich>
      </c:tx>
      <c:overlay val="0"/>
      <c:spPr>
        <a:noFill/>
        <a:ln>
          <a:noFill/>
        </a:ln>
        <a:effectLst/>
      </c:spPr>
      <c:txPr>
        <a:bodyPr rot="0" spcFirstLastPara="1" vertOverflow="ellipsis" vert="horz" wrap="square" anchor="ctr" anchorCtr="1"/>
        <a:lstStyle/>
        <a:p>
          <a:pPr>
            <a:defRPr sz="1600" b="1" i="0" u="none" strike="noStrike" kern="1200" cap="all" spc="150" baseline="0">
              <a:solidFill>
                <a:schemeClr val="tx1">
                  <a:lumMod val="50000"/>
                  <a:lumOff val="50000"/>
                </a:schemeClr>
              </a:solidFill>
              <a:latin typeface="D2Coding" panose="020B0609020101020101" pitchFamily="49" charset="-127"/>
              <a:ea typeface="D2Coding" panose="020B0609020101020101" pitchFamily="49" charset="-127"/>
              <a:cs typeface="+mn-cs"/>
            </a:defRPr>
          </a:pPr>
          <a:endParaRPr lang="ko-KR"/>
        </a:p>
      </c:txPr>
    </c:title>
    <c:autoTitleDeleted val="0"/>
    <c:plotArea>
      <c:layout/>
      <c:lineChart>
        <c:grouping val="standard"/>
        <c:varyColors val="0"/>
        <c:ser>
          <c:idx val="0"/>
          <c:order val="0"/>
          <c:spPr>
            <a:ln w="38100" cap="flat" cmpd="dbl" algn="ctr">
              <a:solidFill>
                <a:schemeClr val="accent1"/>
              </a:solidFill>
              <a:miter lim="800000"/>
            </a:ln>
            <a:effectLst/>
          </c:spPr>
          <c:marker>
            <c:symbol val="none"/>
          </c:marker>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D2Coding" panose="020B0609020101020101" pitchFamily="49" charset="-127"/>
                    <a:ea typeface="D2Coding" panose="020B0609020101020101" pitchFamily="49" charset="-127"/>
                    <a:cs typeface="+mn-cs"/>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val>
            <c:numRef>
              <c:f>Sheet1!$E$11:$E$17</c:f>
              <c:numCache>
                <c:formatCode>0.00</c:formatCode>
                <c:ptCount val="7"/>
                <c:pt idx="0">
                  <c:v>21.757142857142856</c:v>
                </c:pt>
                <c:pt idx="1">
                  <c:v>21.499999999999996</c:v>
                </c:pt>
                <c:pt idx="2">
                  <c:v>21.185714285714283</c:v>
                </c:pt>
                <c:pt idx="3">
                  <c:v>20.785714285714285</c:v>
                </c:pt>
                <c:pt idx="4">
                  <c:v>20.314285714285717</c:v>
                </c:pt>
                <c:pt idx="5">
                  <c:v>20.214285714285715</c:v>
                </c:pt>
                <c:pt idx="6">
                  <c:v>20.014285714285712</c:v>
                </c:pt>
              </c:numCache>
            </c:numRef>
          </c:val>
          <c:smooth val="0"/>
          <c:extLst>
            <c:ext xmlns:c16="http://schemas.microsoft.com/office/drawing/2014/chart" uri="{C3380CC4-5D6E-409C-BE32-E72D297353CC}">
              <c16:uniqueId val="{00000000-1AB2-4E21-8648-AE029899950C}"/>
            </c:ext>
          </c:extLst>
        </c:ser>
        <c:dLbls>
          <c:dLblPos val="ctr"/>
          <c:showLegendKey val="0"/>
          <c:showVal val="1"/>
          <c:showCatName val="0"/>
          <c:showSerName val="0"/>
          <c:showPercent val="0"/>
          <c:showBubbleSize val="0"/>
        </c:dLbls>
        <c:smooth val="0"/>
        <c:axId val="1011890464"/>
        <c:axId val="1011891552"/>
      </c:lineChart>
      <c:catAx>
        <c:axId val="1011890464"/>
        <c:scaling>
          <c:orientation val="minMax"/>
        </c:scaling>
        <c:delete val="0"/>
        <c:axPos val="b"/>
        <c:majorGridlines>
          <c:spPr>
            <a:ln w="9525" cap="flat" cmpd="sng" algn="ctr">
              <a:solidFill>
                <a:schemeClr val="tx1">
                  <a:lumMod val="15000"/>
                  <a:lumOff val="85000"/>
                  <a:alpha val="32000"/>
                </a:schemeClr>
              </a:solidFill>
              <a:round/>
            </a:ln>
            <a:effectLst/>
          </c:spPr>
        </c:majorGridlines>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D2Coding" panose="020B0609020101020101" pitchFamily="49" charset="-127"/>
                <a:ea typeface="D2Coding" panose="020B0609020101020101" pitchFamily="49" charset="-127"/>
                <a:cs typeface="+mn-cs"/>
              </a:defRPr>
            </a:pPr>
            <a:endParaRPr lang="ko-KR"/>
          </a:p>
        </c:txPr>
        <c:crossAx val="1011891552"/>
        <c:crosses val="autoZero"/>
        <c:auto val="1"/>
        <c:lblAlgn val="ctr"/>
        <c:lblOffset val="100"/>
        <c:noMultiLvlLbl val="0"/>
      </c:catAx>
      <c:valAx>
        <c:axId val="1011891552"/>
        <c:scaling>
          <c:orientation val="minMax"/>
        </c:scaling>
        <c:delete val="0"/>
        <c:axPos val="l"/>
        <c:majorGridlines>
          <c:spPr>
            <a:ln w="9525" cap="flat" cmpd="sng" algn="ctr">
              <a:solidFill>
                <a:schemeClr val="tx1">
                  <a:lumMod val="15000"/>
                  <a:lumOff val="85000"/>
                  <a:alpha val="32000"/>
                </a:schemeClr>
              </a:solidFill>
              <a:round/>
            </a:ln>
            <a:effectLst/>
          </c:spPr>
        </c:majorGridlines>
        <c:numFmt formatCode="0.00"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D2Coding" panose="020B0609020101020101" pitchFamily="49" charset="-127"/>
                <a:ea typeface="D2Coding" panose="020B0609020101020101" pitchFamily="49" charset="-127"/>
                <a:cs typeface="+mn-cs"/>
              </a:defRPr>
            </a:pPr>
            <a:endParaRPr lang="ko-KR"/>
          </a:p>
        </c:txPr>
        <c:crossAx val="1011890464"/>
        <c:crosses val="autoZero"/>
        <c:crossBetween val="between"/>
      </c:valAx>
      <c:spPr>
        <a:noFill/>
        <a:ln>
          <a:solidFill>
            <a:schemeClr val="tx1"/>
          </a:solidFill>
        </a:ln>
        <a:effectLst/>
      </c:spPr>
    </c:plotArea>
    <c:plotVisOnly val="1"/>
    <c:dispBlanksAs val="gap"/>
    <c:showDLblsOverMax val="0"/>
  </c:chart>
  <c:spPr>
    <a:noFill/>
    <a:ln>
      <a:noFill/>
    </a:ln>
    <a:effectLst/>
  </c:spPr>
  <c:txPr>
    <a:bodyPr/>
    <a:lstStyle/>
    <a:p>
      <a:pPr>
        <a:defRPr>
          <a:latin typeface="D2Coding" panose="020B0609020101020101" pitchFamily="49" charset="-127"/>
          <a:ea typeface="D2Coding" panose="020B0609020101020101" pitchFamily="49"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059DE-6CD5-4C59-8233-088CE5808E67}" type="datetime1">
              <a:rPr lang="ko-KR" altLang="en-US" smtClean="0">
                <a:latin typeface="맑은 고딕" panose="020B0503020000020004" pitchFamily="50" charset="-127"/>
                <a:ea typeface="맑은 고딕" panose="020B0503020000020004" pitchFamily="50" charset="-127"/>
              </a:rPr>
              <a:t>2026-10-06</a:t>
            </a:fld>
            <a:endParaRPr lang="ko-KR" altLang="en-US">
              <a:latin typeface="맑은 고딕" panose="020B0503020000020004" pitchFamily="50" charset="-127"/>
              <a:ea typeface="맑은 고딕" panose="020B0503020000020004" pitchFamily="50" charset="-127"/>
            </a:endParaRPr>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ko-KR" smtClean="0">
                <a:latin typeface="맑은 고딕" panose="020B0503020000020004" pitchFamily="50" charset="-127"/>
                <a:ea typeface="맑은 고딕" panose="020B0503020000020004" pitchFamily="50" charset="-127"/>
              </a:rPr>
              <a:t>‹#›</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맑은 고딕" panose="020B0503020000020004" pitchFamily="50" charset="-127"/>
                <a:ea typeface="맑은 고딕" panose="020B0503020000020004" pitchFamily="50" charset="-127"/>
              </a:defRPr>
            </a:lvl1pPr>
          </a:lstStyle>
          <a:p>
            <a:fld id="{43E1C3DD-4A19-441D-907C-380838DB51C4}" type="datetime1">
              <a:rPr lang="ko-KR" altLang="en-US" noProof="0" smtClean="0"/>
              <a:t>2026-10-06</a:t>
            </a:fld>
            <a:endParaRPr lang="ko-KR" altLang="en-US" noProof="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ko-KR" altLang="en-US" noProof="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ko-KR" altLang="en-US" noProof="0" dirty="0"/>
              <a:t>마스터 텍스트 스타일을 편집하려면 클릭하세요</a:t>
            </a:r>
            <a:r>
              <a:rPr lang="en-US" altLang="ko-KR" noProof="0" dirty="0"/>
              <a:t>.</a:t>
            </a:r>
          </a:p>
          <a:p>
            <a:pPr lvl="1" rtl="0"/>
            <a:r>
              <a:rPr lang="ko-KR" altLang="en-US" noProof="0" dirty="0"/>
              <a:t>둘째 수준</a:t>
            </a:r>
          </a:p>
          <a:p>
            <a:pPr lvl="2" rtl="0"/>
            <a:r>
              <a:rPr lang="ko-KR" altLang="en-US" noProof="0" dirty="0"/>
              <a:t>셋째 수준</a:t>
            </a:r>
          </a:p>
          <a:p>
            <a:pPr lvl="3" rtl="0"/>
            <a:r>
              <a:rPr lang="ko-KR" altLang="en-US" noProof="0" dirty="0"/>
              <a:t>넷째 수준</a:t>
            </a:r>
          </a:p>
          <a:p>
            <a:pPr lvl="4" rtl="0"/>
            <a:r>
              <a:rPr lang="ko-KR" altLang="en-US" noProof="0" dirty="0"/>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맑은 고딕" panose="020B0503020000020004" pitchFamily="50" charset="-127"/>
                <a:ea typeface="맑은 고딕" panose="020B0503020000020004" pitchFamily="50" charset="-127"/>
              </a:defRPr>
            </a:lvl1pPr>
          </a:lstStyle>
          <a:p>
            <a:fld id="{DF61EA0F-A667-4B49-8422-0062BC55E249}" type="slidenum">
              <a:rPr lang="en-US" altLang="ko-KR" noProof="0" smtClean="0"/>
              <a:pPr/>
              <a:t>‹#›</a:t>
            </a:fld>
            <a:endParaRPr lang="ko-KR" altLang="en-US"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2pPr>
    <a:lvl3pPr marL="9144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3pPr>
    <a:lvl4pPr marL="13716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4pPr>
    <a:lvl5pPr marL="18288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1</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DF61EA0F-A667-4B49-8422-0062BC55E249}" type="slidenum">
              <a:rPr lang="en-US" altLang="ko-KR" noProof="0" smtClean="0"/>
              <a:pPr/>
              <a:t>50</a:t>
            </a:fld>
            <a:endParaRPr lang="ko-KR" altLang="en-US" noProof="0"/>
          </a:p>
        </p:txBody>
      </p:sp>
    </p:spTree>
    <p:extLst>
      <p:ext uri="{BB962C8B-B14F-4D97-AF65-F5344CB8AC3E}">
        <p14:creationId xmlns:p14="http://schemas.microsoft.com/office/powerpoint/2010/main" val="3079282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2BBD4-8346-351F-C4D2-EE6AA137279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9694868-8B43-F806-68D5-F7C5BF807562}"/>
              </a:ext>
            </a:extLst>
          </p:cNvPr>
          <p:cNvSpPr>
            <a:spLocks noGrp="1" noRot="1" noChangeAspect="1"/>
          </p:cNvSpPr>
          <p:nvPr>
            <p:ph type="sldImg"/>
          </p:nvPr>
        </p:nvSpPr>
        <p:spPr>
          <a:xfrm>
            <a:off x="685800" y="1143000"/>
            <a:ext cx="5486400" cy="3086100"/>
          </a:xfrm>
        </p:spPr>
      </p:sp>
      <p:sp>
        <p:nvSpPr>
          <p:cNvPr id="3" name="슬라이드 노트 개체 틀 2">
            <a:extLst>
              <a:ext uri="{FF2B5EF4-FFF2-40B4-BE49-F238E27FC236}">
                <a16:creationId xmlns:a16="http://schemas.microsoft.com/office/drawing/2014/main" id="{C244D141-C974-E84E-5C96-A95649CB7904}"/>
              </a:ext>
            </a:extLst>
          </p:cNvPr>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a:extLst>
              <a:ext uri="{FF2B5EF4-FFF2-40B4-BE49-F238E27FC236}">
                <a16:creationId xmlns:a16="http://schemas.microsoft.com/office/drawing/2014/main" id="{E4E0B063-E23A-F0A4-F4E2-8D2593F82582}"/>
              </a:ext>
            </a:extLst>
          </p:cNvPr>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58</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02176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5D9D-5C4A-1F17-B6E0-0FA4D1775E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06F5AA7-1BD6-98C0-1FAE-9119958C1A12}"/>
              </a:ext>
            </a:extLst>
          </p:cNvPr>
          <p:cNvSpPr>
            <a:spLocks noGrp="1" noRot="1" noChangeAspect="1"/>
          </p:cNvSpPr>
          <p:nvPr>
            <p:ph type="sldImg"/>
          </p:nvPr>
        </p:nvSpPr>
        <p:spPr>
          <a:xfrm>
            <a:off x="685800" y="1143000"/>
            <a:ext cx="5486400" cy="3086100"/>
          </a:xfrm>
        </p:spPr>
      </p:sp>
      <p:sp>
        <p:nvSpPr>
          <p:cNvPr id="3" name="슬라이드 노트 개체 틀 2">
            <a:extLst>
              <a:ext uri="{FF2B5EF4-FFF2-40B4-BE49-F238E27FC236}">
                <a16:creationId xmlns:a16="http://schemas.microsoft.com/office/drawing/2014/main" id="{D9726199-FCDA-4324-4F51-195EBB3A1F5C}"/>
              </a:ext>
            </a:extLst>
          </p:cNvPr>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a:extLst>
              <a:ext uri="{FF2B5EF4-FFF2-40B4-BE49-F238E27FC236}">
                <a16:creationId xmlns:a16="http://schemas.microsoft.com/office/drawing/2014/main" id="{25430F05-1507-6BEB-19BD-10CA72577E68}"/>
              </a:ext>
            </a:extLst>
          </p:cNvPr>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60</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7841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8CF00-EFBF-713B-0EA1-C963FEC4BB5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FF9DC9-F46F-03F8-6C50-C0BAFAF69D8E}"/>
              </a:ext>
            </a:extLst>
          </p:cNvPr>
          <p:cNvSpPr>
            <a:spLocks noGrp="1" noRot="1" noChangeAspect="1"/>
          </p:cNvSpPr>
          <p:nvPr>
            <p:ph type="sldImg"/>
          </p:nvPr>
        </p:nvSpPr>
        <p:spPr>
          <a:xfrm>
            <a:off x="685800" y="1143000"/>
            <a:ext cx="5486400" cy="3086100"/>
          </a:xfrm>
        </p:spPr>
      </p:sp>
      <p:sp>
        <p:nvSpPr>
          <p:cNvPr id="3" name="슬라이드 노트 개체 틀 2">
            <a:extLst>
              <a:ext uri="{FF2B5EF4-FFF2-40B4-BE49-F238E27FC236}">
                <a16:creationId xmlns:a16="http://schemas.microsoft.com/office/drawing/2014/main" id="{58409A49-A4F9-7552-D1E9-92EBF0851629}"/>
              </a:ext>
            </a:extLst>
          </p:cNvPr>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a:extLst>
              <a:ext uri="{FF2B5EF4-FFF2-40B4-BE49-F238E27FC236}">
                <a16:creationId xmlns:a16="http://schemas.microsoft.com/office/drawing/2014/main" id="{B4CECF0F-5EE4-483A-BD59-D40E5ED0C120}"/>
              </a:ext>
            </a:extLst>
          </p:cNvPr>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68</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671534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7" name="직사각형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p:txBody>
          <a:bodyPr rtlCol="0"/>
          <a:lstStyle>
            <a:lvl1pPr>
              <a:defRPr>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9" name="직사각형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cxnSp>
        <p:nvCxnSpPr>
          <p:cNvPr id="12" name="직선 연결선(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제목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3" name="내용 개체 틀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
        <p:nvSpPr>
          <p:cNvPr id="6"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90475B5-67CA-4281-BDCA-DA943C3C8EB3}" type="datetime1">
              <a:rPr lang="ko-KR" altLang="en-US" noProof="0" smtClean="0"/>
              <a:t>2026-10-06</a:t>
            </a:fld>
            <a:endParaRPr lang="ko-KR" altLang="en-US" noProof="0"/>
          </a:p>
        </p:txBody>
      </p:sp>
      <p:sp>
        <p:nvSpPr>
          <p:cNvPr id="7"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p>
        </p:txBody>
      </p:sp>
      <p:sp>
        <p:nvSpPr>
          <p:cNvPr id="8" name="슬라이드 번호 개체 틀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9" name="직사각형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10" name="직사각형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a:xfrm>
            <a:off x="521208" y="1536192"/>
            <a:ext cx="6876288" cy="640080"/>
          </a:xfrm>
        </p:spPr>
        <p:txBody>
          <a:bodyPr rtlCol="0">
            <a:normAutofit/>
          </a:bodyPr>
          <a:lstStyle>
            <a:lvl1pPr>
              <a:defRPr sz="3600">
                <a:solidFill>
                  <a:schemeClr val="bg1"/>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7" name="내용 개체 틀 6"/>
          <p:cNvSpPr>
            <a:spLocks noGrp="1"/>
          </p:cNvSpPr>
          <p:nvPr>
            <p:ph sz="quarter" idx="13" hasCustomPrompt="1"/>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dirty="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913795" y="139083"/>
            <a:ext cx="10353762" cy="766439"/>
          </a:xfrm>
        </p:spPr>
        <p:txBody>
          <a:bodyPr rtlCol="0">
            <a:normAutofit/>
          </a:bodyPr>
          <a:lstStyle>
            <a:lvl1pPr>
              <a:defRPr sz="3200">
                <a:latin typeface="Batang" panose="02030600000101010101" pitchFamily="18" charset="-127"/>
                <a:ea typeface="Batang" panose="02030600000101010101" pitchFamily="18" charset="-127"/>
              </a:defRPr>
            </a:lvl1pPr>
          </a:lstStyle>
          <a:p>
            <a:pPr rtl="0"/>
            <a:r>
              <a:rPr lang="ko-KR" altLang="en-US"/>
              <a:t>마스터 제목 스타일 편집</a:t>
            </a:r>
            <a:endParaRPr lang="en-US" dirty="0"/>
          </a:p>
        </p:txBody>
      </p:sp>
      <p:sp>
        <p:nvSpPr>
          <p:cNvPr id="3" name="내용 개체 틀 2"/>
          <p:cNvSpPr>
            <a:spLocks noGrp="1"/>
          </p:cNvSpPr>
          <p:nvPr>
            <p:ph idx="1"/>
          </p:nvPr>
        </p:nvSpPr>
        <p:spPr>
          <a:xfrm>
            <a:off x="913795" y="1127464"/>
            <a:ext cx="10353762" cy="4663735"/>
          </a:xfrm>
        </p:spPr>
        <p:txBody>
          <a:bodyPr rtlCol="0"/>
          <a:lstStyle>
            <a:lvl1pPr>
              <a:defRPr>
                <a:latin typeface="Batang" panose="02030600000101010101" pitchFamily="18" charset="-127"/>
                <a:ea typeface="Batang" panose="02030600000101010101" pitchFamily="18" charset="-127"/>
              </a:defRPr>
            </a:lvl1pPr>
            <a:lvl2pPr>
              <a:defRPr>
                <a:latin typeface="Batang" panose="02030600000101010101" pitchFamily="18" charset="-127"/>
                <a:ea typeface="Batang" panose="02030600000101010101" pitchFamily="18" charset="-127"/>
              </a:defRPr>
            </a:lvl2pPr>
            <a:lvl3pPr>
              <a:defRPr>
                <a:latin typeface="Batang" panose="02030600000101010101" pitchFamily="18" charset="-127"/>
                <a:ea typeface="Batang" panose="02030600000101010101" pitchFamily="18" charset="-127"/>
              </a:defRPr>
            </a:lvl3pPr>
            <a:lvl4pPr>
              <a:defRPr>
                <a:latin typeface="Batang" panose="02030600000101010101" pitchFamily="18" charset="-127"/>
                <a:ea typeface="Batang" panose="02030600000101010101" pitchFamily="18" charset="-127"/>
              </a:defRPr>
            </a:lvl4pPr>
            <a:lvl5pPr>
              <a:defRPr>
                <a:latin typeface="Batang" panose="02030600000101010101" pitchFamily="18" charset="-127"/>
                <a:ea typeface="Batang" panose="02030600000101010101" pitchFamily="18" charset="-127"/>
              </a:defRPr>
            </a:lvl5pPr>
          </a:lstStyle>
          <a:p>
            <a:pPr lvl="0" rtl="0"/>
            <a:r>
              <a:rPr lang="ko-KR" altLang="en-US" dirty="0"/>
              <a:t>마스터 텍스트 스타일을 편집하려면 클릭</a:t>
            </a:r>
          </a:p>
          <a:p>
            <a:pPr lvl="1" rtl="0"/>
            <a:r>
              <a:rPr lang="ko-KR" altLang="en-US" dirty="0"/>
              <a:t>두 번째 수준</a:t>
            </a:r>
          </a:p>
          <a:p>
            <a:pPr lvl="2" rtl="0"/>
            <a:r>
              <a:rPr lang="ko-KR" altLang="en-US" dirty="0"/>
              <a:t>세 번째 수준</a:t>
            </a:r>
          </a:p>
          <a:p>
            <a:pPr lvl="3" rtl="0"/>
            <a:r>
              <a:rPr lang="ko-KR" altLang="en-US" dirty="0"/>
              <a:t>네 번째 수준</a:t>
            </a:r>
          </a:p>
          <a:p>
            <a:pPr lvl="4" rtl="0"/>
            <a:r>
              <a:rPr lang="ko-KR" altLang="en-US" dirty="0"/>
              <a:t>다섯 번째 수준</a:t>
            </a:r>
            <a:endParaRPr lang="en-US" dirty="0"/>
          </a:p>
        </p:txBody>
      </p:sp>
      <p:pic>
        <p:nvPicPr>
          <p:cNvPr id="11" name="그림 10">
            <a:extLst>
              <a:ext uri="{FF2B5EF4-FFF2-40B4-BE49-F238E27FC236}">
                <a16:creationId xmlns:a16="http://schemas.microsoft.com/office/drawing/2014/main" id="{B4745536-17E2-EEF7-D107-B4146DE21417}"/>
              </a:ext>
            </a:extLst>
          </p:cNvPr>
          <p:cNvPicPr>
            <a:picLocks noChangeAspect="1"/>
          </p:cNvPicPr>
          <p:nvPr userDrawn="1"/>
        </p:nvPicPr>
        <p:blipFill>
          <a:blip r:embed="rId2"/>
          <a:stretch>
            <a:fillRect/>
          </a:stretch>
        </p:blipFill>
        <p:spPr>
          <a:xfrm>
            <a:off x="105924" y="6365874"/>
            <a:ext cx="355393" cy="393576"/>
          </a:xfrm>
          <a:prstGeom prst="rect">
            <a:avLst/>
          </a:prstGeom>
        </p:spPr>
      </p:pic>
      <p:sp>
        <p:nvSpPr>
          <p:cNvPr id="4" name="Date Placeholder 4">
            <a:extLst>
              <a:ext uri="{FF2B5EF4-FFF2-40B4-BE49-F238E27FC236}">
                <a16:creationId xmlns:a16="http://schemas.microsoft.com/office/drawing/2014/main" id="{3AC7079E-4A2B-916C-C464-65DEFE434184}"/>
              </a:ext>
            </a:extLst>
          </p:cNvPr>
          <p:cNvSpPr>
            <a:spLocks noGrp="1"/>
          </p:cNvSpPr>
          <p:nvPr>
            <p:ph type="dt" sz="half" idx="10"/>
          </p:nvPr>
        </p:nvSpPr>
        <p:spPr>
          <a:xfrm>
            <a:off x="7678737" y="6198235"/>
            <a:ext cx="2743200" cy="365125"/>
          </a:xfrm>
          <a:prstGeom prst="rect">
            <a:avLst/>
          </a:prstGeom>
        </p:spPr>
        <p:txBody>
          <a:bodyPr/>
          <a:lstStyle/>
          <a:p>
            <a:fld id="{48A87A34-81AB-432B-8DAE-1953F412C126}" type="datetimeFigureOut">
              <a:rPr lang="en-US" smtClean="0"/>
              <a:t>10/6/2026</a:t>
            </a:fld>
            <a:endParaRPr lang="en-US" dirty="0"/>
          </a:p>
        </p:txBody>
      </p:sp>
      <p:sp>
        <p:nvSpPr>
          <p:cNvPr id="5" name="Footer Placeholder 5">
            <a:extLst>
              <a:ext uri="{FF2B5EF4-FFF2-40B4-BE49-F238E27FC236}">
                <a16:creationId xmlns:a16="http://schemas.microsoft.com/office/drawing/2014/main" id="{A9D00E07-4D48-7C0C-4DF1-A39D6E8BB91D}"/>
              </a:ext>
            </a:extLst>
          </p:cNvPr>
          <p:cNvSpPr>
            <a:spLocks noGrp="1"/>
          </p:cNvSpPr>
          <p:nvPr>
            <p:ph type="ftr" sz="quarter" idx="11"/>
          </p:nvPr>
        </p:nvSpPr>
        <p:spPr>
          <a:xfrm>
            <a:off x="913774" y="6198235"/>
            <a:ext cx="6672887" cy="365125"/>
          </a:xfrm>
          <a:prstGeom prst="rect">
            <a:avLst/>
          </a:prstGeom>
        </p:spPr>
        <p:txBody>
          <a:bodyPr/>
          <a:lstStyle/>
          <a:p>
            <a:endParaRPr lang="en-US" dirty="0"/>
          </a:p>
        </p:txBody>
      </p:sp>
      <p:sp>
        <p:nvSpPr>
          <p:cNvPr id="6" name="Slide Number Placeholder 6">
            <a:extLst>
              <a:ext uri="{FF2B5EF4-FFF2-40B4-BE49-F238E27FC236}">
                <a16:creationId xmlns:a16="http://schemas.microsoft.com/office/drawing/2014/main" id="{1DFF8BFD-50B2-6671-09A6-3F6A70B59946}"/>
              </a:ext>
            </a:extLst>
          </p:cNvPr>
          <p:cNvSpPr>
            <a:spLocks noGrp="1"/>
          </p:cNvSpPr>
          <p:nvPr>
            <p:ph type="sldNum" sz="quarter" idx="12"/>
          </p:nvPr>
        </p:nvSpPr>
        <p:spPr>
          <a:xfrm>
            <a:off x="10514011" y="6198235"/>
            <a:ext cx="764215"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630270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사각형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개체 틀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ko-KR" altLang="en-US" noProof="0"/>
              <a:t>마스터 제목 스타일 편집</a:t>
            </a:r>
          </a:p>
        </p:txBody>
      </p:sp>
      <p:sp>
        <p:nvSpPr>
          <p:cNvPr id="3" name="텍스트 개체 틀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ko-KR" altLang="en-US" noProof="0"/>
              <a:t>마스터 텍스트 스타일을 편집하려면 클릭하세요</a:t>
            </a:r>
            <a:r>
              <a:rPr lang="en-US" altLang="ko-KR" noProof="0"/>
              <a:t>.</a:t>
            </a:r>
          </a:p>
          <a:p>
            <a:pPr lvl="1" rtl="0"/>
            <a:r>
              <a:rPr lang="ko-KR" altLang="en-US" noProof="0"/>
              <a:t>둘째 수준</a:t>
            </a:r>
          </a:p>
          <a:p>
            <a:pPr lvl="2" rtl="0"/>
            <a:r>
              <a:rPr lang="ko-KR" altLang="en-US" noProof="0"/>
              <a:t>셋째 수준</a:t>
            </a:r>
          </a:p>
          <a:p>
            <a:pPr lvl="3" rtl="0"/>
            <a:r>
              <a:rPr lang="ko-KR" altLang="en-US" noProof="0"/>
              <a:t>넷째 수준</a:t>
            </a:r>
          </a:p>
          <a:p>
            <a:pPr lvl="4" rtl="0"/>
            <a:r>
              <a:rPr lang="ko-KR" altLang="en-US" noProof="0"/>
              <a:t>다섯째 수준</a:t>
            </a:r>
          </a:p>
        </p:txBody>
      </p:sp>
      <p:sp>
        <p:nvSpPr>
          <p:cNvPr id="4"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C655C81E-72E7-4D05-94B5-F45B321A525D}" type="datetime1">
              <a:rPr lang="ko-KR" altLang="en-US" noProof="0" smtClean="0"/>
              <a:t>2026-10-06</a:t>
            </a:fld>
            <a:endParaRPr lang="ko-KR" altLang="en-US" noProof="0" dirty="0">
              <a:latin typeface="맑은 고딕" panose="020B0503020000020004" pitchFamily="50" charset="-127"/>
              <a:ea typeface="맑은 고딕" panose="020B0503020000020004" pitchFamily="50" charset="-127"/>
            </a:endParaRPr>
          </a:p>
        </p:txBody>
      </p:sp>
      <p:sp>
        <p:nvSpPr>
          <p:cNvPr id="5"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latin typeface="맑은 고딕" panose="020B0503020000020004" pitchFamily="50" charset="-127"/>
              <a:ea typeface="맑은 고딕" panose="020B0503020000020004" pitchFamily="50" charset="-127"/>
            </a:endParaRPr>
          </a:p>
        </p:txBody>
      </p:sp>
      <p:sp>
        <p:nvSpPr>
          <p:cNvPr id="6" name="슬라이드 번호 개체 틀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latin typeface="맑은 고딕" panose="020B0503020000020004" pitchFamily="50" charset="-127"/>
              <a:ea typeface="맑은 고딕" panose="020B0503020000020004" pitchFamily="50" charset="-127"/>
            </a:endParaRPr>
          </a:p>
        </p:txBody>
      </p:sp>
      <p:cxnSp>
        <p:nvCxnSpPr>
          <p:cNvPr id="8" name="직선 연결선(S)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Lst>
  <p:hf hdr="0" ftr="0" dt="0"/>
  <p:txStyles>
    <p:titleStyle>
      <a:lvl1pPr algn="l" defTabSz="914400" rtl="0" eaLnBrk="1" latinLnBrk="1" hangingPunct="1">
        <a:spcBef>
          <a:spcPct val="0"/>
        </a:spcBef>
        <a:buNone/>
        <a:defRPr sz="2800" kern="1200">
          <a:solidFill>
            <a:schemeClr val="tx1"/>
          </a:solidFill>
          <a:latin typeface="맑은 고딕" panose="020B0503020000020004" pitchFamily="50" charset="-127"/>
          <a:ea typeface="맑은 고딕" panose="020B0503020000020004" pitchFamily="50" charset="-127"/>
          <a:cs typeface="+mj-cs"/>
        </a:defRPr>
      </a:lvl1pPr>
    </p:titleStyle>
    <p:bodyStyle>
      <a:lvl1pPr marL="0" indent="0" algn="l" defTabSz="914400" rtl="0" eaLnBrk="1" latinLnBrk="1" hangingPunct="1">
        <a:lnSpc>
          <a:spcPct val="150000"/>
        </a:lnSpc>
        <a:spcBef>
          <a:spcPts val="1000"/>
        </a:spcBef>
        <a:spcAft>
          <a:spcPts val="1200"/>
        </a:spcAft>
        <a:buFontTx/>
        <a:buNone/>
        <a:defRPr lang="en-US" sz="1200" kern="1200" dirty="0">
          <a:solidFill>
            <a:schemeClr val="tx1"/>
          </a:solidFill>
          <a:latin typeface="맑은 고딕" panose="020B0503020000020004" pitchFamily="50" charset="-127"/>
          <a:ea typeface="맑은 고딕" panose="020B0503020000020004" pitchFamily="50" charset="-127"/>
          <a:cs typeface="+mn-cs"/>
        </a:defRPr>
      </a:lvl1pPr>
      <a:lvl2pPr marL="228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2pPr>
      <a:lvl3pPr marL="685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3pPr>
      <a:lvl4pPr marL="11430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4pPr>
      <a:lvl5pPr marL="16002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5pPr>
      <a:lvl6pPr marL="20574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1"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ncestor9/2026_Fall_Deep-Learning-with-Python/blob/main/scripts/Perceptron_1957_to_AlexNet_2012.ipynb" TargetMode="Externa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link.springer.com/article/10.1007/s10462-025-11162-5"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hyperlink" Target="https://github.com/ancestor9/2026_Fall_Deep-Learning-with-Python/blob/main/appendix/01_sliding%20windows%20with%20time%20series.xlsx" TargetMode="Externa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google.com/search?gs_ssp=eJzj4tDP1TdITze3MGD04nzb0_N2-prXm1YAAE8ECUk&amp;q=%ED%8C%8C%ED%97%AC%EB%B2%A8&amp;oq=%ED%8C%8C%ED%97%BF%EB%B2%A0&amp;gs_lcrp=EgZjaHJvbWUqCQgBEC4YDRiABDIGCAAQRRg5MgkIARAuGA0YgAQyCQgCEAAYDRiABDIJCAMQABgNGIAEMgkIBBAAGA0YgAQyCQgFEAAYDRiABDIJCAYQABgNGIAEMgkIBxAuGA0YgAQyCQgIEAAYDRiABNIBCTUwNzdqMGoxNagCCLACAfEFBdMZEgDUg5XxBQXTGRIA1IOV&amp;sourceid=chrome&amp;source=chrome.rb&amp;ie=UTF-8#fpstate=ive&amp;vld=cid:19bf4c92,vid:hW3ck9U-xKU,st:0" TargetMode="Externa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1.png"/><Relationship Id="rId7" Type="http://schemas.openxmlformats.org/officeDocument/2006/relationships/image" Target="../media/image32.png"/><Relationship Id="rId2" Type="http://schemas.openxmlformats.org/officeDocument/2006/relationships/image" Target="../media/image271.png"/><Relationship Id="rId1" Type="http://schemas.openxmlformats.org/officeDocument/2006/relationships/slideLayout" Target="../slideLayouts/slideLayout4.xml"/><Relationship Id="rId6" Type="http://schemas.openxmlformats.org/officeDocument/2006/relationships/image" Target="../media/image311.png"/><Relationship Id="rId11" Type="http://schemas.openxmlformats.org/officeDocument/2006/relationships/image" Target="../media/image36.png"/><Relationship Id="rId5" Type="http://schemas.openxmlformats.org/officeDocument/2006/relationships/image" Target="../media/image301.png"/><Relationship Id="rId10" Type="http://schemas.openxmlformats.org/officeDocument/2006/relationships/image" Target="../media/image35.png"/><Relationship Id="rId4" Type="http://schemas.openxmlformats.org/officeDocument/2006/relationships/image" Target="../media/image291.png"/><Relationship Id="rId9" Type="http://schemas.openxmlformats.org/officeDocument/2006/relationships/image" Target="../media/image34.png"/></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1.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image" Target="../media/image331.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1.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1.png"/><Relationship Id="rId9" Type="http://schemas.openxmlformats.org/officeDocument/2006/relationships/image" Target="../media/image40.png"/><Relationship Id="rId14" Type="http://schemas.openxmlformats.org/officeDocument/2006/relationships/image" Target="../media/image45.png"/></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image" Target="../media/image38.png"/><Relationship Id="rId16"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61.png"/><Relationship Id="rId3" Type="http://schemas.microsoft.com/office/2007/relationships/hdphoto" Target="../media/hdphoto1.wdp"/><Relationship Id="rId7"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GvezxUdLrEk&amp;t=2572s" TargetMode="External"/><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 Id="rId4" Type="http://schemas.openxmlformats.org/officeDocument/2006/relationships/image" Target="../media/image72.svg"/></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7" Type="http://schemas.microsoft.com/office/2007/relationships/hdphoto" Target="../media/hdphoto3.wdp"/><Relationship Id="rId2" Type="http://schemas.openxmlformats.org/officeDocument/2006/relationships/image" Target="../media/image141.png"/><Relationship Id="rId1" Type="http://schemas.openxmlformats.org/officeDocument/2006/relationships/slideLayout" Target="../slideLayouts/slideLayout4.xml"/><Relationship Id="rId6" Type="http://schemas.openxmlformats.org/officeDocument/2006/relationships/image" Target="../media/image79.png"/><Relationship Id="rId5" Type="http://schemas.openxmlformats.org/officeDocument/2006/relationships/image" Target="../media/image78.png"/><Relationship Id="rId4" Type="http://schemas.microsoft.com/office/2007/relationships/hdphoto" Target="../media/hdphoto2.wdp"/></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79.png"/><Relationship Id="rId7" Type="http://schemas.openxmlformats.org/officeDocument/2006/relationships/image" Target="../media/image120.png"/><Relationship Id="rId12" Type="http://schemas.openxmlformats.org/officeDocument/2006/relationships/image" Target="../media/image17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10.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microsoft.com/office/2007/relationships/hdphoto" Target="../media/hdphoto3.wdp"/><Relationship Id="rId9" Type="http://schemas.openxmlformats.org/officeDocument/2006/relationships/image" Target="../media/image140.png"/></Relationships>
</file>

<file path=ppt/slides/_rels/slide51.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190.png"/><Relationship Id="rId21" Type="http://schemas.openxmlformats.org/officeDocument/2006/relationships/image" Target="../media/image350.png"/><Relationship Id="rId7" Type="http://schemas.openxmlformats.org/officeDocument/2006/relationships/image" Target="../media/image82.png"/><Relationship Id="rId12" Type="http://schemas.microsoft.com/office/2007/relationships/hdphoto" Target="../media/hdphoto3.wdp"/><Relationship Id="rId17" Type="http://schemas.openxmlformats.org/officeDocument/2006/relationships/image" Target="../media/image310.png"/><Relationship Id="rId2" Type="http://schemas.openxmlformats.org/officeDocument/2006/relationships/image" Target="../media/image180.png"/><Relationship Id="rId16" Type="http://schemas.openxmlformats.org/officeDocument/2006/relationships/image" Target="../media/image300.png"/><Relationship Id="rId20" Type="http://schemas.openxmlformats.org/officeDocument/2006/relationships/image" Target="../media/image340.png"/><Relationship Id="rId1" Type="http://schemas.openxmlformats.org/officeDocument/2006/relationships/slideLayout" Target="../slideLayouts/slideLayout4.xml"/><Relationship Id="rId6" Type="http://schemas.openxmlformats.org/officeDocument/2006/relationships/image" Target="../media/image220.png"/><Relationship Id="rId11" Type="http://schemas.openxmlformats.org/officeDocument/2006/relationships/image" Target="../media/image79.png"/><Relationship Id="rId24" Type="http://schemas.openxmlformats.org/officeDocument/2006/relationships/image" Target="../media/image380.png"/><Relationship Id="rId5" Type="http://schemas.openxmlformats.org/officeDocument/2006/relationships/image" Target="../media/image210.png"/><Relationship Id="rId15" Type="http://schemas.openxmlformats.org/officeDocument/2006/relationships/image" Target="../media/image290.png"/><Relationship Id="rId23" Type="http://schemas.openxmlformats.org/officeDocument/2006/relationships/image" Target="../media/image370.png"/><Relationship Id="rId10" Type="http://schemas.openxmlformats.org/officeDocument/2006/relationships/image" Target="../media/image260.png"/><Relationship Id="rId19" Type="http://schemas.openxmlformats.org/officeDocument/2006/relationships/image" Target="../media/image330.png"/><Relationship Id="rId4" Type="http://schemas.openxmlformats.org/officeDocument/2006/relationships/image" Target="../media/image200.png"/><Relationship Id="rId9" Type="http://schemas.openxmlformats.org/officeDocument/2006/relationships/image" Target="../media/image250.png"/><Relationship Id="rId14" Type="http://schemas.openxmlformats.org/officeDocument/2006/relationships/image" Target="../media/image280.png"/><Relationship Id="rId22" Type="http://schemas.openxmlformats.org/officeDocument/2006/relationships/image" Target="../media/image360.png"/></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4.png"/><Relationship Id="rId1" Type="http://schemas.openxmlformats.org/officeDocument/2006/relationships/slideLayout" Target="../slideLayouts/slideLayout4.xml"/><Relationship Id="rId5" Type="http://schemas.openxmlformats.org/officeDocument/2006/relationships/image" Target="../media/image85.png"/><Relationship Id="rId4" Type="http://schemas.microsoft.com/office/2007/relationships/hdphoto" Target="../media/hdphoto3.wdp"/></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6.jpeg"/><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7.png"/><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www.tensorflow.org/tutorials/structured_data/time_series?hl=ko" TargetMode="External"/><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hyperlink" Target="https://wikidocs.net/80437" TargetMode="External"/><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hyperlink" Target="https://keras.io/examples/timeseries/timeseries_anomaly_detection/" TargetMode="External"/><Relationship Id="rId1" Type="http://schemas.openxmlformats.org/officeDocument/2006/relationships/slideLayout" Target="../slideLayouts/slideLayout4.xml"/><Relationship Id="rId6" Type="http://schemas.openxmlformats.org/officeDocument/2006/relationships/hyperlink" Target="https://github.com/ancestor9/AI-with-python" TargetMode="External"/><Relationship Id="rId5" Type="http://schemas.openxmlformats.org/officeDocument/2006/relationships/image" Target="../media/image93.svg"/><Relationship Id="rId4" Type="http://schemas.openxmlformats.org/officeDocument/2006/relationships/image" Target="../media/image92.png"/></Relationships>
</file>

<file path=ppt/slides/_rels/slide70.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72.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4.xml"/><Relationship Id="rId5" Type="http://schemas.openxmlformats.org/officeDocument/2006/relationships/image" Target="../media/image98.png"/><Relationship Id="rId4" Type="http://schemas.openxmlformats.org/officeDocument/2006/relationships/image" Target="../media/image9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838200" y="1164324"/>
            <a:ext cx="10515600" cy="2387600"/>
          </a:xfrm>
        </p:spPr>
        <p:txBody>
          <a:bodyPr rtlCol="0" anchor="ctr" anchorCtr="0">
            <a:normAutofit/>
          </a:bodyPr>
          <a:lstStyle/>
          <a:p>
            <a:r>
              <a:rPr lang="en-US" altLang="ko-KR" sz="4800" dirty="0">
                <a:solidFill>
                  <a:schemeClr val="bg1"/>
                </a:solidFill>
              </a:rPr>
              <a:t>Timeseries forecasting</a:t>
            </a:r>
            <a:endParaRPr lang="ko-KR" altLang="en-US" sz="4800" dirty="0">
              <a:solidFill>
                <a:schemeClr val="bg1"/>
              </a:solidFill>
            </a:endParaRPr>
          </a:p>
        </p:txBody>
      </p:sp>
      <p:sp>
        <p:nvSpPr>
          <p:cNvPr id="3" name="부제목 2"/>
          <p:cNvSpPr>
            <a:spLocks noGrp="1"/>
          </p:cNvSpPr>
          <p:nvPr>
            <p:ph type="subTitle" idx="4294967295"/>
          </p:nvPr>
        </p:nvSpPr>
        <p:spPr>
          <a:xfrm>
            <a:off x="855620" y="2933105"/>
            <a:ext cx="9582736" cy="2210395"/>
          </a:xfrm>
        </p:spPr>
        <p:txBody>
          <a:bodyPr rtlCol="0">
            <a:normAutofit/>
          </a:bodyPr>
          <a:lstStyle/>
          <a:p>
            <a:pPr>
              <a:lnSpc>
                <a:spcPct val="100000"/>
              </a:lnSpc>
              <a:spcBef>
                <a:spcPts val="600"/>
              </a:spcBef>
              <a:spcAft>
                <a:spcPts val="0"/>
              </a:spcAft>
            </a:pPr>
            <a:r>
              <a:rPr lang="en-US" altLang="ko-KR" sz="2400" dirty="0">
                <a:solidFill>
                  <a:schemeClr val="bg1"/>
                </a:solidFill>
                <a:latin typeface="D2Coding" panose="020B0609020101020101" pitchFamily="49" charset="-127"/>
                <a:ea typeface="D2Coding" panose="020B0609020101020101" pitchFamily="49" charset="-127"/>
              </a:rPr>
              <a:t>RNN(Recurrent Neural Network) </a:t>
            </a:r>
          </a:p>
          <a:p>
            <a:pPr>
              <a:lnSpc>
                <a:spcPct val="100000"/>
              </a:lnSpc>
              <a:spcBef>
                <a:spcPts val="600"/>
              </a:spcBef>
              <a:spcAft>
                <a:spcPts val="0"/>
              </a:spcAft>
            </a:pPr>
            <a:r>
              <a:rPr lang="en-US" altLang="ko-KR" sz="2400" dirty="0">
                <a:solidFill>
                  <a:schemeClr val="bg1"/>
                </a:solidFill>
                <a:latin typeface="D2Coding" panose="020B0609020101020101" pitchFamily="49" charset="-127"/>
                <a:ea typeface="D2Coding" panose="020B0609020101020101" pitchFamily="49" charset="-127"/>
              </a:rPr>
              <a:t>LSTM(long short-term memory )</a:t>
            </a:r>
          </a:p>
          <a:p>
            <a:pPr>
              <a:lnSpc>
                <a:spcPct val="100000"/>
              </a:lnSpc>
              <a:spcBef>
                <a:spcPts val="600"/>
              </a:spcBef>
              <a:spcAft>
                <a:spcPts val="0"/>
              </a:spcAft>
            </a:pPr>
            <a:r>
              <a:rPr lang="en-US" altLang="ko-KR" sz="2400" dirty="0">
                <a:solidFill>
                  <a:schemeClr val="bg1"/>
                </a:solidFill>
                <a:latin typeface="D2Coding" panose="020B0609020101020101" pitchFamily="49" charset="-127"/>
                <a:ea typeface="D2Coding" panose="020B0609020101020101" pitchFamily="49" charset="-127"/>
              </a:rPr>
              <a:t>GRU(Gated Recurrent Unit)</a:t>
            </a:r>
            <a:endParaRPr lang="ko-KR" altLang="en-US" sz="2400" dirty="0">
              <a:solidFill>
                <a:schemeClr val="bg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DBDF-4942-26B7-ECF8-D411863DF1C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435B2F8-E85B-6FAB-4AFA-6E1F580B27D7}"/>
              </a:ext>
            </a:extLst>
          </p:cNvPr>
          <p:cNvSpPr/>
          <p:nvPr/>
        </p:nvSpPr>
        <p:spPr>
          <a:xfrm>
            <a:off x="475645" y="1847850"/>
            <a:ext cx="7963505" cy="53047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1">
            <a:extLst>
              <a:ext uri="{FF2B5EF4-FFF2-40B4-BE49-F238E27FC236}">
                <a16:creationId xmlns:a16="http://schemas.microsoft.com/office/drawing/2014/main" id="{C83E9E23-F77D-44D2-EB8C-9981740FAE83}"/>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Goals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A0CB7729-09DC-4690-5139-CD2649D9221F}"/>
              </a:ext>
            </a:extLst>
          </p:cNvPr>
          <p:cNvSpPr txBox="1"/>
          <p:nvPr/>
        </p:nvSpPr>
        <p:spPr>
          <a:xfrm>
            <a:off x="587055" y="1846268"/>
            <a:ext cx="7394895" cy="4189993"/>
          </a:xfrm>
          <a:prstGeom prst="rect">
            <a:avLst/>
          </a:prstGeom>
          <a:noFill/>
        </p:spPr>
        <p:txBody>
          <a:bodyPr wrap="square">
            <a:spAutoFit/>
          </a:bodyPr>
          <a:lstStyle/>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Different kinds of timeseries tasks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Timeseries 3D tensor</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 temperature forecasting example</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naïve approach</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Fully connected neural network</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1D Convnet</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Understanding recurrent neural networks (RNNs)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Applying RNNs to a temperature forecasting example</a:t>
            </a:r>
          </a:p>
          <a:p>
            <a:pPr marL="800100" lvl="1" indent="-342900">
              <a:lnSpc>
                <a:spcPct val="150000"/>
              </a:lnSpc>
              <a:buFont typeface="Wingdings" panose="05000000000000000000" pitchFamily="2" charset="2"/>
              <a:buChar char="v"/>
            </a:pPr>
            <a:endParaRPr lang="en-US" altLang="ko-KR" sz="20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827070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7371A-E5C4-30BB-9CC8-F7FE04E3D1D7}"/>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DB0AA873-E7D7-B4EA-4E0B-B8C26182E3ED}"/>
              </a:ext>
            </a:extLst>
          </p:cNvPr>
          <p:cNvPicPr>
            <a:picLocks noChangeAspect="1"/>
          </p:cNvPicPr>
          <p:nvPr/>
        </p:nvPicPr>
        <p:blipFill>
          <a:blip r:embed="rId2"/>
          <a:stretch>
            <a:fillRect/>
          </a:stretch>
        </p:blipFill>
        <p:spPr>
          <a:xfrm>
            <a:off x="624146" y="1367879"/>
            <a:ext cx="10829407" cy="5059928"/>
          </a:xfrm>
          <a:prstGeom prst="rect">
            <a:avLst/>
          </a:prstGeom>
        </p:spPr>
      </p:pic>
      <p:sp>
        <p:nvSpPr>
          <p:cNvPr id="3" name="제목 1">
            <a:extLst>
              <a:ext uri="{FF2B5EF4-FFF2-40B4-BE49-F238E27FC236}">
                <a16:creationId xmlns:a16="http://schemas.microsoft.com/office/drawing/2014/main" id="{E3999178-AB12-0A3A-A668-15B9099D900E}"/>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Perceptron</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to</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Transformer</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0" name="TextBox 9">
            <a:extLst>
              <a:ext uri="{FF2B5EF4-FFF2-40B4-BE49-F238E27FC236}">
                <a16:creationId xmlns:a16="http://schemas.microsoft.com/office/drawing/2014/main" id="{7107B6D7-BA6F-BCDC-8980-1D081CD9A249}"/>
              </a:ext>
            </a:extLst>
          </p:cNvPr>
          <p:cNvSpPr txBox="1"/>
          <p:nvPr/>
        </p:nvSpPr>
        <p:spPr>
          <a:xfrm>
            <a:off x="552450" y="1377404"/>
            <a:ext cx="11087100" cy="369332"/>
          </a:xfrm>
          <a:prstGeom prst="rect">
            <a:avLst/>
          </a:prstGeom>
          <a:noFill/>
        </p:spPr>
        <p:txBody>
          <a:bodyPr wrap="square">
            <a:spAutoFit/>
          </a:bodyPr>
          <a:lstStyle/>
          <a:p>
            <a:r>
              <a:rPr lang="en-US" altLang="ko-KR" b="1" dirty="0">
                <a:latin typeface="D2Coding" panose="020B0609020101020101" pitchFamily="49" charset="-127"/>
                <a:ea typeface="D2Coding" panose="020B0609020101020101" pitchFamily="49" charset="-127"/>
                <a:hlinkClick r:id="rId3"/>
              </a:rPr>
              <a:t>Perceptron_1957_to_AlexNet_2012.ipynb</a:t>
            </a:r>
            <a:r>
              <a:rPr lang="en-US" altLang="ko-KR" b="1" dirty="0">
                <a:latin typeface="D2Coding" panose="020B0609020101020101" pitchFamily="49" charset="-127"/>
                <a:ea typeface="D2Coding" panose="020B0609020101020101" pitchFamily="49" charset="-127"/>
              </a:rPr>
              <a:t> </a:t>
            </a:r>
          </a:p>
        </p:txBody>
      </p:sp>
    </p:spTree>
    <p:extLst>
      <p:ext uri="{BB962C8B-B14F-4D97-AF65-F5344CB8AC3E}">
        <p14:creationId xmlns:p14="http://schemas.microsoft.com/office/powerpoint/2010/main" val="230990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D739-3CD0-CCA2-9928-4AE3D14AC3C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F19D7069-1FB1-2CA2-8C7A-A8267B0210F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to</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Transformer History</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026" name="Picture 2" descr="Fig. 2">
            <a:extLst>
              <a:ext uri="{FF2B5EF4-FFF2-40B4-BE49-F238E27FC236}">
                <a16:creationId xmlns:a16="http://schemas.microsoft.com/office/drawing/2014/main" id="{1FB0A38B-BE23-F493-D16C-1D774316A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083028"/>
            <a:ext cx="5013449" cy="376466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3EEF370-2FCC-E88C-CCF7-8647FB631C12}"/>
              </a:ext>
            </a:extLst>
          </p:cNvPr>
          <p:cNvSpPr txBox="1"/>
          <p:nvPr/>
        </p:nvSpPr>
        <p:spPr>
          <a:xfrm>
            <a:off x="552450" y="5871897"/>
            <a:ext cx="5013449" cy="276999"/>
          </a:xfrm>
          <a:prstGeom prst="rect">
            <a:avLst/>
          </a:prstGeom>
          <a:noFill/>
        </p:spPr>
        <p:txBody>
          <a:bodyPr wrap="square">
            <a:spAutoFit/>
          </a:bodyPr>
          <a:lstStyle/>
          <a:p>
            <a:r>
              <a:rPr lang="ko-KR" altLang="en-US" sz="1200" dirty="0">
                <a:latin typeface="D2Coding" panose="020B0609020101020101" pitchFamily="49" charset="-127"/>
                <a:ea typeface="D2Coding" panose="020B0609020101020101" pitchFamily="49" charset="-127"/>
                <a:hlinkClick r:id="rId3"/>
              </a:rPr>
              <a:t>https://link.springer.com/article/10.1007/s10462-025-11162-5</a:t>
            </a:r>
            <a:r>
              <a:rPr lang="ko-KR" altLang="en-US" sz="1200" dirty="0">
                <a:latin typeface="D2Coding" panose="020B0609020101020101" pitchFamily="49" charset="-127"/>
                <a:ea typeface="D2Coding" panose="020B0609020101020101" pitchFamily="49" charset="-127"/>
              </a:rPr>
              <a:t> </a:t>
            </a:r>
          </a:p>
        </p:txBody>
      </p:sp>
      <p:sp>
        <p:nvSpPr>
          <p:cNvPr id="8" name="TextBox 7">
            <a:extLst>
              <a:ext uri="{FF2B5EF4-FFF2-40B4-BE49-F238E27FC236}">
                <a16:creationId xmlns:a16="http://schemas.microsoft.com/office/drawing/2014/main" id="{B8238B59-87C1-4E54-C4B2-C7D3ED424475}"/>
              </a:ext>
            </a:extLst>
          </p:cNvPr>
          <p:cNvSpPr txBox="1"/>
          <p:nvPr/>
        </p:nvSpPr>
        <p:spPr>
          <a:xfrm>
            <a:off x="5652526" y="2083028"/>
            <a:ext cx="6091799" cy="3524042"/>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
            </a:pPr>
            <a:r>
              <a:rPr lang="en-US" altLang="ko-KR" sz="1400" dirty="0">
                <a:latin typeface="D2Coding" panose="020B0609020101020101" pitchFamily="49" charset="-127"/>
                <a:ea typeface="D2Coding" panose="020B0609020101020101" pitchFamily="49" charset="-127"/>
              </a:rPr>
              <a:t>RNN, LSTM, GRU</a:t>
            </a:r>
            <a:r>
              <a:rPr lang="ko-KR" altLang="en-US" sz="1400" dirty="0">
                <a:latin typeface="D2Coding" panose="020B0609020101020101" pitchFamily="49" charset="-127"/>
                <a:ea typeface="D2Coding" panose="020B0609020101020101" pitchFamily="49" charset="-127"/>
              </a:rPr>
              <a:t> 등이 등장함</a:t>
            </a:r>
            <a:endParaRPr lang="en-US" altLang="ko-KR" sz="1400" dirty="0">
              <a:latin typeface="D2Coding" panose="020B0609020101020101" pitchFamily="49" charset="-127"/>
              <a:ea typeface="D2Coding" panose="020B0609020101020101" pitchFamily="49" charset="-127"/>
            </a:endParaRP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시계열</a:t>
            </a:r>
            <a:r>
              <a:rPr lang="en-US" altLang="ko-KR" sz="1200" dirty="0">
                <a:latin typeface="D2Coding" panose="020B0609020101020101" pitchFamily="49" charset="-127"/>
                <a:ea typeface="D2Coding" panose="020B0609020101020101" pitchFamily="49" charset="-127"/>
              </a:rPr>
              <a:t>, </a:t>
            </a:r>
            <a:r>
              <a:rPr lang="ko-KR" altLang="en-US" sz="1200" dirty="0">
                <a:latin typeface="D2Coding" panose="020B0609020101020101" pitchFamily="49" charset="-127"/>
                <a:ea typeface="D2Coding" panose="020B0609020101020101" pitchFamily="49" charset="-127"/>
              </a:rPr>
              <a:t>문장 등과 같은 순서가 있는 데이터에 적합</a:t>
            </a:r>
          </a:p>
          <a:p>
            <a:pPr marL="742950" lvl="1" indent="-285750">
              <a:buFont typeface="Wingdings" panose="05000000000000000000" pitchFamily="2" charset="2"/>
              <a:buChar char="§"/>
            </a:pPr>
            <a:r>
              <a:rPr lang="en-US" altLang="ko-KR" sz="1200" dirty="0">
                <a:latin typeface="D2Coding" panose="020B0609020101020101" pitchFamily="49" charset="-127"/>
                <a:ea typeface="D2Coding" panose="020B0609020101020101" pitchFamily="49" charset="-127"/>
              </a:rPr>
              <a:t>RNN/LSTM</a:t>
            </a:r>
            <a:r>
              <a:rPr lang="ko-KR" altLang="en-US" sz="1200" dirty="0">
                <a:latin typeface="D2Coding" panose="020B0609020101020101" pitchFamily="49" charset="-127"/>
                <a:ea typeface="D2Coding" panose="020B0609020101020101" pitchFamily="49" charset="-127"/>
              </a:rPr>
              <a:t>의 한계 </a:t>
            </a:r>
          </a:p>
          <a:p>
            <a:pPr marL="1200150" lvl="2" indent="-285750">
              <a:buFont typeface="Wingdings" panose="05000000000000000000" pitchFamily="2" charset="2"/>
              <a:buChar char="§"/>
            </a:pPr>
            <a:r>
              <a:rPr lang="ko-KR" altLang="en-US" sz="1100" dirty="0">
                <a:latin typeface="D2Coding" panose="020B0609020101020101" pitchFamily="49" charset="-127"/>
                <a:ea typeface="D2Coding" panose="020B0609020101020101" pitchFamily="49" charset="-127"/>
              </a:rPr>
              <a:t>긴 시퀀스에서 중요한 문맥 정보</a:t>
            </a:r>
            <a:r>
              <a:rPr lang="en-US" altLang="ko-KR" sz="1100" dirty="0">
                <a:latin typeface="D2Coding" panose="020B0609020101020101" pitchFamily="49" charset="-127"/>
                <a:ea typeface="D2Coding" panose="020B0609020101020101" pitchFamily="49" charset="-127"/>
              </a:rPr>
              <a:t>(context)</a:t>
            </a:r>
            <a:r>
              <a:rPr lang="ko-KR" altLang="en-US" sz="1100" dirty="0">
                <a:latin typeface="D2Coding" panose="020B0609020101020101" pitchFamily="49" charset="-127"/>
                <a:ea typeface="D2Coding" panose="020B0609020101020101" pitchFamily="49" charset="-127"/>
              </a:rPr>
              <a:t>를 포착하기 어려움 </a:t>
            </a:r>
          </a:p>
          <a:p>
            <a:pPr marL="1200150" lvl="2" indent="-285750">
              <a:buFont typeface="Wingdings" panose="05000000000000000000" pitchFamily="2" charset="2"/>
              <a:buChar char="§"/>
            </a:pPr>
            <a:r>
              <a:rPr lang="ko-KR" altLang="en-US" sz="1100" dirty="0">
                <a:latin typeface="D2Coding" panose="020B0609020101020101" pitchFamily="49" charset="-127"/>
                <a:ea typeface="D2Coding" panose="020B0609020101020101" pitchFamily="49" charset="-127"/>
              </a:rPr>
              <a:t>긴 문장을 처리할수록 학습 시간이 증가</a:t>
            </a:r>
            <a:endParaRPr lang="en-US" altLang="ko-KR" sz="1100" dirty="0">
              <a:latin typeface="D2Coding" panose="020B0609020101020101" pitchFamily="49" charset="-127"/>
              <a:ea typeface="D2Coding" panose="020B0609020101020101" pitchFamily="49" charset="-127"/>
            </a:endParaRPr>
          </a:p>
          <a:p>
            <a:pPr marL="1200150" lvl="2" indent="-285750">
              <a:buFont typeface="Wingdings" panose="05000000000000000000" pitchFamily="2" charset="2"/>
              <a:buChar char="§"/>
            </a:pPr>
            <a:endParaRPr lang="en-US" altLang="ko-KR" sz="1400" dirty="0">
              <a:latin typeface="D2Coding" panose="020B0609020101020101" pitchFamily="49" charset="-127"/>
              <a:ea typeface="D2Coding" panose="020B0609020101020101" pitchFamily="49" charset="-127"/>
            </a:endParaRPr>
          </a:p>
          <a:p>
            <a:pPr marL="285750" indent="-285750">
              <a:buFont typeface="Wingdings" panose="05000000000000000000" pitchFamily="2" charset="2"/>
              <a:buChar char="§"/>
            </a:pPr>
            <a:r>
              <a:rPr lang="en-US" altLang="ko-KR" sz="1400" dirty="0">
                <a:latin typeface="D2Coding" panose="020B0609020101020101" pitchFamily="49" charset="-127"/>
                <a:ea typeface="D2Coding" panose="020B0609020101020101" pitchFamily="49" charset="-127"/>
              </a:rPr>
              <a:t>Word Embedding</a:t>
            </a:r>
            <a:r>
              <a:rPr lang="ko-KR" altLang="en-US" sz="1400" dirty="0">
                <a:latin typeface="D2Coding" panose="020B0609020101020101" pitchFamily="49" charset="-127"/>
                <a:ea typeface="D2Coding" panose="020B0609020101020101" pitchFamily="49" charset="-127"/>
              </a:rPr>
              <a:t>의 등장 </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단어를 벡터로 표현하는 </a:t>
            </a:r>
            <a:r>
              <a:rPr lang="ko-KR" altLang="en-US" sz="1200" dirty="0" err="1">
                <a:latin typeface="D2Coding" panose="020B0609020101020101" pitchFamily="49" charset="-127"/>
                <a:ea typeface="D2Coding" panose="020B0609020101020101" pitchFamily="49" charset="-127"/>
              </a:rPr>
              <a:t>임베딩</a:t>
            </a:r>
            <a:r>
              <a:rPr lang="ko-KR" altLang="en-US" sz="1200" dirty="0">
                <a:latin typeface="D2Coding" panose="020B0609020101020101" pitchFamily="49" charset="-127"/>
                <a:ea typeface="D2Coding" panose="020B0609020101020101" pitchFamily="49" charset="-127"/>
              </a:rPr>
              <a:t> 기법이 발전 </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대표적인 방법 </a:t>
            </a:r>
            <a:r>
              <a:rPr lang="en-US" altLang="ko-KR" sz="1200" dirty="0">
                <a:latin typeface="D2Coding" panose="020B0609020101020101" pitchFamily="49" charset="-127"/>
                <a:ea typeface="D2Coding" panose="020B0609020101020101" pitchFamily="49" charset="-127"/>
              </a:rPr>
              <a:t>: Word2Vec,</a:t>
            </a:r>
            <a:r>
              <a:rPr lang="ko-KR" altLang="en-US" sz="1200" dirty="0">
                <a:latin typeface="D2Coding" panose="020B0609020101020101" pitchFamily="49" charset="-127"/>
                <a:ea typeface="D2Coding" panose="020B0609020101020101" pitchFamily="49" charset="-127"/>
              </a:rPr>
              <a:t> </a:t>
            </a:r>
            <a:r>
              <a:rPr lang="en-US" altLang="ko-KR" sz="1200" dirty="0" err="1">
                <a:latin typeface="D2Coding" panose="020B0609020101020101" pitchFamily="49" charset="-127"/>
                <a:ea typeface="D2Coding" panose="020B0609020101020101" pitchFamily="49" charset="-127"/>
              </a:rPr>
              <a:t>GloVe</a:t>
            </a:r>
            <a:r>
              <a:rPr lang="en-US" altLang="ko-KR" sz="1200" dirty="0">
                <a:latin typeface="D2Coding" panose="020B0609020101020101" pitchFamily="49" charset="-127"/>
                <a:ea typeface="D2Coding" panose="020B0609020101020101" pitchFamily="49" charset="-127"/>
              </a:rPr>
              <a:t>, </a:t>
            </a:r>
            <a:r>
              <a:rPr lang="en-US" altLang="ko-KR" sz="1200" dirty="0" err="1">
                <a:latin typeface="D2Coding" panose="020B0609020101020101" pitchFamily="49" charset="-127"/>
                <a:ea typeface="D2Coding" panose="020B0609020101020101" pitchFamily="49" charset="-127"/>
              </a:rPr>
              <a:t>FastText</a:t>
            </a:r>
            <a:r>
              <a:rPr lang="ko-KR" altLang="en-US" sz="1200" dirty="0">
                <a:latin typeface="D2Coding" panose="020B0609020101020101" pitchFamily="49" charset="-127"/>
                <a:ea typeface="D2Coding" panose="020B0609020101020101" pitchFamily="49" charset="-127"/>
              </a:rPr>
              <a:t> </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기존 </a:t>
            </a:r>
            <a:r>
              <a:rPr lang="en-US" altLang="ko-KR" sz="1200" dirty="0">
                <a:latin typeface="D2Coding" panose="020B0609020101020101" pitchFamily="49" charset="-127"/>
                <a:ea typeface="D2Coding" panose="020B0609020101020101" pitchFamily="49" charset="-127"/>
              </a:rPr>
              <a:t>Word Embedding</a:t>
            </a:r>
            <a:r>
              <a:rPr lang="ko-KR" altLang="en-US" sz="1200" dirty="0">
                <a:latin typeface="D2Coding" panose="020B0609020101020101" pitchFamily="49" charset="-127"/>
                <a:ea typeface="D2Coding" panose="020B0609020101020101" pitchFamily="49" charset="-127"/>
              </a:rPr>
              <a:t>의 한계 </a:t>
            </a:r>
          </a:p>
          <a:p>
            <a:pPr marL="1200150" lvl="2" indent="-285750">
              <a:buFont typeface="Wingdings" panose="05000000000000000000" pitchFamily="2" charset="2"/>
              <a:buChar char="§"/>
            </a:pPr>
            <a:r>
              <a:rPr lang="ko-KR" altLang="en-US" sz="1100" dirty="0">
                <a:latin typeface="D2Coding" panose="020B0609020101020101" pitchFamily="49" charset="-127"/>
                <a:ea typeface="D2Coding" panose="020B0609020101020101" pitchFamily="49" charset="-127"/>
              </a:rPr>
              <a:t>문장이나 주변 단어에 따라 달라지는 문맥적 의미</a:t>
            </a:r>
            <a:r>
              <a:rPr lang="en-US" altLang="ko-KR" sz="1100" dirty="0">
                <a:latin typeface="D2Coding" panose="020B0609020101020101" pitchFamily="49" charset="-127"/>
                <a:ea typeface="D2Coding" panose="020B0609020101020101" pitchFamily="49" charset="-127"/>
              </a:rPr>
              <a:t>(contextual meaning)</a:t>
            </a:r>
            <a:r>
              <a:rPr lang="ko-KR" altLang="en-US" sz="1100" dirty="0">
                <a:latin typeface="D2Coding" panose="020B0609020101020101" pitchFamily="49" charset="-127"/>
                <a:ea typeface="D2Coding" panose="020B0609020101020101" pitchFamily="49" charset="-127"/>
              </a:rPr>
              <a:t>를 반영하기 어려움</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예</a:t>
            </a:r>
            <a:r>
              <a:rPr lang="en-US" altLang="ko-KR" sz="1100" dirty="0">
                <a:latin typeface="D2Coding" panose="020B0609020101020101" pitchFamily="49" charset="-127"/>
                <a:ea typeface="D2Coding" panose="020B0609020101020101" pitchFamily="49" charset="-127"/>
              </a:rPr>
              <a:t>: </a:t>
            </a:r>
            <a:r>
              <a:rPr lang="en-US" altLang="ko-KR" sz="1100" i="1" dirty="0">
                <a:latin typeface="D2Coding" panose="020B0609020101020101" pitchFamily="49" charset="-127"/>
                <a:ea typeface="D2Coding" panose="020B0609020101020101" pitchFamily="49" charset="-127"/>
              </a:rPr>
              <a:t>bank</a:t>
            </a:r>
            <a:r>
              <a:rPr lang="ko-KR" altLang="en-US" sz="1100" dirty="0">
                <a:latin typeface="D2Coding" panose="020B0609020101020101" pitchFamily="49" charset="-127"/>
                <a:ea typeface="D2Coding" panose="020B0609020101020101" pitchFamily="49" charset="-127"/>
              </a:rPr>
              <a:t>가 문맥에 따라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은행</a:t>
            </a:r>
            <a:r>
              <a:rPr lang="en-US" altLang="ko-KR" sz="1100" dirty="0">
                <a:latin typeface="D2Coding" panose="020B0609020101020101" pitchFamily="49" charset="-127"/>
                <a:ea typeface="D2Coding" panose="020B0609020101020101" pitchFamily="49" charset="-127"/>
              </a:rPr>
              <a:t>' </a:t>
            </a:r>
            <a:r>
              <a:rPr lang="ko-KR" altLang="en-US" sz="1100" dirty="0">
                <a:latin typeface="D2Coding" panose="020B0609020101020101" pitchFamily="49" charset="-127"/>
                <a:ea typeface="D2Coding" panose="020B0609020101020101" pitchFamily="49" charset="-127"/>
              </a:rPr>
              <a:t>또는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강둑</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을 의미하는 차이를 제대로 표현하기 어려움</a:t>
            </a:r>
            <a:r>
              <a:rPr lang="en-US" altLang="ko-KR" sz="1100" dirty="0">
                <a:latin typeface="D2Coding" panose="020B0609020101020101" pitchFamily="49" charset="-127"/>
                <a:ea typeface="D2Coding" panose="020B0609020101020101" pitchFamily="49" charset="-127"/>
              </a:rPr>
              <a:t>)</a:t>
            </a:r>
          </a:p>
          <a:p>
            <a:pPr marL="1200150" lvl="2" indent="-285750">
              <a:buFont typeface="Wingdings" panose="05000000000000000000" pitchFamily="2" charset="2"/>
              <a:buChar char="§"/>
            </a:pPr>
            <a:endParaRPr lang="ko-KR" altLang="en-US" sz="1400" dirty="0">
              <a:latin typeface="D2Coding" panose="020B0609020101020101" pitchFamily="49" charset="-127"/>
              <a:ea typeface="D2Coding" panose="020B0609020101020101" pitchFamily="49" charset="-127"/>
            </a:endParaRPr>
          </a:p>
          <a:p>
            <a:pPr marL="285750" indent="-285750">
              <a:buFont typeface="Wingdings" panose="05000000000000000000" pitchFamily="2" charset="2"/>
              <a:buChar char="§"/>
            </a:pPr>
            <a:r>
              <a:rPr lang="en-US" altLang="ko-KR" sz="1400" dirty="0">
                <a:latin typeface="D2Coding" panose="020B0609020101020101" pitchFamily="49" charset="-127"/>
                <a:ea typeface="D2Coding" panose="020B0609020101020101" pitchFamily="49" charset="-127"/>
              </a:rPr>
              <a:t>Contextual Embedding</a:t>
            </a:r>
            <a:r>
              <a:rPr lang="ko-KR" altLang="en-US" sz="1400" dirty="0">
                <a:latin typeface="D2Coding" panose="020B0609020101020101" pitchFamily="49" charset="-127"/>
                <a:ea typeface="D2Coding" panose="020B0609020101020101" pitchFamily="49" charset="-127"/>
              </a:rPr>
              <a:t>으로 발전 </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대규모 사전학습 언어모델</a:t>
            </a:r>
            <a:r>
              <a:rPr lang="en-US" altLang="ko-KR" sz="1200" dirty="0">
                <a:latin typeface="D2Coding" panose="020B0609020101020101" pitchFamily="49" charset="-127"/>
                <a:ea typeface="D2Coding" panose="020B0609020101020101" pitchFamily="49" charset="-127"/>
              </a:rPr>
              <a:t>(Pre-trained Language Model)</a:t>
            </a:r>
            <a:r>
              <a:rPr lang="ko-KR" altLang="en-US" sz="1200" dirty="0">
                <a:latin typeface="D2Coding" panose="020B0609020101020101" pitchFamily="49" charset="-127"/>
                <a:ea typeface="D2Coding" panose="020B0609020101020101" pitchFamily="49" charset="-127"/>
              </a:rPr>
              <a:t> 등장</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단어 자체와 주변 문맥을 고려하여 단어의 벡터 표현을 생성 </a:t>
            </a:r>
          </a:p>
          <a:p>
            <a:pPr marL="742950" lvl="1" indent="-285750">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이후 </a:t>
            </a:r>
            <a:r>
              <a:rPr lang="en-US" altLang="ko-KR" sz="1200" dirty="0">
                <a:latin typeface="D2Coding" panose="020B0609020101020101" pitchFamily="49" charset="-127"/>
                <a:ea typeface="D2Coding" panose="020B0609020101020101" pitchFamily="49" charset="-127"/>
              </a:rPr>
              <a:t>BERT, GPT</a:t>
            </a:r>
            <a:r>
              <a:rPr lang="ko-KR" altLang="en-US" sz="1200" dirty="0">
                <a:latin typeface="D2Coding" panose="020B0609020101020101" pitchFamily="49" charset="-127"/>
                <a:ea typeface="D2Coding" panose="020B0609020101020101" pitchFamily="49" charset="-127"/>
              </a:rPr>
              <a:t>와 같은 </a:t>
            </a:r>
            <a:r>
              <a:rPr lang="en-US" altLang="ko-KR" sz="1200" dirty="0">
                <a:latin typeface="D2Coding" panose="020B0609020101020101" pitchFamily="49" charset="-127"/>
                <a:ea typeface="D2Coding" panose="020B0609020101020101" pitchFamily="49" charset="-127"/>
              </a:rPr>
              <a:t>Transformer </a:t>
            </a:r>
            <a:r>
              <a:rPr lang="ko-KR" altLang="en-US" sz="1200" dirty="0">
                <a:latin typeface="D2Coding" panose="020B0609020101020101" pitchFamily="49" charset="-127"/>
                <a:ea typeface="D2Coding" panose="020B0609020101020101" pitchFamily="49" charset="-127"/>
              </a:rPr>
              <a:t>기반 언어모델로 발전함</a:t>
            </a:r>
            <a:r>
              <a:rPr lang="ko-KR" altLang="en-US" sz="1400" dirty="0">
                <a:latin typeface="D2Coding" panose="020B0609020101020101" pitchFamily="49" charset="-127"/>
                <a:ea typeface="D2Coding" panose="020B0609020101020101" pitchFamily="49" charset="-127"/>
              </a:rPr>
              <a:t> </a:t>
            </a:r>
          </a:p>
        </p:txBody>
      </p:sp>
      <p:sp>
        <p:nvSpPr>
          <p:cNvPr id="10" name="TextBox 9">
            <a:extLst>
              <a:ext uri="{FF2B5EF4-FFF2-40B4-BE49-F238E27FC236}">
                <a16:creationId xmlns:a16="http://schemas.microsoft.com/office/drawing/2014/main" id="{25D98A1F-877F-18FD-5084-0F7FD34C0823}"/>
              </a:ext>
            </a:extLst>
          </p:cNvPr>
          <p:cNvSpPr txBox="1"/>
          <p:nvPr/>
        </p:nvSpPr>
        <p:spPr>
          <a:xfrm>
            <a:off x="552450" y="1282154"/>
            <a:ext cx="11087100"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RNN/LSTM/GRU → Word2Vec → Transformer/Contextual Embedding → Pre-Trained LLM</a:t>
            </a:r>
          </a:p>
        </p:txBody>
      </p:sp>
    </p:spTree>
    <p:extLst>
      <p:ext uri="{BB962C8B-B14F-4D97-AF65-F5344CB8AC3E}">
        <p14:creationId xmlns:p14="http://schemas.microsoft.com/office/powerpoint/2010/main" val="2345501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3ECCC-4735-F731-4379-48451D093E8D}"/>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30850BA0-0F12-F065-F39D-E210B0964FC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Telephone Game(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말 전달하기 게임</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1" name="TextBox 10">
            <a:extLst>
              <a:ext uri="{FF2B5EF4-FFF2-40B4-BE49-F238E27FC236}">
                <a16:creationId xmlns:a16="http://schemas.microsoft.com/office/drawing/2014/main" id="{DF65489D-6F2A-9B19-C55E-FAB775A3AAFD}"/>
              </a:ext>
            </a:extLst>
          </p:cNvPr>
          <p:cNvSpPr txBox="1"/>
          <p:nvPr/>
        </p:nvSpPr>
        <p:spPr>
          <a:xfrm>
            <a:off x="1370616" y="5666929"/>
            <a:ext cx="7407624" cy="369332"/>
          </a:xfrm>
          <a:prstGeom prst="rect">
            <a:avLst/>
          </a:prstGeom>
          <a:noFill/>
        </p:spPr>
        <p:txBody>
          <a:bodyPr wrap="square" rtlCol="0">
            <a:spAutoFit/>
          </a:bodyPr>
          <a:lstStyle/>
          <a:p>
            <a:r>
              <a:rPr lang="en-US" altLang="ko-KR" dirty="0">
                <a:latin typeface="Cascadia Code" panose="020B0609020000020004" pitchFamily="49" charset="0"/>
                <a:ea typeface="Cascadia Code" panose="020B0609020000020004" pitchFamily="49" charset="0"/>
                <a:cs typeface="Cascadia Code" panose="020B0609020000020004" pitchFamily="49" charset="0"/>
              </a:rPr>
              <a:t>I	am	  your	      father</a:t>
            </a:r>
            <a:endParaRPr lang="ko-KR" altLang="en-US" dirty="0">
              <a:latin typeface="Cascadia Code" panose="020B0609020000020004" pitchFamily="49" charset="0"/>
              <a:cs typeface="Cascadia Code" panose="020B0609020000020004" pitchFamily="49" charset="0"/>
            </a:endParaRPr>
          </a:p>
        </p:txBody>
      </p:sp>
      <p:pic>
        <p:nvPicPr>
          <p:cNvPr id="4104" name="Picture 8" descr="Parlour Games During the Holidays: Hapny FolvdaKs">
            <a:extLst>
              <a:ext uri="{FF2B5EF4-FFF2-40B4-BE49-F238E27FC236}">
                <a16:creationId xmlns:a16="http://schemas.microsoft.com/office/drawing/2014/main" id="{2F58ED32-CC7E-7F05-8BEF-5EB9936AE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6041" y="1841058"/>
            <a:ext cx="5403850" cy="3602567"/>
          </a:xfrm>
          <a:prstGeom prst="rect">
            <a:avLst/>
          </a:prstGeom>
          <a:noFill/>
          <a:extLst>
            <a:ext uri="{909E8E84-426E-40DD-AFC4-6F175D3DCCD1}">
              <a14:hiddenFill xmlns:a14="http://schemas.microsoft.com/office/drawing/2010/main">
                <a:solidFill>
                  <a:srgbClr val="FFFFFF"/>
                </a:solidFill>
              </a14:hiddenFill>
            </a:ext>
          </a:extLst>
        </p:spPr>
      </p:pic>
      <p:sp>
        <p:nvSpPr>
          <p:cNvPr id="2" name="슬라이드 번호 개체 틀 3">
            <a:extLst>
              <a:ext uri="{FF2B5EF4-FFF2-40B4-BE49-F238E27FC236}">
                <a16:creationId xmlns:a16="http://schemas.microsoft.com/office/drawing/2014/main" id="{3DD0566A-E880-8D26-CCF0-91CC50E3A5C9}"/>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037908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1080-7482-4F78-0B32-9350845B42DF}"/>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DBF09144-883D-B590-22EC-22EF9122830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pic>
        <p:nvPicPr>
          <p:cNvPr id="7" name="그림 6">
            <a:extLst>
              <a:ext uri="{FF2B5EF4-FFF2-40B4-BE49-F238E27FC236}">
                <a16:creationId xmlns:a16="http://schemas.microsoft.com/office/drawing/2014/main" id="{10911C56-8BA1-1A77-1C57-C79246EF5C86}"/>
              </a:ext>
            </a:extLst>
          </p:cNvPr>
          <p:cNvPicPr>
            <a:picLocks noChangeAspect="1"/>
          </p:cNvPicPr>
          <p:nvPr/>
        </p:nvPicPr>
        <p:blipFill>
          <a:blip r:embed="rId2"/>
          <a:stretch>
            <a:fillRect/>
          </a:stretch>
        </p:blipFill>
        <p:spPr>
          <a:xfrm>
            <a:off x="1147115" y="2213264"/>
            <a:ext cx="9898714" cy="3139786"/>
          </a:xfrm>
          <a:prstGeom prst="rect">
            <a:avLst/>
          </a:prstGeom>
          <a:ln>
            <a:solidFill>
              <a:schemeClr val="tx1"/>
            </a:solidFill>
          </a:ln>
        </p:spPr>
      </p:pic>
      <p:sp>
        <p:nvSpPr>
          <p:cNvPr id="2" name="슬라이드 번호 개체 틀 3">
            <a:extLst>
              <a:ext uri="{FF2B5EF4-FFF2-40B4-BE49-F238E27FC236}">
                <a16:creationId xmlns:a16="http://schemas.microsoft.com/office/drawing/2014/main" id="{6AE85520-4C86-33A3-9B1D-8BA3330845C3}"/>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77090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6C76B-008C-2905-1A50-E9DB209C3FD6}"/>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A3100F7E-4731-5006-17AF-63F625E82E6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Moving Average</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6" name="그림 5">
            <a:extLst>
              <a:ext uri="{FF2B5EF4-FFF2-40B4-BE49-F238E27FC236}">
                <a16:creationId xmlns:a16="http://schemas.microsoft.com/office/drawing/2014/main" id="{A0F176D1-2DC8-E066-E4B5-9BE6D007C07E}"/>
              </a:ext>
            </a:extLst>
          </p:cNvPr>
          <p:cNvPicPr>
            <a:picLocks noChangeAspect="1"/>
          </p:cNvPicPr>
          <p:nvPr/>
        </p:nvPicPr>
        <p:blipFill>
          <a:blip r:embed="rId2"/>
          <a:stretch>
            <a:fillRect/>
          </a:stretch>
        </p:blipFill>
        <p:spPr>
          <a:xfrm>
            <a:off x="630354" y="1652136"/>
            <a:ext cx="4625741" cy="4633362"/>
          </a:xfrm>
          <a:prstGeom prst="rect">
            <a:avLst/>
          </a:prstGeom>
          <a:ln>
            <a:solidFill>
              <a:schemeClr val="tx1"/>
            </a:solidFill>
          </a:ln>
        </p:spPr>
      </p:pic>
      <p:graphicFrame>
        <p:nvGraphicFramePr>
          <p:cNvPr id="8" name="차트 7">
            <a:extLst>
              <a:ext uri="{FF2B5EF4-FFF2-40B4-BE49-F238E27FC236}">
                <a16:creationId xmlns:a16="http://schemas.microsoft.com/office/drawing/2014/main" id="{00000000-0008-0000-0000-000005000000}"/>
              </a:ext>
            </a:extLst>
          </p:cNvPr>
          <p:cNvGraphicFramePr>
            <a:graphicFrameLocks/>
          </p:cNvGraphicFramePr>
          <p:nvPr>
            <p:extLst>
              <p:ext uri="{D42A27DB-BD31-4B8C-83A1-F6EECF244321}">
                <p14:modId xmlns:p14="http://schemas.microsoft.com/office/powerpoint/2010/main" val="161405110"/>
              </p:ext>
            </p:extLst>
          </p:nvPr>
        </p:nvGraphicFramePr>
        <p:xfrm>
          <a:off x="5966613" y="1652136"/>
          <a:ext cx="4967569" cy="2986114"/>
        </p:xfrm>
        <a:graphic>
          <a:graphicData uri="http://schemas.openxmlformats.org/drawingml/2006/chart">
            <c:chart xmlns:c="http://schemas.openxmlformats.org/drawingml/2006/chart" xmlns:r="http://schemas.openxmlformats.org/officeDocument/2006/relationships" r:id="rId3"/>
          </a:graphicData>
        </a:graphic>
      </p:graphicFrame>
      <p:pic>
        <p:nvPicPr>
          <p:cNvPr id="10" name="그래픽 9" descr="수영">
            <a:extLst>
              <a:ext uri="{FF2B5EF4-FFF2-40B4-BE49-F238E27FC236}">
                <a16:creationId xmlns:a16="http://schemas.microsoft.com/office/drawing/2014/main" id="{DAC0FC94-84C9-5805-234C-5DBCF9F3A8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7520" y="334022"/>
            <a:ext cx="914400" cy="914400"/>
          </a:xfrm>
          <a:prstGeom prst="rect">
            <a:avLst/>
          </a:prstGeom>
        </p:spPr>
      </p:pic>
      <p:sp>
        <p:nvSpPr>
          <p:cNvPr id="11" name="슬라이드 번호 개체 틀 3">
            <a:extLst>
              <a:ext uri="{FF2B5EF4-FFF2-40B4-BE49-F238E27FC236}">
                <a16:creationId xmlns:a16="http://schemas.microsoft.com/office/drawing/2014/main" id="{7B51214B-BB11-BFFA-939F-4C8CD7DA6998}"/>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F44B0F3-25E6-A657-77F4-ED64D91CE0E2}"/>
              </a:ext>
            </a:extLst>
          </p:cNvPr>
          <p:cNvSpPr txBox="1"/>
          <p:nvPr/>
        </p:nvSpPr>
        <p:spPr>
          <a:xfrm>
            <a:off x="512864" y="1248422"/>
            <a:ext cx="1826141" cy="338554"/>
          </a:xfrm>
          <a:prstGeom prst="rect">
            <a:avLst/>
          </a:prstGeom>
          <a:noFill/>
        </p:spPr>
        <p:txBody>
          <a:bodyPr wrap="none" rtlCol="0">
            <a:spAutoFit/>
          </a:bodyPr>
          <a:lstStyle/>
          <a:p>
            <a:r>
              <a:rPr lang="en-US" altLang="ko-KR" sz="1600" dirty="0">
                <a:latin typeface="D2Coding" panose="020B0609020101020101" pitchFamily="49" charset="-127"/>
                <a:ea typeface="D2Coding" panose="020B0609020101020101" pitchFamily="49" charset="-127"/>
                <a:hlinkClick r:id="rId6"/>
              </a:rPr>
              <a:t>Time-series.xlsx</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318467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D545-01B9-42DC-014A-776F0B2F6D32}"/>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1562E2A-48A6-3853-F957-4FA25B8D140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Supervised learning </a:t>
            </a:r>
            <a:r>
              <a:rPr lang="en-US" altLang="ko-KR" sz="1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(transform time series to a supervised learning)</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3" name="그림 12">
            <a:extLst>
              <a:ext uri="{FF2B5EF4-FFF2-40B4-BE49-F238E27FC236}">
                <a16:creationId xmlns:a16="http://schemas.microsoft.com/office/drawing/2014/main" id="{A1D2B3F2-9FD1-7767-CC7D-8C2CE33C56A2}"/>
              </a:ext>
            </a:extLst>
          </p:cNvPr>
          <p:cNvPicPr>
            <a:picLocks noChangeAspect="1"/>
          </p:cNvPicPr>
          <p:nvPr/>
        </p:nvPicPr>
        <p:blipFill>
          <a:blip r:embed="rId2"/>
          <a:stretch>
            <a:fillRect/>
          </a:stretch>
        </p:blipFill>
        <p:spPr>
          <a:xfrm>
            <a:off x="586526" y="1894080"/>
            <a:ext cx="4922947" cy="4534293"/>
          </a:xfrm>
          <a:prstGeom prst="rect">
            <a:avLst/>
          </a:prstGeom>
          <a:ln>
            <a:solidFill>
              <a:schemeClr val="tx1"/>
            </a:solidFill>
          </a:ln>
        </p:spPr>
      </p:pic>
      <p:pic>
        <p:nvPicPr>
          <p:cNvPr id="1026" name="Picture 2">
            <a:extLst>
              <a:ext uri="{FF2B5EF4-FFF2-40B4-BE49-F238E27FC236}">
                <a16:creationId xmlns:a16="http://schemas.microsoft.com/office/drawing/2014/main" id="{FB3A6A14-45C9-B528-EE98-AEECF53B1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706" y="1894080"/>
            <a:ext cx="5922987" cy="26324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9" name="그림 18">
            <a:extLst>
              <a:ext uri="{FF2B5EF4-FFF2-40B4-BE49-F238E27FC236}">
                <a16:creationId xmlns:a16="http://schemas.microsoft.com/office/drawing/2014/main" id="{B1CBAD0A-73E6-6978-01EF-974B3D3275EA}"/>
              </a:ext>
            </a:extLst>
          </p:cNvPr>
          <p:cNvPicPr>
            <a:picLocks noChangeAspect="1"/>
          </p:cNvPicPr>
          <p:nvPr/>
        </p:nvPicPr>
        <p:blipFill>
          <a:blip r:embed="rId4"/>
          <a:stretch>
            <a:fillRect/>
          </a:stretch>
        </p:blipFill>
        <p:spPr>
          <a:xfrm>
            <a:off x="8407407" y="5537498"/>
            <a:ext cx="2032691" cy="580769"/>
          </a:xfrm>
          <a:prstGeom prst="rect">
            <a:avLst/>
          </a:prstGeom>
          <a:ln>
            <a:solidFill>
              <a:schemeClr val="tx1"/>
            </a:solidFill>
          </a:ln>
        </p:spPr>
      </p:pic>
      <p:sp>
        <p:nvSpPr>
          <p:cNvPr id="21" name="TextBox 20">
            <a:extLst>
              <a:ext uri="{FF2B5EF4-FFF2-40B4-BE49-F238E27FC236}">
                <a16:creationId xmlns:a16="http://schemas.microsoft.com/office/drawing/2014/main" id="{B1524DAB-EF70-3649-069E-FB29009BA9B5}"/>
              </a:ext>
            </a:extLst>
          </p:cNvPr>
          <p:cNvSpPr txBox="1"/>
          <p:nvPr/>
        </p:nvSpPr>
        <p:spPr>
          <a:xfrm>
            <a:off x="8371957" y="5184624"/>
            <a:ext cx="2895600" cy="338554"/>
          </a:xfrm>
          <a:prstGeom prst="rect">
            <a:avLst/>
          </a:prstGeom>
          <a:noFill/>
        </p:spPr>
        <p:txBody>
          <a:bodyPr wrap="square">
            <a:spAutoFit/>
          </a:bodyPr>
          <a:lstStyle/>
          <a:p>
            <a:r>
              <a:rPr lang="ko-KR" altLang="en-US"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단순회귀식 </a:t>
            </a:r>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a:t>
            </a:r>
            <a:r>
              <a:rPr lang="ko-KR" altLang="en-US"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선형 가정</a:t>
            </a:r>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a:t>
            </a:r>
            <a:endParaRPr lang="ko-KR" altLang="en-US" sz="1600" dirty="0"/>
          </a:p>
        </p:txBody>
      </p:sp>
      <p:pic>
        <p:nvPicPr>
          <p:cNvPr id="23" name="그림 22">
            <a:extLst>
              <a:ext uri="{FF2B5EF4-FFF2-40B4-BE49-F238E27FC236}">
                <a16:creationId xmlns:a16="http://schemas.microsoft.com/office/drawing/2014/main" id="{CA10773C-5E82-8292-CCD8-D1E81587E8A6}"/>
              </a:ext>
            </a:extLst>
          </p:cNvPr>
          <p:cNvPicPr>
            <a:picLocks noChangeAspect="1"/>
          </p:cNvPicPr>
          <p:nvPr/>
        </p:nvPicPr>
        <p:blipFill>
          <a:blip r:embed="rId5"/>
          <a:stretch>
            <a:fillRect/>
          </a:stretch>
        </p:blipFill>
        <p:spPr>
          <a:xfrm>
            <a:off x="6005939" y="5573924"/>
            <a:ext cx="1838735" cy="388726"/>
          </a:xfrm>
          <a:prstGeom prst="rect">
            <a:avLst/>
          </a:prstGeom>
          <a:ln>
            <a:solidFill>
              <a:schemeClr val="tx1"/>
            </a:solidFill>
          </a:ln>
        </p:spPr>
      </p:pic>
      <p:pic>
        <p:nvPicPr>
          <p:cNvPr id="24" name="그래픽 23" descr="수영">
            <a:extLst>
              <a:ext uri="{FF2B5EF4-FFF2-40B4-BE49-F238E27FC236}">
                <a16:creationId xmlns:a16="http://schemas.microsoft.com/office/drawing/2014/main" id="{690620EF-DDF4-59B8-9B46-98952D049F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37520" y="334022"/>
            <a:ext cx="914400" cy="914400"/>
          </a:xfrm>
          <a:prstGeom prst="rect">
            <a:avLst/>
          </a:prstGeom>
        </p:spPr>
      </p:pic>
      <p:sp>
        <p:nvSpPr>
          <p:cNvPr id="26" name="슬라이드 번호 개체 틀 3">
            <a:extLst>
              <a:ext uri="{FF2B5EF4-FFF2-40B4-BE49-F238E27FC236}">
                <a16:creationId xmlns:a16="http://schemas.microsoft.com/office/drawing/2014/main" id="{D2FC8BF6-B949-0199-CEC4-78897A4F0F16}"/>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8</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8B9067A-F393-4C96-135E-D7857515EF86}"/>
              </a:ext>
            </a:extLst>
          </p:cNvPr>
          <p:cNvSpPr txBox="1"/>
          <p:nvPr/>
        </p:nvSpPr>
        <p:spPr>
          <a:xfrm>
            <a:off x="611197" y="1248422"/>
            <a:ext cx="10940723" cy="369332"/>
          </a:xfrm>
          <a:prstGeom prst="rect">
            <a:avLst/>
          </a:prstGeom>
          <a:noFill/>
        </p:spPr>
        <p:txBody>
          <a:bodyPr wrap="square" rtlCol="0">
            <a:spAutoFit/>
          </a:bodyPr>
          <a:lstStyle/>
          <a:p>
            <a:r>
              <a:rPr lang="ko-KR" altLang="en-US" dirty="0">
                <a:latin typeface="D2Coding" panose="020B0609020101020101" pitchFamily="49" charset="-127"/>
                <a:ea typeface="D2Coding" panose="020B0609020101020101" pitchFamily="49" charset="-127"/>
              </a:rPr>
              <a:t>과거</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온도 정보를 통해 내일 온도를 예측 </a:t>
            </a:r>
            <a:r>
              <a:rPr lang="en-US" altLang="ko-KR" sz="1600" dirty="0">
                <a:latin typeface="D2Coding" panose="020B0609020101020101" pitchFamily="49" charset="-127"/>
                <a:ea typeface="D2Coding" panose="020B0609020101020101" pitchFamily="49" charset="-127"/>
              </a:rPr>
              <a:t>(Sliding window with one-step &amp; single value forecast)</a:t>
            </a:r>
            <a:endParaRPr lang="ko-KR" altLang="en-US"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684610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6306-EF36-7ACA-29E4-98B9519DA4FE}"/>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87D88B32-2DC9-7D5D-8C8F-6F4164B47EDB}"/>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 single variate with single sliding window</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5" name="TextBox 14">
            <a:extLst>
              <a:ext uri="{FF2B5EF4-FFF2-40B4-BE49-F238E27FC236}">
                <a16:creationId xmlns:a16="http://schemas.microsoft.com/office/drawing/2014/main" id="{5EDFC731-012E-F887-2646-21377D060091}"/>
              </a:ext>
            </a:extLst>
          </p:cNvPr>
          <p:cNvSpPr txBox="1"/>
          <p:nvPr/>
        </p:nvSpPr>
        <p:spPr>
          <a:xfrm>
            <a:off x="2834961" y="2296941"/>
            <a:ext cx="2819400" cy="369332"/>
          </a:xfrm>
          <a:prstGeom prst="rect">
            <a:avLst/>
          </a:prstGeom>
          <a:solidFill>
            <a:schemeClr val="tx1"/>
          </a:solidFill>
        </p:spPr>
        <p:txBody>
          <a:bodyPr wrap="square">
            <a:spAutoFit/>
          </a:bodyPr>
          <a:lstStyle/>
          <a:p>
            <a:pPr algn="ctr"/>
            <a:r>
              <a:rPr lang="en-US" altLang="ko-KR" dirty="0">
                <a:solidFill>
                  <a:schemeClr val="bg1"/>
                </a:solidFill>
                <a:latin typeface="D2Coding" panose="020B0609020101020101" pitchFamily="49" charset="-127"/>
                <a:ea typeface="D2Coding" panose="020B0609020101020101" pitchFamily="49" charset="-127"/>
              </a:rPr>
              <a:t>1-step sliding window</a:t>
            </a:r>
            <a:endParaRPr lang="ko-KR" altLang="en-US" dirty="0">
              <a:solidFill>
                <a:schemeClr val="bg1"/>
              </a:solidFill>
              <a:latin typeface="D2Coding" panose="020B0609020101020101" pitchFamily="49" charset="-127"/>
              <a:ea typeface="D2Coding" panose="020B0609020101020101" pitchFamily="49" charset="-127"/>
            </a:endParaRPr>
          </a:p>
        </p:txBody>
      </p:sp>
      <p:sp>
        <p:nvSpPr>
          <p:cNvPr id="17" name="TextBox 16">
            <a:extLst>
              <a:ext uri="{FF2B5EF4-FFF2-40B4-BE49-F238E27FC236}">
                <a16:creationId xmlns:a16="http://schemas.microsoft.com/office/drawing/2014/main" id="{F3F04A13-BBF9-EA35-96F8-A41AD6595A47}"/>
              </a:ext>
            </a:extLst>
          </p:cNvPr>
          <p:cNvSpPr txBox="1"/>
          <p:nvPr/>
        </p:nvSpPr>
        <p:spPr>
          <a:xfrm>
            <a:off x="2834961" y="2666273"/>
            <a:ext cx="8166414" cy="2270493"/>
          </a:xfrm>
          <a:prstGeom prst="rect">
            <a:avLst/>
          </a:prstGeom>
          <a:solidFill>
            <a:srgbClr val="76E3FF"/>
          </a:solidFill>
        </p:spPr>
        <p:txBody>
          <a:bodyPr wrap="square">
            <a:spAutoFit/>
          </a:bodyPr>
          <a:lstStyle/>
          <a:p>
            <a:pPr>
              <a:lnSpc>
                <a:spcPct val="150000"/>
              </a:lnSpc>
            </a:pPr>
            <a:r>
              <a:rPr lang="ko-KR" altLang="en-US" sz="1600" dirty="0" err="1">
                <a:latin typeface="D2Coding" panose="020B0609020101020101" pitchFamily="49" charset="-127"/>
                <a:ea typeface="D2Coding" panose="020B0609020101020101" pitchFamily="49" charset="-127"/>
              </a:rPr>
              <a:t>dataset</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keras.utils.timeseries_dataset_from_array</a:t>
            </a:r>
            <a:r>
              <a:rPr lang="ko-KR" altLang="en-US" sz="1600" dirty="0">
                <a:latin typeface="D2Coding" panose="020B0609020101020101" pitchFamily="49" charset="-127"/>
                <a:ea typeface="D2Coding" panose="020B0609020101020101" pitchFamily="49" charset="-127"/>
              </a:rPr>
              <a:t>(</a:t>
            </a:r>
          </a:p>
          <a:p>
            <a:pPr>
              <a:lnSpc>
                <a:spcPct val="150000"/>
              </a:lnSpc>
            </a:pP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data</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temperature</a:t>
            </a:r>
            <a:r>
              <a:rPr lang="ko-KR" altLang="en-US" sz="1600" dirty="0">
                <a:latin typeface="D2Coding" panose="020B0609020101020101" pitchFamily="49" charset="-127"/>
                <a:ea typeface="D2Coding" panose="020B0609020101020101" pitchFamily="49" charset="-127"/>
              </a:rPr>
              <a:t>[:-1],      # </a:t>
            </a:r>
            <a:r>
              <a:rPr lang="ko-KR" altLang="en-US" sz="1600" dirty="0" err="1">
                <a:latin typeface="D2Coding" panose="020B0609020101020101" pitchFamily="49" charset="-127"/>
                <a:ea typeface="D2Coding" panose="020B0609020101020101" pitchFamily="49" charset="-127"/>
              </a:rPr>
              <a:t>x_i</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T_i</a:t>
            </a:r>
            <a:r>
              <a:rPr lang="ko-KR" altLang="en-US" sz="1600" dirty="0">
                <a:latin typeface="D2Coding" panose="020B0609020101020101" pitchFamily="49" charset="-127"/>
                <a:ea typeface="D2Coding" panose="020B0609020101020101" pitchFamily="49" charset="-127"/>
              </a:rPr>
              <a:t>  (마지막 값 제외)</a:t>
            </a:r>
          </a:p>
          <a:p>
            <a:pPr>
              <a:lnSpc>
                <a:spcPct val="150000"/>
              </a:lnSpc>
            </a:pP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targets</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temperature</a:t>
            </a:r>
            <a:r>
              <a:rPr lang="ko-KR" altLang="en-US" sz="1600" dirty="0">
                <a:latin typeface="D2Coding" panose="020B0609020101020101" pitchFamily="49" charset="-127"/>
                <a:ea typeface="D2Coding" panose="020B0609020101020101" pitchFamily="49" charset="-127"/>
              </a:rPr>
              <a:t>[1:],    # </a:t>
            </a:r>
            <a:r>
              <a:rPr lang="ko-KR" altLang="en-US" sz="1600" dirty="0" err="1">
                <a:latin typeface="D2Coding" panose="020B0609020101020101" pitchFamily="49" charset="-127"/>
                <a:ea typeface="D2Coding" panose="020B0609020101020101" pitchFamily="49" charset="-127"/>
              </a:rPr>
              <a:t>y_i</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T</a:t>
            </a:r>
            <a:r>
              <a:rPr lang="ko-KR" altLang="en-US" sz="1600" dirty="0">
                <a:latin typeface="D2Coding" panose="020B0609020101020101" pitchFamily="49" charset="-127"/>
                <a:ea typeface="D2Coding" panose="020B0609020101020101" pitchFamily="49" charset="-127"/>
              </a:rPr>
              <a:t>_{i+1}  (첫 값 제외)</a:t>
            </a:r>
          </a:p>
          <a:p>
            <a:pPr>
              <a:lnSpc>
                <a:spcPct val="150000"/>
              </a:lnSpc>
            </a:pP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sequence_length</a:t>
            </a:r>
            <a:r>
              <a:rPr lang="ko-KR" altLang="en-US" sz="1600" dirty="0">
                <a:latin typeface="D2Coding" panose="020B0609020101020101" pitchFamily="49" charset="-127"/>
                <a:ea typeface="D2Coding" panose="020B0609020101020101" pitchFamily="49" charset="-127"/>
              </a:rPr>
              <a:t>=1,          # 입력 윈도우 길이 </a:t>
            </a:r>
            <a:r>
              <a:rPr lang="ko-KR" altLang="en-US" sz="1600" dirty="0" err="1">
                <a:latin typeface="D2Coding" panose="020B0609020101020101" pitchFamily="49" charset="-127"/>
                <a:ea typeface="D2Coding" panose="020B0609020101020101" pitchFamily="49" charset="-127"/>
              </a:rPr>
              <a:t>L</a:t>
            </a:r>
            <a:r>
              <a:rPr lang="ko-KR" altLang="en-US" sz="1600" dirty="0">
                <a:latin typeface="D2Coding" panose="020B0609020101020101" pitchFamily="49" charset="-127"/>
                <a:ea typeface="D2Coding" panose="020B0609020101020101" pitchFamily="49" charset="-127"/>
              </a:rPr>
              <a:t>=1</a:t>
            </a:r>
          </a:p>
          <a:p>
            <a:pPr>
              <a:lnSpc>
                <a:spcPct val="150000"/>
              </a:lnSpc>
            </a:pP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batch_size</a:t>
            </a:r>
            <a:r>
              <a:rPr lang="ko-KR" altLang="en-US" sz="1600" dirty="0">
                <a:latin typeface="D2Coding" panose="020B0609020101020101" pitchFamily="49" charset="-127"/>
                <a:ea typeface="D2Coding" panose="020B0609020101020101" pitchFamily="49" charset="-127"/>
              </a:rPr>
              <a:t>=</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a:t>
            </a:r>
          </a:p>
          <a:p>
            <a:pPr>
              <a:lnSpc>
                <a:spcPct val="150000"/>
              </a:lnSpc>
            </a:pPr>
            <a:r>
              <a:rPr lang="ko-KR" altLang="en-US" sz="1600" dirty="0">
                <a:latin typeface="D2Coding" panose="020B0609020101020101" pitchFamily="49" charset="-127"/>
                <a:ea typeface="D2Coding" panose="020B0609020101020101" pitchFamily="49" charset="-127"/>
              </a:rPr>
              <a:t>)</a:t>
            </a:r>
          </a:p>
        </p:txBody>
      </p:sp>
      <p:pic>
        <p:nvPicPr>
          <p:cNvPr id="2" name="그래픽 1" descr="수영">
            <a:extLst>
              <a:ext uri="{FF2B5EF4-FFF2-40B4-BE49-F238E27FC236}">
                <a16:creationId xmlns:a16="http://schemas.microsoft.com/office/drawing/2014/main" id="{63B3D8CB-3BEA-0040-A7BE-2BDFA64DC6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sp>
        <p:nvSpPr>
          <p:cNvPr id="5" name="슬라이드 번호 개체 틀 3">
            <a:extLst>
              <a:ext uri="{FF2B5EF4-FFF2-40B4-BE49-F238E27FC236}">
                <a16:creationId xmlns:a16="http://schemas.microsoft.com/office/drawing/2014/main" id="{1D9FFC95-D0BB-8CC4-C9E3-4BBD83D47AC9}"/>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9</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780218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2143F-629A-FAB3-B6B7-EBF0CF00F0A2}"/>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3453B3B9-CBAA-0681-3E9A-15262BC7A72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2. Multiple variates with sliding window</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림 4">
            <a:extLst>
              <a:ext uri="{FF2B5EF4-FFF2-40B4-BE49-F238E27FC236}">
                <a16:creationId xmlns:a16="http://schemas.microsoft.com/office/drawing/2014/main" id="{A6CAEF87-D1AB-CB5D-687F-6FEBA07031D2}"/>
              </a:ext>
            </a:extLst>
          </p:cNvPr>
          <p:cNvPicPr>
            <a:picLocks noChangeAspect="1"/>
          </p:cNvPicPr>
          <p:nvPr/>
        </p:nvPicPr>
        <p:blipFill>
          <a:blip r:embed="rId2"/>
          <a:stretch>
            <a:fillRect/>
          </a:stretch>
        </p:blipFill>
        <p:spPr>
          <a:xfrm>
            <a:off x="611197" y="1791200"/>
            <a:ext cx="7102455" cy="4656223"/>
          </a:xfrm>
          <a:prstGeom prst="rect">
            <a:avLst/>
          </a:prstGeom>
          <a:ln>
            <a:solidFill>
              <a:schemeClr val="tx1"/>
            </a:solidFill>
          </a:ln>
        </p:spPr>
      </p:pic>
      <p:sp>
        <p:nvSpPr>
          <p:cNvPr id="7" name="TextBox 6">
            <a:extLst>
              <a:ext uri="{FF2B5EF4-FFF2-40B4-BE49-F238E27FC236}">
                <a16:creationId xmlns:a16="http://schemas.microsoft.com/office/drawing/2014/main" id="{999475E9-8640-6AB3-88BC-8DD3A0B30BE3}"/>
              </a:ext>
            </a:extLst>
          </p:cNvPr>
          <p:cNvSpPr txBox="1"/>
          <p:nvPr/>
        </p:nvSpPr>
        <p:spPr>
          <a:xfrm>
            <a:off x="7951777" y="2128138"/>
            <a:ext cx="3241989" cy="1162498"/>
          </a:xfrm>
          <a:prstGeom prst="rect">
            <a:avLst/>
          </a:prstGeom>
          <a:solidFill>
            <a:srgbClr val="76E3FF"/>
          </a:solidFill>
        </p:spPr>
        <p:txBody>
          <a:bodyPr wrap="square">
            <a:spAutoFit/>
          </a:bodyPr>
          <a:lstStyle/>
          <a:p>
            <a:pPr>
              <a:lnSpc>
                <a:spcPct val="150000"/>
              </a:lnSpc>
            </a:pPr>
            <a:r>
              <a:rPr lang="ko-KR" altLang="en-US" sz="1600" dirty="0" err="1">
                <a:latin typeface="D2Coding" panose="020B0609020101020101" pitchFamily="49" charset="-127"/>
                <a:ea typeface="D2Coding" panose="020B0609020101020101" pitchFamily="49" charset="-127"/>
              </a:rPr>
              <a:t>dataset</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keras.utils.timeseries_dataset_from_array</a:t>
            </a:r>
            <a:r>
              <a:rPr lang="ko-KR" altLang="en-US" sz="1600" dirty="0">
                <a:latin typeface="D2Coding" panose="020B0609020101020101" pitchFamily="49" charset="-127"/>
                <a:ea typeface="D2Coding" panose="020B0609020101020101" pitchFamily="49" charset="-127"/>
              </a:rPr>
              <a:t>()</a:t>
            </a:r>
          </a:p>
        </p:txBody>
      </p:sp>
      <p:pic>
        <p:nvPicPr>
          <p:cNvPr id="10" name="그림 9">
            <a:extLst>
              <a:ext uri="{FF2B5EF4-FFF2-40B4-BE49-F238E27FC236}">
                <a16:creationId xmlns:a16="http://schemas.microsoft.com/office/drawing/2014/main" id="{4C52B76F-FA3F-A141-8429-B6DCEEAE6DCE}"/>
              </a:ext>
            </a:extLst>
          </p:cNvPr>
          <p:cNvPicPr>
            <a:picLocks noChangeAspect="1"/>
          </p:cNvPicPr>
          <p:nvPr/>
        </p:nvPicPr>
        <p:blipFill>
          <a:blip r:embed="rId3"/>
          <a:stretch>
            <a:fillRect/>
          </a:stretch>
        </p:blipFill>
        <p:spPr>
          <a:xfrm>
            <a:off x="7951777" y="3536878"/>
            <a:ext cx="3859223" cy="404874"/>
          </a:xfrm>
          <a:prstGeom prst="rect">
            <a:avLst/>
          </a:prstGeom>
          <a:ln>
            <a:solidFill>
              <a:schemeClr val="tx1"/>
            </a:solidFill>
          </a:ln>
        </p:spPr>
      </p:pic>
      <p:pic>
        <p:nvPicPr>
          <p:cNvPr id="12" name="그래픽 11" descr="수영">
            <a:extLst>
              <a:ext uri="{FF2B5EF4-FFF2-40B4-BE49-F238E27FC236}">
                <a16:creationId xmlns:a16="http://schemas.microsoft.com/office/drawing/2014/main" id="{A78B0C00-61B5-74AD-7B98-20CD1CB09D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7520" y="334022"/>
            <a:ext cx="914400" cy="914400"/>
          </a:xfrm>
          <a:prstGeom prst="rect">
            <a:avLst/>
          </a:prstGeom>
        </p:spPr>
      </p:pic>
      <p:sp>
        <p:nvSpPr>
          <p:cNvPr id="13" name="슬라이드 번호 개체 틀 3">
            <a:extLst>
              <a:ext uri="{FF2B5EF4-FFF2-40B4-BE49-F238E27FC236}">
                <a16:creationId xmlns:a16="http://schemas.microsoft.com/office/drawing/2014/main" id="{1B1A2AE3-4F7A-CB7E-EDA9-1D1D1CDCA30A}"/>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10</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7B4177-7041-E87B-B153-DEC684619442}"/>
              </a:ext>
            </a:extLst>
          </p:cNvPr>
          <p:cNvSpPr txBox="1"/>
          <p:nvPr/>
        </p:nvSpPr>
        <p:spPr>
          <a:xfrm>
            <a:off x="611197" y="1248422"/>
            <a:ext cx="10940723" cy="369332"/>
          </a:xfrm>
          <a:prstGeom prst="rect">
            <a:avLst/>
          </a:prstGeom>
          <a:noFill/>
        </p:spPr>
        <p:txBody>
          <a:bodyPr wrap="square" rtlCol="0">
            <a:spAutoFit/>
          </a:bodyPr>
          <a:lstStyle/>
          <a:p>
            <a:r>
              <a:rPr lang="ko-KR" altLang="en-US" dirty="0">
                <a:latin typeface="D2Coding" panose="020B0609020101020101" pitchFamily="49" charset="-127"/>
                <a:ea typeface="D2Coding" panose="020B0609020101020101" pitchFamily="49" charset="-127"/>
              </a:rPr>
              <a:t>온도와 강수량 정보를 통해 내일 강수량을 예측</a:t>
            </a:r>
            <a:r>
              <a:rPr lang="en-US" altLang="ko-KR" sz="1600" dirty="0">
                <a:latin typeface="D2Coding" panose="020B0609020101020101" pitchFamily="49" charset="-127"/>
                <a:ea typeface="D2Coding" panose="020B0609020101020101" pitchFamily="49" charset="-127"/>
              </a:rPr>
              <a:t>(Sliding window with one-step &amp; single value forecast)</a:t>
            </a:r>
            <a:endParaRPr lang="ko-KR" altLang="en-US"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384776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3CC2D-4641-4ADF-450D-C8CA568365DD}"/>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E326A06-5DC6-F981-0078-EE7551C2FF6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3.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Multivariates</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&amp; Multiple Output with sliding window</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7" name="그림 6">
            <a:extLst>
              <a:ext uri="{FF2B5EF4-FFF2-40B4-BE49-F238E27FC236}">
                <a16:creationId xmlns:a16="http://schemas.microsoft.com/office/drawing/2014/main" id="{16E6EC44-B313-60AA-E7FD-96AF2CF21593}"/>
              </a:ext>
            </a:extLst>
          </p:cNvPr>
          <p:cNvPicPr>
            <a:picLocks noChangeAspect="1"/>
          </p:cNvPicPr>
          <p:nvPr/>
        </p:nvPicPr>
        <p:blipFill>
          <a:blip r:embed="rId2"/>
          <a:stretch>
            <a:fillRect/>
          </a:stretch>
        </p:blipFill>
        <p:spPr>
          <a:xfrm>
            <a:off x="681296" y="1904291"/>
            <a:ext cx="10829407" cy="4079208"/>
          </a:xfrm>
          <a:prstGeom prst="rect">
            <a:avLst/>
          </a:prstGeom>
          <a:ln>
            <a:solidFill>
              <a:schemeClr val="tx1"/>
            </a:solidFill>
          </a:ln>
        </p:spPr>
      </p:pic>
      <p:sp>
        <p:nvSpPr>
          <p:cNvPr id="8" name="TextBox 7">
            <a:extLst>
              <a:ext uri="{FF2B5EF4-FFF2-40B4-BE49-F238E27FC236}">
                <a16:creationId xmlns:a16="http://schemas.microsoft.com/office/drawing/2014/main" id="{8FA609BE-B859-A023-68DF-9C7588D7B915}"/>
              </a:ext>
            </a:extLst>
          </p:cNvPr>
          <p:cNvSpPr txBox="1"/>
          <p:nvPr/>
        </p:nvSpPr>
        <p:spPr>
          <a:xfrm>
            <a:off x="5652527" y="6100144"/>
            <a:ext cx="5652526" cy="423834"/>
          </a:xfrm>
          <a:prstGeom prst="rect">
            <a:avLst/>
          </a:prstGeom>
          <a:solidFill>
            <a:srgbClr val="76E3FF"/>
          </a:solidFill>
        </p:spPr>
        <p:txBody>
          <a:bodyPr wrap="square">
            <a:spAutoFit/>
          </a:bodyPr>
          <a:lstStyle/>
          <a:p>
            <a:pPr>
              <a:lnSpc>
                <a:spcPct val="150000"/>
              </a:lnSpc>
            </a:pPr>
            <a:r>
              <a:rPr lang="ko-KR" altLang="en-US" sz="1600" dirty="0" err="1">
                <a:latin typeface="D2Coding" panose="020B0609020101020101" pitchFamily="49" charset="-127"/>
                <a:ea typeface="D2Coding" panose="020B0609020101020101" pitchFamily="49" charset="-127"/>
              </a:rPr>
              <a:t>dataset</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keras.utils.timeseries_dataset_from_array</a:t>
            </a:r>
            <a:r>
              <a:rPr lang="ko-KR" altLang="en-US" sz="1600" dirty="0">
                <a:latin typeface="D2Coding" panose="020B0609020101020101" pitchFamily="49" charset="-127"/>
                <a:ea typeface="D2Coding" panose="020B0609020101020101" pitchFamily="49" charset="-127"/>
              </a:rPr>
              <a:t>()</a:t>
            </a:r>
          </a:p>
        </p:txBody>
      </p:sp>
      <p:pic>
        <p:nvPicPr>
          <p:cNvPr id="9" name="그래픽 8" descr="수영">
            <a:extLst>
              <a:ext uri="{FF2B5EF4-FFF2-40B4-BE49-F238E27FC236}">
                <a16:creationId xmlns:a16="http://schemas.microsoft.com/office/drawing/2014/main" id="{D3E9ED35-2297-2276-116F-6C70A2B08E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37520" y="334022"/>
            <a:ext cx="914400" cy="914400"/>
          </a:xfrm>
          <a:prstGeom prst="rect">
            <a:avLst/>
          </a:prstGeom>
        </p:spPr>
      </p:pic>
      <p:sp>
        <p:nvSpPr>
          <p:cNvPr id="2" name="TextBox 1">
            <a:extLst>
              <a:ext uri="{FF2B5EF4-FFF2-40B4-BE49-F238E27FC236}">
                <a16:creationId xmlns:a16="http://schemas.microsoft.com/office/drawing/2014/main" id="{2DFF5C00-D308-F3B2-089D-081CE47CA59F}"/>
              </a:ext>
            </a:extLst>
          </p:cNvPr>
          <p:cNvSpPr txBox="1"/>
          <p:nvPr/>
        </p:nvSpPr>
        <p:spPr>
          <a:xfrm>
            <a:off x="611197" y="1248422"/>
            <a:ext cx="11276003" cy="369332"/>
          </a:xfrm>
          <a:prstGeom prst="rect">
            <a:avLst/>
          </a:prstGeom>
          <a:noFill/>
        </p:spPr>
        <p:txBody>
          <a:bodyPr wrap="square" rtlCol="0">
            <a:spAutoFit/>
          </a:bodyPr>
          <a:lstStyle/>
          <a:p>
            <a:r>
              <a:rPr lang="ko-KR" altLang="en-US" dirty="0">
                <a:latin typeface="D2Coding" panose="020B0609020101020101" pitchFamily="49" charset="-127"/>
                <a:ea typeface="D2Coding" panose="020B0609020101020101" pitchFamily="49" charset="-127"/>
              </a:rPr>
              <a:t>온도</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강수량 정보를 통해 내일 온도</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강수량을 예측</a:t>
            </a:r>
            <a:r>
              <a:rPr lang="en-US" altLang="ko-KR" sz="1600" dirty="0">
                <a:latin typeface="D2Coding" panose="020B0609020101020101" pitchFamily="49" charset="-127"/>
                <a:ea typeface="D2Coding" panose="020B0609020101020101" pitchFamily="49" charset="-127"/>
              </a:rPr>
              <a:t>(Sliding window with one-step &amp; multiple value forecast)</a:t>
            </a:r>
            <a:endParaRPr lang="ko-KR" altLang="en-US"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16294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4F5CD-B717-CC78-6959-DE013BCE3D91}"/>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A0F052C8-C5C5-10E0-D8C0-25B6FEB910D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4.  sliding window with</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multiple-step</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9" name="그래픽 8" descr="수영">
            <a:extLst>
              <a:ext uri="{FF2B5EF4-FFF2-40B4-BE49-F238E27FC236}">
                <a16:creationId xmlns:a16="http://schemas.microsoft.com/office/drawing/2014/main" id="{96BB7607-3869-8E9E-C221-DDC44FEF1B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pic>
        <p:nvPicPr>
          <p:cNvPr id="6" name="그림 5">
            <a:extLst>
              <a:ext uri="{FF2B5EF4-FFF2-40B4-BE49-F238E27FC236}">
                <a16:creationId xmlns:a16="http://schemas.microsoft.com/office/drawing/2014/main" id="{DAD75DD9-E846-2CE2-D016-A32EEDC8FE61}"/>
              </a:ext>
            </a:extLst>
          </p:cNvPr>
          <p:cNvPicPr>
            <a:picLocks noChangeAspect="1"/>
          </p:cNvPicPr>
          <p:nvPr/>
        </p:nvPicPr>
        <p:blipFill>
          <a:blip r:embed="rId4"/>
          <a:stretch>
            <a:fillRect/>
          </a:stretch>
        </p:blipFill>
        <p:spPr>
          <a:xfrm>
            <a:off x="1106559" y="1563806"/>
            <a:ext cx="5932415" cy="4813092"/>
          </a:xfrm>
          <a:prstGeom prst="rect">
            <a:avLst/>
          </a:prstGeom>
          <a:ln>
            <a:solidFill>
              <a:schemeClr val="tx1"/>
            </a:solidFill>
          </a:ln>
        </p:spPr>
      </p:pic>
      <p:sp>
        <p:nvSpPr>
          <p:cNvPr id="4" name="TextBox 3">
            <a:extLst>
              <a:ext uri="{FF2B5EF4-FFF2-40B4-BE49-F238E27FC236}">
                <a16:creationId xmlns:a16="http://schemas.microsoft.com/office/drawing/2014/main" id="{F44DFFA3-632D-10C7-461D-8E263F2F7375}"/>
              </a:ext>
            </a:extLst>
          </p:cNvPr>
          <p:cNvSpPr txBox="1"/>
          <p:nvPr/>
        </p:nvSpPr>
        <p:spPr>
          <a:xfrm>
            <a:off x="7991474" y="1563806"/>
            <a:ext cx="3560445" cy="1901161"/>
          </a:xfrm>
          <a:prstGeom prst="rect">
            <a:avLst/>
          </a:prstGeom>
          <a:noFill/>
          <a:ln>
            <a:solidFill>
              <a:schemeClr val="tx1"/>
            </a:solidFill>
          </a:ln>
        </p:spPr>
        <p:txBody>
          <a:bodyPr wrap="square">
            <a:spAutoFit/>
          </a:bodyPr>
          <a:lstStyle/>
          <a:p>
            <a:pPr marL="285750" indent="-285750">
              <a:lnSpc>
                <a:spcPct val="150000"/>
              </a:lnSpc>
              <a:buFont typeface="Wingdings" panose="05000000000000000000" pitchFamily="2" charset="2"/>
              <a:buChar char="§"/>
            </a:pPr>
            <a:r>
              <a:rPr lang="ko-KR" altLang="en-US" sz="1600" dirty="0">
                <a:latin typeface="D2Coding" panose="020B0609020101020101" pitchFamily="49" charset="-127"/>
                <a:ea typeface="D2Coding" panose="020B0609020101020101" pitchFamily="49" charset="-127"/>
              </a:rPr>
              <a:t>시계열 데이터</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온도</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이용하여 미래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개 시점</a:t>
            </a:r>
            <a:r>
              <a:rPr lang="en-US" altLang="ko-KR" sz="1600" dirty="0">
                <a:latin typeface="D2Coding" panose="020B0609020101020101" pitchFamily="49" charset="-127"/>
                <a:ea typeface="D2Coding" panose="020B0609020101020101" pitchFamily="49" charset="-127"/>
              </a:rPr>
              <a:t>(2-step)</a:t>
            </a:r>
            <a:r>
              <a:rPr lang="ko-KR" altLang="en-US" sz="1600" dirty="0">
                <a:latin typeface="D2Coding" panose="020B0609020101020101" pitchFamily="49" charset="-127"/>
                <a:ea typeface="D2Coding" panose="020B0609020101020101" pitchFamily="49" charset="-127"/>
              </a:rPr>
              <a:t>의 기온을 동시에 예측하는 다중 스텝 시계열 예측</a:t>
            </a:r>
            <a:r>
              <a:rPr lang="en-US" altLang="ko-KR" sz="1600" dirty="0">
                <a:latin typeface="D2Coding" panose="020B0609020101020101" pitchFamily="49" charset="-127"/>
                <a:ea typeface="D2Coding" panose="020B0609020101020101" pitchFamily="49" charset="-127"/>
              </a:rPr>
              <a:t>(Multi-step Time Series Forecasting)</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4272811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7581D-3B69-D7B8-7BD1-D9C95353FCE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FD4F066-D256-883B-A556-AB50529B242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Time series data analysis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9" name="그래픽 8" descr="수영">
            <a:extLst>
              <a:ext uri="{FF2B5EF4-FFF2-40B4-BE49-F238E27FC236}">
                <a16:creationId xmlns:a16="http://schemas.microsoft.com/office/drawing/2014/main" id="{683F156A-0939-A650-AE4D-419E927966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sp>
        <p:nvSpPr>
          <p:cNvPr id="7" name="Rectangle 2">
            <a:extLst>
              <a:ext uri="{FF2B5EF4-FFF2-40B4-BE49-F238E27FC236}">
                <a16:creationId xmlns:a16="http://schemas.microsoft.com/office/drawing/2014/main" id="{B5D3A5FB-5C68-D63B-561D-F8449CDABB0B}"/>
              </a:ext>
            </a:extLst>
          </p:cNvPr>
          <p:cNvSpPr>
            <a:spLocks noChangeArrowheads="1"/>
          </p:cNvSpPr>
          <p:nvPr/>
        </p:nvSpPr>
        <p:spPr bwMode="auto">
          <a:xfrm>
            <a:off x="557862" y="1537223"/>
            <a:ext cx="11076275" cy="88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삼성전자</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의</a:t>
            </a: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 과거 </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12</a:t>
            </a:r>
            <a:r>
              <a:rPr kumimoji="0" lang="ko-KR" altLang="ko-KR" b="0" i="0" u="none" strike="noStrike" cap="none" normalizeH="0" baseline="0" dirty="0" err="1">
                <a:ln>
                  <a:noFill/>
                </a:ln>
                <a:solidFill>
                  <a:srgbClr val="1F1F1F"/>
                </a:solidFill>
                <a:effectLst/>
                <a:latin typeface="D2Coding" panose="020B0609020101020101" pitchFamily="49" charset="-127"/>
                <a:ea typeface="D2Coding" panose="020B0609020101020101" pitchFamily="49" charset="-127"/>
              </a:rPr>
              <a:t>개월치</a:t>
            </a: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 데이터를 사용하여 종가</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a:t>
            </a:r>
            <a:r>
              <a:rPr kumimoji="0" lang="en-US" altLang="ko-KR" b="0" i="0" u="none" strike="noStrike" cap="none" normalizeH="0" dirty="0">
                <a:ln>
                  <a:noFill/>
                </a:ln>
                <a:solidFill>
                  <a:srgbClr val="1F1F1F"/>
                </a:solidFill>
                <a:effectLst/>
                <a:latin typeface="D2Coding" panose="020B0609020101020101" pitchFamily="49" charset="-127"/>
                <a:ea typeface="D2Coding" panose="020B0609020101020101" pitchFamily="49" charset="-127"/>
              </a:rPr>
              <a:t> </a:t>
            </a: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거래량</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 </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외국인</a:t>
            </a:r>
            <a:r>
              <a:rPr lang="en-US" altLang="ko-KR" dirty="0">
                <a:solidFill>
                  <a:srgbClr val="1F1F1F"/>
                </a:solidFill>
                <a:latin typeface="D2Coding" panose="020B0609020101020101" pitchFamily="49" charset="-127"/>
                <a:ea typeface="D2Coding" panose="020B0609020101020101" pitchFamily="49" charset="-127"/>
              </a:rPr>
              <a:t> </a:t>
            </a:r>
            <a:r>
              <a:rPr lang="ko-KR" altLang="en-US" dirty="0" err="1">
                <a:solidFill>
                  <a:srgbClr val="1F1F1F"/>
                </a:solidFill>
                <a:latin typeface="D2Coding" panose="020B0609020101020101" pitchFamily="49" charset="-127"/>
                <a:ea typeface="D2Coding" panose="020B0609020101020101" pitchFamily="49" charset="-127"/>
              </a:rPr>
              <a:t>매매량</a:t>
            </a:r>
            <a:r>
              <a:rPr lang="ko-KR" altLang="en-US" dirty="0">
                <a:solidFill>
                  <a:srgbClr val="1F1F1F"/>
                </a:solidFill>
                <a:latin typeface="D2Coding" panose="020B0609020101020101" pitchFamily="49" charset="-127"/>
                <a:ea typeface="D2Coding" panose="020B0609020101020101" pitchFamily="49" charset="-127"/>
              </a:rPr>
              <a:t> 등</a:t>
            </a: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을 바탕으로 </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최근 </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6</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일</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 10</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일</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 15</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일 등의 </a:t>
            </a:r>
            <a:r>
              <a:rPr kumimoji="0" lang="en-US"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Timestep</a:t>
            </a:r>
            <a:r>
              <a:rPr kumimoji="0" lang="ko-KR" altLang="en-US"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을 기준으로 </a:t>
            </a:r>
            <a:r>
              <a:rPr kumimoji="0" lang="ko-KR" altLang="ko-KR" b="0" i="0" u="none" strike="noStrike" cap="none" normalizeH="0" baseline="0" dirty="0">
                <a:ln>
                  <a:noFill/>
                </a:ln>
                <a:solidFill>
                  <a:srgbClr val="1F1F1F"/>
                </a:solidFill>
                <a:effectLst/>
                <a:latin typeface="D2Coding" panose="020B0609020101020101" pitchFamily="49" charset="-127"/>
                <a:ea typeface="D2Coding" panose="020B0609020101020101" pitchFamily="49" charset="-127"/>
              </a:rPr>
              <a:t>시계열 예측</a:t>
            </a:r>
            <a:endParaRPr kumimoji="0" lang="ko-KR" altLang="ko-KR" b="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1282280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885E-842A-7400-1415-2F309E775F2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B7F86CC-3A72-31B3-4CFB-67DFB6C8810D}"/>
              </a:ext>
            </a:extLst>
          </p:cNvPr>
          <p:cNvSpPr/>
          <p:nvPr/>
        </p:nvSpPr>
        <p:spPr>
          <a:xfrm>
            <a:off x="475645" y="2324100"/>
            <a:ext cx="7963505" cy="53047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1">
            <a:extLst>
              <a:ext uri="{FF2B5EF4-FFF2-40B4-BE49-F238E27FC236}">
                <a16:creationId xmlns:a16="http://schemas.microsoft.com/office/drawing/2014/main" id="{FA804884-F704-3991-331C-007A44C6B2F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Goals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D7A42FEE-0FEC-87FF-BF8B-2960A6890E33}"/>
              </a:ext>
            </a:extLst>
          </p:cNvPr>
          <p:cNvSpPr txBox="1"/>
          <p:nvPr/>
        </p:nvSpPr>
        <p:spPr>
          <a:xfrm>
            <a:off x="587055" y="1846268"/>
            <a:ext cx="7394895" cy="4189993"/>
          </a:xfrm>
          <a:prstGeom prst="rect">
            <a:avLst/>
          </a:prstGeom>
          <a:noFill/>
        </p:spPr>
        <p:txBody>
          <a:bodyPr wrap="square">
            <a:spAutoFit/>
          </a:bodyPr>
          <a:lstStyle/>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Different kinds of timeseries tasks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Timeseries 3D tensor</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 temperature forecasting example</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naïve approach</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Fully connected neural network</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1D Convnet</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Understanding recurrent neural networks (RNNs)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Applying RNNs to a temperature forecasting example</a:t>
            </a:r>
          </a:p>
          <a:p>
            <a:pPr marL="800100" lvl="1" indent="-342900">
              <a:lnSpc>
                <a:spcPct val="150000"/>
              </a:lnSpc>
              <a:buFont typeface="Wingdings" panose="05000000000000000000" pitchFamily="2" charset="2"/>
              <a:buChar char="v"/>
            </a:pPr>
            <a:endParaRPr lang="en-US" altLang="ko-KR" sz="20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994009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697D-6FA4-C9F7-B1CF-012E1896C92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AE117BD9-978E-2100-D439-E41B165E4F8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Timeseries 3D tensor sequence data for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2054" name="Picture 6">
            <a:extLst>
              <a:ext uri="{FF2B5EF4-FFF2-40B4-BE49-F238E27FC236}">
                <a16:creationId xmlns:a16="http://schemas.microsoft.com/office/drawing/2014/main" id="{D9A48F1E-7C27-0D20-E424-5AF452ABA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5498" y="3573145"/>
            <a:ext cx="6524625" cy="24479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ABABD-C9CE-3915-ED95-7D93441E3520}"/>
              </a:ext>
            </a:extLst>
          </p:cNvPr>
          <p:cNvSpPr txBox="1"/>
          <p:nvPr/>
        </p:nvSpPr>
        <p:spPr>
          <a:xfrm>
            <a:off x="9444399" y="4924721"/>
            <a:ext cx="2233204" cy="830997"/>
          </a:xfrm>
          <a:prstGeom prst="rect">
            <a:avLst/>
          </a:prstGeom>
          <a:solidFill>
            <a:schemeClr val="tx1"/>
          </a:solidFill>
        </p:spPr>
        <p:txBody>
          <a:bodyPr wrap="square">
            <a:spAutoFit/>
          </a:bodyPr>
          <a:lstStyle/>
          <a:p>
            <a:pPr algn="ctr"/>
            <a:r>
              <a:rPr lang="en-US" altLang="ko-KR" sz="1600" dirty="0">
                <a:solidFill>
                  <a:schemeClr val="bg1"/>
                </a:solidFill>
                <a:latin typeface="D2Coding" panose="020B0609020101020101" pitchFamily="49" charset="-127"/>
                <a:ea typeface="D2Coding" panose="020B0609020101020101" pitchFamily="49" charset="-127"/>
              </a:rPr>
              <a:t>Samples/Batch size </a:t>
            </a:r>
            <a:r>
              <a:rPr lang="ko-KR" altLang="en-US" sz="1600" dirty="0">
                <a:solidFill>
                  <a:schemeClr val="bg1"/>
                </a:solidFill>
                <a:latin typeface="D2Coding" panose="020B0609020101020101" pitchFamily="49" charset="-127"/>
                <a:ea typeface="D2Coding" panose="020B0609020101020101" pitchFamily="49" charset="-127"/>
              </a:rPr>
              <a:t>만큼 딥러닝 모델로 입력데이터 투입</a:t>
            </a:r>
            <a:endParaRPr lang="en-US" altLang="ko-KR" sz="1600" dirty="0">
              <a:solidFill>
                <a:schemeClr val="bg1"/>
              </a:solidFill>
              <a:latin typeface="D2Coding" panose="020B0609020101020101" pitchFamily="49" charset="-127"/>
              <a:ea typeface="D2Coding" panose="020B0609020101020101" pitchFamily="49" charset="-127"/>
            </a:endParaRPr>
          </a:p>
        </p:txBody>
      </p:sp>
      <p:sp>
        <p:nvSpPr>
          <p:cNvPr id="5" name="TextBox 4">
            <a:extLst>
              <a:ext uri="{FF2B5EF4-FFF2-40B4-BE49-F238E27FC236}">
                <a16:creationId xmlns:a16="http://schemas.microsoft.com/office/drawing/2014/main" id="{A3F439E8-6C21-7DE4-B0A6-4577DACBE42D}"/>
              </a:ext>
            </a:extLst>
          </p:cNvPr>
          <p:cNvSpPr txBox="1"/>
          <p:nvPr/>
        </p:nvSpPr>
        <p:spPr>
          <a:xfrm>
            <a:off x="4679935" y="6107747"/>
            <a:ext cx="2768615" cy="338554"/>
          </a:xfrm>
          <a:prstGeom prst="rect">
            <a:avLst/>
          </a:prstGeom>
          <a:solidFill>
            <a:schemeClr val="tx1"/>
          </a:solidFill>
        </p:spPr>
        <p:txBody>
          <a:bodyPr wrap="square">
            <a:spAutoFit/>
          </a:bodyPr>
          <a:lstStyle/>
          <a:p>
            <a:pPr algn="ctr"/>
            <a:r>
              <a:rPr lang="en-US" altLang="ko-KR" sz="1600" dirty="0">
                <a:solidFill>
                  <a:schemeClr val="bg1"/>
                </a:solidFill>
                <a:latin typeface="D2Coding" panose="020B0609020101020101" pitchFamily="49" charset="-127"/>
                <a:ea typeface="D2Coding" panose="020B0609020101020101" pitchFamily="49" charset="-127"/>
              </a:rPr>
              <a:t>Sliding window length</a:t>
            </a:r>
            <a:endParaRPr lang="ko-KR" altLang="en-US" sz="1600" dirty="0">
              <a:solidFill>
                <a:schemeClr val="bg1"/>
              </a:solidFill>
              <a:latin typeface="D2Coding" panose="020B0609020101020101" pitchFamily="49" charset="-127"/>
              <a:ea typeface="D2Coding" panose="020B0609020101020101" pitchFamily="49" charset="-127"/>
            </a:endParaRPr>
          </a:p>
        </p:txBody>
      </p:sp>
      <p:sp>
        <p:nvSpPr>
          <p:cNvPr id="6" name="TextBox 5">
            <a:extLst>
              <a:ext uri="{FF2B5EF4-FFF2-40B4-BE49-F238E27FC236}">
                <a16:creationId xmlns:a16="http://schemas.microsoft.com/office/drawing/2014/main" id="{40C5270D-8C55-359A-1F8C-42140504639B}"/>
              </a:ext>
            </a:extLst>
          </p:cNvPr>
          <p:cNvSpPr txBox="1"/>
          <p:nvPr/>
        </p:nvSpPr>
        <p:spPr>
          <a:xfrm>
            <a:off x="530637" y="4351393"/>
            <a:ext cx="2080585" cy="338554"/>
          </a:xfrm>
          <a:prstGeom prst="rect">
            <a:avLst/>
          </a:prstGeom>
          <a:solidFill>
            <a:schemeClr val="tx1"/>
          </a:solidFill>
        </p:spPr>
        <p:txBody>
          <a:bodyPr wrap="square">
            <a:spAutoFit/>
          </a:bodyPr>
          <a:lstStyle/>
          <a:p>
            <a:pPr algn="ctr"/>
            <a:r>
              <a:rPr lang="en-US" altLang="ko-KR" sz="1600" dirty="0">
                <a:solidFill>
                  <a:schemeClr val="bg1"/>
                </a:solidFill>
                <a:latin typeface="D2Coding" panose="020B0609020101020101" pitchFamily="49" charset="-127"/>
                <a:ea typeface="D2Coding" panose="020B0609020101020101" pitchFamily="49" charset="-127"/>
              </a:rPr>
              <a:t>temps, winds,…</a:t>
            </a:r>
            <a:endParaRPr lang="ko-KR" altLang="en-US" sz="1600" dirty="0">
              <a:solidFill>
                <a:schemeClr val="bg1"/>
              </a:solidFill>
              <a:latin typeface="D2Coding" panose="020B0609020101020101" pitchFamily="49" charset="-127"/>
              <a:ea typeface="D2Coding" panose="020B0609020101020101" pitchFamily="49" charset="-127"/>
            </a:endParaRPr>
          </a:p>
        </p:txBody>
      </p:sp>
      <p:sp>
        <p:nvSpPr>
          <p:cNvPr id="9" name="TextBox 8">
            <a:extLst>
              <a:ext uri="{FF2B5EF4-FFF2-40B4-BE49-F238E27FC236}">
                <a16:creationId xmlns:a16="http://schemas.microsoft.com/office/drawing/2014/main" id="{65059060-BC1A-DCA4-C465-6D4315B5193C}"/>
              </a:ext>
            </a:extLst>
          </p:cNvPr>
          <p:cNvSpPr txBox="1"/>
          <p:nvPr/>
        </p:nvSpPr>
        <p:spPr>
          <a:xfrm>
            <a:off x="2765498" y="3233757"/>
            <a:ext cx="6524625" cy="307777"/>
          </a:xfrm>
          <a:prstGeom prst="rect">
            <a:avLst/>
          </a:prstGeom>
          <a:noFill/>
        </p:spPr>
        <p:txBody>
          <a:bodyPr wrap="square">
            <a:spAutoFit/>
          </a:bodyPr>
          <a:lstStyle/>
          <a:p>
            <a:pPr algn="l">
              <a:spcAft>
                <a:spcPts val="300"/>
              </a:spcAft>
              <a:buNone/>
            </a:pPr>
            <a:r>
              <a:rPr lang="en-US" altLang="ko-KR" sz="1400" i="0" dirty="0">
                <a:effectLst/>
                <a:latin typeface="D2Coding" panose="020B0609020101020101" pitchFamily="49" charset="-127"/>
                <a:ea typeface="D2Coding" panose="020B0609020101020101" pitchFamily="49" charset="-127"/>
              </a:rPr>
              <a:t>Chapter 2 The mathematical building blocks of neural networks</a:t>
            </a:r>
          </a:p>
        </p:txBody>
      </p:sp>
      <p:sp>
        <p:nvSpPr>
          <p:cNvPr id="10" name="슬라이드 번호 개체 틀 3">
            <a:extLst>
              <a:ext uri="{FF2B5EF4-FFF2-40B4-BE49-F238E27FC236}">
                <a16:creationId xmlns:a16="http://schemas.microsoft.com/office/drawing/2014/main" id="{873E10A1-07D2-6ED6-E0CE-F3ACA235E904}"/>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3E7A300-CE2B-FC1E-BD8C-01CE5B60765B}"/>
              </a:ext>
            </a:extLst>
          </p:cNvPr>
          <p:cNvSpPr>
            <a:spLocks noChangeArrowheads="1"/>
          </p:cNvSpPr>
          <p:nvPr/>
        </p:nvSpPr>
        <p:spPr bwMode="auto">
          <a:xfrm>
            <a:off x="627003" y="1232381"/>
            <a:ext cx="10937993" cy="1628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Features</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(특성/세로축): 각 시점마다 입력되는 변수들의 종류(예: 기온</a:t>
            </a:r>
            <a:r>
              <a:rPr kumimoji="0" lang="en-US"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_</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temps</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풍속</a:t>
            </a:r>
            <a:r>
              <a:rPr kumimoji="0" lang="en-US"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_</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winds</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등).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Timesteps</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(시계열 길이/가로축): 슬라이딩 윈도우의 길이(</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Sliding</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window</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length</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)로, 모델이 미래를 예측하기 위해 한 번에 훑어보는 과거 시간의 길이(예: 과거 7일간의 데이터)</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Samples</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(샘플 수/</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깊이축</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데이터의 개수</a:t>
            </a:r>
            <a:r>
              <a:rPr kumimoji="0" lang="ko-KR" altLang="en-US"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로 </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슬라이딩 윈도우를 한 칸씩 이동하면서 만들어진 전체 데이터 묶음들의 수(또는 학습 시 지정하는 </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Batch</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a:t>
            </a:r>
            <a:r>
              <a:rPr kumimoji="0" lang="ko-KR" altLang="ko-KR" sz="1400" i="0" u="none" strike="noStrike" cap="none" normalizeH="0" baseline="0" dirty="0" err="1">
                <a:ln>
                  <a:noFill/>
                </a:ln>
                <a:solidFill>
                  <a:schemeClr val="tx1"/>
                </a:solidFill>
                <a:effectLst/>
                <a:latin typeface="D2Coding" panose="020B0609020101020101" pitchFamily="49" charset="-127"/>
                <a:ea typeface="D2Coding" panose="020B0609020101020101" pitchFamily="49" charset="-127"/>
              </a:rPr>
              <a:t>size</a:t>
            </a:r>
            <a:r>
              <a:rPr kumimoji="0" lang="ko-KR" altLang="ko-KR" sz="14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)를 의미하며, 이 단위로 딥러닝 모델에 데이터가 투입</a:t>
            </a:r>
          </a:p>
        </p:txBody>
      </p:sp>
    </p:spTree>
    <p:extLst>
      <p:ext uri="{BB962C8B-B14F-4D97-AF65-F5344CB8AC3E}">
        <p14:creationId xmlns:p14="http://schemas.microsoft.com/office/powerpoint/2010/main" val="3134099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D3B4A-47E1-228F-6AE1-E9A017BB380F}"/>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D2134593-C033-9B75-7167-5463C96764F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Timeseries 3D tensor sequence data</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2054" name="Picture 6">
            <a:extLst>
              <a:ext uri="{FF2B5EF4-FFF2-40B4-BE49-F238E27FC236}">
                <a16:creationId xmlns:a16="http://schemas.microsoft.com/office/drawing/2014/main" id="{F57B67AD-9A3C-760A-9DD5-77531102F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2133" y="1883421"/>
            <a:ext cx="5311067" cy="199261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05A7CDF-F3DC-3ADF-8543-4D602C8B3CBF}"/>
              </a:ext>
            </a:extLst>
          </p:cNvPr>
          <p:cNvSpPr txBox="1"/>
          <p:nvPr/>
        </p:nvSpPr>
        <p:spPr>
          <a:xfrm>
            <a:off x="6322133" y="3884646"/>
            <a:ext cx="5311067" cy="1998304"/>
          </a:xfrm>
          <a:prstGeom prst="rect">
            <a:avLst/>
          </a:prstGeom>
          <a:solidFill>
            <a:srgbClr val="76E3FF"/>
          </a:solidFill>
        </p:spPr>
        <p:txBody>
          <a:bodyPr wrap="square">
            <a:spAutoFit/>
          </a:bodyPr>
          <a:lstStyle/>
          <a:p>
            <a:pPr>
              <a:lnSpc>
                <a:spcPct val="150000"/>
              </a:lnSpc>
            </a:pPr>
            <a:r>
              <a:rPr lang="ko-KR" altLang="en-US" sz="1400" dirty="0" err="1">
                <a:latin typeface="D2Coding" panose="020B0609020101020101" pitchFamily="49" charset="-127"/>
                <a:ea typeface="D2Coding" panose="020B0609020101020101" pitchFamily="49" charset="-127"/>
              </a:rPr>
              <a:t>dataset</a:t>
            </a:r>
            <a:r>
              <a:rPr lang="ko-KR" altLang="en-US" sz="1400" dirty="0">
                <a:latin typeface="D2Coding" panose="020B0609020101020101" pitchFamily="49" charset="-127"/>
                <a:ea typeface="D2Coding" panose="020B0609020101020101" pitchFamily="49" charset="-127"/>
              </a:rPr>
              <a:t> = </a:t>
            </a:r>
            <a:r>
              <a:rPr lang="ko-KR" altLang="en-US" sz="1400" dirty="0" err="1">
                <a:latin typeface="D2Coding" panose="020B0609020101020101" pitchFamily="49" charset="-127"/>
                <a:ea typeface="D2Coding" panose="020B0609020101020101" pitchFamily="49" charset="-127"/>
              </a:rPr>
              <a:t>keras.utils.timeseries_dataset_from_array</a:t>
            </a:r>
            <a:r>
              <a:rPr lang="ko-KR" altLang="en-US" sz="1400" dirty="0">
                <a:latin typeface="D2Coding" panose="020B0609020101020101" pitchFamily="49" charset="-127"/>
                <a:ea typeface="D2Coding" panose="020B0609020101020101" pitchFamily="49" charset="-127"/>
              </a:rPr>
              <a:t>(</a:t>
            </a:r>
          </a:p>
          <a:p>
            <a:pPr>
              <a:lnSpc>
                <a:spcPct val="150000"/>
              </a:lnSpc>
            </a:pP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data</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      # </a:t>
            </a:r>
            <a:r>
              <a:rPr lang="en-US" altLang="ko-KR" sz="1400" dirty="0">
                <a:latin typeface="D2Coding" panose="020B0609020101020101" pitchFamily="49" charset="-127"/>
                <a:ea typeface="D2Coding" panose="020B0609020101020101" pitchFamily="49" charset="-127"/>
              </a:rPr>
              <a:t>Features</a:t>
            </a:r>
            <a:endParaRPr lang="ko-KR" altLang="en-US" sz="1400" dirty="0">
              <a:latin typeface="D2Coding" panose="020B0609020101020101" pitchFamily="49" charset="-127"/>
              <a:ea typeface="D2Coding" panose="020B0609020101020101" pitchFamily="49" charset="-127"/>
            </a:endParaRPr>
          </a:p>
          <a:p>
            <a:pPr>
              <a:lnSpc>
                <a:spcPct val="150000"/>
              </a:lnSpc>
            </a:pP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targets</a:t>
            </a:r>
            <a:r>
              <a:rPr lang="ko-KR" altLang="en-US" sz="1400" dirty="0">
                <a:latin typeface="D2Coding" panose="020B0609020101020101" pitchFamily="49" charset="-127"/>
                <a:ea typeface="D2Coding" panose="020B0609020101020101" pitchFamily="49" charset="-127"/>
              </a:rPr>
              <a:t>= ,          # </a:t>
            </a:r>
            <a:r>
              <a:rPr lang="en-US" altLang="ko-KR" sz="1400" dirty="0">
                <a:latin typeface="D2Coding" panose="020B0609020101020101" pitchFamily="49" charset="-127"/>
                <a:ea typeface="D2Coding" panose="020B0609020101020101" pitchFamily="49" charset="-127"/>
              </a:rPr>
              <a:t>single or </a:t>
            </a:r>
            <a:r>
              <a:rPr lang="en-US" altLang="ko-KR" sz="1400" dirty="0" err="1">
                <a:latin typeface="D2Coding" panose="020B0609020101020101" pitchFamily="49" charset="-127"/>
                <a:ea typeface="D2Coding" panose="020B0609020101020101" pitchFamily="49" charset="-127"/>
              </a:rPr>
              <a:t>multivariates</a:t>
            </a:r>
            <a:endParaRPr lang="ko-KR" altLang="en-US" sz="1400" dirty="0">
              <a:latin typeface="D2Coding" panose="020B0609020101020101" pitchFamily="49" charset="-127"/>
              <a:ea typeface="D2Coding" panose="020B0609020101020101" pitchFamily="49" charset="-127"/>
            </a:endParaRPr>
          </a:p>
          <a:p>
            <a:pPr>
              <a:lnSpc>
                <a:spcPct val="150000"/>
              </a:lnSpc>
            </a:pP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sequence_length</a:t>
            </a:r>
            <a:r>
              <a:rPr lang="ko-KR" altLang="en-US" sz="1400" dirty="0">
                <a:latin typeface="D2Coding" panose="020B0609020101020101" pitchFamily="49" charset="-127"/>
                <a:ea typeface="D2Coding" panose="020B0609020101020101" pitchFamily="49" charset="-127"/>
              </a:rPr>
              <a:t>=  , # </a:t>
            </a:r>
            <a:r>
              <a:rPr lang="en-US" altLang="ko-KR" sz="1400" dirty="0">
                <a:latin typeface="D2Coding" panose="020B0609020101020101" pitchFamily="49" charset="-127"/>
                <a:ea typeface="D2Coding" panose="020B0609020101020101" pitchFamily="49" charset="-127"/>
              </a:rPr>
              <a:t>Timesteps(Sliding window length)</a:t>
            </a:r>
            <a:endParaRPr lang="ko-KR" altLang="en-US" sz="1400" dirty="0">
              <a:latin typeface="D2Coding" panose="020B0609020101020101" pitchFamily="49" charset="-127"/>
              <a:ea typeface="D2Coding" panose="020B0609020101020101" pitchFamily="49" charset="-127"/>
            </a:endParaRPr>
          </a:p>
          <a:p>
            <a:pPr>
              <a:lnSpc>
                <a:spcPct val="150000"/>
              </a:lnSpc>
            </a:pPr>
            <a:r>
              <a:rPr lang="ko-KR" altLang="en-US"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batch_size</a:t>
            </a:r>
            <a:r>
              <a:rPr lang="ko-KR" altLang="en-US" sz="1400" dirty="0">
                <a:latin typeface="D2Coding" panose="020B0609020101020101" pitchFamily="49" charset="-127"/>
                <a:ea typeface="D2Coding" panose="020B0609020101020101" pitchFamily="49" charset="-127"/>
              </a:rPr>
              <a:t>=</a:t>
            </a:r>
            <a:r>
              <a:rPr lang="en-US" altLang="ko-KR" sz="1400" dirty="0">
                <a:latin typeface="D2Coding" panose="020B0609020101020101" pitchFamily="49" charset="-127"/>
                <a:ea typeface="D2Coding" panose="020B0609020101020101" pitchFamily="49" charset="-127"/>
              </a:rPr>
              <a:t>1</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딥러닝</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모델로 투입되는 크기</a:t>
            </a:r>
          </a:p>
          <a:p>
            <a:pPr>
              <a:lnSpc>
                <a:spcPct val="150000"/>
              </a:lnSpc>
            </a:pPr>
            <a:r>
              <a:rPr lang="ko-KR" altLang="en-US" sz="1400" dirty="0">
                <a:latin typeface="D2Coding" panose="020B0609020101020101" pitchFamily="49" charset="-127"/>
                <a:ea typeface="D2Coding" panose="020B0609020101020101" pitchFamily="49" charset="-127"/>
              </a:rPr>
              <a:t>)</a:t>
            </a:r>
          </a:p>
        </p:txBody>
      </p:sp>
      <p:sp>
        <p:nvSpPr>
          <p:cNvPr id="2" name="TextBox 1">
            <a:extLst>
              <a:ext uri="{FF2B5EF4-FFF2-40B4-BE49-F238E27FC236}">
                <a16:creationId xmlns:a16="http://schemas.microsoft.com/office/drawing/2014/main" id="{63E7FF09-CDBE-E164-4B20-7D348BA16D2F}"/>
              </a:ext>
            </a:extLst>
          </p:cNvPr>
          <p:cNvSpPr txBox="1"/>
          <p:nvPr/>
        </p:nvSpPr>
        <p:spPr>
          <a:xfrm>
            <a:off x="475645" y="1881927"/>
            <a:ext cx="5436898" cy="338554"/>
          </a:xfrm>
          <a:prstGeom prst="rect">
            <a:avLst/>
          </a:prstGeom>
          <a:noFill/>
        </p:spPr>
        <p:txBody>
          <a:bodyPr wrap="square">
            <a:spAutoFit/>
          </a:bodyPr>
          <a:lstStyle/>
          <a:p>
            <a:pPr algn="l"/>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 single variate with single sliding window</a:t>
            </a:r>
            <a:endParaRPr lang="ko-KR" altLang="en-US"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8" name="TextBox 7">
            <a:extLst>
              <a:ext uri="{FF2B5EF4-FFF2-40B4-BE49-F238E27FC236}">
                <a16:creationId xmlns:a16="http://schemas.microsoft.com/office/drawing/2014/main" id="{B78C9B50-7B7A-7D52-DCEC-6EB74A09231D}"/>
              </a:ext>
            </a:extLst>
          </p:cNvPr>
          <p:cNvSpPr txBox="1"/>
          <p:nvPr/>
        </p:nvSpPr>
        <p:spPr>
          <a:xfrm>
            <a:off x="475645" y="2818023"/>
            <a:ext cx="5436898" cy="338554"/>
          </a:xfrm>
          <a:prstGeom prst="rect">
            <a:avLst/>
          </a:prstGeom>
          <a:noFill/>
        </p:spPr>
        <p:txBody>
          <a:bodyPr wrap="square">
            <a:spAutoFit/>
          </a:bodyPr>
          <a:lstStyle/>
          <a:p>
            <a:pPr algn="l"/>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2. Multiple variates with sliding window</a:t>
            </a:r>
            <a:endParaRPr lang="ko-KR" altLang="en-US"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9" name="제목 1">
            <a:extLst>
              <a:ext uri="{FF2B5EF4-FFF2-40B4-BE49-F238E27FC236}">
                <a16:creationId xmlns:a16="http://schemas.microsoft.com/office/drawing/2014/main" id="{91CEEA47-FFF2-836B-2AC6-8B9D8747A0BA}"/>
              </a:ext>
            </a:extLst>
          </p:cNvPr>
          <p:cNvSpPr txBox="1">
            <a:spLocks/>
          </p:cNvSpPr>
          <p:nvPr/>
        </p:nvSpPr>
        <p:spPr>
          <a:xfrm>
            <a:off x="475646" y="3754120"/>
            <a:ext cx="5837276"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3. </a:t>
            </a:r>
            <a:r>
              <a:rPr lang="en-US" altLang="ko-KR" sz="16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Multivariates</a:t>
            </a:r>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&amp; Multiple Output with sliding window</a:t>
            </a:r>
            <a:endParaRPr lang="ko-KR" altLang="en-US"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0" name="그래픽 9" descr="수영">
            <a:extLst>
              <a:ext uri="{FF2B5EF4-FFF2-40B4-BE49-F238E27FC236}">
                <a16:creationId xmlns:a16="http://schemas.microsoft.com/office/drawing/2014/main" id="{3BF56B50-14F4-6B0D-B62C-C63A64D9F1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37520" y="334022"/>
            <a:ext cx="914400" cy="914400"/>
          </a:xfrm>
          <a:prstGeom prst="rect">
            <a:avLst/>
          </a:prstGeom>
        </p:spPr>
      </p:pic>
      <p:sp>
        <p:nvSpPr>
          <p:cNvPr id="11" name="슬라이드 번호 개체 틀 3">
            <a:extLst>
              <a:ext uri="{FF2B5EF4-FFF2-40B4-BE49-F238E27FC236}">
                <a16:creationId xmlns:a16="http://schemas.microsoft.com/office/drawing/2014/main" id="{C55EECBD-7C10-D993-0B10-42492176EE19}"/>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580358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206F-13DA-E637-93F1-FB2D9F473BE8}"/>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13CE03C1-4AB0-5E8A-3B60-572F4D5A7C7C}"/>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sp>
        <p:nvSpPr>
          <p:cNvPr id="10" name="TextBox 9">
            <a:extLst>
              <a:ext uri="{FF2B5EF4-FFF2-40B4-BE49-F238E27FC236}">
                <a16:creationId xmlns:a16="http://schemas.microsoft.com/office/drawing/2014/main" id="{8E48454E-FA72-53F2-D5E8-CFBCC206A8A1}"/>
              </a:ext>
            </a:extLst>
          </p:cNvPr>
          <p:cNvSpPr txBox="1"/>
          <p:nvPr/>
        </p:nvSpPr>
        <p:spPr>
          <a:xfrm>
            <a:off x="617781" y="1188704"/>
            <a:ext cx="10955093" cy="1396664"/>
          </a:xfrm>
          <a:prstGeom prst="rect">
            <a:avLst/>
          </a:prstGeom>
          <a:noFill/>
          <a:ln>
            <a:noFill/>
          </a:ln>
        </p:spPr>
        <p:txBody>
          <a:bodyPr wrap="square">
            <a:spAutoFit/>
          </a:bodyPr>
          <a:lstStyle/>
          <a:p>
            <a:pPr marL="285750" indent="-285750" algn="just">
              <a:lnSpc>
                <a:spcPct val="150000"/>
              </a:lnSpc>
              <a:buFont typeface="Wingdings" panose="05000000000000000000" pitchFamily="2" charset="2"/>
              <a:buChar char="v"/>
            </a:pPr>
            <a:r>
              <a:rPr lang="en-US" altLang="ko-KR" sz="1600" b="1" i="1" dirty="0">
                <a:effectLst/>
                <a:latin typeface="D2Coding" panose="020B0609020101020101" pitchFamily="49" charset="-127"/>
                <a:ea typeface="D2Coding" panose="020B0609020101020101" pitchFamily="49" charset="-127"/>
              </a:rPr>
              <a:t>A dataset of stock prices</a:t>
            </a:r>
            <a:r>
              <a:rPr lang="en-US" altLang="ko-KR" sz="1600" b="1" i="0" dirty="0">
                <a:effectLst/>
                <a:latin typeface="D2Coding" panose="020B0609020101020101" pitchFamily="49" charset="-127"/>
                <a:ea typeface="D2Coding" panose="020B0609020101020101" pitchFamily="49" charset="-127"/>
              </a:rPr>
              <a:t> </a:t>
            </a:r>
            <a:r>
              <a:rPr lang="en-US" altLang="ko-KR" sz="1400" b="0" i="0" dirty="0">
                <a:effectLst/>
                <a:latin typeface="D2Coding" panose="020B0609020101020101" pitchFamily="49" charset="-127"/>
                <a:ea typeface="D2Coding" panose="020B0609020101020101" pitchFamily="49" charset="-127"/>
              </a:rPr>
              <a:t>— Every minute, we store the current price of the stock, the highest price in the past minute, and the lowest price in the past minute. Thus every minute is encoded as a 3D vector, an entire day of trading is encoded as a matrix of shape (390, 3) (there are 390 minutes in a trading day), and 250 days’ worth of data can be stored in a rank-3 tensor of shape (250, 390, 3). </a:t>
            </a:r>
            <a:r>
              <a:rPr lang="en-US" altLang="ko-KR" sz="1400" b="0" i="0" dirty="0">
                <a:effectLst/>
                <a:latin typeface="D2Coding" panose="020B0609020101020101" pitchFamily="49" charset="-127"/>
                <a:ea typeface="D2Coding" panose="020B0609020101020101" pitchFamily="49" charset="-127"/>
                <a:sym typeface="Wingdings" panose="05000000000000000000" pitchFamily="2" charset="2"/>
              </a:rPr>
              <a:t> </a:t>
            </a:r>
            <a:r>
              <a:rPr lang="en-US" altLang="ko-KR" sz="1400" dirty="0">
                <a:latin typeface="D2Coding" panose="020B0609020101020101" pitchFamily="49" charset="-127"/>
                <a:ea typeface="D2Coding" panose="020B0609020101020101" pitchFamily="49" charset="-127"/>
              </a:rPr>
              <a:t>(Batch size, Timesteps, # of Features)</a:t>
            </a:r>
          </a:p>
        </p:txBody>
      </p:sp>
      <p:sp>
        <p:nvSpPr>
          <p:cNvPr id="2" name="슬라이드 번호 개체 틀 3">
            <a:extLst>
              <a:ext uri="{FF2B5EF4-FFF2-40B4-BE49-F238E27FC236}">
                <a16:creationId xmlns:a16="http://schemas.microsoft.com/office/drawing/2014/main" id="{9272A986-09DB-2158-5721-C2031ACEF395}"/>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7CAA12E3-A765-BB3F-CEAD-C650A184AC6E}"/>
              </a:ext>
            </a:extLst>
          </p:cNvPr>
          <p:cNvSpPr>
            <a:spLocks noChangeArrowheads="1"/>
          </p:cNvSpPr>
          <p:nvPr/>
        </p:nvSpPr>
        <p:spPr bwMode="auto">
          <a:xfrm>
            <a:off x="609240" y="4746002"/>
            <a:ext cx="2240703"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3 </a:t>
            </a:r>
            <a:r>
              <a:rPr lang="en-US" altLang="ko-KR" sz="1600" dirty="0">
                <a:latin typeface="D2Coding" panose="020B0609020101020101" pitchFamily="49" charset="-127"/>
                <a:ea typeface="D2Coding" panose="020B0609020101020101" pitchFamily="49" charset="-127"/>
              </a:rPr>
              <a:t>Features</a:t>
            </a:r>
          </a:p>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(현재가</a:t>
            </a:r>
            <a:r>
              <a:rPr lang="en-US" altLang="ko-KR" sz="1600" dirty="0">
                <a:latin typeface="D2Coding" panose="020B0609020101020101" pitchFamily="49" charset="-127"/>
                <a:ea typeface="D2Coding" panose="020B0609020101020101" pitchFamily="49" charset="-127"/>
              </a:rPr>
              <a:t>, </a:t>
            </a: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고가</a:t>
            </a:r>
            <a:r>
              <a:rPr kumimoji="0" lang="en-US"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a:t>
            </a: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저가)</a:t>
            </a:r>
          </a:p>
        </p:txBody>
      </p:sp>
      <p:sp>
        <p:nvSpPr>
          <p:cNvPr id="5" name="Rectangle 1">
            <a:extLst>
              <a:ext uri="{FF2B5EF4-FFF2-40B4-BE49-F238E27FC236}">
                <a16:creationId xmlns:a16="http://schemas.microsoft.com/office/drawing/2014/main" id="{ED086407-0C27-B277-CBE3-49F7D18518E5}"/>
              </a:ext>
            </a:extLst>
          </p:cNvPr>
          <p:cNvSpPr>
            <a:spLocks noChangeArrowheads="1"/>
          </p:cNvSpPr>
          <p:nvPr/>
        </p:nvSpPr>
        <p:spPr bwMode="auto">
          <a:xfrm>
            <a:off x="5877910" y="5500276"/>
            <a:ext cx="1037289"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50 </a:t>
            </a:r>
            <a:r>
              <a:rPr kumimoji="0" lang="en-US"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days</a:t>
            </a:r>
          </a:p>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(250일치) </a:t>
            </a:r>
          </a:p>
        </p:txBody>
      </p:sp>
      <p:sp>
        <p:nvSpPr>
          <p:cNvPr id="6" name="Rectangle 1">
            <a:extLst>
              <a:ext uri="{FF2B5EF4-FFF2-40B4-BE49-F238E27FC236}">
                <a16:creationId xmlns:a16="http://schemas.microsoft.com/office/drawing/2014/main" id="{397A17D8-F922-12A1-439A-6F8309529C96}"/>
              </a:ext>
            </a:extLst>
          </p:cNvPr>
          <p:cNvSpPr>
            <a:spLocks noChangeArrowheads="1"/>
          </p:cNvSpPr>
          <p:nvPr/>
        </p:nvSpPr>
        <p:spPr bwMode="auto">
          <a:xfrm>
            <a:off x="2902047" y="5989507"/>
            <a:ext cx="2476292"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390 </a:t>
            </a:r>
            <a:r>
              <a:rPr kumimoji="0" lang="en-US"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min</a:t>
            </a:r>
          </a:p>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(하루 390분)</a:t>
            </a:r>
          </a:p>
        </p:txBody>
      </p:sp>
      <p:sp>
        <p:nvSpPr>
          <p:cNvPr id="8" name="직사각형 7">
            <a:extLst>
              <a:ext uri="{FF2B5EF4-FFF2-40B4-BE49-F238E27FC236}">
                <a16:creationId xmlns:a16="http://schemas.microsoft.com/office/drawing/2014/main" id="{DF159F2F-33C7-AF3D-0895-99D23883B256}"/>
              </a:ext>
            </a:extLst>
          </p:cNvPr>
          <p:cNvSpPr/>
          <p:nvPr/>
        </p:nvSpPr>
        <p:spPr>
          <a:xfrm>
            <a:off x="4307268" y="3789584"/>
            <a:ext cx="2142142" cy="98110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EB10AD50-6D52-011B-8641-8846409B7052}"/>
              </a:ext>
            </a:extLst>
          </p:cNvPr>
          <p:cNvSpPr/>
          <p:nvPr/>
        </p:nvSpPr>
        <p:spPr>
          <a:xfrm>
            <a:off x="4021518" y="3960890"/>
            <a:ext cx="2142142" cy="98110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A07FF978-B948-B87C-153F-FB8A28592B81}"/>
              </a:ext>
            </a:extLst>
          </p:cNvPr>
          <p:cNvSpPr/>
          <p:nvPr/>
        </p:nvSpPr>
        <p:spPr>
          <a:xfrm>
            <a:off x="3735768" y="4132196"/>
            <a:ext cx="2142142" cy="98110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A037954-287C-8BBD-E27D-DACCDD2931EA}"/>
              </a:ext>
            </a:extLst>
          </p:cNvPr>
          <p:cNvSpPr/>
          <p:nvPr/>
        </p:nvSpPr>
        <p:spPr>
          <a:xfrm>
            <a:off x="3440493" y="4303502"/>
            <a:ext cx="2142142" cy="98110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B4472D33-FA00-A518-E9C8-BF6E7ABBD9A3}"/>
              </a:ext>
            </a:extLst>
          </p:cNvPr>
          <p:cNvSpPr/>
          <p:nvPr/>
        </p:nvSpPr>
        <p:spPr>
          <a:xfrm>
            <a:off x="3145218" y="4474810"/>
            <a:ext cx="2142142" cy="98110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B64FD727-0980-DF31-3DB8-4B26937D3E63}"/>
              </a:ext>
            </a:extLst>
          </p:cNvPr>
          <p:cNvSpPr txBox="1"/>
          <p:nvPr/>
        </p:nvSpPr>
        <p:spPr>
          <a:xfrm>
            <a:off x="7439280" y="2672202"/>
            <a:ext cx="4114802" cy="3831818"/>
          </a:xfrm>
          <a:prstGeom prst="rect">
            <a:avLst/>
          </a:prstGeom>
          <a:solidFill>
            <a:schemeClr val="tx1"/>
          </a:solidFill>
        </p:spPr>
        <p:txBody>
          <a:bodyPr wrap="square">
            <a:spAutoFit/>
          </a:bodyPr>
          <a:lstStyle/>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 Sample 0 (1</a:t>
            </a:r>
            <a:r>
              <a:rPr lang="ko-KR" altLang="en-US" sz="900" dirty="0">
                <a:solidFill>
                  <a:schemeClr val="bg1"/>
                </a:solidFill>
                <a:latin typeface="Calibri Light" panose="020F0302020204030204" pitchFamily="34" charset="0"/>
                <a:cs typeface="Calibri Light" panose="020F0302020204030204" pitchFamily="34" charset="0"/>
              </a:rPr>
              <a:t>일 차 거래 데이터</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[70500.0, 71000.0, 70200.0],  # Timestep 0  : 1</a:t>
            </a:r>
            <a:r>
              <a:rPr lang="ko-KR" altLang="en-US" sz="900" dirty="0">
                <a:solidFill>
                  <a:schemeClr val="bg1"/>
                </a:solidFill>
                <a:latin typeface="Calibri Light" panose="020F0302020204030204" pitchFamily="34" charset="0"/>
                <a:cs typeface="Calibri Light" panose="020F0302020204030204" pitchFamily="34" charset="0"/>
              </a:rPr>
              <a:t>분째 </a:t>
            </a:r>
            <a:r>
              <a:rPr lang="en-US" altLang="ko-KR" sz="900" dirty="0">
                <a:solidFill>
                  <a:schemeClr val="bg1"/>
                </a:solidFill>
                <a:latin typeface="Calibri Light" panose="020F0302020204030204" pitchFamily="34" charset="0"/>
                <a:cs typeface="Calibri Light" panose="020F0302020204030204" pitchFamily="34" charset="0"/>
              </a:rPr>
              <a:t>[</a:t>
            </a:r>
            <a:r>
              <a:rPr lang="ko-KR" altLang="en-US" sz="900" dirty="0">
                <a:solidFill>
                  <a:schemeClr val="bg1"/>
                </a:solidFill>
                <a:latin typeface="Calibri Light" panose="020F0302020204030204" pitchFamily="34" charset="0"/>
                <a:cs typeface="Calibri Light" panose="020F0302020204030204" pitchFamily="34" charset="0"/>
              </a:rPr>
              <a:t>현재가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고가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저가</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[70600.0, 70800.0, 70500.0],  # Timestep 1  : 2</a:t>
            </a:r>
            <a:r>
              <a:rPr lang="ko-KR" altLang="en-US" sz="900" dirty="0">
                <a:solidFill>
                  <a:schemeClr val="bg1"/>
                </a:solidFill>
                <a:latin typeface="Calibri Light" panose="020F0302020204030204" pitchFamily="34" charset="0"/>
                <a:cs typeface="Calibri Light" panose="020F0302020204030204" pitchFamily="34" charset="0"/>
              </a:rPr>
              <a:t>분째 </a:t>
            </a:r>
            <a:r>
              <a:rPr lang="en-US" altLang="ko-KR" sz="900" dirty="0">
                <a:solidFill>
                  <a:schemeClr val="bg1"/>
                </a:solidFill>
                <a:latin typeface="Calibri Light" panose="020F0302020204030204" pitchFamily="34" charset="0"/>
                <a:cs typeface="Calibri Light" panose="020F0302020204030204" pitchFamily="34" charset="0"/>
              </a:rPr>
              <a:t>[</a:t>
            </a:r>
            <a:r>
              <a:rPr lang="ko-KR" altLang="en-US" sz="900" dirty="0">
                <a:solidFill>
                  <a:schemeClr val="bg1"/>
                </a:solidFill>
                <a:latin typeface="Calibri Light" panose="020F0302020204030204" pitchFamily="34" charset="0"/>
                <a:cs typeface="Calibri Light" panose="020F0302020204030204" pitchFamily="34" charset="0"/>
              </a:rPr>
              <a:t>현재가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고가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저가</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[70400.0, 70700.0, 70300.0],  # Timestep 2  : 3</a:t>
            </a:r>
            <a:r>
              <a:rPr lang="ko-KR" altLang="en-US" sz="900" dirty="0">
                <a:solidFill>
                  <a:schemeClr val="bg1"/>
                </a:solidFill>
                <a:latin typeface="Calibri Light" panose="020F0302020204030204" pitchFamily="34" charset="0"/>
                <a:cs typeface="Calibri Light" panose="020F0302020204030204" pitchFamily="34" charset="0"/>
              </a:rPr>
              <a:t>분째 </a:t>
            </a:r>
            <a:r>
              <a:rPr lang="en-US" altLang="ko-KR" sz="900" dirty="0">
                <a:solidFill>
                  <a:schemeClr val="bg1"/>
                </a:solidFill>
                <a:latin typeface="Calibri Light" panose="020F0302020204030204" pitchFamily="34" charset="0"/>
                <a:cs typeface="Calibri Light" panose="020F0302020204030204" pitchFamily="34" charset="0"/>
              </a:rPr>
              <a:t>[</a:t>
            </a:r>
            <a:r>
              <a:rPr lang="ko-KR" altLang="en-US" sz="900" dirty="0">
                <a:solidFill>
                  <a:schemeClr val="bg1"/>
                </a:solidFill>
                <a:latin typeface="Calibri Light" panose="020F0302020204030204" pitchFamily="34" charset="0"/>
                <a:cs typeface="Calibri Light" panose="020F0302020204030204" pitchFamily="34" charset="0"/>
              </a:rPr>
              <a:t>현재가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고가</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저가</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[71200.0, 71500.0, 71000.0]   # Timestep 389: 390</a:t>
            </a:r>
            <a:r>
              <a:rPr lang="ko-KR" altLang="en-US" sz="900" dirty="0">
                <a:solidFill>
                  <a:schemeClr val="bg1"/>
                </a:solidFill>
                <a:latin typeface="Calibri Light" panose="020F0302020204030204" pitchFamily="34" charset="0"/>
                <a:cs typeface="Calibri Light" panose="020F0302020204030204" pitchFamily="34" charset="0"/>
              </a:rPr>
              <a:t>분째 </a:t>
            </a:r>
            <a:r>
              <a:rPr lang="en-US" altLang="ko-KR" sz="900" dirty="0">
                <a:solidFill>
                  <a:schemeClr val="bg1"/>
                </a:solidFill>
                <a:latin typeface="Calibri Light" panose="020F0302020204030204" pitchFamily="34" charset="0"/>
                <a:cs typeface="Calibri Light" panose="020F0302020204030204" pitchFamily="34" charset="0"/>
              </a:rPr>
              <a:t>(</a:t>
            </a:r>
            <a:r>
              <a:rPr lang="ko-KR" altLang="en-US" sz="900" dirty="0">
                <a:solidFill>
                  <a:schemeClr val="bg1"/>
                </a:solidFill>
                <a:latin typeface="Calibri Light" panose="020F0302020204030204" pitchFamily="34" charset="0"/>
                <a:cs typeface="Calibri Light" panose="020F0302020204030204" pitchFamily="34" charset="0"/>
              </a:rPr>
              <a:t>장 마감 시점</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  # Shape: (390, 3) -&gt; </a:t>
            </a:r>
            <a:r>
              <a:rPr lang="ko-KR" altLang="en-US" sz="900" dirty="0">
                <a:solidFill>
                  <a:schemeClr val="bg1"/>
                </a:solidFill>
                <a:latin typeface="Calibri Light" panose="020F0302020204030204" pitchFamily="34" charset="0"/>
                <a:cs typeface="Calibri Light" panose="020F0302020204030204" pitchFamily="34" charset="0"/>
              </a:rPr>
              <a:t>하루치</a:t>
            </a:r>
            <a:r>
              <a:rPr lang="en-US" altLang="ko-KR" sz="900" dirty="0">
                <a:solidFill>
                  <a:schemeClr val="bg1"/>
                </a:solidFill>
                <a:latin typeface="Calibri Light" panose="020F0302020204030204" pitchFamily="34" charset="0"/>
                <a:cs typeface="Calibri Light" panose="020F0302020204030204" pitchFamily="34" charset="0"/>
              </a:rPr>
              <a:t>(1</a:t>
            </a:r>
            <a:r>
              <a:rPr lang="ko-KR" altLang="en-US" sz="900" dirty="0">
                <a:solidFill>
                  <a:schemeClr val="bg1"/>
                </a:solidFill>
                <a:latin typeface="Calibri Light" panose="020F0302020204030204" pitchFamily="34" charset="0"/>
                <a:cs typeface="Calibri Light" panose="020F0302020204030204" pitchFamily="34" charset="0"/>
              </a:rPr>
              <a:t>일</a:t>
            </a:r>
            <a:r>
              <a:rPr lang="en-US" altLang="ko-KR" sz="900" dirty="0">
                <a:solidFill>
                  <a:schemeClr val="bg1"/>
                </a:solidFill>
                <a:latin typeface="Calibri Light" panose="020F0302020204030204" pitchFamily="34" charset="0"/>
                <a:cs typeface="Calibri Light" panose="020F0302020204030204" pitchFamily="34" charset="0"/>
              </a:rPr>
              <a:t>) </a:t>
            </a:r>
            <a:r>
              <a:rPr lang="ko-KR" altLang="en-US" sz="900" dirty="0">
                <a:solidFill>
                  <a:schemeClr val="bg1"/>
                </a:solidFill>
                <a:latin typeface="Calibri Light" panose="020F0302020204030204" pitchFamily="34" charset="0"/>
                <a:cs typeface="Calibri Light" panose="020F0302020204030204" pitchFamily="34" charset="0"/>
              </a:rPr>
              <a:t>거래 </a:t>
            </a:r>
            <a:r>
              <a:rPr lang="en-US" altLang="ko-KR" sz="900" dirty="0">
                <a:solidFill>
                  <a:schemeClr val="bg1"/>
                </a:solidFill>
                <a:latin typeface="Calibri Light" panose="020F0302020204030204" pitchFamily="34" charset="0"/>
                <a:cs typeface="Calibri Light" panose="020F0302020204030204" pitchFamily="34" charset="0"/>
              </a:rPr>
              <a:t>2D </a:t>
            </a:r>
            <a:r>
              <a:rPr lang="ko-KR" altLang="en-US" sz="900" dirty="0">
                <a:solidFill>
                  <a:schemeClr val="bg1"/>
                </a:solidFill>
                <a:latin typeface="Calibri Light" panose="020F0302020204030204" pitchFamily="34" charset="0"/>
                <a:cs typeface="Calibri Light" panose="020F0302020204030204" pitchFamily="34" charset="0"/>
              </a:rPr>
              <a:t>행렬</a:t>
            </a:r>
          </a:p>
          <a:p>
            <a:endParaRPr lang="ko-KR" altLang="en-US" sz="900" dirty="0">
              <a:solidFill>
                <a:schemeClr val="bg1"/>
              </a:solidFill>
              <a:latin typeface="Calibri Light" panose="020F0302020204030204" pitchFamily="34" charset="0"/>
              <a:cs typeface="Calibri Light" panose="020F0302020204030204" pitchFamily="34" charset="0"/>
            </a:endParaRP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 --- Sample 1 (2</a:t>
            </a:r>
            <a:r>
              <a:rPr lang="ko-KR" altLang="en-US" sz="900" dirty="0">
                <a:solidFill>
                  <a:schemeClr val="bg1"/>
                </a:solidFill>
                <a:latin typeface="Calibri Light" panose="020F0302020204030204" pitchFamily="34" charset="0"/>
                <a:cs typeface="Calibri Light" panose="020F0302020204030204" pitchFamily="34" charset="0"/>
              </a:rPr>
              <a:t>일 차 거래 데이터</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[71300.0, 71800.0, 71200.0],  # Timestep 0  : 1</a:t>
            </a:r>
            <a:r>
              <a:rPr lang="ko-KR" altLang="en-US" sz="900" dirty="0">
                <a:solidFill>
                  <a:schemeClr val="bg1"/>
                </a:solidFill>
                <a:latin typeface="Calibri Light" panose="020F0302020204030204" pitchFamily="34" charset="0"/>
                <a:cs typeface="Calibri Light" panose="020F0302020204030204" pitchFamily="34" charset="0"/>
              </a:rPr>
              <a:t>분째</a:t>
            </a: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[71500.0, 71600.0, 71300.0],  # Timestep 1  : 2</a:t>
            </a:r>
            <a:r>
              <a:rPr lang="ko-KR" altLang="en-US" sz="900" dirty="0">
                <a:solidFill>
                  <a:schemeClr val="bg1"/>
                </a:solidFill>
                <a:latin typeface="Calibri Light" panose="020F0302020204030204" pitchFamily="34" charset="0"/>
                <a:cs typeface="Calibri Light" panose="020F0302020204030204" pitchFamily="34" charset="0"/>
              </a:rPr>
              <a:t>분째</a:t>
            </a: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[72000.0, 72200.0, 71900.0]   # Timestep 389: 390</a:t>
            </a:r>
            <a:r>
              <a:rPr lang="ko-KR" altLang="en-US" sz="900" dirty="0">
                <a:solidFill>
                  <a:schemeClr val="bg1"/>
                </a:solidFill>
                <a:latin typeface="Calibri Light" panose="020F0302020204030204" pitchFamily="34" charset="0"/>
                <a:cs typeface="Calibri Light" panose="020F0302020204030204" pitchFamily="34" charset="0"/>
              </a:rPr>
              <a:t>분째</a:t>
            </a: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a:t>
            </a:r>
          </a:p>
          <a:p>
            <a:endParaRPr lang="en-US" altLang="ko-KR" sz="900" dirty="0">
              <a:solidFill>
                <a:schemeClr val="bg1"/>
              </a:solidFill>
              <a:latin typeface="Calibri Light" panose="020F0302020204030204" pitchFamily="34" charset="0"/>
              <a:cs typeface="Calibri Light" panose="020F0302020204030204" pitchFamily="34" charset="0"/>
            </a:endParaRPr>
          </a:p>
          <a:p>
            <a:r>
              <a:rPr lang="en-US" altLang="ko-KR" sz="900" dirty="0">
                <a:solidFill>
                  <a:schemeClr val="bg1"/>
                </a:solidFill>
                <a:latin typeface="Calibri Light" panose="020F0302020204030204" pitchFamily="34" charset="0"/>
                <a:cs typeface="Calibri Light" panose="020F0302020204030204" pitchFamily="34" charset="0"/>
              </a:rPr>
              <a:t>    ...</a:t>
            </a:r>
          </a:p>
          <a:p>
            <a:endParaRPr lang="en-US" altLang="ko-KR" sz="900" dirty="0">
              <a:solidFill>
                <a:schemeClr val="bg1"/>
              </a:solidFill>
              <a:latin typeface="Calibri Light" panose="020F0302020204030204" pitchFamily="34" charset="0"/>
              <a:cs typeface="Calibri Light" panose="020F0302020204030204" pitchFamily="34" charset="0"/>
            </a:endParaRPr>
          </a:p>
          <a:p>
            <a:r>
              <a:rPr lang="en-US" altLang="ko-KR" sz="900" dirty="0">
                <a:solidFill>
                  <a:schemeClr val="bg1"/>
                </a:solidFill>
                <a:latin typeface="Calibri Light" panose="020F0302020204030204" pitchFamily="34" charset="0"/>
                <a:cs typeface="Calibri Light" panose="020F0302020204030204" pitchFamily="34" charset="0"/>
              </a:rPr>
              <a:t>    # --- Sample 249 (250</a:t>
            </a:r>
            <a:r>
              <a:rPr lang="ko-KR" altLang="en-US" sz="900" dirty="0">
                <a:solidFill>
                  <a:schemeClr val="bg1"/>
                </a:solidFill>
                <a:latin typeface="Calibri Light" panose="020F0302020204030204" pitchFamily="34" charset="0"/>
                <a:cs typeface="Calibri Light" panose="020F0302020204030204" pitchFamily="34" charset="0"/>
              </a:rPr>
              <a:t>일 차 거래 데이터</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[68000.0, 68500.0, 67900.0],  # Timestep 0  : 1</a:t>
            </a:r>
            <a:r>
              <a:rPr lang="ko-KR" altLang="en-US" sz="900" dirty="0">
                <a:solidFill>
                  <a:schemeClr val="bg1"/>
                </a:solidFill>
                <a:latin typeface="Calibri Light" panose="020F0302020204030204" pitchFamily="34" charset="0"/>
                <a:cs typeface="Calibri Light" panose="020F0302020204030204" pitchFamily="34" charset="0"/>
              </a:rPr>
              <a:t>분째</a:t>
            </a: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[69100.0, 69300.0, 68800.0]   # Timestep 389: 390</a:t>
            </a:r>
            <a:r>
              <a:rPr lang="ko-KR" altLang="en-US" sz="900" dirty="0">
                <a:solidFill>
                  <a:schemeClr val="bg1"/>
                </a:solidFill>
                <a:latin typeface="Calibri Light" panose="020F0302020204030204" pitchFamily="34" charset="0"/>
                <a:cs typeface="Calibri Light" panose="020F0302020204030204" pitchFamily="34" charset="0"/>
              </a:rPr>
              <a:t>분째</a:t>
            </a: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a:t>
            </a:r>
            <a:endParaRPr lang="ko-KR" altLang="en-US" sz="900" dirty="0">
              <a:solidFill>
                <a:schemeClr val="bg1"/>
              </a:solidFill>
              <a:latin typeface="Calibri Light" panose="020F0302020204030204" pitchFamily="34" charset="0"/>
              <a:cs typeface="Calibri Light" panose="020F0302020204030204" pitchFamily="34" charset="0"/>
            </a:endParaRPr>
          </a:p>
        </p:txBody>
      </p:sp>
      <p:sp>
        <p:nvSpPr>
          <p:cNvPr id="7" name="왼쪽 중괄호 6">
            <a:extLst>
              <a:ext uri="{FF2B5EF4-FFF2-40B4-BE49-F238E27FC236}">
                <a16:creationId xmlns:a16="http://schemas.microsoft.com/office/drawing/2014/main" id="{627DBF7F-4DEA-5C88-2727-354E5C3DD492}"/>
              </a:ext>
            </a:extLst>
          </p:cNvPr>
          <p:cNvSpPr/>
          <p:nvPr/>
        </p:nvSpPr>
        <p:spPr>
          <a:xfrm>
            <a:off x="2802572" y="4490748"/>
            <a:ext cx="190246" cy="949231"/>
          </a:xfrm>
          <a:prstGeom prst="leftBrace">
            <a:avLst>
              <a:gd name="adj1" fmla="val 47051"/>
              <a:gd name="adj2" fmla="val 50000"/>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9" name="왼쪽 중괄호 8">
            <a:extLst>
              <a:ext uri="{FF2B5EF4-FFF2-40B4-BE49-F238E27FC236}">
                <a16:creationId xmlns:a16="http://schemas.microsoft.com/office/drawing/2014/main" id="{DBB2F763-D1A0-5F12-E69A-366DB63B9C91}"/>
              </a:ext>
            </a:extLst>
          </p:cNvPr>
          <p:cNvSpPr/>
          <p:nvPr/>
        </p:nvSpPr>
        <p:spPr>
          <a:xfrm rot="16200000">
            <a:off x="4097986" y="4706853"/>
            <a:ext cx="218948" cy="2053124"/>
          </a:xfrm>
          <a:prstGeom prst="leftBrace">
            <a:avLst>
              <a:gd name="adj1" fmla="val 47051"/>
              <a:gd name="adj2" fmla="val 50000"/>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11" name="왼쪽 중괄호 10">
            <a:extLst>
              <a:ext uri="{FF2B5EF4-FFF2-40B4-BE49-F238E27FC236}">
                <a16:creationId xmlns:a16="http://schemas.microsoft.com/office/drawing/2014/main" id="{8621A218-679E-9132-63F5-3B49374C1CE9}"/>
              </a:ext>
            </a:extLst>
          </p:cNvPr>
          <p:cNvSpPr/>
          <p:nvPr/>
        </p:nvSpPr>
        <p:spPr>
          <a:xfrm rot="14331003">
            <a:off x="5912756" y="4646144"/>
            <a:ext cx="218948" cy="1365651"/>
          </a:xfrm>
          <a:prstGeom prst="leftBrace">
            <a:avLst>
              <a:gd name="adj1" fmla="val 47051"/>
              <a:gd name="adj2" fmla="val 50000"/>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818BB3DE-384A-29CE-CA30-64AA8876FE71}"/>
              </a:ext>
            </a:extLst>
          </p:cNvPr>
          <p:cNvSpPr txBox="1"/>
          <p:nvPr/>
        </p:nvSpPr>
        <p:spPr>
          <a:xfrm>
            <a:off x="609240" y="3097626"/>
            <a:ext cx="6639182" cy="276999"/>
          </a:xfrm>
          <a:prstGeom prst="rect">
            <a:avLst/>
          </a:prstGeom>
          <a:solidFill>
            <a:schemeClr val="accent1"/>
          </a:solidFill>
        </p:spPr>
        <p:txBody>
          <a:bodyPr wrap="square">
            <a:spAutoFit/>
          </a:bodyPr>
          <a:lstStyle/>
          <a:p>
            <a:pPr algn="ctr"/>
            <a:r>
              <a:rPr lang="en-US" altLang="ko-KR" sz="1200" b="0" i="0" dirty="0">
                <a:solidFill>
                  <a:schemeClr val="bg1"/>
                </a:solidFill>
                <a:effectLst/>
                <a:latin typeface="D2Coding" panose="020B0609020101020101" pitchFamily="49" charset="-127"/>
                <a:ea typeface="D2Coding" panose="020B0609020101020101" pitchFamily="49" charset="-127"/>
              </a:rPr>
              <a:t>rank-3 tensor of shape (250, 390, 3) </a:t>
            </a:r>
            <a:r>
              <a:rPr lang="en-US" altLang="ko-KR" sz="1200" b="0" i="0" dirty="0">
                <a:solidFill>
                  <a:schemeClr val="bg1"/>
                </a:solidFill>
                <a:effectLst/>
                <a:latin typeface="D2Coding" panose="020B0609020101020101" pitchFamily="49" charset="-127"/>
                <a:ea typeface="D2Coding" panose="020B0609020101020101" pitchFamily="49" charset="-127"/>
                <a:sym typeface="Wingdings" panose="05000000000000000000" pitchFamily="2" charset="2"/>
              </a:rPr>
              <a:t> </a:t>
            </a:r>
            <a:r>
              <a:rPr lang="en-US" altLang="ko-KR" sz="1200" dirty="0">
                <a:solidFill>
                  <a:schemeClr val="bg1"/>
                </a:solidFill>
                <a:latin typeface="D2Coding" panose="020B0609020101020101" pitchFamily="49" charset="-127"/>
                <a:ea typeface="D2Coding" panose="020B0609020101020101" pitchFamily="49" charset="-127"/>
              </a:rPr>
              <a:t>(Batch size, Timesteps, # of Features)</a:t>
            </a:r>
            <a:endParaRPr lang="ko-KR" altLang="en-US" sz="1200" dirty="0">
              <a:solidFill>
                <a:schemeClr val="bg1"/>
              </a:solidFill>
            </a:endParaRPr>
          </a:p>
        </p:txBody>
      </p:sp>
    </p:spTree>
    <p:extLst>
      <p:ext uri="{BB962C8B-B14F-4D97-AF65-F5344CB8AC3E}">
        <p14:creationId xmlns:p14="http://schemas.microsoft.com/office/powerpoint/2010/main" val="213279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4856-2697-B254-2AF7-2F995A4352FC}"/>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78F97AB-AE0A-9BC4-2D74-5881AFB942C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sp>
        <p:nvSpPr>
          <p:cNvPr id="10" name="TextBox 9">
            <a:extLst>
              <a:ext uri="{FF2B5EF4-FFF2-40B4-BE49-F238E27FC236}">
                <a16:creationId xmlns:a16="http://schemas.microsoft.com/office/drawing/2014/main" id="{74674BE7-A73E-7A0A-6192-036CC37B706B}"/>
              </a:ext>
            </a:extLst>
          </p:cNvPr>
          <p:cNvSpPr txBox="1"/>
          <p:nvPr/>
        </p:nvSpPr>
        <p:spPr>
          <a:xfrm>
            <a:off x="617781" y="1186164"/>
            <a:ext cx="10955093" cy="1351973"/>
          </a:xfrm>
          <a:prstGeom prst="rect">
            <a:avLst/>
          </a:prstGeom>
          <a:noFill/>
          <a:ln>
            <a:noFill/>
          </a:ln>
        </p:spPr>
        <p:txBody>
          <a:bodyPr wrap="square">
            <a:spAutoFit/>
          </a:bodyPr>
          <a:lstStyle/>
          <a:p>
            <a:pPr marL="285750" indent="-285750" algn="just">
              <a:lnSpc>
                <a:spcPct val="150000"/>
              </a:lnSpc>
              <a:buFont typeface="Wingdings" panose="05000000000000000000" pitchFamily="2" charset="2"/>
              <a:buChar char="v"/>
            </a:pPr>
            <a:r>
              <a:rPr lang="en-US" altLang="ko-KR" sz="1400" b="1" i="1" dirty="0">
                <a:latin typeface="D2Coding" panose="020B0609020101020101" pitchFamily="49" charset="-127"/>
                <a:ea typeface="D2Coding" panose="020B0609020101020101" pitchFamily="49" charset="-127"/>
              </a:rPr>
              <a:t>A dataset of tweets, where we encode each tweet as a sequence of 280 characters out of an alphabet of 128 unique characters</a:t>
            </a:r>
            <a:r>
              <a:rPr lang="en-US" altLang="ko-KR" sz="1400" b="1"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In this setting, each character can be encoded as a binary vector of size 128 (an all-zeros vector except for a 1 entry at the index corresponding to the character). Then each tweet can be encoded as a rank-2 tensor of shape (280, 128), and a dataset of 1 million tweets can be stored in a tensor of shape (1000000, 280, 128).</a:t>
            </a:r>
          </a:p>
        </p:txBody>
      </p:sp>
      <p:sp>
        <p:nvSpPr>
          <p:cNvPr id="2" name="슬라이드 번호 개체 틀 3">
            <a:extLst>
              <a:ext uri="{FF2B5EF4-FFF2-40B4-BE49-F238E27FC236}">
                <a16:creationId xmlns:a16="http://schemas.microsoft.com/office/drawing/2014/main" id="{B98289C3-2036-C86F-B298-743B29B5768A}"/>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18</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DF6441B7-8549-D2AC-B4CE-CE0A975453C1}"/>
              </a:ext>
            </a:extLst>
          </p:cNvPr>
          <p:cNvSpPr>
            <a:spLocks noChangeArrowheads="1"/>
          </p:cNvSpPr>
          <p:nvPr/>
        </p:nvSpPr>
        <p:spPr bwMode="auto">
          <a:xfrm>
            <a:off x="629040" y="4704048"/>
            <a:ext cx="2476292"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algn="ctr" eaLnBrk="0" fontAlgn="base" hangingPunct="0">
              <a:spcBef>
                <a:spcPct val="0"/>
              </a:spcBef>
              <a:spcAft>
                <a:spcPct val="0"/>
              </a:spcAft>
            </a:pPr>
            <a:r>
              <a:rPr lang="en-US" altLang="ko-KR" sz="1600" b="1" dirty="0">
                <a:latin typeface="D2Coding" panose="020B0609020101020101" pitchFamily="49" charset="-127"/>
                <a:ea typeface="D2Coding" panose="020B0609020101020101" pitchFamily="49" charset="-127"/>
              </a:rPr>
              <a:t>128</a:t>
            </a:r>
            <a:r>
              <a:rPr lang="ko-KR" altLang="ko-KR" sz="1600" dirty="0">
                <a:latin typeface="D2Coding" panose="020B0609020101020101" pitchFamily="49" charset="-127"/>
                <a:ea typeface="D2Coding" panose="020B0609020101020101" pitchFamily="49" charset="-127"/>
              </a:rPr>
              <a:t> (문자 인코딩 차원)</a:t>
            </a:r>
            <a:endParaRPr lang="en-US" altLang="ko-KR" sz="1600" dirty="0">
              <a:latin typeface="D2Coding" panose="020B0609020101020101" pitchFamily="49" charset="-127"/>
              <a:ea typeface="D2Coding" panose="020B0609020101020101" pitchFamily="49" charset="-127"/>
            </a:endParaRPr>
          </a:p>
          <a:p>
            <a:pPr algn="ctr" eaLnBrk="0" fontAlgn="base" hangingPunct="0">
              <a:spcBef>
                <a:spcPct val="0"/>
              </a:spcBef>
              <a:spcAft>
                <a:spcPct val="0"/>
              </a:spcAft>
            </a:pPr>
            <a:r>
              <a:rPr lang="en-US" altLang="ko-KR" sz="1600" dirty="0">
                <a:latin typeface="D2Coding" panose="020B0609020101020101" pitchFamily="49" charset="-127"/>
                <a:ea typeface="D2Coding" panose="020B0609020101020101" pitchFamily="49" charset="-127"/>
              </a:rPr>
              <a:t>Embedding vectors</a:t>
            </a:r>
            <a:endParaRPr lang="ko-KR" altLang="ko-KR" sz="1600" dirty="0">
              <a:latin typeface="D2Coding" panose="020B0609020101020101" pitchFamily="49" charset="-127"/>
              <a:ea typeface="D2Coding" panose="020B0609020101020101" pitchFamily="49" charset="-127"/>
            </a:endParaRPr>
          </a:p>
        </p:txBody>
      </p:sp>
      <p:sp>
        <p:nvSpPr>
          <p:cNvPr id="5" name="Rectangle 1">
            <a:extLst>
              <a:ext uri="{FF2B5EF4-FFF2-40B4-BE49-F238E27FC236}">
                <a16:creationId xmlns:a16="http://schemas.microsoft.com/office/drawing/2014/main" id="{A1971871-BF30-B1F4-9E41-9936364DF5A2}"/>
              </a:ext>
            </a:extLst>
          </p:cNvPr>
          <p:cNvSpPr>
            <a:spLocks noChangeArrowheads="1"/>
          </p:cNvSpPr>
          <p:nvPr/>
        </p:nvSpPr>
        <p:spPr bwMode="auto">
          <a:xfrm>
            <a:off x="5457825" y="5487271"/>
            <a:ext cx="1523896"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lvl="0" algn="ctr" eaLnBrk="0" fontAlgn="base" hangingPunct="0">
              <a:spcBef>
                <a:spcPct val="0"/>
              </a:spcBef>
              <a:spcAft>
                <a:spcPct val="0"/>
              </a:spcAft>
            </a:pPr>
            <a:r>
              <a:rPr lang="ko-KR" altLang="ko-KR" sz="1600" b="1" dirty="0">
                <a:latin typeface="D2Coding" panose="020B0609020101020101" pitchFamily="49" charset="-127"/>
                <a:ea typeface="D2Coding" panose="020B0609020101020101" pitchFamily="49" charset="-127"/>
              </a:rPr>
              <a:t>1,000,000</a:t>
            </a:r>
            <a:r>
              <a:rPr lang="ko-KR" altLang="ko-KR" sz="1600" dirty="0">
                <a:latin typeface="D2Coding" panose="020B0609020101020101" pitchFamily="49" charset="-127"/>
                <a:ea typeface="D2Coding" panose="020B0609020101020101" pitchFamily="49" charset="-127"/>
              </a:rPr>
              <a:t> </a:t>
            </a:r>
            <a:endParaRPr lang="en-US" altLang="ko-KR" sz="1600" dirty="0">
              <a:latin typeface="D2Coding" panose="020B0609020101020101" pitchFamily="49" charset="-127"/>
              <a:ea typeface="D2Coding" panose="020B0609020101020101" pitchFamily="49" charset="-127"/>
            </a:endParaRPr>
          </a:p>
          <a:p>
            <a:pPr lvl="0" algn="ctr" eaLnBrk="0" fontAlgn="base" hangingPunct="0">
              <a:spcBef>
                <a:spcPct val="0"/>
              </a:spcBef>
              <a:spcAft>
                <a:spcPct val="0"/>
              </a:spcAft>
            </a:pPr>
            <a:r>
              <a:rPr lang="ko-KR" altLang="ko-KR" sz="1600" dirty="0">
                <a:latin typeface="D2Coding" panose="020B0609020101020101" pitchFamily="49" charset="-127"/>
                <a:ea typeface="D2Coding" panose="020B0609020101020101" pitchFamily="49" charset="-127"/>
              </a:rPr>
              <a:t>(100만개 트윗)</a:t>
            </a:r>
            <a:r>
              <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rPr>
              <a:t> </a:t>
            </a:r>
          </a:p>
        </p:txBody>
      </p:sp>
      <p:sp>
        <p:nvSpPr>
          <p:cNvPr id="6" name="Rectangle 1">
            <a:extLst>
              <a:ext uri="{FF2B5EF4-FFF2-40B4-BE49-F238E27FC236}">
                <a16:creationId xmlns:a16="http://schemas.microsoft.com/office/drawing/2014/main" id="{6233A520-1D81-E17B-2ADD-069D0AAF4F07}"/>
              </a:ext>
            </a:extLst>
          </p:cNvPr>
          <p:cNvSpPr>
            <a:spLocks noChangeArrowheads="1"/>
          </p:cNvSpPr>
          <p:nvPr/>
        </p:nvSpPr>
        <p:spPr bwMode="auto">
          <a:xfrm>
            <a:off x="2981533" y="6025880"/>
            <a:ext cx="24762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lvl="0" eaLnBrk="0" fontAlgn="base" hangingPunct="0">
              <a:spcBef>
                <a:spcPct val="0"/>
              </a:spcBef>
              <a:spcAft>
                <a:spcPct val="0"/>
              </a:spcAft>
            </a:pPr>
            <a:r>
              <a:rPr lang="ko-KR" altLang="ko-KR" sz="1600" b="1" dirty="0">
                <a:latin typeface="D2Coding" panose="020B0609020101020101" pitchFamily="49" charset="-127"/>
                <a:ea typeface="D2Coding" panose="020B0609020101020101" pitchFamily="49" charset="-127"/>
              </a:rPr>
              <a:t>280</a:t>
            </a:r>
            <a:r>
              <a:rPr lang="ko-KR" altLang="ko-KR" sz="1600" dirty="0">
                <a:latin typeface="D2Coding" panose="020B0609020101020101" pitchFamily="49" charset="-127"/>
                <a:ea typeface="D2Coding" panose="020B0609020101020101" pitchFamily="49" charset="-127"/>
              </a:rPr>
              <a:t> (최대 280글자)</a:t>
            </a:r>
            <a:endParaRPr kumimoji="0" lang="ko-KR" altLang="ko-KR" sz="1600" i="0" u="none" strike="noStrike" cap="none" normalizeH="0" baseline="0" dirty="0">
              <a:ln>
                <a:noFill/>
              </a:ln>
              <a:solidFill>
                <a:schemeClr val="tx1"/>
              </a:solidFill>
              <a:effectLst/>
              <a:latin typeface="D2Coding" panose="020B0609020101020101" pitchFamily="49" charset="-127"/>
              <a:ea typeface="D2Coding" panose="020B0609020101020101" pitchFamily="49" charset="-127"/>
            </a:endParaRPr>
          </a:p>
        </p:txBody>
      </p:sp>
      <p:sp>
        <p:nvSpPr>
          <p:cNvPr id="8" name="직사각형 7">
            <a:extLst>
              <a:ext uri="{FF2B5EF4-FFF2-40B4-BE49-F238E27FC236}">
                <a16:creationId xmlns:a16="http://schemas.microsoft.com/office/drawing/2014/main" id="{99CD4878-C6DA-69D8-8A85-927C2C6618E1}"/>
              </a:ext>
            </a:extLst>
          </p:cNvPr>
          <p:cNvSpPr/>
          <p:nvPr/>
        </p:nvSpPr>
        <p:spPr>
          <a:xfrm>
            <a:off x="4201508" y="3773169"/>
            <a:ext cx="1542067" cy="1200184"/>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DE6873BF-607C-4624-A2C5-167CDD51E70C}"/>
              </a:ext>
            </a:extLst>
          </p:cNvPr>
          <p:cNvSpPr/>
          <p:nvPr/>
        </p:nvSpPr>
        <p:spPr>
          <a:xfrm>
            <a:off x="3915758" y="3944475"/>
            <a:ext cx="1542067" cy="1200184"/>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C5EA5AF-1600-2940-0DA2-8AE4B4E6E0B5}"/>
              </a:ext>
            </a:extLst>
          </p:cNvPr>
          <p:cNvSpPr/>
          <p:nvPr/>
        </p:nvSpPr>
        <p:spPr>
          <a:xfrm>
            <a:off x="3630008" y="4115781"/>
            <a:ext cx="1542067" cy="1200184"/>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D5058F58-336E-E1A3-93C9-F55C54D17582}"/>
              </a:ext>
            </a:extLst>
          </p:cNvPr>
          <p:cNvSpPr/>
          <p:nvPr/>
        </p:nvSpPr>
        <p:spPr>
          <a:xfrm>
            <a:off x="3334733" y="4287087"/>
            <a:ext cx="1542067" cy="1200184"/>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E29B46FB-0C0A-E50E-AF57-230FFA62C019}"/>
              </a:ext>
            </a:extLst>
          </p:cNvPr>
          <p:cNvSpPr/>
          <p:nvPr/>
        </p:nvSpPr>
        <p:spPr>
          <a:xfrm>
            <a:off x="3039458" y="4458395"/>
            <a:ext cx="1542067" cy="1200184"/>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3AE6937D-9826-9007-BE74-FFB843EAE271}"/>
              </a:ext>
            </a:extLst>
          </p:cNvPr>
          <p:cNvSpPr txBox="1"/>
          <p:nvPr/>
        </p:nvSpPr>
        <p:spPr>
          <a:xfrm>
            <a:off x="7286625" y="2672202"/>
            <a:ext cx="4467482" cy="3831818"/>
          </a:xfrm>
          <a:prstGeom prst="rect">
            <a:avLst/>
          </a:prstGeom>
          <a:solidFill>
            <a:schemeClr val="tx1"/>
          </a:solidFill>
        </p:spPr>
        <p:txBody>
          <a:bodyPr wrap="square">
            <a:spAutoFit/>
          </a:bodyPr>
          <a:lstStyle/>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 Sample 0 (</a:t>
            </a:r>
            <a:r>
              <a:rPr lang="ko-KR" altLang="en-US" sz="900" dirty="0">
                <a:solidFill>
                  <a:schemeClr val="bg1"/>
                </a:solidFill>
                <a:latin typeface="Calibri Light" panose="020F0302020204030204" pitchFamily="34" charset="0"/>
                <a:cs typeface="Calibri Light" panose="020F0302020204030204" pitchFamily="34" charset="0"/>
              </a:rPr>
              <a:t>첫 번째 트윗</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[ 0.12, -0.85,  0.43, ...,  0.07],  # Timestep 0 : 1</a:t>
            </a:r>
            <a:r>
              <a:rPr lang="ko-KR" altLang="en-US" sz="900" dirty="0">
                <a:solidFill>
                  <a:schemeClr val="bg1"/>
                </a:solidFill>
                <a:latin typeface="Calibri Light" panose="020F0302020204030204" pitchFamily="34" charset="0"/>
                <a:cs typeface="Calibri Light" panose="020F0302020204030204" pitchFamily="34" charset="0"/>
              </a:rPr>
              <a:t>번째 글자 </a:t>
            </a:r>
            <a:r>
              <a:rPr lang="en-US" altLang="ko-KR" sz="900" dirty="0">
                <a:solidFill>
                  <a:schemeClr val="bg1"/>
                </a:solidFill>
                <a:latin typeface="Calibri Light" panose="020F0302020204030204" pitchFamily="34" charset="0"/>
                <a:cs typeface="Calibri Light" panose="020F0302020204030204" pitchFamily="34" charset="0"/>
              </a:rPr>
              <a:t>('T'</a:t>
            </a:r>
            <a:r>
              <a:rPr lang="ko-KR" altLang="en-US" sz="900" dirty="0">
                <a:solidFill>
                  <a:schemeClr val="bg1"/>
                </a:solidFill>
                <a:latin typeface="Calibri Light" panose="020F0302020204030204" pitchFamily="34" charset="0"/>
                <a:cs typeface="Calibri Light" panose="020F0302020204030204" pitchFamily="34" charset="0"/>
              </a:rPr>
              <a:t>의 </a:t>
            </a:r>
            <a:r>
              <a:rPr lang="en-US" altLang="ko-KR" sz="900" dirty="0">
                <a:solidFill>
                  <a:schemeClr val="bg1"/>
                </a:solidFill>
                <a:latin typeface="Calibri Light" panose="020F0302020204030204" pitchFamily="34" charset="0"/>
                <a:cs typeface="Calibri Light" panose="020F0302020204030204" pitchFamily="34" charset="0"/>
              </a:rPr>
              <a:t>32</a:t>
            </a:r>
            <a:r>
              <a:rPr lang="ko-KR" altLang="en-US" sz="900" dirty="0">
                <a:solidFill>
                  <a:schemeClr val="bg1"/>
                </a:solidFill>
                <a:latin typeface="Calibri Light" panose="020F0302020204030204" pitchFamily="34" charset="0"/>
                <a:cs typeface="Calibri Light" panose="020F0302020204030204" pitchFamily="34" charset="0"/>
              </a:rPr>
              <a:t>차원 실수 벡터</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[-0.41,  0.22, -0.19, ..., -0.63],  # Timestep 1 : 2</a:t>
            </a:r>
            <a:r>
              <a:rPr lang="ko-KR" altLang="en-US" sz="900" dirty="0">
                <a:solidFill>
                  <a:schemeClr val="bg1"/>
                </a:solidFill>
                <a:latin typeface="Calibri Light" panose="020F0302020204030204" pitchFamily="34" charset="0"/>
                <a:cs typeface="Calibri Light" panose="020F0302020204030204" pitchFamily="34" charset="0"/>
              </a:rPr>
              <a:t>번째 글자 </a:t>
            </a:r>
            <a:r>
              <a:rPr lang="en-US" altLang="ko-KR" sz="900" dirty="0">
                <a:solidFill>
                  <a:schemeClr val="bg1"/>
                </a:solidFill>
                <a:latin typeface="Calibri Light" panose="020F0302020204030204" pitchFamily="34" charset="0"/>
                <a:cs typeface="Calibri Light" panose="020F0302020204030204" pitchFamily="34" charset="0"/>
              </a:rPr>
              <a:t>('w'</a:t>
            </a:r>
            <a:r>
              <a:rPr lang="ko-KR" altLang="en-US" sz="900" dirty="0">
                <a:solidFill>
                  <a:schemeClr val="bg1"/>
                </a:solidFill>
                <a:latin typeface="Calibri Light" panose="020F0302020204030204" pitchFamily="34" charset="0"/>
                <a:cs typeface="Calibri Light" panose="020F0302020204030204" pitchFamily="34" charset="0"/>
              </a:rPr>
              <a:t>의 </a:t>
            </a:r>
            <a:r>
              <a:rPr lang="en-US" altLang="ko-KR" sz="900" dirty="0">
                <a:solidFill>
                  <a:schemeClr val="bg1"/>
                </a:solidFill>
                <a:latin typeface="Calibri Light" panose="020F0302020204030204" pitchFamily="34" charset="0"/>
                <a:cs typeface="Calibri Light" panose="020F0302020204030204" pitchFamily="34" charset="0"/>
              </a:rPr>
              <a:t>32</a:t>
            </a:r>
            <a:r>
              <a:rPr lang="ko-KR" altLang="en-US" sz="900" dirty="0">
                <a:solidFill>
                  <a:schemeClr val="bg1"/>
                </a:solidFill>
                <a:latin typeface="Calibri Light" panose="020F0302020204030204" pitchFamily="34" charset="0"/>
                <a:cs typeface="Calibri Light" panose="020F0302020204030204" pitchFamily="34" charset="0"/>
              </a:rPr>
              <a:t>차원 실수 벡터</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[ 0.95, -0.04,  0.51, ...,  0.31],  # Timestep 2 : 3</a:t>
            </a:r>
            <a:r>
              <a:rPr lang="ko-KR" altLang="en-US" sz="900" dirty="0">
                <a:solidFill>
                  <a:schemeClr val="bg1"/>
                </a:solidFill>
                <a:latin typeface="Calibri Light" panose="020F0302020204030204" pitchFamily="34" charset="0"/>
                <a:cs typeface="Calibri Light" panose="020F0302020204030204" pitchFamily="34" charset="0"/>
              </a:rPr>
              <a:t>번째 글자 </a:t>
            </a:r>
            <a:r>
              <a:rPr lang="en-US" altLang="ko-KR" sz="900" dirty="0">
                <a:solidFill>
                  <a:schemeClr val="bg1"/>
                </a:solidFill>
                <a:latin typeface="Calibri Light" panose="020F0302020204030204" pitchFamily="34" charset="0"/>
                <a:cs typeface="Calibri Light" panose="020F0302020204030204" pitchFamily="34" charset="0"/>
              </a:rPr>
              <a:t>('e'</a:t>
            </a:r>
            <a:r>
              <a:rPr lang="ko-KR" altLang="en-US" sz="900" dirty="0">
                <a:solidFill>
                  <a:schemeClr val="bg1"/>
                </a:solidFill>
                <a:latin typeface="Calibri Light" panose="020F0302020204030204" pitchFamily="34" charset="0"/>
                <a:cs typeface="Calibri Light" panose="020F0302020204030204" pitchFamily="34" charset="0"/>
              </a:rPr>
              <a:t>의 </a:t>
            </a:r>
            <a:r>
              <a:rPr lang="en-US" altLang="ko-KR" sz="900" dirty="0">
                <a:solidFill>
                  <a:schemeClr val="bg1"/>
                </a:solidFill>
                <a:latin typeface="Calibri Light" panose="020F0302020204030204" pitchFamily="34" charset="0"/>
                <a:cs typeface="Calibri Light" panose="020F0302020204030204" pitchFamily="34" charset="0"/>
              </a:rPr>
              <a:t>32</a:t>
            </a:r>
            <a:r>
              <a:rPr lang="ko-KR" altLang="en-US" sz="900" dirty="0">
                <a:solidFill>
                  <a:schemeClr val="bg1"/>
                </a:solidFill>
                <a:latin typeface="Calibri Light" panose="020F0302020204030204" pitchFamily="34" charset="0"/>
                <a:cs typeface="Calibri Light" panose="020F0302020204030204" pitchFamily="34" charset="0"/>
              </a:rPr>
              <a:t>차원 실수 벡터</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[-0.11,  0.78, -0.34, ..., -0.25]   # Timestep 279: 280</a:t>
            </a:r>
            <a:r>
              <a:rPr lang="ko-KR" altLang="en-US" sz="900" dirty="0">
                <a:solidFill>
                  <a:schemeClr val="bg1"/>
                </a:solidFill>
                <a:latin typeface="Calibri Light" panose="020F0302020204030204" pitchFamily="34" charset="0"/>
                <a:cs typeface="Calibri Light" panose="020F0302020204030204" pitchFamily="34" charset="0"/>
              </a:rPr>
              <a:t>번째 글자 </a:t>
            </a:r>
            <a:r>
              <a:rPr lang="en-US" altLang="ko-KR" sz="900" dirty="0">
                <a:solidFill>
                  <a:schemeClr val="bg1"/>
                </a:solidFill>
                <a:latin typeface="Calibri Light" panose="020F0302020204030204" pitchFamily="34" charset="0"/>
                <a:cs typeface="Calibri Light" panose="020F0302020204030204" pitchFamily="34" charset="0"/>
              </a:rPr>
              <a:t>('!'</a:t>
            </a:r>
            <a:r>
              <a:rPr lang="ko-KR" altLang="en-US" sz="900" dirty="0">
                <a:solidFill>
                  <a:schemeClr val="bg1"/>
                </a:solidFill>
                <a:latin typeface="Calibri Light" panose="020F0302020204030204" pitchFamily="34" charset="0"/>
                <a:cs typeface="Calibri Light" panose="020F0302020204030204" pitchFamily="34" charset="0"/>
              </a:rPr>
              <a:t>의 </a:t>
            </a:r>
            <a:r>
              <a:rPr lang="en-US" altLang="ko-KR" sz="900" dirty="0">
                <a:solidFill>
                  <a:schemeClr val="bg1"/>
                </a:solidFill>
                <a:latin typeface="Calibri Light" panose="020F0302020204030204" pitchFamily="34" charset="0"/>
                <a:cs typeface="Calibri Light" panose="020F0302020204030204" pitchFamily="34" charset="0"/>
              </a:rPr>
              <a:t>32</a:t>
            </a:r>
            <a:r>
              <a:rPr lang="ko-KR" altLang="en-US" sz="900" dirty="0">
                <a:solidFill>
                  <a:schemeClr val="bg1"/>
                </a:solidFill>
                <a:latin typeface="Calibri Light" panose="020F0302020204030204" pitchFamily="34" charset="0"/>
                <a:cs typeface="Calibri Light" panose="020F0302020204030204" pitchFamily="34" charset="0"/>
              </a:rPr>
              <a:t>차원 실수 벡터</a:t>
            </a:r>
            <a:r>
              <a:rPr lang="en-US" altLang="ko-KR" sz="900" dirty="0">
                <a:solidFill>
                  <a:schemeClr val="bg1"/>
                </a:solidFill>
                <a:latin typeface="Calibri Light" panose="020F0302020204030204" pitchFamily="34" charset="0"/>
                <a:cs typeface="Calibri Light" panose="020F0302020204030204" pitchFamily="34" charset="0"/>
              </a:rPr>
              <a:t>)</a:t>
            </a:r>
          </a:p>
          <a:p>
            <a:r>
              <a:rPr lang="en-US" altLang="ko-KR" sz="900" dirty="0">
                <a:solidFill>
                  <a:schemeClr val="bg1"/>
                </a:solidFill>
                <a:latin typeface="Calibri Light" panose="020F0302020204030204" pitchFamily="34" charset="0"/>
                <a:cs typeface="Calibri Light" panose="020F0302020204030204" pitchFamily="34" charset="0"/>
              </a:rPr>
              <a:t>    ],  # Shape: (280, 32) -&gt; </a:t>
            </a:r>
            <a:r>
              <a:rPr lang="ko-KR" altLang="en-US" sz="900" dirty="0">
                <a:solidFill>
                  <a:schemeClr val="bg1"/>
                </a:solidFill>
                <a:latin typeface="Calibri Light" panose="020F0302020204030204" pitchFamily="34" charset="0"/>
                <a:cs typeface="Calibri Light" panose="020F0302020204030204" pitchFamily="34" charset="0"/>
              </a:rPr>
              <a:t>단일 트윗의 </a:t>
            </a:r>
            <a:r>
              <a:rPr lang="ko-KR" altLang="en-US" sz="900" dirty="0" err="1">
                <a:solidFill>
                  <a:schemeClr val="bg1"/>
                </a:solidFill>
                <a:latin typeface="Calibri Light" panose="020F0302020204030204" pitchFamily="34" charset="0"/>
                <a:cs typeface="Calibri Light" panose="020F0302020204030204" pitchFamily="34" charset="0"/>
              </a:rPr>
              <a:t>임베딩</a:t>
            </a:r>
            <a:r>
              <a:rPr lang="ko-KR" altLang="en-US" sz="900" dirty="0">
                <a:solidFill>
                  <a:schemeClr val="bg1"/>
                </a:solidFill>
                <a:latin typeface="Calibri Light" panose="020F0302020204030204" pitchFamily="34" charset="0"/>
                <a:cs typeface="Calibri Light" panose="020F0302020204030204" pitchFamily="34" charset="0"/>
              </a:rPr>
              <a:t> 행렬</a:t>
            </a:r>
          </a:p>
          <a:p>
            <a:endParaRPr lang="ko-KR" altLang="en-US" sz="900" dirty="0">
              <a:solidFill>
                <a:schemeClr val="bg1"/>
              </a:solidFill>
              <a:latin typeface="Calibri Light" panose="020F0302020204030204" pitchFamily="34" charset="0"/>
              <a:cs typeface="Calibri Light" panose="020F0302020204030204" pitchFamily="34" charset="0"/>
            </a:endParaRPr>
          </a:p>
          <a:p>
            <a:r>
              <a:rPr lang="ko-KR" altLang="en-US" sz="900" dirty="0">
                <a:solidFill>
                  <a:schemeClr val="bg1"/>
                </a:solidFill>
                <a:latin typeface="Calibri Light" panose="020F0302020204030204" pitchFamily="34" charset="0"/>
                <a:cs typeface="Calibri Light" panose="020F0302020204030204" pitchFamily="34" charset="0"/>
              </a:rPr>
              <a:t>    </a:t>
            </a:r>
            <a:r>
              <a:rPr lang="en-US" altLang="ko-KR" sz="900" dirty="0">
                <a:solidFill>
                  <a:schemeClr val="bg1"/>
                </a:solidFill>
                <a:latin typeface="Calibri Light" panose="020F0302020204030204" pitchFamily="34" charset="0"/>
                <a:cs typeface="Calibri Light" panose="020F0302020204030204" pitchFamily="34" charset="0"/>
              </a:rPr>
              <a:t># --- Sample 1 (</a:t>
            </a:r>
            <a:r>
              <a:rPr lang="ko-KR" altLang="en-US" sz="900" dirty="0">
                <a:solidFill>
                  <a:schemeClr val="bg1"/>
                </a:solidFill>
                <a:latin typeface="Calibri Light" panose="020F0302020204030204" pitchFamily="34" charset="0"/>
                <a:cs typeface="Calibri Light" panose="020F0302020204030204" pitchFamily="34" charset="0"/>
              </a:rPr>
              <a:t>두 번째 트윗</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[ 0.54, -0.12,  0.88, ..., -0.42],  # Timestep 0</a:t>
            </a:r>
          </a:p>
          <a:p>
            <a:r>
              <a:rPr lang="en-US" altLang="ko-KR" sz="900" dirty="0">
                <a:solidFill>
                  <a:schemeClr val="bg1"/>
                </a:solidFill>
                <a:latin typeface="Calibri Light" panose="020F0302020204030204" pitchFamily="34" charset="0"/>
                <a:cs typeface="Calibri Light" panose="020F0302020204030204" pitchFamily="34" charset="0"/>
              </a:rPr>
              <a:t>        [-0.03,  0.61, -0.72, ...,  0.15],  # Timestep 1</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[ 0.27,  0.39, -0.05, ...,  0.81]   # Timestep 279</a:t>
            </a:r>
          </a:p>
          <a:p>
            <a:r>
              <a:rPr lang="en-US" altLang="ko-KR" sz="900" dirty="0">
                <a:solidFill>
                  <a:schemeClr val="bg1"/>
                </a:solidFill>
                <a:latin typeface="Calibri Light" panose="020F0302020204030204" pitchFamily="34" charset="0"/>
                <a:cs typeface="Calibri Light" panose="020F0302020204030204" pitchFamily="34" charset="0"/>
              </a:rPr>
              <a:t>    ],</a:t>
            </a:r>
          </a:p>
          <a:p>
            <a:endParaRPr lang="en-US" altLang="ko-KR" sz="900" dirty="0">
              <a:solidFill>
                <a:schemeClr val="bg1"/>
              </a:solidFill>
              <a:latin typeface="Calibri Light" panose="020F0302020204030204" pitchFamily="34" charset="0"/>
              <a:cs typeface="Calibri Light" panose="020F0302020204030204" pitchFamily="34" charset="0"/>
            </a:endParaRPr>
          </a:p>
          <a:p>
            <a:r>
              <a:rPr lang="en-US" altLang="ko-KR" sz="900" dirty="0">
                <a:solidFill>
                  <a:schemeClr val="bg1"/>
                </a:solidFill>
                <a:latin typeface="Calibri Light" panose="020F0302020204030204" pitchFamily="34" charset="0"/>
                <a:cs typeface="Calibri Light" panose="020F0302020204030204" pitchFamily="34" charset="0"/>
              </a:rPr>
              <a:t>    ...</a:t>
            </a:r>
          </a:p>
          <a:p>
            <a:endParaRPr lang="en-US" altLang="ko-KR" sz="900" dirty="0">
              <a:solidFill>
                <a:schemeClr val="bg1"/>
              </a:solidFill>
              <a:latin typeface="Calibri Light" panose="020F0302020204030204" pitchFamily="34" charset="0"/>
              <a:cs typeface="Calibri Light" panose="020F0302020204030204" pitchFamily="34" charset="0"/>
            </a:endParaRPr>
          </a:p>
          <a:p>
            <a:r>
              <a:rPr lang="en-US" altLang="ko-KR" sz="900" dirty="0">
                <a:solidFill>
                  <a:schemeClr val="bg1"/>
                </a:solidFill>
                <a:latin typeface="Calibri Light" panose="020F0302020204030204" pitchFamily="34" charset="0"/>
                <a:cs typeface="Calibri Light" panose="020F0302020204030204" pitchFamily="34" charset="0"/>
              </a:rPr>
              <a:t>    # --- Sample 999999 (100</a:t>
            </a:r>
            <a:r>
              <a:rPr lang="ko-KR" altLang="en-US" sz="900" dirty="0">
                <a:solidFill>
                  <a:schemeClr val="bg1"/>
                </a:solidFill>
                <a:latin typeface="Calibri Light" panose="020F0302020204030204" pitchFamily="34" charset="0"/>
                <a:cs typeface="Calibri Light" panose="020F0302020204030204" pitchFamily="34" charset="0"/>
              </a:rPr>
              <a:t>만 번째 트윗</a:t>
            </a:r>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[-0.82,  0.19,  0.04, ..., -0.57],  # Timestep 0</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        [ 0.33, -0.48,  0.91, ...,  0.02]   # Timestep 279</a:t>
            </a:r>
          </a:p>
          <a:p>
            <a:r>
              <a:rPr lang="en-US" altLang="ko-KR" sz="900" dirty="0">
                <a:solidFill>
                  <a:schemeClr val="bg1"/>
                </a:solidFill>
                <a:latin typeface="Calibri Light" panose="020F0302020204030204" pitchFamily="34" charset="0"/>
                <a:cs typeface="Calibri Light" panose="020F0302020204030204" pitchFamily="34" charset="0"/>
              </a:rPr>
              <a:t>    ]</a:t>
            </a:r>
          </a:p>
          <a:p>
            <a:r>
              <a:rPr lang="en-US" altLang="ko-KR" sz="900" dirty="0">
                <a:solidFill>
                  <a:schemeClr val="bg1"/>
                </a:solidFill>
                <a:latin typeface="Calibri Light" panose="020F0302020204030204" pitchFamily="34" charset="0"/>
                <a:cs typeface="Calibri Light" panose="020F0302020204030204" pitchFamily="34" charset="0"/>
              </a:rPr>
              <a:t>]</a:t>
            </a:r>
            <a:endParaRPr lang="ko-KR" altLang="en-US" sz="900" dirty="0">
              <a:solidFill>
                <a:schemeClr val="bg1"/>
              </a:solidFill>
              <a:latin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14E785C6-7C76-9799-CA07-10B72D0F1215}"/>
              </a:ext>
            </a:extLst>
          </p:cNvPr>
          <p:cNvSpPr txBox="1"/>
          <p:nvPr/>
        </p:nvSpPr>
        <p:spPr>
          <a:xfrm>
            <a:off x="609240" y="3097626"/>
            <a:ext cx="6639182" cy="276999"/>
          </a:xfrm>
          <a:prstGeom prst="rect">
            <a:avLst/>
          </a:prstGeom>
          <a:solidFill>
            <a:schemeClr val="accent1"/>
          </a:solidFill>
        </p:spPr>
        <p:txBody>
          <a:bodyPr wrap="square">
            <a:spAutoFit/>
          </a:bodyPr>
          <a:lstStyle/>
          <a:p>
            <a:pPr algn="ctr"/>
            <a:r>
              <a:rPr lang="en-US" altLang="ko-KR" sz="1200" b="0" i="0" dirty="0">
                <a:solidFill>
                  <a:schemeClr val="bg1"/>
                </a:solidFill>
                <a:effectLst/>
                <a:latin typeface="D2Coding" panose="020B0609020101020101" pitchFamily="49" charset="-127"/>
                <a:ea typeface="D2Coding" panose="020B0609020101020101" pitchFamily="49" charset="-127"/>
              </a:rPr>
              <a:t>rank-3 tensor of shape (</a:t>
            </a:r>
            <a:r>
              <a:rPr lang="en-US" altLang="ko-KR" sz="1200" dirty="0">
                <a:solidFill>
                  <a:schemeClr val="bg1"/>
                </a:solidFill>
                <a:latin typeface="D2Coding" panose="020B0609020101020101" pitchFamily="49" charset="-127"/>
                <a:ea typeface="D2Coding" panose="020B0609020101020101" pitchFamily="49" charset="-127"/>
              </a:rPr>
              <a:t>1000000</a:t>
            </a:r>
            <a:r>
              <a:rPr lang="en-US" altLang="ko-KR" sz="1200" b="0" i="0" dirty="0">
                <a:solidFill>
                  <a:schemeClr val="bg1"/>
                </a:solidFill>
                <a:effectLst/>
                <a:latin typeface="D2Coding" panose="020B0609020101020101" pitchFamily="49" charset="-127"/>
                <a:ea typeface="D2Coding" panose="020B0609020101020101" pitchFamily="49" charset="-127"/>
              </a:rPr>
              <a:t>, 128, 280)</a:t>
            </a:r>
            <a:endParaRPr lang="ko-KR" altLang="en-US" sz="1200" dirty="0">
              <a:solidFill>
                <a:schemeClr val="bg1"/>
              </a:solidFill>
            </a:endParaRPr>
          </a:p>
        </p:txBody>
      </p:sp>
    </p:spTree>
    <p:extLst>
      <p:ext uri="{BB962C8B-B14F-4D97-AF65-F5344CB8AC3E}">
        <p14:creationId xmlns:p14="http://schemas.microsoft.com/office/powerpoint/2010/main" val="571416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AAA10-92FA-439D-F74D-9A80214BE42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1EEAE251-2A05-9C4E-A130-5AC7534E8339}"/>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Text 3D tensor data for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Convets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2D629CD8-BB2D-C0A5-E1B6-4B4C3A981B87}"/>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19</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2050" name="Picture 2">
            <a:extLst>
              <a:ext uri="{FF2B5EF4-FFF2-40B4-BE49-F238E27FC236}">
                <a16:creationId xmlns:a16="http://schemas.microsoft.com/office/drawing/2014/main" id="{65A0A580-6277-A579-0A9F-5E1CC7B5C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759" y="1780802"/>
            <a:ext cx="7504008" cy="2191600"/>
          </a:xfrm>
          <a:prstGeom prst="rect">
            <a:avLst/>
          </a:prstGeom>
          <a:solidFill>
            <a:schemeClr val="accent1"/>
          </a:solidFill>
          <a:ln>
            <a:solidFill>
              <a:schemeClr val="tx1"/>
            </a:solidFill>
          </a:ln>
        </p:spPr>
      </p:pic>
      <p:pic>
        <p:nvPicPr>
          <p:cNvPr id="15" name="Picture 2">
            <a:extLst>
              <a:ext uri="{FF2B5EF4-FFF2-40B4-BE49-F238E27FC236}">
                <a16:creationId xmlns:a16="http://schemas.microsoft.com/office/drawing/2014/main" id="{B8434580-D760-69EC-7818-214C834AB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880" y="2178766"/>
            <a:ext cx="7504008" cy="2191600"/>
          </a:xfrm>
          <a:prstGeom prst="rect">
            <a:avLst/>
          </a:prstGeom>
          <a:solidFill>
            <a:schemeClr val="accent1"/>
          </a:solidFill>
          <a:ln>
            <a:solidFill>
              <a:schemeClr val="tx1"/>
            </a:solidFill>
          </a:ln>
        </p:spPr>
      </p:pic>
      <p:pic>
        <p:nvPicPr>
          <p:cNvPr id="16" name="Picture 2">
            <a:extLst>
              <a:ext uri="{FF2B5EF4-FFF2-40B4-BE49-F238E27FC236}">
                <a16:creationId xmlns:a16="http://schemas.microsoft.com/office/drawing/2014/main" id="{5D462795-E6F0-51BC-22D0-E9311C89C2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001" y="2591360"/>
            <a:ext cx="7504008" cy="2191600"/>
          </a:xfrm>
          <a:prstGeom prst="rect">
            <a:avLst/>
          </a:prstGeom>
          <a:solidFill>
            <a:schemeClr val="accent1"/>
          </a:solidFill>
          <a:ln>
            <a:solidFill>
              <a:schemeClr val="tx1"/>
            </a:solidFill>
          </a:ln>
        </p:spPr>
      </p:pic>
      <p:pic>
        <p:nvPicPr>
          <p:cNvPr id="17" name="Picture 2">
            <a:extLst>
              <a:ext uri="{FF2B5EF4-FFF2-40B4-BE49-F238E27FC236}">
                <a16:creationId xmlns:a16="http://schemas.microsoft.com/office/drawing/2014/main" id="{0D8F1ABF-A2CD-1845-AEC3-5CE64B0FA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122" y="2994414"/>
            <a:ext cx="7504008" cy="2191600"/>
          </a:xfrm>
          <a:prstGeom prst="rect">
            <a:avLst/>
          </a:prstGeom>
          <a:solidFill>
            <a:schemeClr val="accent1"/>
          </a:solidFill>
          <a:ln>
            <a:solidFill>
              <a:schemeClr val="tx1"/>
            </a:solidFill>
          </a:ln>
        </p:spPr>
      </p:pic>
      <p:pic>
        <p:nvPicPr>
          <p:cNvPr id="18" name="Picture 2">
            <a:extLst>
              <a:ext uri="{FF2B5EF4-FFF2-40B4-BE49-F238E27FC236}">
                <a16:creationId xmlns:a16="http://schemas.microsoft.com/office/drawing/2014/main" id="{2891BFF9-C865-EA79-E389-2ABF50F61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243" y="3422658"/>
            <a:ext cx="7504008" cy="2191600"/>
          </a:xfrm>
          <a:prstGeom prst="rect">
            <a:avLst/>
          </a:prstGeom>
          <a:solidFill>
            <a:schemeClr val="accent1"/>
          </a:solidFill>
          <a:ln>
            <a:solidFill>
              <a:schemeClr val="tx1"/>
            </a:solidFill>
          </a:ln>
        </p:spPr>
      </p:pic>
      <p:grpSp>
        <p:nvGrpSpPr>
          <p:cNvPr id="26" name="그룹 25">
            <a:extLst>
              <a:ext uri="{FF2B5EF4-FFF2-40B4-BE49-F238E27FC236}">
                <a16:creationId xmlns:a16="http://schemas.microsoft.com/office/drawing/2014/main" id="{33879313-55F3-335F-E8F1-05C67B4698CF}"/>
              </a:ext>
            </a:extLst>
          </p:cNvPr>
          <p:cNvGrpSpPr/>
          <p:nvPr/>
        </p:nvGrpSpPr>
        <p:grpSpPr>
          <a:xfrm>
            <a:off x="1757188" y="3850904"/>
            <a:ext cx="7504008" cy="2191600"/>
            <a:chOff x="1542445" y="3555615"/>
            <a:chExt cx="8747760" cy="2554847"/>
          </a:xfrm>
          <a:solidFill>
            <a:schemeClr val="accent1"/>
          </a:solidFill>
        </p:grpSpPr>
        <p:pic>
          <p:nvPicPr>
            <p:cNvPr id="19" name="Picture 2">
              <a:extLst>
                <a:ext uri="{FF2B5EF4-FFF2-40B4-BE49-F238E27FC236}">
                  <a16:creationId xmlns:a16="http://schemas.microsoft.com/office/drawing/2014/main" id="{EBB20374-3BDC-1E9F-6CD9-31580CEFA9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445" y="3555615"/>
              <a:ext cx="8747760" cy="2554847"/>
            </a:xfrm>
            <a:prstGeom prst="rect">
              <a:avLst/>
            </a:prstGeom>
            <a:grpFill/>
            <a:ln>
              <a:solidFill>
                <a:schemeClr val="tx1"/>
              </a:solidFill>
            </a:ln>
            <a:extLst>
              <a:ext uri="{909E8E84-426E-40DD-AFC4-6F175D3DCCD1}">
                <a14:hiddenFill xmlns:a14="http://schemas.microsoft.com/office/drawing/2010/main">
                  <a:solidFill>
                    <a:srgbClr val="FFFFFF"/>
                  </a:solidFill>
                </a14:hiddenFill>
              </a:ext>
            </a:extLst>
          </p:spPr>
        </p:pic>
        <p:pic>
          <p:nvPicPr>
            <p:cNvPr id="23" name="그림 22">
              <a:extLst>
                <a:ext uri="{FF2B5EF4-FFF2-40B4-BE49-F238E27FC236}">
                  <a16:creationId xmlns:a16="http://schemas.microsoft.com/office/drawing/2014/main" id="{2199D197-6300-AA6F-A6A5-8F593C24E193}"/>
                </a:ext>
              </a:extLst>
            </p:cNvPr>
            <p:cNvPicPr>
              <a:picLocks noChangeAspect="1"/>
            </p:cNvPicPr>
            <p:nvPr/>
          </p:nvPicPr>
          <p:blipFill>
            <a:blip r:embed="rId3"/>
            <a:stretch>
              <a:fillRect/>
            </a:stretch>
          </p:blipFill>
          <p:spPr>
            <a:xfrm>
              <a:off x="8218786" y="5547807"/>
              <a:ext cx="1920406" cy="228620"/>
            </a:xfrm>
            <a:prstGeom prst="rect">
              <a:avLst/>
            </a:prstGeom>
            <a:grpFill/>
            <a:ln>
              <a:noFill/>
            </a:ln>
          </p:spPr>
        </p:pic>
        <p:pic>
          <p:nvPicPr>
            <p:cNvPr id="25" name="그림 24">
              <a:extLst>
                <a:ext uri="{FF2B5EF4-FFF2-40B4-BE49-F238E27FC236}">
                  <a16:creationId xmlns:a16="http://schemas.microsoft.com/office/drawing/2014/main" id="{A8A4C009-67BC-591B-1876-CE6C1141242D}"/>
                </a:ext>
              </a:extLst>
            </p:cNvPr>
            <p:cNvPicPr>
              <a:picLocks noChangeAspect="1"/>
            </p:cNvPicPr>
            <p:nvPr/>
          </p:nvPicPr>
          <p:blipFill>
            <a:blip r:embed="rId4"/>
            <a:stretch>
              <a:fillRect/>
            </a:stretch>
          </p:blipFill>
          <p:spPr>
            <a:xfrm>
              <a:off x="1542445" y="5452362"/>
              <a:ext cx="1386960" cy="205758"/>
            </a:xfrm>
            <a:prstGeom prst="rect">
              <a:avLst/>
            </a:prstGeom>
            <a:grpFill/>
            <a:ln>
              <a:noFill/>
            </a:ln>
          </p:spPr>
        </p:pic>
      </p:grpSp>
    </p:spTree>
    <p:extLst>
      <p:ext uri="{BB962C8B-B14F-4D97-AF65-F5344CB8AC3E}">
        <p14:creationId xmlns:p14="http://schemas.microsoft.com/office/powerpoint/2010/main" val="2574542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4FBE-0D6C-8328-81E9-0997A3D4CDA8}"/>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F4ED98D-AF64-845C-2221-09D87E3FCDBB}"/>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Image 4D tensor data for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Convets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2052" name="Picture 4">
            <a:extLst>
              <a:ext uri="{FF2B5EF4-FFF2-40B4-BE49-F238E27FC236}">
                <a16:creationId xmlns:a16="http://schemas.microsoft.com/office/drawing/2014/main" id="{EA6075EC-B4EB-AC9A-7E33-D7ECA75C1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310" y="1864995"/>
            <a:ext cx="5312410" cy="408342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3B2BD11-E910-85EB-DA42-FBEC3C21241E}"/>
              </a:ext>
            </a:extLst>
          </p:cNvPr>
          <p:cNvSpPr txBox="1"/>
          <p:nvPr/>
        </p:nvSpPr>
        <p:spPr>
          <a:xfrm>
            <a:off x="3105785" y="6068240"/>
            <a:ext cx="5980430" cy="307777"/>
          </a:xfrm>
          <a:prstGeom prst="rect">
            <a:avLst/>
          </a:prstGeom>
          <a:noFill/>
        </p:spPr>
        <p:txBody>
          <a:bodyPr wrap="square">
            <a:spAutoFit/>
          </a:bodyPr>
          <a:lstStyle/>
          <a:p>
            <a:pPr algn="l">
              <a:spcAft>
                <a:spcPts val="300"/>
              </a:spcAft>
              <a:buNone/>
            </a:pPr>
            <a:r>
              <a:rPr lang="en-US" altLang="ko-KR" sz="1400" i="0" dirty="0">
                <a:effectLst/>
                <a:latin typeface="D2Coding" panose="020B0609020101020101" pitchFamily="49" charset="-127"/>
                <a:ea typeface="D2Coding" panose="020B0609020101020101" pitchFamily="49" charset="-127"/>
              </a:rPr>
              <a:t>Chapter 2 The mathematical building blocks of neural networks</a:t>
            </a:r>
          </a:p>
        </p:txBody>
      </p:sp>
      <p:sp>
        <p:nvSpPr>
          <p:cNvPr id="4" name="슬라이드 번호 개체 틀 3">
            <a:extLst>
              <a:ext uri="{FF2B5EF4-FFF2-40B4-BE49-F238E27FC236}">
                <a16:creationId xmlns:a16="http://schemas.microsoft.com/office/drawing/2014/main" id="{206B1085-0D97-B974-6ECB-35F3828DFFC6}"/>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20</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12045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5D231-7434-CD87-78CE-F3607DC4A8CC}"/>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4DEC688-B8D1-C8D8-A0E6-D810F1388C5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Image 4D tensor data for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Convets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9330E3DC-F38F-CAD5-33AE-FB611FBD28FA}"/>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21</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3074" name="Picture 2">
            <a:extLst>
              <a:ext uri="{FF2B5EF4-FFF2-40B4-BE49-F238E27FC236}">
                <a16:creationId xmlns:a16="http://schemas.microsoft.com/office/drawing/2014/main" id="{65601198-4604-9731-8577-602A3FFD05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65" y="1289501"/>
            <a:ext cx="6349964" cy="24052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9BC0AC2-EBA0-2BD1-CFAC-447C94B94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766" y="3735794"/>
            <a:ext cx="5671493" cy="24052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D3F6F06-7BE2-8203-E291-E65B12CEE7E8}"/>
              </a:ext>
            </a:extLst>
          </p:cNvPr>
          <p:cNvSpPr txBox="1"/>
          <p:nvPr/>
        </p:nvSpPr>
        <p:spPr>
          <a:xfrm>
            <a:off x="661065" y="3694715"/>
            <a:ext cx="6349963" cy="307777"/>
          </a:xfrm>
          <a:prstGeom prst="rect">
            <a:avLst/>
          </a:prstGeom>
          <a:noFill/>
        </p:spPr>
        <p:txBody>
          <a:bodyPr wrap="square">
            <a:spAutoFit/>
          </a:bodyPr>
          <a:lstStyle/>
          <a:p>
            <a:r>
              <a:rPr lang="en-US" altLang="ko-KR" sz="1400"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(40, 10, 10, 1) (Batch size, Width, Height, Channel)</a:t>
            </a:r>
            <a:endParaRPr lang="ko-KR" altLang="en-US" sz="1400" dirty="0"/>
          </a:p>
        </p:txBody>
      </p:sp>
      <p:sp>
        <p:nvSpPr>
          <p:cNvPr id="7" name="TextBox 6">
            <a:extLst>
              <a:ext uri="{FF2B5EF4-FFF2-40B4-BE49-F238E27FC236}">
                <a16:creationId xmlns:a16="http://schemas.microsoft.com/office/drawing/2014/main" id="{DC804969-74E9-21D8-7F87-1E128AFDF6AF}"/>
              </a:ext>
            </a:extLst>
          </p:cNvPr>
          <p:cNvSpPr txBox="1"/>
          <p:nvPr/>
        </p:nvSpPr>
        <p:spPr>
          <a:xfrm>
            <a:off x="5867766" y="6179683"/>
            <a:ext cx="5671493" cy="307777"/>
          </a:xfrm>
          <a:prstGeom prst="rect">
            <a:avLst/>
          </a:prstGeom>
          <a:noFill/>
        </p:spPr>
        <p:txBody>
          <a:bodyPr wrap="square">
            <a:spAutoFit/>
          </a:bodyPr>
          <a:lstStyle/>
          <a:p>
            <a:r>
              <a:rPr lang="en-US" altLang="ko-KR" sz="1400"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(40, 10, 10, 3) (Batch size, Width, Height, Channel)</a:t>
            </a:r>
            <a:endParaRPr lang="ko-KR" altLang="en-US" sz="1400" dirty="0"/>
          </a:p>
        </p:txBody>
      </p:sp>
    </p:spTree>
    <p:extLst>
      <p:ext uri="{BB962C8B-B14F-4D97-AF65-F5344CB8AC3E}">
        <p14:creationId xmlns:p14="http://schemas.microsoft.com/office/powerpoint/2010/main" val="811408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32ED-63D2-D288-22F5-89CF5AC5552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4C0ED677-8888-7312-5FFE-A8373994FBBC}"/>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Pachelbel’ Canon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489A1319-EE6C-B001-9453-4B097B4EDE7F}"/>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22</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3F459AE-0C92-5686-942C-C3E7D2A5678D}"/>
              </a:ext>
            </a:extLst>
          </p:cNvPr>
          <p:cNvSpPr txBox="1"/>
          <p:nvPr/>
        </p:nvSpPr>
        <p:spPr>
          <a:xfrm>
            <a:off x="590550" y="2879632"/>
            <a:ext cx="4942379" cy="307777"/>
          </a:xfrm>
          <a:prstGeom prst="rect">
            <a:avLst/>
          </a:prstGeom>
          <a:noFill/>
        </p:spPr>
        <p:txBody>
          <a:bodyPr wrap="none" rtlCol="0">
            <a:spAutoFit/>
          </a:bodyPr>
          <a:lstStyle/>
          <a:p>
            <a:r>
              <a:rPr lang="en-US" altLang="ko-KR" sz="1400" dirty="0">
                <a:latin typeface="D2Coding" panose="020B0609020101020101" pitchFamily="49" charset="-127"/>
                <a:ea typeface="D2Coding" panose="020B0609020101020101" pitchFamily="49" charset="-127"/>
                <a:hlinkClick r:id="rId2"/>
              </a:rPr>
              <a:t>Canon and Gigue D Major | </a:t>
            </a:r>
            <a:r>
              <a:rPr lang="ko-KR" altLang="en-US" sz="1400" dirty="0" err="1">
                <a:latin typeface="D2Coding" panose="020B0609020101020101" pitchFamily="49" charset="-127"/>
                <a:ea typeface="D2Coding" panose="020B0609020101020101" pitchFamily="49" charset="-127"/>
                <a:hlinkClick r:id="rId2"/>
              </a:rPr>
              <a:t>파헬벨</a:t>
            </a:r>
            <a:r>
              <a:rPr lang="ko-KR" altLang="en-US" sz="1400" dirty="0">
                <a:latin typeface="D2Coding" panose="020B0609020101020101" pitchFamily="49" charset="-127"/>
                <a:ea typeface="D2Coding" panose="020B0609020101020101" pitchFamily="49" charset="-127"/>
                <a:hlinkClick r:id="rId2"/>
              </a:rPr>
              <a:t> </a:t>
            </a:r>
            <a:r>
              <a:rPr lang="en-US" altLang="ko-KR" sz="1400" dirty="0">
                <a:latin typeface="D2Coding" panose="020B0609020101020101" pitchFamily="49" charset="-127"/>
                <a:ea typeface="D2Coding" panose="020B0609020101020101" pitchFamily="49" charset="-127"/>
                <a:hlinkClick r:id="rId2"/>
              </a:rPr>
              <a:t>| </a:t>
            </a:r>
            <a:r>
              <a:rPr lang="ko-KR" altLang="en-US" sz="1400" dirty="0">
                <a:latin typeface="D2Coding" panose="020B0609020101020101" pitchFamily="49" charset="-127"/>
                <a:ea typeface="D2Coding" panose="020B0609020101020101" pitchFamily="49" charset="-127"/>
                <a:hlinkClick r:id="rId2"/>
              </a:rPr>
              <a:t>캐논 변주곡 라장조</a:t>
            </a:r>
            <a:endParaRPr lang="ko-KR" altLang="en-US" sz="1400" dirty="0">
              <a:latin typeface="D2Coding" panose="020B0609020101020101" pitchFamily="49" charset="-127"/>
              <a:ea typeface="D2Coding" panose="020B0609020101020101" pitchFamily="49" charset="-127"/>
            </a:endParaRPr>
          </a:p>
        </p:txBody>
      </p:sp>
      <p:pic>
        <p:nvPicPr>
          <p:cNvPr id="7" name="그림 6">
            <a:extLst>
              <a:ext uri="{FF2B5EF4-FFF2-40B4-BE49-F238E27FC236}">
                <a16:creationId xmlns:a16="http://schemas.microsoft.com/office/drawing/2014/main" id="{26472FFF-A9CE-F147-8F7C-89BE49DCF108}"/>
              </a:ext>
            </a:extLst>
          </p:cNvPr>
          <p:cNvPicPr>
            <a:picLocks noChangeAspect="1"/>
          </p:cNvPicPr>
          <p:nvPr/>
        </p:nvPicPr>
        <p:blipFill>
          <a:blip r:embed="rId3"/>
          <a:stretch>
            <a:fillRect/>
          </a:stretch>
        </p:blipFill>
        <p:spPr>
          <a:xfrm>
            <a:off x="7981950" y="3184270"/>
            <a:ext cx="2940586" cy="1463929"/>
          </a:xfrm>
          <a:prstGeom prst="rect">
            <a:avLst/>
          </a:prstGeom>
        </p:spPr>
      </p:pic>
      <p:sp>
        <p:nvSpPr>
          <p:cNvPr id="9" name="TextBox 8">
            <a:extLst>
              <a:ext uri="{FF2B5EF4-FFF2-40B4-BE49-F238E27FC236}">
                <a16:creationId xmlns:a16="http://schemas.microsoft.com/office/drawing/2014/main" id="{B057CD4D-7B01-4F80-0C55-886F795E2632}"/>
              </a:ext>
            </a:extLst>
          </p:cNvPr>
          <p:cNvSpPr txBox="1"/>
          <p:nvPr/>
        </p:nvSpPr>
        <p:spPr>
          <a:xfrm>
            <a:off x="590550" y="1248422"/>
            <a:ext cx="11010899" cy="1351973"/>
          </a:xfrm>
          <a:prstGeom prst="rect">
            <a:avLst/>
          </a:prstGeom>
          <a:noFill/>
        </p:spPr>
        <p:txBody>
          <a:bodyPr wrap="square">
            <a:spAutoFit/>
          </a:bodyPr>
          <a:lstStyle/>
          <a:p>
            <a:pPr marL="285750" indent="-285750" rtl="0">
              <a:lnSpc>
                <a:spcPct val="150000"/>
              </a:lnSpc>
              <a:buFont typeface="Wingdings" panose="05000000000000000000" pitchFamily="2" charset="2"/>
              <a:buChar char="§"/>
            </a:pPr>
            <a:r>
              <a:rPr lang="ko-KR" altLang="en-US" sz="1400" dirty="0">
                <a:effectLst/>
                <a:latin typeface="D2Coding" panose="020B0609020101020101" pitchFamily="49" charset="-127"/>
                <a:ea typeface="D2Coding" panose="020B0609020101020101" pitchFamily="49" charset="-127"/>
              </a:rPr>
              <a:t>베이스</a:t>
            </a:r>
            <a:r>
              <a:rPr lang="en-US" altLang="ko-KR" sz="1400" dirty="0">
                <a:effectLst/>
                <a:latin typeface="D2Coding" panose="020B0609020101020101" pitchFamily="49" charset="-127"/>
                <a:ea typeface="D2Coding" panose="020B0609020101020101" pitchFamily="49" charset="-127"/>
              </a:rPr>
              <a:t>(8</a:t>
            </a:r>
            <a:r>
              <a:rPr lang="ko-KR" altLang="en-US" sz="1400" dirty="0">
                <a:effectLst/>
                <a:latin typeface="D2Coding" panose="020B0609020101020101" pitchFamily="49" charset="-127"/>
                <a:ea typeface="D2Coding" panose="020B0609020101020101" pitchFamily="49" charset="-127"/>
              </a:rPr>
              <a:t>음 반복</a:t>
            </a:r>
            <a:r>
              <a:rPr lang="en-US" altLang="ko-KR" sz="1400" dirty="0">
                <a:effectLst/>
                <a:latin typeface="D2Coding" panose="020B0609020101020101" pitchFamily="49" charset="-127"/>
                <a:ea typeface="D2Coding" panose="020B0609020101020101" pitchFamily="49" charset="-127"/>
              </a:rPr>
              <a:t>)</a:t>
            </a:r>
            <a:r>
              <a:rPr lang="ko-KR" altLang="en-US" sz="1400" dirty="0">
                <a:effectLst/>
                <a:latin typeface="D2Coding" panose="020B0609020101020101" pitchFamily="49" charset="-127"/>
                <a:ea typeface="D2Coding" panose="020B0609020101020101" pitchFamily="49" charset="-127"/>
              </a:rPr>
              <a:t> </a:t>
            </a:r>
            <a:r>
              <a:rPr lang="en-US" altLang="ko-KR" sz="1400" dirty="0">
                <a:effectLst/>
                <a:latin typeface="D2Coding" panose="020B0609020101020101" pitchFamily="49" charset="-127"/>
                <a:ea typeface="D2Coding" panose="020B0609020101020101" pitchFamily="49" charset="-127"/>
              </a:rPr>
              <a:t>= </a:t>
            </a:r>
            <a:r>
              <a:rPr lang="ko-KR" altLang="en-US" sz="1400" dirty="0">
                <a:effectLst/>
                <a:latin typeface="D2Coding" panose="020B0609020101020101" pitchFamily="49" charset="-127"/>
                <a:ea typeface="D2Coding" panose="020B0609020101020101" pitchFamily="49" charset="-127"/>
              </a:rPr>
              <a:t>입력 신호 </a:t>
            </a:r>
            <a:r>
              <a:rPr lang="en-US" altLang="ko-KR" sz="1400" dirty="0">
                <a:effectLst/>
                <a:latin typeface="D2Coding" panose="020B0609020101020101" pitchFamily="49" charset="-127"/>
                <a:ea typeface="D2Coding" panose="020B0609020101020101" pitchFamily="49" charset="-127"/>
              </a:rPr>
              <a:t>/ </a:t>
            </a:r>
            <a:r>
              <a:rPr lang="ko-KR" altLang="en-US" sz="1400" dirty="0" err="1">
                <a:effectLst/>
                <a:latin typeface="D2Coding" panose="020B0609020101020101" pitchFamily="49" charset="-127"/>
                <a:ea typeface="D2Coding" panose="020B0609020101020101" pitchFamily="49" charset="-127"/>
              </a:rPr>
              <a:t>잔차</a:t>
            </a:r>
            <a:r>
              <a:rPr lang="ko-KR" altLang="en-US" sz="1400" dirty="0">
                <a:effectLst/>
                <a:latin typeface="D2Coding" panose="020B0609020101020101" pitchFamily="49" charset="-127"/>
                <a:ea typeface="D2Coding" panose="020B0609020101020101" pitchFamily="49" charset="-127"/>
              </a:rPr>
              <a:t> 연결</a:t>
            </a:r>
            <a:r>
              <a:rPr lang="en-US" altLang="ko-KR" sz="1400" dirty="0">
                <a:effectLst/>
                <a:latin typeface="D2Coding" panose="020B0609020101020101" pitchFamily="49" charset="-127"/>
                <a:ea typeface="D2Coding" panose="020B0609020101020101" pitchFamily="49" charset="-127"/>
              </a:rPr>
              <a:t>(residual connection)</a:t>
            </a:r>
            <a:r>
              <a:rPr lang="ko-KR" altLang="en-US" sz="1400" dirty="0">
                <a:effectLst/>
                <a:latin typeface="D2Coding" panose="020B0609020101020101" pitchFamily="49" charset="-127"/>
                <a:ea typeface="D2Coding" panose="020B0609020101020101" pitchFamily="49" charset="-127"/>
              </a:rPr>
              <a:t>이 계속 전달하는 원본 정보</a:t>
            </a:r>
            <a:r>
              <a:rPr lang="en-US" altLang="ko-KR" sz="1400" dirty="0">
                <a:effectLst/>
                <a:latin typeface="D2Coding" panose="020B0609020101020101" pitchFamily="49" charset="-127"/>
                <a:ea typeface="D2Coding" panose="020B0609020101020101" pitchFamily="49" charset="-127"/>
              </a:rPr>
              <a:t>. </a:t>
            </a:r>
            <a:r>
              <a:rPr lang="en-US" altLang="ko-KR" sz="1400" dirty="0" err="1">
                <a:effectLst/>
                <a:latin typeface="D2Coding" panose="020B0609020101020101" pitchFamily="49" charset="-127"/>
                <a:ea typeface="D2Coding" panose="020B0609020101020101" pitchFamily="49" charset="-127"/>
              </a:rPr>
              <a:t>ResNet</a:t>
            </a:r>
            <a:r>
              <a:rPr lang="ko-KR" altLang="en-US" sz="1400" dirty="0">
                <a:effectLst/>
                <a:latin typeface="D2Coding" panose="020B0609020101020101" pitchFamily="49" charset="-127"/>
                <a:ea typeface="D2Coding" panose="020B0609020101020101" pitchFamily="49" charset="-127"/>
              </a:rPr>
              <a:t>에서 각 레이어가 아무리 변형을 가해도 원본 입력이 </a:t>
            </a:r>
            <a:r>
              <a:rPr lang="en-US" altLang="ko-KR" sz="1400" dirty="0">
                <a:effectLst/>
                <a:latin typeface="D2Coding" panose="020B0609020101020101" pitchFamily="49" charset="-127"/>
                <a:ea typeface="D2Coding" panose="020B0609020101020101" pitchFamily="49" charset="-127"/>
              </a:rPr>
              <a:t>skip connection</a:t>
            </a:r>
            <a:r>
              <a:rPr lang="ko-KR" altLang="en-US" sz="1400" dirty="0">
                <a:effectLst/>
                <a:latin typeface="D2Coding" panose="020B0609020101020101" pitchFamily="49" charset="-127"/>
                <a:ea typeface="D2Coding" panose="020B0609020101020101" pitchFamily="49" charset="-127"/>
              </a:rPr>
              <a:t>을 통해 끝까지 살아있는 것</a:t>
            </a:r>
            <a:endParaRPr lang="en-US" altLang="ko-KR" sz="1400" dirty="0">
              <a:effectLst/>
              <a:latin typeface="D2Coding" panose="020B0609020101020101" pitchFamily="49" charset="-127"/>
              <a:ea typeface="D2Coding" panose="020B0609020101020101" pitchFamily="49" charset="-127"/>
            </a:endParaRPr>
          </a:p>
          <a:p>
            <a:pPr marL="285750" indent="-285750" rtl="0">
              <a:lnSpc>
                <a:spcPct val="150000"/>
              </a:lnSpc>
              <a:buFont typeface="Wingdings" panose="05000000000000000000" pitchFamily="2" charset="2"/>
              <a:buChar char="§"/>
            </a:pPr>
            <a:r>
              <a:rPr lang="ko-KR" altLang="en-US" sz="1400" dirty="0">
                <a:effectLst/>
                <a:latin typeface="D2Coding" panose="020B0609020101020101" pitchFamily="49" charset="-127"/>
                <a:ea typeface="D2Coding" panose="020B0609020101020101" pitchFamily="49" charset="-127"/>
              </a:rPr>
              <a:t>위에 쌓이는 변주들 </a:t>
            </a:r>
            <a:r>
              <a:rPr lang="en-US" altLang="ko-KR" sz="1400" dirty="0">
                <a:effectLst/>
                <a:latin typeface="D2Coding" panose="020B0609020101020101" pitchFamily="49" charset="-127"/>
                <a:ea typeface="D2Coding" panose="020B0609020101020101" pitchFamily="49" charset="-127"/>
              </a:rPr>
              <a:t>= </a:t>
            </a:r>
            <a:r>
              <a:rPr lang="ko-KR" altLang="en-US" sz="1400" dirty="0">
                <a:effectLst/>
                <a:latin typeface="D2Coding" panose="020B0609020101020101" pitchFamily="49" charset="-127"/>
                <a:ea typeface="D2Coding" panose="020B0609020101020101" pitchFamily="49" charset="-127"/>
              </a:rPr>
              <a:t>각 레이어</a:t>
            </a:r>
            <a:r>
              <a:rPr lang="en-US" altLang="ko-KR" sz="1400" dirty="0">
                <a:effectLst/>
                <a:latin typeface="D2Coding" panose="020B0609020101020101" pitchFamily="49" charset="-127"/>
                <a:ea typeface="D2Coding" panose="020B0609020101020101" pitchFamily="49" charset="-127"/>
              </a:rPr>
              <a:t>(layer)</a:t>
            </a:r>
            <a:r>
              <a:rPr lang="ko-KR" altLang="en-US" sz="1400" dirty="0">
                <a:effectLst/>
                <a:latin typeface="D2Coding" panose="020B0609020101020101" pitchFamily="49" charset="-127"/>
                <a:ea typeface="D2Coding" panose="020B0609020101020101" pitchFamily="49" charset="-127"/>
              </a:rPr>
              <a:t>의 표현</a:t>
            </a:r>
            <a:r>
              <a:rPr lang="en-US" altLang="ko-KR" sz="1400" dirty="0">
                <a:effectLst/>
                <a:latin typeface="D2Coding" panose="020B0609020101020101" pitchFamily="49" charset="-127"/>
                <a:ea typeface="D2Coding" panose="020B0609020101020101" pitchFamily="49" charset="-127"/>
              </a:rPr>
              <a:t>. </a:t>
            </a:r>
            <a:r>
              <a:rPr lang="ko-KR" altLang="en-US" sz="1400" dirty="0">
                <a:effectLst/>
                <a:latin typeface="D2Coding" panose="020B0609020101020101" pitchFamily="49" charset="-127"/>
                <a:ea typeface="D2Coding" panose="020B0609020101020101" pitchFamily="49" charset="-127"/>
              </a:rPr>
              <a:t>층이 깊어질수록</a:t>
            </a:r>
            <a:r>
              <a:rPr lang="en-US" altLang="ko-KR" sz="1400" dirty="0">
                <a:effectLst/>
                <a:latin typeface="D2Coding" panose="020B0609020101020101" pitchFamily="49" charset="-127"/>
                <a:ea typeface="D2Coding" panose="020B0609020101020101" pitchFamily="49" charset="-127"/>
              </a:rPr>
              <a:t>(</a:t>
            </a:r>
            <a:r>
              <a:rPr lang="ko-KR" altLang="en-US" sz="1400" dirty="0">
                <a:effectLst/>
                <a:latin typeface="D2Coding" panose="020B0609020101020101" pitchFamily="49" charset="-127"/>
                <a:ea typeface="D2Coding" panose="020B0609020101020101" pitchFamily="49" charset="-127"/>
              </a:rPr>
              <a:t>위로 갈수록</a:t>
            </a:r>
            <a:r>
              <a:rPr lang="en-US" altLang="ko-KR" sz="1400" dirty="0">
                <a:effectLst/>
                <a:latin typeface="D2Coding" panose="020B0609020101020101" pitchFamily="49" charset="-127"/>
                <a:ea typeface="D2Coding" panose="020B0609020101020101" pitchFamily="49" charset="-127"/>
              </a:rPr>
              <a:t>) </a:t>
            </a:r>
            <a:r>
              <a:rPr lang="ko-KR" altLang="en-US" sz="1400" dirty="0">
                <a:effectLst/>
                <a:latin typeface="D2Coding" panose="020B0609020101020101" pitchFamily="49" charset="-127"/>
                <a:ea typeface="D2Coding" panose="020B0609020101020101" pitchFamily="49" charset="-127"/>
              </a:rPr>
              <a:t>표현은 더 세분화되고 추상적이며 복잡해지지만</a:t>
            </a:r>
            <a:r>
              <a:rPr lang="en-US" altLang="ko-KR" sz="1400" dirty="0">
                <a:effectLst/>
                <a:latin typeface="D2Coding" panose="020B0609020101020101" pitchFamily="49" charset="-127"/>
                <a:ea typeface="D2Coding" panose="020B0609020101020101" pitchFamily="49" charset="-127"/>
              </a:rPr>
              <a:t>, </a:t>
            </a:r>
            <a:r>
              <a:rPr lang="ko-KR" altLang="en-US" sz="1400" dirty="0">
                <a:effectLst/>
                <a:latin typeface="D2Coding" panose="020B0609020101020101" pitchFamily="49" charset="-127"/>
                <a:ea typeface="D2Coding" panose="020B0609020101020101" pitchFamily="49" charset="-127"/>
              </a:rPr>
              <a:t>항상 그 기반</a:t>
            </a:r>
            <a:r>
              <a:rPr lang="en-US" altLang="ko-KR" sz="1400" dirty="0">
                <a:effectLst/>
                <a:latin typeface="D2Coding" panose="020B0609020101020101" pitchFamily="49" charset="-127"/>
                <a:ea typeface="D2Coding" panose="020B0609020101020101" pitchFamily="49" charset="-127"/>
              </a:rPr>
              <a:t>(</a:t>
            </a:r>
            <a:r>
              <a:rPr lang="ko-KR" altLang="en-US" sz="1400" dirty="0">
                <a:effectLst/>
                <a:latin typeface="D2Coding" panose="020B0609020101020101" pitchFamily="49" charset="-127"/>
                <a:ea typeface="D2Coding" panose="020B0609020101020101" pitchFamily="49" charset="-127"/>
              </a:rPr>
              <a:t>베이스</a:t>
            </a:r>
            <a:r>
              <a:rPr lang="en-US" altLang="ko-KR" sz="1400" dirty="0">
                <a:effectLst/>
                <a:latin typeface="D2Coding" panose="020B0609020101020101" pitchFamily="49" charset="-127"/>
                <a:ea typeface="D2Coding" panose="020B0609020101020101" pitchFamily="49" charset="-127"/>
              </a:rPr>
              <a:t>)</a:t>
            </a:r>
            <a:r>
              <a:rPr lang="ko-KR" altLang="en-US" sz="1400" dirty="0">
                <a:effectLst/>
                <a:latin typeface="D2Coding" panose="020B0609020101020101" pitchFamily="49" charset="-127"/>
                <a:ea typeface="D2Coding" panose="020B0609020101020101" pitchFamily="49" charset="-127"/>
              </a:rPr>
              <a:t>과 연결</a:t>
            </a:r>
            <a:endParaRPr lang="en-US" altLang="ko-KR" sz="1400" dirty="0">
              <a:effectLst/>
              <a:latin typeface="D2Coding" panose="020B0609020101020101" pitchFamily="49" charset="-127"/>
              <a:ea typeface="D2Coding" panose="020B0609020101020101" pitchFamily="49" charset="-127"/>
            </a:endParaRPr>
          </a:p>
        </p:txBody>
      </p:sp>
      <p:pic>
        <p:nvPicPr>
          <p:cNvPr id="11" name="그림 10">
            <a:extLst>
              <a:ext uri="{FF2B5EF4-FFF2-40B4-BE49-F238E27FC236}">
                <a16:creationId xmlns:a16="http://schemas.microsoft.com/office/drawing/2014/main" id="{2ECF9C39-2D74-EA21-5401-4D24301F29DC}"/>
              </a:ext>
            </a:extLst>
          </p:cNvPr>
          <p:cNvPicPr>
            <a:picLocks noChangeAspect="1"/>
          </p:cNvPicPr>
          <p:nvPr/>
        </p:nvPicPr>
        <p:blipFill>
          <a:blip r:embed="rId4"/>
          <a:stretch>
            <a:fillRect/>
          </a:stretch>
        </p:blipFill>
        <p:spPr>
          <a:xfrm>
            <a:off x="2671267" y="3184271"/>
            <a:ext cx="4672508" cy="3320335"/>
          </a:xfrm>
          <a:prstGeom prst="rect">
            <a:avLst/>
          </a:prstGeom>
        </p:spPr>
      </p:pic>
    </p:spTree>
    <p:extLst>
      <p:ext uri="{BB962C8B-B14F-4D97-AF65-F5344CB8AC3E}">
        <p14:creationId xmlns:p14="http://schemas.microsoft.com/office/powerpoint/2010/main" val="1111946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0B2C8-4B2B-ED8A-21F3-69FB3399366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94A0271B-0BC8-4891-2424-1E4C9AF8403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Pachelbel’ Canon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0690250F-9CED-C485-4456-3481AB1FCC2F}"/>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23</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3B82CFFC-B8BE-0461-3929-8F409FC9A637}"/>
              </a:ext>
            </a:extLst>
          </p:cNvPr>
          <p:cNvSpPr txBox="1"/>
          <p:nvPr/>
        </p:nvSpPr>
        <p:spPr>
          <a:xfrm>
            <a:off x="585509" y="1225337"/>
            <a:ext cx="10953750" cy="1721305"/>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altLang="ko-KR" sz="1600" b="1" dirty="0">
                <a:latin typeface="D2Coding" panose="020B0609020101020101" pitchFamily="49" charset="-127"/>
                <a:ea typeface="D2Coding" panose="020B0609020101020101" pitchFamily="49" charset="-127"/>
              </a:rPr>
              <a:t>RNN — </a:t>
            </a:r>
            <a:r>
              <a:rPr lang="ko-KR" altLang="en-US" sz="1600" b="1" dirty="0">
                <a:latin typeface="D2Coding" panose="020B0609020101020101" pitchFamily="49" charset="-127"/>
                <a:ea typeface="D2Coding" panose="020B0609020101020101" pitchFamily="49" charset="-127"/>
              </a:rPr>
              <a:t>캐논의 </a:t>
            </a:r>
            <a:r>
              <a:rPr lang="en-US" altLang="ko-KR" sz="1600" b="1" dirty="0">
                <a:latin typeface="D2Coding" panose="020B0609020101020101" pitchFamily="49" charset="-127"/>
                <a:ea typeface="D2Coding" panose="020B0609020101020101" pitchFamily="49" charset="-127"/>
              </a:rPr>
              <a:t>'</a:t>
            </a:r>
            <a:r>
              <a:rPr lang="ko-KR" altLang="en-US" sz="1600" b="1" dirty="0">
                <a:latin typeface="D2Coding" panose="020B0609020101020101" pitchFamily="49" charset="-127"/>
                <a:ea typeface="D2Coding" panose="020B0609020101020101" pitchFamily="49" charset="-127"/>
              </a:rPr>
              <a:t>모방</a:t>
            </a:r>
            <a:r>
              <a:rPr lang="en-US" altLang="ko-KR" sz="1600" b="1" dirty="0">
                <a:latin typeface="D2Coding" panose="020B0609020101020101" pitchFamily="49" charset="-127"/>
                <a:ea typeface="D2Coding" panose="020B0609020101020101" pitchFamily="49" charset="-127"/>
              </a:rPr>
              <a:t>(imitation)’ </a:t>
            </a:r>
            <a:r>
              <a:rPr lang="ko-KR" altLang="en-US" sz="1600" b="1" dirty="0">
                <a:latin typeface="D2Coding" panose="020B0609020101020101" pitchFamily="49" charset="-127"/>
                <a:ea typeface="D2Coding" panose="020B0609020101020101" pitchFamily="49" charset="-127"/>
              </a:rPr>
              <a:t>기법</a:t>
            </a:r>
            <a:endParaRPr lang="en-US" altLang="ko-KR" sz="1600" b="1"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ko-KR" altLang="en-US" sz="1400" dirty="0">
                <a:latin typeface="D2Coding" panose="020B0609020101020101" pitchFamily="49" charset="-127"/>
                <a:ea typeface="D2Coding" panose="020B0609020101020101" pitchFamily="49" charset="-127"/>
              </a:rPr>
              <a:t>캐논의 핵심 규칙은 </a:t>
            </a:r>
            <a:r>
              <a:rPr lang="en-US" altLang="ko-KR" sz="1400" dirty="0">
                <a:latin typeface="D2Coding" panose="020B0609020101020101" pitchFamily="49" charset="-127"/>
                <a:ea typeface="D2Coding" panose="020B0609020101020101" pitchFamily="49" charset="-127"/>
              </a:rPr>
              <a:t>"2</a:t>
            </a:r>
            <a:r>
              <a:rPr lang="ko-KR" altLang="en-US" sz="1400" dirty="0">
                <a:latin typeface="D2Coding" panose="020B0609020101020101" pitchFamily="49" charset="-127"/>
                <a:ea typeface="D2Coding" panose="020B0609020101020101" pitchFamily="49" charset="-127"/>
              </a:rPr>
              <a:t>번째</a:t>
            </a:r>
            <a:r>
              <a:rPr lang="en-US" altLang="ko-KR" sz="1400" dirty="0">
                <a:latin typeface="D2Coding" panose="020B0609020101020101" pitchFamily="49" charset="-127"/>
                <a:ea typeface="D2Coding" panose="020B0609020101020101" pitchFamily="49" charset="-127"/>
              </a:rPr>
              <a:t>, 3</a:t>
            </a:r>
            <a:r>
              <a:rPr lang="ko-KR" altLang="en-US" sz="1400" dirty="0">
                <a:latin typeface="D2Coding" panose="020B0609020101020101" pitchFamily="49" charset="-127"/>
                <a:ea typeface="D2Coding" panose="020B0609020101020101" pitchFamily="49" charset="-127"/>
              </a:rPr>
              <a:t>번째 바이올린이 </a:t>
            </a:r>
            <a:r>
              <a:rPr lang="en-US" altLang="ko-KR" sz="1400" dirty="0">
                <a:latin typeface="D2Coding" panose="020B0609020101020101" pitchFamily="49" charset="-127"/>
                <a:ea typeface="D2Coding" panose="020B0609020101020101" pitchFamily="49" charset="-127"/>
              </a:rPr>
              <a:t>1</a:t>
            </a:r>
            <a:r>
              <a:rPr lang="ko-KR" altLang="en-US" sz="1400" dirty="0">
                <a:latin typeface="D2Coding" panose="020B0609020101020101" pitchFamily="49" charset="-127"/>
                <a:ea typeface="D2Coding" panose="020B0609020101020101" pitchFamily="49" charset="-127"/>
              </a:rPr>
              <a:t>번째와 완전히 똑같은 선율을</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몇 박자 늦게 그대로 따라 연주한다</a:t>
            </a:r>
            <a:r>
              <a:rPr lang="en-US" altLang="ko-KR" sz="1400" dirty="0">
                <a:latin typeface="D2Coding" panose="020B0609020101020101" pitchFamily="49" charset="-127"/>
                <a:ea typeface="D2Coding" panose="020B0609020101020101" pitchFamily="49" charset="-127"/>
              </a:rPr>
              <a:t>“</a:t>
            </a:r>
          </a:p>
          <a:p>
            <a:pPr marL="742950" lvl="1" indent="-285750">
              <a:lnSpc>
                <a:spcPct val="150000"/>
              </a:lnSpc>
              <a:buFont typeface="Wingdings" panose="05000000000000000000" pitchFamily="2" charset="2"/>
              <a:buChar char="§"/>
            </a:pPr>
            <a:r>
              <a:rPr lang="ko-KR" altLang="en-US" sz="1400" dirty="0">
                <a:latin typeface="D2Coding" panose="020B0609020101020101" pitchFamily="49" charset="-127"/>
                <a:ea typeface="D2Coding" panose="020B0609020101020101" pitchFamily="49" charset="-127"/>
              </a:rPr>
              <a:t>즉 매번 새로운 규칙을 쓰는 게 아니라 </a:t>
            </a:r>
            <a:r>
              <a:rPr lang="ko-KR" altLang="en-US" sz="1400" b="1" dirty="0">
                <a:latin typeface="D2Coding" panose="020B0609020101020101" pitchFamily="49" charset="-127"/>
                <a:ea typeface="D2Coding" panose="020B0609020101020101" pitchFamily="49" charset="-127"/>
              </a:rPr>
              <a:t>똑같은 함수</a:t>
            </a:r>
            <a:r>
              <a:rPr lang="en-US" altLang="ko-KR" sz="1400" b="1" dirty="0">
                <a:latin typeface="D2Coding" panose="020B0609020101020101" pitchFamily="49" charset="-127"/>
                <a:ea typeface="D2Coding" panose="020B0609020101020101" pitchFamily="49" charset="-127"/>
              </a:rPr>
              <a:t>(</a:t>
            </a:r>
            <a:r>
              <a:rPr lang="ko-KR" altLang="en-US" sz="1400" b="1" dirty="0">
                <a:latin typeface="D2Coding" panose="020B0609020101020101" pitchFamily="49" charset="-127"/>
                <a:ea typeface="D2Coding" panose="020B0609020101020101" pitchFamily="49" charset="-127"/>
              </a:rPr>
              <a:t>선율 규칙</a:t>
            </a:r>
            <a:r>
              <a:rPr lang="en-US" altLang="ko-KR" sz="1400" b="1" dirty="0">
                <a:latin typeface="D2Coding" panose="020B0609020101020101" pitchFamily="49" charset="-127"/>
                <a:ea typeface="D2Coding" panose="020B0609020101020101" pitchFamily="49" charset="-127"/>
              </a:rPr>
              <a:t>)</a:t>
            </a:r>
            <a:r>
              <a:rPr lang="ko-KR" altLang="en-US" sz="1400" b="1" dirty="0">
                <a:latin typeface="D2Coding" panose="020B0609020101020101" pitchFamily="49" charset="-127"/>
                <a:ea typeface="D2Coding" panose="020B0609020101020101" pitchFamily="49" charset="-127"/>
              </a:rPr>
              <a:t>를 </a:t>
            </a:r>
            <a:r>
              <a:rPr lang="ko-KR" altLang="en-US" sz="1400" b="1" dirty="0" err="1">
                <a:latin typeface="D2Coding" panose="020B0609020101020101" pitchFamily="49" charset="-127"/>
                <a:ea typeface="D2Coding" panose="020B0609020101020101" pitchFamily="49" charset="-127"/>
              </a:rPr>
              <a:t>시간축을</a:t>
            </a:r>
            <a:r>
              <a:rPr lang="ko-KR" altLang="en-US" sz="1400" b="1" dirty="0">
                <a:latin typeface="D2Coding" panose="020B0609020101020101" pitchFamily="49" charset="-127"/>
                <a:ea typeface="D2Coding" panose="020B0609020101020101" pitchFamily="49" charset="-127"/>
              </a:rPr>
              <a:t> 따라 반복 적용</a:t>
            </a:r>
            <a:endParaRPr lang="en-US" altLang="ko-KR" sz="1400" b="1"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ko-KR" altLang="en-US" sz="1400" dirty="0">
                <a:latin typeface="D2Coding" panose="020B0609020101020101" pitchFamily="49" charset="-127"/>
                <a:ea typeface="D2Coding" panose="020B0609020101020101" pitchFamily="49" charset="-127"/>
              </a:rPr>
              <a:t>이게 정확히 </a:t>
            </a:r>
            <a:r>
              <a:rPr lang="en-US" altLang="ko-KR" sz="1400" dirty="0">
                <a:latin typeface="D2Coding" panose="020B0609020101020101" pitchFamily="49" charset="-127"/>
                <a:ea typeface="D2Coding" panose="020B0609020101020101" pitchFamily="49" charset="-127"/>
              </a:rPr>
              <a:t>RNN</a:t>
            </a:r>
            <a:r>
              <a:rPr lang="ko-KR" altLang="en-US" sz="1400" dirty="0">
                <a:latin typeface="D2Coding" panose="020B0609020101020101" pitchFamily="49" charset="-127"/>
                <a:ea typeface="D2Coding" panose="020B0609020101020101" pitchFamily="49" charset="-127"/>
              </a:rPr>
              <a:t>의 핵심 아이디어입니다 </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모든 타임스텝에서 동일한 가중치 </a:t>
            </a:r>
            <a:r>
              <a:rPr lang="en-US" altLang="ko-KR" sz="1400" dirty="0">
                <a:latin typeface="D2Coding" panose="020B0609020101020101" pitchFamily="49" charset="-127"/>
                <a:ea typeface="D2Coding" panose="020B0609020101020101" pitchFamily="49" charset="-127"/>
              </a:rPr>
              <a:t>W</a:t>
            </a:r>
            <a:r>
              <a:rPr lang="ko-KR" altLang="en-US" sz="1400" dirty="0">
                <a:latin typeface="D2Coding" panose="020B0609020101020101" pitchFamily="49" charset="-127"/>
                <a:ea typeface="D2Coding" panose="020B0609020101020101" pitchFamily="49" charset="-127"/>
              </a:rPr>
              <a:t>를 재사용하면서</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이전 스텝의 결과</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선행 목소리</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를 이어받아 다음 스텝으로 흘려 보내는 구조</a:t>
            </a:r>
          </a:p>
        </p:txBody>
      </p:sp>
      <p:pic>
        <p:nvPicPr>
          <p:cNvPr id="2" name="Picture 2" descr="Johann Pachelbel">
            <a:extLst>
              <a:ext uri="{FF2B5EF4-FFF2-40B4-BE49-F238E27FC236}">
                <a16:creationId xmlns:a16="http://schemas.microsoft.com/office/drawing/2014/main" id="{2268BAC2-F4F2-E7E7-ED20-83DE1054F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2025" y="3615301"/>
            <a:ext cx="2078929" cy="24773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BAFFFF-3248-C040-BC53-2F1DA8324BDF}"/>
              </a:ext>
            </a:extLst>
          </p:cNvPr>
          <p:cNvSpPr txBox="1"/>
          <p:nvPr/>
        </p:nvSpPr>
        <p:spPr>
          <a:xfrm>
            <a:off x="8505825" y="3092081"/>
            <a:ext cx="3257550" cy="523220"/>
          </a:xfrm>
          <a:prstGeom prst="rect">
            <a:avLst/>
          </a:prstGeom>
          <a:noFill/>
        </p:spPr>
        <p:txBody>
          <a:bodyPr wrap="square">
            <a:spAutoFit/>
          </a:bodyPr>
          <a:lstStyle/>
          <a:p>
            <a:r>
              <a:rPr lang="en-US" altLang="ko-KR" sz="1400" b="0" i="0" dirty="0">
                <a:solidFill>
                  <a:srgbClr val="000000"/>
                </a:solidFill>
                <a:effectLst/>
                <a:latin typeface="Source Sans Pro" panose="020B0503030403020204" pitchFamily="34" charset="0"/>
              </a:rPr>
              <a:t>Pachelbel’s Canon</a:t>
            </a:r>
          </a:p>
          <a:p>
            <a:r>
              <a:rPr lang="en-US" altLang="ko-KR" sz="1400" dirty="0">
                <a:solidFill>
                  <a:srgbClr val="000000"/>
                </a:solidFill>
                <a:latin typeface="Source Sans Pro" panose="020B0503030403020204" pitchFamily="34" charset="0"/>
              </a:rPr>
              <a:t>(1653.9.1 ~ 1706.3)</a:t>
            </a:r>
            <a:endParaRPr lang="ko-KR" altLang="en-US" sz="1400" dirty="0"/>
          </a:p>
        </p:txBody>
      </p:sp>
      <p:pic>
        <p:nvPicPr>
          <p:cNvPr id="10" name="그림 9">
            <a:extLst>
              <a:ext uri="{FF2B5EF4-FFF2-40B4-BE49-F238E27FC236}">
                <a16:creationId xmlns:a16="http://schemas.microsoft.com/office/drawing/2014/main" id="{F76B91B8-AAA6-F628-E80F-77E5F325147C}"/>
              </a:ext>
            </a:extLst>
          </p:cNvPr>
          <p:cNvPicPr>
            <a:picLocks noChangeAspect="1"/>
          </p:cNvPicPr>
          <p:nvPr/>
        </p:nvPicPr>
        <p:blipFill>
          <a:blip r:embed="rId3"/>
          <a:stretch>
            <a:fillRect/>
          </a:stretch>
        </p:blipFill>
        <p:spPr>
          <a:xfrm>
            <a:off x="1138961" y="3356610"/>
            <a:ext cx="6553137" cy="2276053"/>
          </a:xfrm>
          <a:prstGeom prst="rect">
            <a:avLst/>
          </a:prstGeom>
          <a:ln>
            <a:solidFill>
              <a:schemeClr val="tx1"/>
            </a:solidFill>
          </a:ln>
        </p:spPr>
      </p:pic>
      <p:sp>
        <p:nvSpPr>
          <p:cNvPr id="14" name="TextBox 13">
            <a:extLst>
              <a:ext uri="{FF2B5EF4-FFF2-40B4-BE49-F238E27FC236}">
                <a16:creationId xmlns:a16="http://schemas.microsoft.com/office/drawing/2014/main" id="{36112944-CAAF-BDFD-DC3F-16FC0302AF87}"/>
              </a:ext>
            </a:extLst>
          </p:cNvPr>
          <p:cNvSpPr txBox="1"/>
          <p:nvPr/>
        </p:nvSpPr>
        <p:spPr>
          <a:xfrm>
            <a:off x="1138961" y="5632663"/>
            <a:ext cx="6553137" cy="646331"/>
          </a:xfrm>
          <a:prstGeom prst="rect">
            <a:avLst/>
          </a:prstGeom>
          <a:noFill/>
        </p:spPr>
        <p:txBody>
          <a:bodyPr wrap="square">
            <a:spAutoFit/>
          </a:bodyPr>
          <a:lstStyle/>
          <a:p>
            <a:r>
              <a:rPr lang="ko-KR" altLang="en-US" sz="1200" dirty="0">
                <a:latin typeface="D2Coding" panose="020B0609020101020101" pitchFamily="49" charset="-127"/>
                <a:ea typeface="D2Coding" panose="020B0609020101020101" pitchFamily="49" charset="-127"/>
              </a:rPr>
              <a:t>세 셀은 모두 </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같은 규칙</a:t>
            </a:r>
            <a:r>
              <a:rPr lang="en-US" altLang="ko-KR" sz="1200" dirty="0">
                <a:latin typeface="D2Coding" panose="020B0609020101020101" pitchFamily="49" charset="-127"/>
                <a:ea typeface="D2Coding" panose="020B0609020101020101" pitchFamily="49" charset="-127"/>
              </a:rPr>
              <a:t>(W)'</a:t>
            </a:r>
            <a:r>
              <a:rPr lang="ko-KR" altLang="en-US" sz="1200" dirty="0">
                <a:latin typeface="D2Coding" panose="020B0609020101020101" pitchFamily="49" charset="-127"/>
                <a:ea typeface="D2Coding" panose="020B0609020101020101" pitchFamily="49" charset="-127"/>
              </a:rPr>
              <a:t>을 쓰지만</a:t>
            </a:r>
            <a:r>
              <a:rPr lang="en-US" altLang="ko-KR" sz="1200" dirty="0">
                <a:latin typeface="D2Coding" panose="020B0609020101020101" pitchFamily="49" charset="-127"/>
                <a:ea typeface="D2Coding" panose="020B0609020101020101" pitchFamily="49" charset="-127"/>
              </a:rPr>
              <a:t>, </a:t>
            </a:r>
            <a:r>
              <a:rPr lang="ko-KR" altLang="en-US" sz="1200" dirty="0">
                <a:latin typeface="D2Coding" panose="020B0609020101020101" pitchFamily="49" charset="-127"/>
                <a:ea typeface="D2Coding" panose="020B0609020101020101" pitchFamily="49" charset="-127"/>
              </a:rPr>
              <a:t>뒤 목소리는 반드시 앞 목소리를 거쳐야만 정보를 받을 수 있는 구조</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순서를 건너뛸 수 없는 구조</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로 캐논에서 </a:t>
            </a:r>
            <a:r>
              <a:rPr lang="en-US" altLang="ko-KR" sz="1200" dirty="0">
                <a:latin typeface="D2Coding" panose="020B0609020101020101" pitchFamily="49" charset="-127"/>
                <a:ea typeface="D2Coding" panose="020B0609020101020101" pitchFamily="49" charset="-127"/>
              </a:rPr>
              <a:t>3</a:t>
            </a:r>
            <a:r>
              <a:rPr lang="ko-KR" altLang="en-US" sz="1200" dirty="0">
                <a:latin typeface="D2Coding" panose="020B0609020101020101" pitchFamily="49" charset="-127"/>
                <a:ea typeface="D2Coding" panose="020B0609020101020101" pitchFamily="49" charset="-127"/>
              </a:rPr>
              <a:t>번째 바이올린이 </a:t>
            </a:r>
            <a:r>
              <a:rPr lang="en-US" altLang="ko-KR" sz="1200" dirty="0">
                <a:latin typeface="D2Coding" panose="020B0609020101020101" pitchFamily="49" charset="-127"/>
                <a:ea typeface="D2Coding" panose="020B0609020101020101" pitchFamily="49" charset="-127"/>
              </a:rPr>
              <a:t>1</a:t>
            </a:r>
            <a:r>
              <a:rPr lang="ko-KR" altLang="en-US" sz="1200" dirty="0">
                <a:latin typeface="D2Coding" panose="020B0609020101020101" pitchFamily="49" charset="-127"/>
                <a:ea typeface="D2Coding" panose="020B0609020101020101" pitchFamily="49" charset="-127"/>
              </a:rPr>
              <a:t>번째 선율을 알려면 </a:t>
            </a:r>
            <a:r>
              <a:rPr lang="en-US" altLang="ko-KR" sz="1200" dirty="0">
                <a:latin typeface="D2Coding" panose="020B0609020101020101" pitchFamily="49" charset="-127"/>
                <a:ea typeface="D2Coding" panose="020B0609020101020101" pitchFamily="49" charset="-127"/>
              </a:rPr>
              <a:t>2</a:t>
            </a:r>
            <a:r>
              <a:rPr lang="ko-KR" altLang="en-US" sz="1200" dirty="0">
                <a:latin typeface="D2Coding" panose="020B0609020101020101" pitchFamily="49" charset="-127"/>
                <a:ea typeface="D2Coding" panose="020B0609020101020101" pitchFamily="49" charset="-127"/>
              </a:rPr>
              <a:t>번째를 거쳐서 시간이 흘러야 하는 것과 같음</a:t>
            </a:r>
          </a:p>
        </p:txBody>
      </p:sp>
    </p:spTree>
    <p:extLst>
      <p:ext uri="{BB962C8B-B14F-4D97-AF65-F5344CB8AC3E}">
        <p14:creationId xmlns:p14="http://schemas.microsoft.com/office/powerpoint/2010/main" val="3021652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94395-C5FE-2F19-B112-31D07CC7291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D1D56BB-5CD2-24D8-D885-CCFFE2430A2B}"/>
              </a:ext>
            </a:extLst>
          </p:cNvPr>
          <p:cNvSpPr/>
          <p:nvPr/>
        </p:nvSpPr>
        <p:spPr>
          <a:xfrm>
            <a:off x="475645" y="2800350"/>
            <a:ext cx="7963505" cy="53047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1">
            <a:extLst>
              <a:ext uri="{FF2B5EF4-FFF2-40B4-BE49-F238E27FC236}">
                <a16:creationId xmlns:a16="http://schemas.microsoft.com/office/drawing/2014/main" id="{18D7F24D-0888-3A4F-080B-13731C1A3C0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Goals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67F584A7-236A-AEFC-F955-9CE7B839CE0C}"/>
              </a:ext>
            </a:extLst>
          </p:cNvPr>
          <p:cNvSpPr txBox="1"/>
          <p:nvPr/>
        </p:nvSpPr>
        <p:spPr>
          <a:xfrm>
            <a:off x="587055" y="1846268"/>
            <a:ext cx="7394895" cy="4189993"/>
          </a:xfrm>
          <a:prstGeom prst="rect">
            <a:avLst/>
          </a:prstGeom>
          <a:noFill/>
        </p:spPr>
        <p:txBody>
          <a:bodyPr wrap="square">
            <a:spAutoFit/>
          </a:bodyPr>
          <a:lstStyle/>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Different kinds of timeseries tasks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Timeseries 3D tensor</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 temperature forecasting example</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naïve approach</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Fully connected neural network</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1D Convnet</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Understanding recurrent neural networks (RNNs)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Applying RNNs to a temperature forecasting example</a:t>
            </a:r>
          </a:p>
          <a:p>
            <a:pPr marL="800100" lvl="1" indent="-342900">
              <a:lnSpc>
                <a:spcPct val="150000"/>
              </a:lnSpc>
              <a:buFont typeface="Wingdings" panose="05000000000000000000" pitchFamily="2" charset="2"/>
              <a:buChar char="v"/>
            </a:pPr>
            <a:endParaRPr lang="en-US" altLang="ko-KR" sz="20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79962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8958E-B1FA-EE34-909E-18869CED33DF}"/>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71781DA-A838-72C3-5718-C8E4C3F95BA5}"/>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Prepare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data</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00AF392D-76B8-1DBE-7F26-209495FC2592}"/>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146" name="Picture 2">
            <a:extLst>
              <a:ext uri="{FF2B5EF4-FFF2-40B4-BE49-F238E27FC236}">
                <a16:creationId xmlns:a16="http://schemas.microsoft.com/office/drawing/2014/main" id="{685346AB-3825-590E-CA16-D19F09D0D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816" y="3398520"/>
            <a:ext cx="3591819" cy="267765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49A8E2E-0B39-D77B-E5A9-1A208A43ECA6}"/>
              </a:ext>
            </a:extLst>
          </p:cNvPr>
          <p:cNvSpPr txBox="1"/>
          <p:nvPr/>
        </p:nvSpPr>
        <p:spPr>
          <a:xfrm>
            <a:off x="855437" y="2861425"/>
            <a:ext cx="4579803" cy="523220"/>
          </a:xfrm>
          <a:prstGeom prst="rect">
            <a:avLst/>
          </a:prstGeom>
          <a:noFill/>
        </p:spPr>
        <p:txBody>
          <a:bodyPr wrap="square">
            <a:spAutoFit/>
          </a:bodyPr>
          <a:lstStyle/>
          <a:p>
            <a:r>
              <a:rPr lang="ko-KR" altLang="en-US" sz="1400" dirty="0">
                <a:latin typeface="D2Coding" panose="020B0609020101020101" pitchFamily="49" charset="-127"/>
                <a:ea typeface="D2Coding" panose="020B0609020101020101" pitchFamily="49" charset="-127"/>
              </a:rPr>
              <a:t>jena_climate_2009_2016</a:t>
            </a:r>
            <a:r>
              <a:rPr lang="en-US" altLang="ko-KR" sz="1400" dirty="0">
                <a:latin typeface="D2Coding" panose="020B0609020101020101" pitchFamily="49" charset="-127"/>
                <a:ea typeface="D2Coding" panose="020B0609020101020101" pitchFamily="49" charset="-127"/>
              </a:rPr>
              <a:t>.csv</a:t>
            </a: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14</a:t>
            </a:r>
            <a:r>
              <a:rPr lang="ko-KR" altLang="en-US" sz="1400" dirty="0">
                <a:latin typeface="D2Coding" panose="020B0609020101020101" pitchFamily="49" charset="-127"/>
                <a:ea typeface="D2Coding" panose="020B0609020101020101" pitchFamily="49" charset="-127"/>
              </a:rPr>
              <a:t>개 </a:t>
            </a:r>
            <a:r>
              <a:rPr lang="en-US" altLang="ko-KR" sz="1400" dirty="0">
                <a:latin typeface="D2Coding" panose="020B0609020101020101" pitchFamily="49" charset="-127"/>
                <a:ea typeface="D2Coding" panose="020B0609020101020101" pitchFamily="49" charset="-127"/>
              </a:rPr>
              <a:t>features </a:t>
            </a:r>
            <a:r>
              <a:rPr lang="en-US" altLang="ko-KR" sz="1400" dirty="0">
                <a:latin typeface="D2Coding" panose="020B0609020101020101" pitchFamily="49" charset="-127"/>
                <a:ea typeface="D2Coding" panose="020B0609020101020101" pitchFamily="49" charset="-127"/>
                <a:sym typeface="Wingdings" panose="05000000000000000000" pitchFamily="2" charset="2"/>
              </a:rPr>
              <a:t> </a:t>
            </a:r>
            <a:r>
              <a:rPr lang="en-US" altLang="ko-KR" sz="1400" dirty="0" err="1">
                <a:latin typeface="D2Coding" panose="020B0609020101020101" pitchFamily="49" charset="-127"/>
                <a:ea typeface="D2Coding" panose="020B0609020101020101" pitchFamily="49" charset="-127"/>
                <a:sym typeface="Wingdings" panose="05000000000000000000" pitchFamily="2" charset="2"/>
              </a:rPr>
              <a:t>temparatur</a:t>
            </a:r>
            <a:r>
              <a:rPr lang="en-US" altLang="ko-KR" sz="1400" dirty="0">
                <a:latin typeface="D2Coding" panose="020B0609020101020101" pitchFamily="49" charset="-127"/>
                <a:ea typeface="D2Coding" panose="020B0609020101020101" pitchFamily="49" charset="-127"/>
                <a:sym typeface="Wingdings" panose="05000000000000000000" pitchFamily="2" charset="2"/>
              </a:rPr>
              <a:t>(target)</a:t>
            </a:r>
            <a:r>
              <a:rPr lang="ko-KR" altLang="en-US" sz="1400" dirty="0">
                <a:latin typeface="D2Coding" panose="020B0609020101020101" pitchFamily="49" charset="-127"/>
                <a:ea typeface="D2Coding" panose="020B0609020101020101" pitchFamily="49" charset="-127"/>
                <a:sym typeface="Wingdings" panose="05000000000000000000" pitchFamily="2" charset="2"/>
              </a:rPr>
              <a:t> 예측 </a:t>
            </a:r>
            <a:endParaRPr lang="ko-KR" altLang="en-US" sz="1400" dirty="0">
              <a:latin typeface="D2Coding" panose="020B0609020101020101" pitchFamily="49" charset="-127"/>
              <a:ea typeface="D2Coding" panose="020B0609020101020101" pitchFamily="49" charset="-127"/>
            </a:endParaRPr>
          </a:p>
        </p:txBody>
      </p:sp>
      <p:sp>
        <p:nvSpPr>
          <p:cNvPr id="8" name="TextBox 7">
            <a:extLst>
              <a:ext uri="{FF2B5EF4-FFF2-40B4-BE49-F238E27FC236}">
                <a16:creationId xmlns:a16="http://schemas.microsoft.com/office/drawing/2014/main" id="{524FDD8A-CAE8-C0E0-B80D-37423F8723F7}"/>
              </a:ext>
            </a:extLst>
          </p:cNvPr>
          <p:cNvSpPr txBox="1"/>
          <p:nvPr/>
        </p:nvSpPr>
        <p:spPr>
          <a:xfrm>
            <a:off x="559528" y="1196976"/>
            <a:ext cx="10986284" cy="1162498"/>
          </a:xfrm>
          <a:prstGeom prst="rect">
            <a:avLst/>
          </a:prstGeom>
          <a:noFill/>
        </p:spPr>
        <p:txBody>
          <a:bodyPr wrap="square">
            <a:spAutoFit/>
          </a:bodyPr>
          <a:lstStyle/>
          <a:p>
            <a:pPr>
              <a:lnSpc>
                <a:spcPct val="150000"/>
              </a:lnSpc>
              <a:buNone/>
            </a:pPr>
            <a:r>
              <a:rPr lang="ko-KR" altLang="en-US" sz="1600" dirty="0">
                <a:latin typeface="D2Coding" panose="020B0609020101020101" pitchFamily="49" charset="-127"/>
                <a:ea typeface="D2Coding" panose="020B0609020101020101" pitchFamily="49" charset="-127"/>
              </a:rPr>
              <a:t>원본 기상 데이터</a:t>
            </a:r>
            <a:r>
              <a:rPr lang="en-US" altLang="ko-KR" sz="1600" dirty="0">
                <a:latin typeface="D2Coding" panose="020B0609020101020101" pitchFamily="49" charset="-127"/>
                <a:ea typeface="D2Coding" panose="020B0609020101020101" pitchFamily="49" charset="-127"/>
              </a:rPr>
              <a:t>(10</a:t>
            </a:r>
            <a:r>
              <a:rPr lang="ko-KR" altLang="en-US" sz="1600" dirty="0">
                <a:latin typeface="D2Coding" panose="020B0609020101020101" pitchFamily="49" charset="-127"/>
                <a:ea typeface="D2Coding" panose="020B0609020101020101" pitchFamily="49" charset="-127"/>
              </a:rPr>
              <a:t>분</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간격</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시간 간격</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sampling_rate</a:t>
            </a:r>
            <a:r>
              <a:rPr lang="en-US" altLang="ko-KR" sz="1600" dirty="0">
                <a:latin typeface="D2Coding" panose="020B0609020101020101" pitchFamily="49" charset="-127"/>
                <a:ea typeface="D2Coding" panose="020B0609020101020101" pitchFamily="49" charset="-127"/>
              </a:rPr>
              <a:t>=6)</a:t>
            </a:r>
            <a:r>
              <a:rPr lang="ko-KR" altLang="en-US" sz="1600" dirty="0">
                <a:latin typeface="D2Coding" panose="020B0609020101020101" pitchFamily="49" charset="-127"/>
                <a:ea typeface="D2Coding" panose="020B0609020101020101" pitchFamily="49" charset="-127"/>
              </a:rPr>
              <a:t>으로 샘플링해</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과거 </a:t>
            </a:r>
            <a:r>
              <a:rPr lang="en-US" altLang="ko-KR" sz="1600" dirty="0">
                <a:latin typeface="D2Coding" panose="020B0609020101020101" pitchFamily="49" charset="-127"/>
                <a:ea typeface="D2Coding" panose="020B0609020101020101" pitchFamily="49" charset="-127"/>
              </a:rPr>
              <a:t>5</a:t>
            </a:r>
            <a:r>
              <a:rPr lang="ko-KR" altLang="en-US" sz="1600" dirty="0">
                <a:latin typeface="D2Coding" panose="020B0609020101020101" pitchFamily="49" charset="-127"/>
                <a:ea typeface="D2Coding" panose="020B0609020101020101" pitchFamily="49" charset="-127"/>
              </a:rPr>
              <a:t>일치</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sequence_length</a:t>
            </a:r>
            <a:r>
              <a:rPr lang="en-US" altLang="ko-KR" sz="1600" dirty="0">
                <a:latin typeface="D2Coding" panose="020B0609020101020101" pitchFamily="49" charset="-127"/>
                <a:ea typeface="D2Coding" panose="020B0609020101020101" pitchFamily="49" charset="-127"/>
              </a:rPr>
              <a:t>=120)</a:t>
            </a:r>
            <a:r>
              <a:rPr lang="ko-KR" altLang="en-US" sz="1600" dirty="0">
                <a:latin typeface="D2Coding" panose="020B0609020101020101" pitchFamily="49" charset="-127"/>
                <a:ea typeface="D2Coding" panose="020B0609020101020101" pitchFamily="49" charset="-127"/>
              </a:rPr>
              <a:t>를 입력으로 </a:t>
            </a:r>
            <a:r>
              <a:rPr lang="en-US" altLang="ko-KR" sz="1600" dirty="0">
                <a:latin typeface="D2Coding" panose="020B0609020101020101" pitchFamily="49" charset="-127"/>
                <a:ea typeface="D2Coding" panose="020B0609020101020101" pitchFamily="49" charset="-127"/>
              </a:rPr>
              <a:t>24</a:t>
            </a:r>
            <a:r>
              <a:rPr lang="ko-KR" altLang="en-US" sz="1600" dirty="0">
                <a:latin typeface="D2Coding" panose="020B0609020101020101" pitchFamily="49" charset="-127"/>
                <a:ea typeface="D2Coding" panose="020B0609020101020101" pitchFamily="49" charset="-127"/>
              </a:rPr>
              <a:t>시간 뒤</a:t>
            </a:r>
            <a:r>
              <a:rPr lang="en-US" altLang="ko-KR" sz="1600" dirty="0">
                <a:latin typeface="D2Coding" panose="020B0609020101020101" pitchFamily="49" charset="-127"/>
                <a:ea typeface="D2Coding" panose="020B0609020101020101" pitchFamily="49" charset="-127"/>
              </a:rPr>
              <a:t>(delay) </a:t>
            </a:r>
            <a:r>
              <a:rPr lang="ko-KR" altLang="en-US" sz="1600" dirty="0">
                <a:latin typeface="D2Coding" panose="020B0609020101020101" pitchFamily="49" charset="-127"/>
                <a:ea typeface="D2Coding" panose="020B0609020101020101" pitchFamily="49" charset="-127"/>
              </a:rPr>
              <a:t>온도를 정답으로 삼는 슬라이딩 윈도우를 구성하고 </a:t>
            </a:r>
            <a:r>
              <a:rPr lang="en-US" altLang="ko-KR" sz="1600" dirty="0">
                <a:latin typeface="D2Coding" panose="020B0609020101020101" pitchFamily="49" charset="-127"/>
                <a:ea typeface="D2Coding" panose="020B0609020101020101" pitchFamily="49" charset="-127"/>
              </a:rPr>
              <a:t>256</a:t>
            </a:r>
            <a:r>
              <a:rPr lang="ko-KR" altLang="en-US" sz="1600" dirty="0">
                <a:latin typeface="D2Coding" panose="020B0609020101020101" pitchFamily="49" charset="-127"/>
                <a:ea typeface="D2Coding" panose="020B0609020101020101" pitchFamily="49" charset="-127"/>
              </a:rPr>
              <a:t>개씩 무작위로 섞은 배치로 훈련용 데이터셋을 구성하여 학습</a:t>
            </a:r>
            <a:endParaRPr lang="ko-KR" altLang="en-US" sz="1600" dirty="0">
              <a:effectLst/>
              <a:latin typeface="D2Coding" panose="020B0609020101020101" pitchFamily="49" charset="-127"/>
              <a:ea typeface="D2Coding" panose="020B0609020101020101" pitchFamily="49" charset="-127"/>
            </a:endParaRPr>
          </a:p>
        </p:txBody>
      </p:sp>
      <p:sp>
        <p:nvSpPr>
          <p:cNvPr id="9" name="TextBox 8">
            <a:extLst>
              <a:ext uri="{FF2B5EF4-FFF2-40B4-BE49-F238E27FC236}">
                <a16:creationId xmlns:a16="http://schemas.microsoft.com/office/drawing/2014/main" id="{99951255-989E-65B0-C778-2A95333C0BD8}"/>
              </a:ext>
            </a:extLst>
          </p:cNvPr>
          <p:cNvSpPr txBox="1"/>
          <p:nvPr/>
        </p:nvSpPr>
        <p:spPr>
          <a:xfrm>
            <a:off x="5557276" y="2911049"/>
            <a:ext cx="6096000" cy="2677656"/>
          </a:xfrm>
          <a:prstGeom prst="rect">
            <a:avLst/>
          </a:prstGeom>
          <a:solidFill>
            <a:srgbClr val="76E3FF"/>
          </a:solidFill>
        </p:spPr>
        <p:txBody>
          <a:bodyPr wrap="square">
            <a:spAutoFit/>
          </a:bodyPr>
          <a:lstStyle/>
          <a:p>
            <a:pPr>
              <a:buNone/>
            </a:pPr>
            <a:r>
              <a:rPr lang="en-US" altLang="ko-KR" sz="1200" b="0" dirty="0" err="1">
                <a:effectLst/>
                <a:latin typeface="D2Coding" panose="020B0609020101020101" pitchFamily="49" charset="-127"/>
                <a:ea typeface="D2Coding" panose="020B0609020101020101" pitchFamily="49" charset="-127"/>
              </a:rPr>
              <a:t>sampling_rate</a:t>
            </a:r>
            <a:r>
              <a:rPr lang="en-US" altLang="ko-KR" sz="1200" b="0" dirty="0">
                <a:effectLst/>
                <a:latin typeface="D2Coding" panose="020B0609020101020101" pitchFamily="49" charset="-127"/>
                <a:ea typeface="D2Coding" panose="020B0609020101020101" pitchFamily="49" charset="-127"/>
              </a:rPr>
              <a:t> = 6</a:t>
            </a:r>
          </a:p>
          <a:p>
            <a:pPr>
              <a:buNone/>
            </a:pPr>
            <a:r>
              <a:rPr lang="en-US" altLang="ko-KR" sz="1200" b="0" dirty="0" err="1">
                <a:effectLst/>
                <a:latin typeface="D2Coding" panose="020B0609020101020101" pitchFamily="49" charset="-127"/>
                <a:ea typeface="D2Coding" panose="020B0609020101020101" pitchFamily="49" charset="-127"/>
              </a:rPr>
              <a:t>sequence_length</a:t>
            </a:r>
            <a:r>
              <a:rPr lang="en-US" altLang="ko-KR" sz="1200" b="0" dirty="0">
                <a:effectLst/>
                <a:latin typeface="D2Coding" panose="020B0609020101020101" pitchFamily="49" charset="-127"/>
                <a:ea typeface="D2Coding" panose="020B0609020101020101" pitchFamily="49" charset="-127"/>
              </a:rPr>
              <a:t> = 120</a:t>
            </a:r>
          </a:p>
          <a:p>
            <a:pPr>
              <a:buNone/>
            </a:pPr>
            <a:r>
              <a:rPr lang="en-US" altLang="ko-KR" sz="1200" b="0" dirty="0">
                <a:effectLst/>
                <a:latin typeface="D2Coding" panose="020B0609020101020101" pitchFamily="49" charset="-127"/>
                <a:ea typeface="D2Coding" panose="020B0609020101020101" pitchFamily="49" charset="-127"/>
              </a:rPr>
              <a:t>delay = </a:t>
            </a:r>
            <a:r>
              <a:rPr lang="en-US" altLang="ko-KR" sz="1200" b="0" dirty="0" err="1">
                <a:effectLst/>
                <a:latin typeface="D2Coding" panose="020B0609020101020101" pitchFamily="49" charset="-127"/>
                <a:ea typeface="D2Coding" panose="020B0609020101020101" pitchFamily="49" charset="-127"/>
              </a:rPr>
              <a:t>sampling_rate</a:t>
            </a:r>
            <a:r>
              <a:rPr lang="en-US" altLang="ko-KR" sz="1200" b="0" dirty="0">
                <a:effectLst/>
                <a:latin typeface="D2Coding" panose="020B0609020101020101" pitchFamily="49" charset="-127"/>
                <a:ea typeface="D2Coding" panose="020B0609020101020101" pitchFamily="49" charset="-127"/>
              </a:rPr>
              <a:t> * (</a:t>
            </a:r>
            <a:r>
              <a:rPr lang="en-US" altLang="ko-KR" sz="1200" b="0" dirty="0" err="1">
                <a:effectLst/>
                <a:latin typeface="D2Coding" panose="020B0609020101020101" pitchFamily="49" charset="-127"/>
                <a:ea typeface="D2Coding" panose="020B0609020101020101" pitchFamily="49" charset="-127"/>
              </a:rPr>
              <a:t>sequence_length</a:t>
            </a:r>
            <a:r>
              <a:rPr lang="en-US" altLang="ko-KR" sz="1200" b="0" dirty="0">
                <a:effectLst/>
                <a:latin typeface="D2Coding" panose="020B0609020101020101" pitchFamily="49" charset="-127"/>
                <a:ea typeface="D2Coding" panose="020B0609020101020101" pitchFamily="49" charset="-127"/>
              </a:rPr>
              <a:t> + 24 - 1)</a:t>
            </a:r>
          </a:p>
          <a:p>
            <a:pPr>
              <a:buNone/>
            </a:pPr>
            <a:r>
              <a:rPr lang="en-US" altLang="ko-KR" sz="1200" b="0" dirty="0" err="1">
                <a:effectLst/>
                <a:latin typeface="D2Coding" panose="020B0609020101020101" pitchFamily="49" charset="-127"/>
                <a:ea typeface="D2Coding" panose="020B0609020101020101" pitchFamily="49" charset="-127"/>
              </a:rPr>
              <a:t>batch_size</a:t>
            </a:r>
            <a:r>
              <a:rPr lang="en-US" altLang="ko-KR" sz="1200" b="0" dirty="0">
                <a:effectLst/>
                <a:latin typeface="D2Coding" panose="020B0609020101020101" pitchFamily="49" charset="-127"/>
                <a:ea typeface="D2Coding" panose="020B0609020101020101" pitchFamily="49" charset="-127"/>
              </a:rPr>
              <a:t> = 256</a:t>
            </a:r>
          </a:p>
          <a:p>
            <a:pPr>
              <a:buNone/>
            </a:pPr>
            <a:r>
              <a:rPr lang="en-US" altLang="ko-KR" sz="1200" b="0" dirty="0" err="1">
                <a:effectLst/>
                <a:latin typeface="D2Coding" panose="020B0609020101020101" pitchFamily="49" charset="-127"/>
                <a:ea typeface="D2Coding" panose="020B0609020101020101" pitchFamily="49" charset="-127"/>
              </a:rPr>
              <a:t>train_dataset</a:t>
            </a:r>
            <a:r>
              <a:rPr lang="en-US" altLang="ko-KR" sz="1200" b="0" dirty="0">
                <a:effectLst/>
                <a:latin typeface="D2Coding" panose="020B0609020101020101" pitchFamily="49" charset="-127"/>
                <a:ea typeface="D2Coding" panose="020B0609020101020101" pitchFamily="49" charset="-127"/>
              </a:rPr>
              <a:t> = </a:t>
            </a:r>
            <a:r>
              <a:rPr lang="en-US" altLang="ko-KR" sz="1200" b="0" dirty="0" err="1">
                <a:effectLst/>
                <a:latin typeface="D2Coding" panose="020B0609020101020101" pitchFamily="49" charset="-127"/>
                <a:ea typeface="D2Coding" panose="020B0609020101020101" pitchFamily="49" charset="-127"/>
              </a:rPr>
              <a:t>keras.utils.timeseries_dataset_from_array</a:t>
            </a:r>
            <a:r>
              <a:rPr lang="en-US" altLang="ko-KR" sz="1200" b="0" dirty="0">
                <a:effectLst/>
                <a:latin typeface="D2Coding" panose="020B0609020101020101" pitchFamily="49" charset="-127"/>
                <a:ea typeface="D2Coding" panose="020B0609020101020101" pitchFamily="49" charset="-127"/>
              </a:rPr>
              <a:t>(</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raw_data</a:t>
            </a:r>
            <a:r>
              <a:rPr lang="en-US" altLang="ko-KR" sz="1200" b="0" dirty="0">
                <a:effectLst/>
                <a:latin typeface="D2Coding" panose="020B0609020101020101" pitchFamily="49" charset="-127"/>
                <a:ea typeface="D2Coding" panose="020B0609020101020101" pitchFamily="49" charset="-127"/>
              </a:rPr>
              <a:t>[:-delay],</a:t>
            </a:r>
          </a:p>
          <a:p>
            <a:pPr>
              <a:buNone/>
            </a:pPr>
            <a:r>
              <a:rPr lang="en-US" altLang="ko-KR" sz="1200" b="0" dirty="0">
                <a:effectLst/>
                <a:latin typeface="D2Coding" panose="020B0609020101020101" pitchFamily="49" charset="-127"/>
                <a:ea typeface="D2Coding" panose="020B0609020101020101" pitchFamily="49" charset="-127"/>
              </a:rPr>
              <a:t>    targets=temperature[delay:],</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sampling_rate</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sampling_rate</a:t>
            </a:r>
            <a:r>
              <a:rPr lang="en-US" altLang="ko-KR" sz="1200" b="0" dirty="0">
                <a:effectLst/>
                <a:latin typeface="D2Coding" panose="020B0609020101020101" pitchFamily="49" charset="-127"/>
                <a:ea typeface="D2Coding" panose="020B0609020101020101" pitchFamily="49" charset="-127"/>
              </a:rPr>
              <a:t>,</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sequence_length</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sequence_length</a:t>
            </a:r>
            <a:r>
              <a:rPr lang="en-US" altLang="ko-KR" sz="1200" b="0" dirty="0">
                <a:effectLst/>
                <a:latin typeface="D2Coding" panose="020B0609020101020101" pitchFamily="49" charset="-127"/>
                <a:ea typeface="D2Coding" panose="020B0609020101020101" pitchFamily="49" charset="-127"/>
              </a:rPr>
              <a:t>,</a:t>
            </a:r>
          </a:p>
          <a:p>
            <a:pPr>
              <a:buNone/>
            </a:pPr>
            <a:r>
              <a:rPr lang="en-US" altLang="ko-KR" sz="1200" b="0" dirty="0">
                <a:effectLst/>
                <a:latin typeface="D2Coding" panose="020B0609020101020101" pitchFamily="49" charset="-127"/>
                <a:ea typeface="D2Coding" panose="020B0609020101020101" pitchFamily="49" charset="-127"/>
              </a:rPr>
              <a:t>    shuffle=True,</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batch_size</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batch_size</a:t>
            </a:r>
            <a:r>
              <a:rPr lang="en-US" altLang="ko-KR" sz="1200" b="0" dirty="0">
                <a:effectLst/>
                <a:latin typeface="D2Coding" panose="020B0609020101020101" pitchFamily="49" charset="-127"/>
                <a:ea typeface="D2Coding" panose="020B0609020101020101" pitchFamily="49" charset="-127"/>
              </a:rPr>
              <a:t>,</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start_index</a:t>
            </a:r>
            <a:r>
              <a:rPr lang="en-US" altLang="ko-KR" sz="1200" b="0" dirty="0">
                <a:effectLst/>
                <a:latin typeface="D2Coding" panose="020B0609020101020101" pitchFamily="49" charset="-127"/>
                <a:ea typeface="D2Coding" panose="020B0609020101020101" pitchFamily="49" charset="-127"/>
              </a:rPr>
              <a:t>=0,</a:t>
            </a:r>
          </a:p>
          <a:p>
            <a:pPr>
              <a:buNone/>
            </a:pPr>
            <a:r>
              <a:rPr lang="en-US" altLang="ko-KR" sz="1200" b="0" dirty="0">
                <a:effectLst/>
                <a:latin typeface="D2Coding" panose="020B0609020101020101" pitchFamily="49" charset="-127"/>
                <a:ea typeface="D2Coding" panose="020B0609020101020101" pitchFamily="49" charset="-127"/>
              </a:rPr>
              <a:t>    </a:t>
            </a:r>
            <a:r>
              <a:rPr lang="en-US" altLang="ko-KR" sz="1200" b="0" dirty="0" err="1">
                <a:effectLst/>
                <a:latin typeface="D2Coding" panose="020B0609020101020101" pitchFamily="49" charset="-127"/>
                <a:ea typeface="D2Coding" panose="020B0609020101020101" pitchFamily="49" charset="-127"/>
              </a:rPr>
              <a:t>end_index</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num_train_samples</a:t>
            </a:r>
            <a:r>
              <a:rPr lang="en-US" altLang="ko-KR" sz="1200" b="0" dirty="0">
                <a:effectLst/>
                <a:latin typeface="D2Coding" panose="020B0609020101020101" pitchFamily="49" charset="-127"/>
                <a:ea typeface="D2Coding" panose="020B0609020101020101" pitchFamily="49" charset="-127"/>
              </a:rPr>
              <a:t>,</a:t>
            </a:r>
          </a:p>
          <a:p>
            <a:pPr>
              <a:buNone/>
            </a:pPr>
            <a:r>
              <a:rPr lang="en-US" altLang="ko-KR" sz="1200" b="0" dirty="0">
                <a:effectLst/>
                <a:latin typeface="D2Coding" panose="020B0609020101020101" pitchFamily="49" charset="-127"/>
                <a:ea typeface="D2Coding" panose="020B0609020101020101" pitchFamily="49" charset="-127"/>
              </a:rPr>
              <a:t>)</a:t>
            </a:r>
          </a:p>
        </p:txBody>
      </p:sp>
      <p:sp>
        <p:nvSpPr>
          <p:cNvPr id="14" name="TextBox 13">
            <a:extLst>
              <a:ext uri="{FF2B5EF4-FFF2-40B4-BE49-F238E27FC236}">
                <a16:creationId xmlns:a16="http://schemas.microsoft.com/office/drawing/2014/main" id="{E8218DA6-2DB4-A06A-4F43-A5662896BD56}"/>
              </a:ext>
            </a:extLst>
          </p:cNvPr>
          <p:cNvSpPr txBox="1"/>
          <p:nvPr/>
        </p:nvSpPr>
        <p:spPr>
          <a:xfrm>
            <a:off x="5557276" y="5590967"/>
            <a:ext cx="6096000" cy="738664"/>
          </a:xfrm>
          <a:prstGeom prst="rect">
            <a:avLst/>
          </a:prstGeom>
          <a:solidFill>
            <a:schemeClr val="tx1"/>
          </a:solidFill>
        </p:spPr>
        <p:txBody>
          <a:bodyPr wrap="square">
            <a:spAutoFit/>
          </a:bodyPr>
          <a:lstStyle/>
          <a:p>
            <a:r>
              <a:rPr lang="en-US" altLang="ko-KR" sz="1400" dirty="0">
                <a:solidFill>
                  <a:schemeClr val="bg1"/>
                </a:solidFill>
                <a:latin typeface="D2Coding" panose="020B0609020101020101" pitchFamily="49" charset="-127"/>
                <a:ea typeface="D2Coding" panose="020B0609020101020101" pitchFamily="49" charset="-127"/>
              </a:rPr>
              <a:t>(</a:t>
            </a:r>
            <a:r>
              <a:rPr lang="en-US" altLang="ko-KR" sz="1400" dirty="0" err="1">
                <a:solidFill>
                  <a:schemeClr val="bg1"/>
                </a:solidFill>
                <a:latin typeface="D2Coding" panose="020B0609020101020101" pitchFamily="49" charset="-127"/>
                <a:ea typeface="D2Coding" panose="020B0609020101020101" pitchFamily="49" charset="-127"/>
              </a:rPr>
              <a:t>batch_size</a:t>
            </a:r>
            <a:r>
              <a:rPr lang="en-US" altLang="ko-KR" sz="1400" dirty="0">
                <a:solidFill>
                  <a:schemeClr val="bg1"/>
                </a:solidFill>
                <a:latin typeface="D2Coding" panose="020B0609020101020101" pitchFamily="49" charset="-127"/>
                <a:ea typeface="D2Coding" panose="020B0609020101020101" pitchFamily="49" charset="-127"/>
              </a:rPr>
              <a:t>, timesteps, features) =  (256, 120, 14)</a:t>
            </a:r>
            <a:endParaRPr lang="ko-KR" altLang="en-US" sz="1400" dirty="0">
              <a:solidFill>
                <a:schemeClr val="bg1"/>
              </a:solidFill>
              <a:latin typeface="D2Coding" panose="020B0609020101020101" pitchFamily="49" charset="-127"/>
              <a:ea typeface="D2Coding" panose="020B0609020101020101" pitchFamily="49" charset="-127"/>
            </a:endParaRPr>
          </a:p>
          <a:p>
            <a:endParaRPr lang="en-US" altLang="ko-KR" sz="1400" dirty="0">
              <a:solidFill>
                <a:schemeClr val="bg1"/>
              </a:solidFill>
              <a:latin typeface="D2Coding" panose="020B0609020101020101" pitchFamily="49" charset="-127"/>
              <a:ea typeface="D2Coding" panose="020B0609020101020101" pitchFamily="49" charset="-127"/>
            </a:endParaRPr>
          </a:p>
          <a:p>
            <a:r>
              <a:rPr lang="en-US" altLang="ko-KR" sz="1400" dirty="0">
                <a:solidFill>
                  <a:schemeClr val="bg1"/>
                </a:solidFill>
                <a:latin typeface="D2Coding" panose="020B0609020101020101" pitchFamily="49" charset="-127"/>
                <a:ea typeface="D2Coding" panose="020B0609020101020101" pitchFamily="49" charset="-127"/>
              </a:rPr>
              <a:t>5</a:t>
            </a:r>
            <a:r>
              <a:rPr lang="ko-KR" altLang="en-US" sz="1400" dirty="0">
                <a:solidFill>
                  <a:schemeClr val="bg1"/>
                </a:solidFill>
                <a:latin typeface="D2Coding" panose="020B0609020101020101" pitchFamily="49" charset="-127"/>
                <a:ea typeface="D2Coding" panose="020B0609020101020101" pitchFamily="49" charset="-127"/>
              </a:rPr>
              <a:t>일치 기상 기록 </a:t>
            </a:r>
            <a:r>
              <a:rPr lang="en-US" altLang="ko-KR" sz="1400" dirty="0">
                <a:solidFill>
                  <a:schemeClr val="bg1"/>
                </a:solidFill>
                <a:latin typeface="D2Coding" panose="020B0609020101020101" pitchFamily="49" charset="-127"/>
                <a:ea typeface="D2Coding" panose="020B0609020101020101" pitchFamily="49" charset="-127"/>
              </a:rPr>
              <a:t>256</a:t>
            </a:r>
            <a:r>
              <a:rPr lang="ko-KR" altLang="en-US" sz="1400" dirty="0">
                <a:solidFill>
                  <a:schemeClr val="bg1"/>
                </a:solidFill>
                <a:latin typeface="D2Coding" panose="020B0609020101020101" pitchFamily="49" charset="-127"/>
                <a:ea typeface="D2Coding" panose="020B0609020101020101" pitchFamily="49" charset="-127"/>
              </a:rPr>
              <a:t>개를 한 묶음</a:t>
            </a:r>
            <a:r>
              <a:rPr lang="en-US" altLang="ko-KR" sz="1400" dirty="0">
                <a:solidFill>
                  <a:schemeClr val="bg1"/>
                </a:solidFill>
                <a:latin typeface="D2Coding" panose="020B0609020101020101" pitchFamily="49" charset="-127"/>
                <a:ea typeface="D2Coding" panose="020B0609020101020101" pitchFamily="49" charset="-127"/>
              </a:rPr>
              <a:t>(</a:t>
            </a:r>
            <a:r>
              <a:rPr lang="ko-KR" altLang="en-US" sz="1400" dirty="0">
                <a:solidFill>
                  <a:schemeClr val="bg1"/>
                </a:solidFill>
                <a:latin typeface="D2Coding" panose="020B0609020101020101" pitchFamily="49" charset="-127"/>
                <a:ea typeface="D2Coding" panose="020B0609020101020101" pitchFamily="49" charset="-127"/>
              </a:rPr>
              <a:t>배치</a:t>
            </a:r>
            <a:r>
              <a:rPr lang="en-US" altLang="ko-KR" sz="1400" dirty="0">
                <a:solidFill>
                  <a:schemeClr val="bg1"/>
                </a:solidFill>
                <a:latin typeface="D2Coding" panose="020B0609020101020101" pitchFamily="49" charset="-127"/>
                <a:ea typeface="D2Coding" panose="020B0609020101020101" pitchFamily="49" charset="-127"/>
              </a:rPr>
              <a:t>)</a:t>
            </a:r>
            <a:r>
              <a:rPr lang="ko-KR" altLang="en-US" sz="1400" dirty="0">
                <a:solidFill>
                  <a:schemeClr val="bg1"/>
                </a:solidFill>
                <a:latin typeface="D2Coding" panose="020B0609020101020101" pitchFamily="49" charset="-127"/>
                <a:ea typeface="D2Coding" panose="020B0609020101020101" pitchFamily="49" charset="-127"/>
              </a:rPr>
              <a:t>으로 모델에 넣는다</a:t>
            </a:r>
            <a:r>
              <a:rPr lang="en-US" altLang="ko-KR" sz="1400" dirty="0">
                <a:solidFill>
                  <a:schemeClr val="bg1"/>
                </a:solidFill>
                <a:latin typeface="D2Coding" panose="020B0609020101020101" pitchFamily="49" charset="-127"/>
                <a:ea typeface="D2Coding" panose="020B0609020101020101" pitchFamily="49" charset="-127"/>
              </a:rPr>
              <a:t>"</a:t>
            </a:r>
            <a:r>
              <a:rPr lang="ko-KR" altLang="en-US" sz="1400" dirty="0">
                <a:solidFill>
                  <a:schemeClr val="bg1"/>
                </a:solidFill>
                <a:latin typeface="D2Coding" panose="020B0609020101020101" pitchFamily="49" charset="-127"/>
                <a:ea typeface="D2Coding" panose="020B0609020101020101" pitchFamily="49" charset="-127"/>
              </a:rPr>
              <a:t>는 뜻</a:t>
            </a:r>
          </a:p>
        </p:txBody>
      </p:sp>
    </p:spTree>
    <p:extLst>
      <p:ext uri="{BB962C8B-B14F-4D97-AF65-F5344CB8AC3E}">
        <p14:creationId xmlns:p14="http://schemas.microsoft.com/office/powerpoint/2010/main" val="3704004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B5AAD-BA09-4A62-9C3B-830D6F9B7D5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8FFE678-00AF-21CF-7782-4938F599170C}"/>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Prepare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data</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2F40C1C0-3AFD-27B0-4960-9720FC0E3B63}"/>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A16B34E-ED85-5051-539E-325211F49499}"/>
              </a:ext>
            </a:extLst>
          </p:cNvPr>
          <p:cNvSpPr txBox="1"/>
          <p:nvPr/>
        </p:nvSpPr>
        <p:spPr>
          <a:xfrm>
            <a:off x="559528" y="1196976"/>
            <a:ext cx="10986284" cy="465320"/>
          </a:xfrm>
          <a:prstGeom prst="rect">
            <a:avLst/>
          </a:prstGeom>
          <a:noFill/>
        </p:spPr>
        <p:txBody>
          <a:bodyPr wrap="square">
            <a:spAutoFit/>
          </a:bodyPr>
          <a:lstStyle/>
          <a:p>
            <a:pPr>
              <a:lnSpc>
                <a:spcPct val="150000"/>
              </a:lnSpc>
              <a:buNone/>
            </a:pPr>
            <a:r>
              <a:rPr lang="en-US" altLang="ko-KR" dirty="0">
                <a:latin typeface="D2Coding" panose="020B0609020101020101" pitchFamily="49" charset="-127"/>
                <a:ea typeface="D2Coding" panose="020B0609020101020101" pitchFamily="49" charset="-127"/>
              </a:rPr>
              <a:t>256</a:t>
            </a:r>
            <a:r>
              <a:rPr lang="ko-KR" altLang="en-US" dirty="0">
                <a:latin typeface="D2Coding" panose="020B0609020101020101" pitchFamily="49" charset="-127"/>
                <a:ea typeface="D2Coding" panose="020B0609020101020101" pitchFamily="49" charset="-127"/>
              </a:rPr>
              <a:t>개씩 무작위로 섞은 배치로 훈련용 데이터셋을 구성하여 학습하는 이유는</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왜 </a:t>
            </a:r>
            <a:r>
              <a:rPr lang="en-US" altLang="ko-KR" dirty="0">
                <a:latin typeface="D2Coding" panose="020B0609020101020101" pitchFamily="49" charset="-127"/>
                <a:ea typeface="D2Coding" panose="020B0609020101020101" pitchFamily="49" charset="-127"/>
              </a:rPr>
              <a:t>Batch</a:t>
            </a:r>
            <a:r>
              <a:rPr lang="ko-KR" altLang="en-US" dirty="0">
                <a:latin typeface="D2Coding" panose="020B0609020101020101" pitchFamily="49" charset="-127"/>
                <a:ea typeface="D2Coding" panose="020B0609020101020101" pitchFamily="49" charset="-127"/>
              </a:rPr>
              <a:t>를 </a:t>
            </a:r>
            <a:r>
              <a:rPr lang="en-US" altLang="ko-KR" dirty="0">
                <a:latin typeface="D2Coding" panose="020B0609020101020101" pitchFamily="49" charset="-127"/>
                <a:ea typeface="D2Coding" panose="020B0609020101020101" pitchFamily="49" charset="-127"/>
              </a:rPr>
              <a:t>shuffling ?</a:t>
            </a:r>
            <a:endParaRPr lang="ko-KR" altLang="en-US" dirty="0">
              <a:effectLst/>
              <a:latin typeface="D2Coding" panose="020B0609020101020101" pitchFamily="49" charset="-127"/>
              <a:ea typeface="D2Coding" panose="020B0609020101020101" pitchFamily="49" charset="-127"/>
            </a:endParaRPr>
          </a:p>
        </p:txBody>
      </p:sp>
      <p:sp>
        <p:nvSpPr>
          <p:cNvPr id="9" name="TextBox 8">
            <a:extLst>
              <a:ext uri="{FF2B5EF4-FFF2-40B4-BE49-F238E27FC236}">
                <a16:creationId xmlns:a16="http://schemas.microsoft.com/office/drawing/2014/main" id="{FAD62B31-3A25-8F60-513F-6CC6C664B01D}"/>
              </a:ext>
            </a:extLst>
          </p:cNvPr>
          <p:cNvSpPr txBox="1"/>
          <p:nvPr/>
        </p:nvSpPr>
        <p:spPr>
          <a:xfrm>
            <a:off x="724877" y="4111948"/>
            <a:ext cx="4834499" cy="2369880"/>
          </a:xfrm>
          <a:prstGeom prst="rect">
            <a:avLst/>
          </a:prstGeom>
          <a:solidFill>
            <a:srgbClr val="76E3FF"/>
          </a:solidFill>
        </p:spPr>
        <p:txBody>
          <a:bodyPr wrap="square">
            <a:spAutoFit/>
          </a:bodyPr>
          <a:lstStyle/>
          <a:p>
            <a:pPr>
              <a:buNone/>
            </a:pP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batch_size</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 256</a:t>
            </a:r>
          </a:p>
          <a:p>
            <a:pPr>
              <a:buNone/>
            </a:pP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train_dataset</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keras.utils.timeseries_dataset_from_array</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raw_data</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[:-delay],</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targets=temperature[delay:],</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sampling_rate</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sampling_rate</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sequence_length</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sequence_length</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p>
          <a:p>
            <a:pPr>
              <a:buNone/>
            </a:pPr>
            <a:r>
              <a:rPr lang="en-US" altLang="ko-KR" sz="1400" b="1" dirty="0">
                <a:effectLst/>
                <a:latin typeface="D2Coding" panose="020B0609020101020101" pitchFamily="49" charset="-127"/>
                <a:ea typeface="D2Coding" panose="020B0609020101020101" pitchFamily="49" charset="-127"/>
              </a:rPr>
              <a:t>    shuffle=True,</a:t>
            </a:r>
          </a:p>
          <a:p>
            <a:pPr>
              <a:buNone/>
            </a:pPr>
            <a:r>
              <a:rPr lang="en-US" altLang="ko-KR" sz="1400" b="1" dirty="0">
                <a:effectLst/>
                <a:latin typeface="D2Coding" panose="020B0609020101020101" pitchFamily="49" charset="-127"/>
                <a:ea typeface="D2Coding" panose="020B0609020101020101" pitchFamily="49" charset="-127"/>
              </a:rPr>
              <a:t>    </a:t>
            </a:r>
            <a:r>
              <a:rPr lang="en-US" altLang="ko-KR" sz="1400" b="1" dirty="0" err="1">
                <a:effectLst/>
                <a:latin typeface="D2Coding" panose="020B0609020101020101" pitchFamily="49" charset="-127"/>
                <a:ea typeface="D2Coding" panose="020B0609020101020101" pitchFamily="49" charset="-127"/>
              </a:rPr>
              <a:t>batch_size</a:t>
            </a:r>
            <a:r>
              <a:rPr lang="en-US" altLang="ko-KR" sz="1400" b="1" dirty="0">
                <a:effectLst/>
                <a:latin typeface="D2Coding" panose="020B0609020101020101" pitchFamily="49" charset="-127"/>
                <a:ea typeface="D2Coding" panose="020B0609020101020101" pitchFamily="49" charset="-127"/>
              </a:rPr>
              <a:t>=</a:t>
            </a:r>
            <a:r>
              <a:rPr lang="en-US" altLang="ko-KR" sz="1400" b="1" dirty="0" err="1">
                <a:effectLst/>
                <a:latin typeface="D2Coding" panose="020B0609020101020101" pitchFamily="49" charset="-127"/>
                <a:ea typeface="D2Coding" panose="020B0609020101020101" pitchFamily="49" charset="-127"/>
              </a:rPr>
              <a:t>batch_size</a:t>
            </a:r>
            <a:r>
              <a:rPr lang="en-US" altLang="ko-KR" sz="1400" b="1" dirty="0">
                <a:effectLst/>
                <a:latin typeface="D2Coding" panose="020B0609020101020101" pitchFamily="49" charset="-127"/>
                <a:ea typeface="D2Coding" panose="020B0609020101020101" pitchFamily="49" charset="-127"/>
              </a:rPr>
              <a:t>,</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start_index</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=0,</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    </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end_index</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r>
              <a:rPr lang="en-US" altLang="ko-KR" sz="1200" b="0" dirty="0" err="1">
                <a:solidFill>
                  <a:schemeClr val="bg1">
                    <a:lumMod val="50000"/>
                  </a:schemeClr>
                </a:solidFill>
                <a:effectLst/>
                <a:latin typeface="D2Coding" panose="020B0609020101020101" pitchFamily="49" charset="-127"/>
                <a:ea typeface="D2Coding" panose="020B0609020101020101" pitchFamily="49" charset="-127"/>
              </a:rPr>
              <a:t>num_train_samples</a:t>
            </a: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p>
          <a:p>
            <a:pPr>
              <a:buNone/>
            </a:pPr>
            <a:r>
              <a:rPr lang="en-US" altLang="ko-KR" sz="1200" b="0" dirty="0">
                <a:solidFill>
                  <a:schemeClr val="bg1">
                    <a:lumMod val="50000"/>
                  </a:schemeClr>
                </a:solidFill>
                <a:effectLst/>
                <a:latin typeface="D2Coding" panose="020B0609020101020101" pitchFamily="49" charset="-127"/>
                <a:ea typeface="D2Coding" panose="020B0609020101020101" pitchFamily="49" charset="-127"/>
              </a:rPr>
              <a:t>)</a:t>
            </a:r>
          </a:p>
          <a:p>
            <a:pPr>
              <a:buNone/>
            </a:pPr>
            <a:endParaRPr lang="en-US" altLang="ko-KR" sz="1200" b="0" dirty="0">
              <a:solidFill>
                <a:schemeClr val="bg1">
                  <a:lumMod val="50000"/>
                </a:schemeClr>
              </a:solidFill>
              <a:effectLst/>
              <a:latin typeface="D2Coding" panose="020B0609020101020101" pitchFamily="49" charset="-127"/>
              <a:ea typeface="D2Coding" panose="020B0609020101020101" pitchFamily="49" charset="-127"/>
            </a:endParaRPr>
          </a:p>
        </p:txBody>
      </p:sp>
      <p:sp>
        <p:nvSpPr>
          <p:cNvPr id="5" name="TextBox 4">
            <a:extLst>
              <a:ext uri="{FF2B5EF4-FFF2-40B4-BE49-F238E27FC236}">
                <a16:creationId xmlns:a16="http://schemas.microsoft.com/office/drawing/2014/main" id="{9C91A9F0-7C13-27E3-3B62-4DDAA995BE6A}"/>
              </a:ext>
            </a:extLst>
          </p:cNvPr>
          <p:cNvSpPr txBox="1"/>
          <p:nvPr/>
        </p:nvSpPr>
        <p:spPr>
          <a:xfrm>
            <a:off x="5559376" y="4122700"/>
            <a:ext cx="5489624" cy="2321469"/>
          </a:xfrm>
          <a:prstGeom prst="rect">
            <a:avLst/>
          </a:prstGeom>
          <a:noFill/>
          <a:ln>
            <a:solidFill>
              <a:schemeClr val="tx1"/>
            </a:solidFill>
          </a:ln>
        </p:spPr>
        <p:txBody>
          <a:bodyPr wrap="square">
            <a:spAutoFit/>
          </a:bodyPr>
          <a:lstStyle/>
          <a:p>
            <a:pPr marL="285750"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만약 순서대로 넣으면</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모델이 한동안 계속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여름철 데이터</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만 보다가 그 다음엔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겨울철 데이터</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만 보는 식으로 편중되게 학습하게 되나</a:t>
            </a:r>
            <a:r>
              <a:rPr lang="en-US" altLang="ko-KR" sz="1400" dirty="0">
                <a:latin typeface="D2Coding" panose="020B0609020101020101" pitchFamily="49" charset="-127"/>
                <a:ea typeface="D2Coding" panose="020B0609020101020101" pitchFamily="49" charset="-127"/>
              </a:rPr>
              <a:t>,</a:t>
            </a:r>
          </a:p>
          <a:p>
            <a:pPr marL="285750" indent="-285750">
              <a:lnSpc>
                <a:spcPct val="150000"/>
              </a:lnSpc>
              <a:buFont typeface="Wingdings" panose="05000000000000000000" pitchFamily="2" charset="2"/>
              <a:buChar char="v"/>
            </a:pPr>
            <a:endParaRPr lang="en-US" altLang="ko-KR" sz="1400" dirty="0">
              <a:latin typeface="D2Coding" panose="020B0609020101020101" pitchFamily="49" charset="-127"/>
              <a:ea typeface="D2Coding" panose="020B0609020101020101" pitchFamily="49" charset="-127"/>
            </a:endParaRPr>
          </a:p>
          <a:p>
            <a:pPr marL="285750"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무작위로 섞으면 각 배치가 다양한 시기의 데이터를 골고루 포함하게 되어 학습이 더 안정적</a:t>
            </a:r>
            <a:r>
              <a:rPr lang="en-US" altLang="ko-KR" sz="1400" dirty="0">
                <a:latin typeface="D2Coding" panose="020B0609020101020101" pitchFamily="49" charset="-127"/>
                <a:ea typeface="D2Coding" panose="020B0609020101020101" pitchFamily="49" charset="-127"/>
              </a:rPr>
              <a:t>(gradient descent </a:t>
            </a:r>
            <a:r>
              <a:rPr lang="ko-KR" altLang="en-US" sz="1400" dirty="0">
                <a:latin typeface="D2Coding" panose="020B0609020101020101" pitchFamily="49" charset="-127"/>
                <a:ea typeface="D2Coding" panose="020B0609020101020101" pitchFamily="49" charset="-127"/>
              </a:rPr>
              <a:t>학습이 잘 될 수 있는 이유</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p:txBody>
      </p:sp>
      <p:sp>
        <p:nvSpPr>
          <p:cNvPr id="10" name="정육면체 9">
            <a:extLst>
              <a:ext uri="{FF2B5EF4-FFF2-40B4-BE49-F238E27FC236}">
                <a16:creationId xmlns:a16="http://schemas.microsoft.com/office/drawing/2014/main" id="{13B40AEB-89C5-810C-E2F5-43C751C6D771}"/>
              </a:ext>
            </a:extLst>
          </p:cNvPr>
          <p:cNvSpPr/>
          <p:nvPr/>
        </p:nvSpPr>
        <p:spPr>
          <a:xfrm>
            <a:off x="7219388" y="2170621"/>
            <a:ext cx="1323975" cy="709339"/>
          </a:xfrm>
          <a:prstGeom prst="cube">
            <a:avLst>
              <a:gd name="adj" fmla="val 68572"/>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TextBox 11">
            <a:extLst>
              <a:ext uri="{FF2B5EF4-FFF2-40B4-BE49-F238E27FC236}">
                <a16:creationId xmlns:a16="http://schemas.microsoft.com/office/drawing/2014/main" id="{BE1A3FEA-F849-438F-9C10-225F356C5C50}"/>
              </a:ext>
            </a:extLst>
          </p:cNvPr>
          <p:cNvSpPr txBox="1"/>
          <p:nvPr/>
        </p:nvSpPr>
        <p:spPr>
          <a:xfrm>
            <a:off x="7609911" y="3703317"/>
            <a:ext cx="2143125" cy="276999"/>
          </a:xfrm>
          <a:prstGeom prst="rect">
            <a:avLst/>
          </a:prstGeom>
          <a:noFill/>
        </p:spPr>
        <p:txBody>
          <a:bodyPr wrap="square">
            <a:spAutoFit/>
          </a:bodyPr>
          <a:lstStyle/>
          <a:p>
            <a:r>
              <a:rPr lang="en-US" altLang="ko-KR" sz="1200" dirty="0">
                <a:latin typeface="D2Coding" panose="020B0609020101020101" pitchFamily="49" charset="-127"/>
                <a:ea typeface="D2Coding" panose="020B0609020101020101" pitchFamily="49" charset="-127"/>
              </a:rPr>
              <a:t>120 windows size </a:t>
            </a:r>
            <a:endParaRPr lang="ko-KR" altLang="en-US" sz="1200" dirty="0"/>
          </a:p>
        </p:txBody>
      </p:sp>
      <p:sp>
        <p:nvSpPr>
          <p:cNvPr id="16" name="TextBox 15">
            <a:extLst>
              <a:ext uri="{FF2B5EF4-FFF2-40B4-BE49-F238E27FC236}">
                <a16:creationId xmlns:a16="http://schemas.microsoft.com/office/drawing/2014/main" id="{810E1893-1D21-F36B-E2A4-3EF4633D5875}"/>
              </a:ext>
            </a:extLst>
          </p:cNvPr>
          <p:cNvSpPr txBox="1"/>
          <p:nvPr/>
        </p:nvSpPr>
        <p:spPr>
          <a:xfrm>
            <a:off x="6877439" y="3367571"/>
            <a:ext cx="1519799" cy="276999"/>
          </a:xfrm>
          <a:prstGeom prst="rect">
            <a:avLst/>
          </a:prstGeom>
          <a:noFill/>
        </p:spPr>
        <p:txBody>
          <a:bodyPr wrap="square">
            <a:spAutoFit/>
          </a:bodyPr>
          <a:lstStyle/>
          <a:p>
            <a:r>
              <a:rPr lang="en-US" altLang="ko-KR" sz="1200" dirty="0">
                <a:latin typeface="D2Coding" panose="020B0609020101020101" pitchFamily="49" charset="-127"/>
                <a:ea typeface="D2Coding" panose="020B0609020101020101" pitchFamily="49" charset="-127"/>
              </a:rPr>
              <a:t>14 Features</a:t>
            </a:r>
            <a:endParaRPr lang="ko-KR" altLang="en-US" sz="1200" dirty="0"/>
          </a:p>
        </p:txBody>
      </p:sp>
      <p:sp>
        <p:nvSpPr>
          <p:cNvPr id="18" name="TextBox 17">
            <a:extLst>
              <a:ext uri="{FF2B5EF4-FFF2-40B4-BE49-F238E27FC236}">
                <a16:creationId xmlns:a16="http://schemas.microsoft.com/office/drawing/2014/main" id="{083AC67A-6E54-5CA2-AEC2-4DFEFB57101F}"/>
              </a:ext>
            </a:extLst>
          </p:cNvPr>
          <p:cNvSpPr txBox="1"/>
          <p:nvPr/>
        </p:nvSpPr>
        <p:spPr>
          <a:xfrm rot="18749717">
            <a:off x="8917772" y="3002191"/>
            <a:ext cx="1380581" cy="461665"/>
          </a:xfrm>
          <a:prstGeom prst="rect">
            <a:avLst/>
          </a:prstGeom>
          <a:noFill/>
        </p:spPr>
        <p:txBody>
          <a:bodyPr wrap="square">
            <a:spAutoFit/>
          </a:bodyPr>
          <a:lstStyle/>
          <a:p>
            <a:r>
              <a:rPr lang="en-US" altLang="ko-KR" sz="1200" dirty="0">
                <a:latin typeface="D2Coding" panose="020B0609020101020101" pitchFamily="49" charset="-127"/>
                <a:ea typeface="D2Coding" panose="020B0609020101020101" pitchFamily="49" charset="-127"/>
              </a:rPr>
              <a:t>1 batch</a:t>
            </a:r>
          </a:p>
          <a:p>
            <a:r>
              <a:rPr lang="en-US" altLang="ko-KR" sz="1200" dirty="0">
                <a:latin typeface="D2Coding" panose="020B0609020101020101" pitchFamily="49" charset="-127"/>
                <a:ea typeface="D2Coding" panose="020B0609020101020101" pitchFamily="49" charset="-127"/>
              </a:rPr>
              <a:t>= 256(samples)</a:t>
            </a:r>
            <a:endParaRPr lang="ko-KR" altLang="en-US" sz="1200" dirty="0"/>
          </a:p>
        </p:txBody>
      </p:sp>
      <p:sp>
        <p:nvSpPr>
          <p:cNvPr id="19" name="정육면체 18">
            <a:extLst>
              <a:ext uri="{FF2B5EF4-FFF2-40B4-BE49-F238E27FC236}">
                <a16:creationId xmlns:a16="http://schemas.microsoft.com/office/drawing/2014/main" id="{BE1E893D-DDCC-EDAB-8EA8-CF893B95ADEC}"/>
              </a:ext>
            </a:extLst>
          </p:cNvPr>
          <p:cNvSpPr/>
          <p:nvPr/>
        </p:nvSpPr>
        <p:spPr>
          <a:xfrm>
            <a:off x="7371788" y="2323021"/>
            <a:ext cx="1323975" cy="709339"/>
          </a:xfrm>
          <a:prstGeom prst="cube">
            <a:avLst>
              <a:gd name="adj" fmla="val 68572"/>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정육면체 19">
            <a:extLst>
              <a:ext uri="{FF2B5EF4-FFF2-40B4-BE49-F238E27FC236}">
                <a16:creationId xmlns:a16="http://schemas.microsoft.com/office/drawing/2014/main" id="{8F54F278-7DB2-35ED-4727-A2B099F78F5D}"/>
              </a:ext>
            </a:extLst>
          </p:cNvPr>
          <p:cNvSpPr/>
          <p:nvPr/>
        </p:nvSpPr>
        <p:spPr>
          <a:xfrm>
            <a:off x="7524188" y="2475421"/>
            <a:ext cx="1323975" cy="709339"/>
          </a:xfrm>
          <a:prstGeom prst="cube">
            <a:avLst>
              <a:gd name="adj" fmla="val 68572"/>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정육면체 20">
            <a:extLst>
              <a:ext uri="{FF2B5EF4-FFF2-40B4-BE49-F238E27FC236}">
                <a16:creationId xmlns:a16="http://schemas.microsoft.com/office/drawing/2014/main" id="{B0AE783E-DA64-7C2E-7548-E68283A544BA}"/>
              </a:ext>
            </a:extLst>
          </p:cNvPr>
          <p:cNvSpPr/>
          <p:nvPr/>
        </p:nvSpPr>
        <p:spPr>
          <a:xfrm>
            <a:off x="7676588" y="2627821"/>
            <a:ext cx="1323975" cy="709339"/>
          </a:xfrm>
          <a:prstGeom prst="cube">
            <a:avLst>
              <a:gd name="adj" fmla="val 68572"/>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정육면체 21">
            <a:extLst>
              <a:ext uri="{FF2B5EF4-FFF2-40B4-BE49-F238E27FC236}">
                <a16:creationId xmlns:a16="http://schemas.microsoft.com/office/drawing/2014/main" id="{1335B1AF-981C-7937-766B-F3F162ACA4C0}"/>
              </a:ext>
            </a:extLst>
          </p:cNvPr>
          <p:cNvSpPr/>
          <p:nvPr/>
        </p:nvSpPr>
        <p:spPr>
          <a:xfrm>
            <a:off x="7828988" y="2780221"/>
            <a:ext cx="1323975" cy="709339"/>
          </a:xfrm>
          <a:prstGeom prst="cube">
            <a:avLst>
              <a:gd name="adj" fmla="val 68572"/>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TextBox 23">
            <a:extLst>
              <a:ext uri="{FF2B5EF4-FFF2-40B4-BE49-F238E27FC236}">
                <a16:creationId xmlns:a16="http://schemas.microsoft.com/office/drawing/2014/main" id="{53662DB1-8E3D-1A15-292A-3570FC001715}"/>
              </a:ext>
            </a:extLst>
          </p:cNvPr>
          <p:cNvSpPr txBox="1"/>
          <p:nvPr/>
        </p:nvSpPr>
        <p:spPr>
          <a:xfrm>
            <a:off x="9307756" y="2175945"/>
            <a:ext cx="1519799" cy="276999"/>
          </a:xfrm>
          <a:prstGeom prst="rect">
            <a:avLst/>
          </a:prstGeom>
          <a:noFill/>
        </p:spPr>
        <p:txBody>
          <a:bodyPr wrap="square">
            <a:spAutoFit/>
          </a:bodyPr>
          <a:lstStyle/>
          <a:p>
            <a:r>
              <a:rPr lang="en-US" altLang="ko-KR" sz="1200" dirty="0">
                <a:latin typeface="D2Coding" panose="020B0609020101020101" pitchFamily="49" charset="-127"/>
                <a:ea typeface="D2Coding" panose="020B0609020101020101" pitchFamily="49" charset="-127"/>
              </a:rPr>
              <a:t>Batches</a:t>
            </a:r>
            <a:endParaRPr lang="ko-KR" altLang="en-US" sz="1200" dirty="0"/>
          </a:p>
        </p:txBody>
      </p:sp>
      <p:sp>
        <p:nvSpPr>
          <p:cNvPr id="25" name="정육면체 24">
            <a:extLst>
              <a:ext uri="{FF2B5EF4-FFF2-40B4-BE49-F238E27FC236}">
                <a16:creationId xmlns:a16="http://schemas.microsoft.com/office/drawing/2014/main" id="{2C9F108A-A321-972C-68E0-3FB0BE2EC4FF}"/>
              </a:ext>
            </a:extLst>
          </p:cNvPr>
          <p:cNvSpPr/>
          <p:nvPr/>
        </p:nvSpPr>
        <p:spPr>
          <a:xfrm>
            <a:off x="7981388" y="2932621"/>
            <a:ext cx="1323975" cy="709339"/>
          </a:xfrm>
          <a:prstGeom prst="cube">
            <a:avLst>
              <a:gd name="adj" fmla="val 68572"/>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3" name="Picture 6">
            <a:extLst>
              <a:ext uri="{FF2B5EF4-FFF2-40B4-BE49-F238E27FC236}">
                <a16:creationId xmlns:a16="http://schemas.microsoft.com/office/drawing/2014/main" id="{479BF209-678E-E13D-BCE7-A95F069E28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416" y="2419821"/>
            <a:ext cx="2557780" cy="9596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4" name="정육면체 33">
            <a:extLst>
              <a:ext uri="{FF2B5EF4-FFF2-40B4-BE49-F238E27FC236}">
                <a16:creationId xmlns:a16="http://schemas.microsoft.com/office/drawing/2014/main" id="{2C2879D0-1E45-2F51-58B6-CA8ADD843FFB}"/>
              </a:ext>
            </a:extLst>
          </p:cNvPr>
          <p:cNvSpPr/>
          <p:nvPr/>
        </p:nvSpPr>
        <p:spPr>
          <a:xfrm>
            <a:off x="825431" y="2461699"/>
            <a:ext cx="1323975" cy="709339"/>
          </a:xfrm>
          <a:prstGeom prst="cube">
            <a:avLst>
              <a:gd name="adj" fmla="val 6857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5" name="오른쪽 중괄호 34">
            <a:extLst>
              <a:ext uri="{FF2B5EF4-FFF2-40B4-BE49-F238E27FC236}">
                <a16:creationId xmlns:a16="http://schemas.microsoft.com/office/drawing/2014/main" id="{530626F2-E424-6F0A-8CA8-ECC1B00A31FE}"/>
              </a:ext>
            </a:extLst>
          </p:cNvPr>
          <p:cNvSpPr/>
          <p:nvPr/>
        </p:nvSpPr>
        <p:spPr>
          <a:xfrm rot="18984738">
            <a:off x="9080427" y="1932418"/>
            <a:ext cx="219849" cy="1094588"/>
          </a:xfrm>
          <a:prstGeom prst="rightBrace">
            <a:avLst>
              <a:gd name="adj1" fmla="val 6399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2939174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8038-50DD-13DB-4323-4850068F9CFE}"/>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FB57DEA-678E-7B5C-A22E-7A1DE8209A7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FCCN, Convnet, RNN </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모델 성능지표</a:t>
            </a:r>
          </a:p>
        </p:txBody>
      </p:sp>
      <p:sp>
        <p:nvSpPr>
          <p:cNvPr id="4" name="슬라이드 번호 개체 틀 3">
            <a:extLst>
              <a:ext uri="{FF2B5EF4-FFF2-40B4-BE49-F238E27FC236}">
                <a16:creationId xmlns:a16="http://schemas.microsoft.com/office/drawing/2014/main" id="{BC55D4D8-39DE-E6CF-AA26-612E12717678}"/>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148" name="Picture 4">
            <a:extLst>
              <a:ext uri="{FF2B5EF4-FFF2-40B4-BE49-F238E27FC236}">
                <a16:creationId xmlns:a16="http://schemas.microsoft.com/office/drawing/2014/main" id="{582FE116-B8D9-9C00-5956-623470701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18" y="2874309"/>
            <a:ext cx="3158110" cy="251147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A446E909-03DC-2D6A-2295-706724459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813" y="2881144"/>
            <a:ext cx="3158110" cy="25114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D99A901-A94E-89AB-443B-45CB0B8A1CA9}"/>
              </a:ext>
            </a:extLst>
          </p:cNvPr>
          <p:cNvSpPr txBox="1"/>
          <p:nvPr/>
        </p:nvSpPr>
        <p:spPr>
          <a:xfrm>
            <a:off x="559528" y="1196976"/>
            <a:ext cx="10986284" cy="793166"/>
          </a:xfrm>
          <a:prstGeom prst="rect">
            <a:avLst/>
          </a:prstGeom>
          <a:noFill/>
        </p:spPr>
        <p:txBody>
          <a:bodyPr wrap="square">
            <a:spAutoFit/>
          </a:bodyPr>
          <a:lstStyle/>
          <a:p>
            <a:pPr>
              <a:lnSpc>
                <a:spcPct val="150000"/>
              </a:lnSpc>
              <a:buNone/>
            </a:pPr>
            <a:r>
              <a:rPr lang="ko-KR" altLang="en-US" sz="1600" dirty="0">
                <a:effectLst/>
                <a:latin typeface="D2Coding" panose="020B0609020101020101" pitchFamily="49" charset="-127"/>
                <a:ea typeface="D2Coding" panose="020B0609020101020101" pitchFamily="49" charset="-127"/>
              </a:rPr>
              <a:t>마지막 </a:t>
            </a:r>
            <a:r>
              <a:rPr lang="ko-KR" altLang="en-US" sz="1600" dirty="0" err="1">
                <a:effectLst/>
                <a:latin typeface="D2Coding" panose="020B0609020101020101" pitchFamily="49" charset="-127"/>
                <a:ea typeface="D2Coding" panose="020B0609020101020101" pitchFamily="49" charset="-127"/>
              </a:rPr>
              <a:t>관측값을</a:t>
            </a:r>
            <a:r>
              <a:rPr lang="ko-KR" altLang="en-US" sz="1600" dirty="0">
                <a:effectLst/>
                <a:latin typeface="D2Coding" panose="020B0609020101020101" pitchFamily="49" charset="-127"/>
                <a:ea typeface="D2Coding" panose="020B0609020101020101" pitchFamily="49" charset="-127"/>
              </a:rPr>
              <a:t> 그대로 미래 예측치로 쓰는 모델</a:t>
            </a:r>
            <a:r>
              <a:rPr lang="ko-KR" altLang="en-US" sz="1600" dirty="0">
                <a:latin typeface="D2Coding" panose="020B0609020101020101" pitchFamily="49" charset="-127"/>
                <a:ea typeface="D2Coding" panose="020B0609020101020101" pitchFamily="49" charset="-127"/>
              </a:rPr>
              <a:t>의</a:t>
            </a:r>
            <a:r>
              <a:rPr lang="en-US" altLang="ko-KR" sz="1600" dirty="0">
                <a:latin typeface="D2Coding" panose="020B0609020101020101" pitchFamily="49" charset="-127"/>
                <a:ea typeface="D2Coding" panose="020B0609020101020101" pitchFamily="49" charset="-127"/>
              </a:rPr>
              <a:t> MAE(mean</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absolute error)</a:t>
            </a:r>
            <a:r>
              <a:rPr lang="ko-KR" altLang="en-US" sz="1600" dirty="0">
                <a:latin typeface="D2Coding" panose="020B0609020101020101" pitchFamily="49" charset="-127"/>
                <a:ea typeface="D2Coding" panose="020B0609020101020101" pitchFamily="49" charset="-127"/>
              </a:rPr>
              <a:t>가 </a:t>
            </a:r>
            <a:r>
              <a:rPr lang="en-US" altLang="ko-KR" sz="1600" dirty="0">
                <a:effectLst/>
                <a:latin typeface="D2Coding" panose="020B0609020101020101" pitchFamily="49" charset="-127"/>
                <a:ea typeface="D2Coding" panose="020B0609020101020101" pitchFamily="49" charset="-127"/>
              </a:rPr>
              <a:t>2.61</a:t>
            </a:r>
            <a:r>
              <a:rPr lang="ko-KR" altLang="en-US" sz="1600" dirty="0">
                <a:effectLst/>
                <a:latin typeface="D2Coding" panose="020B0609020101020101" pitchFamily="49" charset="-127"/>
                <a:ea typeface="D2Coding" panose="020B0609020101020101" pitchFamily="49" charset="-127"/>
              </a:rPr>
              <a:t>로 </a:t>
            </a:r>
            <a:r>
              <a:rPr lang="en-US" altLang="ko-KR" sz="1600" dirty="0">
                <a:latin typeface="D2Coding" panose="020B0609020101020101" pitchFamily="49" charset="-127"/>
                <a:ea typeface="D2Coding" panose="020B0609020101020101" pitchFamily="49" charset="-127"/>
              </a:rPr>
              <a:t>Dense</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layer,</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1D Convnet, RNN </a:t>
            </a:r>
            <a:r>
              <a:rPr lang="ko-KR" altLang="en-US" sz="1600" dirty="0">
                <a:latin typeface="D2Coding" panose="020B0609020101020101" pitchFamily="49" charset="-127"/>
                <a:ea typeface="D2Coding" panose="020B0609020101020101" pitchFamily="49" charset="-127"/>
              </a:rPr>
              <a:t>등의</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딥러닝 모델과 비교하여 성능 차이가 거의 없음</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각</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모델의 </a:t>
            </a:r>
            <a:r>
              <a:rPr lang="en-US" altLang="ko-KR" sz="1600" dirty="0" err="1">
                <a:latin typeface="D2Coding" panose="020B0609020101020101" pitchFamily="49" charset="-127"/>
                <a:ea typeface="D2Coding" panose="020B0609020101020101" pitchFamily="49" charset="-127"/>
              </a:rPr>
              <a:t>MAE_mean</a:t>
            </a:r>
            <a:r>
              <a:rPr lang="en-US" altLang="ko-KR" sz="1600" dirty="0">
                <a:latin typeface="D2Coding" panose="020B0609020101020101" pitchFamily="49" charset="-127"/>
                <a:ea typeface="D2Coding" panose="020B0609020101020101" pitchFamily="49" charset="-127"/>
              </a:rPr>
              <a:t> absolute error)</a:t>
            </a:r>
            <a:endParaRPr lang="ko-KR" altLang="en-US" sz="1600" dirty="0">
              <a:effectLst/>
              <a:latin typeface="D2Coding" panose="020B0609020101020101" pitchFamily="49" charset="-127"/>
              <a:ea typeface="D2Coding" panose="020B0609020101020101" pitchFamily="49" charset="-127"/>
            </a:endParaRPr>
          </a:p>
        </p:txBody>
      </p:sp>
      <p:pic>
        <p:nvPicPr>
          <p:cNvPr id="6152" name="Picture 8">
            <a:extLst>
              <a:ext uri="{FF2B5EF4-FFF2-40B4-BE49-F238E27FC236}">
                <a16:creationId xmlns:a16="http://schemas.microsoft.com/office/drawing/2014/main" id="{E31CF3CC-820B-D319-8D83-7F1D60689F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1520" y="2863945"/>
            <a:ext cx="3158112" cy="251147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5C28279-3E6F-0ED5-8597-E8961A8F83C7}"/>
              </a:ext>
            </a:extLst>
          </p:cNvPr>
          <p:cNvSpPr txBox="1"/>
          <p:nvPr/>
        </p:nvSpPr>
        <p:spPr>
          <a:xfrm>
            <a:off x="692957" y="2733996"/>
            <a:ext cx="3167843" cy="307777"/>
          </a:xfrm>
          <a:prstGeom prst="rect">
            <a:avLst/>
          </a:prstGeom>
          <a:solidFill>
            <a:schemeClr val="bg1"/>
          </a:solidFill>
        </p:spPr>
        <p:txBody>
          <a:bodyPr wrap="square">
            <a:spAutoFit/>
          </a:bodyPr>
          <a:lstStyle/>
          <a:p>
            <a:r>
              <a:rPr lang="en-US" altLang="ko-KR" sz="1400" dirty="0">
                <a:latin typeface="D2Coding" panose="020B0609020101020101" pitchFamily="49" charset="-127"/>
                <a:ea typeface="D2Coding" panose="020B0609020101020101" pitchFamily="49" charset="-127"/>
              </a:rPr>
              <a:t>Dense</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layer(MAE=2.69)</a:t>
            </a:r>
            <a:endParaRPr lang="ko-KR" altLang="en-US" sz="1400" dirty="0"/>
          </a:p>
        </p:txBody>
      </p:sp>
      <p:sp>
        <p:nvSpPr>
          <p:cNvPr id="11" name="TextBox 10">
            <a:extLst>
              <a:ext uri="{FF2B5EF4-FFF2-40B4-BE49-F238E27FC236}">
                <a16:creationId xmlns:a16="http://schemas.microsoft.com/office/drawing/2014/main" id="{FCEDB3B6-5878-1389-1CDA-88D0A92B059A}"/>
              </a:ext>
            </a:extLst>
          </p:cNvPr>
          <p:cNvSpPr txBox="1"/>
          <p:nvPr/>
        </p:nvSpPr>
        <p:spPr>
          <a:xfrm>
            <a:off x="4469695" y="2737415"/>
            <a:ext cx="3167843" cy="307777"/>
          </a:xfrm>
          <a:prstGeom prst="rect">
            <a:avLst/>
          </a:prstGeom>
          <a:solidFill>
            <a:schemeClr val="bg1"/>
          </a:solidFill>
        </p:spPr>
        <p:txBody>
          <a:bodyPr wrap="square">
            <a:spAutoFit/>
          </a:bodyPr>
          <a:lstStyle/>
          <a:p>
            <a:r>
              <a:rPr lang="en-US" altLang="ko-KR" sz="1400" dirty="0">
                <a:latin typeface="D2Coding" panose="020B0609020101020101" pitchFamily="49" charset="-127"/>
                <a:ea typeface="D2Coding" panose="020B0609020101020101" pitchFamily="49" charset="-127"/>
              </a:rPr>
              <a:t>1D Convnet(MAE=3.13)</a:t>
            </a:r>
            <a:endParaRPr lang="ko-KR" altLang="en-US" sz="1400" dirty="0"/>
          </a:p>
        </p:txBody>
      </p:sp>
      <p:sp>
        <p:nvSpPr>
          <p:cNvPr id="12" name="TextBox 11">
            <a:extLst>
              <a:ext uri="{FF2B5EF4-FFF2-40B4-BE49-F238E27FC236}">
                <a16:creationId xmlns:a16="http://schemas.microsoft.com/office/drawing/2014/main" id="{EF7559F1-1530-02D9-1B6E-B639AE92C395}"/>
              </a:ext>
            </a:extLst>
          </p:cNvPr>
          <p:cNvSpPr txBox="1"/>
          <p:nvPr/>
        </p:nvSpPr>
        <p:spPr>
          <a:xfrm>
            <a:off x="8351520" y="2727967"/>
            <a:ext cx="3147523" cy="307777"/>
          </a:xfrm>
          <a:prstGeom prst="rect">
            <a:avLst/>
          </a:prstGeom>
          <a:solidFill>
            <a:schemeClr val="bg1"/>
          </a:solidFill>
        </p:spPr>
        <p:txBody>
          <a:bodyPr wrap="square">
            <a:spAutoFit/>
          </a:bodyPr>
          <a:lstStyle/>
          <a:p>
            <a:r>
              <a:rPr lang="en-US" altLang="ko-KR" sz="1400" dirty="0">
                <a:latin typeface="D2Coding" panose="020B0609020101020101" pitchFamily="49" charset="-127"/>
                <a:ea typeface="D2Coding" panose="020B0609020101020101" pitchFamily="49" charset="-127"/>
              </a:rPr>
              <a:t>RNN(MAE=3.13)</a:t>
            </a:r>
            <a:endParaRPr lang="ko-KR" altLang="en-US" sz="1400" dirty="0"/>
          </a:p>
        </p:txBody>
      </p:sp>
      <p:sp>
        <p:nvSpPr>
          <p:cNvPr id="14" name="TextBox 13">
            <a:extLst>
              <a:ext uri="{FF2B5EF4-FFF2-40B4-BE49-F238E27FC236}">
                <a16:creationId xmlns:a16="http://schemas.microsoft.com/office/drawing/2014/main" id="{ED639774-C111-C8DF-2C70-9618E3F4BA7F}"/>
              </a:ext>
            </a:extLst>
          </p:cNvPr>
          <p:cNvSpPr txBox="1"/>
          <p:nvPr/>
        </p:nvSpPr>
        <p:spPr>
          <a:xfrm>
            <a:off x="703818" y="5526099"/>
            <a:ext cx="3167843" cy="830997"/>
          </a:xfrm>
          <a:prstGeom prst="rect">
            <a:avLst/>
          </a:prstGeom>
          <a:solidFill>
            <a:schemeClr val="tx1"/>
          </a:solidFill>
        </p:spPr>
        <p:txBody>
          <a:bodyPr wrap="square">
            <a:spAutoFit/>
          </a:bodyPr>
          <a:lstStyle/>
          <a:p>
            <a:r>
              <a:rPr lang="en-US" altLang="ko-KR" sz="1200" dirty="0">
                <a:solidFill>
                  <a:schemeClr val="bg1"/>
                </a:solidFill>
                <a:latin typeface="D2Coding" panose="020B0609020101020101" pitchFamily="49" charset="-127"/>
                <a:ea typeface="D2Coding" panose="020B0609020101020101" pitchFamily="49" charset="-127"/>
              </a:rPr>
              <a:t>Dense</a:t>
            </a:r>
            <a:r>
              <a:rPr lang="ko-KR" altLang="en-US" sz="1200" dirty="0">
                <a:solidFill>
                  <a:schemeClr val="bg1"/>
                </a:solidFill>
                <a:latin typeface="D2Coding" panose="020B0609020101020101" pitchFamily="49" charset="-127"/>
                <a:ea typeface="D2Coding" panose="020B0609020101020101" pitchFamily="49" charset="-127"/>
              </a:rPr>
              <a:t> 모델은 </a:t>
            </a:r>
            <a:r>
              <a:rPr lang="en-US" altLang="ko-KR" sz="1200" dirty="0">
                <a:solidFill>
                  <a:schemeClr val="bg1"/>
                </a:solidFill>
                <a:latin typeface="D2Coding" panose="020B0609020101020101" pitchFamily="49" charset="-127"/>
                <a:ea typeface="D2Coding" panose="020B0609020101020101" pitchFamily="49" charset="-127"/>
              </a:rPr>
              <a:t>Flatten</a:t>
            </a:r>
            <a:r>
              <a:rPr lang="ko-KR" altLang="en-US" sz="1200" dirty="0">
                <a:solidFill>
                  <a:schemeClr val="bg1"/>
                </a:solidFill>
                <a:latin typeface="D2Coding" panose="020B0609020101020101" pitchFamily="49" charset="-127"/>
                <a:ea typeface="D2Coding" panose="020B0609020101020101" pitchFamily="49" charset="-127"/>
              </a:rPr>
              <a:t>으로 </a:t>
            </a:r>
            <a:r>
              <a:rPr lang="en-US" altLang="ko-KR" sz="1200" dirty="0">
                <a:solidFill>
                  <a:schemeClr val="bg1"/>
                </a:solidFill>
                <a:latin typeface="D2Coding" panose="020B0609020101020101" pitchFamily="49" charset="-127"/>
                <a:ea typeface="D2Coding" panose="020B0609020101020101" pitchFamily="49" charset="-127"/>
              </a:rPr>
              <a:t>(120, 14)</a:t>
            </a:r>
            <a:r>
              <a:rPr lang="ko-KR" altLang="en-US" sz="1200" dirty="0">
                <a:solidFill>
                  <a:schemeClr val="bg1"/>
                </a:solidFill>
                <a:latin typeface="D2Coding" panose="020B0609020101020101" pitchFamily="49" charset="-127"/>
                <a:ea typeface="D2Coding" panose="020B0609020101020101" pitchFamily="49" charset="-127"/>
              </a:rPr>
              <a:t>를 그냥 </a:t>
            </a:r>
            <a:r>
              <a:rPr lang="en-US" altLang="ko-KR" sz="1200" dirty="0">
                <a:solidFill>
                  <a:schemeClr val="bg1"/>
                </a:solidFill>
                <a:latin typeface="D2Coding" panose="020B0609020101020101" pitchFamily="49" charset="-127"/>
                <a:ea typeface="D2Coding" panose="020B0609020101020101" pitchFamily="49" charset="-127"/>
              </a:rPr>
              <a:t>1680</a:t>
            </a:r>
            <a:r>
              <a:rPr lang="ko-KR" altLang="en-US" sz="1200" dirty="0">
                <a:solidFill>
                  <a:schemeClr val="bg1"/>
                </a:solidFill>
                <a:latin typeface="D2Coding" panose="020B0609020101020101" pitchFamily="49" charset="-127"/>
                <a:ea typeface="D2Coding" panose="020B0609020101020101" pitchFamily="49" charset="-127"/>
              </a:rPr>
              <a:t>개 숫자 뭉치로 펴버려서 </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몇 번째 시점이었는지</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정보가 뒤죽박죽 섞이게 됨</a:t>
            </a:r>
            <a:endParaRPr lang="ko-KR" altLang="en-US" sz="1200" dirty="0">
              <a:solidFill>
                <a:schemeClr val="bg1"/>
              </a:solidFill>
            </a:endParaRPr>
          </a:p>
        </p:txBody>
      </p:sp>
      <p:sp>
        <p:nvSpPr>
          <p:cNvPr id="16" name="TextBox 15">
            <a:extLst>
              <a:ext uri="{FF2B5EF4-FFF2-40B4-BE49-F238E27FC236}">
                <a16:creationId xmlns:a16="http://schemas.microsoft.com/office/drawing/2014/main" id="{BC6576A3-9575-8E34-CA39-2C9E3E5526F8}"/>
              </a:ext>
            </a:extLst>
          </p:cNvPr>
          <p:cNvSpPr txBox="1"/>
          <p:nvPr/>
        </p:nvSpPr>
        <p:spPr>
          <a:xfrm>
            <a:off x="4476814" y="5526099"/>
            <a:ext cx="3158110" cy="1015663"/>
          </a:xfrm>
          <a:prstGeom prst="rect">
            <a:avLst/>
          </a:prstGeom>
          <a:solidFill>
            <a:schemeClr val="tx1"/>
          </a:solidFill>
        </p:spPr>
        <p:txBody>
          <a:bodyPr wrap="square">
            <a:spAutoFit/>
          </a:bodyPr>
          <a:lstStyle/>
          <a:p>
            <a:r>
              <a:rPr lang="en-US" altLang="ko-KR" sz="1200" dirty="0">
                <a:solidFill>
                  <a:schemeClr val="bg1"/>
                </a:solidFill>
                <a:latin typeface="D2Coding" panose="020B0609020101020101" pitchFamily="49" charset="-127"/>
                <a:ea typeface="D2Coding" panose="020B0609020101020101" pitchFamily="49" charset="-127"/>
              </a:rPr>
              <a:t>Conv1D</a:t>
            </a:r>
            <a:r>
              <a:rPr lang="ko-KR" altLang="en-US" sz="1200" dirty="0">
                <a:solidFill>
                  <a:schemeClr val="bg1"/>
                </a:solidFill>
                <a:latin typeface="D2Coding" panose="020B0609020101020101" pitchFamily="49" charset="-127"/>
                <a:ea typeface="D2Coding" panose="020B0609020101020101" pitchFamily="49" charset="-127"/>
              </a:rPr>
              <a:t>는 같은 가중치</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필터</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를 </a:t>
            </a:r>
            <a:r>
              <a:rPr lang="ko-KR" altLang="en-US" sz="1200" dirty="0" err="1">
                <a:solidFill>
                  <a:schemeClr val="bg1"/>
                </a:solidFill>
                <a:latin typeface="D2Coding" panose="020B0609020101020101" pitchFamily="49" charset="-127"/>
                <a:ea typeface="D2Coding" panose="020B0609020101020101" pitchFamily="49" charset="-127"/>
              </a:rPr>
              <a:t>시간축</a:t>
            </a:r>
            <a:r>
              <a:rPr lang="ko-KR" altLang="en-US" sz="1200" dirty="0">
                <a:solidFill>
                  <a:schemeClr val="bg1"/>
                </a:solidFill>
                <a:latin typeface="D2Coding" panose="020B0609020101020101" pitchFamily="49" charset="-127"/>
                <a:ea typeface="D2Coding" panose="020B0609020101020101" pitchFamily="49" charset="-127"/>
              </a:rPr>
              <a:t> 전체에 재사용하면서 </a:t>
            </a:r>
            <a:r>
              <a:rPr lang="ko-KR" altLang="en-US" sz="1200" dirty="0" err="1">
                <a:solidFill>
                  <a:schemeClr val="bg1"/>
                </a:solidFill>
                <a:latin typeface="D2Coding" panose="020B0609020101020101" pitchFamily="49" charset="-127"/>
                <a:ea typeface="D2Coding" panose="020B0609020101020101" pitchFamily="49" charset="-127"/>
              </a:rPr>
              <a:t>슬라이딩하면서</a:t>
            </a:r>
            <a:r>
              <a:rPr lang="ko-KR" altLang="en-US" sz="1200" dirty="0">
                <a:solidFill>
                  <a:schemeClr val="bg1"/>
                </a:solidFill>
                <a:latin typeface="D2Coding" panose="020B0609020101020101" pitchFamily="49" charset="-127"/>
                <a:ea typeface="D2Coding" panose="020B0609020101020101" pitchFamily="49" charset="-127"/>
              </a:rPr>
              <a:t> </a:t>
            </a:r>
            <a:r>
              <a:rPr lang="en-US" altLang="ko-KR" sz="1200" dirty="0">
                <a:solidFill>
                  <a:schemeClr val="bg1"/>
                </a:solidFill>
                <a:latin typeface="D2Coding" panose="020B0609020101020101" pitchFamily="49" charset="-127"/>
                <a:ea typeface="D2Coding" panose="020B0609020101020101" pitchFamily="49" charset="-127"/>
              </a:rPr>
              <a:t>"24</a:t>
            </a:r>
            <a:r>
              <a:rPr lang="ko-KR" altLang="en-US" sz="1200" dirty="0">
                <a:solidFill>
                  <a:schemeClr val="bg1"/>
                </a:solidFill>
                <a:latin typeface="D2Coding" panose="020B0609020101020101" pitchFamily="49" charset="-127"/>
                <a:ea typeface="D2Coding" panose="020B0609020101020101" pitchFamily="49" charset="-127"/>
              </a:rPr>
              <a:t>시간 구간 안에서 어떤 패턴이 있는가</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를 위치에 상관없이 찾기</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파라미터 공유</a:t>
            </a:r>
            <a:r>
              <a:rPr lang="en-US" altLang="ko-KR" sz="1200" dirty="0">
                <a:solidFill>
                  <a:schemeClr val="bg1"/>
                </a:solidFill>
                <a:latin typeface="D2Coding" panose="020B0609020101020101" pitchFamily="49" charset="-127"/>
                <a:ea typeface="D2Coding" panose="020B0609020101020101" pitchFamily="49" charset="-127"/>
              </a:rPr>
              <a:t>)</a:t>
            </a:r>
            <a:endParaRPr lang="ko-KR" altLang="en-US" sz="1200" dirty="0">
              <a:solidFill>
                <a:schemeClr val="bg1"/>
              </a:solidFill>
            </a:endParaRPr>
          </a:p>
        </p:txBody>
      </p:sp>
      <p:sp>
        <p:nvSpPr>
          <p:cNvPr id="17" name="TextBox 16">
            <a:extLst>
              <a:ext uri="{FF2B5EF4-FFF2-40B4-BE49-F238E27FC236}">
                <a16:creationId xmlns:a16="http://schemas.microsoft.com/office/drawing/2014/main" id="{BBF238AA-6874-38C9-6D3D-5A454512FF83}"/>
              </a:ext>
            </a:extLst>
          </p:cNvPr>
          <p:cNvSpPr txBox="1"/>
          <p:nvPr/>
        </p:nvSpPr>
        <p:spPr>
          <a:xfrm>
            <a:off x="692957" y="2181098"/>
            <a:ext cx="4767824" cy="307777"/>
          </a:xfrm>
          <a:prstGeom prst="rect">
            <a:avLst/>
          </a:prstGeom>
          <a:solidFill>
            <a:schemeClr val="tx1"/>
          </a:solidFill>
        </p:spPr>
        <p:txBody>
          <a:bodyPr wrap="square">
            <a:spAutoFit/>
          </a:bodyPr>
          <a:lstStyle/>
          <a:p>
            <a:r>
              <a:rPr lang="en-US" altLang="ko-KR" sz="1400" dirty="0">
                <a:solidFill>
                  <a:schemeClr val="bg1"/>
                </a:solidFill>
                <a:latin typeface="D2Coding" panose="020B0609020101020101" pitchFamily="49" charset="-127"/>
                <a:ea typeface="D2Coding" panose="020B0609020101020101" pitchFamily="49" charset="-127"/>
              </a:rPr>
              <a:t>(</a:t>
            </a:r>
            <a:r>
              <a:rPr lang="en-US" altLang="ko-KR" sz="1400" dirty="0" err="1">
                <a:solidFill>
                  <a:schemeClr val="bg1"/>
                </a:solidFill>
                <a:latin typeface="D2Coding" panose="020B0609020101020101" pitchFamily="49" charset="-127"/>
                <a:ea typeface="D2Coding" panose="020B0609020101020101" pitchFamily="49" charset="-127"/>
              </a:rPr>
              <a:t>batch_size</a:t>
            </a:r>
            <a:r>
              <a:rPr lang="en-US" altLang="ko-KR" sz="1400" dirty="0">
                <a:solidFill>
                  <a:schemeClr val="bg1"/>
                </a:solidFill>
                <a:latin typeface="D2Coding" panose="020B0609020101020101" pitchFamily="49" charset="-127"/>
                <a:ea typeface="D2Coding" panose="020B0609020101020101" pitchFamily="49" charset="-127"/>
              </a:rPr>
              <a:t>, timesteps, features) =  (256, 120, 14)</a:t>
            </a:r>
            <a:endParaRPr lang="ko-KR" altLang="en-US" sz="1400" dirty="0">
              <a:solidFill>
                <a:schemeClr val="bg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276406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DE6A-5257-EAEB-FF34-BD17D7CADF0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E2DA41C-D736-0411-898F-88790435056A}"/>
              </a:ext>
            </a:extLst>
          </p:cNvPr>
          <p:cNvSpPr/>
          <p:nvPr/>
        </p:nvSpPr>
        <p:spPr>
          <a:xfrm>
            <a:off x="475645" y="4619625"/>
            <a:ext cx="7963505" cy="53047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1">
            <a:extLst>
              <a:ext uri="{FF2B5EF4-FFF2-40B4-BE49-F238E27FC236}">
                <a16:creationId xmlns:a16="http://schemas.microsoft.com/office/drawing/2014/main" id="{1B37309E-BFFB-0775-4852-3ECE938FCB7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Goals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19E01A90-2E38-A6BA-C948-ECAB52655B13}"/>
              </a:ext>
            </a:extLst>
          </p:cNvPr>
          <p:cNvSpPr txBox="1"/>
          <p:nvPr/>
        </p:nvSpPr>
        <p:spPr>
          <a:xfrm>
            <a:off x="587055" y="1846268"/>
            <a:ext cx="7394895" cy="4189993"/>
          </a:xfrm>
          <a:prstGeom prst="rect">
            <a:avLst/>
          </a:prstGeom>
          <a:noFill/>
        </p:spPr>
        <p:txBody>
          <a:bodyPr wrap="square">
            <a:spAutoFit/>
          </a:bodyPr>
          <a:lstStyle/>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Different kinds of timeseries tasks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Timeseries 3D tensor</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 temperature forecasting example</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naïve approach</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Fully connected neural network</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1D Convnet</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Understanding recurrent neural networks (RNNs)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Applying RNNs to a temperature forecasting example</a:t>
            </a:r>
          </a:p>
          <a:p>
            <a:pPr marL="800100" lvl="1" indent="-342900">
              <a:lnSpc>
                <a:spcPct val="150000"/>
              </a:lnSpc>
              <a:buFont typeface="Wingdings" panose="05000000000000000000" pitchFamily="2" charset="2"/>
              <a:buChar char="v"/>
            </a:pPr>
            <a:endParaRPr lang="en-US" altLang="ko-KR" sz="20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4229425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C7E0-72AD-6B52-116A-C4E76EA6DABD}"/>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491DC267-9402-0B94-5D05-F0B11A29FA2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FCNN vs. RNN Architecture</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32" name="슬라이드 번호 개체 틀 3">
            <a:extLst>
              <a:ext uri="{FF2B5EF4-FFF2-40B4-BE49-F238E27FC236}">
                <a16:creationId xmlns:a16="http://schemas.microsoft.com/office/drawing/2014/main" id="{8343FC7E-3F8E-4037-5BF7-90C097AEC29B}"/>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29</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타원 1">
            <a:extLst>
              <a:ext uri="{FF2B5EF4-FFF2-40B4-BE49-F238E27FC236}">
                <a16:creationId xmlns:a16="http://schemas.microsoft.com/office/drawing/2014/main" id="{CBD3DDB2-B869-5F61-9BB1-7E4089F3904F}"/>
              </a:ext>
            </a:extLst>
          </p:cNvPr>
          <p:cNvSpPr/>
          <p:nvPr/>
        </p:nvSpPr>
        <p:spPr>
          <a:xfrm>
            <a:off x="1790700" y="202882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타원 3">
            <a:extLst>
              <a:ext uri="{FF2B5EF4-FFF2-40B4-BE49-F238E27FC236}">
                <a16:creationId xmlns:a16="http://schemas.microsoft.com/office/drawing/2014/main" id="{0E13FA3B-E2AB-DF1F-7EE6-B2A877785A52}"/>
              </a:ext>
            </a:extLst>
          </p:cNvPr>
          <p:cNvSpPr/>
          <p:nvPr/>
        </p:nvSpPr>
        <p:spPr>
          <a:xfrm>
            <a:off x="1790700" y="2850357"/>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F0B3BD8F-6EAA-4ED3-B66C-889CBB67DDBB}"/>
              </a:ext>
            </a:extLst>
          </p:cNvPr>
          <p:cNvSpPr/>
          <p:nvPr/>
        </p:nvSpPr>
        <p:spPr>
          <a:xfrm>
            <a:off x="1790700" y="3671889"/>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2D57E442-B334-8FF5-F18B-972ABF6CADC4}"/>
              </a:ext>
            </a:extLst>
          </p:cNvPr>
          <p:cNvSpPr/>
          <p:nvPr/>
        </p:nvSpPr>
        <p:spPr>
          <a:xfrm>
            <a:off x="1790700" y="4493421"/>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0A26DA7F-74F3-3BD2-4655-817C40C8686F}"/>
              </a:ext>
            </a:extLst>
          </p:cNvPr>
          <p:cNvSpPr/>
          <p:nvPr/>
        </p:nvSpPr>
        <p:spPr>
          <a:xfrm>
            <a:off x="1790700" y="5314952"/>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2B93E8-41CB-4E2A-3A8B-06E1FC1F47A9}"/>
                  </a:ext>
                </a:extLst>
              </p:cNvPr>
              <p:cNvSpPr txBox="1"/>
              <p:nvPr/>
            </p:nvSpPr>
            <p:spPr>
              <a:xfrm>
                <a:off x="1293396" y="5606536"/>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 name="TextBox 9">
                <a:extLst>
                  <a:ext uri="{FF2B5EF4-FFF2-40B4-BE49-F238E27FC236}">
                    <a16:creationId xmlns:a16="http://schemas.microsoft.com/office/drawing/2014/main" id="{C82B93E8-41CB-4E2A-3A8B-06E1FC1F47A9}"/>
                  </a:ext>
                </a:extLst>
              </p:cNvPr>
              <p:cNvSpPr txBox="1">
                <a:spLocks noRot="1" noChangeAspect="1" noMove="1" noResize="1" noEditPoints="1" noAdjustHandles="1" noChangeArrowheads="1" noChangeShapeType="1" noTextEdit="1"/>
              </p:cNvSpPr>
              <p:nvPr/>
            </p:nvSpPr>
            <p:spPr>
              <a:xfrm>
                <a:off x="1293396" y="5606536"/>
                <a:ext cx="604653" cy="307777"/>
              </a:xfrm>
              <a:prstGeom prst="rect">
                <a:avLst/>
              </a:prstGeom>
              <a:blipFill>
                <a:blip r:embed="rId2"/>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84DE0C-CA9C-A61A-5820-3CD0F252AEE9}"/>
                  </a:ext>
                </a:extLst>
              </p:cNvPr>
              <p:cNvSpPr txBox="1"/>
              <p:nvPr/>
            </p:nvSpPr>
            <p:spPr>
              <a:xfrm>
                <a:off x="1293396" y="2228076"/>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1" name="TextBox 10">
                <a:extLst>
                  <a:ext uri="{FF2B5EF4-FFF2-40B4-BE49-F238E27FC236}">
                    <a16:creationId xmlns:a16="http://schemas.microsoft.com/office/drawing/2014/main" id="{DE84DE0C-CA9C-A61A-5820-3CD0F252AEE9}"/>
                  </a:ext>
                </a:extLst>
              </p:cNvPr>
              <p:cNvSpPr txBox="1">
                <a:spLocks noRot="1" noChangeAspect="1" noMove="1" noResize="1" noEditPoints="1" noAdjustHandles="1" noChangeArrowheads="1" noChangeShapeType="1" noTextEdit="1"/>
              </p:cNvSpPr>
              <p:nvPr/>
            </p:nvSpPr>
            <p:spPr>
              <a:xfrm>
                <a:off x="1293396" y="2228076"/>
                <a:ext cx="359393" cy="307777"/>
              </a:xfrm>
              <a:prstGeom prst="rect">
                <a:avLst/>
              </a:prstGeom>
              <a:blipFill>
                <a:blip r:embed="rId3"/>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1A498E-6E99-F4E3-A14D-95CC8C056690}"/>
                  </a:ext>
                </a:extLst>
              </p:cNvPr>
              <p:cNvSpPr txBox="1"/>
              <p:nvPr/>
            </p:nvSpPr>
            <p:spPr>
              <a:xfrm>
                <a:off x="1293396" y="3072691"/>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3" name="TextBox 12">
                <a:extLst>
                  <a:ext uri="{FF2B5EF4-FFF2-40B4-BE49-F238E27FC236}">
                    <a16:creationId xmlns:a16="http://schemas.microsoft.com/office/drawing/2014/main" id="{DF1A498E-6E99-F4E3-A14D-95CC8C056690}"/>
                  </a:ext>
                </a:extLst>
              </p:cNvPr>
              <p:cNvSpPr txBox="1">
                <a:spLocks noRot="1" noChangeAspect="1" noMove="1" noResize="1" noEditPoints="1" noAdjustHandles="1" noChangeArrowheads="1" noChangeShapeType="1" noTextEdit="1"/>
              </p:cNvSpPr>
              <p:nvPr/>
            </p:nvSpPr>
            <p:spPr>
              <a:xfrm>
                <a:off x="1293396" y="3072691"/>
                <a:ext cx="604653" cy="307777"/>
              </a:xfrm>
              <a:prstGeom prst="rect">
                <a:avLst/>
              </a:prstGeom>
              <a:blipFill>
                <a:blip r:embed="rId4"/>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99FFF9-DD42-9968-958E-D67807A9C555}"/>
                  </a:ext>
                </a:extLst>
              </p:cNvPr>
              <p:cNvSpPr txBox="1"/>
              <p:nvPr/>
            </p:nvSpPr>
            <p:spPr>
              <a:xfrm>
                <a:off x="1293396" y="3917306"/>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5" name="TextBox 14">
                <a:extLst>
                  <a:ext uri="{FF2B5EF4-FFF2-40B4-BE49-F238E27FC236}">
                    <a16:creationId xmlns:a16="http://schemas.microsoft.com/office/drawing/2014/main" id="{8499FFF9-DD42-9968-958E-D67807A9C555}"/>
                  </a:ext>
                </a:extLst>
              </p:cNvPr>
              <p:cNvSpPr txBox="1">
                <a:spLocks noRot="1" noChangeAspect="1" noMove="1" noResize="1" noEditPoints="1" noAdjustHandles="1" noChangeArrowheads="1" noChangeShapeType="1" noTextEdit="1"/>
              </p:cNvSpPr>
              <p:nvPr/>
            </p:nvSpPr>
            <p:spPr>
              <a:xfrm>
                <a:off x="1293396" y="3917306"/>
                <a:ext cx="604653" cy="307777"/>
              </a:xfrm>
              <a:prstGeom prst="rect">
                <a:avLst/>
              </a:prstGeom>
              <a:blipFill>
                <a:blip r:embed="rId5"/>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0BC165B-AA94-8611-C4D3-739D9A257934}"/>
                  </a:ext>
                </a:extLst>
              </p:cNvPr>
              <p:cNvSpPr txBox="1"/>
              <p:nvPr/>
            </p:nvSpPr>
            <p:spPr>
              <a:xfrm>
                <a:off x="1293396" y="4761921"/>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7" name="TextBox 16">
                <a:extLst>
                  <a:ext uri="{FF2B5EF4-FFF2-40B4-BE49-F238E27FC236}">
                    <a16:creationId xmlns:a16="http://schemas.microsoft.com/office/drawing/2014/main" id="{70BC165B-AA94-8611-C4D3-739D9A257934}"/>
                  </a:ext>
                </a:extLst>
              </p:cNvPr>
              <p:cNvSpPr txBox="1">
                <a:spLocks noRot="1" noChangeAspect="1" noMove="1" noResize="1" noEditPoints="1" noAdjustHandles="1" noChangeArrowheads="1" noChangeShapeType="1" noTextEdit="1"/>
              </p:cNvSpPr>
              <p:nvPr/>
            </p:nvSpPr>
            <p:spPr>
              <a:xfrm>
                <a:off x="1293396" y="4761921"/>
                <a:ext cx="604653" cy="307777"/>
              </a:xfrm>
              <a:prstGeom prst="rect">
                <a:avLst/>
              </a:prstGeom>
              <a:blipFill>
                <a:blip r:embed="rId6"/>
                <a:stretch>
                  <a:fillRect b="-13725"/>
                </a:stretch>
              </a:blipFill>
            </p:spPr>
            <p:txBody>
              <a:bodyPr/>
              <a:lstStyle/>
              <a:p>
                <a:r>
                  <a:rPr lang="ko-KR" altLang="en-US">
                    <a:noFill/>
                  </a:rPr>
                  <a:t> </a:t>
                </a:r>
              </a:p>
            </p:txBody>
          </p:sp>
        </mc:Fallback>
      </mc:AlternateContent>
      <p:sp>
        <p:nvSpPr>
          <p:cNvPr id="19" name="타원 18">
            <a:extLst>
              <a:ext uri="{FF2B5EF4-FFF2-40B4-BE49-F238E27FC236}">
                <a16:creationId xmlns:a16="http://schemas.microsoft.com/office/drawing/2014/main" id="{5A0B511F-0624-E130-5243-8D70EB4451B0}"/>
              </a:ext>
            </a:extLst>
          </p:cNvPr>
          <p:cNvSpPr/>
          <p:nvPr/>
        </p:nvSpPr>
        <p:spPr>
          <a:xfrm>
            <a:off x="3781425" y="3700464"/>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3" name="직선 화살표 연결선 22">
            <a:extLst>
              <a:ext uri="{FF2B5EF4-FFF2-40B4-BE49-F238E27FC236}">
                <a16:creationId xmlns:a16="http://schemas.microsoft.com/office/drawing/2014/main" id="{8772E871-31B3-0531-94EC-6896FC681304}"/>
              </a:ext>
            </a:extLst>
          </p:cNvPr>
          <p:cNvCxnSpPr>
            <a:cxnSpLocks/>
            <a:stCxn id="2" idx="6"/>
            <a:endCxn id="19" idx="0"/>
          </p:cNvCxnSpPr>
          <p:nvPr/>
        </p:nvCxnSpPr>
        <p:spPr>
          <a:xfrm>
            <a:off x="2266950" y="2266950"/>
            <a:ext cx="1752600" cy="143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76E5429E-AE02-D67A-3D34-953A4733988F}"/>
              </a:ext>
            </a:extLst>
          </p:cNvPr>
          <p:cNvCxnSpPr>
            <a:cxnSpLocks/>
            <a:stCxn id="4" idx="6"/>
            <a:endCxn id="19" idx="1"/>
          </p:cNvCxnSpPr>
          <p:nvPr/>
        </p:nvCxnSpPr>
        <p:spPr>
          <a:xfrm>
            <a:off x="2266950" y="3088482"/>
            <a:ext cx="1584220" cy="681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FA85B6C5-2BAB-4B8F-A322-F6464D86C406}"/>
              </a:ext>
            </a:extLst>
          </p:cNvPr>
          <p:cNvCxnSpPr>
            <a:cxnSpLocks/>
            <a:stCxn id="7" idx="6"/>
            <a:endCxn id="19" idx="2"/>
          </p:cNvCxnSpPr>
          <p:nvPr/>
        </p:nvCxnSpPr>
        <p:spPr>
          <a:xfrm>
            <a:off x="2266950" y="3910014"/>
            <a:ext cx="1514475" cy="28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9CFDCE6E-C40F-AE6F-6688-D72BBA72052E}"/>
              </a:ext>
            </a:extLst>
          </p:cNvPr>
          <p:cNvCxnSpPr>
            <a:cxnSpLocks/>
            <a:stCxn id="8" idx="6"/>
            <a:endCxn id="19" idx="3"/>
          </p:cNvCxnSpPr>
          <p:nvPr/>
        </p:nvCxnSpPr>
        <p:spPr>
          <a:xfrm flipV="1">
            <a:off x="2266950" y="4106969"/>
            <a:ext cx="1584220" cy="624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B03E208-4C91-DE69-1C02-E978247BE6F0}"/>
              </a:ext>
            </a:extLst>
          </p:cNvPr>
          <p:cNvCxnSpPr>
            <a:cxnSpLocks/>
            <a:stCxn id="9" idx="6"/>
            <a:endCxn id="19" idx="4"/>
          </p:cNvCxnSpPr>
          <p:nvPr/>
        </p:nvCxnSpPr>
        <p:spPr>
          <a:xfrm flipV="1">
            <a:off x="2266950" y="4176714"/>
            <a:ext cx="1752600" cy="137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타원 38">
            <a:extLst>
              <a:ext uri="{FF2B5EF4-FFF2-40B4-BE49-F238E27FC236}">
                <a16:creationId xmlns:a16="http://schemas.microsoft.com/office/drawing/2014/main" id="{E9CC2C3B-9019-5F14-F944-4DD51893D94E}"/>
              </a:ext>
            </a:extLst>
          </p:cNvPr>
          <p:cNvSpPr/>
          <p:nvPr/>
        </p:nvSpPr>
        <p:spPr>
          <a:xfrm>
            <a:off x="7458077" y="2098570"/>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743DE3E-3F00-8457-09EF-777DB5490F47}"/>
              </a:ext>
            </a:extLst>
          </p:cNvPr>
          <p:cNvSpPr/>
          <p:nvPr/>
        </p:nvSpPr>
        <p:spPr>
          <a:xfrm>
            <a:off x="7458077" y="2920102"/>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a:extLst>
              <a:ext uri="{FF2B5EF4-FFF2-40B4-BE49-F238E27FC236}">
                <a16:creationId xmlns:a16="http://schemas.microsoft.com/office/drawing/2014/main" id="{F6DA3162-D6AB-6CDC-7FB1-45AF84BA86D8}"/>
              </a:ext>
            </a:extLst>
          </p:cNvPr>
          <p:cNvSpPr/>
          <p:nvPr/>
        </p:nvSpPr>
        <p:spPr>
          <a:xfrm>
            <a:off x="7458077" y="3741634"/>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0E58F2B4-99ED-5771-6F25-A90878A9B8A0}"/>
              </a:ext>
            </a:extLst>
          </p:cNvPr>
          <p:cNvSpPr/>
          <p:nvPr/>
        </p:nvSpPr>
        <p:spPr>
          <a:xfrm>
            <a:off x="7458077" y="456316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a:extLst>
              <a:ext uri="{FF2B5EF4-FFF2-40B4-BE49-F238E27FC236}">
                <a16:creationId xmlns:a16="http://schemas.microsoft.com/office/drawing/2014/main" id="{0CE82D69-1C54-3DB4-AC16-05B26F3E44C5}"/>
              </a:ext>
            </a:extLst>
          </p:cNvPr>
          <p:cNvSpPr/>
          <p:nvPr/>
        </p:nvSpPr>
        <p:spPr>
          <a:xfrm>
            <a:off x="7458077" y="5384697"/>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15D12F6-4F5D-44A8-30EB-DF761140770B}"/>
                  </a:ext>
                </a:extLst>
              </p:cNvPr>
              <p:cNvSpPr txBox="1"/>
              <p:nvPr/>
            </p:nvSpPr>
            <p:spPr>
              <a:xfrm>
                <a:off x="6960773" y="5676281"/>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4" name="TextBox 43">
                <a:extLst>
                  <a:ext uri="{FF2B5EF4-FFF2-40B4-BE49-F238E27FC236}">
                    <a16:creationId xmlns:a16="http://schemas.microsoft.com/office/drawing/2014/main" id="{E15D12F6-4F5D-44A8-30EB-DF761140770B}"/>
                  </a:ext>
                </a:extLst>
              </p:cNvPr>
              <p:cNvSpPr txBox="1">
                <a:spLocks noRot="1" noChangeAspect="1" noMove="1" noResize="1" noEditPoints="1" noAdjustHandles="1" noChangeArrowheads="1" noChangeShapeType="1" noTextEdit="1"/>
              </p:cNvSpPr>
              <p:nvPr/>
            </p:nvSpPr>
            <p:spPr>
              <a:xfrm>
                <a:off x="6960773" y="5676281"/>
                <a:ext cx="604653" cy="307777"/>
              </a:xfrm>
              <a:prstGeom prst="rect">
                <a:avLst/>
              </a:prstGeom>
              <a:blipFill>
                <a:blip r:embed="rId7"/>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868276B-9126-27F4-1C45-6D6A34003471}"/>
                  </a:ext>
                </a:extLst>
              </p:cNvPr>
              <p:cNvSpPr txBox="1"/>
              <p:nvPr/>
            </p:nvSpPr>
            <p:spPr>
              <a:xfrm>
                <a:off x="6960773" y="2297821"/>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5" name="TextBox 44">
                <a:extLst>
                  <a:ext uri="{FF2B5EF4-FFF2-40B4-BE49-F238E27FC236}">
                    <a16:creationId xmlns:a16="http://schemas.microsoft.com/office/drawing/2014/main" id="{1868276B-9126-27F4-1C45-6D6A34003471}"/>
                  </a:ext>
                </a:extLst>
              </p:cNvPr>
              <p:cNvSpPr txBox="1">
                <a:spLocks noRot="1" noChangeAspect="1" noMove="1" noResize="1" noEditPoints="1" noAdjustHandles="1" noChangeArrowheads="1" noChangeShapeType="1" noTextEdit="1"/>
              </p:cNvSpPr>
              <p:nvPr/>
            </p:nvSpPr>
            <p:spPr>
              <a:xfrm>
                <a:off x="6960773" y="2297821"/>
                <a:ext cx="359393" cy="307777"/>
              </a:xfrm>
              <a:prstGeom prst="rect">
                <a:avLst/>
              </a:prstGeom>
              <a:blipFill>
                <a:blip r:embed="rId8"/>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99B93F8-BB65-B543-4147-0ED06C909FCD}"/>
                  </a:ext>
                </a:extLst>
              </p:cNvPr>
              <p:cNvSpPr txBox="1"/>
              <p:nvPr/>
            </p:nvSpPr>
            <p:spPr>
              <a:xfrm>
                <a:off x="6960773" y="3142436"/>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6" name="TextBox 45">
                <a:extLst>
                  <a:ext uri="{FF2B5EF4-FFF2-40B4-BE49-F238E27FC236}">
                    <a16:creationId xmlns:a16="http://schemas.microsoft.com/office/drawing/2014/main" id="{999B93F8-BB65-B543-4147-0ED06C909FCD}"/>
                  </a:ext>
                </a:extLst>
              </p:cNvPr>
              <p:cNvSpPr txBox="1">
                <a:spLocks noRot="1" noChangeAspect="1" noMove="1" noResize="1" noEditPoints="1" noAdjustHandles="1" noChangeArrowheads="1" noChangeShapeType="1" noTextEdit="1"/>
              </p:cNvSpPr>
              <p:nvPr/>
            </p:nvSpPr>
            <p:spPr>
              <a:xfrm>
                <a:off x="6960773" y="3142436"/>
                <a:ext cx="604653" cy="307777"/>
              </a:xfrm>
              <a:prstGeom prst="rect">
                <a:avLst/>
              </a:prstGeom>
              <a:blipFill>
                <a:blip r:embed="rId9"/>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A5A0FFC-9B11-9F6A-6E43-6A8A9154D56A}"/>
                  </a:ext>
                </a:extLst>
              </p:cNvPr>
              <p:cNvSpPr txBox="1"/>
              <p:nvPr/>
            </p:nvSpPr>
            <p:spPr>
              <a:xfrm>
                <a:off x="6960773" y="3987051"/>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7" name="TextBox 46">
                <a:extLst>
                  <a:ext uri="{FF2B5EF4-FFF2-40B4-BE49-F238E27FC236}">
                    <a16:creationId xmlns:a16="http://schemas.microsoft.com/office/drawing/2014/main" id="{7A5A0FFC-9B11-9F6A-6E43-6A8A9154D56A}"/>
                  </a:ext>
                </a:extLst>
              </p:cNvPr>
              <p:cNvSpPr txBox="1">
                <a:spLocks noRot="1" noChangeAspect="1" noMove="1" noResize="1" noEditPoints="1" noAdjustHandles="1" noChangeArrowheads="1" noChangeShapeType="1" noTextEdit="1"/>
              </p:cNvSpPr>
              <p:nvPr/>
            </p:nvSpPr>
            <p:spPr>
              <a:xfrm>
                <a:off x="6960773" y="3987051"/>
                <a:ext cx="604653" cy="307777"/>
              </a:xfrm>
              <a:prstGeom prst="rect">
                <a:avLst/>
              </a:prstGeom>
              <a:blipFill>
                <a:blip r:embed="rId10"/>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94BD085-103C-BCB3-E468-E13FE1E36F2B}"/>
                  </a:ext>
                </a:extLst>
              </p:cNvPr>
              <p:cNvSpPr txBox="1"/>
              <p:nvPr/>
            </p:nvSpPr>
            <p:spPr>
              <a:xfrm>
                <a:off x="6960773" y="4831666"/>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8" name="TextBox 47">
                <a:extLst>
                  <a:ext uri="{FF2B5EF4-FFF2-40B4-BE49-F238E27FC236}">
                    <a16:creationId xmlns:a16="http://schemas.microsoft.com/office/drawing/2014/main" id="{D94BD085-103C-BCB3-E468-E13FE1E36F2B}"/>
                  </a:ext>
                </a:extLst>
              </p:cNvPr>
              <p:cNvSpPr txBox="1">
                <a:spLocks noRot="1" noChangeAspect="1" noMove="1" noResize="1" noEditPoints="1" noAdjustHandles="1" noChangeArrowheads="1" noChangeShapeType="1" noTextEdit="1"/>
              </p:cNvSpPr>
              <p:nvPr/>
            </p:nvSpPr>
            <p:spPr>
              <a:xfrm>
                <a:off x="6960773" y="4831666"/>
                <a:ext cx="604653" cy="307777"/>
              </a:xfrm>
              <a:prstGeom prst="rect">
                <a:avLst/>
              </a:prstGeom>
              <a:blipFill>
                <a:blip r:embed="rId11"/>
                <a:stretch>
                  <a:fillRect b="-16000"/>
                </a:stretch>
              </a:blipFill>
            </p:spPr>
            <p:txBody>
              <a:bodyPr/>
              <a:lstStyle/>
              <a:p>
                <a:r>
                  <a:rPr lang="ko-KR" altLang="en-US">
                    <a:noFill/>
                  </a:rPr>
                  <a:t> </a:t>
                </a:r>
              </a:p>
            </p:txBody>
          </p:sp>
        </mc:Fallback>
      </mc:AlternateContent>
      <p:sp>
        <p:nvSpPr>
          <p:cNvPr id="49" name="타원 48">
            <a:extLst>
              <a:ext uri="{FF2B5EF4-FFF2-40B4-BE49-F238E27FC236}">
                <a16:creationId xmlns:a16="http://schemas.microsoft.com/office/drawing/2014/main" id="{FF5E481B-C6A4-E509-2325-607BA8ED5481}"/>
              </a:ext>
            </a:extLst>
          </p:cNvPr>
          <p:cNvSpPr/>
          <p:nvPr/>
        </p:nvSpPr>
        <p:spPr>
          <a:xfrm>
            <a:off x="9448802" y="3770209"/>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0" name="직선 화살표 연결선 49">
            <a:extLst>
              <a:ext uri="{FF2B5EF4-FFF2-40B4-BE49-F238E27FC236}">
                <a16:creationId xmlns:a16="http://schemas.microsoft.com/office/drawing/2014/main" id="{3FEF7FB5-4C71-52FB-D30E-2D5BCF95AC46}"/>
              </a:ext>
            </a:extLst>
          </p:cNvPr>
          <p:cNvCxnSpPr>
            <a:cxnSpLocks/>
            <a:stCxn id="39" idx="6"/>
            <a:endCxn id="49" idx="0"/>
          </p:cNvCxnSpPr>
          <p:nvPr/>
        </p:nvCxnSpPr>
        <p:spPr>
          <a:xfrm>
            <a:off x="7934327" y="2336695"/>
            <a:ext cx="1752600" cy="143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직선 화살표 연결선 50">
            <a:extLst>
              <a:ext uri="{FF2B5EF4-FFF2-40B4-BE49-F238E27FC236}">
                <a16:creationId xmlns:a16="http://schemas.microsoft.com/office/drawing/2014/main" id="{91A6F3E6-4C33-E13D-D59C-5625AEFE9CCF}"/>
              </a:ext>
            </a:extLst>
          </p:cNvPr>
          <p:cNvCxnSpPr>
            <a:cxnSpLocks/>
            <a:stCxn id="40" idx="6"/>
            <a:endCxn id="49" idx="1"/>
          </p:cNvCxnSpPr>
          <p:nvPr/>
        </p:nvCxnSpPr>
        <p:spPr>
          <a:xfrm>
            <a:off x="7934327" y="3158227"/>
            <a:ext cx="1584220" cy="681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B63954EE-2EC6-6F4A-E790-11FE13C32F4B}"/>
              </a:ext>
            </a:extLst>
          </p:cNvPr>
          <p:cNvCxnSpPr>
            <a:cxnSpLocks/>
            <a:stCxn id="41" idx="6"/>
            <a:endCxn id="49" idx="2"/>
          </p:cNvCxnSpPr>
          <p:nvPr/>
        </p:nvCxnSpPr>
        <p:spPr>
          <a:xfrm>
            <a:off x="7934327" y="3979759"/>
            <a:ext cx="1514475" cy="28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52BB18D7-2B35-19CB-B68B-680575BCAA87}"/>
              </a:ext>
            </a:extLst>
          </p:cNvPr>
          <p:cNvCxnSpPr>
            <a:cxnSpLocks/>
            <a:stCxn id="42" idx="6"/>
            <a:endCxn id="49" idx="3"/>
          </p:cNvCxnSpPr>
          <p:nvPr/>
        </p:nvCxnSpPr>
        <p:spPr>
          <a:xfrm flipV="1">
            <a:off x="7934327" y="4176714"/>
            <a:ext cx="1584220" cy="624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직선 화살표 연결선 53">
            <a:extLst>
              <a:ext uri="{FF2B5EF4-FFF2-40B4-BE49-F238E27FC236}">
                <a16:creationId xmlns:a16="http://schemas.microsoft.com/office/drawing/2014/main" id="{CAAD1833-E3F1-028F-00FD-D4423AAB5D36}"/>
              </a:ext>
            </a:extLst>
          </p:cNvPr>
          <p:cNvCxnSpPr>
            <a:cxnSpLocks/>
            <a:stCxn id="43" idx="6"/>
            <a:endCxn id="49" idx="4"/>
          </p:cNvCxnSpPr>
          <p:nvPr/>
        </p:nvCxnSpPr>
        <p:spPr>
          <a:xfrm flipV="1">
            <a:off x="7934327" y="4246459"/>
            <a:ext cx="1752600" cy="137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연결선: 구부러짐 55">
            <a:extLst>
              <a:ext uri="{FF2B5EF4-FFF2-40B4-BE49-F238E27FC236}">
                <a16:creationId xmlns:a16="http://schemas.microsoft.com/office/drawing/2014/main" id="{E73DAD40-5B92-F5B1-00A3-A271A5DCA162}"/>
              </a:ext>
            </a:extLst>
          </p:cNvPr>
          <p:cNvCxnSpPr>
            <a:cxnSpLocks/>
            <a:stCxn id="49" idx="0"/>
            <a:endCxn id="49" idx="4"/>
          </p:cNvCxnSpPr>
          <p:nvPr/>
        </p:nvCxnSpPr>
        <p:spPr>
          <a:xfrm rot="16200000" flipH="1">
            <a:off x="9448802" y="4008334"/>
            <a:ext cx="476250" cy="12700"/>
          </a:xfrm>
          <a:prstGeom prst="curvedConnector5">
            <a:avLst>
              <a:gd name="adj1" fmla="val -48000"/>
              <a:gd name="adj2" fmla="val 6675000"/>
              <a:gd name="adj3" fmla="val 148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7C34791D-BEB2-CD28-A800-E17A852F678A}"/>
              </a:ext>
            </a:extLst>
          </p:cNvPr>
          <p:cNvSpPr txBox="1"/>
          <p:nvPr/>
        </p:nvSpPr>
        <p:spPr>
          <a:xfrm>
            <a:off x="1057277" y="1529411"/>
            <a:ext cx="4767260" cy="369332"/>
          </a:xfrm>
          <a:prstGeom prst="rect">
            <a:avLst/>
          </a:prstGeom>
          <a:solidFill>
            <a:schemeClr val="tx1"/>
          </a:solidFill>
        </p:spPr>
        <p:txBody>
          <a:bodyPr wrap="square">
            <a:spAutoFit/>
          </a:bodyPr>
          <a:lstStyle/>
          <a:p>
            <a:pPr algn="ctr"/>
            <a:r>
              <a:rPr lang="en-US" altLang="ko-KR" sz="1800" cap="none"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FCNN(</a:t>
            </a:r>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Fully</a:t>
            </a:r>
            <a:r>
              <a:rPr lang="ko-KR" altLang="en-US"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Connected</a:t>
            </a:r>
            <a:r>
              <a:rPr lang="ko-KR" altLang="en-US"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Neural</a:t>
            </a:r>
            <a:r>
              <a:rPr lang="ko-KR" altLang="en-US"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Network)</a:t>
            </a:r>
            <a:endParaRPr lang="ko-KR" altLang="en-US" dirty="0">
              <a:solidFill>
                <a:schemeClr val="bg1"/>
              </a:solidFill>
            </a:endParaRPr>
          </a:p>
        </p:txBody>
      </p:sp>
      <p:sp>
        <p:nvSpPr>
          <p:cNvPr id="60" name="TextBox 59">
            <a:extLst>
              <a:ext uri="{FF2B5EF4-FFF2-40B4-BE49-F238E27FC236}">
                <a16:creationId xmlns:a16="http://schemas.microsoft.com/office/drawing/2014/main" id="{CDB4DAC3-61F8-F03E-6735-393250F62CDB}"/>
              </a:ext>
            </a:extLst>
          </p:cNvPr>
          <p:cNvSpPr txBox="1"/>
          <p:nvPr/>
        </p:nvSpPr>
        <p:spPr>
          <a:xfrm>
            <a:off x="6367464" y="1518293"/>
            <a:ext cx="5138735" cy="369332"/>
          </a:xfrm>
          <a:prstGeom prst="rect">
            <a:avLst/>
          </a:prstGeom>
          <a:solidFill>
            <a:schemeClr val="tx1"/>
          </a:solidFill>
        </p:spPr>
        <p:txBody>
          <a:bodyPr wrap="square">
            <a:spAutoFit/>
          </a:bodyPr>
          <a:lstStyle/>
          <a:p>
            <a:pPr algn="ctr"/>
            <a:r>
              <a:rPr lang="en-US" altLang="ko-KR" sz="1800" cap="none"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RNN(Recurrent</a:t>
            </a:r>
            <a:r>
              <a:rPr lang="ko-KR" altLang="en-US" sz="1800" cap="none"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1800" cap="none"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Neural Network)</a:t>
            </a:r>
            <a:endParaRPr lang="ko-KR" altLang="en-US" dirty="0">
              <a:solidFill>
                <a:schemeClr val="bg1"/>
              </a:solidFill>
            </a:endParaRPr>
          </a:p>
        </p:txBody>
      </p:sp>
      <p:sp>
        <p:nvSpPr>
          <p:cNvPr id="61" name="TextBox 60">
            <a:extLst>
              <a:ext uri="{FF2B5EF4-FFF2-40B4-BE49-F238E27FC236}">
                <a16:creationId xmlns:a16="http://schemas.microsoft.com/office/drawing/2014/main" id="{E096E5C1-A3FB-DB11-0E9D-069DCAF6EE18}"/>
              </a:ext>
            </a:extLst>
          </p:cNvPr>
          <p:cNvSpPr txBox="1"/>
          <p:nvPr/>
        </p:nvSpPr>
        <p:spPr>
          <a:xfrm>
            <a:off x="959066" y="6136483"/>
            <a:ext cx="4165384" cy="338554"/>
          </a:xfrm>
          <a:prstGeom prst="rect">
            <a:avLst/>
          </a:prstGeom>
          <a:solidFill>
            <a:schemeClr val="accent1">
              <a:lumMod val="20000"/>
              <a:lumOff val="80000"/>
            </a:schemeClr>
          </a:solidFill>
        </p:spPr>
        <p:txBody>
          <a:bodyPr wrap="square">
            <a:spAutoFit/>
          </a:bodyPr>
          <a:lstStyle/>
          <a:p>
            <a:r>
              <a:rPr lang="en-US" altLang="ko-KR" sz="1600" dirty="0">
                <a:latin typeface="D2Coding" panose="020B0609020101020101" pitchFamily="49" charset="-127"/>
                <a:ea typeface="D2Coding" panose="020B0609020101020101" pitchFamily="49" charset="-127"/>
              </a:rPr>
              <a:t>Input</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data</a:t>
            </a:r>
            <a:r>
              <a:rPr lang="ko-KR" altLang="en-US" sz="1600" dirty="0">
                <a:latin typeface="D2Coding" panose="020B0609020101020101" pitchFamily="49" charset="-127"/>
                <a:ea typeface="D2Coding" panose="020B0609020101020101" pitchFamily="49" charset="-127"/>
              </a:rPr>
              <a:t>를 모두</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한 번에 </a:t>
            </a:r>
            <a:r>
              <a:rPr lang="en-US" altLang="ko-KR" sz="1600" dirty="0">
                <a:latin typeface="D2Coding" panose="020B0609020101020101" pitchFamily="49" charset="-127"/>
                <a:ea typeface="D2Coding" panose="020B0609020101020101" pitchFamily="49" charset="-127"/>
              </a:rPr>
              <a:t>FCNN</a:t>
            </a:r>
            <a:r>
              <a:rPr lang="ko-KR" altLang="en-US" sz="1600" dirty="0">
                <a:latin typeface="D2Coding" panose="020B0609020101020101" pitchFamily="49" charset="-127"/>
                <a:ea typeface="D2Coding" panose="020B0609020101020101" pitchFamily="49" charset="-127"/>
              </a:rPr>
              <a:t>에 투입</a:t>
            </a:r>
          </a:p>
        </p:txBody>
      </p:sp>
      <p:sp>
        <p:nvSpPr>
          <p:cNvPr id="62" name="TextBox 61">
            <a:extLst>
              <a:ext uri="{FF2B5EF4-FFF2-40B4-BE49-F238E27FC236}">
                <a16:creationId xmlns:a16="http://schemas.microsoft.com/office/drawing/2014/main" id="{BF4F3217-1733-64EE-F3FB-8F8890B67A1D}"/>
              </a:ext>
            </a:extLst>
          </p:cNvPr>
          <p:cNvSpPr txBox="1"/>
          <p:nvPr/>
        </p:nvSpPr>
        <p:spPr>
          <a:xfrm>
            <a:off x="7027972" y="6136483"/>
            <a:ext cx="3565310" cy="338554"/>
          </a:xfrm>
          <a:prstGeom prst="rect">
            <a:avLst/>
          </a:prstGeom>
          <a:solidFill>
            <a:schemeClr val="accent1">
              <a:lumMod val="20000"/>
              <a:lumOff val="80000"/>
            </a:schemeClr>
          </a:solidFill>
        </p:spPr>
        <p:txBody>
          <a:bodyPr wrap="square">
            <a:spAutoFit/>
          </a:bodyPr>
          <a:lstStyle/>
          <a:p>
            <a:r>
              <a:rPr lang="en-US" altLang="ko-KR" sz="1600" dirty="0">
                <a:latin typeface="D2Coding" panose="020B0609020101020101" pitchFamily="49" charset="-127"/>
                <a:ea typeface="D2Coding" panose="020B0609020101020101" pitchFamily="49" charset="-127"/>
              </a:rPr>
              <a:t>Input</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data</a:t>
            </a:r>
            <a:r>
              <a:rPr lang="ko-KR" altLang="en-US" sz="1600" dirty="0">
                <a:latin typeface="D2Coding" panose="020B0609020101020101" pitchFamily="49" charset="-127"/>
                <a:ea typeface="D2Coding" panose="020B0609020101020101" pitchFamily="49" charset="-127"/>
              </a:rPr>
              <a:t>를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개씩 </a:t>
            </a:r>
            <a:r>
              <a:rPr lang="en-US" altLang="ko-KR" sz="1600" dirty="0">
                <a:latin typeface="D2Coding" panose="020B0609020101020101" pitchFamily="49" charset="-127"/>
                <a:ea typeface="D2Coding" panose="020B0609020101020101" pitchFamily="49" charset="-127"/>
              </a:rPr>
              <a:t>5</a:t>
            </a:r>
            <a:r>
              <a:rPr lang="ko-KR" altLang="en-US" sz="1600" dirty="0">
                <a:latin typeface="D2Coding" panose="020B0609020101020101" pitchFamily="49" charset="-127"/>
                <a:ea typeface="D2Coding" panose="020B0609020101020101" pitchFamily="49" charset="-127"/>
              </a:rPr>
              <a:t>회 </a:t>
            </a:r>
            <a:r>
              <a:rPr lang="en-US" altLang="ko-KR" sz="1600" dirty="0">
                <a:latin typeface="D2Coding" panose="020B0609020101020101" pitchFamily="49" charset="-127"/>
                <a:ea typeface="D2Coding" panose="020B0609020101020101" pitchFamily="49" charset="-127"/>
              </a:rPr>
              <a:t>RNN</a:t>
            </a:r>
            <a:r>
              <a:rPr lang="ko-KR" altLang="en-US" sz="1600" dirty="0">
                <a:latin typeface="D2Coding" panose="020B0609020101020101" pitchFamily="49" charset="-127"/>
                <a:ea typeface="D2Coding" panose="020B0609020101020101" pitchFamily="49" charset="-127"/>
              </a:rPr>
              <a:t>에 투입</a:t>
            </a:r>
          </a:p>
        </p:txBody>
      </p:sp>
      <p:sp>
        <p:nvSpPr>
          <p:cNvPr id="1025" name="TextBox 1024">
            <a:extLst>
              <a:ext uri="{FF2B5EF4-FFF2-40B4-BE49-F238E27FC236}">
                <a16:creationId xmlns:a16="http://schemas.microsoft.com/office/drawing/2014/main" id="{19D641E0-B544-6123-6932-B9531CA11780}"/>
              </a:ext>
            </a:extLst>
          </p:cNvPr>
          <p:cNvSpPr txBox="1"/>
          <p:nvPr/>
        </p:nvSpPr>
        <p:spPr>
          <a:xfrm>
            <a:off x="10236186" y="4367666"/>
            <a:ext cx="1117620" cy="369332"/>
          </a:xfrm>
          <a:prstGeom prst="rect">
            <a:avLst/>
          </a:prstGeom>
          <a:noFill/>
        </p:spPr>
        <p:txBody>
          <a:bodyPr wrap="square">
            <a:spAutoFit/>
          </a:bodyPr>
          <a:lstStyle/>
          <a:p>
            <a:r>
              <a:rPr lang="en-US" altLang="ko-KR" dirty="0">
                <a:solidFill>
                  <a:srgbClr val="FF0000"/>
                </a:solidFill>
              </a:rPr>
              <a:t>Memory</a:t>
            </a:r>
            <a:endParaRPr lang="ko-KR" altLang="en-US" dirty="0">
              <a:solidFill>
                <a:srgbClr val="FF0000"/>
              </a:solidFill>
            </a:endParaRPr>
          </a:p>
        </p:txBody>
      </p:sp>
      <p:sp>
        <p:nvSpPr>
          <p:cNvPr id="5" name="TextBox 4">
            <a:extLst>
              <a:ext uri="{FF2B5EF4-FFF2-40B4-BE49-F238E27FC236}">
                <a16:creationId xmlns:a16="http://schemas.microsoft.com/office/drawing/2014/main" id="{B75EB074-67EB-82D1-5072-C684FFAC486F}"/>
              </a:ext>
            </a:extLst>
          </p:cNvPr>
          <p:cNvSpPr txBox="1"/>
          <p:nvPr/>
        </p:nvSpPr>
        <p:spPr>
          <a:xfrm>
            <a:off x="9645651" y="4777310"/>
            <a:ext cx="2222755" cy="584775"/>
          </a:xfrm>
          <a:prstGeom prst="rect">
            <a:avLst/>
          </a:prstGeom>
          <a:noFill/>
        </p:spPr>
        <p:txBody>
          <a:bodyPr wrap="square" rtlCol="0">
            <a:spAutoFit/>
          </a:bodyPr>
          <a:lstStyle/>
          <a:p>
            <a:pPr algn="ctr"/>
            <a:r>
              <a:rPr lang="ko-KR" altLang="en-US" sz="1600" dirty="0">
                <a:latin typeface="D2Coding" panose="020B0609020101020101" pitchFamily="49" charset="-127"/>
                <a:ea typeface="D2Coding" panose="020B0609020101020101" pitchFamily="49" charset="-127"/>
              </a:rPr>
              <a:t>과거</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데이터를</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기억</a:t>
            </a:r>
            <a:endParaRPr lang="en-US" altLang="ko-KR" sz="1600" dirty="0">
              <a:latin typeface="D2Coding" panose="020B0609020101020101" pitchFamily="49" charset="-127"/>
              <a:ea typeface="D2Coding" panose="020B0609020101020101" pitchFamily="49" charset="-127"/>
            </a:endParaRPr>
          </a:p>
          <a:p>
            <a:pPr algn="ctr"/>
            <a:r>
              <a:rPr lang="en-US" altLang="ko-KR" sz="1600" dirty="0">
                <a:latin typeface="D2Coding" panose="020B0609020101020101" pitchFamily="49" charset="-127"/>
                <a:ea typeface="D2Coding" panose="020B0609020101020101" pitchFamily="49" charset="-127"/>
              </a:rPr>
              <a:t>(time</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step=5</a:t>
            </a:r>
            <a:r>
              <a:rPr lang="ko-KR" altLang="en-US" sz="1600" dirty="0">
                <a:latin typeface="D2Coding" panose="020B0609020101020101" pitchFamily="49" charset="-127"/>
                <a:ea typeface="D2Coding" panose="020B0609020101020101" pitchFamily="49" charset="-127"/>
              </a:rPr>
              <a:t>일</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388091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AC095-C9E0-5AE7-D4D9-9B68A5F8A199}"/>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9FB8627B-0551-9D03-1BE9-74B52009427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 Architecture</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32" name="슬라이드 번호 개체 틀 3">
            <a:extLst>
              <a:ext uri="{FF2B5EF4-FFF2-40B4-BE49-F238E27FC236}">
                <a16:creationId xmlns:a16="http://schemas.microsoft.com/office/drawing/2014/main" id="{D597D2F6-26EB-F930-889F-8328E456137D}"/>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30</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9" name="타원 38">
            <a:extLst>
              <a:ext uri="{FF2B5EF4-FFF2-40B4-BE49-F238E27FC236}">
                <a16:creationId xmlns:a16="http://schemas.microsoft.com/office/drawing/2014/main" id="{F11E62B0-1E66-B1F9-1622-0465C2FBBD18}"/>
              </a:ext>
            </a:extLst>
          </p:cNvPr>
          <p:cNvSpPr/>
          <p:nvPr/>
        </p:nvSpPr>
        <p:spPr>
          <a:xfrm>
            <a:off x="1209677"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98A94FF3-8A65-46C6-8A6E-961229AB966C}"/>
              </a:ext>
            </a:extLst>
          </p:cNvPr>
          <p:cNvSpPr/>
          <p:nvPr/>
        </p:nvSpPr>
        <p:spPr>
          <a:xfrm>
            <a:off x="1209677" y="2868718"/>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a:extLst>
              <a:ext uri="{FF2B5EF4-FFF2-40B4-BE49-F238E27FC236}">
                <a16:creationId xmlns:a16="http://schemas.microsoft.com/office/drawing/2014/main" id="{AD020036-5B29-A595-AA16-18665C4077BF}"/>
              </a:ext>
            </a:extLst>
          </p:cNvPr>
          <p:cNvSpPr/>
          <p:nvPr/>
        </p:nvSpPr>
        <p:spPr>
          <a:xfrm>
            <a:off x="1209677" y="3690250"/>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788A4EAA-7A60-7100-4F88-CC9441A858EA}"/>
              </a:ext>
            </a:extLst>
          </p:cNvPr>
          <p:cNvSpPr/>
          <p:nvPr/>
        </p:nvSpPr>
        <p:spPr>
          <a:xfrm>
            <a:off x="1209677" y="4511782"/>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a:extLst>
              <a:ext uri="{FF2B5EF4-FFF2-40B4-BE49-F238E27FC236}">
                <a16:creationId xmlns:a16="http://schemas.microsoft.com/office/drawing/2014/main" id="{F5A3A206-595A-A190-0FE6-F3498D4AAEB2}"/>
              </a:ext>
            </a:extLst>
          </p:cNvPr>
          <p:cNvSpPr/>
          <p:nvPr/>
        </p:nvSpPr>
        <p:spPr>
          <a:xfrm>
            <a:off x="1209677" y="5333313"/>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92755DC-C685-A16E-1945-9DAEF87CB287}"/>
                  </a:ext>
                </a:extLst>
              </p:cNvPr>
              <p:cNvSpPr txBox="1"/>
              <p:nvPr/>
            </p:nvSpPr>
            <p:spPr>
              <a:xfrm>
                <a:off x="712373" y="5624897"/>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4" name="TextBox 43">
                <a:extLst>
                  <a:ext uri="{FF2B5EF4-FFF2-40B4-BE49-F238E27FC236}">
                    <a16:creationId xmlns:a16="http://schemas.microsoft.com/office/drawing/2014/main" id="{E92755DC-C685-A16E-1945-9DAEF87CB287}"/>
                  </a:ext>
                </a:extLst>
              </p:cNvPr>
              <p:cNvSpPr txBox="1">
                <a:spLocks noRot="1" noChangeAspect="1" noMove="1" noResize="1" noEditPoints="1" noAdjustHandles="1" noChangeArrowheads="1" noChangeShapeType="1" noTextEdit="1"/>
              </p:cNvSpPr>
              <p:nvPr/>
            </p:nvSpPr>
            <p:spPr>
              <a:xfrm>
                <a:off x="712373" y="5624897"/>
                <a:ext cx="604653" cy="307777"/>
              </a:xfrm>
              <a:prstGeom prst="rect">
                <a:avLst/>
              </a:prstGeom>
              <a:blipFill>
                <a:blip r:embed="rId2"/>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14461BC-90A0-A715-D64A-EEBFBC3A24AC}"/>
                  </a:ext>
                </a:extLst>
              </p:cNvPr>
              <p:cNvSpPr txBox="1"/>
              <p:nvPr/>
            </p:nvSpPr>
            <p:spPr>
              <a:xfrm>
                <a:off x="712373" y="2246437"/>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5" name="TextBox 44">
                <a:extLst>
                  <a:ext uri="{FF2B5EF4-FFF2-40B4-BE49-F238E27FC236}">
                    <a16:creationId xmlns:a16="http://schemas.microsoft.com/office/drawing/2014/main" id="{D14461BC-90A0-A715-D64A-EEBFBC3A24AC}"/>
                  </a:ext>
                </a:extLst>
              </p:cNvPr>
              <p:cNvSpPr txBox="1">
                <a:spLocks noRot="1" noChangeAspect="1" noMove="1" noResize="1" noEditPoints="1" noAdjustHandles="1" noChangeArrowheads="1" noChangeShapeType="1" noTextEdit="1"/>
              </p:cNvSpPr>
              <p:nvPr/>
            </p:nvSpPr>
            <p:spPr>
              <a:xfrm>
                <a:off x="712373" y="2246437"/>
                <a:ext cx="359393" cy="307777"/>
              </a:xfrm>
              <a:prstGeom prst="rect">
                <a:avLst/>
              </a:prstGeom>
              <a:blipFill>
                <a:blip r:embed="rId3"/>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FA4B60B-4101-5888-5A4E-215D7C9BED98}"/>
                  </a:ext>
                </a:extLst>
              </p:cNvPr>
              <p:cNvSpPr txBox="1"/>
              <p:nvPr/>
            </p:nvSpPr>
            <p:spPr>
              <a:xfrm>
                <a:off x="712373" y="3091052"/>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6" name="TextBox 45">
                <a:extLst>
                  <a:ext uri="{FF2B5EF4-FFF2-40B4-BE49-F238E27FC236}">
                    <a16:creationId xmlns:a16="http://schemas.microsoft.com/office/drawing/2014/main" id="{5FA4B60B-4101-5888-5A4E-215D7C9BED98}"/>
                  </a:ext>
                </a:extLst>
              </p:cNvPr>
              <p:cNvSpPr txBox="1">
                <a:spLocks noRot="1" noChangeAspect="1" noMove="1" noResize="1" noEditPoints="1" noAdjustHandles="1" noChangeArrowheads="1" noChangeShapeType="1" noTextEdit="1"/>
              </p:cNvSpPr>
              <p:nvPr/>
            </p:nvSpPr>
            <p:spPr>
              <a:xfrm>
                <a:off x="712373" y="3091052"/>
                <a:ext cx="604653" cy="307777"/>
              </a:xfrm>
              <a:prstGeom prst="rect">
                <a:avLst/>
              </a:prstGeom>
              <a:blipFill>
                <a:blip r:embed="rId4"/>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FA5EEA1-96F5-9A09-C565-2EE54D0373CC}"/>
                  </a:ext>
                </a:extLst>
              </p:cNvPr>
              <p:cNvSpPr txBox="1"/>
              <p:nvPr/>
            </p:nvSpPr>
            <p:spPr>
              <a:xfrm>
                <a:off x="712373" y="3935667"/>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7" name="TextBox 46">
                <a:extLst>
                  <a:ext uri="{FF2B5EF4-FFF2-40B4-BE49-F238E27FC236}">
                    <a16:creationId xmlns:a16="http://schemas.microsoft.com/office/drawing/2014/main" id="{FFA5EEA1-96F5-9A09-C565-2EE54D0373CC}"/>
                  </a:ext>
                </a:extLst>
              </p:cNvPr>
              <p:cNvSpPr txBox="1">
                <a:spLocks noRot="1" noChangeAspect="1" noMove="1" noResize="1" noEditPoints="1" noAdjustHandles="1" noChangeArrowheads="1" noChangeShapeType="1" noTextEdit="1"/>
              </p:cNvSpPr>
              <p:nvPr/>
            </p:nvSpPr>
            <p:spPr>
              <a:xfrm>
                <a:off x="712373" y="3935667"/>
                <a:ext cx="604653" cy="307777"/>
              </a:xfrm>
              <a:prstGeom prst="rect">
                <a:avLst/>
              </a:prstGeom>
              <a:blipFill>
                <a:blip r:embed="rId5"/>
                <a:stretch>
                  <a:fillRect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8ACF2E1-B110-BB75-0210-96F2B07D1598}"/>
                  </a:ext>
                </a:extLst>
              </p:cNvPr>
              <p:cNvSpPr txBox="1"/>
              <p:nvPr/>
            </p:nvSpPr>
            <p:spPr>
              <a:xfrm>
                <a:off x="712373" y="4780282"/>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48" name="TextBox 47">
                <a:extLst>
                  <a:ext uri="{FF2B5EF4-FFF2-40B4-BE49-F238E27FC236}">
                    <a16:creationId xmlns:a16="http://schemas.microsoft.com/office/drawing/2014/main" id="{98ACF2E1-B110-BB75-0210-96F2B07D1598}"/>
                  </a:ext>
                </a:extLst>
              </p:cNvPr>
              <p:cNvSpPr txBox="1">
                <a:spLocks noRot="1" noChangeAspect="1" noMove="1" noResize="1" noEditPoints="1" noAdjustHandles="1" noChangeArrowheads="1" noChangeShapeType="1" noTextEdit="1"/>
              </p:cNvSpPr>
              <p:nvPr/>
            </p:nvSpPr>
            <p:spPr>
              <a:xfrm>
                <a:off x="712373" y="4780282"/>
                <a:ext cx="604653" cy="307777"/>
              </a:xfrm>
              <a:prstGeom prst="rect">
                <a:avLst/>
              </a:prstGeom>
              <a:blipFill>
                <a:blip r:embed="rId6"/>
                <a:stretch>
                  <a:fillRect b="-13725"/>
                </a:stretch>
              </a:blipFill>
            </p:spPr>
            <p:txBody>
              <a:bodyPr/>
              <a:lstStyle/>
              <a:p>
                <a:r>
                  <a:rPr lang="ko-KR" altLang="en-US">
                    <a:noFill/>
                  </a:rPr>
                  <a:t> </a:t>
                </a:r>
              </a:p>
            </p:txBody>
          </p:sp>
        </mc:Fallback>
      </mc:AlternateContent>
      <p:sp>
        <p:nvSpPr>
          <p:cNvPr id="49" name="타원 48">
            <a:extLst>
              <a:ext uri="{FF2B5EF4-FFF2-40B4-BE49-F238E27FC236}">
                <a16:creationId xmlns:a16="http://schemas.microsoft.com/office/drawing/2014/main" id="{AA37D8ED-7359-783E-38D2-57B361C17857}"/>
              </a:ext>
            </a:extLst>
          </p:cNvPr>
          <p:cNvSpPr/>
          <p:nvPr/>
        </p:nvSpPr>
        <p:spPr>
          <a:xfrm>
            <a:off x="3200402"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0" name="직선 화살표 연결선 49">
            <a:extLst>
              <a:ext uri="{FF2B5EF4-FFF2-40B4-BE49-F238E27FC236}">
                <a16:creationId xmlns:a16="http://schemas.microsoft.com/office/drawing/2014/main" id="{EBD0C34C-1BDD-0728-F564-7692DFBC1B78}"/>
              </a:ext>
            </a:extLst>
          </p:cNvPr>
          <p:cNvCxnSpPr>
            <a:cxnSpLocks/>
            <a:stCxn id="39" idx="6"/>
            <a:endCxn id="49" idx="0"/>
          </p:cNvCxnSpPr>
          <p:nvPr/>
        </p:nvCxnSpPr>
        <p:spPr>
          <a:xfrm>
            <a:off x="1685927" y="2285311"/>
            <a:ext cx="1752600" cy="143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직선 화살표 연결선 50">
            <a:extLst>
              <a:ext uri="{FF2B5EF4-FFF2-40B4-BE49-F238E27FC236}">
                <a16:creationId xmlns:a16="http://schemas.microsoft.com/office/drawing/2014/main" id="{9CCC61D8-3D7B-C727-729B-B9BF5E6F20C8}"/>
              </a:ext>
            </a:extLst>
          </p:cNvPr>
          <p:cNvCxnSpPr>
            <a:cxnSpLocks/>
            <a:stCxn id="40" idx="6"/>
            <a:endCxn id="49" idx="1"/>
          </p:cNvCxnSpPr>
          <p:nvPr/>
        </p:nvCxnSpPr>
        <p:spPr>
          <a:xfrm>
            <a:off x="1685927" y="3106843"/>
            <a:ext cx="1584220" cy="681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ED6A1CF2-5A06-D3CE-24C8-D9272F2A592E}"/>
              </a:ext>
            </a:extLst>
          </p:cNvPr>
          <p:cNvCxnSpPr>
            <a:cxnSpLocks/>
            <a:stCxn id="41" idx="6"/>
            <a:endCxn id="49" idx="2"/>
          </p:cNvCxnSpPr>
          <p:nvPr/>
        </p:nvCxnSpPr>
        <p:spPr>
          <a:xfrm>
            <a:off x="1685927" y="3928375"/>
            <a:ext cx="1514475" cy="28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21804CCD-1C56-E112-97B1-FB02D7104452}"/>
              </a:ext>
            </a:extLst>
          </p:cNvPr>
          <p:cNvCxnSpPr>
            <a:cxnSpLocks/>
            <a:stCxn id="42" idx="6"/>
            <a:endCxn id="49" idx="3"/>
          </p:cNvCxnSpPr>
          <p:nvPr/>
        </p:nvCxnSpPr>
        <p:spPr>
          <a:xfrm flipV="1">
            <a:off x="1685927" y="4125330"/>
            <a:ext cx="1584220" cy="624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직선 화살표 연결선 53">
            <a:extLst>
              <a:ext uri="{FF2B5EF4-FFF2-40B4-BE49-F238E27FC236}">
                <a16:creationId xmlns:a16="http://schemas.microsoft.com/office/drawing/2014/main" id="{6B7E41E0-2415-87CF-2F30-D348410E9B7E}"/>
              </a:ext>
            </a:extLst>
          </p:cNvPr>
          <p:cNvCxnSpPr>
            <a:cxnSpLocks/>
            <a:stCxn id="43" idx="6"/>
            <a:endCxn id="49" idx="4"/>
          </p:cNvCxnSpPr>
          <p:nvPr/>
        </p:nvCxnSpPr>
        <p:spPr>
          <a:xfrm flipV="1">
            <a:off x="1685927" y="4195075"/>
            <a:ext cx="1752600" cy="137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연결선: 구부러짐 55">
            <a:extLst>
              <a:ext uri="{FF2B5EF4-FFF2-40B4-BE49-F238E27FC236}">
                <a16:creationId xmlns:a16="http://schemas.microsoft.com/office/drawing/2014/main" id="{DAA3BBB0-EC47-1C29-F919-BA44AB57F4B7}"/>
              </a:ext>
            </a:extLst>
          </p:cNvPr>
          <p:cNvCxnSpPr>
            <a:cxnSpLocks/>
            <a:stCxn id="49" idx="0"/>
            <a:endCxn id="49" idx="4"/>
          </p:cNvCxnSpPr>
          <p:nvPr/>
        </p:nvCxnSpPr>
        <p:spPr>
          <a:xfrm rot="16200000" flipH="1">
            <a:off x="3200402" y="3956950"/>
            <a:ext cx="476250" cy="12700"/>
          </a:xfrm>
          <a:prstGeom prst="curvedConnector5">
            <a:avLst>
              <a:gd name="adj1" fmla="val -48000"/>
              <a:gd name="adj2" fmla="val 6675000"/>
              <a:gd name="adj3" fmla="val 148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9CEC1B3-8435-56FB-F902-966C36B2D2B5}"/>
              </a:ext>
            </a:extLst>
          </p:cNvPr>
          <p:cNvSpPr txBox="1"/>
          <p:nvPr/>
        </p:nvSpPr>
        <p:spPr>
          <a:xfrm>
            <a:off x="538867" y="1229852"/>
            <a:ext cx="10806736" cy="369332"/>
          </a:xfrm>
          <a:prstGeom prst="rect">
            <a:avLst/>
          </a:prstGeom>
          <a:noFill/>
        </p:spPr>
        <p:txBody>
          <a:bodyPr wrap="square">
            <a:spAutoFit/>
          </a:bodyPr>
          <a:lstStyle/>
          <a:p>
            <a:r>
              <a:rPr lang="en-US" altLang="ko-KR" dirty="0">
                <a:latin typeface="D2Coding" panose="020B0609020101020101" pitchFamily="49" charset="-127"/>
                <a:ea typeface="D2Coding" panose="020B0609020101020101" pitchFamily="49" charset="-127"/>
              </a:rPr>
              <a:t>Input</a:t>
            </a:r>
            <a:r>
              <a:rPr lang="ko-KR" altLang="en-US" dirty="0">
                <a:latin typeface="D2Coding" panose="020B0609020101020101" pitchFamily="49" charset="-127"/>
                <a:ea typeface="D2Coding" panose="020B0609020101020101" pitchFamily="49" charset="-127"/>
              </a:rPr>
              <a:t> </a:t>
            </a:r>
            <a:r>
              <a:rPr lang="en-US" altLang="ko-KR" dirty="0">
                <a:latin typeface="D2Coding" panose="020B0609020101020101" pitchFamily="49" charset="-127"/>
                <a:ea typeface="D2Coding" panose="020B0609020101020101" pitchFamily="49" charset="-127"/>
              </a:rPr>
              <a:t>data</a:t>
            </a:r>
            <a:r>
              <a:rPr lang="ko-KR" altLang="en-US" dirty="0">
                <a:latin typeface="D2Coding" panose="020B0609020101020101" pitchFamily="49" charset="-127"/>
                <a:ea typeface="D2Coding" panose="020B0609020101020101" pitchFamily="49" charset="-127"/>
              </a:rPr>
              <a:t>를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개씩 </a:t>
            </a:r>
            <a:r>
              <a:rPr lang="en-US" altLang="ko-KR" dirty="0">
                <a:latin typeface="D2Coding" panose="020B0609020101020101" pitchFamily="49" charset="-127"/>
                <a:ea typeface="D2Coding" panose="020B0609020101020101" pitchFamily="49" charset="-127"/>
              </a:rPr>
              <a:t>5</a:t>
            </a:r>
            <a:r>
              <a:rPr lang="ko-KR" altLang="en-US" dirty="0">
                <a:latin typeface="D2Coding" panose="020B0609020101020101" pitchFamily="49" charset="-127"/>
                <a:ea typeface="D2Coding" panose="020B0609020101020101" pitchFamily="49" charset="-127"/>
              </a:rPr>
              <a:t>회</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과거</a:t>
            </a:r>
            <a:r>
              <a:rPr lang="en-US" altLang="ko-KR" dirty="0">
                <a:latin typeface="D2Coding" panose="020B0609020101020101" pitchFamily="49" charset="-127"/>
                <a:ea typeface="D2Coding" panose="020B0609020101020101" pitchFamily="49" charset="-127"/>
              </a:rPr>
              <a:t> 5</a:t>
            </a:r>
            <a:r>
              <a:rPr lang="ko-KR" altLang="en-US" dirty="0">
                <a:latin typeface="D2Coding" panose="020B0609020101020101" pitchFamily="49" charset="-127"/>
                <a:ea typeface="D2Coding" panose="020B0609020101020101" pitchFamily="49" charset="-127"/>
              </a:rPr>
              <a:t>일치 주가</a:t>
            </a:r>
            <a:r>
              <a:rPr lang="en-US" altLang="ko-KR" dirty="0">
                <a:latin typeface="D2Coding" panose="020B0609020101020101" pitchFamily="49" charset="-127"/>
                <a:ea typeface="D2Coding" panose="020B0609020101020101" pitchFamily="49" charset="-127"/>
              </a:rPr>
              <a:t>, 5</a:t>
            </a:r>
            <a:r>
              <a:rPr lang="ko-KR" altLang="en-US" dirty="0">
                <a:latin typeface="D2Coding" panose="020B0609020101020101" pitchFamily="49" charset="-127"/>
                <a:ea typeface="D2Coding" panose="020B0609020101020101" pitchFamily="49" charset="-127"/>
              </a:rPr>
              <a:t>개 단어로 이루어진 문장 등 순서가 있는 </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 </a:t>
            </a:r>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에 투입</a:t>
            </a:r>
          </a:p>
        </p:txBody>
      </p:sp>
      <p:sp>
        <p:nvSpPr>
          <p:cNvPr id="1025" name="TextBox 1024">
            <a:extLst>
              <a:ext uri="{FF2B5EF4-FFF2-40B4-BE49-F238E27FC236}">
                <a16:creationId xmlns:a16="http://schemas.microsoft.com/office/drawing/2014/main" id="{1D6D4117-0D2A-A45F-5669-F6908B91BC12}"/>
              </a:ext>
            </a:extLst>
          </p:cNvPr>
          <p:cNvSpPr txBox="1"/>
          <p:nvPr/>
        </p:nvSpPr>
        <p:spPr>
          <a:xfrm>
            <a:off x="3219422" y="4433453"/>
            <a:ext cx="1117620" cy="369332"/>
          </a:xfrm>
          <a:prstGeom prst="rect">
            <a:avLst/>
          </a:prstGeom>
          <a:noFill/>
        </p:spPr>
        <p:txBody>
          <a:bodyPr wrap="square">
            <a:spAutoFit/>
          </a:bodyPr>
          <a:lstStyle/>
          <a:p>
            <a:r>
              <a:rPr lang="en-US" altLang="ko-KR" dirty="0">
                <a:solidFill>
                  <a:srgbClr val="FF0000"/>
                </a:solidFill>
              </a:rPr>
              <a:t>Memory</a:t>
            </a:r>
            <a:endParaRPr lang="ko-KR" altLang="en-US" dirty="0">
              <a:solidFill>
                <a:srgbClr val="FF0000"/>
              </a:solidFill>
            </a:endParaRPr>
          </a:p>
        </p:txBody>
      </p:sp>
      <p:sp>
        <p:nvSpPr>
          <p:cNvPr id="5" name="타원 4">
            <a:extLst>
              <a:ext uri="{FF2B5EF4-FFF2-40B4-BE49-F238E27FC236}">
                <a16:creationId xmlns:a16="http://schemas.microsoft.com/office/drawing/2014/main" id="{FF47471C-F9DA-7D61-C6A4-BDA2EB89DEF8}"/>
              </a:ext>
            </a:extLst>
          </p:cNvPr>
          <p:cNvSpPr/>
          <p:nvPr/>
        </p:nvSpPr>
        <p:spPr>
          <a:xfrm>
            <a:off x="5829305"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타원 5">
            <a:extLst>
              <a:ext uri="{FF2B5EF4-FFF2-40B4-BE49-F238E27FC236}">
                <a16:creationId xmlns:a16="http://schemas.microsoft.com/office/drawing/2014/main" id="{AC344AA4-F3DE-D24D-6191-00EC35665DFE}"/>
              </a:ext>
            </a:extLst>
          </p:cNvPr>
          <p:cNvSpPr/>
          <p:nvPr/>
        </p:nvSpPr>
        <p:spPr>
          <a:xfrm>
            <a:off x="7063442"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70C36F11-C9E8-AA3E-AC38-3662A4255A7C}"/>
              </a:ext>
            </a:extLst>
          </p:cNvPr>
          <p:cNvSpPr/>
          <p:nvPr/>
        </p:nvSpPr>
        <p:spPr>
          <a:xfrm>
            <a:off x="8249957"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2CFA56E7-8EF9-3EBE-0811-BAE516ECD41C}"/>
              </a:ext>
            </a:extLst>
          </p:cNvPr>
          <p:cNvSpPr/>
          <p:nvPr/>
        </p:nvSpPr>
        <p:spPr>
          <a:xfrm>
            <a:off x="9436472"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26BED348-D2BE-F6A8-78E4-B36FD0D7B615}"/>
              </a:ext>
            </a:extLst>
          </p:cNvPr>
          <p:cNvSpPr/>
          <p:nvPr/>
        </p:nvSpPr>
        <p:spPr>
          <a:xfrm>
            <a:off x="10718237"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5D4E1A0-ABFD-B43D-E63F-C6F242CD940E}"/>
                  </a:ext>
                </a:extLst>
              </p:cNvPr>
              <p:cNvSpPr txBox="1"/>
              <p:nvPr/>
            </p:nvSpPr>
            <p:spPr>
              <a:xfrm>
                <a:off x="6244058"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8" name="TextBox 17">
                <a:extLst>
                  <a:ext uri="{FF2B5EF4-FFF2-40B4-BE49-F238E27FC236}">
                    <a16:creationId xmlns:a16="http://schemas.microsoft.com/office/drawing/2014/main" id="{C5D4E1A0-ABFD-B43D-E63F-C6F242CD940E}"/>
                  </a:ext>
                </a:extLst>
              </p:cNvPr>
              <p:cNvSpPr txBox="1">
                <a:spLocks noRot="1" noChangeAspect="1" noMove="1" noResize="1" noEditPoints="1" noAdjustHandles="1" noChangeArrowheads="1" noChangeShapeType="1" noTextEdit="1"/>
              </p:cNvSpPr>
              <p:nvPr/>
            </p:nvSpPr>
            <p:spPr>
              <a:xfrm>
                <a:off x="6244058" y="5731483"/>
                <a:ext cx="604653" cy="307777"/>
              </a:xfrm>
              <a:prstGeom prst="rect">
                <a:avLst/>
              </a:prstGeom>
              <a:blipFill>
                <a:blip r:embed="rId7"/>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BB96852-730D-7703-B5C2-322EF0131DE5}"/>
                  </a:ext>
                </a:extLst>
              </p:cNvPr>
              <p:cNvSpPr txBox="1"/>
              <p:nvPr/>
            </p:nvSpPr>
            <p:spPr>
              <a:xfrm>
                <a:off x="11085371" y="5731483"/>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0" name="TextBox 19">
                <a:extLst>
                  <a:ext uri="{FF2B5EF4-FFF2-40B4-BE49-F238E27FC236}">
                    <a16:creationId xmlns:a16="http://schemas.microsoft.com/office/drawing/2014/main" id="{BBB96852-730D-7703-B5C2-322EF0131DE5}"/>
                  </a:ext>
                </a:extLst>
              </p:cNvPr>
              <p:cNvSpPr txBox="1">
                <a:spLocks noRot="1" noChangeAspect="1" noMove="1" noResize="1" noEditPoints="1" noAdjustHandles="1" noChangeArrowheads="1" noChangeShapeType="1" noTextEdit="1"/>
              </p:cNvSpPr>
              <p:nvPr/>
            </p:nvSpPr>
            <p:spPr>
              <a:xfrm>
                <a:off x="11085371" y="5731483"/>
                <a:ext cx="359393" cy="307777"/>
              </a:xfrm>
              <a:prstGeom prst="rect">
                <a:avLst/>
              </a:prstGeom>
              <a:blipFill>
                <a:blip r:embed="rId8"/>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BA666AB-BB19-D275-9F32-3A52CB151027}"/>
                  </a:ext>
                </a:extLst>
              </p:cNvPr>
              <p:cNvSpPr txBox="1"/>
              <p:nvPr/>
            </p:nvSpPr>
            <p:spPr>
              <a:xfrm>
                <a:off x="9803603"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1" name="TextBox 20">
                <a:extLst>
                  <a:ext uri="{FF2B5EF4-FFF2-40B4-BE49-F238E27FC236}">
                    <a16:creationId xmlns:a16="http://schemas.microsoft.com/office/drawing/2014/main" id="{5BA666AB-BB19-D275-9F32-3A52CB151027}"/>
                  </a:ext>
                </a:extLst>
              </p:cNvPr>
              <p:cNvSpPr txBox="1">
                <a:spLocks noRot="1" noChangeAspect="1" noMove="1" noResize="1" noEditPoints="1" noAdjustHandles="1" noChangeArrowheads="1" noChangeShapeType="1" noTextEdit="1"/>
              </p:cNvSpPr>
              <p:nvPr/>
            </p:nvSpPr>
            <p:spPr>
              <a:xfrm>
                <a:off x="9803603" y="5731483"/>
                <a:ext cx="604653" cy="307777"/>
              </a:xfrm>
              <a:prstGeom prst="rect">
                <a:avLst/>
              </a:prstGeom>
              <a:blipFill>
                <a:blip r:embed="rId9"/>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DE822E1-D244-A8C0-65CA-CF439FED94B2}"/>
                  </a:ext>
                </a:extLst>
              </p:cNvPr>
              <p:cNvSpPr txBox="1"/>
              <p:nvPr/>
            </p:nvSpPr>
            <p:spPr>
              <a:xfrm>
                <a:off x="8617088"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2" name="TextBox 21">
                <a:extLst>
                  <a:ext uri="{FF2B5EF4-FFF2-40B4-BE49-F238E27FC236}">
                    <a16:creationId xmlns:a16="http://schemas.microsoft.com/office/drawing/2014/main" id="{0DE822E1-D244-A8C0-65CA-CF439FED94B2}"/>
                  </a:ext>
                </a:extLst>
              </p:cNvPr>
              <p:cNvSpPr txBox="1">
                <a:spLocks noRot="1" noChangeAspect="1" noMove="1" noResize="1" noEditPoints="1" noAdjustHandles="1" noChangeArrowheads="1" noChangeShapeType="1" noTextEdit="1"/>
              </p:cNvSpPr>
              <p:nvPr/>
            </p:nvSpPr>
            <p:spPr>
              <a:xfrm>
                <a:off x="8617088" y="5731483"/>
                <a:ext cx="604653" cy="307777"/>
              </a:xfrm>
              <a:prstGeom prst="rect">
                <a:avLst/>
              </a:prstGeom>
              <a:blipFill>
                <a:blip r:embed="rId10"/>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18DC2A0-663F-CF45-C2EA-3096A765BF40}"/>
                  </a:ext>
                </a:extLst>
              </p:cNvPr>
              <p:cNvSpPr txBox="1"/>
              <p:nvPr/>
            </p:nvSpPr>
            <p:spPr>
              <a:xfrm>
                <a:off x="7430573"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5" name="TextBox 24">
                <a:extLst>
                  <a:ext uri="{FF2B5EF4-FFF2-40B4-BE49-F238E27FC236}">
                    <a16:creationId xmlns:a16="http://schemas.microsoft.com/office/drawing/2014/main" id="{218DC2A0-663F-CF45-C2EA-3096A765BF40}"/>
                  </a:ext>
                </a:extLst>
              </p:cNvPr>
              <p:cNvSpPr txBox="1">
                <a:spLocks noRot="1" noChangeAspect="1" noMove="1" noResize="1" noEditPoints="1" noAdjustHandles="1" noChangeArrowheads="1" noChangeShapeType="1" noTextEdit="1"/>
              </p:cNvSpPr>
              <p:nvPr/>
            </p:nvSpPr>
            <p:spPr>
              <a:xfrm>
                <a:off x="7430573" y="5731483"/>
                <a:ext cx="604653" cy="307777"/>
              </a:xfrm>
              <a:prstGeom prst="rect">
                <a:avLst/>
              </a:prstGeom>
              <a:blipFill>
                <a:blip r:embed="rId11"/>
                <a:stretch>
                  <a:fillRect b="-13725"/>
                </a:stretch>
              </a:blipFill>
            </p:spPr>
            <p:txBody>
              <a:bodyPr/>
              <a:lstStyle/>
              <a:p>
                <a:r>
                  <a:rPr lang="ko-KR" altLang="en-US">
                    <a:noFill/>
                  </a:rPr>
                  <a:t> </a:t>
                </a:r>
              </a:p>
            </p:txBody>
          </p:sp>
        </mc:Fallback>
      </mc:AlternateContent>
      <p:sp>
        <p:nvSpPr>
          <p:cNvPr id="28" name="타원 27">
            <a:extLst>
              <a:ext uri="{FF2B5EF4-FFF2-40B4-BE49-F238E27FC236}">
                <a16:creationId xmlns:a16="http://schemas.microsoft.com/office/drawing/2014/main" id="{945D924F-286A-8B0E-DE9F-8EA6F88BC55A}"/>
              </a:ext>
            </a:extLst>
          </p:cNvPr>
          <p:cNvSpPr/>
          <p:nvPr/>
        </p:nvSpPr>
        <p:spPr>
          <a:xfrm>
            <a:off x="5829305"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6909787D-D168-CEA3-B98B-5C2CEF462524}"/>
              </a:ext>
            </a:extLst>
          </p:cNvPr>
          <p:cNvSpPr/>
          <p:nvPr/>
        </p:nvSpPr>
        <p:spPr>
          <a:xfrm>
            <a:off x="7038081"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A054E8D0-7614-B4D9-A02C-44B8D4FD29A2}"/>
              </a:ext>
            </a:extLst>
          </p:cNvPr>
          <p:cNvSpPr/>
          <p:nvPr/>
        </p:nvSpPr>
        <p:spPr>
          <a:xfrm>
            <a:off x="8231285"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A7414FB3-B957-96BC-C0C0-7C63100F6DE7}"/>
              </a:ext>
            </a:extLst>
          </p:cNvPr>
          <p:cNvSpPr/>
          <p:nvPr/>
        </p:nvSpPr>
        <p:spPr>
          <a:xfrm>
            <a:off x="9424489"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타원 34">
            <a:extLst>
              <a:ext uri="{FF2B5EF4-FFF2-40B4-BE49-F238E27FC236}">
                <a16:creationId xmlns:a16="http://schemas.microsoft.com/office/drawing/2014/main" id="{A302A79A-B730-5521-055A-638962B87DA8}"/>
              </a:ext>
            </a:extLst>
          </p:cNvPr>
          <p:cNvSpPr/>
          <p:nvPr/>
        </p:nvSpPr>
        <p:spPr>
          <a:xfrm>
            <a:off x="10617693"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5E3DBE4-ECA4-A67F-96B7-E952C4D14434}"/>
                  </a:ext>
                </a:extLst>
              </p:cNvPr>
              <p:cNvSpPr txBox="1"/>
              <p:nvPr/>
            </p:nvSpPr>
            <p:spPr>
              <a:xfrm>
                <a:off x="6217308"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6" name="TextBox 35">
                <a:extLst>
                  <a:ext uri="{FF2B5EF4-FFF2-40B4-BE49-F238E27FC236}">
                    <a16:creationId xmlns:a16="http://schemas.microsoft.com/office/drawing/2014/main" id="{55E3DBE4-ECA4-A67F-96B7-E952C4D14434}"/>
                  </a:ext>
                </a:extLst>
              </p:cNvPr>
              <p:cNvSpPr txBox="1">
                <a:spLocks noRot="1" noChangeAspect="1" noMove="1" noResize="1" noEditPoints="1" noAdjustHandles="1" noChangeArrowheads="1" noChangeShapeType="1" noTextEdit="1"/>
              </p:cNvSpPr>
              <p:nvPr/>
            </p:nvSpPr>
            <p:spPr>
              <a:xfrm>
                <a:off x="6217308" y="2484355"/>
                <a:ext cx="600742" cy="307777"/>
              </a:xfrm>
              <a:prstGeom prst="rect">
                <a:avLst/>
              </a:prstGeom>
              <a:blipFill>
                <a:blip r:embed="rId12"/>
                <a:stretch>
                  <a:fillRect l="-4082"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2E10CD9-C3A5-78B6-5439-E7B8CC0CFDE7}"/>
                  </a:ext>
                </a:extLst>
              </p:cNvPr>
              <p:cNvSpPr txBox="1"/>
              <p:nvPr/>
            </p:nvSpPr>
            <p:spPr>
              <a:xfrm>
                <a:off x="10990121" y="2484355"/>
                <a:ext cx="3554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7" name="TextBox 36">
                <a:extLst>
                  <a:ext uri="{FF2B5EF4-FFF2-40B4-BE49-F238E27FC236}">
                    <a16:creationId xmlns:a16="http://schemas.microsoft.com/office/drawing/2014/main" id="{52E10CD9-C3A5-78B6-5439-E7B8CC0CFDE7}"/>
                  </a:ext>
                </a:extLst>
              </p:cNvPr>
              <p:cNvSpPr txBox="1">
                <a:spLocks noRot="1" noChangeAspect="1" noMove="1" noResize="1" noEditPoints="1" noAdjustHandles="1" noChangeArrowheads="1" noChangeShapeType="1" noTextEdit="1"/>
              </p:cNvSpPr>
              <p:nvPr/>
            </p:nvSpPr>
            <p:spPr>
              <a:xfrm>
                <a:off x="10990121" y="2484355"/>
                <a:ext cx="355482" cy="307777"/>
              </a:xfrm>
              <a:prstGeom prst="rect">
                <a:avLst/>
              </a:prstGeom>
              <a:blipFill>
                <a:blip r:embed="rId13"/>
                <a:stretch>
                  <a:fillRect l="-6897"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CAA42B0-BF40-F593-642F-95ED4F2D69C5}"/>
                  </a:ext>
                </a:extLst>
              </p:cNvPr>
              <p:cNvSpPr txBox="1"/>
              <p:nvPr/>
            </p:nvSpPr>
            <p:spPr>
              <a:xfrm>
                <a:off x="9796920"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8" name="TextBox 37">
                <a:extLst>
                  <a:ext uri="{FF2B5EF4-FFF2-40B4-BE49-F238E27FC236}">
                    <a16:creationId xmlns:a16="http://schemas.microsoft.com/office/drawing/2014/main" id="{CCAA42B0-BF40-F593-642F-95ED4F2D69C5}"/>
                  </a:ext>
                </a:extLst>
              </p:cNvPr>
              <p:cNvSpPr txBox="1">
                <a:spLocks noRot="1" noChangeAspect="1" noMove="1" noResize="1" noEditPoints="1" noAdjustHandles="1" noChangeArrowheads="1" noChangeShapeType="1" noTextEdit="1"/>
              </p:cNvSpPr>
              <p:nvPr/>
            </p:nvSpPr>
            <p:spPr>
              <a:xfrm>
                <a:off x="9796920" y="2484355"/>
                <a:ext cx="600742" cy="307777"/>
              </a:xfrm>
              <a:prstGeom prst="rect">
                <a:avLst/>
              </a:prstGeom>
              <a:blipFill>
                <a:blip r:embed="rId14"/>
                <a:stretch>
                  <a:fillRect l="-4040"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3E0AA2D-DDD0-3F99-9221-2097C89C41A8}"/>
                  </a:ext>
                </a:extLst>
              </p:cNvPr>
              <p:cNvSpPr txBox="1"/>
              <p:nvPr/>
            </p:nvSpPr>
            <p:spPr>
              <a:xfrm>
                <a:off x="8603716"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55" name="TextBox 54">
                <a:extLst>
                  <a:ext uri="{FF2B5EF4-FFF2-40B4-BE49-F238E27FC236}">
                    <a16:creationId xmlns:a16="http://schemas.microsoft.com/office/drawing/2014/main" id="{C3E0AA2D-DDD0-3F99-9221-2097C89C41A8}"/>
                  </a:ext>
                </a:extLst>
              </p:cNvPr>
              <p:cNvSpPr txBox="1">
                <a:spLocks noRot="1" noChangeAspect="1" noMove="1" noResize="1" noEditPoints="1" noAdjustHandles="1" noChangeArrowheads="1" noChangeShapeType="1" noTextEdit="1"/>
              </p:cNvSpPr>
              <p:nvPr/>
            </p:nvSpPr>
            <p:spPr>
              <a:xfrm>
                <a:off x="8603716" y="2484355"/>
                <a:ext cx="600742" cy="307777"/>
              </a:xfrm>
              <a:prstGeom prst="rect">
                <a:avLst/>
              </a:prstGeom>
              <a:blipFill>
                <a:blip r:embed="rId15"/>
                <a:stretch>
                  <a:fillRect l="-4040"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E2ED5F0-E833-353E-8A4A-CEFF17EAA9E2}"/>
                  </a:ext>
                </a:extLst>
              </p:cNvPr>
              <p:cNvSpPr txBox="1"/>
              <p:nvPr/>
            </p:nvSpPr>
            <p:spPr>
              <a:xfrm>
                <a:off x="7410512"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57" name="TextBox 56">
                <a:extLst>
                  <a:ext uri="{FF2B5EF4-FFF2-40B4-BE49-F238E27FC236}">
                    <a16:creationId xmlns:a16="http://schemas.microsoft.com/office/drawing/2014/main" id="{9E2ED5F0-E833-353E-8A4A-CEFF17EAA9E2}"/>
                  </a:ext>
                </a:extLst>
              </p:cNvPr>
              <p:cNvSpPr txBox="1">
                <a:spLocks noRot="1" noChangeAspect="1" noMove="1" noResize="1" noEditPoints="1" noAdjustHandles="1" noChangeArrowheads="1" noChangeShapeType="1" noTextEdit="1"/>
              </p:cNvSpPr>
              <p:nvPr/>
            </p:nvSpPr>
            <p:spPr>
              <a:xfrm>
                <a:off x="7410512" y="2484355"/>
                <a:ext cx="600742" cy="307777"/>
              </a:xfrm>
              <a:prstGeom prst="rect">
                <a:avLst/>
              </a:prstGeom>
              <a:blipFill>
                <a:blip r:embed="rId16"/>
                <a:stretch>
                  <a:fillRect l="-4082" b="-26000"/>
                </a:stretch>
              </a:blipFill>
            </p:spPr>
            <p:txBody>
              <a:bodyPr/>
              <a:lstStyle/>
              <a:p>
                <a:r>
                  <a:rPr lang="ko-KR" altLang="en-US">
                    <a:noFill/>
                  </a:rPr>
                  <a:t> </a:t>
                </a:r>
              </a:p>
            </p:txBody>
          </p:sp>
        </mc:Fallback>
      </mc:AlternateContent>
      <p:sp>
        <p:nvSpPr>
          <p:cNvPr id="58" name="타원 57">
            <a:extLst>
              <a:ext uri="{FF2B5EF4-FFF2-40B4-BE49-F238E27FC236}">
                <a16:creationId xmlns:a16="http://schemas.microsoft.com/office/drawing/2014/main" id="{AA121ADF-E677-7588-ACA0-CA5398F828A8}"/>
              </a:ext>
            </a:extLst>
          </p:cNvPr>
          <p:cNvSpPr/>
          <p:nvPr/>
        </p:nvSpPr>
        <p:spPr>
          <a:xfrm>
            <a:off x="5829305"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타원 62">
            <a:extLst>
              <a:ext uri="{FF2B5EF4-FFF2-40B4-BE49-F238E27FC236}">
                <a16:creationId xmlns:a16="http://schemas.microsoft.com/office/drawing/2014/main" id="{172263B6-6646-8FC0-5F03-40F0E8772B1F}"/>
              </a:ext>
            </a:extLst>
          </p:cNvPr>
          <p:cNvSpPr/>
          <p:nvPr/>
        </p:nvSpPr>
        <p:spPr>
          <a:xfrm>
            <a:off x="10679753"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4" name="타원 1023">
            <a:extLst>
              <a:ext uri="{FF2B5EF4-FFF2-40B4-BE49-F238E27FC236}">
                <a16:creationId xmlns:a16="http://schemas.microsoft.com/office/drawing/2014/main" id="{10ACFC0A-C6EE-7D06-6D0C-CEAC11F55374}"/>
              </a:ext>
            </a:extLst>
          </p:cNvPr>
          <p:cNvSpPr/>
          <p:nvPr/>
        </p:nvSpPr>
        <p:spPr>
          <a:xfrm>
            <a:off x="7041917"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6" name="타원 1025">
            <a:extLst>
              <a:ext uri="{FF2B5EF4-FFF2-40B4-BE49-F238E27FC236}">
                <a16:creationId xmlns:a16="http://schemas.microsoft.com/office/drawing/2014/main" id="{B1E94B0C-6F5C-E8DE-2CBE-CCC67B4BFC02}"/>
              </a:ext>
            </a:extLst>
          </p:cNvPr>
          <p:cNvSpPr/>
          <p:nvPr/>
        </p:nvSpPr>
        <p:spPr>
          <a:xfrm>
            <a:off x="8254529"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7" name="타원 1026">
            <a:extLst>
              <a:ext uri="{FF2B5EF4-FFF2-40B4-BE49-F238E27FC236}">
                <a16:creationId xmlns:a16="http://schemas.microsoft.com/office/drawing/2014/main" id="{9AB3EDAD-895A-FADB-1D85-D350C21009C2}"/>
              </a:ext>
            </a:extLst>
          </p:cNvPr>
          <p:cNvSpPr/>
          <p:nvPr/>
        </p:nvSpPr>
        <p:spPr>
          <a:xfrm>
            <a:off x="9467141"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xmlns:a14="http://schemas.microsoft.com/office/drawing/2010/main">
        <mc:Choice Requires="a14">
          <p:sp>
            <p:nvSpPr>
              <p:cNvPr id="1028" name="TextBox 1027">
                <a:extLst>
                  <a:ext uri="{FF2B5EF4-FFF2-40B4-BE49-F238E27FC236}">
                    <a16:creationId xmlns:a16="http://schemas.microsoft.com/office/drawing/2014/main" id="{DF0110BE-8B24-E009-E652-A39366FF42B9}"/>
                  </a:ext>
                </a:extLst>
              </p:cNvPr>
              <p:cNvSpPr txBox="1"/>
              <p:nvPr/>
            </p:nvSpPr>
            <p:spPr>
              <a:xfrm>
                <a:off x="6205830"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28" name="TextBox 1027">
                <a:extLst>
                  <a:ext uri="{FF2B5EF4-FFF2-40B4-BE49-F238E27FC236}">
                    <a16:creationId xmlns:a16="http://schemas.microsoft.com/office/drawing/2014/main" id="{DF0110BE-8B24-E009-E652-A39366FF42B9}"/>
                  </a:ext>
                </a:extLst>
              </p:cNvPr>
              <p:cNvSpPr txBox="1">
                <a:spLocks noRot="1" noChangeAspect="1" noMove="1" noResize="1" noEditPoints="1" noAdjustHandles="1" noChangeArrowheads="1" noChangeShapeType="1" noTextEdit="1"/>
              </p:cNvSpPr>
              <p:nvPr/>
            </p:nvSpPr>
            <p:spPr>
              <a:xfrm>
                <a:off x="6205830" y="4108755"/>
                <a:ext cx="611962" cy="307777"/>
              </a:xfrm>
              <a:prstGeom prst="rect">
                <a:avLst/>
              </a:prstGeom>
              <a:blipFill>
                <a:blip r:embed="rId17"/>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29" name="TextBox 1028">
                <a:extLst>
                  <a:ext uri="{FF2B5EF4-FFF2-40B4-BE49-F238E27FC236}">
                    <a16:creationId xmlns:a16="http://schemas.microsoft.com/office/drawing/2014/main" id="{85191388-2ED0-3AB6-3246-2D63F951B066}"/>
                  </a:ext>
                </a:extLst>
              </p:cNvPr>
              <p:cNvSpPr txBox="1"/>
              <p:nvPr/>
            </p:nvSpPr>
            <p:spPr>
              <a:xfrm>
                <a:off x="11056278" y="4108755"/>
                <a:ext cx="36670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29" name="TextBox 1028">
                <a:extLst>
                  <a:ext uri="{FF2B5EF4-FFF2-40B4-BE49-F238E27FC236}">
                    <a16:creationId xmlns:a16="http://schemas.microsoft.com/office/drawing/2014/main" id="{85191388-2ED0-3AB6-3246-2D63F951B066}"/>
                  </a:ext>
                </a:extLst>
              </p:cNvPr>
              <p:cNvSpPr txBox="1">
                <a:spLocks noRot="1" noChangeAspect="1" noMove="1" noResize="1" noEditPoints="1" noAdjustHandles="1" noChangeArrowheads="1" noChangeShapeType="1" noTextEdit="1"/>
              </p:cNvSpPr>
              <p:nvPr/>
            </p:nvSpPr>
            <p:spPr>
              <a:xfrm>
                <a:off x="11056278" y="4108755"/>
                <a:ext cx="366702" cy="307777"/>
              </a:xfrm>
              <a:prstGeom prst="rect">
                <a:avLst/>
              </a:prstGeom>
              <a:blipFill>
                <a:blip r:embed="rId18"/>
                <a:stretch>
                  <a:fillRect l="-6667"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0" name="TextBox 1029">
                <a:extLst>
                  <a:ext uri="{FF2B5EF4-FFF2-40B4-BE49-F238E27FC236}">
                    <a16:creationId xmlns:a16="http://schemas.microsoft.com/office/drawing/2014/main" id="{59C797AC-2FB7-861B-BCCA-90B746160624}"/>
                  </a:ext>
                </a:extLst>
              </p:cNvPr>
              <p:cNvSpPr txBox="1"/>
              <p:nvPr/>
            </p:nvSpPr>
            <p:spPr>
              <a:xfrm>
                <a:off x="9843666"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0" name="TextBox 1029">
                <a:extLst>
                  <a:ext uri="{FF2B5EF4-FFF2-40B4-BE49-F238E27FC236}">
                    <a16:creationId xmlns:a16="http://schemas.microsoft.com/office/drawing/2014/main" id="{59C797AC-2FB7-861B-BCCA-90B746160624}"/>
                  </a:ext>
                </a:extLst>
              </p:cNvPr>
              <p:cNvSpPr txBox="1">
                <a:spLocks noRot="1" noChangeAspect="1" noMove="1" noResize="1" noEditPoints="1" noAdjustHandles="1" noChangeArrowheads="1" noChangeShapeType="1" noTextEdit="1"/>
              </p:cNvSpPr>
              <p:nvPr/>
            </p:nvSpPr>
            <p:spPr>
              <a:xfrm>
                <a:off x="9843666" y="4108755"/>
                <a:ext cx="611962" cy="307777"/>
              </a:xfrm>
              <a:prstGeom prst="rect">
                <a:avLst/>
              </a:prstGeom>
              <a:blipFill>
                <a:blip r:embed="rId19"/>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1" name="TextBox 1030">
                <a:extLst>
                  <a:ext uri="{FF2B5EF4-FFF2-40B4-BE49-F238E27FC236}">
                    <a16:creationId xmlns:a16="http://schemas.microsoft.com/office/drawing/2014/main" id="{D24B619E-C9E1-26FC-6AEF-F2B84CB0B84F}"/>
                  </a:ext>
                </a:extLst>
              </p:cNvPr>
              <p:cNvSpPr txBox="1"/>
              <p:nvPr/>
            </p:nvSpPr>
            <p:spPr>
              <a:xfrm>
                <a:off x="8631054"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1" name="TextBox 1030">
                <a:extLst>
                  <a:ext uri="{FF2B5EF4-FFF2-40B4-BE49-F238E27FC236}">
                    <a16:creationId xmlns:a16="http://schemas.microsoft.com/office/drawing/2014/main" id="{D24B619E-C9E1-26FC-6AEF-F2B84CB0B84F}"/>
                  </a:ext>
                </a:extLst>
              </p:cNvPr>
              <p:cNvSpPr txBox="1">
                <a:spLocks noRot="1" noChangeAspect="1" noMove="1" noResize="1" noEditPoints="1" noAdjustHandles="1" noChangeArrowheads="1" noChangeShapeType="1" noTextEdit="1"/>
              </p:cNvSpPr>
              <p:nvPr/>
            </p:nvSpPr>
            <p:spPr>
              <a:xfrm>
                <a:off x="8631054" y="4108755"/>
                <a:ext cx="611962" cy="307777"/>
              </a:xfrm>
              <a:prstGeom prst="rect">
                <a:avLst/>
              </a:prstGeom>
              <a:blipFill>
                <a:blip r:embed="rId20"/>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2" name="TextBox 1031">
                <a:extLst>
                  <a:ext uri="{FF2B5EF4-FFF2-40B4-BE49-F238E27FC236}">
                    <a16:creationId xmlns:a16="http://schemas.microsoft.com/office/drawing/2014/main" id="{1FF19B9E-83C3-B01C-6730-799282E5001B}"/>
                  </a:ext>
                </a:extLst>
              </p:cNvPr>
              <p:cNvSpPr txBox="1"/>
              <p:nvPr/>
            </p:nvSpPr>
            <p:spPr>
              <a:xfrm>
                <a:off x="7418442"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2" name="TextBox 1031">
                <a:extLst>
                  <a:ext uri="{FF2B5EF4-FFF2-40B4-BE49-F238E27FC236}">
                    <a16:creationId xmlns:a16="http://schemas.microsoft.com/office/drawing/2014/main" id="{1FF19B9E-83C3-B01C-6730-799282E5001B}"/>
                  </a:ext>
                </a:extLst>
              </p:cNvPr>
              <p:cNvSpPr txBox="1">
                <a:spLocks noRot="1" noChangeAspect="1" noMove="1" noResize="1" noEditPoints="1" noAdjustHandles="1" noChangeArrowheads="1" noChangeShapeType="1" noTextEdit="1"/>
              </p:cNvSpPr>
              <p:nvPr/>
            </p:nvSpPr>
            <p:spPr>
              <a:xfrm>
                <a:off x="7418442" y="4108755"/>
                <a:ext cx="611962" cy="307777"/>
              </a:xfrm>
              <a:prstGeom prst="rect">
                <a:avLst/>
              </a:prstGeom>
              <a:blipFill>
                <a:blip r:embed="rId21"/>
                <a:stretch>
                  <a:fillRect l="-4000" b="-16000"/>
                </a:stretch>
              </a:blipFill>
            </p:spPr>
            <p:txBody>
              <a:bodyPr/>
              <a:lstStyle/>
              <a:p>
                <a:r>
                  <a:rPr lang="ko-KR" altLang="en-US">
                    <a:noFill/>
                  </a:rPr>
                  <a:t> </a:t>
                </a:r>
              </a:p>
            </p:txBody>
          </p:sp>
        </mc:Fallback>
      </mc:AlternateContent>
      <p:cxnSp>
        <p:nvCxnSpPr>
          <p:cNvPr id="1034" name="직선 화살표 연결선 1033">
            <a:extLst>
              <a:ext uri="{FF2B5EF4-FFF2-40B4-BE49-F238E27FC236}">
                <a16:creationId xmlns:a16="http://schemas.microsoft.com/office/drawing/2014/main" id="{20D86393-FF94-41E9-7683-B2456F468E94}"/>
              </a:ext>
            </a:extLst>
          </p:cNvPr>
          <p:cNvCxnSpPr>
            <a:cxnSpLocks/>
            <a:stCxn id="5" idx="0"/>
            <a:endCxn id="58" idx="4"/>
          </p:cNvCxnSpPr>
          <p:nvPr/>
        </p:nvCxnSpPr>
        <p:spPr>
          <a:xfrm flipV="1">
            <a:off x="6067430" y="4195075"/>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7" name="직선 화살표 연결선 1036">
            <a:extLst>
              <a:ext uri="{FF2B5EF4-FFF2-40B4-BE49-F238E27FC236}">
                <a16:creationId xmlns:a16="http://schemas.microsoft.com/office/drawing/2014/main" id="{15C46DD5-00FB-21F6-A21F-BDA9D6A66925}"/>
              </a:ext>
            </a:extLst>
          </p:cNvPr>
          <p:cNvCxnSpPr>
            <a:cxnSpLocks/>
            <a:stCxn id="58" idx="0"/>
            <a:endCxn id="28" idx="4"/>
          </p:cNvCxnSpPr>
          <p:nvPr/>
        </p:nvCxnSpPr>
        <p:spPr>
          <a:xfrm flipV="1">
            <a:off x="6067430" y="2523436"/>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직선 화살표 연결선 1039">
            <a:extLst>
              <a:ext uri="{FF2B5EF4-FFF2-40B4-BE49-F238E27FC236}">
                <a16:creationId xmlns:a16="http://schemas.microsoft.com/office/drawing/2014/main" id="{0E0F518D-3639-6196-49C2-A37AD00240B4}"/>
              </a:ext>
            </a:extLst>
          </p:cNvPr>
          <p:cNvCxnSpPr>
            <a:cxnSpLocks/>
          </p:cNvCxnSpPr>
          <p:nvPr/>
        </p:nvCxnSpPr>
        <p:spPr>
          <a:xfrm flipV="1">
            <a:off x="7277105" y="4201425"/>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1" name="직선 화살표 연결선 1040">
            <a:extLst>
              <a:ext uri="{FF2B5EF4-FFF2-40B4-BE49-F238E27FC236}">
                <a16:creationId xmlns:a16="http://schemas.microsoft.com/office/drawing/2014/main" id="{789EAAE4-5F35-0E7E-C2ED-CE6C1142A2F0}"/>
              </a:ext>
            </a:extLst>
          </p:cNvPr>
          <p:cNvCxnSpPr>
            <a:cxnSpLocks/>
          </p:cNvCxnSpPr>
          <p:nvPr/>
        </p:nvCxnSpPr>
        <p:spPr>
          <a:xfrm flipV="1">
            <a:off x="7277105" y="2529786"/>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2" name="직선 화살표 연결선 1041">
            <a:extLst>
              <a:ext uri="{FF2B5EF4-FFF2-40B4-BE49-F238E27FC236}">
                <a16:creationId xmlns:a16="http://schemas.microsoft.com/office/drawing/2014/main" id="{99AC1E5D-0E4D-6E0D-2953-38E3ED19903D}"/>
              </a:ext>
            </a:extLst>
          </p:cNvPr>
          <p:cNvCxnSpPr>
            <a:cxnSpLocks/>
          </p:cNvCxnSpPr>
          <p:nvPr/>
        </p:nvCxnSpPr>
        <p:spPr>
          <a:xfrm flipV="1">
            <a:off x="8486780"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직선 화살표 연결선 1042">
            <a:extLst>
              <a:ext uri="{FF2B5EF4-FFF2-40B4-BE49-F238E27FC236}">
                <a16:creationId xmlns:a16="http://schemas.microsoft.com/office/drawing/2014/main" id="{C0FFCE4C-47A8-F208-045D-D542437FDB2A}"/>
              </a:ext>
            </a:extLst>
          </p:cNvPr>
          <p:cNvCxnSpPr>
            <a:cxnSpLocks/>
          </p:cNvCxnSpPr>
          <p:nvPr/>
        </p:nvCxnSpPr>
        <p:spPr>
          <a:xfrm flipV="1">
            <a:off x="8486780"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4" name="직선 화살표 연결선 1043">
            <a:extLst>
              <a:ext uri="{FF2B5EF4-FFF2-40B4-BE49-F238E27FC236}">
                <a16:creationId xmlns:a16="http://schemas.microsoft.com/office/drawing/2014/main" id="{BE8A077E-CF13-FD00-E65F-4245F638CE8F}"/>
              </a:ext>
            </a:extLst>
          </p:cNvPr>
          <p:cNvCxnSpPr>
            <a:cxnSpLocks/>
          </p:cNvCxnSpPr>
          <p:nvPr/>
        </p:nvCxnSpPr>
        <p:spPr>
          <a:xfrm flipV="1">
            <a:off x="9677405"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5" name="직선 화살표 연결선 1044">
            <a:extLst>
              <a:ext uri="{FF2B5EF4-FFF2-40B4-BE49-F238E27FC236}">
                <a16:creationId xmlns:a16="http://schemas.microsoft.com/office/drawing/2014/main" id="{31E416AB-FE8A-1FC2-8EE4-4D8CF72F9DD7}"/>
              </a:ext>
            </a:extLst>
          </p:cNvPr>
          <p:cNvCxnSpPr>
            <a:cxnSpLocks/>
          </p:cNvCxnSpPr>
          <p:nvPr/>
        </p:nvCxnSpPr>
        <p:spPr>
          <a:xfrm flipV="1">
            <a:off x="9677405"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6" name="직선 화살표 연결선 1045">
            <a:extLst>
              <a:ext uri="{FF2B5EF4-FFF2-40B4-BE49-F238E27FC236}">
                <a16:creationId xmlns:a16="http://schemas.microsoft.com/office/drawing/2014/main" id="{AE69AE81-3369-836D-644E-162545E8C5C3}"/>
              </a:ext>
            </a:extLst>
          </p:cNvPr>
          <p:cNvCxnSpPr>
            <a:cxnSpLocks/>
          </p:cNvCxnSpPr>
          <p:nvPr/>
        </p:nvCxnSpPr>
        <p:spPr>
          <a:xfrm flipV="1">
            <a:off x="10924657"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7" name="직선 화살표 연결선 1046">
            <a:extLst>
              <a:ext uri="{FF2B5EF4-FFF2-40B4-BE49-F238E27FC236}">
                <a16:creationId xmlns:a16="http://schemas.microsoft.com/office/drawing/2014/main" id="{64A4EA0B-9214-E8EE-7785-F7C08D91DC2F}"/>
              </a:ext>
            </a:extLst>
          </p:cNvPr>
          <p:cNvCxnSpPr>
            <a:cxnSpLocks/>
          </p:cNvCxnSpPr>
          <p:nvPr/>
        </p:nvCxnSpPr>
        <p:spPr>
          <a:xfrm flipV="1">
            <a:off x="10924657"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9" name="직선 화살표 연결선 1048">
            <a:extLst>
              <a:ext uri="{FF2B5EF4-FFF2-40B4-BE49-F238E27FC236}">
                <a16:creationId xmlns:a16="http://schemas.microsoft.com/office/drawing/2014/main" id="{260874E2-5BA1-7544-10D7-58B90A2399F0}"/>
              </a:ext>
            </a:extLst>
          </p:cNvPr>
          <p:cNvCxnSpPr>
            <a:stCxn id="58" idx="6"/>
            <a:endCxn id="1024" idx="2"/>
          </p:cNvCxnSpPr>
          <p:nvPr/>
        </p:nvCxnSpPr>
        <p:spPr>
          <a:xfrm>
            <a:off x="6305555"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0" name="직선 화살표 연결선 1049">
            <a:extLst>
              <a:ext uri="{FF2B5EF4-FFF2-40B4-BE49-F238E27FC236}">
                <a16:creationId xmlns:a16="http://schemas.microsoft.com/office/drawing/2014/main" id="{66D3CC91-2B16-A9FE-F40F-CCF803D46D27}"/>
              </a:ext>
            </a:extLst>
          </p:cNvPr>
          <p:cNvCxnSpPr/>
          <p:nvPr/>
        </p:nvCxnSpPr>
        <p:spPr>
          <a:xfrm>
            <a:off x="7544634"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1" name="직선 화살표 연결선 1050">
            <a:extLst>
              <a:ext uri="{FF2B5EF4-FFF2-40B4-BE49-F238E27FC236}">
                <a16:creationId xmlns:a16="http://schemas.microsoft.com/office/drawing/2014/main" id="{ED7C7F1C-BF6B-D348-752F-FA6620C1409F}"/>
              </a:ext>
            </a:extLst>
          </p:cNvPr>
          <p:cNvCxnSpPr>
            <a:cxnSpLocks/>
            <a:stCxn id="1026" idx="6"/>
            <a:endCxn id="1027" idx="2"/>
          </p:cNvCxnSpPr>
          <p:nvPr/>
        </p:nvCxnSpPr>
        <p:spPr>
          <a:xfrm>
            <a:off x="8730779"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2" name="직선 화살표 연결선 1051">
            <a:extLst>
              <a:ext uri="{FF2B5EF4-FFF2-40B4-BE49-F238E27FC236}">
                <a16:creationId xmlns:a16="http://schemas.microsoft.com/office/drawing/2014/main" id="{A5C8484F-CC28-C6D0-4C88-C88328F6D85E}"/>
              </a:ext>
            </a:extLst>
          </p:cNvPr>
          <p:cNvCxnSpPr>
            <a:cxnSpLocks/>
            <a:stCxn id="1027" idx="6"/>
            <a:endCxn id="63" idx="2"/>
          </p:cNvCxnSpPr>
          <p:nvPr/>
        </p:nvCxnSpPr>
        <p:spPr>
          <a:xfrm>
            <a:off x="9943391"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57" name="같음 기호 1056">
            <a:extLst>
              <a:ext uri="{FF2B5EF4-FFF2-40B4-BE49-F238E27FC236}">
                <a16:creationId xmlns:a16="http://schemas.microsoft.com/office/drawing/2014/main" id="{4E8A4E56-353F-C39B-52E9-115A1A08A8DB}"/>
              </a:ext>
            </a:extLst>
          </p:cNvPr>
          <p:cNvSpPr/>
          <p:nvPr/>
        </p:nvSpPr>
        <p:spPr>
          <a:xfrm>
            <a:off x="4629078" y="3739409"/>
            <a:ext cx="647130" cy="406505"/>
          </a:xfrm>
          <a:prstGeom prst="mathEqual">
            <a:avLst>
              <a:gd name="adj1" fmla="val 14148"/>
              <a:gd name="adj2" fmla="val 3050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311178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80376-2A82-C8DD-0A2C-A5A76009980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4C0E08C-357C-63CB-950F-2AD058E2ACB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 Architecture</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32" name="슬라이드 번호 개체 틀 3">
            <a:extLst>
              <a:ext uri="{FF2B5EF4-FFF2-40B4-BE49-F238E27FC236}">
                <a16:creationId xmlns:a16="http://schemas.microsoft.com/office/drawing/2014/main" id="{E7E3F6F5-A438-7A96-FA6B-A8AF7AD3EC14}"/>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31</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62" name="TextBox 61">
            <a:extLst>
              <a:ext uri="{FF2B5EF4-FFF2-40B4-BE49-F238E27FC236}">
                <a16:creationId xmlns:a16="http://schemas.microsoft.com/office/drawing/2014/main" id="{377B51E8-F3BE-7539-5ED4-6E1C39042EF2}"/>
              </a:ext>
            </a:extLst>
          </p:cNvPr>
          <p:cNvSpPr txBox="1"/>
          <p:nvPr/>
        </p:nvSpPr>
        <p:spPr>
          <a:xfrm>
            <a:off x="538867" y="1277477"/>
            <a:ext cx="10806736" cy="369332"/>
          </a:xfrm>
          <a:prstGeom prst="rect">
            <a:avLst/>
          </a:prstGeom>
          <a:noFill/>
        </p:spPr>
        <p:txBody>
          <a:bodyPr wrap="square">
            <a:spAutoFit/>
          </a:bodyPr>
          <a:lstStyle/>
          <a:p>
            <a:r>
              <a:rPr lang="en-US" altLang="ko-KR" dirty="0">
                <a:latin typeface="D2Coding" panose="020B0609020101020101" pitchFamily="49" charset="-127"/>
                <a:ea typeface="D2Coding" panose="020B0609020101020101" pitchFamily="49" charset="-127"/>
              </a:rPr>
              <a:t>Input</a:t>
            </a:r>
            <a:r>
              <a:rPr lang="ko-KR" altLang="en-US" dirty="0">
                <a:latin typeface="D2Coding" panose="020B0609020101020101" pitchFamily="49" charset="-127"/>
                <a:ea typeface="D2Coding" panose="020B0609020101020101" pitchFamily="49" charset="-127"/>
              </a:rPr>
              <a:t> </a:t>
            </a:r>
            <a:r>
              <a:rPr lang="en-US" altLang="ko-KR" dirty="0">
                <a:latin typeface="D2Coding" panose="020B0609020101020101" pitchFamily="49" charset="-127"/>
                <a:ea typeface="D2Coding" panose="020B0609020101020101" pitchFamily="49" charset="-127"/>
              </a:rPr>
              <a:t>data</a:t>
            </a:r>
            <a:r>
              <a:rPr lang="ko-KR" altLang="en-US" dirty="0">
                <a:latin typeface="D2Coding" panose="020B0609020101020101" pitchFamily="49" charset="-127"/>
                <a:ea typeface="D2Coding" panose="020B0609020101020101" pitchFamily="49" charset="-127"/>
              </a:rPr>
              <a:t>를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개씩 </a:t>
            </a:r>
            <a:r>
              <a:rPr lang="en-US" altLang="ko-KR" dirty="0">
                <a:latin typeface="D2Coding" panose="020B0609020101020101" pitchFamily="49" charset="-127"/>
                <a:ea typeface="D2Coding" panose="020B0609020101020101" pitchFamily="49" charset="-127"/>
              </a:rPr>
              <a:t>5</a:t>
            </a:r>
            <a:r>
              <a:rPr lang="ko-KR" altLang="en-US" dirty="0">
                <a:latin typeface="D2Coding" panose="020B0609020101020101" pitchFamily="49" charset="-127"/>
                <a:ea typeface="D2Coding" panose="020B0609020101020101" pitchFamily="49" charset="-127"/>
              </a:rPr>
              <a:t>회씩 </a:t>
            </a:r>
            <a:r>
              <a:rPr lang="ko-KR" altLang="en-US" dirty="0" err="1">
                <a:latin typeface="D2Coding" panose="020B0609020101020101" pitchFamily="49" charset="-127"/>
                <a:ea typeface="D2Coding" panose="020B0609020101020101" pitchFamily="49" charset="-127"/>
              </a:rPr>
              <a:t>은닉층</a:t>
            </a:r>
            <a:r>
              <a:rPr lang="ko-KR" altLang="en-US" dirty="0">
                <a:latin typeface="D2Coding" panose="020B0609020101020101" pitchFamily="49" charset="-127"/>
                <a:ea typeface="D2Coding" panose="020B0609020101020101" pitchFamily="49" charset="-127"/>
              </a:rPr>
              <a:t>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 노드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개인 </a:t>
            </a:r>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에 투입</a:t>
            </a:r>
          </a:p>
        </p:txBody>
      </p:sp>
      <p:sp>
        <p:nvSpPr>
          <p:cNvPr id="5" name="타원 4">
            <a:extLst>
              <a:ext uri="{FF2B5EF4-FFF2-40B4-BE49-F238E27FC236}">
                <a16:creationId xmlns:a16="http://schemas.microsoft.com/office/drawing/2014/main" id="{5BA92C5A-472A-C4B3-CCCA-8AE04B9A7C43}"/>
              </a:ext>
            </a:extLst>
          </p:cNvPr>
          <p:cNvSpPr/>
          <p:nvPr/>
        </p:nvSpPr>
        <p:spPr>
          <a:xfrm>
            <a:off x="5829305"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타원 5">
            <a:extLst>
              <a:ext uri="{FF2B5EF4-FFF2-40B4-BE49-F238E27FC236}">
                <a16:creationId xmlns:a16="http://schemas.microsoft.com/office/drawing/2014/main" id="{DC5A55F4-041B-E569-4CA3-21B564895B2A}"/>
              </a:ext>
            </a:extLst>
          </p:cNvPr>
          <p:cNvSpPr/>
          <p:nvPr/>
        </p:nvSpPr>
        <p:spPr>
          <a:xfrm>
            <a:off x="7063442"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9BEE061A-5134-EEE3-7B94-0639CBB7DA7B}"/>
              </a:ext>
            </a:extLst>
          </p:cNvPr>
          <p:cNvSpPr/>
          <p:nvPr/>
        </p:nvSpPr>
        <p:spPr>
          <a:xfrm>
            <a:off x="8249957"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D34B2FAE-F896-63EA-EEC9-F30880C21624}"/>
              </a:ext>
            </a:extLst>
          </p:cNvPr>
          <p:cNvSpPr/>
          <p:nvPr/>
        </p:nvSpPr>
        <p:spPr>
          <a:xfrm>
            <a:off x="9436472"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D1545206-35AB-F07D-C9B5-A40BAE6FF456}"/>
              </a:ext>
            </a:extLst>
          </p:cNvPr>
          <p:cNvSpPr/>
          <p:nvPr/>
        </p:nvSpPr>
        <p:spPr>
          <a:xfrm>
            <a:off x="10718237"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F738610-D8A4-927E-6BDC-FA470A2FA647}"/>
                  </a:ext>
                </a:extLst>
              </p:cNvPr>
              <p:cNvSpPr txBox="1"/>
              <p:nvPr/>
            </p:nvSpPr>
            <p:spPr>
              <a:xfrm>
                <a:off x="6244058"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8" name="TextBox 17">
                <a:extLst>
                  <a:ext uri="{FF2B5EF4-FFF2-40B4-BE49-F238E27FC236}">
                    <a16:creationId xmlns:a16="http://schemas.microsoft.com/office/drawing/2014/main" id="{BF738610-D8A4-927E-6BDC-FA470A2FA647}"/>
                  </a:ext>
                </a:extLst>
              </p:cNvPr>
              <p:cNvSpPr txBox="1">
                <a:spLocks noRot="1" noChangeAspect="1" noMove="1" noResize="1" noEditPoints="1" noAdjustHandles="1" noChangeArrowheads="1" noChangeShapeType="1" noTextEdit="1"/>
              </p:cNvSpPr>
              <p:nvPr/>
            </p:nvSpPr>
            <p:spPr>
              <a:xfrm>
                <a:off x="6244058" y="5731483"/>
                <a:ext cx="604653" cy="307777"/>
              </a:xfrm>
              <a:prstGeom prst="rect">
                <a:avLst/>
              </a:prstGeom>
              <a:blipFill>
                <a:blip r:embed="rId2"/>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1160B3D-B60D-63EE-3F8D-3584BF556841}"/>
                  </a:ext>
                </a:extLst>
              </p:cNvPr>
              <p:cNvSpPr txBox="1"/>
              <p:nvPr/>
            </p:nvSpPr>
            <p:spPr>
              <a:xfrm>
                <a:off x="11085371" y="5731483"/>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0" name="TextBox 19">
                <a:extLst>
                  <a:ext uri="{FF2B5EF4-FFF2-40B4-BE49-F238E27FC236}">
                    <a16:creationId xmlns:a16="http://schemas.microsoft.com/office/drawing/2014/main" id="{11160B3D-B60D-63EE-3F8D-3584BF556841}"/>
                  </a:ext>
                </a:extLst>
              </p:cNvPr>
              <p:cNvSpPr txBox="1">
                <a:spLocks noRot="1" noChangeAspect="1" noMove="1" noResize="1" noEditPoints="1" noAdjustHandles="1" noChangeArrowheads="1" noChangeShapeType="1" noTextEdit="1"/>
              </p:cNvSpPr>
              <p:nvPr/>
            </p:nvSpPr>
            <p:spPr>
              <a:xfrm>
                <a:off x="11085371" y="5731483"/>
                <a:ext cx="359393" cy="307777"/>
              </a:xfrm>
              <a:prstGeom prst="rect">
                <a:avLst/>
              </a:prstGeom>
              <a:blipFill>
                <a:blip r:embed="rId3"/>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5FDA6AD-D9A6-663A-4FCB-170DF4CDE0DA}"/>
                  </a:ext>
                </a:extLst>
              </p:cNvPr>
              <p:cNvSpPr txBox="1"/>
              <p:nvPr/>
            </p:nvSpPr>
            <p:spPr>
              <a:xfrm>
                <a:off x="9803603"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1" name="TextBox 20">
                <a:extLst>
                  <a:ext uri="{FF2B5EF4-FFF2-40B4-BE49-F238E27FC236}">
                    <a16:creationId xmlns:a16="http://schemas.microsoft.com/office/drawing/2014/main" id="{F5FDA6AD-D9A6-663A-4FCB-170DF4CDE0DA}"/>
                  </a:ext>
                </a:extLst>
              </p:cNvPr>
              <p:cNvSpPr txBox="1">
                <a:spLocks noRot="1" noChangeAspect="1" noMove="1" noResize="1" noEditPoints="1" noAdjustHandles="1" noChangeArrowheads="1" noChangeShapeType="1" noTextEdit="1"/>
              </p:cNvSpPr>
              <p:nvPr/>
            </p:nvSpPr>
            <p:spPr>
              <a:xfrm>
                <a:off x="9803603" y="5731483"/>
                <a:ext cx="604653" cy="307777"/>
              </a:xfrm>
              <a:prstGeom prst="rect">
                <a:avLst/>
              </a:prstGeom>
              <a:blipFill>
                <a:blip r:embed="rId4"/>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1E15BDE-3C29-DD07-B1CA-BDFA9BF4F37C}"/>
                  </a:ext>
                </a:extLst>
              </p:cNvPr>
              <p:cNvSpPr txBox="1"/>
              <p:nvPr/>
            </p:nvSpPr>
            <p:spPr>
              <a:xfrm>
                <a:off x="8617088"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2" name="TextBox 21">
                <a:extLst>
                  <a:ext uri="{FF2B5EF4-FFF2-40B4-BE49-F238E27FC236}">
                    <a16:creationId xmlns:a16="http://schemas.microsoft.com/office/drawing/2014/main" id="{81E15BDE-3C29-DD07-B1CA-BDFA9BF4F37C}"/>
                  </a:ext>
                </a:extLst>
              </p:cNvPr>
              <p:cNvSpPr txBox="1">
                <a:spLocks noRot="1" noChangeAspect="1" noMove="1" noResize="1" noEditPoints="1" noAdjustHandles="1" noChangeArrowheads="1" noChangeShapeType="1" noTextEdit="1"/>
              </p:cNvSpPr>
              <p:nvPr/>
            </p:nvSpPr>
            <p:spPr>
              <a:xfrm>
                <a:off x="8617088" y="5731483"/>
                <a:ext cx="604653" cy="307777"/>
              </a:xfrm>
              <a:prstGeom prst="rect">
                <a:avLst/>
              </a:prstGeom>
              <a:blipFill>
                <a:blip r:embed="rId5"/>
                <a:stretch>
                  <a:fillRect b="-137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FDBE092-8208-2A93-CF34-0CE46536750E}"/>
                  </a:ext>
                </a:extLst>
              </p:cNvPr>
              <p:cNvSpPr txBox="1"/>
              <p:nvPr/>
            </p:nvSpPr>
            <p:spPr>
              <a:xfrm>
                <a:off x="7430573" y="5731483"/>
                <a:ext cx="60465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5" name="TextBox 24">
                <a:extLst>
                  <a:ext uri="{FF2B5EF4-FFF2-40B4-BE49-F238E27FC236}">
                    <a16:creationId xmlns:a16="http://schemas.microsoft.com/office/drawing/2014/main" id="{0FDBE092-8208-2A93-CF34-0CE46536750E}"/>
                  </a:ext>
                </a:extLst>
              </p:cNvPr>
              <p:cNvSpPr txBox="1">
                <a:spLocks noRot="1" noChangeAspect="1" noMove="1" noResize="1" noEditPoints="1" noAdjustHandles="1" noChangeArrowheads="1" noChangeShapeType="1" noTextEdit="1"/>
              </p:cNvSpPr>
              <p:nvPr/>
            </p:nvSpPr>
            <p:spPr>
              <a:xfrm>
                <a:off x="7430573" y="5731483"/>
                <a:ext cx="604653" cy="307777"/>
              </a:xfrm>
              <a:prstGeom prst="rect">
                <a:avLst/>
              </a:prstGeom>
              <a:blipFill>
                <a:blip r:embed="rId6"/>
                <a:stretch>
                  <a:fillRect b="-13725"/>
                </a:stretch>
              </a:blipFill>
            </p:spPr>
            <p:txBody>
              <a:bodyPr/>
              <a:lstStyle/>
              <a:p>
                <a:r>
                  <a:rPr lang="ko-KR" altLang="en-US">
                    <a:noFill/>
                  </a:rPr>
                  <a:t> </a:t>
                </a:r>
              </a:p>
            </p:txBody>
          </p:sp>
        </mc:Fallback>
      </mc:AlternateContent>
      <p:sp>
        <p:nvSpPr>
          <p:cNvPr id="28" name="타원 27">
            <a:extLst>
              <a:ext uri="{FF2B5EF4-FFF2-40B4-BE49-F238E27FC236}">
                <a16:creationId xmlns:a16="http://schemas.microsoft.com/office/drawing/2014/main" id="{584AB1CB-650F-CAD0-B830-6853F8E5F49D}"/>
              </a:ext>
            </a:extLst>
          </p:cNvPr>
          <p:cNvSpPr/>
          <p:nvPr/>
        </p:nvSpPr>
        <p:spPr>
          <a:xfrm>
            <a:off x="5829305"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400028E2-9A09-E78E-961D-CCE8766E7D1C}"/>
              </a:ext>
            </a:extLst>
          </p:cNvPr>
          <p:cNvSpPr/>
          <p:nvPr/>
        </p:nvSpPr>
        <p:spPr>
          <a:xfrm>
            <a:off x="7038081"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C53AA627-5865-A184-491A-2CC5F821CD47}"/>
              </a:ext>
            </a:extLst>
          </p:cNvPr>
          <p:cNvSpPr/>
          <p:nvPr/>
        </p:nvSpPr>
        <p:spPr>
          <a:xfrm>
            <a:off x="8231285"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45F9D16D-3978-E153-9C8B-D34A408B44DB}"/>
              </a:ext>
            </a:extLst>
          </p:cNvPr>
          <p:cNvSpPr/>
          <p:nvPr/>
        </p:nvSpPr>
        <p:spPr>
          <a:xfrm>
            <a:off x="9424489"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타원 34">
            <a:extLst>
              <a:ext uri="{FF2B5EF4-FFF2-40B4-BE49-F238E27FC236}">
                <a16:creationId xmlns:a16="http://schemas.microsoft.com/office/drawing/2014/main" id="{71D80AA0-3D84-AD13-479E-7FB46C8EB73B}"/>
              </a:ext>
            </a:extLst>
          </p:cNvPr>
          <p:cNvSpPr/>
          <p:nvPr/>
        </p:nvSpPr>
        <p:spPr>
          <a:xfrm>
            <a:off x="10617693"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C8A07FE-8740-E911-40DF-C54F3ADF1150}"/>
                  </a:ext>
                </a:extLst>
              </p:cNvPr>
              <p:cNvSpPr txBox="1"/>
              <p:nvPr/>
            </p:nvSpPr>
            <p:spPr>
              <a:xfrm>
                <a:off x="6217308"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6" name="TextBox 35">
                <a:extLst>
                  <a:ext uri="{FF2B5EF4-FFF2-40B4-BE49-F238E27FC236}">
                    <a16:creationId xmlns:a16="http://schemas.microsoft.com/office/drawing/2014/main" id="{0C8A07FE-8740-E911-40DF-C54F3ADF1150}"/>
                  </a:ext>
                </a:extLst>
              </p:cNvPr>
              <p:cNvSpPr txBox="1">
                <a:spLocks noRot="1" noChangeAspect="1" noMove="1" noResize="1" noEditPoints="1" noAdjustHandles="1" noChangeArrowheads="1" noChangeShapeType="1" noTextEdit="1"/>
              </p:cNvSpPr>
              <p:nvPr/>
            </p:nvSpPr>
            <p:spPr>
              <a:xfrm>
                <a:off x="6217308" y="2484355"/>
                <a:ext cx="600742" cy="307777"/>
              </a:xfrm>
              <a:prstGeom prst="rect">
                <a:avLst/>
              </a:prstGeom>
              <a:blipFill>
                <a:blip r:embed="rId7"/>
                <a:stretch>
                  <a:fillRect l="-4082"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25F812-7D47-B3FC-6CC2-3099816DD2E1}"/>
                  </a:ext>
                </a:extLst>
              </p:cNvPr>
              <p:cNvSpPr txBox="1"/>
              <p:nvPr/>
            </p:nvSpPr>
            <p:spPr>
              <a:xfrm>
                <a:off x="10990121" y="2484355"/>
                <a:ext cx="3554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7" name="TextBox 36">
                <a:extLst>
                  <a:ext uri="{FF2B5EF4-FFF2-40B4-BE49-F238E27FC236}">
                    <a16:creationId xmlns:a16="http://schemas.microsoft.com/office/drawing/2014/main" id="{6425F812-7D47-B3FC-6CC2-3099816DD2E1}"/>
                  </a:ext>
                </a:extLst>
              </p:cNvPr>
              <p:cNvSpPr txBox="1">
                <a:spLocks noRot="1" noChangeAspect="1" noMove="1" noResize="1" noEditPoints="1" noAdjustHandles="1" noChangeArrowheads="1" noChangeShapeType="1" noTextEdit="1"/>
              </p:cNvSpPr>
              <p:nvPr/>
            </p:nvSpPr>
            <p:spPr>
              <a:xfrm>
                <a:off x="10990121" y="2484355"/>
                <a:ext cx="355482" cy="307777"/>
              </a:xfrm>
              <a:prstGeom prst="rect">
                <a:avLst/>
              </a:prstGeom>
              <a:blipFill>
                <a:blip r:embed="rId8"/>
                <a:stretch>
                  <a:fillRect l="-6897"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5DBA5A9-3B90-3090-00FF-7F7DC2CA96CC}"/>
                  </a:ext>
                </a:extLst>
              </p:cNvPr>
              <p:cNvSpPr txBox="1"/>
              <p:nvPr/>
            </p:nvSpPr>
            <p:spPr>
              <a:xfrm>
                <a:off x="9796920"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38" name="TextBox 37">
                <a:extLst>
                  <a:ext uri="{FF2B5EF4-FFF2-40B4-BE49-F238E27FC236}">
                    <a16:creationId xmlns:a16="http://schemas.microsoft.com/office/drawing/2014/main" id="{75DBA5A9-3B90-3090-00FF-7F7DC2CA96CC}"/>
                  </a:ext>
                </a:extLst>
              </p:cNvPr>
              <p:cNvSpPr txBox="1">
                <a:spLocks noRot="1" noChangeAspect="1" noMove="1" noResize="1" noEditPoints="1" noAdjustHandles="1" noChangeArrowheads="1" noChangeShapeType="1" noTextEdit="1"/>
              </p:cNvSpPr>
              <p:nvPr/>
            </p:nvSpPr>
            <p:spPr>
              <a:xfrm>
                <a:off x="9796920" y="2484355"/>
                <a:ext cx="600742" cy="307777"/>
              </a:xfrm>
              <a:prstGeom prst="rect">
                <a:avLst/>
              </a:prstGeom>
              <a:blipFill>
                <a:blip r:embed="rId9"/>
                <a:stretch>
                  <a:fillRect l="-4040"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5FB1648-5A94-7BCE-F2F5-581AB83ED5C7}"/>
                  </a:ext>
                </a:extLst>
              </p:cNvPr>
              <p:cNvSpPr txBox="1"/>
              <p:nvPr/>
            </p:nvSpPr>
            <p:spPr>
              <a:xfrm>
                <a:off x="8603716"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55" name="TextBox 54">
                <a:extLst>
                  <a:ext uri="{FF2B5EF4-FFF2-40B4-BE49-F238E27FC236}">
                    <a16:creationId xmlns:a16="http://schemas.microsoft.com/office/drawing/2014/main" id="{55FB1648-5A94-7BCE-F2F5-581AB83ED5C7}"/>
                  </a:ext>
                </a:extLst>
              </p:cNvPr>
              <p:cNvSpPr txBox="1">
                <a:spLocks noRot="1" noChangeAspect="1" noMove="1" noResize="1" noEditPoints="1" noAdjustHandles="1" noChangeArrowheads="1" noChangeShapeType="1" noTextEdit="1"/>
              </p:cNvSpPr>
              <p:nvPr/>
            </p:nvSpPr>
            <p:spPr>
              <a:xfrm>
                <a:off x="8603716" y="2484355"/>
                <a:ext cx="600742" cy="307777"/>
              </a:xfrm>
              <a:prstGeom prst="rect">
                <a:avLst/>
              </a:prstGeom>
              <a:blipFill>
                <a:blip r:embed="rId10"/>
                <a:stretch>
                  <a:fillRect l="-4040" b="-2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9AD399E-7AAF-2C2D-A614-8F4FEB752EF6}"/>
                  </a:ext>
                </a:extLst>
              </p:cNvPr>
              <p:cNvSpPr txBox="1"/>
              <p:nvPr/>
            </p:nvSpPr>
            <p:spPr>
              <a:xfrm>
                <a:off x="7410512" y="2484355"/>
                <a:ext cx="60074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57" name="TextBox 56">
                <a:extLst>
                  <a:ext uri="{FF2B5EF4-FFF2-40B4-BE49-F238E27FC236}">
                    <a16:creationId xmlns:a16="http://schemas.microsoft.com/office/drawing/2014/main" id="{59AD399E-7AAF-2C2D-A614-8F4FEB752EF6}"/>
                  </a:ext>
                </a:extLst>
              </p:cNvPr>
              <p:cNvSpPr txBox="1">
                <a:spLocks noRot="1" noChangeAspect="1" noMove="1" noResize="1" noEditPoints="1" noAdjustHandles="1" noChangeArrowheads="1" noChangeShapeType="1" noTextEdit="1"/>
              </p:cNvSpPr>
              <p:nvPr/>
            </p:nvSpPr>
            <p:spPr>
              <a:xfrm>
                <a:off x="7410512" y="2484355"/>
                <a:ext cx="600742" cy="307777"/>
              </a:xfrm>
              <a:prstGeom prst="rect">
                <a:avLst/>
              </a:prstGeom>
              <a:blipFill>
                <a:blip r:embed="rId11"/>
                <a:stretch>
                  <a:fillRect l="-4082" b="-26000"/>
                </a:stretch>
              </a:blipFill>
            </p:spPr>
            <p:txBody>
              <a:bodyPr/>
              <a:lstStyle/>
              <a:p>
                <a:r>
                  <a:rPr lang="ko-KR" altLang="en-US">
                    <a:noFill/>
                  </a:rPr>
                  <a:t> </a:t>
                </a:r>
              </a:p>
            </p:txBody>
          </p:sp>
        </mc:Fallback>
      </mc:AlternateContent>
      <p:sp>
        <p:nvSpPr>
          <p:cNvPr id="58" name="타원 57">
            <a:extLst>
              <a:ext uri="{FF2B5EF4-FFF2-40B4-BE49-F238E27FC236}">
                <a16:creationId xmlns:a16="http://schemas.microsoft.com/office/drawing/2014/main" id="{EE9C37D7-9587-0326-8BD2-DF9012FD9D3F}"/>
              </a:ext>
            </a:extLst>
          </p:cNvPr>
          <p:cNvSpPr/>
          <p:nvPr/>
        </p:nvSpPr>
        <p:spPr>
          <a:xfrm>
            <a:off x="5829305"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타원 62">
            <a:extLst>
              <a:ext uri="{FF2B5EF4-FFF2-40B4-BE49-F238E27FC236}">
                <a16:creationId xmlns:a16="http://schemas.microsoft.com/office/drawing/2014/main" id="{FB7C82D8-5E38-6F40-31B5-EC0D12EAF49A}"/>
              </a:ext>
            </a:extLst>
          </p:cNvPr>
          <p:cNvSpPr/>
          <p:nvPr/>
        </p:nvSpPr>
        <p:spPr>
          <a:xfrm>
            <a:off x="10679753"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4" name="타원 1023">
            <a:extLst>
              <a:ext uri="{FF2B5EF4-FFF2-40B4-BE49-F238E27FC236}">
                <a16:creationId xmlns:a16="http://schemas.microsoft.com/office/drawing/2014/main" id="{63705328-C0A6-5068-3FA1-DBF895B2823C}"/>
              </a:ext>
            </a:extLst>
          </p:cNvPr>
          <p:cNvSpPr/>
          <p:nvPr/>
        </p:nvSpPr>
        <p:spPr>
          <a:xfrm>
            <a:off x="7041917"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6" name="타원 1025">
            <a:extLst>
              <a:ext uri="{FF2B5EF4-FFF2-40B4-BE49-F238E27FC236}">
                <a16:creationId xmlns:a16="http://schemas.microsoft.com/office/drawing/2014/main" id="{57E88482-E888-B03C-4C03-0272184CC0AF}"/>
              </a:ext>
            </a:extLst>
          </p:cNvPr>
          <p:cNvSpPr/>
          <p:nvPr/>
        </p:nvSpPr>
        <p:spPr>
          <a:xfrm>
            <a:off x="8254529"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7" name="타원 1026">
            <a:extLst>
              <a:ext uri="{FF2B5EF4-FFF2-40B4-BE49-F238E27FC236}">
                <a16:creationId xmlns:a16="http://schemas.microsoft.com/office/drawing/2014/main" id="{64A87C15-A6E2-27AB-FA0E-9BEBA86BC8B7}"/>
              </a:ext>
            </a:extLst>
          </p:cNvPr>
          <p:cNvSpPr/>
          <p:nvPr/>
        </p:nvSpPr>
        <p:spPr>
          <a:xfrm>
            <a:off x="9467141"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xmlns:a14="http://schemas.microsoft.com/office/drawing/2010/main">
        <mc:Choice Requires="a14">
          <p:sp>
            <p:nvSpPr>
              <p:cNvPr id="1028" name="TextBox 1027">
                <a:extLst>
                  <a:ext uri="{FF2B5EF4-FFF2-40B4-BE49-F238E27FC236}">
                    <a16:creationId xmlns:a16="http://schemas.microsoft.com/office/drawing/2014/main" id="{7CE8BE55-7B5B-2611-ACB6-00D104F81EDB}"/>
                  </a:ext>
                </a:extLst>
              </p:cNvPr>
              <p:cNvSpPr txBox="1"/>
              <p:nvPr/>
            </p:nvSpPr>
            <p:spPr>
              <a:xfrm>
                <a:off x="6205830"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−4</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28" name="TextBox 1027">
                <a:extLst>
                  <a:ext uri="{FF2B5EF4-FFF2-40B4-BE49-F238E27FC236}">
                    <a16:creationId xmlns:a16="http://schemas.microsoft.com/office/drawing/2014/main" id="{7CE8BE55-7B5B-2611-ACB6-00D104F81EDB}"/>
                  </a:ext>
                </a:extLst>
              </p:cNvPr>
              <p:cNvSpPr txBox="1">
                <a:spLocks noRot="1" noChangeAspect="1" noMove="1" noResize="1" noEditPoints="1" noAdjustHandles="1" noChangeArrowheads="1" noChangeShapeType="1" noTextEdit="1"/>
              </p:cNvSpPr>
              <p:nvPr/>
            </p:nvSpPr>
            <p:spPr>
              <a:xfrm>
                <a:off x="6205830" y="4108755"/>
                <a:ext cx="611962" cy="307777"/>
              </a:xfrm>
              <a:prstGeom prst="rect">
                <a:avLst/>
              </a:prstGeom>
              <a:blipFill>
                <a:blip r:embed="rId12"/>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29" name="TextBox 1028">
                <a:extLst>
                  <a:ext uri="{FF2B5EF4-FFF2-40B4-BE49-F238E27FC236}">
                    <a16:creationId xmlns:a16="http://schemas.microsoft.com/office/drawing/2014/main" id="{85A3316E-2181-CC76-72E7-02477E009280}"/>
                  </a:ext>
                </a:extLst>
              </p:cNvPr>
              <p:cNvSpPr txBox="1"/>
              <p:nvPr/>
            </p:nvSpPr>
            <p:spPr>
              <a:xfrm>
                <a:off x="11056278" y="4108755"/>
                <a:ext cx="36670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29" name="TextBox 1028">
                <a:extLst>
                  <a:ext uri="{FF2B5EF4-FFF2-40B4-BE49-F238E27FC236}">
                    <a16:creationId xmlns:a16="http://schemas.microsoft.com/office/drawing/2014/main" id="{85A3316E-2181-CC76-72E7-02477E009280}"/>
                  </a:ext>
                </a:extLst>
              </p:cNvPr>
              <p:cNvSpPr txBox="1">
                <a:spLocks noRot="1" noChangeAspect="1" noMove="1" noResize="1" noEditPoints="1" noAdjustHandles="1" noChangeArrowheads="1" noChangeShapeType="1" noTextEdit="1"/>
              </p:cNvSpPr>
              <p:nvPr/>
            </p:nvSpPr>
            <p:spPr>
              <a:xfrm>
                <a:off x="11056278" y="4108755"/>
                <a:ext cx="366702" cy="307777"/>
              </a:xfrm>
              <a:prstGeom prst="rect">
                <a:avLst/>
              </a:prstGeom>
              <a:blipFill>
                <a:blip r:embed="rId13"/>
                <a:stretch>
                  <a:fillRect l="-6667"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0" name="TextBox 1029">
                <a:extLst>
                  <a:ext uri="{FF2B5EF4-FFF2-40B4-BE49-F238E27FC236}">
                    <a16:creationId xmlns:a16="http://schemas.microsoft.com/office/drawing/2014/main" id="{D4BFA446-9E1C-01E9-68CE-B494F340A983}"/>
                  </a:ext>
                </a:extLst>
              </p:cNvPr>
              <p:cNvSpPr txBox="1"/>
              <p:nvPr/>
            </p:nvSpPr>
            <p:spPr>
              <a:xfrm>
                <a:off x="9843666"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1</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0" name="TextBox 1029">
                <a:extLst>
                  <a:ext uri="{FF2B5EF4-FFF2-40B4-BE49-F238E27FC236}">
                    <a16:creationId xmlns:a16="http://schemas.microsoft.com/office/drawing/2014/main" id="{D4BFA446-9E1C-01E9-68CE-B494F340A983}"/>
                  </a:ext>
                </a:extLst>
              </p:cNvPr>
              <p:cNvSpPr txBox="1">
                <a:spLocks noRot="1" noChangeAspect="1" noMove="1" noResize="1" noEditPoints="1" noAdjustHandles="1" noChangeArrowheads="1" noChangeShapeType="1" noTextEdit="1"/>
              </p:cNvSpPr>
              <p:nvPr/>
            </p:nvSpPr>
            <p:spPr>
              <a:xfrm>
                <a:off x="9843666" y="4108755"/>
                <a:ext cx="611962" cy="307777"/>
              </a:xfrm>
              <a:prstGeom prst="rect">
                <a:avLst/>
              </a:prstGeom>
              <a:blipFill>
                <a:blip r:embed="rId14"/>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1" name="TextBox 1030">
                <a:extLst>
                  <a:ext uri="{FF2B5EF4-FFF2-40B4-BE49-F238E27FC236}">
                    <a16:creationId xmlns:a16="http://schemas.microsoft.com/office/drawing/2014/main" id="{2833209B-8B34-A744-0368-8E7C0B85F259}"/>
                  </a:ext>
                </a:extLst>
              </p:cNvPr>
              <p:cNvSpPr txBox="1"/>
              <p:nvPr/>
            </p:nvSpPr>
            <p:spPr>
              <a:xfrm>
                <a:off x="8631054"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2</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1" name="TextBox 1030">
                <a:extLst>
                  <a:ext uri="{FF2B5EF4-FFF2-40B4-BE49-F238E27FC236}">
                    <a16:creationId xmlns:a16="http://schemas.microsoft.com/office/drawing/2014/main" id="{2833209B-8B34-A744-0368-8E7C0B85F259}"/>
                  </a:ext>
                </a:extLst>
              </p:cNvPr>
              <p:cNvSpPr txBox="1">
                <a:spLocks noRot="1" noChangeAspect="1" noMove="1" noResize="1" noEditPoints="1" noAdjustHandles="1" noChangeArrowheads="1" noChangeShapeType="1" noTextEdit="1"/>
              </p:cNvSpPr>
              <p:nvPr/>
            </p:nvSpPr>
            <p:spPr>
              <a:xfrm>
                <a:off x="8631054" y="4108755"/>
                <a:ext cx="611962" cy="307777"/>
              </a:xfrm>
              <a:prstGeom prst="rect">
                <a:avLst/>
              </a:prstGeom>
              <a:blipFill>
                <a:blip r:embed="rId15"/>
                <a:stretch>
                  <a:fillRect l="-4000" b="-16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32" name="TextBox 1031">
                <a:extLst>
                  <a:ext uri="{FF2B5EF4-FFF2-40B4-BE49-F238E27FC236}">
                    <a16:creationId xmlns:a16="http://schemas.microsoft.com/office/drawing/2014/main" id="{EA2E3B98-3B60-99F1-FA1C-48D1BF6A3BFF}"/>
                  </a:ext>
                </a:extLst>
              </p:cNvPr>
              <p:cNvSpPr txBox="1"/>
              <p:nvPr/>
            </p:nvSpPr>
            <p:spPr>
              <a:xfrm>
                <a:off x="7418442" y="4108755"/>
                <a:ext cx="6119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r>
                            <a:rPr lang="ko-KR" altLang="en-US" sz="2000" i="0">
                              <a:latin typeface="Cambria Math" panose="02040503050406030204" pitchFamily="18" charset="0"/>
                            </a:rPr>
                            <m:t>−</m:t>
                          </m:r>
                          <m:r>
                            <a:rPr lang="en-US" altLang="ko-KR" sz="2000" b="0" i="1" smtClean="0">
                              <a:latin typeface="Cambria Math" panose="02040503050406030204" pitchFamily="18" charset="0"/>
                            </a:rPr>
                            <m:t>3</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032" name="TextBox 1031">
                <a:extLst>
                  <a:ext uri="{FF2B5EF4-FFF2-40B4-BE49-F238E27FC236}">
                    <a16:creationId xmlns:a16="http://schemas.microsoft.com/office/drawing/2014/main" id="{EA2E3B98-3B60-99F1-FA1C-48D1BF6A3BFF}"/>
                  </a:ext>
                </a:extLst>
              </p:cNvPr>
              <p:cNvSpPr txBox="1">
                <a:spLocks noRot="1" noChangeAspect="1" noMove="1" noResize="1" noEditPoints="1" noAdjustHandles="1" noChangeArrowheads="1" noChangeShapeType="1" noTextEdit="1"/>
              </p:cNvSpPr>
              <p:nvPr/>
            </p:nvSpPr>
            <p:spPr>
              <a:xfrm>
                <a:off x="7418442" y="4108755"/>
                <a:ext cx="611962" cy="307777"/>
              </a:xfrm>
              <a:prstGeom prst="rect">
                <a:avLst/>
              </a:prstGeom>
              <a:blipFill>
                <a:blip r:embed="rId16"/>
                <a:stretch>
                  <a:fillRect l="-4000" b="-16000"/>
                </a:stretch>
              </a:blipFill>
            </p:spPr>
            <p:txBody>
              <a:bodyPr/>
              <a:lstStyle/>
              <a:p>
                <a:r>
                  <a:rPr lang="ko-KR" altLang="en-US">
                    <a:noFill/>
                  </a:rPr>
                  <a:t> </a:t>
                </a:r>
              </a:p>
            </p:txBody>
          </p:sp>
        </mc:Fallback>
      </mc:AlternateContent>
      <p:cxnSp>
        <p:nvCxnSpPr>
          <p:cNvPr id="1034" name="직선 화살표 연결선 1033">
            <a:extLst>
              <a:ext uri="{FF2B5EF4-FFF2-40B4-BE49-F238E27FC236}">
                <a16:creationId xmlns:a16="http://schemas.microsoft.com/office/drawing/2014/main" id="{E66B8A17-22E5-B202-1E74-9D982E1EAFC6}"/>
              </a:ext>
            </a:extLst>
          </p:cNvPr>
          <p:cNvCxnSpPr>
            <a:cxnSpLocks/>
            <a:stCxn id="5" idx="0"/>
            <a:endCxn id="58" idx="4"/>
          </p:cNvCxnSpPr>
          <p:nvPr/>
        </p:nvCxnSpPr>
        <p:spPr>
          <a:xfrm flipV="1">
            <a:off x="6067430" y="4195075"/>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7" name="직선 화살표 연결선 1036">
            <a:extLst>
              <a:ext uri="{FF2B5EF4-FFF2-40B4-BE49-F238E27FC236}">
                <a16:creationId xmlns:a16="http://schemas.microsoft.com/office/drawing/2014/main" id="{1C2C1E9D-EA3E-2E30-C1D8-074C6862CD2A}"/>
              </a:ext>
            </a:extLst>
          </p:cNvPr>
          <p:cNvCxnSpPr>
            <a:cxnSpLocks/>
            <a:stCxn id="58" idx="0"/>
            <a:endCxn id="28" idx="4"/>
          </p:cNvCxnSpPr>
          <p:nvPr/>
        </p:nvCxnSpPr>
        <p:spPr>
          <a:xfrm flipV="1">
            <a:off x="6067430" y="2523436"/>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직선 화살표 연결선 1039">
            <a:extLst>
              <a:ext uri="{FF2B5EF4-FFF2-40B4-BE49-F238E27FC236}">
                <a16:creationId xmlns:a16="http://schemas.microsoft.com/office/drawing/2014/main" id="{999B23DE-BFC8-1B9C-EAB2-349FFA608F69}"/>
              </a:ext>
            </a:extLst>
          </p:cNvPr>
          <p:cNvCxnSpPr>
            <a:cxnSpLocks/>
          </p:cNvCxnSpPr>
          <p:nvPr/>
        </p:nvCxnSpPr>
        <p:spPr>
          <a:xfrm flipV="1">
            <a:off x="7277105" y="4201425"/>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1" name="직선 화살표 연결선 1040">
            <a:extLst>
              <a:ext uri="{FF2B5EF4-FFF2-40B4-BE49-F238E27FC236}">
                <a16:creationId xmlns:a16="http://schemas.microsoft.com/office/drawing/2014/main" id="{C61191E9-1770-9E52-9C5C-25A8665358D1}"/>
              </a:ext>
            </a:extLst>
          </p:cNvPr>
          <p:cNvCxnSpPr>
            <a:cxnSpLocks/>
          </p:cNvCxnSpPr>
          <p:nvPr/>
        </p:nvCxnSpPr>
        <p:spPr>
          <a:xfrm flipV="1">
            <a:off x="7277105" y="2529786"/>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2" name="직선 화살표 연결선 1041">
            <a:extLst>
              <a:ext uri="{FF2B5EF4-FFF2-40B4-BE49-F238E27FC236}">
                <a16:creationId xmlns:a16="http://schemas.microsoft.com/office/drawing/2014/main" id="{3A3F741F-3AE7-54AF-038C-39BDEC12B4C4}"/>
              </a:ext>
            </a:extLst>
          </p:cNvPr>
          <p:cNvCxnSpPr>
            <a:cxnSpLocks/>
          </p:cNvCxnSpPr>
          <p:nvPr/>
        </p:nvCxnSpPr>
        <p:spPr>
          <a:xfrm flipV="1">
            <a:off x="8486780"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직선 화살표 연결선 1042">
            <a:extLst>
              <a:ext uri="{FF2B5EF4-FFF2-40B4-BE49-F238E27FC236}">
                <a16:creationId xmlns:a16="http://schemas.microsoft.com/office/drawing/2014/main" id="{014218B6-FBE3-FB00-5786-33FD395E43AF}"/>
              </a:ext>
            </a:extLst>
          </p:cNvPr>
          <p:cNvCxnSpPr>
            <a:cxnSpLocks/>
          </p:cNvCxnSpPr>
          <p:nvPr/>
        </p:nvCxnSpPr>
        <p:spPr>
          <a:xfrm flipV="1">
            <a:off x="8486780"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4" name="직선 화살표 연결선 1043">
            <a:extLst>
              <a:ext uri="{FF2B5EF4-FFF2-40B4-BE49-F238E27FC236}">
                <a16:creationId xmlns:a16="http://schemas.microsoft.com/office/drawing/2014/main" id="{E7E81F9B-BBC5-7BCB-2E81-189378B6994E}"/>
              </a:ext>
            </a:extLst>
          </p:cNvPr>
          <p:cNvCxnSpPr>
            <a:cxnSpLocks/>
          </p:cNvCxnSpPr>
          <p:nvPr/>
        </p:nvCxnSpPr>
        <p:spPr>
          <a:xfrm flipV="1">
            <a:off x="9677405"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5" name="직선 화살표 연결선 1044">
            <a:extLst>
              <a:ext uri="{FF2B5EF4-FFF2-40B4-BE49-F238E27FC236}">
                <a16:creationId xmlns:a16="http://schemas.microsoft.com/office/drawing/2014/main" id="{3B8972BF-A814-02A9-9237-4E846D7DED81}"/>
              </a:ext>
            </a:extLst>
          </p:cNvPr>
          <p:cNvCxnSpPr>
            <a:cxnSpLocks/>
          </p:cNvCxnSpPr>
          <p:nvPr/>
        </p:nvCxnSpPr>
        <p:spPr>
          <a:xfrm flipV="1">
            <a:off x="9677405"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6" name="직선 화살표 연결선 1045">
            <a:extLst>
              <a:ext uri="{FF2B5EF4-FFF2-40B4-BE49-F238E27FC236}">
                <a16:creationId xmlns:a16="http://schemas.microsoft.com/office/drawing/2014/main" id="{14C11647-E06B-8639-6EED-DE0292B267E9}"/>
              </a:ext>
            </a:extLst>
          </p:cNvPr>
          <p:cNvCxnSpPr>
            <a:cxnSpLocks/>
          </p:cNvCxnSpPr>
          <p:nvPr/>
        </p:nvCxnSpPr>
        <p:spPr>
          <a:xfrm flipV="1">
            <a:off x="10924657" y="4225853"/>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7" name="직선 화살표 연결선 1046">
            <a:extLst>
              <a:ext uri="{FF2B5EF4-FFF2-40B4-BE49-F238E27FC236}">
                <a16:creationId xmlns:a16="http://schemas.microsoft.com/office/drawing/2014/main" id="{40E0C6F2-5C82-F5C1-4C95-8185505DE7B7}"/>
              </a:ext>
            </a:extLst>
          </p:cNvPr>
          <p:cNvCxnSpPr>
            <a:cxnSpLocks/>
          </p:cNvCxnSpPr>
          <p:nvPr/>
        </p:nvCxnSpPr>
        <p:spPr>
          <a:xfrm flipV="1">
            <a:off x="10924657" y="2554214"/>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9" name="직선 화살표 연결선 1048">
            <a:extLst>
              <a:ext uri="{FF2B5EF4-FFF2-40B4-BE49-F238E27FC236}">
                <a16:creationId xmlns:a16="http://schemas.microsoft.com/office/drawing/2014/main" id="{BBDEE114-EF43-4BCA-CF15-B02635A26C2F}"/>
              </a:ext>
            </a:extLst>
          </p:cNvPr>
          <p:cNvCxnSpPr>
            <a:stCxn id="58" idx="6"/>
            <a:endCxn id="1024" idx="2"/>
          </p:cNvCxnSpPr>
          <p:nvPr/>
        </p:nvCxnSpPr>
        <p:spPr>
          <a:xfrm>
            <a:off x="6305555"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0" name="직선 화살표 연결선 1049">
            <a:extLst>
              <a:ext uri="{FF2B5EF4-FFF2-40B4-BE49-F238E27FC236}">
                <a16:creationId xmlns:a16="http://schemas.microsoft.com/office/drawing/2014/main" id="{FC5464EC-DA80-017A-9F59-164D2FD56545}"/>
              </a:ext>
            </a:extLst>
          </p:cNvPr>
          <p:cNvCxnSpPr/>
          <p:nvPr/>
        </p:nvCxnSpPr>
        <p:spPr>
          <a:xfrm>
            <a:off x="7544634"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1" name="직선 화살표 연결선 1050">
            <a:extLst>
              <a:ext uri="{FF2B5EF4-FFF2-40B4-BE49-F238E27FC236}">
                <a16:creationId xmlns:a16="http://schemas.microsoft.com/office/drawing/2014/main" id="{442023AD-83F3-A5CF-E52A-D5AA6FD41E2D}"/>
              </a:ext>
            </a:extLst>
          </p:cNvPr>
          <p:cNvCxnSpPr>
            <a:cxnSpLocks/>
            <a:stCxn id="1026" idx="6"/>
            <a:endCxn id="1027" idx="2"/>
          </p:cNvCxnSpPr>
          <p:nvPr/>
        </p:nvCxnSpPr>
        <p:spPr>
          <a:xfrm>
            <a:off x="8730779"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2" name="직선 화살표 연결선 1051">
            <a:extLst>
              <a:ext uri="{FF2B5EF4-FFF2-40B4-BE49-F238E27FC236}">
                <a16:creationId xmlns:a16="http://schemas.microsoft.com/office/drawing/2014/main" id="{3CF30E70-F69A-63D3-58EB-A5EABE235102}"/>
              </a:ext>
            </a:extLst>
          </p:cNvPr>
          <p:cNvCxnSpPr>
            <a:cxnSpLocks/>
            <a:stCxn id="1027" idx="6"/>
            <a:endCxn id="63" idx="2"/>
          </p:cNvCxnSpPr>
          <p:nvPr/>
        </p:nvCxnSpPr>
        <p:spPr>
          <a:xfrm>
            <a:off x="9943391" y="3956950"/>
            <a:ext cx="73636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57" name="같음 기호 1056">
            <a:extLst>
              <a:ext uri="{FF2B5EF4-FFF2-40B4-BE49-F238E27FC236}">
                <a16:creationId xmlns:a16="http://schemas.microsoft.com/office/drawing/2014/main" id="{8814FB01-3408-CB06-37A5-D126625D59AC}"/>
              </a:ext>
            </a:extLst>
          </p:cNvPr>
          <p:cNvSpPr/>
          <p:nvPr/>
        </p:nvSpPr>
        <p:spPr>
          <a:xfrm>
            <a:off x="4629078" y="3739409"/>
            <a:ext cx="647130" cy="406505"/>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solidFill>
                <a:schemeClr val="tx1"/>
              </a:solidFill>
            </a:endParaRPr>
          </a:p>
        </p:txBody>
      </p:sp>
      <p:sp>
        <p:nvSpPr>
          <p:cNvPr id="15" name="타원 14">
            <a:extLst>
              <a:ext uri="{FF2B5EF4-FFF2-40B4-BE49-F238E27FC236}">
                <a16:creationId xmlns:a16="http://schemas.microsoft.com/office/drawing/2014/main" id="{D8472572-4AA2-4DE1-D0A8-D9C356DA6DE2}"/>
              </a:ext>
            </a:extLst>
          </p:cNvPr>
          <p:cNvSpPr/>
          <p:nvPr/>
        </p:nvSpPr>
        <p:spPr>
          <a:xfrm>
            <a:off x="1731920" y="5302535"/>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B66168D-8021-AB18-D2E0-8E53233B0FD5}"/>
                  </a:ext>
                </a:extLst>
              </p:cNvPr>
              <p:cNvSpPr txBox="1"/>
              <p:nvPr/>
            </p:nvSpPr>
            <p:spPr>
              <a:xfrm>
                <a:off x="2146673" y="5731483"/>
                <a:ext cx="35939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17" name="TextBox 16">
                <a:extLst>
                  <a:ext uri="{FF2B5EF4-FFF2-40B4-BE49-F238E27FC236}">
                    <a16:creationId xmlns:a16="http://schemas.microsoft.com/office/drawing/2014/main" id="{CB66168D-8021-AB18-D2E0-8E53233B0FD5}"/>
                  </a:ext>
                </a:extLst>
              </p:cNvPr>
              <p:cNvSpPr txBox="1">
                <a:spLocks noRot="1" noChangeAspect="1" noMove="1" noResize="1" noEditPoints="1" noAdjustHandles="1" noChangeArrowheads="1" noChangeShapeType="1" noTextEdit="1"/>
              </p:cNvSpPr>
              <p:nvPr/>
            </p:nvSpPr>
            <p:spPr>
              <a:xfrm>
                <a:off x="2146673" y="5731483"/>
                <a:ext cx="359393" cy="307777"/>
              </a:xfrm>
              <a:prstGeom prst="rect">
                <a:avLst/>
              </a:prstGeom>
              <a:blipFill>
                <a:blip r:embed="rId17"/>
                <a:stretch>
                  <a:fillRect b="-13725"/>
                </a:stretch>
              </a:blipFill>
            </p:spPr>
            <p:txBody>
              <a:bodyPr/>
              <a:lstStyle/>
              <a:p>
                <a:r>
                  <a:rPr lang="ko-KR" altLang="en-US">
                    <a:noFill/>
                  </a:rPr>
                  <a:t> </a:t>
                </a:r>
              </a:p>
            </p:txBody>
          </p:sp>
        </mc:Fallback>
      </mc:AlternateContent>
      <p:sp>
        <p:nvSpPr>
          <p:cNvPr id="19" name="타원 18">
            <a:extLst>
              <a:ext uri="{FF2B5EF4-FFF2-40B4-BE49-F238E27FC236}">
                <a16:creationId xmlns:a16="http://schemas.microsoft.com/office/drawing/2014/main" id="{34D1B8B6-AC76-544E-2F26-E69C483A8B0C}"/>
              </a:ext>
            </a:extLst>
          </p:cNvPr>
          <p:cNvSpPr/>
          <p:nvPr/>
        </p:nvSpPr>
        <p:spPr>
          <a:xfrm>
            <a:off x="1731920" y="2047186"/>
            <a:ext cx="476250" cy="4762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962A252-142F-ABDB-53ED-9C3FBB520410}"/>
                  </a:ext>
                </a:extLst>
              </p:cNvPr>
              <p:cNvSpPr txBox="1"/>
              <p:nvPr/>
            </p:nvSpPr>
            <p:spPr>
              <a:xfrm>
                <a:off x="2119923" y="2484355"/>
                <a:ext cx="3554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y</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3" name="TextBox 22">
                <a:extLst>
                  <a:ext uri="{FF2B5EF4-FFF2-40B4-BE49-F238E27FC236}">
                    <a16:creationId xmlns:a16="http://schemas.microsoft.com/office/drawing/2014/main" id="{7962A252-142F-ABDB-53ED-9C3FBB520410}"/>
                  </a:ext>
                </a:extLst>
              </p:cNvPr>
              <p:cNvSpPr txBox="1">
                <a:spLocks noRot="1" noChangeAspect="1" noMove="1" noResize="1" noEditPoints="1" noAdjustHandles="1" noChangeArrowheads="1" noChangeShapeType="1" noTextEdit="1"/>
              </p:cNvSpPr>
              <p:nvPr/>
            </p:nvSpPr>
            <p:spPr>
              <a:xfrm>
                <a:off x="2119923" y="2484355"/>
                <a:ext cx="355482" cy="307777"/>
              </a:xfrm>
              <a:prstGeom prst="rect">
                <a:avLst/>
              </a:prstGeom>
              <a:blipFill>
                <a:blip r:embed="rId18"/>
                <a:stretch>
                  <a:fillRect l="-6897" b="-26000"/>
                </a:stretch>
              </a:blipFill>
            </p:spPr>
            <p:txBody>
              <a:bodyPr/>
              <a:lstStyle/>
              <a:p>
                <a:r>
                  <a:rPr lang="ko-KR" altLang="en-US">
                    <a:noFill/>
                  </a:rPr>
                  <a:t> </a:t>
                </a:r>
              </a:p>
            </p:txBody>
          </p:sp>
        </mc:Fallback>
      </mc:AlternateContent>
      <p:sp>
        <p:nvSpPr>
          <p:cNvPr id="24" name="타원 23">
            <a:extLst>
              <a:ext uri="{FF2B5EF4-FFF2-40B4-BE49-F238E27FC236}">
                <a16:creationId xmlns:a16="http://schemas.microsoft.com/office/drawing/2014/main" id="{5EB97A29-7753-32D7-786B-55C505AFCF0A}"/>
              </a:ext>
            </a:extLst>
          </p:cNvPr>
          <p:cNvSpPr/>
          <p:nvPr/>
        </p:nvSpPr>
        <p:spPr>
          <a:xfrm>
            <a:off x="1731920" y="3718825"/>
            <a:ext cx="476250" cy="4762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96F1F25-7897-F573-EF35-0A4BB1E494F4}"/>
                  </a:ext>
                </a:extLst>
              </p:cNvPr>
              <p:cNvSpPr txBox="1"/>
              <p:nvPr/>
            </p:nvSpPr>
            <p:spPr>
              <a:xfrm>
                <a:off x="2059719" y="4287372"/>
                <a:ext cx="36670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m:rPr>
                              <m:sty m:val="p"/>
                            </m:rPr>
                            <a:rPr lang="en-US" altLang="ko-KR" sz="2000" b="0" i="1" smtClean="0">
                              <a:latin typeface="Cambria Math" panose="02040503050406030204" pitchFamily="18" charset="0"/>
                            </a:rPr>
                            <m:t>h</m:t>
                          </m:r>
                        </m:e>
                        <m:sub>
                          <m:r>
                            <a:rPr lang="ko-KR" altLang="en-US" sz="2000" i="1">
                              <a:latin typeface="Cambria Math" panose="02040503050406030204" pitchFamily="18" charset="0"/>
                            </a:rPr>
                            <m:t>𝑡</m:t>
                          </m:r>
                        </m:sub>
                      </m:sSub>
                    </m:oMath>
                  </m:oMathPara>
                </a14:m>
                <a:endParaRPr lang="ko-KR" altLang="en-US" sz="2000" dirty="0">
                  <a:latin typeface="D2Coding" panose="020B0609020101020101" pitchFamily="49" charset="-127"/>
                  <a:ea typeface="D2Coding" panose="020B0609020101020101" pitchFamily="49" charset="-127"/>
                </a:endParaRPr>
              </a:p>
            </p:txBody>
          </p:sp>
        </mc:Choice>
        <mc:Fallback xmlns="">
          <p:sp>
            <p:nvSpPr>
              <p:cNvPr id="26" name="TextBox 25">
                <a:extLst>
                  <a:ext uri="{FF2B5EF4-FFF2-40B4-BE49-F238E27FC236}">
                    <a16:creationId xmlns:a16="http://schemas.microsoft.com/office/drawing/2014/main" id="{196F1F25-7897-F573-EF35-0A4BB1E494F4}"/>
                  </a:ext>
                </a:extLst>
              </p:cNvPr>
              <p:cNvSpPr txBox="1">
                <a:spLocks noRot="1" noChangeAspect="1" noMove="1" noResize="1" noEditPoints="1" noAdjustHandles="1" noChangeArrowheads="1" noChangeShapeType="1" noTextEdit="1"/>
              </p:cNvSpPr>
              <p:nvPr/>
            </p:nvSpPr>
            <p:spPr>
              <a:xfrm>
                <a:off x="2059719" y="4287372"/>
                <a:ext cx="366703" cy="307777"/>
              </a:xfrm>
              <a:prstGeom prst="rect">
                <a:avLst/>
              </a:prstGeom>
              <a:blipFill>
                <a:blip r:embed="rId19"/>
                <a:stretch>
                  <a:fillRect l="-6667" b="-13725"/>
                </a:stretch>
              </a:blipFill>
            </p:spPr>
            <p:txBody>
              <a:bodyPr/>
              <a:lstStyle/>
              <a:p>
                <a:r>
                  <a:rPr lang="ko-KR" altLang="en-US">
                    <a:noFill/>
                  </a:rPr>
                  <a:t> </a:t>
                </a:r>
              </a:p>
            </p:txBody>
          </p:sp>
        </mc:Fallback>
      </mc:AlternateContent>
      <p:cxnSp>
        <p:nvCxnSpPr>
          <p:cNvPr id="27" name="직선 화살표 연결선 26">
            <a:extLst>
              <a:ext uri="{FF2B5EF4-FFF2-40B4-BE49-F238E27FC236}">
                <a16:creationId xmlns:a16="http://schemas.microsoft.com/office/drawing/2014/main" id="{30E0D547-4E06-D45C-704B-235745B86FE2}"/>
              </a:ext>
            </a:extLst>
          </p:cNvPr>
          <p:cNvCxnSpPr>
            <a:cxnSpLocks/>
            <a:stCxn id="15" idx="0"/>
            <a:endCxn id="24" idx="4"/>
          </p:cNvCxnSpPr>
          <p:nvPr/>
        </p:nvCxnSpPr>
        <p:spPr>
          <a:xfrm flipV="1">
            <a:off x="1970045" y="4195075"/>
            <a:ext cx="0" cy="110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F7193177-BB4B-AC66-4E1F-C60BF6C042B6}"/>
              </a:ext>
            </a:extLst>
          </p:cNvPr>
          <p:cNvCxnSpPr>
            <a:cxnSpLocks/>
            <a:stCxn id="24" idx="0"/>
            <a:endCxn id="19" idx="4"/>
          </p:cNvCxnSpPr>
          <p:nvPr/>
        </p:nvCxnSpPr>
        <p:spPr>
          <a:xfrm flipV="1">
            <a:off x="1970045" y="2523436"/>
            <a:ext cx="0" cy="119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연결선: 구부러짐 58">
            <a:extLst>
              <a:ext uri="{FF2B5EF4-FFF2-40B4-BE49-F238E27FC236}">
                <a16:creationId xmlns:a16="http://schemas.microsoft.com/office/drawing/2014/main" id="{D2BDA211-30A1-CCD7-CA64-E62D3025667B}"/>
              </a:ext>
            </a:extLst>
          </p:cNvPr>
          <p:cNvCxnSpPr>
            <a:cxnSpLocks/>
            <a:stCxn id="24" idx="5"/>
            <a:endCxn id="24" idx="7"/>
          </p:cNvCxnSpPr>
          <p:nvPr/>
        </p:nvCxnSpPr>
        <p:spPr>
          <a:xfrm rot="5400000" flipH="1">
            <a:off x="1970045" y="3956950"/>
            <a:ext cx="336760" cy="12700"/>
          </a:xfrm>
          <a:prstGeom prst="curvedConnector5">
            <a:avLst>
              <a:gd name="adj1" fmla="val -67882"/>
              <a:gd name="adj2" fmla="val -8900827"/>
              <a:gd name="adj3" fmla="val 16788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846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E28F8-30D6-EE0C-AD4D-3720D804185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028BB7D-FB7D-3D9C-7C18-B5CA95794DFE}"/>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TextBox 3">
            <a:extLst>
              <a:ext uri="{FF2B5EF4-FFF2-40B4-BE49-F238E27FC236}">
                <a16:creationId xmlns:a16="http://schemas.microsoft.com/office/drawing/2014/main" id="{A74C0683-66EA-F2A5-E6BF-99FE0DA95CC9}"/>
              </a:ext>
            </a:extLst>
          </p:cNvPr>
          <p:cNvSpPr txBox="1"/>
          <p:nvPr/>
        </p:nvSpPr>
        <p:spPr>
          <a:xfrm>
            <a:off x="551844" y="1207217"/>
            <a:ext cx="11125805" cy="880819"/>
          </a:xfrm>
          <a:prstGeom prst="rect">
            <a:avLst/>
          </a:prstGeom>
          <a:noFill/>
        </p:spPr>
        <p:txBody>
          <a:bodyPr wrap="square">
            <a:spAutoFit/>
          </a:bodyPr>
          <a:lstStyle/>
          <a:p>
            <a:pPr>
              <a:lnSpc>
                <a:spcPct val="150000"/>
              </a:lnSpc>
            </a:pPr>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은 사람이 문장을 읽을 때 단어 하나하나를 보면서도</a:t>
            </a:r>
            <a:r>
              <a:rPr lang="en-US" altLang="ko-KR" dirty="0">
                <a:latin typeface="D2Coding" panose="020B0609020101020101" pitchFamily="49" charset="-127"/>
                <a:ea typeface="D2Coding" panose="020B0609020101020101" pitchFamily="49" charset="-127"/>
              </a:rPr>
              <a:t>(Sequence)</a:t>
            </a:r>
            <a:r>
              <a:rPr lang="ko-KR" altLang="en-US" dirty="0">
                <a:latin typeface="D2Coding" panose="020B0609020101020101" pitchFamily="49" charset="-127"/>
                <a:ea typeface="D2Coding" panose="020B0609020101020101" pitchFamily="49" charset="-127"/>
              </a:rPr>
              <a:t> 앞 단어들의 맥락을 계속 기억하는 것과 비슷한 구조</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돌림 노래</a:t>
            </a:r>
            <a:r>
              <a:rPr lang="en-US" altLang="ko-KR" dirty="0">
                <a:latin typeface="D2Coding" panose="020B0609020101020101" pitchFamily="49" charset="-127"/>
                <a:ea typeface="D2Coding" panose="020B0609020101020101" pitchFamily="49" charset="-127"/>
              </a:rPr>
              <a:t>)</a:t>
            </a:r>
            <a:endParaRPr lang="ko-KR" altLang="en-US" dirty="0">
              <a:latin typeface="D2Coding" panose="020B0609020101020101" pitchFamily="49" charset="-127"/>
              <a:ea typeface="D2Coding" panose="020B0609020101020101" pitchFamily="49" charset="-127"/>
            </a:endParaRPr>
          </a:p>
        </p:txBody>
      </p:sp>
      <p:sp>
        <p:nvSpPr>
          <p:cNvPr id="8" name="TextBox 7">
            <a:extLst>
              <a:ext uri="{FF2B5EF4-FFF2-40B4-BE49-F238E27FC236}">
                <a16:creationId xmlns:a16="http://schemas.microsoft.com/office/drawing/2014/main" id="{6E6A316E-DB75-8B18-216D-F7057789E7AE}"/>
              </a:ext>
            </a:extLst>
          </p:cNvPr>
          <p:cNvSpPr txBox="1"/>
          <p:nvPr/>
        </p:nvSpPr>
        <p:spPr>
          <a:xfrm>
            <a:off x="2333625" y="2680716"/>
            <a:ext cx="7086600" cy="1815882"/>
          </a:xfrm>
          <a:prstGeom prst="rect">
            <a:avLst/>
          </a:prstGeom>
          <a:solidFill>
            <a:srgbClr val="76E3FF"/>
          </a:solidFill>
          <a:ln>
            <a:solidFill>
              <a:schemeClr val="tx1"/>
            </a:solidFill>
          </a:ln>
        </p:spPr>
        <p:txBody>
          <a:bodyPr wrap="square">
            <a:spAutoFit/>
          </a:bodyPr>
          <a:lstStyle/>
          <a:p>
            <a:pPr algn="l" latinLnBrk="0">
              <a:buNone/>
            </a:pPr>
            <a:r>
              <a:rPr lang="en-US" altLang="ko-KR" sz="1600" b="0" i="0" dirty="0">
                <a:solidFill>
                  <a:srgbClr val="708090"/>
                </a:solidFill>
                <a:effectLst/>
                <a:latin typeface="D2Coding" panose="020B0609020101020101" pitchFamily="49" charset="-127"/>
                <a:ea typeface="D2Coding" panose="020B0609020101020101" pitchFamily="49" charset="-127"/>
              </a:rPr>
              <a:t># The state at t</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90055"/>
                </a:solidFill>
                <a:effectLst/>
                <a:latin typeface="D2Coding" panose="020B0609020101020101" pitchFamily="49" charset="-127"/>
                <a:ea typeface="D2Coding" panose="020B0609020101020101" pitchFamily="49" charset="-127"/>
              </a:rPr>
              <a:t>0</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708090"/>
                </a:solidFill>
                <a:effectLst/>
                <a:latin typeface="D2Coding" panose="020B0609020101020101" pitchFamily="49" charset="-127"/>
                <a:ea typeface="D2Coding" panose="020B0609020101020101" pitchFamily="49" charset="-127"/>
              </a:rPr>
              <a:t># Iterates over sequence elements</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0077AA"/>
                </a:solidFill>
                <a:effectLst/>
                <a:latin typeface="D2Coding" panose="020B0609020101020101" pitchFamily="49" charset="-127"/>
                <a:ea typeface="D2Coding" panose="020B0609020101020101" pitchFamily="49" charset="-127"/>
              </a:rPr>
              <a:t>for</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input_t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0077AA"/>
                </a:solidFill>
                <a:effectLst/>
                <a:latin typeface="D2Coding" panose="020B0609020101020101" pitchFamily="49" charset="-127"/>
                <a:ea typeface="D2Coding" panose="020B0609020101020101" pitchFamily="49" charset="-127"/>
              </a:rPr>
              <a:t>in</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input_sequence</a:t>
            </a:r>
            <a:r>
              <a:rPr lang="en-US" altLang="ko-KR" sz="1600" b="0" i="0" dirty="0">
                <a:solidFill>
                  <a:srgbClr val="999999"/>
                </a:solidFill>
                <a:effectLst/>
                <a:latin typeface="D2Coding" panose="020B0609020101020101" pitchFamily="49" charset="-127"/>
                <a:ea typeface="D2Coding" panose="020B0609020101020101" pitchFamily="49" charset="-127"/>
              </a:rPr>
              <a:t>:</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output_t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f</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err="1">
                <a:solidFill>
                  <a:srgbClr val="000000"/>
                </a:solidFill>
                <a:effectLst/>
                <a:latin typeface="D2Coding" panose="020B0609020101020101" pitchFamily="49" charset="-127"/>
                <a:ea typeface="D2Coding" panose="020B0609020101020101" pitchFamily="49" charset="-127"/>
              </a:rPr>
              <a:t>input_t</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999999"/>
                </a:solidFill>
                <a:effectLst/>
                <a:latin typeface="D2Coding" panose="020B0609020101020101" pitchFamily="49" charset="-127"/>
                <a:ea typeface="D2Coding" panose="020B0609020101020101" pitchFamily="49" charset="-127"/>
              </a:rPr>
              <a:t>)</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708090"/>
                </a:solidFill>
                <a:effectLst/>
                <a:latin typeface="D2Coding" panose="020B0609020101020101" pitchFamily="49" charset="-127"/>
                <a:ea typeface="D2Coding" panose="020B0609020101020101" pitchFamily="49" charset="-127"/>
              </a:rPr>
              <a:t># The previous output becomes the state for the next iteration.</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a:buNone/>
            </a:pP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output_t</a:t>
            </a:r>
            <a:endParaRPr lang="en-US" altLang="ko-KR" sz="1600" b="0" i="0" dirty="0">
              <a:effectLst/>
              <a:latin typeface="D2Coding" panose="020B0609020101020101" pitchFamily="49" charset="-127"/>
              <a:ea typeface="D2Coding" panose="020B0609020101020101" pitchFamily="49" charset="-127"/>
            </a:endParaRPr>
          </a:p>
        </p:txBody>
      </p:sp>
      <p:sp>
        <p:nvSpPr>
          <p:cNvPr id="10" name="TextBox 9">
            <a:extLst>
              <a:ext uri="{FF2B5EF4-FFF2-40B4-BE49-F238E27FC236}">
                <a16:creationId xmlns:a16="http://schemas.microsoft.com/office/drawing/2014/main" id="{F1346C15-AD1E-7DCB-8618-8289C66C1554}"/>
              </a:ext>
            </a:extLst>
          </p:cNvPr>
          <p:cNvSpPr txBox="1"/>
          <p:nvPr/>
        </p:nvSpPr>
        <p:spPr>
          <a:xfrm>
            <a:off x="2333625" y="5299602"/>
            <a:ext cx="7086600" cy="1077218"/>
          </a:xfrm>
          <a:prstGeom prst="rect">
            <a:avLst/>
          </a:prstGeom>
          <a:solidFill>
            <a:srgbClr val="76E3FF"/>
          </a:solidFill>
          <a:ln>
            <a:solidFill>
              <a:schemeClr val="tx1"/>
            </a:solidFill>
          </a:ln>
        </p:spPr>
        <p:txBody>
          <a:bodyPr wrap="square">
            <a:spAutoFit/>
          </a:bodyPr>
          <a:lstStyle/>
          <a:p>
            <a:pPr algn="l" latinLnBrk="0">
              <a:buNone/>
            </a:pP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90055"/>
                </a:solidFill>
                <a:effectLst/>
                <a:latin typeface="D2Coding" panose="020B0609020101020101" pitchFamily="49" charset="-127"/>
                <a:ea typeface="D2Coding" panose="020B0609020101020101" pitchFamily="49" charset="-127"/>
              </a:rPr>
              <a:t>0</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0077AA"/>
                </a:solidFill>
                <a:effectLst/>
                <a:latin typeface="D2Coding" panose="020B0609020101020101" pitchFamily="49" charset="-127"/>
                <a:ea typeface="D2Coding" panose="020B0609020101020101" pitchFamily="49" charset="-127"/>
              </a:rPr>
              <a:t>for</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input_t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0077AA"/>
                </a:solidFill>
                <a:effectLst/>
                <a:latin typeface="D2Coding" panose="020B0609020101020101" pitchFamily="49" charset="-127"/>
                <a:ea typeface="D2Coding" panose="020B0609020101020101" pitchFamily="49" charset="-127"/>
              </a:rPr>
              <a:t>in</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input_sequence</a:t>
            </a:r>
            <a:r>
              <a:rPr lang="en-US" altLang="ko-KR" sz="1600" b="0" i="0" dirty="0">
                <a:solidFill>
                  <a:srgbClr val="999999"/>
                </a:solidFill>
                <a:effectLst/>
                <a:latin typeface="D2Coding" panose="020B0609020101020101" pitchFamily="49" charset="-127"/>
                <a:ea typeface="D2Coding" panose="020B0609020101020101" pitchFamily="49" charset="-127"/>
              </a:rPr>
              <a:t>:</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latinLnBrk="0">
              <a:buNone/>
            </a:pP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output_t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activation</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dot</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W</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input_t</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dot</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U</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999999"/>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b</a:t>
            </a:r>
            <a:r>
              <a:rPr lang="en-US" altLang="ko-KR" sz="1600" b="0" i="0" dirty="0">
                <a:solidFill>
                  <a:srgbClr val="999999"/>
                </a:solidFill>
                <a:effectLst/>
                <a:latin typeface="D2Coding" panose="020B0609020101020101" pitchFamily="49" charset="-127"/>
                <a:ea typeface="D2Coding" panose="020B0609020101020101" pitchFamily="49" charset="-127"/>
              </a:rPr>
              <a:t>)</a:t>
            </a:r>
            <a:endParaRPr lang="en-US" altLang="ko-KR" sz="1600" b="0" i="0" dirty="0">
              <a:solidFill>
                <a:srgbClr val="000000"/>
              </a:solidFill>
              <a:effectLst/>
              <a:latin typeface="D2Coding" panose="020B0609020101020101" pitchFamily="49" charset="-127"/>
              <a:ea typeface="D2Coding" panose="020B0609020101020101" pitchFamily="49" charset="-127"/>
            </a:endParaRPr>
          </a:p>
          <a:p>
            <a:pPr algn="l">
              <a:buNone/>
            </a:pP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state_t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a:solidFill>
                  <a:srgbClr val="9A6E3A"/>
                </a:solidFill>
                <a:effectLst/>
                <a:latin typeface="D2Coding" panose="020B0609020101020101" pitchFamily="49" charset="-127"/>
                <a:ea typeface="D2Coding" panose="020B0609020101020101" pitchFamily="49" charset="-127"/>
              </a:rPr>
              <a:t>=</a:t>
            </a:r>
            <a:r>
              <a:rPr lang="en-US" altLang="ko-KR" sz="1600" b="0" i="0" dirty="0">
                <a:solidFill>
                  <a:srgbClr val="000000"/>
                </a:solidFill>
                <a:effectLst/>
                <a:latin typeface="D2Coding" panose="020B0609020101020101" pitchFamily="49" charset="-127"/>
                <a:ea typeface="D2Coding" panose="020B0609020101020101" pitchFamily="49" charset="-127"/>
              </a:rPr>
              <a:t> </a:t>
            </a:r>
            <a:r>
              <a:rPr lang="en-US" altLang="ko-KR" sz="1600" b="0" i="0" dirty="0" err="1">
                <a:solidFill>
                  <a:srgbClr val="000000"/>
                </a:solidFill>
                <a:effectLst/>
                <a:latin typeface="D2Coding" panose="020B0609020101020101" pitchFamily="49" charset="-127"/>
                <a:ea typeface="D2Coding" panose="020B0609020101020101" pitchFamily="49" charset="-127"/>
              </a:rPr>
              <a:t>output_t</a:t>
            </a:r>
            <a:endParaRPr lang="en-US" altLang="ko-KR" sz="1600" b="0" i="0" dirty="0">
              <a:effectLst/>
              <a:latin typeface="D2Coding" panose="020B0609020101020101" pitchFamily="49" charset="-127"/>
              <a:ea typeface="D2Coding" panose="020B0609020101020101" pitchFamily="49" charset="-127"/>
            </a:endParaRPr>
          </a:p>
        </p:txBody>
      </p:sp>
      <p:sp>
        <p:nvSpPr>
          <p:cNvPr id="12" name="TextBox 11">
            <a:extLst>
              <a:ext uri="{FF2B5EF4-FFF2-40B4-BE49-F238E27FC236}">
                <a16:creationId xmlns:a16="http://schemas.microsoft.com/office/drawing/2014/main" id="{5E1E5A75-7BFC-9439-04B5-6DAB8BB08E9A}"/>
              </a:ext>
            </a:extLst>
          </p:cNvPr>
          <p:cNvSpPr txBox="1"/>
          <p:nvPr/>
        </p:nvSpPr>
        <p:spPr>
          <a:xfrm>
            <a:off x="2333625" y="2343686"/>
            <a:ext cx="7086600" cy="338554"/>
          </a:xfrm>
          <a:prstGeom prst="rect">
            <a:avLst/>
          </a:prstGeom>
          <a:solidFill>
            <a:schemeClr val="tx1"/>
          </a:solidFill>
        </p:spPr>
        <p:txBody>
          <a:bodyPr wrap="square">
            <a:spAutoFit/>
          </a:bodyPr>
          <a:lstStyle/>
          <a:p>
            <a:r>
              <a:rPr lang="en-US" altLang="ko-KR" sz="1600" b="0" i="0" dirty="0">
                <a:solidFill>
                  <a:schemeClr val="bg1"/>
                </a:solidFill>
                <a:effectLst/>
                <a:latin typeface="D2Coding" panose="020B0609020101020101" pitchFamily="49" charset="-127"/>
                <a:ea typeface="D2Coding" panose="020B0609020101020101" pitchFamily="49" charset="-127"/>
              </a:rPr>
              <a:t>Pseudocode RNN</a:t>
            </a:r>
            <a:endParaRPr lang="ko-KR" altLang="en-US" sz="1600" dirty="0">
              <a:solidFill>
                <a:schemeClr val="bg1"/>
              </a:solidFill>
              <a:latin typeface="D2Coding" panose="020B0609020101020101" pitchFamily="49" charset="-127"/>
              <a:ea typeface="D2Coding" panose="020B0609020101020101" pitchFamily="49" charset="-127"/>
            </a:endParaRPr>
          </a:p>
        </p:txBody>
      </p:sp>
      <p:sp>
        <p:nvSpPr>
          <p:cNvPr id="14" name="TextBox 13">
            <a:extLst>
              <a:ext uri="{FF2B5EF4-FFF2-40B4-BE49-F238E27FC236}">
                <a16:creationId xmlns:a16="http://schemas.microsoft.com/office/drawing/2014/main" id="{D33B74DC-3D1D-6469-69C6-D3EA03653899}"/>
              </a:ext>
            </a:extLst>
          </p:cNvPr>
          <p:cNvSpPr txBox="1"/>
          <p:nvPr/>
        </p:nvSpPr>
        <p:spPr>
          <a:xfrm>
            <a:off x="2333625" y="4961048"/>
            <a:ext cx="7086600" cy="338554"/>
          </a:xfrm>
          <a:prstGeom prst="rect">
            <a:avLst/>
          </a:prstGeom>
          <a:solidFill>
            <a:schemeClr val="tx1"/>
          </a:solidFill>
        </p:spPr>
        <p:txBody>
          <a:bodyPr wrap="square">
            <a:spAutoFit/>
          </a:bodyPr>
          <a:lstStyle/>
          <a:p>
            <a:r>
              <a:rPr lang="en-US" altLang="ko-KR" sz="1600" b="0" i="0" dirty="0">
                <a:effectLst/>
                <a:latin typeface="D2Coding" panose="020B0609020101020101" pitchFamily="49" charset="-127"/>
                <a:ea typeface="D2Coding" panose="020B0609020101020101" pitchFamily="49" charset="-127"/>
              </a:rPr>
              <a:t>More detailed </a:t>
            </a:r>
            <a:r>
              <a:rPr lang="en-US" altLang="ko-KR" sz="1600" b="0" i="0" dirty="0">
                <a:solidFill>
                  <a:schemeClr val="bg1"/>
                </a:solidFill>
                <a:effectLst/>
                <a:latin typeface="D2Coding" panose="020B0609020101020101" pitchFamily="49" charset="-127"/>
                <a:ea typeface="D2Coding" panose="020B0609020101020101" pitchFamily="49" charset="-127"/>
              </a:rPr>
              <a:t>pseudocode</a:t>
            </a:r>
            <a:r>
              <a:rPr lang="en-US" altLang="ko-KR" sz="1600" b="0" i="0" dirty="0">
                <a:effectLst/>
                <a:latin typeface="D2Coding" panose="020B0609020101020101" pitchFamily="49" charset="-127"/>
                <a:ea typeface="D2Coding" panose="020B0609020101020101" pitchFamily="49" charset="-127"/>
              </a:rPr>
              <a:t> for the RNN</a:t>
            </a:r>
            <a:endParaRPr lang="ko-KR" altLang="en-US" sz="1600" dirty="0">
              <a:latin typeface="D2Coding" panose="020B0609020101020101" pitchFamily="49" charset="-127"/>
              <a:ea typeface="D2Coding" panose="020B0609020101020101" pitchFamily="49" charset="-127"/>
            </a:endParaRPr>
          </a:p>
        </p:txBody>
      </p:sp>
      <p:sp>
        <p:nvSpPr>
          <p:cNvPr id="17" name="슬라이드 번호 개체 틀 3">
            <a:extLst>
              <a:ext uri="{FF2B5EF4-FFF2-40B4-BE49-F238E27FC236}">
                <a16:creationId xmlns:a16="http://schemas.microsoft.com/office/drawing/2014/main" id="{6728BB94-D6E6-13DD-9268-ED80A605BA1D}"/>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32</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767646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8EFE-BFFA-ADD2-A84C-996383B5D0AE}"/>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B1CD753-6EB8-8994-CCF5-B1D560FBBAB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026" name="Picture 2">
            <a:extLst>
              <a:ext uri="{FF2B5EF4-FFF2-40B4-BE49-F238E27FC236}">
                <a16:creationId xmlns:a16="http://schemas.microsoft.com/office/drawing/2014/main" id="{B3AA6087-D860-6C51-5538-FFDC1C5D1A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085850" y="2339933"/>
            <a:ext cx="3676650" cy="31432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7384C5-F811-F733-7639-84B74BC9D298}"/>
              </a:ext>
            </a:extLst>
          </p:cNvPr>
          <p:cNvSpPr txBox="1"/>
          <p:nvPr/>
        </p:nvSpPr>
        <p:spPr>
          <a:xfrm>
            <a:off x="1000125" y="6222128"/>
            <a:ext cx="4019550" cy="307777"/>
          </a:xfrm>
          <a:prstGeom prst="rect">
            <a:avLst/>
          </a:prstGeom>
          <a:noFill/>
        </p:spPr>
        <p:txBody>
          <a:bodyPr wrap="square">
            <a:spAutoFit/>
          </a:bodyPr>
          <a:lstStyle/>
          <a:p>
            <a:r>
              <a:rPr lang="en-US" altLang="ko-KR" sz="1400" b="0" i="0" dirty="0">
                <a:effectLst/>
                <a:latin typeface="D2Coding" panose="020B0609020101020101" pitchFamily="49" charset="-127"/>
                <a:ea typeface="D2Coding" panose="020B0609020101020101" pitchFamily="49" charset="-127"/>
              </a:rPr>
              <a:t>A recurrent network: a network with a loop</a:t>
            </a:r>
            <a:endParaRPr lang="ko-KR" altLang="en-US" sz="1400" dirty="0">
              <a:latin typeface="D2Coding" panose="020B0609020101020101" pitchFamily="49" charset="-127"/>
              <a:ea typeface="D2Coding" panose="020B0609020101020101" pitchFamily="49" charset="-127"/>
            </a:endParaRPr>
          </a:p>
        </p:txBody>
      </p:sp>
      <p:pic>
        <p:nvPicPr>
          <p:cNvPr id="5" name="그림 4">
            <a:extLst>
              <a:ext uri="{FF2B5EF4-FFF2-40B4-BE49-F238E27FC236}">
                <a16:creationId xmlns:a16="http://schemas.microsoft.com/office/drawing/2014/main" id="{F8689FB7-12F2-C424-32C4-14BD0E6EA7B3}"/>
              </a:ext>
            </a:extLst>
          </p:cNvPr>
          <p:cNvPicPr>
            <a:picLocks noChangeAspect="1"/>
          </p:cNvPicPr>
          <p:nvPr/>
        </p:nvPicPr>
        <p:blipFill>
          <a:blip r:embed="rId4"/>
          <a:stretch>
            <a:fillRect/>
          </a:stretch>
        </p:blipFill>
        <p:spPr>
          <a:xfrm>
            <a:off x="6407703" y="5957972"/>
            <a:ext cx="4940116" cy="408838"/>
          </a:xfrm>
          <a:prstGeom prst="rect">
            <a:avLst/>
          </a:prstGeom>
        </p:spPr>
      </p:pic>
      <p:pic>
        <p:nvPicPr>
          <p:cNvPr id="12" name="그림 11">
            <a:extLst>
              <a:ext uri="{FF2B5EF4-FFF2-40B4-BE49-F238E27FC236}">
                <a16:creationId xmlns:a16="http://schemas.microsoft.com/office/drawing/2014/main" id="{187BD075-0678-82CB-0270-83B0CFC13247}"/>
              </a:ext>
            </a:extLst>
          </p:cNvPr>
          <p:cNvPicPr>
            <a:picLocks noChangeAspect="1"/>
          </p:cNvPicPr>
          <p:nvPr/>
        </p:nvPicPr>
        <p:blipFill>
          <a:blip r:embed="rId5"/>
          <a:stretch>
            <a:fillRect/>
          </a:stretch>
        </p:blipFill>
        <p:spPr>
          <a:xfrm>
            <a:off x="8817765" y="5181554"/>
            <a:ext cx="707669" cy="301629"/>
          </a:xfrm>
          <a:prstGeom prst="rect">
            <a:avLst/>
          </a:prstGeom>
        </p:spPr>
      </p:pic>
      <p:pic>
        <p:nvPicPr>
          <p:cNvPr id="14" name="그림 13">
            <a:extLst>
              <a:ext uri="{FF2B5EF4-FFF2-40B4-BE49-F238E27FC236}">
                <a16:creationId xmlns:a16="http://schemas.microsoft.com/office/drawing/2014/main" id="{0DBA9693-F101-5A0D-2FA6-7A3D4784C00D}"/>
              </a:ext>
            </a:extLst>
          </p:cNvPr>
          <p:cNvPicPr>
            <a:picLocks noChangeAspect="1"/>
          </p:cNvPicPr>
          <p:nvPr/>
        </p:nvPicPr>
        <p:blipFill>
          <a:blip r:embed="rId6"/>
          <a:stretch>
            <a:fillRect/>
          </a:stretch>
        </p:blipFill>
        <p:spPr>
          <a:xfrm>
            <a:off x="7472770" y="3807616"/>
            <a:ext cx="3375929" cy="348034"/>
          </a:xfrm>
          <a:prstGeom prst="rect">
            <a:avLst/>
          </a:prstGeom>
        </p:spPr>
      </p:pic>
      <p:pic>
        <p:nvPicPr>
          <p:cNvPr id="16" name="그림 15">
            <a:extLst>
              <a:ext uri="{FF2B5EF4-FFF2-40B4-BE49-F238E27FC236}">
                <a16:creationId xmlns:a16="http://schemas.microsoft.com/office/drawing/2014/main" id="{DAA85675-BD7F-E78D-04B8-FE02E023207A}"/>
              </a:ext>
            </a:extLst>
          </p:cNvPr>
          <p:cNvPicPr>
            <a:picLocks noChangeAspect="1"/>
          </p:cNvPicPr>
          <p:nvPr/>
        </p:nvPicPr>
        <p:blipFill>
          <a:blip r:embed="rId7"/>
          <a:stretch>
            <a:fillRect/>
          </a:stretch>
        </p:blipFill>
        <p:spPr>
          <a:xfrm>
            <a:off x="8770140" y="2288425"/>
            <a:ext cx="765675" cy="243624"/>
          </a:xfrm>
          <a:prstGeom prst="rect">
            <a:avLst/>
          </a:prstGeom>
        </p:spPr>
      </p:pic>
      <p:pic>
        <p:nvPicPr>
          <p:cNvPr id="18" name="그림 17">
            <a:extLst>
              <a:ext uri="{FF2B5EF4-FFF2-40B4-BE49-F238E27FC236}">
                <a16:creationId xmlns:a16="http://schemas.microsoft.com/office/drawing/2014/main" id="{A8617A4C-9035-0C69-AC68-E73F031B49A6}"/>
              </a:ext>
            </a:extLst>
          </p:cNvPr>
          <p:cNvPicPr>
            <a:picLocks noChangeAspect="1"/>
          </p:cNvPicPr>
          <p:nvPr/>
        </p:nvPicPr>
        <p:blipFill>
          <a:blip r:embed="rId8"/>
          <a:stretch>
            <a:fillRect/>
          </a:stretch>
        </p:blipFill>
        <p:spPr>
          <a:xfrm>
            <a:off x="6407703" y="2695768"/>
            <a:ext cx="1148512" cy="278427"/>
          </a:xfrm>
          <a:prstGeom prst="rect">
            <a:avLst/>
          </a:prstGeom>
        </p:spPr>
      </p:pic>
      <p:cxnSp>
        <p:nvCxnSpPr>
          <p:cNvPr id="20" name="직선 화살표 연결선 19">
            <a:extLst>
              <a:ext uri="{FF2B5EF4-FFF2-40B4-BE49-F238E27FC236}">
                <a16:creationId xmlns:a16="http://schemas.microsoft.com/office/drawing/2014/main" id="{7AC67131-B7F6-3D90-D600-D72E0758D3A7}"/>
              </a:ext>
            </a:extLst>
          </p:cNvPr>
          <p:cNvCxnSpPr>
            <a:cxnSpLocks/>
            <a:stCxn id="12" idx="0"/>
            <a:endCxn id="14" idx="2"/>
          </p:cNvCxnSpPr>
          <p:nvPr/>
        </p:nvCxnSpPr>
        <p:spPr>
          <a:xfrm flipH="1" flipV="1">
            <a:off x="9160735" y="4155650"/>
            <a:ext cx="10865" cy="1025904"/>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2" name="직선 화살표 연결선 21">
            <a:extLst>
              <a:ext uri="{FF2B5EF4-FFF2-40B4-BE49-F238E27FC236}">
                <a16:creationId xmlns:a16="http://schemas.microsoft.com/office/drawing/2014/main" id="{A35A9A4F-358E-65D4-D5F1-31F9DB34C4F6}"/>
              </a:ext>
            </a:extLst>
          </p:cNvPr>
          <p:cNvCxnSpPr>
            <a:cxnSpLocks/>
            <a:stCxn id="14" idx="0"/>
            <a:endCxn id="16" idx="2"/>
          </p:cNvCxnSpPr>
          <p:nvPr/>
        </p:nvCxnSpPr>
        <p:spPr>
          <a:xfrm flipH="1" flipV="1">
            <a:off x="9152978" y="2532049"/>
            <a:ext cx="7757" cy="1275567"/>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6" name="연결선: 꺾임 25">
            <a:extLst>
              <a:ext uri="{FF2B5EF4-FFF2-40B4-BE49-F238E27FC236}">
                <a16:creationId xmlns:a16="http://schemas.microsoft.com/office/drawing/2014/main" id="{784A76E9-1E52-96CC-3E27-79E131D1FA08}"/>
              </a:ext>
            </a:extLst>
          </p:cNvPr>
          <p:cNvCxnSpPr>
            <a:cxnSpLocks/>
            <a:endCxn id="14" idx="1"/>
          </p:cNvCxnSpPr>
          <p:nvPr/>
        </p:nvCxnSpPr>
        <p:spPr>
          <a:xfrm rot="10800000" flipV="1">
            <a:off x="7472771" y="3008999"/>
            <a:ext cx="1672451" cy="972634"/>
          </a:xfrm>
          <a:prstGeom prst="bentConnector3">
            <a:avLst>
              <a:gd name="adj1" fmla="val 163787"/>
            </a:avLst>
          </a:prstGeom>
          <a:ln>
            <a:tailEnd type="triangle"/>
          </a:ln>
        </p:spPr>
        <p:style>
          <a:lnRef idx="1">
            <a:schemeClr val="dk1"/>
          </a:lnRef>
          <a:fillRef idx="0">
            <a:schemeClr val="dk1"/>
          </a:fillRef>
          <a:effectRef idx="0">
            <a:schemeClr val="dk1"/>
          </a:effectRef>
          <a:fontRef idx="minor">
            <a:schemeClr val="tx1"/>
          </a:fontRef>
        </p:style>
      </p:cxnSp>
      <p:sp>
        <p:nvSpPr>
          <p:cNvPr id="32" name="슬라이드 번호 개체 틀 3">
            <a:extLst>
              <a:ext uri="{FF2B5EF4-FFF2-40B4-BE49-F238E27FC236}">
                <a16:creationId xmlns:a16="http://schemas.microsoft.com/office/drawing/2014/main" id="{3A373065-BB31-E096-2C50-5CA3BBDAC2D6}"/>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33</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960798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A55FA-C15E-7045-0184-107FFD09BC7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81FB320A-513B-9C78-38F1-6C5DD6423E46}"/>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4098" name="Picture 2">
            <a:extLst>
              <a:ext uri="{FF2B5EF4-FFF2-40B4-BE49-F238E27FC236}">
                <a16:creationId xmlns:a16="http://schemas.microsoft.com/office/drawing/2014/main" id="{81783B4A-BD11-A89E-13E5-3A2E8656B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88" y="2889811"/>
            <a:ext cx="3032880" cy="9477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4BF7DD33-BE64-686A-729E-BB691AA4C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3614" y="2349216"/>
            <a:ext cx="6760798" cy="31276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813771-5B66-A344-79F0-1F59759E94C1}"/>
              </a:ext>
            </a:extLst>
          </p:cNvPr>
          <p:cNvSpPr txBox="1"/>
          <p:nvPr/>
        </p:nvSpPr>
        <p:spPr>
          <a:xfrm>
            <a:off x="1506609" y="4073009"/>
            <a:ext cx="1474838" cy="584775"/>
          </a:xfrm>
          <a:prstGeom prst="rect">
            <a:avLst/>
          </a:prstGeom>
          <a:noFill/>
        </p:spPr>
        <p:txBody>
          <a:bodyPr wrap="square">
            <a:spAutoFit/>
          </a:bodyPr>
          <a:lstStyle/>
          <a:p>
            <a:pPr algn="ctr"/>
            <a:r>
              <a:rPr lang="en-US" altLang="ko-KR" sz="1600" dirty="0">
                <a:solidFill>
                  <a:srgbClr val="000000"/>
                </a:solidFill>
                <a:latin typeface="D2Coding" panose="020B0609020101020101" pitchFamily="49" charset="-127"/>
                <a:ea typeface="D2Coding" panose="020B0609020101020101" pitchFamily="49" charset="-127"/>
              </a:rPr>
              <a:t>Memory</a:t>
            </a:r>
            <a:r>
              <a:rPr lang="ko-KR" altLang="en-US" sz="1600" dirty="0">
                <a:solidFill>
                  <a:srgbClr val="000000"/>
                </a:solidFill>
                <a:latin typeface="D2Coding" panose="020B0609020101020101" pitchFamily="49" charset="-127"/>
                <a:ea typeface="D2Coding" panose="020B0609020101020101" pitchFamily="49" charset="-127"/>
              </a:rPr>
              <a:t> </a:t>
            </a:r>
            <a:r>
              <a:rPr lang="en-US" altLang="ko-KR" sz="1600" dirty="0">
                <a:solidFill>
                  <a:srgbClr val="000000"/>
                </a:solidFill>
                <a:latin typeface="D2Coding" panose="020B0609020101020101" pitchFamily="49" charset="-127"/>
                <a:ea typeface="D2Coding" panose="020B0609020101020101" pitchFamily="49" charset="-127"/>
              </a:rPr>
              <a:t>Cell</a:t>
            </a:r>
          </a:p>
          <a:p>
            <a:pPr algn="ctr"/>
            <a:r>
              <a:rPr lang="en-US" altLang="ko-KR" sz="1600" dirty="0">
                <a:solidFill>
                  <a:srgbClr val="000000"/>
                </a:solidFill>
                <a:latin typeface="D2Coding" panose="020B0609020101020101" pitchFamily="49" charset="-127"/>
                <a:ea typeface="D2Coding" panose="020B0609020101020101" pitchFamily="49" charset="-127"/>
              </a:rPr>
              <a:t>(</a:t>
            </a:r>
            <a:r>
              <a:rPr lang="en-US" altLang="ko-KR" sz="1600" i="0" dirty="0">
                <a:solidFill>
                  <a:srgbClr val="000000"/>
                </a:solidFill>
                <a:effectLst/>
                <a:latin typeface="D2Coding" panose="020B0609020101020101" pitchFamily="49" charset="-127"/>
                <a:ea typeface="D2Coding" panose="020B0609020101020101" pitchFamily="49" charset="-127"/>
              </a:rPr>
              <a:t>RNN </a:t>
            </a:r>
            <a:r>
              <a:rPr lang="en-US" altLang="ko-KR" sz="1600" dirty="0">
                <a:solidFill>
                  <a:srgbClr val="000000"/>
                </a:solidFill>
                <a:latin typeface="D2Coding" panose="020B0609020101020101" pitchFamily="49" charset="-127"/>
                <a:ea typeface="D2Coding" panose="020B0609020101020101" pitchFamily="49" charset="-127"/>
              </a:rPr>
              <a:t>Cell)</a:t>
            </a:r>
            <a:endParaRPr lang="ko-KR" altLang="en-US" sz="1600" dirty="0">
              <a:latin typeface="D2Coding" panose="020B0609020101020101" pitchFamily="49" charset="-127"/>
              <a:ea typeface="D2Coding" panose="020B0609020101020101" pitchFamily="49" charset="-127"/>
            </a:endParaRPr>
          </a:p>
        </p:txBody>
      </p:sp>
      <p:sp>
        <p:nvSpPr>
          <p:cNvPr id="11" name="TextBox 10">
            <a:extLst>
              <a:ext uri="{FF2B5EF4-FFF2-40B4-BE49-F238E27FC236}">
                <a16:creationId xmlns:a16="http://schemas.microsoft.com/office/drawing/2014/main" id="{21FE149D-72F1-5FF1-97A0-EF220E0C75FC}"/>
              </a:ext>
            </a:extLst>
          </p:cNvPr>
          <p:cNvSpPr txBox="1"/>
          <p:nvPr/>
        </p:nvSpPr>
        <p:spPr>
          <a:xfrm>
            <a:off x="6735096" y="5582473"/>
            <a:ext cx="5266404" cy="369332"/>
          </a:xfrm>
          <a:prstGeom prst="rect">
            <a:avLst/>
          </a:prstGeom>
          <a:noFill/>
        </p:spPr>
        <p:txBody>
          <a:bodyPr wrap="square" rtlCol="0">
            <a:spAutoFit/>
          </a:bodyPr>
          <a:lstStyle/>
          <a:p>
            <a:r>
              <a:rPr lang="en-US" altLang="ko-KR" dirty="0">
                <a:latin typeface="D2Coding" panose="020B0609020101020101" pitchFamily="49" charset="-127"/>
                <a:ea typeface="D2Coding" panose="020B0609020101020101" pitchFamily="49" charset="-127"/>
              </a:rPr>
              <a:t>I	am	  your	           father</a:t>
            </a:r>
            <a:endParaRPr lang="ko-KR" altLang="en-US" dirty="0">
              <a:latin typeface="D2Coding" panose="020B0609020101020101" pitchFamily="49" charset="-127"/>
              <a:ea typeface="D2Coding" panose="020B0609020101020101" pitchFamily="49" charset="-127"/>
            </a:endParaRPr>
          </a:p>
        </p:txBody>
      </p:sp>
      <p:sp>
        <p:nvSpPr>
          <p:cNvPr id="12" name="TextBox 11">
            <a:extLst>
              <a:ext uri="{FF2B5EF4-FFF2-40B4-BE49-F238E27FC236}">
                <a16:creationId xmlns:a16="http://schemas.microsoft.com/office/drawing/2014/main" id="{4CF75BC3-7442-2D30-F561-C46CE62ACA9A}"/>
              </a:ext>
            </a:extLst>
          </p:cNvPr>
          <p:cNvSpPr txBox="1"/>
          <p:nvPr/>
        </p:nvSpPr>
        <p:spPr>
          <a:xfrm>
            <a:off x="6754761" y="5962204"/>
            <a:ext cx="4827639" cy="369332"/>
          </a:xfrm>
          <a:prstGeom prst="rect">
            <a:avLst/>
          </a:prstGeom>
          <a:noFill/>
        </p:spPr>
        <p:txBody>
          <a:bodyPr wrap="square" rtlCol="0">
            <a:spAutoFit/>
          </a:bodyPr>
          <a:lstStyle/>
          <a:p>
            <a:r>
              <a:rPr lang="en-US" altLang="ko-KR" dirty="0">
                <a:latin typeface="D2Coding" panose="020B0609020101020101" pitchFamily="49" charset="-127"/>
                <a:ea typeface="D2Coding" panose="020B0609020101020101" pitchFamily="49" charset="-127"/>
              </a:rPr>
              <a:t>t-3	t-2	  t-1		      t </a:t>
            </a:r>
            <a:endParaRPr lang="ko-KR" altLang="en-US" dirty="0">
              <a:latin typeface="D2Coding" panose="020B0609020101020101" pitchFamily="49" charset="-127"/>
              <a:ea typeface="D2Coding" panose="020B0609020101020101" pitchFamily="49" charset="-127"/>
            </a:endParaRPr>
          </a:p>
        </p:txBody>
      </p:sp>
      <p:sp>
        <p:nvSpPr>
          <p:cNvPr id="13" name="TextBox 12">
            <a:extLst>
              <a:ext uri="{FF2B5EF4-FFF2-40B4-BE49-F238E27FC236}">
                <a16:creationId xmlns:a16="http://schemas.microsoft.com/office/drawing/2014/main" id="{205F1669-9C47-2186-A6CE-09B429D88EF4}"/>
              </a:ext>
            </a:extLst>
          </p:cNvPr>
          <p:cNvSpPr txBox="1"/>
          <p:nvPr/>
        </p:nvSpPr>
        <p:spPr>
          <a:xfrm>
            <a:off x="609600" y="1238250"/>
            <a:ext cx="10972800" cy="465320"/>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언어</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혹은 주가와 같이 순서가 중요한 입력 </a:t>
            </a:r>
            <a:r>
              <a:rPr lang="en-US" altLang="ko-KR" dirty="0">
                <a:latin typeface="D2Coding" panose="020B0609020101020101" pitchFamily="49" charset="-127"/>
                <a:ea typeface="D2Coding" panose="020B0609020101020101" pitchFamily="49" charset="-127"/>
              </a:rPr>
              <a:t>Feature</a:t>
            </a:r>
            <a:r>
              <a:rPr lang="ko-KR" altLang="en-US" dirty="0">
                <a:latin typeface="D2Coding" panose="020B0609020101020101" pitchFamily="49" charset="-127"/>
                <a:ea typeface="D2Coding" panose="020B0609020101020101" pitchFamily="49" charset="-127"/>
              </a:rPr>
              <a:t>는 과거를 기억해야 함</a:t>
            </a:r>
          </a:p>
        </p:txBody>
      </p:sp>
      <p:sp>
        <p:nvSpPr>
          <p:cNvPr id="2" name="슬라이드 번호 개체 틀 3">
            <a:extLst>
              <a:ext uri="{FF2B5EF4-FFF2-40B4-BE49-F238E27FC236}">
                <a16:creationId xmlns:a16="http://schemas.microsoft.com/office/drawing/2014/main" id="{41768054-58F4-57E8-34D4-9339CAE2D61B}"/>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34</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798926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DF5C-21A7-169A-D813-E63EDBBB950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048F9E1-F3AF-6D54-7C87-DC59F199371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TextBox 3">
            <a:extLst>
              <a:ext uri="{FF2B5EF4-FFF2-40B4-BE49-F238E27FC236}">
                <a16:creationId xmlns:a16="http://schemas.microsoft.com/office/drawing/2014/main" id="{F087C6CE-AE22-B866-BD2C-43BE542D5F43}"/>
              </a:ext>
            </a:extLst>
          </p:cNvPr>
          <p:cNvSpPr txBox="1"/>
          <p:nvPr/>
        </p:nvSpPr>
        <p:spPr>
          <a:xfrm>
            <a:off x="599512" y="1446717"/>
            <a:ext cx="10353763" cy="4814780"/>
          </a:xfrm>
          <a:prstGeom prst="rect">
            <a:avLst/>
          </a:prstGeom>
          <a:solidFill>
            <a:srgbClr val="76E3FF"/>
          </a:solidFill>
        </p:spPr>
        <p:txBody>
          <a:bodyPr wrap="square">
            <a:spAutoFit/>
          </a:bodyPr>
          <a:lstStyle/>
          <a:p>
            <a:pPr>
              <a:lnSpc>
                <a:spcPts val="1575"/>
              </a:lnSpc>
              <a:buNone/>
            </a:pPr>
            <a:r>
              <a:rPr lang="en-US" altLang="ko-KR" sz="1600" b="0" dirty="0">
                <a:effectLst/>
                <a:latin typeface="D2Coding" panose="020B0609020101020101" pitchFamily="49" charset="-127"/>
                <a:ea typeface="D2Coding" panose="020B0609020101020101" pitchFamily="49" charset="-127"/>
              </a:rPr>
              <a:t>timesteps = 100</a:t>
            </a:r>
          </a:p>
          <a:p>
            <a:pPr>
              <a:lnSpc>
                <a:spcPts val="1575"/>
              </a:lnSpc>
              <a:buNone/>
            </a:pPr>
            <a:r>
              <a:rPr lang="en-US" altLang="ko-KR" sz="1600" b="0" dirty="0" err="1">
                <a:effectLst/>
                <a:latin typeface="D2Coding" panose="020B0609020101020101" pitchFamily="49" charset="-127"/>
                <a:ea typeface="D2Coding" panose="020B0609020101020101" pitchFamily="49" charset="-127"/>
              </a:rPr>
              <a:t>input_features</a:t>
            </a:r>
            <a:r>
              <a:rPr lang="en-US" altLang="ko-KR" sz="1600" b="0" dirty="0">
                <a:effectLst/>
                <a:latin typeface="D2Coding" panose="020B0609020101020101" pitchFamily="49" charset="-127"/>
                <a:ea typeface="D2Coding" panose="020B0609020101020101" pitchFamily="49" charset="-127"/>
              </a:rPr>
              <a:t> = 32</a:t>
            </a:r>
          </a:p>
          <a:p>
            <a:pPr>
              <a:lnSpc>
                <a:spcPts val="1575"/>
              </a:lnSpc>
              <a:buNone/>
            </a:pP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 = 64</a:t>
            </a: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pPr>
            <a:r>
              <a:rPr lang="en-US" altLang="ko-KR" sz="1600" b="0" dirty="0">
                <a:effectLst/>
                <a:latin typeface="D2Coding" panose="020B0609020101020101" pitchFamily="49" charset="-127"/>
                <a:ea typeface="D2Coding" panose="020B0609020101020101" pitchFamily="49" charset="-127"/>
              </a:rPr>
              <a:t>inputs = </a:t>
            </a:r>
            <a:r>
              <a:rPr lang="en-US" altLang="ko-KR" sz="1600" b="0" dirty="0" err="1">
                <a:effectLst/>
                <a:latin typeface="D2Coding" panose="020B0609020101020101" pitchFamily="49" charset="-127"/>
                <a:ea typeface="D2Coding" panose="020B0609020101020101" pitchFamily="49" charset="-127"/>
              </a:rPr>
              <a:t>np.random.random</a:t>
            </a:r>
            <a:r>
              <a:rPr lang="en-US" altLang="ko-KR" sz="1600" b="0" dirty="0">
                <a:effectLst/>
                <a:latin typeface="D2Coding" panose="020B0609020101020101" pitchFamily="49" charset="-127"/>
                <a:ea typeface="D2Coding" panose="020B0609020101020101" pitchFamily="49" charset="-127"/>
              </a:rPr>
              <a:t>((timesteps, </a:t>
            </a:r>
            <a:r>
              <a:rPr lang="en-US" altLang="ko-KR" sz="1600" b="0" dirty="0" err="1">
                <a:effectLst/>
                <a:latin typeface="D2Coding" panose="020B0609020101020101" pitchFamily="49" charset="-127"/>
                <a:ea typeface="D2Coding" panose="020B0609020101020101" pitchFamily="49" charset="-127"/>
              </a:rPr>
              <a:t>input_features</a:t>
            </a:r>
            <a:r>
              <a:rPr lang="en-US" altLang="ko-KR" sz="1600" b="0" dirty="0">
                <a:effectLst/>
                <a:latin typeface="D2Coding" panose="020B0609020101020101" pitchFamily="49" charset="-127"/>
                <a:ea typeface="D2Coding" panose="020B0609020101020101" pitchFamily="49" charset="-127"/>
              </a:rPr>
              <a:t>))</a:t>
            </a:r>
            <a:r>
              <a:rPr lang="en-US" altLang="ko-KR" sz="1600" dirty="0">
                <a:latin typeface="D2Coding" panose="020B0609020101020101" pitchFamily="49" charset="-127"/>
                <a:ea typeface="D2Coding" panose="020B0609020101020101" pitchFamily="49" charset="-127"/>
              </a:rPr>
              <a:t> </a:t>
            </a:r>
          </a:p>
          <a:p>
            <a:pPr>
              <a:lnSpc>
                <a:spcPts val="1575"/>
              </a:lnSpc>
            </a:pPr>
            <a:r>
              <a:rPr lang="en-US" altLang="ko-KR" sz="1600" b="0" dirty="0" err="1">
                <a:effectLst/>
                <a:latin typeface="D2Coding" panose="020B0609020101020101" pitchFamily="49" charset="-127"/>
                <a:ea typeface="D2Coding" panose="020B0609020101020101" pitchFamily="49" charset="-127"/>
              </a:rPr>
              <a:t>state_t</a:t>
            </a:r>
            <a:r>
              <a:rPr lang="en-US" altLang="ko-KR" sz="1600" b="0" dirty="0">
                <a:effectLst/>
                <a:latin typeface="D2Coding" panose="020B0609020101020101" pitchFamily="49" charset="-127"/>
                <a:ea typeface="D2Coding" panose="020B0609020101020101" pitchFamily="49" charset="-127"/>
              </a:rPr>
              <a:t> = </a:t>
            </a:r>
            <a:r>
              <a:rPr lang="en-US" altLang="ko-KR" sz="1600" b="0" dirty="0" err="1">
                <a:effectLst/>
                <a:latin typeface="D2Coding" panose="020B0609020101020101" pitchFamily="49" charset="-127"/>
                <a:ea typeface="D2Coding" panose="020B0609020101020101" pitchFamily="49" charset="-127"/>
              </a:rPr>
              <a:t>np.zeros</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a:t>
            </a:r>
            <a:r>
              <a:rPr lang="en-US" altLang="ko-KR" sz="1600" dirty="0">
                <a:latin typeface="D2Coding" panose="020B0609020101020101" pitchFamily="49" charset="-127"/>
                <a:ea typeface="D2Coding" panose="020B0609020101020101" pitchFamily="49" charset="-127"/>
              </a:rPr>
              <a:t> # Initial state: an all-zero vector</a:t>
            </a: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Creates random weight matrices</a:t>
            </a:r>
          </a:p>
          <a:p>
            <a:pPr>
              <a:lnSpc>
                <a:spcPts val="1575"/>
              </a:lnSpc>
              <a:buNone/>
            </a:pPr>
            <a:r>
              <a:rPr lang="en-US" altLang="ko-KR" sz="1600" b="0" dirty="0">
                <a:effectLst/>
                <a:latin typeface="D2Coding" panose="020B0609020101020101" pitchFamily="49" charset="-127"/>
                <a:ea typeface="D2Coding" panose="020B0609020101020101" pitchFamily="49" charset="-127"/>
              </a:rPr>
              <a:t>W = </a:t>
            </a:r>
            <a:r>
              <a:rPr lang="en-US" altLang="ko-KR" sz="1600" b="0" dirty="0" err="1">
                <a:effectLst/>
                <a:latin typeface="D2Coding" panose="020B0609020101020101" pitchFamily="49" charset="-127"/>
                <a:ea typeface="D2Coding" panose="020B0609020101020101" pitchFamily="49" charset="-127"/>
              </a:rPr>
              <a:t>np.random.random</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input_features</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U = </a:t>
            </a:r>
            <a:r>
              <a:rPr lang="en-US" altLang="ko-KR" sz="1600" b="0" dirty="0" err="1">
                <a:effectLst/>
                <a:latin typeface="D2Coding" panose="020B0609020101020101" pitchFamily="49" charset="-127"/>
                <a:ea typeface="D2Coding" panose="020B0609020101020101" pitchFamily="49" charset="-127"/>
              </a:rPr>
              <a:t>np.random.random</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b = </a:t>
            </a:r>
            <a:r>
              <a:rPr lang="en-US" altLang="ko-KR" sz="1600" b="0" dirty="0" err="1">
                <a:effectLst/>
                <a:latin typeface="D2Coding" panose="020B0609020101020101" pitchFamily="49" charset="-127"/>
                <a:ea typeface="D2Coding" panose="020B0609020101020101" pitchFamily="49" charset="-127"/>
              </a:rPr>
              <a:t>np.random.random</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output_features</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err="1">
                <a:effectLst/>
                <a:latin typeface="D2Coding" panose="020B0609020101020101" pitchFamily="49" charset="-127"/>
                <a:ea typeface="D2Coding" panose="020B0609020101020101" pitchFamily="49" charset="-127"/>
              </a:rPr>
              <a:t>successive_outputs</a:t>
            </a:r>
            <a:r>
              <a:rPr lang="en-US" altLang="ko-KR" sz="1600" b="0" dirty="0">
                <a:effectLst/>
                <a:latin typeface="D2Coding" panose="020B0609020101020101" pitchFamily="49" charset="-127"/>
                <a:ea typeface="D2Coding" panose="020B0609020101020101" pitchFamily="49" charset="-127"/>
              </a:rPr>
              <a:t> = []</a:t>
            </a:r>
          </a:p>
          <a:p>
            <a:pPr>
              <a:lnSpc>
                <a:spcPts val="1575"/>
              </a:lnSpc>
            </a:pPr>
            <a:r>
              <a:rPr lang="en-US" altLang="ko-KR" sz="1600" b="0" dirty="0">
                <a:effectLst/>
                <a:latin typeface="D2Coding" panose="020B0609020101020101" pitchFamily="49" charset="-127"/>
                <a:ea typeface="D2Coding" panose="020B0609020101020101" pitchFamily="49" charset="-127"/>
              </a:rPr>
              <a:t>for </a:t>
            </a:r>
            <a:r>
              <a:rPr lang="en-US" altLang="ko-KR" sz="1600" b="0" dirty="0" err="1">
                <a:effectLst/>
                <a:latin typeface="D2Coding" panose="020B0609020101020101" pitchFamily="49" charset="-127"/>
                <a:ea typeface="D2Coding" panose="020B0609020101020101" pitchFamily="49" charset="-127"/>
              </a:rPr>
              <a:t>input_t</a:t>
            </a:r>
            <a:r>
              <a:rPr lang="en-US" altLang="ko-KR" sz="1600" b="0" dirty="0">
                <a:effectLst/>
                <a:latin typeface="D2Coding" panose="020B0609020101020101" pitchFamily="49" charset="-127"/>
                <a:ea typeface="D2Coding" panose="020B0609020101020101" pitchFamily="49" charset="-127"/>
              </a:rPr>
              <a:t> in inputs:</a:t>
            </a:r>
            <a:r>
              <a:rPr lang="en-US" altLang="ko-KR" sz="1600" dirty="0">
                <a:latin typeface="D2Coding" panose="020B0609020101020101" pitchFamily="49" charset="-127"/>
                <a:ea typeface="D2Coding" panose="020B0609020101020101" pitchFamily="49" charset="-127"/>
              </a:rPr>
              <a:t> # </a:t>
            </a:r>
            <a:r>
              <a:rPr lang="en-US" altLang="ko-KR" sz="1600" dirty="0" err="1">
                <a:latin typeface="D2Coding" panose="020B0609020101020101" pitchFamily="49" charset="-127"/>
                <a:ea typeface="D2Coding" panose="020B0609020101020101" pitchFamily="49" charset="-127"/>
              </a:rPr>
              <a:t>input_t</a:t>
            </a:r>
            <a:r>
              <a:rPr lang="en-US" altLang="ko-KR" sz="1600" dirty="0">
                <a:latin typeface="D2Coding" panose="020B0609020101020101" pitchFamily="49" charset="-127"/>
                <a:ea typeface="D2Coding" panose="020B0609020101020101" pitchFamily="49" charset="-127"/>
              </a:rPr>
              <a:t> is a vector of shape (</a:t>
            </a:r>
            <a:r>
              <a:rPr lang="en-US" altLang="ko-KR" sz="1600" dirty="0" err="1">
                <a:latin typeface="D2Coding" panose="020B0609020101020101" pitchFamily="49" charset="-127"/>
                <a:ea typeface="D2Coding" panose="020B0609020101020101" pitchFamily="49" charset="-127"/>
              </a:rPr>
              <a:t>input_features</a:t>
            </a:r>
            <a:r>
              <a:rPr lang="en-US" altLang="ko-KR" sz="1600" dirty="0">
                <a:latin typeface="D2Coding" panose="020B0609020101020101" pitchFamily="49" charset="-127"/>
                <a:ea typeface="D2Coding" panose="020B0609020101020101" pitchFamily="49" charset="-127"/>
              </a:rPr>
              <a:t>,)</a:t>
            </a: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 Combines the input with the current state (the previous output)</a:t>
            </a:r>
            <a:r>
              <a:rPr lang="en-US" altLang="ko-KR" sz="1600" dirty="0">
                <a:latin typeface="D2Coding" panose="020B0609020101020101" pitchFamily="49" charset="-127"/>
                <a:ea typeface="D2Coding" panose="020B0609020101020101" pitchFamily="49" charset="-127"/>
              </a:rPr>
              <a:t> to obtain the current output</a:t>
            </a: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output_t</a:t>
            </a:r>
            <a:r>
              <a:rPr lang="en-US" altLang="ko-KR" sz="1600" b="0" dirty="0">
                <a:effectLst/>
                <a:latin typeface="D2Coding" panose="020B0609020101020101" pitchFamily="49" charset="-127"/>
                <a:ea typeface="D2Coding" panose="020B0609020101020101" pitchFamily="49" charset="-127"/>
              </a:rPr>
              <a:t> = </a:t>
            </a:r>
            <a:r>
              <a:rPr lang="en-US" altLang="ko-KR" sz="1600" b="0" dirty="0" err="1">
                <a:effectLst/>
                <a:latin typeface="D2Coding" panose="020B0609020101020101" pitchFamily="49" charset="-127"/>
                <a:ea typeface="D2Coding" panose="020B0609020101020101" pitchFamily="49" charset="-127"/>
              </a:rPr>
              <a:t>np.tanh</a:t>
            </a:r>
            <a:r>
              <a:rPr lang="en-US" altLang="ko-KR" sz="1600" b="0" dirty="0">
                <a:effectLst/>
                <a:latin typeface="D2Coding" panose="020B0609020101020101" pitchFamily="49" charset="-127"/>
                <a:ea typeface="D2Coding" panose="020B0609020101020101" pitchFamily="49" charset="-127"/>
              </a:rPr>
              <a:t>(np.dot(W, </a:t>
            </a:r>
            <a:r>
              <a:rPr lang="en-US" altLang="ko-KR" sz="1600" b="0" dirty="0" err="1">
                <a:effectLst/>
                <a:latin typeface="D2Coding" panose="020B0609020101020101" pitchFamily="49" charset="-127"/>
                <a:ea typeface="D2Coding" panose="020B0609020101020101" pitchFamily="49" charset="-127"/>
              </a:rPr>
              <a:t>input_t</a:t>
            </a:r>
            <a:r>
              <a:rPr lang="en-US" altLang="ko-KR" sz="1600" b="0" dirty="0">
                <a:effectLst/>
                <a:latin typeface="D2Coding" panose="020B0609020101020101" pitchFamily="49" charset="-127"/>
                <a:ea typeface="D2Coding" panose="020B0609020101020101" pitchFamily="49" charset="-127"/>
              </a:rPr>
              <a:t>) + np.dot(U, </a:t>
            </a:r>
            <a:r>
              <a:rPr lang="en-US" altLang="ko-KR" sz="1600" b="0" dirty="0" err="1">
                <a:effectLst/>
                <a:latin typeface="D2Coding" panose="020B0609020101020101" pitchFamily="49" charset="-127"/>
                <a:ea typeface="D2Coding" panose="020B0609020101020101" pitchFamily="49" charset="-127"/>
              </a:rPr>
              <a:t>state_t</a:t>
            </a:r>
            <a:r>
              <a:rPr lang="en-US" altLang="ko-KR" sz="1600" b="0" dirty="0">
                <a:effectLst/>
                <a:latin typeface="D2Coding" panose="020B0609020101020101" pitchFamily="49" charset="-127"/>
                <a:ea typeface="D2Coding" panose="020B0609020101020101" pitchFamily="49" charset="-127"/>
              </a:rPr>
              <a:t>) + b)</a:t>
            </a:r>
          </a:p>
          <a:p>
            <a:pPr>
              <a:lnSpc>
                <a:spcPts val="1575"/>
              </a:lnSpc>
              <a:buNone/>
            </a:pPr>
            <a:r>
              <a:rPr lang="en-US" altLang="ko-KR" sz="1600" b="0" dirty="0">
                <a:effectLst/>
                <a:latin typeface="D2Coding" panose="020B0609020101020101" pitchFamily="49" charset="-127"/>
                <a:ea typeface="D2Coding" panose="020B0609020101020101" pitchFamily="49" charset="-127"/>
              </a:rPr>
              <a:t>    # Stores this output in a list</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successive_outputs.append</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output_t</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    # Updates the state of the network for the next timestep</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state_t</a:t>
            </a:r>
            <a:r>
              <a:rPr lang="en-US" altLang="ko-KR" sz="1600" b="0" dirty="0">
                <a:effectLst/>
                <a:latin typeface="D2Coding" panose="020B0609020101020101" pitchFamily="49" charset="-127"/>
                <a:ea typeface="D2Coding" panose="020B0609020101020101" pitchFamily="49" charset="-127"/>
              </a:rPr>
              <a:t> = </a:t>
            </a:r>
            <a:r>
              <a:rPr lang="en-US" altLang="ko-KR" sz="1600" b="0" dirty="0" err="1">
                <a:effectLst/>
                <a:latin typeface="D2Coding" panose="020B0609020101020101" pitchFamily="49" charset="-127"/>
                <a:ea typeface="D2Coding" panose="020B0609020101020101" pitchFamily="49" charset="-127"/>
              </a:rPr>
              <a:t>output_t</a:t>
            </a:r>
            <a:endParaRPr lang="en-US" altLang="ko-KR" sz="1600" b="0" dirty="0">
              <a:effectLst/>
              <a:latin typeface="D2Coding" panose="020B0609020101020101" pitchFamily="49" charset="-127"/>
              <a:ea typeface="D2Coding" panose="020B0609020101020101" pitchFamily="49" charset="-127"/>
            </a:endParaRP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The final output is a rank-2 tensor of shape (</a:t>
            </a:r>
            <a:r>
              <a:rPr lang="en-US" altLang="ko-KR" sz="1600" b="0" dirty="0" err="1">
                <a:effectLst/>
                <a:latin typeface="D2Coding" panose="020B0609020101020101" pitchFamily="49" charset="-127"/>
                <a:ea typeface="D2Coding" panose="020B0609020101020101" pitchFamily="49" charset="-127"/>
              </a:rPr>
              <a:t>timesteps,output_features</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err="1">
                <a:effectLst/>
                <a:latin typeface="D2Coding" panose="020B0609020101020101" pitchFamily="49" charset="-127"/>
                <a:ea typeface="D2Coding" panose="020B0609020101020101" pitchFamily="49" charset="-127"/>
              </a:rPr>
              <a:t>final_output_sequence</a:t>
            </a:r>
            <a:r>
              <a:rPr lang="en-US" altLang="ko-KR" sz="1600" b="0" dirty="0">
                <a:effectLst/>
                <a:latin typeface="D2Coding" panose="020B0609020101020101" pitchFamily="49" charset="-127"/>
                <a:ea typeface="D2Coding" panose="020B0609020101020101" pitchFamily="49" charset="-127"/>
              </a:rPr>
              <a:t> = </a:t>
            </a:r>
            <a:r>
              <a:rPr lang="en-US" altLang="ko-KR" sz="1600" b="0" dirty="0" err="1">
                <a:effectLst/>
                <a:latin typeface="D2Coding" panose="020B0609020101020101" pitchFamily="49" charset="-127"/>
                <a:ea typeface="D2Coding" panose="020B0609020101020101" pitchFamily="49" charset="-127"/>
              </a:rPr>
              <a:t>np.concatenate</a:t>
            </a:r>
            <a:r>
              <a:rPr lang="en-US" altLang="ko-KR" sz="1600" b="0" dirty="0">
                <a:effectLst/>
                <a:latin typeface="D2Coding" panose="020B0609020101020101" pitchFamily="49" charset="-127"/>
                <a:ea typeface="D2Coding" panose="020B0609020101020101" pitchFamily="49" charset="-127"/>
              </a:rPr>
              <a:t>(</a:t>
            </a:r>
            <a:r>
              <a:rPr lang="en-US" altLang="ko-KR" sz="1600" b="0" dirty="0" err="1">
                <a:effectLst/>
                <a:latin typeface="D2Coding" panose="020B0609020101020101" pitchFamily="49" charset="-127"/>
                <a:ea typeface="D2Coding" panose="020B0609020101020101" pitchFamily="49" charset="-127"/>
              </a:rPr>
              <a:t>successive_outputs</a:t>
            </a:r>
            <a:r>
              <a:rPr lang="en-US" altLang="ko-KR" sz="1600" b="0" dirty="0">
                <a:effectLst/>
                <a:latin typeface="D2Coding" panose="020B0609020101020101" pitchFamily="49" charset="-127"/>
                <a:ea typeface="D2Coding" panose="020B0609020101020101" pitchFamily="49" charset="-127"/>
              </a:rPr>
              <a:t>, axis=0)</a:t>
            </a:r>
          </a:p>
        </p:txBody>
      </p:sp>
      <p:sp>
        <p:nvSpPr>
          <p:cNvPr id="6" name="슬라이드 번호 개체 틀 3">
            <a:extLst>
              <a:ext uri="{FF2B5EF4-FFF2-40B4-BE49-F238E27FC236}">
                <a16:creationId xmlns:a16="http://schemas.microsoft.com/office/drawing/2014/main" id="{23048E67-F011-CBB7-B63C-FBE7DAF9DAE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7" name="그래픽 6" descr="수영">
            <a:extLst>
              <a:ext uri="{FF2B5EF4-FFF2-40B4-BE49-F238E27FC236}">
                <a16:creationId xmlns:a16="http://schemas.microsoft.com/office/drawing/2014/main" id="{24E7D417-5C19-C46D-6350-FB138803EF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spTree>
    <p:extLst>
      <p:ext uri="{BB962C8B-B14F-4D97-AF65-F5344CB8AC3E}">
        <p14:creationId xmlns:p14="http://schemas.microsoft.com/office/powerpoint/2010/main" val="3592266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BB4EA-9E1A-840E-9F4A-364A43BD03D1}"/>
            </a:ext>
          </a:extLst>
        </p:cNvPr>
        <p:cNvGrpSpPr/>
        <p:nvPr/>
      </p:nvGrpSpPr>
      <p:grpSpPr>
        <a:xfrm>
          <a:off x="0" y="0"/>
          <a:ext cx="0" cy="0"/>
          <a:chOff x="0" y="0"/>
          <a:chExt cx="0" cy="0"/>
        </a:xfrm>
      </p:grpSpPr>
      <p:pic>
        <p:nvPicPr>
          <p:cNvPr id="39" name="그림 38">
            <a:extLst>
              <a:ext uri="{FF2B5EF4-FFF2-40B4-BE49-F238E27FC236}">
                <a16:creationId xmlns:a16="http://schemas.microsoft.com/office/drawing/2014/main" id="{CE16B647-9DE7-7A03-1DF2-E9C71558EE2C}"/>
              </a:ext>
            </a:extLst>
          </p:cNvPr>
          <p:cNvPicPr>
            <a:picLocks noChangeAspect="1"/>
          </p:cNvPicPr>
          <p:nvPr/>
        </p:nvPicPr>
        <p:blipFill>
          <a:blip r:embed="rId2"/>
          <a:stretch>
            <a:fillRect/>
          </a:stretch>
        </p:blipFill>
        <p:spPr>
          <a:xfrm>
            <a:off x="8053138" y="3914213"/>
            <a:ext cx="3685600" cy="2643519"/>
          </a:xfrm>
          <a:prstGeom prst="rect">
            <a:avLst/>
          </a:prstGeom>
          <a:ln>
            <a:solidFill>
              <a:schemeClr val="tx1"/>
            </a:solidFill>
          </a:ln>
        </p:spPr>
      </p:pic>
      <p:sp>
        <p:nvSpPr>
          <p:cNvPr id="3" name="제목 1">
            <a:extLst>
              <a:ext uri="{FF2B5EF4-FFF2-40B4-BE49-F238E27FC236}">
                <a16:creationId xmlns:a16="http://schemas.microsoft.com/office/drawing/2014/main" id="{4B6A8EBE-326C-2448-5CBD-6C5A165372C9}"/>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림 4">
            <a:extLst>
              <a:ext uri="{FF2B5EF4-FFF2-40B4-BE49-F238E27FC236}">
                <a16:creationId xmlns:a16="http://schemas.microsoft.com/office/drawing/2014/main" id="{3C7947F2-55FF-E1D2-4F04-504BA20F0095}"/>
              </a:ext>
            </a:extLst>
          </p:cNvPr>
          <p:cNvPicPr>
            <a:picLocks noChangeAspect="1"/>
          </p:cNvPicPr>
          <p:nvPr/>
        </p:nvPicPr>
        <p:blipFill>
          <a:blip r:embed="rId3"/>
          <a:stretch>
            <a:fillRect/>
          </a:stretch>
        </p:blipFill>
        <p:spPr>
          <a:xfrm>
            <a:off x="2357084" y="3607168"/>
            <a:ext cx="5450296" cy="2912464"/>
          </a:xfrm>
          <a:prstGeom prst="rect">
            <a:avLst/>
          </a:prstGeom>
          <a:ln>
            <a:solidFill>
              <a:schemeClr val="tx1"/>
            </a:solidFill>
          </a:ln>
        </p:spPr>
      </p:pic>
      <p:sp>
        <p:nvSpPr>
          <p:cNvPr id="6" name="직사각형 5">
            <a:extLst>
              <a:ext uri="{FF2B5EF4-FFF2-40B4-BE49-F238E27FC236}">
                <a16:creationId xmlns:a16="http://schemas.microsoft.com/office/drawing/2014/main" id="{2A2B9C36-B64D-46EA-E19A-22CDA0A585BB}"/>
              </a:ext>
            </a:extLst>
          </p:cNvPr>
          <p:cNvSpPr/>
          <p:nvPr/>
        </p:nvSpPr>
        <p:spPr>
          <a:xfrm>
            <a:off x="577284" y="1695450"/>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7" name="직사각형 6">
            <a:extLst>
              <a:ext uri="{FF2B5EF4-FFF2-40B4-BE49-F238E27FC236}">
                <a16:creationId xmlns:a16="http://schemas.microsoft.com/office/drawing/2014/main" id="{414D6970-2455-BC6D-537D-0D0B8BC67C9D}"/>
              </a:ext>
            </a:extLst>
          </p:cNvPr>
          <p:cNvSpPr/>
          <p:nvPr/>
        </p:nvSpPr>
        <p:spPr>
          <a:xfrm>
            <a:off x="577284" y="1969294"/>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8" name="직사각형 7">
            <a:extLst>
              <a:ext uri="{FF2B5EF4-FFF2-40B4-BE49-F238E27FC236}">
                <a16:creationId xmlns:a16="http://schemas.microsoft.com/office/drawing/2014/main" id="{99C8ED44-7442-1B59-9685-EFCF8D81F67E}"/>
              </a:ext>
            </a:extLst>
          </p:cNvPr>
          <p:cNvSpPr/>
          <p:nvPr/>
        </p:nvSpPr>
        <p:spPr>
          <a:xfrm>
            <a:off x="577284" y="2243138"/>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9" name="직사각형 8">
            <a:extLst>
              <a:ext uri="{FF2B5EF4-FFF2-40B4-BE49-F238E27FC236}">
                <a16:creationId xmlns:a16="http://schemas.microsoft.com/office/drawing/2014/main" id="{C280D36F-309D-1D16-A1FD-E0F3623017DF}"/>
              </a:ext>
            </a:extLst>
          </p:cNvPr>
          <p:cNvSpPr/>
          <p:nvPr/>
        </p:nvSpPr>
        <p:spPr>
          <a:xfrm>
            <a:off x="577284" y="2516982"/>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0" name="직사각형 9">
            <a:extLst>
              <a:ext uri="{FF2B5EF4-FFF2-40B4-BE49-F238E27FC236}">
                <a16:creationId xmlns:a16="http://schemas.microsoft.com/office/drawing/2014/main" id="{89208AB8-6200-735B-89C0-4BBD2D80FD8E}"/>
              </a:ext>
            </a:extLst>
          </p:cNvPr>
          <p:cNvSpPr/>
          <p:nvPr/>
        </p:nvSpPr>
        <p:spPr>
          <a:xfrm>
            <a:off x="577284" y="2783684"/>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1" name="직사각형 10">
            <a:extLst>
              <a:ext uri="{FF2B5EF4-FFF2-40B4-BE49-F238E27FC236}">
                <a16:creationId xmlns:a16="http://schemas.microsoft.com/office/drawing/2014/main" id="{5DCE16FF-37D3-A837-2373-B0ADC2D16761}"/>
              </a:ext>
            </a:extLst>
          </p:cNvPr>
          <p:cNvSpPr/>
          <p:nvPr/>
        </p:nvSpPr>
        <p:spPr>
          <a:xfrm>
            <a:off x="577284" y="3733800"/>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2" name="직사각형 11">
            <a:extLst>
              <a:ext uri="{FF2B5EF4-FFF2-40B4-BE49-F238E27FC236}">
                <a16:creationId xmlns:a16="http://schemas.microsoft.com/office/drawing/2014/main" id="{6B5BED51-3EAA-D4C3-2327-BA6981EC6EFC}"/>
              </a:ext>
            </a:extLst>
          </p:cNvPr>
          <p:cNvSpPr/>
          <p:nvPr/>
        </p:nvSpPr>
        <p:spPr>
          <a:xfrm>
            <a:off x="577284" y="4010025"/>
            <a:ext cx="918141" cy="20955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3" name="오른쪽 중괄호 12">
            <a:extLst>
              <a:ext uri="{FF2B5EF4-FFF2-40B4-BE49-F238E27FC236}">
                <a16:creationId xmlns:a16="http://schemas.microsoft.com/office/drawing/2014/main" id="{E8DDE740-0CAA-B3AF-DF08-B956608717C4}"/>
              </a:ext>
            </a:extLst>
          </p:cNvPr>
          <p:cNvSpPr/>
          <p:nvPr/>
        </p:nvSpPr>
        <p:spPr>
          <a:xfrm>
            <a:off x="1644586" y="1758521"/>
            <a:ext cx="247650" cy="2495550"/>
          </a:xfrm>
          <a:prstGeom prst="rightBrace">
            <a:avLst>
              <a:gd name="adj1" fmla="val 50641"/>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sz="1600"/>
          </a:p>
        </p:txBody>
      </p:sp>
      <p:sp>
        <p:nvSpPr>
          <p:cNvPr id="14" name="오른쪽 중괄호 13">
            <a:extLst>
              <a:ext uri="{FF2B5EF4-FFF2-40B4-BE49-F238E27FC236}">
                <a16:creationId xmlns:a16="http://schemas.microsoft.com/office/drawing/2014/main" id="{DF1CFA84-20F4-53EA-721D-8B1E76E4A051}"/>
              </a:ext>
            </a:extLst>
          </p:cNvPr>
          <p:cNvSpPr/>
          <p:nvPr/>
        </p:nvSpPr>
        <p:spPr>
          <a:xfrm rot="5400000">
            <a:off x="952741" y="3967943"/>
            <a:ext cx="152937" cy="799079"/>
          </a:xfrm>
          <a:prstGeom prst="rightBrace">
            <a:avLst>
              <a:gd name="adj1" fmla="val 50641"/>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sz="1600"/>
          </a:p>
        </p:txBody>
      </p:sp>
      <p:sp>
        <p:nvSpPr>
          <p:cNvPr id="16" name="TextBox 15">
            <a:extLst>
              <a:ext uri="{FF2B5EF4-FFF2-40B4-BE49-F238E27FC236}">
                <a16:creationId xmlns:a16="http://schemas.microsoft.com/office/drawing/2014/main" id="{687ECA0D-E714-2E6D-7C83-70C48B1BE723}"/>
              </a:ext>
            </a:extLst>
          </p:cNvPr>
          <p:cNvSpPr txBox="1"/>
          <p:nvPr/>
        </p:nvSpPr>
        <p:spPr>
          <a:xfrm>
            <a:off x="1892236" y="2561174"/>
            <a:ext cx="533400" cy="338554"/>
          </a:xfrm>
          <a:prstGeom prst="rect">
            <a:avLst/>
          </a:prstGeom>
          <a:noFill/>
        </p:spPr>
        <p:txBody>
          <a:bodyPr wrap="square">
            <a:spAutoFit/>
          </a:bodyPr>
          <a:lstStyle/>
          <a:p>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100</a:t>
            </a:r>
            <a:endParaRPr lang="ko-KR" altLang="en-US" sz="1600" dirty="0"/>
          </a:p>
        </p:txBody>
      </p:sp>
      <p:sp>
        <p:nvSpPr>
          <p:cNvPr id="17" name="TextBox 16">
            <a:extLst>
              <a:ext uri="{FF2B5EF4-FFF2-40B4-BE49-F238E27FC236}">
                <a16:creationId xmlns:a16="http://schemas.microsoft.com/office/drawing/2014/main" id="{156D8A51-A48E-9049-9466-C692BF0111C3}"/>
              </a:ext>
            </a:extLst>
          </p:cNvPr>
          <p:cNvSpPr txBox="1"/>
          <p:nvPr/>
        </p:nvSpPr>
        <p:spPr>
          <a:xfrm>
            <a:off x="383380" y="4524375"/>
            <a:ext cx="1291658" cy="584775"/>
          </a:xfrm>
          <a:prstGeom prst="rect">
            <a:avLst/>
          </a:prstGeom>
          <a:noFill/>
        </p:spPr>
        <p:txBody>
          <a:bodyPr wrap="square">
            <a:spAutoFit/>
          </a:bodyPr>
          <a:lstStyle/>
          <a:p>
            <a:pPr algn="ctr"/>
            <a:r>
              <a:rPr lang="en-US" altLang="ko-KR" sz="16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32</a:t>
            </a:r>
          </a:p>
          <a:p>
            <a:pPr algn="ctr"/>
            <a:r>
              <a:rPr lang="en-US" altLang="ko-KR" sz="1600" dirty="0"/>
              <a:t>features</a:t>
            </a:r>
            <a:endParaRPr lang="ko-KR" altLang="en-US" sz="1600" dirty="0"/>
          </a:p>
        </p:txBody>
      </p:sp>
      <p:sp>
        <p:nvSpPr>
          <p:cNvPr id="18" name="직사각형 17">
            <a:extLst>
              <a:ext uri="{FF2B5EF4-FFF2-40B4-BE49-F238E27FC236}">
                <a16:creationId xmlns:a16="http://schemas.microsoft.com/office/drawing/2014/main" id="{22EF34F0-D5E4-0F08-1CF9-3081A30C12FE}"/>
              </a:ext>
            </a:extLst>
          </p:cNvPr>
          <p:cNvSpPr/>
          <p:nvPr/>
        </p:nvSpPr>
        <p:spPr>
          <a:xfrm>
            <a:off x="6460216" y="1758521"/>
            <a:ext cx="891689" cy="19734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(32,)</a:t>
            </a:r>
            <a:endParaRPr lang="ko-KR" altLang="en-US" sz="1400" dirty="0">
              <a:solidFill>
                <a:schemeClr val="tx1"/>
              </a:solidFill>
              <a:latin typeface="D2Coding" panose="020B0609020101020101" pitchFamily="49" charset="-127"/>
              <a:ea typeface="D2Coding" panose="020B0609020101020101" pitchFamily="49" charset="-127"/>
            </a:endParaRPr>
          </a:p>
        </p:txBody>
      </p:sp>
      <p:sp>
        <p:nvSpPr>
          <p:cNvPr id="21" name="직사각형 20">
            <a:extLst>
              <a:ext uri="{FF2B5EF4-FFF2-40B4-BE49-F238E27FC236}">
                <a16:creationId xmlns:a16="http://schemas.microsoft.com/office/drawing/2014/main" id="{E1F2609B-324D-BD10-B68B-EDE80750DDFC}"/>
              </a:ext>
            </a:extLst>
          </p:cNvPr>
          <p:cNvSpPr/>
          <p:nvPr/>
        </p:nvSpPr>
        <p:spPr>
          <a:xfrm>
            <a:off x="9062824" y="1778481"/>
            <a:ext cx="1281800" cy="203985"/>
          </a:xfrm>
          <a:prstGeom prst="rect">
            <a:avLst/>
          </a:prstGeom>
          <a:solidFill>
            <a:schemeClr val="accent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bg1"/>
                </a:solidFill>
                <a:latin typeface="D2Coding" panose="020B0609020101020101" pitchFamily="49" charset="-127"/>
                <a:ea typeface="D2Coding" panose="020B0609020101020101" pitchFamily="49" charset="-127"/>
              </a:rPr>
              <a:t>(64,)</a:t>
            </a:r>
            <a:endParaRPr lang="ko-KR" altLang="en-US" sz="1400" dirty="0">
              <a:solidFill>
                <a:schemeClr val="bg1"/>
              </a:solidFill>
              <a:latin typeface="D2Coding" panose="020B0609020101020101" pitchFamily="49" charset="-127"/>
              <a:ea typeface="D2Coding" panose="020B0609020101020101" pitchFamily="49" charset="-127"/>
            </a:endParaRPr>
          </a:p>
        </p:txBody>
      </p:sp>
      <p:sp>
        <p:nvSpPr>
          <p:cNvPr id="23" name="TextBox 22">
            <a:extLst>
              <a:ext uri="{FF2B5EF4-FFF2-40B4-BE49-F238E27FC236}">
                <a16:creationId xmlns:a16="http://schemas.microsoft.com/office/drawing/2014/main" id="{083296EE-6739-836D-9B42-679193FDC117}"/>
              </a:ext>
            </a:extLst>
          </p:cNvPr>
          <p:cNvSpPr txBox="1"/>
          <p:nvPr/>
        </p:nvSpPr>
        <p:spPr>
          <a:xfrm>
            <a:off x="2886574" y="1396849"/>
            <a:ext cx="8619625" cy="307585"/>
          </a:xfrm>
          <a:prstGeom prst="rect">
            <a:avLst/>
          </a:prstGeom>
          <a:solidFill>
            <a:schemeClr val="bg1">
              <a:lumMod val="95000"/>
            </a:schemeClr>
          </a:solidFill>
        </p:spPr>
        <p:txBody>
          <a:bodyPr wrap="square">
            <a:spAutoFit/>
          </a:bodyPr>
          <a:lstStyle/>
          <a:p>
            <a:pPr>
              <a:lnSpc>
                <a:spcPts val="1575"/>
              </a:lnSpc>
              <a:buNone/>
            </a:pPr>
            <a:r>
              <a:rPr lang="en-US" altLang="ko-KR" sz="1800" b="0" dirty="0" err="1">
                <a:effectLst/>
                <a:latin typeface="D2Coding" panose="020B0609020101020101" pitchFamily="49" charset="-127"/>
                <a:ea typeface="D2Coding" panose="020B0609020101020101" pitchFamily="49" charset="-127"/>
              </a:rPr>
              <a:t>output_t</a:t>
            </a:r>
            <a:r>
              <a:rPr lang="en-US" altLang="ko-KR" sz="1800" b="0" dirty="0">
                <a:effectLst/>
                <a:latin typeface="D2Coding" panose="020B0609020101020101" pitchFamily="49" charset="-127"/>
                <a:ea typeface="D2Coding" panose="020B0609020101020101" pitchFamily="49" charset="-127"/>
              </a:rPr>
              <a:t> = </a:t>
            </a:r>
            <a:r>
              <a:rPr lang="en-US" altLang="ko-KR" sz="1800" b="0" dirty="0" err="1">
                <a:effectLst/>
                <a:latin typeface="D2Coding" panose="020B0609020101020101" pitchFamily="49" charset="-127"/>
                <a:ea typeface="D2Coding" panose="020B0609020101020101" pitchFamily="49" charset="-127"/>
              </a:rPr>
              <a:t>np.tanh</a:t>
            </a:r>
            <a:r>
              <a:rPr lang="en-US" altLang="ko-KR" sz="1800" b="0" dirty="0">
                <a:effectLst/>
                <a:latin typeface="D2Coding" panose="020B0609020101020101" pitchFamily="49" charset="-127"/>
                <a:ea typeface="D2Coding" panose="020B0609020101020101" pitchFamily="49" charset="-127"/>
              </a:rPr>
              <a:t>(np.dot(</a:t>
            </a:r>
            <a:r>
              <a:rPr lang="en-US" altLang="ko-KR" sz="1800" b="1" dirty="0">
                <a:solidFill>
                  <a:srgbClr val="FF0000"/>
                </a:solidFill>
                <a:effectLst/>
                <a:latin typeface="D2Coding" panose="020B0609020101020101" pitchFamily="49" charset="-127"/>
                <a:ea typeface="D2Coding" panose="020B0609020101020101" pitchFamily="49" charset="-127"/>
              </a:rPr>
              <a:t>W</a:t>
            </a:r>
            <a:r>
              <a:rPr lang="en-US" altLang="ko-KR" sz="1800" b="1" dirty="0">
                <a:effectLst/>
                <a:latin typeface="D2Coding" panose="020B0609020101020101" pitchFamily="49" charset="-127"/>
                <a:ea typeface="D2Coding" panose="020B0609020101020101" pitchFamily="49" charset="-127"/>
              </a:rPr>
              <a:t>,   </a:t>
            </a:r>
            <a:r>
              <a:rPr lang="en-US" altLang="ko-KR" sz="1800" b="1" dirty="0" err="1">
                <a:solidFill>
                  <a:schemeClr val="accent6"/>
                </a:solidFill>
                <a:effectLst/>
                <a:latin typeface="D2Coding" panose="020B0609020101020101" pitchFamily="49" charset="-127"/>
                <a:ea typeface="D2Coding" panose="020B0609020101020101" pitchFamily="49" charset="-127"/>
              </a:rPr>
              <a:t>input_t</a:t>
            </a:r>
            <a:r>
              <a:rPr lang="en-US" altLang="ko-KR" sz="1800" b="0" dirty="0">
                <a:effectLst/>
                <a:latin typeface="D2Coding" panose="020B0609020101020101" pitchFamily="49" charset="-127"/>
                <a:ea typeface="D2Coding" panose="020B0609020101020101" pitchFamily="49" charset="-127"/>
              </a:rPr>
              <a:t>) + np.dot(</a:t>
            </a:r>
            <a:r>
              <a:rPr lang="en-US" altLang="ko-KR" sz="1800" b="1" dirty="0">
                <a:solidFill>
                  <a:schemeClr val="accent4"/>
                </a:solidFill>
                <a:effectLst/>
                <a:latin typeface="D2Coding" panose="020B0609020101020101" pitchFamily="49" charset="-127"/>
                <a:ea typeface="D2Coding" panose="020B0609020101020101" pitchFamily="49" charset="-127"/>
              </a:rPr>
              <a:t>U</a:t>
            </a:r>
            <a:r>
              <a:rPr lang="en-US" altLang="ko-KR" sz="1800" b="1" dirty="0">
                <a:effectLst/>
                <a:latin typeface="D2Coding" panose="020B0609020101020101" pitchFamily="49" charset="-127"/>
                <a:ea typeface="D2Coding" panose="020B0609020101020101" pitchFamily="49" charset="-127"/>
              </a:rPr>
              <a:t>,   </a:t>
            </a:r>
            <a:r>
              <a:rPr lang="en-US" altLang="ko-KR" sz="1800" b="1" dirty="0" err="1">
                <a:solidFill>
                  <a:schemeClr val="accent5"/>
                </a:solidFill>
                <a:effectLst/>
                <a:latin typeface="D2Coding" panose="020B0609020101020101" pitchFamily="49" charset="-127"/>
                <a:ea typeface="D2Coding" panose="020B0609020101020101" pitchFamily="49" charset="-127"/>
              </a:rPr>
              <a:t>state_t</a:t>
            </a:r>
            <a:r>
              <a:rPr lang="en-US" altLang="ko-KR" sz="1800" b="0" dirty="0">
                <a:effectLst/>
                <a:latin typeface="D2Coding" panose="020B0609020101020101" pitchFamily="49" charset="-127"/>
                <a:ea typeface="D2Coding" panose="020B0609020101020101" pitchFamily="49" charset="-127"/>
              </a:rPr>
              <a:t>) +     </a:t>
            </a:r>
            <a:r>
              <a:rPr lang="en-US" altLang="ko-KR" sz="1800" b="1" dirty="0">
                <a:effectLst/>
                <a:latin typeface="D2Coding" panose="020B0609020101020101" pitchFamily="49" charset="-127"/>
                <a:ea typeface="D2Coding" panose="020B0609020101020101" pitchFamily="49" charset="-127"/>
              </a:rPr>
              <a:t>b</a:t>
            </a:r>
            <a:r>
              <a:rPr lang="en-US" altLang="ko-KR" sz="1800" b="0" dirty="0">
                <a:effectLst/>
                <a:latin typeface="D2Coding" panose="020B0609020101020101" pitchFamily="49" charset="-127"/>
                <a:ea typeface="D2Coding" panose="020B0609020101020101" pitchFamily="49" charset="-127"/>
              </a:rPr>
              <a:t>)</a:t>
            </a:r>
          </a:p>
        </p:txBody>
      </p:sp>
      <p:sp>
        <p:nvSpPr>
          <p:cNvPr id="24" name="직사각형 23">
            <a:extLst>
              <a:ext uri="{FF2B5EF4-FFF2-40B4-BE49-F238E27FC236}">
                <a16:creationId xmlns:a16="http://schemas.microsoft.com/office/drawing/2014/main" id="{A9AACF48-10BD-4317-146D-9FD2B6EBFF96}"/>
              </a:ext>
            </a:extLst>
          </p:cNvPr>
          <p:cNvSpPr/>
          <p:nvPr/>
        </p:nvSpPr>
        <p:spPr>
          <a:xfrm>
            <a:off x="7807380" y="1758522"/>
            <a:ext cx="1281798" cy="1281800"/>
          </a:xfrm>
          <a:prstGeom prst="rect">
            <a:avLst/>
          </a:prstGeom>
          <a:solidFill>
            <a:schemeClr val="accent4"/>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(64,64)</a:t>
            </a:r>
            <a:endParaRPr lang="ko-KR" altLang="en-US" sz="1400" dirty="0">
              <a:solidFill>
                <a:schemeClr val="tx1"/>
              </a:solidFill>
              <a:latin typeface="D2Coding" panose="020B0609020101020101" pitchFamily="49" charset="-127"/>
              <a:ea typeface="D2Coding" panose="020B0609020101020101" pitchFamily="49" charset="-127"/>
            </a:endParaRPr>
          </a:p>
        </p:txBody>
      </p:sp>
      <p:sp>
        <p:nvSpPr>
          <p:cNvPr id="25" name="직사각형 24">
            <a:extLst>
              <a:ext uri="{FF2B5EF4-FFF2-40B4-BE49-F238E27FC236}">
                <a16:creationId xmlns:a16="http://schemas.microsoft.com/office/drawing/2014/main" id="{340C8FCB-B5F7-33F3-13EC-DE023299D086}"/>
              </a:ext>
            </a:extLst>
          </p:cNvPr>
          <p:cNvSpPr/>
          <p:nvPr/>
        </p:nvSpPr>
        <p:spPr>
          <a:xfrm>
            <a:off x="10521587" y="1758521"/>
            <a:ext cx="1281800" cy="203985"/>
          </a:xfrm>
          <a:prstGeom prst="rect">
            <a:avLst/>
          </a:prstGeom>
          <a:solidFill>
            <a:schemeClr val="tx1"/>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D2Coding" panose="020B0609020101020101" pitchFamily="49" charset="-127"/>
                <a:ea typeface="D2Coding" panose="020B0609020101020101" pitchFamily="49" charset="-127"/>
              </a:rPr>
              <a:t>(64,)</a:t>
            </a:r>
            <a:endParaRPr lang="ko-KR" altLang="en-US" sz="1400" dirty="0">
              <a:latin typeface="D2Coding" panose="020B0609020101020101" pitchFamily="49" charset="-127"/>
              <a:ea typeface="D2Coding" panose="020B0609020101020101" pitchFamily="49" charset="-127"/>
            </a:endParaRPr>
          </a:p>
        </p:txBody>
      </p:sp>
      <p:pic>
        <p:nvPicPr>
          <p:cNvPr id="40" name="그림 39">
            <a:extLst>
              <a:ext uri="{FF2B5EF4-FFF2-40B4-BE49-F238E27FC236}">
                <a16:creationId xmlns:a16="http://schemas.microsoft.com/office/drawing/2014/main" id="{FB09BCB3-581C-4181-5FB8-37B6F1F54A7F}"/>
              </a:ext>
            </a:extLst>
          </p:cNvPr>
          <p:cNvPicPr>
            <a:picLocks noChangeAspect="1"/>
          </p:cNvPicPr>
          <p:nvPr/>
        </p:nvPicPr>
        <p:blipFill>
          <a:blip r:embed="rId4"/>
          <a:stretch>
            <a:fillRect/>
          </a:stretch>
        </p:blipFill>
        <p:spPr>
          <a:xfrm>
            <a:off x="8044130" y="3604245"/>
            <a:ext cx="3681145" cy="304648"/>
          </a:xfrm>
          <a:prstGeom prst="rect">
            <a:avLst/>
          </a:prstGeom>
          <a:ln w="12700">
            <a:solidFill>
              <a:schemeClr val="tx1"/>
            </a:solidFill>
          </a:ln>
        </p:spPr>
      </p:pic>
      <p:sp>
        <p:nvSpPr>
          <p:cNvPr id="44" name="TextBox 43">
            <a:extLst>
              <a:ext uri="{FF2B5EF4-FFF2-40B4-BE49-F238E27FC236}">
                <a16:creationId xmlns:a16="http://schemas.microsoft.com/office/drawing/2014/main" id="{163177FC-A382-77DE-791A-B40E701EF883}"/>
              </a:ext>
            </a:extLst>
          </p:cNvPr>
          <p:cNvSpPr txBox="1"/>
          <p:nvPr/>
        </p:nvSpPr>
        <p:spPr>
          <a:xfrm>
            <a:off x="1644586" y="3204527"/>
            <a:ext cx="1285875" cy="338554"/>
          </a:xfrm>
          <a:prstGeom prst="rect">
            <a:avLst/>
          </a:prstGeom>
          <a:noFill/>
        </p:spPr>
        <p:txBody>
          <a:bodyPr wrap="square">
            <a:spAutoFit/>
          </a:bodyPr>
          <a:lstStyle/>
          <a:p>
            <a:pPr algn="ctr"/>
            <a:r>
              <a:rPr lang="en-US" altLang="ko-KR" sz="1600" dirty="0"/>
              <a:t>Time steps</a:t>
            </a:r>
            <a:endParaRPr lang="ko-KR" altLang="en-US" sz="1600" dirty="0"/>
          </a:p>
        </p:txBody>
      </p:sp>
      <p:sp>
        <p:nvSpPr>
          <p:cNvPr id="45" name="TextBox 44">
            <a:extLst>
              <a:ext uri="{FF2B5EF4-FFF2-40B4-BE49-F238E27FC236}">
                <a16:creationId xmlns:a16="http://schemas.microsoft.com/office/drawing/2014/main" id="{0A53435A-805B-EAA4-6A26-8B02D71BF322}"/>
              </a:ext>
            </a:extLst>
          </p:cNvPr>
          <p:cNvSpPr txBox="1"/>
          <p:nvPr/>
        </p:nvSpPr>
        <p:spPr>
          <a:xfrm>
            <a:off x="524896" y="1394606"/>
            <a:ext cx="1162050"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in</a:t>
            </a:r>
            <a:r>
              <a:rPr lang="en-US" altLang="ko-KR" sz="1600" b="0" dirty="0">
                <a:effectLst/>
                <a:latin typeface="D2Coding" panose="020B0609020101020101" pitchFamily="49" charset="-127"/>
                <a:ea typeface="D2Coding" panose="020B0609020101020101" pitchFamily="49" charset="-127"/>
              </a:rPr>
              <a:t>put</a:t>
            </a:r>
            <a:r>
              <a:rPr lang="en-US" altLang="ko-KR" sz="1600" dirty="0">
                <a:latin typeface="D2Coding" panose="020B0609020101020101" pitchFamily="49" charset="-127"/>
                <a:ea typeface="D2Coding" panose="020B0609020101020101" pitchFamily="49" charset="-127"/>
              </a:rPr>
              <a:t>s</a:t>
            </a:r>
            <a:endParaRPr lang="ko-KR" altLang="en-US" sz="1600" dirty="0"/>
          </a:p>
        </p:txBody>
      </p:sp>
      <p:cxnSp>
        <p:nvCxnSpPr>
          <p:cNvPr id="48" name="연결선: 구부러짐 47">
            <a:extLst>
              <a:ext uri="{FF2B5EF4-FFF2-40B4-BE49-F238E27FC236}">
                <a16:creationId xmlns:a16="http://schemas.microsoft.com/office/drawing/2014/main" id="{7BB50E53-507D-5F76-ADF4-EB41671D0DDB}"/>
              </a:ext>
            </a:extLst>
          </p:cNvPr>
          <p:cNvCxnSpPr>
            <a:cxnSpLocks/>
            <a:endCxn id="18" idx="2"/>
          </p:cNvCxnSpPr>
          <p:nvPr/>
        </p:nvCxnSpPr>
        <p:spPr>
          <a:xfrm flipV="1">
            <a:off x="1686946" y="1955862"/>
            <a:ext cx="5219115" cy="1105892"/>
          </a:xfrm>
          <a:prstGeom prst="curvedConnector2">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8F5C11E0-44AF-DE9C-417E-2A797A156B72}"/>
              </a:ext>
            </a:extLst>
          </p:cNvPr>
          <p:cNvSpPr txBox="1"/>
          <p:nvPr/>
        </p:nvSpPr>
        <p:spPr>
          <a:xfrm>
            <a:off x="2523746" y="2664653"/>
            <a:ext cx="2009314" cy="338554"/>
          </a:xfrm>
          <a:prstGeom prst="rect">
            <a:avLst/>
          </a:prstGeom>
          <a:noFill/>
        </p:spPr>
        <p:txBody>
          <a:bodyPr wrap="square">
            <a:spAutoFit/>
          </a:bodyPr>
          <a:lstStyle/>
          <a:p>
            <a:r>
              <a:rPr lang="en-US" altLang="ko-KR" sz="1600" b="0" dirty="0">
                <a:effectLst/>
                <a:latin typeface="D2Coding" panose="020B0609020101020101" pitchFamily="49" charset="-127"/>
                <a:ea typeface="D2Coding" panose="020B0609020101020101" pitchFamily="49" charset="-127"/>
              </a:rPr>
              <a:t>for ~ in</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inputs</a:t>
            </a:r>
            <a:r>
              <a:rPr lang="en-US" altLang="ko-KR" sz="1600" b="0" dirty="0">
                <a:effectLst/>
                <a:latin typeface="D2Coding" panose="020B0609020101020101" pitchFamily="49" charset="-127"/>
                <a:ea typeface="D2Coding" panose="020B0609020101020101" pitchFamily="49" charset="-127"/>
              </a:rPr>
              <a:t>:</a:t>
            </a:r>
            <a:endParaRPr lang="ko-KR" altLang="en-US" sz="1600" dirty="0"/>
          </a:p>
        </p:txBody>
      </p:sp>
      <p:sp>
        <p:nvSpPr>
          <p:cNvPr id="53" name="슬라이드 번호 개체 틀 3">
            <a:extLst>
              <a:ext uri="{FF2B5EF4-FFF2-40B4-BE49-F238E27FC236}">
                <a16:creationId xmlns:a16="http://schemas.microsoft.com/office/drawing/2014/main" id="{3DF1FCA6-E10B-F510-4161-3D74490E507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BDDC3496-0FCB-7588-EF79-2BA20F50EE57}"/>
              </a:ext>
            </a:extLst>
          </p:cNvPr>
          <p:cNvSpPr>
            <a:spLocks noChangeArrowheads="1"/>
          </p:cNvSpPr>
          <p:nvPr/>
        </p:nvSpPr>
        <p:spPr bwMode="auto">
          <a:xfrm>
            <a:off x="8716789" y="5520428"/>
            <a:ext cx="1481976" cy="230832"/>
          </a:xfrm>
          <a:prstGeom prst="rect">
            <a:avLst/>
          </a:prstGeom>
          <a:solidFill>
            <a:schemeClr val="tx1"/>
          </a:solidFill>
          <a:ln>
            <a:noFill/>
          </a:ln>
          <a:effec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i="0" u="none" strike="noStrike" cap="none" normalizeH="0" baseline="0" dirty="0">
                <a:ln>
                  <a:noFill/>
                </a:ln>
                <a:solidFill>
                  <a:schemeClr val="bg1"/>
                </a:solidFill>
                <a:effectLst/>
                <a:latin typeface="D2Coding" panose="020B0609020101020101" pitchFamily="49" charset="-127"/>
                <a:ea typeface="D2Coding" panose="020B0609020101020101" pitchFamily="49" charset="-127"/>
              </a:rPr>
              <a:t>은닉 노드 수 : 64개</a:t>
            </a:r>
          </a:p>
        </p:txBody>
      </p:sp>
      <p:sp>
        <p:nvSpPr>
          <p:cNvPr id="19" name="직사각형 18">
            <a:extLst>
              <a:ext uri="{FF2B5EF4-FFF2-40B4-BE49-F238E27FC236}">
                <a16:creationId xmlns:a16="http://schemas.microsoft.com/office/drawing/2014/main" id="{18D4909B-5806-AD49-FB56-121ABED34D54}"/>
              </a:ext>
            </a:extLst>
          </p:cNvPr>
          <p:cNvSpPr/>
          <p:nvPr/>
        </p:nvSpPr>
        <p:spPr>
          <a:xfrm>
            <a:off x="5558897" y="1758522"/>
            <a:ext cx="891687" cy="1281800"/>
          </a:xfrm>
          <a:prstGeom prst="rect">
            <a:avLst/>
          </a:prstGeom>
          <a:solidFill>
            <a:schemeClr val="accent2"/>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(64,32)</a:t>
            </a:r>
            <a:endParaRPr lang="ko-KR" altLang="en-US" sz="1400" dirty="0">
              <a:solidFill>
                <a:schemeClr val="tx1"/>
              </a:solidFill>
              <a:latin typeface="D2Coding" panose="020B0609020101020101" pitchFamily="49" charset="-127"/>
              <a:ea typeface="D2Coding" panose="020B0609020101020101" pitchFamily="49" charset="-127"/>
            </a:endParaRPr>
          </a:p>
        </p:txBody>
      </p:sp>
      <p:sp>
        <p:nvSpPr>
          <p:cNvPr id="15" name="직사각형 14">
            <a:extLst>
              <a:ext uri="{FF2B5EF4-FFF2-40B4-BE49-F238E27FC236}">
                <a16:creationId xmlns:a16="http://schemas.microsoft.com/office/drawing/2014/main" id="{B0924BB7-017E-5DE2-3F82-2304E9C0D0C1}"/>
              </a:ext>
            </a:extLst>
          </p:cNvPr>
          <p:cNvSpPr/>
          <p:nvPr/>
        </p:nvSpPr>
        <p:spPr>
          <a:xfrm>
            <a:off x="2930461" y="2959768"/>
            <a:ext cx="891689" cy="197341"/>
          </a:xfrm>
          <a:prstGeom prst="rect">
            <a:avLst/>
          </a:prstGeom>
          <a:solidFill>
            <a:schemeClr val="accent6"/>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D2Coding" panose="020B0609020101020101" pitchFamily="49" charset="-127"/>
                <a:ea typeface="D2Coding" panose="020B0609020101020101" pitchFamily="49" charset="-127"/>
              </a:rPr>
              <a:t>(32,)</a:t>
            </a:r>
            <a:endParaRPr lang="ko-KR" altLang="en-US" sz="1400" dirty="0">
              <a:solidFill>
                <a:schemeClr val="tx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1881694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D7176-9626-B0D6-7B39-E46A879C587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EC9A1671-A1FD-DD32-A884-EC500AD667C6}"/>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슬라이드 번호 개체 틀 3">
            <a:extLst>
              <a:ext uri="{FF2B5EF4-FFF2-40B4-BE49-F238E27FC236}">
                <a16:creationId xmlns:a16="http://schemas.microsoft.com/office/drawing/2014/main" id="{8C4153DF-32CF-1ACC-195A-189A33D0AA6A}"/>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52AFD81-7D5C-20B1-58E5-970AC729C6AD}"/>
              </a:ext>
            </a:extLst>
          </p:cNvPr>
          <p:cNvSpPr txBox="1"/>
          <p:nvPr/>
        </p:nvSpPr>
        <p:spPr>
          <a:xfrm>
            <a:off x="1832838" y="3111890"/>
            <a:ext cx="9139962" cy="314381"/>
          </a:xfrm>
          <a:prstGeom prst="rect">
            <a:avLst/>
          </a:prstGeom>
          <a:solidFill>
            <a:srgbClr val="76E3FF"/>
          </a:solidFill>
          <a:ln>
            <a:noFill/>
          </a:ln>
        </p:spPr>
        <p:txBody>
          <a:bodyPr wrap="square">
            <a:spAutoFit/>
          </a:bodyPr>
          <a:lstStyle/>
          <a:p>
            <a:pPr>
              <a:lnSpc>
                <a:spcPts val="1575"/>
              </a:lnSpc>
              <a:buNone/>
            </a:pPr>
            <a:r>
              <a:rPr lang="en-US" altLang="ko-KR" b="0" dirty="0" err="1">
                <a:effectLst/>
                <a:latin typeface="D2Coding" panose="020B0609020101020101" pitchFamily="49" charset="-127"/>
                <a:ea typeface="D2Coding" panose="020B0609020101020101" pitchFamily="49" charset="-127"/>
              </a:rPr>
              <a:t>output_t</a:t>
            </a:r>
            <a:r>
              <a:rPr lang="en-US" altLang="ko-KR" b="0" dirty="0">
                <a:effectLst/>
                <a:latin typeface="D2Coding" panose="020B0609020101020101" pitchFamily="49" charset="-127"/>
                <a:ea typeface="D2Coding" panose="020B0609020101020101" pitchFamily="49" charset="-127"/>
              </a:rPr>
              <a:t> = </a:t>
            </a:r>
            <a:r>
              <a:rPr lang="en-US" altLang="ko-KR" b="0" dirty="0" err="1">
                <a:effectLst/>
                <a:latin typeface="D2Coding" panose="020B0609020101020101" pitchFamily="49" charset="-127"/>
                <a:ea typeface="D2Coding" panose="020B0609020101020101" pitchFamily="49" charset="-127"/>
              </a:rPr>
              <a:t>np.tanh</a:t>
            </a:r>
            <a:r>
              <a:rPr lang="en-US" altLang="ko-KR" b="0" dirty="0">
                <a:effectLst/>
                <a:latin typeface="D2Coding" panose="020B0609020101020101" pitchFamily="49" charset="-127"/>
                <a:ea typeface="D2Coding" panose="020B0609020101020101" pitchFamily="49" charset="-127"/>
              </a:rPr>
              <a:t>(np.dot(</a:t>
            </a:r>
            <a:r>
              <a:rPr lang="en-US" altLang="ko-KR" b="1" dirty="0">
                <a:solidFill>
                  <a:srgbClr val="FF0000"/>
                </a:solidFill>
                <a:effectLst/>
                <a:latin typeface="D2Coding" panose="020B0609020101020101" pitchFamily="49" charset="-127"/>
                <a:ea typeface="D2Coding" panose="020B0609020101020101" pitchFamily="49" charset="-127"/>
              </a:rPr>
              <a:t>W</a:t>
            </a:r>
            <a:r>
              <a:rPr lang="en-US" altLang="ko-KR" b="1" dirty="0">
                <a:effectLst/>
                <a:latin typeface="D2Coding" panose="020B0609020101020101" pitchFamily="49" charset="-127"/>
                <a:ea typeface="D2Coding" panose="020B0609020101020101" pitchFamily="49" charset="-127"/>
              </a:rPr>
              <a:t>, </a:t>
            </a:r>
            <a:r>
              <a:rPr lang="en-US" altLang="ko-KR" b="1" dirty="0" err="1">
                <a:solidFill>
                  <a:schemeClr val="accent6"/>
                </a:solidFill>
                <a:effectLst/>
                <a:latin typeface="D2Coding" panose="020B0609020101020101" pitchFamily="49" charset="-127"/>
                <a:ea typeface="D2Coding" panose="020B0609020101020101" pitchFamily="49" charset="-127"/>
              </a:rPr>
              <a:t>input_t</a:t>
            </a:r>
            <a:r>
              <a:rPr lang="en-US" altLang="ko-KR" b="0" dirty="0">
                <a:effectLst/>
                <a:latin typeface="D2Coding" panose="020B0609020101020101" pitchFamily="49" charset="-127"/>
                <a:ea typeface="D2Coding" panose="020B0609020101020101" pitchFamily="49" charset="-127"/>
              </a:rPr>
              <a:t>) + np.dot(</a:t>
            </a:r>
            <a:r>
              <a:rPr lang="en-US" altLang="ko-KR" b="1" dirty="0">
                <a:solidFill>
                  <a:schemeClr val="accent4"/>
                </a:solidFill>
                <a:effectLst/>
                <a:latin typeface="D2Coding" panose="020B0609020101020101" pitchFamily="49" charset="-127"/>
                <a:ea typeface="D2Coding" panose="020B0609020101020101" pitchFamily="49" charset="-127"/>
              </a:rPr>
              <a:t>U</a:t>
            </a:r>
            <a:r>
              <a:rPr lang="en-US" altLang="ko-KR" b="1" dirty="0">
                <a:effectLst/>
                <a:latin typeface="D2Coding" panose="020B0609020101020101" pitchFamily="49" charset="-127"/>
                <a:ea typeface="D2Coding" panose="020B0609020101020101" pitchFamily="49" charset="-127"/>
              </a:rPr>
              <a:t>, </a:t>
            </a:r>
            <a:r>
              <a:rPr lang="en-US" altLang="ko-KR" b="1" dirty="0" err="1">
                <a:solidFill>
                  <a:schemeClr val="accent5"/>
                </a:solidFill>
                <a:effectLst/>
                <a:latin typeface="D2Coding" panose="020B0609020101020101" pitchFamily="49" charset="-127"/>
                <a:ea typeface="D2Coding" panose="020B0609020101020101" pitchFamily="49" charset="-127"/>
              </a:rPr>
              <a:t>state_t</a:t>
            </a:r>
            <a:r>
              <a:rPr lang="en-US" altLang="ko-KR" b="0" dirty="0">
                <a:effectLst/>
                <a:latin typeface="D2Coding" panose="020B0609020101020101" pitchFamily="49" charset="-127"/>
                <a:ea typeface="D2Coding" panose="020B0609020101020101" pitchFamily="49" charset="-127"/>
              </a:rPr>
              <a:t>) + </a:t>
            </a:r>
            <a:r>
              <a:rPr lang="en-US" altLang="ko-KR" b="1" dirty="0">
                <a:effectLst/>
                <a:latin typeface="D2Coding" panose="020B0609020101020101" pitchFamily="49" charset="-127"/>
                <a:ea typeface="D2Coding" panose="020B0609020101020101" pitchFamily="49" charset="-127"/>
              </a:rPr>
              <a:t>b</a:t>
            </a:r>
            <a:r>
              <a:rPr lang="en-US" altLang="ko-KR" b="0" dirty="0">
                <a:effectLst/>
                <a:latin typeface="D2Coding" panose="020B0609020101020101" pitchFamily="49" charset="-127"/>
                <a:ea typeface="D2Coding" panose="020B0609020101020101" pitchFamily="49" charset="-127"/>
              </a:rPr>
              <a:t>)</a:t>
            </a:r>
          </a:p>
        </p:txBody>
      </p:sp>
      <p:sp>
        <p:nvSpPr>
          <p:cNvPr id="15" name="TextBox 14">
            <a:extLst>
              <a:ext uri="{FF2B5EF4-FFF2-40B4-BE49-F238E27FC236}">
                <a16:creationId xmlns:a16="http://schemas.microsoft.com/office/drawing/2014/main" id="{E1FF4AE3-5E09-B659-760E-E1FC0A6F06E2}"/>
              </a:ext>
            </a:extLst>
          </p:cNvPr>
          <p:cNvSpPr txBox="1"/>
          <p:nvPr/>
        </p:nvSpPr>
        <p:spPr>
          <a:xfrm>
            <a:off x="1832837" y="5735904"/>
            <a:ext cx="9139961" cy="314381"/>
          </a:xfrm>
          <a:prstGeom prst="rect">
            <a:avLst/>
          </a:prstGeom>
          <a:solidFill>
            <a:srgbClr val="76E3FF"/>
          </a:solidFill>
          <a:ln>
            <a:noFill/>
          </a:ln>
        </p:spPr>
        <p:txBody>
          <a:bodyPr wrap="square">
            <a:spAutoFit/>
          </a:bodyPr>
          <a:lstStyle/>
          <a:p>
            <a:pPr>
              <a:lnSpc>
                <a:spcPts val="1575"/>
              </a:lnSpc>
              <a:buNone/>
            </a:pPr>
            <a:r>
              <a:rPr lang="en-US" altLang="ko-KR" b="0" dirty="0" err="1">
                <a:effectLst/>
                <a:latin typeface="D2Coding" panose="020B0609020101020101" pitchFamily="49" charset="-127"/>
                <a:ea typeface="D2Coding" panose="020B0609020101020101" pitchFamily="49" charset="-127"/>
              </a:rPr>
              <a:t>output_t</a:t>
            </a:r>
            <a:r>
              <a:rPr lang="en-US" altLang="ko-KR" b="0" dirty="0">
                <a:effectLst/>
                <a:latin typeface="D2Coding" panose="020B0609020101020101" pitchFamily="49" charset="-127"/>
                <a:ea typeface="D2Coding" panose="020B0609020101020101" pitchFamily="49" charset="-127"/>
              </a:rPr>
              <a:t> = </a:t>
            </a:r>
            <a:r>
              <a:rPr lang="en-US" altLang="ko-KR" b="0" dirty="0" err="1">
                <a:effectLst/>
                <a:latin typeface="D2Coding" panose="020B0609020101020101" pitchFamily="49" charset="-127"/>
                <a:ea typeface="D2Coding" panose="020B0609020101020101" pitchFamily="49" charset="-127"/>
              </a:rPr>
              <a:t>np.tanh</a:t>
            </a:r>
            <a:r>
              <a:rPr lang="en-US" altLang="ko-KR" b="0" dirty="0">
                <a:effectLst/>
                <a:latin typeface="D2Coding" panose="020B0609020101020101" pitchFamily="49" charset="-127"/>
                <a:ea typeface="D2Coding" panose="020B0609020101020101" pitchFamily="49" charset="-127"/>
              </a:rPr>
              <a:t>(np.dot(</a:t>
            </a:r>
            <a:r>
              <a:rPr lang="en-US" altLang="ko-KR" b="1" dirty="0">
                <a:solidFill>
                  <a:srgbClr val="FF0000"/>
                </a:solidFill>
                <a:effectLst/>
                <a:latin typeface="D2Coding" panose="020B0609020101020101" pitchFamily="49" charset="-127"/>
                <a:ea typeface="D2Coding" panose="020B0609020101020101" pitchFamily="49" charset="-127"/>
              </a:rPr>
              <a:t>W</a:t>
            </a:r>
            <a:r>
              <a:rPr lang="en-US" altLang="ko-KR" b="1" dirty="0">
                <a:effectLst/>
                <a:latin typeface="D2Coding" panose="020B0609020101020101" pitchFamily="49" charset="-127"/>
                <a:ea typeface="D2Coding" panose="020B0609020101020101" pitchFamily="49" charset="-127"/>
              </a:rPr>
              <a:t>, </a:t>
            </a:r>
            <a:r>
              <a:rPr lang="en-US" altLang="ko-KR" b="1" dirty="0" err="1">
                <a:solidFill>
                  <a:schemeClr val="accent6"/>
                </a:solidFill>
                <a:effectLst/>
                <a:latin typeface="D2Coding" panose="020B0609020101020101" pitchFamily="49" charset="-127"/>
                <a:ea typeface="D2Coding" panose="020B0609020101020101" pitchFamily="49" charset="-127"/>
              </a:rPr>
              <a:t>input_t</a:t>
            </a:r>
            <a:r>
              <a:rPr lang="en-US" altLang="ko-KR" b="0" dirty="0">
                <a:effectLst/>
                <a:latin typeface="D2Coding" panose="020B0609020101020101" pitchFamily="49" charset="-127"/>
                <a:ea typeface="D2Coding" panose="020B0609020101020101" pitchFamily="49" charset="-127"/>
              </a:rPr>
              <a:t>) + </a:t>
            </a:r>
            <a:r>
              <a:rPr lang="en-US" altLang="ko-KR" b="1" dirty="0">
                <a:effectLst/>
                <a:latin typeface="D2Coding" panose="020B0609020101020101" pitchFamily="49" charset="-127"/>
                <a:ea typeface="D2Coding" panose="020B0609020101020101" pitchFamily="49" charset="-127"/>
              </a:rPr>
              <a:t>b</a:t>
            </a:r>
            <a:r>
              <a:rPr lang="en-US" altLang="ko-KR" b="0" dirty="0">
                <a:effectLst/>
                <a:latin typeface="D2Coding" panose="020B0609020101020101" pitchFamily="49" charset="-127"/>
                <a:ea typeface="D2Coding" panose="020B0609020101020101" pitchFamily="49" charset="-127"/>
              </a:rPr>
              <a:t>)</a:t>
            </a:r>
          </a:p>
        </p:txBody>
      </p:sp>
      <p:sp>
        <p:nvSpPr>
          <p:cNvPr id="22" name="TextBox 21">
            <a:extLst>
              <a:ext uri="{FF2B5EF4-FFF2-40B4-BE49-F238E27FC236}">
                <a16:creationId xmlns:a16="http://schemas.microsoft.com/office/drawing/2014/main" id="{C97BE825-998C-60CF-76C1-66B6A48FD88C}"/>
              </a:ext>
            </a:extLst>
          </p:cNvPr>
          <p:cNvSpPr txBox="1"/>
          <p:nvPr/>
        </p:nvSpPr>
        <p:spPr>
          <a:xfrm>
            <a:off x="1832838" y="3423994"/>
            <a:ext cx="9139962" cy="369332"/>
          </a:xfrm>
          <a:prstGeom prst="rect">
            <a:avLst/>
          </a:prstGeom>
          <a:solidFill>
            <a:srgbClr val="76E3FF"/>
          </a:solidFill>
        </p:spPr>
        <p:txBody>
          <a:bodyPr wrap="square">
            <a:spAutoFit/>
          </a:bodyPr>
          <a:lstStyle/>
          <a:p>
            <a:r>
              <a:rPr lang="en-US" altLang="ko-KR" dirty="0" err="1">
                <a:latin typeface="D2Coding" panose="020B0609020101020101" pitchFamily="49" charset="-127"/>
                <a:ea typeface="D2Coding" panose="020B0609020101020101" pitchFamily="49" charset="-127"/>
              </a:rPr>
              <a:t>SimpleRNN</a:t>
            </a:r>
            <a:r>
              <a:rPr lang="en-US" altLang="ko-KR" dirty="0">
                <a:effectLst/>
                <a:latin typeface="D2Coding" panose="020B0609020101020101" pitchFamily="49" charset="-127"/>
                <a:ea typeface="D2Coding" panose="020B0609020101020101" pitchFamily="49" charset="-127"/>
              </a:rPr>
              <a:t>(64,</a:t>
            </a:r>
            <a:r>
              <a:rPr lang="en-US" altLang="ko-KR" dirty="0">
                <a:latin typeface="D2Coding" panose="020B0609020101020101" pitchFamily="49" charset="-127"/>
                <a:ea typeface="D2Coding" panose="020B0609020101020101" pitchFamily="49" charset="-127"/>
              </a:rPr>
              <a:t> </a:t>
            </a:r>
            <a:r>
              <a:rPr lang="en-US" altLang="ko-KR" dirty="0" err="1">
                <a:effectLst/>
                <a:latin typeface="D2Coding" panose="020B0609020101020101" pitchFamily="49" charset="-127"/>
                <a:ea typeface="D2Coding" panose="020B0609020101020101" pitchFamily="49" charset="-127"/>
              </a:rPr>
              <a:t>input_shape</a:t>
            </a:r>
            <a:r>
              <a:rPr lang="en-US" altLang="ko-KR" dirty="0">
                <a:latin typeface="D2Coding" panose="020B0609020101020101" pitchFamily="49" charset="-127"/>
                <a:ea typeface="D2Coding" panose="020B0609020101020101" pitchFamily="49" charset="-127"/>
              </a:rPr>
              <a:t>=</a:t>
            </a:r>
            <a:r>
              <a:rPr lang="en-US" altLang="ko-KR" dirty="0">
                <a:effectLst/>
                <a:latin typeface="D2Coding" panose="020B0609020101020101" pitchFamily="49" charset="-127"/>
                <a:ea typeface="D2Coding" panose="020B0609020101020101" pitchFamily="49" charset="-127"/>
              </a:rPr>
              <a:t>(</a:t>
            </a:r>
            <a:r>
              <a:rPr lang="en-US" altLang="ko-KR" dirty="0">
                <a:latin typeface="D2Coding" panose="020B0609020101020101" pitchFamily="49" charset="-127"/>
                <a:ea typeface="D2Coding" panose="020B0609020101020101" pitchFamily="49" charset="-127"/>
              </a:rPr>
              <a:t>timesteps</a:t>
            </a:r>
            <a:r>
              <a:rPr lang="en-US" altLang="ko-KR" dirty="0">
                <a:effectLst/>
                <a:latin typeface="D2Coding" panose="020B0609020101020101" pitchFamily="49" charset="-127"/>
                <a:ea typeface="D2Coding" panose="020B0609020101020101" pitchFamily="49" charset="-127"/>
              </a:rPr>
              <a:t>,</a:t>
            </a:r>
            <a:r>
              <a:rPr lang="en-US" altLang="ko-KR" dirty="0">
                <a:latin typeface="D2Coding" panose="020B0609020101020101" pitchFamily="49" charset="-127"/>
                <a:ea typeface="D2Coding" panose="020B0609020101020101" pitchFamily="49" charset="-127"/>
              </a:rPr>
              <a:t> </a:t>
            </a:r>
            <a:r>
              <a:rPr lang="en-US" altLang="ko-KR" dirty="0" err="1">
                <a:latin typeface="D2Coding" panose="020B0609020101020101" pitchFamily="49" charset="-127"/>
                <a:ea typeface="D2Coding" panose="020B0609020101020101" pitchFamily="49" charset="-127"/>
              </a:rPr>
              <a:t>input_features</a:t>
            </a:r>
            <a:r>
              <a:rPr lang="en-US" altLang="ko-KR" dirty="0">
                <a:effectLst/>
                <a:latin typeface="D2Coding" panose="020B0609020101020101" pitchFamily="49" charset="-127"/>
                <a:ea typeface="D2Coding" panose="020B0609020101020101" pitchFamily="49" charset="-127"/>
              </a:rPr>
              <a:t>))</a:t>
            </a:r>
            <a:endParaRPr lang="ko-KR" altLang="en-US" dirty="0">
              <a:latin typeface="D2Coding" panose="020B0609020101020101" pitchFamily="49" charset="-127"/>
              <a:ea typeface="D2Coding" panose="020B0609020101020101" pitchFamily="49" charset="-127"/>
            </a:endParaRPr>
          </a:p>
        </p:txBody>
      </p:sp>
      <p:sp>
        <p:nvSpPr>
          <p:cNvPr id="26" name="TextBox 25">
            <a:extLst>
              <a:ext uri="{FF2B5EF4-FFF2-40B4-BE49-F238E27FC236}">
                <a16:creationId xmlns:a16="http://schemas.microsoft.com/office/drawing/2014/main" id="{B1CBB682-3151-0045-282E-00C6E5D4D11D}"/>
              </a:ext>
            </a:extLst>
          </p:cNvPr>
          <p:cNvSpPr txBox="1"/>
          <p:nvPr/>
        </p:nvSpPr>
        <p:spPr>
          <a:xfrm>
            <a:off x="609600" y="1219200"/>
            <a:ext cx="10972800" cy="793166"/>
          </a:xfrm>
          <a:prstGeom prst="rect">
            <a:avLst/>
          </a:prstGeom>
          <a:noFill/>
        </p:spPr>
        <p:txBody>
          <a:bodyPr wrap="square" rtlCol="0">
            <a:spAutoFit/>
          </a:bodyPr>
          <a:lstStyle/>
          <a:p>
            <a:pPr>
              <a:lnSpc>
                <a:spcPct val="150000"/>
              </a:lnSpc>
            </a:pPr>
            <a:r>
              <a:rPr lang="en-US" altLang="ko-KR" sz="1600" dirty="0">
                <a:latin typeface="D2Coding" panose="020B0609020101020101" pitchFamily="49" charset="-127"/>
                <a:ea typeface="D2Coding" panose="020B0609020101020101" pitchFamily="49" charset="-127"/>
              </a:rPr>
              <a:t>RNN</a:t>
            </a:r>
            <a:r>
              <a:rPr lang="ko-KR" altLang="en-US" sz="1600" dirty="0">
                <a:latin typeface="D2Coding" panose="020B0609020101020101" pitchFamily="49" charset="-127"/>
                <a:ea typeface="D2Coding" panose="020B0609020101020101" pitchFamily="49" charset="-127"/>
              </a:rPr>
              <a:t>의 은닉층의 노드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뉴런</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의 개수는 </a:t>
            </a:r>
            <a:r>
              <a:rPr lang="en-US" altLang="ko-KR" sz="1600" dirty="0">
                <a:latin typeface="D2Coding" panose="020B0609020101020101" pitchFamily="49" charset="-127"/>
                <a:ea typeface="D2Coding" panose="020B0609020101020101" pitchFamily="49" charset="-127"/>
              </a:rPr>
              <a:t>64</a:t>
            </a:r>
            <a:r>
              <a:rPr lang="ko-KR" altLang="en-US" sz="1600" dirty="0">
                <a:latin typeface="D2Coding" panose="020B0609020101020101" pitchFamily="49" charset="-127"/>
                <a:ea typeface="D2Coding" panose="020B0609020101020101" pitchFamily="49" charset="-127"/>
              </a:rPr>
              <a:t>개</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output_features</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로 </a:t>
            </a:r>
            <a:r>
              <a:rPr lang="en-US" altLang="ko-KR" sz="1600" dirty="0" err="1">
                <a:latin typeface="D2Coding" panose="020B0609020101020101" pitchFamily="49" charset="-127"/>
                <a:ea typeface="D2Coding" panose="020B0609020101020101" pitchFamily="49" charset="-127"/>
              </a:rPr>
              <a:t>input_features</a:t>
            </a:r>
            <a:r>
              <a:rPr lang="en-US" altLang="ko-KR" sz="1600" dirty="0">
                <a:latin typeface="D2Coding" panose="020B0609020101020101" pitchFamily="49" charset="-127"/>
                <a:ea typeface="D2Coding" panose="020B0609020101020101" pitchFamily="49" charset="-127"/>
              </a:rPr>
              <a:t> 32</a:t>
            </a:r>
            <a:r>
              <a:rPr lang="ko-KR" altLang="en-US" sz="1600" dirty="0">
                <a:latin typeface="D2Coding" panose="020B0609020101020101" pitchFamily="49" charset="-127"/>
                <a:ea typeface="D2Coding" panose="020B0609020101020101" pitchFamily="49" charset="-127"/>
              </a:rPr>
              <a:t>개 노드를 받아 </a:t>
            </a:r>
            <a:r>
              <a:rPr lang="en-US" altLang="ko-KR" sz="1600" dirty="0">
                <a:latin typeface="D2Coding" panose="020B0609020101020101" pitchFamily="49" charset="-127"/>
                <a:ea typeface="D2Coding" panose="020B0609020101020101" pitchFamily="49" charset="-127"/>
              </a:rPr>
              <a:t>timesteps 100</a:t>
            </a:r>
            <a:r>
              <a:rPr lang="ko-KR" altLang="en-US" sz="1600" dirty="0">
                <a:latin typeface="D2Coding" panose="020B0609020101020101" pitchFamily="49" charset="-127"/>
                <a:ea typeface="D2Coding" panose="020B0609020101020101" pitchFamily="49" charset="-127"/>
              </a:rPr>
              <a:t>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최근 </a:t>
            </a:r>
            <a:r>
              <a:rPr lang="en-US" altLang="ko-KR" sz="1600" dirty="0">
                <a:latin typeface="D2Coding" panose="020B0609020101020101" pitchFamily="49" charset="-127"/>
                <a:ea typeface="D2Coding" panose="020B0609020101020101" pitchFamily="49" charset="-127"/>
              </a:rPr>
              <a:t>100</a:t>
            </a:r>
            <a:r>
              <a:rPr lang="ko-KR" altLang="en-US" sz="1600" dirty="0">
                <a:latin typeface="D2Coding" panose="020B0609020101020101" pitchFamily="49" charset="-127"/>
                <a:ea typeface="D2Coding" panose="020B0609020101020101" pitchFamily="49" charset="-127"/>
              </a:rPr>
              <a:t>일 동안 주가</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과거의 </a:t>
            </a:r>
            <a:r>
              <a:rPr lang="en-US" altLang="ko-KR" sz="1600" dirty="0">
                <a:latin typeface="D2Coding" panose="020B0609020101020101" pitchFamily="49" charset="-127"/>
                <a:ea typeface="D2Coding" panose="020B0609020101020101" pitchFamily="49" charset="-127"/>
              </a:rPr>
              <a:t>state</a:t>
            </a:r>
            <a:r>
              <a:rPr lang="ko-KR" altLang="en-US" sz="1600" dirty="0">
                <a:latin typeface="D2Coding" panose="020B0609020101020101" pitchFamily="49" charset="-127"/>
                <a:ea typeface="D2Coding" panose="020B0609020101020101" pitchFamily="49" charset="-127"/>
              </a:rPr>
              <a:t>를 계속 </a:t>
            </a:r>
            <a:r>
              <a:rPr lang="en-US" altLang="ko-KR" sz="1600" dirty="0">
                <a:latin typeface="D2Coding" panose="020B0609020101020101" pitchFamily="49" charset="-127"/>
                <a:ea typeface="D2Coding" panose="020B0609020101020101" pitchFamily="49" charset="-127"/>
              </a:rPr>
              <a:t>memory</a:t>
            </a:r>
            <a:r>
              <a:rPr lang="ko-KR" altLang="en-US" sz="1600" dirty="0">
                <a:latin typeface="D2Coding" panose="020B0609020101020101" pitchFamily="49" charset="-127"/>
                <a:ea typeface="D2Coding" panose="020B0609020101020101" pitchFamily="49" charset="-127"/>
              </a:rPr>
              <a:t>하면서 인지하는 딥러닝 구조</a:t>
            </a:r>
          </a:p>
        </p:txBody>
      </p:sp>
      <p:sp>
        <p:nvSpPr>
          <p:cNvPr id="30" name="TextBox 29">
            <a:extLst>
              <a:ext uri="{FF2B5EF4-FFF2-40B4-BE49-F238E27FC236}">
                <a16:creationId xmlns:a16="http://schemas.microsoft.com/office/drawing/2014/main" id="{51296232-9DE3-1405-26D1-3C39EC6BA9C1}"/>
              </a:ext>
            </a:extLst>
          </p:cNvPr>
          <p:cNvSpPr txBox="1"/>
          <p:nvPr/>
        </p:nvSpPr>
        <p:spPr>
          <a:xfrm>
            <a:off x="904875" y="2680889"/>
            <a:ext cx="5604239" cy="369332"/>
          </a:xfrm>
          <a:prstGeom prst="rect">
            <a:avLst/>
          </a:prstGeom>
          <a:solidFill>
            <a:schemeClr val="tx1"/>
          </a:solidFill>
        </p:spPr>
        <p:txBody>
          <a:bodyPr wrap="square">
            <a:spAutoFit/>
          </a:bodyPr>
          <a:lstStyle/>
          <a:p>
            <a:pPr marL="342900" indent="-342900">
              <a:buFont typeface="Wingdings" panose="05000000000000000000" pitchFamily="2" charset="2"/>
              <a:buChar char="v"/>
            </a:pPr>
            <a:r>
              <a:rPr lang="en-US" altLang="ko-KR" u="sng" dirty="0">
                <a:solidFill>
                  <a:schemeClr val="bg1"/>
                </a:solidFill>
                <a:latin typeface="D2Coding" panose="020B0609020101020101" pitchFamily="49" charset="-127"/>
                <a:ea typeface="D2Coding" panose="020B0609020101020101" pitchFamily="49" charset="-127"/>
              </a:rPr>
              <a:t>RNN(Recurrent Neural Network)</a:t>
            </a:r>
            <a:endParaRPr lang="ko-KR" altLang="en-US" u="sng" dirty="0">
              <a:solidFill>
                <a:schemeClr val="bg1"/>
              </a:solidFill>
            </a:endParaRPr>
          </a:p>
        </p:txBody>
      </p:sp>
      <p:sp>
        <p:nvSpPr>
          <p:cNvPr id="31" name="TextBox 30">
            <a:extLst>
              <a:ext uri="{FF2B5EF4-FFF2-40B4-BE49-F238E27FC236}">
                <a16:creationId xmlns:a16="http://schemas.microsoft.com/office/drawing/2014/main" id="{15D39DC4-02EF-86C2-FADA-25AA3C9C56B2}"/>
              </a:ext>
            </a:extLst>
          </p:cNvPr>
          <p:cNvSpPr txBox="1"/>
          <p:nvPr/>
        </p:nvSpPr>
        <p:spPr>
          <a:xfrm>
            <a:off x="904875" y="5301468"/>
            <a:ext cx="5604239" cy="369332"/>
          </a:xfrm>
          <a:prstGeom prst="rect">
            <a:avLst/>
          </a:prstGeom>
          <a:solidFill>
            <a:schemeClr val="tx1"/>
          </a:solidFill>
        </p:spPr>
        <p:txBody>
          <a:bodyPr wrap="square">
            <a:spAutoFit/>
          </a:bodyPr>
          <a:lstStyle/>
          <a:p>
            <a:pPr marL="342900" indent="-342900">
              <a:buFont typeface="Wingdings" panose="05000000000000000000" pitchFamily="2" charset="2"/>
              <a:buChar char="v"/>
            </a:pPr>
            <a:r>
              <a:rPr lang="en-US" altLang="ko-KR" u="sng" dirty="0">
                <a:solidFill>
                  <a:schemeClr val="bg1"/>
                </a:solidFill>
                <a:latin typeface="D2Coding" panose="020B0609020101020101" pitchFamily="49" charset="-127"/>
                <a:ea typeface="D2Coding" panose="020B0609020101020101" pitchFamily="49" charset="-127"/>
              </a:rPr>
              <a:t>FCNN(Fully Connected Neural Network)</a:t>
            </a:r>
            <a:endParaRPr lang="ko-KR" altLang="en-US" u="sng" dirty="0">
              <a:solidFill>
                <a:schemeClr val="bg1"/>
              </a:solidFill>
            </a:endParaRPr>
          </a:p>
        </p:txBody>
      </p:sp>
      <p:sp>
        <p:nvSpPr>
          <p:cNvPr id="32" name="직사각형 31">
            <a:extLst>
              <a:ext uri="{FF2B5EF4-FFF2-40B4-BE49-F238E27FC236}">
                <a16:creationId xmlns:a16="http://schemas.microsoft.com/office/drawing/2014/main" id="{5AF53CCB-F968-3FEB-5CD4-AAB34BE7647C}"/>
              </a:ext>
            </a:extLst>
          </p:cNvPr>
          <p:cNvSpPr/>
          <p:nvPr/>
        </p:nvSpPr>
        <p:spPr>
          <a:xfrm>
            <a:off x="6896100" y="3028441"/>
            <a:ext cx="2476499" cy="4241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4" name="TextBox 33">
            <a:extLst>
              <a:ext uri="{FF2B5EF4-FFF2-40B4-BE49-F238E27FC236}">
                <a16:creationId xmlns:a16="http://schemas.microsoft.com/office/drawing/2014/main" id="{57AC9D47-B3D1-0BD0-CEFA-703C0F93D7DF}"/>
              </a:ext>
            </a:extLst>
          </p:cNvPr>
          <p:cNvSpPr txBox="1"/>
          <p:nvPr/>
        </p:nvSpPr>
        <p:spPr>
          <a:xfrm>
            <a:off x="7419974" y="4338933"/>
            <a:ext cx="4238626" cy="523220"/>
          </a:xfrm>
          <a:prstGeom prst="rect">
            <a:avLst/>
          </a:prstGeom>
          <a:noFill/>
          <a:ln w="28575">
            <a:noFill/>
          </a:ln>
        </p:spPr>
        <p:txBody>
          <a:bodyPr wrap="square">
            <a:spAutoFit/>
          </a:bodyPr>
          <a:lstStyle/>
          <a:p>
            <a:r>
              <a:rPr lang="en-US" altLang="ko-KR" sz="1400" b="0" dirty="0">
                <a:effectLst/>
                <a:latin typeface="D2Coding" panose="020B0609020101020101" pitchFamily="49" charset="-127"/>
                <a:ea typeface="D2Coding" panose="020B0609020101020101" pitchFamily="49" charset="-127"/>
              </a:rPr>
              <a:t>np.dot(</a:t>
            </a:r>
            <a:r>
              <a:rPr lang="en-US" altLang="ko-KR" sz="1400" b="1" dirty="0">
                <a:solidFill>
                  <a:schemeClr val="accent4"/>
                </a:solidFill>
                <a:effectLst/>
                <a:latin typeface="D2Coding" panose="020B0609020101020101" pitchFamily="49" charset="-127"/>
                <a:ea typeface="D2Coding" panose="020B0609020101020101" pitchFamily="49" charset="-127"/>
              </a:rPr>
              <a:t>U</a:t>
            </a:r>
            <a:r>
              <a:rPr lang="en-US" altLang="ko-KR" sz="1400" b="1" dirty="0">
                <a:effectLst/>
                <a:latin typeface="D2Coding" panose="020B0609020101020101" pitchFamily="49" charset="-127"/>
                <a:ea typeface="D2Coding" panose="020B0609020101020101" pitchFamily="49" charset="-127"/>
              </a:rPr>
              <a:t>, </a:t>
            </a:r>
            <a:r>
              <a:rPr lang="en-US" altLang="ko-KR" sz="1400" b="1" dirty="0" err="1">
                <a:solidFill>
                  <a:schemeClr val="accent5"/>
                </a:solidFill>
                <a:effectLst/>
                <a:latin typeface="D2Coding" panose="020B0609020101020101" pitchFamily="49" charset="-127"/>
                <a:ea typeface="D2Coding" panose="020B0609020101020101" pitchFamily="49" charset="-127"/>
              </a:rPr>
              <a:t>state_t</a:t>
            </a:r>
            <a:r>
              <a:rPr lang="en-US" altLang="ko-KR" sz="1400" b="0" dirty="0">
                <a:effectLst/>
                <a:latin typeface="D2Coding" panose="020B0609020101020101" pitchFamily="49" charset="-127"/>
                <a:ea typeface="D2Coding" panose="020B0609020101020101" pitchFamily="49" charset="-127"/>
              </a:rPr>
              <a:t>)</a:t>
            </a:r>
          </a:p>
          <a:p>
            <a:r>
              <a:rPr lang="ko-KR" altLang="en-US" sz="1400" dirty="0">
                <a:latin typeface="D2Coding" panose="020B0609020101020101" pitchFamily="49" charset="-127"/>
                <a:ea typeface="D2Coding" panose="020B0609020101020101" pitchFamily="49" charset="-127"/>
              </a:rPr>
              <a:t>과거</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이전 </a:t>
            </a:r>
            <a:r>
              <a:rPr lang="en-US" altLang="ko-KR" sz="1400" dirty="0">
                <a:latin typeface="D2Coding" panose="020B0609020101020101" pitchFamily="49" charset="-127"/>
                <a:ea typeface="D2Coding" panose="020B0609020101020101" pitchFamily="49" charset="-127"/>
              </a:rPr>
              <a:t>state</a:t>
            </a:r>
            <a:r>
              <a:rPr lang="ko-KR" altLang="en-US" sz="1400" dirty="0">
                <a:latin typeface="D2Coding" panose="020B0609020101020101" pitchFamily="49" charset="-127"/>
                <a:ea typeface="D2Coding" panose="020B0609020101020101" pitchFamily="49" charset="-127"/>
              </a:rPr>
              <a:t>를 </a:t>
            </a:r>
            <a:r>
              <a:rPr lang="en-US" altLang="ko-KR" sz="1400" dirty="0">
                <a:latin typeface="D2Coding" panose="020B0609020101020101" pitchFamily="49" charset="-127"/>
                <a:ea typeface="D2Coding" panose="020B0609020101020101" pitchFamily="49" charset="-127"/>
              </a:rPr>
              <a:t>memory</a:t>
            </a:r>
            <a:r>
              <a:rPr lang="ko-KR" altLang="en-US" sz="1400" dirty="0">
                <a:latin typeface="D2Coding" panose="020B0609020101020101" pitchFamily="49" charset="-127"/>
                <a:ea typeface="D2Coding" panose="020B0609020101020101" pitchFamily="49" charset="-127"/>
              </a:rPr>
              <a:t>하는 수식 항</a:t>
            </a:r>
            <a:endParaRPr lang="ko-KR" altLang="en-US" sz="1400" dirty="0"/>
          </a:p>
        </p:txBody>
      </p:sp>
      <p:cxnSp>
        <p:nvCxnSpPr>
          <p:cNvPr id="38" name="연결선: 구부러짐 37">
            <a:extLst>
              <a:ext uri="{FF2B5EF4-FFF2-40B4-BE49-F238E27FC236}">
                <a16:creationId xmlns:a16="http://schemas.microsoft.com/office/drawing/2014/main" id="{CDEBF34E-A7FE-E9F7-D514-8A99080F76FF}"/>
              </a:ext>
            </a:extLst>
          </p:cNvPr>
          <p:cNvCxnSpPr>
            <a:cxnSpLocks/>
            <a:stCxn id="34" idx="1"/>
            <a:endCxn id="32" idx="2"/>
          </p:cNvCxnSpPr>
          <p:nvPr/>
        </p:nvCxnSpPr>
        <p:spPr>
          <a:xfrm rot="10800000" flipH="1">
            <a:off x="7419974" y="3452569"/>
            <a:ext cx="714376" cy="1147975"/>
          </a:xfrm>
          <a:prstGeom prst="curvedConnector4">
            <a:avLst>
              <a:gd name="adj1" fmla="val -32000"/>
              <a:gd name="adj2" fmla="val 61394"/>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5418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BED66-CDE2-43A5-941D-FD48240393F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42B5EED-CD79-4250-436C-05D7A10EB25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슬라이드 번호 개체 틀 3">
            <a:extLst>
              <a:ext uri="{FF2B5EF4-FFF2-40B4-BE49-F238E27FC236}">
                <a16:creationId xmlns:a16="http://schemas.microsoft.com/office/drawing/2014/main" id="{07670714-F4FD-78D4-1483-F5C0283E492C}"/>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38</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7" name="그림 6">
            <a:extLst>
              <a:ext uri="{FF2B5EF4-FFF2-40B4-BE49-F238E27FC236}">
                <a16:creationId xmlns:a16="http://schemas.microsoft.com/office/drawing/2014/main" id="{03AFAC94-5936-F2E8-BA63-E5A0BA713285}"/>
              </a:ext>
            </a:extLst>
          </p:cNvPr>
          <p:cNvPicPr>
            <a:picLocks noChangeAspect="1"/>
          </p:cNvPicPr>
          <p:nvPr/>
        </p:nvPicPr>
        <p:blipFill>
          <a:blip r:embed="rId2"/>
          <a:stretch>
            <a:fillRect/>
          </a:stretch>
        </p:blipFill>
        <p:spPr>
          <a:xfrm>
            <a:off x="2053325" y="1795139"/>
            <a:ext cx="7675230" cy="4053211"/>
          </a:xfrm>
          <a:prstGeom prst="rect">
            <a:avLst/>
          </a:prstGeom>
          <a:ln>
            <a:solidFill>
              <a:schemeClr val="tx1"/>
            </a:solidFill>
          </a:ln>
        </p:spPr>
      </p:pic>
      <p:sp>
        <p:nvSpPr>
          <p:cNvPr id="6" name="TextBox 5">
            <a:extLst>
              <a:ext uri="{FF2B5EF4-FFF2-40B4-BE49-F238E27FC236}">
                <a16:creationId xmlns:a16="http://schemas.microsoft.com/office/drawing/2014/main" id="{DF2DCB4E-8036-5F8F-788D-405F90D49285}"/>
              </a:ext>
            </a:extLst>
          </p:cNvPr>
          <p:cNvSpPr txBox="1"/>
          <p:nvPr/>
        </p:nvSpPr>
        <p:spPr>
          <a:xfrm>
            <a:off x="2053325" y="5915126"/>
            <a:ext cx="6096000" cy="369332"/>
          </a:xfrm>
          <a:prstGeom prst="rect">
            <a:avLst/>
          </a:prstGeom>
          <a:noFill/>
        </p:spPr>
        <p:txBody>
          <a:bodyPr wrap="square">
            <a:spAutoFit/>
          </a:bodyPr>
          <a:lstStyle/>
          <a:p>
            <a:r>
              <a:rPr lang="en-US" altLang="ko-KR" b="0" i="0" dirty="0">
                <a:effectLst/>
                <a:latin typeface="Lora" pitchFamily="2" charset="0"/>
              </a:rPr>
              <a:t> A simple RNN, unrolled over time</a:t>
            </a:r>
            <a:endParaRPr lang="ko-KR" altLang="en-US" dirty="0"/>
          </a:p>
        </p:txBody>
      </p:sp>
    </p:spTree>
    <p:extLst>
      <p:ext uri="{BB962C8B-B14F-4D97-AF65-F5344CB8AC3E}">
        <p14:creationId xmlns:p14="http://schemas.microsoft.com/office/powerpoint/2010/main" val="2574970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55007-CEF4-9FF9-AD96-23D4DEAE2BC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E0D6649F-76A1-D1C0-6BF8-DF6DCA59B0E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2052" name="Picture 4">
            <a:extLst>
              <a:ext uri="{FF2B5EF4-FFF2-40B4-BE49-F238E27FC236}">
                <a16:creationId xmlns:a16="http://schemas.microsoft.com/office/drawing/2014/main" id="{FAF04672-49C0-42E3-A86B-04F812542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4075" y="1951116"/>
            <a:ext cx="8120769" cy="347881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0DBD77E-01D0-82DB-B0A2-AF6E46223EA5}"/>
              </a:ext>
            </a:extLst>
          </p:cNvPr>
          <p:cNvSpPr txBox="1"/>
          <p:nvPr/>
        </p:nvSpPr>
        <p:spPr>
          <a:xfrm>
            <a:off x="1884075" y="5468035"/>
            <a:ext cx="7315200" cy="369332"/>
          </a:xfrm>
          <a:prstGeom prst="rect">
            <a:avLst/>
          </a:prstGeom>
          <a:noFill/>
        </p:spPr>
        <p:txBody>
          <a:bodyPr wrap="square">
            <a:spAutoFit/>
          </a:bodyPr>
          <a:lstStyle/>
          <a:p>
            <a:r>
              <a:rPr lang="en-US" altLang="ko-KR" b="0" i="0" dirty="0">
                <a:effectLst/>
                <a:latin typeface="Lora" pitchFamily="2" charset="0"/>
              </a:rPr>
              <a:t>Going from a </a:t>
            </a:r>
            <a:r>
              <a:rPr lang="en-US" altLang="ko-KR" b="0" i="0" dirty="0" err="1">
                <a:effectLst/>
                <a:latin typeface="Lora" pitchFamily="2" charset="0"/>
              </a:rPr>
              <a:t>SimpleRNN</a:t>
            </a:r>
            <a:r>
              <a:rPr lang="en-US" altLang="ko-KR" b="0" i="0" dirty="0">
                <a:effectLst/>
                <a:latin typeface="Lora" pitchFamily="2" charset="0"/>
              </a:rPr>
              <a:t> to an LSTM: adding a carry track</a:t>
            </a:r>
            <a:endParaRPr lang="ko-KR" altLang="en-US" dirty="0"/>
          </a:p>
        </p:txBody>
      </p:sp>
    </p:spTree>
    <p:extLst>
      <p:ext uri="{BB962C8B-B14F-4D97-AF65-F5344CB8AC3E}">
        <p14:creationId xmlns:p14="http://schemas.microsoft.com/office/powerpoint/2010/main" val="189187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67102-0C98-54F7-44E8-A5A574FDCA03}"/>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E37AD284-232C-B9DF-4D72-80693FD04EF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6386" name="Picture 2">
            <a:extLst>
              <a:ext uri="{FF2B5EF4-FFF2-40B4-BE49-F238E27FC236}">
                <a16:creationId xmlns:a16="http://schemas.microsoft.com/office/drawing/2014/main" id="{A5114B3D-1F10-AAF1-C14B-28778305A9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1838325"/>
            <a:ext cx="8734425" cy="350628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939027E-016F-895E-982C-940EAF6DC7F8}"/>
              </a:ext>
            </a:extLst>
          </p:cNvPr>
          <p:cNvSpPr txBox="1"/>
          <p:nvPr/>
        </p:nvSpPr>
        <p:spPr>
          <a:xfrm>
            <a:off x="1628775" y="5393727"/>
            <a:ext cx="6096000" cy="369332"/>
          </a:xfrm>
          <a:prstGeom prst="rect">
            <a:avLst/>
          </a:prstGeom>
          <a:noFill/>
        </p:spPr>
        <p:txBody>
          <a:bodyPr wrap="square">
            <a:spAutoFit/>
          </a:bodyPr>
          <a:lstStyle/>
          <a:p>
            <a:r>
              <a:rPr lang="en-US" altLang="ko-KR" dirty="0">
                <a:latin typeface="Lora" pitchFamily="2" charset="0"/>
              </a:rPr>
              <a:t>Anatomy of an LSTM</a:t>
            </a:r>
            <a:endParaRPr lang="ko-KR" altLang="en-US" dirty="0">
              <a:latin typeface="Lora" pitchFamily="2" charset="0"/>
            </a:endParaRPr>
          </a:p>
        </p:txBody>
      </p:sp>
    </p:spTree>
    <p:extLst>
      <p:ext uri="{BB962C8B-B14F-4D97-AF65-F5344CB8AC3E}">
        <p14:creationId xmlns:p14="http://schemas.microsoft.com/office/powerpoint/2010/main" val="2720614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53A4-36DB-F245-2BB0-D8356B9C073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FF1A8E30-B608-7E9F-7E75-95CDFF5EDEF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Getting the most out of recurrent neural networks</a:t>
            </a:r>
          </a:p>
        </p:txBody>
      </p:sp>
      <p:sp>
        <p:nvSpPr>
          <p:cNvPr id="7" name="TextBox 6">
            <a:extLst>
              <a:ext uri="{FF2B5EF4-FFF2-40B4-BE49-F238E27FC236}">
                <a16:creationId xmlns:a16="http://schemas.microsoft.com/office/drawing/2014/main" id="{59D1CDC5-14BE-9A40-EAF0-2CFF2F401B6A}"/>
              </a:ext>
            </a:extLst>
          </p:cNvPr>
          <p:cNvSpPr txBox="1"/>
          <p:nvPr/>
        </p:nvSpPr>
        <p:spPr>
          <a:xfrm>
            <a:off x="809625" y="1493661"/>
            <a:ext cx="7515226" cy="1121461"/>
          </a:xfrm>
          <a:prstGeom prst="rect">
            <a:avLst/>
          </a:prstGeom>
          <a:solidFill>
            <a:srgbClr val="76E3FF"/>
          </a:solidFill>
        </p:spPr>
        <p:txBody>
          <a:bodyPr wrap="square">
            <a:spAutoFit/>
          </a:bodyPr>
          <a:lstStyle/>
          <a:p>
            <a:pPr>
              <a:lnSpc>
                <a:spcPts val="1575"/>
              </a:lnSpc>
              <a:buNone/>
            </a:pPr>
            <a:r>
              <a:rPr lang="en-US" altLang="ko-KR" sz="1600" b="0" dirty="0">
                <a:effectLst/>
                <a:latin typeface="D2Coding" panose="020B0609020101020101" pitchFamily="49" charset="-127"/>
                <a:ea typeface="D2Coding" panose="020B0609020101020101" pitchFamily="49" charset="-127"/>
              </a:rPr>
              <a:t>inputs = </a:t>
            </a:r>
            <a:r>
              <a:rPr lang="en-US" altLang="ko-KR" sz="1600" b="0" dirty="0" err="1">
                <a:effectLst/>
                <a:latin typeface="D2Coding" panose="020B0609020101020101" pitchFamily="49" charset="-127"/>
                <a:ea typeface="D2Coding" panose="020B0609020101020101" pitchFamily="49" charset="-127"/>
              </a:rPr>
              <a:t>keras.Input</a:t>
            </a:r>
            <a:r>
              <a:rPr lang="en-US" altLang="ko-KR" sz="1600" b="0" dirty="0">
                <a:effectLst/>
                <a:latin typeface="D2Coding" panose="020B0609020101020101" pitchFamily="49" charset="-127"/>
                <a:ea typeface="D2Coding" panose="020B0609020101020101" pitchFamily="49" charset="-127"/>
              </a:rPr>
              <a:t>(shape=(</a:t>
            </a:r>
            <a:r>
              <a:rPr lang="en-US" altLang="ko-KR" sz="1600" b="0" dirty="0" err="1">
                <a:effectLst/>
                <a:latin typeface="D2Coding" panose="020B0609020101020101" pitchFamily="49" charset="-127"/>
                <a:ea typeface="D2Coding" panose="020B0609020101020101" pitchFamily="49" charset="-127"/>
              </a:rPr>
              <a:t>sequence_length</a:t>
            </a: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raw_data.shape</a:t>
            </a:r>
            <a:r>
              <a:rPr lang="en-US" altLang="ko-KR" sz="1600" b="0" dirty="0">
                <a:effectLst/>
                <a:latin typeface="D2Coding" panose="020B0609020101020101" pitchFamily="49" charset="-127"/>
                <a:ea typeface="D2Coding" panose="020B0609020101020101" pitchFamily="49" charset="-127"/>
              </a:rPr>
              <a:t>[-1]))</a:t>
            </a:r>
          </a:p>
          <a:p>
            <a:pPr>
              <a:lnSpc>
                <a:spcPts val="1575"/>
              </a:lnSpc>
              <a:buNone/>
            </a:pPr>
            <a:r>
              <a:rPr lang="en-US" altLang="ko-KR" sz="1600" b="0" dirty="0">
                <a:solidFill>
                  <a:srgbClr val="FF0000"/>
                </a:solidFill>
                <a:effectLst/>
                <a:latin typeface="D2Coding" panose="020B0609020101020101" pitchFamily="49" charset="-127"/>
                <a:ea typeface="D2Coding" panose="020B0609020101020101" pitchFamily="49" charset="-127"/>
              </a:rPr>
              <a:t>x = </a:t>
            </a:r>
            <a:r>
              <a:rPr lang="en-US" altLang="ko-KR" sz="1600" b="0" dirty="0" err="1">
                <a:solidFill>
                  <a:srgbClr val="FF0000"/>
                </a:solidFill>
                <a:effectLst/>
                <a:latin typeface="D2Coding" panose="020B0609020101020101" pitchFamily="49" charset="-127"/>
                <a:ea typeface="D2Coding" panose="020B0609020101020101" pitchFamily="49" charset="-127"/>
              </a:rPr>
              <a:t>layers.LSTM</a:t>
            </a:r>
            <a:r>
              <a:rPr lang="en-US" altLang="ko-KR" sz="1600" b="0" dirty="0">
                <a:solidFill>
                  <a:srgbClr val="FF0000"/>
                </a:solidFill>
                <a:effectLst/>
                <a:latin typeface="D2Coding" panose="020B0609020101020101" pitchFamily="49" charset="-127"/>
                <a:ea typeface="D2Coding" panose="020B0609020101020101" pitchFamily="49" charset="-127"/>
              </a:rPr>
              <a:t>(32, </a:t>
            </a:r>
            <a:r>
              <a:rPr lang="en-US" altLang="ko-KR" sz="1600" b="0" dirty="0" err="1">
                <a:solidFill>
                  <a:srgbClr val="FF0000"/>
                </a:solidFill>
                <a:effectLst/>
                <a:latin typeface="D2Coding" panose="020B0609020101020101" pitchFamily="49" charset="-127"/>
                <a:ea typeface="D2Coding" panose="020B0609020101020101" pitchFamily="49" charset="-127"/>
              </a:rPr>
              <a:t>recurrent_dropout</a:t>
            </a:r>
            <a:r>
              <a:rPr lang="en-US" altLang="ko-KR" sz="1600" b="0" dirty="0">
                <a:solidFill>
                  <a:srgbClr val="FF0000"/>
                </a:solidFill>
                <a:effectLst/>
                <a:latin typeface="D2Coding" panose="020B0609020101020101" pitchFamily="49" charset="-127"/>
                <a:ea typeface="D2Coding" panose="020B0609020101020101" pitchFamily="49" charset="-127"/>
              </a:rPr>
              <a:t>=0.25)(inputs)</a:t>
            </a:r>
          </a:p>
          <a:p>
            <a:pPr>
              <a:lnSpc>
                <a:spcPts val="1575"/>
              </a:lnSpc>
              <a:buNone/>
            </a:pPr>
            <a:r>
              <a:rPr lang="en-US" altLang="ko-KR" sz="1600" b="0" dirty="0">
                <a:effectLst/>
                <a:latin typeface="D2Coding" panose="020B0609020101020101" pitchFamily="49" charset="-127"/>
                <a:ea typeface="D2Coding" panose="020B0609020101020101" pitchFamily="49" charset="-127"/>
              </a:rPr>
              <a:t>x = </a:t>
            </a:r>
            <a:r>
              <a:rPr lang="en-US" altLang="ko-KR" sz="1600" b="0" dirty="0" err="1">
                <a:effectLst/>
                <a:latin typeface="D2Coding" panose="020B0609020101020101" pitchFamily="49" charset="-127"/>
                <a:ea typeface="D2Coding" panose="020B0609020101020101" pitchFamily="49" charset="-127"/>
              </a:rPr>
              <a:t>layers.Dropout</a:t>
            </a:r>
            <a:r>
              <a:rPr lang="en-US" altLang="ko-KR" sz="1600" b="0" dirty="0">
                <a:effectLst/>
                <a:latin typeface="D2Coding" panose="020B0609020101020101" pitchFamily="49" charset="-127"/>
                <a:ea typeface="D2Coding" panose="020B0609020101020101" pitchFamily="49" charset="-127"/>
              </a:rPr>
              <a:t>(0.5)(x)</a:t>
            </a:r>
          </a:p>
          <a:p>
            <a:pPr>
              <a:lnSpc>
                <a:spcPts val="1575"/>
              </a:lnSpc>
              <a:buNone/>
            </a:pPr>
            <a:r>
              <a:rPr lang="en-US" altLang="ko-KR" sz="1600" b="0" dirty="0">
                <a:effectLst/>
                <a:latin typeface="D2Coding" panose="020B0609020101020101" pitchFamily="49" charset="-127"/>
                <a:ea typeface="D2Coding" panose="020B0609020101020101" pitchFamily="49" charset="-127"/>
              </a:rPr>
              <a:t>outputs = </a:t>
            </a:r>
            <a:r>
              <a:rPr lang="en-US" altLang="ko-KR" sz="1600" b="0" dirty="0" err="1">
                <a:effectLst/>
                <a:latin typeface="D2Coding" panose="020B0609020101020101" pitchFamily="49" charset="-127"/>
                <a:ea typeface="D2Coding" panose="020B0609020101020101" pitchFamily="49" charset="-127"/>
              </a:rPr>
              <a:t>layers.Dense</a:t>
            </a:r>
            <a:r>
              <a:rPr lang="en-US" altLang="ko-KR" sz="1600" b="0" dirty="0">
                <a:effectLst/>
                <a:latin typeface="D2Coding" panose="020B0609020101020101" pitchFamily="49" charset="-127"/>
                <a:ea typeface="D2Coding" panose="020B0609020101020101" pitchFamily="49" charset="-127"/>
              </a:rPr>
              <a:t>(1)(x)</a:t>
            </a:r>
          </a:p>
          <a:p>
            <a:pPr>
              <a:lnSpc>
                <a:spcPts val="1575"/>
              </a:lnSpc>
              <a:buNone/>
            </a:pPr>
            <a:r>
              <a:rPr lang="en-US" altLang="ko-KR" sz="1600" b="0" dirty="0">
                <a:effectLst/>
                <a:latin typeface="D2Coding" panose="020B0609020101020101" pitchFamily="49" charset="-127"/>
                <a:ea typeface="D2Coding" panose="020B0609020101020101" pitchFamily="49" charset="-127"/>
              </a:rPr>
              <a:t>model = </a:t>
            </a:r>
            <a:r>
              <a:rPr lang="en-US" altLang="ko-KR" sz="1600" b="0" dirty="0" err="1">
                <a:effectLst/>
                <a:latin typeface="D2Coding" panose="020B0609020101020101" pitchFamily="49" charset="-127"/>
                <a:ea typeface="D2Coding" panose="020B0609020101020101" pitchFamily="49" charset="-127"/>
              </a:rPr>
              <a:t>keras.Model</a:t>
            </a:r>
            <a:r>
              <a:rPr lang="en-US" altLang="ko-KR" sz="1600" b="0" dirty="0">
                <a:effectLst/>
                <a:latin typeface="D2Coding" panose="020B0609020101020101" pitchFamily="49" charset="-127"/>
                <a:ea typeface="D2Coding" panose="020B0609020101020101" pitchFamily="49" charset="-127"/>
              </a:rPr>
              <a:t>(inputs, outputs)</a:t>
            </a:r>
          </a:p>
        </p:txBody>
      </p:sp>
      <p:sp>
        <p:nvSpPr>
          <p:cNvPr id="10" name="TextBox 9">
            <a:extLst>
              <a:ext uri="{FF2B5EF4-FFF2-40B4-BE49-F238E27FC236}">
                <a16:creationId xmlns:a16="http://schemas.microsoft.com/office/drawing/2014/main" id="{010EE558-E2BC-B80C-4BF2-E931A511D8A4}"/>
              </a:ext>
            </a:extLst>
          </p:cNvPr>
          <p:cNvSpPr txBox="1"/>
          <p:nvPr/>
        </p:nvSpPr>
        <p:spPr>
          <a:xfrm>
            <a:off x="8824913" y="1928344"/>
            <a:ext cx="2004494" cy="369332"/>
          </a:xfrm>
          <a:prstGeom prst="rect">
            <a:avLst/>
          </a:prstGeom>
          <a:noFill/>
        </p:spPr>
        <p:txBody>
          <a:bodyPr wrap="square">
            <a:spAutoFit/>
          </a:bodyPr>
          <a:lstStyle/>
          <a:p>
            <a:r>
              <a:rPr lang="en-US" altLang="ko-KR" b="0" i="0" dirty="0">
                <a:effectLst/>
                <a:latin typeface="D2Coding" panose="020B0609020101020101" pitchFamily="49" charset="-127"/>
                <a:ea typeface="D2Coding" panose="020B0609020101020101" pitchFamily="49" charset="-127"/>
              </a:rPr>
              <a:t>Test MAE: 2.52</a:t>
            </a:r>
            <a:endParaRPr lang="ko-KR" altLang="en-US" dirty="0">
              <a:latin typeface="D2Coding" panose="020B0609020101020101" pitchFamily="49" charset="-127"/>
              <a:ea typeface="D2Coding" panose="020B0609020101020101" pitchFamily="49" charset="-127"/>
            </a:endParaRPr>
          </a:p>
        </p:txBody>
      </p:sp>
      <p:sp>
        <p:nvSpPr>
          <p:cNvPr id="15" name="TextBox 14">
            <a:extLst>
              <a:ext uri="{FF2B5EF4-FFF2-40B4-BE49-F238E27FC236}">
                <a16:creationId xmlns:a16="http://schemas.microsoft.com/office/drawing/2014/main" id="{DAF0AA87-447C-35A9-3A70-2528D351D0E2}"/>
              </a:ext>
            </a:extLst>
          </p:cNvPr>
          <p:cNvSpPr txBox="1"/>
          <p:nvPr/>
        </p:nvSpPr>
        <p:spPr>
          <a:xfrm>
            <a:off x="809625" y="3194530"/>
            <a:ext cx="7515227" cy="1326645"/>
          </a:xfrm>
          <a:prstGeom prst="rect">
            <a:avLst/>
          </a:prstGeom>
          <a:solidFill>
            <a:srgbClr val="76E3FF"/>
          </a:solidFill>
        </p:spPr>
        <p:txBody>
          <a:bodyPr wrap="square">
            <a:spAutoFit/>
          </a:bodyPr>
          <a:lstStyle/>
          <a:p>
            <a:pPr>
              <a:lnSpc>
                <a:spcPts val="1575"/>
              </a:lnSpc>
              <a:buNone/>
            </a:pPr>
            <a:r>
              <a:rPr lang="en-US" altLang="ko-KR" sz="1600" b="0" dirty="0">
                <a:effectLst/>
                <a:latin typeface="D2Coding" panose="020B0609020101020101" pitchFamily="49" charset="-127"/>
                <a:ea typeface="D2Coding" panose="020B0609020101020101" pitchFamily="49" charset="-127"/>
              </a:rPr>
              <a:t>inputs = </a:t>
            </a:r>
            <a:r>
              <a:rPr lang="en-US" altLang="ko-KR" sz="1600" b="0" dirty="0" err="1">
                <a:effectLst/>
                <a:latin typeface="D2Coding" panose="020B0609020101020101" pitchFamily="49" charset="-127"/>
                <a:ea typeface="D2Coding" panose="020B0609020101020101" pitchFamily="49" charset="-127"/>
              </a:rPr>
              <a:t>keras.Input</a:t>
            </a:r>
            <a:r>
              <a:rPr lang="en-US" altLang="ko-KR" sz="1600" b="0" dirty="0">
                <a:effectLst/>
                <a:latin typeface="D2Coding" panose="020B0609020101020101" pitchFamily="49" charset="-127"/>
                <a:ea typeface="D2Coding" panose="020B0609020101020101" pitchFamily="49" charset="-127"/>
              </a:rPr>
              <a:t>(shape=(</a:t>
            </a:r>
            <a:r>
              <a:rPr lang="en-US" altLang="ko-KR" sz="1600" b="0" dirty="0" err="1">
                <a:effectLst/>
                <a:latin typeface="D2Coding" panose="020B0609020101020101" pitchFamily="49" charset="-127"/>
                <a:ea typeface="D2Coding" panose="020B0609020101020101" pitchFamily="49" charset="-127"/>
              </a:rPr>
              <a:t>sequence_length</a:t>
            </a: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raw_data.shape</a:t>
            </a:r>
            <a:r>
              <a:rPr lang="en-US" altLang="ko-KR" sz="1600" b="0" dirty="0">
                <a:effectLst/>
                <a:latin typeface="D2Coding" panose="020B0609020101020101" pitchFamily="49" charset="-127"/>
                <a:ea typeface="D2Coding" panose="020B0609020101020101" pitchFamily="49" charset="-127"/>
              </a:rPr>
              <a:t>[-1]))</a:t>
            </a:r>
          </a:p>
          <a:p>
            <a:pPr>
              <a:lnSpc>
                <a:spcPts val="1575"/>
              </a:lnSpc>
              <a:buNone/>
            </a:pPr>
            <a:r>
              <a:rPr lang="en-US" altLang="ko-KR" sz="1600" b="0" dirty="0">
                <a:solidFill>
                  <a:srgbClr val="FF0000"/>
                </a:solidFill>
                <a:effectLst/>
                <a:latin typeface="D2Coding" panose="020B0609020101020101" pitchFamily="49" charset="-127"/>
                <a:ea typeface="D2Coding" panose="020B0609020101020101" pitchFamily="49" charset="-127"/>
              </a:rPr>
              <a:t>x = </a:t>
            </a:r>
            <a:r>
              <a:rPr lang="en-US" altLang="ko-KR" sz="1600" b="0" dirty="0" err="1">
                <a:solidFill>
                  <a:srgbClr val="FF0000"/>
                </a:solidFill>
                <a:effectLst/>
                <a:latin typeface="D2Coding" panose="020B0609020101020101" pitchFamily="49" charset="-127"/>
                <a:ea typeface="D2Coding" panose="020B0609020101020101" pitchFamily="49" charset="-127"/>
              </a:rPr>
              <a:t>layers.GRU</a:t>
            </a:r>
            <a:r>
              <a:rPr lang="en-US" altLang="ko-KR" sz="1600" b="0" dirty="0">
                <a:solidFill>
                  <a:srgbClr val="FF0000"/>
                </a:solidFill>
                <a:effectLst/>
                <a:latin typeface="D2Coding" panose="020B0609020101020101" pitchFamily="49" charset="-127"/>
                <a:ea typeface="D2Coding" panose="020B0609020101020101" pitchFamily="49" charset="-127"/>
              </a:rPr>
              <a:t>(32, </a:t>
            </a:r>
            <a:r>
              <a:rPr lang="en-US" altLang="ko-KR" sz="1600" b="0" dirty="0" err="1">
                <a:solidFill>
                  <a:srgbClr val="FF0000"/>
                </a:solidFill>
                <a:effectLst/>
                <a:latin typeface="D2Coding" panose="020B0609020101020101" pitchFamily="49" charset="-127"/>
                <a:ea typeface="D2Coding" panose="020B0609020101020101" pitchFamily="49" charset="-127"/>
              </a:rPr>
              <a:t>recurrent_dropout</a:t>
            </a:r>
            <a:r>
              <a:rPr lang="en-US" altLang="ko-KR" sz="1600" b="0" dirty="0">
                <a:solidFill>
                  <a:srgbClr val="FF0000"/>
                </a:solidFill>
                <a:effectLst/>
                <a:latin typeface="D2Coding" panose="020B0609020101020101" pitchFamily="49" charset="-127"/>
                <a:ea typeface="D2Coding" panose="020B0609020101020101" pitchFamily="49" charset="-127"/>
              </a:rPr>
              <a:t>=0.5, </a:t>
            </a:r>
            <a:r>
              <a:rPr lang="en-US" altLang="ko-KR" sz="1600" b="0" dirty="0" err="1">
                <a:solidFill>
                  <a:srgbClr val="FF0000"/>
                </a:solidFill>
                <a:effectLst/>
                <a:latin typeface="D2Coding" panose="020B0609020101020101" pitchFamily="49" charset="-127"/>
                <a:ea typeface="D2Coding" panose="020B0609020101020101" pitchFamily="49" charset="-127"/>
              </a:rPr>
              <a:t>return_sequences</a:t>
            </a:r>
            <a:r>
              <a:rPr lang="en-US" altLang="ko-KR" sz="1600" b="0" dirty="0">
                <a:solidFill>
                  <a:srgbClr val="FF0000"/>
                </a:solidFill>
                <a:effectLst/>
                <a:latin typeface="D2Coding" panose="020B0609020101020101" pitchFamily="49" charset="-127"/>
                <a:ea typeface="D2Coding" panose="020B0609020101020101" pitchFamily="49" charset="-127"/>
              </a:rPr>
              <a:t>=True)(inputs)</a:t>
            </a:r>
          </a:p>
          <a:p>
            <a:pPr>
              <a:lnSpc>
                <a:spcPts val="1575"/>
              </a:lnSpc>
              <a:buNone/>
            </a:pPr>
            <a:r>
              <a:rPr lang="en-US" altLang="ko-KR" sz="1600" b="0" dirty="0">
                <a:solidFill>
                  <a:srgbClr val="FF0000"/>
                </a:solidFill>
                <a:effectLst/>
                <a:latin typeface="D2Coding" panose="020B0609020101020101" pitchFamily="49" charset="-127"/>
                <a:ea typeface="D2Coding" panose="020B0609020101020101" pitchFamily="49" charset="-127"/>
              </a:rPr>
              <a:t>x = </a:t>
            </a:r>
            <a:r>
              <a:rPr lang="en-US" altLang="ko-KR" sz="1600" b="0" dirty="0" err="1">
                <a:solidFill>
                  <a:srgbClr val="FF0000"/>
                </a:solidFill>
                <a:effectLst/>
                <a:latin typeface="D2Coding" panose="020B0609020101020101" pitchFamily="49" charset="-127"/>
                <a:ea typeface="D2Coding" panose="020B0609020101020101" pitchFamily="49" charset="-127"/>
              </a:rPr>
              <a:t>layers.GRU</a:t>
            </a:r>
            <a:r>
              <a:rPr lang="en-US" altLang="ko-KR" sz="1600" b="0" dirty="0">
                <a:solidFill>
                  <a:srgbClr val="FF0000"/>
                </a:solidFill>
                <a:effectLst/>
                <a:latin typeface="D2Coding" panose="020B0609020101020101" pitchFamily="49" charset="-127"/>
                <a:ea typeface="D2Coding" panose="020B0609020101020101" pitchFamily="49" charset="-127"/>
              </a:rPr>
              <a:t>(32, </a:t>
            </a:r>
            <a:r>
              <a:rPr lang="en-US" altLang="ko-KR" sz="1600" b="0" dirty="0" err="1">
                <a:solidFill>
                  <a:srgbClr val="FF0000"/>
                </a:solidFill>
                <a:effectLst/>
                <a:latin typeface="D2Coding" panose="020B0609020101020101" pitchFamily="49" charset="-127"/>
                <a:ea typeface="D2Coding" panose="020B0609020101020101" pitchFamily="49" charset="-127"/>
              </a:rPr>
              <a:t>recurrent_dropout</a:t>
            </a:r>
            <a:r>
              <a:rPr lang="en-US" altLang="ko-KR" sz="1600" b="0" dirty="0">
                <a:solidFill>
                  <a:srgbClr val="FF0000"/>
                </a:solidFill>
                <a:effectLst/>
                <a:latin typeface="D2Coding" panose="020B0609020101020101" pitchFamily="49" charset="-127"/>
                <a:ea typeface="D2Coding" panose="020B0609020101020101" pitchFamily="49" charset="-127"/>
              </a:rPr>
              <a:t>=0.5)(x)</a:t>
            </a:r>
          </a:p>
          <a:p>
            <a:pPr>
              <a:lnSpc>
                <a:spcPts val="1575"/>
              </a:lnSpc>
              <a:buNone/>
            </a:pPr>
            <a:r>
              <a:rPr lang="en-US" altLang="ko-KR" sz="1600" b="0" dirty="0">
                <a:effectLst/>
                <a:latin typeface="D2Coding" panose="020B0609020101020101" pitchFamily="49" charset="-127"/>
                <a:ea typeface="D2Coding" panose="020B0609020101020101" pitchFamily="49" charset="-127"/>
              </a:rPr>
              <a:t>x = </a:t>
            </a:r>
            <a:r>
              <a:rPr lang="en-US" altLang="ko-KR" sz="1600" b="0" dirty="0" err="1">
                <a:effectLst/>
                <a:latin typeface="D2Coding" panose="020B0609020101020101" pitchFamily="49" charset="-127"/>
                <a:ea typeface="D2Coding" panose="020B0609020101020101" pitchFamily="49" charset="-127"/>
              </a:rPr>
              <a:t>layers.Dropout</a:t>
            </a:r>
            <a:r>
              <a:rPr lang="en-US" altLang="ko-KR" sz="1600" b="0" dirty="0">
                <a:effectLst/>
                <a:latin typeface="D2Coding" panose="020B0609020101020101" pitchFamily="49" charset="-127"/>
                <a:ea typeface="D2Coding" panose="020B0609020101020101" pitchFamily="49" charset="-127"/>
              </a:rPr>
              <a:t>(0.5)(x)</a:t>
            </a:r>
          </a:p>
          <a:p>
            <a:pPr>
              <a:lnSpc>
                <a:spcPts val="1575"/>
              </a:lnSpc>
              <a:buNone/>
            </a:pPr>
            <a:r>
              <a:rPr lang="en-US" altLang="ko-KR" sz="1600" b="0" dirty="0">
                <a:effectLst/>
                <a:latin typeface="D2Coding" panose="020B0609020101020101" pitchFamily="49" charset="-127"/>
                <a:ea typeface="D2Coding" panose="020B0609020101020101" pitchFamily="49" charset="-127"/>
              </a:rPr>
              <a:t>outputs = </a:t>
            </a:r>
            <a:r>
              <a:rPr lang="en-US" altLang="ko-KR" sz="1600" b="0" dirty="0" err="1">
                <a:effectLst/>
                <a:latin typeface="D2Coding" panose="020B0609020101020101" pitchFamily="49" charset="-127"/>
                <a:ea typeface="D2Coding" panose="020B0609020101020101" pitchFamily="49" charset="-127"/>
              </a:rPr>
              <a:t>layers.Dense</a:t>
            </a:r>
            <a:r>
              <a:rPr lang="en-US" altLang="ko-KR" sz="1600" b="0" dirty="0">
                <a:effectLst/>
                <a:latin typeface="D2Coding" panose="020B0609020101020101" pitchFamily="49" charset="-127"/>
                <a:ea typeface="D2Coding" panose="020B0609020101020101" pitchFamily="49" charset="-127"/>
              </a:rPr>
              <a:t>(1)(x)</a:t>
            </a:r>
          </a:p>
          <a:p>
            <a:pPr>
              <a:lnSpc>
                <a:spcPts val="1575"/>
              </a:lnSpc>
              <a:buNone/>
            </a:pPr>
            <a:r>
              <a:rPr lang="en-US" altLang="ko-KR" sz="1600" b="0" dirty="0">
                <a:effectLst/>
                <a:latin typeface="D2Coding" panose="020B0609020101020101" pitchFamily="49" charset="-127"/>
                <a:ea typeface="D2Coding" panose="020B0609020101020101" pitchFamily="49" charset="-127"/>
              </a:rPr>
              <a:t>model = </a:t>
            </a:r>
            <a:r>
              <a:rPr lang="en-US" altLang="ko-KR" sz="1600" b="0" dirty="0" err="1">
                <a:effectLst/>
                <a:latin typeface="D2Coding" panose="020B0609020101020101" pitchFamily="49" charset="-127"/>
                <a:ea typeface="D2Coding" panose="020B0609020101020101" pitchFamily="49" charset="-127"/>
              </a:rPr>
              <a:t>keras.Model</a:t>
            </a:r>
            <a:r>
              <a:rPr lang="en-US" altLang="ko-KR" sz="1600" b="0" dirty="0">
                <a:effectLst/>
                <a:latin typeface="D2Coding" panose="020B0609020101020101" pitchFamily="49" charset="-127"/>
                <a:ea typeface="D2Coding" panose="020B0609020101020101" pitchFamily="49" charset="-127"/>
              </a:rPr>
              <a:t>(inputs, outputs)</a:t>
            </a:r>
          </a:p>
        </p:txBody>
      </p:sp>
      <p:sp>
        <p:nvSpPr>
          <p:cNvPr id="17" name="TextBox 16">
            <a:extLst>
              <a:ext uri="{FF2B5EF4-FFF2-40B4-BE49-F238E27FC236}">
                <a16:creationId xmlns:a16="http://schemas.microsoft.com/office/drawing/2014/main" id="{309AEA91-546B-4BC2-4B10-9117134C5CF3}"/>
              </a:ext>
            </a:extLst>
          </p:cNvPr>
          <p:cNvSpPr txBox="1"/>
          <p:nvPr/>
        </p:nvSpPr>
        <p:spPr>
          <a:xfrm>
            <a:off x="8824913" y="3673186"/>
            <a:ext cx="2224088" cy="369332"/>
          </a:xfrm>
          <a:prstGeom prst="rect">
            <a:avLst/>
          </a:prstGeom>
          <a:noFill/>
        </p:spPr>
        <p:txBody>
          <a:bodyPr wrap="square">
            <a:spAutoFit/>
          </a:bodyPr>
          <a:lstStyle/>
          <a:p>
            <a:r>
              <a:rPr lang="en-US" altLang="ko-KR" b="0" i="0" dirty="0">
                <a:effectLst/>
                <a:latin typeface="D2Coding" panose="020B0609020101020101" pitchFamily="49" charset="-127"/>
                <a:ea typeface="D2Coding" panose="020B0609020101020101" pitchFamily="49" charset="-127"/>
              </a:rPr>
              <a:t>Test MAE: 2.45</a:t>
            </a:r>
            <a:endParaRPr lang="ko-KR" altLang="en-US" dirty="0">
              <a:latin typeface="D2Coding" panose="020B0609020101020101" pitchFamily="49" charset="-127"/>
              <a:ea typeface="D2Coding" panose="020B0609020101020101" pitchFamily="49" charset="-127"/>
            </a:endParaRPr>
          </a:p>
        </p:txBody>
      </p:sp>
      <p:sp>
        <p:nvSpPr>
          <p:cNvPr id="19" name="TextBox 18">
            <a:extLst>
              <a:ext uri="{FF2B5EF4-FFF2-40B4-BE49-F238E27FC236}">
                <a16:creationId xmlns:a16="http://schemas.microsoft.com/office/drawing/2014/main" id="{655BFAF5-BDF8-7605-243F-F12F89303CD6}"/>
              </a:ext>
            </a:extLst>
          </p:cNvPr>
          <p:cNvSpPr txBox="1"/>
          <p:nvPr/>
        </p:nvSpPr>
        <p:spPr>
          <a:xfrm>
            <a:off x="809625" y="5313654"/>
            <a:ext cx="7515225" cy="916276"/>
          </a:xfrm>
          <a:prstGeom prst="rect">
            <a:avLst/>
          </a:prstGeom>
          <a:solidFill>
            <a:srgbClr val="76E3FF"/>
          </a:solidFill>
        </p:spPr>
        <p:txBody>
          <a:bodyPr wrap="square">
            <a:spAutoFit/>
          </a:bodyPr>
          <a:lstStyle/>
          <a:p>
            <a:pPr>
              <a:lnSpc>
                <a:spcPts val="1575"/>
              </a:lnSpc>
              <a:buNone/>
            </a:pPr>
            <a:r>
              <a:rPr lang="en-US" altLang="ko-KR" sz="1600" b="0" dirty="0">
                <a:effectLst/>
                <a:latin typeface="D2Coding" panose="020B0609020101020101" pitchFamily="49" charset="-127"/>
                <a:ea typeface="D2Coding" panose="020B0609020101020101" pitchFamily="49" charset="-127"/>
              </a:rPr>
              <a:t>inputs = </a:t>
            </a:r>
            <a:r>
              <a:rPr lang="en-US" altLang="ko-KR" sz="1600" b="0" dirty="0" err="1">
                <a:effectLst/>
                <a:latin typeface="D2Coding" panose="020B0609020101020101" pitchFamily="49" charset="-127"/>
                <a:ea typeface="D2Coding" panose="020B0609020101020101" pitchFamily="49" charset="-127"/>
              </a:rPr>
              <a:t>keras.Input</a:t>
            </a:r>
            <a:r>
              <a:rPr lang="en-US" altLang="ko-KR" sz="1600" b="0" dirty="0">
                <a:effectLst/>
                <a:latin typeface="D2Coding" panose="020B0609020101020101" pitchFamily="49" charset="-127"/>
                <a:ea typeface="D2Coding" panose="020B0609020101020101" pitchFamily="49" charset="-127"/>
              </a:rPr>
              <a:t>(shape=(</a:t>
            </a:r>
            <a:r>
              <a:rPr lang="en-US" altLang="ko-KR" sz="1600" b="0" dirty="0" err="1">
                <a:effectLst/>
                <a:latin typeface="D2Coding" panose="020B0609020101020101" pitchFamily="49" charset="-127"/>
                <a:ea typeface="D2Coding" panose="020B0609020101020101" pitchFamily="49" charset="-127"/>
              </a:rPr>
              <a:t>sequence_length</a:t>
            </a: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raw_data.shape</a:t>
            </a:r>
            <a:r>
              <a:rPr lang="en-US" altLang="ko-KR" sz="1600" b="0" dirty="0">
                <a:effectLst/>
                <a:latin typeface="D2Coding" panose="020B0609020101020101" pitchFamily="49" charset="-127"/>
                <a:ea typeface="D2Coding" panose="020B0609020101020101" pitchFamily="49" charset="-127"/>
              </a:rPr>
              <a:t>[-1]))</a:t>
            </a:r>
          </a:p>
          <a:p>
            <a:pPr>
              <a:lnSpc>
                <a:spcPts val="1575"/>
              </a:lnSpc>
              <a:buNone/>
            </a:pPr>
            <a:r>
              <a:rPr lang="en-US" altLang="ko-KR" sz="1600" b="0" dirty="0">
                <a:solidFill>
                  <a:srgbClr val="FF0000"/>
                </a:solidFill>
                <a:effectLst/>
                <a:latin typeface="D2Coding" panose="020B0609020101020101" pitchFamily="49" charset="-127"/>
                <a:ea typeface="D2Coding" panose="020B0609020101020101" pitchFamily="49" charset="-127"/>
              </a:rPr>
              <a:t>x = </a:t>
            </a:r>
            <a:r>
              <a:rPr lang="en-US" altLang="ko-KR" sz="1600" b="0" dirty="0" err="1">
                <a:solidFill>
                  <a:srgbClr val="FF0000"/>
                </a:solidFill>
                <a:effectLst/>
                <a:latin typeface="D2Coding" panose="020B0609020101020101" pitchFamily="49" charset="-127"/>
                <a:ea typeface="D2Coding" panose="020B0609020101020101" pitchFamily="49" charset="-127"/>
              </a:rPr>
              <a:t>layers.Bidirectional</a:t>
            </a:r>
            <a:r>
              <a:rPr lang="en-US" altLang="ko-KR" sz="1600" b="0" dirty="0">
                <a:solidFill>
                  <a:srgbClr val="FF0000"/>
                </a:solidFill>
                <a:effectLst/>
                <a:latin typeface="D2Coding" panose="020B0609020101020101" pitchFamily="49" charset="-127"/>
                <a:ea typeface="D2Coding" panose="020B0609020101020101" pitchFamily="49" charset="-127"/>
              </a:rPr>
              <a:t>(</a:t>
            </a:r>
            <a:r>
              <a:rPr lang="en-US" altLang="ko-KR" sz="1600" b="0" dirty="0" err="1">
                <a:solidFill>
                  <a:srgbClr val="FF0000"/>
                </a:solidFill>
                <a:effectLst/>
                <a:latin typeface="D2Coding" panose="020B0609020101020101" pitchFamily="49" charset="-127"/>
                <a:ea typeface="D2Coding" panose="020B0609020101020101" pitchFamily="49" charset="-127"/>
              </a:rPr>
              <a:t>layers.LSTM</a:t>
            </a:r>
            <a:r>
              <a:rPr lang="en-US" altLang="ko-KR" sz="1600" b="0" dirty="0">
                <a:solidFill>
                  <a:srgbClr val="FF0000"/>
                </a:solidFill>
                <a:effectLst/>
                <a:latin typeface="D2Coding" panose="020B0609020101020101" pitchFamily="49" charset="-127"/>
                <a:ea typeface="D2Coding" panose="020B0609020101020101" pitchFamily="49" charset="-127"/>
              </a:rPr>
              <a:t>(16))(inputs)</a:t>
            </a:r>
          </a:p>
          <a:p>
            <a:pPr>
              <a:lnSpc>
                <a:spcPts val="1575"/>
              </a:lnSpc>
              <a:buNone/>
            </a:pPr>
            <a:r>
              <a:rPr lang="en-US" altLang="ko-KR" sz="1600" b="0" dirty="0">
                <a:effectLst/>
                <a:latin typeface="D2Coding" panose="020B0609020101020101" pitchFamily="49" charset="-127"/>
                <a:ea typeface="D2Coding" panose="020B0609020101020101" pitchFamily="49" charset="-127"/>
              </a:rPr>
              <a:t>outputs = </a:t>
            </a:r>
            <a:r>
              <a:rPr lang="en-US" altLang="ko-KR" sz="1600" b="0" dirty="0" err="1">
                <a:effectLst/>
                <a:latin typeface="D2Coding" panose="020B0609020101020101" pitchFamily="49" charset="-127"/>
                <a:ea typeface="D2Coding" panose="020B0609020101020101" pitchFamily="49" charset="-127"/>
              </a:rPr>
              <a:t>layers.Dense</a:t>
            </a:r>
            <a:r>
              <a:rPr lang="en-US" altLang="ko-KR" sz="1600" b="0" dirty="0">
                <a:effectLst/>
                <a:latin typeface="D2Coding" panose="020B0609020101020101" pitchFamily="49" charset="-127"/>
                <a:ea typeface="D2Coding" panose="020B0609020101020101" pitchFamily="49" charset="-127"/>
              </a:rPr>
              <a:t>(1)(x)</a:t>
            </a:r>
          </a:p>
          <a:p>
            <a:pPr>
              <a:lnSpc>
                <a:spcPts val="1575"/>
              </a:lnSpc>
              <a:buNone/>
            </a:pPr>
            <a:r>
              <a:rPr lang="en-US" altLang="ko-KR" sz="1600" b="0" dirty="0">
                <a:effectLst/>
                <a:latin typeface="D2Coding" panose="020B0609020101020101" pitchFamily="49" charset="-127"/>
                <a:ea typeface="D2Coding" panose="020B0609020101020101" pitchFamily="49" charset="-127"/>
              </a:rPr>
              <a:t>model = </a:t>
            </a:r>
            <a:r>
              <a:rPr lang="en-US" altLang="ko-KR" sz="1600" b="0" dirty="0" err="1">
                <a:effectLst/>
                <a:latin typeface="D2Coding" panose="020B0609020101020101" pitchFamily="49" charset="-127"/>
                <a:ea typeface="D2Coding" panose="020B0609020101020101" pitchFamily="49" charset="-127"/>
              </a:rPr>
              <a:t>keras.Model</a:t>
            </a:r>
            <a:r>
              <a:rPr lang="en-US" altLang="ko-KR" sz="1600" b="0" dirty="0">
                <a:effectLst/>
                <a:latin typeface="D2Coding" panose="020B0609020101020101" pitchFamily="49" charset="-127"/>
                <a:ea typeface="D2Coding" panose="020B0609020101020101" pitchFamily="49" charset="-127"/>
              </a:rPr>
              <a:t>(inputs, outputs)</a:t>
            </a:r>
          </a:p>
        </p:txBody>
      </p:sp>
      <p:sp>
        <p:nvSpPr>
          <p:cNvPr id="20" name="TextBox 19">
            <a:extLst>
              <a:ext uri="{FF2B5EF4-FFF2-40B4-BE49-F238E27FC236}">
                <a16:creationId xmlns:a16="http://schemas.microsoft.com/office/drawing/2014/main" id="{D64E2157-689B-9596-B78E-BEC145BB98A6}"/>
              </a:ext>
            </a:extLst>
          </p:cNvPr>
          <p:cNvSpPr txBox="1"/>
          <p:nvPr/>
        </p:nvSpPr>
        <p:spPr>
          <a:xfrm>
            <a:off x="8824913" y="5587126"/>
            <a:ext cx="2224088" cy="369332"/>
          </a:xfrm>
          <a:prstGeom prst="rect">
            <a:avLst/>
          </a:prstGeom>
          <a:noFill/>
        </p:spPr>
        <p:txBody>
          <a:bodyPr wrap="square">
            <a:spAutoFit/>
          </a:bodyPr>
          <a:lstStyle/>
          <a:p>
            <a:r>
              <a:rPr lang="en-US" altLang="ko-KR" b="0" i="0" dirty="0">
                <a:effectLst/>
                <a:latin typeface="D2Coding" panose="020B0609020101020101" pitchFamily="49" charset="-127"/>
                <a:ea typeface="D2Coding" panose="020B0609020101020101" pitchFamily="49" charset="-127"/>
              </a:rPr>
              <a:t>Test MAE: 3.67</a:t>
            </a:r>
            <a:endParaRPr lang="ko-KR" altLang="en-US" dirty="0">
              <a:latin typeface="D2Coding" panose="020B0609020101020101" pitchFamily="49" charset="-127"/>
              <a:ea typeface="D2Coding" panose="020B0609020101020101" pitchFamily="49" charset="-127"/>
            </a:endParaRPr>
          </a:p>
        </p:txBody>
      </p:sp>
      <p:sp>
        <p:nvSpPr>
          <p:cNvPr id="21" name="슬라이드 번호 개체 틀 3">
            <a:extLst>
              <a:ext uri="{FF2B5EF4-FFF2-40B4-BE49-F238E27FC236}">
                <a16:creationId xmlns:a16="http://schemas.microsoft.com/office/drawing/2014/main" id="{405BBC48-D1AC-BF67-ED98-CD4B1AE686A8}"/>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41</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152124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3BC2-D458-033B-8511-B0426CBD3377}"/>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A49E8DD-A723-F3C9-EBB5-BDBF78203E9A}"/>
              </a:ext>
            </a:extLst>
          </p:cNvPr>
          <p:cNvSpPr/>
          <p:nvPr/>
        </p:nvSpPr>
        <p:spPr>
          <a:xfrm>
            <a:off x="475645" y="5105400"/>
            <a:ext cx="7963505" cy="53047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1">
            <a:extLst>
              <a:ext uri="{FF2B5EF4-FFF2-40B4-BE49-F238E27FC236}">
                <a16:creationId xmlns:a16="http://schemas.microsoft.com/office/drawing/2014/main" id="{F06BC03D-E7FF-BDBB-8F7D-55A84887451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Goals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90D08880-F7B8-A736-142E-14CC00A8A6AB}"/>
              </a:ext>
            </a:extLst>
          </p:cNvPr>
          <p:cNvSpPr txBox="1"/>
          <p:nvPr/>
        </p:nvSpPr>
        <p:spPr>
          <a:xfrm>
            <a:off x="587055" y="1846268"/>
            <a:ext cx="7394895" cy="4189993"/>
          </a:xfrm>
          <a:prstGeom prst="rect">
            <a:avLst/>
          </a:prstGeom>
          <a:noFill/>
        </p:spPr>
        <p:txBody>
          <a:bodyPr wrap="square">
            <a:spAutoFit/>
          </a:bodyPr>
          <a:lstStyle/>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Different kinds of timeseries tasks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Timeseries 3D tensor</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 temperature forecasting example</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naïve approach</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Fully connected neural network</a:t>
            </a:r>
          </a:p>
          <a:p>
            <a:pPr marL="1257300" lvl="2"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1D Convnet</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Understanding recurrent neural networks (RNNs)</a:t>
            </a:r>
          </a:p>
          <a:p>
            <a:pPr marL="800100" lvl="1" indent="-342900">
              <a:lnSpc>
                <a:spcPct val="150000"/>
              </a:lnSpc>
              <a:buFont typeface="Wingdings" panose="05000000000000000000" pitchFamily="2" charset="2"/>
              <a:buChar char="v"/>
            </a:pPr>
            <a:r>
              <a:rPr lang="en-US" altLang="ko-KR" sz="2000" dirty="0">
                <a:latin typeface="D2Coding" panose="020B0609020101020101" pitchFamily="49" charset="-127"/>
                <a:ea typeface="D2Coding" panose="020B0609020101020101" pitchFamily="49" charset="-127"/>
              </a:rPr>
              <a:t>Applying RNNs to a temperature forecasting example</a:t>
            </a:r>
          </a:p>
          <a:p>
            <a:pPr marL="800100" lvl="1" indent="-342900">
              <a:lnSpc>
                <a:spcPct val="150000"/>
              </a:lnSpc>
              <a:buFont typeface="Wingdings" panose="05000000000000000000" pitchFamily="2" charset="2"/>
              <a:buChar char="v"/>
            </a:pPr>
            <a:endParaRPr lang="en-US" altLang="ko-KR" sz="20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437823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5FAEB-84AF-C57A-F867-E8A868CCFD59}"/>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61A8C28A-36EB-9A59-A8FD-56BA176E5443}"/>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for</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Sequence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Modeling</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6FA692D7-96C0-0E44-577D-448EB7886C1B}"/>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43</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7" name="그림 6">
            <a:extLst>
              <a:ext uri="{FF2B5EF4-FFF2-40B4-BE49-F238E27FC236}">
                <a16:creationId xmlns:a16="http://schemas.microsoft.com/office/drawing/2014/main" id="{8D144DD3-8657-520F-D4C5-51595F4CAE81}"/>
              </a:ext>
            </a:extLst>
          </p:cNvPr>
          <p:cNvPicPr>
            <a:picLocks noChangeAspect="1"/>
          </p:cNvPicPr>
          <p:nvPr/>
        </p:nvPicPr>
        <p:blipFill>
          <a:blip r:embed="rId2"/>
          <a:stretch>
            <a:fillRect/>
          </a:stretch>
        </p:blipFill>
        <p:spPr>
          <a:xfrm>
            <a:off x="1230279" y="1828658"/>
            <a:ext cx="9316066" cy="3772042"/>
          </a:xfrm>
          <a:prstGeom prst="rect">
            <a:avLst/>
          </a:prstGeom>
          <a:ln>
            <a:solidFill>
              <a:schemeClr val="tx1"/>
            </a:solidFill>
          </a:ln>
        </p:spPr>
      </p:pic>
      <p:sp>
        <p:nvSpPr>
          <p:cNvPr id="8" name="TextBox 7">
            <a:extLst>
              <a:ext uri="{FF2B5EF4-FFF2-40B4-BE49-F238E27FC236}">
                <a16:creationId xmlns:a16="http://schemas.microsoft.com/office/drawing/2014/main" id="{13060A9C-9E14-2FA2-F267-64ED24D8FAE2}"/>
              </a:ext>
            </a:extLst>
          </p:cNvPr>
          <p:cNvSpPr txBox="1"/>
          <p:nvPr/>
        </p:nvSpPr>
        <p:spPr>
          <a:xfrm>
            <a:off x="1162050" y="5724525"/>
            <a:ext cx="7673896" cy="338554"/>
          </a:xfrm>
          <a:prstGeom prst="rect">
            <a:avLst/>
          </a:prstGeom>
          <a:noFill/>
        </p:spPr>
        <p:txBody>
          <a:bodyPr wrap="none" rtlCol="0">
            <a:spAutoFit/>
          </a:bodyPr>
          <a:lstStyle/>
          <a:p>
            <a:r>
              <a:rPr lang="en-US" altLang="ko-KR" sz="1600" dirty="0">
                <a:latin typeface="D2Coding" panose="020B0609020101020101" pitchFamily="49" charset="-127"/>
                <a:ea typeface="D2Coding" panose="020B0609020101020101" pitchFamily="49" charset="-127"/>
                <a:hlinkClick r:id="rId3"/>
              </a:rPr>
              <a:t>MIT 6.S191 (2025): Recurrent Neural Networks, Transformers, and Attention</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439599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70F7-2C5C-FE2E-E48D-723ADDF12B00}"/>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0725A30D-595D-82E4-351E-7F2F2DCFC180}"/>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graphicFrame>
        <p:nvGraphicFramePr>
          <p:cNvPr id="2" name="표 1">
            <a:extLst>
              <a:ext uri="{FF2B5EF4-FFF2-40B4-BE49-F238E27FC236}">
                <a16:creationId xmlns:a16="http://schemas.microsoft.com/office/drawing/2014/main" id="{577C0275-2B0F-D278-A29D-1CEDA72D96B4}"/>
              </a:ext>
            </a:extLst>
          </p:cNvPr>
          <p:cNvGraphicFramePr>
            <a:graphicFrameLocks noGrp="1"/>
          </p:cNvGraphicFramePr>
          <p:nvPr>
            <p:extLst>
              <p:ext uri="{D42A27DB-BD31-4B8C-83A1-F6EECF244321}">
                <p14:modId xmlns:p14="http://schemas.microsoft.com/office/powerpoint/2010/main" val="3143378011"/>
              </p:ext>
            </p:extLst>
          </p:nvPr>
        </p:nvGraphicFramePr>
        <p:xfrm>
          <a:off x="655955" y="2405063"/>
          <a:ext cx="2859405" cy="3970950"/>
        </p:xfrm>
        <a:graphic>
          <a:graphicData uri="http://schemas.openxmlformats.org/drawingml/2006/table">
            <a:tbl>
              <a:tblPr>
                <a:tableStyleId>{5C22544A-7EE6-4342-B048-85BDC9FD1C3A}</a:tableStyleId>
              </a:tblPr>
              <a:tblGrid>
                <a:gridCol w="846151">
                  <a:extLst>
                    <a:ext uri="{9D8B030D-6E8A-4147-A177-3AD203B41FA5}">
                      <a16:colId xmlns:a16="http://schemas.microsoft.com/office/drawing/2014/main" val="2117216945"/>
                    </a:ext>
                  </a:extLst>
                </a:gridCol>
                <a:gridCol w="846151">
                  <a:extLst>
                    <a:ext uri="{9D8B030D-6E8A-4147-A177-3AD203B41FA5}">
                      <a16:colId xmlns:a16="http://schemas.microsoft.com/office/drawing/2014/main" val="3750196696"/>
                    </a:ext>
                  </a:extLst>
                </a:gridCol>
                <a:gridCol w="1167103">
                  <a:extLst>
                    <a:ext uri="{9D8B030D-6E8A-4147-A177-3AD203B41FA5}">
                      <a16:colId xmlns:a16="http://schemas.microsoft.com/office/drawing/2014/main" val="2368464626"/>
                    </a:ext>
                  </a:extLst>
                </a:gridCol>
              </a:tblGrid>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ctr">
                        <a:buNone/>
                      </a:pPr>
                      <a:r>
                        <a:rPr lang="ko-KR" altLang="en-US" sz="900" u="none" strike="noStrike">
                          <a:effectLst/>
                          <a:latin typeface="D2Coding" panose="020B0609020101020101" pitchFamily="49" charset="-127"/>
                          <a:ea typeface="D2Coding" panose="020B0609020101020101" pitchFamily="49" charset="-127"/>
                        </a:rPr>
                        <a:t>일자</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T w="12700" cap="flat" cmpd="sng" algn="ctr">
                      <a:solidFill>
                        <a:schemeClr val="tx1"/>
                      </a:solidFill>
                      <a:prstDash val="solid"/>
                      <a:round/>
                      <a:headEnd type="none" w="med" len="med"/>
                      <a:tailEnd type="none" w="med" len="med"/>
                    </a:lnT>
                  </a:tcPr>
                </a:tc>
                <a:tc>
                  <a:txBody>
                    <a:bodyPr/>
                    <a:lstStyle/>
                    <a:p>
                      <a:pPr algn="r" fontAlgn="ctr">
                        <a:buNone/>
                      </a:pPr>
                      <a:r>
                        <a:rPr lang="ko-KR" altLang="en-US" sz="900" b="0" i="0" u="none" strike="noStrike" dirty="0">
                          <a:solidFill>
                            <a:srgbClr val="000000"/>
                          </a:solidFill>
                          <a:effectLst/>
                          <a:latin typeface="D2Coding" panose="020B0609020101020101" pitchFamily="49" charset="-127"/>
                          <a:ea typeface="D2Coding" panose="020B0609020101020101" pitchFamily="49" charset="-127"/>
                        </a:rPr>
                        <a:t>종가</a:t>
                      </a:r>
                      <a:r>
                        <a:rPr lang="en-US" altLang="ko-KR" sz="900" b="0" i="0" u="none" strike="noStrike" dirty="0">
                          <a:solidFill>
                            <a:srgbClr val="000000"/>
                          </a:solidFill>
                          <a:effectLst/>
                          <a:latin typeface="D2Coding" panose="020B0609020101020101" pitchFamily="49" charset="-127"/>
                          <a:ea typeface="D2Coding" panose="020B0609020101020101" pitchFamily="49" charset="-127"/>
                        </a:rPr>
                        <a:t>(USD)</a:t>
                      </a:r>
                      <a:endParaRPr lang="ko-KR" altLang="en-US" sz="900" b="0" i="0" u="none" strike="noStrike" dirty="0">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98936081"/>
                  </a:ext>
                </a:extLst>
              </a:tr>
              <a:tr h="264730">
                <a:tc>
                  <a:txBody>
                    <a:bodyPr/>
                    <a:lstStyle/>
                    <a:p>
                      <a:pPr algn="l" fontAlgn="ctr">
                        <a:buNone/>
                      </a:pPr>
                      <a:r>
                        <a:rPr lang="en-US" altLang="ko-KR" sz="900" u="none" strike="noStrike">
                          <a:effectLst/>
                          <a:latin typeface="D2Coding" panose="020B0609020101020101" pitchFamily="49" charset="-127"/>
                          <a:ea typeface="D2Coding" panose="020B0609020101020101" pitchFamily="49" charset="-127"/>
                        </a:rPr>
                        <a:t>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3</a:t>
                      </a:r>
                      <a:r>
                        <a:rPr lang="ko-KR" altLang="en-US" sz="900" u="none" strike="noStrike">
                          <a:effectLst/>
                          <a:latin typeface="D2Coding" panose="020B0609020101020101" pitchFamily="49" charset="-127"/>
                          <a:ea typeface="D2Coding" panose="020B0609020101020101" pitchFamily="49" charset="-127"/>
                        </a:rPr>
                        <a:t>주차</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13</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21.50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7812900"/>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14</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21.30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67937198"/>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15</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23.00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09080169"/>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16</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22.50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25276208"/>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17</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21.30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24689109"/>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18</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dirty="0">
                          <a:effectLst/>
                          <a:latin typeface="D2Coding" panose="020B0609020101020101" pitchFamily="49" charset="-127"/>
                          <a:ea typeface="D2Coding" panose="020B0609020101020101" pitchFamily="49" charset="-127"/>
                        </a:rPr>
                        <a:t>21.50</a:t>
                      </a:r>
                      <a:endParaRPr lang="en-US" altLang="ko-KR" sz="900" b="0" i="0" u="none" strike="noStrike" dirty="0">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50048509"/>
                  </a:ext>
                </a:extLst>
              </a:tr>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19</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9261681"/>
                  </a:ext>
                </a:extLst>
              </a:tr>
              <a:tr h="264730">
                <a:tc>
                  <a:txBody>
                    <a:bodyPr/>
                    <a:lstStyle/>
                    <a:p>
                      <a:pPr algn="l" fontAlgn="ctr">
                        <a:buNone/>
                      </a:pPr>
                      <a:r>
                        <a:rPr lang="en-US" altLang="ko-KR" sz="900" u="none" strike="noStrike">
                          <a:effectLst/>
                          <a:latin typeface="D2Coding" panose="020B0609020101020101" pitchFamily="49" charset="-127"/>
                          <a:ea typeface="D2Coding" panose="020B0609020101020101" pitchFamily="49" charset="-127"/>
                        </a:rPr>
                        <a:t>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4</a:t>
                      </a:r>
                      <a:r>
                        <a:rPr lang="ko-KR" altLang="en-US" sz="900" u="none" strike="noStrike">
                          <a:effectLst/>
                          <a:latin typeface="D2Coding" panose="020B0609020101020101" pitchFamily="49" charset="-127"/>
                          <a:ea typeface="D2Coding" panose="020B0609020101020101" pitchFamily="49" charset="-127"/>
                        </a:rPr>
                        <a:t>주차</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20</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19.70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40415727"/>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21</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19.10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71060323"/>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22</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47940745"/>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23</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1380880"/>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24</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20.60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31695106"/>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25</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20.10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61971217"/>
                  </a:ext>
                </a:extLst>
              </a:tr>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26</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lnB w="12700" cap="flat" cmpd="sng" algn="ctr">
                      <a:solidFill>
                        <a:schemeClr val="tx1"/>
                      </a:solidFill>
                      <a:prstDash val="solid"/>
                      <a:round/>
                      <a:headEnd type="none" w="med" len="med"/>
                      <a:tailEnd type="none" w="med" len="med"/>
                    </a:lnB>
                  </a:tcPr>
                </a:tc>
                <a:tc>
                  <a:txBody>
                    <a:bodyPr/>
                    <a:lstStyle/>
                    <a:p>
                      <a:pPr algn="r" fontAlgn="ctr">
                        <a:buNone/>
                      </a:pPr>
                      <a:r>
                        <a:rPr lang="en-US" altLang="ko-KR" sz="900" u="none" strike="noStrike" dirty="0">
                          <a:effectLst/>
                          <a:latin typeface="D2Coding" panose="020B0609020101020101" pitchFamily="49" charset="-127"/>
                          <a:ea typeface="D2Coding" panose="020B0609020101020101" pitchFamily="49" charset="-127"/>
                        </a:rPr>
                        <a:t>19.20</a:t>
                      </a:r>
                      <a:endParaRPr lang="en-US" altLang="ko-KR" sz="900" b="0" i="0" u="none" strike="noStrike" dirty="0">
                        <a:solidFill>
                          <a:srgbClr val="000000"/>
                        </a:solidFill>
                        <a:effectLst/>
                        <a:latin typeface="D2Coding" panose="020B0609020101020101" pitchFamily="49" charset="-127"/>
                        <a:ea typeface="D2Coding" panose="020B0609020101020101" pitchFamily="49" charset="-127"/>
                      </a:endParaRPr>
                    </a:p>
                  </a:txBody>
                  <a:tcPr marL="6430" marR="6430" marT="643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583137"/>
                  </a:ext>
                </a:extLst>
              </a:tr>
            </a:tbl>
          </a:graphicData>
        </a:graphic>
      </p:graphicFrame>
      <p:sp>
        <p:nvSpPr>
          <p:cNvPr id="6" name="TextBox 5">
            <a:extLst>
              <a:ext uri="{FF2B5EF4-FFF2-40B4-BE49-F238E27FC236}">
                <a16:creationId xmlns:a16="http://schemas.microsoft.com/office/drawing/2014/main" id="{C8E4F7EF-4BA5-A370-BAA3-B38E18757E7A}"/>
              </a:ext>
            </a:extLst>
          </p:cNvPr>
          <p:cNvSpPr txBox="1"/>
          <p:nvPr/>
        </p:nvSpPr>
        <p:spPr>
          <a:xfrm>
            <a:off x="609600" y="1181100"/>
            <a:ext cx="10972800" cy="793166"/>
          </a:xfrm>
          <a:prstGeom prst="rect">
            <a:avLst/>
          </a:prstGeom>
          <a:noFill/>
        </p:spPr>
        <p:txBody>
          <a:bodyPr wrap="square" rtlCol="0">
            <a:spAutoFit/>
          </a:bodyPr>
          <a:lstStyle/>
          <a:p>
            <a:pPr>
              <a:lnSpc>
                <a:spcPct val="150000"/>
              </a:lnSpc>
            </a:pPr>
            <a:r>
              <a:rPr lang="ko-KR" altLang="en-US" sz="1600" dirty="0">
                <a:latin typeface="D2Coding" panose="020B0609020101020101" pitchFamily="49" charset="-127"/>
                <a:ea typeface="D2Coding" panose="020B0609020101020101" pitchFamily="49" charset="-127"/>
              </a:rPr>
              <a:t>일자별로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년치 주가가 아래와 같이 있을 때 어떤 식으로 예측이 가능한지</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기존</a:t>
            </a:r>
            <a:r>
              <a:rPr lang="en-US" altLang="ko-KR" sz="1600" dirty="0">
                <a:latin typeface="D2Coding" panose="020B0609020101020101" pitchFamily="49" charset="-127"/>
                <a:ea typeface="D2Coding" panose="020B0609020101020101" pitchFamily="49" charset="-127"/>
              </a:rPr>
              <a:t> ANN </a:t>
            </a:r>
            <a:r>
              <a:rPr lang="ko-KR" altLang="en-US" sz="1600" dirty="0">
                <a:latin typeface="D2Coding" panose="020B0609020101020101" pitchFamily="49" charset="-127"/>
                <a:ea typeface="D2Coding" panose="020B0609020101020101" pitchFamily="49" charset="-127"/>
              </a:rPr>
              <a:t>모델의 한계는 무엇이고</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왜 </a:t>
            </a:r>
            <a:r>
              <a:rPr lang="en-US" altLang="ko-KR" sz="1600" dirty="0">
                <a:latin typeface="D2Coding" panose="020B0609020101020101" pitchFamily="49" charset="-127"/>
                <a:ea typeface="D2Coding" panose="020B0609020101020101" pitchFamily="49" charset="-127"/>
              </a:rPr>
              <a:t>RNN</a:t>
            </a:r>
            <a:r>
              <a:rPr lang="ko-KR" altLang="en-US" sz="1600" dirty="0">
                <a:latin typeface="D2Coding" panose="020B0609020101020101" pitchFamily="49" charset="-127"/>
                <a:ea typeface="D2Coding" panose="020B0609020101020101" pitchFamily="49" charset="-127"/>
              </a:rPr>
              <a:t>이 필요한지</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를</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토론하고 주가 예측 방식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가지를 오른쪽 방식으로 제시하라</a:t>
            </a:r>
          </a:p>
        </p:txBody>
      </p:sp>
      <p:pic>
        <p:nvPicPr>
          <p:cNvPr id="9" name="그림 8">
            <a:extLst>
              <a:ext uri="{FF2B5EF4-FFF2-40B4-BE49-F238E27FC236}">
                <a16:creationId xmlns:a16="http://schemas.microsoft.com/office/drawing/2014/main" id="{2A87A5D0-916D-27BF-D866-2D20E3F1C2C7}"/>
              </a:ext>
            </a:extLst>
          </p:cNvPr>
          <p:cNvPicPr>
            <a:picLocks noChangeAspect="1"/>
          </p:cNvPicPr>
          <p:nvPr/>
        </p:nvPicPr>
        <p:blipFill>
          <a:blip r:embed="rId2"/>
          <a:stretch>
            <a:fillRect/>
          </a:stretch>
        </p:blipFill>
        <p:spPr>
          <a:xfrm>
            <a:off x="4956626" y="2405063"/>
            <a:ext cx="5599614" cy="4205850"/>
          </a:xfrm>
          <a:prstGeom prst="rect">
            <a:avLst/>
          </a:prstGeom>
        </p:spPr>
      </p:pic>
      <p:pic>
        <p:nvPicPr>
          <p:cNvPr id="11" name="그래픽 10" descr="물음표">
            <a:extLst>
              <a:ext uri="{FF2B5EF4-FFF2-40B4-BE49-F238E27FC236}">
                <a16:creationId xmlns:a16="http://schemas.microsoft.com/office/drawing/2014/main" id="{EBF915A4-0DCB-C7EB-0C33-4500D95795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6240" y="2971800"/>
            <a:ext cx="914400" cy="914400"/>
          </a:xfrm>
          <a:prstGeom prst="rect">
            <a:avLst/>
          </a:prstGeom>
        </p:spPr>
      </p:pic>
      <p:sp>
        <p:nvSpPr>
          <p:cNvPr id="12" name="화살표: 줄무늬가 있는 오른쪽 11">
            <a:extLst>
              <a:ext uri="{FF2B5EF4-FFF2-40B4-BE49-F238E27FC236}">
                <a16:creationId xmlns:a16="http://schemas.microsoft.com/office/drawing/2014/main" id="{46326C07-27F9-6F7A-BDF5-B42616B36906}"/>
              </a:ext>
            </a:extLst>
          </p:cNvPr>
          <p:cNvSpPr/>
          <p:nvPr/>
        </p:nvSpPr>
        <p:spPr>
          <a:xfrm>
            <a:off x="3881120" y="3556000"/>
            <a:ext cx="777688" cy="985520"/>
          </a:xfrm>
          <a:prstGeom prst="stripedRightArrow">
            <a:avLst>
              <a:gd name="adj1" fmla="val 6443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BA6AD419-A0F2-A35B-1726-8C849497EAFD}"/>
              </a:ext>
            </a:extLst>
          </p:cNvPr>
          <p:cNvSpPr txBox="1"/>
          <p:nvPr/>
        </p:nvSpPr>
        <p:spPr>
          <a:xfrm>
            <a:off x="4914397" y="2159263"/>
            <a:ext cx="6096000" cy="276999"/>
          </a:xfrm>
          <a:prstGeom prst="rect">
            <a:avLst/>
          </a:prstGeom>
          <a:noFill/>
        </p:spPr>
        <p:txBody>
          <a:bodyPr wrap="square">
            <a:spAutoFit/>
          </a:bodyPr>
          <a:lstStyle/>
          <a:p>
            <a:r>
              <a:rPr lang="ko-KR" altLang="en-US" sz="1200" dirty="0">
                <a:latin typeface="D2Coding" panose="020B0609020101020101" pitchFamily="49" charset="-127"/>
                <a:ea typeface="D2Coding" panose="020B0609020101020101" pitchFamily="49" charset="-127"/>
              </a:rPr>
              <a:t>Hands-On_Machine_Learning_with_Scikit-Learn-Keras-and-TensorFlow</a:t>
            </a:r>
          </a:p>
        </p:txBody>
      </p:sp>
      <p:sp>
        <p:nvSpPr>
          <p:cNvPr id="4" name="슬라이드 번호 개체 틀 3">
            <a:extLst>
              <a:ext uri="{FF2B5EF4-FFF2-40B4-BE49-F238E27FC236}">
                <a16:creationId xmlns:a16="http://schemas.microsoft.com/office/drawing/2014/main" id="{419624C6-0AF1-31D7-713F-4DECD6A71B4A}"/>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44</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21567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FF14-EF66-5081-88DC-F9804C9A781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EE675AA7-8C8E-F70E-8789-720E279A3F5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Shallow</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2294" name="Picture 6">
            <a:extLst>
              <a:ext uri="{FF2B5EF4-FFF2-40B4-BE49-F238E27FC236}">
                <a16:creationId xmlns:a16="http://schemas.microsoft.com/office/drawing/2014/main" id="{4037358D-830D-DEC2-E244-D656539FB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319" y="2059877"/>
            <a:ext cx="3886781" cy="3886781"/>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a:extLst>
              <a:ext uri="{FF2B5EF4-FFF2-40B4-BE49-F238E27FC236}">
                <a16:creationId xmlns:a16="http://schemas.microsoft.com/office/drawing/2014/main" id="{BD990D97-ACE4-D1AC-4F3E-FC470A7D1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7951" y="2095866"/>
            <a:ext cx="4048730" cy="3850792"/>
          </a:xfrm>
          <a:prstGeom prst="rect">
            <a:avLst/>
          </a:prstGeom>
          <a:noFill/>
          <a:extLst>
            <a:ext uri="{909E8E84-426E-40DD-AFC4-6F175D3DCCD1}">
              <a14:hiddenFill xmlns:a14="http://schemas.microsoft.com/office/drawing/2010/main">
                <a:solidFill>
                  <a:srgbClr val="FFFFFF"/>
                </a:solidFill>
              </a14:hiddenFill>
            </a:ext>
          </a:extLst>
        </p:spPr>
      </p:pic>
      <p:sp>
        <p:nvSpPr>
          <p:cNvPr id="2" name="슬라이드 번호 개체 틀 3">
            <a:extLst>
              <a:ext uri="{FF2B5EF4-FFF2-40B4-BE49-F238E27FC236}">
                <a16:creationId xmlns:a16="http://schemas.microsoft.com/office/drawing/2014/main" id="{4CCDB360-7335-D60A-62CE-CC72278C0F4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916977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45E8-D760-147C-AE49-0B71B11FA24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B66175D-694D-4CCA-291D-7721C5AF8B7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Multi-layer RNN, Deep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2290" name="Picture 2">
            <a:extLst>
              <a:ext uri="{FF2B5EF4-FFF2-40B4-BE49-F238E27FC236}">
                <a16:creationId xmlns:a16="http://schemas.microsoft.com/office/drawing/2014/main" id="{A416B029-17C0-D9FD-E177-14EA4447F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9215" y="1970673"/>
            <a:ext cx="4223511" cy="3639552"/>
          </a:xfrm>
          <a:prstGeom prst="rect">
            <a:avLst/>
          </a:prstGeom>
          <a:noFill/>
          <a:extLst>
            <a:ext uri="{909E8E84-426E-40DD-AFC4-6F175D3DCCD1}">
              <a14:hiddenFill xmlns:a14="http://schemas.microsoft.com/office/drawing/2010/main">
                <a:solidFill>
                  <a:srgbClr val="FFFFFF"/>
                </a:solidFill>
              </a14:hiddenFill>
            </a:ext>
          </a:extLst>
        </p:spPr>
      </p:pic>
      <p:sp>
        <p:nvSpPr>
          <p:cNvPr id="2" name="슬라이드 번호 개체 틀 3">
            <a:extLst>
              <a:ext uri="{FF2B5EF4-FFF2-40B4-BE49-F238E27FC236}">
                <a16:creationId xmlns:a16="http://schemas.microsoft.com/office/drawing/2014/main" id="{C84E04E2-D0C6-B082-7107-76851080A738}"/>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25247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23D3F-6BF2-AB89-8798-686B9ACEC750}"/>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65E7CA4C-36B5-7B7E-D205-F4732D90B31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Bidirectional</a:t>
            </a:r>
            <a:r>
              <a:rPr lang="en-US" altLang="ko-KR" sz="2800" dirty="0">
                <a:latin typeface="D2Coding" panose="020B0609020101020101" pitchFamily="49" charset="-127"/>
                <a:ea typeface="D2Coding" panose="020B0609020101020101" pitchFamily="49" charset="-127"/>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2292" name="Picture 4">
            <a:extLst>
              <a:ext uri="{FF2B5EF4-FFF2-40B4-BE49-F238E27FC236}">
                <a16:creationId xmlns:a16="http://schemas.microsoft.com/office/drawing/2014/main" id="{F6E11D43-597D-57B2-20AE-2A971F87F0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360997"/>
            <a:ext cx="6882138" cy="3058728"/>
          </a:xfrm>
          <a:prstGeom prst="rect">
            <a:avLst/>
          </a:prstGeom>
          <a:noFill/>
          <a:extLst>
            <a:ext uri="{909E8E84-426E-40DD-AFC4-6F175D3DCCD1}">
              <a14:hiddenFill xmlns:a14="http://schemas.microsoft.com/office/drawing/2010/main">
                <a:solidFill>
                  <a:srgbClr val="FFFFFF"/>
                </a:solidFill>
              </a14:hiddenFill>
            </a:ext>
          </a:extLst>
        </p:spPr>
      </p:pic>
      <p:sp>
        <p:nvSpPr>
          <p:cNvPr id="2" name="슬라이드 번호 개체 틀 3">
            <a:extLst>
              <a:ext uri="{FF2B5EF4-FFF2-40B4-BE49-F238E27FC236}">
                <a16:creationId xmlns:a16="http://schemas.microsoft.com/office/drawing/2014/main" id="{AE0452F5-BCF4-B796-03F4-62385B2685BF}"/>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34865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9C2A-2C44-40F0-2338-605399610180}"/>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7EED9C4A-95FD-32A2-76B6-6A8A1C80888B}"/>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3F29F4F-24C9-9839-8541-1432B5B03EF5}"/>
                  </a:ext>
                </a:extLst>
              </p:cNvPr>
              <p:cNvSpPr txBox="1"/>
              <p:nvPr/>
            </p:nvSpPr>
            <p:spPr>
              <a:xfrm>
                <a:off x="609599" y="1238250"/>
                <a:ext cx="11257043" cy="1162498"/>
              </a:xfrm>
              <a:prstGeom prst="rect">
                <a:avLst/>
              </a:prstGeom>
              <a:noFill/>
            </p:spPr>
            <p:txBody>
              <a:bodyPr wrap="square" rtlCol="0">
                <a:spAutoFit/>
              </a:bodyPr>
              <a:lstStyle/>
              <a:p>
                <a:pPr>
                  <a:lnSpc>
                    <a:spcPct val="150000"/>
                  </a:lnSpc>
                </a:pPr>
                <a:r>
                  <a:rPr lang="ko-KR" altLang="en-US" sz="1600" dirty="0">
                    <a:latin typeface="D2Coding" panose="020B0609020101020101" pitchFamily="49" charset="-127"/>
                    <a:ea typeface="D2Coding" panose="020B0609020101020101" pitchFamily="49" charset="-127"/>
                  </a:rPr>
                  <a:t>입력 </a:t>
                </a:r>
                <a:r>
                  <a:rPr lang="en-US" altLang="ko-KR" sz="1600" dirty="0">
                    <a:latin typeface="D2Coding" panose="020B0609020101020101" pitchFamily="49" charset="-127"/>
                    <a:ea typeface="D2Coding" panose="020B0609020101020101" pitchFamily="49" charset="-127"/>
                  </a:rPr>
                  <a:t>Feature</a:t>
                </a:r>
                <a:r>
                  <a:rPr lang="ko-KR" altLang="en-US" sz="1600" dirty="0">
                    <a:latin typeface="D2Coding" panose="020B0609020101020101" pitchFamily="49" charset="-127"/>
                    <a:ea typeface="D2Coding" panose="020B0609020101020101" pitchFamily="49" charset="-127"/>
                  </a:rPr>
                  <a:t>가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 은닉상태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크기가 </a:t>
                </a:r>
                <a:r>
                  <a:rPr lang="en-US" altLang="ko-KR" sz="1600" dirty="0">
                    <a:latin typeface="D2Coding" panose="020B0609020101020101" pitchFamily="49" charset="-127"/>
                    <a:ea typeface="D2Coding" panose="020B0609020101020101" pitchFamily="49" charset="-127"/>
                  </a:rPr>
                  <a:t>2), </a:t>
                </a:r>
                <a:r>
                  <a:rPr lang="ko-KR" altLang="en-US" sz="1600" dirty="0">
                    <a:latin typeface="D2Coding" panose="020B0609020101020101" pitchFamily="49" charset="-127"/>
                    <a:ea typeface="D2Coding" panose="020B0609020101020101" pitchFamily="49" charset="-127"/>
                  </a:rPr>
                  <a:t>은닉 층은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개를 통과시켜</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출력 층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개인 </a:t>
                </a:r>
                <a:r>
                  <a:rPr lang="en-US" altLang="ko-KR" sz="1600" dirty="0">
                    <a:latin typeface="D2Coding" panose="020B0609020101020101" pitchFamily="49" charset="-127"/>
                    <a:ea typeface="D2Coding" panose="020B0609020101020101" pitchFamily="49" charset="-127"/>
                  </a:rPr>
                  <a:t>RNN </a:t>
                </a:r>
                <a:r>
                  <a:rPr lang="ko-KR" altLang="en-US" sz="1600" dirty="0">
                    <a:latin typeface="D2Coding" panose="020B0609020101020101" pitchFamily="49" charset="-127"/>
                    <a:ea typeface="D2Coding" panose="020B0609020101020101" pitchFamily="49" charset="-127"/>
                  </a:rPr>
                  <a:t>구조는</a:t>
                </a:r>
                <a:r>
                  <a:rPr lang="en-US" altLang="ko-KR" sz="1600" dirty="0">
                    <a:latin typeface="D2Coding" panose="020B0609020101020101" pitchFamily="49" charset="-127"/>
                    <a:ea typeface="D2Coding" panose="020B0609020101020101" pitchFamily="49" charset="-127"/>
                  </a:rPr>
                  <a:t> Hidden Layer </a:t>
                </a:r>
                <a:r>
                  <a:rPr lang="en-US" altLang="ko-KR" sz="1600" dirty="0">
                    <a:latin typeface="D2Coding" panose="020B0609020101020101" pitchFamily="49" charset="-127"/>
                    <a:ea typeface="D2Coding" panose="020B0609020101020101" pitchFamily="49" charset="-127"/>
                    <a:sym typeface="Wingdings" panose="05000000000000000000" pitchFamily="2" charset="2"/>
                  </a:rPr>
                  <a:t> Hidden Layer </a:t>
                </a:r>
                <a:r>
                  <a:rPr lang="ko-KR" altLang="en-US" sz="1600" dirty="0">
                    <a:latin typeface="D2Coding" panose="020B0609020101020101" pitchFamily="49" charset="-127"/>
                    <a:ea typeface="D2Coding" panose="020B0609020101020101" pitchFamily="49" charset="-127"/>
                  </a:rPr>
                  <a:t>가는</a:t>
                </a:r>
                <a:r>
                  <a:rPr lang="en-US" altLang="ko-KR" sz="1600" dirty="0">
                    <a:latin typeface="D2Coding" panose="020B0609020101020101" pitchFamily="49" charset="-127"/>
                    <a:ea typeface="D2Coding" panose="020B0609020101020101" pitchFamily="49" charset="-127"/>
                  </a:rPr>
                  <a:t>, Hidden Layer</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sym typeface="Wingdings" panose="05000000000000000000" pitchFamily="2" charset="2"/>
                  </a:rPr>
                  <a:t> </a:t>
                </a:r>
                <a:r>
                  <a:rPr lang="en-US" altLang="ko-KR" sz="1600" dirty="0">
                    <a:latin typeface="D2Coding" panose="020B0609020101020101" pitchFamily="49" charset="-127"/>
                    <a:ea typeface="D2Coding" panose="020B0609020101020101" pitchFamily="49" charset="-127"/>
                  </a:rPr>
                  <a:t>Output Layer</a:t>
                </a:r>
                <a:r>
                  <a:rPr lang="ko-KR" altLang="en-US" sz="1600" dirty="0">
                    <a:latin typeface="D2Coding" panose="020B0609020101020101" pitchFamily="49" charset="-127"/>
                    <a:ea typeface="D2Coding" panose="020B0609020101020101" pitchFamily="49" charset="-127"/>
                  </a:rPr>
                  <a:t>로 가는 화살표를 </a:t>
                </a:r>
                <a14:m>
                  <m:oMath xmlns:m="http://schemas.openxmlformats.org/officeDocument/2006/math">
                    <m:r>
                      <a:rPr lang="en-US" altLang="ko-KR" sz="1600" i="1" dirty="0" smtClean="0">
                        <a:latin typeface="Cambria Math" panose="02040503050406030204" pitchFamily="18" charset="0"/>
                      </a:rPr>
                      <m:t>𝑤</m:t>
                    </m:r>
                  </m:oMath>
                </a14:m>
                <a:r>
                  <a:rPr lang="en-US" altLang="ko-KR" sz="1600" dirty="0">
                    <a:latin typeface="D2Coding" panose="020B0609020101020101" pitchFamily="49" charset="-127"/>
                    <a:ea typeface="D2Coding" panose="020B0609020101020101" pitchFamily="49" charset="-127"/>
                  </a:rPr>
                  <a:t> (Weights)</a:t>
                </a:r>
                <a:r>
                  <a:rPr lang="ko-KR" altLang="en-US" sz="1600" dirty="0">
                    <a:latin typeface="D2Coding" panose="020B0609020101020101" pitchFamily="49" charset="-127"/>
                    <a:ea typeface="D2Coding" panose="020B0609020101020101" pitchFamily="49" charset="-127"/>
                  </a:rPr>
                  <a:t>와 </a:t>
                </a:r>
                <a14:m>
                  <m:oMath xmlns:m="http://schemas.openxmlformats.org/officeDocument/2006/math">
                    <m:r>
                      <a:rPr lang="en-US" altLang="ko-KR" sz="1600" i="1" dirty="0">
                        <a:latin typeface="Cambria Math" panose="02040503050406030204" pitchFamily="18" charset="0"/>
                      </a:rPr>
                      <m:t>𝑥</m:t>
                    </m:r>
                    <m:r>
                      <a:rPr lang="en-US" altLang="ko-KR" sz="1600" b="0" i="1" dirty="0" smtClean="0">
                        <a:latin typeface="Cambria Math" panose="02040503050406030204" pitchFamily="18" charset="0"/>
                      </a:rPr>
                      <m:t>, </m:t>
                    </m:r>
                    <m:r>
                      <a:rPr lang="en-US" altLang="ko-KR" sz="1600" i="1" dirty="0">
                        <a:latin typeface="Cambria Math" panose="02040503050406030204" pitchFamily="18" charset="0"/>
                      </a:rPr>
                      <m:t>h</m:t>
                    </m:r>
                    <m:r>
                      <a:rPr lang="en-US" altLang="ko-KR" sz="1600" b="0" i="1" dirty="0" smtClean="0">
                        <a:latin typeface="Cambria Math" panose="02040503050406030204" pitchFamily="18" charset="0"/>
                      </a:rPr>
                      <m:t>, </m:t>
                    </m:r>
                    <m:r>
                      <a:rPr lang="en-US" altLang="ko-KR" sz="1600" i="1" dirty="0">
                        <a:latin typeface="Cambria Math" panose="02040503050406030204" pitchFamily="18" charset="0"/>
                      </a:rPr>
                      <m:t>𝑦</m:t>
                    </m:r>
                  </m:oMath>
                </a14:m>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Node(layer)</a:t>
                </a:r>
                <a:r>
                  <a:rPr lang="ko-KR" altLang="en-US" sz="1600" dirty="0">
                    <a:latin typeface="D2Coding" panose="020B0609020101020101" pitchFamily="49" charset="-127"/>
                    <a:ea typeface="D2Coding" panose="020B0609020101020101" pitchFamily="49" charset="-127"/>
                  </a:rPr>
                  <a:t>로 행렬식 형태로 표현</a:t>
                </a:r>
                <a:r>
                  <a:rPr lang="en-US" altLang="ko-KR" sz="1600" dirty="0">
                    <a:latin typeface="D2Coding" panose="020B0609020101020101" pitchFamily="49" charset="-127"/>
                    <a:ea typeface="D2Coding" panose="020B0609020101020101" pitchFamily="49" charset="-127"/>
                  </a:rPr>
                  <a:t>  </a:t>
                </a:r>
                <a:endParaRPr lang="ko-KR" altLang="en-US" sz="1600" dirty="0">
                  <a:latin typeface="D2Coding" panose="020B0609020101020101" pitchFamily="49" charset="-127"/>
                  <a:ea typeface="D2Coding" panose="020B0609020101020101" pitchFamily="49" charset="-127"/>
                </a:endParaRPr>
              </a:p>
            </p:txBody>
          </p:sp>
        </mc:Choice>
        <mc:Fallback xmlns="">
          <p:sp>
            <p:nvSpPr>
              <p:cNvPr id="13" name="TextBox 12">
                <a:extLst>
                  <a:ext uri="{FF2B5EF4-FFF2-40B4-BE49-F238E27FC236}">
                    <a16:creationId xmlns:a16="http://schemas.microsoft.com/office/drawing/2014/main" id="{03F29F4F-24C9-9839-8541-1432B5B03EF5}"/>
                  </a:ext>
                </a:extLst>
              </p:cNvPr>
              <p:cNvSpPr txBox="1">
                <a:spLocks noRot="1" noChangeAspect="1" noMove="1" noResize="1" noEditPoints="1" noAdjustHandles="1" noChangeArrowheads="1" noChangeShapeType="1" noTextEdit="1"/>
              </p:cNvSpPr>
              <p:nvPr/>
            </p:nvSpPr>
            <p:spPr>
              <a:xfrm>
                <a:off x="609599" y="1238250"/>
                <a:ext cx="11257043" cy="1162498"/>
              </a:xfrm>
              <a:prstGeom prst="rect">
                <a:avLst/>
              </a:prstGeom>
              <a:blipFill>
                <a:blip r:embed="rId2"/>
                <a:stretch>
                  <a:fillRect l="-271" b="-5236"/>
                </a:stretch>
              </a:blipFill>
            </p:spPr>
            <p:txBody>
              <a:bodyPr/>
              <a:lstStyle/>
              <a:p>
                <a:r>
                  <a:rPr lang="ko-KR" altLang="en-US">
                    <a:noFill/>
                  </a:rPr>
                  <a:t> </a:t>
                </a:r>
              </a:p>
            </p:txBody>
          </p:sp>
        </mc:Fallback>
      </mc:AlternateContent>
      <p:pic>
        <p:nvPicPr>
          <p:cNvPr id="5124" name="Picture 4">
            <a:extLst>
              <a:ext uri="{FF2B5EF4-FFF2-40B4-BE49-F238E27FC236}">
                <a16:creationId xmlns:a16="http://schemas.microsoft.com/office/drawing/2014/main" id="{8D3044CE-ABBC-4FFC-BD47-C78396D66AB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0422089" y="2927487"/>
            <a:ext cx="1444554" cy="2308917"/>
          </a:xfrm>
          <a:prstGeom prst="rect">
            <a:avLst/>
          </a:prstGeom>
          <a:noFill/>
          <a:extLst>
            <a:ext uri="{909E8E84-426E-40DD-AFC4-6F175D3DCCD1}">
              <a14:hiddenFill xmlns:a14="http://schemas.microsoft.com/office/drawing/2010/main">
                <a:solidFill>
                  <a:srgbClr val="FFFFFF"/>
                </a:solidFill>
              </a14:hiddenFill>
            </a:ext>
          </a:extLst>
        </p:spPr>
      </p:pic>
      <p:pic>
        <p:nvPicPr>
          <p:cNvPr id="11" name="그림 10">
            <a:extLst>
              <a:ext uri="{FF2B5EF4-FFF2-40B4-BE49-F238E27FC236}">
                <a16:creationId xmlns:a16="http://schemas.microsoft.com/office/drawing/2014/main" id="{C43789A1-1AE1-7F18-B16E-22EAF9660105}"/>
              </a:ext>
            </a:extLst>
          </p:cNvPr>
          <p:cNvPicPr>
            <a:picLocks noChangeAspect="1"/>
          </p:cNvPicPr>
          <p:nvPr/>
        </p:nvPicPr>
        <p:blipFill>
          <a:blip r:embed="rId5"/>
          <a:stretch>
            <a:fillRect/>
          </a:stretch>
        </p:blipFill>
        <p:spPr>
          <a:xfrm>
            <a:off x="651191" y="2927487"/>
            <a:ext cx="2569373" cy="2325224"/>
          </a:xfrm>
          <a:prstGeom prst="rect">
            <a:avLst/>
          </a:prstGeom>
        </p:spPr>
      </p:pic>
      <p:pic>
        <p:nvPicPr>
          <p:cNvPr id="12" name="Picture 2">
            <a:extLst>
              <a:ext uri="{FF2B5EF4-FFF2-40B4-BE49-F238E27FC236}">
                <a16:creationId xmlns:a16="http://schemas.microsoft.com/office/drawing/2014/main" id="{AF6AED0D-A629-B977-7EAD-E0994F37935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3632976" y="2927487"/>
            <a:ext cx="5053824" cy="229508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45CF377-C6C3-A826-7537-E3D9E7874ED8}"/>
              </a:ext>
            </a:extLst>
          </p:cNvPr>
          <p:cNvSpPr txBox="1"/>
          <p:nvPr/>
        </p:nvSpPr>
        <p:spPr>
          <a:xfrm>
            <a:off x="8795270" y="4903436"/>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Input Layer</a:t>
            </a:r>
            <a:endParaRPr lang="ko-KR" altLang="en-US" sz="1600" dirty="0">
              <a:latin typeface="D2Coding" panose="020B0609020101020101" pitchFamily="49" charset="-127"/>
              <a:ea typeface="D2Coding" panose="020B0609020101020101" pitchFamily="49" charset="-127"/>
            </a:endParaRPr>
          </a:p>
        </p:txBody>
      </p:sp>
      <p:sp>
        <p:nvSpPr>
          <p:cNvPr id="15" name="TextBox 14">
            <a:extLst>
              <a:ext uri="{FF2B5EF4-FFF2-40B4-BE49-F238E27FC236}">
                <a16:creationId xmlns:a16="http://schemas.microsoft.com/office/drawing/2014/main" id="{A25604D3-0827-D659-1A3B-14E7D2E971BA}"/>
              </a:ext>
            </a:extLst>
          </p:cNvPr>
          <p:cNvSpPr txBox="1"/>
          <p:nvPr/>
        </p:nvSpPr>
        <p:spPr>
          <a:xfrm>
            <a:off x="8795270" y="3967749"/>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Hidden Layer</a:t>
            </a:r>
            <a:endParaRPr lang="ko-KR" altLang="en-US" sz="1600" dirty="0">
              <a:latin typeface="D2Coding" panose="020B0609020101020101" pitchFamily="49" charset="-127"/>
              <a:ea typeface="D2Coding" panose="020B0609020101020101" pitchFamily="49" charset="-127"/>
            </a:endParaRPr>
          </a:p>
        </p:txBody>
      </p:sp>
      <p:sp>
        <p:nvSpPr>
          <p:cNvPr id="16" name="TextBox 15">
            <a:extLst>
              <a:ext uri="{FF2B5EF4-FFF2-40B4-BE49-F238E27FC236}">
                <a16:creationId xmlns:a16="http://schemas.microsoft.com/office/drawing/2014/main" id="{05EFDF52-B735-6C52-2BE9-30037DEC18F1}"/>
              </a:ext>
            </a:extLst>
          </p:cNvPr>
          <p:cNvSpPr txBox="1"/>
          <p:nvPr/>
        </p:nvSpPr>
        <p:spPr>
          <a:xfrm>
            <a:off x="8795271" y="3037648"/>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Output Layer</a:t>
            </a:r>
            <a:endParaRPr lang="ko-KR" altLang="en-US" sz="1600" dirty="0">
              <a:latin typeface="D2Coding" panose="020B0609020101020101" pitchFamily="49" charset="-127"/>
              <a:ea typeface="D2Coding" panose="020B0609020101020101" pitchFamily="49" charset="-127"/>
            </a:endParaRPr>
          </a:p>
        </p:txBody>
      </p:sp>
      <p:sp>
        <p:nvSpPr>
          <p:cNvPr id="2" name="슬라이드 번호 개체 틀 3">
            <a:extLst>
              <a:ext uri="{FF2B5EF4-FFF2-40B4-BE49-F238E27FC236}">
                <a16:creationId xmlns:a16="http://schemas.microsoft.com/office/drawing/2014/main" id="{839E079A-78B4-2D89-3C4F-D04B7A216D67}"/>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48</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61206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1470-8656-464B-06C4-C067937AEE8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19D2C877-831B-8CBF-51C8-3C773B3671A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슬라이드 번호 개체 틀 3">
            <a:extLst>
              <a:ext uri="{FF2B5EF4-FFF2-40B4-BE49-F238E27FC236}">
                <a16:creationId xmlns:a16="http://schemas.microsoft.com/office/drawing/2014/main" id="{36794778-297A-F830-9286-DF74C43504C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49</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AutoShape 2" descr=", AI로 생성">
            <a:extLst>
              <a:ext uri="{FF2B5EF4-FFF2-40B4-BE49-F238E27FC236}">
                <a16:creationId xmlns:a16="http://schemas.microsoft.com/office/drawing/2014/main" id="{5E2825BF-340E-EA25-41CB-E1A860DB73E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6" name="그림 5">
            <a:extLst>
              <a:ext uri="{FF2B5EF4-FFF2-40B4-BE49-F238E27FC236}">
                <a16:creationId xmlns:a16="http://schemas.microsoft.com/office/drawing/2014/main" id="{6EB88C18-BA7C-B571-0DEE-B746C08D80A4}"/>
              </a:ext>
            </a:extLst>
          </p:cNvPr>
          <p:cNvPicPr>
            <a:picLocks noChangeAspect="1"/>
          </p:cNvPicPr>
          <p:nvPr/>
        </p:nvPicPr>
        <p:blipFill>
          <a:blip r:embed="rId2"/>
          <a:stretch>
            <a:fillRect/>
          </a:stretch>
        </p:blipFill>
        <p:spPr>
          <a:xfrm>
            <a:off x="6371473" y="2690770"/>
            <a:ext cx="5312527" cy="2410962"/>
          </a:xfrm>
          <a:prstGeom prst="rect">
            <a:avLst/>
          </a:prstGeom>
          <a:ln>
            <a:solidFill>
              <a:schemeClr val="tx1"/>
            </a:solidFill>
          </a:ln>
        </p:spPr>
      </p:pic>
      <p:pic>
        <p:nvPicPr>
          <p:cNvPr id="8" name="그림 7">
            <a:extLst>
              <a:ext uri="{FF2B5EF4-FFF2-40B4-BE49-F238E27FC236}">
                <a16:creationId xmlns:a16="http://schemas.microsoft.com/office/drawing/2014/main" id="{8C5FFDD5-943E-07A6-655C-289EE003F9AE}"/>
              </a:ext>
            </a:extLst>
          </p:cNvPr>
          <p:cNvPicPr>
            <a:picLocks noChangeAspect="1"/>
          </p:cNvPicPr>
          <p:nvPr/>
        </p:nvPicPr>
        <p:blipFill>
          <a:blip r:embed="rId3"/>
          <a:stretch>
            <a:fillRect/>
          </a:stretch>
        </p:blipFill>
        <p:spPr>
          <a:xfrm>
            <a:off x="608994" y="2690770"/>
            <a:ext cx="5312527" cy="2410962"/>
          </a:xfrm>
          <a:prstGeom prst="rect">
            <a:avLst/>
          </a:prstGeom>
          <a:ln>
            <a:solidFill>
              <a:schemeClr val="tx1"/>
            </a:solidFill>
          </a:ln>
        </p:spPr>
      </p:pic>
    </p:spTree>
    <p:extLst>
      <p:ext uri="{BB962C8B-B14F-4D97-AF65-F5344CB8AC3E}">
        <p14:creationId xmlns:p14="http://schemas.microsoft.com/office/powerpoint/2010/main" val="2515952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5B8A-C84C-7FBC-FC84-2084577BB9D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7A9C1A4-67AE-0091-A0D0-D992B8417B0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B9D5E40E-135E-FF44-DC9E-5C1339EE23B8}"/>
              </a:ext>
            </a:extLst>
          </p:cNvPr>
          <p:cNvSpPr txBox="1"/>
          <p:nvPr/>
        </p:nvSpPr>
        <p:spPr>
          <a:xfrm>
            <a:off x="609600" y="1207770"/>
            <a:ext cx="10972800" cy="793166"/>
          </a:xfrm>
          <a:prstGeom prst="rect">
            <a:avLst/>
          </a:prstGeom>
          <a:noFill/>
        </p:spPr>
        <p:txBody>
          <a:bodyPr wrap="square" rtlCol="0">
            <a:spAutoFit/>
          </a:bodyPr>
          <a:lstStyle/>
          <a:p>
            <a:pPr>
              <a:lnSpc>
                <a:spcPct val="150000"/>
              </a:lnSpc>
            </a:pPr>
            <a:r>
              <a:rPr lang="ko-KR" altLang="en-US" sz="1600" dirty="0">
                <a:latin typeface="D2Coding" panose="020B0609020101020101" pitchFamily="49" charset="-127"/>
                <a:ea typeface="D2Coding" panose="020B0609020101020101" pitchFamily="49" charset="-127"/>
              </a:rPr>
              <a:t>입력 </a:t>
            </a:r>
            <a:r>
              <a:rPr lang="en-US" altLang="ko-KR" sz="1600" dirty="0">
                <a:latin typeface="D2Coding" panose="020B0609020101020101" pitchFamily="49" charset="-127"/>
                <a:ea typeface="D2Coding" panose="020B0609020101020101" pitchFamily="49" charset="-127"/>
              </a:rPr>
              <a:t>Feature</a:t>
            </a:r>
            <a:r>
              <a:rPr lang="ko-KR" altLang="en-US" sz="1600" dirty="0">
                <a:latin typeface="D2Coding" panose="020B0609020101020101" pitchFamily="49" charset="-127"/>
                <a:ea typeface="D2Coding" panose="020B0609020101020101" pitchFamily="49" charset="-127"/>
              </a:rPr>
              <a:t>가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개이고</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차원이 </a:t>
            </a:r>
            <a:r>
              <a:rPr lang="en-US" altLang="ko-KR" sz="1600" dirty="0">
                <a:latin typeface="D2Coding" panose="020B0609020101020101" pitchFamily="49" charset="-127"/>
                <a:ea typeface="D2Coding" panose="020B0609020101020101" pitchFamily="49" charset="-127"/>
              </a:rPr>
              <a:t>4(4</a:t>
            </a:r>
            <a:r>
              <a:rPr lang="ko-KR" altLang="en-US" sz="1600" dirty="0">
                <a:latin typeface="D2Coding" panose="020B0609020101020101" pitchFamily="49" charset="-127"/>
                <a:ea typeface="D2Coding" panose="020B0609020101020101" pitchFamily="49" charset="-127"/>
              </a:rPr>
              <a:t>차원 벡터로 단어를 표현</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단어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개씩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번</a:t>
            </a:r>
            <a:r>
              <a:rPr lang="en-US" altLang="ko-KR" sz="1600" dirty="0">
                <a:latin typeface="D2Coding" panose="020B0609020101020101" pitchFamily="49" charset="-127"/>
                <a:ea typeface="D2Coding" panose="020B0609020101020101" pitchFamily="49" charset="-127"/>
              </a:rPr>
              <a:t>(time step 4) </a:t>
            </a:r>
            <a:r>
              <a:rPr lang="ko-KR" altLang="en-US" sz="1600" dirty="0">
                <a:latin typeface="D2Coding" panose="020B0609020101020101" pitchFamily="49" charset="-127"/>
                <a:ea typeface="D2Coding" panose="020B0609020101020101" pitchFamily="49" charset="-127"/>
              </a:rPr>
              <a:t>연속으로 은닉상태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크기가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를 통과시키고</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출력 층이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개인 </a:t>
            </a:r>
            <a:r>
              <a:rPr lang="en-US" altLang="ko-KR" sz="1600" dirty="0">
                <a:latin typeface="D2Coding" panose="020B0609020101020101" pitchFamily="49" charset="-127"/>
                <a:ea typeface="D2Coding" panose="020B0609020101020101" pitchFamily="49" charset="-127"/>
              </a:rPr>
              <a:t>RNN </a:t>
            </a:r>
            <a:r>
              <a:rPr lang="ko-KR" altLang="en-US" sz="1600" dirty="0">
                <a:latin typeface="D2Coding" panose="020B0609020101020101" pitchFamily="49" charset="-127"/>
                <a:ea typeface="D2Coding" panose="020B0609020101020101" pitchFamily="49" charset="-127"/>
              </a:rPr>
              <a:t>구조</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은닉층은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p:txBody>
      </p:sp>
      <p:pic>
        <p:nvPicPr>
          <p:cNvPr id="12" name="Picture 2">
            <a:extLst>
              <a:ext uri="{FF2B5EF4-FFF2-40B4-BE49-F238E27FC236}">
                <a16:creationId xmlns:a16="http://schemas.microsoft.com/office/drawing/2014/main" id="{635D0560-3CCD-D828-5695-703F5BD2125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2348834" y="2360628"/>
            <a:ext cx="7643677" cy="34712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표 18">
            <a:extLst>
              <a:ext uri="{FF2B5EF4-FFF2-40B4-BE49-F238E27FC236}">
                <a16:creationId xmlns:a16="http://schemas.microsoft.com/office/drawing/2014/main" id="{CB8E1BB4-BE33-F6A1-2B2A-3550C0CEBD13}"/>
              </a:ext>
            </a:extLst>
          </p:cNvPr>
          <p:cNvGraphicFramePr>
            <a:graphicFrameLocks noGrp="1"/>
          </p:cNvGraphicFramePr>
          <p:nvPr>
            <p:extLst>
              <p:ext uri="{D42A27DB-BD31-4B8C-83A1-F6EECF244321}">
                <p14:modId xmlns:p14="http://schemas.microsoft.com/office/powerpoint/2010/main" val="2198304713"/>
              </p:ext>
            </p:extLst>
          </p:nvPr>
        </p:nvGraphicFramePr>
        <p:xfrm>
          <a:off x="9108396" y="2950204"/>
          <a:ext cx="609600" cy="621454"/>
        </p:xfrm>
        <a:graphic>
          <a:graphicData uri="http://schemas.openxmlformats.org/drawingml/2006/table">
            <a:tbl>
              <a:tblPr firstRow="1" bandRow="1">
                <a:tableStyleId>{93296810-A885-4BE3-A3E7-6D5BEEA58F35}</a:tableStyleId>
              </a:tblPr>
              <a:tblGrid>
                <a:gridCol w="304800">
                  <a:extLst>
                    <a:ext uri="{9D8B030D-6E8A-4147-A177-3AD203B41FA5}">
                      <a16:colId xmlns:a16="http://schemas.microsoft.com/office/drawing/2014/main" val="2770069485"/>
                    </a:ext>
                  </a:extLst>
                </a:gridCol>
                <a:gridCol w="304800">
                  <a:extLst>
                    <a:ext uri="{9D8B030D-6E8A-4147-A177-3AD203B41FA5}">
                      <a16:colId xmlns:a16="http://schemas.microsoft.com/office/drawing/2014/main" val="3470035491"/>
                    </a:ext>
                  </a:extLst>
                </a:gridCol>
              </a:tblGrid>
              <a:tr h="310727">
                <a:tc>
                  <a:txBody>
                    <a:bodyPr/>
                    <a:lstStyle/>
                    <a:p>
                      <a:pPr latinLnBrk="1"/>
                      <a:endParaRPr lang="ko-KR" altLang="en-US" sz="500"/>
                    </a:p>
                  </a:txBody>
                  <a:tcPr/>
                </a:tc>
                <a:tc>
                  <a:txBody>
                    <a:bodyPr/>
                    <a:lstStyle/>
                    <a:p>
                      <a:pPr latinLnBrk="1"/>
                      <a:endParaRPr lang="ko-KR" altLang="en-US" sz="500"/>
                    </a:p>
                  </a:txBody>
                  <a:tcPr/>
                </a:tc>
                <a:extLst>
                  <a:ext uri="{0D108BD9-81ED-4DB2-BD59-A6C34878D82A}">
                    <a16:rowId xmlns:a16="http://schemas.microsoft.com/office/drawing/2014/main" val="4161459310"/>
                  </a:ext>
                </a:extLst>
              </a:tr>
              <a:tr h="310727">
                <a:tc>
                  <a:txBody>
                    <a:bodyPr/>
                    <a:lstStyle/>
                    <a:p>
                      <a:pPr latinLnBrk="1"/>
                      <a:endParaRPr lang="ko-KR" altLang="en-US" sz="500" dirty="0"/>
                    </a:p>
                  </a:txBody>
                  <a:tcPr/>
                </a:tc>
                <a:tc>
                  <a:txBody>
                    <a:bodyPr/>
                    <a:lstStyle/>
                    <a:p>
                      <a:pPr latinLnBrk="1"/>
                      <a:endParaRPr lang="ko-KR" altLang="en-US" sz="500" dirty="0"/>
                    </a:p>
                  </a:txBody>
                  <a:tcPr/>
                </a:tc>
                <a:extLst>
                  <a:ext uri="{0D108BD9-81ED-4DB2-BD59-A6C34878D82A}">
                    <a16:rowId xmlns:a16="http://schemas.microsoft.com/office/drawing/2014/main" val="2518619735"/>
                  </a:ext>
                </a:extLst>
              </a:tr>
            </a:tbl>
          </a:graphicData>
        </a:graphic>
      </p:graphicFrame>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D137ADF-6CB3-B86E-4942-B14CA6568D82}"/>
                  </a:ext>
                </a:extLst>
              </p:cNvPr>
              <p:cNvSpPr txBox="1"/>
              <p:nvPr/>
            </p:nvSpPr>
            <p:spPr>
              <a:xfrm>
                <a:off x="519099" y="4827811"/>
                <a:ext cx="3016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p>
            </p:txBody>
          </p:sp>
        </mc:Choice>
        <mc:Fallback xmlns="">
          <p:sp>
            <p:nvSpPr>
              <p:cNvPr id="20" name="TextBox 19">
                <a:extLst>
                  <a:ext uri="{FF2B5EF4-FFF2-40B4-BE49-F238E27FC236}">
                    <a16:creationId xmlns:a16="http://schemas.microsoft.com/office/drawing/2014/main" id="{AD137ADF-6CB3-B86E-4942-B14CA6568D82}"/>
                  </a:ext>
                </a:extLst>
              </p:cNvPr>
              <p:cNvSpPr txBox="1">
                <a:spLocks noRot="1" noChangeAspect="1" noMove="1" noResize="1" noEditPoints="1" noAdjustHandles="1" noChangeArrowheads="1" noChangeShapeType="1" noTextEdit="1"/>
              </p:cNvSpPr>
              <p:nvPr/>
            </p:nvSpPr>
            <p:spPr>
              <a:xfrm>
                <a:off x="519099" y="4827811"/>
                <a:ext cx="301685" cy="307777"/>
              </a:xfrm>
              <a:prstGeom prst="rect">
                <a:avLst/>
              </a:prstGeom>
              <a:blipFill>
                <a:blip r:embed="rId5"/>
                <a:stretch>
                  <a:fillRect l="-8000" r="-2000"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F06342A-37B3-9415-D525-46B94B9F427A}"/>
                  </a:ext>
                </a:extLst>
              </p:cNvPr>
              <p:cNvSpPr txBox="1"/>
              <p:nvPr/>
            </p:nvSpPr>
            <p:spPr>
              <a:xfrm>
                <a:off x="970129" y="3746122"/>
                <a:ext cx="47065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𝑥</m:t>
                          </m:r>
                        </m:sub>
                      </m:sSub>
                    </m:oMath>
                  </m:oMathPara>
                </a14:m>
                <a:endParaRPr lang="ko-KR" altLang="en-US" sz="2000" dirty="0"/>
              </a:p>
            </p:txBody>
          </p:sp>
        </mc:Choice>
        <mc:Fallback xmlns="">
          <p:sp>
            <p:nvSpPr>
              <p:cNvPr id="22" name="TextBox 21">
                <a:extLst>
                  <a:ext uri="{FF2B5EF4-FFF2-40B4-BE49-F238E27FC236}">
                    <a16:creationId xmlns:a16="http://schemas.microsoft.com/office/drawing/2014/main" id="{DF06342A-37B3-9415-D525-46B94B9F427A}"/>
                  </a:ext>
                </a:extLst>
              </p:cNvPr>
              <p:cNvSpPr txBox="1">
                <a:spLocks noRot="1" noChangeAspect="1" noMove="1" noResize="1" noEditPoints="1" noAdjustHandles="1" noChangeArrowheads="1" noChangeShapeType="1" noTextEdit="1"/>
              </p:cNvSpPr>
              <p:nvPr/>
            </p:nvSpPr>
            <p:spPr>
              <a:xfrm>
                <a:off x="970129" y="3746122"/>
                <a:ext cx="470657" cy="400110"/>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E33882C-3868-43AA-696B-8DFC83771771}"/>
                  </a:ext>
                </a:extLst>
              </p:cNvPr>
              <p:cNvSpPr txBox="1"/>
              <p:nvPr/>
            </p:nvSpPr>
            <p:spPr>
              <a:xfrm>
                <a:off x="4297680" y="3774948"/>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h</m:t>
                          </m:r>
                        </m:e>
                        <m:sub>
                          <m:r>
                            <a:rPr lang="ko-KR" altLang="en-US" i="1">
                              <a:solidFill>
                                <a:schemeClr val="bg1"/>
                              </a:solidFill>
                              <a:latin typeface="Cambria Math" panose="02040503050406030204" pitchFamily="18" charset="0"/>
                            </a:rPr>
                            <m:t>𝑡</m:t>
                          </m:r>
                          <m:r>
                            <a:rPr lang="en-US" altLang="ko-KR" b="0" i="1" smtClean="0">
                              <a:solidFill>
                                <a:schemeClr val="bg1"/>
                              </a:solidFill>
                              <a:latin typeface="Cambria Math" panose="02040503050406030204" pitchFamily="18" charset="0"/>
                            </a:rPr>
                            <m:t>−1</m:t>
                          </m:r>
                        </m:sub>
                      </m:sSub>
                    </m:oMath>
                  </m:oMathPara>
                </a14:m>
                <a:endParaRPr lang="ko-KR" altLang="en-US" dirty="0">
                  <a:solidFill>
                    <a:schemeClr val="bg1"/>
                  </a:solidFill>
                </a:endParaRPr>
              </a:p>
            </p:txBody>
          </p:sp>
        </mc:Choice>
        <mc:Fallback xmlns="">
          <p:sp>
            <p:nvSpPr>
              <p:cNvPr id="28" name="TextBox 27">
                <a:extLst>
                  <a:ext uri="{FF2B5EF4-FFF2-40B4-BE49-F238E27FC236}">
                    <a16:creationId xmlns:a16="http://schemas.microsoft.com/office/drawing/2014/main" id="{3E33882C-3868-43AA-696B-8DFC83771771}"/>
                  </a:ext>
                </a:extLst>
              </p:cNvPr>
              <p:cNvSpPr txBox="1">
                <a:spLocks noRot="1" noChangeAspect="1" noMove="1" noResize="1" noEditPoints="1" noAdjustHandles="1" noChangeArrowheads="1" noChangeShapeType="1" noTextEdit="1"/>
              </p:cNvSpPr>
              <p:nvPr/>
            </p:nvSpPr>
            <p:spPr>
              <a:xfrm>
                <a:off x="4297680" y="3774948"/>
                <a:ext cx="427938" cy="276999"/>
              </a:xfrm>
              <a:prstGeom prst="rect">
                <a:avLst/>
              </a:prstGeom>
              <a:blipFill>
                <a:blip r:embed="rId7"/>
                <a:stretch>
                  <a:fillRect l="-12857" r="-2857"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0A1DDA6-2F84-5A9C-F4B1-0CCDBAFABC5C}"/>
                  </a:ext>
                </a:extLst>
              </p:cNvPr>
              <p:cNvSpPr txBox="1"/>
              <p:nvPr/>
            </p:nvSpPr>
            <p:spPr>
              <a:xfrm>
                <a:off x="9242572" y="3240611"/>
                <a:ext cx="341247"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𝑦</m:t>
                          </m:r>
                        </m:sub>
                      </m:sSub>
                    </m:oMath>
                  </m:oMathPara>
                </a14:m>
                <a:endParaRPr lang="ko-KR" altLang="en-US" dirty="0"/>
              </a:p>
            </p:txBody>
          </p:sp>
        </mc:Choice>
        <mc:Fallback xmlns="">
          <p:sp>
            <p:nvSpPr>
              <p:cNvPr id="29" name="TextBox 28">
                <a:extLst>
                  <a:ext uri="{FF2B5EF4-FFF2-40B4-BE49-F238E27FC236}">
                    <a16:creationId xmlns:a16="http://schemas.microsoft.com/office/drawing/2014/main" id="{F0A1DDA6-2F84-5A9C-F4B1-0CCDBAFABC5C}"/>
                  </a:ext>
                </a:extLst>
              </p:cNvPr>
              <p:cNvSpPr txBox="1">
                <a:spLocks noRot="1" noChangeAspect="1" noMove="1" noResize="1" noEditPoints="1" noAdjustHandles="1" noChangeArrowheads="1" noChangeShapeType="1" noTextEdit="1"/>
              </p:cNvSpPr>
              <p:nvPr/>
            </p:nvSpPr>
            <p:spPr>
              <a:xfrm>
                <a:off x="9242572" y="3240611"/>
                <a:ext cx="341247" cy="298928"/>
              </a:xfrm>
              <a:prstGeom prst="rect">
                <a:avLst/>
              </a:prstGeom>
              <a:blipFill>
                <a:blip r:embed="rId8"/>
                <a:stretch>
                  <a:fillRect l="-8929" r="-5357" b="-183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5534E30-766A-C751-6FB0-889841807268}"/>
                  </a:ext>
                </a:extLst>
              </p:cNvPr>
              <p:cNvSpPr txBox="1"/>
              <p:nvPr/>
            </p:nvSpPr>
            <p:spPr>
              <a:xfrm>
                <a:off x="7745976" y="376917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h</m:t>
                          </m:r>
                        </m:e>
                        <m:sub>
                          <m:r>
                            <a:rPr lang="ko-KR" altLang="en-US" i="1">
                              <a:solidFill>
                                <a:schemeClr val="bg1"/>
                              </a:solidFill>
                              <a:latin typeface="Cambria Math" panose="02040503050406030204" pitchFamily="18" charset="0"/>
                            </a:rPr>
                            <m:t>𝑡</m:t>
                          </m:r>
                        </m:sub>
                      </m:sSub>
                    </m:oMath>
                  </m:oMathPara>
                </a14:m>
                <a:endParaRPr lang="ko-KR" altLang="en-US" dirty="0">
                  <a:solidFill>
                    <a:schemeClr val="bg1"/>
                  </a:solidFill>
                </a:endParaRPr>
              </a:p>
            </p:txBody>
          </p:sp>
        </mc:Choice>
        <mc:Fallback xmlns="">
          <p:sp>
            <p:nvSpPr>
              <p:cNvPr id="31" name="TextBox 30">
                <a:extLst>
                  <a:ext uri="{FF2B5EF4-FFF2-40B4-BE49-F238E27FC236}">
                    <a16:creationId xmlns:a16="http://schemas.microsoft.com/office/drawing/2014/main" id="{35534E30-766A-C751-6FB0-889841807268}"/>
                  </a:ext>
                </a:extLst>
              </p:cNvPr>
              <p:cNvSpPr txBox="1">
                <a:spLocks noRot="1" noChangeAspect="1" noMove="1" noResize="1" noEditPoints="1" noAdjustHandles="1" noChangeArrowheads="1" noChangeShapeType="1" noTextEdit="1"/>
              </p:cNvSpPr>
              <p:nvPr/>
            </p:nvSpPr>
            <p:spPr>
              <a:xfrm>
                <a:off x="7745976" y="3769174"/>
                <a:ext cx="278538" cy="276999"/>
              </a:xfrm>
              <a:prstGeom prst="rect">
                <a:avLst/>
              </a:prstGeom>
              <a:blipFill>
                <a:blip r:embed="rId9"/>
                <a:stretch>
                  <a:fillRect l="-20000" r="-2222"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F3179C1-D380-E74F-C961-95BF46AADDF4}"/>
                  </a:ext>
                </a:extLst>
              </p:cNvPr>
              <p:cNvSpPr txBox="1"/>
              <p:nvPr/>
            </p:nvSpPr>
            <p:spPr>
              <a:xfrm>
                <a:off x="7751362" y="2544175"/>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𝑦</m:t>
                          </m:r>
                        </m:e>
                        <m:sub>
                          <m:r>
                            <a:rPr lang="ko-KR" altLang="en-US" i="1">
                              <a:solidFill>
                                <a:schemeClr val="bg1"/>
                              </a:solidFill>
                              <a:latin typeface="Cambria Math" panose="02040503050406030204" pitchFamily="18" charset="0"/>
                            </a:rPr>
                            <m:t>𝑡</m:t>
                          </m:r>
                        </m:sub>
                      </m:sSub>
                    </m:oMath>
                  </m:oMathPara>
                </a14:m>
                <a:endParaRPr lang="ko-KR" altLang="en-US" dirty="0">
                  <a:solidFill>
                    <a:schemeClr val="bg1"/>
                  </a:solidFill>
                </a:endParaRPr>
              </a:p>
            </p:txBody>
          </p:sp>
        </mc:Choice>
        <mc:Fallback xmlns="">
          <p:sp>
            <p:nvSpPr>
              <p:cNvPr id="32" name="TextBox 31">
                <a:extLst>
                  <a:ext uri="{FF2B5EF4-FFF2-40B4-BE49-F238E27FC236}">
                    <a16:creationId xmlns:a16="http://schemas.microsoft.com/office/drawing/2014/main" id="{8F3179C1-D380-E74F-C961-95BF46AADDF4}"/>
                  </a:ext>
                </a:extLst>
              </p:cNvPr>
              <p:cNvSpPr txBox="1">
                <a:spLocks noRot="1" noChangeAspect="1" noMove="1" noResize="1" noEditPoints="1" noAdjustHandles="1" noChangeArrowheads="1" noChangeShapeType="1" noTextEdit="1"/>
              </p:cNvSpPr>
              <p:nvPr/>
            </p:nvSpPr>
            <p:spPr>
              <a:xfrm>
                <a:off x="7751362" y="2544175"/>
                <a:ext cx="273152" cy="276999"/>
              </a:xfrm>
              <a:prstGeom prst="rect">
                <a:avLst/>
              </a:prstGeom>
              <a:blipFill>
                <a:blip r:embed="rId10"/>
                <a:stretch>
                  <a:fillRect l="-20455" r="-2273" b="-282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D708158-DCA9-7ADF-F7AC-EEBC25E8423A}"/>
                  </a:ext>
                </a:extLst>
              </p:cNvPr>
              <p:cNvSpPr txBox="1"/>
              <p:nvPr/>
            </p:nvSpPr>
            <p:spPr>
              <a:xfrm>
                <a:off x="4375073" y="2524242"/>
                <a:ext cx="4225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𝑦</m:t>
                          </m:r>
                        </m:e>
                        <m:sub>
                          <m:r>
                            <a:rPr lang="ko-KR" altLang="en-US" i="1">
                              <a:solidFill>
                                <a:schemeClr val="bg1"/>
                              </a:solidFill>
                              <a:latin typeface="Cambria Math" panose="02040503050406030204" pitchFamily="18" charset="0"/>
                            </a:rPr>
                            <m:t>𝑡</m:t>
                          </m:r>
                          <m:r>
                            <a:rPr lang="en-US" altLang="ko-KR" b="0" i="1" smtClean="0">
                              <a:solidFill>
                                <a:schemeClr val="bg1"/>
                              </a:solidFill>
                              <a:latin typeface="Cambria Math" panose="02040503050406030204" pitchFamily="18" charset="0"/>
                            </a:rPr>
                            <m:t>−1</m:t>
                          </m:r>
                        </m:sub>
                      </m:sSub>
                    </m:oMath>
                  </m:oMathPara>
                </a14:m>
                <a:endParaRPr lang="ko-KR" altLang="en-US" dirty="0">
                  <a:solidFill>
                    <a:schemeClr val="bg1"/>
                  </a:solidFill>
                </a:endParaRPr>
              </a:p>
            </p:txBody>
          </p:sp>
        </mc:Choice>
        <mc:Fallback xmlns="">
          <p:sp>
            <p:nvSpPr>
              <p:cNvPr id="33" name="TextBox 32">
                <a:extLst>
                  <a:ext uri="{FF2B5EF4-FFF2-40B4-BE49-F238E27FC236}">
                    <a16:creationId xmlns:a16="http://schemas.microsoft.com/office/drawing/2014/main" id="{1D708158-DCA9-7ADF-F7AC-EEBC25E8423A}"/>
                  </a:ext>
                </a:extLst>
              </p:cNvPr>
              <p:cNvSpPr txBox="1">
                <a:spLocks noRot="1" noChangeAspect="1" noMove="1" noResize="1" noEditPoints="1" noAdjustHandles="1" noChangeArrowheads="1" noChangeShapeType="1" noTextEdit="1"/>
              </p:cNvSpPr>
              <p:nvPr/>
            </p:nvSpPr>
            <p:spPr>
              <a:xfrm>
                <a:off x="4375073" y="2524242"/>
                <a:ext cx="422552" cy="276999"/>
              </a:xfrm>
              <a:prstGeom prst="rect">
                <a:avLst/>
              </a:prstGeom>
              <a:blipFill>
                <a:blip r:embed="rId11"/>
                <a:stretch>
                  <a:fillRect l="-13043" r="-2899" b="-28261"/>
                </a:stretch>
              </a:blipFill>
            </p:spPr>
            <p:txBody>
              <a:bodyPr/>
              <a:lstStyle/>
              <a:p>
                <a:r>
                  <a:rPr lang="ko-KR" altLang="en-US">
                    <a:noFill/>
                  </a:rPr>
                  <a:t> </a:t>
                </a:r>
              </a:p>
            </p:txBody>
          </p:sp>
        </mc:Fallback>
      </mc:AlternateContent>
      <p:graphicFrame>
        <p:nvGraphicFramePr>
          <p:cNvPr id="34" name="표 33">
            <a:extLst>
              <a:ext uri="{FF2B5EF4-FFF2-40B4-BE49-F238E27FC236}">
                <a16:creationId xmlns:a16="http://schemas.microsoft.com/office/drawing/2014/main" id="{80D53809-1EA1-397D-A0AF-9BF8E63442D3}"/>
              </a:ext>
            </a:extLst>
          </p:cNvPr>
          <p:cNvGraphicFramePr>
            <a:graphicFrameLocks noGrp="1"/>
          </p:cNvGraphicFramePr>
          <p:nvPr>
            <p:extLst>
              <p:ext uri="{D42A27DB-BD31-4B8C-83A1-F6EECF244321}">
                <p14:modId xmlns:p14="http://schemas.microsoft.com/office/powerpoint/2010/main" val="4171169506"/>
              </p:ext>
            </p:extLst>
          </p:nvPr>
        </p:nvGraphicFramePr>
        <p:xfrm>
          <a:off x="954647" y="4970052"/>
          <a:ext cx="1229360" cy="1276100"/>
        </p:xfrm>
        <a:graphic>
          <a:graphicData uri="http://schemas.openxmlformats.org/drawingml/2006/table">
            <a:tbl>
              <a:tblPr firstRow="1" bandRow="1">
                <a:tableStyleId>{5C22544A-7EE6-4342-B048-85BDC9FD1C3A}</a:tableStyleId>
              </a:tblPr>
              <a:tblGrid>
                <a:gridCol w="307340">
                  <a:extLst>
                    <a:ext uri="{9D8B030D-6E8A-4147-A177-3AD203B41FA5}">
                      <a16:colId xmlns:a16="http://schemas.microsoft.com/office/drawing/2014/main" val="3902393823"/>
                    </a:ext>
                  </a:extLst>
                </a:gridCol>
                <a:gridCol w="307340">
                  <a:extLst>
                    <a:ext uri="{9D8B030D-6E8A-4147-A177-3AD203B41FA5}">
                      <a16:colId xmlns:a16="http://schemas.microsoft.com/office/drawing/2014/main" val="1276603007"/>
                    </a:ext>
                  </a:extLst>
                </a:gridCol>
                <a:gridCol w="307340">
                  <a:extLst>
                    <a:ext uri="{9D8B030D-6E8A-4147-A177-3AD203B41FA5}">
                      <a16:colId xmlns:a16="http://schemas.microsoft.com/office/drawing/2014/main" val="3528642995"/>
                    </a:ext>
                  </a:extLst>
                </a:gridCol>
                <a:gridCol w="307340">
                  <a:extLst>
                    <a:ext uri="{9D8B030D-6E8A-4147-A177-3AD203B41FA5}">
                      <a16:colId xmlns:a16="http://schemas.microsoft.com/office/drawing/2014/main" val="1557935277"/>
                    </a:ext>
                  </a:extLst>
                </a:gridCol>
              </a:tblGrid>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a:p>
                  </a:txBody>
                  <a:tcPr/>
                </a:tc>
                <a:tc>
                  <a:txBody>
                    <a:bodyPr/>
                    <a:lstStyle/>
                    <a:p>
                      <a:pPr latinLnBrk="1"/>
                      <a:endParaRPr lang="ko-KR" altLang="en-US" sz="1050" dirty="0"/>
                    </a:p>
                  </a:txBody>
                  <a:tcPr/>
                </a:tc>
                <a:tc>
                  <a:txBody>
                    <a:bodyPr/>
                    <a:lstStyle/>
                    <a:p>
                      <a:pPr latinLnBrk="1"/>
                      <a:endParaRPr lang="ko-KR" altLang="en-US" sz="1050"/>
                    </a:p>
                  </a:txBody>
                  <a:tcPr/>
                </a:tc>
                <a:tc>
                  <a:txBody>
                    <a:bodyPr/>
                    <a:lstStyle/>
                    <a:p>
                      <a:pPr latinLnBrk="1"/>
                      <a:endParaRPr lang="ko-KR" altLang="en-US" sz="1050"/>
                    </a:p>
                  </a:txBody>
                  <a:tcPr/>
                </a:tc>
                <a:extLst>
                  <a:ext uri="{0D108BD9-81ED-4DB2-BD59-A6C34878D82A}">
                    <a16:rowId xmlns:a16="http://schemas.microsoft.com/office/drawing/2014/main" val="2023984079"/>
                  </a:ext>
                </a:extLst>
              </a:tr>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dirty="0"/>
                    </a:p>
                  </a:txBody>
                  <a:tcPr/>
                </a:tc>
                <a:tc>
                  <a:txBody>
                    <a:bodyPr/>
                    <a:lstStyle/>
                    <a:p>
                      <a:pPr latinLnBrk="1"/>
                      <a:endParaRPr lang="ko-KR" altLang="en-US" sz="1050" dirty="0"/>
                    </a:p>
                  </a:txBody>
                  <a:tcPr/>
                </a:tc>
                <a:extLst>
                  <a:ext uri="{0D108BD9-81ED-4DB2-BD59-A6C34878D82A}">
                    <a16:rowId xmlns:a16="http://schemas.microsoft.com/office/drawing/2014/main" val="1253757925"/>
                  </a:ext>
                </a:extLst>
              </a:tr>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dirty="0"/>
                    </a:p>
                  </a:txBody>
                  <a:tcPr/>
                </a:tc>
                <a:extLst>
                  <a:ext uri="{0D108BD9-81ED-4DB2-BD59-A6C34878D82A}">
                    <a16:rowId xmlns:a16="http://schemas.microsoft.com/office/drawing/2014/main" val="2454980248"/>
                  </a:ext>
                </a:extLst>
              </a:tr>
            </a:tbl>
          </a:graphicData>
        </a:graphic>
      </p:graphicFrame>
      <p:graphicFrame>
        <p:nvGraphicFramePr>
          <p:cNvPr id="35" name="표 34">
            <a:extLst>
              <a:ext uri="{FF2B5EF4-FFF2-40B4-BE49-F238E27FC236}">
                <a16:creationId xmlns:a16="http://schemas.microsoft.com/office/drawing/2014/main" id="{855DECCA-DD62-5FE0-DB28-B0E19360D0AF}"/>
              </a:ext>
            </a:extLst>
          </p:cNvPr>
          <p:cNvGraphicFramePr>
            <a:graphicFrameLocks noGrp="1"/>
          </p:cNvGraphicFramePr>
          <p:nvPr>
            <p:extLst>
              <p:ext uri="{D42A27DB-BD31-4B8C-83A1-F6EECF244321}">
                <p14:modId xmlns:p14="http://schemas.microsoft.com/office/powerpoint/2010/main" val="3449630359"/>
              </p:ext>
            </p:extLst>
          </p:nvPr>
        </p:nvGraphicFramePr>
        <p:xfrm>
          <a:off x="1892936" y="3946177"/>
          <a:ext cx="130048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gridCol w="325120">
                  <a:extLst>
                    <a:ext uri="{9D8B030D-6E8A-4147-A177-3AD203B41FA5}">
                      <a16:colId xmlns:a16="http://schemas.microsoft.com/office/drawing/2014/main" val="861684232"/>
                    </a:ext>
                  </a:extLst>
                </a:gridCol>
                <a:gridCol w="325120">
                  <a:extLst>
                    <a:ext uri="{9D8B030D-6E8A-4147-A177-3AD203B41FA5}">
                      <a16:colId xmlns:a16="http://schemas.microsoft.com/office/drawing/2014/main" val="3741848416"/>
                    </a:ext>
                  </a:extLst>
                </a:gridCol>
              </a:tblGrid>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a:p>
                  </a:txBody>
                  <a:tcPr/>
                </a:tc>
                <a:tc>
                  <a:txBody>
                    <a:bodyPr/>
                    <a:lstStyle/>
                    <a:p>
                      <a:pPr latinLnBrk="1"/>
                      <a:endParaRPr lang="ko-KR" altLang="en-US" sz="70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a:p>
                  </a:txBody>
                  <a:tcPr/>
                </a:tc>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p:graphicFrame>
        <p:nvGraphicFramePr>
          <p:cNvPr id="36" name="표 35">
            <a:extLst>
              <a:ext uri="{FF2B5EF4-FFF2-40B4-BE49-F238E27FC236}">
                <a16:creationId xmlns:a16="http://schemas.microsoft.com/office/drawing/2014/main" id="{D9F6D6F3-1278-7B61-0416-547D05D5E106}"/>
              </a:ext>
            </a:extLst>
          </p:cNvPr>
          <p:cNvGraphicFramePr>
            <a:graphicFrameLocks noGrp="1"/>
          </p:cNvGraphicFramePr>
          <p:nvPr>
            <p:extLst>
              <p:ext uri="{D42A27DB-BD31-4B8C-83A1-F6EECF244321}">
                <p14:modId xmlns:p14="http://schemas.microsoft.com/office/powerpoint/2010/main" val="3021024682"/>
              </p:ext>
            </p:extLst>
          </p:nvPr>
        </p:nvGraphicFramePr>
        <p:xfrm>
          <a:off x="5848014" y="3640721"/>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75B8952-2952-53CB-AEF3-60B4D02FC038}"/>
                  </a:ext>
                </a:extLst>
              </p:cNvPr>
              <p:cNvSpPr txBox="1"/>
              <p:nvPr/>
            </p:nvSpPr>
            <p:spPr>
              <a:xfrm>
                <a:off x="5976433" y="3907673"/>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h</m:t>
                          </m:r>
                        </m:sub>
                      </m:sSub>
                    </m:oMath>
                  </m:oMathPara>
                </a14:m>
                <a:endParaRPr lang="ko-KR" altLang="en-US" sz="2000" dirty="0"/>
              </a:p>
            </p:txBody>
          </p:sp>
        </mc:Choice>
        <mc:Fallback xmlns="">
          <p:sp>
            <p:nvSpPr>
              <p:cNvPr id="25" name="TextBox 24">
                <a:extLst>
                  <a:ext uri="{FF2B5EF4-FFF2-40B4-BE49-F238E27FC236}">
                    <a16:creationId xmlns:a16="http://schemas.microsoft.com/office/drawing/2014/main" id="{275B8952-2952-53CB-AEF3-60B4D02FC038}"/>
                  </a:ext>
                </a:extLst>
              </p:cNvPr>
              <p:cNvSpPr txBox="1">
                <a:spLocks noRot="1" noChangeAspect="1" noMove="1" noResize="1" noEditPoints="1" noAdjustHandles="1" noChangeArrowheads="1" noChangeShapeType="1" noTextEdit="1"/>
              </p:cNvSpPr>
              <p:nvPr/>
            </p:nvSpPr>
            <p:spPr>
              <a:xfrm>
                <a:off x="5976433" y="3907673"/>
                <a:ext cx="474682" cy="400110"/>
              </a:xfrm>
              <a:prstGeom prst="rect">
                <a:avLst/>
              </a:prstGeom>
              <a:blipFill>
                <a:blip r:embed="rId12"/>
                <a:stretch>
                  <a:fillRect b="-3030"/>
                </a:stretch>
              </a:blipFill>
            </p:spPr>
            <p:txBody>
              <a:bodyPr/>
              <a:lstStyle/>
              <a:p>
                <a:r>
                  <a:rPr lang="ko-KR" altLang="en-US">
                    <a:noFill/>
                  </a:rPr>
                  <a:t> </a:t>
                </a:r>
              </a:p>
            </p:txBody>
          </p:sp>
        </mc:Fallback>
      </mc:AlternateContent>
      <p:sp>
        <p:nvSpPr>
          <p:cNvPr id="38" name="TextBox 37">
            <a:extLst>
              <a:ext uri="{FF2B5EF4-FFF2-40B4-BE49-F238E27FC236}">
                <a16:creationId xmlns:a16="http://schemas.microsoft.com/office/drawing/2014/main" id="{2BF066C1-0DB4-8091-CAD6-8E09A03DF6C2}"/>
              </a:ext>
            </a:extLst>
          </p:cNvPr>
          <p:cNvSpPr txBox="1"/>
          <p:nvPr/>
        </p:nvSpPr>
        <p:spPr>
          <a:xfrm>
            <a:off x="3460673" y="5466267"/>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1</a:t>
            </a:r>
            <a:endParaRPr lang="ko-KR" altLang="en-US" dirty="0"/>
          </a:p>
        </p:txBody>
      </p:sp>
      <p:sp>
        <p:nvSpPr>
          <p:cNvPr id="39" name="직사각형 38">
            <a:extLst>
              <a:ext uri="{FF2B5EF4-FFF2-40B4-BE49-F238E27FC236}">
                <a16:creationId xmlns:a16="http://schemas.microsoft.com/office/drawing/2014/main" id="{6C792020-F87E-2D5A-C317-CEC6108C9734}"/>
              </a:ext>
            </a:extLst>
          </p:cNvPr>
          <p:cNvSpPr/>
          <p:nvPr/>
        </p:nvSpPr>
        <p:spPr>
          <a:xfrm>
            <a:off x="956859"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a:extLst>
              <a:ext uri="{FF2B5EF4-FFF2-40B4-BE49-F238E27FC236}">
                <a16:creationId xmlns:a16="http://schemas.microsoft.com/office/drawing/2014/main" id="{53EA45E8-0251-716A-843F-CF3F6D75230A}"/>
              </a:ext>
            </a:extLst>
          </p:cNvPr>
          <p:cNvSpPr/>
          <p:nvPr/>
        </p:nvSpPr>
        <p:spPr>
          <a:xfrm>
            <a:off x="1266083"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a:extLst>
              <a:ext uri="{FF2B5EF4-FFF2-40B4-BE49-F238E27FC236}">
                <a16:creationId xmlns:a16="http://schemas.microsoft.com/office/drawing/2014/main" id="{AA2D7B1B-FF82-5CCC-ED64-9E3E67BAAEA1}"/>
              </a:ext>
            </a:extLst>
          </p:cNvPr>
          <p:cNvSpPr/>
          <p:nvPr/>
        </p:nvSpPr>
        <p:spPr>
          <a:xfrm>
            <a:off x="1568671"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a:extLst>
              <a:ext uri="{FF2B5EF4-FFF2-40B4-BE49-F238E27FC236}">
                <a16:creationId xmlns:a16="http://schemas.microsoft.com/office/drawing/2014/main" id="{10F9560F-F2E8-97AA-62B8-B99312B01366}"/>
              </a:ext>
            </a:extLst>
          </p:cNvPr>
          <p:cNvSpPr/>
          <p:nvPr/>
        </p:nvSpPr>
        <p:spPr>
          <a:xfrm>
            <a:off x="1880112"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6CFA8AD3-2B84-4ABB-7977-0990BA071B03}"/>
              </a:ext>
            </a:extLst>
          </p:cNvPr>
          <p:cNvSpPr txBox="1"/>
          <p:nvPr/>
        </p:nvSpPr>
        <p:spPr>
          <a:xfrm>
            <a:off x="7391665" y="5468638"/>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2</a:t>
            </a:r>
            <a:endParaRPr lang="ko-KR" altLang="en-US" dirty="0"/>
          </a:p>
        </p:txBody>
      </p:sp>
      <p:sp>
        <p:nvSpPr>
          <p:cNvPr id="44" name="TextBox 43">
            <a:extLst>
              <a:ext uri="{FF2B5EF4-FFF2-40B4-BE49-F238E27FC236}">
                <a16:creationId xmlns:a16="http://schemas.microsoft.com/office/drawing/2014/main" id="{3ECB41B7-F4B6-8C01-70B9-FBC9C8020C38}"/>
              </a:ext>
            </a:extLst>
          </p:cNvPr>
          <p:cNvSpPr txBox="1"/>
          <p:nvPr/>
        </p:nvSpPr>
        <p:spPr>
          <a:xfrm>
            <a:off x="2317870" y="5888733"/>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3</a:t>
            </a:r>
            <a:endParaRPr lang="ko-KR" altLang="en-US" dirty="0"/>
          </a:p>
        </p:txBody>
      </p:sp>
      <p:sp>
        <p:nvSpPr>
          <p:cNvPr id="45" name="TextBox 44">
            <a:extLst>
              <a:ext uri="{FF2B5EF4-FFF2-40B4-BE49-F238E27FC236}">
                <a16:creationId xmlns:a16="http://schemas.microsoft.com/office/drawing/2014/main" id="{B32BF125-F8E1-719C-FD52-55A2E53B7C20}"/>
              </a:ext>
            </a:extLst>
          </p:cNvPr>
          <p:cNvSpPr txBox="1"/>
          <p:nvPr/>
        </p:nvSpPr>
        <p:spPr>
          <a:xfrm>
            <a:off x="2773210" y="6251056"/>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4</a:t>
            </a:r>
            <a:endParaRPr lang="ko-KR" altLang="en-US" dirty="0"/>
          </a:p>
        </p:txBody>
      </p:sp>
      <p:sp>
        <p:nvSpPr>
          <p:cNvPr id="2" name="슬라이드 번호 개체 틀 3">
            <a:extLst>
              <a:ext uri="{FF2B5EF4-FFF2-40B4-BE49-F238E27FC236}">
                <a16:creationId xmlns:a16="http://schemas.microsoft.com/office/drawing/2014/main" id="{ED2899F9-B54C-17C1-BDD9-3D62CB694A91}"/>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50</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38254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908E5-BAC8-BC6A-C512-0418B5A8661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4860835-EAE0-AFC4-6B3F-DA815DFC2A9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B06356E7-5150-F064-B9F8-EAAC82B1A70A}"/>
              </a:ext>
            </a:extLst>
          </p:cNvPr>
          <p:cNvSpPr txBox="1"/>
          <p:nvPr/>
        </p:nvSpPr>
        <p:spPr>
          <a:xfrm>
            <a:off x="609600" y="1238250"/>
            <a:ext cx="10972800" cy="465320"/>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입력 </a:t>
            </a:r>
            <a:r>
              <a:rPr lang="en-US" altLang="ko-KR" dirty="0">
                <a:latin typeface="D2Coding" panose="020B0609020101020101" pitchFamily="49" charset="-127"/>
                <a:ea typeface="D2Coding" panose="020B0609020101020101" pitchFamily="49" charset="-127"/>
              </a:rPr>
              <a:t>Feature</a:t>
            </a:r>
            <a:r>
              <a:rPr lang="ko-KR" altLang="en-US" dirty="0">
                <a:latin typeface="D2Coding" panose="020B0609020101020101" pitchFamily="49" charset="-127"/>
                <a:ea typeface="D2Coding" panose="020B0609020101020101" pitchFamily="49" charset="-127"/>
              </a:rPr>
              <a:t>가 </a:t>
            </a:r>
            <a:r>
              <a:rPr lang="en-US" altLang="ko-KR" dirty="0">
                <a:latin typeface="D2Coding" panose="020B0609020101020101" pitchFamily="49" charset="-127"/>
                <a:ea typeface="D2Coding" panose="020B0609020101020101" pitchFamily="49" charset="-127"/>
              </a:rPr>
              <a:t>4</a:t>
            </a:r>
            <a:r>
              <a:rPr lang="ko-KR" altLang="en-US" dirty="0">
                <a:latin typeface="D2Coding" panose="020B0609020101020101" pitchFamily="49" charset="-127"/>
                <a:ea typeface="D2Coding" panose="020B0609020101020101" pitchFamily="49" charset="-127"/>
              </a:rPr>
              <a:t>개</a:t>
            </a:r>
            <a:r>
              <a:rPr lang="en-US" altLang="ko-KR" dirty="0">
                <a:latin typeface="D2Coding" panose="020B0609020101020101" pitchFamily="49" charset="-127"/>
                <a:ea typeface="D2Coding" panose="020B0609020101020101" pitchFamily="49" charset="-127"/>
              </a:rPr>
              <a:t>(Word2vector), </a:t>
            </a:r>
            <a:r>
              <a:rPr lang="ko-KR" altLang="en-US" dirty="0">
                <a:latin typeface="D2Coding" panose="020B0609020101020101" pitchFamily="49" charset="-127"/>
                <a:ea typeface="D2Coding" panose="020B0609020101020101" pitchFamily="49" charset="-127"/>
              </a:rPr>
              <a:t>은닉상태</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크기가 </a:t>
            </a:r>
            <a:r>
              <a:rPr lang="en-US" altLang="ko-KR" dirty="0">
                <a:latin typeface="D2Coding" panose="020B0609020101020101" pitchFamily="49" charset="-127"/>
                <a:ea typeface="D2Coding" panose="020B0609020101020101" pitchFamily="49" charset="-127"/>
              </a:rPr>
              <a:t>2), </a:t>
            </a:r>
            <a:r>
              <a:rPr lang="ko-KR" altLang="en-US" dirty="0">
                <a:latin typeface="D2Coding" panose="020B0609020101020101" pitchFamily="49" charset="-127"/>
                <a:ea typeface="D2Coding" panose="020B0609020101020101" pitchFamily="49" charset="-127"/>
              </a:rPr>
              <a:t>은닉층은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출력 층이 </a:t>
            </a:r>
            <a:r>
              <a:rPr lang="en-US" altLang="ko-KR" dirty="0">
                <a:latin typeface="D2Coding" panose="020B0609020101020101" pitchFamily="49" charset="-127"/>
                <a:ea typeface="D2Coding" panose="020B0609020101020101" pitchFamily="49" charset="-127"/>
              </a:rPr>
              <a:t>2</a:t>
            </a:r>
            <a:r>
              <a:rPr lang="ko-KR" altLang="en-US" dirty="0">
                <a:latin typeface="D2Coding" panose="020B0609020101020101" pitchFamily="49" charset="-127"/>
                <a:ea typeface="D2Coding" panose="020B0609020101020101" pitchFamily="49" charset="-127"/>
              </a:rPr>
              <a:t>개인 </a:t>
            </a:r>
            <a:r>
              <a:rPr lang="en-US" altLang="ko-KR" dirty="0">
                <a:latin typeface="D2Coding" panose="020B0609020101020101" pitchFamily="49" charset="-127"/>
                <a:ea typeface="D2Coding" panose="020B0609020101020101" pitchFamily="49" charset="-127"/>
              </a:rPr>
              <a:t>RNN </a:t>
            </a:r>
            <a:r>
              <a:rPr lang="ko-KR" altLang="en-US" dirty="0">
                <a:latin typeface="D2Coding" panose="020B0609020101020101" pitchFamily="49" charset="-127"/>
                <a:ea typeface="D2Coding" panose="020B0609020101020101" pitchFamily="49" charset="-127"/>
              </a:rPr>
              <a:t>구조</a:t>
            </a:r>
          </a:p>
        </p:txBody>
      </p:sp>
      <p:graphicFrame>
        <p:nvGraphicFramePr>
          <p:cNvPr id="5" name="표 4">
            <a:extLst>
              <a:ext uri="{FF2B5EF4-FFF2-40B4-BE49-F238E27FC236}">
                <a16:creationId xmlns:a16="http://schemas.microsoft.com/office/drawing/2014/main" id="{B40DC59A-443D-D41E-CA5F-BCAD8D5A46C2}"/>
              </a:ext>
            </a:extLst>
          </p:cNvPr>
          <p:cNvGraphicFramePr>
            <a:graphicFrameLocks noGrp="1"/>
          </p:cNvGraphicFramePr>
          <p:nvPr>
            <p:extLst>
              <p:ext uri="{D42A27DB-BD31-4B8C-83A1-F6EECF244321}">
                <p14:modId xmlns:p14="http://schemas.microsoft.com/office/powerpoint/2010/main" val="2393595330"/>
              </p:ext>
            </p:extLst>
          </p:nvPr>
        </p:nvGraphicFramePr>
        <p:xfrm>
          <a:off x="2687169" y="2197339"/>
          <a:ext cx="1229360" cy="1276100"/>
        </p:xfrm>
        <a:graphic>
          <a:graphicData uri="http://schemas.openxmlformats.org/drawingml/2006/table">
            <a:tbl>
              <a:tblPr firstRow="1" bandRow="1">
                <a:tableStyleId>{5C22544A-7EE6-4342-B048-85BDC9FD1C3A}</a:tableStyleId>
              </a:tblPr>
              <a:tblGrid>
                <a:gridCol w="307340">
                  <a:extLst>
                    <a:ext uri="{9D8B030D-6E8A-4147-A177-3AD203B41FA5}">
                      <a16:colId xmlns:a16="http://schemas.microsoft.com/office/drawing/2014/main" val="3902393823"/>
                    </a:ext>
                  </a:extLst>
                </a:gridCol>
                <a:gridCol w="307340">
                  <a:extLst>
                    <a:ext uri="{9D8B030D-6E8A-4147-A177-3AD203B41FA5}">
                      <a16:colId xmlns:a16="http://schemas.microsoft.com/office/drawing/2014/main" val="1276603007"/>
                    </a:ext>
                  </a:extLst>
                </a:gridCol>
                <a:gridCol w="307340">
                  <a:extLst>
                    <a:ext uri="{9D8B030D-6E8A-4147-A177-3AD203B41FA5}">
                      <a16:colId xmlns:a16="http://schemas.microsoft.com/office/drawing/2014/main" val="3528642995"/>
                    </a:ext>
                  </a:extLst>
                </a:gridCol>
                <a:gridCol w="307340">
                  <a:extLst>
                    <a:ext uri="{9D8B030D-6E8A-4147-A177-3AD203B41FA5}">
                      <a16:colId xmlns:a16="http://schemas.microsoft.com/office/drawing/2014/main" val="1557935277"/>
                    </a:ext>
                  </a:extLst>
                </a:gridCol>
              </a:tblGrid>
              <a:tr h="319025">
                <a:tc>
                  <a:txBody>
                    <a:bodyPr/>
                    <a:lstStyle/>
                    <a:p>
                      <a:pPr latinLnBrk="1"/>
                      <a:endParaRPr lang="ko-KR" altLang="en-US" sz="1050"/>
                    </a:p>
                  </a:txBody>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3272695305"/>
                  </a:ext>
                </a:extLst>
              </a:tr>
              <a:tr h="319025">
                <a:tc>
                  <a:txBody>
                    <a:bodyPr/>
                    <a:lstStyle/>
                    <a:p>
                      <a:pPr latinLnBrk="1"/>
                      <a:endParaRPr lang="ko-KR" altLang="en-US" sz="1050"/>
                    </a:p>
                  </a:txBody>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2023984079"/>
                  </a:ext>
                </a:extLst>
              </a:tr>
              <a:tr h="319025">
                <a:tc>
                  <a:txBody>
                    <a:bodyPr/>
                    <a:lstStyle/>
                    <a:p>
                      <a:pPr latinLnBrk="1"/>
                      <a:endParaRPr lang="ko-KR" altLang="en-US" sz="1050"/>
                    </a:p>
                  </a:txBody>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1253757925"/>
                  </a:ext>
                </a:extLst>
              </a:tr>
              <a:tr h="319025">
                <a:tc>
                  <a:txBody>
                    <a:bodyPr/>
                    <a:lstStyle/>
                    <a:p>
                      <a:pPr latinLnBrk="1"/>
                      <a:endParaRPr lang="ko-KR" altLang="en-US" sz="1050"/>
                    </a:p>
                  </a:txBody>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2454980248"/>
                  </a:ext>
                </a:extLst>
              </a:tr>
            </a:tbl>
          </a:graphicData>
        </a:graphic>
      </p:graphicFrame>
      <p:graphicFrame>
        <p:nvGraphicFramePr>
          <p:cNvPr id="6" name="표 5">
            <a:extLst>
              <a:ext uri="{FF2B5EF4-FFF2-40B4-BE49-F238E27FC236}">
                <a16:creationId xmlns:a16="http://schemas.microsoft.com/office/drawing/2014/main" id="{6D6CE9D8-BC19-0044-BF95-9567B989C369}"/>
              </a:ext>
            </a:extLst>
          </p:cNvPr>
          <p:cNvGraphicFramePr>
            <a:graphicFrameLocks noGrp="1"/>
          </p:cNvGraphicFramePr>
          <p:nvPr>
            <p:extLst>
              <p:ext uri="{D42A27DB-BD31-4B8C-83A1-F6EECF244321}">
                <p14:modId xmlns:p14="http://schemas.microsoft.com/office/powerpoint/2010/main" val="1388433813"/>
              </p:ext>
            </p:extLst>
          </p:nvPr>
        </p:nvGraphicFramePr>
        <p:xfrm>
          <a:off x="782712" y="2197339"/>
          <a:ext cx="130048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gridCol w="325120">
                  <a:extLst>
                    <a:ext uri="{9D8B030D-6E8A-4147-A177-3AD203B41FA5}">
                      <a16:colId xmlns:a16="http://schemas.microsoft.com/office/drawing/2014/main" val="861684232"/>
                    </a:ext>
                  </a:extLst>
                </a:gridCol>
                <a:gridCol w="325120">
                  <a:extLst>
                    <a:ext uri="{9D8B030D-6E8A-4147-A177-3AD203B41FA5}">
                      <a16:colId xmlns:a16="http://schemas.microsoft.com/office/drawing/2014/main" val="3741848416"/>
                    </a:ext>
                  </a:extLst>
                </a:gridCol>
              </a:tblGrid>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dirty="0"/>
                    </a:p>
                  </a:txBody>
                  <a:tcPr/>
                </a:tc>
                <a:tc>
                  <a:txBody>
                    <a:bodyPr/>
                    <a:lstStyle/>
                    <a:p>
                      <a:pPr latinLnBrk="1"/>
                      <a:endParaRPr lang="ko-KR" altLang="en-US" sz="70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p:graphicFrame>
        <p:nvGraphicFramePr>
          <p:cNvPr id="7" name="표 6">
            <a:extLst>
              <a:ext uri="{FF2B5EF4-FFF2-40B4-BE49-F238E27FC236}">
                <a16:creationId xmlns:a16="http://schemas.microsoft.com/office/drawing/2014/main" id="{D68B7BA1-0540-A4F7-6FD5-87D4BA9C75DC}"/>
              </a:ext>
            </a:extLst>
          </p:cNvPr>
          <p:cNvGraphicFramePr>
            <a:graphicFrameLocks noGrp="1"/>
          </p:cNvGraphicFramePr>
          <p:nvPr>
            <p:extLst>
              <p:ext uri="{D42A27DB-BD31-4B8C-83A1-F6EECF244321}">
                <p14:modId xmlns:p14="http://schemas.microsoft.com/office/powerpoint/2010/main" val="2362785662"/>
              </p:ext>
            </p:extLst>
          </p:nvPr>
        </p:nvGraphicFramePr>
        <p:xfrm>
          <a:off x="1138312" y="4041633"/>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7DDDDCD-7F79-E5EA-2D33-AE9DCAFBF668}"/>
                  </a:ext>
                </a:extLst>
              </p:cNvPr>
              <p:cNvSpPr txBox="1"/>
              <p:nvPr/>
            </p:nvSpPr>
            <p:spPr>
              <a:xfrm>
                <a:off x="1195611" y="3608504"/>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h</m:t>
                          </m:r>
                        </m:sub>
                      </m:sSub>
                    </m:oMath>
                  </m:oMathPara>
                </a14:m>
                <a:endParaRPr lang="ko-KR" altLang="en-US" sz="2000" dirty="0"/>
              </a:p>
            </p:txBody>
          </p:sp>
        </mc:Choice>
        <mc:Fallback xmlns="">
          <p:sp>
            <p:nvSpPr>
              <p:cNvPr id="8" name="TextBox 7">
                <a:extLst>
                  <a:ext uri="{FF2B5EF4-FFF2-40B4-BE49-F238E27FC236}">
                    <a16:creationId xmlns:a16="http://schemas.microsoft.com/office/drawing/2014/main" id="{17DDDDCD-7F79-E5EA-2D33-AE9DCAFBF668}"/>
                  </a:ext>
                </a:extLst>
              </p:cNvPr>
              <p:cNvSpPr txBox="1">
                <a:spLocks noRot="1" noChangeAspect="1" noMove="1" noResize="1" noEditPoints="1" noAdjustHandles="1" noChangeArrowheads="1" noChangeShapeType="1" noTextEdit="1"/>
              </p:cNvSpPr>
              <p:nvPr/>
            </p:nvSpPr>
            <p:spPr>
              <a:xfrm>
                <a:off x="1195611" y="3608504"/>
                <a:ext cx="474682" cy="400110"/>
              </a:xfrm>
              <a:prstGeom prst="rect">
                <a:avLst/>
              </a:prstGeom>
              <a:blipFill>
                <a:blip r:embed="rId2"/>
                <a:stretch>
                  <a:fillRect b="-303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0852410-3665-3AF5-7BA6-5D4FF14325BD}"/>
                  </a:ext>
                </a:extLst>
              </p:cNvPr>
              <p:cNvSpPr txBox="1"/>
              <p:nvPr/>
            </p:nvSpPr>
            <p:spPr>
              <a:xfrm>
                <a:off x="2683646" y="1764210"/>
                <a:ext cx="2714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𝑥</m:t>
                          </m:r>
                        </m:e>
                        <m:sub>
                          <m:r>
                            <a:rPr lang="ko-KR" altLang="en-US" i="1">
                              <a:latin typeface="Cambria Math" panose="02040503050406030204" pitchFamily="18" charset="0"/>
                            </a:rPr>
                            <m:t>𝑡</m:t>
                          </m:r>
                        </m:sub>
                      </m:sSub>
                    </m:oMath>
                  </m:oMathPara>
                </a14:m>
                <a:endParaRPr lang="ko-KR" altLang="en-US" dirty="0"/>
              </a:p>
            </p:txBody>
          </p:sp>
        </mc:Choice>
        <mc:Fallback xmlns="">
          <p:sp>
            <p:nvSpPr>
              <p:cNvPr id="9" name="TextBox 8">
                <a:extLst>
                  <a:ext uri="{FF2B5EF4-FFF2-40B4-BE49-F238E27FC236}">
                    <a16:creationId xmlns:a16="http://schemas.microsoft.com/office/drawing/2014/main" id="{60852410-3665-3AF5-7BA6-5D4FF14325BD}"/>
                  </a:ext>
                </a:extLst>
              </p:cNvPr>
              <p:cNvSpPr txBox="1">
                <a:spLocks noRot="1" noChangeAspect="1" noMove="1" noResize="1" noEditPoints="1" noAdjustHandles="1" noChangeArrowheads="1" noChangeShapeType="1" noTextEdit="1"/>
              </p:cNvSpPr>
              <p:nvPr/>
            </p:nvSpPr>
            <p:spPr>
              <a:xfrm>
                <a:off x="2683646" y="1764210"/>
                <a:ext cx="271485" cy="276999"/>
              </a:xfrm>
              <a:prstGeom prst="rect">
                <a:avLst/>
              </a:prstGeom>
              <a:blipFill>
                <a:blip r:embed="rId3"/>
                <a:stretch>
                  <a:fillRect l="-11111" r="-2222"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EEA293-D9DC-B736-D126-36D90CFA7122}"/>
                  </a:ext>
                </a:extLst>
              </p:cNvPr>
              <p:cNvSpPr txBox="1"/>
              <p:nvPr/>
            </p:nvSpPr>
            <p:spPr>
              <a:xfrm>
                <a:off x="1203224" y="1703250"/>
                <a:ext cx="4706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𝑥</m:t>
                          </m:r>
                        </m:sub>
                      </m:sSub>
                    </m:oMath>
                  </m:oMathPara>
                </a14:m>
                <a:endParaRPr lang="ko-KR" altLang="en-US" dirty="0"/>
              </a:p>
            </p:txBody>
          </p:sp>
        </mc:Choice>
        <mc:Fallback xmlns="">
          <p:sp>
            <p:nvSpPr>
              <p:cNvPr id="10" name="TextBox 9">
                <a:extLst>
                  <a:ext uri="{FF2B5EF4-FFF2-40B4-BE49-F238E27FC236}">
                    <a16:creationId xmlns:a16="http://schemas.microsoft.com/office/drawing/2014/main" id="{68EEA293-D9DC-B736-D126-36D90CFA7122}"/>
                  </a:ext>
                </a:extLst>
              </p:cNvPr>
              <p:cNvSpPr txBox="1">
                <a:spLocks noRot="1" noChangeAspect="1" noMove="1" noResize="1" noEditPoints="1" noAdjustHandles="1" noChangeArrowheads="1" noChangeShapeType="1" noTextEdit="1"/>
              </p:cNvSpPr>
              <p:nvPr/>
            </p:nvSpPr>
            <p:spPr>
              <a:xfrm>
                <a:off x="1203224" y="1703250"/>
                <a:ext cx="470657" cy="369332"/>
              </a:xfrm>
              <a:prstGeom prst="rect">
                <a:avLst/>
              </a:prstGeom>
              <a:blipFill>
                <a:blip r:embed="rId4"/>
                <a:stretch>
                  <a:fillRect/>
                </a:stretch>
              </a:blipFill>
            </p:spPr>
            <p:txBody>
              <a:bodyPr/>
              <a:lstStyle/>
              <a:p>
                <a:r>
                  <a:rPr lang="ko-KR" altLang="en-US">
                    <a:noFill/>
                  </a:rPr>
                  <a:t> </a:t>
                </a:r>
              </a:p>
            </p:txBody>
          </p:sp>
        </mc:Fallback>
      </mc:AlternateContent>
      <p:graphicFrame>
        <p:nvGraphicFramePr>
          <p:cNvPr id="11" name="표 10">
            <a:extLst>
              <a:ext uri="{FF2B5EF4-FFF2-40B4-BE49-F238E27FC236}">
                <a16:creationId xmlns:a16="http://schemas.microsoft.com/office/drawing/2014/main" id="{7D5D2BF3-FDDA-C0C3-445E-9E99F5215D6B}"/>
              </a:ext>
            </a:extLst>
          </p:cNvPr>
          <p:cNvGraphicFramePr>
            <a:graphicFrameLocks noGrp="1"/>
          </p:cNvGraphicFramePr>
          <p:nvPr>
            <p:extLst>
              <p:ext uri="{D42A27DB-BD31-4B8C-83A1-F6EECF244321}">
                <p14:modId xmlns:p14="http://schemas.microsoft.com/office/powerpoint/2010/main" val="3559346322"/>
              </p:ext>
            </p:extLst>
          </p:nvPr>
        </p:nvGraphicFramePr>
        <p:xfrm>
          <a:off x="4030496" y="4041633"/>
          <a:ext cx="307340" cy="638050"/>
        </p:xfrm>
        <a:graphic>
          <a:graphicData uri="http://schemas.openxmlformats.org/drawingml/2006/table">
            <a:tbl>
              <a:tblPr firstRow="1" bandRow="1">
                <a:tableStyleId>{F5AB1C69-6EDB-4FF4-983F-18BD219EF322}</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FD57C11-B913-4972-6C14-34378DBCC0B9}"/>
                  </a:ext>
                </a:extLst>
              </p:cNvPr>
              <p:cNvSpPr txBox="1"/>
              <p:nvPr/>
            </p:nvSpPr>
            <p:spPr>
              <a:xfrm>
                <a:off x="4926991" y="1764210"/>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14" name="TextBox 13">
                <a:extLst>
                  <a:ext uri="{FF2B5EF4-FFF2-40B4-BE49-F238E27FC236}">
                    <a16:creationId xmlns:a16="http://schemas.microsoft.com/office/drawing/2014/main" id="{3FD57C11-B913-4972-6C14-34378DBCC0B9}"/>
                  </a:ext>
                </a:extLst>
              </p:cNvPr>
              <p:cNvSpPr txBox="1">
                <a:spLocks noRot="1" noChangeAspect="1" noMove="1" noResize="1" noEditPoints="1" noAdjustHandles="1" noChangeArrowheads="1" noChangeShapeType="1" noTextEdit="1"/>
              </p:cNvSpPr>
              <p:nvPr/>
            </p:nvSpPr>
            <p:spPr>
              <a:xfrm>
                <a:off x="4926991" y="1764210"/>
                <a:ext cx="427938" cy="276999"/>
              </a:xfrm>
              <a:prstGeom prst="rect">
                <a:avLst/>
              </a:prstGeom>
              <a:blipFill>
                <a:blip r:embed="rId5"/>
                <a:stretch>
                  <a:fillRect l="-12857" r="-2857" b="-17391"/>
                </a:stretch>
              </a:blipFill>
            </p:spPr>
            <p:txBody>
              <a:bodyPr/>
              <a:lstStyle/>
              <a:p>
                <a:r>
                  <a:rPr lang="ko-KR" altLang="en-US">
                    <a:noFill/>
                  </a:rPr>
                  <a:t> </a:t>
                </a:r>
              </a:p>
            </p:txBody>
          </p:sp>
        </mc:Fallback>
      </mc:AlternateContent>
      <p:sp>
        <p:nvSpPr>
          <p:cNvPr id="19" name="순서도: 가산 접합 18">
            <a:extLst>
              <a:ext uri="{FF2B5EF4-FFF2-40B4-BE49-F238E27FC236}">
                <a16:creationId xmlns:a16="http://schemas.microsoft.com/office/drawing/2014/main" id="{FE81C75C-FAA9-59CE-DCB6-8053C23F623B}"/>
              </a:ext>
            </a:extLst>
          </p:cNvPr>
          <p:cNvSpPr/>
          <p:nvPr/>
        </p:nvSpPr>
        <p:spPr>
          <a:xfrm>
            <a:off x="2237860" y="2408317"/>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순서도: 논리합 19">
            <a:extLst>
              <a:ext uri="{FF2B5EF4-FFF2-40B4-BE49-F238E27FC236}">
                <a16:creationId xmlns:a16="http://schemas.microsoft.com/office/drawing/2014/main" id="{2364B99B-5AB1-9A21-4850-A88EFF597C17}"/>
              </a:ext>
            </a:extLst>
          </p:cNvPr>
          <p:cNvSpPr/>
          <p:nvPr/>
        </p:nvSpPr>
        <p:spPr>
          <a:xfrm>
            <a:off x="3473965" y="4252611"/>
            <a:ext cx="294640" cy="294640"/>
          </a:xfrm>
          <a:prstGeom prst="flowChartOr">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같음 기호 20">
            <a:extLst>
              <a:ext uri="{FF2B5EF4-FFF2-40B4-BE49-F238E27FC236}">
                <a16:creationId xmlns:a16="http://schemas.microsoft.com/office/drawing/2014/main" id="{BFD17BF5-608C-3E5C-B5EC-EB6DF74CEB6E}"/>
              </a:ext>
            </a:extLst>
          </p:cNvPr>
          <p:cNvSpPr/>
          <p:nvPr/>
        </p:nvSpPr>
        <p:spPr>
          <a:xfrm>
            <a:off x="4521200" y="2408317"/>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DCDAF90-0B0F-907A-03C3-CFB31430CA99}"/>
                  </a:ext>
                </a:extLst>
              </p:cNvPr>
              <p:cNvSpPr txBox="1"/>
              <p:nvPr/>
            </p:nvSpPr>
            <p:spPr>
              <a:xfrm>
                <a:off x="2737552" y="3675945"/>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23" name="TextBox 22">
                <a:extLst>
                  <a:ext uri="{FF2B5EF4-FFF2-40B4-BE49-F238E27FC236}">
                    <a16:creationId xmlns:a16="http://schemas.microsoft.com/office/drawing/2014/main" id="{BDCDAF90-0B0F-907A-03C3-CFB31430CA99}"/>
                  </a:ext>
                </a:extLst>
              </p:cNvPr>
              <p:cNvSpPr txBox="1">
                <a:spLocks noRot="1" noChangeAspect="1" noMove="1" noResize="1" noEditPoints="1" noAdjustHandles="1" noChangeArrowheads="1" noChangeShapeType="1" noTextEdit="1"/>
              </p:cNvSpPr>
              <p:nvPr/>
            </p:nvSpPr>
            <p:spPr>
              <a:xfrm>
                <a:off x="2737552" y="3675945"/>
                <a:ext cx="427938" cy="276999"/>
              </a:xfrm>
              <a:prstGeom prst="rect">
                <a:avLst/>
              </a:prstGeom>
              <a:blipFill>
                <a:blip r:embed="rId6"/>
                <a:stretch>
                  <a:fillRect l="-12857" r="-2857" b="-20000"/>
                </a:stretch>
              </a:blipFill>
            </p:spPr>
            <p:txBody>
              <a:bodyPr/>
              <a:lstStyle/>
              <a:p>
                <a:r>
                  <a:rPr lang="ko-KR" altLang="en-US">
                    <a:noFill/>
                  </a:rPr>
                  <a:t> </a:t>
                </a:r>
              </a:p>
            </p:txBody>
          </p:sp>
        </mc:Fallback>
      </mc:AlternateContent>
      <p:sp>
        <p:nvSpPr>
          <p:cNvPr id="24" name="순서도: 가산 접합 23">
            <a:extLst>
              <a:ext uri="{FF2B5EF4-FFF2-40B4-BE49-F238E27FC236}">
                <a16:creationId xmlns:a16="http://schemas.microsoft.com/office/drawing/2014/main" id="{ED03317E-A135-31DF-F2E7-F288F82F9227}"/>
              </a:ext>
            </a:extLst>
          </p:cNvPr>
          <p:cNvSpPr/>
          <p:nvPr/>
        </p:nvSpPr>
        <p:spPr>
          <a:xfrm>
            <a:off x="2262721" y="4277561"/>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5" name="표 24">
            <a:extLst>
              <a:ext uri="{FF2B5EF4-FFF2-40B4-BE49-F238E27FC236}">
                <a16:creationId xmlns:a16="http://schemas.microsoft.com/office/drawing/2014/main" id="{5C29DD75-FB1E-4EE5-EC35-670DF0ACA394}"/>
              </a:ext>
            </a:extLst>
          </p:cNvPr>
          <p:cNvGraphicFramePr>
            <a:graphicFrameLocks noGrp="1"/>
          </p:cNvGraphicFramePr>
          <p:nvPr>
            <p:extLst>
              <p:ext uri="{D42A27DB-BD31-4B8C-83A1-F6EECF244321}">
                <p14:modId xmlns:p14="http://schemas.microsoft.com/office/powerpoint/2010/main" val="2608324450"/>
              </p:ext>
            </p:extLst>
          </p:nvPr>
        </p:nvGraphicFramePr>
        <p:xfrm>
          <a:off x="4987290" y="2197339"/>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graphicFrame>
        <p:nvGraphicFramePr>
          <p:cNvPr id="26" name="표 25">
            <a:extLst>
              <a:ext uri="{FF2B5EF4-FFF2-40B4-BE49-F238E27FC236}">
                <a16:creationId xmlns:a16="http://schemas.microsoft.com/office/drawing/2014/main" id="{BB5166C1-0195-5C1B-3CE8-AF4FD7005112}"/>
              </a:ext>
            </a:extLst>
          </p:cNvPr>
          <p:cNvGraphicFramePr>
            <a:graphicFrameLocks noGrp="1"/>
          </p:cNvGraphicFramePr>
          <p:nvPr>
            <p:extLst>
              <p:ext uri="{D42A27DB-BD31-4B8C-83A1-F6EECF244321}">
                <p14:modId xmlns:p14="http://schemas.microsoft.com/office/powerpoint/2010/main" val="2461196501"/>
              </p:ext>
            </p:extLst>
          </p:nvPr>
        </p:nvGraphicFramePr>
        <p:xfrm>
          <a:off x="2797190" y="4041633"/>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pic>
        <p:nvPicPr>
          <p:cNvPr id="27" name="그림 26">
            <a:extLst>
              <a:ext uri="{FF2B5EF4-FFF2-40B4-BE49-F238E27FC236}">
                <a16:creationId xmlns:a16="http://schemas.microsoft.com/office/drawing/2014/main" id="{AA1BC45D-E8DE-16E6-F8E2-456C182DE04B}"/>
              </a:ext>
            </a:extLst>
          </p:cNvPr>
          <p:cNvPicPr>
            <a:picLocks noChangeAspect="1"/>
          </p:cNvPicPr>
          <p:nvPr/>
        </p:nvPicPr>
        <p:blipFill>
          <a:blip r:embed="rId7"/>
          <a:stretch>
            <a:fillRect/>
          </a:stretch>
        </p:blipFill>
        <p:spPr>
          <a:xfrm>
            <a:off x="1140279" y="4667559"/>
            <a:ext cx="2556319" cy="313355"/>
          </a:xfrm>
          <a:prstGeom prst="rect">
            <a:avLst/>
          </a:prstGeom>
        </p:spPr>
      </p:pic>
      <p:pic>
        <p:nvPicPr>
          <p:cNvPr id="28" name="그림 27">
            <a:extLst>
              <a:ext uri="{FF2B5EF4-FFF2-40B4-BE49-F238E27FC236}">
                <a16:creationId xmlns:a16="http://schemas.microsoft.com/office/drawing/2014/main" id="{8F8435F3-C329-FEC4-D8AF-19CE99BF2228}"/>
              </a:ext>
            </a:extLst>
          </p:cNvPr>
          <p:cNvPicPr>
            <a:picLocks noChangeAspect="1"/>
          </p:cNvPicPr>
          <p:nvPr/>
        </p:nvPicPr>
        <p:blipFill>
          <a:blip r:embed="rId8"/>
          <a:stretch>
            <a:fillRect/>
          </a:stretch>
        </p:blipFill>
        <p:spPr>
          <a:xfrm>
            <a:off x="1161373" y="6109899"/>
            <a:ext cx="1633171" cy="347961"/>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629CE78-FDC8-65B9-52B5-879A9C15EE75}"/>
                  </a:ext>
                </a:extLst>
              </p:cNvPr>
              <p:cNvSpPr txBox="1"/>
              <p:nvPr/>
            </p:nvSpPr>
            <p:spPr>
              <a:xfrm>
                <a:off x="4989890" y="365930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29" name="TextBox 28">
                <a:extLst>
                  <a:ext uri="{FF2B5EF4-FFF2-40B4-BE49-F238E27FC236}">
                    <a16:creationId xmlns:a16="http://schemas.microsoft.com/office/drawing/2014/main" id="{6629CE78-FDC8-65B9-52B5-879A9C15EE75}"/>
                  </a:ext>
                </a:extLst>
              </p:cNvPr>
              <p:cNvSpPr txBox="1">
                <a:spLocks noRot="1" noChangeAspect="1" noMove="1" noResize="1" noEditPoints="1" noAdjustHandles="1" noChangeArrowheads="1" noChangeShapeType="1" noTextEdit="1"/>
              </p:cNvSpPr>
              <p:nvPr/>
            </p:nvSpPr>
            <p:spPr>
              <a:xfrm>
                <a:off x="4989890" y="3659304"/>
                <a:ext cx="278538" cy="276999"/>
              </a:xfrm>
              <a:prstGeom prst="rect">
                <a:avLst/>
              </a:prstGeom>
              <a:blipFill>
                <a:blip r:embed="rId9"/>
                <a:stretch>
                  <a:fillRect l="-20000" r="-2222" b="-17391"/>
                </a:stretch>
              </a:blipFill>
            </p:spPr>
            <p:txBody>
              <a:bodyPr/>
              <a:lstStyle/>
              <a:p>
                <a:r>
                  <a:rPr lang="ko-KR" altLang="en-US">
                    <a:noFill/>
                  </a:rPr>
                  <a:t> </a:t>
                </a:r>
              </a:p>
            </p:txBody>
          </p:sp>
        </mc:Fallback>
      </mc:AlternateContent>
      <p:sp>
        <p:nvSpPr>
          <p:cNvPr id="30" name="같음 기호 29">
            <a:extLst>
              <a:ext uri="{FF2B5EF4-FFF2-40B4-BE49-F238E27FC236}">
                <a16:creationId xmlns:a16="http://schemas.microsoft.com/office/drawing/2014/main" id="{99E4A0D5-DD49-CEE2-F71E-46E13057EDA5}"/>
              </a:ext>
            </a:extLst>
          </p:cNvPr>
          <p:cNvSpPr/>
          <p:nvPr/>
        </p:nvSpPr>
        <p:spPr>
          <a:xfrm>
            <a:off x="4523139" y="4252611"/>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31" name="표 30">
            <a:extLst>
              <a:ext uri="{FF2B5EF4-FFF2-40B4-BE49-F238E27FC236}">
                <a16:creationId xmlns:a16="http://schemas.microsoft.com/office/drawing/2014/main" id="{D1674F95-9316-7004-ED19-3438283B869B}"/>
              </a:ext>
            </a:extLst>
          </p:cNvPr>
          <p:cNvGraphicFramePr>
            <a:graphicFrameLocks noGrp="1"/>
          </p:cNvGraphicFramePr>
          <p:nvPr>
            <p:extLst>
              <p:ext uri="{D42A27DB-BD31-4B8C-83A1-F6EECF244321}">
                <p14:modId xmlns:p14="http://schemas.microsoft.com/office/powerpoint/2010/main" val="3027817283"/>
              </p:ext>
            </p:extLst>
          </p:nvPr>
        </p:nvGraphicFramePr>
        <p:xfrm>
          <a:off x="5009549" y="4041633"/>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BA6BDEE-5A08-E14D-7476-D69CB8B6C1BE}"/>
                  </a:ext>
                </a:extLst>
              </p:cNvPr>
              <p:cNvSpPr txBox="1"/>
              <p:nvPr/>
            </p:nvSpPr>
            <p:spPr>
              <a:xfrm>
                <a:off x="4023868" y="3638005"/>
                <a:ext cx="2982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𝑏</m:t>
                          </m:r>
                        </m:e>
                        <m:sub>
                          <m:r>
                            <a:rPr lang="ko-KR" altLang="en-US" i="1">
                              <a:latin typeface="Cambria Math" panose="02040503050406030204" pitchFamily="18" charset="0"/>
                            </a:rPr>
                            <m:t>h</m:t>
                          </m:r>
                        </m:sub>
                      </m:sSub>
                    </m:oMath>
                  </m:oMathPara>
                </a14:m>
                <a:endParaRPr lang="ko-KR" altLang="en-US" dirty="0"/>
              </a:p>
            </p:txBody>
          </p:sp>
        </mc:Choice>
        <mc:Fallback xmlns="">
          <p:sp>
            <p:nvSpPr>
              <p:cNvPr id="32" name="TextBox 31">
                <a:extLst>
                  <a:ext uri="{FF2B5EF4-FFF2-40B4-BE49-F238E27FC236}">
                    <a16:creationId xmlns:a16="http://schemas.microsoft.com/office/drawing/2014/main" id="{BBA6BDEE-5A08-E14D-7476-D69CB8B6C1BE}"/>
                  </a:ext>
                </a:extLst>
              </p:cNvPr>
              <p:cNvSpPr txBox="1">
                <a:spLocks noRot="1" noChangeAspect="1" noMove="1" noResize="1" noEditPoints="1" noAdjustHandles="1" noChangeArrowheads="1" noChangeShapeType="1" noTextEdit="1"/>
              </p:cNvSpPr>
              <p:nvPr/>
            </p:nvSpPr>
            <p:spPr>
              <a:xfrm>
                <a:off x="4023868" y="3638005"/>
                <a:ext cx="298287" cy="276999"/>
              </a:xfrm>
              <a:prstGeom prst="rect">
                <a:avLst/>
              </a:prstGeom>
              <a:blipFill>
                <a:blip r:embed="rId10"/>
                <a:stretch>
                  <a:fillRect l="-18367" r="-4082" b="-20000"/>
                </a:stretch>
              </a:blipFill>
            </p:spPr>
            <p:txBody>
              <a:bodyPr/>
              <a:lstStyle/>
              <a:p>
                <a:r>
                  <a:rPr lang="ko-KR" altLang="en-US">
                    <a:noFill/>
                  </a:rPr>
                  <a:t> </a:t>
                </a:r>
              </a:p>
            </p:txBody>
          </p:sp>
        </mc:Fallback>
      </mc:AlternateContent>
      <p:pic>
        <p:nvPicPr>
          <p:cNvPr id="33" name="Picture 2">
            <a:extLst>
              <a:ext uri="{FF2B5EF4-FFF2-40B4-BE49-F238E27FC236}">
                <a16:creationId xmlns:a16="http://schemas.microsoft.com/office/drawing/2014/main" id="{A2B8F125-5A85-CE1C-3F8D-08F6A6F273AB}"/>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5562164" y="2459837"/>
            <a:ext cx="6367515" cy="28916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4" name="표 33">
            <a:extLst>
              <a:ext uri="{FF2B5EF4-FFF2-40B4-BE49-F238E27FC236}">
                <a16:creationId xmlns:a16="http://schemas.microsoft.com/office/drawing/2014/main" id="{2E2A3DAF-452D-FF73-8564-AF709C70F348}"/>
              </a:ext>
            </a:extLst>
          </p:cNvPr>
          <p:cNvGraphicFramePr>
            <a:graphicFrameLocks noGrp="1"/>
          </p:cNvGraphicFramePr>
          <p:nvPr>
            <p:extLst>
              <p:ext uri="{D42A27DB-BD31-4B8C-83A1-F6EECF244321}">
                <p14:modId xmlns:p14="http://schemas.microsoft.com/office/powerpoint/2010/main" val="3166534732"/>
              </p:ext>
            </p:extLst>
          </p:nvPr>
        </p:nvGraphicFramePr>
        <p:xfrm>
          <a:off x="1138312" y="5495306"/>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CD419FB-2F4F-330E-CA5C-0CAE00C9A4D5}"/>
                  </a:ext>
                </a:extLst>
              </p:cNvPr>
              <p:cNvSpPr txBox="1"/>
              <p:nvPr/>
            </p:nvSpPr>
            <p:spPr>
              <a:xfrm>
                <a:off x="2808672" y="5139778"/>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36" name="TextBox 35">
                <a:extLst>
                  <a:ext uri="{FF2B5EF4-FFF2-40B4-BE49-F238E27FC236}">
                    <a16:creationId xmlns:a16="http://schemas.microsoft.com/office/drawing/2014/main" id="{7CD419FB-2F4F-330E-CA5C-0CAE00C9A4D5}"/>
                  </a:ext>
                </a:extLst>
              </p:cNvPr>
              <p:cNvSpPr txBox="1">
                <a:spLocks noRot="1" noChangeAspect="1" noMove="1" noResize="1" noEditPoints="1" noAdjustHandles="1" noChangeArrowheads="1" noChangeShapeType="1" noTextEdit="1"/>
              </p:cNvSpPr>
              <p:nvPr/>
            </p:nvSpPr>
            <p:spPr>
              <a:xfrm>
                <a:off x="2808672" y="5139778"/>
                <a:ext cx="278538" cy="276999"/>
              </a:xfrm>
              <a:prstGeom prst="rect">
                <a:avLst/>
              </a:prstGeom>
              <a:blipFill>
                <a:blip r:embed="rId13"/>
                <a:stretch>
                  <a:fillRect l="-20000" r="-2222" b="-17391"/>
                </a:stretch>
              </a:blipFill>
            </p:spPr>
            <p:txBody>
              <a:bodyPr/>
              <a:lstStyle/>
              <a:p>
                <a:r>
                  <a:rPr lang="ko-KR" altLang="en-US">
                    <a:noFill/>
                  </a:rPr>
                  <a:t> </a:t>
                </a:r>
              </a:p>
            </p:txBody>
          </p:sp>
        </mc:Fallback>
      </mc:AlternateContent>
      <p:sp>
        <p:nvSpPr>
          <p:cNvPr id="37" name="순서도: 가산 접합 36">
            <a:extLst>
              <a:ext uri="{FF2B5EF4-FFF2-40B4-BE49-F238E27FC236}">
                <a16:creationId xmlns:a16="http://schemas.microsoft.com/office/drawing/2014/main" id="{5F653A37-34B8-DFD0-D7D1-ED0312FD63FD}"/>
              </a:ext>
            </a:extLst>
          </p:cNvPr>
          <p:cNvSpPr/>
          <p:nvPr/>
        </p:nvSpPr>
        <p:spPr>
          <a:xfrm>
            <a:off x="2262721" y="5731234"/>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8" name="표 37">
            <a:extLst>
              <a:ext uri="{FF2B5EF4-FFF2-40B4-BE49-F238E27FC236}">
                <a16:creationId xmlns:a16="http://schemas.microsoft.com/office/drawing/2014/main" id="{DC48F71C-337B-67C4-5968-F9087E5C9AB6}"/>
              </a:ext>
            </a:extLst>
          </p:cNvPr>
          <p:cNvGraphicFramePr>
            <a:graphicFrameLocks noGrp="1"/>
          </p:cNvGraphicFramePr>
          <p:nvPr>
            <p:extLst>
              <p:ext uri="{D42A27DB-BD31-4B8C-83A1-F6EECF244321}">
                <p14:modId xmlns:p14="http://schemas.microsoft.com/office/powerpoint/2010/main" val="3925856230"/>
              </p:ext>
            </p:extLst>
          </p:nvPr>
        </p:nvGraphicFramePr>
        <p:xfrm>
          <a:off x="2797190" y="5495306"/>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9C7A837-A132-2E66-A223-934D0F06E35F}"/>
                  </a:ext>
                </a:extLst>
              </p:cNvPr>
              <p:cNvSpPr txBox="1"/>
              <p:nvPr/>
            </p:nvSpPr>
            <p:spPr>
              <a:xfrm>
                <a:off x="5061331" y="5140293"/>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𝑦</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39" name="TextBox 38">
                <a:extLst>
                  <a:ext uri="{FF2B5EF4-FFF2-40B4-BE49-F238E27FC236}">
                    <a16:creationId xmlns:a16="http://schemas.microsoft.com/office/drawing/2014/main" id="{C9C7A837-A132-2E66-A223-934D0F06E35F}"/>
                  </a:ext>
                </a:extLst>
              </p:cNvPr>
              <p:cNvSpPr txBox="1">
                <a:spLocks noRot="1" noChangeAspect="1" noMove="1" noResize="1" noEditPoints="1" noAdjustHandles="1" noChangeArrowheads="1" noChangeShapeType="1" noTextEdit="1"/>
              </p:cNvSpPr>
              <p:nvPr/>
            </p:nvSpPr>
            <p:spPr>
              <a:xfrm>
                <a:off x="5061331" y="5140293"/>
                <a:ext cx="273152" cy="276999"/>
              </a:xfrm>
              <a:prstGeom prst="rect">
                <a:avLst/>
              </a:prstGeom>
              <a:blipFill>
                <a:blip r:embed="rId14"/>
                <a:stretch>
                  <a:fillRect l="-20000" r="-2222" b="-28261"/>
                </a:stretch>
              </a:blipFill>
            </p:spPr>
            <p:txBody>
              <a:bodyPr/>
              <a:lstStyle/>
              <a:p>
                <a:r>
                  <a:rPr lang="ko-KR" altLang="en-US">
                    <a:noFill/>
                  </a:rPr>
                  <a:t> </a:t>
                </a:r>
              </a:p>
            </p:txBody>
          </p:sp>
        </mc:Fallback>
      </mc:AlternateContent>
      <p:sp>
        <p:nvSpPr>
          <p:cNvPr id="40" name="같음 기호 39">
            <a:extLst>
              <a:ext uri="{FF2B5EF4-FFF2-40B4-BE49-F238E27FC236}">
                <a16:creationId xmlns:a16="http://schemas.microsoft.com/office/drawing/2014/main" id="{FD08F977-779B-7FFC-4E25-5958F35B0234}"/>
              </a:ext>
            </a:extLst>
          </p:cNvPr>
          <p:cNvSpPr/>
          <p:nvPr/>
        </p:nvSpPr>
        <p:spPr>
          <a:xfrm>
            <a:off x="4553619" y="5706284"/>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41" name="표 40">
            <a:extLst>
              <a:ext uri="{FF2B5EF4-FFF2-40B4-BE49-F238E27FC236}">
                <a16:creationId xmlns:a16="http://schemas.microsoft.com/office/drawing/2014/main" id="{36AF8FBC-F70C-6BBF-7A31-22CC9674A9E0}"/>
              </a:ext>
            </a:extLst>
          </p:cNvPr>
          <p:cNvGraphicFramePr>
            <a:graphicFrameLocks noGrp="1"/>
          </p:cNvGraphicFramePr>
          <p:nvPr>
            <p:extLst>
              <p:ext uri="{D42A27DB-BD31-4B8C-83A1-F6EECF244321}">
                <p14:modId xmlns:p14="http://schemas.microsoft.com/office/powerpoint/2010/main" val="3595536020"/>
              </p:ext>
            </p:extLst>
          </p:nvPr>
        </p:nvGraphicFramePr>
        <p:xfrm>
          <a:off x="5019709" y="5495306"/>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88C18B9-6F36-18EA-9AB2-73DABC01AC34}"/>
                  </a:ext>
                </a:extLst>
              </p:cNvPr>
              <p:cNvSpPr txBox="1"/>
              <p:nvPr/>
            </p:nvSpPr>
            <p:spPr>
              <a:xfrm>
                <a:off x="1264184" y="5100477"/>
                <a:ext cx="341247"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𝑦</m:t>
                          </m:r>
                        </m:sub>
                      </m:sSub>
                    </m:oMath>
                  </m:oMathPara>
                </a14:m>
                <a:endParaRPr lang="ko-KR" altLang="en-US" dirty="0"/>
              </a:p>
            </p:txBody>
          </p:sp>
        </mc:Choice>
        <mc:Fallback xmlns="">
          <p:sp>
            <p:nvSpPr>
              <p:cNvPr id="42" name="TextBox 41">
                <a:extLst>
                  <a:ext uri="{FF2B5EF4-FFF2-40B4-BE49-F238E27FC236}">
                    <a16:creationId xmlns:a16="http://schemas.microsoft.com/office/drawing/2014/main" id="{488C18B9-6F36-18EA-9AB2-73DABC01AC34}"/>
                  </a:ext>
                </a:extLst>
              </p:cNvPr>
              <p:cNvSpPr txBox="1">
                <a:spLocks noRot="1" noChangeAspect="1" noMove="1" noResize="1" noEditPoints="1" noAdjustHandles="1" noChangeArrowheads="1" noChangeShapeType="1" noTextEdit="1"/>
              </p:cNvSpPr>
              <p:nvPr/>
            </p:nvSpPr>
            <p:spPr>
              <a:xfrm>
                <a:off x="1264184" y="5100477"/>
                <a:ext cx="341247" cy="298928"/>
              </a:xfrm>
              <a:prstGeom prst="rect">
                <a:avLst/>
              </a:prstGeom>
              <a:blipFill>
                <a:blip r:embed="rId15"/>
                <a:stretch>
                  <a:fillRect l="-8929" r="-5357" b="-18367"/>
                </a:stretch>
              </a:blipFill>
            </p:spPr>
            <p:txBody>
              <a:bodyPr/>
              <a:lstStyle/>
              <a:p>
                <a:r>
                  <a:rPr lang="ko-KR" altLang="en-US">
                    <a:noFill/>
                  </a:rPr>
                  <a:t> </a:t>
                </a:r>
              </a:p>
            </p:txBody>
          </p:sp>
        </mc:Fallback>
      </mc:AlternateContent>
      <p:graphicFrame>
        <p:nvGraphicFramePr>
          <p:cNvPr id="44" name="표 43">
            <a:extLst>
              <a:ext uri="{FF2B5EF4-FFF2-40B4-BE49-F238E27FC236}">
                <a16:creationId xmlns:a16="http://schemas.microsoft.com/office/drawing/2014/main" id="{C64F3203-25FA-D59A-A909-22D027387E6F}"/>
              </a:ext>
            </a:extLst>
          </p:cNvPr>
          <p:cNvGraphicFramePr>
            <a:graphicFrameLocks noGrp="1"/>
          </p:cNvGraphicFramePr>
          <p:nvPr>
            <p:extLst>
              <p:ext uri="{D42A27DB-BD31-4B8C-83A1-F6EECF244321}">
                <p14:modId xmlns:p14="http://schemas.microsoft.com/office/powerpoint/2010/main" val="3169894163"/>
              </p:ext>
            </p:extLst>
          </p:nvPr>
        </p:nvGraphicFramePr>
        <p:xfrm>
          <a:off x="4058769" y="5495306"/>
          <a:ext cx="307340" cy="638050"/>
        </p:xfrm>
        <a:graphic>
          <a:graphicData uri="http://schemas.openxmlformats.org/drawingml/2006/table">
            <a:tbl>
              <a:tblPr firstRow="1" bandRow="1">
                <a:tableStyleId>{F5AB1C69-6EDB-4FF4-983F-18BD219EF322}</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sp>
        <p:nvSpPr>
          <p:cNvPr id="45" name="순서도: 논리합 44">
            <a:extLst>
              <a:ext uri="{FF2B5EF4-FFF2-40B4-BE49-F238E27FC236}">
                <a16:creationId xmlns:a16="http://schemas.microsoft.com/office/drawing/2014/main" id="{4E495D4E-FEFD-F2BA-3E2B-0CE9295839F2}"/>
              </a:ext>
            </a:extLst>
          </p:cNvPr>
          <p:cNvSpPr/>
          <p:nvPr/>
        </p:nvSpPr>
        <p:spPr>
          <a:xfrm>
            <a:off x="3441278" y="5720477"/>
            <a:ext cx="294640" cy="294640"/>
          </a:xfrm>
          <a:prstGeom prst="flowChartOr">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393B216-685D-517C-9171-997B28AF9482}"/>
                  </a:ext>
                </a:extLst>
              </p:cNvPr>
              <p:cNvSpPr txBox="1"/>
              <p:nvPr/>
            </p:nvSpPr>
            <p:spPr>
              <a:xfrm>
                <a:off x="4044488" y="5139393"/>
                <a:ext cx="301301"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𝑏</m:t>
                          </m:r>
                        </m:e>
                        <m:sub>
                          <m:r>
                            <a:rPr lang="ko-KR" altLang="en-US" i="1">
                              <a:latin typeface="Cambria Math" panose="02040503050406030204" pitchFamily="18" charset="0"/>
                            </a:rPr>
                            <m:t>𝑦</m:t>
                          </m:r>
                        </m:sub>
                      </m:sSub>
                    </m:oMath>
                  </m:oMathPara>
                </a14:m>
                <a:endParaRPr lang="ko-KR" altLang="en-US" dirty="0"/>
              </a:p>
            </p:txBody>
          </p:sp>
        </mc:Choice>
        <mc:Fallback xmlns="">
          <p:sp>
            <p:nvSpPr>
              <p:cNvPr id="47" name="TextBox 46">
                <a:extLst>
                  <a:ext uri="{FF2B5EF4-FFF2-40B4-BE49-F238E27FC236}">
                    <a16:creationId xmlns:a16="http://schemas.microsoft.com/office/drawing/2014/main" id="{8393B216-685D-517C-9171-997B28AF9482}"/>
                  </a:ext>
                </a:extLst>
              </p:cNvPr>
              <p:cNvSpPr txBox="1">
                <a:spLocks noRot="1" noChangeAspect="1" noMove="1" noResize="1" noEditPoints="1" noAdjustHandles="1" noChangeArrowheads="1" noChangeShapeType="1" noTextEdit="1"/>
              </p:cNvSpPr>
              <p:nvPr/>
            </p:nvSpPr>
            <p:spPr>
              <a:xfrm>
                <a:off x="4044488" y="5139393"/>
                <a:ext cx="301301" cy="298928"/>
              </a:xfrm>
              <a:prstGeom prst="rect">
                <a:avLst/>
              </a:prstGeom>
              <a:blipFill>
                <a:blip r:embed="rId16"/>
                <a:stretch>
                  <a:fillRect l="-18000" r="-2000" b="-2040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A7A062F-BC82-06F4-C86E-88D37E62555F}"/>
                  </a:ext>
                </a:extLst>
              </p:cNvPr>
              <p:cNvSpPr txBox="1"/>
              <p:nvPr/>
            </p:nvSpPr>
            <p:spPr>
              <a:xfrm>
                <a:off x="5745329" y="3929002"/>
                <a:ext cx="47065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b="1" i="1" smtClean="0">
                              <a:solidFill>
                                <a:srgbClr val="00B050"/>
                              </a:solidFill>
                              <a:latin typeface="Cambria Math" panose="02040503050406030204" pitchFamily="18" charset="0"/>
                            </a:rPr>
                          </m:ctrlPr>
                        </m:sSubPr>
                        <m:e>
                          <m:r>
                            <a:rPr lang="ko-KR" altLang="en-US" sz="2000" b="1" i="1">
                              <a:solidFill>
                                <a:srgbClr val="00B050"/>
                              </a:solidFill>
                              <a:latin typeface="Cambria Math" panose="02040503050406030204" pitchFamily="18" charset="0"/>
                            </a:rPr>
                            <m:t>𝝎</m:t>
                          </m:r>
                        </m:e>
                        <m:sub>
                          <m:r>
                            <a:rPr lang="ko-KR" altLang="en-US" sz="2000" b="1" i="1">
                              <a:solidFill>
                                <a:srgbClr val="00B050"/>
                              </a:solidFill>
                              <a:latin typeface="Cambria Math" panose="02040503050406030204" pitchFamily="18" charset="0"/>
                            </a:rPr>
                            <m:t>𝒙</m:t>
                          </m:r>
                        </m:sub>
                      </m:sSub>
                    </m:oMath>
                  </m:oMathPara>
                </a14:m>
                <a:endParaRPr lang="ko-KR" altLang="en-US" sz="2000" b="1" dirty="0">
                  <a:solidFill>
                    <a:srgbClr val="00B050"/>
                  </a:solidFill>
                </a:endParaRPr>
              </a:p>
            </p:txBody>
          </p:sp>
        </mc:Choice>
        <mc:Fallback xmlns="">
          <p:sp>
            <p:nvSpPr>
              <p:cNvPr id="50" name="TextBox 49">
                <a:extLst>
                  <a:ext uri="{FF2B5EF4-FFF2-40B4-BE49-F238E27FC236}">
                    <a16:creationId xmlns:a16="http://schemas.microsoft.com/office/drawing/2014/main" id="{0A7A062F-BC82-06F4-C86E-88D37E62555F}"/>
                  </a:ext>
                </a:extLst>
              </p:cNvPr>
              <p:cNvSpPr txBox="1">
                <a:spLocks noRot="1" noChangeAspect="1" noMove="1" noResize="1" noEditPoints="1" noAdjustHandles="1" noChangeArrowheads="1" noChangeShapeType="1" noTextEdit="1"/>
              </p:cNvSpPr>
              <p:nvPr/>
            </p:nvSpPr>
            <p:spPr>
              <a:xfrm>
                <a:off x="5745329" y="3929002"/>
                <a:ext cx="470657" cy="400110"/>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B467AF6-ADD3-B654-4C3D-5209F8B431A5}"/>
                  </a:ext>
                </a:extLst>
              </p:cNvPr>
              <p:cNvSpPr txBox="1"/>
              <p:nvPr/>
            </p:nvSpPr>
            <p:spPr>
              <a:xfrm>
                <a:off x="7904480" y="3622548"/>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h</m:t>
                          </m:r>
                        </m:e>
                        <m:sub>
                          <m:r>
                            <a:rPr lang="ko-KR" altLang="en-US" i="1">
                              <a:solidFill>
                                <a:srgbClr val="FF0000"/>
                              </a:solidFill>
                              <a:latin typeface="Cambria Math" panose="02040503050406030204" pitchFamily="18" charset="0"/>
                            </a:rPr>
                            <m:t>𝑡</m:t>
                          </m:r>
                          <m:r>
                            <a:rPr lang="en-US" altLang="ko-KR" b="0" i="1" smtClean="0">
                              <a:solidFill>
                                <a:srgbClr val="FF0000"/>
                              </a:solidFill>
                              <a:latin typeface="Cambria Math" panose="02040503050406030204" pitchFamily="18" charset="0"/>
                            </a:rPr>
                            <m:t>−1</m:t>
                          </m:r>
                        </m:sub>
                      </m:sSub>
                    </m:oMath>
                  </m:oMathPara>
                </a14:m>
                <a:endParaRPr lang="ko-KR" altLang="en-US" dirty="0">
                  <a:solidFill>
                    <a:srgbClr val="FF0000"/>
                  </a:solidFill>
                </a:endParaRPr>
              </a:p>
            </p:txBody>
          </p:sp>
        </mc:Choice>
        <mc:Fallback xmlns="">
          <p:sp>
            <p:nvSpPr>
              <p:cNvPr id="51" name="TextBox 50">
                <a:extLst>
                  <a:ext uri="{FF2B5EF4-FFF2-40B4-BE49-F238E27FC236}">
                    <a16:creationId xmlns:a16="http://schemas.microsoft.com/office/drawing/2014/main" id="{9B467AF6-ADD3-B654-4C3D-5209F8B431A5}"/>
                  </a:ext>
                </a:extLst>
              </p:cNvPr>
              <p:cNvSpPr txBox="1">
                <a:spLocks noRot="1" noChangeAspect="1" noMove="1" noResize="1" noEditPoints="1" noAdjustHandles="1" noChangeArrowheads="1" noChangeShapeType="1" noTextEdit="1"/>
              </p:cNvSpPr>
              <p:nvPr/>
            </p:nvSpPr>
            <p:spPr>
              <a:xfrm>
                <a:off x="7904480" y="3622548"/>
                <a:ext cx="427938" cy="276999"/>
              </a:xfrm>
              <a:prstGeom prst="rect">
                <a:avLst/>
              </a:prstGeom>
              <a:blipFill>
                <a:blip r:embed="rId18"/>
                <a:stretch>
                  <a:fillRect l="-12857" r="-2857"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512B2FB-F307-0616-1BF6-05B8B55047B6}"/>
                  </a:ext>
                </a:extLst>
              </p:cNvPr>
              <p:cNvSpPr txBox="1"/>
              <p:nvPr/>
            </p:nvSpPr>
            <p:spPr>
              <a:xfrm>
                <a:off x="11140638" y="3034667"/>
                <a:ext cx="359008" cy="3024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b="1" i="1" smtClean="0">
                              <a:solidFill>
                                <a:srgbClr val="00B050"/>
                              </a:solidFill>
                              <a:latin typeface="Cambria Math" panose="02040503050406030204" pitchFamily="18" charset="0"/>
                            </a:rPr>
                          </m:ctrlPr>
                        </m:sSubPr>
                        <m:e>
                          <m:r>
                            <a:rPr lang="ko-KR" altLang="en-US" b="1" i="1">
                              <a:solidFill>
                                <a:srgbClr val="00B050"/>
                              </a:solidFill>
                              <a:latin typeface="Cambria Math" panose="02040503050406030204" pitchFamily="18" charset="0"/>
                            </a:rPr>
                            <m:t>𝝎</m:t>
                          </m:r>
                        </m:e>
                        <m:sub>
                          <m:r>
                            <a:rPr lang="ko-KR" altLang="en-US" b="1" i="1">
                              <a:solidFill>
                                <a:srgbClr val="00B050"/>
                              </a:solidFill>
                              <a:latin typeface="Cambria Math" panose="02040503050406030204" pitchFamily="18" charset="0"/>
                            </a:rPr>
                            <m:t>𝒚</m:t>
                          </m:r>
                        </m:sub>
                      </m:sSub>
                    </m:oMath>
                  </m:oMathPara>
                </a14:m>
                <a:endParaRPr lang="ko-KR" altLang="en-US" b="1" dirty="0">
                  <a:solidFill>
                    <a:srgbClr val="00B050"/>
                  </a:solidFill>
                </a:endParaRPr>
              </a:p>
            </p:txBody>
          </p:sp>
        </mc:Choice>
        <mc:Fallback xmlns="">
          <p:sp>
            <p:nvSpPr>
              <p:cNvPr id="52" name="TextBox 51">
                <a:extLst>
                  <a:ext uri="{FF2B5EF4-FFF2-40B4-BE49-F238E27FC236}">
                    <a16:creationId xmlns:a16="http://schemas.microsoft.com/office/drawing/2014/main" id="{9512B2FB-F307-0616-1BF6-05B8B55047B6}"/>
                  </a:ext>
                </a:extLst>
              </p:cNvPr>
              <p:cNvSpPr txBox="1">
                <a:spLocks noRot="1" noChangeAspect="1" noMove="1" noResize="1" noEditPoints="1" noAdjustHandles="1" noChangeArrowheads="1" noChangeShapeType="1" noTextEdit="1"/>
              </p:cNvSpPr>
              <p:nvPr/>
            </p:nvSpPr>
            <p:spPr>
              <a:xfrm>
                <a:off x="11140638" y="3034667"/>
                <a:ext cx="359008" cy="302455"/>
              </a:xfrm>
              <a:prstGeom prst="rect">
                <a:avLst/>
              </a:prstGeom>
              <a:blipFill>
                <a:blip r:embed="rId19"/>
                <a:stretch>
                  <a:fillRect l="-8621" r="-5172" b="-2244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99FE0E4-3735-1561-0AEE-5B84671182B8}"/>
                  </a:ext>
                </a:extLst>
              </p:cNvPr>
              <p:cNvSpPr txBox="1"/>
              <p:nvPr/>
            </p:nvSpPr>
            <p:spPr>
              <a:xfrm>
                <a:off x="11342616" y="363709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h</m:t>
                          </m:r>
                        </m:e>
                        <m:sub>
                          <m:r>
                            <a:rPr lang="ko-KR" altLang="en-US" i="1">
                              <a:solidFill>
                                <a:srgbClr val="FF0000"/>
                              </a:solidFill>
                              <a:latin typeface="Cambria Math" panose="02040503050406030204" pitchFamily="18" charset="0"/>
                            </a:rPr>
                            <m:t>𝑡</m:t>
                          </m:r>
                        </m:sub>
                      </m:sSub>
                    </m:oMath>
                  </m:oMathPara>
                </a14:m>
                <a:endParaRPr lang="ko-KR" altLang="en-US" dirty="0">
                  <a:solidFill>
                    <a:srgbClr val="FF0000"/>
                  </a:solidFill>
                </a:endParaRPr>
              </a:p>
            </p:txBody>
          </p:sp>
        </mc:Choice>
        <mc:Fallback xmlns="">
          <p:sp>
            <p:nvSpPr>
              <p:cNvPr id="53" name="TextBox 52">
                <a:extLst>
                  <a:ext uri="{FF2B5EF4-FFF2-40B4-BE49-F238E27FC236}">
                    <a16:creationId xmlns:a16="http://schemas.microsoft.com/office/drawing/2014/main" id="{A99FE0E4-3735-1561-0AEE-5B84671182B8}"/>
                  </a:ext>
                </a:extLst>
              </p:cNvPr>
              <p:cNvSpPr txBox="1">
                <a:spLocks noRot="1" noChangeAspect="1" noMove="1" noResize="1" noEditPoints="1" noAdjustHandles="1" noChangeArrowheads="1" noChangeShapeType="1" noTextEdit="1"/>
              </p:cNvSpPr>
              <p:nvPr/>
            </p:nvSpPr>
            <p:spPr>
              <a:xfrm>
                <a:off x="11342616" y="3637094"/>
                <a:ext cx="278538" cy="276999"/>
              </a:xfrm>
              <a:prstGeom prst="rect">
                <a:avLst/>
              </a:prstGeom>
              <a:blipFill>
                <a:blip r:embed="rId20"/>
                <a:stretch>
                  <a:fillRect l="-20000" r="-2222" b="-1777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A40B549-D01E-738C-D225-AA924A66483C}"/>
                  </a:ext>
                </a:extLst>
              </p:cNvPr>
              <p:cNvSpPr txBox="1"/>
              <p:nvPr/>
            </p:nvSpPr>
            <p:spPr>
              <a:xfrm>
                <a:off x="11348002" y="2412095"/>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𝑦</m:t>
                          </m:r>
                        </m:e>
                        <m:sub>
                          <m:r>
                            <a:rPr lang="ko-KR" altLang="en-US" i="1">
                              <a:solidFill>
                                <a:srgbClr val="FF0000"/>
                              </a:solidFill>
                              <a:latin typeface="Cambria Math" panose="02040503050406030204" pitchFamily="18" charset="0"/>
                            </a:rPr>
                            <m:t>𝑡</m:t>
                          </m:r>
                        </m:sub>
                      </m:sSub>
                    </m:oMath>
                  </m:oMathPara>
                </a14:m>
                <a:endParaRPr lang="ko-KR" altLang="en-US" dirty="0">
                  <a:solidFill>
                    <a:srgbClr val="FF0000"/>
                  </a:solidFill>
                </a:endParaRPr>
              </a:p>
            </p:txBody>
          </p:sp>
        </mc:Choice>
        <mc:Fallback xmlns="">
          <p:sp>
            <p:nvSpPr>
              <p:cNvPr id="54" name="TextBox 53">
                <a:extLst>
                  <a:ext uri="{FF2B5EF4-FFF2-40B4-BE49-F238E27FC236}">
                    <a16:creationId xmlns:a16="http://schemas.microsoft.com/office/drawing/2014/main" id="{CA40B549-D01E-738C-D225-AA924A66483C}"/>
                  </a:ext>
                </a:extLst>
              </p:cNvPr>
              <p:cNvSpPr txBox="1">
                <a:spLocks noRot="1" noChangeAspect="1" noMove="1" noResize="1" noEditPoints="1" noAdjustHandles="1" noChangeArrowheads="1" noChangeShapeType="1" noTextEdit="1"/>
              </p:cNvSpPr>
              <p:nvPr/>
            </p:nvSpPr>
            <p:spPr>
              <a:xfrm>
                <a:off x="11348002" y="2412095"/>
                <a:ext cx="273152" cy="276999"/>
              </a:xfrm>
              <a:prstGeom prst="rect">
                <a:avLst/>
              </a:prstGeom>
              <a:blipFill>
                <a:blip r:embed="rId21"/>
                <a:stretch>
                  <a:fillRect l="-20455" r="-2273" b="-311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8C6C34-725D-B0D5-B846-9F56039E7B74}"/>
                  </a:ext>
                </a:extLst>
              </p:cNvPr>
              <p:cNvSpPr txBox="1"/>
              <p:nvPr/>
            </p:nvSpPr>
            <p:spPr>
              <a:xfrm>
                <a:off x="7981873" y="2371842"/>
                <a:ext cx="4225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𝑦</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55" name="TextBox 54">
                <a:extLst>
                  <a:ext uri="{FF2B5EF4-FFF2-40B4-BE49-F238E27FC236}">
                    <a16:creationId xmlns:a16="http://schemas.microsoft.com/office/drawing/2014/main" id="{828C6C34-725D-B0D5-B846-9F56039E7B74}"/>
                  </a:ext>
                </a:extLst>
              </p:cNvPr>
              <p:cNvSpPr txBox="1">
                <a:spLocks noRot="1" noChangeAspect="1" noMove="1" noResize="1" noEditPoints="1" noAdjustHandles="1" noChangeArrowheads="1" noChangeShapeType="1" noTextEdit="1"/>
              </p:cNvSpPr>
              <p:nvPr/>
            </p:nvSpPr>
            <p:spPr>
              <a:xfrm>
                <a:off x="7981873" y="2371842"/>
                <a:ext cx="422552" cy="276999"/>
              </a:xfrm>
              <a:prstGeom prst="rect">
                <a:avLst/>
              </a:prstGeom>
              <a:blipFill>
                <a:blip r:embed="rId22"/>
                <a:stretch>
                  <a:fillRect l="-12857" r="-1429" b="-282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40EE09A-EACA-BBFA-9056-40B4244BB869}"/>
                  </a:ext>
                </a:extLst>
              </p:cNvPr>
              <p:cNvSpPr txBox="1"/>
              <p:nvPr/>
            </p:nvSpPr>
            <p:spPr>
              <a:xfrm>
                <a:off x="8719176" y="2856235"/>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b="1" i="1" smtClean="0">
                              <a:solidFill>
                                <a:srgbClr val="00B050"/>
                              </a:solidFill>
                              <a:latin typeface="Cambria Math" panose="02040503050406030204" pitchFamily="18" charset="0"/>
                            </a:rPr>
                          </m:ctrlPr>
                        </m:sSubPr>
                        <m:e>
                          <m:r>
                            <a:rPr lang="ko-KR" altLang="en-US" sz="2000" b="1" i="1">
                              <a:solidFill>
                                <a:srgbClr val="00B050"/>
                              </a:solidFill>
                              <a:latin typeface="Cambria Math" panose="02040503050406030204" pitchFamily="18" charset="0"/>
                            </a:rPr>
                            <m:t>𝝎</m:t>
                          </m:r>
                        </m:e>
                        <m:sub>
                          <m:r>
                            <a:rPr lang="ko-KR" altLang="en-US" sz="2000" b="1" i="1">
                              <a:solidFill>
                                <a:srgbClr val="00B050"/>
                              </a:solidFill>
                              <a:latin typeface="Cambria Math" panose="02040503050406030204" pitchFamily="18" charset="0"/>
                            </a:rPr>
                            <m:t>𝒉</m:t>
                          </m:r>
                        </m:sub>
                      </m:sSub>
                    </m:oMath>
                  </m:oMathPara>
                </a14:m>
                <a:endParaRPr lang="ko-KR" altLang="en-US" sz="2000" b="1" dirty="0">
                  <a:solidFill>
                    <a:srgbClr val="00B050"/>
                  </a:solidFill>
                </a:endParaRPr>
              </a:p>
            </p:txBody>
          </p:sp>
        </mc:Choice>
        <mc:Fallback xmlns="">
          <p:sp>
            <p:nvSpPr>
              <p:cNvPr id="56" name="TextBox 55">
                <a:extLst>
                  <a:ext uri="{FF2B5EF4-FFF2-40B4-BE49-F238E27FC236}">
                    <a16:creationId xmlns:a16="http://schemas.microsoft.com/office/drawing/2014/main" id="{340EE09A-EACA-BBFA-9056-40B4244BB869}"/>
                  </a:ext>
                </a:extLst>
              </p:cNvPr>
              <p:cNvSpPr txBox="1">
                <a:spLocks noRot="1" noChangeAspect="1" noMove="1" noResize="1" noEditPoints="1" noAdjustHandles="1" noChangeArrowheads="1" noChangeShapeType="1" noTextEdit="1"/>
              </p:cNvSpPr>
              <p:nvPr/>
            </p:nvSpPr>
            <p:spPr>
              <a:xfrm>
                <a:off x="8719176" y="2856235"/>
                <a:ext cx="474682" cy="400110"/>
              </a:xfrm>
              <a:prstGeom prst="rect">
                <a:avLst/>
              </a:prstGeom>
              <a:blipFill>
                <a:blip r:embed="rId23"/>
                <a:stretch>
                  <a:fillRect r="-2564" b="-615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84CF19B-4520-8CB5-30D7-59E658E649DB}"/>
                  </a:ext>
                </a:extLst>
              </p:cNvPr>
              <p:cNvSpPr txBox="1"/>
              <p:nvPr/>
            </p:nvSpPr>
            <p:spPr>
              <a:xfrm>
                <a:off x="5829814" y="5043730"/>
                <a:ext cx="3016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p>
            </p:txBody>
          </p:sp>
        </mc:Choice>
        <mc:Fallback xmlns="">
          <p:sp>
            <p:nvSpPr>
              <p:cNvPr id="57" name="TextBox 56">
                <a:extLst>
                  <a:ext uri="{FF2B5EF4-FFF2-40B4-BE49-F238E27FC236}">
                    <a16:creationId xmlns:a16="http://schemas.microsoft.com/office/drawing/2014/main" id="{984CF19B-4520-8CB5-30D7-59E658E649DB}"/>
                  </a:ext>
                </a:extLst>
              </p:cNvPr>
              <p:cNvSpPr txBox="1">
                <a:spLocks noRot="1" noChangeAspect="1" noMove="1" noResize="1" noEditPoints="1" noAdjustHandles="1" noChangeArrowheads="1" noChangeShapeType="1" noTextEdit="1"/>
              </p:cNvSpPr>
              <p:nvPr/>
            </p:nvSpPr>
            <p:spPr>
              <a:xfrm>
                <a:off x="5829814" y="5043730"/>
                <a:ext cx="301685" cy="307777"/>
              </a:xfrm>
              <a:prstGeom prst="rect">
                <a:avLst/>
              </a:prstGeom>
              <a:blipFill>
                <a:blip r:embed="rId24"/>
                <a:stretch>
                  <a:fillRect l="-8000" r="-2000" b="-17647"/>
                </a:stretch>
              </a:blipFill>
            </p:spPr>
            <p:txBody>
              <a:bodyPr/>
              <a:lstStyle/>
              <a:p>
                <a:r>
                  <a:rPr lang="ko-KR" altLang="en-US">
                    <a:noFill/>
                  </a:rPr>
                  <a:t> </a:t>
                </a:r>
              </a:p>
            </p:txBody>
          </p:sp>
        </mc:Fallback>
      </mc:AlternateContent>
      <p:sp>
        <p:nvSpPr>
          <p:cNvPr id="2" name="슬라이드 번호 개체 틀 3">
            <a:extLst>
              <a:ext uri="{FF2B5EF4-FFF2-40B4-BE49-F238E27FC236}">
                <a16:creationId xmlns:a16="http://schemas.microsoft.com/office/drawing/2014/main" id="{4AC34C85-7E0E-59AF-D7DF-0B62A49F2F25}"/>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51</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11600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P spid="19" grpId="0" animBg="1"/>
      <p:bldP spid="20" grpId="0" animBg="1"/>
      <p:bldP spid="21" grpId="0" animBg="1"/>
      <p:bldP spid="23" grpId="0"/>
      <p:bldP spid="24" grpId="0" animBg="1"/>
      <p:bldP spid="29" grpId="0"/>
      <p:bldP spid="30" grpId="0" animBg="1"/>
      <p:bldP spid="32" grpId="0"/>
      <p:bldP spid="36" grpId="0"/>
      <p:bldP spid="37" grpId="0" animBg="1"/>
      <p:bldP spid="39" grpId="0"/>
      <p:bldP spid="40" grpId="0" animBg="1"/>
      <p:bldP spid="42" grpId="0"/>
      <p:bldP spid="45" grpId="0" animBg="1"/>
      <p:bldP spid="47" grpId="0"/>
      <p:bldP spid="50" grpId="0"/>
      <p:bldP spid="51" grpId="0"/>
      <p:bldP spid="52" grpId="0"/>
      <p:bldP spid="53" grpId="0"/>
      <p:bldP spid="54" grpId="0"/>
      <p:bldP spid="56" grpId="0"/>
      <p:bldP spid="5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72F6-A0AC-15EB-371E-0D4312E77701}"/>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988AFDB1-5160-2BA1-0683-8C8CD187A43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림 4">
            <a:extLst>
              <a:ext uri="{FF2B5EF4-FFF2-40B4-BE49-F238E27FC236}">
                <a16:creationId xmlns:a16="http://schemas.microsoft.com/office/drawing/2014/main" id="{7A4BE745-28E7-52ED-0B06-64142F985702}"/>
              </a:ext>
            </a:extLst>
          </p:cNvPr>
          <p:cNvPicPr>
            <a:picLocks noChangeAspect="1"/>
          </p:cNvPicPr>
          <p:nvPr/>
        </p:nvPicPr>
        <p:blipFill>
          <a:blip r:embed="rId2"/>
          <a:stretch>
            <a:fillRect/>
          </a:stretch>
        </p:blipFill>
        <p:spPr>
          <a:xfrm>
            <a:off x="475645" y="2007314"/>
            <a:ext cx="7597798" cy="1272650"/>
          </a:xfrm>
          <a:prstGeom prst="rect">
            <a:avLst/>
          </a:prstGeom>
        </p:spPr>
      </p:pic>
      <p:pic>
        <p:nvPicPr>
          <p:cNvPr id="6" name="Picture 2">
            <a:extLst>
              <a:ext uri="{FF2B5EF4-FFF2-40B4-BE49-F238E27FC236}">
                <a16:creationId xmlns:a16="http://schemas.microsoft.com/office/drawing/2014/main" id="{58588726-B58B-4118-09B4-3B94D9461AD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6709195" y="3578037"/>
            <a:ext cx="5146476" cy="2337161"/>
          </a:xfrm>
          <a:prstGeom prst="rect">
            <a:avLst/>
          </a:prstGeom>
          <a:noFill/>
          <a:extLst>
            <a:ext uri="{909E8E84-426E-40DD-AFC4-6F175D3DCCD1}">
              <a14:hiddenFill xmlns:a14="http://schemas.microsoft.com/office/drawing/2010/main">
                <a:solidFill>
                  <a:srgbClr val="FFFFFF"/>
                </a:solidFill>
              </a14:hiddenFill>
            </a:ext>
          </a:extLst>
        </p:spPr>
      </p:pic>
      <p:pic>
        <p:nvPicPr>
          <p:cNvPr id="8" name="그림 7">
            <a:extLst>
              <a:ext uri="{FF2B5EF4-FFF2-40B4-BE49-F238E27FC236}">
                <a16:creationId xmlns:a16="http://schemas.microsoft.com/office/drawing/2014/main" id="{9930D5B0-AF57-DF11-4257-DC984AD72DE1}"/>
              </a:ext>
            </a:extLst>
          </p:cNvPr>
          <p:cNvPicPr>
            <a:picLocks noChangeAspect="1"/>
          </p:cNvPicPr>
          <p:nvPr/>
        </p:nvPicPr>
        <p:blipFill>
          <a:blip r:embed="rId5"/>
          <a:stretch>
            <a:fillRect/>
          </a:stretch>
        </p:blipFill>
        <p:spPr>
          <a:xfrm>
            <a:off x="475645" y="4038856"/>
            <a:ext cx="4496190" cy="952583"/>
          </a:xfrm>
          <a:prstGeom prst="rect">
            <a:avLst/>
          </a:prstGeom>
        </p:spPr>
      </p:pic>
      <p:sp>
        <p:nvSpPr>
          <p:cNvPr id="10" name="TextBox 9">
            <a:extLst>
              <a:ext uri="{FF2B5EF4-FFF2-40B4-BE49-F238E27FC236}">
                <a16:creationId xmlns:a16="http://schemas.microsoft.com/office/drawing/2014/main" id="{F3F04732-A7DF-CAB5-E904-258D981F1CA7}"/>
              </a:ext>
            </a:extLst>
          </p:cNvPr>
          <p:cNvSpPr txBox="1"/>
          <p:nvPr/>
        </p:nvSpPr>
        <p:spPr>
          <a:xfrm>
            <a:off x="475645" y="1571379"/>
            <a:ext cx="6096000" cy="369332"/>
          </a:xfrm>
          <a:prstGeom prst="rect">
            <a:avLst/>
          </a:prstGeom>
          <a:noFill/>
        </p:spPr>
        <p:txBody>
          <a:bodyPr wrap="square">
            <a:spAutoFit/>
          </a:bodyPr>
          <a:lstStyle/>
          <a:p>
            <a:r>
              <a:rPr lang="en-US" altLang="ko-KR" sz="1800" b="0" i="0" u="none" strike="noStrike" dirty="0">
                <a:solidFill>
                  <a:srgbClr val="000000"/>
                </a:solidFill>
                <a:effectLst/>
                <a:latin typeface="D2Coding" panose="020B0609020101020101" pitchFamily="49" charset="-127"/>
                <a:ea typeface="D2Coding" panose="020B0609020101020101" pitchFamily="49" charset="-127"/>
              </a:rPr>
              <a:t>1. </a:t>
            </a:r>
            <a:r>
              <a:rPr lang="ko-KR" altLang="en-US" sz="1800" b="0" i="0" u="none" strike="noStrike" dirty="0" err="1">
                <a:solidFill>
                  <a:srgbClr val="000000"/>
                </a:solidFill>
                <a:effectLst/>
                <a:latin typeface="D2Coding" panose="020B0609020101020101" pitchFamily="49" charset="-127"/>
                <a:ea typeface="D2Coding" panose="020B0609020101020101" pitchFamily="49" charset="-127"/>
              </a:rPr>
              <a:t>은닉층</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 </a:t>
            </a:r>
            <a:r>
              <a:rPr lang="en-US" altLang="ko-KR" sz="1800" b="0" i="0" u="none" strike="noStrike" dirty="0">
                <a:solidFill>
                  <a:srgbClr val="000000"/>
                </a:solidFill>
                <a:effectLst/>
                <a:latin typeface="D2Coding" panose="020B0609020101020101" pitchFamily="49" charset="-127"/>
                <a:ea typeface="D2Coding" panose="020B0609020101020101" pitchFamily="49" charset="-127"/>
              </a:rPr>
              <a:t>(Hidden Layer)</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의 선형 수식 </a:t>
            </a:r>
            <a:endParaRPr lang="ko-KR" altLang="en-US" dirty="0">
              <a:latin typeface="D2Coding" panose="020B0609020101020101" pitchFamily="49" charset="-127"/>
              <a:ea typeface="D2Coding" panose="020B0609020101020101" pitchFamily="49" charset="-127"/>
            </a:endParaRPr>
          </a:p>
        </p:txBody>
      </p:sp>
      <p:sp>
        <p:nvSpPr>
          <p:cNvPr id="12" name="TextBox 11">
            <a:extLst>
              <a:ext uri="{FF2B5EF4-FFF2-40B4-BE49-F238E27FC236}">
                <a16:creationId xmlns:a16="http://schemas.microsoft.com/office/drawing/2014/main" id="{459F35ED-1AD3-FBFD-11D2-CB818262D9D7}"/>
              </a:ext>
            </a:extLst>
          </p:cNvPr>
          <p:cNvSpPr txBox="1"/>
          <p:nvPr/>
        </p:nvSpPr>
        <p:spPr>
          <a:xfrm>
            <a:off x="475645" y="3602921"/>
            <a:ext cx="6096000" cy="369332"/>
          </a:xfrm>
          <a:prstGeom prst="rect">
            <a:avLst/>
          </a:prstGeom>
          <a:noFill/>
        </p:spPr>
        <p:txBody>
          <a:bodyPr wrap="square">
            <a:spAutoFit/>
          </a:bodyPr>
          <a:lstStyle/>
          <a:p>
            <a:r>
              <a:rPr lang="en-US" altLang="ko-KR" sz="1800" b="0" i="0" u="none" strike="noStrike" dirty="0">
                <a:solidFill>
                  <a:srgbClr val="000000"/>
                </a:solidFill>
                <a:effectLst/>
                <a:latin typeface="D2Coding" panose="020B0609020101020101" pitchFamily="49" charset="-127"/>
                <a:ea typeface="D2Coding" panose="020B0609020101020101" pitchFamily="49" charset="-127"/>
              </a:rPr>
              <a:t>2. </a:t>
            </a:r>
            <a:r>
              <a:rPr lang="ko-KR" altLang="en-US" sz="1800" b="0" i="0" u="none" strike="noStrike" dirty="0" err="1">
                <a:solidFill>
                  <a:srgbClr val="000000"/>
                </a:solidFill>
                <a:effectLst/>
                <a:latin typeface="D2Coding" panose="020B0609020101020101" pitchFamily="49" charset="-127"/>
                <a:ea typeface="D2Coding" panose="020B0609020101020101" pitchFamily="49" charset="-127"/>
              </a:rPr>
              <a:t>출력층</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 </a:t>
            </a:r>
            <a:r>
              <a:rPr lang="en-US" altLang="ko-KR" sz="1800" b="0" i="0" u="none" strike="noStrike" dirty="0">
                <a:solidFill>
                  <a:srgbClr val="000000"/>
                </a:solidFill>
                <a:effectLst/>
                <a:latin typeface="D2Coding" panose="020B0609020101020101" pitchFamily="49" charset="-127"/>
                <a:ea typeface="D2Coding" panose="020B0609020101020101" pitchFamily="49" charset="-127"/>
              </a:rPr>
              <a:t>(Output Layer)</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의 선형 수식</a:t>
            </a:r>
            <a:endParaRPr lang="ko-KR" altLang="en-US" dirty="0">
              <a:latin typeface="D2Coding" panose="020B0609020101020101" pitchFamily="49" charset="-127"/>
              <a:ea typeface="D2Coding" panose="020B0609020101020101" pitchFamily="49" charset="-127"/>
            </a:endParaRPr>
          </a:p>
        </p:txBody>
      </p:sp>
      <p:sp>
        <p:nvSpPr>
          <p:cNvPr id="2" name="슬라이드 번호 개체 틀 3">
            <a:extLst>
              <a:ext uri="{FF2B5EF4-FFF2-40B4-BE49-F238E27FC236}">
                <a16:creationId xmlns:a16="http://schemas.microsoft.com/office/drawing/2014/main" id="{71BF7A04-E834-C833-EE4E-AC497733D7CF}"/>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52</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80074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426D-8F0A-9C95-EE6A-7E25361B4E8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33F4EFA4-4F17-3197-CE10-BB3BDAD9A14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E67D1473-2FE3-A86E-CE51-23B8E5AA8E21}"/>
              </a:ext>
            </a:extLst>
          </p:cNvPr>
          <p:cNvSpPr txBox="1"/>
          <p:nvPr/>
        </p:nvSpPr>
        <p:spPr>
          <a:xfrm>
            <a:off x="629920" y="1390662"/>
            <a:ext cx="9884091" cy="5093702"/>
          </a:xfrm>
          <a:prstGeom prst="rect">
            <a:avLst/>
          </a:prstGeom>
          <a:solidFill>
            <a:srgbClr val="76E3FF"/>
          </a:solidFill>
        </p:spPr>
        <p:txBody>
          <a:bodyPr wrap="square" rtlCol="0">
            <a:spAutoFit/>
          </a:bodyPr>
          <a:lstStyle/>
          <a:p>
            <a:r>
              <a:rPr lang="en-US" altLang="ko-KR" sz="1300" dirty="0">
                <a:latin typeface="D2Coding" panose="020B0609020101020101" pitchFamily="49" charset="-127"/>
                <a:ea typeface="D2Coding" panose="020B0609020101020101" pitchFamily="49" charset="-127"/>
              </a:rPr>
              <a:t>import </a:t>
            </a:r>
            <a:r>
              <a:rPr lang="en-US" altLang="ko-KR" sz="1300" dirty="0" err="1">
                <a:latin typeface="D2Coding" panose="020B0609020101020101" pitchFamily="49" charset="-127"/>
                <a:ea typeface="D2Coding" panose="020B0609020101020101" pitchFamily="49" charset="-127"/>
              </a:rPr>
              <a:t>numpy</a:t>
            </a:r>
            <a:r>
              <a:rPr lang="en-US" altLang="ko-KR" sz="1300" dirty="0">
                <a:latin typeface="D2Coding" panose="020B0609020101020101" pitchFamily="49" charset="-127"/>
                <a:ea typeface="D2Coding" panose="020B0609020101020101" pitchFamily="49" charset="-127"/>
              </a:rPr>
              <a:t> as np</a:t>
            </a:r>
          </a:p>
          <a:p>
            <a:r>
              <a:rPr lang="en-US" altLang="ko-KR" sz="1300" dirty="0">
                <a:latin typeface="D2Coding" panose="020B0609020101020101" pitchFamily="49" charset="-127"/>
                <a:ea typeface="D2Coding" panose="020B0609020101020101" pitchFamily="49" charset="-127"/>
              </a:rPr>
              <a:t>from </a:t>
            </a:r>
            <a:r>
              <a:rPr lang="en-US" altLang="ko-KR" sz="1300" dirty="0" err="1">
                <a:latin typeface="D2Coding" panose="020B0609020101020101" pitchFamily="49" charset="-127"/>
                <a:ea typeface="D2Coding" panose="020B0609020101020101" pitchFamily="49" charset="-127"/>
              </a:rPr>
              <a:t>gensim.models</a:t>
            </a:r>
            <a:r>
              <a:rPr lang="en-US" altLang="ko-KR" sz="1300" dirty="0">
                <a:latin typeface="D2Coding" panose="020B0609020101020101" pitchFamily="49" charset="-127"/>
                <a:ea typeface="D2Coding" panose="020B0609020101020101" pitchFamily="49" charset="-127"/>
              </a:rPr>
              <a:t> import Word2Vec</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1. </a:t>
            </a:r>
            <a:r>
              <a:rPr lang="ko-KR" altLang="en-US" sz="1300" dirty="0">
                <a:latin typeface="D2Coding" panose="020B0609020101020101" pitchFamily="49" charset="-127"/>
                <a:ea typeface="D2Coding" panose="020B0609020101020101" pitchFamily="49" charset="-127"/>
              </a:rPr>
              <a:t>예시 문장 데이터 </a:t>
            </a:r>
            <a:r>
              <a:rPr lang="en-US" altLang="ko-KR" sz="1300" dirty="0">
                <a:latin typeface="D2Coding" panose="020B0609020101020101" pitchFamily="49" charset="-127"/>
                <a:ea typeface="D2Coding" panose="020B0609020101020101" pitchFamily="49" charset="-127"/>
              </a:rPr>
              <a:t>(Word2Vec </a:t>
            </a:r>
            <a:r>
              <a:rPr lang="ko-KR" altLang="en-US" sz="1300" dirty="0">
                <a:latin typeface="D2Coding" panose="020B0609020101020101" pitchFamily="49" charset="-127"/>
                <a:ea typeface="D2Coding" panose="020B0609020101020101" pitchFamily="49" charset="-127"/>
              </a:rPr>
              <a:t>학습용 코퍼스</a:t>
            </a:r>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단어들이 모델 내부에서 학습될 수 있도록 리스트 형태로 제공</a:t>
            </a:r>
          </a:p>
          <a:p>
            <a:r>
              <a:rPr lang="en-US" altLang="ko-KR" sz="1300" dirty="0">
                <a:latin typeface="D2Coding" panose="020B0609020101020101" pitchFamily="49" charset="-127"/>
                <a:ea typeface="D2Coding" panose="020B0609020101020101" pitchFamily="49" charset="-127"/>
              </a:rPr>
              <a:t>sentences = [["I", "am", “your”, “father”]]</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2. </a:t>
            </a:r>
            <a:r>
              <a:rPr lang="en-US" altLang="ko-KR" sz="1300" dirty="0" err="1">
                <a:latin typeface="D2Coding" panose="020B0609020101020101" pitchFamily="49" charset="-127"/>
                <a:ea typeface="D2Coding" panose="020B0609020101020101" pitchFamily="49" charset="-127"/>
              </a:rPr>
              <a:t>Gensim</a:t>
            </a:r>
            <a:r>
              <a:rPr lang="en-US" altLang="ko-KR" sz="1300" dirty="0">
                <a:latin typeface="D2Coding" panose="020B0609020101020101" pitchFamily="49" charset="-127"/>
                <a:ea typeface="D2Coding" panose="020B0609020101020101" pitchFamily="49" charset="-127"/>
              </a:rPr>
              <a:t> Word2Vec </a:t>
            </a:r>
            <a:r>
              <a:rPr lang="ko-KR" altLang="en-US" sz="1300" dirty="0">
                <a:latin typeface="D2Coding" panose="020B0609020101020101" pitchFamily="49" charset="-127"/>
                <a:ea typeface="D2Coding" panose="020B0609020101020101" pitchFamily="49" charset="-127"/>
              </a:rPr>
              <a:t>모델 생성 및 학습</a:t>
            </a:r>
          </a:p>
          <a:p>
            <a:r>
              <a:rPr lang="en-US" altLang="ko-KR" sz="1300" dirty="0">
                <a:latin typeface="D2Coding" panose="020B0609020101020101" pitchFamily="49" charset="-127"/>
                <a:ea typeface="D2Coding" panose="020B0609020101020101" pitchFamily="49" charset="-127"/>
              </a:rPr>
              <a:t># </a:t>
            </a:r>
            <a:r>
              <a:rPr lang="en-US" altLang="ko-KR" sz="1300" dirty="0" err="1">
                <a:latin typeface="D2Coding" panose="020B0609020101020101" pitchFamily="49" charset="-127"/>
                <a:ea typeface="D2Coding" panose="020B0609020101020101" pitchFamily="49" charset="-127"/>
              </a:rPr>
              <a:t>vector_size</a:t>
            </a:r>
            <a:r>
              <a:rPr lang="en-US" altLang="ko-KR" sz="1300" dirty="0">
                <a:latin typeface="D2Coding" panose="020B0609020101020101" pitchFamily="49" charset="-127"/>
                <a:ea typeface="D2Coding" panose="020B0609020101020101" pitchFamily="49" charset="-127"/>
              </a:rPr>
              <a:t>=4 : </a:t>
            </a:r>
            <a:r>
              <a:rPr lang="ko-KR" altLang="en-US" sz="1300" dirty="0">
                <a:latin typeface="D2Coding" panose="020B0609020101020101" pitchFamily="49" charset="-127"/>
                <a:ea typeface="D2Coding" panose="020B0609020101020101" pitchFamily="49" charset="-127"/>
              </a:rPr>
              <a:t>단어 하나를 </a:t>
            </a:r>
            <a:r>
              <a:rPr lang="en-US" altLang="ko-KR" sz="1300" dirty="0">
                <a:latin typeface="D2Coding" panose="020B0609020101020101" pitchFamily="49" charset="-127"/>
                <a:ea typeface="D2Coding" panose="020B0609020101020101" pitchFamily="49" charset="-127"/>
              </a:rPr>
              <a:t>4</a:t>
            </a:r>
            <a:r>
              <a:rPr lang="ko-KR" altLang="en-US" sz="1300" dirty="0">
                <a:latin typeface="D2Coding" panose="020B0609020101020101" pitchFamily="49" charset="-127"/>
                <a:ea typeface="D2Coding" panose="020B0609020101020101" pitchFamily="49" charset="-127"/>
              </a:rPr>
              <a:t>차원 벡터로 표현하겠다는 의미 </a:t>
            </a:r>
            <a:r>
              <a:rPr lang="en-US" altLang="ko-KR" sz="1300" dirty="0">
                <a:latin typeface="D2Coding" panose="020B0609020101020101" pitchFamily="49" charset="-127"/>
                <a:ea typeface="D2Coding" panose="020B0609020101020101" pitchFamily="49" charset="-127"/>
              </a:rPr>
              <a:t>(</a:t>
            </a:r>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=4)</a:t>
            </a:r>
          </a:p>
          <a:p>
            <a:r>
              <a:rPr lang="en-US" altLang="ko-KR" sz="1300" dirty="0">
                <a:latin typeface="D2Coding" panose="020B0609020101020101" pitchFamily="49" charset="-127"/>
                <a:ea typeface="D2Coding" panose="020B0609020101020101" pitchFamily="49" charset="-127"/>
              </a:rPr>
              <a:t># </a:t>
            </a:r>
            <a:r>
              <a:rPr lang="en-US" altLang="ko-KR" sz="1300" dirty="0" err="1">
                <a:latin typeface="D2Coding" panose="020B0609020101020101" pitchFamily="49" charset="-127"/>
                <a:ea typeface="D2Coding" panose="020B0609020101020101" pitchFamily="49" charset="-127"/>
              </a:rPr>
              <a:t>min_count</a:t>
            </a:r>
            <a:r>
              <a:rPr lang="en-US" altLang="ko-KR" sz="1300" dirty="0">
                <a:latin typeface="D2Coding" panose="020B0609020101020101" pitchFamily="49" charset="-127"/>
                <a:ea typeface="D2Coding" panose="020B0609020101020101" pitchFamily="49" charset="-127"/>
              </a:rPr>
              <a:t>=1  : </a:t>
            </a:r>
            <a:r>
              <a:rPr lang="ko-KR" altLang="en-US" sz="1300" dirty="0">
                <a:latin typeface="D2Coding" panose="020B0609020101020101" pitchFamily="49" charset="-127"/>
                <a:ea typeface="D2Coding" panose="020B0609020101020101" pitchFamily="49" charset="-127"/>
              </a:rPr>
              <a:t>빈도수가 </a:t>
            </a:r>
            <a:r>
              <a:rPr lang="en-US" altLang="ko-KR" sz="1300" dirty="0">
                <a:latin typeface="D2Coding" panose="020B0609020101020101" pitchFamily="49" charset="-127"/>
                <a:ea typeface="D2Coding" panose="020B0609020101020101" pitchFamily="49" charset="-127"/>
              </a:rPr>
              <a:t>1</a:t>
            </a:r>
            <a:r>
              <a:rPr lang="ko-KR" altLang="en-US" sz="1300" dirty="0">
                <a:latin typeface="D2Coding" panose="020B0609020101020101" pitchFamily="49" charset="-127"/>
                <a:ea typeface="D2Coding" panose="020B0609020101020101" pitchFamily="49" charset="-127"/>
              </a:rPr>
              <a:t>번만 나와도 단어장에 포함</a:t>
            </a:r>
            <a:r>
              <a:rPr lang="en-US" altLang="ko-KR" sz="1300" dirty="0">
                <a:latin typeface="D2Coding" panose="020B0609020101020101" pitchFamily="49" charset="-127"/>
                <a:ea typeface="D2Coding" panose="020B0609020101020101" pitchFamily="49" charset="-127"/>
              </a:rPr>
              <a:t>, window=2 : </a:t>
            </a:r>
            <a:r>
              <a:rPr lang="ko-KR" altLang="en-US" sz="1300" dirty="0">
                <a:latin typeface="D2Coding" panose="020B0609020101020101" pitchFamily="49" charset="-127"/>
                <a:ea typeface="D2Coding" panose="020B0609020101020101" pitchFamily="49" charset="-127"/>
              </a:rPr>
              <a:t>문맥을 파악할 앞뒤 단어의 범위</a:t>
            </a:r>
          </a:p>
          <a:p>
            <a:r>
              <a:rPr lang="en-US" altLang="ko-KR" sz="1300" dirty="0">
                <a:latin typeface="D2Coding" panose="020B0609020101020101" pitchFamily="49" charset="-127"/>
                <a:ea typeface="D2Coding" panose="020B0609020101020101" pitchFamily="49" charset="-127"/>
              </a:rPr>
              <a:t>model = Word2Vec(sentences, </a:t>
            </a:r>
            <a:r>
              <a:rPr lang="en-US" altLang="ko-KR" sz="1300" dirty="0" err="1">
                <a:latin typeface="D2Coding" panose="020B0609020101020101" pitchFamily="49" charset="-127"/>
                <a:ea typeface="D2Coding" panose="020B0609020101020101" pitchFamily="49" charset="-127"/>
              </a:rPr>
              <a:t>vector_size</a:t>
            </a:r>
            <a:r>
              <a:rPr lang="en-US" altLang="ko-KR" sz="1300" dirty="0">
                <a:latin typeface="D2Coding" panose="020B0609020101020101" pitchFamily="49" charset="-127"/>
                <a:ea typeface="D2Coding" panose="020B0609020101020101" pitchFamily="49" charset="-127"/>
              </a:rPr>
              <a:t>=4, </a:t>
            </a:r>
            <a:r>
              <a:rPr lang="en-US" altLang="ko-KR" sz="1300" dirty="0" err="1">
                <a:latin typeface="D2Coding" panose="020B0609020101020101" pitchFamily="49" charset="-127"/>
                <a:ea typeface="D2Coding" panose="020B0609020101020101" pitchFamily="49" charset="-127"/>
              </a:rPr>
              <a:t>min_count</a:t>
            </a:r>
            <a:r>
              <a:rPr lang="en-US" altLang="ko-KR" sz="1300" dirty="0">
                <a:latin typeface="D2Coding" panose="020B0609020101020101" pitchFamily="49" charset="-127"/>
                <a:ea typeface="D2Coding" panose="020B0609020101020101" pitchFamily="49" charset="-127"/>
              </a:rPr>
              <a:t>=1, window=2, epochs=100, seed=42)</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3. RNN</a:t>
            </a:r>
            <a:r>
              <a:rPr lang="ko-KR" altLang="en-US" sz="1300" dirty="0">
                <a:latin typeface="D2Coding" panose="020B0609020101020101" pitchFamily="49" charset="-127"/>
                <a:ea typeface="D2Coding" panose="020B0609020101020101" pitchFamily="49" charset="-127"/>
              </a:rPr>
              <a:t>에 입력할 데이터 구조</a:t>
            </a:r>
            <a:r>
              <a:rPr lang="en-US" altLang="ko-KR" sz="1300" dirty="0">
                <a:latin typeface="D2Coding" panose="020B0609020101020101" pitchFamily="49" charset="-127"/>
                <a:ea typeface="D2Coding" panose="020B0609020101020101" pitchFamily="49" charset="-127"/>
              </a:rPr>
              <a:t>(Matrix) </a:t>
            </a:r>
            <a:r>
              <a:rPr lang="ko-KR" altLang="en-US" sz="1300" dirty="0">
                <a:latin typeface="D2Coding" panose="020B0609020101020101" pitchFamily="49" charset="-127"/>
                <a:ea typeface="D2Coding" panose="020B0609020101020101" pitchFamily="49" charset="-127"/>
              </a:rPr>
              <a:t>만들기</a:t>
            </a:r>
          </a:p>
          <a:p>
            <a:r>
              <a:rPr lang="en-US" altLang="ko-KR" sz="1300" dirty="0">
                <a:latin typeface="D2Coding" panose="020B0609020101020101" pitchFamily="49" charset="-127"/>
                <a:ea typeface="D2Coding" panose="020B0609020101020101" pitchFamily="49" charset="-127"/>
              </a:rPr>
              <a:t>timesteps = 4    # </a:t>
            </a:r>
            <a:r>
              <a:rPr lang="ko-KR" altLang="en-US" sz="1300" dirty="0">
                <a:latin typeface="D2Coding" panose="020B0609020101020101" pitchFamily="49" charset="-127"/>
                <a:ea typeface="D2Coding" panose="020B0609020101020101" pitchFamily="49" charset="-127"/>
              </a:rPr>
              <a:t>문장 속 단어의 수 </a:t>
            </a:r>
            <a:r>
              <a:rPr lang="en-US" altLang="ko-KR" sz="1300" dirty="0">
                <a:latin typeface="D2Coding" panose="020B0609020101020101" pitchFamily="49" charset="-127"/>
                <a:ea typeface="D2Coding" panose="020B0609020101020101" pitchFamily="49" charset="-127"/>
              </a:rPr>
              <a:t>(“I”, “am”, “your", "father")</a:t>
            </a:r>
          </a:p>
          <a:p>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 = 4   # Word2Vec </a:t>
            </a:r>
            <a:r>
              <a:rPr lang="ko-KR" altLang="en-US" sz="1300" dirty="0" err="1">
                <a:latin typeface="D2Coding" panose="020B0609020101020101" pitchFamily="49" charset="-127"/>
                <a:ea typeface="D2Coding" panose="020B0609020101020101" pitchFamily="49" charset="-127"/>
              </a:rPr>
              <a:t>임베딩</a:t>
            </a:r>
            <a:r>
              <a:rPr lang="ko-KR" altLang="en-US" sz="1300" dirty="0">
                <a:latin typeface="D2Coding" panose="020B0609020101020101" pitchFamily="49" charset="-127"/>
                <a:ea typeface="D2Coding" panose="020B0609020101020101" pitchFamily="49" charset="-127"/>
              </a:rPr>
              <a:t> 차원수</a:t>
            </a:r>
          </a:p>
          <a:p>
            <a:r>
              <a:rPr lang="en-US" altLang="ko-KR" sz="1300" dirty="0" err="1">
                <a:latin typeface="D2Coding" panose="020B0609020101020101" pitchFamily="49" charset="-127"/>
                <a:ea typeface="D2Coding" panose="020B0609020101020101" pitchFamily="49" charset="-127"/>
              </a:rPr>
              <a:t>hidden_size</a:t>
            </a:r>
            <a:r>
              <a:rPr lang="en-US" altLang="ko-KR" sz="1300" dirty="0">
                <a:latin typeface="D2Coding" panose="020B0609020101020101" pitchFamily="49" charset="-127"/>
                <a:ea typeface="D2Coding" panose="020B0609020101020101" pitchFamily="49" charset="-127"/>
              </a:rPr>
              <a:t> = 2  # </a:t>
            </a:r>
            <a:r>
              <a:rPr lang="ko-KR" altLang="en-US" sz="1300" dirty="0">
                <a:latin typeface="D2Coding" panose="020B0609020101020101" pitchFamily="49" charset="-127"/>
                <a:ea typeface="D2Coding" panose="020B0609020101020101" pitchFamily="49" charset="-127"/>
              </a:rPr>
              <a:t>은닉 상태의 크기 </a:t>
            </a:r>
            <a:r>
              <a:rPr lang="en-US" altLang="ko-KR" sz="1300" dirty="0">
                <a:latin typeface="D2Coding" panose="020B0609020101020101" pitchFamily="49" charset="-127"/>
                <a:ea typeface="D2Coding" panose="020B0609020101020101" pitchFamily="49" charset="-127"/>
              </a:rPr>
              <a:t>(</a:t>
            </a:r>
            <a:r>
              <a:rPr lang="ko-KR" altLang="en-US" sz="1300" dirty="0">
                <a:latin typeface="D2Coding" panose="020B0609020101020101" pitchFamily="49" charset="-127"/>
                <a:ea typeface="D2Coding" panose="020B0609020101020101" pitchFamily="49" charset="-127"/>
              </a:rPr>
              <a:t>기억 방의 개수</a:t>
            </a:r>
            <a:r>
              <a:rPr lang="en-US" altLang="ko-KR" sz="1300" dirty="0">
                <a:latin typeface="D2Coding" panose="020B0609020101020101" pitchFamily="49" charset="-127"/>
                <a:ea typeface="D2Coding" panose="020B0609020101020101" pitchFamily="49" charset="-127"/>
              </a:rPr>
              <a:t>)</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4</a:t>
            </a:r>
            <a:r>
              <a:rPr lang="ko-KR" altLang="en-US" sz="1300" dirty="0">
                <a:latin typeface="D2Coding" panose="020B0609020101020101" pitchFamily="49" charset="-127"/>
                <a:ea typeface="D2Coding" panose="020B0609020101020101" pitchFamily="49" charset="-127"/>
              </a:rPr>
              <a:t>차원 벡터로 변환된 단어들을 순서대로 담을 빈 행렬 생성 </a:t>
            </a:r>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크기</a:t>
            </a:r>
            <a:r>
              <a:rPr lang="en-US" altLang="ko-KR" sz="1300" dirty="0">
                <a:latin typeface="D2Coding" panose="020B0609020101020101" pitchFamily="49" charset="-127"/>
                <a:ea typeface="D2Coding" panose="020B0609020101020101" pitchFamily="49" charset="-127"/>
              </a:rPr>
              <a:t>: (4, 4)</a:t>
            </a:r>
          </a:p>
          <a:p>
            <a:r>
              <a:rPr lang="en-US" altLang="ko-KR" sz="1300" dirty="0">
                <a:latin typeface="D2Coding" panose="020B0609020101020101" pitchFamily="49" charset="-127"/>
                <a:ea typeface="D2Coding" panose="020B0609020101020101" pitchFamily="49" charset="-127"/>
              </a:rPr>
              <a:t>inputs = </a:t>
            </a:r>
            <a:r>
              <a:rPr lang="en-US" altLang="ko-KR" sz="1300" dirty="0" err="1">
                <a:latin typeface="D2Coding" panose="020B0609020101020101" pitchFamily="49" charset="-127"/>
                <a:ea typeface="D2Coding" panose="020B0609020101020101" pitchFamily="49" charset="-127"/>
              </a:rPr>
              <a:t>np.zeros</a:t>
            </a:r>
            <a:r>
              <a:rPr lang="en-US" altLang="ko-KR" sz="1300" dirty="0">
                <a:latin typeface="D2Coding" panose="020B0609020101020101" pitchFamily="49" charset="-127"/>
                <a:ea typeface="D2Coding" panose="020B0609020101020101" pitchFamily="49" charset="-127"/>
              </a:rPr>
              <a:t>((timesteps, </a:t>
            </a:r>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단어 순서대로 </a:t>
            </a:r>
            <a:r>
              <a:rPr lang="en-US" altLang="ko-KR" sz="1300" dirty="0">
                <a:latin typeface="D2Coding" panose="020B0609020101020101" pitchFamily="49" charset="-127"/>
                <a:ea typeface="D2Coding" panose="020B0609020101020101" pitchFamily="49" charset="-127"/>
              </a:rPr>
              <a:t>Word2Vec</a:t>
            </a:r>
            <a:r>
              <a:rPr lang="ko-KR" altLang="en-US" sz="1300" dirty="0">
                <a:latin typeface="D2Coding" panose="020B0609020101020101" pitchFamily="49" charset="-127"/>
                <a:ea typeface="D2Coding" panose="020B0609020101020101" pitchFamily="49" charset="-127"/>
              </a:rPr>
              <a:t>에서 </a:t>
            </a:r>
            <a:r>
              <a:rPr lang="ko-KR" altLang="en-US" sz="1300" dirty="0" err="1">
                <a:latin typeface="D2Coding" panose="020B0609020101020101" pitchFamily="49" charset="-127"/>
                <a:ea typeface="D2Coding" panose="020B0609020101020101" pitchFamily="49" charset="-127"/>
              </a:rPr>
              <a:t>벡터값을</a:t>
            </a:r>
            <a:r>
              <a:rPr lang="ko-KR" altLang="en-US" sz="1300" dirty="0">
                <a:latin typeface="D2Coding" panose="020B0609020101020101" pitchFamily="49" charset="-127"/>
                <a:ea typeface="D2Coding" panose="020B0609020101020101" pitchFamily="49" charset="-127"/>
              </a:rPr>
              <a:t> 추출하여 행렬에 </a:t>
            </a:r>
            <a:r>
              <a:rPr lang="ko-KR" altLang="en-US" sz="1300" dirty="0" err="1">
                <a:latin typeface="D2Coding" panose="020B0609020101020101" pitchFamily="49" charset="-127"/>
                <a:ea typeface="D2Coding" panose="020B0609020101020101" pitchFamily="49" charset="-127"/>
              </a:rPr>
              <a:t>채워넣기</a:t>
            </a:r>
            <a:endParaRPr lang="ko-KR" altLang="en-US" sz="1300" dirty="0">
              <a:latin typeface="D2Coding" panose="020B0609020101020101" pitchFamily="49" charset="-127"/>
              <a:ea typeface="D2Coding" panose="020B0609020101020101" pitchFamily="49" charset="-127"/>
            </a:endParaRPr>
          </a:p>
          <a:p>
            <a:r>
              <a:rPr lang="en-US" altLang="ko-KR" sz="1300" dirty="0" err="1">
                <a:latin typeface="D2Coding" panose="020B0609020101020101" pitchFamily="49" charset="-127"/>
                <a:ea typeface="D2Coding" panose="020B0609020101020101" pitchFamily="49" charset="-127"/>
              </a:rPr>
              <a:t>word_list</a:t>
            </a:r>
            <a:r>
              <a:rPr lang="en-US" altLang="ko-KR" sz="1300" dirty="0">
                <a:latin typeface="D2Coding" panose="020B0609020101020101" pitchFamily="49" charset="-127"/>
                <a:ea typeface="D2Coding" panose="020B0609020101020101" pitchFamily="49" charset="-127"/>
              </a:rPr>
              <a:t> = ["I", "am", “your", "father"] # Changed to match the training data</a:t>
            </a:r>
          </a:p>
          <a:p>
            <a:r>
              <a:rPr lang="en-US" altLang="ko-KR" sz="1300" dirty="0">
                <a:latin typeface="D2Coding" panose="020B0609020101020101" pitchFamily="49" charset="-127"/>
                <a:ea typeface="D2Coding" panose="020B0609020101020101" pitchFamily="49" charset="-127"/>
              </a:rPr>
              <a:t>for </a:t>
            </a:r>
            <a:r>
              <a:rPr lang="en-US" altLang="ko-KR" sz="1300" dirty="0" err="1">
                <a:latin typeface="D2Coding" panose="020B0609020101020101" pitchFamily="49" charset="-127"/>
                <a:ea typeface="D2Coding" panose="020B0609020101020101" pitchFamily="49" charset="-127"/>
              </a:rPr>
              <a:t>i</a:t>
            </a:r>
            <a:r>
              <a:rPr lang="en-US" altLang="ko-KR" sz="1300" dirty="0">
                <a:latin typeface="D2Coding" panose="020B0609020101020101" pitchFamily="49" charset="-127"/>
                <a:ea typeface="D2Coding" panose="020B0609020101020101" pitchFamily="49" charset="-127"/>
              </a:rPr>
              <a:t>, word in enumerate(</a:t>
            </a:r>
            <a:r>
              <a:rPr lang="en-US" altLang="ko-KR" sz="1300" dirty="0" err="1">
                <a:latin typeface="D2Coding" panose="020B0609020101020101" pitchFamily="49" charset="-127"/>
                <a:ea typeface="D2Coding" panose="020B0609020101020101" pitchFamily="49" charset="-127"/>
              </a:rPr>
              <a:t>word_list</a:t>
            </a:r>
            <a:r>
              <a:rPr lang="en-US" altLang="ko-KR" sz="1300" dirty="0">
                <a:latin typeface="D2Coding" panose="020B0609020101020101" pitchFamily="49" charset="-127"/>
                <a:ea typeface="D2Coding" panose="020B0609020101020101" pitchFamily="49" charset="-127"/>
              </a:rPr>
              <a:t>):</a:t>
            </a:r>
          </a:p>
          <a:p>
            <a:r>
              <a:rPr lang="en-US" altLang="ko-KR" sz="1300" dirty="0">
                <a:latin typeface="D2Coding" panose="020B0609020101020101" pitchFamily="49" charset="-127"/>
                <a:ea typeface="D2Coding" panose="020B0609020101020101" pitchFamily="49" charset="-127"/>
              </a:rPr>
              <a:t>    inputs[</a:t>
            </a:r>
            <a:r>
              <a:rPr lang="en-US" altLang="ko-KR" sz="1300" dirty="0" err="1">
                <a:latin typeface="D2Coding" panose="020B0609020101020101" pitchFamily="49" charset="-127"/>
                <a:ea typeface="D2Coding" panose="020B0609020101020101" pitchFamily="49" charset="-127"/>
              </a:rPr>
              <a:t>i</a:t>
            </a:r>
            <a:r>
              <a:rPr lang="en-US" altLang="ko-KR" sz="1300" dirty="0">
                <a:latin typeface="D2Coding" panose="020B0609020101020101" pitchFamily="49" charset="-127"/>
                <a:ea typeface="D2Coding" panose="020B0609020101020101" pitchFamily="49" charset="-127"/>
              </a:rPr>
              <a:t>] = </a:t>
            </a:r>
            <a:r>
              <a:rPr lang="en-US" altLang="ko-KR" sz="1300" dirty="0" err="1">
                <a:latin typeface="D2Coding" panose="020B0609020101020101" pitchFamily="49" charset="-127"/>
                <a:ea typeface="D2Coding" panose="020B0609020101020101" pitchFamily="49" charset="-127"/>
              </a:rPr>
              <a:t>model.wv</a:t>
            </a:r>
            <a:r>
              <a:rPr lang="en-US" altLang="ko-KR" sz="1300" dirty="0">
                <a:latin typeface="D2Coding" panose="020B0609020101020101" pitchFamily="49" charset="-127"/>
                <a:ea typeface="D2Coding" panose="020B0609020101020101" pitchFamily="49" charset="-127"/>
              </a:rPr>
              <a:t>[word]  # </a:t>
            </a:r>
            <a:r>
              <a:rPr lang="ko-KR" altLang="en-US" sz="1300" dirty="0">
                <a:latin typeface="D2Coding" panose="020B0609020101020101" pitchFamily="49" charset="-127"/>
                <a:ea typeface="D2Coding" panose="020B0609020101020101" pitchFamily="49" charset="-127"/>
              </a:rPr>
              <a:t>각 단어의 </a:t>
            </a:r>
            <a:r>
              <a:rPr lang="en-US" altLang="ko-KR" sz="1300" dirty="0">
                <a:latin typeface="D2Coding" panose="020B0609020101020101" pitchFamily="49" charset="-127"/>
                <a:ea typeface="D2Coding" panose="020B0609020101020101" pitchFamily="49" charset="-127"/>
              </a:rPr>
              <a:t>4</a:t>
            </a:r>
            <a:r>
              <a:rPr lang="ko-KR" altLang="en-US" sz="1300" dirty="0">
                <a:latin typeface="D2Coding" panose="020B0609020101020101" pitchFamily="49" charset="-127"/>
                <a:ea typeface="D2Coding" panose="020B0609020101020101" pitchFamily="49" charset="-127"/>
              </a:rPr>
              <a:t>차원 실수 </a:t>
            </a:r>
            <a:r>
              <a:rPr lang="ko-KR" altLang="en-US" sz="1300" dirty="0" err="1">
                <a:latin typeface="D2Coding" panose="020B0609020101020101" pitchFamily="49" charset="-127"/>
                <a:ea typeface="D2Coding" panose="020B0609020101020101" pitchFamily="49" charset="-127"/>
              </a:rPr>
              <a:t>벡터값</a:t>
            </a:r>
            <a:r>
              <a:rPr lang="ko-KR" altLang="en-US" sz="1300" dirty="0">
                <a:latin typeface="D2Coding" panose="020B0609020101020101" pitchFamily="49" charset="-127"/>
                <a:ea typeface="D2Coding" panose="020B0609020101020101" pitchFamily="49" charset="-127"/>
              </a:rPr>
              <a:t> 대입</a:t>
            </a:r>
          </a:p>
          <a:p>
            <a:r>
              <a:rPr lang="en-US" altLang="ko-KR" sz="1300" dirty="0">
                <a:latin typeface="D2Coding" panose="020B0609020101020101" pitchFamily="49" charset="-127"/>
                <a:ea typeface="D2Coding" panose="020B0609020101020101" pitchFamily="49" charset="-127"/>
              </a:rPr>
              <a:t>print("=== </a:t>
            </a:r>
            <a:r>
              <a:rPr lang="en-US" altLang="ko-KR" sz="1300" dirty="0" err="1">
                <a:latin typeface="D2Coding" panose="020B0609020101020101" pitchFamily="49" charset="-127"/>
                <a:ea typeface="D2Coding" panose="020B0609020101020101" pitchFamily="49" charset="-127"/>
              </a:rPr>
              <a:t>Gensim</a:t>
            </a:r>
            <a:r>
              <a:rPr lang="ko-KR" altLang="en-US" sz="1300" dirty="0">
                <a:latin typeface="D2Coding" panose="020B0609020101020101" pitchFamily="49" charset="-127"/>
                <a:ea typeface="D2Coding" panose="020B0609020101020101" pitchFamily="49" charset="-127"/>
              </a:rPr>
              <a:t>으로 생성된 실제 텍스트 입력 데이터 </a:t>
            </a:r>
            <a:r>
              <a:rPr lang="en-US" altLang="ko-KR" sz="1300" dirty="0">
                <a:latin typeface="D2Coding" panose="020B0609020101020101" pitchFamily="49" charset="-127"/>
                <a:ea typeface="D2Coding" panose="020B0609020101020101" pitchFamily="49" charset="-127"/>
              </a:rPr>
              <a:t>(</a:t>
            </a:r>
            <a:r>
              <a:rPr lang="ko-KR" altLang="en-US" sz="1300" dirty="0">
                <a:latin typeface="D2Coding" panose="020B0609020101020101" pitchFamily="49" charset="-127"/>
                <a:ea typeface="D2Coding" panose="020B0609020101020101" pitchFamily="49" charset="-127"/>
              </a:rPr>
              <a:t>크기</a:t>
            </a:r>
            <a:r>
              <a:rPr lang="en-US" altLang="ko-KR" sz="1300" dirty="0">
                <a:latin typeface="D2Coding" panose="020B0609020101020101" pitchFamily="49" charset="-127"/>
                <a:ea typeface="D2Coding" panose="020B0609020101020101" pitchFamily="49" charset="-127"/>
              </a:rPr>
              <a:t>: 4x4) ===")</a:t>
            </a:r>
          </a:p>
          <a:p>
            <a:r>
              <a:rPr lang="en-US" altLang="ko-KR" sz="1300" dirty="0">
                <a:latin typeface="D2Coding" panose="020B0609020101020101" pitchFamily="49" charset="-127"/>
                <a:ea typeface="D2Coding" panose="020B0609020101020101" pitchFamily="49" charset="-127"/>
              </a:rPr>
              <a:t>print(inputs)</a:t>
            </a:r>
          </a:p>
        </p:txBody>
      </p:sp>
      <p:pic>
        <p:nvPicPr>
          <p:cNvPr id="8194" name="Picture 2" descr="Darth Vader I Am Your Father Star Wars Movie Film Sci-fi Quote Picture  Poster | eBay">
            <a:extLst>
              <a:ext uri="{FF2B5EF4-FFF2-40B4-BE49-F238E27FC236}">
                <a16:creationId xmlns:a16="http://schemas.microsoft.com/office/drawing/2014/main" id="{FE1CFB7F-8D0D-C3A5-AE3C-E294A70BA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909" y="1390662"/>
            <a:ext cx="2372995" cy="17323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4AD21CB7-915B-B450-618A-FB2D83F87379}"/>
              </a:ext>
            </a:extLst>
          </p:cNvPr>
          <p:cNvSpPr txBox="1"/>
          <p:nvPr/>
        </p:nvSpPr>
        <p:spPr>
          <a:xfrm>
            <a:off x="6544861" y="3783497"/>
            <a:ext cx="5388393" cy="769441"/>
          </a:xfrm>
          <a:prstGeom prst="rect">
            <a:avLst/>
          </a:prstGeom>
          <a:solidFill>
            <a:schemeClr val="bg1">
              <a:lumMod val="95000"/>
            </a:schemeClr>
          </a:solidFill>
        </p:spPr>
        <p:txBody>
          <a:bodyPr wrap="square">
            <a:spAutoFit/>
          </a:bodyPr>
          <a:lstStyle/>
          <a:p>
            <a:r>
              <a:rPr lang="en-US" altLang="ko-KR" sz="1100" dirty="0">
                <a:latin typeface="D2Coding" panose="020B0609020101020101" pitchFamily="49" charset="-127"/>
                <a:ea typeface="D2Coding" panose="020B0609020101020101" pitchFamily="49" charset="-127"/>
              </a:rPr>
              <a:t>Time</a:t>
            </a:r>
            <a:r>
              <a:rPr lang="ko-KR" altLang="en-US" sz="1100" dirty="0">
                <a:latin typeface="D2Coding" panose="020B0609020101020101" pitchFamily="49" charset="-127"/>
                <a:ea typeface="D2Coding" panose="020B0609020101020101" pitchFamily="49" charset="-127"/>
              </a:rPr>
              <a:t> </a:t>
            </a:r>
            <a:r>
              <a:rPr lang="en-US" altLang="ko-KR" sz="1100" dirty="0">
                <a:latin typeface="D2Coding" panose="020B0609020101020101" pitchFamily="49" charset="-127"/>
                <a:ea typeface="D2Coding" panose="020B0609020101020101" pitchFamily="49" charset="-127"/>
              </a:rPr>
              <a:t>Steps : </a:t>
            </a: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텍스트에서는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문장 속 단어의 순서</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몇 번째 단어인가</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시계열 데이터</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예</a:t>
            </a:r>
            <a:r>
              <a:rPr lang="en-US" altLang="ko-KR" sz="1100" dirty="0">
                <a:latin typeface="D2Coding" panose="020B0609020101020101" pitchFamily="49" charset="-127"/>
                <a:ea typeface="D2Coding" panose="020B0609020101020101" pitchFamily="49" charset="-127"/>
              </a:rPr>
              <a:t>: </a:t>
            </a:r>
            <a:r>
              <a:rPr lang="ko-KR" altLang="en-US" sz="1100" dirty="0">
                <a:latin typeface="D2Coding" panose="020B0609020101020101" pitchFamily="49" charset="-127"/>
                <a:ea typeface="D2Coding" panose="020B0609020101020101" pitchFamily="49" charset="-127"/>
              </a:rPr>
              <a:t>주가</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날짜의 순서</a:t>
            </a:r>
            <a:r>
              <a:rPr lang="en-US" altLang="ko-KR" sz="1100" dirty="0">
                <a:latin typeface="D2Coding" panose="020B0609020101020101" pitchFamily="49" charset="-127"/>
                <a:ea typeface="D2Coding" panose="020B0609020101020101" pitchFamily="49" charset="-127"/>
              </a:rPr>
              <a:t>(1</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 2</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 3</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음성에서는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오디오 신호의 시간 순서</a:t>
            </a:r>
            <a:r>
              <a:rPr lang="en-US" altLang="ko-KR" sz="1100" dirty="0">
                <a:latin typeface="D2Coding" panose="020B0609020101020101" pitchFamily="49" charset="-127"/>
                <a:ea typeface="D2Coding" panose="020B0609020101020101" pitchFamily="49" charset="-127"/>
              </a:rPr>
              <a:t>(0.1</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 0.2</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 0.3</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p:txBody>
      </p:sp>
      <p:sp>
        <p:nvSpPr>
          <p:cNvPr id="2" name="슬라이드 번호 개체 틀 3">
            <a:extLst>
              <a:ext uri="{FF2B5EF4-FFF2-40B4-BE49-F238E27FC236}">
                <a16:creationId xmlns:a16="http://schemas.microsoft.com/office/drawing/2014/main" id="{6A88B92E-83F7-9A54-353A-697A8F7548D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53</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5" name="그래픽 4" descr="수영">
            <a:extLst>
              <a:ext uri="{FF2B5EF4-FFF2-40B4-BE49-F238E27FC236}">
                <a16:creationId xmlns:a16="http://schemas.microsoft.com/office/drawing/2014/main" id="{642985BD-5F70-215C-8037-9C4AFD8CCC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37520" y="334022"/>
            <a:ext cx="914400" cy="914400"/>
          </a:xfrm>
          <a:prstGeom prst="rect">
            <a:avLst/>
          </a:prstGeom>
        </p:spPr>
      </p:pic>
    </p:spTree>
    <p:extLst>
      <p:ext uri="{BB962C8B-B14F-4D97-AF65-F5344CB8AC3E}">
        <p14:creationId xmlns:p14="http://schemas.microsoft.com/office/powerpoint/2010/main" val="21710703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98FCE-16F3-1B06-99F9-9A89C0B2D62C}"/>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C57348E4-A75C-029E-3AD7-788C3AB66C6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0DB3F97E-CEEE-2607-2D10-85B183B8CB2E}"/>
              </a:ext>
            </a:extLst>
          </p:cNvPr>
          <p:cNvSpPr txBox="1"/>
          <p:nvPr/>
        </p:nvSpPr>
        <p:spPr>
          <a:xfrm>
            <a:off x="579120" y="1248422"/>
            <a:ext cx="10535920" cy="5262979"/>
          </a:xfrm>
          <a:prstGeom prst="rect">
            <a:avLst/>
          </a:prstGeom>
          <a:solidFill>
            <a:srgbClr val="76E3FF"/>
          </a:solidFill>
        </p:spPr>
        <p:txBody>
          <a:bodyPr wrap="square" rtlCol="0">
            <a:spAutoFit/>
          </a:bodyPr>
          <a:lstStyle/>
          <a:p>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 4)</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입력에 대한 가중치</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 2)</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은닉 상태에 대한 가중치</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b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1D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 값은 편향</a:t>
            </a:r>
            <a:r>
              <a:rPr lang="en-US" altLang="ko-KR" sz="1400" dirty="0">
                <a:latin typeface="D2Coding" panose="020B0609020101020101" pitchFamily="49" charset="-127"/>
                <a:ea typeface="D2Coding" panose="020B0609020101020101" pitchFamily="49" charset="-127"/>
              </a:rPr>
              <a:t>(bias)</a:t>
            </a: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(b))</a:t>
            </a:r>
          </a:p>
          <a:p>
            <a:endParaRPr lang="en-US" altLang="ko-KR"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p>
          <a:p>
            <a:r>
              <a:rPr lang="en-US" altLang="ko-KR" sz="1400" dirty="0">
                <a:latin typeface="D2Coding" panose="020B0609020101020101" pitchFamily="49" charset="-127"/>
                <a:ea typeface="D2Coding" panose="020B0609020101020101" pitchFamily="49" charset="-127"/>
              </a:rPr>
              <a:t># Initialize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before the loop</a:t>
            </a:r>
          </a:p>
          <a:p>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np.zeros</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 # Using </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 from the kernel state</a:t>
            </a:r>
          </a:p>
          <a:p>
            <a:r>
              <a:rPr lang="en-US" altLang="ko-KR" sz="1400" dirty="0">
                <a:latin typeface="D2Coding" panose="020B0609020101020101" pitchFamily="49" charset="-127"/>
                <a:ea typeface="D2Coding" panose="020B0609020101020101" pitchFamily="49" charset="-127"/>
              </a:rPr>
              <a:t>print("=== </a:t>
            </a:r>
            <a:r>
              <a:rPr lang="ko-KR" altLang="en-US" sz="1400" dirty="0">
                <a:latin typeface="D2Coding" panose="020B0609020101020101" pitchFamily="49" charset="-127"/>
                <a:ea typeface="D2Coding" panose="020B0609020101020101" pitchFamily="49" charset="-127"/>
              </a:rPr>
              <a:t>초기 은닉 상태 </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a:t>
            </a: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메모리 셀 동작</a:t>
            </a:r>
          </a:p>
          <a:p>
            <a:r>
              <a:rPr lang="en-US" altLang="ko-KR" sz="1400" dirty="0">
                <a:latin typeface="D2Coding" panose="020B0609020101020101" pitchFamily="49" charset="-127"/>
                <a:ea typeface="D2Coding" panose="020B0609020101020101" pitchFamily="49" charset="-127"/>
              </a:rPr>
              <a:t>for </a:t>
            </a:r>
            <a:r>
              <a:rPr lang="en-US" altLang="ko-KR" sz="1400" dirty="0" err="1">
                <a:latin typeface="D2Coding" panose="020B0609020101020101" pitchFamily="49" charset="-127"/>
                <a:ea typeface="D2Coding" panose="020B0609020101020101" pitchFamily="49" charset="-127"/>
              </a:rPr>
              <a:t>input_t</a:t>
            </a:r>
            <a:r>
              <a:rPr lang="en-US" altLang="ko-KR" sz="1400" dirty="0">
                <a:latin typeface="D2Coding" panose="020B0609020101020101" pitchFamily="49" charset="-127"/>
                <a:ea typeface="D2Coding" panose="020B0609020101020101" pitchFamily="49" charset="-127"/>
              </a:rPr>
              <a:t> in inputs: # </a:t>
            </a:r>
            <a:r>
              <a:rPr lang="ko-KR" altLang="en-US" sz="1400" dirty="0">
                <a:latin typeface="D2Coding" panose="020B0609020101020101" pitchFamily="49" charset="-127"/>
                <a:ea typeface="D2Coding" panose="020B0609020101020101" pitchFamily="49" charset="-127"/>
              </a:rPr>
              <a:t>각 시점에 따라서 </a:t>
            </a:r>
            <a:r>
              <a:rPr lang="ko-KR" altLang="en-US" sz="1400" dirty="0" err="1">
                <a:latin typeface="D2Coding" panose="020B0609020101020101" pitchFamily="49" charset="-127"/>
                <a:ea typeface="D2Coding" panose="020B0609020101020101" pitchFamily="49" charset="-127"/>
              </a:rPr>
              <a:t>입력값이</a:t>
            </a:r>
            <a:r>
              <a:rPr lang="ko-KR" altLang="en-US" sz="1400" dirty="0">
                <a:latin typeface="D2Coding" panose="020B0609020101020101" pitchFamily="49" charset="-127"/>
                <a:ea typeface="D2Coding" panose="020B0609020101020101" pitchFamily="49" charset="-127"/>
              </a:rPr>
              <a:t> 입력됨</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output_t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np.tanh</a:t>
            </a:r>
            <a:r>
              <a:rPr lang="en-US" altLang="ko-KR" sz="1400" dirty="0">
                <a:latin typeface="D2Coding" panose="020B0609020101020101" pitchFamily="49" charset="-127"/>
                <a:ea typeface="D2Coding" panose="020B0609020101020101" pitchFamily="49" charset="-127"/>
              </a:rPr>
              <a:t>(np.dot(</a:t>
            </a:r>
            <a:r>
              <a:rPr lang="en-US" altLang="ko-KR" sz="1400" dirty="0" err="1">
                <a:latin typeface="D2Coding" panose="020B0609020101020101" pitchFamily="49" charset="-127"/>
                <a:ea typeface="D2Coding" panose="020B0609020101020101" pitchFamily="49" charset="-127"/>
              </a:rPr>
              <a:t>Wx,input_t</a:t>
            </a:r>
            <a:r>
              <a:rPr lang="en-US" altLang="ko-KR" sz="1400" dirty="0">
                <a:latin typeface="D2Coding" panose="020B0609020101020101" pitchFamily="49" charset="-127"/>
                <a:ea typeface="D2Coding" panose="020B0609020101020101" pitchFamily="49" charset="-127"/>
              </a:rPr>
              <a:t>) + np.dot(</a:t>
            </a:r>
            <a:r>
              <a:rPr lang="en-US" altLang="ko-KR" sz="1400" dirty="0" err="1">
                <a:latin typeface="D2Coding" panose="020B0609020101020101" pitchFamily="49" charset="-127"/>
                <a:ea typeface="D2Coding" panose="020B0609020101020101" pitchFamily="49" charset="-127"/>
              </a:rPr>
              <a:t>Wh,hidden_state_t</a:t>
            </a:r>
            <a:r>
              <a:rPr lang="en-US" altLang="ko-KR" sz="1400" dirty="0">
                <a:latin typeface="D2Coding" panose="020B0609020101020101" pitchFamily="49" charset="-127"/>
                <a:ea typeface="D2Coding" panose="020B0609020101020101" pitchFamily="49" charset="-127"/>
              </a:rPr>
              <a:t>) + b) # </a:t>
            </a:r>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Xt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 Ht-1 + b(bias)</a:t>
            </a:r>
          </a:p>
          <a:p>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total_hidden_states.append</a:t>
            </a:r>
            <a:r>
              <a:rPr lang="en-US" altLang="ko-KR" sz="1400" dirty="0">
                <a:latin typeface="D2Coding" panose="020B0609020101020101" pitchFamily="49" charset="-127"/>
                <a:ea typeface="D2Coding" panose="020B0609020101020101" pitchFamily="49" charset="-127"/>
              </a:rPr>
              <a:t>(list(</a:t>
            </a:r>
            <a:r>
              <a:rPr lang="en-US" altLang="ko-KR" sz="1400" dirty="0" err="1">
                <a:latin typeface="D2Coding" panose="020B0609020101020101" pitchFamily="49" charset="-127"/>
                <a:ea typeface="D2Coding" panose="020B0609020101020101" pitchFamily="49" charset="-127"/>
              </a:rPr>
              <a:t>output_t</a:t>
            </a:r>
            <a:r>
              <a:rPr lang="en-US" altLang="ko-KR" sz="1400" dirty="0">
                <a:latin typeface="D2Coding" panose="020B0609020101020101" pitchFamily="49" charset="-127"/>
                <a:ea typeface="D2Coding" panose="020B0609020101020101" pitchFamily="49" charset="-127"/>
              </a:rPr>
              <a:t>)) # </a:t>
            </a:r>
            <a:r>
              <a:rPr lang="ko-KR" altLang="en-US" sz="1400" dirty="0">
                <a:latin typeface="D2Coding" panose="020B0609020101020101" pitchFamily="49" charset="-127"/>
                <a:ea typeface="D2Coding" panose="020B0609020101020101" pitchFamily="49" charset="-127"/>
              </a:rPr>
              <a:t>각 시점의 은닉 상태의 값을 계속해서 축적</a:t>
            </a: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r>
              <a:rPr lang="ko-KR" altLang="en-US" sz="1400" dirty="0">
                <a:latin typeface="D2Coding" panose="020B0609020101020101" pitchFamily="49" charset="-127"/>
                <a:ea typeface="D2Coding" panose="020B0609020101020101" pitchFamily="49" charset="-127"/>
              </a:rPr>
              <a:t>각 시점 </a:t>
            </a:r>
            <a:r>
              <a:rPr lang="en-US" altLang="ko-KR" sz="1400" dirty="0">
                <a:latin typeface="D2Coding" panose="020B0609020101020101" pitchFamily="49" charset="-127"/>
                <a:ea typeface="D2Coding" panose="020B0609020101020101" pitchFamily="49" charset="-127"/>
              </a:rPr>
              <a:t>t</a:t>
            </a:r>
            <a:r>
              <a:rPr lang="ko-KR" altLang="en-US" sz="1400" dirty="0">
                <a:latin typeface="D2Coding" panose="020B0609020101020101" pitchFamily="49" charset="-127"/>
                <a:ea typeface="D2Coding" panose="020B0609020101020101" pitchFamily="49" charset="-127"/>
              </a:rPr>
              <a:t>별 메모리 셀의 출력의 크기는 </a:t>
            </a:r>
            <a:r>
              <a:rPr lang="en-US" altLang="ko-KR" sz="1400" dirty="0">
                <a:latin typeface="D2Coding" panose="020B0609020101020101" pitchFamily="49" charset="-127"/>
                <a:ea typeface="D2Coding" panose="020B0609020101020101" pitchFamily="49" charset="-127"/>
              </a:rPr>
              <a:t>(timestep, </a:t>
            </a:r>
            <a:r>
              <a:rPr lang="en-US" altLang="ko-KR" sz="1400" dirty="0" err="1">
                <a:latin typeface="D2Coding" panose="020B0609020101020101" pitchFamily="49" charset="-127"/>
                <a:ea typeface="D2Coding" panose="020B0609020101020101" pitchFamily="49" charset="-127"/>
              </a:rPr>
              <a:t>output_dim</a:t>
            </a:r>
            <a:r>
              <a:rPr lang="en-US" altLang="ko-KR" sz="1400" dirty="0">
                <a:latin typeface="D2Coding" panose="020B0609020101020101" pitchFamily="49" charset="-127"/>
                <a:ea typeface="D2Coding" panose="020B0609020101020101" pitchFamily="49" charset="-127"/>
              </a:rPr>
              <a:t>)</a:t>
            </a:r>
          </a:p>
          <a:p>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output_t</a:t>
            </a:r>
            <a:br>
              <a:rPr lang="en-US" altLang="ko-KR" sz="1400" dirty="0">
                <a:latin typeface="D2Coding" panose="020B0609020101020101" pitchFamily="49" charset="-127"/>
                <a:ea typeface="D2Coding" panose="020B0609020101020101" pitchFamily="49" charset="-127"/>
              </a:rPr>
            </a:br>
            <a:endParaRPr lang="en-US" altLang="ko-KR"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np.stack</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axis = 0)</a:t>
            </a: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출력 시 값을 깔끔하게 해준다</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(timesteps, </a:t>
            </a:r>
            <a:r>
              <a:rPr lang="en-US" altLang="ko-KR" sz="1400" dirty="0" err="1">
                <a:latin typeface="D2Coding" panose="020B0609020101020101" pitchFamily="49" charset="-127"/>
                <a:ea typeface="D2Coding" panose="020B0609020101020101" pitchFamily="49" charset="-127"/>
              </a:rPr>
              <a:t>output_dim</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의 크기</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 경우 </a:t>
            </a:r>
            <a:r>
              <a:rPr lang="en-US" altLang="ko-KR" sz="1400" dirty="0">
                <a:latin typeface="D2Coding" panose="020B0609020101020101" pitchFamily="49" charset="-127"/>
                <a:ea typeface="D2Coding" panose="020B0609020101020101" pitchFamily="49" charset="-127"/>
              </a:rPr>
              <a:t>(4, 2)</a:t>
            </a:r>
            <a:r>
              <a:rPr lang="ko-KR" altLang="en-US" sz="1400" dirty="0">
                <a:latin typeface="D2Coding" panose="020B0609020101020101" pitchFamily="49" charset="-127"/>
                <a:ea typeface="D2Coding" panose="020B0609020101020101" pitchFamily="49" charset="-127"/>
              </a:rPr>
              <a:t>의 크기를 가지는 메모리 셀의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텐서를</a:t>
            </a:r>
            <a:r>
              <a:rPr lang="ko-KR" altLang="en-US" sz="1400" dirty="0">
                <a:latin typeface="D2Coding" panose="020B0609020101020101" pitchFamily="49" charset="-127"/>
                <a:ea typeface="D2Coding" panose="020B0609020101020101" pitchFamily="49" charset="-127"/>
              </a:rPr>
              <a:t> 출력</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print("RNN simulation complete. Final hidden state:",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a:t>
            </a:r>
          </a:p>
        </p:txBody>
      </p:sp>
      <p:sp>
        <p:nvSpPr>
          <p:cNvPr id="2" name="직사각형 1">
            <a:extLst>
              <a:ext uri="{FF2B5EF4-FFF2-40B4-BE49-F238E27FC236}">
                <a16:creationId xmlns:a16="http://schemas.microsoft.com/office/drawing/2014/main" id="{BE8CDF4E-654F-A844-2AF1-E5B70D04542B}"/>
              </a:ext>
            </a:extLst>
          </p:cNvPr>
          <p:cNvSpPr/>
          <p:nvPr/>
        </p:nvSpPr>
        <p:spPr>
          <a:xfrm>
            <a:off x="284480" y="3718560"/>
            <a:ext cx="11328400" cy="151384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Picture 4">
            <a:extLst>
              <a:ext uri="{FF2B5EF4-FFF2-40B4-BE49-F238E27FC236}">
                <a16:creationId xmlns:a16="http://schemas.microsoft.com/office/drawing/2014/main" id="{8883AB11-A815-2C12-3845-46A11E1F590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0310566" y="2923483"/>
            <a:ext cx="1444554" cy="2308917"/>
          </a:xfrm>
          <a:prstGeom prst="rect">
            <a:avLst/>
          </a:prstGeom>
          <a:noFill/>
          <a:extLst>
            <a:ext uri="{909E8E84-426E-40DD-AFC4-6F175D3DCCD1}">
              <a14:hiddenFill xmlns:a14="http://schemas.microsoft.com/office/drawing/2010/main">
                <a:solidFill>
                  <a:srgbClr val="FFFFFF"/>
                </a:solidFill>
              </a14:hiddenFill>
            </a:ext>
          </a:extLst>
        </p:spPr>
      </p:pic>
      <p:sp>
        <p:nvSpPr>
          <p:cNvPr id="5" name="슬라이드 번호 개체 틀 3">
            <a:extLst>
              <a:ext uri="{FF2B5EF4-FFF2-40B4-BE49-F238E27FC236}">
                <a16:creationId xmlns:a16="http://schemas.microsoft.com/office/drawing/2014/main" id="{269B3348-7AAF-B235-1FAF-6E406B808793}"/>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54</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7" name="그래픽 6" descr="수영">
            <a:extLst>
              <a:ext uri="{FF2B5EF4-FFF2-40B4-BE49-F238E27FC236}">
                <a16:creationId xmlns:a16="http://schemas.microsoft.com/office/drawing/2014/main" id="{72266FE5-2CA7-CFE0-5D8E-C4C2F28802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7520" y="334022"/>
            <a:ext cx="914400" cy="914400"/>
          </a:xfrm>
          <a:prstGeom prst="rect">
            <a:avLst/>
          </a:prstGeom>
        </p:spPr>
      </p:pic>
    </p:spTree>
    <p:extLst>
      <p:ext uri="{BB962C8B-B14F-4D97-AF65-F5344CB8AC3E}">
        <p14:creationId xmlns:p14="http://schemas.microsoft.com/office/powerpoint/2010/main" val="352803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DF0C-9D28-FBA6-B389-9581E318CD3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23994DA0-ABA7-DE40-943F-5309918818A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Keras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p>
        </p:txBody>
      </p:sp>
      <p:sp>
        <p:nvSpPr>
          <p:cNvPr id="7" name="TextBox 6">
            <a:extLst>
              <a:ext uri="{FF2B5EF4-FFF2-40B4-BE49-F238E27FC236}">
                <a16:creationId xmlns:a16="http://schemas.microsoft.com/office/drawing/2014/main" id="{114EED7C-82F6-9051-5C0F-E33482CF1B1B}"/>
              </a:ext>
            </a:extLst>
          </p:cNvPr>
          <p:cNvSpPr txBox="1"/>
          <p:nvPr/>
        </p:nvSpPr>
        <p:spPr>
          <a:xfrm>
            <a:off x="660400" y="1335673"/>
            <a:ext cx="11125200" cy="4616648"/>
          </a:xfrm>
          <a:prstGeom prst="rect">
            <a:avLst/>
          </a:prstGeom>
          <a:solidFill>
            <a:schemeClr val="accent4">
              <a:lumMod val="40000"/>
              <a:lumOff val="60000"/>
            </a:schemeClr>
          </a:solidFill>
        </p:spPr>
        <p:txBody>
          <a:bodyPr wrap="square">
            <a:spAutoFit/>
          </a:bodyPr>
          <a:lstStyle/>
          <a:p>
            <a:r>
              <a:rPr lang="en-US" altLang="ko-KR" sz="1400" dirty="0">
                <a:latin typeface="D2Coding" panose="020B0609020101020101" pitchFamily="49" charset="-127"/>
                <a:ea typeface="D2Coding" panose="020B0609020101020101" pitchFamily="49" charset="-127"/>
              </a:rPr>
              <a:t>import </a:t>
            </a:r>
            <a:r>
              <a:rPr lang="en-US" altLang="ko-KR" sz="1400" dirty="0" err="1">
                <a:latin typeface="D2Coding" panose="020B0609020101020101" pitchFamily="49" charset="-127"/>
                <a:ea typeface="D2Coding" panose="020B0609020101020101" pitchFamily="49" charset="-127"/>
              </a:rPr>
              <a:t>tensorflow</a:t>
            </a:r>
            <a:r>
              <a:rPr lang="en-US" altLang="ko-KR" sz="1400" dirty="0">
                <a:latin typeface="D2Coding" panose="020B0609020101020101" pitchFamily="49" charset="-127"/>
                <a:ea typeface="D2Coding" panose="020B0609020101020101" pitchFamily="49" charset="-127"/>
              </a:rPr>
              <a:t> as </a:t>
            </a:r>
            <a:r>
              <a:rPr lang="en-US" altLang="ko-KR" sz="1400" dirty="0" err="1">
                <a:latin typeface="D2Coding" panose="020B0609020101020101" pitchFamily="49" charset="-127"/>
                <a:ea typeface="D2Coding" panose="020B0609020101020101" pitchFamily="49" charset="-127"/>
              </a:rPr>
              <a:t>tfimport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tensorflow</a:t>
            </a:r>
            <a:r>
              <a:rPr lang="en-US" altLang="ko-KR" sz="1400" dirty="0">
                <a:latin typeface="D2Coding" panose="020B0609020101020101" pitchFamily="49" charset="-127"/>
                <a:ea typeface="D2Coding" panose="020B0609020101020101" pitchFamily="49" charset="-127"/>
              </a:rPr>
              <a:t> as</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tf</a:t>
            </a:r>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from</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tensorflow</a:t>
            </a:r>
            <a:r>
              <a:rPr lang="en-US" altLang="ko-KR" sz="1400" dirty="0">
                <a:latin typeface="D2Coding" panose="020B0609020101020101" pitchFamily="49" charset="-127"/>
                <a:ea typeface="D2Coding" panose="020B0609020101020101" pitchFamily="49" charset="-127"/>
              </a:rPr>
              <a:t> import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keras</a:t>
            </a:r>
            <a:endParaRPr lang="en-US" altLang="ko-KR" sz="1400" dirty="0">
              <a:latin typeface="D2Coding" panose="020B0609020101020101" pitchFamily="49" charset="-127"/>
              <a:ea typeface="D2Coding" panose="020B0609020101020101" pitchFamily="49" charset="-127"/>
            </a:endParaRP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 1. </a:t>
            </a:r>
            <a:r>
              <a:rPr lang="ko-KR" altLang="en-US" sz="1400" dirty="0">
                <a:latin typeface="D2Coding" panose="020B0609020101020101" pitchFamily="49" charset="-127"/>
                <a:ea typeface="D2Coding" panose="020B0609020101020101" pitchFamily="49" charset="-127"/>
              </a:rPr>
              <a:t>가상 데이터 생성 </a:t>
            </a:r>
            <a:r>
              <a:rPr lang="en-US" altLang="ko-KR" sz="1400" dirty="0">
                <a:latin typeface="D2Coding" panose="020B0609020101020101" pitchFamily="49" charset="-127"/>
                <a:ea typeface="D2Coding" panose="020B0609020101020101" pitchFamily="49" charset="-127"/>
              </a:rPr>
              <a:t>(Matrix) </a:t>
            </a:r>
            <a:r>
              <a:rPr lang="ko-KR" altLang="en-US" sz="1400" dirty="0">
                <a:latin typeface="D2Coding" panose="020B0609020101020101" pitchFamily="49" charset="-127"/>
                <a:ea typeface="D2Coding" panose="020B0609020101020101" pitchFamily="49" charset="-127"/>
              </a:rPr>
              <a:t>단어 </a:t>
            </a:r>
            <a:r>
              <a:rPr lang="en-US" altLang="ko-KR" sz="1400" dirty="0">
                <a:latin typeface="D2Coding" panose="020B0609020101020101" pitchFamily="49" charset="-127"/>
                <a:ea typeface="D2Coding" panose="020B0609020101020101" pitchFamily="49" charset="-127"/>
              </a:rPr>
              <a:t>1</a:t>
            </a:r>
            <a:r>
              <a:rPr lang="ko-KR" altLang="en-US" sz="1400" dirty="0">
                <a:latin typeface="D2Coding" panose="020B0609020101020101" pitchFamily="49" charset="-127"/>
                <a:ea typeface="D2Coding" panose="020B0609020101020101" pitchFamily="49" charset="-127"/>
              </a:rPr>
              <a:t>개씩 </a:t>
            </a:r>
            <a:r>
              <a:rPr lang="en-US" altLang="ko-KR" sz="1400" dirty="0">
                <a:latin typeface="D2Coding" panose="020B0609020101020101" pitchFamily="49" charset="-127"/>
                <a:ea typeface="D2Coding" panose="020B0609020101020101" pitchFamily="49" charset="-127"/>
              </a:rPr>
              <a:t>4</a:t>
            </a:r>
            <a:r>
              <a:rPr lang="ko-KR" altLang="en-US" sz="1400" dirty="0">
                <a:latin typeface="D2Coding" panose="020B0609020101020101" pitchFamily="49" charset="-127"/>
                <a:ea typeface="D2Coding" panose="020B0609020101020101" pitchFamily="49" charset="-127"/>
              </a:rPr>
              <a:t>번 </a:t>
            </a:r>
            <a:r>
              <a:rPr lang="en-US" altLang="ko-KR" sz="1400" dirty="0">
                <a:latin typeface="D2Coding" panose="020B0609020101020101" pitchFamily="49" charset="-127"/>
                <a:ea typeface="D2Coding" panose="020B0609020101020101" pitchFamily="49" charset="-127"/>
              </a:rPr>
              <a:t>(timesteps=4), </a:t>
            </a:r>
            <a:r>
              <a:rPr lang="ko-KR" altLang="en-US" sz="1400" dirty="0">
                <a:latin typeface="D2Coding" panose="020B0609020101020101" pitchFamily="49" charset="-127"/>
                <a:ea typeface="D2Coding" panose="020B0609020101020101" pitchFamily="49" charset="-127"/>
              </a:rPr>
              <a:t>각 단어는 </a:t>
            </a:r>
            <a:r>
              <a:rPr lang="en-US" altLang="ko-KR" sz="1400" dirty="0">
                <a:latin typeface="D2Coding" panose="020B0609020101020101" pitchFamily="49" charset="-127"/>
                <a:ea typeface="D2Coding" panose="020B0609020101020101" pitchFamily="49" charset="-127"/>
              </a:rPr>
              <a:t>4</a:t>
            </a:r>
            <a:r>
              <a:rPr lang="ko-KR" altLang="en-US" sz="1400" dirty="0">
                <a:latin typeface="D2Coding" panose="020B0609020101020101" pitchFamily="49" charset="-127"/>
                <a:ea typeface="D2Coding" panose="020B0609020101020101" pitchFamily="49" charset="-127"/>
              </a:rPr>
              <a:t>차원 벡터 </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=4)</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timesteps = 4; </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 = 4</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Keras</a:t>
            </a:r>
            <a:r>
              <a:rPr lang="en-US" altLang="ko-KR" sz="1400" dirty="0">
                <a:latin typeface="D2Coding" panose="020B0609020101020101" pitchFamily="49" charset="-127"/>
                <a:ea typeface="D2Coding" panose="020B0609020101020101" pitchFamily="49" charset="-127"/>
              </a:rPr>
              <a:t> RNN </a:t>
            </a:r>
            <a:r>
              <a:rPr lang="ko-KR" altLang="en-US" sz="1400" dirty="0">
                <a:latin typeface="D2Coding" panose="020B0609020101020101" pitchFamily="49" charset="-127"/>
                <a:ea typeface="D2Coding" panose="020B0609020101020101" pitchFamily="49" charset="-127"/>
              </a:rPr>
              <a:t>연산을 위해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배치 크기</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타임스텝</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특징 차원</a:t>
            </a:r>
            <a:r>
              <a:rPr lang="en-US" altLang="ko-KR" sz="1400" dirty="0">
                <a:latin typeface="D2Coding" panose="020B0609020101020101" pitchFamily="49" charset="-127"/>
                <a:ea typeface="D2Coding" panose="020B0609020101020101" pitchFamily="49" charset="-127"/>
              </a:rPr>
              <a:t>] -&gt; [1, 4, 4] </a:t>
            </a:r>
            <a:r>
              <a:rPr lang="ko-KR" altLang="en-US" sz="1400" dirty="0">
                <a:latin typeface="D2Coding" panose="020B0609020101020101" pitchFamily="49" charset="-127"/>
                <a:ea typeface="D2Coding" panose="020B0609020101020101" pitchFamily="49" charset="-127"/>
              </a:rPr>
              <a:t>형태로 입력 데이터 준비</a:t>
            </a: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실제 환경에서는 </a:t>
            </a:r>
            <a:r>
              <a:rPr lang="en-US" altLang="ko-KR" sz="1400" dirty="0" err="1">
                <a:latin typeface="D2Coding" panose="020B0609020101020101" pitchFamily="49" charset="-127"/>
                <a:ea typeface="D2Coding" panose="020B0609020101020101" pitchFamily="49" charset="-127"/>
              </a:rPr>
              <a:t>Gensim</a:t>
            </a:r>
            <a:r>
              <a:rPr lang="en-US" altLang="ko-KR" sz="1400" dirty="0">
                <a:latin typeface="D2Coding" panose="020B0609020101020101" pitchFamily="49" charset="-127"/>
                <a:ea typeface="D2Coding" panose="020B0609020101020101" pitchFamily="49" charset="-127"/>
              </a:rPr>
              <a:t> Word2Vec </a:t>
            </a:r>
            <a:r>
              <a:rPr lang="ko-KR" altLang="en-US" sz="1400" dirty="0">
                <a:latin typeface="D2Coding" panose="020B0609020101020101" pitchFamily="49" charset="-127"/>
                <a:ea typeface="D2Coding" panose="020B0609020101020101" pitchFamily="49" charset="-127"/>
              </a:rPr>
              <a:t>결과값이 들어가는 자리</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X_dummy</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np.random.rand</a:t>
            </a:r>
            <a:r>
              <a:rPr lang="en-US" altLang="ko-KR" sz="1400" dirty="0">
                <a:latin typeface="D2Coding" panose="020B0609020101020101" pitchFamily="49" charset="-127"/>
                <a:ea typeface="D2Coding" panose="020B0609020101020101" pitchFamily="49" charset="-127"/>
              </a:rPr>
              <a:t>(1,</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timesteps,</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astype</a:t>
            </a:r>
            <a:r>
              <a:rPr lang="en-US" altLang="ko-KR" sz="1400" dirty="0">
                <a:latin typeface="D2Coding" panose="020B0609020101020101" pitchFamily="49" charset="-127"/>
                <a:ea typeface="D2Coding" panose="020B0609020101020101" pitchFamily="49" charset="-127"/>
              </a:rPr>
              <a:t>(np.float32)</a:t>
            </a:r>
            <a:endParaRPr lang="ko-KR" altLang="en-US" sz="1400" dirty="0">
              <a:latin typeface="D2Coding" panose="020B0609020101020101" pitchFamily="49" charset="-127"/>
              <a:ea typeface="D2Coding" panose="020B0609020101020101" pitchFamily="49" charset="-127"/>
            </a:endParaRPr>
          </a:p>
          <a:p>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 2. </a:t>
            </a:r>
            <a:r>
              <a:rPr lang="ko-KR" altLang="en-US" sz="1400" dirty="0">
                <a:latin typeface="D2Coding" panose="020B0609020101020101" pitchFamily="49" charset="-127"/>
                <a:ea typeface="D2Coding" panose="020B0609020101020101" pitchFamily="49" charset="-127"/>
              </a:rPr>
              <a:t>그림 구조를 반영한 </a:t>
            </a:r>
            <a:r>
              <a:rPr lang="en-US" altLang="ko-KR" sz="1400" dirty="0" err="1">
                <a:latin typeface="D2Coding" panose="020B0609020101020101" pitchFamily="49" charset="-127"/>
                <a:ea typeface="D2Coding" panose="020B0609020101020101" pitchFamily="49" charset="-127"/>
              </a:rPr>
              <a:t>Keras</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모델 설계</a:t>
            </a:r>
          </a:p>
          <a:p>
            <a:r>
              <a:rPr lang="en-US" altLang="ko-KR" sz="1400" dirty="0">
                <a:latin typeface="D2Coding" panose="020B0609020101020101" pitchFamily="49" charset="-127"/>
                <a:ea typeface="D2Coding" panose="020B0609020101020101" pitchFamily="49" charset="-127"/>
              </a:rPr>
              <a:t>model = </a:t>
            </a:r>
            <a:r>
              <a:rPr lang="en-US" altLang="ko-KR" sz="1400" dirty="0" err="1">
                <a:latin typeface="D2Coding" panose="020B0609020101020101" pitchFamily="49" charset="-127"/>
                <a:ea typeface="D2Coding" panose="020B0609020101020101" pitchFamily="49" charset="-127"/>
              </a:rPr>
              <a:t>keras.models.Sequential</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keras.layers.SimpleRNN</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units=2,</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은닉층</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노드가 </a:t>
            </a:r>
            <a:r>
              <a:rPr lang="en-US" altLang="ko-KR" sz="1400" dirty="0">
                <a:latin typeface="D2Coding" panose="020B0609020101020101" pitchFamily="49" charset="-127"/>
                <a:ea typeface="D2Coding" panose="020B0609020101020101" pitchFamily="49" charset="-127"/>
              </a:rPr>
              <a:t>2</a:t>
            </a:r>
            <a:r>
              <a:rPr lang="ko-KR" altLang="en-US" sz="1400" dirty="0">
                <a:latin typeface="D2Coding" panose="020B0609020101020101" pitchFamily="49" charset="-127"/>
                <a:ea typeface="D2Coding" panose="020B0609020101020101" pitchFamily="49" charset="-127"/>
              </a:rPr>
              <a:t>개 은닉 상태 크기 </a:t>
            </a:r>
            <a:r>
              <a:rPr lang="en-US" altLang="ko-KR" sz="1400" dirty="0">
                <a:latin typeface="D2Coding" panose="020B0609020101020101" pitchFamily="49" charset="-127"/>
                <a:ea typeface="D2Coding" panose="020B0609020101020101" pitchFamily="49" charset="-127"/>
              </a:rPr>
              <a:t>2 (</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=2)</a:t>
            </a:r>
            <a:r>
              <a:rPr lang="ko-KR" altLang="en-US" sz="1400" dirty="0">
                <a:latin typeface="D2Coding" panose="020B0609020101020101" pitchFamily="49" charset="-127"/>
                <a:ea typeface="D2Coding" panose="020B0609020101020101" pitchFamily="49" charset="-127"/>
              </a:rPr>
              <a:t>인 </a:t>
            </a:r>
            <a:r>
              <a:rPr lang="en-US" altLang="ko-KR" sz="1400" dirty="0" err="1">
                <a:latin typeface="D2Coding" panose="020B0609020101020101" pitchFamily="49" charset="-127"/>
                <a:ea typeface="D2Coding" panose="020B0609020101020101" pitchFamily="49" charset="-127"/>
              </a:rPr>
              <a:t>SimpleRNN</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activation='tanh',</a:t>
            </a:r>
            <a:r>
              <a:rPr lang="ko-KR" altLang="en-US" sz="1400" dirty="0">
                <a:latin typeface="D2Coding" panose="020B0609020101020101" pitchFamily="49" charset="-127"/>
                <a:ea typeface="D2Coding" panose="020B0609020101020101" pitchFamily="49" charset="-127"/>
              </a:rPr>
              <a:t> </a:t>
            </a: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return_sequences</a:t>
            </a:r>
            <a:r>
              <a:rPr lang="en-US" altLang="ko-KR" sz="1400" dirty="0">
                <a:latin typeface="D2Coding" panose="020B0609020101020101" pitchFamily="49" charset="-127"/>
                <a:ea typeface="D2Coding" panose="020B0609020101020101" pitchFamily="49" charset="-127"/>
              </a:rPr>
              <a:t>=True,</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time step</a:t>
            </a:r>
            <a:r>
              <a:rPr lang="ko-KR" altLang="en-US" sz="1400" dirty="0">
                <a:latin typeface="D2Coding" panose="020B0609020101020101" pitchFamily="49" charset="-127"/>
                <a:ea typeface="D2Coding" panose="020B0609020101020101" pitchFamily="49" charset="-127"/>
              </a:rPr>
              <a:t>마다 출력이 위로 </a:t>
            </a:r>
            <a:r>
              <a:rPr lang="ko-KR" altLang="en-US" sz="1400" dirty="0" err="1">
                <a:latin typeface="D2Coding" panose="020B0609020101020101" pitchFamily="49" charset="-127"/>
                <a:ea typeface="D2Coding" panose="020B0609020101020101" pitchFamily="49" charset="-127"/>
              </a:rPr>
              <a:t>뻗어나가므로</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return_sequences</a:t>
            </a:r>
            <a:r>
              <a:rPr lang="en-US" altLang="ko-KR" sz="1400" dirty="0">
                <a:latin typeface="D2Coding" panose="020B0609020101020101" pitchFamily="49" charset="-127"/>
                <a:ea typeface="D2Coding" panose="020B0609020101020101" pitchFamily="49" charset="-127"/>
              </a:rPr>
              <a:t>=True </a:t>
            </a:r>
            <a:r>
              <a:rPr lang="ko-KR" altLang="en-US" sz="1400" dirty="0">
                <a:latin typeface="D2Coding" panose="020B0609020101020101" pitchFamily="49" charset="-127"/>
                <a:ea typeface="D2Coding" panose="020B0609020101020101" pitchFamily="49" charset="-127"/>
              </a:rPr>
              <a:t>설정</a:t>
            </a: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input_shape</a:t>
            </a:r>
            <a:r>
              <a:rPr lang="en-US" altLang="ko-KR" sz="1400" dirty="0">
                <a:latin typeface="D2Coding" panose="020B0609020101020101" pitchFamily="49" charset="-127"/>
                <a:ea typeface="D2Coding" panose="020B0609020101020101" pitchFamily="49" charset="-127"/>
              </a:rPr>
              <a:t>=[timesteps,</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 name="</a:t>
            </a:r>
            <a:r>
              <a:rPr lang="en-US" altLang="ko-KR" sz="1400" dirty="0" err="1">
                <a:latin typeface="D2Coding" panose="020B0609020101020101" pitchFamily="49" charset="-127"/>
                <a:ea typeface="D2Coding" panose="020B0609020101020101" pitchFamily="49" charset="-127"/>
              </a:rPr>
              <a:t>Hidden_Layer</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keras.layers.Dense</a:t>
            </a:r>
            <a:r>
              <a:rPr lang="en-US" altLang="ko-KR" sz="1400" dirty="0">
                <a:latin typeface="D2Coding" panose="020B0609020101020101" pitchFamily="49" charset="-127"/>
                <a:ea typeface="D2Coding" panose="020B0609020101020101" pitchFamily="49" charset="-127"/>
              </a:rPr>
              <a:t>( </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units=2,</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name="</a:t>
            </a:r>
            <a:r>
              <a:rPr lang="en-US" altLang="ko-KR" sz="1400" dirty="0" err="1">
                <a:latin typeface="D2Coding" panose="020B0609020101020101" pitchFamily="49" charset="-127"/>
                <a:ea typeface="D2Coding" panose="020B0609020101020101" pitchFamily="49" charset="-127"/>
              </a:rPr>
              <a:t>Output_Layer</a:t>
            </a:r>
            <a:r>
              <a:rPr lang="en-US" altLang="ko-KR" sz="1400" dirty="0">
                <a:latin typeface="D2Coding" panose="020B0609020101020101" pitchFamily="49" charset="-127"/>
                <a:ea typeface="D2Coding" panose="020B0609020101020101" pitchFamily="49" charset="-127"/>
              </a:rPr>
              <a:t>“ # [</a:t>
            </a:r>
            <a:r>
              <a:rPr lang="ko-KR" altLang="en-US" sz="1400" dirty="0" err="1">
                <a:latin typeface="D2Coding" panose="020B0609020101020101" pitchFamily="49" charset="-127"/>
                <a:ea typeface="D2Coding" panose="020B0609020101020101" pitchFamily="49" charset="-127"/>
              </a:rPr>
              <a:t>출력층</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각 타임스텝마다 </a:t>
            </a:r>
            <a:r>
              <a:rPr lang="en-US" altLang="ko-KR" sz="1400" dirty="0">
                <a:latin typeface="D2Coding" panose="020B0609020101020101" pitchFamily="49" charset="-127"/>
                <a:ea typeface="D2Coding" panose="020B0609020101020101" pitchFamily="49" charset="-127"/>
              </a:rPr>
              <a:t>2</a:t>
            </a:r>
            <a:r>
              <a:rPr lang="ko-KR" altLang="en-US" sz="1400" dirty="0">
                <a:latin typeface="D2Coding" panose="020B0609020101020101" pitchFamily="49" charset="-127"/>
                <a:ea typeface="D2Coding" panose="020B0609020101020101" pitchFamily="49" charset="-127"/>
              </a:rPr>
              <a:t>차원 </a:t>
            </a:r>
            <a:r>
              <a:rPr lang="ko-KR" altLang="en-US" sz="1400" dirty="0" err="1">
                <a:latin typeface="D2Coding" panose="020B0609020101020101" pitchFamily="49" charset="-127"/>
                <a:ea typeface="D2Coding" panose="020B0609020101020101" pitchFamily="49" charset="-127"/>
              </a:rPr>
              <a:t>출력층</a:t>
            </a:r>
            <a:r>
              <a:rPr lang="en-US" altLang="ko-KR" sz="1400" dirty="0">
                <a:latin typeface="D2Coding" panose="020B0609020101020101" pitchFamily="49" charset="-127"/>
                <a:ea typeface="D2Coding" panose="020B0609020101020101" pitchFamily="49" charset="-127"/>
              </a:rPr>
              <a:t>(units=2)</a:t>
            </a:r>
            <a:r>
              <a:rPr lang="ko-KR" altLang="en-US" sz="1400" dirty="0">
                <a:latin typeface="D2Coding" panose="020B0609020101020101" pitchFamily="49" charset="-127"/>
                <a:ea typeface="D2Coding" panose="020B0609020101020101" pitchFamily="49" charset="-127"/>
              </a:rPr>
              <a:t> 담당하는 전결합층</a:t>
            </a: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p:txBody>
      </p:sp>
      <p:sp>
        <p:nvSpPr>
          <p:cNvPr id="2" name="슬라이드 번호 개체 틀 3">
            <a:extLst>
              <a:ext uri="{FF2B5EF4-FFF2-40B4-BE49-F238E27FC236}">
                <a16:creationId xmlns:a16="http://schemas.microsoft.com/office/drawing/2014/main" id="{85616351-2D1E-7FFF-D2A0-3CFBD51C2DAB}"/>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5" name="그래픽 4" descr="수영">
            <a:extLst>
              <a:ext uri="{FF2B5EF4-FFF2-40B4-BE49-F238E27FC236}">
                <a16:creationId xmlns:a16="http://schemas.microsoft.com/office/drawing/2014/main" id="{A217002A-185A-0F90-66B3-64579040CF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spTree>
    <p:extLst>
      <p:ext uri="{BB962C8B-B14F-4D97-AF65-F5344CB8AC3E}">
        <p14:creationId xmlns:p14="http://schemas.microsoft.com/office/powerpoint/2010/main" val="3153850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21CE-0017-41D5-C5F3-274959DE1E64}"/>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DBE5540E-B1ED-E758-C3DA-E232E4B8C4B3}"/>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Keras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p>
        </p:txBody>
      </p:sp>
      <p:sp>
        <p:nvSpPr>
          <p:cNvPr id="7" name="TextBox 6">
            <a:extLst>
              <a:ext uri="{FF2B5EF4-FFF2-40B4-BE49-F238E27FC236}">
                <a16:creationId xmlns:a16="http://schemas.microsoft.com/office/drawing/2014/main" id="{4943FCCB-624B-4533-299B-FEBC47CA44C1}"/>
              </a:ext>
            </a:extLst>
          </p:cNvPr>
          <p:cNvSpPr txBox="1"/>
          <p:nvPr/>
        </p:nvSpPr>
        <p:spPr>
          <a:xfrm>
            <a:off x="660400" y="1335673"/>
            <a:ext cx="11125200" cy="3108543"/>
          </a:xfrm>
          <a:prstGeom prst="rect">
            <a:avLst/>
          </a:prstGeom>
          <a:solidFill>
            <a:schemeClr val="accent4">
              <a:lumMod val="40000"/>
              <a:lumOff val="60000"/>
            </a:schemeClr>
          </a:solidFill>
        </p:spPr>
        <p:txBody>
          <a:bodyPr wrap="square">
            <a:spAutoFit/>
          </a:bodyPr>
          <a:lstStyle/>
          <a:p>
            <a:r>
              <a:rPr lang="en-US" altLang="ko-KR" sz="1400" dirty="0">
                <a:latin typeface="D2Coding" panose="020B0609020101020101" pitchFamily="49" charset="-127"/>
                <a:ea typeface="D2Coding" panose="020B0609020101020101" pitchFamily="49" charset="-127"/>
              </a:rPr>
              <a:t># 3. </a:t>
            </a:r>
            <a:r>
              <a:rPr lang="ko-KR" altLang="en-US" sz="1400" dirty="0">
                <a:latin typeface="D2Coding" panose="020B0609020101020101" pitchFamily="49" charset="-127"/>
                <a:ea typeface="D2Coding" panose="020B0609020101020101" pitchFamily="49" charset="-127"/>
              </a:rPr>
              <a:t>모델 구조 확인 및 예측 수행</a:t>
            </a: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모델 컴파일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학습용 설정을 부여하지만 여기서는 구조 확인 및 순방향 연산만 진행</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model.compile</a:t>
            </a:r>
            <a:r>
              <a:rPr lang="en-US" altLang="ko-KR" sz="1400" dirty="0">
                <a:latin typeface="D2Coding" panose="020B0609020101020101" pitchFamily="49" charset="-127"/>
                <a:ea typeface="D2Coding" panose="020B0609020101020101" pitchFamily="49" charset="-127"/>
              </a:rPr>
              <a:t>(loss="</a:t>
            </a:r>
            <a:r>
              <a:rPr lang="en-US" altLang="ko-KR" sz="1400" dirty="0" err="1">
                <a:latin typeface="D2Coding" panose="020B0609020101020101" pitchFamily="49" charset="-127"/>
                <a:ea typeface="D2Coding" panose="020B0609020101020101" pitchFamily="49" charset="-127"/>
              </a:rPr>
              <a:t>mse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optimizer="</a:t>
            </a:r>
            <a:r>
              <a:rPr lang="en-US" altLang="ko-KR" sz="1400" dirty="0" err="1">
                <a:latin typeface="D2Coding" panose="020B0609020101020101" pitchFamily="49" charset="-127"/>
                <a:ea typeface="D2Coding" panose="020B0609020101020101" pitchFamily="49" charset="-127"/>
              </a:rPr>
              <a:t>adam</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br>
              <a:rPr lang="ko-KR" altLang="en-US" sz="1400" dirty="0">
                <a:latin typeface="D2Coding" panose="020B0609020101020101" pitchFamily="49" charset="-127"/>
                <a:ea typeface="D2Coding" panose="020B0609020101020101" pitchFamily="49" charset="-127"/>
              </a:rPr>
            </a:b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가중치</a:t>
            </a:r>
            <a:r>
              <a:rPr lang="en-US" altLang="ko-KR" sz="1400" dirty="0">
                <a:latin typeface="D2Coding" panose="020B0609020101020101" pitchFamily="49" charset="-127"/>
                <a:ea typeface="D2Coding" panose="020B0609020101020101" pitchFamily="49" charset="-127"/>
              </a:rPr>
              <a:t>(Param) </a:t>
            </a:r>
            <a:r>
              <a:rPr lang="ko-KR" altLang="en-US" sz="1400" dirty="0">
                <a:latin typeface="D2Coding" panose="020B0609020101020101" pitchFamily="49" charset="-127"/>
                <a:ea typeface="D2Coding" panose="020B0609020101020101" pitchFamily="49" charset="-127"/>
              </a:rPr>
              <a:t>개수가 그림과 일치하는지 요약 표 출력</a:t>
            </a:r>
          </a:p>
          <a:p>
            <a:r>
              <a:rPr lang="en-US" altLang="ko-KR" sz="1400" dirty="0" err="1">
                <a:latin typeface="D2Coding" panose="020B0609020101020101" pitchFamily="49" charset="-127"/>
                <a:ea typeface="D2Coding" panose="020B0609020101020101" pitchFamily="49" charset="-127"/>
              </a:rPr>
              <a:t>model.summary</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br>
              <a:rPr lang="ko-KR" altLang="en-US" sz="1400" dirty="0">
                <a:latin typeface="D2Coding" panose="020B0609020101020101" pitchFamily="49" charset="-127"/>
                <a:ea typeface="D2Coding" panose="020B0609020101020101" pitchFamily="49" charset="-127"/>
              </a:rPr>
            </a:b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가상 데이터를 모델에 통과시켜 </a:t>
            </a:r>
            <a:r>
              <a:rPr lang="ko-KR" altLang="en-US" sz="1400" dirty="0" err="1">
                <a:latin typeface="D2Coding" panose="020B0609020101020101" pitchFamily="49" charset="-127"/>
                <a:ea typeface="D2Coding" panose="020B0609020101020101" pitchFamily="49" charset="-127"/>
              </a:rPr>
              <a:t>출력값</a:t>
            </a:r>
            <a:r>
              <a:rPr lang="ko-KR" altLang="en-US" sz="1400" dirty="0">
                <a:latin typeface="D2Coding" panose="020B0609020101020101" pitchFamily="49" charset="-127"/>
                <a:ea typeface="D2Coding" panose="020B0609020101020101" pitchFamily="49" charset="-127"/>
              </a:rPr>
              <a:t> 확인</a:t>
            </a:r>
          </a:p>
          <a:p>
            <a:r>
              <a:rPr lang="en-US" altLang="ko-KR" sz="1400" dirty="0">
                <a:latin typeface="D2Coding" panose="020B0609020101020101" pitchFamily="49" charset="-127"/>
                <a:ea typeface="D2Coding" panose="020B0609020101020101" pitchFamily="49" charset="-127"/>
              </a:rPr>
              <a:t>output = </a:t>
            </a:r>
            <a:r>
              <a:rPr lang="en-US" altLang="ko-KR" sz="1400" dirty="0" err="1">
                <a:latin typeface="D2Coding" panose="020B0609020101020101" pitchFamily="49" charset="-127"/>
                <a:ea typeface="D2Coding" panose="020B0609020101020101" pitchFamily="49" charset="-127"/>
              </a:rPr>
              <a:t>model.predict</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X_dummy</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print("\n=== </a:t>
            </a:r>
            <a:r>
              <a:rPr lang="ko-KR" altLang="en-US" sz="1400" dirty="0">
                <a:latin typeface="D2Coding" panose="020B0609020101020101" pitchFamily="49" charset="-127"/>
                <a:ea typeface="D2Coding" panose="020B0609020101020101" pitchFamily="49" charset="-127"/>
              </a:rPr>
              <a:t>최종 출력 데이터 모양 </a:t>
            </a:r>
            <a:r>
              <a:rPr lang="en-US" altLang="ko-KR" sz="1400" dirty="0">
                <a:latin typeface="D2Coding" panose="020B0609020101020101" pitchFamily="49" charset="-127"/>
                <a:ea typeface="D2Coding" panose="020B0609020101020101" pitchFamily="49" charset="-127"/>
              </a:rPr>
              <a:t>(Output Shape) ===")</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ko-KR" altLang="en-US" sz="1400" dirty="0">
                <a:latin typeface="D2Coding" panose="020B0609020101020101" pitchFamily="49" charset="-127"/>
                <a:ea typeface="D2Coding" panose="020B0609020101020101" pitchFamily="49" charset="-127"/>
              </a:rPr>
              <a:t>결과 배열 크기</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output.shape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출력 크기</a:t>
            </a:r>
            <a:r>
              <a:rPr lang="en-US" altLang="ko-KR" sz="1400" dirty="0">
                <a:latin typeface="D2Coding" panose="020B0609020101020101" pitchFamily="49" charset="-127"/>
                <a:ea typeface="D2Coding" panose="020B0609020101020101" pitchFamily="49" charset="-127"/>
              </a:rPr>
              <a:t>: (1, 4, 2) -&gt; [</a:t>
            </a:r>
            <a:r>
              <a:rPr lang="ko-KR" altLang="en-US" sz="1400" dirty="0">
                <a:latin typeface="D2Coding" panose="020B0609020101020101" pitchFamily="49" charset="-127"/>
                <a:ea typeface="D2Coding" panose="020B0609020101020101" pitchFamily="49" charset="-127"/>
              </a:rPr>
              <a:t>배치</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타임스텝</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출력차원</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print("\n=== </a:t>
            </a:r>
            <a:r>
              <a:rPr lang="ko-KR" altLang="en-US" sz="1400" dirty="0">
                <a:latin typeface="D2Coding" panose="020B0609020101020101" pitchFamily="49" charset="-127"/>
                <a:ea typeface="D2Coding" panose="020B0609020101020101" pitchFamily="49" charset="-127"/>
              </a:rPr>
              <a:t>실제 출력된 값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각 시점별 </a:t>
            </a:r>
            <a:r>
              <a:rPr lang="en-US" altLang="ko-KR" sz="1400" dirty="0">
                <a:latin typeface="D2Coding" panose="020B0609020101020101" pitchFamily="49" charset="-127"/>
                <a:ea typeface="D2Coding" panose="020B0609020101020101" pitchFamily="49" charset="-127"/>
              </a:rPr>
              <a:t>2</a:t>
            </a:r>
            <a:r>
              <a:rPr lang="ko-KR" altLang="en-US" sz="1400" dirty="0">
                <a:latin typeface="D2Coding" panose="020B0609020101020101" pitchFamily="49" charset="-127"/>
                <a:ea typeface="D2Coding" panose="020B0609020101020101" pitchFamily="49" charset="-127"/>
              </a:rPr>
              <a:t>차원 출력</a:t>
            </a:r>
            <a:r>
              <a:rPr lang="en-US" altLang="ko-KR" sz="1400" dirty="0">
                <a:latin typeface="D2Coding" panose="020B0609020101020101" pitchFamily="49" charset="-127"/>
                <a:ea typeface="D2Coding" panose="020B0609020101020101" pitchFamily="49" charset="-127"/>
              </a:rPr>
              <a:t>) ===")</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print(output[0])</a:t>
            </a:r>
            <a:endParaRPr lang="ko-KR" altLang="en-US" sz="1400" dirty="0">
              <a:latin typeface="D2Coding" panose="020B0609020101020101" pitchFamily="49" charset="-127"/>
              <a:ea typeface="D2Coding" panose="020B0609020101020101" pitchFamily="49" charset="-127"/>
            </a:endParaRPr>
          </a:p>
        </p:txBody>
      </p:sp>
      <p:sp>
        <p:nvSpPr>
          <p:cNvPr id="5" name="TextBox 4">
            <a:extLst>
              <a:ext uri="{FF2B5EF4-FFF2-40B4-BE49-F238E27FC236}">
                <a16:creationId xmlns:a16="http://schemas.microsoft.com/office/drawing/2014/main" id="{648CC92D-17A2-9E34-52FB-C459AB37BB8C}"/>
              </a:ext>
            </a:extLst>
          </p:cNvPr>
          <p:cNvSpPr txBox="1"/>
          <p:nvPr/>
        </p:nvSpPr>
        <p:spPr>
          <a:xfrm>
            <a:off x="660400" y="5271016"/>
            <a:ext cx="10840720" cy="369332"/>
          </a:xfrm>
          <a:prstGeom prst="rect">
            <a:avLst/>
          </a:prstGeom>
          <a:noFill/>
        </p:spPr>
        <p:txBody>
          <a:bodyPr wrap="square">
            <a:spAutoFit/>
          </a:bodyPr>
          <a:lstStyle/>
          <a:p>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 모델이 추정하여야 하는 </a:t>
            </a:r>
            <a:r>
              <a:rPr lang="en-US" altLang="ko-KR" dirty="0">
                <a:latin typeface="D2Coding" panose="020B0609020101020101" pitchFamily="49" charset="-127"/>
                <a:ea typeface="D2Coding" panose="020B0609020101020101" pitchFamily="49" charset="-127"/>
              </a:rPr>
              <a:t>parameters</a:t>
            </a:r>
            <a:r>
              <a:rPr lang="ko-KR" altLang="en-US" dirty="0">
                <a:latin typeface="D2Coding" panose="020B0609020101020101" pitchFamily="49" charset="-127"/>
                <a:ea typeface="D2Coding" panose="020B0609020101020101" pitchFamily="49" charset="-127"/>
              </a:rPr>
              <a:t>의 개수를 그림과 코드에서 확인하고 토론하자</a:t>
            </a:r>
            <a:endParaRPr lang="ko-KR" altLang="en-US" dirty="0"/>
          </a:p>
        </p:txBody>
      </p:sp>
      <p:sp>
        <p:nvSpPr>
          <p:cNvPr id="2" name="슬라이드 번호 개체 틀 3">
            <a:extLst>
              <a:ext uri="{FF2B5EF4-FFF2-40B4-BE49-F238E27FC236}">
                <a16:creationId xmlns:a16="http://schemas.microsoft.com/office/drawing/2014/main" id="{415D12AB-D4FC-A182-0513-0F607ED1195B}"/>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그래픽 5" descr="수영">
            <a:extLst>
              <a:ext uri="{FF2B5EF4-FFF2-40B4-BE49-F238E27FC236}">
                <a16:creationId xmlns:a16="http://schemas.microsoft.com/office/drawing/2014/main" id="{7D842ACD-EEEF-45CE-5CC8-252965C2CB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37520" y="334022"/>
            <a:ext cx="914400" cy="914400"/>
          </a:xfrm>
          <a:prstGeom prst="rect">
            <a:avLst/>
          </a:prstGeom>
        </p:spPr>
      </p:pic>
    </p:spTree>
    <p:extLst>
      <p:ext uri="{BB962C8B-B14F-4D97-AF65-F5344CB8AC3E}">
        <p14:creationId xmlns:p14="http://schemas.microsoft.com/office/powerpoint/2010/main" val="26230321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EBB6F-5205-2B6B-B72B-D2729860EAA7}"/>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28B72CFF-95F2-13FD-1562-1F1A7BC98859}"/>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Deep</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림 4">
            <a:extLst>
              <a:ext uri="{FF2B5EF4-FFF2-40B4-BE49-F238E27FC236}">
                <a16:creationId xmlns:a16="http://schemas.microsoft.com/office/drawing/2014/main" id="{FB46B54B-58F6-E08B-924D-D269DB922BB6}"/>
              </a:ext>
            </a:extLst>
          </p:cNvPr>
          <p:cNvPicPr>
            <a:picLocks noChangeAspect="1"/>
          </p:cNvPicPr>
          <p:nvPr/>
        </p:nvPicPr>
        <p:blipFill>
          <a:blip r:embed="rId2"/>
          <a:stretch>
            <a:fillRect/>
          </a:stretch>
        </p:blipFill>
        <p:spPr>
          <a:xfrm>
            <a:off x="658459" y="1446542"/>
            <a:ext cx="5409899" cy="3115298"/>
          </a:xfrm>
          <a:prstGeom prst="rect">
            <a:avLst/>
          </a:prstGeom>
        </p:spPr>
      </p:pic>
      <p:sp>
        <p:nvSpPr>
          <p:cNvPr id="7" name="TextBox 6">
            <a:extLst>
              <a:ext uri="{FF2B5EF4-FFF2-40B4-BE49-F238E27FC236}">
                <a16:creationId xmlns:a16="http://schemas.microsoft.com/office/drawing/2014/main" id="{22D46B0D-9D00-4C42-8ED7-31125215AF15}"/>
              </a:ext>
            </a:extLst>
          </p:cNvPr>
          <p:cNvSpPr txBox="1"/>
          <p:nvPr/>
        </p:nvSpPr>
        <p:spPr>
          <a:xfrm>
            <a:off x="658459" y="4700878"/>
            <a:ext cx="7711440" cy="1675139"/>
          </a:xfrm>
          <a:prstGeom prst="rect">
            <a:avLst/>
          </a:prstGeom>
          <a:solidFill>
            <a:srgbClr val="76E3FF"/>
          </a:solidFill>
        </p:spPr>
        <p:txBody>
          <a:bodyPr wrap="square">
            <a:spAutoFit/>
          </a:bodyPr>
          <a:lstStyle/>
          <a:p>
            <a:pPr>
              <a:lnSpc>
                <a:spcPct val="150000"/>
              </a:lnSpc>
            </a:pPr>
            <a:r>
              <a:rPr lang="en-US" altLang="ko-KR" sz="1400" dirty="0">
                <a:latin typeface="D2Coding" panose="020B0609020101020101" pitchFamily="49" charset="-127"/>
                <a:ea typeface="D2Coding" panose="020B0609020101020101" pitchFamily="49" charset="-127"/>
              </a:rPr>
              <a:t>model = </a:t>
            </a:r>
            <a:r>
              <a:rPr lang="en-US" altLang="ko-KR" sz="1400" dirty="0" err="1">
                <a:latin typeface="D2Coding" panose="020B0609020101020101" pitchFamily="49" charset="-127"/>
                <a:ea typeface="D2Coding" panose="020B0609020101020101" pitchFamily="49" charset="-127"/>
              </a:rPr>
              <a:t>keras.models.Sequential</a:t>
            </a:r>
            <a:r>
              <a:rPr lang="en-US" altLang="ko-KR" sz="1400" dirty="0">
                <a:latin typeface="D2Coding" panose="020B0609020101020101" pitchFamily="49" charset="-127"/>
                <a:ea typeface="D2Coding" panose="020B0609020101020101" pitchFamily="49" charset="-127"/>
              </a:rPr>
              <a:t>([</a:t>
            </a:r>
          </a:p>
          <a:p>
            <a:pPr>
              <a:lnSpc>
                <a:spcPct val="150000"/>
              </a:lnSpc>
            </a:pPr>
            <a:r>
              <a:rPr lang="en-US" altLang="ko-KR" sz="1400" dirty="0" err="1">
                <a:latin typeface="D2Coding" panose="020B0609020101020101" pitchFamily="49" charset="-127"/>
                <a:ea typeface="D2Coding" panose="020B0609020101020101" pitchFamily="49" charset="-127"/>
              </a:rPr>
              <a:t>keras.layers.SimpleRNN</a:t>
            </a:r>
            <a:r>
              <a:rPr lang="en-US" altLang="ko-KR" sz="1400" dirty="0">
                <a:latin typeface="D2Coding" panose="020B0609020101020101" pitchFamily="49" charset="-127"/>
                <a:ea typeface="D2Coding" panose="020B0609020101020101" pitchFamily="49" charset="-127"/>
              </a:rPr>
              <a:t>(20, </a:t>
            </a:r>
            <a:r>
              <a:rPr lang="en-US" altLang="ko-KR" sz="1400" dirty="0" err="1">
                <a:latin typeface="D2Coding" panose="020B0609020101020101" pitchFamily="49" charset="-127"/>
                <a:ea typeface="D2Coding" panose="020B0609020101020101" pitchFamily="49" charset="-127"/>
              </a:rPr>
              <a:t>return_sequences</a:t>
            </a:r>
            <a:r>
              <a:rPr lang="en-US" altLang="ko-KR" sz="1400" dirty="0">
                <a:latin typeface="D2Coding" panose="020B0609020101020101" pitchFamily="49" charset="-127"/>
                <a:ea typeface="D2Coding" panose="020B0609020101020101" pitchFamily="49" charset="-127"/>
              </a:rPr>
              <a:t>=True, </a:t>
            </a:r>
            <a:r>
              <a:rPr lang="en-US" altLang="ko-KR" sz="1400" dirty="0" err="1">
                <a:latin typeface="D2Coding" panose="020B0609020101020101" pitchFamily="49" charset="-127"/>
                <a:ea typeface="D2Coding" panose="020B0609020101020101" pitchFamily="49" charset="-127"/>
              </a:rPr>
              <a:t>input_shape</a:t>
            </a:r>
            <a:r>
              <a:rPr lang="en-US" altLang="ko-KR" sz="1400" dirty="0">
                <a:latin typeface="D2Coding" panose="020B0609020101020101" pitchFamily="49" charset="-127"/>
                <a:ea typeface="D2Coding" panose="020B0609020101020101" pitchFamily="49" charset="-127"/>
              </a:rPr>
              <a:t>=[None, 1]),</a:t>
            </a:r>
          </a:p>
          <a:p>
            <a:pPr>
              <a:lnSpc>
                <a:spcPct val="150000"/>
              </a:lnSpc>
            </a:pPr>
            <a:r>
              <a:rPr lang="en-US" altLang="ko-KR" sz="1400" dirty="0" err="1">
                <a:latin typeface="D2Coding" panose="020B0609020101020101" pitchFamily="49" charset="-127"/>
                <a:ea typeface="D2Coding" panose="020B0609020101020101" pitchFamily="49" charset="-127"/>
              </a:rPr>
              <a:t>keras.layers.SimpleRNN</a:t>
            </a:r>
            <a:r>
              <a:rPr lang="en-US" altLang="ko-KR" sz="1400" dirty="0">
                <a:latin typeface="D2Coding" panose="020B0609020101020101" pitchFamily="49" charset="-127"/>
                <a:ea typeface="D2Coding" panose="020B0609020101020101" pitchFamily="49" charset="-127"/>
              </a:rPr>
              <a:t>(20, </a:t>
            </a:r>
            <a:r>
              <a:rPr lang="en-US" altLang="ko-KR" sz="1400" dirty="0" err="1">
                <a:latin typeface="D2Coding" panose="020B0609020101020101" pitchFamily="49" charset="-127"/>
                <a:ea typeface="D2Coding" panose="020B0609020101020101" pitchFamily="49" charset="-127"/>
              </a:rPr>
              <a:t>return_sequences</a:t>
            </a:r>
            <a:r>
              <a:rPr lang="en-US" altLang="ko-KR" sz="1400" dirty="0">
                <a:latin typeface="D2Coding" panose="020B0609020101020101" pitchFamily="49" charset="-127"/>
                <a:ea typeface="D2Coding" panose="020B0609020101020101" pitchFamily="49" charset="-127"/>
              </a:rPr>
              <a:t>=True),</a:t>
            </a:r>
          </a:p>
          <a:p>
            <a:pPr>
              <a:lnSpc>
                <a:spcPct val="150000"/>
              </a:lnSpc>
            </a:pPr>
            <a:r>
              <a:rPr lang="en-US" altLang="ko-KR" sz="1400" dirty="0" err="1">
                <a:latin typeface="D2Coding" panose="020B0609020101020101" pitchFamily="49" charset="-127"/>
                <a:ea typeface="D2Coding" panose="020B0609020101020101" pitchFamily="49" charset="-127"/>
              </a:rPr>
              <a:t>keras.layers.SimpleRNN</a:t>
            </a:r>
            <a:r>
              <a:rPr lang="en-US" altLang="ko-KR" sz="1400" dirty="0">
                <a:latin typeface="D2Coding" panose="020B0609020101020101" pitchFamily="49" charset="-127"/>
                <a:ea typeface="D2Coding" panose="020B0609020101020101" pitchFamily="49" charset="-127"/>
              </a:rPr>
              <a:t>(1)</a:t>
            </a:r>
          </a:p>
          <a:p>
            <a:pPr>
              <a:lnSpc>
                <a:spcPct val="150000"/>
              </a:lnSpc>
            </a:pP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p:txBody>
      </p:sp>
      <p:sp>
        <p:nvSpPr>
          <p:cNvPr id="8" name="TextBox 7">
            <a:extLst>
              <a:ext uri="{FF2B5EF4-FFF2-40B4-BE49-F238E27FC236}">
                <a16:creationId xmlns:a16="http://schemas.microsoft.com/office/drawing/2014/main" id="{C6F2EA05-A1C1-C3D6-A27F-B8B458C99403}"/>
              </a:ext>
            </a:extLst>
          </p:cNvPr>
          <p:cNvSpPr txBox="1"/>
          <p:nvPr/>
        </p:nvSpPr>
        <p:spPr>
          <a:xfrm>
            <a:off x="7112116" y="2291584"/>
            <a:ext cx="4155440" cy="506742"/>
          </a:xfrm>
          <a:prstGeom prst="rect">
            <a:avLst/>
          </a:prstGeom>
          <a:noFill/>
        </p:spPr>
        <p:txBody>
          <a:bodyPr wrap="square" rtlCol="0">
            <a:spAutoFit/>
          </a:bodyPr>
          <a:lstStyle/>
          <a:p>
            <a:pPr>
              <a:lnSpc>
                <a:spcPct val="150000"/>
              </a:lnSpc>
            </a:pPr>
            <a:r>
              <a:rPr lang="ko-KR" altLang="en-US" sz="2000" dirty="0">
                <a:latin typeface="D2Coding" panose="020B0609020101020101" pitchFamily="49" charset="-127"/>
                <a:ea typeface="D2Coding" panose="020B0609020101020101" pitchFamily="49" charset="-127"/>
              </a:rPr>
              <a:t>은닉층은 </a:t>
            </a:r>
            <a:r>
              <a:rPr lang="en-US" altLang="ko-KR" sz="2000" dirty="0">
                <a:latin typeface="D2Coding" panose="020B0609020101020101" pitchFamily="49" charset="-127"/>
                <a:ea typeface="D2Coding" panose="020B0609020101020101" pitchFamily="49" charset="-127"/>
              </a:rPr>
              <a:t>3</a:t>
            </a:r>
            <a:r>
              <a:rPr lang="ko-KR" altLang="en-US" sz="2000" dirty="0">
                <a:latin typeface="D2Coding" panose="020B0609020101020101" pitchFamily="49" charset="-127"/>
                <a:ea typeface="D2Coding" panose="020B0609020101020101" pitchFamily="49" charset="-127"/>
              </a:rPr>
              <a:t>개</a:t>
            </a:r>
          </a:p>
        </p:txBody>
      </p:sp>
      <p:sp>
        <p:nvSpPr>
          <p:cNvPr id="6" name="슬라이드 번호 개체 틀 3">
            <a:extLst>
              <a:ext uri="{FF2B5EF4-FFF2-40B4-BE49-F238E27FC236}">
                <a16:creationId xmlns:a16="http://schemas.microsoft.com/office/drawing/2014/main" id="{D791629E-1D1E-E579-39B9-AB322AB36FB8}"/>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522042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556AA-F115-B46C-306D-D1D7A6F3506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EB688ED-B450-4EFA-D386-B29E4E72D0F8}"/>
              </a:ext>
            </a:extLst>
          </p:cNvPr>
          <p:cNvSpPr>
            <a:spLocks noGrp="1"/>
          </p:cNvSpPr>
          <p:nvPr>
            <p:ph type="ctrTitle"/>
          </p:nvPr>
        </p:nvSpPr>
        <p:spPr>
          <a:xfrm>
            <a:off x="838199" y="1164324"/>
            <a:ext cx="10934701" cy="2387600"/>
          </a:xfrm>
        </p:spPr>
        <p:txBody>
          <a:bodyPr rtlCol="0" anchor="ctr" anchorCtr="0">
            <a:normAutofit/>
          </a:bodyPr>
          <a:lstStyle/>
          <a:p>
            <a:pPr>
              <a:lnSpc>
                <a:spcPct val="150000"/>
              </a:lnSpc>
            </a:pPr>
            <a:r>
              <a:rPr lang="en-US" altLang="ko-KR" sz="5400" dirty="0">
                <a:solidFill>
                  <a:schemeClr val="bg1"/>
                </a:solidFill>
                <a:latin typeface="D2Coding" panose="020B0609020101020101" pitchFamily="49" charset="-127"/>
                <a:ea typeface="D2Coding" panose="020B0609020101020101" pitchFamily="49" charset="-127"/>
              </a:rPr>
              <a:t>Timeseries Forecasting</a:t>
            </a:r>
            <a:endParaRPr lang="ko-KR" altLang="en-US" sz="4400" dirty="0">
              <a:solidFill>
                <a:schemeClr val="bg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0726893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38264-86D7-4DA8-9464-A2E120CF557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D653277-DC09-10EB-EF11-C017C173394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Tensorflow</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Timeseries forecasting</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TextBox 1">
            <a:extLst>
              <a:ext uri="{FF2B5EF4-FFF2-40B4-BE49-F238E27FC236}">
                <a16:creationId xmlns:a16="http://schemas.microsoft.com/office/drawing/2014/main" id="{E12B1519-73E0-B864-8FA5-72B34B24F89B}"/>
              </a:ext>
            </a:extLst>
          </p:cNvPr>
          <p:cNvSpPr txBox="1"/>
          <p:nvPr/>
        </p:nvSpPr>
        <p:spPr>
          <a:xfrm>
            <a:off x="542925" y="1495425"/>
            <a:ext cx="4286250" cy="369332"/>
          </a:xfrm>
          <a:prstGeom prst="rect">
            <a:avLst/>
          </a:prstGeom>
          <a:noFill/>
        </p:spPr>
        <p:txBody>
          <a:bodyPr wrap="square" rtlCol="0">
            <a:spAutoFit/>
          </a:bodyPr>
          <a:lstStyle/>
          <a:p>
            <a:r>
              <a:rPr lang="ko-KR" altLang="en-US" dirty="0">
                <a:latin typeface="D2Coding" panose="020B0609020101020101" pitchFamily="49" charset="-127"/>
                <a:ea typeface="D2Coding" panose="020B0609020101020101" pitchFamily="49" charset="-127"/>
                <a:hlinkClick r:id="rId2"/>
              </a:rPr>
              <a:t>시계열 예측</a:t>
            </a:r>
            <a:endParaRPr lang="ko-KR" altLang="en-US" dirty="0">
              <a:latin typeface="D2Coding" panose="020B0609020101020101" pitchFamily="49" charset="-127"/>
              <a:ea typeface="D2Coding" panose="020B0609020101020101" pitchFamily="49" charset="-127"/>
            </a:endParaRPr>
          </a:p>
        </p:txBody>
      </p:sp>
      <p:pic>
        <p:nvPicPr>
          <p:cNvPr id="6" name="그림 5">
            <a:extLst>
              <a:ext uri="{FF2B5EF4-FFF2-40B4-BE49-F238E27FC236}">
                <a16:creationId xmlns:a16="http://schemas.microsoft.com/office/drawing/2014/main" id="{4A2F182F-A549-D538-F2AF-23CA43EEF6CC}"/>
              </a:ext>
            </a:extLst>
          </p:cNvPr>
          <p:cNvPicPr>
            <a:picLocks noChangeAspect="1"/>
          </p:cNvPicPr>
          <p:nvPr/>
        </p:nvPicPr>
        <p:blipFill>
          <a:blip r:embed="rId3"/>
          <a:stretch>
            <a:fillRect/>
          </a:stretch>
        </p:blipFill>
        <p:spPr>
          <a:xfrm>
            <a:off x="2035810" y="1586384"/>
            <a:ext cx="9689068" cy="4575956"/>
          </a:xfrm>
          <a:prstGeom prst="rect">
            <a:avLst/>
          </a:prstGeom>
          <a:ln>
            <a:solidFill>
              <a:schemeClr val="tx1"/>
            </a:solidFill>
          </a:ln>
        </p:spPr>
      </p:pic>
      <p:pic>
        <p:nvPicPr>
          <p:cNvPr id="9" name="그래픽 8" descr="수영">
            <a:extLst>
              <a:ext uri="{FF2B5EF4-FFF2-40B4-BE49-F238E27FC236}">
                <a16:creationId xmlns:a16="http://schemas.microsoft.com/office/drawing/2014/main" id="{B8DB6F2E-70A3-A6D3-E81B-F2F7543BC2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7520" y="334022"/>
            <a:ext cx="914400" cy="914400"/>
          </a:xfrm>
          <a:prstGeom prst="rect">
            <a:avLst/>
          </a:prstGeom>
        </p:spPr>
      </p:pic>
      <p:sp>
        <p:nvSpPr>
          <p:cNvPr id="10" name="슬라이드 번호 개체 틀 3">
            <a:extLst>
              <a:ext uri="{FF2B5EF4-FFF2-40B4-BE49-F238E27FC236}">
                <a16:creationId xmlns:a16="http://schemas.microsoft.com/office/drawing/2014/main" id="{0513C6E8-20BC-E7CF-4220-5E1F20E29F00}"/>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59</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989118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AA10A-431B-F236-65CC-DB5BD1C5E75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E57BAC5-5BA3-ABA6-E113-BDC7E4F60A71}"/>
              </a:ext>
            </a:extLst>
          </p:cNvPr>
          <p:cNvSpPr>
            <a:spLocks noGrp="1"/>
          </p:cNvSpPr>
          <p:nvPr>
            <p:ph type="ctrTitle"/>
          </p:nvPr>
        </p:nvSpPr>
        <p:spPr>
          <a:xfrm>
            <a:off x="838199" y="1164324"/>
            <a:ext cx="10210801" cy="2387600"/>
          </a:xfrm>
        </p:spPr>
        <p:txBody>
          <a:bodyPr rtlCol="0" anchor="ctr" anchorCtr="0">
            <a:normAutofit/>
          </a:bodyPr>
          <a:lstStyle/>
          <a:p>
            <a:r>
              <a:rPr lang="en-US" altLang="ko-KR" sz="4400" dirty="0">
                <a:solidFill>
                  <a:schemeClr val="bg1"/>
                </a:solidFill>
              </a:rPr>
              <a:t>CNN for Timeseries Data</a:t>
            </a:r>
            <a:endParaRPr lang="ko-KR" altLang="en-US" sz="4400" dirty="0">
              <a:solidFill>
                <a:schemeClr val="bg1"/>
              </a:solidFill>
            </a:endParaRPr>
          </a:p>
        </p:txBody>
      </p:sp>
    </p:spTree>
    <p:extLst>
      <p:ext uri="{BB962C8B-B14F-4D97-AF65-F5344CB8AC3E}">
        <p14:creationId xmlns:p14="http://schemas.microsoft.com/office/powerpoint/2010/main" val="6051293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D01DB-CD16-FE8E-FB47-D4306B5D257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A7E0286-F8FA-B2E2-18BE-39E3BE94102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Convnet </a:t>
            </a:r>
            <a:r>
              <a:rPr lang="en-US" altLang="ko-KR" sz="2800" cap="none">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1D with</a:t>
            </a:r>
            <a:r>
              <a:rPr lang="ko-KR" altLang="en-US" sz="2800" cap="none">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Timeseries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endPar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슬라이드 번호 개체 틀 3">
            <a:extLst>
              <a:ext uri="{FF2B5EF4-FFF2-40B4-BE49-F238E27FC236}">
                <a16:creationId xmlns:a16="http://schemas.microsoft.com/office/drawing/2014/main" id="{D226DC59-7D78-0C13-4559-E42F440722EE}"/>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61</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7221A82-6C0D-FB05-44AE-2EDE319BC885}"/>
              </a:ext>
            </a:extLst>
          </p:cNvPr>
          <p:cNvSpPr txBox="1"/>
          <p:nvPr/>
        </p:nvSpPr>
        <p:spPr>
          <a:xfrm>
            <a:off x="628650" y="1200150"/>
            <a:ext cx="11010900" cy="1028808"/>
          </a:xfrm>
          <a:prstGeom prst="rect">
            <a:avLst/>
          </a:prstGeom>
          <a:noFill/>
        </p:spPr>
        <p:txBody>
          <a:bodyPr wrap="square" rtlCol="0">
            <a:spAutoFit/>
          </a:bodyPr>
          <a:lstStyle/>
          <a:p>
            <a:pPr>
              <a:lnSpc>
                <a:spcPct val="150000"/>
              </a:lnSpc>
            </a:pPr>
            <a:r>
              <a:rPr lang="en-US" altLang="ko-KR" sz="1400" dirty="0">
                <a:latin typeface="D2Coding" panose="020B0609020101020101" pitchFamily="49" charset="-127"/>
                <a:ea typeface="D2Coding" panose="020B0609020101020101" pitchFamily="49" charset="-127"/>
              </a:rPr>
              <a:t>Multivariate </a:t>
            </a:r>
            <a:r>
              <a:rPr lang="ko-KR" altLang="en-US" sz="1400" dirty="0">
                <a:latin typeface="D2Coding" panose="020B0609020101020101" pitchFamily="49" charset="-127"/>
                <a:ea typeface="D2Coding" panose="020B0609020101020101" pitchFamily="49" charset="-127"/>
              </a:rPr>
              <a:t>기후 데이터 온도</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강수량</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일조량 등의 다중변수의 시계열 자료를 전형적인 아래 </a:t>
            </a:r>
            <a:r>
              <a:rPr lang="en-US" altLang="ko-KR" sz="1400" dirty="0">
                <a:latin typeface="D2Coding" panose="020B0609020101020101" pitchFamily="49" charset="-127"/>
                <a:ea typeface="D2Coding" panose="020B0609020101020101" pitchFamily="49" charset="-127"/>
              </a:rPr>
              <a:t>3D Tensor</a:t>
            </a:r>
            <a:r>
              <a:rPr lang="ko-KR" altLang="en-US" sz="1400" dirty="0">
                <a:latin typeface="D2Coding" panose="020B0609020101020101" pitchFamily="49" charset="-127"/>
                <a:ea typeface="D2Coding" panose="020B0609020101020101" pitchFamily="49" charset="-127"/>
              </a:rPr>
              <a:t>로 구성할 수도 있으나 각 </a:t>
            </a:r>
            <a:r>
              <a:rPr lang="en-US" altLang="ko-KR" sz="1400" dirty="0">
                <a:latin typeface="D2Coding" panose="020B0609020101020101" pitchFamily="49" charset="-127"/>
                <a:ea typeface="D2Coding" panose="020B0609020101020101" pitchFamily="49" charset="-127"/>
              </a:rPr>
              <a:t>Feature</a:t>
            </a:r>
            <a:r>
              <a:rPr lang="ko-KR" altLang="en-US" sz="1400" dirty="0">
                <a:latin typeface="D2Coding" panose="020B0609020101020101" pitchFamily="49" charset="-127"/>
                <a:ea typeface="D2Coding" panose="020B0609020101020101" pitchFamily="49" charset="-127"/>
              </a:rPr>
              <a:t>를</a:t>
            </a:r>
            <a:r>
              <a:rPr lang="en-US" altLang="ko-KR" sz="1400" dirty="0">
                <a:latin typeface="D2Coding" panose="020B0609020101020101" pitchFamily="49" charset="-127"/>
                <a:ea typeface="D2Coding" panose="020B0609020101020101" pitchFamily="49" charset="-127"/>
              </a:rPr>
              <a:t> 1</a:t>
            </a:r>
            <a:r>
              <a:rPr lang="ko-KR" altLang="en-US" sz="1400" dirty="0">
                <a:latin typeface="D2Coding" panose="020B0609020101020101" pitchFamily="49" charset="-127"/>
                <a:ea typeface="D2Coding" panose="020B0609020101020101" pitchFamily="49" charset="-127"/>
              </a:rPr>
              <a:t>개씩만 구성하고 </a:t>
            </a:r>
            <a:r>
              <a:rPr lang="en-US" altLang="ko-KR" sz="1400" dirty="0">
                <a:latin typeface="D2Coding" panose="020B0609020101020101" pitchFamily="49" charset="-127"/>
                <a:ea typeface="D2Coding" panose="020B0609020101020101" pitchFamily="49" charset="-127"/>
              </a:rPr>
              <a:t>Channel</a:t>
            </a:r>
            <a:r>
              <a:rPr lang="ko-KR" altLang="en-US" sz="1400" dirty="0">
                <a:latin typeface="D2Coding" panose="020B0609020101020101" pitchFamily="49" charset="-127"/>
                <a:ea typeface="D2Coding" panose="020B0609020101020101" pitchFamily="49" charset="-127"/>
              </a:rPr>
              <a:t>을 온도</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강수량</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일조량 등으로 구성한 후 </a:t>
            </a:r>
            <a:r>
              <a:rPr lang="en-US" altLang="ko-KR" sz="1400" dirty="0">
                <a:latin typeface="D2Coding" panose="020B0609020101020101" pitchFamily="49" charset="-127"/>
                <a:ea typeface="D2Coding" panose="020B0609020101020101" pitchFamily="49" charset="-127"/>
              </a:rPr>
              <a:t>1D Convnet</a:t>
            </a:r>
            <a:r>
              <a:rPr lang="ko-KR" altLang="en-US" sz="1400" dirty="0">
                <a:latin typeface="D2Coding" panose="020B0609020101020101" pitchFamily="49" charset="-127"/>
                <a:ea typeface="D2Coding" panose="020B0609020101020101" pitchFamily="49" charset="-127"/>
              </a:rPr>
              <a:t>을 구성하여 입력 </a:t>
            </a:r>
            <a:r>
              <a:rPr lang="en-US" altLang="ko-KR" sz="1400" dirty="0">
                <a:latin typeface="D2Coding" panose="020B0609020101020101" pitchFamily="49" charset="-127"/>
                <a:ea typeface="D2Coding" panose="020B0609020101020101" pitchFamily="49" charset="-127"/>
              </a:rPr>
              <a:t>Feature</a:t>
            </a:r>
            <a:r>
              <a:rPr lang="ko-KR" altLang="en-US" sz="1400" dirty="0">
                <a:latin typeface="D2Coding" panose="020B0609020101020101" pitchFamily="49" charset="-127"/>
                <a:ea typeface="D2Coding" panose="020B0609020101020101" pitchFamily="49" charset="-127"/>
              </a:rPr>
              <a:t>로 만든 후 </a:t>
            </a:r>
            <a:r>
              <a:rPr lang="en-US" altLang="ko-KR" sz="1400" dirty="0">
                <a:latin typeface="D2Coding" panose="020B0609020101020101" pitchFamily="49" charset="-127"/>
                <a:ea typeface="D2Coding" panose="020B0609020101020101" pitchFamily="49" charset="-127"/>
              </a:rPr>
              <a:t>Filter</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Size</a:t>
            </a:r>
            <a:r>
              <a:rPr lang="ko-KR" altLang="en-US" sz="1400" dirty="0">
                <a:latin typeface="D2Coding" panose="020B0609020101020101" pitchFamily="49" charset="-127"/>
                <a:ea typeface="D2Coding" panose="020B0609020101020101" pitchFamily="49" charset="-127"/>
              </a:rPr>
              <a:t>로 </a:t>
            </a:r>
            <a:r>
              <a:rPr lang="en-US" altLang="ko-KR" sz="1400" dirty="0">
                <a:latin typeface="D2Coding" panose="020B0609020101020101" pitchFamily="49" charset="-127"/>
                <a:ea typeface="D2Coding" panose="020B0609020101020101" pitchFamily="49" charset="-127"/>
              </a:rPr>
              <a:t>Time steps(3</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5</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 7</a:t>
            </a:r>
            <a:r>
              <a:rPr lang="ko-KR" altLang="en-US" sz="1400" dirty="0">
                <a:latin typeface="D2Coding" panose="020B0609020101020101" pitchFamily="49" charset="-127"/>
                <a:ea typeface="D2Coding" panose="020B0609020101020101" pitchFamily="49" charset="-127"/>
              </a:rPr>
              <a:t>일 등</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를 </a:t>
            </a:r>
            <a:r>
              <a:rPr lang="ko-KR" altLang="en-US" sz="1400" dirty="0" err="1">
                <a:latin typeface="D2Coding" panose="020B0609020101020101" pitchFamily="49" charset="-127"/>
                <a:ea typeface="D2Coding" panose="020B0609020101020101" pitchFamily="49" charset="-127"/>
              </a:rPr>
              <a:t>컨볼루션을</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적용하여 </a:t>
            </a:r>
            <a:r>
              <a:rPr lang="en-US" altLang="ko-KR" sz="1400" dirty="0" err="1">
                <a:latin typeface="D2Coding" panose="020B0609020101020101" pitchFamily="49" charset="-127"/>
                <a:ea typeface="D2Coding" panose="020B0609020101020101" pitchFamily="49" charset="-127"/>
              </a:rPr>
              <a:t>Concate</a:t>
            </a:r>
            <a:r>
              <a:rPr lang="ko-KR" altLang="en-US" sz="1400" dirty="0">
                <a:latin typeface="D2Coding" panose="020B0609020101020101" pitchFamily="49" charset="-127"/>
                <a:ea typeface="D2Coding" panose="020B0609020101020101" pitchFamily="49" charset="-127"/>
              </a:rPr>
              <a:t>하여 예측하는 모델 </a:t>
            </a:r>
          </a:p>
        </p:txBody>
      </p:sp>
      <p:sp>
        <p:nvSpPr>
          <p:cNvPr id="5" name="직사각형 4">
            <a:extLst>
              <a:ext uri="{FF2B5EF4-FFF2-40B4-BE49-F238E27FC236}">
                <a16:creationId xmlns:a16="http://schemas.microsoft.com/office/drawing/2014/main" id="{87C9BF87-F17D-A8F7-8F6C-75856C4A0E94}"/>
              </a:ext>
            </a:extLst>
          </p:cNvPr>
          <p:cNvSpPr/>
          <p:nvPr/>
        </p:nvSpPr>
        <p:spPr>
          <a:xfrm>
            <a:off x="710339" y="2823542"/>
            <a:ext cx="2675444" cy="11176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6C8811A2-7679-2C7E-DE95-2C3CA22D3D26}"/>
              </a:ext>
            </a:extLst>
          </p:cNvPr>
          <p:cNvSpPr/>
          <p:nvPr/>
        </p:nvSpPr>
        <p:spPr>
          <a:xfrm>
            <a:off x="862739" y="2975942"/>
            <a:ext cx="2675444" cy="11176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699F94C8-95EF-01BB-AC82-F6ED98507D2D}"/>
              </a:ext>
            </a:extLst>
          </p:cNvPr>
          <p:cNvSpPr/>
          <p:nvPr/>
        </p:nvSpPr>
        <p:spPr>
          <a:xfrm>
            <a:off x="1015139" y="3128342"/>
            <a:ext cx="2675444" cy="11176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435AC0D4-624C-DC13-271F-1C2A0A4468BB}"/>
              </a:ext>
            </a:extLst>
          </p:cNvPr>
          <p:cNvSpPr/>
          <p:nvPr/>
        </p:nvSpPr>
        <p:spPr>
          <a:xfrm>
            <a:off x="1167539" y="3280742"/>
            <a:ext cx="2675444" cy="11176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05917FFF-3885-6C08-235F-DE1A3E3637E9}"/>
              </a:ext>
            </a:extLst>
          </p:cNvPr>
          <p:cNvSpPr/>
          <p:nvPr/>
        </p:nvSpPr>
        <p:spPr>
          <a:xfrm>
            <a:off x="1319939" y="3433142"/>
            <a:ext cx="2675444" cy="11176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rgbClr val="FF0000"/>
                </a:solidFill>
                <a:latin typeface="D2Coding" panose="020B0609020101020101" pitchFamily="49" charset="-127"/>
                <a:ea typeface="D2Coding" panose="020B0609020101020101" pitchFamily="49" charset="-127"/>
              </a:rPr>
              <a:t>25.4, 24.3,……… 34.5, 33.3…</a:t>
            </a:r>
          </a:p>
          <a:p>
            <a:pPr>
              <a:lnSpc>
                <a:spcPct val="150000"/>
              </a:lnSpc>
            </a:pPr>
            <a:r>
              <a:rPr lang="en-US" altLang="ko-KR" sz="1200" dirty="0">
                <a:solidFill>
                  <a:schemeClr val="accent6"/>
                </a:solidFill>
                <a:latin typeface="D2Coding" panose="020B0609020101020101" pitchFamily="49" charset="-127"/>
                <a:ea typeface="D2Coding" panose="020B0609020101020101" pitchFamily="49" charset="-127"/>
              </a:rPr>
              <a:t>100.0, 101.3, 56.7……….45.6, 34.6</a:t>
            </a:r>
          </a:p>
          <a:p>
            <a:pPr>
              <a:lnSpc>
                <a:spcPct val="150000"/>
              </a:lnSpc>
            </a:pPr>
            <a:r>
              <a:rPr lang="en-US" altLang="ko-KR" sz="1200" dirty="0">
                <a:solidFill>
                  <a:schemeClr val="accent5"/>
                </a:solidFill>
                <a:latin typeface="D2Coding" panose="020B0609020101020101" pitchFamily="49" charset="-127"/>
                <a:ea typeface="D2Coding" panose="020B0609020101020101" pitchFamily="49" charset="-127"/>
              </a:rPr>
              <a:t>34.6, 45.6,…………………..56.5, 67.6</a:t>
            </a:r>
            <a:endParaRPr lang="ko-KR" altLang="en-US" sz="1200" dirty="0">
              <a:solidFill>
                <a:schemeClr val="accent5"/>
              </a:solidFill>
              <a:latin typeface="D2Coding" panose="020B0609020101020101" pitchFamily="49" charset="-127"/>
              <a:ea typeface="D2Coding" panose="020B0609020101020101" pitchFamily="49" charset="-127"/>
            </a:endParaRPr>
          </a:p>
        </p:txBody>
      </p:sp>
      <p:sp>
        <p:nvSpPr>
          <p:cNvPr id="15" name="TextBox 14">
            <a:extLst>
              <a:ext uri="{FF2B5EF4-FFF2-40B4-BE49-F238E27FC236}">
                <a16:creationId xmlns:a16="http://schemas.microsoft.com/office/drawing/2014/main" id="{0763F341-8105-7BF3-30A5-DBD162BCB333}"/>
              </a:ext>
            </a:extLst>
          </p:cNvPr>
          <p:cNvSpPr txBox="1"/>
          <p:nvPr/>
        </p:nvSpPr>
        <p:spPr>
          <a:xfrm>
            <a:off x="879352" y="5623537"/>
            <a:ext cx="3990393" cy="523220"/>
          </a:xfrm>
          <a:prstGeom prst="rect">
            <a:avLst/>
          </a:prstGeom>
          <a:solidFill>
            <a:schemeClr val="tx1"/>
          </a:solidFill>
        </p:spPr>
        <p:txBody>
          <a:bodyPr wrap="square">
            <a:spAutoFit/>
          </a:bodyPr>
          <a:lstStyle/>
          <a:p>
            <a:pPr algn="ctr"/>
            <a:r>
              <a:rPr lang="en-US" altLang="ko-KR" sz="1400" dirty="0">
                <a:solidFill>
                  <a:schemeClr val="bg1"/>
                </a:solidFill>
                <a:latin typeface="D2Coding" panose="020B0609020101020101" pitchFamily="49" charset="-127"/>
                <a:ea typeface="D2Coding" panose="020B0609020101020101" pitchFamily="49" charset="-127"/>
              </a:rPr>
              <a:t>3D Timeseries</a:t>
            </a:r>
            <a:r>
              <a:rPr lang="ko-KR" altLang="en-US" sz="1400" dirty="0">
                <a:solidFill>
                  <a:schemeClr val="bg1"/>
                </a:solidFill>
                <a:latin typeface="D2Coding" panose="020B0609020101020101" pitchFamily="49" charset="-127"/>
                <a:ea typeface="D2Coding" panose="020B0609020101020101" pitchFamily="49" charset="-127"/>
              </a:rPr>
              <a:t> </a:t>
            </a:r>
            <a:r>
              <a:rPr lang="en-US" altLang="ko-KR" sz="1400" dirty="0">
                <a:solidFill>
                  <a:schemeClr val="bg1"/>
                </a:solidFill>
                <a:latin typeface="D2Coding" panose="020B0609020101020101" pitchFamily="49" charset="-127"/>
                <a:ea typeface="D2Coding" panose="020B0609020101020101" pitchFamily="49" charset="-127"/>
              </a:rPr>
              <a:t>Tensor</a:t>
            </a:r>
          </a:p>
          <a:p>
            <a:pPr algn="ctr"/>
            <a:r>
              <a:rPr lang="en-US" altLang="ko-KR" sz="1400" dirty="0">
                <a:solidFill>
                  <a:schemeClr val="bg1"/>
                </a:solidFill>
                <a:latin typeface="D2Coding" panose="020B0609020101020101" pitchFamily="49" charset="-127"/>
                <a:ea typeface="D2Coding" panose="020B0609020101020101" pitchFamily="49" charset="-127"/>
              </a:rPr>
              <a:t>(10, 365, 3)</a:t>
            </a:r>
            <a:r>
              <a:rPr lang="ko-KR" altLang="en-US" sz="1400" dirty="0">
                <a:solidFill>
                  <a:schemeClr val="bg1"/>
                </a:solidFill>
                <a:latin typeface="D2Coding" panose="020B0609020101020101" pitchFamily="49" charset="-127"/>
                <a:ea typeface="D2Coding" panose="020B0609020101020101" pitchFamily="49" charset="-127"/>
              </a:rPr>
              <a:t> </a:t>
            </a:r>
            <a:r>
              <a:rPr lang="en-US" altLang="ko-KR" sz="1400" dirty="0">
                <a:solidFill>
                  <a:schemeClr val="bg1"/>
                </a:solidFill>
                <a:latin typeface="D2Coding" panose="020B0609020101020101" pitchFamily="49" charset="-127"/>
                <a:ea typeface="D2Coding" panose="020B0609020101020101" pitchFamily="49" charset="-127"/>
              </a:rPr>
              <a:t>= (10</a:t>
            </a:r>
            <a:r>
              <a:rPr lang="ko-KR" altLang="en-US" sz="1400" dirty="0">
                <a:solidFill>
                  <a:schemeClr val="bg1"/>
                </a:solidFill>
                <a:latin typeface="D2Coding" panose="020B0609020101020101" pitchFamily="49" charset="-127"/>
                <a:ea typeface="D2Coding" panose="020B0609020101020101" pitchFamily="49" charset="-127"/>
              </a:rPr>
              <a:t>년</a:t>
            </a:r>
            <a:r>
              <a:rPr lang="en-US" altLang="ko-KR" sz="1400" dirty="0">
                <a:solidFill>
                  <a:schemeClr val="bg1"/>
                </a:solidFill>
                <a:latin typeface="D2Coding" panose="020B0609020101020101" pitchFamily="49" charset="-127"/>
                <a:ea typeface="D2Coding" panose="020B0609020101020101" pitchFamily="49" charset="-127"/>
              </a:rPr>
              <a:t>, 365</a:t>
            </a:r>
            <a:r>
              <a:rPr lang="ko-KR" altLang="en-US" sz="1400" dirty="0">
                <a:solidFill>
                  <a:schemeClr val="bg1"/>
                </a:solidFill>
                <a:latin typeface="D2Coding" panose="020B0609020101020101" pitchFamily="49" charset="-127"/>
                <a:ea typeface="D2Coding" panose="020B0609020101020101" pitchFamily="49" charset="-127"/>
              </a:rPr>
              <a:t>일</a:t>
            </a:r>
            <a:r>
              <a:rPr lang="en-US" altLang="ko-KR" sz="1400" dirty="0">
                <a:solidFill>
                  <a:schemeClr val="bg1"/>
                </a:solidFill>
                <a:latin typeface="D2Coding" panose="020B0609020101020101" pitchFamily="49" charset="-127"/>
                <a:ea typeface="D2Coding" panose="020B0609020101020101" pitchFamily="49" charset="-127"/>
              </a:rPr>
              <a:t>, 3</a:t>
            </a:r>
            <a:r>
              <a:rPr lang="ko-KR" altLang="en-US" sz="1400" dirty="0">
                <a:solidFill>
                  <a:schemeClr val="bg1"/>
                </a:solidFill>
                <a:latin typeface="D2Coding" panose="020B0609020101020101" pitchFamily="49" charset="-127"/>
                <a:ea typeface="D2Coding" panose="020B0609020101020101" pitchFamily="49" charset="-127"/>
              </a:rPr>
              <a:t>개 </a:t>
            </a:r>
            <a:r>
              <a:rPr lang="en-US" altLang="ko-KR" sz="1400" dirty="0">
                <a:solidFill>
                  <a:schemeClr val="bg1"/>
                </a:solidFill>
                <a:latin typeface="D2Coding" panose="020B0609020101020101" pitchFamily="49" charset="-127"/>
                <a:ea typeface="D2Coding" panose="020B0609020101020101" pitchFamily="49" charset="-127"/>
              </a:rPr>
              <a:t>Features)</a:t>
            </a:r>
            <a:endParaRPr lang="ko-KR" altLang="en-US" dirty="0">
              <a:solidFill>
                <a:schemeClr val="bg1"/>
              </a:solidFill>
            </a:endParaRPr>
          </a:p>
        </p:txBody>
      </p:sp>
      <p:sp>
        <p:nvSpPr>
          <p:cNvPr id="17" name="직사각형 16">
            <a:extLst>
              <a:ext uri="{FF2B5EF4-FFF2-40B4-BE49-F238E27FC236}">
                <a16:creationId xmlns:a16="http://schemas.microsoft.com/office/drawing/2014/main" id="{DEFB5CD3-2CBE-9B77-AECC-EE1A5C5E2054}"/>
              </a:ext>
            </a:extLst>
          </p:cNvPr>
          <p:cNvSpPr/>
          <p:nvPr/>
        </p:nvSpPr>
        <p:spPr>
          <a:xfrm>
            <a:off x="8168860" y="4636760"/>
            <a:ext cx="2675444" cy="33211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rgbClr val="FF0000"/>
                </a:solidFill>
                <a:latin typeface="D2Coding" panose="020B0609020101020101" pitchFamily="49" charset="-127"/>
                <a:ea typeface="D2Coding" panose="020B0609020101020101" pitchFamily="49" charset="-127"/>
              </a:rPr>
              <a:t>25.4, 24.3,……… 34.5, 33.3…</a:t>
            </a:r>
            <a:endParaRPr lang="ko-KR" altLang="en-US" sz="1200" dirty="0">
              <a:solidFill>
                <a:schemeClr val="accent5"/>
              </a:solidFill>
              <a:latin typeface="D2Coding" panose="020B0609020101020101" pitchFamily="49" charset="-127"/>
              <a:ea typeface="D2Coding" panose="020B0609020101020101" pitchFamily="49" charset="-127"/>
            </a:endParaRPr>
          </a:p>
        </p:txBody>
      </p:sp>
      <p:sp>
        <p:nvSpPr>
          <p:cNvPr id="21" name="직사각형 20">
            <a:extLst>
              <a:ext uri="{FF2B5EF4-FFF2-40B4-BE49-F238E27FC236}">
                <a16:creationId xmlns:a16="http://schemas.microsoft.com/office/drawing/2014/main" id="{7B360D9F-C912-8897-2FCD-65B4E4F1B233}"/>
              </a:ext>
            </a:extLst>
          </p:cNvPr>
          <p:cNvSpPr/>
          <p:nvPr/>
        </p:nvSpPr>
        <p:spPr>
          <a:xfrm>
            <a:off x="8435734" y="4907317"/>
            <a:ext cx="2675444" cy="33211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accent6"/>
                </a:solidFill>
                <a:latin typeface="D2Coding" panose="020B0609020101020101" pitchFamily="49" charset="-127"/>
                <a:ea typeface="D2Coding" panose="020B0609020101020101" pitchFamily="49" charset="-127"/>
              </a:rPr>
              <a:t>100.0, 101.3, 56.7……….45.6, 34.6</a:t>
            </a:r>
          </a:p>
        </p:txBody>
      </p:sp>
      <p:sp>
        <p:nvSpPr>
          <p:cNvPr id="23" name="직사각형 22">
            <a:extLst>
              <a:ext uri="{FF2B5EF4-FFF2-40B4-BE49-F238E27FC236}">
                <a16:creationId xmlns:a16="http://schemas.microsoft.com/office/drawing/2014/main" id="{9C704DD3-CB3F-79B9-582E-ACBA81445B48}"/>
              </a:ext>
            </a:extLst>
          </p:cNvPr>
          <p:cNvSpPr/>
          <p:nvPr/>
        </p:nvSpPr>
        <p:spPr>
          <a:xfrm>
            <a:off x="8784984" y="5195560"/>
            <a:ext cx="2675444" cy="33211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accent5"/>
                </a:solidFill>
                <a:latin typeface="D2Coding" panose="020B0609020101020101" pitchFamily="49" charset="-127"/>
                <a:ea typeface="D2Coding" panose="020B0609020101020101" pitchFamily="49" charset="-127"/>
              </a:rPr>
              <a:t>34.6, 45.6,…………………..56.5, 67.6</a:t>
            </a:r>
            <a:endParaRPr lang="ko-KR" altLang="en-US" sz="1200" dirty="0">
              <a:solidFill>
                <a:schemeClr val="accent5"/>
              </a:solidFill>
              <a:latin typeface="D2Coding" panose="020B0609020101020101" pitchFamily="49" charset="-127"/>
              <a:ea typeface="D2Coding" panose="020B0609020101020101" pitchFamily="49" charset="-127"/>
            </a:endParaRPr>
          </a:p>
        </p:txBody>
      </p:sp>
      <p:sp>
        <p:nvSpPr>
          <p:cNvPr id="24" name="왼쪽 중괄호 23">
            <a:extLst>
              <a:ext uri="{FF2B5EF4-FFF2-40B4-BE49-F238E27FC236}">
                <a16:creationId xmlns:a16="http://schemas.microsoft.com/office/drawing/2014/main" id="{01F2A509-E1A0-4E95-024A-0369558EF003}"/>
              </a:ext>
            </a:extLst>
          </p:cNvPr>
          <p:cNvSpPr/>
          <p:nvPr/>
        </p:nvSpPr>
        <p:spPr>
          <a:xfrm rot="10800000">
            <a:off x="4119909" y="3434296"/>
            <a:ext cx="193430" cy="1066897"/>
          </a:xfrm>
          <a:prstGeom prst="leftBrace">
            <a:avLst>
              <a:gd name="adj1" fmla="val 56639"/>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26" name="왼쪽 중괄호 25">
            <a:extLst>
              <a:ext uri="{FF2B5EF4-FFF2-40B4-BE49-F238E27FC236}">
                <a16:creationId xmlns:a16="http://schemas.microsoft.com/office/drawing/2014/main" id="{F29B2FB5-9925-E455-D163-C8E3EAFA3652}"/>
              </a:ext>
            </a:extLst>
          </p:cNvPr>
          <p:cNvSpPr/>
          <p:nvPr/>
        </p:nvSpPr>
        <p:spPr>
          <a:xfrm rot="16200000">
            <a:off x="2534601" y="3477338"/>
            <a:ext cx="281160" cy="2640405"/>
          </a:xfrm>
          <a:prstGeom prst="leftBrace">
            <a:avLst>
              <a:gd name="adj1" fmla="val 56639"/>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28" name="왼쪽 중괄호 27">
            <a:extLst>
              <a:ext uri="{FF2B5EF4-FFF2-40B4-BE49-F238E27FC236}">
                <a16:creationId xmlns:a16="http://schemas.microsoft.com/office/drawing/2014/main" id="{4EAAAEF1-D1C2-AB5B-6FDC-2FF43601242D}"/>
              </a:ext>
            </a:extLst>
          </p:cNvPr>
          <p:cNvSpPr/>
          <p:nvPr/>
        </p:nvSpPr>
        <p:spPr>
          <a:xfrm rot="7748708">
            <a:off x="3742428" y="2513119"/>
            <a:ext cx="242513" cy="962173"/>
          </a:xfrm>
          <a:prstGeom prst="leftBrace">
            <a:avLst>
              <a:gd name="adj1" fmla="val 56639"/>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9BD63081-ABF0-F3AD-F08A-C1D88356DCD2}"/>
              </a:ext>
            </a:extLst>
          </p:cNvPr>
          <p:cNvSpPr txBox="1"/>
          <p:nvPr/>
        </p:nvSpPr>
        <p:spPr>
          <a:xfrm>
            <a:off x="2293653" y="4987379"/>
            <a:ext cx="1063625" cy="307777"/>
          </a:xfrm>
          <a:prstGeom prst="rect">
            <a:avLst/>
          </a:prstGeom>
          <a:noFill/>
        </p:spPr>
        <p:txBody>
          <a:bodyPr wrap="square">
            <a:spAutoFit/>
          </a:bodyPr>
          <a:lstStyle/>
          <a:p>
            <a:r>
              <a:rPr lang="en-US" altLang="ko-KR" sz="1400" dirty="0">
                <a:latin typeface="D2Coding" panose="020B0609020101020101" pitchFamily="49" charset="-127"/>
                <a:ea typeface="D2Coding" panose="020B0609020101020101" pitchFamily="49" charset="-127"/>
              </a:rPr>
              <a:t>Timesteps</a:t>
            </a:r>
            <a:endParaRPr lang="ko-KR" altLang="en-US" dirty="0"/>
          </a:p>
        </p:txBody>
      </p:sp>
      <p:sp>
        <p:nvSpPr>
          <p:cNvPr id="32" name="TextBox 31">
            <a:extLst>
              <a:ext uri="{FF2B5EF4-FFF2-40B4-BE49-F238E27FC236}">
                <a16:creationId xmlns:a16="http://schemas.microsoft.com/office/drawing/2014/main" id="{F5039ACF-4E13-5D4A-1B29-B2B4D7CBEC41}"/>
              </a:ext>
            </a:extLst>
          </p:cNvPr>
          <p:cNvSpPr txBox="1"/>
          <p:nvPr/>
        </p:nvSpPr>
        <p:spPr>
          <a:xfrm rot="2228255">
            <a:off x="3647386" y="2582615"/>
            <a:ext cx="1063625" cy="307777"/>
          </a:xfrm>
          <a:prstGeom prst="rect">
            <a:avLst/>
          </a:prstGeom>
          <a:noFill/>
        </p:spPr>
        <p:txBody>
          <a:bodyPr wrap="square">
            <a:spAutoFit/>
          </a:bodyPr>
          <a:lstStyle/>
          <a:p>
            <a:r>
              <a:rPr lang="en-US" altLang="ko-KR" sz="1400" dirty="0">
                <a:latin typeface="D2Coding" panose="020B0609020101020101" pitchFamily="49" charset="-127"/>
                <a:ea typeface="D2Coding" panose="020B0609020101020101" pitchFamily="49" charset="-127"/>
              </a:rPr>
              <a:t>Samples</a:t>
            </a:r>
            <a:endParaRPr lang="ko-KR" altLang="en-US" dirty="0"/>
          </a:p>
        </p:txBody>
      </p:sp>
      <p:sp>
        <p:nvSpPr>
          <p:cNvPr id="34" name="TextBox 33">
            <a:extLst>
              <a:ext uri="{FF2B5EF4-FFF2-40B4-BE49-F238E27FC236}">
                <a16:creationId xmlns:a16="http://schemas.microsoft.com/office/drawing/2014/main" id="{E586E4C6-14B1-F543-4591-2B09B6144556}"/>
              </a:ext>
            </a:extLst>
          </p:cNvPr>
          <p:cNvSpPr txBox="1"/>
          <p:nvPr/>
        </p:nvSpPr>
        <p:spPr>
          <a:xfrm>
            <a:off x="4172554" y="4039008"/>
            <a:ext cx="1063625" cy="307777"/>
          </a:xfrm>
          <a:prstGeom prst="rect">
            <a:avLst/>
          </a:prstGeom>
          <a:noFill/>
        </p:spPr>
        <p:txBody>
          <a:bodyPr wrap="square">
            <a:spAutoFit/>
          </a:bodyPr>
          <a:lstStyle/>
          <a:p>
            <a:r>
              <a:rPr lang="en-US" altLang="ko-KR" sz="1400" dirty="0">
                <a:latin typeface="D2Coding" panose="020B0609020101020101" pitchFamily="49" charset="-127"/>
                <a:ea typeface="D2Coding" panose="020B0609020101020101" pitchFamily="49" charset="-127"/>
              </a:rPr>
              <a:t>Features</a:t>
            </a:r>
            <a:endParaRPr lang="ko-KR" altLang="en-US" dirty="0"/>
          </a:p>
        </p:txBody>
      </p:sp>
      <p:grpSp>
        <p:nvGrpSpPr>
          <p:cNvPr id="45" name="그룹 44">
            <a:extLst>
              <a:ext uri="{FF2B5EF4-FFF2-40B4-BE49-F238E27FC236}">
                <a16:creationId xmlns:a16="http://schemas.microsoft.com/office/drawing/2014/main" id="{9C0C4996-B744-BE18-85BE-8DF256EB4B70}"/>
              </a:ext>
            </a:extLst>
          </p:cNvPr>
          <p:cNvGrpSpPr/>
          <p:nvPr/>
        </p:nvGrpSpPr>
        <p:grpSpPr>
          <a:xfrm>
            <a:off x="6098486" y="2719353"/>
            <a:ext cx="2946271" cy="636916"/>
            <a:chOff x="6321312" y="3880271"/>
            <a:chExt cx="3315854" cy="636916"/>
          </a:xfrm>
        </p:grpSpPr>
        <p:sp>
          <p:nvSpPr>
            <p:cNvPr id="36" name="직사각형 35">
              <a:extLst>
                <a:ext uri="{FF2B5EF4-FFF2-40B4-BE49-F238E27FC236}">
                  <a16:creationId xmlns:a16="http://schemas.microsoft.com/office/drawing/2014/main" id="{900C4380-D67C-1D16-33AC-E44DCC5B8F85}"/>
                </a:ext>
              </a:extLst>
            </p:cNvPr>
            <p:cNvSpPr/>
            <p:nvPr/>
          </p:nvSpPr>
          <p:spPr>
            <a:xfrm>
              <a:off x="6321312" y="3880271"/>
              <a:ext cx="3011054" cy="3321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42" name="직사각형 41">
              <a:extLst>
                <a:ext uri="{FF2B5EF4-FFF2-40B4-BE49-F238E27FC236}">
                  <a16:creationId xmlns:a16="http://schemas.microsoft.com/office/drawing/2014/main" id="{4F1C9751-6E87-348A-93D2-E5B9AA4BF401}"/>
                </a:ext>
              </a:extLst>
            </p:cNvPr>
            <p:cNvSpPr/>
            <p:nvPr/>
          </p:nvSpPr>
          <p:spPr>
            <a:xfrm>
              <a:off x="6473712" y="4032671"/>
              <a:ext cx="3011054" cy="3321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44" name="직사각형 43">
              <a:extLst>
                <a:ext uri="{FF2B5EF4-FFF2-40B4-BE49-F238E27FC236}">
                  <a16:creationId xmlns:a16="http://schemas.microsoft.com/office/drawing/2014/main" id="{22818226-95B9-12CB-A77C-3DC6C47E9114}"/>
                </a:ext>
              </a:extLst>
            </p:cNvPr>
            <p:cNvSpPr/>
            <p:nvPr/>
          </p:nvSpPr>
          <p:spPr>
            <a:xfrm>
              <a:off x="6626112" y="4185071"/>
              <a:ext cx="3011054" cy="332116"/>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grpSp>
      <p:grpSp>
        <p:nvGrpSpPr>
          <p:cNvPr id="46" name="그룹 45">
            <a:extLst>
              <a:ext uri="{FF2B5EF4-FFF2-40B4-BE49-F238E27FC236}">
                <a16:creationId xmlns:a16="http://schemas.microsoft.com/office/drawing/2014/main" id="{1B2901AC-8421-07E1-B759-0359A5F83D2A}"/>
              </a:ext>
            </a:extLst>
          </p:cNvPr>
          <p:cNvGrpSpPr/>
          <p:nvPr/>
        </p:nvGrpSpPr>
        <p:grpSpPr>
          <a:xfrm>
            <a:off x="6839669" y="3197222"/>
            <a:ext cx="2946271" cy="636916"/>
            <a:chOff x="6321312" y="3880271"/>
            <a:chExt cx="3315854" cy="636916"/>
          </a:xfrm>
        </p:grpSpPr>
        <p:sp>
          <p:nvSpPr>
            <p:cNvPr id="47" name="직사각형 46">
              <a:extLst>
                <a:ext uri="{FF2B5EF4-FFF2-40B4-BE49-F238E27FC236}">
                  <a16:creationId xmlns:a16="http://schemas.microsoft.com/office/drawing/2014/main" id="{972E61A9-C738-B591-252C-685C9958C59E}"/>
                </a:ext>
              </a:extLst>
            </p:cNvPr>
            <p:cNvSpPr/>
            <p:nvPr/>
          </p:nvSpPr>
          <p:spPr>
            <a:xfrm>
              <a:off x="6321312" y="3880271"/>
              <a:ext cx="3011054" cy="3321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48" name="직사각형 47">
              <a:extLst>
                <a:ext uri="{FF2B5EF4-FFF2-40B4-BE49-F238E27FC236}">
                  <a16:creationId xmlns:a16="http://schemas.microsoft.com/office/drawing/2014/main" id="{927B379D-1C92-EC8B-198A-B77D5E4FE1CE}"/>
                </a:ext>
              </a:extLst>
            </p:cNvPr>
            <p:cNvSpPr/>
            <p:nvPr/>
          </p:nvSpPr>
          <p:spPr>
            <a:xfrm>
              <a:off x="6473712" y="4032671"/>
              <a:ext cx="3011054" cy="3321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49" name="직사각형 48">
              <a:extLst>
                <a:ext uri="{FF2B5EF4-FFF2-40B4-BE49-F238E27FC236}">
                  <a16:creationId xmlns:a16="http://schemas.microsoft.com/office/drawing/2014/main" id="{BFCC0B5D-3ADF-5E47-BD33-CEE1F99E5016}"/>
                </a:ext>
              </a:extLst>
            </p:cNvPr>
            <p:cNvSpPr/>
            <p:nvPr/>
          </p:nvSpPr>
          <p:spPr>
            <a:xfrm>
              <a:off x="6626112" y="4185071"/>
              <a:ext cx="3011054" cy="332116"/>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grpSp>
      <p:grpSp>
        <p:nvGrpSpPr>
          <p:cNvPr id="50" name="그룹 49">
            <a:extLst>
              <a:ext uri="{FF2B5EF4-FFF2-40B4-BE49-F238E27FC236}">
                <a16:creationId xmlns:a16="http://schemas.microsoft.com/office/drawing/2014/main" id="{18CB0161-A4DE-16FA-F0E6-9D3B7E6AFB40}"/>
              </a:ext>
            </a:extLst>
          </p:cNvPr>
          <p:cNvGrpSpPr/>
          <p:nvPr/>
        </p:nvGrpSpPr>
        <p:grpSpPr>
          <a:xfrm>
            <a:off x="7573898" y="3734208"/>
            <a:ext cx="2946271" cy="636916"/>
            <a:chOff x="6321312" y="3880271"/>
            <a:chExt cx="3315854" cy="636916"/>
          </a:xfrm>
        </p:grpSpPr>
        <p:sp>
          <p:nvSpPr>
            <p:cNvPr id="51" name="직사각형 50">
              <a:extLst>
                <a:ext uri="{FF2B5EF4-FFF2-40B4-BE49-F238E27FC236}">
                  <a16:creationId xmlns:a16="http://schemas.microsoft.com/office/drawing/2014/main" id="{2A6D9CCA-C00A-900C-A0F7-C00623055840}"/>
                </a:ext>
              </a:extLst>
            </p:cNvPr>
            <p:cNvSpPr/>
            <p:nvPr/>
          </p:nvSpPr>
          <p:spPr>
            <a:xfrm>
              <a:off x="6321312" y="3880271"/>
              <a:ext cx="3011054" cy="3321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52" name="직사각형 51">
              <a:extLst>
                <a:ext uri="{FF2B5EF4-FFF2-40B4-BE49-F238E27FC236}">
                  <a16:creationId xmlns:a16="http://schemas.microsoft.com/office/drawing/2014/main" id="{42ADC2EE-04AF-6E3C-72FD-EE66E5ADCA15}"/>
                </a:ext>
              </a:extLst>
            </p:cNvPr>
            <p:cNvSpPr/>
            <p:nvPr/>
          </p:nvSpPr>
          <p:spPr>
            <a:xfrm>
              <a:off x="6473712" y="4032671"/>
              <a:ext cx="3011054" cy="3321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sp>
          <p:nvSpPr>
            <p:cNvPr id="53" name="직사각형 52">
              <a:extLst>
                <a:ext uri="{FF2B5EF4-FFF2-40B4-BE49-F238E27FC236}">
                  <a16:creationId xmlns:a16="http://schemas.microsoft.com/office/drawing/2014/main" id="{1545AFA9-4729-B3EC-D78D-5602985B2E70}"/>
                </a:ext>
              </a:extLst>
            </p:cNvPr>
            <p:cNvSpPr/>
            <p:nvPr/>
          </p:nvSpPr>
          <p:spPr>
            <a:xfrm>
              <a:off x="6626112" y="4185071"/>
              <a:ext cx="3011054" cy="332116"/>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ko-KR" sz="1200" dirty="0">
                  <a:solidFill>
                    <a:schemeClr val="tx1"/>
                  </a:solidFill>
                  <a:latin typeface="D2Coding" panose="020B0609020101020101" pitchFamily="49" charset="-127"/>
                  <a:ea typeface="D2Coding" panose="020B0609020101020101" pitchFamily="49" charset="-127"/>
                </a:rPr>
                <a:t>25.4, 24.3,……… 34.5, 33.3…</a:t>
              </a:r>
              <a:endParaRPr lang="ko-KR" altLang="en-US" sz="1200" dirty="0">
                <a:solidFill>
                  <a:schemeClr val="tx1"/>
                </a:solidFill>
                <a:latin typeface="D2Coding" panose="020B0609020101020101" pitchFamily="49" charset="-127"/>
                <a:ea typeface="D2Coding" panose="020B0609020101020101" pitchFamily="49" charset="-127"/>
              </a:endParaRPr>
            </a:p>
          </p:txBody>
        </p:sp>
      </p:grpSp>
      <p:sp>
        <p:nvSpPr>
          <p:cNvPr id="55" name="TextBox 54">
            <a:extLst>
              <a:ext uri="{FF2B5EF4-FFF2-40B4-BE49-F238E27FC236}">
                <a16:creationId xmlns:a16="http://schemas.microsoft.com/office/drawing/2014/main" id="{7CB97179-F8E8-E6F0-0A7E-C56220BACE27}"/>
              </a:ext>
            </a:extLst>
          </p:cNvPr>
          <p:cNvSpPr txBox="1"/>
          <p:nvPr/>
        </p:nvSpPr>
        <p:spPr>
          <a:xfrm>
            <a:off x="6658621" y="5623537"/>
            <a:ext cx="3990394" cy="523220"/>
          </a:xfrm>
          <a:prstGeom prst="rect">
            <a:avLst/>
          </a:prstGeom>
          <a:solidFill>
            <a:schemeClr val="tx1"/>
          </a:solidFill>
        </p:spPr>
        <p:txBody>
          <a:bodyPr wrap="square">
            <a:spAutoFit/>
          </a:bodyPr>
          <a:lstStyle/>
          <a:p>
            <a:pPr algn="ctr"/>
            <a:r>
              <a:rPr lang="en-US" altLang="ko-KR" sz="1400" dirty="0">
                <a:solidFill>
                  <a:schemeClr val="bg1"/>
                </a:solidFill>
                <a:latin typeface="D2Coding" panose="020B0609020101020101" pitchFamily="49" charset="-127"/>
                <a:ea typeface="D2Coding" panose="020B0609020101020101" pitchFamily="49" charset="-127"/>
              </a:rPr>
              <a:t>3D Timeseries</a:t>
            </a:r>
            <a:r>
              <a:rPr lang="ko-KR" altLang="en-US" sz="1400" dirty="0">
                <a:solidFill>
                  <a:schemeClr val="bg1"/>
                </a:solidFill>
                <a:latin typeface="D2Coding" panose="020B0609020101020101" pitchFamily="49" charset="-127"/>
                <a:ea typeface="D2Coding" panose="020B0609020101020101" pitchFamily="49" charset="-127"/>
              </a:rPr>
              <a:t> </a:t>
            </a:r>
            <a:r>
              <a:rPr lang="en-US" altLang="ko-KR" sz="1400" dirty="0">
                <a:solidFill>
                  <a:schemeClr val="bg1"/>
                </a:solidFill>
                <a:latin typeface="D2Coding" panose="020B0609020101020101" pitchFamily="49" charset="-127"/>
                <a:ea typeface="D2Coding" panose="020B0609020101020101" pitchFamily="49" charset="-127"/>
              </a:rPr>
              <a:t>Tensor</a:t>
            </a:r>
          </a:p>
          <a:p>
            <a:pPr algn="ctr"/>
            <a:r>
              <a:rPr lang="en-US" altLang="ko-KR" sz="1400" dirty="0">
                <a:solidFill>
                  <a:schemeClr val="bg1"/>
                </a:solidFill>
                <a:latin typeface="D2Coding" panose="020B0609020101020101" pitchFamily="49" charset="-127"/>
                <a:ea typeface="D2Coding" panose="020B0609020101020101" pitchFamily="49" charset="-127"/>
              </a:rPr>
              <a:t>(</a:t>
            </a:r>
            <a:r>
              <a:rPr lang="ko-KR" altLang="ko-KR" sz="1400" dirty="0">
                <a:solidFill>
                  <a:schemeClr val="bg1"/>
                </a:solidFill>
                <a:latin typeface="D2Coding" panose="020B0609020101020101" pitchFamily="49" charset="-127"/>
                <a:ea typeface="D2Coding" panose="020B0609020101020101" pitchFamily="49" charset="-127"/>
              </a:rPr>
              <a:t>10, 3, 365</a:t>
            </a:r>
            <a:r>
              <a:rPr lang="en-US" altLang="ko-KR" sz="1400" dirty="0">
                <a:solidFill>
                  <a:schemeClr val="bg1"/>
                </a:solidFill>
                <a:latin typeface="D2Coding" panose="020B0609020101020101" pitchFamily="49" charset="-127"/>
                <a:ea typeface="D2Coding" panose="020B0609020101020101" pitchFamily="49" charset="-127"/>
              </a:rPr>
              <a:t>) = (10</a:t>
            </a:r>
            <a:r>
              <a:rPr lang="ko-KR" altLang="en-US" sz="1400" dirty="0">
                <a:solidFill>
                  <a:schemeClr val="bg1"/>
                </a:solidFill>
                <a:latin typeface="D2Coding" panose="020B0609020101020101" pitchFamily="49" charset="-127"/>
                <a:ea typeface="D2Coding" panose="020B0609020101020101" pitchFamily="49" charset="-127"/>
              </a:rPr>
              <a:t>년</a:t>
            </a:r>
            <a:r>
              <a:rPr lang="en-US" altLang="ko-KR" sz="1400" dirty="0">
                <a:solidFill>
                  <a:schemeClr val="bg1"/>
                </a:solidFill>
                <a:latin typeface="D2Coding" panose="020B0609020101020101" pitchFamily="49" charset="-127"/>
                <a:ea typeface="D2Coding" panose="020B0609020101020101" pitchFamily="49" charset="-127"/>
              </a:rPr>
              <a:t>, 3</a:t>
            </a:r>
            <a:r>
              <a:rPr lang="ko-KR" altLang="en-US" sz="1400" dirty="0">
                <a:solidFill>
                  <a:schemeClr val="bg1"/>
                </a:solidFill>
                <a:latin typeface="D2Coding" panose="020B0609020101020101" pitchFamily="49" charset="-127"/>
                <a:ea typeface="D2Coding" panose="020B0609020101020101" pitchFamily="49" charset="-127"/>
              </a:rPr>
              <a:t>개 </a:t>
            </a:r>
            <a:r>
              <a:rPr lang="en-US" altLang="ko-KR" sz="1400" dirty="0">
                <a:solidFill>
                  <a:schemeClr val="bg1"/>
                </a:solidFill>
                <a:latin typeface="D2Coding" panose="020B0609020101020101" pitchFamily="49" charset="-127"/>
                <a:ea typeface="D2Coding" panose="020B0609020101020101" pitchFamily="49" charset="-127"/>
              </a:rPr>
              <a:t>Channel, 365</a:t>
            </a:r>
            <a:r>
              <a:rPr lang="ko-KR" altLang="en-US" sz="1400" dirty="0">
                <a:solidFill>
                  <a:schemeClr val="bg1"/>
                </a:solidFill>
                <a:latin typeface="D2Coding" panose="020B0609020101020101" pitchFamily="49" charset="-127"/>
                <a:ea typeface="D2Coding" panose="020B0609020101020101" pitchFamily="49" charset="-127"/>
              </a:rPr>
              <a:t>일</a:t>
            </a:r>
            <a:r>
              <a:rPr lang="en-US" altLang="ko-KR" sz="1400" dirty="0">
                <a:solidFill>
                  <a:schemeClr val="bg1"/>
                </a:solidFill>
                <a:latin typeface="D2Coding" panose="020B0609020101020101" pitchFamily="49" charset="-127"/>
                <a:ea typeface="D2Coding" panose="020B0609020101020101" pitchFamily="49" charset="-127"/>
              </a:rPr>
              <a:t>)</a:t>
            </a:r>
            <a:endParaRPr lang="ko-KR" altLang="en-US" dirty="0">
              <a:solidFill>
                <a:schemeClr val="bg1"/>
              </a:solidFill>
              <a:latin typeface="D2Coding" panose="020B0609020101020101" pitchFamily="49" charset="-127"/>
              <a:ea typeface="D2Coding" panose="020B0609020101020101" pitchFamily="49" charset="-127"/>
            </a:endParaRPr>
          </a:p>
        </p:txBody>
      </p:sp>
      <p:sp>
        <p:nvSpPr>
          <p:cNvPr id="57" name="TextBox 56">
            <a:extLst>
              <a:ext uri="{FF2B5EF4-FFF2-40B4-BE49-F238E27FC236}">
                <a16:creationId xmlns:a16="http://schemas.microsoft.com/office/drawing/2014/main" id="{CBB1551D-D2C7-E764-581E-1AD5C6A9436A}"/>
              </a:ext>
            </a:extLst>
          </p:cNvPr>
          <p:cNvSpPr txBox="1"/>
          <p:nvPr/>
        </p:nvSpPr>
        <p:spPr>
          <a:xfrm>
            <a:off x="6658621" y="5307112"/>
            <a:ext cx="1352254" cy="307777"/>
          </a:xfrm>
          <a:prstGeom prst="rect">
            <a:avLst/>
          </a:prstGeom>
          <a:solidFill>
            <a:schemeClr val="tx1"/>
          </a:solidFill>
        </p:spPr>
        <p:txBody>
          <a:bodyPr wrap="square">
            <a:spAutoFit/>
          </a:bodyPr>
          <a:lstStyle/>
          <a:p>
            <a:r>
              <a:rPr lang="en-US" altLang="ko-KR" sz="1400" dirty="0">
                <a:solidFill>
                  <a:schemeClr val="bg1"/>
                </a:solidFill>
                <a:latin typeface="D2Coding" panose="020B0609020101020101" pitchFamily="49" charset="-127"/>
                <a:ea typeface="D2Coding" panose="020B0609020101020101" pitchFamily="49" charset="-127"/>
              </a:rPr>
              <a:t>1D Convnet</a:t>
            </a:r>
            <a:endParaRPr lang="ko-KR" altLang="en-US" dirty="0">
              <a:solidFill>
                <a:schemeClr val="bg1"/>
              </a:solidFill>
            </a:endParaRPr>
          </a:p>
        </p:txBody>
      </p:sp>
      <p:sp>
        <p:nvSpPr>
          <p:cNvPr id="59" name="TextBox 58">
            <a:extLst>
              <a:ext uri="{FF2B5EF4-FFF2-40B4-BE49-F238E27FC236}">
                <a16:creationId xmlns:a16="http://schemas.microsoft.com/office/drawing/2014/main" id="{ED9B1B02-C4B8-A728-1D8B-A92106D5E056}"/>
              </a:ext>
            </a:extLst>
          </p:cNvPr>
          <p:cNvSpPr txBox="1"/>
          <p:nvPr/>
        </p:nvSpPr>
        <p:spPr>
          <a:xfrm>
            <a:off x="882300" y="5307112"/>
            <a:ext cx="1352254" cy="307777"/>
          </a:xfrm>
          <a:prstGeom prst="rect">
            <a:avLst/>
          </a:prstGeom>
          <a:solidFill>
            <a:schemeClr val="tx1"/>
          </a:solidFill>
        </p:spPr>
        <p:txBody>
          <a:bodyPr wrap="square">
            <a:spAutoFit/>
          </a:bodyPr>
          <a:lstStyle/>
          <a:p>
            <a:r>
              <a:rPr lang="en-US" altLang="ko-KR" sz="1400" dirty="0">
                <a:solidFill>
                  <a:schemeClr val="bg1"/>
                </a:solidFill>
                <a:latin typeface="D2Coding" panose="020B0609020101020101" pitchFamily="49" charset="-127"/>
                <a:ea typeface="D2Coding" panose="020B0609020101020101" pitchFamily="49" charset="-127"/>
              </a:rPr>
              <a:t>RNN</a:t>
            </a:r>
            <a:endParaRPr lang="ko-KR" altLang="en-US" dirty="0">
              <a:solidFill>
                <a:schemeClr val="bg1"/>
              </a:solidFill>
            </a:endParaRPr>
          </a:p>
        </p:txBody>
      </p:sp>
      <p:cxnSp>
        <p:nvCxnSpPr>
          <p:cNvPr id="61" name="직선 화살표 연결선 60">
            <a:extLst>
              <a:ext uri="{FF2B5EF4-FFF2-40B4-BE49-F238E27FC236}">
                <a16:creationId xmlns:a16="http://schemas.microsoft.com/office/drawing/2014/main" id="{99D9EF10-5E5C-B92C-0B5F-076B03A6ED6B}"/>
              </a:ext>
            </a:extLst>
          </p:cNvPr>
          <p:cNvCxnSpPr/>
          <p:nvPr/>
        </p:nvCxnSpPr>
        <p:spPr>
          <a:xfrm>
            <a:off x="5015345" y="3834138"/>
            <a:ext cx="8891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5641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04EE-2644-EC70-C999-0B66D2DBC96E}"/>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3CDC5373-6B20-0263-9D7D-7CFF9FB4875E}"/>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Strengths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of</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Convnet 1D </a:t>
            </a:r>
          </a:p>
        </p:txBody>
      </p:sp>
      <p:sp>
        <p:nvSpPr>
          <p:cNvPr id="2" name="슬라이드 번호 개체 틀 3">
            <a:extLst>
              <a:ext uri="{FF2B5EF4-FFF2-40B4-BE49-F238E27FC236}">
                <a16:creationId xmlns:a16="http://schemas.microsoft.com/office/drawing/2014/main" id="{7D2DD83A-878F-FF40-28DA-F6673ED2AF51}"/>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62</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4337481-CA88-E348-2DE3-4E755CE750EC}"/>
              </a:ext>
            </a:extLst>
          </p:cNvPr>
          <p:cNvSpPr txBox="1"/>
          <p:nvPr/>
        </p:nvSpPr>
        <p:spPr>
          <a:xfrm>
            <a:off x="581630" y="1248422"/>
            <a:ext cx="11134725" cy="5183791"/>
          </a:xfrm>
          <a:prstGeom prst="rect">
            <a:avLst/>
          </a:prstGeom>
          <a:noFill/>
        </p:spPr>
        <p:txBody>
          <a:bodyPr wrap="square">
            <a:spAutoFit/>
          </a:bodyPr>
          <a:lstStyle/>
          <a:p>
            <a:pPr>
              <a:lnSpc>
                <a:spcPct val="150000"/>
              </a:lnSpc>
            </a:pPr>
            <a:r>
              <a:rPr lang="en-US" altLang="ko-KR" sz="1600" dirty="0">
                <a:latin typeface="D2Coding" panose="020B0609020101020101" pitchFamily="49" charset="-127"/>
                <a:ea typeface="D2Coding" panose="020B0609020101020101" pitchFamily="49" charset="-127"/>
              </a:rPr>
              <a:t>1. </a:t>
            </a:r>
            <a:r>
              <a:rPr lang="ko-KR" altLang="en-US" sz="1600" dirty="0">
                <a:latin typeface="D2Coding" panose="020B0609020101020101" pitchFamily="49" charset="-127"/>
                <a:ea typeface="D2Coding" panose="020B0609020101020101" pitchFamily="49" charset="-127"/>
              </a:rPr>
              <a:t>자동 특성 추출 </a:t>
            </a:r>
            <a:r>
              <a:rPr lang="en-US" altLang="ko-KR" sz="1600" dirty="0">
                <a:latin typeface="D2Coding" panose="020B0609020101020101" pitchFamily="49" charset="-127"/>
                <a:ea typeface="D2Coding" panose="020B0609020101020101" pitchFamily="49" charset="-127"/>
              </a:rPr>
              <a:t>(Automatic Feature Extraction)</a:t>
            </a:r>
          </a:p>
          <a:p>
            <a:pPr marL="742950" lvl="1" indent="-285750">
              <a:lnSpc>
                <a:spcPct val="150000"/>
              </a:lnSpc>
              <a:buFont typeface="Wingdings" panose="05000000000000000000" pitchFamily="2" charset="2"/>
              <a:buChar char="v"/>
            </a:pPr>
            <a:r>
              <a:rPr lang="en-US" altLang="ko-KR" sz="1600" dirty="0">
                <a:latin typeface="D2Coding" panose="020B0609020101020101" pitchFamily="49" charset="-127"/>
                <a:ea typeface="D2Coding" panose="020B0609020101020101" pitchFamily="49" charset="-127"/>
              </a:rPr>
              <a:t>MA</a:t>
            </a:r>
            <a:r>
              <a:rPr lang="ko-KR" altLang="en-US" sz="1600" dirty="0">
                <a:latin typeface="D2Coding" panose="020B0609020101020101" pitchFamily="49" charset="-127"/>
                <a:ea typeface="D2Coding" panose="020B0609020101020101" pitchFamily="49" charset="-127"/>
              </a:rPr>
              <a:t>（</a:t>
            </a:r>
            <a:r>
              <a:rPr lang="en-US" altLang="ko-KR" sz="1600" dirty="0">
                <a:latin typeface="D2Coding" panose="020B0609020101020101" pitchFamily="49" charset="-127"/>
                <a:ea typeface="D2Coding" panose="020B0609020101020101" pitchFamily="49" charset="-127"/>
              </a:rPr>
              <a:t>Moving Average</a:t>
            </a:r>
            <a:r>
              <a:rPr lang="ko-KR" altLang="en-US" sz="1600" dirty="0">
                <a:latin typeface="D2Coding" panose="020B0609020101020101" pitchFamily="49" charset="-127"/>
                <a:ea typeface="D2Coding" panose="020B0609020101020101" pitchFamily="49" charset="-127"/>
              </a:rPr>
              <a:t>）방식</a:t>
            </a:r>
            <a:r>
              <a:rPr lang="en-US" altLang="ko-KR" sz="1600" dirty="0">
                <a:latin typeface="D2Coding" panose="020B0609020101020101" pitchFamily="49" charset="-127"/>
                <a:ea typeface="D2Coding" panose="020B0609020101020101" pitchFamily="49" charset="-127"/>
              </a:rPr>
              <a:t>:</a:t>
            </a:r>
          </a:p>
          <a:p>
            <a:pPr marL="1200150" lvl="2" indent="-285750">
              <a:lnSpc>
                <a:spcPct val="150000"/>
              </a:lnSpc>
              <a:buFont typeface="Wingdings" panose="05000000000000000000" pitchFamily="2" charset="2"/>
              <a:buChar char="v"/>
            </a:pPr>
            <a:r>
              <a:rPr lang="en-US" altLang="ko-KR" sz="1400" dirty="0">
                <a:latin typeface="D2Coding" panose="020B0609020101020101" pitchFamily="49" charset="-127"/>
                <a:ea typeface="D2Coding" panose="020B0609020101020101" pitchFamily="49" charset="-127"/>
              </a:rPr>
              <a:t>3</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 5</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 7</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 14</a:t>
            </a:r>
            <a:r>
              <a:rPr lang="ko-KR" altLang="en-US" sz="1400" dirty="0">
                <a:latin typeface="D2Coding" panose="020B0609020101020101" pitchFamily="49" charset="-127"/>
                <a:ea typeface="D2Coding" panose="020B0609020101020101" pitchFamily="49" charset="-127"/>
              </a:rPr>
              <a:t>일 등 지정된 기간 동안의 단순 평균값만 계산하므로 정보가 극도로 단축</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평탄화</a:t>
            </a:r>
            <a:r>
              <a:rPr lang="en-US" altLang="ko-KR" sz="1400" dirty="0">
                <a:latin typeface="D2Coding" panose="020B0609020101020101" pitchFamily="49" charset="-127"/>
                <a:ea typeface="D2Coding" panose="020B0609020101020101" pitchFamily="49" charset="-127"/>
              </a:rPr>
              <a:t>(Smoothing)</a:t>
            </a: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급격한 변동</a:t>
            </a:r>
            <a:r>
              <a:rPr lang="en-US" altLang="ko-KR" sz="1400" dirty="0">
                <a:latin typeface="D2Coding" panose="020B0609020101020101" pitchFamily="49" charset="-127"/>
                <a:ea typeface="D2Coding" panose="020B0609020101020101" pitchFamily="49" charset="-127"/>
              </a:rPr>
              <a:t>, </a:t>
            </a:r>
            <a:r>
              <a:rPr lang="ko-KR" altLang="en-US" sz="1400" dirty="0" err="1">
                <a:latin typeface="D2Coding" panose="020B0609020101020101" pitchFamily="49" charset="-127"/>
                <a:ea typeface="D2Coding" panose="020B0609020101020101" pitchFamily="49" charset="-127"/>
              </a:rPr>
              <a:t>골든크로스</a:t>
            </a:r>
            <a:r>
              <a:rPr lang="en-US" altLang="ko-KR" sz="1400" dirty="0">
                <a:latin typeface="D2Coding" panose="020B0609020101020101" pitchFamily="49" charset="-127"/>
                <a:ea typeface="D2Coding" panose="020B0609020101020101" pitchFamily="49" charset="-127"/>
              </a:rPr>
              <a:t>/</a:t>
            </a:r>
            <a:r>
              <a:rPr lang="ko-KR" altLang="en-US" sz="1400" dirty="0" err="1">
                <a:latin typeface="D2Coding" panose="020B0609020101020101" pitchFamily="49" charset="-127"/>
                <a:ea typeface="D2Coding" panose="020B0609020101020101" pitchFamily="49" charset="-127"/>
              </a:rPr>
              <a:t>데드크로스</a:t>
            </a:r>
            <a:r>
              <a:rPr lang="ko-KR" altLang="en-US" sz="1400" dirty="0">
                <a:latin typeface="D2Coding" panose="020B0609020101020101" pitchFamily="49" charset="-127"/>
                <a:ea typeface="D2Coding" panose="020B0609020101020101" pitchFamily="49" charset="-127"/>
              </a:rPr>
              <a:t> 형태</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변동성 패턴 등 복잡한 시상 패턴</a:t>
            </a:r>
            <a:r>
              <a:rPr lang="en-US" altLang="ko-KR" sz="1400" dirty="0">
                <a:latin typeface="D2Coding" panose="020B0609020101020101" pitchFamily="49" charset="-127"/>
                <a:ea typeface="D2Coding" panose="020B0609020101020101" pitchFamily="49" charset="-127"/>
              </a:rPr>
              <a:t>(Temporal Pattern)</a:t>
            </a:r>
            <a:r>
              <a:rPr lang="ko-KR" altLang="en-US" sz="1400" dirty="0">
                <a:latin typeface="D2Coding" panose="020B0609020101020101" pitchFamily="49" charset="-127"/>
                <a:ea typeface="D2Coding" panose="020B0609020101020101" pitchFamily="49" charset="-127"/>
              </a:rPr>
              <a:t>을 포착하지 못함</a:t>
            </a:r>
            <a:endParaRPr lang="en-US" altLang="ko-KR" sz="14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v"/>
            </a:pPr>
            <a:r>
              <a:rPr lang="en-US" altLang="ko-KR" sz="1600" dirty="0">
                <a:latin typeface="D2Coding" panose="020B0609020101020101" pitchFamily="49" charset="-127"/>
                <a:ea typeface="D2Coding" panose="020B0609020101020101" pitchFamily="49" charset="-127"/>
              </a:rPr>
              <a:t>1D </a:t>
            </a:r>
            <a:r>
              <a:rPr lang="en-US" altLang="ko-KR" sz="1600" dirty="0" err="1">
                <a:latin typeface="D2Coding" panose="020B0609020101020101" pitchFamily="49" charset="-127"/>
                <a:ea typeface="D2Coding" panose="020B0609020101020101" pitchFamily="49" charset="-127"/>
              </a:rPr>
              <a:t>ConvNet</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방식</a:t>
            </a:r>
            <a:r>
              <a:rPr lang="en-US" altLang="ko-KR" sz="1600" dirty="0">
                <a:latin typeface="D2Coding" panose="020B0609020101020101" pitchFamily="49" charset="-127"/>
                <a:ea typeface="D2Coding" panose="020B0609020101020101" pitchFamily="49" charset="-127"/>
              </a:rPr>
              <a:t>:</a:t>
            </a: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필터</a:t>
            </a:r>
            <a:r>
              <a:rPr lang="en-US" altLang="ko-KR" sz="1400" dirty="0">
                <a:latin typeface="D2Coding" panose="020B0609020101020101" pitchFamily="49" charset="-127"/>
                <a:ea typeface="D2Coding" panose="020B0609020101020101" pitchFamily="49" charset="-127"/>
              </a:rPr>
              <a:t>(Filter)</a:t>
            </a:r>
            <a:r>
              <a:rPr lang="ko-KR" altLang="en-US" sz="1400" dirty="0">
                <a:latin typeface="D2Coding" panose="020B0609020101020101" pitchFamily="49" charset="-127"/>
                <a:ea typeface="D2Coding" panose="020B0609020101020101" pitchFamily="49" charset="-127"/>
              </a:rPr>
              <a:t>의 가중치가 학습 과정에서 최적화되면서 단순 평균이 아닌 최적의 패턴 </a:t>
            </a:r>
            <a:r>
              <a:rPr lang="ko-KR" altLang="en-US" sz="1400" dirty="0" err="1">
                <a:latin typeface="D2Coding" panose="020B0609020101020101" pitchFamily="49" charset="-127"/>
                <a:ea typeface="D2Coding" panose="020B0609020101020101" pitchFamily="49" charset="-127"/>
              </a:rPr>
              <a:t>추출기</a:t>
            </a:r>
            <a:r>
              <a:rPr lang="ko-KR" altLang="en-US" sz="1400" dirty="0">
                <a:latin typeface="D2Coding" panose="020B0609020101020101" pitchFamily="49" charset="-127"/>
                <a:ea typeface="D2Coding" panose="020B0609020101020101" pitchFamily="49" charset="-127"/>
              </a:rPr>
              <a:t> 역할을 수행</a:t>
            </a:r>
            <a:endParaRPr lang="en-US" altLang="ko-KR" sz="1400" dirty="0">
              <a:latin typeface="D2Coding" panose="020B0609020101020101" pitchFamily="49" charset="-127"/>
              <a:ea typeface="D2Coding" panose="020B0609020101020101" pitchFamily="49" charset="-127"/>
            </a:endParaRP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상승</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하강 추세</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특정 급등락 모양</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모멘텀 등 다양한 국소적 비선형 패턴을 자동으로 탐지</a:t>
            </a:r>
            <a:endParaRPr lang="en-US" altLang="ko-KR" sz="1600" dirty="0">
              <a:latin typeface="D2Coding" panose="020B0609020101020101" pitchFamily="49" charset="-127"/>
              <a:ea typeface="D2Coding" panose="020B0609020101020101" pitchFamily="49" charset="-127"/>
            </a:endParaRPr>
          </a:p>
          <a:p>
            <a:pPr>
              <a:lnSpc>
                <a:spcPct val="150000"/>
              </a:lnSpc>
            </a:pPr>
            <a:r>
              <a:rPr lang="en-US" altLang="ko-KR" sz="1600" dirty="0">
                <a:latin typeface="D2Coding" panose="020B0609020101020101" pitchFamily="49" charset="-127"/>
                <a:ea typeface="D2Coding" panose="020B0609020101020101" pitchFamily="49" charset="-127"/>
              </a:rPr>
              <a:t>2. </a:t>
            </a:r>
            <a:r>
              <a:rPr lang="ko-KR" altLang="en-US" sz="1600" dirty="0">
                <a:latin typeface="D2Coding" panose="020B0609020101020101" pitchFamily="49" charset="-127"/>
                <a:ea typeface="D2Coding" panose="020B0609020101020101" pitchFamily="49" charset="-127"/>
              </a:rPr>
              <a:t>다중 스케일</a:t>
            </a:r>
            <a:r>
              <a:rPr lang="en-US" altLang="ko-KR" sz="1600" dirty="0">
                <a:latin typeface="D2Coding" panose="020B0609020101020101" pitchFamily="49" charset="-127"/>
                <a:ea typeface="D2Coding" panose="020B0609020101020101" pitchFamily="49" charset="-127"/>
              </a:rPr>
              <a:t>(Multi-scale) </a:t>
            </a:r>
            <a:r>
              <a:rPr lang="ko-KR" altLang="en-US" sz="1600" dirty="0">
                <a:latin typeface="D2Coding" panose="020B0609020101020101" pitchFamily="49" charset="-127"/>
                <a:ea typeface="D2Coding" panose="020B0609020101020101" pitchFamily="49" charset="-127"/>
              </a:rPr>
              <a:t>국소 특징 동시 학습</a:t>
            </a:r>
          </a:p>
          <a:p>
            <a:pPr marL="742950" lvl="1" indent="-285750">
              <a:lnSpc>
                <a:spcPct val="150000"/>
              </a:lnSpc>
              <a:buFont typeface="Wingdings" panose="05000000000000000000" pitchFamily="2" charset="2"/>
              <a:buChar char="v"/>
            </a:pPr>
            <a:r>
              <a:rPr lang="en-US" altLang="ko-KR" sz="1600" dirty="0">
                <a:latin typeface="D2Coding" panose="020B0609020101020101" pitchFamily="49" charset="-127"/>
                <a:ea typeface="D2Coding" panose="020B0609020101020101" pitchFamily="49" charset="-127"/>
              </a:rPr>
              <a:t>MA </a:t>
            </a:r>
            <a:r>
              <a:rPr lang="ko-KR" altLang="en-US" sz="1600" dirty="0">
                <a:latin typeface="D2Coding" panose="020B0609020101020101" pitchFamily="49" charset="-127"/>
                <a:ea typeface="D2Coding" panose="020B0609020101020101" pitchFamily="49" charset="-127"/>
              </a:rPr>
              <a:t>방식</a:t>
            </a:r>
            <a:r>
              <a:rPr lang="en-US" altLang="ko-KR" sz="1600" dirty="0">
                <a:latin typeface="D2Coding" panose="020B0609020101020101" pitchFamily="49" charset="-127"/>
                <a:ea typeface="D2Coding" panose="020B0609020101020101" pitchFamily="49" charset="-127"/>
              </a:rPr>
              <a:t>:</a:t>
            </a: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각 이동평균선을 따로 만들어 입력 변수로 넣더라도</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모델 입장에서는 그저 단순 피처 </a:t>
            </a:r>
            <a:r>
              <a:rPr lang="en-US" altLang="ko-KR" sz="1400" dirty="0">
                <a:latin typeface="D2Coding" panose="020B0609020101020101" pitchFamily="49" charset="-127"/>
                <a:ea typeface="D2Coding" panose="020B0609020101020101" pitchFamily="49" charset="-127"/>
              </a:rPr>
              <a:t>1</a:t>
            </a:r>
            <a:r>
              <a:rPr lang="ko-KR" altLang="en-US" sz="1400" dirty="0">
                <a:latin typeface="D2Coding" panose="020B0609020101020101" pitchFamily="49" charset="-127"/>
                <a:ea typeface="D2Coding" panose="020B0609020101020101" pitchFamily="49" charset="-127"/>
              </a:rPr>
              <a:t>개로 취급되어 피처 간 유기적 결합 학습이 제한적</a:t>
            </a:r>
            <a:endParaRPr lang="en-US" altLang="ko-KR" sz="14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v"/>
            </a:pPr>
            <a:r>
              <a:rPr lang="en-US" altLang="ko-KR" sz="1600" dirty="0">
                <a:latin typeface="D2Coding" panose="020B0609020101020101" pitchFamily="49" charset="-127"/>
                <a:ea typeface="D2Coding" panose="020B0609020101020101" pitchFamily="49" charset="-127"/>
              </a:rPr>
              <a:t>1D </a:t>
            </a:r>
            <a:r>
              <a:rPr lang="en-US" altLang="ko-KR" sz="1600" dirty="0" err="1">
                <a:latin typeface="D2Coding" panose="020B0609020101020101" pitchFamily="49" charset="-127"/>
                <a:ea typeface="D2Coding" panose="020B0609020101020101" pitchFamily="49" charset="-127"/>
              </a:rPr>
              <a:t>ConvNet</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방식</a:t>
            </a:r>
            <a:r>
              <a:rPr lang="en-US" altLang="ko-KR" sz="1600" dirty="0">
                <a:latin typeface="D2Coding" panose="020B0609020101020101" pitchFamily="49" charset="-127"/>
                <a:ea typeface="D2Coding" panose="020B0609020101020101" pitchFamily="49" charset="-127"/>
              </a:rPr>
              <a:t>:</a:t>
            </a: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커널 크기</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kernel_size</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3, 5, 7, 14)</a:t>
            </a:r>
            <a:r>
              <a:rPr lang="ko-KR" altLang="en-US" sz="1400" dirty="0">
                <a:latin typeface="D2Coding" panose="020B0609020101020101" pitchFamily="49" charset="-127"/>
                <a:ea typeface="D2Coding" panose="020B0609020101020101" pitchFamily="49" charset="-127"/>
              </a:rPr>
              <a:t>를 다르게 구성하여 </a:t>
            </a:r>
            <a:r>
              <a:rPr lang="ko-KR" altLang="en-US" sz="1400" dirty="0" err="1">
                <a:latin typeface="D2Coding" panose="020B0609020101020101" pitchFamily="49" charset="-127"/>
                <a:ea typeface="D2Coding" panose="020B0609020101020101" pitchFamily="49" charset="-127"/>
              </a:rPr>
              <a:t>초단기</a:t>
            </a:r>
            <a:r>
              <a:rPr lang="en-US" altLang="ko-KR" sz="1400" dirty="0">
                <a:latin typeface="D2Coding" panose="020B0609020101020101" pitchFamily="49" charset="-127"/>
                <a:ea typeface="D2Coding" panose="020B0609020101020101" pitchFamily="49" charset="-127"/>
              </a:rPr>
              <a:t>(3</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부터 </a:t>
            </a:r>
            <a:r>
              <a:rPr lang="ko-KR" altLang="en-US" sz="1400" dirty="0" err="1">
                <a:latin typeface="D2Coding" panose="020B0609020101020101" pitchFamily="49" charset="-127"/>
                <a:ea typeface="D2Coding" panose="020B0609020101020101" pitchFamily="49" charset="-127"/>
              </a:rPr>
              <a:t>중단기</a:t>
            </a:r>
            <a:r>
              <a:rPr lang="en-US" altLang="ko-KR" sz="1400" dirty="0">
                <a:latin typeface="D2Coding" panose="020B0609020101020101" pitchFamily="49" charset="-127"/>
                <a:ea typeface="D2Coding" panose="020B0609020101020101" pitchFamily="49" charset="-127"/>
              </a:rPr>
              <a:t>(14</a:t>
            </a:r>
            <a:r>
              <a:rPr lang="ko-KR" altLang="en-US" sz="1400" dirty="0">
                <a:latin typeface="D2Coding" panose="020B0609020101020101" pitchFamily="49" charset="-127"/>
                <a:ea typeface="D2Coding" panose="020B0609020101020101" pitchFamily="49" charset="-127"/>
              </a:rPr>
              <a:t>일</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까지의 서로 다른 주기적 패턴을 병렬로 동시 학습</a:t>
            </a:r>
            <a:endParaRPr lang="en-US" altLang="ko-KR" sz="1400" dirty="0">
              <a:latin typeface="D2Coding" panose="020B0609020101020101" pitchFamily="49" charset="-127"/>
              <a:ea typeface="D2Coding" panose="020B0609020101020101" pitchFamily="49" charset="-127"/>
            </a:endParaRPr>
          </a:p>
          <a:p>
            <a:pPr marL="1200150" lvl="2" indent="-285750">
              <a:lnSpc>
                <a:spcPct val="150000"/>
              </a:lnSpc>
              <a:buFont typeface="Wingdings" panose="05000000000000000000" pitchFamily="2" charset="2"/>
              <a:buChar char="v"/>
            </a:pPr>
            <a:r>
              <a:rPr lang="ko-KR" altLang="en-US" sz="1400" dirty="0">
                <a:latin typeface="D2Coding" panose="020B0609020101020101" pitchFamily="49" charset="-127"/>
                <a:ea typeface="D2Coding" panose="020B0609020101020101" pitchFamily="49" charset="-127"/>
              </a:rPr>
              <a:t>이후 </a:t>
            </a:r>
            <a:r>
              <a:rPr lang="en-US" altLang="ko-KR" sz="1400" dirty="0">
                <a:latin typeface="D2Coding" panose="020B0609020101020101" pitchFamily="49" charset="-127"/>
                <a:ea typeface="D2Coding" panose="020B0609020101020101" pitchFamily="49" charset="-127"/>
              </a:rPr>
              <a:t>Concatenate</a:t>
            </a:r>
            <a:r>
              <a:rPr lang="ko-KR" altLang="en-US" sz="1400" dirty="0">
                <a:latin typeface="D2Coding" panose="020B0609020101020101" pitchFamily="49" charset="-127"/>
                <a:ea typeface="D2Coding" panose="020B0609020101020101" pitchFamily="49" charset="-127"/>
              </a:rPr>
              <a:t> 단계를 통해 단기 및 </a:t>
            </a:r>
            <a:r>
              <a:rPr lang="ko-KR" altLang="en-US" sz="1400" dirty="0" err="1">
                <a:latin typeface="D2Coding" panose="020B0609020101020101" pitchFamily="49" charset="-127"/>
                <a:ea typeface="D2Coding" panose="020B0609020101020101" pitchFamily="49" charset="-127"/>
              </a:rPr>
              <a:t>중단기</a:t>
            </a:r>
            <a:r>
              <a:rPr lang="ko-KR" altLang="en-US" sz="1400" dirty="0">
                <a:latin typeface="D2Coding" panose="020B0609020101020101" pitchFamily="49" charset="-127"/>
                <a:ea typeface="D2Coding" panose="020B0609020101020101" pitchFamily="49" charset="-127"/>
              </a:rPr>
              <a:t> 특징의 상호작용</a:t>
            </a:r>
            <a:r>
              <a:rPr lang="en-US" altLang="ko-KR" sz="1400" dirty="0">
                <a:latin typeface="D2Coding" panose="020B0609020101020101" pitchFamily="49" charset="-127"/>
                <a:ea typeface="D2Coding" panose="020B0609020101020101" pitchFamily="49" charset="-127"/>
              </a:rPr>
              <a:t>(Interaction)</a:t>
            </a:r>
            <a:r>
              <a:rPr lang="ko-KR" altLang="en-US" sz="1400" dirty="0">
                <a:latin typeface="D2Coding" panose="020B0609020101020101" pitchFamily="49" charset="-127"/>
                <a:ea typeface="D2Coding" panose="020B0609020101020101" pitchFamily="49" charset="-127"/>
              </a:rPr>
              <a:t>을 고차원 표현으로 결합해 활용</a:t>
            </a:r>
            <a:endParaRPr lang="en-US" altLang="ko-KR" sz="14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736281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BF7C-488E-F861-D370-934319EB3AC5}"/>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7174C518-5F3D-E9BB-19B6-93251A6C8355}"/>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Convnet 1D</a:t>
            </a:r>
          </a:p>
        </p:txBody>
      </p:sp>
      <p:sp>
        <p:nvSpPr>
          <p:cNvPr id="2" name="슬라이드 번호 개체 틀 3">
            <a:extLst>
              <a:ext uri="{FF2B5EF4-FFF2-40B4-BE49-F238E27FC236}">
                <a16:creationId xmlns:a16="http://schemas.microsoft.com/office/drawing/2014/main" id="{E0FB1267-35A4-2FA1-34EC-BD0A506CA156}"/>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63</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8" name="그림 7">
            <a:extLst>
              <a:ext uri="{FF2B5EF4-FFF2-40B4-BE49-F238E27FC236}">
                <a16:creationId xmlns:a16="http://schemas.microsoft.com/office/drawing/2014/main" id="{7438BB7B-1378-BF5D-CDF3-539725075822}"/>
              </a:ext>
            </a:extLst>
          </p:cNvPr>
          <p:cNvPicPr>
            <a:picLocks noChangeAspect="1"/>
          </p:cNvPicPr>
          <p:nvPr/>
        </p:nvPicPr>
        <p:blipFill>
          <a:blip r:embed="rId2"/>
          <a:stretch>
            <a:fillRect/>
          </a:stretch>
        </p:blipFill>
        <p:spPr>
          <a:xfrm>
            <a:off x="1266514" y="1367588"/>
            <a:ext cx="8115611" cy="5275146"/>
          </a:xfrm>
          <a:prstGeom prst="rect">
            <a:avLst/>
          </a:prstGeom>
        </p:spPr>
      </p:pic>
    </p:spTree>
    <p:extLst>
      <p:ext uri="{BB962C8B-B14F-4D97-AF65-F5344CB8AC3E}">
        <p14:creationId xmlns:p14="http://schemas.microsoft.com/office/powerpoint/2010/main" val="14911781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F48E-ED28-FDE3-A2CB-407DBB474C3D}"/>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54B4A4EC-7ADD-3D20-6661-E99EE8CEC58C}"/>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Convnet 1D</a:t>
            </a:r>
          </a:p>
        </p:txBody>
      </p:sp>
      <p:sp>
        <p:nvSpPr>
          <p:cNvPr id="2" name="슬라이드 번호 개체 틀 3">
            <a:extLst>
              <a:ext uri="{FF2B5EF4-FFF2-40B4-BE49-F238E27FC236}">
                <a16:creationId xmlns:a16="http://schemas.microsoft.com/office/drawing/2014/main" id="{ACB268DB-A4D8-9636-AB5E-F52DC0695799}"/>
              </a:ext>
            </a:extLst>
          </p:cNvPr>
          <p:cNvSpPr txBox="1">
            <a:spLocks/>
          </p:cNvSpPr>
          <p:nvPr/>
        </p:nvSpPr>
        <p:spPr>
          <a:xfrm>
            <a:off x="11162487" y="299420"/>
            <a:ext cx="753545" cy="365125"/>
          </a:xfrm>
          <a:prstGeom prst="rect">
            <a:avLst/>
          </a:prstGeom>
        </p:spPr>
        <p:txBody>
          <a:bodyPr vert="horz" lIns="91440" tIns="45720" rIns="91440" bIns="45720" rtlCol="0" anchor="ctr"/>
          <a:lstStyle>
            <a:defPPr rtl="0">
              <a:defRPr lang="ko-KR"/>
            </a:defPPr>
            <a:lvl1pPr marL="0" algn="r" defTabSz="914400" rtl="0" eaLnBrk="1" latinLnBrk="0" hangingPunct="1">
              <a:defRPr sz="1200"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64</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E746333-6B63-F8FB-BB0E-7B3389279844}"/>
              </a:ext>
            </a:extLst>
          </p:cNvPr>
          <p:cNvSpPr txBox="1"/>
          <p:nvPr/>
        </p:nvSpPr>
        <p:spPr>
          <a:xfrm>
            <a:off x="581025" y="1451622"/>
            <a:ext cx="11029950" cy="4524315"/>
          </a:xfrm>
          <a:prstGeom prst="rect">
            <a:avLst/>
          </a:prstGeom>
          <a:solidFill>
            <a:srgbClr val="76E3FF"/>
          </a:solidFill>
        </p:spPr>
        <p:txBody>
          <a:bodyPr wrap="square">
            <a:spAutoFit/>
          </a:bodyPr>
          <a:lstStyle/>
          <a:p>
            <a:r>
              <a:rPr lang="ko-KR" altLang="en-US" sz="1600" dirty="0" err="1">
                <a:latin typeface="D2Coding" panose="020B0609020101020101" pitchFamily="49" charset="-127"/>
                <a:ea typeface="D2Coding" panose="020B0609020101020101" pitchFamily="49" charset="-127"/>
              </a:rPr>
              <a:t>from</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tensorflow.keras.layers</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import</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Input</a:t>
            </a:r>
            <a:r>
              <a:rPr lang="ko-KR" altLang="en-US" sz="1600" dirty="0">
                <a:latin typeface="D2Coding" panose="020B0609020101020101" pitchFamily="49" charset="-127"/>
                <a:ea typeface="D2Coding" panose="020B0609020101020101" pitchFamily="49" charset="-127"/>
              </a:rPr>
              <a:t>, Conv1D, GlobalMaxPooling1D, </a:t>
            </a:r>
            <a:r>
              <a:rPr lang="ko-KR" altLang="en-US" sz="1600" dirty="0" err="1">
                <a:latin typeface="D2Coding" panose="020B0609020101020101" pitchFamily="49" charset="-127"/>
                <a:ea typeface="D2Coding" panose="020B0609020101020101" pitchFamily="49" charset="-127"/>
              </a:rPr>
              <a:t>Concatenate</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Dense</a:t>
            </a:r>
            <a:endParaRPr lang="ko-KR" altLang="en-US" sz="1600" dirty="0">
              <a:latin typeface="D2Coding" panose="020B0609020101020101" pitchFamily="49" charset="-127"/>
              <a:ea typeface="D2Coding" panose="020B0609020101020101" pitchFamily="49" charset="-127"/>
            </a:endParaRPr>
          </a:p>
          <a:p>
            <a:r>
              <a:rPr lang="ko-KR" altLang="en-US" sz="1600" dirty="0" err="1">
                <a:latin typeface="D2Coding" panose="020B0609020101020101" pitchFamily="49" charset="-127"/>
                <a:ea typeface="D2Coding" panose="020B0609020101020101" pitchFamily="49" charset="-127"/>
              </a:rPr>
              <a:t>from</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tensorflow.keras.models</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import</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Model</a:t>
            </a:r>
            <a:endParaRPr lang="ko-KR" altLang="en-US" sz="1600" dirty="0">
              <a:latin typeface="D2Coding" panose="020B0609020101020101" pitchFamily="49" charset="-127"/>
              <a:ea typeface="D2Coding" panose="020B0609020101020101" pitchFamily="49" charset="-127"/>
            </a:endParaRPr>
          </a:p>
          <a:p>
            <a:endParaRPr lang="ko-KR" altLang="en-US" sz="1600" dirty="0">
              <a:latin typeface="D2Coding" panose="020B0609020101020101" pitchFamily="49" charset="-127"/>
              <a:ea typeface="D2Coding" panose="020B0609020101020101" pitchFamily="49" charset="-127"/>
            </a:endParaRPr>
          </a:p>
          <a:p>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Input</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shape</a:t>
            </a:r>
            <a:r>
              <a:rPr lang="ko-KR" altLang="en-US" sz="1600" dirty="0">
                <a:latin typeface="D2Coding" panose="020B0609020101020101" pitchFamily="49" charset="-127"/>
                <a:ea typeface="D2Coding" panose="020B0609020101020101" pitchFamily="49" charset="-127"/>
              </a:rPr>
              <a:t>=(365, 2))</a:t>
            </a:r>
          </a:p>
          <a:p>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3일, 5일, 7일, 14일 패턴 병렬 </a:t>
            </a:r>
            <a:r>
              <a:rPr lang="ko-KR" altLang="en-US" sz="1600" dirty="0" err="1">
                <a:latin typeface="D2Coding" panose="020B0609020101020101" pitchFamily="49" charset="-127"/>
                <a:ea typeface="D2Coding" panose="020B0609020101020101" pitchFamily="49" charset="-127"/>
              </a:rPr>
              <a:t>Convolution</a:t>
            </a:r>
            <a:r>
              <a:rPr lang="ko-KR" altLang="en-US" sz="1600" dirty="0">
                <a:latin typeface="D2Coding" panose="020B0609020101020101" pitchFamily="49" charset="-127"/>
                <a:ea typeface="D2Coding" panose="020B0609020101020101" pitchFamily="49" charset="-127"/>
              </a:rPr>
              <a:t> &amp; Global </a:t>
            </a:r>
            <a:r>
              <a:rPr lang="ko-KR" altLang="en-US" sz="1600" dirty="0" err="1">
                <a:latin typeface="D2Coding" panose="020B0609020101020101" pitchFamily="49" charset="-127"/>
                <a:ea typeface="D2Coding" panose="020B0609020101020101" pitchFamily="49" charset="-127"/>
              </a:rPr>
              <a:t>Max</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Pooling</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Branch</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b3 = GlobalMaxPooling1D()(Conv1D(</a:t>
            </a:r>
            <a:r>
              <a:rPr lang="ko-KR" altLang="en-US" sz="1600" dirty="0" err="1">
                <a:latin typeface="D2Coding" panose="020B0609020101020101" pitchFamily="49" charset="-127"/>
                <a:ea typeface="D2Coding" panose="020B0609020101020101" pitchFamily="49" charset="-127"/>
              </a:rPr>
              <a:t>filters</a:t>
            </a:r>
            <a:r>
              <a:rPr lang="ko-KR" altLang="en-US" sz="1600" dirty="0">
                <a:latin typeface="D2Coding" panose="020B0609020101020101" pitchFamily="49" charset="-127"/>
                <a:ea typeface="D2Coding" panose="020B0609020101020101" pitchFamily="49" charset="-127"/>
              </a:rPr>
              <a:t>=32, </a:t>
            </a:r>
            <a:r>
              <a:rPr lang="ko-KR" altLang="en-US" sz="1600" dirty="0" err="1">
                <a:latin typeface="D2Coding" panose="020B0609020101020101" pitchFamily="49" charset="-127"/>
                <a:ea typeface="D2Coding" panose="020B0609020101020101" pitchFamily="49" charset="-127"/>
              </a:rPr>
              <a:t>kernel_size</a:t>
            </a:r>
            <a:r>
              <a:rPr lang="ko-KR" altLang="en-US" sz="1600" dirty="0">
                <a:latin typeface="D2Coding" panose="020B0609020101020101" pitchFamily="49" charset="-127"/>
                <a:ea typeface="D2Coding" panose="020B0609020101020101" pitchFamily="49" charset="-127"/>
              </a:rPr>
              <a:t>=3,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relu</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a:t>
            </a:r>
          </a:p>
          <a:p>
            <a:r>
              <a:rPr lang="ko-KR" altLang="en-US" sz="1600" dirty="0">
                <a:latin typeface="D2Coding" panose="020B0609020101020101" pitchFamily="49" charset="-127"/>
                <a:ea typeface="D2Coding" panose="020B0609020101020101" pitchFamily="49" charset="-127"/>
              </a:rPr>
              <a:t>b5 = GlobalMaxPooling1D()(Conv1D(</a:t>
            </a:r>
            <a:r>
              <a:rPr lang="ko-KR" altLang="en-US" sz="1600" dirty="0" err="1">
                <a:latin typeface="D2Coding" panose="020B0609020101020101" pitchFamily="49" charset="-127"/>
                <a:ea typeface="D2Coding" panose="020B0609020101020101" pitchFamily="49" charset="-127"/>
              </a:rPr>
              <a:t>filters</a:t>
            </a:r>
            <a:r>
              <a:rPr lang="ko-KR" altLang="en-US" sz="1600" dirty="0">
                <a:latin typeface="D2Coding" panose="020B0609020101020101" pitchFamily="49" charset="-127"/>
                <a:ea typeface="D2Coding" panose="020B0609020101020101" pitchFamily="49" charset="-127"/>
              </a:rPr>
              <a:t>=32, </a:t>
            </a:r>
            <a:r>
              <a:rPr lang="ko-KR" altLang="en-US" sz="1600" dirty="0" err="1">
                <a:latin typeface="D2Coding" panose="020B0609020101020101" pitchFamily="49" charset="-127"/>
                <a:ea typeface="D2Coding" panose="020B0609020101020101" pitchFamily="49" charset="-127"/>
              </a:rPr>
              <a:t>kernel_size</a:t>
            </a:r>
            <a:r>
              <a:rPr lang="ko-KR" altLang="en-US" sz="1600" dirty="0">
                <a:latin typeface="D2Coding" panose="020B0609020101020101" pitchFamily="49" charset="-127"/>
                <a:ea typeface="D2Coding" panose="020B0609020101020101" pitchFamily="49" charset="-127"/>
              </a:rPr>
              <a:t>=5,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relu</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a:t>
            </a:r>
          </a:p>
          <a:p>
            <a:r>
              <a:rPr lang="ko-KR" altLang="en-US" sz="1600" dirty="0">
                <a:latin typeface="D2Coding" panose="020B0609020101020101" pitchFamily="49" charset="-127"/>
                <a:ea typeface="D2Coding" panose="020B0609020101020101" pitchFamily="49" charset="-127"/>
              </a:rPr>
              <a:t>b7 = GlobalMaxPooling1D()(Conv1D(</a:t>
            </a:r>
            <a:r>
              <a:rPr lang="ko-KR" altLang="en-US" sz="1600" dirty="0" err="1">
                <a:latin typeface="D2Coding" panose="020B0609020101020101" pitchFamily="49" charset="-127"/>
                <a:ea typeface="D2Coding" panose="020B0609020101020101" pitchFamily="49" charset="-127"/>
              </a:rPr>
              <a:t>filters</a:t>
            </a:r>
            <a:r>
              <a:rPr lang="ko-KR" altLang="en-US" sz="1600" dirty="0">
                <a:latin typeface="D2Coding" panose="020B0609020101020101" pitchFamily="49" charset="-127"/>
                <a:ea typeface="D2Coding" panose="020B0609020101020101" pitchFamily="49" charset="-127"/>
              </a:rPr>
              <a:t>=32, </a:t>
            </a:r>
            <a:r>
              <a:rPr lang="ko-KR" altLang="en-US" sz="1600" dirty="0" err="1">
                <a:latin typeface="D2Coding" panose="020B0609020101020101" pitchFamily="49" charset="-127"/>
                <a:ea typeface="D2Coding" panose="020B0609020101020101" pitchFamily="49" charset="-127"/>
              </a:rPr>
              <a:t>kernel_size</a:t>
            </a:r>
            <a:r>
              <a:rPr lang="ko-KR" altLang="en-US" sz="1600" dirty="0">
                <a:latin typeface="D2Coding" panose="020B0609020101020101" pitchFamily="49" charset="-127"/>
                <a:ea typeface="D2Coding" panose="020B0609020101020101" pitchFamily="49" charset="-127"/>
              </a:rPr>
              <a:t>=7,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relu</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a:t>
            </a:r>
          </a:p>
          <a:p>
            <a:r>
              <a:rPr lang="ko-KR" altLang="en-US" sz="1600" dirty="0">
                <a:latin typeface="D2Coding" panose="020B0609020101020101" pitchFamily="49" charset="-127"/>
                <a:ea typeface="D2Coding" panose="020B0609020101020101" pitchFamily="49" charset="-127"/>
              </a:rPr>
              <a:t>b14 = GlobalMaxPooling1D()(Conv1D(</a:t>
            </a:r>
            <a:r>
              <a:rPr lang="ko-KR" altLang="en-US" sz="1600" dirty="0" err="1">
                <a:latin typeface="D2Coding" panose="020B0609020101020101" pitchFamily="49" charset="-127"/>
                <a:ea typeface="D2Coding" panose="020B0609020101020101" pitchFamily="49" charset="-127"/>
              </a:rPr>
              <a:t>filters</a:t>
            </a:r>
            <a:r>
              <a:rPr lang="ko-KR" altLang="en-US" sz="1600" dirty="0">
                <a:latin typeface="D2Coding" panose="020B0609020101020101" pitchFamily="49" charset="-127"/>
                <a:ea typeface="D2Coding" panose="020B0609020101020101" pitchFamily="49" charset="-127"/>
              </a:rPr>
              <a:t>=32, </a:t>
            </a:r>
            <a:r>
              <a:rPr lang="ko-KR" altLang="en-US" sz="1600" dirty="0" err="1">
                <a:latin typeface="D2Coding" panose="020B0609020101020101" pitchFamily="49" charset="-127"/>
                <a:ea typeface="D2Coding" panose="020B0609020101020101" pitchFamily="49" charset="-127"/>
              </a:rPr>
              <a:t>kernel_size</a:t>
            </a:r>
            <a:r>
              <a:rPr lang="ko-KR" altLang="en-US" sz="1600" dirty="0">
                <a:latin typeface="D2Coding" panose="020B0609020101020101" pitchFamily="49" charset="-127"/>
                <a:ea typeface="D2Coding" panose="020B0609020101020101" pitchFamily="49" charset="-127"/>
              </a:rPr>
              <a:t>=14,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relu</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a:t>
            </a:r>
          </a:p>
          <a:p>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Branch</a:t>
            </a:r>
            <a:r>
              <a:rPr lang="ko-KR" altLang="en-US" sz="1600" dirty="0">
                <a:latin typeface="D2Coding" panose="020B0609020101020101" pitchFamily="49" charset="-127"/>
                <a:ea typeface="D2Coding" panose="020B0609020101020101" pitchFamily="49" charset="-127"/>
              </a:rPr>
              <a:t> 결과 결합 및 </a:t>
            </a:r>
            <a:r>
              <a:rPr lang="ko-KR" altLang="en-US" sz="1600" dirty="0" err="1">
                <a:latin typeface="D2Coding" panose="020B0609020101020101" pitchFamily="49" charset="-127"/>
                <a:ea typeface="D2Coding" panose="020B0609020101020101" pitchFamily="49" charset="-127"/>
              </a:rPr>
              <a:t>Fully</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Connected</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Layers</a:t>
            </a:r>
            <a:endParaRPr lang="ko-KR" altLang="en-US" sz="1600" dirty="0">
              <a:latin typeface="D2Coding" panose="020B0609020101020101" pitchFamily="49" charset="-127"/>
              <a:ea typeface="D2Coding" panose="020B0609020101020101" pitchFamily="49" charset="-127"/>
            </a:endParaRPr>
          </a:p>
          <a:p>
            <a:r>
              <a:rPr lang="ko-KR" altLang="en-US" sz="1600" dirty="0" err="1">
                <a:latin typeface="D2Coding" panose="020B0609020101020101" pitchFamily="49" charset="-127"/>
                <a:ea typeface="D2Coding" panose="020B0609020101020101" pitchFamily="49" charset="-127"/>
              </a:rPr>
              <a:t>x</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Dense</a:t>
            </a:r>
            <a:r>
              <a:rPr lang="ko-KR" altLang="en-US" sz="1600" dirty="0">
                <a:latin typeface="D2Coding" panose="020B0609020101020101" pitchFamily="49" charset="-127"/>
                <a:ea typeface="D2Coding" panose="020B0609020101020101" pitchFamily="49" charset="-127"/>
              </a:rPr>
              <a:t>(64,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relu</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Concatenate</a:t>
            </a:r>
            <a:r>
              <a:rPr lang="ko-KR" altLang="en-US" sz="1600" dirty="0">
                <a:latin typeface="D2Coding" panose="020B0609020101020101" pitchFamily="49" charset="-127"/>
                <a:ea typeface="D2Coding" panose="020B0609020101020101" pitchFamily="49" charset="-127"/>
              </a:rPr>
              <a:t>()([b3, b5, b7, b14]))</a:t>
            </a:r>
          </a:p>
          <a:p>
            <a:r>
              <a:rPr lang="ko-KR" altLang="en-US" sz="1600" dirty="0" err="1">
                <a:latin typeface="D2Coding" panose="020B0609020101020101" pitchFamily="49" charset="-127"/>
                <a:ea typeface="D2Coding" panose="020B0609020101020101" pitchFamily="49" charset="-127"/>
              </a:rPr>
              <a:t>outputs</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Dense</a:t>
            </a:r>
            <a:r>
              <a:rPr lang="ko-KR" altLang="en-US" sz="1600" dirty="0">
                <a:latin typeface="D2Coding" panose="020B0609020101020101" pitchFamily="49" charset="-127"/>
                <a:ea typeface="D2Coding" panose="020B0609020101020101" pitchFamily="49" charset="-127"/>
              </a:rPr>
              <a:t>(1, </a:t>
            </a:r>
            <a:r>
              <a:rPr lang="ko-KR" altLang="en-US" sz="1600" dirty="0" err="1">
                <a:latin typeface="D2Coding" panose="020B0609020101020101" pitchFamily="49" charset="-127"/>
                <a:ea typeface="D2Coding" panose="020B0609020101020101" pitchFamily="49" charset="-127"/>
              </a:rPr>
              <a:t>activation</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sigmoid</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x</a:t>
            </a:r>
            <a:r>
              <a:rPr lang="ko-KR" altLang="en-US" sz="1600" dirty="0">
                <a:latin typeface="D2Coding" panose="020B0609020101020101" pitchFamily="49" charset="-127"/>
                <a:ea typeface="D2Coding" panose="020B0609020101020101" pitchFamily="49" charset="-127"/>
              </a:rPr>
              <a:t>)</a:t>
            </a:r>
          </a:p>
          <a:p>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모델 생성 및 컴파일</a:t>
            </a:r>
          </a:p>
          <a:p>
            <a:r>
              <a:rPr lang="ko-KR" altLang="en-US" sz="1600" dirty="0" err="1">
                <a:latin typeface="D2Coding" panose="020B0609020101020101" pitchFamily="49" charset="-127"/>
                <a:ea typeface="D2Coding" panose="020B0609020101020101" pitchFamily="49" charset="-127"/>
              </a:rPr>
              <a:t>model</a:t>
            </a:r>
            <a:r>
              <a:rPr lang="ko-KR" altLang="en-US"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Model</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inputs</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outputs</a:t>
            </a:r>
            <a:r>
              <a:rPr lang="ko-KR" altLang="en-US" sz="1600" dirty="0">
                <a:latin typeface="D2Coding" panose="020B0609020101020101" pitchFamily="49" charset="-127"/>
                <a:ea typeface="D2Coding" panose="020B0609020101020101" pitchFamily="49" charset="-127"/>
              </a:rPr>
              <a:t>)</a:t>
            </a:r>
          </a:p>
          <a:p>
            <a:r>
              <a:rPr lang="ko-KR" altLang="en-US" sz="1600" dirty="0" err="1">
                <a:latin typeface="D2Coding" panose="020B0609020101020101" pitchFamily="49" charset="-127"/>
                <a:ea typeface="D2Coding" panose="020B0609020101020101" pitchFamily="49" charset="-127"/>
              </a:rPr>
              <a:t>model.compile</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optimizer</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adam</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loss</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binary_crossentropy</a:t>
            </a:r>
            <a:r>
              <a:rPr lang="ko-KR" altLang="en-US"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metrics</a:t>
            </a:r>
            <a:r>
              <a:rPr lang="ko-KR" altLang="en-US" sz="1600" dirty="0">
                <a:latin typeface="D2Coding" panose="020B0609020101020101" pitchFamily="49" charset="-127"/>
                <a:ea typeface="D2Coding" panose="020B0609020101020101" pitchFamily="49" charset="-127"/>
              </a:rPr>
              <a:t>=['</a:t>
            </a:r>
            <a:r>
              <a:rPr lang="ko-KR" altLang="en-US" sz="1600" dirty="0" err="1">
                <a:latin typeface="D2Coding" panose="020B0609020101020101" pitchFamily="49" charset="-127"/>
                <a:ea typeface="D2Coding" panose="020B0609020101020101" pitchFamily="49" charset="-127"/>
              </a:rPr>
              <a:t>accuracy</a:t>
            </a:r>
            <a:r>
              <a:rPr lang="ko-KR" altLang="en-US" sz="1600" dirty="0">
                <a:latin typeface="D2Coding" panose="020B0609020101020101" pitchFamily="49" charset="-127"/>
                <a:ea typeface="D2Coding" panose="020B0609020101020101" pitchFamily="49" charset="-127"/>
              </a:rPr>
              <a:t>', 'AUC'])</a:t>
            </a:r>
          </a:p>
        </p:txBody>
      </p:sp>
    </p:spTree>
    <p:extLst>
      <p:ext uri="{BB962C8B-B14F-4D97-AF65-F5344CB8AC3E}">
        <p14:creationId xmlns:p14="http://schemas.microsoft.com/office/powerpoint/2010/main" val="25119572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6FB2C-EEEB-DB71-4DC2-C7D4D0A568B6}"/>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18E24248-559C-3D0B-7953-7FA370536A9B}"/>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1D CNN(1D Convolutional Neural Networks)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8D80805A-22BE-081A-D40D-9248E575BFD1}"/>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65</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2FE83F8-36A8-6031-AC00-C082CBCB8445}"/>
              </a:ext>
            </a:extLst>
          </p:cNvPr>
          <p:cNvSpPr txBox="1"/>
          <p:nvPr/>
        </p:nvSpPr>
        <p:spPr>
          <a:xfrm>
            <a:off x="559528" y="1196976"/>
            <a:ext cx="11356504" cy="2095317"/>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ko-KR" altLang="en-US" sz="1400" dirty="0">
                <a:latin typeface="D2Coding" panose="020B0609020101020101" pitchFamily="49" charset="-127"/>
                <a:ea typeface="D2Coding" panose="020B0609020101020101" pitchFamily="49" charset="-127"/>
              </a:rPr>
              <a:t>오디오 파형이나 텍스트처럼 </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패턴이 어디서 나타나든 같은 의미를 가지는</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데이터에 적합</a:t>
            </a:r>
            <a:endParaRPr lang="en-US" altLang="ko-KR" sz="14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강아지 이미지가 왼쪽</a:t>
            </a:r>
            <a:r>
              <a:rPr lang="en-US" altLang="ko-KR" sz="1200" dirty="0">
                <a:latin typeface="D2Coding" panose="020B0609020101020101" pitchFamily="49" charset="-127"/>
                <a:ea typeface="D2Coding" panose="020B0609020101020101" pitchFamily="49" charset="-127"/>
              </a:rPr>
              <a:t>, </a:t>
            </a:r>
            <a:r>
              <a:rPr lang="ko-KR" altLang="en-US" sz="1200" dirty="0">
                <a:latin typeface="D2Coding" panose="020B0609020101020101" pitchFamily="49" charset="-127"/>
                <a:ea typeface="D2Coding" panose="020B0609020101020101" pitchFamily="49" charset="-127"/>
              </a:rPr>
              <a:t>오른쪽</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 아래에 있든 똑같이 </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강아지</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로 인식하여 데이터의 본질은 변하지 않음</a:t>
            </a:r>
            <a:endParaRPr lang="en-US" altLang="ko-KR" sz="12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사과가 맛있다</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라는 표현이 글의 맨 앞에 나오든 맨 뒤에 나오든 </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사과가 맛있다</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라는 긍정적인 의미 자체는 변하지 않음</a:t>
            </a:r>
            <a:endParaRPr lang="en-US" altLang="ko-KR" sz="1400" dirty="0">
              <a:latin typeface="D2Coding" panose="020B0609020101020101" pitchFamily="49" charset="-127"/>
              <a:ea typeface="D2Coding" panose="020B0609020101020101" pitchFamily="49" charset="-127"/>
            </a:endParaRPr>
          </a:p>
          <a:p>
            <a:pPr marL="285750" indent="-285750">
              <a:lnSpc>
                <a:spcPct val="150000"/>
              </a:lnSpc>
              <a:buFont typeface="Wingdings" panose="05000000000000000000" pitchFamily="2" charset="2"/>
              <a:buChar char="§"/>
            </a:pPr>
            <a:r>
              <a:rPr lang="ko-KR" altLang="en-US" sz="1400" dirty="0">
                <a:latin typeface="D2Coding" panose="020B0609020101020101" pitchFamily="49" charset="-127"/>
                <a:ea typeface="D2Coding" panose="020B0609020101020101" pitchFamily="49" charset="-127"/>
              </a:rPr>
              <a:t>날씨데이터는 평행이동 불변성</a:t>
            </a:r>
            <a:r>
              <a:rPr lang="en-US" altLang="ko-KR" sz="1400" dirty="0">
                <a:latin typeface="D2Coding" panose="020B0609020101020101" pitchFamily="49" charset="-127"/>
                <a:ea typeface="D2Coding" panose="020B0609020101020101" pitchFamily="49" charset="-127"/>
              </a:rPr>
              <a:t>(Translation Invariance)</a:t>
            </a:r>
            <a:r>
              <a:rPr lang="ko-KR" altLang="en-US" sz="1400" dirty="0">
                <a:latin typeface="D2Coding" panose="020B0609020101020101" pitchFamily="49" charset="-127"/>
                <a:ea typeface="D2Coding" panose="020B0609020101020101" pitchFamily="49" charset="-127"/>
              </a:rPr>
              <a:t>에 적합하지 않음</a:t>
            </a:r>
            <a:endParaRPr lang="en-US" altLang="ko-KR" sz="14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어느 위치</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공간</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나 어느 시점</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시간</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에서 발생하더라도 그 본질적인 의미나 성질이 변하지 않고 일정하게 유지되는 성질은</a:t>
            </a:r>
            <a:r>
              <a:rPr lang="en-US" altLang="ko-KR" sz="1200" dirty="0">
                <a:latin typeface="D2Coding" panose="020B0609020101020101" pitchFamily="49" charset="-127"/>
                <a:ea typeface="D2Coding" panose="020B0609020101020101" pitchFamily="49" charset="-127"/>
              </a:rPr>
              <a:t> </a:t>
            </a:r>
            <a:r>
              <a:rPr lang="ko-KR" altLang="en-US" sz="1200" dirty="0">
                <a:latin typeface="D2Coding" panose="020B0609020101020101" pitchFamily="49" charset="-127"/>
                <a:ea typeface="D2Coding" panose="020B0609020101020101" pitchFamily="49" charset="-127"/>
              </a:rPr>
              <a:t>불필요함</a:t>
            </a:r>
            <a:endParaRPr lang="en-US" altLang="ko-KR" sz="1200" dirty="0">
              <a:latin typeface="D2Coding" panose="020B0609020101020101" pitchFamily="49" charset="-127"/>
              <a:ea typeface="D2Coding" panose="020B0609020101020101" pitchFamily="49" charset="-127"/>
            </a:endParaRPr>
          </a:p>
          <a:p>
            <a:pPr marL="742950" lvl="1" indent="-285750">
              <a:lnSpc>
                <a:spcPct val="150000"/>
              </a:lnSpc>
              <a:buFont typeface="Wingdings" panose="05000000000000000000" pitchFamily="2" charset="2"/>
              <a:buChar char="§"/>
            </a:pPr>
            <a:r>
              <a:rPr lang="ko-KR" altLang="en-US" sz="1200" dirty="0">
                <a:latin typeface="D2Coding" panose="020B0609020101020101" pitchFamily="49" charset="-127"/>
                <a:ea typeface="D2Coding" panose="020B0609020101020101" pitchFamily="49" charset="-127"/>
              </a:rPr>
              <a:t>위치</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지역</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나 시점</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계절</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시간</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에 따라 데이터가 가지는 의미와 맥락이 완전히 달라지기 때문</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기온 </a:t>
            </a:r>
            <a:r>
              <a:rPr lang="en-US" altLang="ko-KR" sz="1200" dirty="0">
                <a:latin typeface="D2Coding" panose="020B0609020101020101" pitchFamily="49" charset="-127"/>
                <a:ea typeface="D2Coding" panose="020B0609020101020101" pitchFamily="49" charset="-127"/>
              </a:rPr>
              <a:t>30</a:t>
            </a:r>
            <a:r>
              <a:rPr lang="ko-KR" altLang="en-US" sz="1200" dirty="0">
                <a:latin typeface="D2Coding" panose="020B0609020101020101" pitchFamily="49" charset="-127"/>
                <a:ea typeface="D2Coding" panose="020B0609020101020101" pitchFamily="49" charset="-127"/>
              </a:rPr>
              <a:t>도</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가 적도 지역과 북극 지역에서 나타나는 것은 완전히 다른 의미</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이상 기후 등</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이며 </a:t>
            </a:r>
            <a:r>
              <a:rPr lang="en-US" altLang="ko-KR" sz="1200" dirty="0">
                <a:latin typeface="D2Coding" panose="020B0609020101020101" pitchFamily="49" charset="-127"/>
                <a:ea typeface="D2Coding" panose="020B0609020101020101" pitchFamily="49" charset="-127"/>
              </a:rPr>
              <a:t>7</a:t>
            </a:r>
            <a:r>
              <a:rPr lang="ko-KR" altLang="en-US" sz="1200" dirty="0">
                <a:latin typeface="D2Coding" panose="020B0609020101020101" pitchFamily="49" charset="-127"/>
                <a:ea typeface="D2Coding" panose="020B0609020101020101" pitchFamily="49" charset="-127"/>
              </a:rPr>
              <a:t>월</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여름</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에 나타나는 것과 </a:t>
            </a:r>
            <a:r>
              <a:rPr lang="en-US" altLang="ko-KR" sz="1200" dirty="0">
                <a:latin typeface="D2Coding" panose="020B0609020101020101" pitchFamily="49" charset="-127"/>
                <a:ea typeface="D2Coding" panose="020B0609020101020101" pitchFamily="49" charset="-127"/>
              </a:rPr>
              <a:t>1</a:t>
            </a:r>
            <a:r>
              <a:rPr lang="ko-KR" altLang="en-US" sz="1200" dirty="0">
                <a:latin typeface="D2Coding" panose="020B0609020101020101" pitchFamily="49" charset="-127"/>
                <a:ea typeface="D2Coding" panose="020B0609020101020101" pitchFamily="49" charset="-127"/>
              </a:rPr>
              <a:t>월</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겨울</a:t>
            </a:r>
            <a:r>
              <a:rPr lang="en-US" altLang="ko-KR" sz="1200" dirty="0">
                <a:latin typeface="D2Coding" panose="020B0609020101020101" pitchFamily="49" charset="-127"/>
                <a:ea typeface="D2Coding" panose="020B0609020101020101" pitchFamily="49" charset="-127"/>
              </a:rPr>
              <a:t>)</a:t>
            </a:r>
            <a:r>
              <a:rPr lang="ko-KR" altLang="en-US" sz="1200" dirty="0">
                <a:latin typeface="D2Coding" panose="020B0609020101020101" pitchFamily="49" charset="-127"/>
                <a:ea typeface="D2Coding" panose="020B0609020101020101" pitchFamily="49" charset="-127"/>
              </a:rPr>
              <a:t>에 나타나는 것은 맥락이 완전히 다름</a:t>
            </a:r>
            <a:r>
              <a:rPr lang="en-US" altLang="ko-KR" sz="1200" dirty="0">
                <a:latin typeface="D2Coding" panose="020B0609020101020101" pitchFamily="49" charset="-127"/>
                <a:ea typeface="D2Coding" panose="020B0609020101020101" pitchFamily="49" charset="-127"/>
              </a:rPr>
              <a:t>  </a:t>
            </a:r>
            <a:endParaRPr lang="ko-KR" altLang="en-US" sz="1200" dirty="0">
              <a:latin typeface="D2Coding" panose="020B0609020101020101" pitchFamily="49" charset="-127"/>
              <a:ea typeface="D2Coding" panose="020B0609020101020101" pitchFamily="49" charset="-127"/>
            </a:endParaRPr>
          </a:p>
        </p:txBody>
      </p:sp>
      <p:sp>
        <p:nvSpPr>
          <p:cNvPr id="2" name="AutoShape 2" descr="1-D convolution">
            <a:extLst>
              <a:ext uri="{FF2B5EF4-FFF2-40B4-BE49-F238E27FC236}">
                <a16:creationId xmlns:a16="http://schemas.microsoft.com/office/drawing/2014/main" id="{6C3B461C-7D12-B35F-31D3-B7CC10AAD4AF}"/>
              </a:ext>
            </a:extLst>
          </p:cNvPr>
          <p:cNvSpPr>
            <a:spLocks noChangeAspect="1" noChangeArrowheads="1"/>
          </p:cNvSpPr>
          <p:nvPr/>
        </p:nvSpPr>
        <p:spPr bwMode="auto">
          <a:xfrm>
            <a:off x="6591300" y="487003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7" name="그림 6">
            <a:extLst>
              <a:ext uri="{FF2B5EF4-FFF2-40B4-BE49-F238E27FC236}">
                <a16:creationId xmlns:a16="http://schemas.microsoft.com/office/drawing/2014/main" id="{E412CF84-A41B-783A-9C4F-FA9BC386DFEF}"/>
              </a:ext>
            </a:extLst>
          </p:cNvPr>
          <p:cNvPicPr>
            <a:picLocks noChangeAspect="1"/>
          </p:cNvPicPr>
          <p:nvPr/>
        </p:nvPicPr>
        <p:blipFill>
          <a:blip r:embed="rId2"/>
          <a:stretch>
            <a:fillRect/>
          </a:stretch>
        </p:blipFill>
        <p:spPr>
          <a:xfrm>
            <a:off x="668736" y="3935931"/>
            <a:ext cx="5246289" cy="1470975"/>
          </a:xfrm>
          <a:prstGeom prst="rect">
            <a:avLst/>
          </a:prstGeom>
        </p:spPr>
      </p:pic>
      <p:sp>
        <p:nvSpPr>
          <p:cNvPr id="9" name="TextBox 8">
            <a:extLst>
              <a:ext uri="{FF2B5EF4-FFF2-40B4-BE49-F238E27FC236}">
                <a16:creationId xmlns:a16="http://schemas.microsoft.com/office/drawing/2014/main" id="{0310F769-F44C-F11A-90D4-104EA576D86E}"/>
              </a:ext>
            </a:extLst>
          </p:cNvPr>
          <p:cNvSpPr txBox="1"/>
          <p:nvPr/>
        </p:nvSpPr>
        <p:spPr>
          <a:xfrm>
            <a:off x="588103" y="5686209"/>
            <a:ext cx="5480988" cy="307777"/>
          </a:xfrm>
          <a:prstGeom prst="rect">
            <a:avLst/>
          </a:prstGeom>
          <a:noFill/>
        </p:spPr>
        <p:txBody>
          <a:bodyPr wrap="none" rtlCol="0">
            <a:spAutoFit/>
          </a:bodyPr>
          <a:lstStyle/>
          <a:p>
            <a:r>
              <a:rPr lang="ko-KR" altLang="en-US" sz="1400" dirty="0">
                <a:latin typeface="D2Coding" panose="020B0609020101020101" pitchFamily="49" charset="-127"/>
                <a:ea typeface="D2Coding" panose="020B0609020101020101" pitchFamily="49" charset="-127"/>
                <a:hlinkClick r:id="rId3"/>
              </a:rPr>
              <a:t>자연어 처리를 위한 </a:t>
            </a:r>
            <a:r>
              <a:rPr lang="en-US" altLang="ko-KR" sz="1400" dirty="0">
                <a:latin typeface="D2Coding" panose="020B0609020101020101" pitchFamily="49" charset="-127"/>
                <a:ea typeface="D2Coding" panose="020B0609020101020101" pitchFamily="49" charset="-127"/>
                <a:hlinkClick r:id="rId3"/>
              </a:rPr>
              <a:t>1D CNN(1D Convolutional Neural Networks)</a:t>
            </a:r>
            <a:endParaRPr lang="ko-KR" altLang="en-US" sz="1400" dirty="0">
              <a:latin typeface="D2Coding" panose="020B0609020101020101" pitchFamily="49" charset="-127"/>
              <a:ea typeface="D2Coding" panose="020B0609020101020101" pitchFamily="49" charset="-127"/>
            </a:endParaRPr>
          </a:p>
        </p:txBody>
      </p:sp>
      <p:sp>
        <p:nvSpPr>
          <p:cNvPr id="10" name="TextBox 9">
            <a:extLst>
              <a:ext uri="{FF2B5EF4-FFF2-40B4-BE49-F238E27FC236}">
                <a16:creationId xmlns:a16="http://schemas.microsoft.com/office/drawing/2014/main" id="{7C9C16B3-9B9B-5ECD-140B-47C71021C5B6}"/>
              </a:ext>
            </a:extLst>
          </p:cNvPr>
          <p:cNvSpPr txBox="1"/>
          <p:nvPr/>
        </p:nvSpPr>
        <p:spPr>
          <a:xfrm>
            <a:off x="6266355" y="3925476"/>
            <a:ext cx="5480988" cy="2123658"/>
          </a:xfrm>
          <a:prstGeom prst="rect">
            <a:avLst/>
          </a:prstGeom>
          <a:solidFill>
            <a:schemeClr val="tx1"/>
          </a:solidFill>
        </p:spPr>
        <p:txBody>
          <a:bodyPr wrap="square">
            <a:spAutoFit/>
          </a:bodyPr>
          <a:lstStyle/>
          <a:p>
            <a:pPr marL="171450" indent="-171450">
              <a:buFont typeface="Wingdings" panose="05000000000000000000" pitchFamily="2" charset="2"/>
              <a:buChar char="§"/>
            </a:pPr>
            <a:r>
              <a:rPr lang="ko-KR" altLang="en-US" sz="1200" dirty="0">
                <a:solidFill>
                  <a:schemeClr val="bg1"/>
                </a:solidFill>
                <a:latin typeface="D2Coding" panose="020B0609020101020101" pitchFamily="49" charset="-127"/>
                <a:ea typeface="D2Coding" panose="020B0609020101020101" pitchFamily="49" charset="-127"/>
              </a:rPr>
              <a:t>똑같은 </a:t>
            </a:r>
            <a:r>
              <a:rPr lang="en-US" altLang="ko-KR" sz="1200" dirty="0">
                <a:solidFill>
                  <a:schemeClr val="bg1"/>
                </a:solidFill>
                <a:latin typeface="D2Coding" panose="020B0609020101020101" pitchFamily="49" charset="-127"/>
                <a:ea typeface="D2Coding" panose="020B0609020101020101" pitchFamily="49" charset="-127"/>
              </a:rPr>
              <a:t>'1</a:t>
            </a:r>
            <a:r>
              <a:rPr lang="ko-KR" altLang="en-US" sz="1200" dirty="0">
                <a:solidFill>
                  <a:schemeClr val="bg1"/>
                </a:solidFill>
                <a:latin typeface="D2Coding" panose="020B0609020101020101" pitchFamily="49" charset="-127"/>
                <a:ea typeface="D2Coding" panose="020B0609020101020101" pitchFamily="49" charset="-127"/>
              </a:rPr>
              <a:t>시간 동안 </a:t>
            </a:r>
            <a:r>
              <a:rPr lang="en-US" altLang="ko-KR" sz="1200" dirty="0">
                <a:solidFill>
                  <a:schemeClr val="bg1"/>
                </a:solidFill>
                <a:latin typeface="D2Coding" panose="020B0609020101020101" pitchFamily="49" charset="-127"/>
                <a:ea typeface="D2Coding" panose="020B0609020101020101" pitchFamily="49" charset="-127"/>
              </a:rPr>
              <a:t>5</a:t>
            </a:r>
            <a:r>
              <a:rPr lang="ko-KR" altLang="en-US" sz="1200" dirty="0">
                <a:solidFill>
                  <a:schemeClr val="bg1"/>
                </a:solidFill>
                <a:latin typeface="D2Coding" panose="020B0609020101020101" pitchFamily="49" charset="-127"/>
                <a:ea typeface="D2Coding" panose="020B0609020101020101" pitchFamily="49" charset="-127"/>
              </a:rPr>
              <a:t>도 상승</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이라는 데이터 패턴이지만</a:t>
            </a:r>
            <a:r>
              <a:rPr lang="en-US" altLang="ko-KR" sz="1200" dirty="0">
                <a:solidFill>
                  <a:schemeClr val="bg1"/>
                </a:solidFill>
                <a:latin typeface="D2Coding" panose="020B0609020101020101" pitchFamily="49" charset="-127"/>
                <a:ea typeface="D2Coding" panose="020B0609020101020101" pitchFamily="49" charset="-127"/>
              </a:rPr>
              <a:t>, </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b="1" dirty="0">
                <a:solidFill>
                  <a:schemeClr val="bg1"/>
                </a:solidFill>
                <a:latin typeface="D2Coding" panose="020B0609020101020101" pitchFamily="49" charset="-127"/>
                <a:ea typeface="D2Coding" panose="020B0609020101020101" pitchFamily="49" charset="-127"/>
              </a:rPr>
              <a:t>언제</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b="1" dirty="0">
                <a:solidFill>
                  <a:schemeClr val="bg1"/>
                </a:solidFill>
                <a:latin typeface="D2Coding" panose="020B0609020101020101" pitchFamily="49" charset="-127"/>
                <a:ea typeface="D2Coding" panose="020B0609020101020101" pitchFamily="49" charset="-127"/>
              </a:rPr>
              <a:t>어느 시간대</a:t>
            </a:r>
            <a:r>
              <a:rPr lang="en-US" altLang="ko-KR" sz="1200" b="1" dirty="0">
                <a:solidFill>
                  <a:schemeClr val="bg1"/>
                </a:solidFill>
                <a:latin typeface="D2Coding" panose="020B0609020101020101" pitchFamily="49" charset="-127"/>
                <a:ea typeface="D2Coding" panose="020B0609020101020101" pitchFamily="49" charset="-127"/>
              </a:rPr>
              <a:t>, </a:t>
            </a:r>
            <a:r>
              <a:rPr lang="ko-KR" altLang="en-US" sz="1200" b="1" dirty="0">
                <a:solidFill>
                  <a:schemeClr val="bg1"/>
                </a:solidFill>
                <a:latin typeface="D2Coding" panose="020B0609020101020101" pitchFamily="49" charset="-127"/>
                <a:ea typeface="D2Coding" panose="020B0609020101020101" pitchFamily="49" charset="-127"/>
              </a:rPr>
              <a:t>아침 </a:t>
            </a:r>
            <a:r>
              <a:rPr lang="en-US" altLang="ko-KR" sz="1200" b="1" dirty="0">
                <a:solidFill>
                  <a:schemeClr val="bg1"/>
                </a:solidFill>
                <a:latin typeface="D2Coding" panose="020B0609020101020101" pitchFamily="49" charset="-127"/>
                <a:ea typeface="D2Coding" panose="020B0609020101020101" pitchFamily="49" charset="-127"/>
              </a:rPr>
              <a:t>or</a:t>
            </a:r>
            <a:r>
              <a:rPr lang="ko-KR" altLang="en-US" sz="1200" b="1" dirty="0">
                <a:solidFill>
                  <a:schemeClr val="bg1"/>
                </a:solidFill>
                <a:latin typeface="D2Coding" panose="020B0609020101020101" pitchFamily="49" charset="-127"/>
                <a:ea typeface="D2Coding" panose="020B0609020101020101" pitchFamily="49" charset="-127"/>
              </a:rPr>
              <a:t> 새벽</a:t>
            </a:r>
            <a:r>
              <a:rPr lang="en-US" altLang="ko-KR" sz="1200" b="1" dirty="0">
                <a:solidFill>
                  <a:schemeClr val="bg1"/>
                </a:solidFill>
                <a:latin typeface="D2Coding" panose="020B0609020101020101" pitchFamily="49" charset="-127"/>
                <a:ea typeface="D2Coding" panose="020B0609020101020101" pitchFamily="49" charset="-127"/>
              </a:rPr>
              <a:t>, </a:t>
            </a:r>
            <a:r>
              <a:rPr lang="ko-KR" altLang="en-US" sz="1200" b="1" dirty="0">
                <a:solidFill>
                  <a:schemeClr val="bg1"/>
                </a:solidFill>
                <a:latin typeface="D2Coding" panose="020B0609020101020101" pitchFamily="49" charset="-127"/>
                <a:ea typeface="D2Coding" panose="020B0609020101020101" pitchFamily="49" charset="-127"/>
              </a:rPr>
              <a:t>여름 </a:t>
            </a:r>
            <a:r>
              <a:rPr lang="en-US" altLang="ko-KR" sz="1200" b="1" dirty="0">
                <a:solidFill>
                  <a:schemeClr val="bg1"/>
                </a:solidFill>
                <a:latin typeface="D2Coding" panose="020B0609020101020101" pitchFamily="49" charset="-127"/>
                <a:ea typeface="D2Coding" panose="020B0609020101020101" pitchFamily="49" charset="-127"/>
              </a:rPr>
              <a:t>or </a:t>
            </a:r>
            <a:r>
              <a:rPr lang="ko-KR" altLang="en-US" sz="1200" b="1" dirty="0">
                <a:solidFill>
                  <a:schemeClr val="bg1"/>
                </a:solidFill>
                <a:latin typeface="D2Coding" panose="020B0609020101020101" pitchFamily="49" charset="-127"/>
                <a:ea typeface="D2Coding" panose="020B0609020101020101" pitchFamily="49" charset="-127"/>
              </a:rPr>
              <a:t>겨울</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 에 따라 원인과 의미가 완전히 달라지게 되어 </a:t>
            </a:r>
            <a:r>
              <a:rPr lang="ko-KR" altLang="en-US" sz="1200" dirty="0" err="1">
                <a:solidFill>
                  <a:schemeClr val="bg1"/>
                </a:solidFill>
                <a:latin typeface="D2Coding" panose="020B0609020101020101" pitchFamily="49" charset="-127"/>
                <a:ea typeface="D2Coding" panose="020B0609020101020101" pitchFamily="49" charset="-127"/>
              </a:rPr>
              <a:t>시간축을</a:t>
            </a:r>
            <a:r>
              <a:rPr lang="ko-KR" altLang="en-US" sz="1200" dirty="0">
                <a:solidFill>
                  <a:schemeClr val="bg1"/>
                </a:solidFill>
                <a:latin typeface="D2Coding" panose="020B0609020101020101" pitchFamily="49" charset="-127"/>
                <a:ea typeface="D2Coding" panose="020B0609020101020101" pitchFamily="49" charset="-127"/>
              </a:rPr>
              <a:t> 따라 패턴을 그대로 이동시켜 재사용할 수 없음</a:t>
            </a:r>
            <a:endParaRPr lang="en-US" altLang="ko-KR" sz="1200" dirty="0">
              <a:solidFill>
                <a:schemeClr val="bg1"/>
              </a:solidFill>
              <a:latin typeface="D2Coding" panose="020B0609020101020101" pitchFamily="49" charset="-127"/>
              <a:ea typeface="D2Coding" panose="020B0609020101020101" pitchFamily="49" charset="-127"/>
            </a:endParaRPr>
          </a:p>
          <a:p>
            <a:pPr marL="171450" indent="-171450">
              <a:buFont typeface="Wingdings" panose="05000000000000000000" pitchFamily="2" charset="2"/>
              <a:buChar char="§"/>
            </a:pPr>
            <a:endParaRPr lang="en-US" altLang="ko-KR" sz="1200" dirty="0">
              <a:solidFill>
                <a:schemeClr val="bg1"/>
              </a:solidFill>
              <a:latin typeface="D2Coding" panose="020B0609020101020101" pitchFamily="49" charset="-127"/>
              <a:ea typeface="D2Coding" panose="020B0609020101020101" pitchFamily="49" charset="-127"/>
            </a:endParaRPr>
          </a:p>
          <a:p>
            <a:pPr marL="171450" indent="-171450">
              <a:buFont typeface="Wingdings" panose="05000000000000000000" pitchFamily="2" charset="2"/>
              <a:buChar char="§"/>
            </a:pPr>
            <a:r>
              <a:rPr lang="en-US" altLang="ko-KR" sz="1200" dirty="0">
                <a:solidFill>
                  <a:schemeClr val="bg1"/>
                </a:solidFill>
                <a:latin typeface="D2Coding" panose="020B0609020101020101" pitchFamily="49" charset="-127"/>
                <a:ea typeface="D2Coding" panose="020B0609020101020101" pitchFamily="49" charset="-127"/>
              </a:rPr>
              <a:t>Conv1D</a:t>
            </a:r>
            <a:r>
              <a:rPr lang="ko-KR" altLang="en-US" sz="1200" dirty="0">
                <a:solidFill>
                  <a:schemeClr val="bg1"/>
                </a:solidFill>
                <a:latin typeface="D2Coding" panose="020B0609020101020101" pitchFamily="49" charset="-127"/>
                <a:ea typeface="D2Coding" panose="020B0609020101020101" pitchFamily="49" charset="-127"/>
              </a:rPr>
              <a:t>는 슬라이딩 윈도우를 굴리며 </a:t>
            </a:r>
            <a:r>
              <a:rPr lang="en-US" altLang="ko-KR" sz="1200" i="1" dirty="0">
                <a:solidFill>
                  <a:schemeClr val="bg1"/>
                </a:solidFill>
                <a:latin typeface="D2Coding" panose="020B0609020101020101" pitchFamily="49" charset="-127"/>
                <a:ea typeface="D2Coding" panose="020B0609020101020101" pitchFamily="49" charset="-127"/>
              </a:rPr>
              <a:t>"</a:t>
            </a:r>
            <a:r>
              <a:rPr lang="ko-KR" altLang="en-US" sz="1200" i="1" dirty="0">
                <a:solidFill>
                  <a:schemeClr val="bg1"/>
                </a:solidFill>
                <a:latin typeface="D2Coding" panose="020B0609020101020101" pitchFamily="49" charset="-127"/>
                <a:ea typeface="D2Coding" panose="020B0609020101020101" pitchFamily="49" charset="-127"/>
              </a:rPr>
              <a:t>아침이든 밤이든 패턴 모양만 비슷하면 다 똑같은 특성이겠지</a:t>
            </a:r>
            <a:r>
              <a:rPr lang="en-US" altLang="ko-KR" sz="1200" i="1"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 하고 연산하지만 날씨에서는 </a:t>
            </a:r>
            <a:r>
              <a:rPr lang="ko-KR" altLang="en-US" sz="1200" b="1" dirty="0">
                <a:solidFill>
                  <a:schemeClr val="bg1"/>
                </a:solidFill>
                <a:latin typeface="D2Coding" panose="020B0609020101020101" pitchFamily="49" charset="-127"/>
                <a:ea typeface="D2Coding" panose="020B0609020101020101" pitchFamily="49" charset="-127"/>
              </a:rPr>
              <a:t>발생 시점을 무시하는 순간 잘못된 예측</a:t>
            </a:r>
            <a:r>
              <a:rPr lang="ko-KR" altLang="en-US" sz="1200" dirty="0">
                <a:solidFill>
                  <a:schemeClr val="bg1"/>
                </a:solidFill>
                <a:latin typeface="D2Coding" panose="020B0609020101020101" pitchFamily="49" charset="-127"/>
                <a:ea typeface="D2Coding" panose="020B0609020101020101" pitchFamily="49" charset="-127"/>
              </a:rPr>
              <a:t>으로 이어지게 됨</a:t>
            </a:r>
            <a:endParaRPr lang="en-US" altLang="ko-KR" sz="1200" dirty="0">
              <a:solidFill>
                <a:schemeClr val="bg1"/>
              </a:solidFill>
              <a:latin typeface="D2Coding" panose="020B0609020101020101" pitchFamily="49" charset="-127"/>
              <a:ea typeface="D2Coding" panose="020B0609020101020101" pitchFamily="49" charset="-127"/>
            </a:endParaRPr>
          </a:p>
          <a:p>
            <a:pPr marL="171450" indent="-171450">
              <a:buFont typeface="Wingdings" panose="05000000000000000000" pitchFamily="2" charset="2"/>
              <a:buChar char="§"/>
            </a:pPr>
            <a:endParaRPr lang="en-US" altLang="ko-KR" sz="1200" dirty="0">
              <a:solidFill>
                <a:schemeClr val="bg1"/>
              </a:solidFill>
              <a:latin typeface="D2Coding" panose="020B0609020101020101" pitchFamily="49" charset="-127"/>
              <a:ea typeface="D2Coding" panose="020B0609020101020101" pitchFamily="49" charset="-127"/>
            </a:endParaRPr>
          </a:p>
          <a:p>
            <a:pPr marL="171450" indent="-171450">
              <a:buFont typeface="Wingdings" panose="05000000000000000000" pitchFamily="2" charset="2"/>
              <a:buChar char="§"/>
            </a:pPr>
            <a:r>
              <a:rPr lang="ko-KR" altLang="en-US" sz="1200" dirty="0">
                <a:solidFill>
                  <a:schemeClr val="bg1"/>
                </a:solidFill>
                <a:latin typeface="D2Coding" panose="020B0609020101020101" pitchFamily="49" charset="-127"/>
                <a:ea typeface="D2Coding" panose="020B0609020101020101" pitchFamily="49" charset="-127"/>
              </a:rPr>
              <a:t>극복하기 위해</a:t>
            </a:r>
            <a:r>
              <a:rPr lang="en-US" altLang="ko-KR" sz="1200" dirty="0">
                <a:solidFill>
                  <a:schemeClr val="bg1"/>
                </a:solidFill>
                <a:latin typeface="D2Coding" panose="020B0609020101020101" pitchFamily="49" charset="-127"/>
                <a:ea typeface="D2Coding" panose="020B0609020101020101" pitchFamily="49" charset="-127"/>
              </a:rPr>
              <a:t>, </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b="1" dirty="0">
                <a:solidFill>
                  <a:schemeClr val="bg1"/>
                </a:solidFill>
                <a:latin typeface="D2Coding" panose="020B0609020101020101" pitchFamily="49" charset="-127"/>
                <a:ea typeface="D2Coding" panose="020B0609020101020101" pitchFamily="49" charset="-127"/>
              </a:rPr>
              <a:t>절대적인 시점과 순서</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b="1" dirty="0">
                <a:solidFill>
                  <a:schemeClr val="bg1"/>
                </a:solidFill>
                <a:latin typeface="D2Coding" panose="020B0609020101020101" pitchFamily="49" charset="-127"/>
                <a:ea typeface="D2Coding" panose="020B0609020101020101" pitchFamily="49" charset="-127"/>
              </a:rPr>
              <a:t>를 기억하는 </a:t>
            </a:r>
            <a:r>
              <a:rPr lang="en-US" altLang="ko-KR" sz="1200" b="1" dirty="0">
                <a:solidFill>
                  <a:schemeClr val="bg1"/>
                </a:solidFill>
                <a:latin typeface="D2Coding" panose="020B0609020101020101" pitchFamily="49" charset="-127"/>
                <a:ea typeface="D2Coding" panose="020B0609020101020101" pitchFamily="49" charset="-127"/>
              </a:rPr>
              <a:t>RNN(LSTM/GRU)</a:t>
            </a:r>
            <a:r>
              <a:rPr lang="ko-KR" altLang="en-US" sz="1200" b="1" dirty="0">
                <a:solidFill>
                  <a:schemeClr val="bg1"/>
                </a:solidFill>
                <a:latin typeface="D2Coding" panose="020B0609020101020101" pitchFamily="49" charset="-127"/>
                <a:ea typeface="D2Coding" panose="020B0609020101020101" pitchFamily="49" charset="-127"/>
              </a:rPr>
              <a:t>이나 </a:t>
            </a:r>
            <a:r>
              <a:rPr lang="en-US" altLang="ko-KR" sz="1200" b="1" dirty="0">
                <a:solidFill>
                  <a:schemeClr val="bg1"/>
                </a:solidFill>
                <a:latin typeface="D2Coding" panose="020B0609020101020101" pitchFamily="49" charset="-127"/>
                <a:ea typeface="D2Coding" panose="020B0609020101020101" pitchFamily="49" charset="-127"/>
              </a:rPr>
              <a:t>Positional Encoding</a:t>
            </a:r>
            <a:r>
              <a:rPr lang="ko-KR" altLang="en-US" sz="1200" b="1" dirty="0">
                <a:solidFill>
                  <a:schemeClr val="bg1"/>
                </a:solidFill>
                <a:latin typeface="D2Coding" panose="020B0609020101020101" pitchFamily="49" charset="-127"/>
                <a:ea typeface="D2Coding" panose="020B0609020101020101" pitchFamily="49" charset="-127"/>
              </a:rPr>
              <a:t>을 사용하는 </a:t>
            </a:r>
            <a:r>
              <a:rPr lang="en-US" altLang="ko-KR" sz="1200" b="1" dirty="0">
                <a:solidFill>
                  <a:schemeClr val="bg1"/>
                </a:solidFill>
                <a:latin typeface="D2Coding" panose="020B0609020101020101" pitchFamily="49" charset="-127"/>
                <a:ea typeface="D2Coding" panose="020B0609020101020101" pitchFamily="49" charset="-127"/>
              </a:rPr>
              <a:t>Transformer </a:t>
            </a:r>
            <a:r>
              <a:rPr lang="ko-KR" altLang="en-US" sz="1200" b="1" dirty="0">
                <a:solidFill>
                  <a:schemeClr val="bg1"/>
                </a:solidFill>
                <a:latin typeface="D2Coding" panose="020B0609020101020101" pitchFamily="49" charset="-127"/>
                <a:ea typeface="D2Coding" panose="020B0609020101020101" pitchFamily="49" charset="-127"/>
              </a:rPr>
              <a:t>모델</a:t>
            </a:r>
            <a:r>
              <a:rPr lang="ko-KR" altLang="en-US" sz="1200" dirty="0">
                <a:solidFill>
                  <a:schemeClr val="bg1"/>
                </a:solidFill>
                <a:latin typeface="D2Coding" panose="020B0609020101020101" pitchFamily="49" charset="-127"/>
                <a:ea typeface="D2Coding" panose="020B0609020101020101" pitchFamily="49" charset="-127"/>
              </a:rPr>
              <a:t>이 시계열 예측에서 주로 활용</a:t>
            </a:r>
          </a:p>
        </p:txBody>
      </p:sp>
    </p:spTree>
    <p:extLst>
      <p:ext uri="{BB962C8B-B14F-4D97-AF65-F5344CB8AC3E}">
        <p14:creationId xmlns:p14="http://schemas.microsoft.com/office/powerpoint/2010/main" val="37854494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5A830-CA08-5196-3643-23FBA5638E2A}"/>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12FFA04E-9D9B-B075-045A-3D108812DF10}"/>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1D CNN(1D Convolutional Neural Networks)</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C03710B2-9AA9-3C2D-C9C6-7CF20783BBCA}"/>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66</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717909A-71A0-9A31-A8B3-0895B017CA11}"/>
              </a:ext>
            </a:extLst>
          </p:cNvPr>
          <p:cNvSpPr txBox="1"/>
          <p:nvPr/>
        </p:nvSpPr>
        <p:spPr>
          <a:xfrm>
            <a:off x="559528" y="1196976"/>
            <a:ext cx="10986284" cy="1162498"/>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altLang="ko-KR" sz="1600" dirty="0">
                <a:latin typeface="D2Coding" panose="020B0609020101020101" pitchFamily="49" charset="-127"/>
                <a:ea typeface="D2Coding" panose="020B0609020101020101" pitchFamily="49" charset="-127"/>
              </a:rPr>
              <a:t>GlobalAveragePooling1D</a:t>
            </a:r>
            <a:r>
              <a:rPr lang="ko-KR" altLang="en-US" sz="1600" dirty="0">
                <a:latin typeface="D2Coding" panose="020B0609020101020101" pitchFamily="49" charset="-127"/>
                <a:ea typeface="D2Coding" panose="020B0609020101020101" pitchFamily="49" charset="-127"/>
              </a:rPr>
              <a:t>가 마지막에 시간 축 전체를 평균 내버리기 때문에</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강력한 신호</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최근성</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제거</a:t>
            </a:r>
            <a:endParaRPr lang="en-US" altLang="ko-KR" sz="1600" dirty="0">
              <a:latin typeface="D2Coding" panose="020B0609020101020101" pitchFamily="49" charset="-127"/>
              <a:ea typeface="D2Coding" panose="020B0609020101020101" pitchFamily="49" charset="-127"/>
            </a:endParaRPr>
          </a:p>
          <a:p>
            <a:pPr marL="285750" indent="-285750">
              <a:lnSpc>
                <a:spcPct val="150000"/>
              </a:lnSpc>
              <a:buFont typeface="Wingdings" panose="05000000000000000000" pitchFamily="2" charset="2"/>
              <a:buChar char="§"/>
            </a:pPr>
            <a:r>
              <a:rPr lang="en-US" altLang="ko-KR" sz="1600" dirty="0">
                <a:latin typeface="D2Coding" panose="020B0609020101020101" pitchFamily="49" charset="-127"/>
                <a:ea typeface="D2Coding" panose="020B0609020101020101" pitchFamily="49" charset="-127"/>
              </a:rPr>
              <a:t>1D </a:t>
            </a:r>
            <a:r>
              <a:rPr lang="ko-KR" altLang="en-US" sz="1600" dirty="0" err="1">
                <a:latin typeface="D2Coding" panose="020B0609020101020101" pitchFamily="49" charset="-127"/>
                <a:ea typeface="D2Coding" panose="020B0609020101020101" pitchFamily="49" charset="-127"/>
              </a:rPr>
              <a:t>합성곱은</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위치에 상관없이 나타나는 지역 패턴</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을 잡는 데는 강하지만</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온도처럼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가장 최근 흐름</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이 결정적인 시계열에는 구조적으로 잘 안 맞기 때문</a:t>
            </a:r>
            <a:endParaRPr lang="en-US" altLang="ko-KR" sz="1600" dirty="0">
              <a:latin typeface="D2Coding" panose="020B0609020101020101" pitchFamily="49" charset="-127"/>
              <a:ea typeface="D2Coding" panose="020B0609020101020101" pitchFamily="49" charset="-127"/>
            </a:endParaRPr>
          </a:p>
        </p:txBody>
      </p:sp>
      <p:sp>
        <p:nvSpPr>
          <p:cNvPr id="2" name="AutoShape 2" descr="1-D convolution">
            <a:extLst>
              <a:ext uri="{FF2B5EF4-FFF2-40B4-BE49-F238E27FC236}">
                <a16:creationId xmlns:a16="http://schemas.microsoft.com/office/drawing/2014/main" id="{AE46FDE4-4890-F75D-6877-8D520D05DCFD}"/>
              </a:ext>
            </a:extLst>
          </p:cNvPr>
          <p:cNvSpPr>
            <a:spLocks noChangeAspect="1" noChangeArrowheads="1"/>
          </p:cNvSpPr>
          <p:nvPr/>
        </p:nvSpPr>
        <p:spPr bwMode="auto">
          <a:xfrm>
            <a:off x="5943600" y="3533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16" name="TextBox 15">
            <a:extLst>
              <a:ext uri="{FF2B5EF4-FFF2-40B4-BE49-F238E27FC236}">
                <a16:creationId xmlns:a16="http://schemas.microsoft.com/office/drawing/2014/main" id="{80102E7F-A8A1-6302-D076-95538DFABF5D}"/>
              </a:ext>
            </a:extLst>
          </p:cNvPr>
          <p:cNvSpPr txBox="1"/>
          <p:nvPr/>
        </p:nvSpPr>
        <p:spPr>
          <a:xfrm>
            <a:off x="685800" y="2800350"/>
            <a:ext cx="4143375" cy="1938992"/>
          </a:xfrm>
          <a:prstGeom prst="rect">
            <a:avLst/>
          </a:prstGeom>
          <a:solidFill>
            <a:srgbClr val="76E3FF"/>
          </a:solidFill>
        </p:spPr>
        <p:txBody>
          <a:bodyPr wrap="square">
            <a:spAutoFit/>
          </a:bodyPr>
          <a:lstStyle/>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inputs = </a:t>
            </a:r>
            <a:r>
              <a:rPr lang="en-US" altLang="ko-KR" sz="1200" b="0" i="0" dirty="0" err="1">
                <a:solidFill>
                  <a:srgbClr val="14181F"/>
                </a:solidFill>
                <a:effectLst/>
                <a:latin typeface="D2Coding" panose="020B0609020101020101" pitchFamily="49" charset="-127"/>
                <a:ea typeface="D2Coding" panose="020B0609020101020101" pitchFamily="49" charset="-127"/>
              </a:rPr>
              <a:t>keras.Input</a:t>
            </a:r>
            <a:r>
              <a:rPr lang="en-US" altLang="ko-KR" sz="1200" b="0" i="0" dirty="0">
                <a:solidFill>
                  <a:srgbClr val="14181F"/>
                </a:solidFill>
                <a:effectLst/>
                <a:latin typeface="D2Coding" panose="020B0609020101020101" pitchFamily="49" charset="-127"/>
                <a:ea typeface="D2Coding" panose="020B0609020101020101" pitchFamily="49" charset="-127"/>
              </a:rPr>
              <a:t>(shape=(</a:t>
            </a:r>
            <a:r>
              <a:rPr lang="en-US" altLang="ko-KR" sz="1200" b="0" i="0" dirty="0" err="1">
                <a:solidFill>
                  <a:srgbClr val="14181F"/>
                </a:solidFill>
                <a:effectLst/>
                <a:latin typeface="D2Coding" panose="020B0609020101020101" pitchFamily="49" charset="-127"/>
                <a:ea typeface="D2Coding" panose="020B0609020101020101" pitchFamily="49" charset="-127"/>
              </a:rPr>
              <a:t>sequence_length</a:t>
            </a:r>
            <a:r>
              <a:rPr lang="en-US" altLang="ko-KR" sz="1200" b="0" i="0" dirty="0">
                <a:solidFill>
                  <a:srgbClr val="14181F"/>
                </a:solidFill>
                <a:effectLst/>
                <a:latin typeface="D2Coding" panose="020B0609020101020101" pitchFamily="49" charset="-127"/>
                <a:ea typeface="D2Coding" panose="020B0609020101020101" pitchFamily="49" charset="-127"/>
              </a:rPr>
              <a:t>, </a:t>
            </a:r>
            <a:r>
              <a:rPr lang="en-US" altLang="ko-KR" sz="1200" b="0" i="0" dirty="0" err="1">
                <a:solidFill>
                  <a:srgbClr val="14181F"/>
                </a:solidFill>
                <a:effectLst/>
                <a:latin typeface="D2Coding" panose="020B0609020101020101" pitchFamily="49" charset="-127"/>
                <a:ea typeface="D2Coding" panose="020B0609020101020101" pitchFamily="49" charset="-127"/>
              </a:rPr>
              <a:t>raw_data.shape</a:t>
            </a:r>
            <a:r>
              <a:rPr lang="en-US" altLang="ko-KR" sz="1200" b="0" i="0" dirty="0">
                <a:solidFill>
                  <a:srgbClr val="14181F"/>
                </a:solidFill>
                <a:effectLst/>
                <a:latin typeface="D2Coding" panose="020B0609020101020101" pitchFamily="49" charset="-127"/>
                <a:ea typeface="D2Coding" panose="020B0609020101020101" pitchFamily="49" charset="-127"/>
              </a:rPr>
              <a:t>[-1]))</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layers.Conv1D(8, 24, activation="</a:t>
            </a:r>
            <a:r>
              <a:rPr lang="en-US" altLang="ko-KR" sz="1200" b="0" i="0" dirty="0" err="1">
                <a:solidFill>
                  <a:srgbClr val="14181F"/>
                </a:solidFill>
                <a:effectLst/>
                <a:latin typeface="D2Coding" panose="020B0609020101020101" pitchFamily="49" charset="-127"/>
                <a:ea typeface="D2Coding" panose="020B0609020101020101" pitchFamily="49" charset="-127"/>
              </a:rPr>
              <a:t>relu</a:t>
            </a:r>
            <a:r>
              <a:rPr lang="en-US" altLang="ko-KR" sz="1200" b="0" i="0" dirty="0">
                <a:solidFill>
                  <a:srgbClr val="14181F"/>
                </a:solidFill>
                <a:effectLst/>
                <a:latin typeface="D2Coding" panose="020B0609020101020101" pitchFamily="49" charset="-127"/>
                <a:ea typeface="D2Coding" panose="020B0609020101020101" pitchFamily="49" charset="-127"/>
              </a:rPr>
              <a:t>")(inputs)</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layers.MaxPooling1D(2)(x)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layers.Conv1D(8, 12, activation="</a:t>
            </a:r>
            <a:r>
              <a:rPr lang="en-US" altLang="ko-KR" sz="1200" b="0" i="0" dirty="0" err="1">
                <a:solidFill>
                  <a:srgbClr val="14181F"/>
                </a:solidFill>
                <a:effectLst/>
                <a:latin typeface="D2Coding" panose="020B0609020101020101" pitchFamily="49" charset="-127"/>
                <a:ea typeface="D2Coding" panose="020B0609020101020101" pitchFamily="49" charset="-127"/>
              </a:rPr>
              <a:t>relu</a:t>
            </a:r>
            <a:r>
              <a:rPr lang="en-US" altLang="ko-KR" sz="1200" b="0" i="0" dirty="0">
                <a:solidFill>
                  <a:srgbClr val="14181F"/>
                </a:solidFill>
                <a:effectLst/>
                <a:latin typeface="D2Coding" panose="020B0609020101020101" pitchFamily="49" charset="-127"/>
                <a:ea typeface="D2Coding" panose="020B0609020101020101" pitchFamily="49" charset="-127"/>
              </a:rPr>
              <a:t>")(x)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layers.MaxPooling1D(2)(x)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layers.Conv1D(8, 6, activation="</a:t>
            </a:r>
            <a:r>
              <a:rPr lang="en-US" altLang="ko-KR" sz="1200" b="0" i="0" dirty="0" err="1">
                <a:solidFill>
                  <a:srgbClr val="14181F"/>
                </a:solidFill>
                <a:effectLst/>
                <a:latin typeface="D2Coding" panose="020B0609020101020101" pitchFamily="49" charset="-127"/>
                <a:ea typeface="D2Coding" panose="020B0609020101020101" pitchFamily="49" charset="-127"/>
              </a:rPr>
              <a:t>relu</a:t>
            </a:r>
            <a:r>
              <a:rPr lang="en-US" altLang="ko-KR" sz="1200" b="0" i="0" dirty="0">
                <a:solidFill>
                  <a:srgbClr val="14181F"/>
                </a:solidFill>
                <a:effectLst/>
                <a:latin typeface="D2Coding" panose="020B0609020101020101" pitchFamily="49" charset="-127"/>
                <a:ea typeface="D2Coding" panose="020B0609020101020101" pitchFamily="49" charset="-127"/>
              </a:rPr>
              <a:t>")(x)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x = layers.GlobalAveragePooling1D()(x)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outputs = </a:t>
            </a:r>
            <a:r>
              <a:rPr lang="en-US" altLang="ko-KR" sz="1200" b="0" i="0" dirty="0" err="1">
                <a:solidFill>
                  <a:srgbClr val="14181F"/>
                </a:solidFill>
                <a:effectLst/>
                <a:latin typeface="D2Coding" panose="020B0609020101020101" pitchFamily="49" charset="-127"/>
                <a:ea typeface="D2Coding" panose="020B0609020101020101" pitchFamily="49" charset="-127"/>
              </a:rPr>
              <a:t>layers.Dense</a:t>
            </a:r>
            <a:r>
              <a:rPr lang="en-US" altLang="ko-KR" sz="1200" b="0" i="0" dirty="0">
                <a:solidFill>
                  <a:srgbClr val="14181F"/>
                </a:solidFill>
                <a:effectLst/>
                <a:latin typeface="D2Coding" panose="020B0609020101020101" pitchFamily="49" charset="-127"/>
                <a:ea typeface="D2Coding" panose="020B0609020101020101" pitchFamily="49" charset="-127"/>
              </a:rPr>
              <a:t>(1)(x)</a:t>
            </a:r>
          </a:p>
          <a:p>
            <a:pPr algn="l">
              <a:buNone/>
            </a:pPr>
            <a:r>
              <a:rPr lang="en-US" altLang="ko-KR" sz="1200" b="0" i="0" dirty="0">
                <a:solidFill>
                  <a:srgbClr val="14181F"/>
                </a:solidFill>
                <a:effectLst/>
                <a:latin typeface="D2Coding" panose="020B0609020101020101" pitchFamily="49" charset="-127"/>
                <a:ea typeface="D2Coding" panose="020B0609020101020101" pitchFamily="49" charset="-127"/>
              </a:rPr>
              <a:t>model = </a:t>
            </a:r>
            <a:r>
              <a:rPr lang="en-US" altLang="ko-KR" sz="1200" b="0" i="0" dirty="0" err="1">
                <a:solidFill>
                  <a:srgbClr val="14181F"/>
                </a:solidFill>
                <a:effectLst/>
                <a:latin typeface="D2Coding" panose="020B0609020101020101" pitchFamily="49" charset="-127"/>
                <a:ea typeface="D2Coding" panose="020B0609020101020101" pitchFamily="49" charset="-127"/>
              </a:rPr>
              <a:t>keras.Model</a:t>
            </a:r>
            <a:r>
              <a:rPr lang="en-US" altLang="ko-KR" sz="1200" b="0" i="0" dirty="0">
                <a:solidFill>
                  <a:srgbClr val="14181F"/>
                </a:solidFill>
                <a:effectLst/>
                <a:latin typeface="D2Coding" panose="020B0609020101020101" pitchFamily="49" charset="-127"/>
                <a:ea typeface="D2Coding" panose="020B0609020101020101" pitchFamily="49" charset="-127"/>
              </a:rPr>
              <a:t>(inputs, outputs)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8C85ABC-849F-62D3-3CB1-999AD960394D}"/>
                  </a:ext>
                </a:extLst>
              </p:cNvPr>
              <p:cNvSpPr txBox="1"/>
              <p:nvPr/>
            </p:nvSpPr>
            <p:spPr>
              <a:xfrm>
                <a:off x="4829175" y="2800350"/>
                <a:ext cx="7086857" cy="3600986"/>
              </a:xfrm>
              <a:prstGeom prst="rect">
                <a:avLst/>
              </a:prstGeom>
              <a:solidFill>
                <a:schemeClr val="tx1"/>
              </a:solidFill>
              <a:ln>
                <a:solidFill>
                  <a:schemeClr val="tx1"/>
                </a:solidFill>
              </a:ln>
            </p:spPr>
            <p:txBody>
              <a:bodyPr wrap="square">
                <a:spAutoFit/>
              </a:bodyPr>
              <a:lstStyle/>
              <a:p>
                <a:pPr marL="342900" indent="-342900" rtl="0">
                  <a:buFont typeface="+mj-lt"/>
                  <a:buAutoNum type="arabicParenR"/>
                </a:pPr>
                <a:r>
                  <a:rPr lang="en-US" altLang="ko-KR" sz="1200" dirty="0" err="1">
                    <a:solidFill>
                      <a:schemeClr val="bg1"/>
                    </a:solidFill>
                    <a:latin typeface="D2Coding" panose="020B0609020101020101" pitchFamily="49" charset="-127"/>
                    <a:ea typeface="D2Coding" panose="020B0609020101020101" pitchFamily="49" charset="-127"/>
                  </a:rPr>
                  <a:t>keras.Input</a:t>
                </a:r>
                <a:r>
                  <a:rPr lang="en-US" altLang="ko-KR" sz="1200" dirty="0">
                    <a:solidFill>
                      <a:schemeClr val="bg1"/>
                    </a:solidFill>
                    <a:latin typeface="D2Coding" panose="020B0609020101020101" pitchFamily="49" charset="-127"/>
                    <a:ea typeface="D2Coding" panose="020B0609020101020101" pitchFamily="49" charset="-127"/>
                  </a:rPr>
                  <a:t>(shape=(120, 14))</a:t>
                </a:r>
                <a:endParaRPr lang="ko-KR" altLang="en-US" sz="1200" dirty="0">
                  <a:solidFill>
                    <a:schemeClr val="bg1"/>
                  </a:solidFill>
                  <a:latin typeface="D2Coding" panose="020B0609020101020101" pitchFamily="49" charset="-127"/>
                  <a:ea typeface="D2Coding" panose="020B0609020101020101" pitchFamily="49" charset="-127"/>
                </a:endParaRPr>
              </a:p>
              <a:p>
                <a:pPr lvl="1"/>
                <a:r>
                  <a:rPr lang="en-US" altLang="ko-KR" sz="1200" dirty="0">
                    <a:solidFill>
                      <a:schemeClr val="bg1"/>
                    </a:solidFill>
                    <a:latin typeface="D2Coding" panose="020B0609020101020101" pitchFamily="49" charset="-127"/>
                    <a:ea typeface="D2Coding" panose="020B0609020101020101" pitchFamily="49" charset="-127"/>
                  </a:rPr>
                  <a:t>5</a:t>
                </a:r>
                <a:r>
                  <a:rPr lang="ko-KR" altLang="en-US" sz="1200" dirty="0">
                    <a:solidFill>
                      <a:schemeClr val="bg1"/>
                    </a:solidFill>
                    <a:latin typeface="D2Coding" panose="020B0609020101020101" pitchFamily="49" charset="-127"/>
                    <a:ea typeface="D2Coding" panose="020B0609020101020101" pitchFamily="49" charset="-127"/>
                  </a:rPr>
                  <a:t>일치</a:t>
                </a:r>
                <a:r>
                  <a:rPr lang="en-US" altLang="ko-KR" sz="1200" dirty="0">
                    <a:solidFill>
                      <a:schemeClr val="bg1"/>
                    </a:solidFill>
                    <a:latin typeface="D2Coding" panose="020B0609020101020101" pitchFamily="49" charset="-127"/>
                    <a:ea typeface="D2Coding" panose="020B0609020101020101" pitchFamily="49" charset="-127"/>
                  </a:rPr>
                  <a:t>(1</a:t>
                </a:r>
                <a:r>
                  <a:rPr lang="ko-KR" altLang="en-US" sz="1200" dirty="0">
                    <a:solidFill>
                      <a:schemeClr val="bg1"/>
                    </a:solidFill>
                    <a:latin typeface="D2Coding" panose="020B0609020101020101" pitchFamily="49" charset="-127"/>
                    <a:ea typeface="D2Coding" panose="020B0609020101020101" pitchFamily="49" charset="-127"/>
                  </a:rPr>
                  <a:t>시간 간격 </a:t>
                </a:r>
                <a:r>
                  <a:rPr lang="en-US" altLang="ko-KR" sz="1200" dirty="0">
                    <a:solidFill>
                      <a:schemeClr val="bg1"/>
                    </a:solidFill>
                    <a:latin typeface="D2Coding" panose="020B0609020101020101" pitchFamily="49" charset="-127"/>
                    <a:ea typeface="D2Coding" panose="020B0609020101020101" pitchFamily="49" charset="-127"/>
                  </a:rPr>
                  <a:t>× 120) </a:t>
                </a:r>
                <a:r>
                  <a:rPr lang="ko-KR" altLang="en-US" sz="1200" dirty="0">
                    <a:solidFill>
                      <a:schemeClr val="bg1"/>
                    </a:solidFill>
                    <a:latin typeface="D2Coding" panose="020B0609020101020101" pitchFamily="49" charset="-127"/>
                    <a:ea typeface="D2Coding" panose="020B0609020101020101" pitchFamily="49" charset="-127"/>
                  </a:rPr>
                  <a:t>관측 데이터</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시점마다 </a:t>
                </a:r>
                <a:r>
                  <a:rPr lang="en-US" altLang="ko-KR" sz="1200" dirty="0">
                    <a:solidFill>
                      <a:schemeClr val="bg1"/>
                    </a:solidFill>
                    <a:latin typeface="D2Coding" panose="020B0609020101020101" pitchFamily="49" charset="-127"/>
                    <a:ea typeface="D2Coding" panose="020B0609020101020101" pitchFamily="49" charset="-127"/>
                  </a:rPr>
                  <a:t>14</a:t>
                </a:r>
                <a:r>
                  <a:rPr lang="ko-KR" altLang="en-US" sz="1200" dirty="0">
                    <a:solidFill>
                      <a:schemeClr val="bg1"/>
                    </a:solidFill>
                    <a:latin typeface="D2Coding" panose="020B0609020101020101" pitchFamily="49" charset="-127"/>
                    <a:ea typeface="D2Coding" panose="020B0609020101020101" pitchFamily="49" charset="-127"/>
                  </a:rPr>
                  <a:t>개 변수를 받겠다고 선언하는 </a:t>
                </a:r>
                <a:r>
                  <a:rPr lang="en-US" altLang="ko-KR" sz="1200" dirty="0">
                    <a:solidFill>
                      <a:schemeClr val="bg1"/>
                    </a:solidFill>
                    <a:latin typeface="D2Coding" panose="020B0609020101020101" pitchFamily="49" charset="-127"/>
                    <a:ea typeface="D2Coding" panose="020B0609020101020101" pitchFamily="49" charset="-127"/>
                  </a:rPr>
                  <a:t>layer</a:t>
                </a:r>
              </a:p>
              <a:p>
                <a:pPr marL="342900" indent="-342900" rtl="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Conv1D(8, 24, activation=＂</a:t>
                </a:r>
                <a:r>
                  <a:rPr lang="en-US" altLang="ko-KR" sz="1200" dirty="0" err="1">
                    <a:solidFill>
                      <a:schemeClr val="bg1"/>
                    </a:solidFill>
                    <a:latin typeface="D2Coding" panose="020B0609020101020101" pitchFamily="49" charset="-127"/>
                    <a:ea typeface="D2Coding" panose="020B0609020101020101" pitchFamily="49" charset="-127"/>
                  </a:rPr>
                  <a:t>relu</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(97, 8)</a:t>
                </a:r>
                <a:endParaRPr lang="ko-KR" altLang="en-US" sz="1200" dirty="0">
                  <a:solidFill>
                    <a:schemeClr val="bg1"/>
                  </a:solidFill>
                  <a:latin typeface="D2Coding" panose="020B0609020101020101" pitchFamily="49" charset="-127"/>
                  <a:ea typeface="D2Coding" panose="020B0609020101020101" pitchFamily="49" charset="-127"/>
                </a:endParaRPr>
              </a:p>
              <a:p>
                <a:pPr lvl="1"/>
                <a:r>
                  <a:rPr lang="ko-KR" altLang="en-US" sz="1200" dirty="0">
                    <a:solidFill>
                      <a:schemeClr val="bg1"/>
                    </a:solidFill>
                    <a:latin typeface="D2Coding" panose="020B0609020101020101" pitchFamily="49" charset="-127"/>
                    <a:ea typeface="D2Coding" panose="020B0609020101020101" pitchFamily="49" charset="-127"/>
                  </a:rPr>
                  <a:t>폭 </a:t>
                </a:r>
                <a:r>
                  <a:rPr lang="en-US" altLang="ko-KR" sz="1200" dirty="0">
                    <a:solidFill>
                      <a:schemeClr val="bg1"/>
                    </a:solidFill>
                    <a:latin typeface="D2Coding" panose="020B0609020101020101" pitchFamily="49" charset="-127"/>
                    <a:ea typeface="D2Coding" panose="020B0609020101020101" pitchFamily="49" charset="-127"/>
                  </a:rPr>
                  <a:t>24(=24</a:t>
                </a:r>
                <a:r>
                  <a:rPr lang="ko-KR" altLang="en-US" sz="1200" dirty="0">
                    <a:solidFill>
                      <a:schemeClr val="bg1"/>
                    </a:solidFill>
                    <a:latin typeface="D2Coding" panose="020B0609020101020101" pitchFamily="49" charset="-127"/>
                    <a:ea typeface="D2Coding" panose="020B0609020101020101" pitchFamily="49" charset="-127"/>
                  </a:rPr>
                  <a:t>시간</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하루</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err="1">
                    <a:solidFill>
                      <a:schemeClr val="bg1"/>
                    </a:solidFill>
                    <a:latin typeface="D2Coding" panose="020B0609020101020101" pitchFamily="49" charset="-127"/>
                    <a:ea typeface="D2Coding" panose="020B0609020101020101" pitchFamily="49" charset="-127"/>
                  </a:rPr>
                  <a:t>짜리</a:t>
                </a:r>
                <a:r>
                  <a:rPr lang="ko-KR" altLang="en-US" sz="1200" dirty="0">
                    <a:solidFill>
                      <a:schemeClr val="bg1"/>
                    </a:solidFill>
                    <a:latin typeface="D2Coding" panose="020B0609020101020101" pitchFamily="49" charset="-127"/>
                    <a:ea typeface="D2Coding" panose="020B0609020101020101" pitchFamily="49" charset="-127"/>
                  </a:rPr>
                  <a:t> 필터 </a:t>
                </a:r>
                <a:r>
                  <a:rPr lang="en-US" altLang="ko-KR" sz="1200" dirty="0">
                    <a:solidFill>
                      <a:schemeClr val="bg1"/>
                    </a:solidFill>
                    <a:latin typeface="D2Coding" panose="020B0609020101020101" pitchFamily="49" charset="-127"/>
                    <a:ea typeface="D2Coding" panose="020B0609020101020101" pitchFamily="49" charset="-127"/>
                  </a:rPr>
                  <a:t>8</a:t>
                </a:r>
                <a:r>
                  <a:rPr lang="ko-KR" altLang="en-US" sz="1200" dirty="0">
                    <a:solidFill>
                      <a:schemeClr val="bg1"/>
                    </a:solidFill>
                    <a:latin typeface="D2Coding" panose="020B0609020101020101" pitchFamily="49" charset="-127"/>
                    <a:ea typeface="D2Coding" panose="020B0609020101020101" pitchFamily="49" charset="-127"/>
                  </a:rPr>
                  <a:t>개가 </a:t>
                </a:r>
                <a:r>
                  <a:rPr lang="ko-KR" altLang="en-US" sz="1200" dirty="0" err="1">
                    <a:solidFill>
                      <a:schemeClr val="bg1"/>
                    </a:solidFill>
                    <a:latin typeface="D2Coding" panose="020B0609020101020101" pitchFamily="49" charset="-127"/>
                    <a:ea typeface="D2Coding" panose="020B0609020101020101" pitchFamily="49" charset="-127"/>
                  </a:rPr>
                  <a:t>시간축을</a:t>
                </a:r>
                <a:r>
                  <a:rPr lang="ko-KR" altLang="en-US" sz="1200" dirty="0">
                    <a:solidFill>
                      <a:schemeClr val="bg1"/>
                    </a:solidFill>
                    <a:latin typeface="D2Coding" panose="020B0609020101020101" pitchFamily="49" charset="-127"/>
                    <a:ea typeface="D2Coding" panose="020B0609020101020101" pitchFamily="49" charset="-127"/>
                  </a:rPr>
                  <a:t> 한 칸씩 </a:t>
                </a:r>
                <a:r>
                  <a:rPr lang="ko-KR" altLang="en-US" sz="1200" dirty="0" err="1">
                    <a:solidFill>
                      <a:schemeClr val="bg1"/>
                    </a:solidFill>
                    <a:latin typeface="D2Coding" panose="020B0609020101020101" pitchFamily="49" charset="-127"/>
                    <a:ea typeface="D2Coding" panose="020B0609020101020101" pitchFamily="49" charset="-127"/>
                  </a:rPr>
                  <a:t>슬라이딩하며</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하루 단위의 지역적 패턴</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예</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일교차 모양</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을 </a:t>
                </a:r>
                <a:r>
                  <a:rPr lang="en-US" altLang="ko-KR" sz="1200" dirty="0">
                    <a:solidFill>
                      <a:schemeClr val="bg1"/>
                    </a:solidFill>
                    <a:latin typeface="D2Coding" panose="020B0609020101020101" pitchFamily="49" charset="-127"/>
                    <a:ea typeface="D2Coding" panose="020B0609020101020101" pitchFamily="49" charset="-127"/>
                  </a:rPr>
                  <a:t>8</a:t>
                </a:r>
                <a:r>
                  <a:rPr lang="ko-KR" altLang="en-US" sz="1200" dirty="0">
                    <a:solidFill>
                      <a:schemeClr val="bg1"/>
                    </a:solidFill>
                    <a:latin typeface="D2Coding" panose="020B0609020101020101" pitchFamily="49" charset="-127"/>
                    <a:ea typeface="D2Coding" panose="020B0609020101020101" pitchFamily="49" charset="-127"/>
                  </a:rPr>
                  <a:t>가지 관점으로 추출</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출력 길이</a:t>
                </a:r>
                <a:r>
                  <a:rPr lang="en-US" altLang="ko-KR" sz="1200" dirty="0">
                    <a:solidFill>
                      <a:schemeClr val="bg1"/>
                    </a:solidFill>
                    <a:latin typeface="D2Coding" panose="020B0609020101020101" pitchFamily="49" charset="-127"/>
                    <a:ea typeface="D2Coding" panose="020B0609020101020101" pitchFamily="49" charset="-127"/>
                  </a:rPr>
                  <a:t>: </a:t>
                </a:r>
                <a14:m>
                  <m:oMath xmlns:m="http://schemas.openxmlformats.org/officeDocument/2006/math">
                    <m:r>
                      <a:rPr lang="en-US" altLang="ko-KR" sz="1200" b="0" i="1" smtClean="0">
                        <a:solidFill>
                          <a:schemeClr val="bg1"/>
                        </a:solidFill>
                        <a:latin typeface="Cambria Math" panose="02040503050406030204" pitchFamily="18" charset="0"/>
                      </a:rPr>
                      <m:t>120</m:t>
                    </m:r>
                    <m:r>
                      <a:rPr lang="ko-KR" altLang="en-US" sz="1200" b="0" i="0" smtClean="0">
                        <a:solidFill>
                          <a:schemeClr val="bg1"/>
                        </a:solidFill>
                        <a:latin typeface="Cambria Math" panose="02040503050406030204" pitchFamily="18" charset="0"/>
                      </a:rPr>
                      <m:t>−</m:t>
                    </m:r>
                    <m:r>
                      <a:rPr lang="en-US" altLang="ko-KR" sz="1200" b="0" i="0" smtClean="0">
                        <a:solidFill>
                          <a:schemeClr val="bg1"/>
                        </a:solidFill>
                        <a:latin typeface="Cambria Math" panose="02040503050406030204" pitchFamily="18" charset="0"/>
                      </a:rPr>
                      <m:t>24+1=97</m:t>
                    </m:r>
                  </m:oMath>
                </a14:m>
                <a:endParaRPr lang="en-US" altLang="ko-KR" sz="1200" dirty="0">
                  <a:solidFill>
                    <a:schemeClr val="bg1"/>
                  </a:solidFill>
                  <a:latin typeface="D2Coding" panose="020B0609020101020101" pitchFamily="49" charset="-127"/>
                  <a:ea typeface="D2Coding" panose="020B0609020101020101" pitchFamily="49" charset="-127"/>
                </a:endParaRPr>
              </a:p>
              <a:p>
                <a:pPr marL="342900" indent="-34290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MaxPooling1D(2)</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(48, 8)</a:t>
                </a:r>
                <a:r>
                  <a:rPr lang="ko-KR" altLang="en-US" sz="1200" dirty="0">
                    <a:solidFill>
                      <a:schemeClr val="bg1"/>
                    </a:solidFill>
                    <a:latin typeface="D2Coding" panose="020B0609020101020101" pitchFamily="49" charset="-127"/>
                    <a:ea typeface="D2Coding" panose="020B0609020101020101" pitchFamily="49" charset="-127"/>
                  </a:rPr>
                  <a:t> 인접한 </a:t>
                </a:r>
                <a:r>
                  <a:rPr lang="en-US" altLang="ko-KR" sz="1200" dirty="0">
                    <a:solidFill>
                      <a:schemeClr val="bg1"/>
                    </a:solidFill>
                    <a:latin typeface="D2Coding" panose="020B0609020101020101" pitchFamily="49" charset="-127"/>
                    <a:ea typeface="D2Coding" panose="020B0609020101020101" pitchFamily="49" charset="-127"/>
                  </a:rPr>
                  <a:t>2</a:t>
                </a:r>
                <a:r>
                  <a:rPr lang="ko-KR" altLang="en-US" sz="1200" dirty="0">
                    <a:solidFill>
                      <a:schemeClr val="bg1"/>
                    </a:solidFill>
                    <a:latin typeface="D2Coding" panose="020B0609020101020101" pitchFamily="49" charset="-127"/>
                    <a:ea typeface="D2Coding" panose="020B0609020101020101" pitchFamily="49" charset="-127"/>
                  </a:rPr>
                  <a:t>개 시점 중 최댓값만 남겨 시퀀스 길이를 절반으로 축소</a:t>
                </a:r>
                <a:endParaRPr lang="en-US" altLang="ko-KR" sz="1200" dirty="0">
                  <a:solidFill>
                    <a:schemeClr val="bg1"/>
                  </a:solidFill>
                  <a:latin typeface="D2Coding" panose="020B0609020101020101" pitchFamily="49" charset="-127"/>
                  <a:ea typeface="D2Coding" panose="020B0609020101020101" pitchFamily="49" charset="-127"/>
                </a:endParaRPr>
              </a:p>
              <a:p>
                <a:pPr marL="342900" indent="-34290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Conv1D(8, 12, activation="</a:t>
                </a:r>
                <a:r>
                  <a:rPr lang="en-US" altLang="ko-KR" sz="1200" dirty="0" err="1">
                    <a:solidFill>
                      <a:schemeClr val="bg1"/>
                    </a:solidFill>
                    <a:latin typeface="D2Coding" panose="020B0609020101020101" pitchFamily="49" charset="-127"/>
                    <a:ea typeface="D2Coding" panose="020B0609020101020101" pitchFamily="49" charset="-127"/>
                  </a:rPr>
                  <a:t>relu</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(37, 8)</a:t>
                </a:r>
              </a:p>
              <a:p>
                <a:pPr lvl="1"/>
                <a:r>
                  <a:rPr lang="ko-KR" altLang="en-US" sz="1200" dirty="0">
                    <a:solidFill>
                      <a:schemeClr val="bg1"/>
                    </a:solidFill>
                    <a:latin typeface="D2Coding" panose="020B0609020101020101" pitchFamily="49" charset="-127"/>
                    <a:ea typeface="D2Coding" panose="020B0609020101020101" pitchFamily="49" charset="-127"/>
                  </a:rPr>
                  <a:t>압축된 시퀀스</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이미 한 칸에 약 </a:t>
                </a:r>
                <a:r>
                  <a:rPr lang="en-US" altLang="ko-KR" sz="1200" dirty="0">
                    <a:solidFill>
                      <a:schemeClr val="bg1"/>
                    </a:solidFill>
                    <a:latin typeface="D2Coding" panose="020B0609020101020101" pitchFamily="49" charset="-127"/>
                    <a:ea typeface="D2Coding" panose="020B0609020101020101" pitchFamily="49" charset="-127"/>
                  </a:rPr>
                  <a:t>2</a:t>
                </a:r>
                <a:r>
                  <a:rPr lang="ko-KR" altLang="en-US" sz="1200" dirty="0" err="1">
                    <a:solidFill>
                      <a:schemeClr val="bg1"/>
                    </a:solidFill>
                    <a:latin typeface="D2Coding" panose="020B0609020101020101" pitchFamily="49" charset="-127"/>
                    <a:ea typeface="D2Coding" panose="020B0609020101020101" pitchFamily="49" charset="-127"/>
                  </a:rPr>
                  <a:t>시간어치</a:t>
                </a:r>
                <a:r>
                  <a:rPr lang="ko-KR" altLang="en-US" sz="1200" dirty="0">
                    <a:solidFill>
                      <a:schemeClr val="bg1"/>
                    </a:solidFill>
                    <a:latin typeface="D2Coding" panose="020B0609020101020101" pitchFamily="49" charset="-127"/>
                    <a:ea typeface="D2Coding" panose="020B0609020101020101" pitchFamily="49" charset="-127"/>
                  </a:rPr>
                  <a:t> 정보가 </a:t>
                </a:r>
                <a:r>
                  <a:rPr lang="ko-KR" altLang="en-US" sz="1200" dirty="0" err="1">
                    <a:solidFill>
                      <a:schemeClr val="bg1"/>
                    </a:solidFill>
                    <a:latin typeface="D2Coding" panose="020B0609020101020101" pitchFamily="49" charset="-127"/>
                    <a:ea typeface="D2Coding" panose="020B0609020101020101" pitchFamily="49" charset="-127"/>
                  </a:rPr>
                  <a:t>녹아있음</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위에서 다시 폭 </a:t>
                </a:r>
                <a:r>
                  <a:rPr lang="en-US" altLang="ko-KR" sz="1200" dirty="0">
                    <a:solidFill>
                      <a:schemeClr val="bg1"/>
                    </a:solidFill>
                    <a:latin typeface="D2Coding" panose="020B0609020101020101" pitchFamily="49" charset="-127"/>
                    <a:ea typeface="D2Coding" panose="020B0609020101020101" pitchFamily="49" charset="-127"/>
                  </a:rPr>
                  <a:t>12</a:t>
                </a:r>
                <a:r>
                  <a:rPr lang="ko-KR" altLang="en-US" sz="1200" dirty="0" err="1">
                    <a:solidFill>
                      <a:schemeClr val="bg1"/>
                    </a:solidFill>
                    <a:latin typeface="D2Coding" panose="020B0609020101020101" pitchFamily="49" charset="-127"/>
                    <a:ea typeface="D2Coding" panose="020B0609020101020101" pitchFamily="49" charset="-127"/>
                  </a:rPr>
                  <a:t>짜리</a:t>
                </a:r>
                <a:r>
                  <a:rPr lang="ko-KR" altLang="en-US" sz="1200" dirty="0">
                    <a:solidFill>
                      <a:schemeClr val="bg1"/>
                    </a:solidFill>
                    <a:latin typeface="D2Coding" panose="020B0609020101020101" pitchFamily="49" charset="-127"/>
                    <a:ea typeface="D2Coding" panose="020B0609020101020101" pitchFamily="49" charset="-127"/>
                  </a:rPr>
                  <a:t> 필터로 지역 패턴을 뽑아 원본 기준으로는 더 넓은 시간대</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하루 이상</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를 아우르는 패턴을 인식</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출력 길이</a:t>
                </a:r>
                <a:r>
                  <a:rPr lang="en-US" altLang="ko-KR" sz="1200" dirty="0">
                    <a:solidFill>
                      <a:schemeClr val="bg1"/>
                    </a:solidFill>
                    <a:latin typeface="D2Coding" panose="020B0609020101020101" pitchFamily="49" charset="-127"/>
                    <a:ea typeface="D2Coding" panose="020B0609020101020101" pitchFamily="49" charset="-127"/>
                  </a:rPr>
                  <a:t>: </a:t>
                </a:r>
                <a14:m>
                  <m:oMath xmlns:m="http://schemas.openxmlformats.org/officeDocument/2006/math">
                    <m:r>
                      <a:rPr lang="en-US" altLang="ko-KR" sz="1200" b="0" i="1" smtClean="0">
                        <a:solidFill>
                          <a:schemeClr val="bg1"/>
                        </a:solidFill>
                        <a:latin typeface="Cambria Math" panose="02040503050406030204" pitchFamily="18" charset="0"/>
                      </a:rPr>
                      <m:t>48</m:t>
                    </m:r>
                    <m:r>
                      <a:rPr lang="ko-KR" altLang="en-US" sz="1200" b="0" i="0" smtClean="0">
                        <a:solidFill>
                          <a:schemeClr val="bg1"/>
                        </a:solidFill>
                        <a:latin typeface="Cambria Math" panose="02040503050406030204" pitchFamily="18" charset="0"/>
                      </a:rPr>
                      <m:t>−</m:t>
                    </m:r>
                    <m:r>
                      <a:rPr lang="en-US" altLang="ko-KR" sz="1200" b="0" i="0" smtClean="0">
                        <a:solidFill>
                          <a:schemeClr val="bg1"/>
                        </a:solidFill>
                        <a:latin typeface="Cambria Math" panose="02040503050406030204" pitchFamily="18" charset="0"/>
                      </a:rPr>
                      <m:t>12+1=37</m:t>
                    </m:r>
                  </m:oMath>
                </a14:m>
                <a:endParaRPr lang="ko-KR" altLang="en-US" sz="1200" dirty="0">
                  <a:solidFill>
                    <a:schemeClr val="bg1"/>
                  </a:solidFill>
                  <a:latin typeface="D2Coding" panose="020B0609020101020101" pitchFamily="49" charset="-127"/>
                  <a:ea typeface="D2Coding" panose="020B0609020101020101" pitchFamily="49" charset="-127"/>
                </a:endParaRPr>
              </a:p>
              <a:p>
                <a:pPr marL="342900" indent="-34290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MaxPooling1D(2)</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(18, 8)</a:t>
                </a:r>
                <a:r>
                  <a:rPr lang="ko-KR" altLang="en-US" sz="1200" dirty="0">
                    <a:solidFill>
                      <a:schemeClr val="bg1"/>
                    </a:solidFill>
                    <a:latin typeface="D2Coding" panose="020B0609020101020101" pitchFamily="49" charset="-127"/>
                    <a:ea typeface="D2Coding" panose="020B0609020101020101" pitchFamily="49" charset="-127"/>
                  </a:rPr>
                  <a:t> →</a:t>
                </a:r>
                <a:r>
                  <a:rPr lang="en-US" altLang="ko-KR" sz="1200" dirty="0">
                    <a:solidFill>
                      <a:schemeClr val="bg1"/>
                    </a:solidFill>
                    <a:latin typeface="D2Coding" panose="020B0609020101020101" pitchFamily="49" charset="-127"/>
                    <a:ea typeface="D2Coding" panose="020B0609020101020101" pitchFamily="49" charset="-127"/>
                    <a:sym typeface="Wingdings" panose="05000000000000000000" pitchFamily="2" charset="2"/>
                  </a:rPr>
                  <a:t> </a:t>
                </a:r>
                <a:r>
                  <a:rPr lang="ko-KR" altLang="en-US" sz="1200" dirty="0">
                    <a:solidFill>
                      <a:schemeClr val="bg1"/>
                    </a:solidFill>
                    <a:latin typeface="D2Coding" panose="020B0609020101020101" pitchFamily="49" charset="-127"/>
                    <a:ea typeface="D2Coding" panose="020B0609020101020101" pitchFamily="49" charset="-127"/>
                  </a:rPr>
                  <a:t>다시 절반으로 압축</a:t>
                </a:r>
                <a:r>
                  <a:rPr lang="en-US" altLang="ko-KR" sz="1200" dirty="0">
                    <a:solidFill>
                      <a:schemeClr val="bg1"/>
                    </a:solidFill>
                    <a:latin typeface="D2Coding" panose="020B0609020101020101" pitchFamily="49" charset="-127"/>
                    <a:ea typeface="D2Coding" panose="020B0609020101020101" pitchFamily="49" charset="-127"/>
                  </a:rPr>
                  <a:t>.</a:t>
                </a:r>
              </a:p>
              <a:p>
                <a:pPr marL="342900" indent="-342900" rtl="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Conv1D(8, 6, activation="</a:t>
                </a:r>
                <a:r>
                  <a:rPr lang="en-US" altLang="ko-KR" sz="1200" dirty="0" err="1">
                    <a:solidFill>
                      <a:schemeClr val="bg1"/>
                    </a:solidFill>
                    <a:latin typeface="D2Coding" panose="020B0609020101020101" pitchFamily="49" charset="-127"/>
                    <a:ea typeface="D2Coding" panose="020B0609020101020101" pitchFamily="49" charset="-127"/>
                  </a:rPr>
                  <a:t>relu</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(13, 8)</a:t>
                </a:r>
                <a:endParaRPr lang="ko-KR" altLang="en-US" sz="1200" dirty="0">
                  <a:solidFill>
                    <a:schemeClr val="bg1"/>
                  </a:solidFill>
                  <a:latin typeface="D2Coding" panose="020B0609020101020101" pitchFamily="49" charset="-127"/>
                  <a:ea typeface="D2Coding" panose="020B0609020101020101" pitchFamily="49" charset="-127"/>
                </a:endParaRPr>
              </a:p>
              <a:p>
                <a:pPr lvl="1"/>
                <a:r>
                  <a:rPr lang="ko-KR" altLang="en-US" sz="1200" dirty="0">
                    <a:solidFill>
                      <a:schemeClr val="bg1"/>
                    </a:solidFill>
                    <a:latin typeface="D2Coding" panose="020B0609020101020101" pitchFamily="49" charset="-127"/>
                    <a:ea typeface="D2Coding" panose="020B0609020101020101" pitchFamily="49" charset="-127"/>
                  </a:rPr>
                  <a:t>세 번째 </a:t>
                </a:r>
                <a:r>
                  <a:rPr lang="ko-KR" altLang="en-US" sz="1200" dirty="0" err="1">
                    <a:solidFill>
                      <a:schemeClr val="bg1"/>
                    </a:solidFill>
                    <a:latin typeface="D2Coding" panose="020B0609020101020101" pitchFamily="49" charset="-127"/>
                    <a:ea typeface="D2Coding" panose="020B0609020101020101" pitchFamily="49" charset="-127"/>
                  </a:rPr>
                  <a:t>합성곱</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이 시점에선 한 칸이 원본 기준 훨씬 넓은 시간대를 대표</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출력 길이</a:t>
                </a:r>
                <a:r>
                  <a:rPr lang="en-US" altLang="ko-KR" sz="1200" dirty="0">
                    <a:solidFill>
                      <a:schemeClr val="bg1"/>
                    </a:solidFill>
                    <a:latin typeface="D2Coding" panose="020B0609020101020101" pitchFamily="49" charset="-127"/>
                    <a:ea typeface="D2Coding" panose="020B0609020101020101" pitchFamily="49" charset="-127"/>
                  </a:rPr>
                  <a:t>: </a:t>
                </a:r>
                <a14:m>
                  <m:oMath xmlns:m="http://schemas.openxmlformats.org/officeDocument/2006/math">
                    <m:r>
                      <a:rPr lang="en-US" altLang="ko-KR" sz="1200" b="0" i="1" smtClean="0">
                        <a:solidFill>
                          <a:schemeClr val="bg1"/>
                        </a:solidFill>
                        <a:latin typeface="Cambria Math" panose="02040503050406030204" pitchFamily="18" charset="0"/>
                      </a:rPr>
                      <m:t>18</m:t>
                    </m:r>
                    <m:r>
                      <a:rPr lang="ko-KR" altLang="en-US" sz="1200" b="0" i="0" smtClean="0">
                        <a:solidFill>
                          <a:schemeClr val="bg1"/>
                        </a:solidFill>
                        <a:latin typeface="Cambria Math" panose="02040503050406030204" pitchFamily="18" charset="0"/>
                      </a:rPr>
                      <m:t>−</m:t>
                    </m:r>
                    <m:r>
                      <a:rPr lang="en-US" altLang="ko-KR" sz="1200" b="0" i="0" smtClean="0">
                        <a:solidFill>
                          <a:schemeClr val="bg1"/>
                        </a:solidFill>
                        <a:latin typeface="Cambria Math" panose="02040503050406030204" pitchFamily="18" charset="0"/>
                      </a:rPr>
                      <m:t>6+1=13</m:t>
                    </m:r>
                  </m:oMath>
                </a14:m>
                <a:endParaRPr lang="ko-KR" altLang="en-US" sz="1200" dirty="0">
                  <a:solidFill>
                    <a:schemeClr val="bg1"/>
                  </a:solidFill>
                  <a:latin typeface="D2Coding" panose="020B0609020101020101" pitchFamily="49" charset="-127"/>
                  <a:ea typeface="D2Coding" panose="020B0609020101020101" pitchFamily="49" charset="-127"/>
                </a:endParaRPr>
              </a:p>
              <a:p>
                <a:pPr marL="342900" indent="-342900" rtl="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GlobalAveragePooling1D()</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(8,)</a:t>
                </a:r>
                <a:endParaRPr lang="ko-KR" altLang="en-US" sz="1200" dirty="0">
                  <a:solidFill>
                    <a:schemeClr val="bg1"/>
                  </a:solidFill>
                  <a:latin typeface="D2Coding" panose="020B0609020101020101" pitchFamily="49" charset="-127"/>
                  <a:ea typeface="D2Coding" panose="020B0609020101020101" pitchFamily="49" charset="-127"/>
                </a:endParaRPr>
              </a:p>
              <a:p>
                <a:pPr lvl="1"/>
                <a:r>
                  <a:rPr lang="ko-KR" altLang="en-US" sz="1200" dirty="0">
                    <a:solidFill>
                      <a:schemeClr val="bg1"/>
                    </a:solidFill>
                    <a:latin typeface="D2Coding" panose="020B0609020101020101" pitchFamily="49" charset="-127"/>
                    <a:ea typeface="D2Coding" panose="020B0609020101020101" pitchFamily="49" charset="-127"/>
                  </a:rPr>
                  <a:t>남은 </a:t>
                </a:r>
                <a:r>
                  <a:rPr lang="en-US" altLang="ko-KR" sz="1200" dirty="0">
                    <a:solidFill>
                      <a:schemeClr val="bg1"/>
                    </a:solidFill>
                    <a:latin typeface="D2Coding" panose="020B0609020101020101" pitchFamily="49" charset="-127"/>
                    <a:ea typeface="D2Coding" panose="020B0609020101020101" pitchFamily="49" charset="-127"/>
                  </a:rPr>
                  <a:t>13</a:t>
                </a:r>
                <a:r>
                  <a:rPr lang="ko-KR" altLang="en-US" sz="1200" dirty="0">
                    <a:solidFill>
                      <a:schemeClr val="bg1"/>
                    </a:solidFill>
                    <a:latin typeface="D2Coding" panose="020B0609020101020101" pitchFamily="49" charset="-127"/>
                    <a:ea typeface="D2Coding" panose="020B0609020101020101" pitchFamily="49" charset="-127"/>
                  </a:rPr>
                  <a:t>개 시점을</a:t>
                </a:r>
                <a:r>
                  <a:rPr lang="en-US" altLang="ko-KR" sz="1200" dirty="0">
                    <a:solidFill>
                      <a:schemeClr val="bg1"/>
                    </a:solidFill>
                    <a:latin typeface="D2Coding" panose="020B0609020101020101" pitchFamily="49" charset="-127"/>
                    <a:ea typeface="D2Coding" panose="020B0609020101020101" pitchFamily="49" charset="-127"/>
                  </a:rPr>
                  <a:t>, </a:t>
                </a:r>
                <a:r>
                  <a:rPr lang="ko-KR" altLang="en-US" sz="1200" dirty="0">
                    <a:solidFill>
                      <a:schemeClr val="bg1"/>
                    </a:solidFill>
                    <a:latin typeface="D2Coding" panose="020B0609020101020101" pitchFamily="49" charset="-127"/>
                    <a:ea typeface="D2Coding" panose="020B0609020101020101" pitchFamily="49" charset="-127"/>
                  </a:rPr>
                  <a:t>채널</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필터</a:t>
                </a:r>
                <a:r>
                  <a:rPr lang="en-US" altLang="ko-KR" sz="1200" dirty="0">
                    <a:solidFill>
                      <a:schemeClr val="bg1"/>
                    </a:solidFill>
                    <a:latin typeface="D2Coding" panose="020B0609020101020101" pitchFamily="49" charset="-127"/>
                    <a:ea typeface="D2Coding" panose="020B0609020101020101" pitchFamily="49" charset="-127"/>
                  </a:rPr>
                  <a:t>)</a:t>
                </a:r>
                <a:r>
                  <a:rPr lang="ko-KR" altLang="en-US" sz="1200" dirty="0">
                    <a:solidFill>
                      <a:schemeClr val="bg1"/>
                    </a:solidFill>
                    <a:latin typeface="D2Coding" panose="020B0609020101020101" pitchFamily="49" charset="-127"/>
                    <a:ea typeface="D2Coding" panose="020B0609020101020101" pitchFamily="49" charset="-127"/>
                  </a:rPr>
                  <a:t>별로 단순 평균을 내서 </a:t>
                </a:r>
                <a:r>
                  <a:rPr lang="ko-KR" altLang="en-US" sz="1200" dirty="0" err="1">
                    <a:solidFill>
                      <a:schemeClr val="bg1"/>
                    </a:solidFill>
                    <a:latin typeface="D2Coding" panose="020B0609020101020101" pitchFamily="49" charset="-127"/>
                    <a:ea typeface="D2Coding" panose="020B0609020101020101" pitchFamily="49" charset="-127"/>
                  </a:rPr>
                  <a:t>시간축을</a:t>
                </a:r>
                <a:r>
                  <a:rPr lang="ko-KR" altLang="en-US" sz="1200" dirty="0">
                    <a:solidFill>
                      <a:schemeClr val="bg1"/>
                    </a:solidFill>
                    <a:latin typeface="D2Coding" panose="020B0609020101020101" pitchFamily="49" charset="-127"/>
                    <a:ea typeface="D2Coding" panose="020B0609020101020101" pitchFamily="49" charset="-127"/>
                  </a:rPr>
                  <a:t> 완전히 제거</a:t>
                </a:r>
                <a:r>
                  <a:rPr lang="en-US" altLang="ko-KR" sz="1200" dirty="0">
                    <a:solidFill>
                      <a:schemeClr val="bg1"/>
                    </a:solidFill>
                    <a:latin typeface="D2Coding" panose="020B0609020101020101" pitchFamily="49" charset="-127"/>
                    <a:ea typeface="D2Coding" panose="020B0609020101020101" pitchFamily="49" charset="-127"/>
                  </a:rPr>
                  <a:t>(13</a:t>
                </a:r>
                <a:r>
                  <a:rPr lang="ko-KR" altLang="en-US" sz="1200" dirty="0">
                    <a:solidFill>
                      <a:schemeClr val="bg1"/>
                    </a:solidFill>
                    <a:latin typeface="D2Coding" panose="020B0609020101020101" pitchFamily="49" charset="-127"/>
                    <a:ea typeface="D2Coding" panose="020B0609020101020101" pitchFamily="49" charset="-127"/>
                  </a:rPr>
                  <a:t>개 시점의 </a:t>
                </a:r>
                <a:r>
                  <a:rPr lang="en-US" altLang="ko-KR" sz="1200" dirty="0">
                    <a:solidFill>
                      <a:schemeClr val="bg1"/>
                    </a:solidFill>
                    <a:latin typeface="D2Coding" panose="020B0609020101020101" pitchFamily="49" charset="-127"/>
                    <a:ea typeface="D2Coding" panose="020B0609020101020101" pitchFamily="49" charset="-127"/>
                  </a:rPr>
                  <a:t>8</a:t>
                </a:r>
                <a:r>
                  <a:rPr lang="ko-KR" altLang="en-US" sz="1200" dirty="0">
                    <a:solidFill>
                      <a:schemeClr val="bg1"/>
                    </a:solidFill>
                    <a:latin typeface="D2Coding" panose="020B0609020101020101" pitchFamily="49" charset="-127"/>
                    <a:ea typeface="D2Coding" panose="020B0609020101020101" pitchFamily="49" charset="-127"/>
                  </a:rPr>
                  <a:t>개 </a:t>
                </a:r>
                <a:r>
                  <a:rPr lang="ko-KR" altLang="en-US" sz="1200" dirty="0" err="1">
                    <a:solidFill>
                      <a:schemeClr val="bg1"/>
                    </a:solidFill>
                    <a:latin typeface="D2Coding" panose="020B0609020101020101" pitchFamily="49" charset="-127"/>
                    <a:ea typeface="D2Coding" panose="020B0609020101020101" pitchFamily="49" charset="-127"/>
                  </a:rPr>
                  <a:t>채널값</a:t>
                </a:r>
                <a:r>
                  <a:rPr lang="ko-KR" altLang="en-US" sz="1200" dirty="0">
                    <a:solidFill>
                      <a:schemeClr val="bg1"/>
                    </a:solidFill>
                    <a:latin typeface="D2Coding" panose="020B0609020101020101" pitchFamily="49" charset="-127"/>
                    <a:ea typeface="D2Coding" panose="020B0609020101020101" pitchFamily="49" charset="-127"/>
                  </a:rPr>
                  <a:t> 각각을 평균 내 </a:t>
                </a:r>
                <a:r>
                  <a:rPr lang="en-US" altLang="ko-KR" sz="1200" dirty="0">
                    <a:solidFill>
                      <a:schemeClr val="bg1"/>
                    </a:solidFill>
                    <a:latin typeface="D2Coding" panose="020B0609020101020101" pitchFamily="49" charset="-127"/>
                    <a:ea typeface="D2Coding" panose="020B0609020101020101" pitchFamily="49" charset="-127"/>
                  </a:rPr>
                  <a:t>8</a:t>
                </a:r>
                <a:r>
                  <a:rPr lang="ko-KR" altLang="en-US" sz="1200" dirty="0">
                    <a:solidFill>
                      <a:schemeClr val="bg1"/>
                    </a:solidFill>
                    <a:latin typeface="D2Coding" panose="020B0609020101020101" pitchFamily="49" charset="-127"/>
                    <a:ea typeface="D2Coding" panose="020B0609020101020101" pitchFamily="49" charset="-127"/>
                  </a:rPr>
                  <a:t>차원 벡터 하나로 압축</a:t>
                </a:r>
                <a:r>
                  <a:rPr lang="en-US" altLang="ko-KR" sz="1200" dirty="0">
                    <a:solidFill>
                      <a:schemeClr val="bg1"/>
                    </a:solidFill>
                    <a:latin typeface="D2Coding" panose="020B0609020101020101" pitchFamily="49" charset="-127"/>
                    <a:ea typeface="D2Coding" panose="020B0609020101020101" pitchFamily="49" charset="-127"/>
                  </a:rPr>
                  <a:t>)</a:t>
                </a:r>
              </a:p>
              <a:p>
                <a:pPr marL="342900" indent="-342900" rtl="0">
                  <a:buFont typeface="+mj-lt"/>
                  <a:buAutoNum type="arabicParenR"/>
                </a:pPr>
                <a:r>
                  <a:rPr lang="en-US" altLang="ko-KR" sz="1200" dirty="0">
                    <a:solidFill>
                      <a:schemeClr val="bg1"/>
                    </a:solidFill>
                    <a:latin typeface="D2Coding" panose="020B0609020101020101" pitchFamily="49" charset="-127"/>
                    <a:ea typeface="D2Coding" panose="020B0609020101020101" pitchFamily="49" charset="-127"/>
                  </a:rPr>
                  <a:t>Dense(1)</a:t>
                </a:r>
                <a:r>
                  <a:rPr lang="ko-KR" altLang="en-US" sz="1200" dirty="0">
                    <a:solidFill>
                      <a:schemeClr val="bg1"/>
                    </a:solidFill>
                    <a:latin typeface="D2Coding" panose="020B0609020101020101" pitchFamily="49" charset="-127"/>
                    <a:ea typeface="D2Coding" panose="020B0609020101020101" pitchFamily="49" charset="-127"/>
                  </a:rPr>
                  <a:t> → </a:t>
                </a:r>
                <a:r>
                  <a:rPr lang="en-US" altLang="ko-KR" sz="1200" dirty="0">
                    <a:solidFill>
                      <a:schemeClr val="bg1"/>
                    </a:solidFill>
                    <a:latin typeface="D2Coding" panose="020B0609020101020101" pitchFamily="49" charset="-127"/>
                    <a:ea typeface="D2Coding" panose="020B0609020101020101" pitchFamily="49" charset="-127"/>
                  </a:rPr>
                  <a:t>(1,)</a:t>
                </a:r>
                <a:endParaRPr lang="ko-KR" altLang="en-US" sz="1200" dirty="0">
                  <a:solidFill>
                    <a:schemeClr val="bg1"/>
                  </a:solidFill>
                  <a:latin typeface="D2Coding" panose="020B0609020101020101" pitchFamily="49" charset="-127"/>
                  <a:ea typeface="D2Coding" panose="020B0609020101020101" pitchFamily="49" charset="-127"/>
                </a:endParaRPr>
              </a:p>
              <a:p>
                <a:pPr lvl="1"/>
                <a:r>
                  <a:rPr lang="ko-KR" altLang="en-US" sz="1200" dirty="0">
                    <a:solidFill>
                      <a:schemeClr val="bg1"/>
                    </a:solidFill>
                    <a:latin typeface="D2Coding" panose="020B0609020101020101" pitchFamily="49" charset="-127"/>
                    <a:ea typeface="D2Coding" panose="020B0609020101020101" pitchFamily="49" charset="-127"/>
                  </a:rPr>
                  <a:t>압축된 </a:t>
                </a:r>
                <a:r>
                  <a:rPr lang="en-US" altLang="ko-KR" sz="1200" dirty="0">
                    <a:solidFill>
                      <a:schemeClr val="bg1"/>
                    </a:solidFill>
                    <a:latin typeface="D2Coding" panose="020B0609020101020101" pitchFamily="49" charset="-127"/>
                    <a:ea typeface="D2Coding" panose="020B0609020101020101" pitchFamily="49" charset="-127"/>
                  </a:rPr>
                  <a:t>8</a:t>
                </a:r>
                <a:r>
                  <a:rPr lang="ko-KR" altLang="en-US" sz="1200" dirty="0">
                    <a:solidFill>
                      <a:schemeClr val="bg1"/>
                    </a:solidFill>
                    <a:latin typeface="D2Coding" panose="020B0609020101020101" pitchFamily="49" charset="-127"/>
                    <a:ea typeface="D2Coding" panose="020B0609020101020101" pitchFamily="49" charset="-127"/>
                  </a:rPr>
                  <a:t>차원 벡터를 받아 최종 온도 </a:t>
                </a:r>
                <a:r>
                  <a:rPr lang="ko-KR" altLang="en-US" sz="1200" dirty="0" err="1">
                    <a:solidFill>
                      <a:schemeClr val="bg1"/>
                    </a:solidFill>
                    <a:latin typeface="D2Coding" panose="020B0609020101020101" pitchFamily="49" charset="-127"/>
                    <a:ea typeface="D2Coding" panose="020B0609020101020101" pitchFamily="49" charset="-127"/>
                  </a:rPr>
                  <a:t>예측값</a:t>
                </a:r>
                <a:r>
                  <a:rPr lang="ko-KR" altLang="en-US" sz="1200" dirty="0">
                    <a:solidFill>
                      <a:schemeClr val="bg1"/>
                    </a:solidFill>
                    <a:latin typeface="D2Coding" panose="020B0609020101020101" pitchFamily="49" charset="-127"/>
                    <a:ea typeface="D2Coding" panose="020B0609020101020101" pitchFamily="49" charset="-127"/>
                  </a:rPr>
                  <a:t> 하나를 출력</a:t>
                </a:r>
                <a:r>
                  <a:rPr lang="en-US" altLang="ko-KR" sz="1200" dirty="0">
                    <a:solidFill>
                      <a:schemeClr val="bg1"/>
                    </a:solidFill>
                    <a:latin typeface="D2Coding" panose="020B0609020101020101" pitchFamily="49" charset="-127"/>
                    <a:ea typeface="D2Coding" panose="020B0609020101020101" pitchFamily="49" charset="-127"/>
                  </a:rPr>
                  <a:t>.</a:t>
                </a:r>
              </a:p>
            </p:txBody>
          </p:sp>
        </mc:Choice>
        <mc:Fallback xmlns="">
          <p:sp>
            <p:nvSpPr>
              <p:cNvPr id="18" name="TextBox 17">
                <a:extLst>
                  <a:ext uri="{FF2B5EF4-FFF2-40B4-BE49-F238E27FC236}">
                    <a16:creationId xmlns:a16="http://schemas.microsoft.com/office/drawing/2014/main" id="{48C85ABC-849F-62D3-3CB1-999AD960394D}"/>
                  </a:ext>
                </a:extLst>
              </p:cNvPr>
              <p:cNvSpPr txBox="1">
                <a:spLocks noRot="1" noChangeAspect="1" noMove="1" noResize="1" noEditPoints="1" noAdjustHandles="1" noChangeArrowheads="1" noChangeShapeType="1" noTextEdit="1"/>
              </p:cNvSpPr>
              <p:nvPr/>
            </p:nvSpPr>
            <p:spPr>
              <a:xfrm>
                <a:off x="4829175" y="2800350"/>
                <a:ext cx="7086857" cy="3600986"/>
              </a:xfrm>
              <a:prstGeom prst="rect">
                <a:avLst/>
              </a:prstGeom>
              <a:blipFill>
                <a:blip r:embed="rId2"/>
                <a:stretch>
                  <a:fillRect/>
                </a:stretch>
              </a:blipFill>
              <a:ln>
                <a:solidFill>
                  <a:schemeClr val="tx1"/>
                </a:solidFill>
              </a:ln>
            </p:spPr>
            <p:txBody>
              <a:bodyPr/>
              <a:lstStyle/>
              <a:p>
                <a:r>
                  <a:rPr lang="ko-KR" altLang="en-US">
                    <a:noFill/>
                  </a:rPr>
                  <a:t> </a:t>
                </a:r>
              </a:p>
            </p:txBody>
          </p:sp>
        </mc:Fallback>
      </mc:AlternateContent>
      <p:sp>
        <p:nvSpPr>
          <p:cNvPr id="19" name="직사각형 18">
            <a:extLst>
              <a:ext uri="{FF2B5EF4-FFF2-40B4-BE49-F238E27FC236}">
                <a16:creationId xmlns:a16="http://schemas.microsoft.com/office/drawing/2014/main" id="{8DECA06A-6461-F081-79D9-19CE003600E6}"/>
              </a:ext>
            </a:extLst>
          </p:cNvPr>
          <p:cNvSpPr/>
          <p:nvPr/>
        </p:nvSpPr>
        <p:spPr>
          <a:xfrm>
            <a:off x="4705350" y="5400675"/>
            <a:ext cx="7315200" cy="57370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a:extLst>
              <a:ext uri="{FF2B5EF4-FFF2-40B4-BE49-F238E27FC236}">
                <a16:creationId xmlns:a16="http://schemas.microsoft.com/office/drawing/2014/main" id="{3D0B2576-DC79-202C-7B91-DEE05AC42A8D}"/>
              </a:ext>
            </a:extLst>
          </p:cNvPr>
          <p:cNvSpPr/>
          <p:nvPr/>
        </p:nvSpPr>
        <p:spPr>
          <a:xfrm>
            <a:off x="275968" y="4108487"/>
            <a:ext cx="4429382" cy="1968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38190641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CE35-0F48-4AA2-0646-52FB0C9646B0}"/>
            </a:ext>
          </a:extLst>
        </p:cNvPr>
        <p:cNvGrpSpPr/>
        <p:nvPr/>
      </p:nvGrpSpPr>
      <p:grpSpPr>
        <a:xfrm>
          <a:off x="0" y="0"/>
          <a:ext cx="0" cy="0"/>
          <a:chOff x="0" y="0"/>
          <a:chExt cx="0" cy="0"/>
        </a:xfrm>
      </p:grpSpPr>
      <p:sp>
        <p:nvSpPr>
          <p:cNvPr id="7" name="화살표: 줄무늬가 있는 오른쪽 6">
            <a:extLst>
              <a:ext uri="{FF2B5EF4-FFF2-40B4-BE49-F238E27FC236}">
                <a16:creationId xmlns:a16="http://schemas.microsoft.com/office/drawing/2014/main" id="{06449C1D-B282-8DFC-C649-75B35FA221CA}"/>
              </a:ext>
            </a:extLst>
          </p:cNvPr>
          <p:cNvSpPr/>
          <p:nvPr/>
        </p:nvSpPr>
        <p:spPr>
          <a:xfrm>
            <a:off x="4019550" y="5048250"/>
            <a:ext cx="3733800" cy="1327767"/>
          </a:xfrm>
          <a:prstGeom prst="stripedRightArrow">
            <a:avLst>
              <a:gd name="adj1" fmla="val 64347"/>
              <a:gd name="adj2" fmla="val 50000"/>
            </a:avLst>
          </a:prstGeom>
          <a:solidFill>
            <a:schemeClr val="accent6">
              <a:lumMod val="20000"/>
              <a:lumOff val="8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 name="제목 1">
            <a:extLst>
              <a:ext uri="{FF2B5EF4-FFF2-40B4-BE49-F238E27FC236}">
                <a16:creationId xmlns:a16="http://schemas.microsoft.com/office/drawing/2014/main" id="{2A5F371D-8BBD-7B7E-455B-BF9347AF5B09}"/>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4" name="슬라이드 번호 개체 틀 3">
            <a:extLst>
              <a:ext uri="{FF2B5EF4-FFF2-40B4-BE49-F238E27FC236}">
                <a16:creationId xmlns:a16="http://schemas.microsoft.com/office/drawing/2014/main" id="{6A16A2E3-62FE-9107-C7A0-E3D74C71D4C5}"/>
              </a:ext>
            </a:extLst>
          </p:cNvPr>
          <p:cNvSpPr>
            <a:spLocks noGrp="1"/>
          </p:cNvSpPr>
          <p:nvPr>
            <p:ph type="sldNum" sz="quarter" idx="12"/>
          </p:nvPr>
        </p:nvSpPr>
        <p:spPr>
          <a:xfrm>
            <a:off x="11162487" y="299420"/>
            <a:ext cx="753545" cy="365125"/>
          </a:xfrm>
        </p:spPr>
        <p:txBody>
          <a:bodyPr/>
          <a:lstStyle/>
          <a:p>
            <a:fld id="{D57F1E4F-1CFF-5643-939E-217C01CDF565}" type="slidenum">
              <a:rPr lang="en-US" sz="1400" b="1" smtClean="0">
                <a:latin typeface="Times New Roman" panose="02020603050405020304" pitchFamily="18" charset="0"/>
                <a:ea typeface="Verdana" panose="020B0604030504040204" pitchFamily="34" charset="0"/>
                <a:cs typeface="Times New Roman" panose="02020603050405020304" pitchFamily="18" charset="0"/>
              </a:rPr>
              <a:pPr/>
              <a:t>67</a:t>
            </a:fld>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789AC89-F840-74F5-1705-6C02A780E611}"/>
              </a:ext>
            </a:extLst>
          </p:cNvPr>
          <p:cNvSpPr txBox="1"/>
          <p:nvPr/>
        </p:nvSpPr>
        <p:spPr>
          <a:xfrm>
            <a:off x="559528" y="1196976"/>
            <a:ext cx="10986284" cy="1531830"/>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altLang="ko-KR" sz="1600" dirty="0">
                <a:latin typeface="D2Coding" panose="020B0609020101020101" pitchFamily="49" charset="-127"/>
                <a:ea typeface="D2Coding" panose="020B0609020101020101" pitchFamily="49" charset="-127"/>
              </a:rPr>
              <a:t>LSTM</a:t>
            </a:r>
            <a:r>
              <a:rPr lang="ko-KR" altLang="en-US" sz="1600" dirty="0">
                <a:latin typeface="D2Coding" panose="020B0609020101020101" pitchFamily="49" charset="-127"/>
                <a:ea typeface="D2Coding" panose="020B0609020101020101" pitchFamily="49" charset="-127"/>
              </a:rPr>
              <a:t>은 시간을 순서대로 하나씩 읽으며 은닉 상태를 계속 갱신하고</a:t>
            </a:r>
            <a:r>
              <a:rPr lang="en-US" altLang="ko-KR" sz="1600" dirty="0">
                <a:latin typeface="D2Coding" panose="020B0609020101020101" pitchFamily="49" charset="-127"/>
                <a:ea typeface="D2Coding" panose="020B0609020101020101" pitchFamily="49" charset="-127"/>
              </a:rPr>
              <a:t>, forget/input </a:t>
            </a:r>
            <a:r>
              <a:rPr lang="ko-KR" altLang="en-US" sz="1600" dirty="0">
                <a:latin typeface="D2Coding" panose="020B0609020101020101" pitchFamily="49" charset="-127"/>
                <a:ea typeface="D2Coding" panose="020B0609020101020101" pitchFamily="49" charset="-127"/>
              </a:rPr>
              <a:t>게이트가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이전 정보를 얼마나 유지할지 </a:t>
            </a:r>
            <a:r>
              <a:rPr lang="en-US" altLang="ko-KR" sz="1600" dirty="0">
                <a:latin typeface="D2Coding" panose="020B0609020101020101" pitchFamily="49" charset="-127"/>
                <a:ea typeface="D2Coding" panose="020B0609020101020101" pitchFamily="49" charset="-127"/>
              </a:rPr>
              <a:t>vs </a:t>
            </a:r>
            <a:r>
              <a:rPr lang="ko-KR" altLang="en-US" sz="1600" dirty="0">
                <a:latin typeface="D2Coding" panose="020B0609020101020101" pitchFamily="49" charset="-127"/>
                <a:ea typeface="D2Coding" panose="020B0609020101020101" pitchFamily="49" charset="-127"/>
              </a:rPr>
              <a:t>최근 정보를 얼마나 반영할지</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학습을 통해 조절</a:t>
            </a:r>
            <a:endParaRPr lang="en-US" altLang="ko-KR" sz="1600" dirty="0">
              <a:latin typeface="D2Coding" panose="020B0609020101020101" pitchFamily="49" charset="-127"/>
              <a:ea typeface="D2Coding" panose="020B0609020101020101" pitchFamily="49" charset="-127"/>
            </a:endParaRPr>
          </a:p>
          <a:p>
            <a:pPr marL="285750" indent="-285750">
              <a:lnSpc>
                <a:spcPct val="150000"/>
              </a:lnSpc>
              <a:buFont typeface="Wingdings" panose="05000000000000000000" pitchFamily="2" charset="2"/>
              <a:buChar char="§"/>
            </a:pP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최근 값에 더 가중치를 줄지 말지</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를 데이터로부터 배울 수 있는 지</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확인하는 반면</a:t>
            </a:r>
            <a:r>
              <a:rPr lang="en-US" altLang="ko-KR" sz="1600" dirty="0">
                <a:latin typeface="D2Coding" panose="020B0609020101020101" pitchFamily="49" charset="-127"/>
                <a:ea typeface="D2Coding" panose="020B0609020101020101" pitchFamily="49" charset="-127"/>
              </a:rPr>
              <a:t> GlobalAveragePooling1D</a:t>
            </a:r>
            <a:r>
              <a:rPr lang="ko-KR" altLang="en-US" sz="1600" dirty="0">
                <a:latin typeface="D2Coding" panose="020B0609020101020101" pitchFamily="49" charset="-127"/>
                <a:ea typeface="D2Coding" panose="020B0609020101020101" pitchFamily="49" charset="-127"/>
              </a:rPr>
              <a:t>는 그 여지 자체를 원천적으로 차단하고 균등 평균을 강제하는 구조라는 점이 차이</a:t>
            </a:r>
            <a:endParaRPr lang="en-US" altLang="ko-KR" sz="1600" dirty="0">
              <a:latin typeface="D2Coding" panose="020B0609020101020101" pitchFamily="49" charset="-127"/>
              <a:ea typeface="D2Coding" panose="020B0609020101020101" pitchFamily="49" charset="-127"/>
            </a:endParaRPr>
          </a:p>
        </p:txBody>
      </p:sp>
      <p:sp>
        <p:nvSpPr>
          <p:cNvPr id="16" name="TextBox 15">
            <a:extLst>
              <a:ext uri="{FF2B5EF4-FFF2-40B4-BE49-F238E27FC236}">
                <a16:creationId xmlns:a16="http://schemas.microsoft.com/office/drawing/2014/main" id="{7A856138-4D46-2800-2BF9-E473040B755E}"/>
              </a:ext>
            </a:extLst>
          </p:cNvPr>
          <p:cNvSpPr txBox="1"/>
          <p:nvPr/>
        </p:nvSpPr>
        <p:spPr>
          <a:xfrm>
            <a:off x="895349" y="2933700"/>
            <a:ext cx="8029575" cy="1711815"/>
          </a:xfrm>
          <a:prstGeom prst="rect">
            <a:avLst/>
          </a:prstGeom>
          <a:solidFill>
            <a:srgbClr val="76E3FF"/>
          </a:solidFill>
        </p:spPr>
        <p:txBody>
          <a:bodyPr wrap="square">
            <a:spAutoFit/>
          </a:bodyPr>
          <a:lstStyle/>
          <a:p>
            <a:pPr>
              <a:lnSpc>
                <a:spcPct val="150000"/>
              </a:lnSpc>
            </a:pPr>
            <a:r>
              <a:rPr lang="en-US" altLang="ko-KR" dirty="0">
                <a:latin typeface="D2Coding" panose="020B0609020101020101" pitchFamily="49" charset="-127"/>
                <a:ea typeface="D2Coding" panose="020B0609020101020101" pitchFamily="49" charset="-127"/>
              </a:rPr>
              <a:t>inputs = </a:t>
            </a:r>
            <a:r>
              <a:rPr lang="en-US" altLang="ko-KR" dirty="0" err="1">
                <a:latin typeface="D2Coding" panose="020B0609020101020101" pitchFamily="49" charset="-127"/>
                <a:ea typeface="D2Coding" panose="020B0609020101020101" pitchFamily="49" charset="-127"/>
              </a:rPr>
              <a:t>keras.Input</a:t>
            </a:r>
            <a:r>
              <a:rPr lang="en-US" altLang="ko-KR" dirty="0">
                <a:latin typeface="D2Coding" panose="020B0609020101020101" pitchFamily="49" charset="-127"/>
                <a:ea typeface="D2Coding" panose="020B0609020101020101" pitchFamily="49" charset="-127"/>
              </a:rPr>
              <a:t>(shape=(</a:t>
            </a:r>
            <a:r>
              <a:rPr lang="en-US" altLang="ko-KR" dirty="0" err="1">
                <a:latin typeface="D2Coding" panose="020B0609020101020101" pitchFamily="49" charset="-127"/>
                <a:ea typeface="D2Coding" panose="020B0609020101020101" pitchFamily="49" charset="-127"/>
              </a:rPr>
              <a:t>sequence_length</a:t>
            </a:r>
            <a:r>
              <a:rPr lang="en-US" altLang="ko-KR" dirty="0">
                <a:latin typeface="D2Coding" panose="020B0609020101020101" pitchFamily="49" charset="-127"/>
                <a:ea typeface="D2Coding" panose="020B0609020101020101" pitchFamily="49" charset="-127"/>
              </a:rPr>
              <a:t>, </a:t>
            </a:r>
            <a:r>
              <a:rPr lang="en-US" altLang="ko-KR" dirty="0" err="1">
                <a:latin typeface="D2Coding" panose="020B0609020101020101" pitchFamily="49" charset="-127"/>
                <a:ea typeface="D2Coding" panose="020B0609020101020101" pitchFamily="49" charset="-127"/>
              </a:rPr>
              <a:t>raw_data.shape</a:t>
            </a:r>
            <a:r>
              <a:rPr lang="en-US" altLang="ko-KR" dirty="0">
                <a:latin typeface="D2Coding" panose="020B0609020101020101" pitchFamily="49" charset="-127"/>
                <a:ea typeface="D2Coding" panose="020B0609020101020101" pitchFamily="49" charset="-127"/>
              </a:rPr>
              <a:t>[-1]))</a:t>
            </a:r>
          </a:p>
          <a:p>
            <a:pPr>
              <a:lnSpc>
                <a:spcPct val="150000"/>
              </a:lnSpc>
            </a:pPr>
            <a:r>
              <a:rPr lang="en-US" altLang="ko-KR" dirty="0">
                <a:latin typeface="D2Coding" panose="020B0609020101020101" pitchFamily="49" charset="-127"/>
                <a:ea typeface="D2Coding" panose="020B0609020101020101" pitchFamily="49" charset="-127"/>
              </a:rPr>
              <a:t>x = </a:t>
            </a:r>
            <a:r>
              <a:rPr lang="en-US" altLang="ko-KR" dirty="0" err="1">
                <a:latin typeface="D2Coding" panose="020B0609020101020101" pitchFamily="49" charset="-127"/>
                <a:ea typeface="D2Coding" panose="020B0609020101020101" pitchFamily="49" charset="-127"/>
              </a:rPr>
              <a:t>layers.LSTM</a:t>
            </a:r>
            <a:r>
              <a:rPr lang="en-US" altLang="ko-KR" dirty="0">
                <a:latin typeface="D2Coding" panose="020B0609020101020101" pitchFamily="49" charset="-127"/>
                <a:ea typeface="D2Coding" panose="020B0609020101020101" pitchFamily="49" charset="-127"/>
              </a:rPr>
              <a:t>(16)(inputs)</a:t>
            </a:r>
          </a:p>
          <a:p>
            <a:pPr>
              <a:lnSpc>
                <a:spcPct val="150000"/>
              </a:lnSpc>
            </a:pPr>
            <a:r>
              <a:rPr lang="en-US" altLang="ko-KR" dirty="0">
                <a:latin typeface="D2Coding" panose="020B0609020101020101" pitchFamily="49" charset="-127"/>
                <a:ea typeface="D2Coding" panose="020B0609020101020101" pitchFamily="49" charset="-127"/>
              </a:rPr>
              <a:t>outputs = </a:t>
            </a:r>
            <a:r>
              <a:rPr lang="en-US" altLang="ko-KR" dirty="0" err="1">
                <a:latin typeface="D2Coding" panose="020B0609020101020101" pitchFamily="49" charset="-127"/>
                <a:ea typeface="D2Coding" panose="020B0609020101020101" pitchFamily="49" charset="-127"/>
              </a:rPr>
              <a:t>layers.Dense</a:t>
            </a:r>
            <a:r>
              <a:rPr lang="en-US" altLang="ko-KR" dirty="0">
                <a:latin typeface="D2Coding" panose="020B0609020101020101" pitchFamily="49" charset="-127"/>
                <a:ea typeface="D2Coding" panose="020B0609020101020101" pitchFamily="49" charset="-127"/>
              </a:rPr>
              <a:t>(1)(x)</a:t>
            </a:r>
          </a:p>
          <a:p>
            <a:pPr>
              <a:lnSpc>
                <a:spcPct val="150000"/>
              </a:lnSpc>
            </a:pPr>
            <a:r>
              <a:rPr lang="en-US" altLang="ko-KR" dirty="0">
                <a:latin typeface="D2Coding" panose="020B0609020101020101" pitchFamily="49" charset="-127"/>
                <a:ea typeface="D2Coding" panose="020B0609020101020101" pitchFamily="49" charset="-127"/>
              </a:rPr>
              <a:t>model = </a:t>
            </a:r>
            <a:r>
              <a:rPr lang="en-US" altLang="ko-KR" dirty="0" err="1">
                <a:latin typeface="D2Coding" panose="020B0609020101020101" pitchFamily="49" charset="-127"/>
                <a:ea typeface="D2Coding" panose="020B0609020101020101" pitchFamily="49" charset="-127"/>
              </a:rPr>
              <a:t>keras.Model</a:t>
            </a:r>
            <a:r>
              <a:rPr lang="en-US" altLang="ko-KR" dirty="0">
                <a:latin typeface="D2Coding" panose="020B0609020101020101" pitchFamily="49" charset="-127"/>
                <a:ea typeface="D2Coding" panose="020B0609020101020101" pitchFamily="49" charset="-127"/>
              </a:rPr>
              <a:t>(inputs, outputs)</a:t>
            </a:r>
          </a:p>
        </p:txBody>
      </p:sp>
      <p:sp>
        <p:nvSpPr>
          <p:cNvPr id="20" name="직사각형 19">
            <a:extLst>
              <a:ext uri="{FF2B5EF4-FFF2-40B4-BE49-F238E27FC236}">
                <a16:creationId xmlns:a16="http://schemas.microsoft.com/office/drawing/2014/main" id="{65B51809-29A6-42C2-650D-A873A5AD5B9D}"/>
              </a:ext>
            </a:extLst>
          </p:cNvPr>
          <p:cNvSpPr/>
          <p:nvPr/>
        </p:nvSpPr>
        <p:spPr>
          <a:xfrm>
            <a:off x="733168" y="3429000"/>
            <a:ext cx="8372732" cy="4191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TextBox 5">
            <a:extLst>
              <a:ext uri="{FF2B5EF4-FFF2-40B4-BE49-F238E27FC236}">
                <a16:creationId xmlns:a16="http://schemas.microsoft.com/office/drawing/2014/main" id="{3D87C2D3-0F9F-EC85-D179-2EE298157DA8}"/>
              </a:ext>
            </a:extLst>
          </p:cNvPr>
          <p:cNvSpPr txBox="1"/>
          <p:nvPr/>
        </p:nvSpPr>
        <p:spPr>
          <a:xfrm>
            <a:off x="4310062" y="5512078"/>
            <a:ext cx="3571875" cy="400110"/>
          </a:xfrm>
          <a:prstGeom prst="rect">
            <a:avLst/>
          </a:prstGeom>
          <a:noFill/>
        </p:spPr>
        <p:txBody>
          <a:bodyPr wrap="square">
            <a:spAutoFit/>
          </a:bodyPr>
          <a:lstStyle/>
          <a:p>
            <a:r>
              <a:rPr lang="ko-KR" altLang="en-US" sz="2000" dirty="0">
                <a:latin typeface="D2Coding" panose="020B0609020101020101" pitchFamily="49" charset="-127"/>
                <a:ea typeface="D2Coding" panose="020B0609020101020101" pitchFamily="49" charset="-127"/>
              </a:rPr>
              <a:t>자 이제 </a:t>
            </a:r>
            <a:r>
              <a:rPr lang="en-US" altLang="ko-KR" sz="2000" dirty="0">
                <a:latin typeface="D2Coding" panose="020B0609020101020101" pitchFamily="49" charset="-127"/>
                <a:ea typeface="D2Coding" panose="020B0609020101020101" pitchFamily="49" charset="-127"/>
              </a:rPr>
              <a:t>RNN</a:t>
            </a:r>
            <a:r>
              <a:rPr lang="ko-KR" altLang="en-US" sz="2000" dirty="0">
                <a:latin typeface="D2Coding" panose="020B0609020101020101" pitchFamily="49" charset="-127"/>
                <a:ea typeface="D2Coding" panose="020B0609020101020101" pitchFamily="49" charset="-127"/>
              </a:rPr>
              <a:t>을 배우자 </a:t>
            </a:r>
            <a:r>
              <a:rPr lang="en-US" altLang="ko-KR" sz="2000" dirty="0">
                <a:latin typeface="D2Coding" panose="020B0609020101020101" pitchFamily="49" charset="-127"/>
                <a:ea typeface="D2Coding" panose="020B0609020101020101" pitchFamily="49" charset="-127"/>
              </a:rPr>
              <a:t>!</a:t>
            </a:r>
            <a:endParaRPr lang="ko-KR" altLang="en-US" sz="2000" dirty="0"/>
          </a:p>
        </p:txBody>
      </p:sp>
    </p:spTree>
    <p:extLst>
      <p:ext uri="{BB962C8B-B14F-4D97-AF65-F5344CB8AC3E}">
        <p14:creationId xmlns:p14="http://schemas.microsoft.com/office/powerpoint/2010/main" val="32844523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AE5B3-1A78-A996-7E41-07BAE1EE7C3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A4AB4BE-5274-D605-EB3B-1F0EC30803BB}"/>
              </a:ext>
            </a:extLst>
          </p:cNvPr>
          <p:cNvSpPr>
            <a:spLocks noGrp="1"/>
          </p:cNvSpPr>
          <p:nvPr>
            <p:ph type="ctrTitle"/>
          </p:nvPr>
        </p:nvSpPr>
        <p:spPr>
          <a:xfrm>
            <a:off x="838199" y="1164324"/>
            <a:ext cx="10934701" cy="2387600"/>
          </a:xfrm>
        </p:spPr>
        <p:txBody>
          <a:bodyPr rtlCol="0" anchor="ctr" anchorCtr="0">
            <a:normAutofit/>
          </a:bodyPr>
          <a:lstStyle/>
          <a:p>
            <a:pPr>
              <a:lnSpc>
                <a:spcPct val="150000"/>
              </a:lnSpc>
            </a:pPr>
            <a:r>
              <a:rPr lang="en-US" altLang="ko-KR" sz="5400" dirty="0">
                <a:solidFill>
                  <a:schemeClr val="bg1"/>
                </a:solidFill>
                <a:latin typeface="D2Coding" panose="020B0609020101020101" pitchFamily="49" charset="-127"/>
                <a:ea typeface="D2Coding" panose="020B0609020101020101" pitchFamily="49" charset="-127"/>
              </a:rPr>
              <a:t>Anomaly Detection with AE, VAE</a:t>
            </a:r>
            <a:endParaRPr lang="ko-KR" altLang="en-US" sz="4400" dirty="0">
              <a:solidFill>
                <a:schemeClr val="bg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313392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99333-73CE-BB31-0BD2-CBD390E430F7}"/>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2F4F3051-92D8-549A-D274-C22C510ECE8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Practice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Convolutional Autoencoder </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2" name="TextBox 1">
            <a:extLst>
              <a:ext uri="{FF2B5EF4-FFF2-40B4-BE49-F238E27FC236}">
                <a16:creationId xmlns:a16="http://schemas.microsoft.com/office/drawing/2014/main" id="{47A24271-33E7-74D6-47A4-A4CE436008BF}"/>
              </a:ext>
            </a:extLst>
          </p:cNvPr>
          <p:cNvSpPr txBox="1"/>
          <p:nvPr/>
        </p:nvSpPr>
        <p:spPr>
          <a:xfrm>
            <a:off x="561975" y="1390619"/>
            <a:ext cx="3775393" cy="400110"/>
          </a:xfrm>
          <a:prstGeom prst="rect">
            <a:avLst/>
          </a:prstGeom>
          <a:noFill/>
        </p:spPr>
        <p:txBody>
          <a:bodyPr wrap="none" rtlCol="0">
            <a:spAutoFit/>
          </a:bodyPr>
          <a:lstStyle/>
          <a:p>
            <a:r>
              <a:rPr lang="en-US" altLang="ko-KR" sz="2000" dirty="0" err="1">
                <a:latin typeface="D2Coding" panose="020B0609020101020101" pitchFamily="49" charset="-127"/>
                <a:ea typeface="D2Coding" panose="020B0609020101020101" pitchFamily="49" charset="-127"/>
                <a:hlinkClick r:id="rId2"/>
              </a:rPr>
              <a:t>Timeseries_anomaly_detection</a:t>
            </a:r>
            <a:endParaRPr lang="en-US" altLang="ko-KR" sz="2000" dirty="0">
              <a:latin typeface="D2Coding" panose="020B0609020101020101" pitchFamily="49" charset="-127"/>
              <a:ea typeface="D2Coding" panose="020B0609020101020101" pitchFamily="49" charset="-127"/>
            </a:endParaRPr>
          </a:p>
        </p:txBody>
      </p:sp>
      <p:pic>
        <p:nvPicPr>
          <p:cNvPr id="28674" name="Picture 2" descr="png">
            <a:extLst>
              <a:ext uri="{FF2B5EF4-FFF2-40B4-BE49-F238E27FC236}">
                <a16:creationId xmlns:a16="http://schemas.microsoft.com/office/drawing/2014/main" id="{C2C98C34-52E5-5611-B6EA-87D0ADC17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7134" y="1561751"/>
            <a:ext cx="5715000" cy="4814266"/>
          </a:xfrm>
          <a:prstGeom prst="rect">
            <a:avLst/>
          </a:prstGeom>
          <a:noFill/>
          <a:extLst>
            <a:ext uri="{909E8E84-426E-40DD-AFC4-6F175D3DCCD1}">
              <a14:hiddenFill xmlns:a14="http://schemas.microsoft.com/office/drawing/2010/main">
                <a:solidFill>
                  <a:srgbClr val="FFFFFF"/>
                </a:solidFill>
              </a14:hiddenFill>
            </a:ext>
          </a:extLst>
        </p:spPr>
      </p:pic>
      <p:pic>
        <p:nvPicPr>
          <p:cNvPr id="5" name="그래픽 4" descr="본문 작성기">
            <a:extLst>
              <a:ext uri="{FF2B5EF4-FFF2-40B4-BE49-F238E27FC236}">
                <a16:creationId xmlns:a16="http://schemas.microsoft.com/office/drawing/2014/main" id="{C82E35D8-6752-158C-9F54-4BEAC76B14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48457" y="334022"/>
            <a:ext cx="914400" cy="914400"/>
          </a:xfrm>
          <a:prstGeom prst="rect">
            <a:avLst/>
          </a:prstGeom>
        </p:spPr>
      </p:pic>
      <p:sp>
        <p:nvSpPr>
          <p:cNvPr id="6" name="TextBox 5">
            <a:extLst>
              <a:ext uri="{FF2B5EF4-FFF2-40B4-BE49-F238E27FC236}">
                <a16:creationId xmlns:a16="http://schemas.microsoft.com/office/drawing/2014/main" id="{9203785F-22DE-3CB4-9674-1CB3A288B863}"/>
              </a:ext>
            </a:extLst>
          </p:cNvPr>
          <p:cNvSpPr txBox="1"/>
          <p:nvPr/>
        </p:nvSpPr>
        <p:spPr>
          <a:xfrm>
            <a:off x="561975" y="1932926"/>
            <a:ext cx="4162425" cy="2644635"/>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altLang="ko-KR" sz="1400" dirty="0" err="1">
                <a:latin typeface="D2Coding" panose="020B0609020101020101" pitchFamily="49" charset="-127"/>
                <a:ea typeface="D2Coding" panose="020B0609020101020101" pitchFamily="49" charset="-127"/>
              </a:rPr>
              <a:t>Keras</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공식 예제 튜토리얼</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Keras</a:t>
            </a:r>
            <a:r>
              <a:rPr lang="en-US" altLang="ko-KR" sz="1400" dirty="0">
                <a:latin typeface="D2Coding" panose="020B0609020101020101" pitchFamily="49" charset="-127"/>
                <a:ea typeface="D2Coding" panose="020B0609020101020101" pitchFamily="49" charset="-127"/>
              </a:rPr>
              <a:t> Code Examples)</a:t>
            </a:r>
            <a:r>
              <a:rPr lang="ko-KR" altLang="en-US" sz="1400" dirty="0">
                <a:latin typeface="D2Coding" panose="020B0609020101020101" pitchFamily="49" charset="-127"/>
                <a:ea typeface="D2Coding" panose="020B0609020101020101" pitchFamily="49" charset="-127"/>
              </a:rPr>
              <a:t>인 </a:t>
            </a:r>
            <a:r>
              <a:rPr lang="en-US" altLang="ko-KR" sz="1400" dirty="0">
                <a:latin typeface="D2Coding" panose="020B0609020101020101" pitchFamily="49" charset="-127"/>
                <a:ea typeface="D2Coding" panose="020B0609020101020101" pitchFamily="49" charset="-127"/>
                <a:hlinkClick r:id="rId2"/>
              </a:rPr>
              <a:t>"Timeseries anomaly detection using an Autoencoder"</a:t>
            </a:r>
            <a:r>
              <a:rPr lang="ko-KR" altLang="en-US" sz="1400" dirty="0">
                <a:latin typeface="D2Coding" panose="020B0609020101020101" pitchFamily="49" charset="-127"/>
                <a:ea typeface="D2Coding" panose="020B0609020101020101" pitchFamily="49" charset="-127"/>
              </a:rPr>
              <a:t> 코드</a:t>
            </a:r>
            <a:endParaRPr lang="en-US" altLang="ko-KR" sz="1400" dirty="0">
              <a:latin typeface="D2Coding" panose="020B0609020101020101" pitchFamily="49" charset="-127"/>
              <a:ea typeface="D2Coding" panose="020B0609020101020101" pitchFamily="49" charset="-127"/>
            </a:endParaRPr>
          </a:p>
          <a:p>
            <a:pPr marL="285750" indent="-285750">
              <a:lnSpc>
                <a:spcPct val="150000"/>
              </a:lnSpc>
              <a:buFont typeface="Wingdings" panose="05000000000000000000" pitchFamily="2" charset="2"/>
              <a:buChar char="§"/>
            </a:pPr>
            <a:r>
              <a:rPr lang="en-US" altLang="ko-KR" sz="1400" dirty="0" err="1">
                <a:latin typeface="D2Coding" panose="020B0609020101020101" pitchFamily="49" charset="-127"/>
                <a:ea typeface="D2Coding" panose="020B0609020101020101" pitchFamily="49" charset="-127"/>
              </a:rPr>
              <a:t>Keras</a:t>
            </a:r>
            <a:r>
              <a:rPr lang="ko-KR" altLang="en-US" sz="1400" dirty="0">
                <a:latin typeface="D2Coding" panose="020B0609020101020101" pitchFamily="49" charset="-127"/>
                <a:ea typeface="D2Coding" panose="020B0609020101020101" pitchFamily="49" charset="-127"/>
              </a:rPr>
              <a:t>의 창시자인 프랑소와 </a:t>
            </a:r>
            <a:r>
              <a:rPr lang="ko-KR" altLang="en-US" sz="1400" dirty="0" err="1">
                <a:latin typeface="D2Coding" panose="020B0609020101020101" pitchFamily="49" charset="-127"/>
                <a:ea typeface="D2Coding" panose="020B0609020101020101" pitchFamily="49" charset="-127"/>
              </a:rPr>
              <a:t>숄레</a:t>
            </a:r>
            <a:r>
              <a:rPr lang="en-US" altLang="ko-KR" sz="1400" dirty="0">
                <a:latin typeface="D2Coding" panose="020B0609020101020101" pitchFamily="49" charset="-127"/>
                <a:ea typeface="D2Coding" panose="020B0609020101020101" pitchFamily="49" charset="-127"/>
              </a:rPr>
              <a:t>(François Chollet) </a:t>
            </a:r>
            <a:r>
              <a:rPr lang="ko-KR" altLang="en-US" sz="1400" dirty="0">
                <a:latin typeface="D2Coding" panose="020B0609020101020101" pitchFamily="49" charset="-127"/>
                <a:ea typeface="D2Coding" panose="020B0609020101020101" pitchFamily="49" charset="-127"/>
              </a:rPr>
              <a:t>및 공식 </a:t>
            </a:r>
            <a:r>
              <a:rPr lang="ko-KR" altLang="en-US" sz="1400" dirty="0" err="1">
                <a:latin typeface="D2Coding" panose="020B0609020101020101" pitchFamily="49" charset="-127"/>
                <a:ea typeface="D2Coding" panose="020B0609020101020101" pitchFamily="49" charset="-127"/>
              </a:rPr>
              <a:t>기여진</a:t>
            </a:r>
            <a:r>
              <a:rPr lang="en-US" altLang="ko-KR" sz="1400" dirty="0">
                <a:latin typeface="D2Coding" panose="020B0609020101020101" pitchFamily="49" charset="-127"/>
                <a:ea typeface="D2Coding" panose="020B0609020101020101" pitchFamily="49" charset="-127"/>
              </a:rPr>
              <a:t>(Pavithra Vijay)</a:t>
            </a:r>
            <a:r>
              <a:rPr lang="ko-KR" altLang="en-US" sz="1400" dirty="0">
                <a:latin typeface="D2Coding" panose="020B0609020101020101" pitchFamily="49" charset="-127"/>
                <a:ea typeface="D2Coding" panose="020B0609020101020101" pitchFamily="49" charset="-127"/>
              </a:rPr>
              <a:t>이 제작한 이 공식 예제 코드</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국내외 수많은 </a:t>
            </a:r>
            <a:r>
              <a:rPr lang="ko-KR" altLang="en-US" sz="1400" b="1" dirty="0">
                <a:latin typeface="D2Coding" panose="020B0609020101020101" pitchFamily="49" charset="-127"/>
                <a:ea typeface="D2Coding" panose="020B0609020101020101" pitchFamily="49" charset="-127"/>
              </a:rPr>
              <a:t>딥러닝</a:t>
            </a:r>
            <a:r>
              <a:rPr lang="en-US" altLang="ko-KR" sz="1400" b="1" dirty="0">
                <a:latin typeface="D2Coding" panose="020B0609020101020101" pitchFamily="49" charset="-127"/>
                <a:ea typeface="D2Coding" panose="020B0609020101020101" pitchFamily="49" charset="-127"/>
              </a:rPr>
              <a:t>/</a:t>
            </a:r>
            <a:r>
              <a:rPr lang="ko-KR" altLang="en-US" sz="1400" b="1" dirty="0">
                <a:latin typeface="D2Coding" panose="020B0609020101020101" pitchFamily="49" charset="-127"/>
                <a:ea typeface="D2Coding" panose="020B0609020101020101" pitchFamily="49" charset="-127"/>
              </a:rPr>
              <a:t>시계열 교재 및 인강 강의</a:t>
            </a:r>
            <a:r>
              <a:rPr lang="ko-KR" altLang="en-US" sz="1400" dirty="0">
                <a:latin typeface="D2Coding" panose="020B0609020101020101" pitchFamily="49" charset="-127"/>
                <a:ea typeface="D2Coding" panose="020B0609020101020101" pitchFamily="49" charset="-127"/>
              </a:rPr>
              <a:t>에서 시계열 이상 탐지의 표준 예제</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p:txBody>
      </p:sp>
      <p:sp>
        <p:nvSpPr>
          <p:cNvPr id="8" name="TextBox 7">
            <a:extLst>
              <a:ext uri="{FF2B5EF4-FFF2-40B4-BE49-F238E27FC236}">
                <a16:creationId xmlns:a16="http://schemas.microsoft.com/office/drawing/2014/main" id="{AFFB4535-EB17-BF93-971E-E63D5E01C0C6}"/>
              </a:ext>
            </a:extLst>
          </p:cNvPr>
          <p:cNvSpPr txBox="1"/>
          <p:nvPr/>
        </p:nvSpPr>
        <p:spPr>
          <a:xfrm>
            <a:off x="561975" y="6148882"/>
            <a:ext cx="6096000" cy="369332"/>
          </a:xfrm>
          <a:prstGeom prst="rect">
            <a:avLst/>
          </a:prstGeom>
          <a:noFill/>
        </p:spPr>
        <p:txBody>
          <a:bodyPr wrap="square">
            <a:spAutoFit/>
          </a:bodyPr>
          <a:lstStyle/>
          <a:p>
            <a:r>
              <a:rPr lang="en-US" altLang="ko-KR" sz="1800" dirty="0">
                <a:latin typeface="D2Coding" panose="020B0609020101020101" pitchFamily="49" charset="-127"/>
                <a:ea typeface="D2Coding" panose="020B0609020101020101" pitchFamily="49" charset="-127"/>
                <a:hlinkClick r:id="rId6"/>
              </a:rPr>
              <a:t>AI-with-python</a:t>
            </a:r>
            <a:endParaRPr lang="ko-KR" altLang="en-US" sz="18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9294947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B13F0-E02B-1045-51FB-989F0FE71938}"/>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AB9B3B85-5E52-9230-DD95-4F3B089BF07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Practice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Convolutional Autoencoder </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래픽 4" descr="본문 작성기">
            <a:extLst>
              <a:ext uri="{FF2B5EF4-FFF2-40B4-BE49-F238E27FC236}">
                <a16:creationId xmlns:a16="http://schemas.microsoft.com/office/drawing/2014/main" id="{B0D8A624-4058-8026-A73F-C5213C059A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48457" y="334022"/>
            <a:ext cx="914400" cy="914400"/>
          </a:xfrm>
          <a:prstGeom prst="rect">
            <a:avLst/>
          </a:prstGeom>
        </p:spPr>
      </p:pic>
      <p:sp>
        <p:nvSpPr>
          <p:cNvPr id="6" name="TextBox 5">
            <a:extLst>
              <a:ext uri="{FF2B5EF4-FFF2-40B4-BE49-F238E27FC236}">
                <a16:creationId xmlns:a16="http://schemas.microsoft.com/office/drawing/2014/main" id="{744D28E1-77DA-DB1C-B399-F4CF67311ED3}"/>
              </a:ext>
            </a:extLst>
          </p:cNvPr>
          <p:cNvSpPr txBox="1"/>
          <p:nvPr/>
        </p:nvSpPr>
        <p:spPr>
          <a:xfrm>
            <a:off x="581543" y="1913206"/>
            <a:ext cx="5343007" cy="4609595"/>
          </a:xfrm>
          <a:prstGeom prst="rect">
            <a:avLst/>
          </a:prstGeom>
          <a:solidFill>
            <a:srgbClr val="76E3FF"/>
          </a:solidFill>
        </p:spPr>
        <p:txBody>
          <a:bodyPr wrap="square">
            <a:spAutoFit/>
          </a:bodyPr>
          <a:lstStyle/>
          <a:p>
            <a:pPr>
              <a:lnSpc>
                <a:spcPts val="1575"/>
              </a:lnSpc>
              <a:buNone/>
            </a:pPr>
            <a:r>
              <a:rPr lang="en-US" altLang="ko-KR" sz="1600" b="0" dirty="0">
                <a:effectLst/>
                <a:latin typeface="D2Coding" panose="020B0609020101020101" pitchFamily="49" charset="-127"/>
                <a:ea typeface="D2Coding" panose="020B0609020101020101" pitchFamily="49" charset="-127"/>
              </a:rPr>
              <a:t>model = </a:t>
            </a:r>
            <a:r>
              <a:rPr lang="en-US" altLang="ko-KR" sz="1600" b="0" dirty="0" err="1">
                <a:effectLst/>
                <a:latin typeface="D2Coding" panose="020B0609020101020101" pitchFamily="49" charset="-127"/>
                <a:ea typeface="D2Coding" panose="020B0609020101020101" pitchFamily="49" charset="-127"/>
              </a:rPr>
              <a:t>keras.Sequential</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layers.Input</a:t>
            </a:r>
            <a:r>
              <a:rPr lang="en-US" altLang="ko-KR" sz="1600" b="0" dirty="0">
                <a:effectLst/>
                <a:latin typeface="D2Coding" panose="020B0609020101020101" pitchFamily="49" charset="-127"/>
                <a:ea typeface="D2Coding" panose="020B0609020101020101" pitchFamily="49" charset="-127"/>
              </a:rPr>
              <a:t>(shape=(</a:t>
            </a:r>
            <a:r>
              <a:rPr lang="en-US" altLang="ko-KR" sz="1600" b="0" dirty="0" err="1">
                <a:effectLst/>
                <a:latin typeface="D2Coding" panose="020B0609020101020101" pitchFamily="49" charset="-127"/>
                <a:ea typeface="D2Coding" panose="020B0609020101020101" pitchFamily="49" charset="-127"/>
              </a:rPr>
              <a:t>x_train.shape</a:t>
            </a:r>
            <a:r>
              <a:rPr lang="en-US" altLang="ko-KR" sz="1600" b="0" dirty="0">
                <a:effectLst/>
                <a:latin typeface="D2Coding" panose="020B0609020101020101" pitchFamily="49" charset="-127"/>
                <a:ea typeface="D2Coding" panose="020B0609020101020101" pitchFamily="49" charset="-127"/>
              </a:rPr>
              <a:t>[1], </a:t>
            </a:r>
          </a:p>
          <a:p>
            <a:pPr>
              <a:lnSpc>
                <a:spcPts val="1575"/>
              </a:lnSpc>
              <a:buNone/>
            </a:pPr>
            <a:r>
              <a:rPr lang="en-US" altLang="ko-KR" sz="1600" dirty="0">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x_train.shape</a:t>
            </a:r>
            <a:r>
              <a:rPr lang="en-US" altLang="ko-KR" sz="1600" b="0" dirty="0">
                <a:effectLst/>
                <a:latin typeface="D2Coding" panose="020B0609020101020101" pitchFamily="49" charset="-127"/>
                <a:ea typeface="D2Coding" panose="020B0609020101020101" pitchFamily="49" charset="-127"/>
              </a:rPr>
              <a:t>[2])),</a:t>
            </a: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layers.Conv1D(</a:t>
            </a:r>
          </a:p>
          <a:p>
            <a:pPr>
              <a:lnSpc>
                <a:spcPts val="1575"/>
              </a:lnSpc>
              <a:buNone/>
            </a:pPr>
            <a:r>
              <a:rPr lang="en-US" altLang="ko-KR" sz="1600" b="0" dirty="0">
                <a:effectLst/>
                <a:latin typeface="D2Coding" panose="020B0609020101020101" pitchFamily="49" charset="-127"/>
                <a:ea typeface="D2Coding" panose="020B0609020101020101" pitchFamily="49" charset="-127"/>
              </a:rPr>
              <a:t>            filters=32,</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kernel_size</a:t>
            </a:r>
            <a:r>
              <a:rPr lang="en-US" altLang="ko-KR" sz="1600" b="0" dirty="0">
                <a:effectLst/>
                <a:latin typeface="D2Coding" panose="020B0609020101020101" pitchFamily="49" charset="-127"/>
                <a:ea typeface="D2Coding" panose="020B0609020101020101" pitchFamily="49" charset="-127"/>
              </a:rPr>
              <a:t>=7,</a:t>
            </a:r>
          </a:p>
          <a:p>
            <a:pPr>
              <a:lnSpc>
                <a:spcPts val="1575"/>
              </a:lnSpc>
              <a:buNone/>
            </a:pPr>
            <a:r>
              <a:rPr lang="en-US" altLang="ko-KR" sz="1600" b="0" dirty="0">
                <a:effectLst/>
                <a:latin typeface="D2Coding" panose="020B0609020101020101" pitchFamily="49" charset="-127"/>
                <a:ea typeface="D2Coding" panose="020B0609020101020101" pitchFamily="49" charset="-127"/>
              </a:rPr>
              <a:t>            padding="same",</a:t>
            </a:r>
          </a:p>
          <a:p>
            <a:pPr>
              <a:lnSpc>
                <a:spcPts val="1575"/>
              </a:lnSpc>
              <a:buNone/>
            </a:pPr>
            <a:r>
              <a:rPr lang="en-US" altLang="ko-KR" sz="1600" b="0" dirty="0">
                <a:effectLst/>
                <a:latin typeface="D2Coding" panose="020B0609020101020101" pitchFamily="49" charset="-127"/>
                <a:ea typeface="D2Coding" panose="020B0609020101020101" pitchFamily="49" charset="-127"/>
              </a:rPr>
              <a:t>            strides=2,</a:t>
            </a:r>
          </a:p>
          <a:p>
            <a:pPr>
              <a:lnSpc>
                <a:spcPts val="1575"/>
              </a:lnSpc>
              <a:buNone/>
            </a:pPr>
            <a:r>
              <a:rPr lang="en-US" altLang="ko-KR" sz="1600" b="0" dirty="0">
                <a:effectLst/>
                <a:latin typeface="D2Coding" panose="020B0609020101020101" pitchFamily="49" charset="-127"/>
                <a:ea typeface="D2Coding" panose="020B0609020101020101" pitchFamily="49" charset="-127"/>
              </a:rPr>
              <a:t>            activation="</a:t>
            </a:r>
            <a:r>
              <a:rPr lang="en-US" altLang="ko-KR" sz="1600" b="0" dirty="0" err="1">
                <a:effectLst/>
                <a:latin typeface="D2Coding" panose="020B0609020101020101" pitchFamily="49" charset="-127"/>
                <a:ea typeface="D2Coding" panose="020B0609020101020101" pitchFamily="49" charset="-127"/>
              </a:rPr>
              <a:t>relu</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p>
          <a:p>
            <a:pPr>
              <a:lnSpc>
                <a:spcPts val="1575"/>
              </a:lnSpc>
              <a:buNone/>
            </a:pPr>
            <a:endParaRPr lang="en-US" altLang="ko-KR" sz="1600" b="0" dirty="0">
              <a:effectLst/>
              <a:latin typeface="D2Coding" panose="020B0609020101020101" pitchFamily="49" charset="-127"/>
              <a:ea typeface="D2Coding" panose="020B0609020101020101" pitchFamily="49" charset="-127"/>
            </a:endParaRP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layers.Dropout</a:t>
            </a:r>
            <a:r>
              <a:rPr lang="en-US" altLang="ko-KR" sz="1600" b="0" dirty="0">
                <a:effectLst/>
                <a:latin typeface="D2Coding" panose="020B0609020101020101" pitchFamily="49" charset="-127"/>
                <a:ea typeface="D2Coding" panose="020B0609020101020101" pitchFamily="49" charset="-127"/>
              </a:rPr>
              <a:t>(rate=0.2),</a:t>
            </a:r>
          </a:p>
          <a:p>
            <a:pPr>
              <a:lnSpc>
                <a:spcPts val="1575"/>
              </a:lnSpc>
              <a:buNone/>
            </a:pPr>
            <a:r>
              <a:rPr lang="en-US" altLang="ko-KR" sz="1600" b="0" dirty="0">
                <a:effectLst/>
                <a:latin typeface="D2Coding" panose="020B0609020101020101" pitchFamily="49" charset="-127"/>
                <a:ea typeface="D2Coding" panose="020B0609020101020101" pitchFamily="49" charset="-127"/>
              </a:rPr>
              <a:t>        layers.Conv1D(</a:t>
            </a:r>
          </a:p>
          <a:p>
            <a:pPr>
              <a:lnSpc>
                <a:spcPts val="1575"/>
              </a:lnSpc>
              <a:buNone/>
            </a:pPr>
            <a:r>
              <a:rPr lang="en-US" altLang="ko-KR" sz="1600" b="0" dirty="0">
                <a:effectLst/>
                <a:latin typeface="D2Coding" panose="020B0609020101020101" pitchFamily="49" charset="-127"/>
                <a:ea typeface="D2Coding" panose="020B0609020101020101" pitchFamily="49" charset="-127"/>
              </a:rPr>
              <a:t>            filters=16,</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r>
              <a:rPr lang="en-US" altLang="ko-KR" sz="1600" b="0" dirty="0" err="1">
                <a:effectLst/>
                <a:latin typeface="D2Coding" panose="020B0609020101020101" pitchFamily="49" charset="-127"/>
                <a:ea typeface="D2Coding" panose="020B0609020101020101" pitchFamily="49" charset="-127"/>
              </a:rPr>
              <a:t>kernel_size</a:t>
            </a:r>
            <a:r>
              <a:rPr lang="en-US" altLang="ko-KR" sz="1600" b="0" dirty="0">
                <a:effectLst/>
                <a:latin typeface="D2Coding" panose="020B0609020101020101" pitchFamily="49" charset="-127"/>
                <a:ea typeface="D2Coding" panose="020B0609020101020101" pitchFamily="49" charset="-127"/>
              </a:rPr>
              <a:t>=7,</a:t>
            </a:r>
          </a:p>
          <a:p>
            <a:pPr>
              <a:lnSpc>
                <a:spcPts val="1575"/>
              </a:lnSpc>
              <a:buNone/>
            </a:pPr>
            <a:r>
              <a:rPr lang="en-US" altLang="ko-KR" sz="1600" b="0" dirty="0">
                <a:effectLst/>
                <a:latin typeface="D2Coding" panose="020B0609020101020101" pitchFamily="49" charset="-127"/>
                <a:ea typeface="D2Coding" panose="020B0609020101020101" pitchFamily="49" charset="-127"/>
              </a:rPr>
              <a:t>            padding="same",</a:t>
            </a:r>
          </a:p>
          <a:p>
            <a:pPr>
              <a:lnSpc>
                <a:spcPts val="1575"/>
              </a:lnSpc>
              <a:buNone/>
            </a:pPr>
            <a:r>
              <a:rPr lang="en-US" altLang="ko-KR" sz="1600" b="0" dirty="0">
                <a:effectLst/>
                <a:latin typeface="D2Coding" panose="020B0609020101020101" pitchFamily="49" charset="-127"/>
                <a:ea typeface="D2Coding" panose="020B0609020101020101" pitchFamily="49" charset="-127"/>
              </a:rPr>
              <a:t>            strides=2,</a:t>
            </a:r>
          </a:p>
          <a:p>
            <a:pPr>
              <a:lnSpc>
                <a:spcPts val="1575"/>
              </a:lnSpc>
              <a:buNone/>
            </a:pPr>
            <a:r>
              <a:rPr lang="en-US" altLang="ko-KR" sz="1600" b="0" dirty="0">
                <a:effectLst/>
                <a:latin typeface="D2Coding" panose="020B0609020101020101" pitchFamily="49" charset="-127"/>
                <a:ea typeface="D2Coding" panose="020B0609020101020101" pitchFamily="49" charset="-127"/>
              </a:rPr>
              <a:t>            activation="</a:t>
            </a:r>
            <a:r>
              <a:rPr lang="en-US" altLang="ko-KR" sz="1600" b="0" dirty="0" err="1">
                <a:effectLst/>
                <a:latin typeface="D2Coding" panose="020B0609020101020101" pitchFamily="49" charset="-127"/>
                <a:ea typeface="D2Coding" panose="020B0609020101020101" pitchFamily="49" charset="-127"/>
              </a:rPr>
              <a:t>relu</a:t>
            </a:r>
            <a:r>
              <a:rPr lang="en-US" altLang="ko-KR" sz="1600" b="0" dirty="0">
                <a:effectLst/>
                <a:latin typeface="D2Coding" panose="020B0609020101020101" pitchFamily="49" charset="-127"/>
                <a:ea typeface="D2Coding" panose="020B0609020101020101" pitchFamily="49" charset="-127"/>
              </a:rPr>
              <a:t>",</a:t>
            </a:r>
          </a:p>
          <a:p>
            <a:pPr>
              <a:lnSpc>
                <a:spcPts val="1575"/>
              </a:lnSpc>
              <a:buNone/>
            </a:pPr>
            <a:r>
              <a:rPr lang="en-US" altLang="ko-KR" sz="1600" b="0" dirty="0">
                <a:effectLst/>
                <a:latin typeface="D2Coding" panose="020B0609020101020101" pitchFamily="49" charset="-127"/>
                <a:ea typeface="D2Coding" panose="020B0609020101020101" pitchFamily="49" charset="-127"/>
              </a:rPr>
              <a:t>        ),</a:t>
            </a:r>
          </a:p>
        </p:txBody>
      </p:sp>
      <p:sp>
        <p:nvSpPr>
          <p:cNvPr id="8" name="TextBox 7">
            <a:extLst>
              <a:ext uri="{FF2B5EF4-FFF2-40B4-BE49-F238E27FC236}">
                <a16:creationId xmlns:a16="http://schemas.microsoft.com/office/drawing/2014/main" id="{4D587B2E-C0D6-A7A1-9B0C-FF100E202028}"/>
              </a:ext>
            </a:extLst>
          </p:cNvPr>
          <p:cNvSpPr txBox="1"/>
          <p:nvPr/>
        </p:nvSpPr>
        <p:spPr>
          <a:xfrm>
            <a:off x="6239394" y="1916412"/>
            <a:ext cx="5371063" cy="4609595"/>
          </a:xfrm>
          <a:prstGeom prst="rect">
            <a:avLst/>
          </a:prstGeom>
          <a:solidFill>
            <a:srgbClr val="76E3FF"/>
          </a:solidFill>
        </p:spPr>
        <p:txBody>
          <a:bodyPr wrap="square">
            <a:spAutoFit/>
          </a:bodyPr>
          <a:lstStyle/>
          <a:p>
            <a:pPr>
              <a:lnSpc>
                <a:spcPts val="1575"/>
              </a:lnSpc>
            </a:pPr>
            <a:r>
              <a:rPr lang="en-US" altLang="ko-KR" sz="1600" dirty="0">
                <a:latin typeface="D2Coding" panose="020B0609020101020101" pitchFamily="49" charset="-127"/>
                <a:ea typeface="D2Coding" panose="020B0609020101020101" pitchFamily="49" charset="-127"/>
              </a:rPr>
              <a:t>layers.Conv1DTranspose(</a:t>
            </a:r>
          </a:p>
          <a:p>
            <a:pPr>
              <a:lnSpc>
                <a:spcPts val="1575"/>
              </a:lnSpc>
            </a:pPr>
            <a:r>
              <a:rPr lang="en-US" altLang="ko-KR" sz="1600" dirty="0">
                <a:latin typeface="D2Coding" panose="020B0609020101020101" pitchFamily="49" charset="-127"/>
                <a:ea typeface="D2Coding" panose="020B0609020101020101" pitchFamily="49" charset="-127"/>
              </a:rPr>
              <a:t>            filters=16,</a:t>
            </a:r>
          </a:p>
          <a:p>
            <a:pPr>
              <a:lnSpc>
                <a:spcPts val="1575"/>
              </a:lnSpc>
            </a:pPr>
            <a:r>
              <a:rPr lang="en-US" altLang="ko-KR"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kernel_size</a:t>
            </a:r>
            <a:r>
              <a:rPr lang="en-US" altLang="ko-KR" sz="1600" dirty="0">
                <a:latin typeface="D2Coding" panose="020B0609020101020101" pitchFamily="49" charset="-127"/>
                <a:ea typeface="D2Coding" panose="020B0609020101020101" pitchFamily="49" charset="-127"/>
              </a:rPr>
              <a:t>=7,</a:t>
            </a:r>
          </a:p>
          <a:p>
            <a:pPr>
              <a:lnSpc>
                <a:spcPts val="1575"/>
              </a:lnSpc>
            </a:pPr>
            <a:r>
              <a:rPr lang="en-US" altLang="ko-KR" sz="1600" dirty="0">
                <a:latin typeface="D2Coding" panose="020B0609020101020101" pitchFamily="49" charset="-127"/>
                <a:ea typeface="D2Coding" panose="020B0609020101020101" pitchFamily="49" charset="-127"/>
              </a:rPr>
              <a:t>            padding="same",</a:t>
            </a:r>
          </a:p>
          <a:p>
            <a:pPr>
              <a:lnSpc>
                <a:spcPts val="1575"/>
              </a:lnSpc>
            </a:pPr>
            <a:r>
              <a:rPr lang="en-US" altLang="ko-KR" sz="1600" dirty="0">
                <a:latin typeface="D2Coding" panose="020B0609020101020101" pitchFamily="49" charset="-127"/>
                <a:ea typeface="D2Coding" panose="020B0609020101020101" pitchFamily="49" charset="-127"/>
              </a:rPr>
              <a:t>            strides=2,</a:t>
            </a:r>
          </a:p>
          <a:p>
            <a:pPr>
              <a:lnSpc>
                <a:spcPts val="1575"/>
              </a:lnSpc>
            </a:pPr>
            <a:r>
              <a:rPr lang="en-US" altLang="ko-KR" sz="1600" dirty="0">
                <a:latin typeface="D2Coding" panose="020B0609020101020101" pitchFamily="49" charset="-127"/>
                <a:ea typeface="D2Coding" panose="020B0609020101020101" pitchFamily="49" charset="-127"/>
              </a:rPr>
              <a:t>            activation="</a:t>
            </a:r>
            <a:r>
              <a:rPr lang="en-US" altLang="ko-KR" sz="1600" dirty="0" err="1">
                <a:latin typeface="D2Coding" panose="020B0609020101020101" pitchFamily="49" charset="-127"/>
                <a:ea typeface="D2Coding" panose="020B0609020101020101" pitchFamily="49" charset="-127"/>
              </a:rPr>
              <a:t>relu</a:t>
            </a:r>
            <a:r>
              <a:rPr lang="en-US" altLang="ko-KR" sz="1600" dirty="0">
                <a:latin typeface="D2Coding" panose="020B0609020101020101" pitchFamily="49" charset="-127"/>
                <a:ea typeface="D2Coding" panose="020B0609020101020101" pitchFamily="49" charset="-127"/>
              </a:rPr>
              <a:t>",</a:t>
            </a:r>
          </a:p>
          <a:p>
            <a:pPr>
              <a:lnSpc>
                <a:spcPts val="1575"/>
              </a:lnSpc>
            </a:pPr>
            <a:r>
              <a:rPr lang="en-US" altLang="ko-KR" sz="1600" dirty="0">
                <a:latin typeface="D2Coding" panose="020B0609020101020101" pitchFamily="49" charset="-127"/>
                <a:ea typeface="D2Coding" panose="020B0609020101020101" pitchFamily="49" charset="-127"/>
              </a:rPr>
              <a:t>        ),</a:t>
            </a:r>
          </a:p>
          <a:p>
            <a:pPr>
              <a:lnSpc>
                <a:spcPts val="1575"/>
              </a:lnSpc>
            </a:pPr>
            <a:endParaRPr lang="en-US" altLang="ko-KR" sz="1600" dirty="0">
              <a:latin typeface="D2Coding" panose="020B0609020101020101" pitchFamily="49" charset="-127"/>
              <a:ea typeface="D2Coding" panose="020B0609020101020101" pitchFamily="49" charset="-127"/>
            </a:endParaRPr>
          </a:p>
          <a:p>
            <a:pPr>
              <a:lnSpc>
                <a:spcPts val="1575"/>
              </a:lnSpc>
            </a:pPr>
            <a:r>
              <a:rPr lang="en-US" altLang="ko-KR"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layers.Dropout</a:t>
            </a:r>
            <a:r>
              <a:rPr lang="en-US" altLang="ko-KR" sz="1600" dirty="0">
                <a:latin typeface="D2Coding" panose="020B0609020101020101" pitchFamily="49" charset="-127"/>
                <a:ea typeface="D2Coding" panose="020B0609020101020101" pitchFamily="49" charset="-127"/>
              </a:rPr>
              <a:t>(rate=0.2),</a:t>
            </a:r>
          </a:p>
          <a:p>
            <a:pPr>
              <a:lnSpc>
                <a:spcPts val="1575"/>
              </a:lnSpc>
            </a:pPr>
            <a:r>
              <a:rPr lang="en-US" altLang="ko-KR" sz="1600" dirty="0">
                <a:latin typeface="D2Coding" panose="020B0609020101020101" pitchFamily="49" charset="-127"/>
                <a:ea typeface="D2Coding" panose="020B0609020101020101" pitchFamily="49" charset="-127"/>
              </a:rPr>
              <a:t>        layers.Conv1DTranspose(</a:t>
            </a:r>
          </a:p>
          <a:p>
            <a:pPr>
              <a:lnSpc>
                <a:spcPts val="1575"/>
              </a:lnSpc>
            </a:pPr>
            <a:r>
              <a:rPr lang="en-US" altLang="ko-KR" sz="1600" dirty="0">
                <a:latin typeface="D2Coding" panose="020B0609020101020101" pitchFamily="49" charset="-127"/>
                <a:ea typeface="D2Coding" panose="020B0609020101020101" pitchFamily="49" charset="-127"/>
              </a:rPr>
              <a:t>            filters=32,</a:t>
            </a:r>
          </a:p>
          <a:p>
            <a:pPr>
              <a:lnSpc>
                <a:spcPts val="1575"/>
              </a:lnSpc>
            </a:pPr>
            <a:r>
              <a:rPr lang="en-US" altLang="ko-KR"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kernel_size</a:t>
            </a:r>
            <a:r>
              <a:rPr lang="en-US" altLang="ko-KR" sz="1600" dirty="0">
                <a:latin typeface="D2Coding" panose="020B0609020101020101" pitchFamily="49" charset="-127"/>
                <a:ea typeface="D2Coding" panose="020B0609020101020101" pitchFamily="49" charset="-127"/>
              </a:rPr>
              <a:t>=7,</a:t>
            </a:r>
          </a:p>
          <a:p>
            <a:pPr>
              <a:lnSpc>
                <a:spcPts val="1575"/>
              </a:lnSpc>
            </a:pPr>
            <a:r>
              <a:rPr lang="en-US" altLang="ko-KR" sz="1600" dirty="0">
                <a:latin typeface="D2Coding" panose="020B0609020101020101" pitchFamily="49" charset="-127"/>
                <a:ea typeface="D2Coding" panose="020B0609020101020101" pitchFamily="49" charset="-127"/>
              </a:rPr>
              <a:t>            padding="same",</a:t>
            </a:r>
          </a:p>
          <a:p>
            <a:pPr>
              <a:lnSpc>
                <a:spcPts val="1575"/>
              </a:lnSpc>
            </a:pPr>
            <a:r>
              <a:rPr lang="en-US" altLang="ko-KR" sz="1600" dirty="0">
                <a:latin typeface="D2Coding" panose="020B0609020101020101" pitchFamily="49" charset="-127"/>
                <a:ea typeface="D2Coding" panose="020B0609020101020101" pitchFamily="49" charset="-127"/>
              </a:rPr>
              <a:t>            strides=2,</a:t>
            </a:r>
          </a:p>
          <a:p>
            <a:pPr>
              <a:lnSpc>
                <a:spcPts val="1575"/>
              </a:lnSpc>
            </a:pPr>
            <a:r>
              <a:rPr lang="en-US" altLang="ko-KR" sz="1600" dirty="0">
                <a:latin typeface="D2Coding" panose="020B0609020101020101" pitchFamily="49" charset="-127"/>
                <a:ea typeface="D2Coding" panose="020B0609020101020101" pitchFamily="49" charset="-127"/>
              </a:rPr>
              <a:t>            activation="</a:t>
            </a:r>
            <a:r>
              <a:rPr lang="en-US" altLang="ko-KR" sz="1600" dirty="0" err="1">
                <a:latin typeface="D2Coding" panose="020B0609020101020101" pitchFamily="49" charset="-127"/>
                <a:ea typeface="D2Coding" panose="020B0609020101020101" pitchFamily="49" charset="-127"/>
              </a:rPr>
              <a:t>relu</a:t>
            </a:r>
            <a:r>
              <a:rPr lang="en-US" altLang="ko-KR" sz="1600" dirty="0">
                <a:latin typeface="D2Coding" panose="020B0609020101020101" pitchFamily="49" charset="-127"/>
                <a:ea typeface="D2Coding" panose="020B0609020101020101" pitchFamily="49" charset="-127"/>
              </a:rPr>
              <a:t>",</a:t>
            </a:r>
          </a:p>
          <a:p>
            <a:pPr>
              <a:lnSpc>
                <a:spcPts val="1575"/>
              </a:lnSpc>
            </a:pPr>
            <a:r>
              <a:rPr lang="en-US" altLang="ko-KR" sz="1600" dirty="0">
                <a:latin typeface="D2Coding" panose="020B0609020101020101" pitchFamily="49" charset="-127"/>
                <a:ea typeface="D2Coding" panose="020B0609020101020101" pitchFamily="49" charset="-127"/>
              </a:rPr>
              <a:t>        ),</a:t>
            </a:r>
          </a:p>
          <a:p>
            <a:pPr>
              <a:lnSpc>
                <a:spcPts val="1575"/>
              </a:lnSpc>
            </a:pPr>
            <a:endParaRPr lang="en-US" altLang="ko-KR" sz="1600" dirty="0">
              <a:latin typeface="D2Coding" panose="020B0609020101020101" pitchFamily="49" charset="-127"/>
              <a:ea typeface="D2Coding" panose="020B0609020101020101" pitchFamily="49" charset="-127"/>
            </a:endParaRPr>
          </a:p>
          <a:p>
            <a:pPr>
              <a:lnSpc>
                <a:spcPts val="1575"/>
              </a:lnSpc>
            </a:pPr>
            <a:r>
              <a:rPr lang="en-US" altLang="ko-KR" sz="1600" dirty="0">
                <a:latin typeface="D2Coding" panose="020B0609020101020101" pitchFamily="49" charset="-127"/>
                <a:ea typeface="D2Coding" panose="020B0609020101020101" pitchFamily="49" charset="-127"/>
              </a:rPr>
              <a:t>        layers.Conv1DTranspose(filters=1, </a:t>
            </a:r>
          </a:p>
          <a:p>
            <a:pPr>
              <a:lnSpc>
                <a:spcPts val="1575"/>
              </a:lnSpc>
            </a:pPr>
            <a:r>
              <a:rPr lang="en-US" altLang="ko-KR"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kernel_size</a:t>
            </a:r>
            <a:r>
              <a:rPr lang="en-US" altLang="ko-KR" sz="1600" dirty="0">
                <a:latin typeface="D2Coding" panose="020B0609020101020101" pitchFamily="49" charset="-127"/>
                <a:ea typeface="D2Coding" panose="020B0609020101020101" pitchFamily="49" charset="-127"/>
              </a:rPr>
              <a:t>=7, </a:t>
            </a:r>
          </a:p>
          <a:p>
            <a:pPr>
              <a:lnSpc>
                <a:spcPts val="1575"/>
              </a:lnSpc>
            </a:pPr>
            <a:r>
              <a:rPr lang="en-US" altLang="ko-KR" sz="1600" dirty="0">
                <a:latin typeface="D2Coding" panose="020B0609020101020101" pitchFamily="49" charset="-127"/>
                <a:ea typeface="D2Coding" panose="020B0609020101020101" pitchFamily="49" charset="-127"/>
              </a:rPr>
              <a:t>			padding="same"),</a:t>
            </a:r>
          </a:p>
          <a:p>
            <a:pPr>
              <a:lnSpc>
                <a:spcPts val="1575"/>
              </a:lnSpc>
            </a:pPr>
            <a:r>
              <a:rPr lang="en-US" altLang="ko-KR" sz="1600" dirty="0">
                <a:latin typeface="D2Coding" panose="020B0609020101020101" pitchFamily="49" charset="-127"/>
                <a:ea typeface="D2Coding" panose="020B0609020101020101" pitchFamily="49" charset="-127"/>
              </a:rPr>
              <a:t>    ]</a:t>
            </a:r>
          </a:p>
          <a:p>
            <a:pPr>
              <a:lnSpc>
                <a:spcPts val="1575"/>
              </a:lnSpc>
            </a:pP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p:txBody>
      </p:sp>
      <p:sp>
        <p:nvSpPr>
          <p:cNvPr id="10" name="TextBox 9">
            <a:extLst>
              <a:ext uri="{FF2B5EF4-FFF2-40B4-BE49-F238E27FC236}">
                <a16:creationId xmlns:a16="http://schemas.microsoft.com/office/drawing/2014/main" id="{D37E28F6-6F3B-6339-FB54-A19DE95E7877}"/>
              </a:ext>
            </a:extLst>
          </p:cNvPr>
          <p:cNvSpPr txBox="1"/>
          <p:nvPr/>
        </p:nvSpPr>
        <p:spPr>
          <a:xfrm>
            <a:off x="581544" y="1539508"/>
            <a:ext cx="5343006" cy="369332"/>
          </a:xfrm>
          <a:prstGeom prst="rect">
            <a:avLst/>
          </a:prstGeom>
          <a:solidFill>
            <a:schemeClr val="tx1"/>
          </a:solidFill>
        </p:spPr>
        <p:txBody>
          <a:bodyPr wrap="square">
            <a:spAutoFit/>
          </a:bodyPr>
          <a:lstStyle/>
          <a:p>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Encoder</a:t>
            </a:r>
            <a:endParaRPr lang="ko-KR" altLang="en-US" dirty="0">
              <a:solidFill>
                <a:schemeClr val="bg1"/>
              </a:solidFill>
            </a:endParaRPr>
          </a:p>
        </p:txBody>
      </p:sp>
      <p:sp>
        <p:nvSpPr>
          <p:cNvPr id="11" name="TextBox 10">
            <a:extLst>
              <a:ext uri="{FF2B5EF4-FFF2-40B4-BE49-F238E27FC236}">
                <a16:creationId xmlns:a16="http://schemas.microsoft.com/office/drawing/2014/main" id="{1646B48A-D1C5-50CB-84C8-297D8286B0A5}"/>
              </a:ext>
            </a:extLst>
          </p:cNvPr>
          <p:cNvSpPr txBox="1"/>
          <p:nvPr/>
        </p:nvSpPr>
        <p:spPr>
          <a:xfrm>
            <a:off x="6239394" y="1539508"/>
            <a:ext cx="5371062" cy="369332"/>
          </a:xfrm>
          <a:prstGeom prst="rect">
            <a:avLst/>
          </a:prstGeom>
          <a:solidFill>
            <a:schemeClr val="tx1"/>
          </a:solidFill>
        </p:spPr>
        <p:txBody>
          <a:bodyPr wrap="square">
            <a:spAutoFit/>
          </a:bodyPr>
          <a:lstStyle/>
          <a:p>
            <a:r>
              <a:rPr lang="en-US" altLang="ko-KR" dirty="0">
                <a:solidFill>
                  <a:schemeClr val="bg1"/>
                </a:solidFill>
                <a:latin typeface="D2Coding" panose="020B0609020101020101" pitchFamily="49" charset="-127"/>
                <a:ea typeface="D2Coding" panose="020B0609020101020101" pitchFamily="49" charset="-127"/>
                <a:cs typeface="Segoe UI Light" panose="020B0502040204020203" pitchFamily="34" charset="0"/>
              </a:rPr>
              <a:t>Decoder</a:t>
            </a:r>
            <a:endParaRPr lang="ko-KR" altLang="en-US" dirty="0">
              <a:solidFill>
                <a:schemeClr val="bg1"/>
              </a:solidFill>
            </a:endParaRPr>
          </a:p>
        </p:txBody>
      </p:sp>
      <p:sp>
        <p:nvSpPr>
          <p:cNvPr id="13" name="설명선: 굽은 선(강조선) 12">
            <a:extLst>
              <a:ext uri="{FF2B5EF4-FFF2-40B4-BE49-F238E27FC236}">
                <a16:creationId xmlns:a16="http://schemas.microsoft.com/office/drawing/2014/main" id="{308A29D8-42FB-A163-C36A-816498E63113}"/>
              </a:ext>
            </a:extLst>
          </p:cNvPr>
          <p:cNvSpPr/>
          <p:nvPr/>
        </p:nvSpPr>
        <p:spPr>
          <a:xfrm>
            <a:off x="4476189" y="4901536"/>
            <a:ext cx="1448362" cy="1365914"/>
          </a:xfrm>
          <a:prstGeom prst="accentCallout2">
            <a:avLst>
              <a:gd name="adj1" fmla="val 18750"/>
              <a:gd name="adj2" fmla="val -8333"/>
              <a:gd name="adj3" fmla="val 18750"/>
              <a:gd name="adj4" fmla="val -16667"/>
              <a:gd name="adj5" fmla="val 35915"/>
              <a:gd name="adj6" fmla="val -56125"/>
            </a:avLst>
          </a:prstGeom>
          <a:solidFill>
            <a:schemeClr val="tx1"/>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bg1"/>
                </a:solidFill>
                <a:latin typeface="D2Coding" panose="020B0609020101020101" pitchFamily="49" charset="-127"/>
                <a:ea typeface="D2Coding" panose="020B0609020101020101" pitchFamily="49" charset="-127"/>
              </a:rPr>
              <a:t>latent space</a:t>
            </a:r>
            <a:r>
              <a:rPr lang="ko-KR" altLang="en-US" sz="1200" dirty="0">
                <a:solidFill>
                  <a:schemeClr val="bg1"/>
                </a:solidFill>
                <a:latin typeface="D2Coding" panose="020B0609020101020101" pitchFamily="49" charset="-127"/>
                <a:ea typeface="D2Coding" panose="020B0609020101020101" pitchFamily="49" charset="-127"/>
              </a:rPr>
              <a:t>는 </a:t>
            </a:r>
            <a:r>
              <a:rPr lang="ko-KR" altLang="en-US" sz="1200" b="1" dirty="0">
                <a:solidFill>
                  <a:schemeClr val="bg1"/>
                </a:solidFill>
                <a:latin typeface="D2Coding" panose="020B0609020101020101" pitchFamily="49" charset="-127"/>
                <a:ea typeface="D2Coding" panose="020B0609020101020101" pitchFamily="49" charset="-127"/>
              </a:rPr>
              <a:t>하나의 벡터가 아니라</a:t>
            </a:r>
            <a:r>
              <a:rPr lang="en-US" altLang="ko-KR" sz="1200" b="1" dirty="0">
                <a:solidFill>
                  <a:schemeClr val="bg1"/>
                </a:solidFill>
                <a:latin typeface="D2Coding" panose="020B0609020101020101" pitchFamily="49" charset="-127"/>
                <a:ea typeface="D2Coding" panose="020B0609020101020101" pitchFamily="49" charset="-127"/>
              </a:rPr>
              <a:t>, </a:t>
            </a:r>
            <a:r>
              <a:rPr lang="ko-KR" altLang="en-US" sz="1200" b="1" dirty="0">
                <a:solidFill>
                  <a:schemeClr val="bg1"/>
                </a:solidFill>
                <a:latin typeface="D2Coding" panose="020B0609020101020101" pitchFamily="49" charset="-127"/>
                <a:ea typeface="D2Coding" panose="020B0609020101020101" pitchFamily="49" charset="-127"/>
              </a:rPr>
              <a:t>길이 </a:t>
            </a:r>
            <a:r>
              <a:rPr lang="en-US" altLang="ko-KR" sz="1200" b="1" dirty="0">
                <a:solidFill>
                  <a:schemeClr val="bg1"/>
                </a:solidFill>
                <a:latin typeface="D2Coding" panose="020B0609020101020101" pitchFamily="49" charset="-127"/>
                <a:ea typeface="D2Coding" panose="020B0609020101020101" pitchFamily="49" charset="-127"/>
              </a:rPr>
              <a:t>72</a:t>
            </a:r>
            <a:r>
              <a:rPr lang="ko-KR" altLang="en-US" sz="1200" b="1" dirty="0">
                <a:solidFill>
                  <a:schemeClr val="bg1"/>
                </a:solidFill>
                <a:latin typeface="D2Coding" panose="020B0609020101020101" pitchFamily="49" charset="-127"/>
                <a:ea typeface="D2Coding" panose="020B0609020101020101" pitchFamily="49" charset="-127"/>
              </a:rPr>
              <a:t>에 채널이 </a:t>
            </a:r>
            <a:r>
              <a:rPr lang="en-US" altLang="ko-KR" sz="1200" b="1" dirty="0">
                <a:solidFill>
                  <a:schemeClr val="bg1"/>
                </a:solidFill>
                <a:latin typeface="D2Coding" panose="020B0609020101020101" pitchFamily="49" charset="-127"/>
                <a:ea typeface="D2Coding" panose="020B0609020101020101" pitchFamily="49" charset="-127"/>
              </a:rPr>
              <a:t>16</a:t>
            </a:r>
            <a:r>
              <a:rPr lang="ko-KR" altLang="en-US" sz="1200" b="1" dirty="0">
                <a:solidFill>
                  <a:schemeClr val="bg1"/>
                </a:solidFill>
                <a:latin typeface="D2Coding" panose="020B0609020101020101" pitchFamily="49" charset="-127"/>
                <a:ea typeface="D2Coding" panose="020B0609020101020101" pitchFamily="49" charset="-127"/>
              </a:rPr>
              <a:t>개인 </a:t>
            </a:r>
            <a:r>
              <a:rPr lang="en-US" altLang="ko-KR" sz="1200" b="1" dirty="0">
                <a:solidFill>
                  <a:schemeClr val="bg1"/>
                </a:solidFill>
                <a:latin typeface="D2Coding" panose="020B0609020101020101" pitchFamily="49" charset="-127"/>
                <a:ea typeface="D2Coding" panose="020B0609020101020101" pitchFamily="49" charset="-127"/>
              </a:rPr>
              <a:t>"</a:t>
            </a:r>
            <a:r>
              <a:rPr lang="ko-KR" altLang="en-US" sz="1200" b="1" dirty="0">
                <a:solidFill>
                  <a:schemeClr val="bg1"/>
                </a:solidFill>
                <a:latin typeface="D2Coding" panose="020B0609020101020101" pitchFamily="49" charset="-127"/>
                <a:ea typeface="D2Coding" panose="020B0609020101020101" pitchFamily="49" charset="-127"/>
              </a:rPr>
              <a:t>압축된 시계열</a:t>
            </a:r>
            <a:endParaRPr lang="ko-KR" altLang="en-US" sz="1200" dirty="0">
              <a:solidFill>
                <a:schemeClr val="bg1"/>
              </a:solidFill>
              <a:latin typeface="D2Coding" panose="020B0609020101020101" pitchFamily="49" charset="-127"/>
              <a:ea typeface="D2Coding" panose="020B0609020101020101" pitchFamily="49" charset="-127"/>
            </a:endParaRPr>
          </a:p>
        </p:txBody>
      </p:sp>
      <p:sp>
        <p:nvSpPr>
          <p:cNvPr id="14" name="설명선: 굽은 선(강조선) 13">
            <a:extLst>
              <a:ext uri="{FF2B5EF4-FFF2-40B4-BE49-F238E27FC236}">
                <a16:creationId xmlns:a16="http://schemas.microsoft.com/office/drawing/2014/main" id="{ED45ED6C-1852-7EF6-E8A7-1274E84A36E2}"/>
              </a:ext>
            </a:extLst>
          </p:cNvPr>
          <p:cNvSpPr/>
          <p:nvPr/>
        </p:nvSpPr>
        <p:spPr>
          <a:xfrm>
            <a:off x="10581476" y="4568161"/>
            <a:ext cx="1448362" cy="762000"/>
          </a:xfrm>
          <a:prstGeom prst="accentCallout2">
            <a:avLst>
              <a:gd name="adj1" fmla="val 18750"/>
              <a:gd name="adj2" fmla="val -8333"/>
              <a:gd name="adj3" fmla="val 18750"/>
              <a:gd name="adj4" fmla="val -16667"/>
              <a:gd name="adj5" fmla="val 98716"/>
              <a:gd name="adj6" fmla="val -59413"/>
            </a:avLst>
          </a:prstGeom>
          <a:solidFill>
            <a:schemeClr val="tx1"/>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bg1"/>
                </a:solidFill>
                <a:latin typeface="D2Coding" panose="020B0609020101020101" pitchFamily="49" charset="-127"/>
                <a:ea typeface="D2Coding" panose="020B0609020101020101" pitchFamily="49" charset="-127"/>
              </a:rPr>
              <a:t>출력층은 입력층과 </a:t>
            </a:r>
            <a:r>
              <a:rPr lang="en-US" altLang="ko-KR" sz="1200" dirty="0">
                <a:solidFill>
                  <a:schemeClr val="bg1"/>
                </a:solidFill>
                <a:latin typeface="D2Coding" panose="020B0609020101020101" pitchFamily="49" charset="-127"/>
                <a:ea typeface="D2Coding" panose="020B0609020101020101" pitchFamily="49" charset="-127"/>
              </a:rPr>
              <a:t>Shape</a:t>
            </a:r>
            <a:r>
              <a:rPr lang="ko-KR" altLang="en-US" sz="1200" dirty="0">
                <a:solidFill>
                  <a:schemeClr val="bg1"/>
                </a:solidFill>
                <a:latin typeface="D2Coding" panose="020B0609020101020101" pitchFamily="49" charset="-127"/>
                <a:ea typeface="D2Coding" panose="020B0609020101020101" pitchFamily="49" charset="-127"/>
              </a:rPr>
              <a:t>을 동일하게</a:t>
            </a:r>
          </a:p>
        </p:txBody>
      </p:sp>
    </p:spTree>
    <p:extLst>
      <p:ext uri="{BB962C8B-B14F-4D97-AF65-F5344CB8AC3E}">
        <p14:creationId xmlns:p14="http://schemas.microsoft.com/office/powerpoint/2010/main" val="10374879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6D88-C1CA-BF53-8737-A03D35454086}"/>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666EA9ED-3BE8-3158-F384-BE6C03C3AF9A}"/>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Practice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Convolutional AE Architecture </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래픽 4" descr="본문 작성기">
            <a:extLst>
              <a:ext uri="{FF2B5EF4-FFF2-40B4-BE49-F238E27FC236}">
                <a16:creationId xmlns:a16="http://schemas.microsoft.com/office/drawing/2014/main" id="{680B2082-522F-4E2E-7475-A7CFF4C097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48457" y="334022"/>
            <a:ext cx="914400" cy="914400"/>
          </a:xfrm>
          <a:prstGeom prst="rect">
            <a:avLst/>
          </a:prstGeom>
        </p:spPr>
      </p:pic>
      <p:sp>
        <p:nvSpPr>
          <p:cNvPr id="9" name="TextBox 8">
            <a:extLst>
              <a:ext uri="{FF2B5EF4-FFF2-40B4-BE49-F238E27FC236}">
                <a16:creationId xmlns:a16="http://schemas.microsoft.com/office/drawing/2014/main" id="{9A00F8E4-F30B-7862-BFA9-DF406D1B76F9}"/>
              </a:ext>
            </a:extLst>
          </p:cNvPr>
          <p:cNvSpPr txBox="1"/>
          <p:nvPr/>
        </p:nvSpPr>
        <p:spPr>
          <a:xfrm>
            <a:off x="581024" y="1221695"/>
            <a:ext cx="11306175" cy="79316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ko-KR" altLang="en-US" sz="1600" dirty="0">
                <a:latin typeface="D2Coding" panose="020B0609020101020101" pitchFamily="49" charset="-127"/>
                <a:ea typeface="D2Coding" panose="020B0609020101020101" pitchFamily="49" charset="-127"/>
              </a:rPr>
              <a:t>정상</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데이터</a:t>
            </a:r>
            <a:r>
              <a:rPr lang="en-US" altLang="ko-KR" sz="1600" dirty="0">
                <a:latin typeface="D2Coding" panose="020B0609020101020101" pitchFamily="49" charset="-127"/>
                <a:ea typeface="D2Coding" panose="020B0609020101020101" pitchFamily="49" charset="-127"/>
              </a:rPr>
              <a:t>(art_daily_small_noise.csv)</a:t>
            </a:r>
            <a:r>
              <a:rPr lang="ko-KR" altLang="en-US" sz="1600" dirty="0">
                <a:latin typeface="D2Coding" panose="020B0609020101020101" pitchFamily="49" charset="-127"/>
                <a:ea typeface="D2Coding" panose="020B0609020101020101" pitchFamily="49" charset="-127"/>
              </a:rPr>
              <a:t>로 학습하여 </a:t>
            </a:r>
            <a:r>
              <a:rPr lang="en-US" altLang="ko-KR" sz="1600" dirty="0">
                <a:latin typeface="D2Coding" panose="020B0609020101020101" pitchFamily="49" charset="-127"/>
                <a:ea typeface="D2Coding" panose="020B0609020101020101" pitchFamily="49" charset="-127"/>
              </a:rPr>
              <a:t>VAE</a:t>
            </a:r>
            <a:r>
              <a:rPr lang="ko-KR" altLang="en-US" sz="1600" dirty="0">
                <a:latin typeface="D2Coding" panose="020B0609020101020101" pitchFamily="49" charset="-127"/>
                <a:ea typeface="D2Coding" panose="020B0609020101020101" pitchFamily="49" charset="-127"/>
              </a:rPr>
              <a:t> 모델을 생성한 후 비정상이 포함된 검증데이터 </a:t>
            </a:r>
            <a:r>
              <a:rPr lang="en-US" altLang="ko-KR" sz="1600" dirty="0">
                <a:latin typeface="D2Coding" panose="020B0609020101020101" pitchFamily="49" charset="-127"/>
                <a:ea typeface="D2Coding" panose="020B0609020101020101" pitchFamily="49" charset="-127"/>
              </a:rPr>
              <a:t>(art_daily_jumpsup.csv)</a:t>
            </a:r>
            <a:r>
              <a:rPr lang="ko-KR" altLang="en-US" sz="1600" dirty="0">
                <a:latin typeface="D2Coding" panose="020B0609020101020101" pitchFamily="49" charset="-127"/>
                <a:ea typeface="D2Coding" panose="020B0609020101020101" pitchFamily="49" charset="-127"/>
              </a:rPr>
              <a:t>로</a:t>
            </a:r>
            <a:r>
              <a:rPr lang="en-US" altLang="ko-KR" sz="1600" dirty="0">
                <a:latin typeface="D2Coding" panose="020B0609020101020101" pitchFamily="49" charset="-127"/>
                <a:ea typeface="D2Coding" panose="020B0609020101020101" pitchFamily="49" charset="-127"/>
              </a:rPr>
              <a:t> anomaly detection</a:t>
            </a:r>
            <a:r>
              <a:rPr lang="ko-KR" altLang="en-US" sz="1600" dirty="0">
                <a:latin typeface="D2Coding" panose="020B0609020101020101" pitchFamily="49" charset="-127"/>
                <a:ea typeface="D2Coding" panose="020B0609020101020101" pitchFamily="49" charset="-127"/>
              </a:rPr>
              <a:t> </a:t>
            </a:r>
            <a:endParaRPr lang="en-US" altLang="ko-KR" sz="1600" dirty="0">
              <a:latin typeface="D2Coding" panose="020B0609020101020101" pitchFamily="49" charset="-127"/>
              <a:ea typeface="D2Coding" panose="020B0609020101020101" pitchFamily="49" charset="-127"/>
            </a:endParaRPr>
          </a:p>
        </p:txBody>
      </p:sp>
      <p:pic>
        <p:nvPicPr>
          <p:cNvPr id="13" name="그림 12">
            <a:extLst>
              <a:ext uri="{FF2B5EF4-FFF2-40B4-BE49-F238E27FC236}">
                <a16:creationId xmlns:a16="http://schemas.microsoft.com/office/drawing/2014/main" id="{E91444C0-1E52-282D-D219-BCC4181FED94}"/>
              </a:ext>
            </a:extLst>
          </p:cNvPr>
          <p:cNvPicPr>
            <a:picLocks noChangeAspect="1"/>
          </p:cNvPicPr>
          <p:nvPr/>
        </p:nvPicPr>
        <p:blipFill>
          <a:blip r:embed="rId4"/>
          <a:stretch>
            <a:fillRect/>
          </a:stretch>
        </p:blipFill>
        <p:spPr>
          <a:xfrm>
            <a:off x="1600200" y="2136095"/>
            <a:ext cx="8472488" cy="4104450"/>
          </a:xfrm>
          <a:prstGeom prst="rect">
            <a:avLst/>
          </a:prstGeom>
          <a:ln>
            <a:solidFill>
              <a:schemeClr val="tx1"/>
            </a:solidFill>
            <a:prstDash val="dashDot"/>
          </a:ln>
        </p:spPr>
      </p:pic>
      <p:sp>
        <p:nvSpPr>
          <p:cNvPr id="15" name="TextBox 14">
            <a:extLst>
              <a:ext uri="{FF2B5EF4-FFF2-40B4-BE49-F238E27FC236}">
                <a16:creationId xmlns:a16="http://schemas.microsoft.com/office/drawing/2014/main" id="{5441B9BB-08D6-63FF-9A9C-EE7278F16C75}"/>
              </a:ext>
            </a:extLst>
          </p:cNvPr>
          <p:cNvSpPr txBox="1"/>
          <p:nvPr/>
        </p:nvSpPr>
        <p:spPr>
          <a:xfrm>
            <a:off x="1600200" y="6240545"/>
            <a:ext cx="10153650" cy="340991"/>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ko-KR" altLang="en-US" sz="1200" dirty="0" err="1">
                <a:latin typeface="D2Coding" panose="020B0609020101020101" pitchFamily="49" charset="-127"/>
                <a:ea typeface="D2Coding" panose="020B0609020101020101" pitchFamily="49" charset="-127"/>
              </a:rPr>
              <a:t>딥러닝에서는</a:t>
            </a:r>
            <a:r>
              <a:rPr lang="ko-KR" altLang="en-US" sz="1200" dirty="0">
                <a:latin typeface="D2Coding" panose="020B0609020101020101" pitchFamily="49" charset="-127"/>
                <a:ea typeface="D2Coding" panose="020B0609020101020101" pitchFamily="49" charset="-127"/>
              </a:rPr>
              <a:t> 데이터셋이 크고 학습 시간이 오래 걸려 </a:t>
            </a:r>
            <a:r>
              <a:rPr lang="en-US" altLang="ko-KR" sz="1200" dirty="0">
                <a:latin typeface="D2Coding" panose="020B0609020101020101" pitchFamily="49" charset="-127"/>
                <a:ea typeface="D2Coding" panose="020B0609020101020101" pitchFamily="49" charset="-127"/>
              </a:rPr>
              <a:t>cross validation</a:t>
            </a:r>
            <a:r>
              <a:rPr lang="ko-KR" altLang="en-US" sz="1200" dirty="0">
                <a:latin typeface="D2Coding" panose="020B0609020101020101" pitchFamily="49" charset="-127"/>
                <a:ea typeface="D2Coding" panose="020B0609020101020101" pitchFamily="49" charset="-127"/>
              </a:rPr>
              <a:t>보다 이런 단순 </a:t>
            </a:r>
            <a:r>
              <a:rPr lang="en-US" altLang="ko-KR" sz="1200" dirty="0">
                <a:latin typeface="D2Coding" panose="020B0609020101020101" pitchFamily="49" charset="-127"/>
                <a:ea typeface="D2Coding" panose="020B0609020101020101" pitchFamily="49" charset="-127"/>
              </a:rPr>
              <a:t>hold-out validation</a:t>
            </a:r>
            <a:r>
              <a:rPr lang="ko-KR" altLang="en-US" sz="1200" dirty="0">
                <a:latin typeface="D2Coding" panose="020B0609020101020101" pitchFamily="49" charset="-127"/>
                <a:ea typeface="D2Coding" panose="020B0609020101020101" pitchFamily="49" charset="-127"/>
              </a:rPr>
              <a:t>을 더 많이 사용하는 편</a:t>
            </a:r>
          </a:p>
        </p:txBody>
      </p:sp>
      <p:sp>
        <p:nvSpPr>
          <p:cNvPr id="19" name="정육면체 18">
            <a:extLst>
              <a:ext uri="{FF2B5EF4-FFF2-40B4-BE49-F238E27FC236}">
                <a16:creationId xmlns:a16="http://schemas.microsoft.com/office/drawing/2014/main" id="{AC804EDE-1FB5-CBF1-CCB8-64A31BA24516}"/>
              </a:ext>
            </a:extLst>
          </p:cNvPr>
          <p:cNvSpPr/>
          <p:nvPr/>
        </p:nvSpPr>
        <p:spPr>
          <a:xfrm>
            <a:off x="4495800" y="2967037"/>
            <a:ext cx="704850" cy="676275"/>
          </a:xfrm>
          <a:prstGeom prst="cube">
            <a:avLst>
              <a:gd name="adj" fmla="val 613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정육면체 20">
            <a:extLst>
              <a:ext uri="{FF2B5EF4-FFF2-40B4-BE49-F238E27FC236}">
                <a16:creationId xmlns:a16="http://schemas.microsoft.com/office/drawing/2014/main" id="{378638D7-8948-6023-18C9-92ABBB253661}"/>
              </a:ext>
            </a:extLst>
          </p:cNvPr>
          <p:cNvSpPr/>
          <p:nvPr/>
        </p:nvSpPr>
        <p:spPr>
          <a:xfrm>
            <a:off x="7715250" y="2959684"/>
            <a:ext cx="438150" cy="423862"/>
          </a:xfrm>
          <a:prstGeom prst="cube">
            <a:avLst>
              <a:gd name="adj" fmla="val 41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정육면체 22">
            <a:extLst>
              <a:ext uri="{FF2B5EF4-FFF2-40B4-BE49-F238E27FC236}">
                <a16:creationId xmlns:a16="http://schemas.microsoft.com/office/drawing/2014/main" id="{7931667B-05C6-2529-B4FB-7F238F0D38F4}"/>
              </a:ext>
            </a:extLst>
          </p:cNvPr>
          <p:cNvSpPr/>
          <p:nvPr/>
        </p:nvSpPr>
        <p:spPr>
          <a:xfrm>
            <a:off x="3790950" y="4568073"/>
            <a:ext cx="704850" cy="676275"/>
          </a:xfrm>
          <a:prstGeom prst="cube">
            <a:avLst>
              <a:gd name="adj" fmla="val 613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정육면체 23">
            <a:extLst>
              <a:ext uri="{FF2B5EF4-FFF2-40B4-BE49-F238E27FC236}">
                <a16:creationId xmlns:a16="http://schemas.microsoft.com/office/drawing/2014/main" id="{A669FE07-F482-7E8A-22FE-EEA5144FB6A6}"/>
              </a:ext>
            </a:extLst>
          </p:cNvPr>
          <p:cNvSpPr/>
          <p:nvPr/>
        </p:nvSpPr>
        <p:spPr>
          <a:xfrm>
            <a:off x="7715250" y="4585617"/>
            <a:ext cx="438150" cy="423862"/>
          </a:xfrm>
          <a:prstGeom prst="cube">
            <a:avLst>
              <a:gd name="adj" fmla="val 41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6" name="그림 25">
            <a:extLst>
              <a:ext uri="{FF2B5EF4-FFF2-40B4-BE49-F238E27FC236}">
                <a16:creationId xmlns:a16="http://schemas.microsoft.com/office/drawing/2014/main" id="{EBEC9FA2-F303-ACE8-52B7-D83E2D5F5EB3}"/>
              </a:ext>
            </a:extLst>
          </p:cNvPr>
          <p:cNvPicPr>
            <a:picLocks noChangeAspect="1"/>
          </p:cNvPicPr>
          <p:nvPr/>
        </p:nvPicPr>
        <p:blipFill>
          <a:blip r:embed="rId5"/>
          <a:stretch>
            <a:fillRect/>
          </a:stretch>
        </p:blipFill>
        <p:spPr>
          <a:xfrm>
            <a:off x="742917" y="2223338"/>
            <a:ext cx="762066" cy="731583"/>
          </a:xfrm>
          <a:prstGeom prst="rect">
            <a:avLst/>
          </a:prstGeom>
        </p:spPr>
      </p:pic>
      <p:pic>
        <p:nvPicPr>
          <p:cNvPr id="28" name="그림 27">
            <a:extLst>
              <a:ext uri="{FF2B5EF4-FFF2-40B4-BE49-F238E27FC236}">
                <a16:creationId xmlns:a16="http://schemas.microsoft.com/office/drawing/2014/main" id="{9A7165BC-7077-DD3B-B581-3D4C9E46D71E}"/>
              </a:ext>
            </a:extLst>
          </p:cNvPr>
          <p:cNvPicPr>
            <a:picLocks noChangeAspect="1"/>
          </p:cNvPicPr>
          <p:nvPr/>
        </p:nvPicPr>
        <p:blipFill>
          <a:blip r:embed="rId6"/>
          <a:stretch>
            <a:fillRect/>
          </a:stretch>
        </p:blipFill>
        <p:spPr>
          <a:xfrm>
            <a:off x="10222198" y="5474106"/>
            <a:ext cx="739204" cy="701101"/>
          </a:xfrm>
          <a:prstGeom prst="rect">
            <a:avLst/>
          </a:prstGeom>
        </p:spPr>
      </p:pic>
    </p:spTree>
    <p:extLst>
      <p:ext uri="{BB962C8B-B14F-4D97-AF65-F5344CB8AC3E}">
        <p14:creationId xmlns:p14="http://schemas.microsoft.com/office/powerpoint/2010/main" val="11491639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ECE87-9257-2EED-1CDA-6480E785670B}"/>
            </a:ext>
          </a:extLst>
        </p:cNvPr>
        <p:cNvGrpSpPr/>
        <p:nvPr/>
      </p:nvGrpSpPr>
      <p:grpSpPr>
        <a:xfrm>
          <a:off x="0" y="0"/>
          <a:ext cx="0" cy="0"/>
          <a:chOff x="0" y="0"/>
          <a:chExt cx="0" cy="0"/>
        </a:xfrm>
      </p:grpSpPr>
      <p:sp>
        <p:nvSpPr>
          <p:cNvPr id="3" name="제목 1">
            <a:extLst>
              <a:ext uri="{FF2B5EF4-FFF2-40B4-BE49-F238E27FC236}">
                <a16:creationId xmlns:a16="http://schemas.microsoft.com/office/drawing/2014/main" id="{B53E320D-289B-E17E-45A7-54F6084F4BF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Practice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Convolutional Autoencoder </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래픽 4" descr="본문 작성기">
            <a:extLst>
              <a:ext uri="{FF2B5EF4-FFF2-40B4-BE49-F238E27FC236}">
                <a16:creationId xmlns:a16="http://schemas.microsoft.com/office/drawing/2014/main" id="{0231E0B4-E138-7B27-AEBB-EA43C8FAC2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48457" y="334022"/>
            <a:ext cx="914400" cy="914400"/>
          </a:xfrm>
          <a:prstGeom prst="rect">
            <a:avLst/>
          </a:prstGeom>
        </p:spPr>
      </p:pic>
      <p:pic>
        <p:nvPicPr>
          <p:cNvPr id="1026" name="Picture 2">
            <a:extLst>
              <a:ext uri="{FF2B5EF4-FFF2-40B4-BE49-F238E27FC236}">
                <a16:creationId xmlns:a16="http://schemas.microsoft.com/office/drawing/2014/main" id="{04919DB8-1339-CA54-4BDD-88FE727E0F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112" y="2987810"/>
            <a:ext cx="4263374" cy="32255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F84FAF4-A80E-B4AB-E15B-13298B3F2D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3177" y="2982038"/>
            <a:ext cx="4360439" cy="32628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42A78F-426F-10FC-E766-D9BDD5DF4644}"/>
              </a:ext>
            </a:extLst>
          </p:cNvPr>
          <p:cNvSpPr txBox="1"/>
          <p:nvPr/>
        </p:nvSpPr>
        <p:spPr>
          <a:xfrm>
            <a:off x="609435" y="1356112"/>
            <a:ext cx="5229389" cy="1333507"/>
          </a:xfrm>
          <a:prstGeom prst="rect">
            <a:avLst/>
          </a:prstGeom>
          <a:solidFill>
            <a:srgbClr val="76E3FF"/>
          </a:solidFill>
        </p:spPr>
        <p:txBody>
          <a:bodyPr wrap="square">
            <a:spAutoFit/>
          </a:bodyPr>
          <a:lstStyle/>
          <a:p>
            <a:pPr>
              <a:lnSpc>
                <a:spcPts val="1575"/>
              </a:lnSpc>
              <a:buNone/>
            </a:pPr>
            <a:r>
              <a:rPr lang="en-US" altLang="ko-KR" sz="1200" b="0" dirty="0">
                <a:effectLst/>
                <a:latin typeface="D2Coding" panose="020B0609020101020101" pitchFamily="49" charset="-127"/>
                <a:ea typeface="D2Coding" panose="020B0609020101020101" pitchFamily="49" charset="-127"/>
              </a:rPr>
              <a:t># Get train MAE loss.</a:t>
            </a:r>
          </a:p>
          <a:p>
            <a:pPr>
              <a:lnSpc>
                <a:spcPts val="1575"/>
              </a:lnSpc>
              <a:buNone/>
            </a:pPr>
            <a:r>
              <a:rPr lang="en-US" altLang="ko-KR" sz="1200" b="0" dirty="0" err="1">
                <a:effectLst/>
                <a:latin typeface="D2Coding" panose="020B0609020101020101" pitchFamily="49" charset="-127"/>
                <a:ea typeface="D2Coding" panose="020B0609020101020101" pitchFamily="49" charset="-127"/>
              </a:rPr>
              <a:t>x_train_pred</a:t>
            </a:r>
            <a:r>
              <a:rPr lang="en-US" altLang="ko-KR" sz="1200" b="0" dirty="0">
                <a:effectLst/>
                <a:latin typeface="D2Coding" panose="020B0609020101020101" pitchFamily="49" charset="-127"/>
                <a:ea typeface="D2Coding" panose="020B0609020101020101" pitchFamily="49" charset="-127"/>
              </a:rPr>
              <a:t> = </a:t>
            </a:r>
            <a:r>
              <a:rPr lang="en-US" altLang="ko-KR" sz="1200" b="0" dirty="0" err="1">
                <a:effectLst/>
                <a:latin typeface="D2Coding" panose="020B0609020101020101" pitchFamily="49" charset="-127"/>
                <a:ea typeface="D2Coding" panose="020B0609020101020101" pitchFamily="49" charset="-127"/>
              </a:rPr>
              <a:t>model.predict</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x_train</a:t>
            </a:r>
            <a:r>
              <a:rPr lang="en-US" altLang="ko-KR" sz="1200" b="0" dirty="0">
                <a:effectLst/>
                <a:latin typeface="D2Coding" panose="020B0609020101020101" pitchFamily="49" charset="-127"/>
                <a:ea typeface="D2Coding" panose="020B0609020101020101" pitchFamily="49" charset="-127"/>
              </a:rPr>
              <a:t>)</a:t>
            </a:r>
          </a:p>
          <a:p>
            <a:pPr>
              <a:lnSpc>
                <a:spcPts val="1575"/>
              </a:lnSpc>
              <a:buNone/>
            </a:pPr>
            <a:r>
              <a:rPr lang="en-US" altLang="ko-KR" sz="1200" b="0" dirty="0" err="1">
                <a:effectLst/>
                <a:latin typeface="D2Coding" panose="020B0609020101020101" pitchFamily="49" charset="-127"/>
                <a:ea typeface="D2Coding" panose="020B0609020101020101" pitchFamily="49" charset="-127"/>
              </a:rPr>
              <a:t>train_mae_loss</a:t>
            </a:r>
            <a:r>
              <a:rPr lang="en-US" altLang="ko-KR" sz="1200" b="0" dirty="0">
                <a:effectLst/>
                <a:latin typeface="D2Coding" panose="020B0609020101020101" pitchFamily="49" charset="-127"/>
                <a:ea typeface="D2Coding" panose="020B0609020101020101" pitchFamily="49" charset="-127"/>
              </a:rPr>
              <a:t> = </a:t>
            </a:r>
            <a:r>
              <a:rPr lang="en-US" altLang="ko-KR" sz="1200" b="0" dirty="0" err="1">
                <a:effectLst/>
                <a:latin typeface="D2Coding" panose="020B0609020101020101" pitchFamily="49" charset="-127"/>
                <a:ea typeface="D2Coding" panose="020B0609020101020101" pitchFamily="49" charset="-127"/>
              </a:rPr>
              <a:t>np.mean</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np.abs</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x_train_pred</a:t>
            </a:r>
            <a:r>
              <a:rPr lang="en-US" altLang="ko-KR" sz="1200" b="0" dirty="0">
                <a:effectLst/>
                <a:latin typeface="D2Coding" panose="020B0609020101020101" pitchFamily="49" charset="-127"/>
                <a:ea typeface="D2Coding" panose="020B0609020101020101" pitchFamily="49" charset="-127"/>
              </a:rPr>
              <a:t> - </a:t>
            </a:r>
            <a:r>
              <a:rPr lang="en-US" altLang="ko-KR" sz="1200" b="0" dirty="0" err="1">
                <a:effectLst/>
                <a:latin typeface="D2Coding" panose="020B0609020101020101" pitchFamily="49" charset="-127"/>
                <a:ea typeface="D2Coding" panose="020B0609020101020101" pitchFamily="49" charset="-127"/>
              </a:rPr>
              <a:t>x_train</a:t>
            </a:r>
            <a:r>
              <a:rPr lang="en-US" altLang="ko-KR" sz="1200" b="0" dirty="0">
                <a:effectLst/>
                <a:latin typeface="D2Coding" panose="020B0609020101020101" pitchFamily="49" charset="-127"/>
                <a:ea typeface="D2Coding" panose="020B0609020101020101" pitchFamily="49" charset="-127"/>
              </a:rPr>
              <a:t>), axis=1)</a:t>
            </a:r>
            <a:br>
              <a:rPr lang="en-US" altLang="ko-KR" sz="1200" b="0" dirty="0">
                <a:effectLst/>
                <a:latin typeface="D2Coding" panose="020B0609020101020101" pitchFamily="49" charset="-127"/>
                <a:ea typeface="D2Coding" panose="020B0609020101020101" pitchFamily="49" charset="-127"/>
              </a:rPr>
            </a:br>
            <a:endParaRPr lang="en-US" altLang="ko-KR" sz="1200" b="0" dirty="0">
              <a:effectLst/>
              <a:latin typeface="D2Coding" panose="020B0609020101020101" pitchFamily="49" charset="-127"/>
              <a:ea typeface="D2Coding" panose="020B0609020101020101" pitchFamily="49" charset="-127"/>
            </a:endParaRPr>
          </a:p>
          <a:p>
            <a:pPr>
              <a:lnSpc>
                <a:spcPts val="1575"/>
              </a:lnSpc>
              <a:buNone/>
            </a:pPr>
            <a:r>
              <a:rPr lang="en-US" altLang="ko-KR" sz="1200" b="0" dirty="0">
                <a:effectLst/>
                <a:latin typeface="D2Coding" panose="020B0609020101020101" pitchFamily="49" charset="-127"/>
                <a:ea typeface="D2Coding" panose="020B0609020101020101" pitchFamily="49" charset="-127"/>
              </a:rPr>
              <a:t># Get reconstruction loss threshold.</a:t>
            </a:r>
          </a:p>
          <a:p>
            <a:pPr>
              <a:lnSpc>
                <a:spcPts val="1575"/>
              </a:lnSpc>
              <a:buNone/>
            </a:pPr>
            <a:r>
              <a:rPr lang="en-US" altLang="ko-KR" sz="1200" b="0" dirty="0">
                <a:effectLst/>
                <a:latin typeface="D2Coding" panose="020B0609020101020101" pitchFamily="49" charset="-127"/>
                <a:ea typeface="D2Coding" panose="020B0609020101020101" pitchFamily="49" charset="-127"/>
              </a:rPr>
              <a:t>threshold = </a:t>
            </a:r>
            <a:r>
              <a:rPr lang="en-US" altLang="ko-KR" sz="1200" b="0" dirty="0" err="1">
                <a:effectLst/>
                <a:latin typeface="D2Coding" panose="020B0609020101020101" pitchFamily="49" charset="-127"/>
                <a:ea typeface="D2Coding" panose="020B0609020101020101" pitchFamily="49" charset="-127"/>
              </a:rPr>
              <a:t>np.max</a:t>
            </a:r>
            <a:r>
              <a:rPr lang="en-US" altLang="ko-KR" sz="1200" b="0" dirty="0">
                <a:effectLst/>
                <a:latin typeface="D2Coding" panose="020B0609020101020101" pitchFamily="49" charset="-127"/>
                <a:ea typeface="D2Coding" panose="020B0609020101020101" pitchFamily="49" charset="-127"/>
              </a:rPr>
              <a:t>(</a:t>
            </a:r>
            <a:r>
              <a:rPr lang="en-US" altLang="ko-KR" sz="1200" b="0" dirty="0" err="1">
                <a:effectLst/>
                <a:latin typeface="D2Coding" panose="020B0609020101020101" pitchFamily="49" charset="-127"/>
                <a:ea typeface="D2Coding" panose="020B0609020101020101" pitchFamily="49" charset="-127"/>
              </a:rPr>
              <a:t>train_mae_loss</a:t>
            </a:r>
            <a:r>
              <a:rPr lang="en-US" altLang="ko-KR" sz="1200" b="0" dirty="0">
                <a:effectLst/>
                <a:latin typeface="D2Coding" panose="020B0609020101020101" pitchFamily="49" charset="-127"/>
                <a:ea typeface="D2Coding" panose="020B0609020101020101" pitchFamily="49" charset="-127"/>
              </a:rPr>
              <a:t>)</a:t>
            </a:r>
          </a:p>
        </p:txBody>
      </p:sp>
      <p:sp>
        <p:nvSpPr>
          <p:cNvPr id="8" name="TextBox 7">
            <a:extLst>
              <a:ext uri="{FF2B5EF4-FFF2-40B4-BE49-F238E27FC236}">
                <a16:creationId xmlns:a16="http://schemas.microsoft.com/office/drawing/2014/main" id="{9DADC89C-DB58-1B49-0480-50765D5E3E62}"/>
              </a:ext>
            </a:extLst>
          </p:cNvPr>
          <p:cNvSpPr txBox="1"/>
          <p:nvPr/>
        </p:nvSpPr>
        <p:spPr>
          <a:xfrm>
            <a:off x="6353177" y="1356112"/>
            <a:ext cx="5353050" cy="1518236"/>
          </a:xfrm>
          <a:prstGeom prst="rect">
            <a:avLst/>
          </a:prstGeom>
          <a:solidFill>
            <a:srgbClr val="76E3FF"/>
          </a:solidFill>
        </p:spPr>
        <p:txBody>
          <a:bodyPr wrap="square">
            <a:spAutoFit/>
          </a:bodyPr>
          <a:lstStyle/>
          <a:p>
            <a:pPr>
              <a:lnSpc>
                <a:spcPts val="1575"/>
              </a:lnSpc>
            </a:pPr>
            <a:r>
              <a:rPr lang="en-US" altLang="ko-KR" sz="1200" dirty="0">
                <a:latin typeface="D2Coding" panose="020B0609020101020101" pitchFamily="49" charset="-127"/>
                <a:ea typeface="D2Coding" panose="020B0609020101020101" pitchFamily="49" charset="-127"/>
              </a:rPr>
              <a:t># Get test MAE loss.</a:t>
            </a:r>
          </a:p>
          <a:p>
            <a:pPr>
              <a:lnSpc>
                <a:spcPts val="1575"/>
              </a:lnSpc>
            </a:pPr>
            <a:r>
              <a:rPr lang="en-US" altLang="ko-KR" sz="1200" dirty="0" err="1">
                <a:latin typeface="D2Coding" panose="020B0609020101020101" pitchFamily="49" charset="-127"/>
                <a:ea typeface="D2Coding" panose="020B0609020101020101" pitchFamily="49" charset="-127"/>
              </a:rPr>
              <a:t>x_test_pred</a:t>
            </a:r>
            <a:r>
              <a:rPr lang="en-US" altLang="ko-KR" sz="1200" dirty="0">
                <a:latin typeface="D2Coding" panose="020B0609020101020101" pitchFamily="49" charset="-127"/>
                <a:ea typeface="D2Coding" panose="020B0609020101020101" pitchFamily="49" charset="-127"/>
              </a:rPr>
              <a:t> = </a:t>
            </a:r>
            <a:r>
              <a:rPr lang="en-US" altLang="ko-KR" sz="1200" dirty="0" err="1">
                <a:latin typeface="D2Coding" panose="020B0609020101020101" pitchFamily="49" charset="-127"/>
                <a:ea typeface="D2Coding" panose="020B0609020101020101" pitchFamily="49" charset="-127"/>
              </a:rPr>
              <a:t>model.predict</a:t>
            </a:r>
            <a:r>
              <a:rPr lang="en-US" altLang="ko-KR" sz="1200" dirty="0">
                <a:latin typeface="D2Coding" panose="020B0609020101020101" pitchFamily="49" charset="-127"/>
                <a:ea typeface="D2Coding" panose="020B0609020101020101" pitchFamily="49" charset="-127"/>
              </a:rPr>
              <a:t>(</a:t>
            </a:r>
            <a:r>
              <a:rPr lang="en-US" altLang="ko-KR" sz="1200" dirty="0" err="1">
                <a:latin typeface="D2Coding" panose="020B0609020101020101" pitchFamily="49" charset="-127"/>
                <a:ea typeface="D2Coding" panose="020B0609020101020101" pitchFamily="49" charset="-127"/>
              </a:rPr>
              <a:t>x_test</a:t>
            </a:r>
            <a:r>
              <a:rPr lang="en-US" altLang="ko-KR" sz="1200" dirty="0">
                <a:latin typeface="D2Coding" panose="020B0609020101020101" pitchFamily="49" charset="-127"/>
                <a:ea typeface="D2Coding" panose="020B0609020101020101" pitchFamily="49" charset="-127"/>
              </a:rPr>
              <a:t>)</a:t>
            </a:r>
          </a:p>
          <a:p>
            <a:pPr>
              <a:lnSpc>
                <a:spcPts val="1575"/>
              </a:lnSpc>
            </a:pPr>
            <a:r>
              <a:rPr lang="en-US" altLang="ko-KR" sz="1200" dirty="0" err="1">
                <a:latin typeface="D2Coding" panose="020B0609020101020101" pitchFamily="49" charset="-127"/>
                <a:ea typeface="D2Coding" panose="020B0609020101020101" pitchFamily="49" charset="-127"/>
              </a:rPr>
              <a:t>test_mae_loss</a:t>
            </a:r>
            <a:r>
              <a:rPr lang="en-US" altLang="ko-KR" sz="1200" dirty="0">
                <a:latin typeface="D2Coding" panose="020B0609020101020101" pitchFamily="49" charset="-127"/>
                <a:ea typeface="D2Coding" panose="020B0609020101020101" pitchFamily="49" charset="-127"/>
              </a:rPr>
              <a:t> = </a:t>
            </a:r>
            <a:r>
              <a:rPr lang="en-US" altLang="ko-KR" sz="1200" dirty="0" err="1">
                <a:latin typeface="D2Coding" panose="020B0609020101020101" pitchFamily="49" charset="-127"/>
                <a:ea typeface="D2Coding" panose="020B0609020101020101" pitchFamily="49" charset="-127"/>
              </a:rPr>
              <a:t>np.mean</a:t>
            </a:r>
            <a:r>
              <a:rPr lang="en-US" altLang="ko-KR" sz="1200" dirty="0">
                <a:latin typeface="D2Coding" panose="020B0609020101020101" pitchFamily="49" charset="-127"/>
                <a:ea typeface="D2Coding" panose="020B0609020101020101" pitchFamily="49" charset="-127"/>
              </a:rPr>
              <a:t>(</a:t>
            </a:r>
            <a:r>
              <a:rPr lang="en-US" altLang="ko-KR" sz="1200" dirty="0" err="1">
                <a:latin typeface="D2Coding" panose="020B0609020101020101" pitchFamily="49" charset="-127"/>
                <a:ea typeface="D2Coding" panose="020B0609020101020101" pitchFamily="49" charset="-127"/>
              </a:rPr>
              <a:t>np.abs</a:t>
            </a:r>
            <a:r>
              <a:rPr lang="en-US" altLang="ko-KR" sz="1200" dirty="0">
                <a:latin typeface="D2Coding" panose="020B0609020101020101" pitchFamily="49" charset="-127"/>
                <a:ea typeface="D2Coding" panose="020B0609020101020101" pitchFamily="49" charset="-127"/>
              </a:rPr>
              <a:t>(</a:t>
            </a:r>
            <a:r>
              <a:rPr lang="en-US" altLang="ko-KR" sz="1200" dirty="0" err="1">
                <a:latin typeface="D2Coding" panose="020B0609020101020101" pitchFamily="49" charset="-127"/>
                <a:ea typeface="D2Coding" panose="020B0609020101020101" pitchFamily="49" charset="-127"/>
              </a:rPr>
              <a:t>x_test_pred</a:t>
            </a:r>
            <a:r>
              <a:rPr lang="en-US" altLang="ko-KR" sz="1200" dirty="0">
                <a:latin typeface="D2Coding" panose="020B0609020101020101" pitchFamily="49" charset="-127"/>
                <a:ea typeface="D2Coding" panose="020B0609020101020101" pitchFamily="49" charset="-127"/>
              </a:rPr>
              <a:t> - </a:t>
            </a:r>
            <a:r>
              <a:rPr lang="en-US" altLang="ko-KR" sz="1200" dirty="0" err="1">
                <a:latin typeface="D2Coding" panose="020B0609020101020101" pitchFamily="49" charset="-127"/>
                <a:ea typeface="D2Coding" panose="020B0609020101020101" pitchFamily="49" charset="-127"/>
              </a:rPr>
              <a:t>x_test</a:t>
            </a:r>
            <a:r>
              <a:rPr lang="en-US" altLang="ko-KR" sz="1200" dirty="0">
                <a:latin typeface="D2Coding" panose="020B0609020101020101" pitchFamily="49" charset="-127"/>
                <a:ea typeface="D2Coding" panose="020B0609020101020101" pitchFamily="49" charset="-127"/>
              </a:rPr>
              <a:t>), axis=1)</a:t>
            </a:r>
          </a:p>
          <a:p>
            <a:pPr>
              <a:lnSpc>
                <a:spcPts val="1575"/>
              </a:lnSpc>
            </a:pPr>
            <a:r>
              <a:rPr lang="en-US" altLang="ko-KR" sz="1200" dirty="0" err="1">
                <a:latin typeface="D2Coding" panose="020B0609020101020101" pitchFamily="49" charset="-127"/>
                <a:ea typeface="D2Coding" panose="020B0609020101020101" pitchFamily="49" charset="-127"/>
              </a:rPr>
              <a:t>test_mae_loss</a:t>
            </a:r>
            <a:r>
              <a:rPr lang="en-US" altLang="ko-KR" sz="1200" dirty="0">
                <a:latin typeface="D2Coding" panose="020B0609020101020101" pitchFamily="49" charset="-127"/>
                <a:ea typeface="D2Coding" panose="020B0609020101020101" pitchFamily="49" charset="-127"/>
              </a:rPr>
              <a:t> = </a:t>
            </a:r>
            <a:r>
              <a:rPr lang="en-US" altLang="ko-KR" sz="1200" dirty="0" err="1">
                <a:latin typeface="D2Coding" panose="020B0609020101020101" pitchFamily="49" charset="-127"/>
                <a:ea typeface="D2Coding" panose="020B0609020101020101" pitchFamily="49" charset="-127"/>
              </a:rPr>
              <a:t>test_mae_loss.reshape</a:t>
            </a:r>
            <a:r>
              <a:rPr lang="en-US" altLang="ko-KR" sz="1200" dirty="0">
                <a:latin typeface="D2Coding" panose="020B0609020101020101" pitchFamily="49" charset="-127"/>
                <a:ea typeface="D2Coding" panose="020B0609020101020101" pitchFamily="49" charset="-127"/>
              </a:rPr>
              <a:t>((-1))</a:t>
            </a:r>
          </a:p>
          <a:p>
            <a:pPr>
              <a:lnSpc>
                <a:spcPts val="1575"/>
              </a:lnSpc>
            </a:pPr>
            <a:endParaRPr lang="en-US" altLang="ko-KR" sz="1200" dirty="0">
              <a:latin typeface="D2Coding" panose="020B0609020101020101" pitchFamily="49" charset="-127"/>
              <a:ea typeface="D2Coding" panose="020B0609020101020101" pitchFamily="49" charset="-127"/>
            </a:endParaRPr>
          </a:p>
          <a:p>
            <a:pPr>
              <a:lnSpc>
                <a:spcPts val="1575"/>
              </a:lnSpc>
            </a:pPr>
            <a:r>
              <a:rPr lang="en-US" altLang="ko-KR" sz="1200" dirty="0">
                <a:latin typeface="D2Coding" panose="020B0609020101020101" pitchFamily="49" charset="-127"/>
                <a:ea typeface="D2Coding" panose="020B0609020101020101" pitchFamily="49" charset="-127"/>
              </a:rPr>
              <a:t># Detect all the samples which are anomalies.</a:t>
            </a:r>
          </a:p>
          <a:p>
            <a:pPr>
              <a:lnSpc>
                <a:spcPts val="1575"/>
              </a:lnSpc>
            </a:pPr>
            <a:r>
              <a:rPr lang="en-US" altLang="ko-KR" sz="1200" dirty="0">
                <a:latin typeface="D2Coding" panose="020B0609020101020101" pitchFamily="49" charset="-127"/>
                <a:ea typeface="D2Coding" panose="020B0609020101020101" pitchFamily="49" charset="-127"/>
              </a:rPr>
              <a:t>anomalies = </a:t>
            </a:r>
            <a:r>
              <a:rPr lang="en-US" altLang="ko-KR" sz="1200" dirty="0" err="1">
                <a:latin typeface="D2Coding" panose="020B0609020101020101" pitchFamily="49" charset="-127"/>
                <a:ea typeface="D2Coding" panose="020B0609020101020101" pitchFamily="49" charset="-127"/>
              </a:rPr>
              <a:t>test_mae_loss</a:t>
            </a:r>
            <a:r>
              <a:rPr lang="en-US" altLang="ko-KR" sz="1200" dirty="0">
                <a:latin typeface="D2Coding" panose="020B0609020101020101" pitchFamily="49" charset="-127"/>
                <a:ea typeface="D2Coding" panose="020B0609020101020101" pitchFamily="49" charset="-127"/>
              </a:rPr>
              <a:t> &gt; threshold</a:t>
            </a:r>
          </a:p>
        </p:txBody>
      </p:sp>
      <p:sp>
        <p:nvSpPr>
          <p:cNvPr id="11" name="설명선: 굽은 선(강조선) 10">
            <a:extLst>
              <a:ext uri="{FF2B5EF4-FFF2-40B4-BE49-F238E27FC236}">
                <a16:creationId xmlns:a16="http://schemas.microsoft.com/office/drawing/2014/main" id="{CCB59811-CA04-C8B0-D176-D386A25CBC80}"/>
              </a:ext>
            </a:extLst>
          </p:cNvPr>
          <p:cNvSpPr/>
          <p:nvPr/>
        </p:nvSpPr>
        <p:spPr>
          <a:xfrm>
            <a:off x="5142658" y="4600575"/>
            <a:ext cx="1019736" cy="241964"/>
          </a:xfrm>
          <a:prstGeom prst="accentCallout2">
            <a:avLst>
              <a:gd name="adj1" fmla="val 18750"/>
              <a:gd name="adj2" fmla="val -8333"/>
              <a:gd name="adj3" fmla="val 62052"/>
              <a:gd name="adj4" fmla="val -19469"/>
              <a:gd name="adj5" fmla="val 496490"/>
              <a:gd name="adj6" fmla="val -38378"/>
            </a:avLst>
          </a:prstGeom>
          <a:solidFill>
            <a:schemeClr val="tx1"/>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D2Coding" panose="020B0609020101020101" pitchFamily="49" charset="-127"/>
                <a:ea typeface="D2Coding" panose="020B0609020101020101" pitchFamily="49" charset="-127"/>
              </a:rPr>
              <a:t>threshold</a:t>
            </a:r>
            <a:endParaRPr lang="ko-KR" altLang="en-US" sz="1200" dirty="0">
              <a:solidFill>
                <a:schemeClr val="bg1"/>
              </a:solidFill>
              <a:latin typeface="D2Coding" panose="020B0609020101020101" pitchFamily="49" charset="-127"/>
              <a:ea typeface="D2Coding" panose="020B0609020101020101" pitchFamily="49" charset="-127"/>
            </a:endParaRPr>
          </a:p>
        </p:txBody>
      </p:sp>
      <p:sp>
        <p:nvSpPr>
          <p:cNvPr id="12" name="설명선: 굽은 선(강조선) 11">
            <a:extLst>
              <a:ext uri="{FF2B5EF4-FFF2-40B4-BE49-F238E27FC236}">
                <a16:creationId xmlns:a16="http://schemas.microsoft.com/office/drawing/2014/main" id="{171B9984-CC97-C2C6-25A5-CAFAF51820B0}"/>
              </a:ext>
            </a:extLst>
          </p:cNvPr>
          <p:cNvSpPr/>
          <p:nvPr/>
        </p:nvSpPr>
        <p:spPr>
          <a:xfrm>
            <a:off x="9029702" y="4600575"/>
            <a:ext cx="1019736" cy="241964"/>
          </a:xfrm>
          <a:prstGeom prst="accentCallout2">
            <a:avLst>
              <a:gd name="adj1" fmla="val 18750"/>
              <a:gd name="adj2" fmla="val -8333"/>
              <a:gd name="adj3" fmla="val 62052"/>
              <a:gd name="adj4" fmla="val -19469"/>
              <a:gd name="adj5" fmla="val 496490"/>
              <a:gd name="adj6" fmla="val -38378"/>
            </a:avLst>
          </a:prstGeom>
          <a:solidFill>
            <a:schemeClr val="tx1"/>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D2Coding" panose="020B0609020101020101" pitchFamily="49" charset="-127"/>
                <a:ea typeface="D2Coding" panose="020B0609020101020101" pitchFamily="49" charset="-127"/>
              </a:rPr>
              <a:t>threshold</a:t>
            </a:r>
            <a:endParaRPr lang="ko-KR" altLang="en-US" sz="1200" dirty="0">
              <a:solidFill>
                <a:schemeClr val="bg1"/>
              </a:solidFill>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1073176876"/>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23_TF10001108_Win32.potx" id="{89E2DA47-811B-41FC-8101-7BA0FB62AE2C}" vid="{0AAAB8A4-2457-4279-BA92-56392840B1F0}"/>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{9FD8D820-F221-4C2D-97F8-71B66FDCF583}TF2989475c-5427-4edb-9ec1-00f4ce72165be756b0ce_win32-2ff1dad8fff0</Template>
  <TotalTime>8959</TotalTime>
  <Words>7198</Words>
  <Application>Microsoft Office PowerPoint</Application>
  <PresentationFormat>와이드스크린</PresentationFormat>
  <Paragraphs>835</Paragraphs>
  <Slides>72</Slides>
  <Notes>5</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72</vt:i4>
      </vt:variant>
    </vt:vector>
  </HeadingPairs>
  <TitlesOfParts>
    <vt:vector size="84" baseType="lpstr">
      <vt:lpstr>D2Coding</vt:lpstr>
      <vt:lpstr>맑은 고딕</vt:lpstr>
      <vt:lpstr>바탕</vt:lpstr>
      <vt:lpstr>Arial</vt:lpstr>
      <vt:lpstr>Calibri Light</vt:lpstr>
      <vt:lpstr>Cambria Math</vt:lpstr>
      <vt:lpstr>Cascadia Code</vt:lpstr>
      <vt:lpstr>Lora</vt:lpstr>
      <vt:lpstr>Source Sans Pro</vt:lpstr>
      <vt:lpstr>Times New Roman</vt:lpstr>
      <vt:lpstr>Wingdings</vt:lpstr>
      <vt:lpstr>WelcomeDoc</vt:lpstr>
      <vt:lpstr>Timeseries forecasting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Timeseries Forecasting</vt:lpstr>
      <vt:lpstr>PowerPoint 프레젠테이션</vt:lpstr>
      <vt:lpstr>CNN for Timeseries Data</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Anomaly Detection with AE, VAE</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조상구</dc:creator>
  <cp:keywords/>
  <cp:lastModifiedBy>Sanggoo Cho</cp:lastModifiedBy>
  <cp:revision>142</cp:revision>
  <dcterms:created xsi:type="dcterms:W3CDTF">2026-04-06T01:00:39Z</dcterms:created>
  <dcterms:modified xsi:type="dcterms:W3CDTF">2026-10-05T22:29:47Z</dcterms:modified>
  <cp:version/>
</cp:coreProperties>
</file>