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6"/>
  </p:notesMasterIdLst>
  <p:handoutMasterIdLst>
    <p:handoutMasterId r:id="rId77"/>
  </p:handoutMasterIdLst>
  <p:sldIdLst>
    <p:sldId id="256" r:id="rId2"/>
    <p:sldId id="1155" r:id="rId3"/>
    <p:sldId id="1393" r:id="rId4"/>
    <p:sldId id="1401" r:id="rId5"/>
    <p:sldId id="1394" r:id="rId6"/>
    <p:sldId id="1122" r:id="rId7"/>
    <p:sldId id="1134" r:id="rId8"/>
    <p:sldId id="1399" r:id="rId9"/>
    <p:sldId id="1140" r:id="rId10"/>
    <p:sldId id="1141" r:id="rId11"/>
    <p:sldId id="1144" r:id="rId12"/>
    <p:sldId id="1142" r:id="rId13"/>
    <p:sldId id="1143" r:id="rId14"/>
    <p:sldId id="1169" r:id="rId15"/>
    <p:sldId id="1395" r:id="rId16"/>
    <p:sldId id="1157" r:id="rId17"/>
    <p:sldId id="1146" r:id="rId18"/>
    <p:sldId id="1148" r:id="rId19"/>
    <p:sldId id="1222" r:id="rId20"/>
    <p:sldId id="1224" r:id="rId21"/>
    <p:sldId id="1396" r:id="rId22"/>
    <p:sldId id="1145" r:id="rId23"/>
    <p:sldId id="1397" r:id="rId24"/>
    <p:sldId id="1225" r:id="rId25"/>
    <p:sldId id="1226" r:id="rId26"/>
    <p:sldId id="1158" r:id="rId27"/>
    <p:sldId id="1150" r:id="rId28"/>
    <p:sldId id="1152" r:id="rId29"/>
    <p:sldId id="1149" r:id="rId30"/>
    <p:sldId id="1159" r:id="rId31"/>
    <p:sldId id="1161" r:id="rId32"/>
    <p:sldId id="1173" r:id="rId33"/>
    <p:sldId id="1174" r:id="rId34"/>
    <p:sldId id="1139" r:id="rId35"/>
    <p:sldId id="1400" r:id="rId36"/>
    <p:sldId id="1172" r:id="rId37"/>
    <p:sldId id="1133" r:id="rId38"/>
    <p:sldId id="1163" r:id="rId39"/>
    <p:sldId id="1164" r:id="rId40"/>
    <p:sldId id="1165" r:id="rId41"/>
    <p:sldId id="1166" r:id="rId42"/>
    <p:sldId id="1121" r:id="rId43"/>
    <p:sldId id="1168" r:id="rId44"/>
    <p:sldId id="1135" r:id="rId45"/>
    <p:sldId id="1167" r:id="rId46"/>
    <p:sldId id="1160" r:id="rId47"/>
    <p:sldId id="1132" r:id="rId48"/>
    <p:sldId id="1170" r:id="rId49"/>
    <p:sldId id="1171" r:id="rId50"/>
    <p:sldId id="1125" r:id="rId51"/>
    <p:sldId id="1398" r:id="rId52"/>
    <p:sldId id="1127" r:id="rId53"/>
    <p:sldId id="1128" r:id="rId54"/>
    <p:sldId id="1123" r:id="rId55"/>
    <p:sldId id="1130" r:id="rId56"/>
    <p:sldId id="1131" r:id="rId57"/>
    <p:sldId id="1137" r:id="rId58"/>
    <p:sldId id="1138" r:id="rId59"/>
    <p:sldId id="1129" r:id="rId60"/>
    <p:sldId id="1392" r:id="rId61"/>
    <p:sldId id="1162" r:id="rId62"/>
    <p:sldId id="1217" r:id="rId63"/>
    <p:sldId id="1220" r:id="rId64"/>
    <p:sldId id="1221" r:id="rId65"/>
    <p:sldId id="1218" r:id="rId66"/>
    <p:sldId id="1219" r:id="rId67"/>
    <p:sldId id="1153" r:id="rId68"/>
    <p:sldId id="1151" r:id="rId69"/>
    <p:sldId id="1154" r:id="rId70"/>
    <p:sldId id="1391" r:id="rId71"/>
    <p:sldId id="1381" r:id="rId72"/>
    <p:sldId id="1378" r:id="rId73"/>
    <p:sldId id="1380" r:id="rId74"/>
    <p:sldId id="1379" r:id="rId75"/>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393"/>
            <p14:sldId id="1401"/>
            <p14:sldId id="1394"/>
            <p14:sldId id="1122"/>
            <p14:sldId id="1134"/>
            <p14:sldId id="1399"/>
            <p14:sldId id="1140"/>
            <p14:sldId id="1141"/>
            <p14:sldId id="1144"/>
            <p14:sldId id="1142"/>
            <p14:sldId id="1143"/>
            <p14:sldId id="1169"/>
            <p14:sldId id="1395"/>
            <p14:sldId id="1157"/>
            <p14:sldId id="1146"/>
            <p14:sldId id="1148"/>
            <p14:sldId id="1222"/>
            <p14:sldId id="1224"/>
            <p14:sldId id="1396"/>
            <p14:sldId id="1145"/>
            <p14:sldId id="1397"/>
            <p14:sldId id="1225"/>
            <p14:sldId id="1226"/>
            <p14:sldId id="1158"/>
            <p14:sldId id="1150"/>
            <p14:sldId id="1152"/>
            <p14:sldId id="1149"/>
            <p14:sldId id="1159"/>
            <p14:sldId id="1161"/>
            <p14:sldId id="1173"/>
            <p14:sldId id="1174"/>
            <p14:sldId id="1139"/>
            <p14:sldId id="1400"/>
            <p14:sldId id="1172"/>
            <p14:sldId id="1133"/>
            <p14:sldId id="1163"/>
            <p14:sldId id="1164"/>
            <p14:sldId id="1165"/>
            <p14:sldId id="1166"/>
            <p14:sldId id="1121"/>
            <p14:sldId id="1168"/>
            <p14:sldId id="1135"/>
            <p14:sldId id="1167"/>
            <p14:sldId id="1160"/>
            <p14:sldId id="1132"/>
            <p14:sldId id="1170"/>
            <p14:sldId id="1171"/>
            <p14:sldId id="1125"/>
            <p14:sldId id="1398"/>
            <p14:sldId id="1127"/>
            <p14:sldId id="1128"/>
            <p14:sldId id="1123"/>
            <p14:sldId id="1130"/>
            <p14:sldId id="1131"/>
            <p14:sldId id="1137"/>
            <p14:sldId id="1138"/>
            <p14:sldId id="1129"/>
            <p14:sldId id="1392"/>
            <p14:sldId id="1162"/>
            <p14:sldId id="1217"/>
            <p14:sldId id="1220"/>
            <p14:sldId id="1221"/>
            <p14:sldId id="1218"/>
            <p14:sldId id="1219"/>
            <p14:sldId id="1153"/>
            <p14:sldId id="1151"/>
            <p14:sldId id="1154"/>
            <p14:sldId id="1391"/>
            <p14:sldId id="1381"/>
            <p14:sldId id="1378"/>
            <p14:sldId id="1380"/>
            <p14:sldId id="1379"/>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94297" autoAdjust="0"/>
  </p:normalViewPr>
  <p:slideViewPr>
    <p:cSldViewPr snapToGrid="0">
      <p:cViewPr varScale="1">
        <p:scale>
          <a:sx n="80" d="100"/>
          <a:sy n="80" d="100"/>
        </p:scale>
        <p:origin x="936" y="67"/>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 d="1"/>
        <a:sy n="1" d="1"/>
      </p:scale>
      <p:origin x="0" y="0"/>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commentAuthors" Target="commentAuthors.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solidFill>
            <a:schemeClr val="tx1"/>
          </a:solid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2026-10-08</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2026-10-08</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52</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2BBD4-8346-351F-C4D2-EE6AA137279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E9694868-8B43-F806-68D5-F7C5BF80756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244D141-C974-E84E-5C96-A95649CB7904}"/>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E4E0B063-E23A-F0A4-F4E2-8D2593F82582}"/>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60</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021765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5D9D-5C4A-1F17-B6E0-0FA4D1775E7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06F5AA7-1BD6-98C0-1FAE-9119958C1A1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D9726199-FCDA-4324-4F51-195EBB3A1F5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25430F05-1507-6BEB-19BD-10CA72577E68}"/>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62</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07841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78CF00-EFBF-713B-0EA1-C963FEC4BB56}"/>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FF9DC9-F46F-03F8-6C50-C0BAFAF69D8E}"/>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58409A49-A4F9-7552-D1E9-92EBF0851629}"/>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B4CECF0F-5EE4-483A-BD59-D40E5ED0C12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70</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715349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2026-10-08</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10/8/2026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2026-10-08</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github.com/ancestor9/2026_Fall_Deep-Learning-with-Python/blob/main/scripts/Perceptron_1957_to_AlexNet_2012.ipynb" TargetMode="External"/><Relationship Id="rId1" Type="http://schemas.openxmlformats.org/officeDocument/2006/relationships/slideLayout" Target="../slideLayouts/slideLayout4.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hyperlink" Target="https://link.springer.com/article/10.1007/s10462-025-11162-5" TargetMode="External"/><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10.png"/><Relationship Id="rId1" Type="http://schemas.openxmlformats.org/officeDocument/2006/relationships/slideLayout" Target="../slideLayouts/slideLayout4.xml"/><Relationship Id="rId6" Type="http://schemas.openxmlformats.org/officeDocument/2006/relationships/hyperlink" Target="https://github.com/ancestor9/2026_Fall_Deep-Learning-with-Python/blob/main/appendix/01_sliding%20windows%20with%20time%20series.xlsx" TargetMode="External"/><Relationship Id="rId5" Type="http://schemas.openxmlformats.org/officeDocument/2006/relationships/image" Target="../media/image12.sv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2.svg"/><Relationship Id="rId2"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6.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 Id="rId5" Type="http://schemas.openxmlformats.org/officeDocument/2006/relationships/image" Target="../media/image12.sv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9.png"/><Relationship Id="rId1" Type="http://schemas.openxmlformats.org/officeDocument/2006/relationships/slideLayout" Target="../slideLayouts/slideLayout4.xml"/><Relationship Id="rId4" Type="http://schemas.openxmlformats.org/officeDocument/2006/relationships/image" Target="../media/image12.svg"/></Relationships>
</file>

<file path=ppt/slides/_rels/slide1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1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1.png"/><Relationship Id="rId1" Type="http://schemas.openxmlformats.org/officeDocument/2006/relationships/slideLayout" Target="../slideLayouts/slideLayout4.xml"/><Relationship Id="rId4" Type="http://schemas.openxmlformats.org/officeDocument/2006/relationships/image" Target="../media/image12.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www.google.com/search?gs_ssp=eJzj4tDP1TdITze3MGD04nzb0_N2-prXm1YAAE8ECUk&amp;q=%ED%8C%8C%ED%97%AC%EB%B2%A8&amp;oq=%ED%8C%8C%ED%97%BF%EB%B2%A0&amp;gs_lcrp=EgZjaHJvbWUqCQgBEC4YDRiABDIGCAAQRRg5MgkIARAuGA0YgAQyCQgCEAAYDRiABDIJCAMQABgNGIAEMgkIBBAAGA0YgAQyCQgFEAAYDRiABDIJCAYQABgNGIAEMgkIBxAuGA0YgAQyCQgIEAAYDRiABNIBCTUwNzdqMGoxNagCCLACAfEFBdMZEgDUg5XxBQXTGRIA1IOV&amp;sourceid=chrome&amp;source=chrome.rb&amp;ie=UTF-8#fpstate=ive&amp;vld=cid:19bf4c92,vid:hW3ck9U-xKU,st:0" TargetMode="External"/><Relationship Id="rId1" Type="http://schemas.openxmlformats.org/officeDocument/2006/relationships/slideLayout" Target="../slideLayouts/slideLayout4.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e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4.xml"/><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1.png"/><Relationship Id="rId7" Type="http://schemas.openxmlformats.org/officeDocument/2006/relationships/image" Target="../media/image39.png"/><Relationship Id="rId2" Type="http://schemas.openxmlformats.org/officeDocument/2006/relationships/image" Target="../media/image341.png"/><Relationship Id="rId1" Type="http://schemas.openxmlformats.org/officeDocument/2006/relationships/slideLayout" Target="../slideLayouts/slideLayout4.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s>
</file>

<file path=ppt/slides/_rels/slide32.xml.rels><?xml version="1.0" encoding="UTF-8" standalone="yes"?>
<Relationships xmlns="http://schemas.openxmlformats.org/package/2006/relationships"><Relationship Id="rId8" Type="http://schemas.openxmlformats.org/officeDocument/2006/relationships/image" Target="../media/image390.png"/><Relationship Id="rId13" Type="http://schemas.openxmlformats.org/officeDocument/2006/relationships/image" Target="../media/image44.png"/><Relationship Id="rId18" Type="http://schemas.openxmlformats.org/officeDocument/2006/relationships/image" Target="../media/image49.png"/><Relationship Id="rId26" Type="http://schemas.openxmlformats.org/officeDocument/2006/relationships/image" Target="../media/image57.png"/><Relationship Id="rId21" Type="http://schemas.openxmlformats.org/officeDocument/2006/relationships/image" Target="../media/image52.png"/><Relationship Id="rId7" Type="http://schemas.openxmlformats.org/officeDocument/2006/relationships/image" Target="../media/image381.png"/><Relationship Id="rId12" Type="http://schemas.openxmlformats.org/officeDocument/2006/relationships/image" Target="../media/image430.png"/><Relationship Id="rId17" Type="http://schemas.openxmlformats.org/officeDocument/2006/relationships/image" Target="../media/image48.png"/><Relationship Id="rId25" Type="http://schemas.openxmlformats.org/officeDocument/2006/relationships/image" Target="../media/image56.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11" Type="http://schemas.openxmlformats.org/officeDocument/2006/relationships/image" Target="../media/image420.png"/><Relationship Id="rId24" Type="http://schemas.openxmlformats.org/officeDocument/2006/relationships/image" Target="../media/image55.png"/><Relationship Id="rId15" Type="http://schemas.openxmlformats.org/officeDocument/2006/relationships/image" Target="../media/image46.png"/><Relationship Id="rId23" Type="http://schemas.openxmlformats.org/officeDocument/2006/relationships/image" Target="../media/image54.png"/><Relationship Id="rId10" Type="http://schemas.openxmlformats.org/officeDocument/2006/relationships/image" Target="../media/image410.png"/><Relationship Id="rId19" Type="http://schemas.openxmlformats.org/officeDocument/2006/relationships/image" Target="../media/image50.png"/><Relationship Id="rId9" Type="http://schemas.openxmlformats.org/officeDocument/2006/relationships/image" Target="../media/image400.png"/><Relationship Id="rId14" Type="http://schemas.openxmlformats.org/officeDocument/2006/relationships/image" Target="../media/image45.png"/><Relationship Id="rId22" Type="http://schemas.openxmlformats.org/officeDocument/2006/relationships/image" Target="../media/image53.png"/></Relationships>
</file>

<file path=ppt/slides/_rels/slide33.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0.png"/><Relationship Id="rId3" Type="http://schemas.openxmlformats.org/officeDocument/2006/relationships/image" Target="../media/image390.png"/><Relationship Id="rId7" Type="http://schemas.openxmlformats.org/officeDocument/2006/relationships/image" Target="../media/image430.png"/><Relationship Id="rId12" Type="http://schemas.openxmlformats.org/officeDocument/2006/relationships/image" Target="../media/image48.png"/><Relationship Id="rId17" Type="http://schemas.openxmlformats.org/officeDocument/2006/relationships/image" Target="../media/image530.png"/><Relationship Id="rId2" Type="http://schemas.openxmlformats.org/officeDocument/2006/relationships/image" Target="../media/image381.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0.png"/><Relationship Id="rId11" Type="http://schemas.openxmlformats.org/officeDocument/2006/relationships/image" Target="../media/image47.png"/><Relationship Id="rId5" Type="http://schemas.openxmlformats.org/officeDocument/2006/relationships/image" Target="../media/image410.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0.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8" Type="http://schemas.openxmlformats.org/officeDocument/2006/relationships/image" Target="../media/image66.png"/><Relationship Id="rId3" Type="http://schemas.microsoft.com/office/2007/relationships/hdphoto" Target="../media/hdphoto1.wdp"/><Relationship Id="rId7" Type="http://schemas.openxmlformats.org/officeDocument/2006/relationships/image" Target="../media/image65.png"/><Relationship Id="rId2" Type="http://schemas.openxmlformats.org/officeDocument/2006/relationships/image" Target="../media/image61.png"/><Relationship Id="rId1" Type="http://schemas.openxmlformats.org/officeDocument/2006/relationships/slideLayout" Target="../slideLayouts/slideLayout4.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4.xml"/><Relationship Id="rId4" Type="http://schemas.openxmlformats.org/officeDocument/2006/relationships/image" Target="../media/image6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hyperlink" Target="https://www.youtube.com/watch?v=GvezxUdLrEk&amp;t=2572s" TargetMode="External"/><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79.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81.png"/><Relationship Id="rId5" Type="http://schemas.openxmlformats.org/officeDocument/2006/relationships/image" Target="../media/image80.png"/><Relationship Id="rId4" Type="http://schemas.microsoft.com/office/2007/relationships/hdphoto" Target="../media/hdphoto2.wdp"/></Relationships>
</file>

<file path=ppt/slides/_rels/slide5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image" Target="../media/image81.png"/><Relationship Id="rId7" Type="http://schemas.openxmlformats.org/officeDocument/2006/relationships/image" Target="../media/image86.png"/><Relationship Id="rId12" Type="http://schemas.openxmlformats.org/officeDocument/2006/relationships/image" Target="../media/image91.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85.png"/><Relationship Id="rId11" Type="http://schemas.openxmlformats.org/officeDocument/2006/relationships/image" Target="../media/image90.png"/><Relationship Id="rId5" Type="http://schemas.openxmlformats.org/officeDocument/2006/relationships/image" Target="../media/image84.png"/><Relationship Id="rId10" Type="http://schemas.openxmlformats.org/officeDocument/2006/relationships/image" Target="../media/image89.png"/><Relationship Id="rId4" Type="http://schemas.microsoft.com/office/2007/relationships/hdphoto" Target="../media/hdphoto3.wdp"/><Relationship Id="rId9" Type="http://schemas.openxmlformats.org/officeDocument/2006/relationships/image" Target="../media/image88.png"/></Relationships>
</file>

<file path=ppt/slides/_rels/slide53.xml.rels><?xml version="1.0" encoding="UTF-8" standalone="yes"?>
<Relationships xmlns="http://schemas.openxmlformats.org/package/2006/relationships"><Relationship Id="rId8" Type="http://schemas.openxmlformats.org/officeDocument/2006/relationships/image" Target="../media/image93.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92.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81.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5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5.png"/><Relationship Id="rId4" Type="http://schemas.microsoft.com/office/2007/relationships/hdphoto" Target="../media/hdphoto3.wdp"/></Relationships>
</file>

<file path=ppt/slides/_rels/slide5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6.jpeg"/><Relationship Id="rId1" Type="http://schemas.openxmlformats.org/officeDocument/2006/relationships/slideLayout" Target="../slideLayouts/slideLayout4.xml"/><Relationship Id="rId4" Type="http://schemas.openxmlformats.org/officeDocument/2006/relationships/image" Target="../media/image12.svg"/></Relationships>
</file>

<file path=ppt/slides/_rels/slide5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9.png"/><Relationship Id="rId1" Type="http://schemas.openxmlformats.org/officeDocument/2006/relationships/slideLayout" Target="../slideLayouts/slideLayout4.xml"/><Relationship Id="rId5" Type="http://schemas.openxmlformats.org/officeDocument/2006/relationships/image" Target="../media/image12.svg"/><Relationship Id="rId4" Type="http://schemas.openxmlformats.org/officeDocument/2006/relationships/image" Target="../media/image11.png"/></Relationships>
</file>

<file path=ppt/slides/_rels/slide5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12.sv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100.png"/><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image" Target="../media/image221.pn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hyperlink" Target="https://keras.io/examples/timeseries/timeseries_anomaly_detection/" TargetMode="External"/><Relationship Id="rId1" Type="http://schemas.openxmlformats.org/officeDocument/2006/relationships/slideLayout" Target="../slideLayouts/slideLayout4.xml"/><Relationship Id="rId6" Type="http://schemas.openxmlformats.org/officeDocument/2006/relationships/hyperlink" Target="https://github.com/ancestor9/AI-with-python" TargetMode="External"/><Relationship Id="rId5" Type="http://schemas.openxmlformats.org/officeDocument/2006/relationships/image" Target="../media/image103.svg"/><Relationship Id="rId4" Type="http://schemas.openxmlformats.org/officeDocument/2006/relationships/image" Target="../media/image102.png"/></Relationships>
</file>

<file path=ppt/slides/_rels/slide72.xml.rels><?xml version="1.0" encoding="UTF-8" standalone="yes"?>
<Relationships xmlns="http://schemas.openxmlformats.org/package/2006/relationships"><Relationship Id="rId3" Type="http://schemas.openxmlformats.org/officeDocument/2006/relationships/image" Target="../media/image103.svg"/><Relationship Id="rId2" Type="http://schemas.openxmlformats.org/officeDocument/2006/relationships/image" Target="../media/image102.png"/><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3.svg"/><Relationship Id="rId2" Type="http://schemas.openxmlformats.org/officeDocument/2006/relationships/image" Target="../media/image102.png"/><Relationship Id="rId1" Type="http://schemas.openxmlformats.org/officeDocument/2006/relationships/slideLayout" Target="../slideLayouts/slideLayout4.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s>
</file>

<file path=ppt/slides/_rels/slide74.xml.rels><?xml version="1.0" encoding="UTF-8" standalone="yes"?>
<Relationships xmlns="http://schemas.openxmlformats.org/package/2006/relationships"><Relationship Id="rId3" Type="http://schemas.openxmlformats.org/officeDocument/2006/relationships/image" Target="../media/image103.svg"/><Relationship Id="rId2" Type="http://schemas.openxmlformats.org/officeDocument/2006/relationships/image" Target="../media/image102.png"/><Relationship Id="rId1" Type="http://schemas.openxmlformats.org/officeDocument/2006/relationships/slideLayout" Target="../slideLayouts/slideLayout4.xml"/><Relationship Id="rId5" Type="http://schemas.openxmlformats.org/officeDocument/2006/relationships/image" Target="../media/image108.png"/><Relationship Id="rId4" Type="http://schemas.openxmlformats.org/officeDocument/2006/relationships/image" Target="../media/image10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RNN(Recurrent Neural Network) </a:t>
            </a:r>
          </a:p>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LSTM(Long Short-Term Memory )</a:t>
            </a:r>
          </a:p>
          <a:p>
            <a:pPr>
              <a:lnSpc>
                <a:spcPct val="100000"/>
              </a:lnSpc>
              <a:spcBef>
                <a:spcPts val="600"/>
              </a:spcBef>
              <a:spcAft>
                <a:spcPts val="0"/>
              </a:spcAft>
            </a:pPr>
            <a:r>
              <a:rPr lang="en-US" altLang="ko-KR" sz="2400" dirty="0">
                <a:solidFill>
                  <a:schemeClr val="bg1"/>
                </a:solidFill>
                <a:latin typeface="D2Coding" panose="020B0609020101020101" pitchFamily="49" charset="-127"/>
                <a:ea typeface="D2Coding" panose="020B0609020101020101" pitchFamily="49" charset="-127"/>
              </a:rPr>
              <a:t>GRU(Gated Recurrent Unit)</a:t>
            </a:r>
            <a:endParaRPr lang="ko-KR" altLang="en-US" sz="2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7371A-E5C4-30BB-9CC8-F7FE04E3D1D7}"/>
            </a:ext>
          </a:extLst>
        </p:cNvPr>
        <p:cNvGrpSpPr/>
        <p:nvPr/>
      </p:nvGrpSpPr>
      <p:grpSpPr>
        <a:xfrm>
          <a:off x="0" y="0"/>
          <a:ext cx="0" cy="0"/>
          <a:chOff x="0" y="0"/>
          <a:chExt cx="0" cy="0"/>
        </a:xfrm>
      </p:grpSpPr>
      <p:pic>
        <p:nvPicPr>
          <p:cNvPr id="4" name="그림 3">
            <a:extLst>
              <a:ext uri="{FF2B5EF4-FFF2-40B4-BE49-F238E27FC236}">
                <a16:creationId xmlns:a16="http://schemas.microsoft.com/office/drawing/2014/main" id="{DB0AA873-E7D7-B4EA-4E0B-B8C26182E3ED}"/>
              </a:ext>
            </a:extLst>
          </p:cNvPr>
          <p:cNvPicPr>
            <a:picLocks noChangeAspect="1"/>
          </p:cNvPicPr>
          <p:nvPr/>
        </p:nvPicPr>
        <p:blipFill>
          <a:blip r:embed="rId2"/>
          <a:stretch>
            <a:fillRect/>
          </a:stretch>
        </p:blipFill>
        <p:spPr>
          <a:xfrm>
            <a:off x="624146" y="1367879"/>
            <a:ext cx="10829407" cy="5059928"/>
          </a:xfrm>
          <a:prstGeom prst="rect">
            <a:avLst/>
          </a:prstGeom>
        </p:spPr>
      </p:pic>
      <p:sp>
        <p:nvSpPr>
          <p:cNvPr id="3" name="제목 1">
            <a:extLst>
              <a:ext uri="{FF2B5EF4-FFF2-40B4-BE49-F238E27FC236}">
                <a16:creationId xmlns:a16="http://schemas.microsoft.com/office/drawing/2014/main" id="{E3999178-AB12-0A3A-A668-15B9099D900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Perceptron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A8D4FE6-23D8-B6B6-1EC0-A8348CA25CA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09904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34510-4980-F38E-5F38-F564D354A3C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FA24A2-A9B4-776D-0B30-64331541D81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Exercise Perceptron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0" name="TextBox 9">
            <a:extLst>
              <a:ext uri="{FF2B5EF4-FFF2-40B4-BE49-F238E27FC236}">
                <a16:creationId xmlns:a16="http://schemas.microsoft.com/office/drawing/2014/main" id="{09AF508A-1676-56C5-CD16-44555137D185}"/>
              </a:ext>
            </a:extLst>
          </p:cNvPr>
          <p:cNvSpPr txBox="1"/>
          <p:nvPr/>
        </p:nvSpPr>
        <p:spPr>
          <a:xfrm>
            <a:off x="552450" y="1377404"/>
            <a:ext cx="11087100" cy="369332"/>
          </a:xfrm>
          <a:prstGeom prst="rect">
            <a:avLst/>
          </a:prstGeom>
          <a:noFill/>
        </p:spPr>
        <p:txBody>
          <a:bodyPr wrap="square">
            <a:spAutoFit/>
          </a:bodyPr>
          <a:lstStyle/>
          <a:p>
            <a:r>
              <a:rPr lang="en-US" altLang="ko-KR" b="1" dirty="0">
                <a:latin typeface="D2Coding" panose="020B0609020101020101" pitchFamily="49" charset="-127"/>
                <a:ea typeface="D2Coding" panose="020B0609020101020101" pitchFamily="49" charset="-127"/>
                <a:hlinkClick r:id="rId2"/>
              </a:rPr>
              <a:t>Perceptron_1957_to_AlexNet_2012.ipynb</a:t>
            </a:r>
            <a:r>
              <a:rPr lang="en-US" altLang="ko-KR" b="1" dirty="0">
                <a:latin typeface="D2Coding" panose="020B0609020101020101" pitchFamily="49" charset="-127"/>
                <a:ea typeface="D2Coding" panose="020B0609020101020101" pitchFamily="49" charset="-127"/>
              </a:rPr>
              <a:t> </a:t>
            </a:r>
          </a:p>
        </p:txBody>
      </p:sp>
      <p:pic>
        <p:nvPicPr>
          <p:cNvPr id="5" name="그래픽 4" descr="등산">
            <a:extLst>
              <a:ext uri="{FF2B5EF4-FFF2-40B4-BE49-F238E27FC236}">
                <a16:creationId xmlns:a16="http://schemas.microsoft.com/office/drawing/2014/main" id="{27E0A6A2-46D3-A217-F1BA-13C7C5D1B99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10075" y="2602468"/>
            <a:ext cx="2038350" cy="2038350"/>
          </a:xfrm>
          <a:prstGeom prst="rect">
            <a:avLst/>
          </a:prstGeom>
        </p:spPr>
      </p:pic>
      <p:sp>
        <p:nvSpPr>
          <p:cNvPr id="6" name="슬라이드 번호 개체 틀 3">
            <a:extLst>
              <a:ext uri="{FF2B5EF4-FFF2-40B4-BE49-F238E27FC236}">
                <a16:creationId xmlns:a16="http://schemas.microsoft.com/office/drawing/2014/main" id="{7F6A4573-3302-2F5C-505C-F29CC96A642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504447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0D739-3CD0-CCA2-9928-4AE3D14AC3C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19D7069-1FB1-2CA2-8C7A-A8267B0210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to</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Transformer History</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descr="Fig. 2">
            <a:extLst>
              <a:ext uri="{FF2B5EF4-FFF2-40B4-BE49-F238E27FC236}">
                <a16:creationId xmlns:a16="http://schemas.microsoft.com/office/drawing/2014/main" id="{1FB0A38B-BE23-F493-D16C-1D774316A3F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2450" y="2083028"/>
            <a:ext cx="5013449" cy="3764662"/>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3EEF370-2FCC-E88C-CCF7-8647FB631C12}"/>
              </a:ext>
            </a:extLst>
          </p:cNvPr>
          <p:cNvSpPr txBox="1"/>
          <p:nvPr/>
        </p:nvSpPr>
        <p:spPr>
          <a:xfrm>
            <a:off x="552450" y="5871897"/>
            <a:ext cx="5013449"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hlinkClick r:id="rId3"/>
              </a:rPr>
              <a:t>https://link.springer.com/article/10.1007/s10462-025-11162-5</a:t>
            </a:r>
            <a:r>
              <a:rPr lang="ko-KR" altLang="en-US" sz="1200" dirty="0">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B8238B59-87C1-4E54-C4B2-C7D3ED424475}"/>
              </a:ext>
            </a:extLst>
          </p:cNvPr>
          <p:cNvSpPr txBox="1"/>
          <p:nvPr/>
        </p:nvSpPr>
        <p:spPr>
          <a:xfrm>
            <a:off x="5652526" y="2083028"/>
            <a:ext cx="6091799" cy="3524042"/>
          </a:xfrm>
          <a:prstGeom prst="rect">
            <a:avLst/>
          </a:prstGeom>
          <a:noFill/>
          <a:ln>
            <a:solidFill>
              <a:schemeClr val="tx1"/>
            </a:solidFill>
          </a:ln>
        </p:spPr>
        <p:txBody>
          <a:bodyPr wrap="square">
            <a:spAutoFit/>
          </a:bodyPr>
          <a:lstStyle/>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RNN, LSTM, GRU</a:t>
            </a:r>
            <a:r>
              <a:rPr lang="ko-KR" altLang="en-US" sz="1400" dirty="0">
                <a:latin typeface="D2Coding" panose="020B0609020101020101" pitchFamily="49" charset="-127"/>
                <a:ea typeface="D2Coding" panose="020B0609020101020101" pitchFamily="49" charset="-127"/>
              </a:rPr>
              <a:t> 등이 등장함</a:t>
            </a:r>
            <a:endParaRPr lang="en-US" altLang="ko-KR" sz="1400" dirty="0">
              <a:latin typeface="D2Coding" panose="020B0609020101020101" pitchFamily="49" charset="-127"/>
              <a:ea typeface="D2Coding" panose="020B0609020101020101" pitchFamily="49" charset="-127"/>
            </a:endParaRP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시계열</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문장 등과 같은 순서가 있는 데이터에 적합</a:t>
            </a:r>
          </a:p>
          <a:p>
            <a:pPr marL="742950" lvl="1" indent="-285750">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RNN/LSTM</a:t>
            </a:r>
            <a:r>
              <a:rPr lang="ko-KR" altLang="en-US" sz="1200" dirty="0">
                <a:latin typeface="D2Coding" panose="020B0609020101020101" pitchFamily="49" charset="-127"/>
                <a:ea typeface="D2Coding" panose="020B0609020101020101" pitchFamily="49" charset="-127"/>
              </a:rPr>
              <a:t>의 한계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긴 시퀀스에서 중요한 문맥 정보</a:t>
            </a:r>
            <a:r>
              <a:rPr lang="en-US" altLang="ko-KR" sz="1100" dirty="0">
                <a:latin typeface="D2Coding" panose="020B0609020101020101" pitchFamily="49" charset="-127"/>
                <a:ea typeface="D2Coding" panose="020B0609020101020101" pitchFamily="49" charset="-127"/>
              </a:rPr>
              <a:t>(context)</a:t>
            </a:r>
            <a:r>
              <a:rPr lang="ko-KR" altLang="en-US" sz="1100" dirty="0">
                <a:latin typeface="D2Coding" panose="020B0609020101020101" pitchFamily="49" charset="-127"/>
                <a:ea typeface="D2Coding" panose="020B0609020101020101" pitchFamily="49" charset="-127"/>
              </a:rPr>
              <a:t>를 포착하기 어려움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긴 문장을 처리할수록 학습 시간이 증가</a:t>
            </a:r>
            <a:endParaRPr lang="en-US" altLang="ko-KR" sz="1100" dirty="0">
              <a:latin typeface="D2Coding" panose="020B0609020101020101" pitchFamily="49" charset="-127"/>
              <a:ea typeface="D2Coding" panose="020B0609020101020101" pitchFamily="49" charset="-127"/>
            </a:endParaRPr>
          </a:p>
          <a:p>
            <a:pPr marL="1200150" lvl="2" indent="-285750">
              <a:buFont typeface="Wingdings" panose="05000000000000000000" pitchFamily="2" charset="2"/>
              <a:buChar char="§"/>
            </a:pPr>
            <a:endParaRPr lang="en-US" altLang="ko-KR"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Word Embedding</a:t>
            </a:r>
            <a:r>
              <a:rPr lang="ko-KR" altLang="en-US" sz="1400" dirty="0">
                <a:latin typeface="D2Coding" panose="020B0609020101020101" pitchFamily="49" charset="-127"/>
                <a:ea typeface="D2Coding" panose="020B0609020101020101" pitchFamily="49" charset="-127"/>
              </a:rPr>
              <a:t>의 등장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단어를 벡터로 표현하는 </a:t>
            </a:r>
            <a:r>
              <a:rPr lang="ko-KR" altLang="en-US" sz="1200" dirty="0" err="1">
                <a:latin typeface="D2Coding" panose="020B0609020101020101" pitchFamily="49" charset="-127"/>
                <a:ea typeface="D2Coding" panose="020B0609020101020101" pitchFamily="49" charset="-127"/>
              </a:rPr>
              <a:t>임베딩</a:t>
            </a:r>
            <a:r>
              <a:rPr lang="ko-KR" altLang="en-US" sz="1200" dirty="0">
                <a:latin typeface="D2Coding" panose="020B0609020101020101" pitchFamily="49" charset="-127"/>
                <a:ea typeface="D2Coding" panose="020B0609020101020101" pitchFamily="49" charset="-127"/>
              </a:rPr>
              <a:t> 기법이 발전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대표적인 방법 </a:t>
            </a:r>
            <a:r>
              <a:rPr lang="en-US" altLang="ko-KR" sz="1200" dirty="0">
                <a:latin typeface="D2Coding" panose="020B0609020101020101" pitchFamily="49" charset="-127"/>
                <a:ea typeface="D2Coding" panose="020B0609020101020101" pitchFamily="49" charset="-127"/>
              </a:rPr>
              <a:t>: Word2Vec,</a:t>
            </a:r>
            <a:r>
              <a:rPr lang="ko-KR" altLang="en-US" sz="1200" dirty="0">
                <a:latin typeface="D2Coding" panose="020B0609020101020101" pitchFamily="49" charset="-127"/>
                <a:ea typeface="D2Coding" panose="020B0609020101020101" pitchFamily="49" charset="-127"/>
              </a:rPr>
              <a:t> </a:t>
            </a:r>
            <a:r>
              <a:rPr lang="en-US" altLang="ko-KR" sz="1200" dirty="0" err="1">
                <a:latin typeface="D2Coding" panose="020B0609020101020101" pitchFamily="49" charset="-127"/>
                <a:ea typeface="D2Coding" panose="020B0609020101020101" pitchFamily="49" charset="-127"/>
              </a:rPr>
              <a:t>GloVe</a:t>
            </a:r>
            <a:r>
              <a:rPr lang="en-US" altLang="ko-KR" sz="1200" dirty="0">
                <a:latin typeface="D2Coding" panose="020B0609020101020101" pitchFamily="49" charset="-127"/>
                <a:ea typeface="D2Coding" panose="020B0609020101020101" pitchFamily="49" charset="-127"/>
              </a:rPr>
              <a:t>, </a:t>
            </a:r>
            <a:r>
              <a:rPr lang="en-US" altLang="ko-KR" sz="1200" dirty="0" err="1">
                <a:latin typeface="D2Coding" panose="020B0609020101020101" pitchFamily="49" charset="-127"/>
                <a:ea typeface="D2Coding" panose="020B0609020101020101" pitchFamily="49" charset="-127"/>
              </a:rPr>
              <a:t>FastText</a:t>
            </a:r>
            <a:r>
              <a:rPr lang="ko-KR" altLang="en-US" sz="1200" dirty="0">
                <a:latin typeface="D2Coding" panose="020B0609020101020101" pitchFamily="49" charset="-127"/>
                <a:ea typeface="D2Coding" panose="020B0609020101020101" pitchFamily="49" charset="-127"/>
              </a:rPr>
              <a:t>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기존 </a:t>
            </a:r>
            <a:r>
              <a:rPr lang="en-US" altLang="ko-KR" sz="1200" dirty="0">
                <a:latin typeface="D2Coding" panose="020B0609020101020101" pitchFamily="49" charset="-127"/>
                <a:ea typeface="D2Coding" panose="020B0609020101020101" pitchFamily="49" charset="-127"/>
              </a:rPr>
              <a:t>Word Embedding</a:t>
            </a:r>
            <a:r>
              <a:rPr lang="ko-KR" altLang="en-US" sz="1200" dirty="0">
                <a:latin typeface="D2Coding" panose="020B0609020101020101" pitchFamily="49" charset="-127"/>
                <a:ea typeface="D2Coding" panose="020B0609020101020101" pitchFamily="49" charset="-127"/>
              </a:rPr>
              <a:t>의 한계 </a:t>
            </a:r>
          </a:p>
          <a:p>
            <a:pPr marL="1200150" lvl="2" indent="-285750">
              <a:buFont typeface="Wingdings" panose="05000000000000000000" pitchFamily="2" charset="2"/>
              <a:buChar char="§"/>
            </a:pPr>
            <a:r>
              <a:rPr lang="ko-KR" altLang="en-US" sz="1100" dirty="0">
                <a:latin typeface="D2Coding" panose="020B0609020101020101" pitchFamily="49" charset="-127"/>
                <a:ea typeface="D2Coding" panose="020B0609020101020101" pitchFamily="49" charset="-127"/>
              </a:rPr>
              <a:t>문장이나 주변 단어에 따라 달라지는 문맥적 의미</a:t>
            </a:r>
            <a:r>
              <a:rPr lang="en-US" altLang="ko-KR" sz="1100" dirty="0">
                <a:latin typeface="D2Coding" panose="020B0609020101020101" pitchFamily="49" charset="-127"/>
                <a:ea typeface="D2Coding" panose="020B0609020101020101" pitchFamily="49" charset="-127"/>
              </a:rPr>
              <a:t>(contextual meaning)</a:t>
            </a:r>
            <a:r>
              <a:rPr lang="ko-KR" altLang="en-US" sz="1100" dirty="0">
                <a:latin typeface="D2Coding" panose="020B0609020101020101" pitchFamily="49" charset="-127"/>
                <a:ea typeface="D2Coding" panose="020B0609020101020101" pitchFamily="49" charset="-127"/>
              </a:rPr>
              <a:t>를 반영하기 어려움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en-US" altLang="ko-KR" sz="1100" i="1" dirty="0">
                <a:latin typeface="D2Coding" panose="020B0609020101020101" pitchFamily="49" charset="-127"/>
                <a:ea typeface="D2Coding" panose="020B0609020101020101" pitchFamily="49" charset="-127"/>
              </a:rPr>
              <a:t>bank</a:t>
            </a:r>
            <a:r>
              <a:rPr lang="ko-KR" altLang="en-US" sz="1100" dirty="0">
                <a:latin typeface="D2Coding" panose="020B0609020101020101" pitchFamily="49" charset="-127"/>
                <a:ea typeface="D2Coding" panose="020B0609020101020101" pitchFamily="49" charset="-127"/>
              </a:rPr>
              <a:t>가 문맥에 따라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은행</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또는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강둑</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을 의미하는 차이를 제대로 표현하기 어려움</a:t>
            </a:r>
            <a:r>
              <a:rPr lang="en-US" altLang="ko-KR" sz="1100" dirty="0">
                <a:latin typeface="D2Coding" panose="020B0609020101020101" pitchFamily="49" charset="-127"/>
                <a:ea typeface="D2Coding" panose="020B0609020101020101" pitchFamily="49" charset="-127"/>
              </a:rPr>
              <a:t>)</a:t>
            </a:r>
          </a:p>
          <a:p>
            <a:pPr marL="1200150" lvl="2" indent="-285750">
              <a:buFont typeface="Wingdings" panose="05000000000000000000" pitchFamily="2" charset="2"/>
              <a:buChar char="§"/>
            </a:pPr>
            <a:endParaRPr lang="ko-KR" altLang="en-US" sz="1400" dirty="0">
              <a:latin typeface="D2Coding" panose="020B0609020101020101" pitchFamily="49" charset="-127"/>
              <a:ea typeface="D2Coding" panose="020B0609020101020101" pitchFamily="49" charset="-127"/>
            </a:endParaRPr>
          </a:p>
          <a:p>
            <a:pPr marL="285750" indent="-285750">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Contextual Embedding</a:t>
            </a:r>
            <a:r>
              <a:rPr lang="ko-KR" altLang="en-US" sz="1400" dirty="0">
                <a:latin typeface="D2Coding" panose="020B0609020101020101" pitchFamily="49" charset="-127"/>
                <a:ea typeface="D2Coding" panose="020B0609020101020101" pitchFamily="49" charset="-127"/>
              </a:rPr>
              <a:t>으로 발전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대규모 사전학습 언어모델</a:t>
            </a:r>
            <a:r>
              <a:rPr lang="en-US" altLang="ko-KR" sz="1200" dirty="0">
                <a:latin typeface="D2Coding" panose="020B0609020101020101" pitchFamily="49" charset="-127"/>
                <a:ea typeface="D2Coding" panose="020B0609020101020101" pitchFamily="49" charset="-127"/>
              </a:rPr>
              <a:t>(Pre-trained Language Model)</a:t>
            </a:r>
            <a:r>
              <a:rPr lang="ko-KR" altLang="en-US" sz="1200" dirty="0">
                <a:latin typeface="D2Coding" panose="020B0609020101020101" pitchFamily="49" charset="-127"/>
                <a:ea typeface="D2Coding" panose="020B0609020101020101" pitchFamily="49" charset="-127"/>
              </a:rPr>
              <a:t> 등장</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단어 자체와 주변 문맥을 고려하여 단어의 벡터 표현을 생성 </a:t>
            </a:r>
          </a:p>
          <a:p>
            <a:pPr marL="742950" lvl="1" indent="-285750">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이후 </a:t>
            </a:r>
            <a:r>
              <a:rPr lang="en-US" altLang="ko-KR" sz="1200" dirty="0">
                <a:latin typeface="D2Coding" panose="020B0609020101020101" pitchFamily="49" charset="-127"/>
                <a:ea typeface="D2Coding" panose="020B0609020101020101" pitchFamily="49" charset="-127"/>
              </a:rPr>
              <a:t>BERT, GPT</a:t>
            </a:r>
            <a:r>
              <a:rPr lang="ko-KR" altLang="en-US" sz="1200" dirty="0">
                <a:latin typeface="D2Coding" panose="020B0609020101020101" pitchFamily="49" charset="-127"/>
                <a:ea typeface="D2Coding" panose="020B0609020101020101" pitchFamily="49" charset="-127"/>
              </a:rPr>
              <a:t>와 같은 </a:t>
            </a:r>
            <a:r>
              <a:rPr lang="en-US" altLang="ko-KR" sz="1200" dirty="0">
                <a:latin typeface="D2Coding" panose="020B0609020101020101" pitchFamily="49" charset="-127"/>
                <a:ea typeface="D2Coding" panose="020B0609020101020101" pitchFamily="49" charset="-127"/>
              </a:rPr>
              <a:t>Transformer </a:t>
            </a:r>
            <a:r>
              <a:rPr lang="ko-KR" altLang="en-US" sz="1200" dirty="0">
                <a:latin typeface="D2Coding" panose="020B0609020101020101" pitchFamily="49" charset="-127"/>
                <a:ea typeface="D2Coding" panose="020B0609020101020101" pitchFamily="49" charset="-127"/>
              </a:rPr>
              <a:t>기반 언어모델로 발전함</a:t>
            </a:r>
            <a:r>
              <a:rPr lang="ko-KR" altLang="en-US" sz="1400" dirty="0">
                <a:latin typeface="D2Coding" panose="020B0609020101020101" pitchFamily="49" charset="-127"/>
                <a:ea typeface="D2Coding" panose="020B0609020101020101" pitchFamily="49" charset="-127"/>
              </a:rPr>
              <a:t> </a:t>
            </a:r>
          </a:p>
        </p:txBody>
      </p:sp>
      <p:sp>
        <p:nvSpPr>
          <p:cNvPr id="10" name="TextBox 9">
            <a:extLst>
              <a:ext uri="{FF2B5EF4-FFF2-40B4-BE49-F238E27FC236}">
                <a16:creationId xmlns:a16="http://schemas.microsoft.com/office/drawing/2014/main" id="{25D98A1F-877F-18FD-5084-0F7FD34C0823}"/>
              </a:ext>
            </a:extLst>
          </p:cNvPr>
          <p:cNvSpPr txBox="1"/>
          <p:nvPr/>
        </p:nvSpPr>
        <p:spPr>
          <a:xfrm>
            <a:off x="552450" y="1282154"/>
            <a:ext cx="1108710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RNN/LSTM/GRU → Word2Vec → Transformer/Contextual Embedding → Pre-Trained LLM</a:t>
            </a:r>
          </a:p>
        </p:txBody>
      </p:sp>
      <p:sp>
        <p:nvSpPr>
          <p:cNvPr id="2" name="슬라이드 번호 개체 틀 3">
            <a:extLst>
              <a:ext uri="{FF2B5EF4-FFF2-40B4-BE49-F238E27FC236}">
                <a16:creationId xmlns:a16="http://schemas.microsoft.com/office/drawing/2014/main" id="{324000F6-1F60-8B9E-9156-767CA502D97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455017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a:ln>
            <a:solidFill>
              <a:schemeClr val="tx1"/>
            </a:solidFill>
          </a:ln>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29AD9-B2C1-B49E-B9BF-634BE378AFC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6D48F08-B102-C621-E10B-9FB8F64BC54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 실습</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EC30A17E-67FC-20F8-8B0C-D51945166DE0}"/>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16FE903A-9C1D-1244-608C-C79E994A6C30}"/>
              </a:ext>
            </a:extLst>
          </p:cNvPr>
          <p:cNvSpPr txBox="1"/>
          <p:nvPr/>
        </p:nvSpPr>
        <p:spPr>
          <a:xfrm>
            <a:off x="1108364" y="1939636"/>
            <a:ext cx="9467272" cy="2058064"/>
          </a:xfrm>
          <a:prstGeom prst="rect">
            <a:avLst/>
          </a:prstGeom>
          <a:solidFill>
            <a:schemeClr val="tx1"/>
          </a:solidFill>
        </p:spPr>
        <p:txBody>
          <a:bodyPr wrap="square" rtlCol="0">
            <a:spAutoFit/>
          </a:bodyPr>
          <a:lstStyle/>
          <a:p>
            <a:pPr marL="342900" indent="-342900">
              <a:lnSpc>
                <a:spcPct val="250000"/>
              </a:lnSpc>
              <a:buFont typeface="+mj-lt"/>
              <a:buAutoNum type="arabicPeriod"/>
            </a:pPr>
            <a:r>
              <a:rPr lang="ko-KR" altLang="en-US" dirty="0">
                <a:solidFill>
                  <a:schemeClr val="bg1"/>
                </a:solidFill>
                <a:latin typeface="D2Coding" panose="020B0609020101020101" pitchFamily="49" charset="-127"/>
                <a:ea typeface="D2Coding" panose="020B0609020101020101" pitchFamily="49" charset="-127"/>
              </a:rPr>
              <a:t>엑셀로 시계열자료를 실습</a:t>
            </a:r>
            <a:endParaRPr lang="en-US" altLang="ko-KR" dirty="0">
              <a:solidFill>
                <a:schemeClr val="bg1"/>
              </a:solidFill>
              <a:latin typeface="D2Coding" panose="020B0609020101020101" pitchFamily="49" charset="-127"/>
              <a:ea typeface="D2Coding" panose="020B0609020101020101" pitchFamily="49" charset="-127"/>
            </a:endParaRPr>
          </a:p>
          <a:p>
            <a:pPr marL="342900" indent="-342900">
              <a:lnSpc>
                <a:spcPct val="250000"/>
              </a:lnSpc>
              <a:buFont typeface="+mj-lt"/>
              <a:buAutoNum type="arabicPeriod"/>
            </a:pPr>
            <a:r>
              <a:rPr lang="en-US" altLang="ko-KR" dirty="0">
                <a:solidFill>
                  <a:schemeClr val="bg1"/>
                </a:solidFill>
                <a:latin typeface="D2Coding" panose="020B0609020101020101" pitchFamily="49" charset="-127"/>
                <a:ea typeface="D2Coding" panose="020B0609020101020101" pitchFamily="49" charset="-127"/>
              </a:rPr>
              <a:t>Python </a:t>
            </a:r>
            <a:r>
              <a:rPr lang="ko-KR" altLang="en-US" dirty="0">
                <a:solidFill>
                  <a:schemeClr val="bg1"/>
                </a:solidFill>
                <a:latin typeface="D2Coding" panose="020B0609020101020101" pitchFamily="49" charset="-127"/>
                <a:ea typeface="D2Coding" panose="020B0609020101020101" pitchFamily="49" charset="-127"/>
              </a:rPr>
              <a:t>반복문으로 시계열 자료를 실습</a:t>
            </a:r>
            <a:endParaRPr lang="en-US" altLang="ko-KR" dirty="0">
              <a:solidFill>
                <a:schemeClr val="bg1"/>
              </a:solidFill>
              <a:latin typeface="D2Coding" panose="020B0609020101020101" pitchFamily="49" charset="-127"/>
              <a:ea typeface="D2Coding" panose="020B0609020101020101" pitchFamily="49" charset="-127"/>
            </a:endParaRPr>
          </a:p>
          <a:p>
            <a:pPr marL="342900" indent="-342900">
              <a:lnSpc>
                <a:spcPct val="250000"/>
              </a:lnSpc>
              <a:buFont typeface="+mj-lt"/>
              <a:buAutoNum type="arabicPeriod"/>
            </a:pPr>
            <a:r>
              <a:rPr lang="en-US" altLang="ko-KR" dirty="0" err="1">
                <a:solidFill>
                  <a:schemeClr val="bg1"/>
                </a:solidFill>
                <a:latin typeface="D2Coding" panose="020B0609020101020101" pitchFamily="49" charset="-127"/>
                <a:ea typeface="D2Coding" panose="020B0609020101020101" pitchFamily="49" charset="-127"/>
              </a:rPr>
              <a:t>Tensorflow</a:t>
            </a:r>
            <a:r>
              <a:rPr lang="en-US" altLang="ko-KR" dirty="0">
                <a:solidFill>
                  <a:schemeClr val="bg1"/>
                </a:solidFill>
                <a:latin typeface="D2Coding" panose="020B0609020101020101" pitchFamily="49" charset="-127"/>
                <a:ea typeface="D2Coding" panose="020B0609020101020101" pitchFamily="49" charset="-127"/>
              </a:rPr>
              <a:t> </a:t>
            </a:r>
            <a:r>
              <a:rPr lang="ko-KR" altLang="en-US" dirty="0" err="1">
                <a:solidFill>
                  <a:schemeClr val="bg1"/>
                </a:solidFill>
                <a:latin typeface="D2Coding" panose="020B0609020101020101" pitchFamily="49" charset="-127"/>
                <a:ea typeface="D2Coding" panose="020B0609020101020101" pitchFamily="49" charset="-127"/>
              </a:rPr>
              <a:t>keras.utils.timeseries_dataset_from_array</a:t>
            </a:r>
            <a:r>
              <a:rPr lang="en-US" altLang="ko-KR" dirty="0">
                <a:solidFill>
                  <a:schemeClr val="bg1"/>
                </a:solidFill>
                <a:latin typeface="D2Coding" panose="020B0609020101020101" pitchFamily="49" charset="-127"/>
                <a:ea typeface="D2Coding" panose="020B0609020101020101" pitchFamily="49" charset="-127"/>
              </a:rPr>
              <a:t>() </a:t>
            </a:r>
            <a:r>
              <a:rPr lang="ko-KR" altLang="en-US" dirty="0">
                <a:solidFill>
                  <a:schemeClr val="bg1"/>
                </a:solidFill>
                <a:latin typeface="D2Coding" panose="020B0609020101020101" pitchFamily="49" charset="-127"/>
                <a:ea typeface="D2Coding" panose="020B0609020101020101" pitchFamily="49" charset="-127"/>
              </a:rPr>
              <a:t>시계열 자료를 실습</a:t>
            </a:r>
            <a:r>
              <a:rPr lang="en-US" altLang="ko-KR" dirty="0">
                <a:solidFill>
                  <a:schemeClr val="bg1"/>
                </a:solidFill>
                <a:latin typeface="D2Coding" panose="020B0609020101020101" pitchFamily="49" charset="-127"/>
                <a:ea typeface="D2Coding" panose="020B0609020101020101" pitchFamily="49" charset="-127"/>
              </a:rPr>
              <a:t> </a:t>
            </a:r>
            <a:endParaRPr lang="ko-KR" altLang="en-US" dirty="0">
              <a:solidFill>
                <a:schemeClr val="bg1"/>
              </a:solidFill>
              <a:latin typeface="D2Coding" panose="020B0609020101020101" pitchFamily="49" charset="-127"/>
              <a:ea typeface="D2Coding" panose="020B0609020101020101" pitchFamily="49" charset="-127"/>
            </a:endParaRPr>
          </a:p>
        </p:txBody>
      </p:sp>
      <p:pic>
        <p:nvPicPr>
          <p:cNvPr id="6" name="그래픽 5" descr="크리켓 단색으로 채워진">
            <a:extLst>
              <a:ext uri="{FF2B5EF4-FFF2-40B4-BE49-F238E27FC236}">
                <a16:creationId xmlns:a16="http://schemas.microsoft.com/office/drawing/2014/main" id="{F347C455-8C50-5937-F37A-8566431F53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24859" y="299420"/>
            <a:ext cx="914400" cy="914400"/>
          </a:xfrm>
          <a:prstGeom prst="rect">
            <a:avLst/>
          </a:prstGeom>
        </p:spPr>
      </p:pic>
    </p:spTree>
    <p:extLst>
      <p:ext uri="{BB962C8B-B14F-4D97-AF65-F5344CB8AC3E}">
        <p14:creationId xmlns:p14="http://schemas.microsoft.com/office/powerpoint/2010/main" val="380708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652136"/>
            <a:ext cx="4835947" cy="4843914"/>
          </a:xfrm>
          <a:prstGeom prst="rect">
            <a:avLst/>
          </a:prstGeom>
          <a:ln>
            <a:solidFill>
              <a:schemeClr val="tx1"/>
            </a:solidFill>
          </a:ln>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161405110"/>
              </p:ext>
            </p:extLst>
          </p:nvPr>
        </p:nvGraphicFramePr>
        <p:xfrm>
          <a:off x="5966613" y="1652136"/>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4F44B0F3-25E6-A657-77F4-ED64D91CE0E2}"/>
              </a:ext>
            </a:extLst>
          </p:cNvPr>
          <p:cNvSpPr txBox="1"/>
          <p:nvPr/>
        </p:nvSpPr>
        <p:spPr>
          <a:xfrm>
            <a:off x="512864" y="1248422"/>
            <a:ext cx="1826141"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6"/>
              </a:rPr>
              <a:t>Time-series.xlsx</a:t>
            </a:r>
            <a:endParaRPr lang="ko-KR" altLang="en-US" sz="1600" dirty="0">
              <a:latin typeface="D2Coding" panose="020B0609020101020101" pitchFamily="49" charset="-127"/>
              <a:ea typeface="D2Coding" panose="020B0609020101020101" pitchFamily="49" charset="-127"/>
            </a:endParaRPr>
          </a:p>
        </p:txBody>
      </p:sp>
      <p:sp>
        <p:nvSpPr>
          <p:cNvPr id="5" name="직사각형 4">
            <a:extLst>
              <a:ext uri="{FF2B5EF4-FFF2-40B4-BE49-F238E27FC236}">
                <a16:creationId xmlns:a16="http://schemas.microsoft.com/office/drawing/2014/main" id="{5EF63DD8-3043-B281-84A8-C0FE46931C41}"/>
              </a:ext>
            </a:extLst>
          </p:cNvPr>
          <p:cNvSpPr/>
          <p:nvPr/>
        </p:nvSpPr>
        <p:spPr>
          <a:xfrm>
            <a:off x="4162424" y="4410075"/>
            <a:ext cx="619125" cy="21717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설명선: 굽은 선 6">
            <a:extLst>
              <a:ext uri="{FF2B5EF4-FFF2-40B4-BE49-F238E27FC236}">
                <a16:creationId xmlns:a16="http://schemas.microsoft.com/office/drawing/2014/main" id="{A879FA5F-B755-1516-5FD7-4C332147929E}"/>
              </a:ext>
            </a:extLst>
          </p:cNvPr>
          <p:cNvSpPr/>
          <p:nvPr/>
        </p:nvSpPr>
        <p:spPr>
          <a:xfrm>
            <a:off x="6237167" y="4857298"/>
            <a:ext cx="3144957" cy="369332"/>
          </a:xfrm>
          <a:prstGeom prst="borderCallout2">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latin typeface="D2Coding" panose="020B0609020101020101" pitchFamily="49" charset="-127"/>
                <a:ea typeface="D2Coding" panose="020B0609020101020101" pitchFamily="49" charset="-127"/>
              </a:rPr>
              <a:t>과거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일 동안의 평균을 기억하고 있음</a:t>
            </a:r>
          </a:p>
        </p:txBody>
      </p:sp>
    </p:spTree>
    <p:extLst>
      <p:ext uri="{BB962C8B-B14F-4D97-AF65-F5344CB8AC3E}">
        <p14:creationId xmlns:p14="http://schemas.microsoft.com/office/powerpoint/2010/main" val="23184673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894080"/>
            <a:ext cx="4922947" cy="4534293"/>
          </a:xfrm>
          <a:prstGeom prst="rect">
            <a:avLst/>
          </a:prstGeom>
          <a:ln>
            <a:solidFill>
              <a:schemeClr val="tx1"/>
            </a:solidFill>
          </a:ln>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894080"/>
            <a:ext cx="5922987" cy="263243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537498"/>
            <a:ext cx="2032691" cy="580769"/>
          </a:xfrm>
          <a:prstGeom prst="rect">
            <a:avLst/>
          </a:prstGeom>
          <a:ln>
            <a:solidFill>
              <a:schemeClr val="tx1"/>
            </a:solidFill>
          </a:ln>
        </p:spPr>
      </p:pic>
      <p:sp>
        <p:nvSpPr>
          <p:cNvPr id="21" name="TextBox 20">
            <a:extLst>
              <a:ext uri="{FF2B5EF4-FFF2-40B4-BE49-F238E27FC236}">
                <a16:creationId xmlns:a16="http://schemas.microsoft.com/office/drawing/2014/main" id="{B1524DAB-EF70-3649-069E-FB29009BA9B5}"/>
              </a:ext>
            </a:extLst>
          </p:cNvPr>
          <p:cNvSpPr txBox="1"/>
          <p:nvPr/>
        </p:nvSpPr>
        <p:spPr>
          <a:xfrm>
            <a:off x="8371957" y="518462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573924"/>
            <a:ext cx="1838735" cy="388726"/>
          </a:xfrm>
          <a:prstGeom prst="rect">
            <a:avLst/>
          </a:prstGeom>
          <a:ln>
            <a:solidFill>
              <a:schemeClr val="tx1"/>
            </a:solidFill>
          </a:ln>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78B9067A-F393-4C96-135E-D7857515EF86}"/>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온도 정보를 통해 내일 온도를 예측 </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684610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611197" y="1791200"/>
            <a:ext cx="7102455" cy="4656223"/>
          </a:xfrm>
          <a:prstGeom prst="rect">
            <a:avLst/>
          </a:prstGeom>
          <a:ln>
            <a:solidFill>
              <a:schemeClr val="tx1"/>
            </a:solidFill>
          </a:ln>
        </p:spPr>
      </p:pic>
      <p:sp>
        <p:nvSpPr>
          <p:cNvPr id="7" name="TextBox 6">
            <a:extLst>
              <a:ext uri="{FF2B5EF4-FFF2-40B4-BE49-F238E27FC236}">
                <a16:creationId xmlns:a16="http://schemas.microsoft.com/office/drawing/2014/main" id="{999475E9-8640-6AB3-88BC-8DD3A0B30BE3}"/>
              </a:ext>
            </a:extLst>
          </p:cNvPr>
          <p:cNvSpPr txBox="1"/>
          <p:nvPr/>
        </p:nvSpPr>
        <p:spPr>
          <a:xfrm>
            <a:off x="7951777" y="21281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51777" y="3536878"/>
            <a:ext cx="3859223" cy="404874"/>
          </a:xfrm>
          <a:prstGeom prst="rect">
            <a:avLst/>
          </a:prstGeom>
          <a:ln>
            <a:solidFill>
              <a:schemeClr val="tx1"/>
            </a:solidFill>
          </a:ln>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TextBox 1">
            <a:extLst>
              <a:ext uri="{FF2B5EF4-FFF2-40B4-BE49-F238E27FC236}">
                <a16:creationId xmlns:a16="http://schemas.microsoft.com/office/drawing/2014/main" id="{FC7B4177-7041-E87B-B153-DEC684619442}"/>
              </a:ext>
            </a:extLst>
          </p:cNvPr>
          <p:cNvSpPr txBox="1"/>
          <p:nvPr/>
        </p:nvSpPr>
        <p:spPr>
          <a:xfrm>
            <a:off x="611197" y="1248422"/>
            <a:ext cx="1094072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온도와 강수량 정보를 통해 내일 강수량을 예측</a:t>
            </a:r>
            <a:r>
              <a:rPr lang="en-US" altLang="ko-KR" sz="1600" dirty="0">
                <a:latin typeface="D2Coding" panose="020B0609020101020101" pitchFamily="49" charset="-127"/>
                <a:ea typeface="D2Coding" panose="020B0609020101020101" pitchFamily="49" charset="-127"/>
              </a:rPr>
              <a:t>(Sliding window with one-step &amp; single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3847764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681296" y="1904291"/>
            <a:ext cx="10829407" cy="4079208"/>
          </a:xfrm>
          <a:prstGeom prst="rect">
            <a:avLst/>
          </a:prstGeom>
          <a:ln>
            <a:solidFill>
              <a:schemeClr val="tx1"/>
            </a:solidFill>
          </a:ln>
        </p:spPr>
      </p:pic>
      <p:sp>
        <p:nvSpPr>
          <p:cNvPr id="8" name="TextBox 7">
            <a:extLst>
              <a:ext uri="{FF2B5EF4-FFF2-40B4-BE49-F238E27FC236}">
                <a16:creationId xmlns:a16="http://schemas.microsoft.com/office/drawing/2014/main" id="{8FA609BE-B859-A023-68DF-9C7588D7B915}"/>
              </a:ext>
            </a:extLst>
          </p:cNvPr>
          <p:cNvSpPr txBox="1"/>
          <p:nvPr/>
        </p:nvSpPr>
        <p:spPr>
          <a:xfrm>
            <a:off x="5652527" y="6100144"/>
            <a:ext cx="5652526" cy="423834"/>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2" name="TextBox 1">
            <a:extLst>
              <a:ext uri="{FF2B5EF4-FFF2-40B4-BE49-F238E27FC236}">
                <a16:creationId xmlns:a16="http://schemas.microsoft.com/office/drawing/2014/main" id="{2DFF5C00-D308-F3B2-089D-081CE47CA59F}"/>
              </a:ext>
            </a:extLst>
          </p:cNvPr>
          <p:cNvSpPr txBox="1"/>
          <p:nvPr/>
        </p:nvSpPr>
        <p:spPr>
          <a:xfrm>
            <a:off x="611197" y="1248422"/>
            <a:ext cx="11276003"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rPr>
              <a:t>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 정보를 통해 내일 온도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강수량을 예측</a:t>
            </a:r>
            <a:r>
              <a:rPr lang="en-US" altLang="ko-KR" sz="1600" dirty="0">
                <a:latin typeface="D2Coding" panose="020B0609020101020101" pitchFamily="49" charset="-127"/>
                <a:ea typeface="D2Coding" panose="020B0609020101020101" pitchFamily="49" charset="-127"/>
              </a:rPr>
              <a:t>(Sliding window with one-step &amp; multiple value forecast)</a:t>
            </a:r>
            <a:endParaRPr lang="ko-KR" altLang="en-US"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62941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106559" y="1563806"/>
            <a:ext cx="5932415" cy="4813092"/>
          </a:xfrm>
          <a:prstGeom prst="rect">
            <a:avLst/>
          </a:prstGeom>
          <a:ln>
            <a:solidFill>
              <a:schemeClr val="tx1"/>
            </a:solidFill>
          </a:ln>
        </p:spPr>
      </p:pic>
      <p:sp>
        <p:nvSpPr>
          <p:cNvPr id="4" name="TextBox 3">
            <a:extLst>
              <a:ext uri="{FF2B5EF4-FFF2-40B4-BE49-F238E27FC236}">
                <a16:creationId xmlns:a16="http://schemas.microsoft.com/office/drawing/2014/main" id="{F44DFFA3-632D-10C7-461D-8E263F2F7375}"/>
              </a:ext>
            </a:extLst>
          </p:cNvPr>
          <p:cNvSpPr txBox="1"/>
          <p:nvPr/>
        </p:nvSpPr>
        <p:spPr>
          <a:xfrm>
            <a:off x="7991474" y="1563806"/>
            <a:ext cx="3560445" cy="1901161"/>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시계열 데이터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온도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이용하여 미래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 시점</a:t>
            </a:r>
            <a:r>
              <a:rPr lang="en-US" altLang="ko-KR" sz="1600" dirty="0">
                <a:latin typeface="D2Coding" panose="020B0609020101020101" pitchFamily="49" charset="-127"/>
                <a:ea typeface="D2Coding" panose="020B0609020101020101" pitchFamily="49" charset="-127"/>
              </a:rPr>
              <a:t>(2-step)</a:t>
            </a:r>
            <a:r>
              <a:rPr lang="ko-KR" altLang="en-US" sz="1600" dirty="0">
                <a:latin typeface="D2Coding" panose="020B0609020101020101" pitchFamily="49" charset="-127"/>
                <a:ea typeface="D2Coding" panose="020B0609020101020101" pitchFamily="49" charset="-127"/>
              </a:rPr>
              <a:t>의 기온을 동시에 예측하는 다중 스텝 시계열 예측</a:t>
            </a:r>
            <a:r>
              <a:rPr lang="en-US" altLang="ko-KR" sz="1600" dirty="0">
                <a:latin typeface="D2Coding" panose="020B0609020101020101" pitchFamily="49" charset="-127"/>
                <a:ea typeface="D2Coding" panose="020B0609020101020101" pitchFamily="49" charset="-127"/>
              </a:rPr>
              <a:t>(Multi-step Time Series Forecasting)</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728113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7581D-3B69-D7B8-7BD1-D9C95353FCE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FD4F066-D256-883B-A556-AB50529B242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 series data analysis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683F156A-0939-A650-AE4D-419E927966E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7" name="Rectangle 2">
            <a:extLst>
              <a:ext uri="{FF2B5EF4-FFF2-40B4-BE49-F238E27FC236}">
                <a16:creationId xmlns:a16="http://schemas.microsoft.com/office/drawing/2014/main" id="{B5D3A5FB-5C68-D63B-561D-F8449CDABB0B}"/>
              </a:ext>
            </a:extLst>
          </p:cNvPr>
          <p:cNvSpPr>
            <a:spLocks noChangeArrowheads="1"/>
          </p:cNvSpPr>
          <p:nvPr/>
        </p:nvSpPr>
        <p:spPr bwMode="auto">
          <a:xfrm>
            <a:off x="557862" y="1537223"/>
            <a:ext cx="11076275" cy="88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삼성전자</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의</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과거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12</a:t>
            </a:r>
            <a:r>
              <a:rPr kumimoji="0" lang="ko-KR" altLang="ko-KR" b="0" i="0" u="none" strike="noStrike" cap="none" normalizeH="0" baseline="0" dirty="0" err="1">
                <a:ln>
                  <a:noFill/>
                </a:ln>
                <a:solidFill>
                  <a:srgbClr val="1F1F1F"/>
                </a:solidFill>
                <a:effectLst/>
                <a:latin typeface="D2Coding" panose="020B0609020101020101" pitchFamily="49" charset="-127"/>
                <a:ea typeface="D2Coding" panose="020B0609020101020101" pitchFamily="49" charset="-127"/>
              </a:rPr>
              <a:t>개월치</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데이터를 사용하여 종가</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a:t>
            </a:r>
            <a:r>
              <a:rPr kumimoji="0" lang="en-US" altLang="ko-KR" b="0" i="0" u="none" strike="noStrike" cap="none" normalizeH="0" dirty="0">
                <a:ln>
                  <a:noFill/>
                </a:ln>
                <a:solidFill>
                  <a:srgbClr val="1F1F1F"/>
                </a:solidFill>
                <a:effectLst/>
                <a:latin typeface="D2Coding" panose="020B0609020101020101" pitchFamily="49" charset="-127"/>
                <a:ea typeface="D2Coding" panose="020B0609020101020101" pitchFamily="49" charset="-127"/>
              </a:rPr>
              <a:t> </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거래량</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외국인</a:t>
            </a:r>
            <a:r>
              <a:rPr lang="en-US" altLang="ko-KR" dirty="0">
                <a:solidFill>
                  <a:srgbClr val="1F1F1F"/>
                </a:solidFill>
                <a:latin typeface="D2Coding" panose="020B0609020101020101" pitchFamily="49" charset="-127"/>
                <a:ea typeface="D2Coding" panose="020B0609020101020101" pitchFamily="49" charset="-127"/>
              </a:rPr>
              <a:t> </a:t>
            </a:r>
            <a:r>
              <a:rPr lang="ko-KR" altLang="en-US" dirty="0" err="1">
                <a:solidFill>
                  <a:srgbClr val="1F1F1F"/>
                </a:solidFill>
                <a:latin typeface="D2Coding" panose="020B0609020101020101" pitchFamily="49" charset="-127"/>
                <a:ea typeface="D2Coding" panose="020B0609020101020101" pitchFamily="49" charset="-127"/>
              </a:rPr>
              <a:t>매매량</a:t>
            </a:r>
            <a:r>
              <a:rPr lang="ko-KR" altLang="en-US" dirty="0">
                <a:solidFill>
                  <a:srgbClr val="1F1F1F"/>
                </a:solidFill>
                <a:latin typeface="D2Coding" panose="020B0609020101020101" pitchFamily="49" charset="-127"/>
                <a:ea typeface="D2Coding" panose="020B0609020101020101" pitchFamily="49" charset="-127"/>
              </a:rPr>
              <a:t> 등</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을 바탕으로 </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최근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6</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10</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 15</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일 등의 </a:t>
            </a:r>
            <a:r>
              <a:rPr kumimoji="0" lang="en-US"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Timestep</a:t>
            </a:r>
            <a:r>
              <a:rPr kumimoji="0" lang="ko-KR" altLang="en-US"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을 기준으로 </a:t>
            </a:r>
            <a:r>
              <a:rPr kumimoji="0" lang="ko-KR" altLang="ko-KR" b="0" i="0" u="none" strike="noStrike" cap="none" normalizeH="0" baseline="0" dirty="0">
                <a:ln>
                  <a:noFill/>
                </a:ln>
                <a:solidFill>
                  <a:srgbClr val="1F1F1F"/>
                </a:solidFill>
                <a:effectLst/>
                <a:latin typeface="D2Coding" panose="020B0609020101020101" pitchFamily="49" charset="-127"/>
                <a:ea typeface="D2Coding" panose="020B0609020101020101" pitchFamily="49" charset="-127"/>
              </a:rPr>
              <a:t>시계열 예측</a:t>
            </a:r>
            <a:endParaRPr kumimoji="0" lang="ko-KR" altLang="ko-KR" b="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2822800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9940090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498" y="3573145"/>
            <a:ext cx="6524625" cy="2447925"/>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44399" y="4924721"/>
            <a:ext cx="2233204" cy="830997"/>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Samples/Batch size </a:t>
            </a:r>
            <a:r>
              <a:rPr lang="ko-KR" altLang="en-US" sz="1600" dirty="0">
                <a:solidFill>
                  <a:schemeClr val="bg1"/>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bg1"/>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9935" y="6107747"/>
            <a:ext cx="276861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Sliding window length</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530637" y="4351393"/>
            <a:ext cx="2080585" cy="338554"/>
          </a:xfrm>
          <a:prstGeom prst="rect">
            <a:avLst/>
          </a:prstGeom>
          <a:solidFill>
            <a:schemeClr val="tx1"/>
          </a:solidFill>
        </p:spPr>
        <p:txBody>
          <a:bodyPr wrap="square">
            <a:spAutoFit/>
          </a:bodyPr>
          <a:lstStyle/>
          <a:p>
            <a:pPr algn="ctr"/>
            <a:r>
              <a:rPr lang="en-US" altLang="ko-KR" sz="1600" dirty="0">
                <a:solidFill>
                  <a:schemeClr val="bg1"/>
                </a:solidFill>
                <a:latin typeface="D2Coding" panose="020B0609020101020101" pitchFamily="49" charset="-127"/>
                <a:ea typeface="D2Coding" panose="020B0609020101020101" pitchFamily="49" charset="-127"/>
              </a:rPr>
              <a:t>temps, winds,…</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65498" y="3233757"/>
            <a:ext cx="6524625"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13E7A300-CE2B-FC1E-BD8C-01CE5B60765B}"/>
              </a:ext>
            </a:extLst>
          </p:cNvPr>
          <p:cNvSpPr>
            <a:spLocks noChangeArrowheads="1"/>
          </p:cNvSpPr>
          <p:nvPr/>
        </p:nvSpPr>
        <p:spPr bwMode="auto">
          <a:xfrm>
            <a:off x="627003" y="1232381"/>
            <a:ext cx="10937993" cy="16289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Features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(특성/세로축): 각 시점마다 입력되는 변수들의 종류(예: 기온</a:t>
            </a:r>
            <a:r>
              <a:rPr kumimoji="0" lang="en-US"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_</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temps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풍속</a:t>
            </a:r>
            <a:r>
              <a:rPr kumimoji="0" lang="en-US"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_</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등). </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Timesteps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(시계열 길이/가로축): 슬라이딩 윈도우의 길이(</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Sliding</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window</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length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모델이 미래를 예측하기 위해 한 번에 훑어보는 과거 시간의 길이(예: 과거 7일간의 데이터)</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
              <a:tabLst/>
            </a:pP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Samples</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(샘플 수/</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깊이축</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데이터의 개수</a:t>
            </a:r>
            <a:r>
              <a:rPr kumimoji="0" lang="ko-KR" altLang="en-US"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로 </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슬라이딩 윈도우를 한 칸씩 이동하면서 만들어진 전체 데이터 묶음들의 수(또는 학습 시 지정하는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Batch</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4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size</a:t>
            </a:r>
            <a:r>
              <a:rPr kumimoji="0" lang="ko-KR" altLang="ko-KR" sz="14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)를 의미하며, 이 단위로 딥러닝 모델에 데이터가 투입</a:t>
            </a:r>
          </a:p>
        </p:txBody>
      </p:sp>
    </p:spTree>
    <p:extLst>
      <p:ext uri="{BB962C8B-B14F-4D97-AF65-F5344CB8AC3E}">
        <p14:creationId xmlns:p14="http://schemas.microsoft.com/office/powerpoint/2010/main" val="31340995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3206F-13DA-E637-93F1-FB2D9F473BE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3CE03C1-4AB0-5E8A-3B60-572F4D5A7C7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8E48454E-FA72-53F2-D5E8-CFBCC206A8A1}"/>
              </a:ext>
            </a:extLst>
          </p:cNvPr>
          <p:cNvSpPr txBox="1"/>
          <p:nvPr/>
        </p:nvSpPr>
        <p:spPr>
          <a:xfrm>
            <a:off x="617781" y="1188704"/>
            <a:ext cx="10955093" cy="1396664"/>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600" b="1" i="1" dirty="0">
                <a:effectLst/>
                <a:latin typeface="D2Coding" panose="020B0609020101020101" pitchFamily="49" charset="-127"/>
                <a:ea typeface="D2Coding" panose="020B0609020101020101" pitchFamily="49" charset="-127"/>
              </a:rPr>
              <a:t>A dataset of stock prices</a:t>
            </a:r>
            <a:r>
              <a:rPr lang="en-US" altLang="ko-KR" sz="1600" b="1" i="0" dirty="0">
                <a:effectLst/>
                <a:latin typeface="D2Coding" panose="020B0609020101020101" pitchFamily="49" charset="-127"/>
                <a:ea typeface="D2Coding" panose="020B0609020101020101" pitchFamily="49" charset="-127"/>
              </a:rPr>
              <a:t> </a:t>
            </a:r>
            <a:r>
              <a:rPr lang="en-US" altLang="ko-KR" sz="1400" b="0" i="0" dirty="0">
                <a:effectLst/>
                <a:latin typeface="D2Coding" panose="020B0609020101020101" pitchFamily="49" charset="-127"/>
                <a:ea typeface="D2Coding" panose="020B0609020101020101" pitchFamily="49" charset="-127"/>
              </a:rPr>
              <a:t>—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0" i="0" dirty="0">
                <a:effectLst/>
                <a:latin typeface="D2Coding" panose="020B0609020101020101" pitchFamily="49" charset="-127"/>
                <a:ea typeface="D2Coding" panose="020B0609020101020101" pitchFamily="49" charset="-127"/>
                <a:sym typeface="Wingdings" panose="05000000000000000000" pitchFamily="2" charset="2"/>
              </a:rPr>
              <a:t> </a:t>
            </a:r>
            <a:r>
              <a:rPr lang="en-US" altLang="ko-KR" sz="1400" dirty="0">
                <a:latin typeface="D2Coding" panose="020B0609020101020101" pitchFamily="49" charset="-127"/>
                <a:ea typeface="D2Coding" panose="020B0609020101020101" pitchFamily="49" charset="-127"/>
              </a:rPr>
              <a:t>(Batch size, Timesteps, # of Features)</a:t>
            </a:r>
          </a:p>
        </p:txBody>
      </p:sp>
      <p:sp>
        <p:nvSpPr>
          <p:cNvPr id="2" name="슬라이드 번호 개체 틀 3">
            <a:extLst>
              <a:ext uri="{FF2B5EF4-FFF2-40B4-BE49-F238E27FC236}">
                <a16:creationId xmlns:a16="http://schemas.microsoft.com/office/drawing/2014/main" id="{9272A986-09DB-2158-5721-C2031ACEF395}"/>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7CAA12E3-A765-BB3F-CEAD-C650A184AC6E}"/>
              </a:ext>
            </a:extLst>
          </p:cNvPr>
          <p:cNvSpPr>
            <a:spLocks noChangeArrowheads="1"/>
          </p:cNvSpPr>
          <p:nvPr/>
        </p:nvSpPr>
        <p:spPr bwMode="auto">
          <a:xfrm>
            <a:off x="609240" y="4746002"/>
            <a:ext cx="2240703"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 </a:t>
            </a:r>
            <a:r>
              <a:rPr lang="en-US" altLang="ko-KR" sz="1600" dirty="0">
                <a:latin typeface="D2Coding" panose="020B0609020101020101" pitchFamily="49" charset="-127"/>
                <a:ea typeface="D2Coding" panose="020B0609020101020101" pitchFamily="49" charset="-127"/>
              </a:rPr>
              <a:t>Features</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(현재가</a:t>
            </a:r>
            <a:r>
              <a:rPr lang="en-US" altLang="ko-KR" sz="1600" dirty="0">
                <a:latin typeface="D2Coding" panose="020B0609020101020101" pitchFamily="49" charset="-127"/>
                <a:ea typeface="D2Coding" panose="020B0609020101020101" pitchFamily="49" charset="-127"/>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고가</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저가)</a:t>
            </a:r>
          </a:p>
        </p:txBody>
      </p:sp>
      <p:sp>
        <p:nvSpPr>
          <p:cNvPr id="5" name="Rectangle 1">
            <a:extLst>
              <a:ext uri="{FF2B5EF4-FFF2-40B4-BE49-F238E27FC236}">
                <a16:creationId xmlns:a16="http://schemas.microsoft.com/office/drawing/2014/main" id="{ED086407-0C27-B277-CBE3-49F7D18518E5}"/>
              </a:ext>
            </a:extLst>
          </p:cNvPr>
          <p:cNvSpPr>
            <a:spLocks noChangeArrowheads="1"/>
          </p:cNvSpPr>
          <p:nvPr/>
        </p:nvSpPr>
        <p:spPr bwMode="auto">
          <a:xfrm>
            <a:off x="5877910" y="5500276"/>
            <a:ext cx="1037289"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50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days</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(250일치) </a:t>
            </a:r>
          </a:p>
        </p:txBody>
      </p:sp>
      <p:sp>
        <p:nvSpPr>
          <p:cNvPr id="6" name="Rectangle 1">
            <a:extLst>
              <a:ext uri="{FF2B5EF4-FFF2-40B4-BE49-F238E27FC236}">
                <a16:creationId xmlns:a16="http://schemas.microsoft.com/office/drawing/2014/main" id="{397A17D8-F922-12A1-439A-6F8309529C96}"/>
              </a:ext>
            </a:extLst>
          </p:cNvPr>
          <p:cNvSpPr>
            <a:spLocks noChangeArrowheads="1"/>
          </p:cNvSpPr>
          <p:nvPr/>
        </p:nvSpPr>
        <p:spPr bwMode="auto">
          <a:xfrm>
            <a:off x="2902047" y="5989507"/>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390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min</a:t>
            </a:r>
          </a:p>
          <a:p>
            <a:pPr marL="0" marR="0" lvl="0" indent="0" algn="ctr" defTabSz="914400" rtl="0" eaLnBrk="0" fontAlgn="base" latinLnBrk="0" hangingPunct="0">
              <a:lnSpc>
                <a:spcPct val="100000"/>
              </a:lnSpc>
              <a:spcBef>
                <a:spcPct val="0"/>
              </a:spcBef>
              <a:spcAft>
                <a:spcPct val="0"/>
              </a:spcAft>
              <a:buClrTx/>
              <a:buSzTx/>
              <a:buFontTx/>
              <a:buNone/>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(하루 390분)</a:t>
            </a:r>
          </a:p>
        </p:txBody>
      </p:sp>
      <p:sp>
        <p:nvSpPr>
          <p:cNvPr id="8" name="직사각형 7">
            <a:extLst>
              <a:ext uri="{FF2B5EF4-FFF2-40B4-BE49-F238E27FC236}">
                <a16:creationId xmlns:a16="http://schemas.microsoft.com/office/drawing/2014/main" id="{DF159F2F-33C7-AF3D-0895-99D23883B256}"/>
              </a:ext>
            </a:extLst>
          </p:cNvPr>
          <p:cNvSpPr/>
          <p:nvPr/>
        </p:nvSpPr>
        <p:spPr>
          <a:xfrm>
            <a:off x="4307268" y="3789584"/>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EB10AD50-6D52-011B-8641-8846409B7052}"/>
              </a:ext>
            </a:extLst>
          </p:cNvPr>
          <p:cNvSpPr/>
          <p:nvPr/>
        </p:nvSpPr>
        <p:spPr>
          <a:xfrm>
            <a:off x="4021518" y="3960890"/>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07FF978-B948-B87C-153F-FB8A28592B81}"/>
              </a:ext>
            </a:extLst>
          </p:cNvPr>
          <p:cNvSpPr/>
          <p:nvPr/>
        </p:nvSpPr>
        <p:spPr>
          <a:xfrm>
            <a:off x="3735768" y="4132196"/>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0A037954-287C-8BBD-E27D-DACCDD2931EA}"/>
              </a:ext>
            </a:extLst>
          </p:cNvPr>
          <p:cNvSpPr/>
          <p:nvPr/>
        </p:nvSpPr>
        <p:spPr>
          <a:xfrm>
            <a:off x="3440493" y="4303502"/>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B4472D33-FA00-A518-E9C8-BF6E7ABBD9A3}"/>
              </a:ext>
            </a:extLst>
          </p:cNvPr>
          <p:cNvSpPr/>
          <p:nvPr/>
        </p:nvSpPr>
        <p:spPr>
          <a:xfrm>
            <a:off x="3145218" y="4474810"/>
            <a:ext cx="2142142" cy="981109"/>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B64FD727-0980-DF31-3DB8-4B26937D3E63}"/>
              </a:ext>
            </a:extLst>
          </p:cNvPr>
          <p:cNvSpPr txBox="1"/>
          <p:nvPr/>
        </p:nvSpPr>
        <p:spPr>
          <a:xfrm>
            <a:off x="7439280" y="2672202"/>
            <a:ext cx="411480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(1</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[70500.0, 71000.0, 70200.0],  # Timestep 0  : 1</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[70600.0, 70800.0, 70500.0],  # Timestep 1  : 2</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[70400.0, 70700.0, 70300.0],  # Timestep 2  : 3</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현재가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고가</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저가</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[71200.0, 71500.0, 71000.0]   # Timestep 389: 390</a:t>
            </a:r>
            <a:r>
              <a:rPr lang="ko-KR" altLang="en-US" sz="900" dirty="0">
                <a:solidFill>
                  <a:schemeClr val="bg1"/>
                </a:solidFill>
                <a:latin typeface="Calibri Light" panose="020F0302020204030204" pitchFamily="34" charset="0"/>
                <a:cs typeface="Calibri Light" panose="020F0302020204030204" pitchFamily="34" charset="0"/>
              </a:rPr>
              <a:t>분째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장 마감 시점</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(390, 3) -&gt; </a:t>
            </a:r>
            <a:r>
              <a:rPr lang="ko-KR" altLang="en-US" sz="900" dirty="0">
                <a:solidFill>
                  <a:schemeClr val="bg1"/>
                </a:solidFill>
                <a:latin typeface="Calibri Light" panose="020F0302020204030204" pitchFamily="34" charset="0"/>
                <a:cs typeface="Calibri Light" panose="020F0302020204030204" pitchFamily="34" charset="0"/>
              </a:rPr>
              <a:t>하루치</a:t>
            </a:r>
            <a:r>
              <a:rPr lang="en-US" altLang="ko-KR" sz="900" dirty="0">
                <a:solidFill>
                  <a:schemeClr val="bg1"/>
                </a:solidFill>
                <a:latin typeface="Calibri Light" panose="020F0302020204030204" pitchFamily="34" charset="0"/>
                <a:cs typeface="Calibri Light" panose="020F0302020204030204" pitchFamily="34" charset="0"/>
              </a:rPr>
              <a:t>(1</a:t>
            </a:r>
            <a:r>
              <a:rPr lang="ko-KR" altLang="en-US" sz="900" dirty="0">
                <a:solidFill>
                  <a:schemeClr val="bg1"/>
                </a:solidFill>
                <a:latin typeface="Calibri Light" panose="020F0302020204030204" pitchFamily="34" charset="0"/>
                <a:cs typeface="Calibri Light" panose="020F0302020204030204" pitchFamily="34" charset="0"/>
              </a:rPr>
              <a:t>일</a:t>
            </a:r>
            <a:r>
              <a:rPr lang="en-US" altLang="ko-KR" sz="900" dirty="0">
                <a:solidFill>
                  <a:schemeClr val="bg1"/>
                </a:solidFill>
                <a:latin typeface="Calibri Light" panose="020F0302020204030204" pitchFamily="34" charset="0"/>
                <a:cs typeface="Calibri Light" panose="020F0302020204030204" pitchFamily="34" charset="0"/>
              </a:rPr>
              <a:t>) </a:t>
            </a:r>
            <a:r>
              <a:rPr lang="ko-KR" altLang="en-US" sz="900" dirty="0">
                <a:solidFill>
                  <a:schemeClr val="bg1"/>
                </a:solidFill>
                <a:latin typeface="Calibri Light" panose="020F0302020204030204" pitchFamily="34" charset="0"/>
                <a:cs typeface="Calibri Light" panose="020F0302020204030204" pitchFamily="34" charset="0"/>
              </a:rPr>
              <a:t>거래 </a:t>
            </a:r>
            <a:r>
              <a:rPr lang="en-US" altLang="ko-KR" sz="900" dirty="0">
                <a:solidFill>
                  <a:schemeClr val="bg1"/>
                </a:solidFill>
                <a:latin typeface="Calibri Light" panose="020F0302020204030204" pitchFamily="34" charset="0"/>
                <a:cs typeface="Calibri Light" panose="020F0302020204030204" pitchFamily="34" charset="0"/>
              </a:rPr>
              <a:t>2D </a:t>
            </a:r>
            <a:r>
              <a:rPr lang="ko-KR" altLang="en-US" sz="900" dirty="0">
                <a:solidFill>
                  <a:schemeClr val="bg1"/>
                </a:solidFill>
                <a:latin typeface="Calibri Light" panose="020F0302020204030204" pitchFamily="34" charset="0"/>
                <a:cs typeface="Calibri Light" panose="020F0302020204030204" pitchFamily="34" charset="0"/>
              </a:rPr>
              <a:t>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(2</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[71300.0, 71800.0, 71200.0],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[71500.0, 71600.0, 71300.0],  # Timestep 1  : 2</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[72000.0, 72200.0, 71900.0]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249 (250</a:t>
            </a:r>
            <a:r>
              <a:rPr lang="ko-KR" altLang="en-US" sz="900" dirty="0">
                <a:solidFill>
                  <a:schemeClr val="bg1"/>
                </a:solidFill>
                <a:latin typeface="Calibri Light" panose="020F0302020204030204" pitchFamily="34" charset="0"/>
                <a:cs typeface="Calibri Light" panose="020F0302020204030204" pitchFamily="34" charset="0"/>
              </a:rPr>
              <a:t>일 차 거래 데이터</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[68000.0, 68500.0, 67900.0],  # Timestep 0  : 1</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[69100.0, 69300.0, 68800.0]   # Timestep 389: 390</a:t>
            </a:r>
            <a:r>
              <a:rPr lang="ko-KR" altLang="en-US" sz="900" dirty="0">
                <a:solidFill>
                  <a:schemeClr val="bg1"/>
                </a:solidFill>
                <a:latin typeface="Calibri Light" panose="020F0302020204030204" pitchFamily="34" charset="0"/>
                <a:cs typeface="Calibri Light" panose="020F0302020204030204" pitchFamily="34" charset="0"/>
              </a:rPr>
              <a:t>분째</a:t>
            </a: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
        <p:nvSpPr>
          <p:cNvPr id="7" name="왼쪽 중괄호 6">
            <a:extLst>
              <a:ext uri="{FF2B5EF4-FFF2-40B4-BE49-F238E27FC236}">
                <a16:creationId xmlns:a16="http://schemas.microsoft.com/office/drawing/2014/main" id="{627DBF7F-4DEA-5C88-2727-354E5C3DD492}"/>
              </a:ext>
            </a:extLst>
          </p:cNvPr>
          <p:cNvSpPr/>
          <p:nvPr/>
        </p:nvSpPr>
        <p:spPr>
          <a:xfrm>
            <a:off x="2802572" y="4490748"/>
            <a:ext cx="190246" cy="949231"/>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9" name="왼쪽 중괄호 8">
            <a:extLst>
              <a:ext uri="{FF2B5EF4-FFF2-40B4-BE49-F238E27FC236}">
                <a16:creationId xmlns:a16="http://schemas.microsoft.com/office/drawing/2014/main" id="{DBB2F763-D1A0-5F12-E69A-366DB63B9C91}"/>
              </a:ext>
            </a:extLst>
          </p:cNvPr>
          <p:cNvSpPr/>
          <p:nvPr/>
        </p:nvSpPr>
        <p:spPr>
          <a:xfrm rot="16200000">
            <a:off x="4097986" y="4706853"/>
            <a:ext cx="218948" cy="2053124"/>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1" name="왼쪽 중괄호 10">
            <a:extLst>
              <a:ext uri="{FF2B5EF4-FFF2-40B4-BE49-F238E27FC236}">
                <a16:creationId xmlns:a16="http://schemas.microsoft.com/office/drawing/2014/main" id="{8621A218-679E-9132-63F5-3B49374C1CE9}"/>
              </a:ext>
            </a:extLst>
          </p:cNvPr>
          <p:cNvSpPr/>
          <p:nvPr/>
        </p:nvSpPr>
        <p:spPr>
          <a:xfrm rot="14331003">
            <a:off x="5912756" y="4646144"/>
            <a:ext cx="218948" cy="1365651"/>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7" name="TextBox 16">
            <a:extLst>
              <a:ext uri="{FF2B5EF4-FFF2-40B4-BE49-F238E27FC236}">
                <a16:creationId xmlns:a16="http://schemas.microsoft.com/office/drawing/2014/main" id="{818BB3DE-384A-29CE-CA30-64AA8876FE71}"/>
              </a:ext>
            </a:extLst>
          </p:cNvPr>
          <p:cNvSpPr txBox="1"/>
          <p:nvPr/>
        </p:nvSpPr>
        <p:spPr>
          <a:xfrm>
            <a:off x="609240" y="3097626"/>
            <a:ext cx="6639182" cy="276999"/>
          </a:xfrm>
          <a:prstGeom prst="rect">
            <a:avLst/>
          </a:prstGeom>
          <a:solidFill>
            <a:schemeClr val="accent1"/>
          </a:solidFill>
        </p:spPr>
        <p:txBody>
          <a:bodyPr wrap="square">
            <a:spAutoFit/>
          </a:bodyPr>
          <a:lstStyle/>
          <a:p>
            <a:pPr algn="ctr"/>
            <a:r>
              <a:rPr lang="en-US" altLang="ko-KR" sz="1200" b="0" i="0" dirty="0">
                <a:solidFill>
                  <a:schemeClr val="bg1"/>
                </a:solidFill>
                <a:effectLst/>
                <a:latin typeface="D2Coding" panose="020B0609020101020101" pitchFamily="49" charset="-127"/>
                <a:ea typeface="D2Coding" panose="020B0609020101020101" pitchFamily="49" charset="-127"/>
              </a:rPr>
              <a:t>rank-3 tensor of shape (250, 390, 3) </a:t>
            </a:r>
            <a:r>
              <a:rPr lang="en-US" altLang="ko-KR" sz="1200" b="0" i="0" dirty="0">
                <a:solidFill>
                  <a:schemeClr val="bg1"/>
                </a:solidFill>
                <a:effectLst/>
                <a:latin typeface="D2Coding" panose="020B0609020101020101" pitchFamily="49" charset="-127"/>
                <a:ea typeface="D2Coding" panose="020B0609020101020101" pitchFamily="49" charset="-127"/>
                <a:sym typeface="Wingdings" panose="05000000000000000000" pitchFamily="2" charset="2"/>
              </a:rPr>
              <a:t> </a:t>
            </a:r>
            <a:r>
              <a:rPr lang="en-US" altLang="ko-KR" sz="1200" dirty="0">
                <a:solidFill>
                  <a:schemeClr val="bg1"/>
                </a:solidFill>
                <a:latin typeface="D2Coding" panose="020B0609020101020101" pitchFamily="49" charset="-127"/>
                <a:ea typeface="D2Coding" panose="020B0609020101020101" pitchFamily="49" charset="-127"/>
              </a:rPr>
              <a:t>(Batch size, Timesteps, # of Features)</a:t>
            </a:r>
            <a:endParaRPr lang="ko-KR" altLang="en-US" sz="1200" dirty="0">
              <a:solidFill>
                <a:schemeClr val="bg1"/>
              </a:solidFill>
            </a:endParaRPr>
          </a:p>
        </p:txBody>
      </p:sp>
    </p:spTree>
    <p:extLst>
      <p:ext uri="{BB962C8B-B14F-4D97-AF65-F5344CB8AC3E}">
        <p14:creationId xmlns:p14="http://schemas.microsoft.com/office/powerpoint/2010/main" val="2132790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64856-2697-B254-2AF7-2F995A4352F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8F97AB-AE0A-9BC4-2D74-5881AFB942C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sp>
        <p:nvSpPr>
          <p:cNvPr id="10" name="TextBox 9">
            <a:extLst>
              <a:ext uri="{FF2B5EF4-FFF2-40B4-BE49-F238E27FC236}">
                <a16:creationId xmlns:a16="http://schemas.microsoft.com/office/drawing/2014/main" id="{74674BE7-A73E-7A0A-6192-036CC37B706B}"/>
              </a:ext>
            </a:extLst>
          </p:cNvPr>
          <p:cNvSpPr txBox="1"/>
          <p:nvPr/>
        </p:nvSpPr>
        <p:spPr>
          <a:xfrm>
            <a:off x="617781" y="1186164"/>
            <a:ext cx="10955093" cy="1351973"/>
          </a:xfrm>
          <a:prstGeom prst="rect">
            <a:avLst/>
          </a:prstGeom>
          <a:noFill/>
          <a:ln>
            <a:noFill/>
          </a:ln>
        </p:spPr>
        <p:txBody>
          <a:bodyPr wrap="square">
            <a:spAutoFit/>
          </a:bodyPr>
          <a:lstStyle/>
          <a:p>
            <a:pPr marL="285750" indent="-285750" algn="just">
              <a:lnSpc>
                <a:spcPct val="150000"/>
              </a:lnSpc>
              <a:buFont typeface="Wingdings" panose="05000000000000000000" pitchFamily="2" charset="2"/>
              <a:buChar char="v"/>
            </a:pPr>
            <a:r>
              <a:rPr lang="en-US" altLang="ko-KR" sz="1400" b="1" i="1" dirty="0">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1"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B98289C3-2036-C86F-B298-743B29B5768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DF6441B7-8549-D2AC-B4CE-CE0A975453C1}"/>
              </a:ext>
            </a:extLst>
          </p:cNvPr>
          <p:cNvSpPr>
            <a:spLocks noChangeArrowheads="1"/>
          </p:cNvSpPr>
          <p:nvPr/>
        </p:nvSpPr>
        <p:spPr bwMode="auto">
          <a:xfrm>
            <a:off x="629040" y="4704048"/>
            <a:ext cx="2476292"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algn="ctr" eaLnBrk="0" fontAlgn="base" hangingPunct="0">
              <a:spcBef>
                <a:spcPct val="0"/>
              </a:spcBef>
              <a:spcAft>
                <a:spcPct val="0"/>
              </a:spcAft>
            </a:pPr>
            <a:r>
              <a:rPr lang="en-US" altLang="ko-KR" sz="1600" b="1" dirty="0">
                <a:latin typeface="D2Coding" panose="020B0609020101020101" pitchFamily="49" charset="-127"/>
                <a:ea typeface="D2Coding" panose="020B0609020101020101" pitchFamily="49" charset="-127"/>
              </a:rPr>
              <a:t>128</a:t>
            </a:r>
            <a:r>
              <a:rPr lang="ko-KR" altLang="ko-KR" sz="1600" dirty="0">
                <a:latin typeface="D2Coding" panose="020B0609020101020101" pitchFamily="49" charset="-127"/>
                <a:ea typeface="D2Coding" panose="020B0609020101020101" pitchFamily="49" charset="-127"/>
              </a:rPr>
              <a:t> (문자 인코딩 차원)</a:t>
            </a:r>
            <a:endParaRPr lang="en-US" altLang="ko-KR" sz="1600" dirty="0">
              <a:latin typeface="D2Coding" panose="020B0609020101020101" pitchFamily="49" charset="-127"/>
              <a:ea typeface="D2Coding" panose="020B0609020101020101" pitchFamily="49" charset="-127"/>
            </a:endParaRPr>
          </a:p>
          <a:p>
            <a:pPr algn="ctr" eaLnBrk="0" fontAlgn="base" hangingPunct="0">
              <a:spcBef>
                <a:spcPct val="0"/>
              </a:spcBef>
              <a:spcAft>
                <a:spcPct val="0"/>
              </a:spcAft>
            </a:pPr>
            <a:r>
              <a:rPr lang="en-US" altLang="ko-KR" sz="1600" dirty="0">
                <a:latin typeface="D2Coding" panose="020B0609020101020101" pitchFamily="49" charset="-127"/>
                <a:ea typeface="D2Coding" panose="020B0609020101020101" pitchFamily="49" charset="-127"/>
              </a:rPr>
              <a:t>Embedding vectors</a:t>
            </a:r>
            <a:endParaRPr lang="ko-KR" altLang="ko-KR" sz="1600" dirty="0">
              <a:latin typeface="D2Coding" panose="020B0609020101020101" pitchFamily="49" charset="-127"/>
              <a:ea typeface="D2Coding" panose="020B0609020101020101" pitchFamily="49" charset="-127"/>
            </a:endParaRPr>
          </a:p>
        </p:txBody>
      </p:sp>
      <p:sp>
        <p:nvSpPr>
          <p:cNvPr id="5" name="Rectangle 1">
            <a:extLst>
              <a:ext uri="{FF2B5EF4-FFF2-40B4-BE49-F238E27FC236}">
                <a16:creationId xmlns:a16="http://schemas.microsoft.com/office/drawing/2014/main" id="{A1971871-BF30-B1F4-9E41-9936364DF5A2}"/>
              </a:ext>
            </a:extLst>
          </p:cNvPr>
          <p:cNvSpPr>
            <a:spLocks noChangeArrowheads="1"/>
          </p:cNvSpPr>
          <p:nvPr/>
        </p:nvSpPr>
        <p:spPr bwMode="auto">
          <a:xfrm>
            <a:off x="5457825" y="5487271"/>
            <a:ext cx="1523896" cy="5386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algn="ctr"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1,000,000</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lvl="0" algn="ctr" eaLnBrk="0" fontAlgn="base" hangingPunct="0">
              <a:spcBef>
                <a:spcPct val="0"/>
              </a:spcBef>
              <a:spcAft>
                <a:spcPct val="0"/>
              </a:spcAft>
            </a:pPr>
            <a:r>
              <a:rPr lang="ko-KR" altLang="ko-KR" sz="1600" dirty="0">
                <a:latin typeface="D2Coding" panose="020B0609020101020101" pitchFamily="49" charset="-127"/>
                <a:ea typeface="D2Coding" panose="020B0609020101020101" pitchFamily="49" charset="-127"/>
              </a:rPr>
              <a:t>(100만개 트윗)</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p>
        </p:txBody>
      </p:sp>
      <p:sp>
        <p:nvSpPr>
          <p:cNvPr id="6" name="Rectangle 1">
            <a:extLst>
              <a:ext uri="{FF2B5EF4-FFF2-40B4-BE49-F238E27FC236}">
                <a16:creationId xmlns:a16="http://schemas.microsoft.com/office/drawing/2014/main" id="{6233A520-1D81-E17B-2ADD-069D0AAF4F07}"/>
              </a:ext>
            </a:extLst>
          </p:cNvPr>
          <p:cNvSpPr>
            <a:spLocks noChangeArrowheads="1"/>
          </p:cNvSpPr>
          <p:nvPr/>
        </p:nvSpPr>
        <p:spPr bwMode="auto">
          <a:xfrm>
            <a:off x="2981533" y="6025880"/>
            <a:ext cx="247629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lvl="0" eaLnBrk="0" fontAlgn="base" hangingPunct="0">
              <a:spcBef>
                <a:spcPct val="0"/>
              </a:spcBef>
              <a:spcAft>
                <a:spcPct val="0"/>
              </a:spcAft>
            </a:pPr>
            <a:r>
              <a:rPr lang="ko-KR" altLang="ko-KR" sz="1600" b="1" dirty="0">
                <a:latin typeface="D2Coding" panose="020B0609020101020101" pitchFamily="49" charset="-127"/>
                <a:ea typeface="D2Coding" panose="020B0609020101020101" pitchFamily="49" charset="-127"/>
              </a:rPr>
              <a:t>280</a:t>
            </a:r>
            <a:r>
              <a:rPr lang="ko-KR" altLang="ko-KR" sz="1600" dirty="0">
                <a:latin typeface="D2Coding" panose="020B0609020101020101" pitchFamily="49" charset="-127"/>
                <a:ea typeface="D2Coding" panose="020B0609020101020101" pitchFamily="49" charset="-127"/>
              </a:rPr>
              <a:t> (최대 280글자)</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8" name="직사각형 7">
            <a:extLst>
              <a:ext uri="{FF2B5EF4-FFF2-40B4-BE49-F238E27FC236}">
                <a16:creationId xmlns:a16="http://schemas.microsoft.com/office/drawing/2014/main" id="{99CD4878-C6DA-69D8-8A85-927C2C6618E1}"/>
              </a:ext>
            </a:extLst>
          </p:cNvPr>
          <p:cNvSpPr/>
          <p:nvPr/>
        </p:nvSpPr>
        <p:spPr>
          <a:xfrm>
            <a:off x="4201508" y="3773169"/>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DE6873BF-607C-4624-A2C5-167CDD51E70C}"/>
              </a:ext>
            </a:extLst>
          </p:cNvPr>
          <p:cNvSpPr/>
          <p:nvPr/>
        </p:nvSpPr>
        <p:spPr>
          <a:xfrm>
            <a:off x="3915758" y="394447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6C5EA5AF-1600-2940-0DA2-8AE4B4E6E0B5}"/>
              </a:ext>
            </a:extLst>
          </p:cNvPr>
          <p:cNvSpPr/>
          <p:nvPr/>
        </p:nvSpPr>
        <p:spPr>
          <a:xfrm>
            <a:off x="3630008" y="4115781"/>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직사각형 13">
            <a:extLst>
              <a:ext uri="{FF2B5EF4-FFF2-40B4-BE49-F238E27FC236}">
                <a16:creationId xmlns:a16="http://schemas.microsoft.com/office/drawing/2014/main" id="{D5058F58-336E-E1A3-93C9-F55C54D17582}"/>
              </a:ext>
            </a:extLst>
          </p:cNvPr>
          <p:cNvSpPr/>
          <p:nvPr/>
        </p:nvSpPr>
        <p:spPr>
          <a:xfrm>
            <a:off x="3334733" y="4287087"/>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E29B46FB-0C0A-E50E-AF57-230FFA62C019}"/>
              </a:ext>
            </a:extLst>
          </p:cNvPr>
          <p:cNvSpPr/>
          <p:nvPr/>
        </p:nvSpPr>
        <p:spPr>
          <a:xfrm>
            <a:off x="3039458" y="4458395"/>
            <a:ext cx="1542067" cy="1200184"/>
          </a:xfrm>
          <a:prstGeom prst="rect">
            <a:avLst/>
          </a:prstGeom>
          <a:solidFill>
            <a:schemeClr val="tx2">
              <a:lumMod val="20000"/>
              <a:lumOff val="80000"/>
            </a:schemeClr>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TextBox 15">
            <a:extLst>
              <a:ext uri="{FF2B5EF4-FFF2-40B4-BE49-F238E27FC236}">
                <a16:creationId xmlns:a16="http://schemas.microsoft.com/office/drawing/2014/main" id="{3AE6937D-9826-9007-BE74-FFB843EAE271}"/>
              </a:ext>
            </a:extLst>
          </p:cNvPr>
          <p:cNvSpPr txBox="1"/>
          <p:nvPr/>
        </p:nvSpPr>
        <p:spPr>
          <a:xfrm>
            <a:off x="7286625" y="2672202"/>
            <a:ext cx="4467482" cy="3831818"/>
          </a:xfrm>
          <a:prstGeom prst="rect">
            <a:avLst/>
          </a:prstGeom>
          <a:solidFill>
            <a:schemeClr val="tx1"/>
          </a:solidFill>
        </p:spPr>
        <p:txBody>
          <a:bodyPr wrap="square">
            <a:spAutoFit/>
          </a:bodyPr>
          <a:lstStyle/>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 Sample 0 (</a:t>
            </a:r>
            <a:r>
              <a:rPr lang="ko-KR" altLang="en-US" sz="900" dirty="0">
                <a:solidFill>
                  <a:schemeClr val="bg1"/>
                </a:solidFill>
                <a:latin typeface="Calibri Light" panose="020F0302020204030204" pitchFamily="34" charset="0"/>
                <a:cs typeface="Calibri Light" panose="020F0302020204030204" pitchFamily="34" charset="0"/>
              </a:rPr>
              <a:t>첫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[ 0.12, -0.85,  0.43, ...,  0.07],  # Timestep 0 : 1</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[-0.41,  0.22, -0.19, ..., -0.63],  # Timestep 1 : 2</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('w'</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[ 0.95, -0.04,  0.51, ...,  0.31],  # Timestep 2 : 3</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('e'</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[-0.11,  0.78, -0.34, ..., -0.25]   # Timestep 279: 280</a:t>
            </a:r>
            <a:r>
              <a:rPr lang="ko-KR" altLang="en-US" sz="900" dirty="0">
                <a:solidFill>
                  <a:schemeClr val="bg1"/>
                </a:solidFill>
                <a:latin typeface="Calibri Light" panose="020F0302020204030204" pitchFamily="34" charset="0"/>
                <a:cs typeface="Calibri Light" panose="020F0302020204030204" pitchFamily="34" charset="0"/>
              </a:rPr>
              <a:t>번째 글자 </a:t>
            </a:r>
            <a:r>
              <a:rPr lang="en-US" altLang="ko-KR" sz="900" dirty="0">
                <a:solidFill>
                  <a:schemeClr val="bg1"/>
                </a:solidFill>
                <a:latin typeface="Calibri Light" panose="020F0302020204030204" pitchFamily="34" charset="0"/>
                <a:cs typeface="Calibri Light" panose="020F0302020204030204" pitchFamily="34" charset="0"/>
              </a:rPr>
              <a:t>('!'</a:t>
            </a:r>
            <a:r>
              <a:rPr lang="ko-KR" altLang="en-US" sz="900" dirty="0">
                <a:solidFill>
                  <a:schemeClr val="bg1"/>
                </a:solidFill>
                <a:latin typeface="Calibri Light" panose="020F0302020204030204" pitchFamily="34" charset="0"/>
                <a:cs typeface="Calibri Light" panose="020F0302020204030204" pitchFamily="34" charset="0"/>
              </a:rPr>
              <a:t>의 </a:t>
            </a:r>
            <a:r>
              <a:rPr lang="en-US" altLang="ko-KR" sz="900" dirty="0">
                <a:solidFill>
                  <a:schemeClr val="bg1"/>
                </a:solidFill>
                <a:latin typeface="Calibri Light" panose="020F0302020204030204" pitchFamily="34" charset="0"/>
                <a:cs typeface="Calibri Light" panose="020F0302020204030204" pitchFamily="34" charset="0"/>
              </a:rPr>
              <a:t>32</a:t>
            </a:r>
            <a:r>
              <a:rPr lang="ko-KR" altLang="en-US" sz="900" dirty="0">
                <a:solidFill>
                  <a:schemeClr val="bg1"/>
                </a:solidFill>
                <a:latin typeface="Calibri Light" panose="020F0302020204030204" pitchFamily="34" charset="0"/>
                <a:cs typeface="Calibri Light" panose="020F0302020204030204" pitchFamily="34" charset="0"/>
              </a:rPr>
              <a:t>차원 실수 벡터</a:t>
            </a:r>
            <a:r>
              <a:rPr lang="en-US" altLang="ko-KR" sz="900" dirty="0">
                <a:solidFill>
                  <a:schemeClr val="bg1"/>
                </a:solidFill>
                <a:latin typeface="Calibri Light" panose="020F0302020204030204" pitchFamily="34" charset="0"/>
                <a:cs typeface="Calibri Light" panose="020F0302020204030204" pitchFamily="34" charset="0"/>
              </a:rPr>
              <a:t>)</a:t>
            </a:r>
          </a:p>
          <a:p>
            <a:r>
              <a:rPr lang="en-US" altLang="ko-KR" sz="900" dirty="0">
                <a:solidFill>
                  <a:schemeClr val="bg1"/>
                </a:solidFill>
                <a:latin typeface="Calibri Light" panose="020F0302020204030204" pitchFamily="34" charset="0"/>
                <a:cs typeface="Calibri Light" panose="020F0302020204030204" pitchFamily="34" charset="0"/>
              </a:rPr>
              <a:t>    ],  # Shape: (280, 32) -&gt; </a:t>
            </a:r>
            <a:r>
              <a:rPr lang="ko-KR" altLang="en-US" sz="900" dirty="0">
                <a:solidFill>
                  <a:schemeClr val="bg1"/>
                </a:solidFill>
                <a:latin typeface="Calibri Light" panose="020F0302020204030204" pitchFamily="34" charset="0"/>
                <a:cs typeface="Calibri Light" panose="020F0302020204030204" pitchFamily="34" charset="0"/>
              </a:rPr>
              <a:t>단일 트윗의 </a:t>
            </a:r>
            <a:r>
              <a:rPr lang="ko-KR" altLang="en-US" sz="900" dirty="0" err="1">
                <a:solidFill>
                  <a:schemeClr val="bg1"/>
                </a:solidFill>
                <a:latin typeface="Calibri Light" panose="020F0302020204030204" pitchFamily="34" charset="0"/>
                <a:cs typeface="Calibri Light" panose="020F0302020204030204" pitchFamily="34" charset="0"/>
              </a:rPr>
              <a:t>임베딩</a:t>
            </a:r>
            <a:r>
              <a:rPr lang="ko-KR" altLang="en-US" sz="900" dirty="0">
                <a:solidFill>
                  <a:schemeClr val="bg1"/>
                </a:solidFill>
                <a:latin typeface="Calibri Light" panose="020F0302020204030204" pitchFamily="34" charset="0"/>
                <a:cs typeface="Calibri Light" panose="020F0302020204030204" pitchFamily="34" charset="0"/>
              </a:rPr>
              <a:t> 행렬</a:t>
            </a:r>
          </a:p>
          <a:p>
            <a:endParaRPr lang="ko-KR" altLang="en-US" sz="900" dirty="0">
              <a:solidFill>
                <a:schemeClr val="bg1"/>
              </a:solidFill>
              <a:latin typeface="Calibri Light" panose="020F0302020204030204" pitchFamily="34" charset="0"/>
              <a:cs typeface="Calibri Light" panose="020F0302020204030204" pitchFamily="34" charset="0"/>
            </a:endParaRPr>
          </a:p>
          <a:p>
            <a:r>
              <a:rPr lang="ko-KR" altLang="en-US" sz="900" dirty="0">
                <a:solidFill>
                  <a:schemeClr val="bg1"/>
                </a:solidFill>
                <a:latin typeface="Calibri Light" panose="020F0302020204030204" pitchFamily="34" charset="0"/>
                <a:cs typeface="Calibri Light" panose="020F0302020204030204" pitchFamily="34" charset="0"/>
              </a:rPr>
              <a:t>    </a:t>
            </a:r>
            <a:r>
              <a:rPr lang="en-US" altLang="ko-KR" sz="900" dirty="0">
                <a:solidFill>
                  <a:schemeClr val="bg1"/>
                </a:solidFill>
                <a:latin typeface="Calibri Light" panose="020F0302020204030204" pitchFamily="34" charset="0"/>
                <a:cs typeface="Calibri Light" panose="020F0302020204030204" pitchFamily="34" charset="0"/>
              </a:rPr>
              <a:t># --- Sample 1 (</a:t>
            </a:r>
            <a:r>
              <a:rPr lang="ko-KR" altLang="en-US" sz="900" dirty="0">
                <a:solidFill>
                  <a:schemeClr val="bg1"/>
                </a:solidFill>
                <a:latin typeface="Calibri Light" panose="020F0302020204030204" pitchFamily="34" charset="0"/>
                <a:cs typeface="Calibri Light" panose="020F0302020204030204" pitchFamily="34" charset="0"/>
              </a:rPr>
              <a:t>두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[ 0.54, -0.12,  0.88, ..., -0.42],  # Timestep 0</a:t>
            </a:r>
          </a:p>
          <a:p>
            <a:r>
              <a:rPr lang="en-US" altLang="ko-KR" sz="900" dirty="0">
                <a:solidFill>
                  <a:schemeClr val="bg1"/>
                </a:solidFill>
                <a:latin typeface="Calibri Light" panose="020F0302020204030204" pitchFamily="34" charset="0"/>
                <a:cs typeface="Calibri Light" panose="020F0302020204030204" pitchFamily="34" charset="0"/>
              </a:rPr>
              <a:t>        [-0.03,  0.61, -0.72, ...,  0.15],  # Timestep 1</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[ 0.27,  0.39, -0.05, ...,  0.81]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a:t>
            </a:r>
          </a:p>
          <a:p>
            <a:endParaRPr lang="en-US" altLang="ko-KR" sz="900" dirty="0">
              <a:solidFill>
                <a:schemeClr val="bg1"/>
              </a:solidFill>
              <a:latin typeface="Calibri Light" panose="020F0302020204030204" pitchFamily="34" charset="0"/>
              <a:cs typeface="Calibri Light" panose="020F0302020204030204" pitchFamily="34" charset="0"/>
            </a:endParaRPr>
          </a:p>
          <a:p>
            <a:r>
              <a:rPr lang="en-US" altLang="ko-KR" sz="900" dirty="0">
                <a:solidFill>
                  <a:schemeClr val="bg1"/>
                </a:solidFill>
                <a:latin typeface="Calibri Light" panose="020F0302020204030204" pitchFamily="34" charset="0"/>
                <a:cs typeface="Calibri Light" panose="020F0302020204030204" pitchFamily="34" charset="0"/>
              </a:rPr>
              <a:t>    # --- Sample 999999 (100</a:t>
            </a:r>
            <a:r>
              <a:rPr lang="ko-KR" altLang="en-US" sz="900" dirty="0">
                <a:solidFill>
                  <a:schemeClr val="bg1"/>
                </a:solidFill>
                <a:latin typeface="Calibri Light" panose="020F0302020204030204" pitchFamily="34" charset="0"/>
                <a:cs typeface="Calibri Light" panose="020F0302020204030204" pitchFamily="34" charset="0"/>
              </a:rPr>
              <a:t>만 번째 트윗</a:t>
            </a:r>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[-0.82,  0.19,  0.04, ..., -0.57],  # Timestep 0</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        [ 0.33, -0.48,  0.91, ...,  0.02]   # Timestep 279</a:t>
            </a:r>
          </a:p>
          <a:p>
            <a:r>
              <a:rPr lang="en-US" altLang="ko-KR" sz="900" dirty="0">
                <a:solidFill>
                  <a:schemeClr val="bg1"/>
                </a:solidFill>
                <a:latin typeface="Calibri Light" panose="020F0302020204030204" pitchFamily="34" charset="0"/>
                <a:cs typeface="Calibri Light" panose="020F0302020204030204" pitchFamily="34" charset="0"/>
              </a:rPr>
              <a:t>    ]</a:t>
            </a:r>
          </a:p>
          <a:p>
            <a:r>
              <a:rPr lang="en-US" altLang="ko-KR" sz="900" dirty="0">
                <a:solidFill>
                  <a:schemeClr val="bg1"/>
                </a:solidFill>
                <a:latin typeface="Calibri Light" panose="020F0302020204030204" pitchFamily="34" charset="0"/>
                <a:cs typeface="Calibri Light" panose="020F0302020204030204" pitchFamily="34" charset="0"/>
              </a:rPr>
              <a:t>]</a:t>
            </a:r>
            <a:endParaRPr lang="ko-KR" altLang="en-US" sz="900" dirty="0">
              <a:solidFill>
                <a:schemeClr val="bg1"/>
              </a:solidFill>
              <a:latin typeface="Calibri Light" panose="020F0302020204030204" pitchFamily="34" charset="0"/>
              <a:cs typeface="Calibri Light" panose="020F0302020204030204" pitchFamily="34" charset="0"/>
            </a:endParaRPr>
          </a:p>
        </p:txBody>
      </p:sp>
      <p:sp>
        <p:nvSpPr>
          <p:cNvPr id="7" name="TextBox 6">
            <a:extLst>
              <a:ext uri="{FF2B5EF4-FFF2-40B4-BE49-F238E27FC236}">
                <a16:creationId xmlns:a16="http://schemas.microsoft.com/office/drawing/2014/main" id="{14E785C6-7C76-9799-CA07-10B72D0F1215}"/>
              </a:ext>
            </a:extLst>
          </p:cNvPr>
          <p:cNvSpPr txBox="1"/>
          <p:nvPr/>
        </p:nvSpPr>
        <p:spPr>
          <a:xfrm>
            <a:off x="609240" y="3097626"/>
            <a:ext cx="6639182" cy="276999"/>
          </a:xfrm>
          <a:prstGeom prst="rect">
            <a:avLst/>
          </a:prstGeom>
          <a:solidFill>
            <a:schemeClr val="accent1"/>
          </a:solidFill>
        </p:spPr>
        <p:txBody>
          <a:bodyPr wrap="square">
            <a:spAutoFit/>
          </a:bodyPr>
          <a:lstStyle/>
          <a:p>
            <a:pPr algn="ctr"/>
            <a:r>
              <a:rPr lang="en-US" altLang="ko-KR" sz="1200" b="0" i="0" dirty="0">
                <a:solidFill>
                  <a:schemeClr val="bg1"/>
                </a:solidFill>
                <a:effectLst/>
                <a:latin typeface="D2Coding" panose="020B0609020101020101" pitchFamily="49" charset="-127"/>
                <a:ea typeface="D2Coding" panose="020B0609020101020101" pitchFamily="49" charset="-127"/>
              </a:rPr>
              <a:t>rank-3 tensor of shape (</a:t>
            </a:r>
            <a:r>
              <a:rPr lang="en-US" altLang="ko-KR" sz="1200" dirty="0">
                <a:solidFill>
                  <a:schemeClr val="bg1"/>
                </a:solidFill>
                <a:latin typeface="D2Coding" panose="020B0609020101020101" pitchFamily="49" charset="-127"/>
                <a:ea typeface="D2Coding" panose="020B0609020101020101" pitchFamily="49" charset="-127"/>
              </a:rPr>
              <a:t>1000000</a:t>
            </a:r>
            <a:r>
              <a:rPr lang="en-US" altLang="ko-KR" sz="1200" b="0" i="0" dirty="0">
                <a:solidFill>
                  <a:schemeClr val="bg1"/>
                </a:solidFill>
                <a:effectLst/>
                <a:latin typeface="D2Coding" panose="020B0609020101020101" pitchFamily="49" charset="-127"/>
                <a:ea typeface="D2Coding" panose="020B0609020101020101" pitchFamily="49" charset="-127"/>
              </a:rPr>
              <a:t>, 128, 280)</a:t>
            </a:r>
            <a:endParaRPr lang="ko-KR" altLang="en-US" sz="1200" dirty="0">
              <a:solidFill>
                <a:schemeClr val="bg1"/>
              </a:solidFill>
            </a:endParaRPr>
          </a:p>
        </p:txBody>
      </p:sp>
    </p:spTree>
    <p:extLst>
      <p:ext uri="{BB962C8B-B14F-4D97-AF65-F5344CB8AC3E}">
        <p14:creationId xmlns:p14="http://schemas.microsoft.com/office/powerpoint/2010/main" val="5714161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AAA10-92FA-439D-F74D-9A80214BE4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EEAE251-2A05-9C4E-A130-5AC7534E833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Text 3D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D629CD8-BB2D-C0A5-E1B6-4B4C3A981B8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2050" name="Picture 2">
            <a:extLst>
              <a:ext uri="{FF2B5EF4-FFF2-40B4-BE49-F238E27FC236}">
                <a16:creationId xmlns:a16="http://schemas.microsoft.com/office/drawing/2014/main" id="{65A0A580-6277-A579-0A9F-5E1CC7B5C7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08759" y="1780802"/>
            <a:ext cx="7504008" cy="2191600"/>
          </a:xfrm>
          <a:prstGeom prst="rect">
            <a:avLst/>
          </a:prstGeom>
          <a:solidFill>
            <a:schemeClr val="accent1"/>
          </a:solidFill>
          <a:ln>
            <a:solidFill>
              <a:schemeClr val="tx1"/>
            </a:solidFill>
          </a:ln>
        </p:spPr>
      </p:pic>
      <p:pic>
        <p:nvPicPr>
          <p:cNvPr id="15" name="Picture 2">
            <a:extLst>
              <a:ext uri="{FF2B5EF4-FFF2-40B4-BE49-F238E27FC236}">
                <a16:creationId xmlns:a16="http://schemas.microsoft.com/office/drawing/2014/main" id="{B8434580-D760-69EC-7818-214C834AB6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880" y="2178766"/>
            <a:ext cx="7504008" cy="2191600"/>
          </a:xfrm>
          <a:prstGeom prst="rect">
            <a:avLst/>
          </a:prstGeom>
          <a:solidFill>
            <a:schemeClr val="accent1"/>
          </a:solidFill>
          <a:ln>
            <a:solidFill>
              <a:schemeClr val="tx1"/>
            </a:solidFill>
          </a:ln>
        </p:spPr>
      </p:pic>
      <p:pic>
        <p:nvPicPr>
          <p:cNvPr id="16" name="Picture 2">
            <a:extLst>
              <a:ext uri="{FF2B5EF4-FFF2-40B4-BE49-F238E27FC236}">
                <a16:creationId xmlns:a16="http://schemas.microsoft.com/office/drawing/2014/main" id="{5D462795-E6F0-51BC-22D0-E9311C89C2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9001" y="2591360"/>
            <a:ext cx="7504008" cy="2191600"/>
          </a:xfrm>
          <a:prstGeom prst="rect">
            <a:avLst/>
          </a:prstGeom>
          <a:solidFill>
            <a:schemeClr val="accent1"/>
          </a:solidFill>
          <a:ln>
            <a:solidFill>
              <a:schemeClr val="tx1"/>
            </a:solidFill>
          </a:ln>
        </p:spPr>
      </p:pic>
      <p:pic>
        <p:nvPicPr>
          <p:cNvPr id="17" name="Picture 2">
            <a:extLst>
              <a:ext uri="{FF2B5EF4-FFF2-40B4-BE49-F238E27FC236}">
                <a16:creationId xmlns:a16="http://schemas.microsoft.com/office/drawing/2014/main" id="{0D8F1ABF-A2CD-1845-AEC3-5CE64B0FA5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9122" y="2994414"/>
            <a:ext cx="7504008" cy="2191600"/>
          </a:xfrm>
          <a:prstGeom prst="rect">
            <a:avLst/>
          </a:prstGeom>
          <a:solidFill>
            <a:schemeClr val="accent1"/>
          </a:solidFill>
          <a:ln>
            <a:solidFill>
              <a:schemeClr val="tx1"/>
            </a:solidFill>
          </a:ln>
        </p:spPr>
      </p:pic>
      <p:pic>
        <p:nvPicPr>
          <p:cNvPr id="18" name="Picture 2">
            <a:extLst>
              <a:ext uri="{FF2B5EF4-FFF2-40B4-BE49-F238E27FC236}">
                <a16:creationId xmlns:a16="http://schemas.microsoft.com/office/drawing/2014/main" id="{2891BFF9-C865-EA79-E389-2ABF50F6116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9243" y="3422658"/>
            <a:ext cx="7504008" cy="2191600"/>
          </a:xfrm>
          <a:prstGeom prst="rect">
            <a:avLst/>
          </a:prstGeom>
          <a:solidFill>
            <a:schemeClr val="accent1"/>
          </a:solidFill>
          <a:ln>
            <a:solidFill>
              <a:schemeClr val="tx1"/>
            </a:solidFill>
          </a:ln>
        </p:spPr>
      </p:pic>
      <p:grpSp>
        <p:nvGrpSpPr>
          <p:cNvPr id="26" name="그룹 25">
            <a:extLst>
              <a:ext uri="{FF2B5EF4-FFF2-40B4-BE49-F238E27FC236}">
                <a16:creationId xmlns:a16="http://schemas.microsoft.com/office/drawing/2014/main" id="{33879313-55F3-335F-E8F1-05C67B4698CF}"/>
              </a:ext>
            </a:extLst>
          </p:cNvPr>
          <p:cNvGrpSpPr/>
          <p:nvPr/>
        </p:nvGrpSpPr>
        <p:grpSpPr>
          <a:xfrm>
            <a:off x="1757188" y="3850904"/>
            <a:ext cx="7504008" cy="2191600"/>
            <a:chOff x="1542445" y="3555615"/>
            <a:chExt cx="8747760" cy="2554847"/>
          </a:xfrm>
          <a:solidFill>
            <a:schemeClr val="accent1"/>
          </a:solidFill>
        </p:grpSpPr>
        <p:pic>
          <p:nvPicPr>
            <p:cNvPr id="19" name="Picture 2">
              <a:extLst>
                <a:ext uri="{FF2B5EF4-FFF2-40B4-BE49-F238E27FC236}">
                  <a16:creationId xmlns:a16="http://schemas.microsoft.com/office/drawing/2014/main" id="{EBB20374-3BDC-1E9F-6CD9-31580CEFA9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42445" y="3555615"/>
              <a:ext cx="8747760" cy="2554847"/>
            </a:xfrm>
            <a:prstGeom prst="rect">
              <a:avLst/>
            </a:prstGeom>
            <a:grpFill/>
            <a:ln>
              <a:solidFill>
                <a:schemeClr val="tx1"/>
              </a:solidFill>
            </a:ln>
          </p:spPr>
        </p:pic>
        <p:pic>
          <p:nvPicPr>
            <p:cNvPr id="23" name="그림 22">
              <a:extLst>
                <a:ext uri="{FF2B5EF4-FFF2-40B4-BE49-F238E27FC236}">
                  <a16:creationId xmlns:a16="http://schemas.microsoft.com/office/drawing/2014/main" id="{2199D197-6300-AA6F-A6A5-8F593C24E193}"/>
                </a:ext>
              </a:extLst>
            </p:cNvPr>
            <p:cNvPicPr>
              <a:picLocks noChangeAspect="1"/>
            </p:cNvPicPr>
            <p:nvPr/>
          </p:nvPicPr>
          <p:blipFill>
            <a:blip r:embed="rId3"/>
            <a:stretch>
              <a:fillRect/>
            </a:stretch>
          </p:blipFill>
          <p:spPr>
            <a:xfrm>
              <a:off x="8218786" y="5547807"/>
              <a:ext cx="1920406" cy="228620"/>
            </a:xfrm>
            <a:prstGeom prst="rect">
              <a:avLst/>
            </a:prstGeom>
            <a:grpFill/>
            <a:ln>
              <a:noFill/>
            </a:ln>
          </p:spPr>
        </p:pic>
        <p:pic>
          <p:nvPicPr>
            <p:cNvPr id="25" name="그림 24">
              <a:extLst>
                <a:ext uri="{FF2B5EF4-FFF2-40B4-BE49-F238E27FC236}">
                  <a16:creationId xmlns:a16="http://schemas.microsoft.com/office/drawing/2014/main" id="{A8A4C009-67BC-591B-1876-CE6C1141242D}"/>
                </a:ext>
              </a:extLst>
            </p:cNvPr>
            <p:cNvPicPr>
              <a:picLocks noChangeAspect="1"/>
            </p:cNvPicPr>
            <p:nvPr/>
          </p:nvPicPr>
          <p:blipFill>
            <a:blip r:embed="rId4"/>
            <a:stretch>
              <a:fillRect/>
            </a:stretch>
          </p:blipFill>
          <p:spPr>
            <a:xfrm>
              <a:off x="1542445" y="5452362"/>
              <a:ext cx="1386960" cy="205758"/>
            </a:xfrm>
            <a:prstGeom prst="rect">
              <a:avLst/>
            </a:prstGeom>
            <a:grpFill/>
            <a:ln>
              <a:noFill/>
            </a:ln>
          </p:spPr>
        </p:pic>
      </p:grpSp>
    </p:spTree>
    <p:extLst>
      <p:ext uri="{BB962C8B-B14F-4D97-AF65-F5344CB8AC3E}">
        <p14:creationId xmlns:p14="http://schemas.microsoft.com/office/powerpoint/2010/main" val="257454237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42310" y="1864995"/>
            <a:ext cx="5312410" cy="408342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105785" y="6068240"/>
            <a:ext cx="5980430" cy="307777"/>
          </a:xfrm>
          <a:prstGeom prst="rect">
            <a:avLst/>
          </a:prstGeom>
          <a:noFill/>
        </p:spPr>
        <p:txBody>
          <a:bodyPr wrap="square">
            <a:spAutoFit/>
          </a:bodyPr>
          <a:lstStyle/>
          <a:p>
            <a:pPr algn="l">
              <a:spcAft>
                <a:spcPts val="300"/>
              </a:spcAft>
              <a:buNone/>
            </a:pPr>
            <a:r>
              <a:rPr lang="en-US" altLang="ko-KR" sz="1400" i="0" dirty="0">
                <a:effectLst/>
                <a:latin typeface="D2Coding" panose="020B0609020101020101" pitchFamily="49" charset="-127"/>
                <a:ea typeface="D2Coding" panose="020B0609020101020101" pitchFamily="49" charset="-127"/>
              </a:rPr>
              <a:t>Chapter 2 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75D231-7434-CD87-78CE-F3607DC4A8C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DEC688-B8D1-C8D8-A0E6-D810F1388C5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9330E3DC-F38F-CAD5-33AE-FB611FBD28F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3074" name="Picture 2">
            <a:extLst>
              <a:ext uri="{FF2B5EF4-FFF2-40B4-BE49-F238E27FC236}">
                <a16:creationId xmlns:a16="http://schemas.microsoft.com/office/drawing/2014/main" id="{65601198-4604-9731-8577-602A3FFD05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1065" y="1289501"/>
            <a:ext cx="6349964" cy="240521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9BC0AC2-EBA0-2BD1-CFAC-447C94B94C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67766" y="3735794"/>
            <a:ext cx="5671493" cy="240521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D3F6F06-7BE2-8203-E291-E65B12CEE7E8}"/>
              </a:ext>
            </a:extLst>
          </p:cNvPr>
          <p:cNvSpPr txBox="1"/>
          <p:nvPr/>
        </p:nvSpPr>
        <p:spPr>
          <a:xfrm>
            <a:off x="661065" y="3694715"/>
            <a:ext cx="6349963" cy="307777"/>
          </a:xfrm>
          <a:prstGeom prst="rect">
            <a:avLst/>
          </a:prstGeom>
          <a:noFill/>
        </p:spPr>
        <p:txBody>
          <a:bodyPr wrap="square">
            <a:spAutoFit/>
          </a:bodyPr>
          <a:lstStyle/>
          <a:p>
            <a:r>
              <a:rPr lang="en-US" altLang="ko-KR" sz="1400"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(40, 10, 10, 1) (Batch size, Width, Height, Channel)</a:t>
            </a:r>
            <a:endParaRPr lang="ko-KR" altLang="en-US" sz="1400" dirty="0"/>
          </a:p>
        </p:txBody>
      </p:sp>
      <p:sp>
        <p:nvSpPr>
          <p:cNvPr id="7" name="TextBox 6">
            <a:extLst>
              <a:ext uri="{FF2B5EF4-FFF2-40B4-BE49-F238E27FC236}">
                <a16:creationId xmlns:a16="http://schemas.microsoft.com/office/drawing/2014/main" id="{DC804969-74E9-21D8-7F87-1E128AFDF6AF}"/>
              </a:ext>
            </a:extLst>
          </p:cNvPr>
          <p:cNvSpPr txBox="1"/>
          <p:nvPr/>
        </p:nvSpPr>
        <p:spPr>
          <a:xfrm>
            <a:off x="5867766" y="6179683"/>
            <a:ext cx="5671493" cy="307777"/>
          </a:xfrm>
          <a:prstGeom prst="rect">
            <a:avLst/>
          </a:prstGeom>
          <a:noFill/>
        </p:spPr>
        <p:txBody>
          <a:bodyPr wrap="square">
            <a:spAutoFit/>
          </a:bodyPr>
          <a:lstStyle/>
          <a:p>
            <a:r>
              <a:rPr lang="en-US" altLang="ko-KR" sz="1400"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(40, 10, 10, 3) (Batch size, Width, Height, Channel)</a:t>
            </a:r>
            <a:endParaRPr lang="ko-KR" altLang="en-US" sz="1400" dirty="0"/>
          </a:p>
        </p:txBody>
      </p:sp>
    </p:spTree>
    <p:extLst>
      <p:ext uri="{BB962C8B-B14F-4D97-AF65-F5344CB8AC3E}">
        <p14:creationId xmlns:p14="http://schemas.microsoft.com/office/powerpoint/2010/main" val="8114081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832ED-63D2-D288-22F5-89CF5AC555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C0ED677-8888-7312-5FFE-A8373994FBB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489A1319-EE6C-B001-9453-4B097B4EDE7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13F459AE-0C92-5686-942C-C3E7D2A5678D}"/>
              </a:ext>
            </a:extLst>
          </p:cNvPr>
          <p:cNvSpPr txBox="1"/>
          <p:nvPr/>
        </p:nvSpPr>
        <p:spPr>
          <a:xfrm>
            <a:off x="590550" y="2879632"/>
            <a:ext cx="4942379" cy="307777"/>
          </a:xfrm>
          <a:prstGeom prst="rect">
            <a:avLst/>
          </a:prstGeom>
          <a:noFill/>
        </p:spPr>
        <p:txBody>
          <a:bodyPr wrap="none" rtlCol="0">
            <a:spAutoFit/>
          </a:bodyPr>
          <a:lstStyle/>
          <a:p>
            <a:r>
              <a:rPr lang="en-US" altLang="ko-KR" sz="1400" dirty="0">
                <a:latin typeface="D2Coding" panose="020B0609020101020101" pitchFamily="49" charset="-127"/>
                <a:ea typeface="D2Coding" panose="020B0609020101020101" pitchFamily="49" charset="-127"/>
                <a:hlinkClick r:id="rId2"/>
              </a:rPr>
              <a:t>Canon and Gigue D Major | </a:t>
            </a:r>
            <a:r>
              <a:rPr lang="ko-KR" altLang="en-US" sz="1400" dirty="0" err="1">
                <a:latin typeface="D2Coding" panose="020B0609020101020101" pitchFamily="49" charset="-127"/>
                <a:ea typeface="D2Coding" panose="020B0609020101020101" pitchFamily="49" charset="-127"/>
                <a:hlinkClick r:id="rId2"/>
              </a:rPr>
              <a:t>파헬벨</a:t>
            </a:r>
            <a:r>
              <a:rPr lang="ko-KR" altLang="en-US" sz="1400" dirty="0">
                <a:latin typeface="D2Coding" panose="020B0609020101020101" pitchFamily="49" charset="-127"/>
                <a:ea typeface="D2Coding" panose="020B0609020101020101" pitchFamily="49" charset="-127"/>
                <a:hlinkClick r:id="rId2"/>
              </a:rPr>
              <a:t> </a:t>
            </a:r>
            <a:r>
              <a:rPr lang="en-US" altLang="ko-KR" sz="1400" dirty="0">
                <a:latin typeface="D2Coding" panose="020B0609020101020101" pitchFamily="49" charset="-127"/>
                <a:ea typeface="D2Coding" panose="020B0609020101020101" pitchFamily="49" charset="-127"/>
                <a:hlinkClick r:id="rId2"/>
              </a:rPr>
              <a:t>| </a:t>
            </a:r>
            <a:r>
              <a:rPr lang="ko-KR" altLang="en-US" sz="1400" dirty="0">
                <a:latin typeface="D2Coding" panose="020B0609020101020101" pitchFamily="49" charset="-127"/>
                <a:ea typeface="D2Coding" panose="020B0609020101020101" pitchFamily="49" charset="-127"/>
                <a:hlinkClick r:id="rId2"/>
              </a:rPr>
              <a:t>캐논 변주곡 라장조</a:t>
            </a:r>
            <a:endParaRPr lang="ko-KR" altLang="en-US" sz="1400" dirty="0">
              <a:latin typeface="D2Coding" panose="020B0609020101020101" pitchFamily="49" charset="-127"/>
              <a:ea typeface="D2Coding" panose="020B0609020101020101" pitchFamily="49" charset="-127"/>
            </a:endParaRPr>
          </a:p>
        </p:txBody>
      </p:sp>
      <p:pic>
        <p:nvPicPr>
          <p:cNvPr id="7" name="그림 6">
            <a:extLst>
              <a:ext uri="{FF2B5EF4-FFF2-40B4-BE49-F238E27FC236}">
                <a16:creationId xmlns:a16="http://schemas.microsoft.com/office/drawing/2014/main" id="{26472FFF-A9CE-F147-8F7C-89BE49DCF108}"/>
              </a:ext>
            </a:extLst>
          </p:cNvPr>
          <p:cNvPicPr>
            <a:picLocks noChangeAspect="1"/>
          </p:cNvPicPr>
          <p:nvPr/>
        </p:nvPicPr>
        <p:blipFill>
          <a:blip r:embed="rId3"/>
          <a:stretch>
            <a:fillRect/>
          </a:stretch>
        </p:blipFill>
        <p:spPr>
          <a:xfrm>
            <a:off x="7981950" y="3184270"/>
            <a:ext cx="2940586" cy="1463929"/>
          </a:xfrm>
          <a:prstGeom prst="rect">
            <a:avLst/>
          </a:prstGeom>
        </p:spPr>
      </p:pic>
      <p:sp>
        <p:nvSpPr>
          <p:cNvPr id="9" name="TextBox 8">
            <a:extLst>
              <a:ext uri="{FF2B5EF4-FFF2-40B4-BE49-F238E27FC236}">
                <a16:creationId xmlns:a16="http://schemas.microsoft.com/office/drawing/2014/main" id="{B057CD4D-7B01-4F80-0C55-886F795E2632}"/>
              </a:ext>
            </a:extLst>
          </p:cNvPr>
          <p:cNvSpPr txBox="1"/>
          <p:nvPr/>
        </p:nvSpPr>
        <p:spPr>
          <a:xfrm>
            <a:off x="590550" y="1248422"/>
            <a:ext cx="11010899" cy="1351973"/>
          </a:xfrm>
          <a:prstGeom prst="rect">
            <a:avLst/>
          </a:prstGeom>
          <a:noFill/>
        </p:spPr>
        <p:txBody>
          <a:bodyPr wrap="square">
            <a:spAutoFit/>
          </a:bodyPr>
          <a:lstStyle/>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(8</a:t>
            </a:r>
            <a:r>
              <a:rPr lang="ko-KR" altLang="en-US" sz="1400" dirty="0">
                <a:effectLst/>
                <a:latin typeface="D2Coding" panose="020B0609020101020101" pitchFamily="49" charset="-127"/>
                <a:ea typeface="D2Coding" panose="020B0609020101020101" pitchFamily="49" charset="-127"/>
              </a:rPr>
              <a:t>음 반복</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입력 신호 </a:t>
            </a:r>
            <a:r>
              <a:rPr lang="en-US" altLang="ko-KR" sz="1400" dirty="0">
                <a:effectLst/>
                <a:latin typeface="D2Coding" panose="020B0609020101020101" pitchFamily="49" charset="-127"/>
                <a:ea typeface="D2Coding" panose="020B0609020101020101" pitchFamily="49" charset="-127"/>
              </a:rPr>
              <a:t>/ </a:t>
            </a:r>
            <a:r>
              <a:rPr lang="ko-KR" altLang="en-US" sz="1400" dirty="0" err="1">
                <a:effectLst/>
                <a:latin typeface="D2Coding" panose="020B0609020101020101" pitchFamily="49" charset="-127"/>
                <a:ea typeface="D2Coding" panose="020B0609020101020101" pitchFamily="49" charset="-127"/>
              </a:rPr>
              <a:t>잔차</a:t>
            </a:r>
            <a:r>
              <a:rPr lang="ko-KR" altLang="en-US" sz="1400" dirty="0">
                <a:effectLst/>
                <a:latin typeface="D2Coding" panose="020B0609020101020101" pitchFamily="49" charset="-127"/>
                <a:ea typeface="D2Coding" panose="020B0609020101020101" pitchFamily="49" charset="-127"/>
              </a:rPr>
              <a:t> 연결</a:t>
            </a:r>
            <a:r>
              <a:rPr lang="en-US" altLang="ko-KR" sz="1400" dirty="0">
                <a:effectLst/>
                <a:latin typeface="D2Coding" panose="020B0609020101020101" pitchFamily="49" charset="-127"/>
                <a:ea typeface="D2Coding" panose="020B0609020101020101" pitchFamily="49" charset="-127"/>
              </a:rPr>
              <a:t>(residual connection)</a:t>
            </a:r>
            <a:r>
              <a:rPr lang="ko-KR" altLang="en-US" sz="1400" dirty="0">
                <a:effectLst/>
                <a:latin typeface="D2Coding" panose="020B0609020101020101" pitchFamily="49" charset="-127"/>
                <a:ea typeface="D2Coding" panose="020B0609020101020101" pitchFamily="49" charset="-127"/>
              </a:rPr>
              <a:t>이 계속 전달하는 원본 정보</a:t>
            </a:r>
            <a:r>
              <a:rPr lang="en-US" altLang="ko-KR" sz="1400" dirty="0">
                <a:effectLst/>
                <a:latin typeface="D2Coding" panose="020B0609020101020101" pitchFamily="49" charset="-127"/>
                <a:ea typeface="D2Coding" panose="020B0609020101020101" pitchFamily="49" charset="-127"/>
              </a:rPr>
              <a:t>. </a:t>
            </a:r>
            <a:r>
              <a:rPr lang="en-US" altLang="ko-KR" sz="1400" dirty="0" err="1">
                <a:effectLst/>
                <a:latin typeface="D2Coding" panose="020B0609020101020101" pitchFamily="49" charset="-127"/>
                <a:ea typeface="D2Coding" panose="020B0609020101020101" pitchFamily="49" charset="-127"/>
              </a:rPr>
              <a:t>ResNet</a:t>
            </a:r>
            <a:r>
              <a:rPr lang="ko-KR" altLang="en-US" sz="1400" dirty="0">
                <a:effectLst/>
                <a:latin typeface="D2Coding" panose="020B0609020101020101" pitchFamily="49" charset="-127"/>
                <a:ea typeface="D2Coding" panose="020B0609020101020101" pitchFamily="49" charset="-127"/>
              </a:rPr>
              <a:t>에서 각 레이어가 아무리 변형을 가해도 원본 입력이 </a:t>
            </a:r>
            <a:r>
              <a:rPr lang="en-US" altLang="ko-KR" sz="1400" dirty="0">
                <a:effectLst/>
                <a:latin typeface="D2Coding" panose="020B0609020101020101" pitchFamily="49" charset="-127"/>
                <a:ea typeface="D2Coding" panose="020B0609020101020101" pitchFamily="49" charset="-127"/>
              </a:rPr>
              <a:t>skip connection</a:t>
            </a:r>
            <a:r>
              <a:rPr lang="ko-KR" altLang="en-US" sz="1400" dirty="0">
                <a:effectLst/>
                <a:latin typeface="D2Coding" panose="020B0609020101020101" pitchFamily="49" charset="-127"/>
                <a:ea typeface="D2Coding" panose="020B0609020101020101" pitchFamily="49" charset="-127"/>
              </a:rPr>
              <a:t>을 통해 끝까지 살아있는 것</a:t>
            </a:r>
            <a:endParaRPr lang="en-US" altLang="ko-KR" sz="1400" dirty="0">
              <a:effectLst/>
              <a:latin typeface="D2Coding" panose="020B0609020101020101" pitchFamily="49" charset="-127"/>
              <a:ea typeface="D2Coding" panose="020B0609020101020101" pitchFamily="49" charset="-127"/>
            </a:endParaRPr>
          </a:p>
          <a:p>
            <a:pPr marL="285750" indent="-285750" rtl="0">
              <a:lnSpc>
                <a:spcPct val="150000"/>
              </a:lnSpc>
              <a:buFont typeface="Wingdings" panose="05000000000000000000" pitchFamily="2" charset="2"/>
              <a:buChar char="§"/>
            </a:pPr>
            <a:r>
              <a:rPr lang="ko-KR" altLang="en-US" sz="1400" dirty="0">
                <a:effectLst/>
                <a:latin typeface="D2Coding" panose="020B0609020101020101" pitchFamily="49" charset="-127"/>
                <a:ea typeface="D2Coding" panose="020B0609020101020101" pitchFamily="49" charset="-127"/>
              </a:rPr>
              <a:t>위에 쌓이는 변주들 </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각 레이어</a:t>
            </a:r>
            <a:r>
              <a:rPr lang="en-US" altLang="ko-KR" sz="1400" dirty="0">
                <a:effectLst/>
                <a:latin typeface="D2Coding" panose="020B0609020101020101" pitchFamily="49" charset="-127"/>
                <a:ea typeface="D2Coding" panose="020B0609020101020101" pitchFamily="49" charset="-127"/>
              </a:rPr>
              <a:t>(layer)</a:t>
            </a:r>
            <a:r>
              <a:rPr lang="ko-KR" altLang="en-US" sz="1400" dirty="0">
                <a:effectLst/>
                <a:latin typeface="D2Coding" panose="020B0609020101020101" pitchFamily="49" charset="-127"/>
                <a:ea typeface="D2Coding" panose="020B0609020101020101" pitchFamily="49" charset="-127"/>
              </a:rPr>
              <a:t>의 표현</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층이 깊어질수록</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위로 갈수록</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표현은 더 세분화되고 추상적이며 복잡해지지만</a:t>
            </a:r>
            <a:r>
              <a:rPr lang="en-US" altLang="ko-KR" sz="1400" dirty="0">
                <a:effectLst/>
                <a:latin typeface="D2Coding" panose="020B0609020101020101" pitchFamily="49" charset="-127"/>
                <a:ea typeface="D2Coding" panose="020B0609020101020101" pitchFamily="49" charset="-127"/>
              </a:rPr>
              <a:t>, </a:t>
            </a:r>
            <a:r>
              <a:rPr lang="ko-KR" altLang="en-US" sz="1400" dirty="0">
                <a:effectLst/>
                <a:latin typeface="D2Coding" panose="020B0609020101020101" pitchFamily="49" charset="-127"/>
                <a:ea typeface="D2Coding" panose="020B0609020101020101" pitchFamily="49" charset="-127"/>
              </a:rPr>
              <a:t>항상 그 기반</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베이스</a:t>
            </a:r>
            <a:r>
              <a:rPr lang="en-US" altLang="ko-KR" sz="1400" dirty="0">
                <a:effectLst/>
                <a:latin typeface="D2Coding" panose="020B0609020101020101" pitchFamily="49" charset="-127"/>
                <a:ea typeface="D2Coding" panose="020B0609020101020101" pitchFamily="49" charset="-127"/>
              </a:rPr>
              <a:t>)</a:t>
            </a:r>
            <a:r>
              <a:rPr lang="ko-KR" altLang="en-US" sz="1400" dirty="0">
                <a:effectLst/>
                <a:latin typeface="D2Coding" panose="020B0609020101020101" pitchFamily="49" charset="-127"/>
                <a:ea typeface="D2Coding" panose="020B0609020101020101" pitchFamily="49" charset="-127"/>
              </a:rPr>
              <a:t>과 연결</a:t>
            </a:r>
            <a:endParaRPr lang="en-US" altLang="ko-KR" sz="1400" dirty="0">
              <a:effectLst/>
              <a:latin typeface="D2Coding" panose="020B0609020101020101" pitchFamily="49" charset="-127"/>
              <a:ea typeface="D2Coding" panose="020B0609020101020101" pitchFamily="49" charset="-127"/>
            </a:endParaRPr>
          </a:p>
        </p:txBody>
      </p:sp>
      <p:pic>
        <p:nvPicPr>
          <p:cNvPr id="11" name="그림 10">
            <a:extLst>
              <a:ext uri="{FF2B5EF4-FFF2-40B4-BE49-F238E27FC236}">
                <a16:creationId xmlns:a16="http://schemas.microsoft.com/office/drawing/2014/main" id="{2ECF9C39-2D74-EA21-5401-4D24301F29DC}"/>
              </a:ext>
            </a:extLst>
          </p:cNvPr>
          <p:cNvPicPr>
            <a:picLocks noChangeAspect="1"/>
          </p:cNvPicPr>
          <p:nvPr/>
        </p:nvPicPr>
        <p:blipFill>
          <a:blip r:embed="rId4"/>
          <a:stretch>
            <a:fillRect/>
          </a:stretch>
        </p:blipFill>
        <p:spPr>
          <a:xfrm>
            <a:off x="2671267" y="3184271"/>
            <a:ext cx="4672508" cy="3320335"/>
          </a:xfrm>
          <a:prstGeom prst="rect">
            <a:avLst/>
          </a:prstGeom>
        </p:spPr>
      </p:pic>
    </p:spTree>
    <p:extLst>
      <p:ext uri="{BB962C8B-B14F-4D97-AF65-F5344CB8AC3E}">
        <p14:creationId xmlns:p14="http://schemas.microsoft.com/office/powerpoint/2010/main" val="11119468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0B2C8-4B2B-ED8A-21F3-69FB3399366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4A0271B-0BC8-4891-2424-1E4C9AF840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Pachelbel’ Canon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690250F-9CED-C485-4456-3481AB1FCC2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5" name="TextBox 14">
            <a:extLst>
              <a:ext uri="{FF2B5EF4-FFF2-40B4-BE49-F238E27FC236}">
                <a16:creationId xmlns:a16="http://schemas.microsoft.com/office/drawing/2014/main" id="{3B82CFFC-B8BE-0461-3929-8F409FC9A637}"/>
              </a:ext>
            </a:extLst>
          </p:cNvPr>
          <p:cNvSpPr txBox="1"/>
          <p:nvPr/>
        </p:nvSpPr>
        <p:spPr>
          <a:xfrm>
            <a:off x="585509" y="1225337"/>
            <a:ext cx="10953750" cy="1721305"/>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altLang="ko-KR" sz="1600" b="1" dirty="0">
                <a:latin typeface="D2Coding" panose="020B0609020101020101" pitchFamily="49" charset="-127"/>
                <a:ea typeface="D2Coding" panose="020B0609020101020101" pitchFamily="49" charset="-127"/>
              </a:rPr>
              <a:t>RNN — </a:t>
            </a:r>
            <a:r>
              <a:rPr lang="ko-KR" altLang="en-US" sz="1600" b="1" dirty="0">
                <a:latin typeface="D2Coding" panose="020B0609020101020101" pitchFamily="49" charset="-127"/>
                <a:ea typeface="D2Coding" panose="020B0609020101020101" pitchFamily="49" charset="-127"/>
              </a:rPr>
              <a:t>캐논의 </a:t>
            </a:r>
            <a:r>
              <a:rPr lang="en-US" altLang="ko-KR" sz="1600" b="1" dirty="0">
                <a:latin typeface="D2Coding" panose="020B0609020101020101" pitchFamily="49" charset="-127"/>
                <a:ea typeface="D2Coding" panose="020B0609020101020101" pitchFamily="49" charset="-127"/>
              </a:rPr>
              <a:t>'</a:t>
            </a:r>
            <a:r>
              <a:rPr lang="ko-KR" altLang="en-US" sz="1600" b="1" dirty="0">
                <a:latin typeface="D2Coding" panose="020B0609020101020101" pitchFamily="49" charset="-127"/>
                <a:ea typeface="D2Coding" panose="020B0609020101020101" pitchFamily="49" charset="-127"/>
              </a:rPr>
              <a:t>모방</a:t>
            </a:r>
            <a:r>
              <a:rPr lang="en-US" altLang="ko-KR" sz="1600" b="1" dirty="0">
                <a:latin typeface="D2Coding" panose="020B0609020101020101" pitchFamily="49" charset="-127"/>
                <a:ea typeface="D2Coding" panose="020B0609020101020101" pitchFamily="49" charset="-127"/>
              </a:rPr>
              <a:t>(imitation)’ </a:t>
            </a:r>
            <a:r>
              <a:rPr lang="ko-KR" altLang="en-US" sz="1600" b="1" dirty="0">
                <a:latin typeface="D2Coding" panose="020B0609020101020101" pitchFamily="49" charset="-127"/>
                <a:ea typeface="D2Coding" panose="020B0609020101020101" pitchFamily="49" charset="-127"/>
              </a:rPr>
              <a:t>기법</a:t>
            </a:r>
            <a:endParaRPr lang="en-US" altLang="ko-KR" sz="16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캐논의 핵심 규칙은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번째</a:t>
            </a:r>
            <a:r>
              <a:rPr lang="en-US" altLang="ko-KR" sz="1400" dirty="0">
                <a:latin typeface="D2Coding" panose="020B0609020101020101" pitchFamily="49" charset="-127"/>
                <a:ea typeface="D2Coding" panose="020B0609020101020101" pitchFamily="49" charset="-127"/>
              </a:rPr>
              <a:t>, 3</a:t>
            </a:r>
            <a:r>
              <a:rPr lang="ko-KR" altLang="en-US" sz="1400" dirty="0">
                <a:latin typeface="D2Coding" panose="020B0609020101020101" pitchFamily="49" charset="-127"/>
                <a:ea typeface="D2Coding" panose="020B0609020101020101" pitchFamily="49" charset="-127"/>
              </a:rPr>
              <a:t>번째 바이올린이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번째와 완전히 똑같은 선율을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몇 박자 늦게 그대로 따라 연주한다</a:t>
            </a:r>
            <a:r>
              <a:rPr lang="en-US" altLang="ko-KR" sz="1400" dirty="0">
                <a:latin typeface="D2Coding" panose="020B0609020101020101" pitchFamily="49" charset="-127"/>
                <a:ea typeface="D2Coding" panose="020B0609020101020101" pitchFamily="49" charset="-127"/>
              </a:rPr>
              <a:t>“</a:t>
            </a: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즉 매번 새로운 규칙을 쓰는 게 아니라 </a:t>
            </a:r>
            <a:r>
              <a:rPr lang="ko-KR" altLang="en-US" sz="1400" b="1" dirty="0">
                <a:latin typeface="D2Coding" panose="020B0609020101020101" pitchFamily="49" charset="-127"/>
                <a:ea typeface="D2Coding" panose="020B0609020101020101" pitchFamily="49" charset="-127"/>
              </a:rPr>
              <a:t>똑같은 함수</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선율 규칙</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를 </a:t>
            </a:r>
            <a:r>
              <a:rPr lang="ko-KR" altLang="en-US" sz="1400" b="1" dirty="0" err="1">
                <a:latin typeface="D2Coding" panose="020B0609020101020101" pitchFamily="49" charset="-127"/>
                <a:ea typeface="D2Coding" panose="020B0609020101020101" pitchFamily="49" charset="-127"/>
              </a:rPr>
              <a:t>시간축을</a:t>
            </a:r>
            <a:r>
              <a:rPr lang="ko-KR" altLang="en-US" sz="1400" b="1" dirty="0">
                <a:latin typeface="D2Coding" panose="020B0609020101020101" pitchFamily="49" charset="-127"/>
                <a:ea typeface="D2Coding" panose="020B0609020101020101" pitchFamily="49" charset="-127"/>
              </a:rPr>
              <a:t> 따라 반복 적용</a:t>
            </a:r>
            <a:endParaRPr lang="en-US" altLang="ko-KR" sz="1400" b="1"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이게 정확히 </a:t>
            </a:r>
            <a:r>
              <a:rPr lang="en-US" altLang="ko-KR" sz="1400" dirty="0">
                <a:latin typeface="D2Coding" panose="020B0609020101020101" pitchFamily="49" charset="-127"/>
                <a:ea typeface="D2Coding" panose="020B0609020101020101" pitchFamily="49" charset="-127"/>
              </a:rPr>
              <a:t>RNN</a:t>
            </a:r>
            <a:r>
              <a:rPr lang="ko-KR" altLang="en-US" sz="1400" dirty="0">
                <a:latin typeface="D2Coding" panose="020B0609020101020101" pitchFamily="49" charset="-127"/>
                <a:ea typeface="D2Coding" panose="020B0609020101020101" pitchFamily="49" charset="-127"/>
              </a:rPr>
              <a:t>의 핵심 아이디어입니다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모든 타임스텝에서 동일한 가중치 </a:t>
            </a:r>
            <a:r>
              <a:rPr lang="en-US" altLang="ko-KR" sz="1400" dirty="0">
                <a:latin typeface="D2Coding" panose="020B0609020101020101" pitchFamily="49" charset="-127"/>
                <a:ea typeface="D2Coding" panose="020B0609020101020101" pitchFamily="49" charset="-127"/>
              </a:rPr>
              <a:t>W</a:t>
            </a:r>
            <a:r>
              <a:rPr lang="ko-KR" altLang="en-US" sz="1400" dirty="0">
                <a:latin typeface="D2Coding" panose="020B0609020101020101" pitchFamily="49" charset="-127"/>
                <a:ea typeface="D2Coding" panose="020B0609020101020101" pitchFamily="49" charset="-127"/>
              </a:rPr>
              <a:t>를 재사용하면서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스텝의 결과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선행 목소리</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이어받아 다음 스텝으로 흘려 보내는 구조</a:t>
            </a:r>
          </a:p>
        </p:txBody>
      </p:sp>
      <p:pic>
        <p:nvPicPr>
          <p:cNvPr id="2" name="Picture 2" descr="Johann Pachelbel">
            <a:extLst>
              <a:ext uri="{FF2B5EF4-FFF2-40B4-BE49-F238E27FC236}">
                <a16:creationId xmlns:a16="http://schemas.microsoft.com/office/drawing/2014/main" id="{2268BAC2-F4F2-E7E7-ED20-83DE1054F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82025" y="3615301"/>
            <a:ext cx="2078929" cy="247739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EBAFFFF-3248-C040-BC53-2F1DA8324BDF}"/>
              </a:ext>
            </a:extLst>
          </p:cNvPr>
          <p:cNvSpPr txBox="1"/>
          <p:nvPr/>
        </p:nvSpPr>
        <p:spPr>
          <a:xfrm>
            <a:off x="8505825" y="3092081"/>
            <a:ext cx="3257550" cy="523220"/>
          </a:xfrm>
          <a:prstGeom prst="rect">
            <a:avLst/>
          </a:prstGeom>
          <a:noFill/>
        </p:spPr>
        <p:txBody>
          <a:bodyPr wrap="square">
            <a:spAutoFit/>
          </a:bodyPr>
          <a:lstStyle/>
          <a:p>
            <a:r>
              <a:rPr lang="en-US" altLang="ko-KR" sz="1400" b="0" i="0" dirty="0">
                <a:solidFill>
                  <a:srgbClr val="000000"/>
                </a:solidFill>
                <a:effectLst/>
                <a:latin typeface="Source Sans Pro" panose="020B0503030403020204" pitchFamily="34" charset="0"/>
              </a:rPr>
              <a:t>Pachelbel’s Canon</a:t>
            </a:r>
          </a:p>
          <a:p>
            <a:r>
              <a:rPr lang="en-US" altLang="ko-KR" sz="1400" dirty="0">
                <a:solidFill>
                  <a:srgbClr val="000000"/>
                </a:solidFill>
                <a:latin typeface="Source Sans Pro" panose="020B0503030403020204" pitchFamily="34" charset="0"/>
              </a:rPr>
              <a:t>(1653.9.1 ~ 1706.3)</a:t>
            </a:r>
            <a:endParaRPr lang="ko-KR" altLang="en-US" sz="1400" dirty="0"/>
          </a:p>
        </p:txBody>
      </p:sp>
      <p:pic>
        <p:nvPicPr>
          <p:cNvPr id="10" name="그림 9">
            <a:extLst>
              <a:ext uri="{FF2B5EF4-FFF2-40B4-BE49-F238E27FC236}">
                <a16:creationId xmlns:a16="http://schemas.microsoft.com/office/drawing/2014/main" id="{F76B91B8-AAA6-F628-E80F-77E5F325147C}"/>
              </a:ext>
            </a:extLst>
          </p:cNvPr>
          <p:cNvPicPr>
            <a:picLocks noChangeAspect="1"/>
          </p:cNvPicPr>
          <p:nvPr/>
        </p:nvPicPr>
        <p:blipFill>
          <a:blip r:embed="rId3"/>
          <a:stretch>
            <a:fillRect/>
          </a:stretch>
        </p:blipFill>
        <p:spPr>
          <a:xfrm>
            <a:off x="1138961" y="3356610"/>
            <a:ext cx="6553137" cy="2276053"/>
          </a:xfrm>
          <a:prstGeom prst="rect">
            <a:avLst/>
          </a:prstGeom>
          <a:ln>
            <a:solidFill>
              <a:schemeClr val="tx1"/>
            </a:solidFill>
          </a:ln>
        </p:spPr>
      </p:pic>
      <p:sp>
        <p:nvSpPr>
          <p:cNvPr id="14" name="TextBox 13">
            <a:extLst>
              <a:ext uri="{FF2B5EF4-FFF2-40B4-BE49-F238E27FC236}">
                <a16:creationId xmlns:a16="http://schemas.microsoft.com/office/drawing/2014/main" id="{36112944-CAAF-BDFD-DC3F-16FC0302AF87}"/>
              </a:ext>
            </a:extLst>
          </p:cNvPr>
          <p:cNvSpPr txBox="1"/>
          <p:nvPr/>
        </p:nvSpPr>
        <p:spPr>
          <a:xfrm>
            <a:off x="1138961" y="5632663"/>
            <a:ext cx="6553137" cy="646331"/>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세 셀은 모두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같은 규칙</a:t>
            </a:r>
            <a:r>
              <a:rPr lang="en-US" altLang="ko-KR" sz="1200" dirty="0">
                <a:latin typeface="D2Coding" panose="020B0609020101020101" pitchFamily="49" charset="-127"/>
                <a:ea typeface="D2Coding" panose="020B0609020101020101" pitchFamily="49" charset="-127"/>
              </a:rPr>
              <a:t>(W)'</a:t>
            </a:r>
            <a:r>
              <a:rPr lang="ko-KR" altLang="en-US" sz="1200" dirty="0">
                <a:latin typeface="D2Coding" panose="020B0609020101020101" pitchFamily="49" charset="-127"/>
                <a:ea typeface="D2Coding" panose="020B0609020101020101" pitchFamily="49" charset="-127"/>
              </a:rPr>
              <a:t>을 쓰지만</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뒤 목소리는 반드시 앞 목소리를 거쳐야만 정보를 받을 수 있는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순서를 건너뛸 수 없는 구조</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캐논에서 </a:t>
            </a:r>
            <a:r>
              <a:rPr lang="en-US" altLang="ko-KR" sz="1200" dirty="0">
                <a:latin typeface="D2Coding" panose="020B0609020101020101" pitchFamily="49" charset="-127"/>
                <a:ea typeface="D2Coding" panose="020B0609020101020101" pitchFamily="49" charset="-127"/>
              </a:rPr>
              <a:t>3</a:t>
            </a:r>
            <a:r>
              <a:rPr lang="ko-KR" altLang="en-US" sz="1200" dirty="0">
                <a:latin typeface="D2Coding" panose="020B0609020101020101" pitchFamily="49" charset="-127"/>
                <a:ea typeface="D2Coding" panose="020B0609020101020101" pitchFamily="49" charset="-127"/>
              </a:rPr>
              <a:t>번째 바이올린이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번째 선율을 알려면 </a:t>
            </a:r>
            <a:r>
              <a:rPr lang="en-US" altLang="ko-KR" sz="1200" dirty="0">
                <a:latin typeface="D2Coding" panose="020B0609020101020101" pitchFamily="49" charset="-127"/>
                <a:ea typeface="D2Coding" panose="020B0609020101020101" pitchFamily="49" charset="-127"/>
              </a:rPr>
              <a:t>2</a:t>
            </a:r>
            <a:r>
              <a:rPr lang="ko-KR" altLang="en-US" sz="1200" dirty="0">
                <a:latin typeface="D2Coding" panose="020B0609020101020101" pitchFamily="49" charset="-127"/>
                <a:ea typeface="D2Coding" panose="020B0609020101020101" pitchFamily="49" charset="-127"/>
              </a:rPr>
              <a:t>번째를 거쳐서 시간이 흘러야 하는 것과 같음</a:t>
            </a:r>
          </a:p>
        </p:txBody>
      </p:sp>
    </p:spTree>
    <p:extLst>
      <p:ext uri="{BB962C8B-B14F-4D97-AF65-F5344CB8AC3E}">
        <p14:creationId xmlns:p14="http://schemas.microsoft.com/office/powerpoint/2010/main" val="30216521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99625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9816" y="3398520"/>
            <a:ext cx="3591819" cy="2677656"/>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855437" y="286142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a:t>
            </a:r>
            <a:r>
              <a:rPr lang="ko-KR" altLang="en-US" sz="1600" dirty="0">
                <a:latin typeface="D2Coding" panose="020B0609020101020101" pitchFamily="49" charset="-127"/>
                <a:ea typeface="D2Coding" panose="020B0609020101020101" pitchFamily="49" charset="-127"/>
              </a:rPr>
              <a:t>분</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91104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590967"/>
            <a:ext cx="6096000" cy="738664"/>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a:t>
            </a:r>
          </a:p>
        </p:txBody>
      </p:sp>
    </p:spTree>
    <p:extLst>
      <p:ext uri="{BB962C8B-B14F-4D97-AF65-F5344CB8AC3E}">
        <p14:creationId xmlns:p14="http://schemas.microsoft.com/office/powerpoint/2010/main" val="37040049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11948"/>
            <a:ext cx="4834499" cy="2369880"/>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400" b="1" dirty="0">
                <a:effectLst/>
                <a:latin typeface="D2Coding" panose="020B0609020101020101" pitchFamily="49" charset="-127"/>
                <a:ea typeface="D2Coding" panose="020B0609020101020101" pitchFamily="49" charset="-127"/>
              </a:rPr>
              <a:t>    shuffle=True,</a:t>
            </a:r>
          </a:p>
          <a:p>
            <a:pPr>
              <a:buNone/>
            </a:pPr>
            <a:r>
              <a:rPr lang="en-US" altLang="ko-KR" sz="1400" b="1" dirty="0">
                <a:effectLst/>
                <a:latin typeface="D2Coding" panose="020B0609020101020101" pitchFamily="49" charset="-127"/>
                <a:ea typeface="D2Coding" panose="020B0609020101020101" pitchFamily="49" charset="-127"/>
              </a:rPr>
              <a:t>    </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r>
              <a:rPr lang="en-US" altLang="ko-KR" sz="1400" b="1" dirty="0" err="1">
                <a:effectLst/>
                <a:latin typeface="D2Coding" panose="020B0609020101020101" pitchFamily="49" charset="-127"/>
                <a:ea typeface="D2Coding" panose="020B0609020101020101" pitchFamily="49" charset="-127"/>
              </a:rPr>
              <a:t>batch_size</a:t>
            </a:r>
            <a:r>
              <a:rPr lang="en-US" altLang="ko-KR" sz="14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endParaRPr lang="en-US" altLang="ko-KR" sz="1200" b="0" dirty="0">
              <a:solidFill>
                <a:schemeClr val="bg1">
                  <a:lumMod val="50000"/>
                </a:schemeClr>
              </a:solidFill>
              <a:effectLst/>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err="1">
                <a:latin typeface="D2Coding" panose="020B0609020101020101" pitchFamily="49" charset="-127"/>
                <a:ea typeface="D2Coding" panose="020B0609020101020101" pitchFamily="49" charset="-127"/>
              </a:rPr>
              <a:t>MAE_mean</a:t>
            </a:r>
            <a:r>
              <a:rPr lang="en-US" altLang="ko-KR" sz="1600" dirty="0">
                <a:latin typeface="D2Coding" panose="020B0609020101020101" pitchFamily="49" charset="-127"/>
                <a:ea typeface="D2Coding" panose="020B0609020101020101" pitchFamily="49" charset="-127"/>
              </a:rPr>
              <a:t> absolute error)</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2294251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1790700"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1790700"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1790700"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1790700"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1790700"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82B93E8-41CB-4E2A-3A8B-06E1FC1F47A9}"/>
                  </a:ext>
                </a:extLst>
              </p:cNvPr>
              <p:cNvSpPr txBox="1"/>
              <p:nvPr/>
            </p:nvSpPr>
            <p:spPr>
              <a:xfrm>
                <a:off x="1161434" y="206012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161434" y="2060122"/>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84DE0C-CA9C-A61A-5820-3CD0F252AEE9}"/>
                  </a:ext>
                </a:extLst>
              </p:cNvPr>
              <p:cNvSpPr txBox="1"/>
              <p:nvPr/>
            </p:nvSpPr>
            <p:spPr>
              <a:xfrm>
                <a:off x="1161434" y="5383115"/>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161434" y="5383115"/>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DF1A498E-6E99-F4E3-A14D-95CC8C056690}"/>
                  </a:ext>
                </a:extLst>
              </p:cNvPr>
              <p:cNvSpPr txBox="1"/>
              <p:nvPr/>
            </p:nvSpPr>
            <p:spPr>
              <a:xfrm>
                <a:off x="1161434" y="45523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161434" y="4552366"/>
                <a:ext cx="604653" cy="307777"/>
              </a:xfrm>
              <a:prstGeom prst="rect">
                <a:avLst/>
              </a:prstGeom>
              <a:blipFill>
                <a:blip r:embed="rId4"/>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9FFF9-DD42-9968-958E-D67807A9C555}"/>
                  </a:ext>
                </a:extLst>
              </p:cNvPr>
              <p:cNvSpPr txBox="1"/>
              <p:nvPr/>
            </p:nvSpPr>
            <p:spPr>
              <a:xfrm>
                <a:off x="1161434" y="3721618"/>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161434" y="3721618"/>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0BC165B-AA94-8611-C4D3-739D9A257934}"/>
                  </a:ext>
                </a:extLst>
              </p:cNvPr>
              <p:cNvSpPr txBox="1"/>
              <p:nvPr/>
            </p:nvSpPr>
            <p:spPr>
              <a:xfrm>
                <a:off x="1161434" y="2890870"/>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161434" y="2890870"/>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3781425"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266950"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266950"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266950"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266950"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266950"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4580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4580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4580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4580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4580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타원 48">
            <a:extLst>
              <a:ext uri="{FF2B5EF4-FFF2-40B4-BE49-F238E27FC236}">
                <a16:creationId xmlns:a16="http://schemas.microsoft.com/office/drawing/2014/main" id="{FF5E481B-C6A4-E509-2325-607BA8ED5481}"/>
              </a:ext>
            </a:extLst>
          </p:cNvPr>
          <p:cNvSpPr/>
          <p:nvPr/>
        </p:nvSpPr>
        <p:spPr>
          <a:xfrm>
            <a:off x="94488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79343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79343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79343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79343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79343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4488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67260"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solidFill>
                <a:schemeClr val="bg1"/>
              </a:solidFill>
            </a:endParaRPr>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4" y="1518293"/>
            <a:ext cx="5138735" cy="369332"/>
          </a:xfrm>
          <a:prstGeom prst="rect">
            <a:avLst/>
          </a:prstGeom>
          <a:solidFill>
            <a:schemeClr val="tx1"/>
          </a:solidFill>
        </p:spPr>
        <p:txBody>
          <a:bodyPr wrap="square">
            <a:spAutoFit/>
          </a:bodyPr>
          <a:lstStyle/>
          <a:p>
            <a:pPr algn="ct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solidFill>
                <a:schemeClr val="bg1"/>
              </a:solidFill>
            </a:endParaRPr>
          </a:p>
        </p:txBody>
      </p:sp>
      <p:sp>
        <p:nvSpPr>
          <p:cNvPr id="61" name="TextBox 60">
            <a:extLst>
              <a:ext uri="{FF2B5EF4-FFF2-40B4-BE49-F238E27FC236}">
                <a16:creationId xmlns:a16="http://schemas.microsoft.com/office/drawing/2014/main" id="{E096E5C1-A3FB-DB11-0E9D-069DCAF6EE18}"/>
              </a:ext>
            </a:extLst>
          </p:cNvPr>
          <p:cNvSpPr txBox="1"/>
          <p:nvPr/>
        </p:nvSpPr>
        <p:spPr>
          <a:xfrm>
            <a:off x="959066" y="6136483"/>
            <a:ext cx="4165384"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모두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한 번에 </a:t>
            </a:r>
            <a:r>
              <a:rPr lang="en-US" altLang="ko-KR" sz="1600" dirty="0">
                <a:latin typeface="D2Coding" panose="020B0609020101020101" pitchFamily="49" charset="-127"/>
                <a:ea typeface="D2Coding" panose="020B0609020101020101" pitchFamily="49" charset="-127"/>
              </a:rPr>
              <a:t>FCNN</a:t>
            </a:r>
            <a:r>
              <a:rPr lang="ko-KR" altLang="en-US" sz="1600" dirty="0">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027972" y="6136483"/>
            <a:ext cx="3565310" cy="338554"/>
          </a:xfrm>
          <a:prstGeom prst="rect">
            <a:avLst/>
          </a:prstGeom>
          <a:solidFill>
            <a:schemeClr val="accent1">
              <a:lumMod val="20000"/>
              <a:lumOff val="80000"/>
            </a:schemeClr>
          </a:solid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2361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TextBox 4">
            <a:extLst>
              <a:ext uri="{FF2B5EF4-FFF2-40B4-BE49-F238E27FC236}">
                <a16:creationId xmlns:a16="http://schemas.microsoft.com/office/drawing/2014/main" id="{B75EB074-67EB-82D1-5072-C684FFAC486F}"/>
              </a:ext>
            </a:extLst>
          </p:cNvPr>
          <p:cNvSpPr txBox="1"/>
          <p:nvPr/>
        </p:nvSpPr>
        <p:spPr>
          <a:xfrm>
            <a:off x="9645651" y="4777310"/>
            <a:ext cx="2222755" cy="584775"/>
          </a:xfrm>
          <a:prstGeom prst="rect">
            <a:avLst/>
          </a:prstGeom>
          <a:noFill/>
        </p:spPr>
        <p:txBody>
          <a:bodyPr wrap="square" rtlCol="0">
            <a:spAutoFit/>
          </a:bodyPr>
          <a:lstStyle/>
          <a:p>
            <a:pPr algn="ct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기억</a:t>
            </a:r>
            <a:endParaRPr lang="en-US" altLang="ko-KR" sz="1600" dirty="0">
              <a:latin typeface="D2Coding" panose="020B0609020101020101" pitchFamily="49" charset="-127"/>
              <a:ea typeface="D2Coding" panose="020B0609020101020101" pitchFamily="49" charset="-127"/>
            </a:endParaRPr>
          </a:p>
          <a:p>
            <a:pPr algn="ctr"/>
            <a:r>
              <a:rPr lang="en-US" altLang="ko-KR" sz="1600" dirty="0">
                <a:latin typeface="D2Coding" panose="020B0609020101020101" pitchFamily="49" charset="-127"/>
                <a:ea typeface="D2Coding" panose="020B0609020101020101" pitchFamily="49" charset="-127"/>
              </a:rPr>
              <a:t>(time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step=5</a:t>
            </a:r>
            <a:r>
              <a:rPr lang="ko-KR" altLang="en-US" sz="1600" dirty="0">
                <a:latin typeface="D2Coding" panose="020B0609020101020101" pitchFamily="49" charset="-127"/>
                <a:ea typeface="D2Coding" panose="020B0609020101020101" pitchFamily="49" charset="-127"/>
              </a:rPr>
              <a:t>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8ED520A-387A-9325-77ED-62A03C46376B}"/>
                  </a:ext>
                </a:extLst>
              </p:cNvPr>
              <p:cNvSpPr txBox="1"/>
              <p:nvPr/>
            </p:nvSpPr>
            <p:spPr>
              <a:xfrm>
                <a:off x="6819284" y="211727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6" name="TextBox 5">
                <a:extLst>
                  <a:ext uri="{FF2B5EF4-FFF2-40B4-BE49-F238E27FC236}">
                    <a16:creationId xmlns:a16="http://schemas.microsoft.com/office/drawing/2014/main" id="{98ED520A-387A-9325-77ED-62A03C46376B}"/>
                  </a:ext>
                </a:extLst>
              </p:cNvPr>
              <p:cNvSpPr txBox="1">
                <a:spLocks noRot="1" noChangeAspect="1" noMove="1" noResize="1" noEditPoints="1" noAdjustHandles="1" noChangeArrowheads="1" noChangeShapeType="1" noTextEdit="1"/>
              </p:cNvSpPr>
              <p:nvPr/>
            </p:nvSpPr>
            <p:spPr>
              <a:xfrm>
                <a:off x="6819284" y="2117272"/>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0C6A176-C29B-9E40-8305-A0A0E9CBB1A2}"/>
                  </a:ext>
                </a:extLst>
              </p:cNvPr>
              <p:cNvSpPr txBox="1"/>
              <p:nvPr/>
            </p:nvSpPr>
            <p:spPr>
              <a:xfrm>
                <a:off x="6819284" y="5440265"/>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2" name="TextBox 11">
                <a:extLst>
                  <a:ext uri="{FF2B5EF4-FFF2-40B4-BE49-F238E27FC236}">
                    <a16:creationId xmlns:a16="http://schemas.microsoft.com/office/drawing/2014/main" id="{10C6A176-C29B-9E40-8305-A0A0E9CBB1A2}"/>
                  </a:ext>
                </a:extLst>
              </p:cNvPr>
              <p:cNvSpPr txBox="1">
                <a:spLocks noRot="1" noChangeAspect="1" noMove="1" noResize="1" noEditPoints="1" noAdjustHandles="1" noChangeArrowheads="1" noChangeShapeType="1" noTextEdit="1"/>
              </p:cNvSpPr>
              <p:nvPr/>
            </p:nvSpPr>
            <p:spPr>
              <a:xfrm>
                <a:off x="6819284" y="5440265"/>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840120E2-A4B7-2B8E-ADBE-C88DCF8202D4}"/>
                  </a:ext>
                </a:extLst>
              </p:cNvPr>
              <p:cNvSpPr txBox="1"/>
              <p:nvPr/>
            </p:nvSpPr>
            <p:spPr>
              <a:xfrm>
                <a:off x="6819284" y="460951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4" name="TextBox 13">
                <a:extLst>
                  <a:ext uri="{FF2B5EF4-FFF2-40B4-BE49-F238E27FC236}">
                    <a16:creationId xmlns:a16="http://schemas.microsoft.com/office/drawing/2014/main" id="{840120E2-A4B7-2B8E-ADBE-C88DCF8202D4}"/>
                  </a:ext>
                </a:extLst>
              </p:cNvPr>
              <p:cNvSpPr txBox="1">
                <a:spLocks noRot="1" noChangeAspect="1" noMove="1" noResize="1" noEditPoints="1" noAdjustHandles="1" noChangeArrowheads="1" noChangeShapeType="1" noTextEdit="1"/>
              </p:cNvSpPr>
              <p:nvPr/>
            </p:nvSpPr>
            <p:spPr>
              <a:xfrm>
                <a:off x="6819284" y="460951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9B77C1F-F66E-D09A-215E-B300D794E5DA}"/>
                  </a:ext>
                </a:extLst>
              </p:cNvPr>
              <p:cNvSpPr txBox="1"/>
              <p:nvPr/>
            </p:nvSpPr>
            <p:spPr>
              <a:xfrm>
                <a:off x="6819284" y="3778768"/>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6" name="TextBox 15">
                <a:extLst>
                  <a:ext uri="{FF2B5EF4-FFF2-40B4-BE49-F238E27FC236}">
                    <a16:creationId xmlns:a16="http://schemas.microsoft.com/office/drawing/2014/main" id="{A9B77C1F-F66E-D09A-215E-B300D794E5DA}"/>
                  </a:ext>
                </a:extLst>
              </p:cNvPr>
              <p:cNvSpPr txBox="1">
                <a:spLocks noRot="1" noChangeAspect="1" noMove="1" noResize="1" noEditPoints="1" noAdjustHandles="1" noChangeArrowheads="1" noChangeShapeType="1" noTextEdit="1"/>
              </p:cNvSpPr>
              <p:nvPr/>
            </p:nvSpPr>
            <p:spPr>
              <a:xfrm>
                <a:off x="6819284" y="3778768"/>
                <a:ext cx="604653" cy="307777"/>
              </a:xfrm>
              <a:prstGeom prst="rect">
                <a:avLst/>
              </a:prstGeom>
              <a:blipFill>
                <a:blip r:embed="rId10"/>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0987E11-CF89-02B7-1F4A-9689F0BF2666}"/>
                  </a:ext>
                </a:extLst>
              </p:cNvPr>
              <p:cNvSpPr txBox="1"/>
              <p:nvPr/>
            </p:nvSpPr>
            <p:spPr>
              <a:xfrm>
                <a:off x="6819284" y="2948020"/>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60987E11-CF89-02B7-1F4A-9689F0BF2666}"/>
                  </a:ext>
                </a:extLst>
              </p:cNvPr>
              <p:cNvSpPr txBox="1">
                <a:spLocks noRot="1" noChangeAspect="1" noMove="1" noResize="1" noEditPoints="1" noAdjustHandles="1" noChangeArrowheads="1" noChangeShapeType="1" noTextEdit="1"/>
              </p:cNvSpPr>
              <p:nvPr/>
            </p:nvSpPr>
            <p:spPr>
              <a:xfrm>
                <a:off x="6819284" y="2948020"/>
                <a:ext cx="604653" cy="307777"/>
              </a:xfrm>
              <a:prstGeom prst="rect">
                <a:avLst/>
              </a:prstGeom>
              <a:blipFill>
                <a:blip r:embed="rId11"/>
                <a:stretch>
                  <a:fillRect b="-16000"/>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23880918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29852"/>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과거</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일치 주가</a:t>
            </a:r>
            <a:r>
              <a:rPr lang="en-US" altLang="ko-KR" dirty="0">
                <a:latin typeface="D2Coding" panose="020B0609020101020101" pitchFamily="49" charset="-127"/>
                <a:ea typeface="D2Coding" panose="020B0609020101020101" pitchFamily="49" charset="-127"/>
              </a:rPr>
              <a:t>, 5</a:t>
            </a:r>
            <a:r>
              <a:rPr lang="ko-KR" altLang="en-US" dirty="0">
                <a:latin typeface="D2Coding" panose="020B0609020101020101" pitchFamily="49" charset="-127"/>
                <a:ea typeface="D2Coding" panose="020B0609020101020101" pitchFamily="49" charset="-127"/>
              </a:rPr>
              <a:t>개 단어로 이루어진 문장 등 순서가 있는 </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gd name="adj1" fmla="val 14148"/>
              <a:gd name="adj2" fmla="val 30505"/>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8C4BE1C1-0CD0-A8C4-CD8A-0EBC1878E620}"/>
                  </a:ext>
                </a:extLst>
              </p:cNvPr>
              <p:cNvSpPr txBox="1"/>
              <p:nvPr/>
            </p:nvSpPr>
            <p:spPr>
              <a:xfrm>
                <a:off x="637559" y="2098222"/>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 name="TextBox 1">
                <a:extLst>
                  <a:ext uri="{FF2B5EF4-FFF2-40B4-BE49-F238E27FC236}">
                    <a16:creationId xmlns:a16="http://schemas.microsoft.com/office/drawing/2014/main" id="{8C4BE1C1-0CD0-A8C4-CD8A-0EBC1878E620}"/>
                  </a:ext>
                </a:extLst>
              </p:cNvPr>
              <p:cNvSpPr txBox="1">
                <a:spLocks noRot="1" noChangeAspect="1" noMove="1" noResize="1" noEditPoints="1" noAdjustHandles="1" noChangeArrowheads="1" noChangeShapeType="1" noTextEdit="1"/>
              </p:cNvSpPr>
              <p:nvPr/>
            </p:nvSpPr>
            <p:spPr>
              <a:xfrm>
                <a:off x="637559" y="2098222"/>
                <a:ext cx="604653" cy="307777"/>
              </a:xfrm>
              <a:prstGeom prst="rect">
                <a:avLst/>
              </a:prstGeom>
              <a:blipFill>
                <a:blip r:embed="rId2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8964160-40BE-CFAA-F234-B66511777EE1}"/>
                  </a:ext>
                </a:extLst>
              </p:cNvPr>
              <p:cNvSpPr txBox="1"/>
              <p:nvPr/>
            </p:nvSpPr>
            <p:spPr>
              <a:xfrm>
                <a:off x="637559" y="5421215"/>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4" name="TextBox 3">
                <a:extLst>
                  <a:ext uri="{FF2B5EF4-FFF2-40B4-BE49-F238E27FC236}">
                    <a16:creationId xmlns:a16="http://schemas.microsoft.com/office/drawing/2014/main" id="{68964160-40BE-CFAA-F234-B66511777EE1}"/>
                  </a:ext>
                </a:extLst>
              </p:cNvPr>
              <p:cNvSpPr txBox="1">
                <a:spLocks noRot="1" noChangeAspect="1" noMove="1" noResize="1" noEditPoints="1" noAdjustHandles="1" noChangeArrowheads="1" noChangeShapeType="1" noTextEdit="1"/>
              </p:cNvSpPr>
              <p:nvPr/>
            </p:nvSpPr>
            <p:spPr>
              <a:xfrm>
                <a:off x="637559" y="5421215"/>
                <a:ext cx="359393" cy="307777"/>
              </a:xfrm>
              <a:prstGeom prst="rect">
                <a:avLst/>
              </a:prstGeom>
              <a:blipFill>
                <a:blip r:embed="rId2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314EEF9-012B-5188-6CB0-EBB4914AC86A}"/>
                  </a:ext>
                </a:extLst>
              </p:cNvPr>
              <p:cNvSpPr txBox="1"/>
              <p:nvPr/>
            </p:nvSpPr>
            <p:spPr>
              <a:xfrm>
                <a:off x="637559" y="4590466"/>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7" name="TextBox 6">
                <a:extLst>
                  <a:ext uri="{FF2B5EF4-FFF2-40B4-BE49-F238E27FC236}">
                    <a16:creationId xmlns:a16="http://schemas.microsoft.com/office/drawing/2014/main" id="{1314EEF9-012B-5188-6CB0-EBB4914AC86A}"/>
                  </a:ext>
                </a:extLst>
              </p:cNvPr>
              <p:cNvSpPr txBox="1">
                <a:spLocks noRot="1" noChangeAspect="1" noMove="1" noResize="1" noEditPoints="1" noAdjustHandles="1" noChangeArrowheads="1" noChangeShapeType="1" noTextEdit="1"/>
              </p:cNvSpPr>
              <p:nvPr/>
            </p:nvSpPr>
            <p:spPr>
              <a:xfrm>
                <a:off x="637559" y="4590466"/>
                <a:ext cx="604653" cy="307777"/>
              </a:xfrm>
              <a:prstGeom prst="rect">
                <a:avLst/>
              </a:prstGeom>
              <a:blipFill>
                <a:blip r:embed="rId2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4B7F059-7760-58AA-AC40-2C6E61BA382D}"/>
                  </a:ext>
                </a:extLst>
              </p:cNvPr>
              <p:cNvSpPr txBox="1"/>
              <p:nvPr/>
            </p:nvSpPr>
            <p:spPr>
              <a:xfrm>
                <a:off x="637559" y="3759718"/>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8" name="TextBox 7">
                <a:extLst>
                  <a:ext uri="{FF2B5EF4-FFF2-40B4-BE49-F238E27FC236}">
                    <a16:creationId xmlns:a16="http://schemas.microsoft.com/office/drawing/2014/main" id="{34B7F059-7760-58AA-AC40-2C6E61BA382D}"/>
                  </a:ext>
                </a:extLst>
              </p:cNvPr>
              <p:cNvSpPr txBox="1">
                <a:spLocks noRot="1" noChangeAspect="1" noMove="1" noResize="1" noEditPoints="1" noAdjustHandles="1" noChangeArrowheads="1" noChangeShapeType="1" noTextEdit="1"/>
              </p:cNvSpPr>
              <p:nvPr/>
            </p:nvSpPr>
            <p:spPr>
              <a:xfrm>
                <a:off x="637559" y="3759718"/>
                <a:ext cx="604653" cy="307777"/>
              </a:xfrm>
              <a:prstGeom prst="rect">
                <a:avLst/>
              </a:prstGeom>
              <a:blipFill>
                <a:blip r:embed="rId25"/>
                <a:stretch>
                  <a:fillRect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62BC530-240E-FBEA-9B9F-1A70A30017CA}"/>
                  </a:ext>
                </a:extLst>
              </p:cNvPr>
              <p:cNvSpPr txBox="1"/>
              <p:nvPr/>
            </p:nvSpPr>
            <p:spPr>
              <a:xfrm>
                <a:off x="637559" y="2928970"/>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9" name="TextBox 8">
                <a:extLst>
                  <a:ext uri="{FF2B5EF4-FFF2-40B4-BE49-F238E27FC236}">
                    <a16:creationId xmlns:a16="http://schemas.microsoft.com/office/drawing/2014/main" id="{062BC530-240E-FBEA-9B9F-1A70A30017CA}"/>
                  </a:ext>
                </a:extLst>
              </p:cNvPr>
              <p:cNvSpPr txBox="1">
                <a:spLocks noRot="1" noChangeAspect="1" noMove="1" noResize="1" noEditPoints="1" noAdjustHandles="1" noChangeArrowheads="1" noChangeShapeType="1" noTextEdit="1"/>
              </p:cNvSpPr>
              <p:nvPr/>
            </p:nvSpPr>
            <p:spPr>
              <a:xfrm>
                <a:off x="637559" y="2928970"/>
                <a:ext cx="604653" cy="307777"/>
              </a:xfrm>
              <a:prstGeom prst="rect">
                <a:avLst/>
              </a:prstGeom>
              <a:blipFill>
                <a:blip r:embed="rId26"/>
                <a:stretch>
                  <a:fillRect b="-13725"/>
                </a:stretch>
              </a:blipFill>
            </p:spPr>
            <p:txBody>
              <a:bodyPr/>
              <a:lstStyle/>
              <a:p>
                <a:r>
                  <a:rPr lang="ko-KR" altLang="en-US">
                    <a:noFill/>
                  </a:rPr>
                  <a:t> </a:t>
                </a:r>
              </a:p>
            </p:txBody>
          </p:sp>
        </mc:Fallback>
      </mc:AlternateContent>
    </p:spTree>
    <p:extLst>
      <p:ext uri="{BB962C8B-B14F-4D97-AF65-F5344CB8AC3E}">
        <p14:creationId xmlns:p14="http://schemas.microsoft.com/office/powerpoint/2010/main" val="33111789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Input</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data</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5</a:t>
            </a:r>
            <a:r>
              <a:rPr lang="ko-KR" altLang="en-US" dirty="0">
                <a:latin typeface="D2Coding" panose="020B0609020101020101" pitchFamily="49" charset="-127"/>
                <a:ea typeface="D2Coding" panose="020B0609020101020101" pitchFamily="49" charset="-127"/>
              </a:rPr>
              <a:t>회씩 </a:t>
            </a:r>
            <a:r>
              <a:rPr lang="ko-KR" altLang="en-US" dirty="0" err="1">
                <a:latin typeface="D2Coding" panose="020B0609020101020101" pitchFamily="49" charset="-127"/>
                <a:ea typeface="D2Coding" panose="020B0609020101020101" pitchFamily="49" charset="-127"/>
              </a:rPr>
              <a:t>은닉층</a:t>
            </a:r>
            <a:r>
              <a:rPr lang="ko-KR" altLang="en-US" dirty="0">
                <a:latin typeface="D2Coding" panose="020B0609020101020101" pitchFamily="49" charset="-127"/>
                <a:ea typeface="D2Coding" panose="020B0609020101020101" pitchFamily="49" charset="-127"/>
              </a:rPr>
              <a:t>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 노드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돌림 노래</a:t>
            </a:r>
            <a:r>
              <a:rPr lang="en-US" altLang="ko-KR" dirty="0">
                <a:latin typeface="D2Coding" panose="020B0609020101020101" pitchFamily="49" charset="-127"/>
                <a:ea typeface="D2Coding" panose="020B0609020101020101" pitchFamily="49" charset="-127"/>
              </a:rPr>
              <a:t>) – Hidden Layer 1</a:t>
            </a:r>
            <a:r>
              <a:rPr lang="ko-KR" altLang="en-US" dirty="0">
                <a:latin typeface="D2Coding" panose="020B0609020101020101" pitchFamily="49" charset="-127"/>
                <a:ea typeface="D2Coding" panose="020B0609020101020101" pitchFamily="49" charset="-127"/>
              </a:rPr>
              <a:t>개에 노드가</a:t>
            </a:r>
            <a:r>
              <a:rPr lang="en-US" altLang="ko-KR" dirty="0">
                <a:latin typeface="D2Coding" panose="020B0609020101020101" pitchFamily="49" charset="-127"/>
                <a:ea typeface="D2Coding" panose="020B0609020101020101" pitchFamily="49" charset="-127"/>
              </a:rPr>
              <a:t> 1</a:t>
            </a:r>
            <a:r>
              <a:rPr lang="ko-KR" altLang="en-US" dirty="0">
                <a:latin typeface="D2Coding" panose="020B0609020101020101" pitchFamily="49" charset="-127"/>
                <a:ea typeface="D2Coding" panose="020B0609020101020101" pitchFamily="49" charset="-127"/>
              </a:rPr>
              <a:t>개인 경우 유사코드</a:t>
            </a:r>
          </a:p>
        </p:txBody>
      </p:sp>
      <p:sp>
        <p:nvSpPr>
          <p:cNvPr id="8" name="TextBox 7">
            <a:extLst>
              <a:ext uri="{FF2B5EF4-FFF2-40B4-BE49-F238E27FC236}">
                <a16:creationId xmlns:a16="http://schemas.microsoft.com/office/drawing/2014/main" id="{6E6A316E-DB75-8B18-216D-F7057789E7AE}"/>
              </a:ext>
            </a:extLst>
          </p:cNvPr>
          <p:cNvSpPr txBox="1"/>
          <p:nvPr/>
        </p:nvSpPr>
        <p:spPr>
          <a:xfrm>
            <a:off x="942975" y="2680716"/>
            <a:ext cx="7086600" cy="1815882"/>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 # </a:t>
            </a:r>
            <a:r>
              <a:rPr lang="ko-KR" altLang="en-US" sz="1600" b="0" i="0" dirty="0">
                <a:solidFill>
                  <a:srgbClr val="990055"/>
                </a:solidFill>
                <a:effectLst/>
                <a:latin typeface="D2Coding" panose="020B0609020101020101" pitchFamily="49" charset="-127"/>
                <a:ea typeface="D2Coding" panose="020B0609020101020101" pitchFamily="49" charset="-127"/>
              </a:rPr>
              <a:t>노드가 </a:t>
            </a:r>
            <a:r>
              <a:rPr lang="en-US" altLang="ko-KR" sz="1600" b="0" i="0" dirty="0">
                <a:solidFill>
                  <a:srgbClr val="990055"/>
                </a:solidFill>
                <a:effectLst/>
                <a:latin typeface="D2Coding" panose="020B0609020101020101" pitchFamily="49" charset="-127"/>
                <a:ea typeface="D2Coding" panose="020B0609020101020101" pitchFamily="49" charset="-127"/>
              </a:rPr>
              <a:t>2</a:t>
            </a:r>
            <a:r>
              <a:rPr lang="ko-KR" altLang="en-US" sz="1600" b="0" i="0" dirty="0">
                <a:solidFill>
                  <a:srgbClr val="990055"/>
                </a:solidFill>
                <a:effectLst/>
                <a:latin typeface="D2Coding" panose="020B0609020101020101" pitchFamily="49" charset="-127"/>
                <a:ea typeface="D2Coding" panose="020B0609020101020101" pitchFamily="49" charset="-127"/>
              </a:rPr>
              <a:t>개이면 </a:t>
            </a:r>
            <a:r>
              <a:rPr lang="en-US" altLang="ko-KR" sz="1600" b="0" i="0" dirty="0" err="1">
                <a:solidFill>
                  <a:srgbClr val="990055"/>
                </a:solidFill>
                <a:effectLst/>
                <a:latin typeface="D2Coding" panose="020B0609020101020101" pitchFamily="49" charset="-127"/>
                <a:ea typeface="D2Coding" panose="020B0609020101020101" pitchFamily="49" charset="-127"/>
              </a:rPr>
              <a:t>np.zeros</a:t>
            </a:r>
            <a:r>
              <a:rPr lang="en-US" altLang="ko-KR" sz="1600" b="0" i="0" dirty="0">
                <a:solidFill>
                  <a:srgbClr val="990055"/>
                </a:solidFill>
                <a:effectLst/>
                <a:latin typeface="D2Coding" panose="020B0609020101020101" pitchFamily="49" charset="-127"/>
                <a:ea typeface="D2Coding" panose="020B0609020101020101" pitchFamily="49" charset="-127"/>
              </a:rPr>
              <a:t>(2)</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942975" y="5002905"/>
            <a:ext cx="7086600" cy="1077218"/>
          </a:xfrm>
          <a:prstGeom prst="rect">
            <a:avLst/>
          </a:prstGeom>
          <a:solidFill>
            <a:srgbClr val="76E3FF"/>
          </a:solidFill>
          <a:ln>
            <a:solidFill>
              <a:schemeClr val="tx1"/>
            </a:solidFill>
          </a:ln>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942975" y="2343686"/>
            <a:ext cx="7086600" cy="338554"/>
          </a:xfrm>
          <a:prstGeom prst="rect">
            <a:avLst/>
          </a:prstGeom>
          <a:solidFill>
            <a:schemeClr val="tx1"/>
          </a:solidFill>
        </p:spPr>
        <p:txBody>
          <a:bodyPr wrap="square">
            <a:spAutoFit/>
          </a:bodyPr>
          <a:lstStyle/>
          <a:p>
            <a:r>
              <a:rPr lang="en-US" altLang="ko-KR" sz="1600" b="0" i="0" dirty="0">
                <a:solidFill>
                  <a:schemeClr val="bg1"/>
                </a:solidFill>
                <a:effectLst/>
                <a:latin typeface="D2Coding" panose="020B0609020101020101" pitchFamily="49" charset="-127"/>
                <a:ea typeface="D2Coding" panose="020B0609020101020101" pitchFamily="49" charset="-127"/>
              </a:rPr>
              <a:t>Pseudocode RNN</a:t>
            </a:r>
            <a:endParaRPr lang="ko-KR" altLang="en-US" sz="1600" dirty="0">
              <a:solidFill>
                <a:schemeClr val="bg1"/>
              </a:solidFill>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942975" y="4664351"/>
            <a:ext cx="7086600" cy="338554"/>
          </a:xfrm>
          <a:prstGeom prst="rect">
            <a:avLst/>
          </a:prstGeom>
          <a:solidFill>
            <a:schemeClr val="tx1"/>
          </a:solid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a:t>
            </a:r>
            <a:r>
              <a:rPr lang="en-US" altLang="ko-KR" sz="1600" b="0" i="0" dirty="0">
                <a:solidFill>
                  <a:schemeClr val="bg1"/>
                </a:solidFill>
                <a:effectLst/>
                <a:latin typeface="D2Coding" panose="020B0609020101020101" pitchFamily="49" charset="-127"/>
                <a:ea typeface="D2Coding" panose="020B0609020101020101" pitchFamily="49" charset="-127"/>
              </a:rPr>
              <a:t>pseudocode</a:t>
            </a:r>
            <a:r>
              <a:rPr lang="en-US" altLang="ko-KR" sz="1600" b="0" i="0" dirty="0">
                <a:effectLst/>
                <a:latin typeface="D2Coding" panose="020B0609020101020101" pitchFamily="49" charset="-127"/>
                <a:ea typeface="D2Coding" panose="020B0609020101020101" pitchFamily="49" charset="-127"/>
              </a:rPr>
              <a:t>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B9D78744-2A77-D257-03D7-8506606151D1}"/>
              </a:ext>
            </a:extLst>
          </p:cNvPr>
          <p:cNvSpPr/>
          <p:nvPr/>
        </p:nvSpPr>
        <p:spPr>
          <a:xfrm>
            <a:off x="10037720" y="520851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A33C7C0-D631-A68F-1F76-AF31D6CBED54}"/>
                  </a:ext>
                </a:extLst>
              </p:cNvPr>
              <p:cNvSpPr txBox="1"/>
              <p:nvPr/>
            </p:nvSpPr>
            <p:spPr>
              <a:xfrm>
                <a:off x="10452473" y="5637458"/>
                <a:ext cx="35939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5" name="TextBox 4">
                <a:extLst>
                  <a:ext uri="{FF2B5EF4-FFF2-40B4-BE49-F238E27FC236}">
                    <a16:creationId xmlns:a16="http://schemas.microsoft.com/office/drawing/2014/main" id="{2A33C7C0-D631-A68F-1F76-AF31D6CBED54}"/>
                  </a:ext>
                </a:extLst>
              </p:cNvPr>
              <p:cNvSpPr txBox="1">
                <a:spLocks noRot="1" noChangeAspect="1" noMove="1" noResize="1" noEditPoints="1" noAdjustHandles="1" noChangeArrowheads="1" noChangeShapeType="1" noTextEdit="1"/>
              </p:cNvSpPr>
              <p:nvPr/>
            </p:nvSpPr>
            <p:spPr>
              <a:xfrm>
                <a:off x="10452473" y="5637458"/>
                <a:ext cx="359393" cy="307777"/>
              </a:xfrm>
              <a:prstGeom prst="rect">
                <a:avLst/>
              </a:prstGeom>
              <a:blipFill>
                <a:blip r:embed="rId2"/>
                <a:stretch>
                  <a:fillRect b="-16000"/>
                </a:stretch>
              </a:blipFill>
            </p:spPr>
            <p:txBody>
              <a:bodyPr/>
              <a:lstStyle/>
              <a:p>
                <a:r>
                  <a:rPr lang="ko-KR" altLang="en-US">
                    <a:noFill/>
                  </a:rPr>
                  <a:t> </a:t>
                </a:r>
              </a:p>
            </p:txBody>
          </p:sp>
        </mc:Fallback>
      </mc:AlternateContent>
      <p:sp>
        <p:nvSpPr>
          <p:cNvPr id="6" name="타원 5">
            <a:extLst>
              <a:ext uri="{FF2B5EF4-FFF2-40B4-BE49-F238E27FC236}">
                <a16:creationId xmlns:a16="http://schemas.microsoft.com/office/drawing/2014/main" id="{EE3793A3-1C6E-3F25-CF83-EE5BA264F37F}"/>
              </a:ext>
            </a:extLst>
          </p:cNvPr>
          <p:cNvSpPr/>
          <p:nvPr/>
        </p:nvSpPr>
        <p:spPr>
          <a:xfrm>
            <a:off x="10037720" y="260086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9C4E45E-20D0-C296-3AA7-47F40726F808}"/>
                  </a:ext>
                </a:extLst>
              </p:cNvPr>
              <p:cNvSpPr txBox="1"/>
              <p:nvPr/>
            </p:nvSpPr>
            <p:spPr>
              <a:xfrm>
                <a:off x="10425723" y="3038030"/>
                <a:ext cx="355482"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7" name="TextBox 6">
                <a:extLst>
                  <a:ext uri="{FF2B5EF4-FFF2-40B4-BE49-F238E27FC236}">
                    <a16:creationId xmlns:a16="http://schemas.microsoft.com/office/drawing/2014/main" id="{99C4E45E-20D0-C296-3AA7-47F40726F808}"/>
                  </a:ext>
                </a:extLst>
              </p:cNvPr>
              <p:cNvSpPr txBox="1">
                <a:spLocks noRot="1" noChangeAspect="1" noMove="1" noResize="1" noEditPoints="1" noAdjustHandles="1" noChangeArrowheads="1" noChangeShapeType="1" noTextEdit="1"/>
              </p:cNvSpPr>
              <p:nvPr/>
            </p:nvSpPr>
            <p:spPr>
              <a:xfrm>
                <a:off x="10425723" y="3038030"/>
                <a:ext cx="355482" cy="307777"/>
              </a:xfrm>
              <a:prstGeom prst="rect">
                <a:avLst/>
              </a:prstGeom>
              <a:blipFill>
                <a:blip r:embed="rId3"/>
                <a:stretch>
                  <a:fillRect l="-6780" b="-23529"/>
                </a:stretch>
              </a:blipFill>
            </p:spPr>
            <p:txBody>
              <a:bodyPr/>
              <a:lstStyle/>
              <a:p>
                <a:r>
                  <a:rPr lang="ko-KR" altLang="en-US">
                    <a:noFill/>
                  </a:rPr>
                  <a:t> </a:t>
                </a:r>
              </a:p>
            </p:txBody>
          </p:sp>
        </mc:Fallback>
      </mc:AlternateContent>
      <p:sp>
        <p:nvSpPr>
          <p:cNvPr id="9" name="타원 8">
            <a:extLst>
              <a:ext uri="{FF2B5EF4-FFF2-40B4-BE49-F238E27FC236}">
                <a16:creationId xmlns:a16="http://schemas.microsoft.com/office/drawing/2014/main" id="{061FB860-F272-0892-9C18-80026AC46911}"/>
              </a:ext>
            </a:extLst>
          </p:cNvPr>
          <p:cNvSpPr/>
          <p:nvPr/>
        </p:nvSpPr>
        <p:spPr>
          <a:xfrm>
            <a:off x="10037720" y="40153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0A10993-B354-6FA2-B029-B7764C55D1B3}"/>
                  </a:ext>
                </a:extLst>
              </p:cNvPr>
              <p:cNvSpPr txBox="1"/>
              <p:nvPr/>
            </p:nvSpPr>
            <p:spPr>
              <a:xfrm>
                <a:off x="10365519" y="4583872"/>
                <a:ext cx="366703"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ko-KR" sz="2000" b="0" i="1"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xmlns="">
          <p:sp>
            <p:nvSpPr>
              <p:cNvPr id="11" name="TextBox 10">
                <a:extLst>
                  <a:ext uri="{FF2B5EF4-FFF2-40B4-BE49-F238E27FC236}">
                    <a16:creationId xmlns:a16="http://schemas.microsoft.com/office/drawing/2014/main" id="{60A10993-B354-6FA2-B029-B7764C55D1B3}"/>
                  </a:ext>
                </a:extLst>
              </p:cNvPr>
              <p:cNvSpPr txBox="1">
                <a:spLocks noRot="1" noChangeAspect="1" noMove="1" noResize="1" noEditPoints="1" noAdjustHandles="1" noChangeArrowheads="1" noChangeShapeType="1" noTextEdit="1"/>
              </p:cNvSpPr>
              <p:nvPr/>
            </p:nvSpPr>
            <p:spPr>
              <a:xfrm>
                <a:off x="10365519" y="4583872"/>
                <a:ext cx="366703" cy="307777"/>
              </a:xfrm>
              <a:prstGeom prst="rect">
                <a:avLst/>
              </a:prstGeom>
              <a:blipFill>
                <a:blip r:embed="rId4"/>
                <a:stretch>
                  <a:fillRect l="-6557" b="-16000"/>
                </a:stretch>
              </a:blipFill>
            </p:spPr>
            <p:txBody>
              <a:bodyPr/>
              <a:lstStyle/>
              <a:p>
                <a:r>
                  <a:rPr lang="ko-KR" altLang="en-US">
                    <a:noFill/>
                  </a:rPr>
                  <a:t> </a:t>
                </a:r>
              </a:p>
            </p:txBody>
          </p:sp>
        </mc:Fallback>
      </mc:AlternateContent>
      <p:cxnSp>
        <p:nvCxnSpPr>
          <p:cNvPr id="13" name="직선 화살표 연결선 12">
            <a:extLst>
              <a:ext uri="{FF2B5EF4-FFF2-40B4-BE49-F238E27FC236}">
                <a16:creationId xmlns:a16="http://schemas.microsoft.com/office/drawing/2014/main" id="{84F4380C-34D8-2AA0-8C75-6244F14694CA}"/>
              </a:ext>
            </a:extLst>
          </p:cNvPr>
          <p:cNvCxnSpPr>
            <a:cxnSpLocks/>
            <a:stCxn id="2" idx="0"/>
            <a:endCxn id="9" idx="4"/>
          </p:cNvCxnSpPr>
          <p:nvPr/>
        </p:nvCxnSpPr>
        <p:spPr>
          <a:xfrm flipV="1">
            <a:off x="10275845" y="4491575"/>
            <a:ext cx="0" cy="7169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직선 화살표 연결선 14">
            <a:extLst>
              <a:ext uri="{FF2B5EF4-FFF2-40B4-BE49-F238E27FC236}">
                <a16:creationId xmlns:a16="http://schemas.microsoft.com/office/drawing/2014/main" id="{DD4199B2-92D0-CF7C-AFE9-3568D2AA5F88}"/>
              </a:ext>
            </a:extLst>
          </p:cNvPr>
          <p:cNvCxnSpPr>
            <a:cxnSpLocks/>
            <a:stCxn id="9" idx="0"/>
            <a:endCxn id="6" idx="4"/>
          </p:cNvCxnSpPr>
          <p:nvPr/>
        </p:nvCxnSpPr>
        <p:spPr>
          <a:xfrm flipV="1">
            <a:off x="10275845" y="3077111"/>
            <a:ext cx="0" cy="938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연결선: 구부러짐 15">
            <a:extLst>
              <a:ext uri="{FF2B5EF4-FFF2-40B4-BE49-F238E27FC236}">
                <a16:creationId xmlns:a16="http://schemas.microsoft.com/office/drawing/2014/main" id="{584D1859-678D-E109-21FD-7A3F61FCEE20}"/>
              </a:ext>
            </a:extLst>
          </p:cNvPr>
          <p:cNvCxnSpPr>
            <a:cxnSpLocks/>
            <a:stCxn id="9" idx="5"/>
            <a:endCxn id="9" idx="7"/>
          </p:cNvCxnSpPr>
          <p:nvPr/>
        </p:nvCxnSpPr>
        <p:spPr>
          <a:xfrm rot="5400000" flipH="1">
            <a:off x="10275845" y="42534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940558C-7282-11B1-1F64-08A0D552B210}"/>
              </a:ext>
            </a:extLst>
          </p:cNvPr>
          <p:cNvSpPr txBox="1"/>
          <p:nvPr/>
        </p:nvSpPr>
        <p:spPr>
          <a:xfrm>
            <a:off x="8808995" y="5320597"/>
            <a:ext cx="1905000" cy="338554"/>
          </a:xfrm>
          <a:prstGeom prst="rect">
            <a:avLst/>
          </a:prstGeom>
          <a:noFill/>
        </p:spPr>
        <p:txBody>
          <a:bodyPr wrap="square">
            <a:spAutoFit/>
          </a:bodyPr>
          <a:lstStyle/>
          <a:p>
            <a:r>
              <a:rPr lang="en-US" altLang="ko-KR" sz="1600" b="0" i="0" dirty="0" err="1">
                <a:solidFill>
                  <a:srgbClr val="000000"/>
                </a:solidFill>
                <a:effectLst/>
                <a:latin typeface="D2Coding" panose="020B0609020101020101" pitchFamily="49" charset="-127"/>
                <a:ea typeface="D2Coding" panose="020B0609020101020101" pitchFamily="49" charset="-127"/>
              </a:rPr>
              <a:t>input_t</a:t>
            </a:r>
            <a:endParaRPr lang="ko-KR" altLang="en-US" sz="1600" dirty="0"/>
          </a:p>
        </p:txBody>
      </p:sp>
      <p:sp>
        <p:nvSpPr>
          <p:cNvPr id="21" name="TextBox 20">
            <a:extLst>
              <a:ext uri="{FF2B5EF4-FFF2-40B4-BE49-F238E27FC236}">
                <a16:creationId xmlns:a16="http://schemas.microsoft.com/office/drawing/2014/main" id="{5AD0258C-58B4-FAE4-CA54-790326F81FFD}"/>
              </a:ext>
            </a:extLst>
          </p:cNvPr>
          <p:cNvSpPr txBox="1"/>
          <p:nvPr/>
        </p:nvSpPr>
        <p:spPr>
          <a:xfrm>
            <a:off x="8808995" y="4058848"/>
            <a:ext cx="1504950" cy="338554"/>
          </a:xfrm>
          <a:prstGeom prst="rect">
            <a:avLst/>
          </a:prstGeom>
          <a:noFill/>
        </p:spPr>
        <p:txBody>
          <a:bodyPr wrap="square">
            <a:spAutoFit/>
          </a:bodyPr>
          <a:lstStyle/>
          <a:p>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endParaRPr lang="ko-KR" altLang="en-US" sz="1600" dirty="0"/>
          </a:p>
        </p:txBody>
      </p:sp>
    </p:spTree>
    <p:extLst>
      <p:ext uri="{BB962C8B-B14F-4D97-AF65-F5344CB8AC3E}">
        <p14:creationId xmlns:p14="http://schemas.microsoft.com/office/powerpoint/2010/main" val="37676460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1E487-426D-8FCA-61E6-83E323DD5E6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29DFB5-F0EF-A412-75D8-5B882CE9EDD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DC2882CA-426C-E25B-DE73-53707BFBEBE7}"/>
              </a:ext>
            </a:extLst>
          </p:cNvPr>
          <p:cNvSpPr txBox="1"/>
          <p:nvPr/>
        </p:nvSpPr>
        <p:spPr>
          <a:xfrm>
            <a:off x="1143000" y="1947291"/>
            <a:ext cx="10077450" cy="4278094"/>
          </a:xfrm>
          <a:prstGeom prst="rect">
            <a:avLst/>
          </a:prstGeom>
          <a:solidFill>
            <a:srgbClr val="76E3FF"/>
          </a:solidFill>
          <a:ln>
            <a:solidFill>
              <a:schemeClr val="tx1"/>
            </a:solidFill>
          </a:ln>
        </p:spPr>
        <p:txBody>
          <a:bodyPr wrap="square">
            <a:spAutoFit/>
          </a:bodyPr>
          <a:lstStyle/>
          <a:p>
            <a:r>
              <a:rPr lang="en-US" altLang="ko-KR" sz="1600" dirty="0">
                <a:latin typeface="D2Coding" panose="020B0609020101020101" pitchFamily="49" charset="-127"/>
                <a:ea typeface="D2Coding" panose="020B0609020101020101" pitchFamily="49" charset="-127"/>
              </a:rPr>
              <a:t>import </a:t>
            </a:r>
            <a:r>
              <a:rPr lang="en-US" altLang="ko-KR" sz="1600" dirty="0" err="1">
                <a:latin typeface="D2Coding" panose="020B0609020101020101" pitchFamily="49" charset="-127"/>
                <a:ea typeface="D2Coding" panose="020B0609020101020101" pitchFamily="49" charset="-127"/>
              </a:rPr>
              <a:t>numpy</a:t>
            </a:r>
            <a:r>
              <a:rPr lang="en-US" altLang="ko-KR" sz="1600" dirty="0">
                <a:latin typeface="D2Coding" panose="020B0609020101020101" pitchFamily="49" charset="-127"/>
                <a:ea typeface="D2Coding" panose="020B0609020101020101" pitchFamily="49" charset="-127"/>
              </a:rPr>
              <a:t> as np</a:t>
            </a:r>
          </a:p>
          <a:p>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각 은닉층의 이전 상태 초기화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노드가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개이므로 각각 크기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인 벡터</a:t>
            </a:r>
            <a:r>
              <a:rPr lang="en-US" altLang="ko-KR" sz="1600" dirty="0">
                <a:latin typeface="D2Coding" panose="020B0609020101020101" pitchFamily="49" charset="-127"/>
                <a:ea typeface="D2Coding" panose="020B0609020101020101" pitchFamily="49" charset="-127"/>
              </a:rPr>
              <a:t>)</a:t>
            </a:r>
          </a:p>
          <a:p>
            <a:r>
              <a:rPr lang="en-US" altLang="ko-KR" sz="1600" dirty="0">
                <a:latin typeface="D2Coding" panose="020B0609020101020101" pitchFamily="49" charset="-127"/>
                <a:ea typeface="D2Coding" panose="020B0609020101020101" pitchFamily="49" charset="-127"/>
              </a:rPr>
              <a:t>state_layer1_t = </a:t>
            </a:r>
            <a:r>
              <a:rPr lang="en-US" altLang="ko-KR" sz="1600" dirty="0" err="1">
                <a:latin typeface="D2Coding" panose="020B0609020101020101" pitchFamily="49" charset="-127"/>
                <a:ea typeface="D2Coding" panose="020B0609020101020101" pitchFamily="49" charset="-127"/>
              </a:rPr>
              <a:t>np.zeros</a:t>
            </a:r>
            <a:r>
              <a:rPr lang="en-US" altLang="ko-KR" sz="1600" dirty="0">
                <a:latin typeface="D2Coding" panose="020B0609020101020101" pitchFamily="49" charset="-127"/>
                <a:ea typeface="D2Coding" panose="020B0609020101020101" pitchFamily="49" charset="-127"/>
              </a:rPr>
              <a:t>(2)</a:t>
            </a:r>
          </a:p>
          <a:p>
            <a:r>
              <a:rPr lang="en-US" altLang="ko-KR" sz="1600" dirty="0">
                <a:latin typeface="D2Coding" panose="020B0609020101020101" pitchFamily="49" charset="-127"/>
                <a:ea typeface="D2Coding" panose="020B0609020101020101" pitchFamily="49" charset="-127"/>
              </a:rPr>
              <a:t>state_layer2_t = </a:t>
            </a:r>
            <a:r>
              <a:rPr lang="en-US" altLang="ko-KR" sz="1600" dirty="0" err="1">
                <a:latin typeface="D2Coding" panose="020B0609020101020101" pitchFamily="49" charset="-127"/>
                <a:ea typeface="D2Coding" panose="020B0609020101020101" pitchFamily="49" charset="-127"/>
              </a:rPr>
              <a:t>np.zeros</a:t>
            </a:r>
            <a:r>
              <a:rPr lang="en-US" altLang="ko-KR" sz="1600" dirty="0">
                <a:latin typeface="D2Coding" panose="020B0609020101020101" pitchFamily="49" charset="-127"/>
                <a:ea typeface="D2Coding" panose="020B0609020101020101" pitchFamily="49" charset="-127"/>
              </a:rPr>
              <a:t>(2)</a:t>
            </a:r>
          </a:p>
          <a:p>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 Iterates over sequence elements</a:t>
            </a:r>
          </a:p>
          <a:p>
            <a:r>
              <a:rPr lang="en-US" altLang="ko-KR" sz="1600" dirty="0">
                <a:latin typeface="D2Coding" panose="020B0609020101020101" pitchFamily="49" charset="-127"/>
                <a:ea typeface="D2Coding" panose="020B0609020101020101" pitchFamily="49" charset="-127"/>
              </a:rPr>
              <a:t>for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in </a:t>
            </a:r>
            <a:r>
              <a:rPr lang="en-US" altLang="ko-KR" sz="1600" dirty="0" err="1">
                <a:latin typeface="D2Coding" panose="020B0609020101020101" pitchFamily="49" charset="-127"/>
                <a:ea typeface="D2Coding" panose="020B0609020101020101" pitchFamily="49" charset="-127"/>
              </a:rPr>
              <a:t>input_sequence</a:t>
            </a:r>
            <a:r>
              <a:rPr lang="en-US" altLang="ko-KR" sz="1600" dirty="0">
                <a:latin typeface="D2Coding" panose="020B0609020101020101" pitchFamily="49" charset="-127"/>
                <a:ea typeface="D2Coding" panose="020B0609020101020101" pitchFamily="49" charset="-127"/>
              </a:rPr>
              <a:t>:</a:t>
            </a:r>
          </a:p>
          <a:p>
            <a:r>
              <a:rPr lang="en-US" altLang="ko-KR" sz="1600" dirty="0">
                <a:latin typeface="D2Coding" panose="020B0609020101020101" pitchFamily="49" charset="-127"/>
                <a:ea typeface="D2Coding" panose="020B0609020101020101" pitchFamily="49" charset="-127"/>
              </a:rPr>
              <a:t>    # 1. </a:t>
            </a:r>
            <a:r>
              <a:rPr lang="ko-KR" altLang="en-US" sz="1600" dirty="0">
                <a:latin typeface="D2Coding" panose="020B0609020101020101" pitchFamily="49" charset="-127"/>
                <a:ea typeface="D2Coding" panose="020B0609020101020101" pitchFamily="49" charset="-127"/>
              </a:rPr>
              <a:t>첫 번째 </a:t>
            </a:r>
            <a:r>
              <a:rPr lang="ko-KR" altLang="en-US" sz="1600" dirty="0" err="1">
                <a:latin typeface="D2Coding" panose="020B0609020101020101" pitchFamily="49" charset="-127"/>
                <a:ea typeface="D2Coding" panose="020B0609020101020101" pitchFamily="49" charset="-127"/>
              </a:rPr>
              <a:t>은닉층</a:t>
            </a:r>
            <a:r>
              <a:rPr lang="ko-KR" altLang="en-US" sz="1600" dirty="0">
                <a:latin typeface="D2Coding" panose="020B0609020101020101" pitchFamily="49" charset="-127"/>
                <a:ea typeface="D2Coding" panose="020B0609020101020101" pitchFamily="49" charset="-127"/>
              </a:rPr>
              <a:t> 연산 </a:t>
            </a:r>
            <a:r>
              <a:rPr lang="en-US" altLang="ko-KR"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입력값</a:t>
            </a:r>
            <a:r>
              <a:rPr lang="ko-KR" altLang="en-US"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input_t</a:t>
            </a:r>
            <a:r>
              <a:rPr lang="ko-KR" altLang="en-US" sz="1600" dirty="0">
                <a:latin typeface="D2Coding" panose="020B0609020101020101" pitchFamily="49" charset="-127"/>
                <a:ea typeface="D2Coding" panose="020B0609020101020101" pitchFamily="49" charset="-127"/>
              </a:rPr>
              <a:t>와 </a:t>
            </a:r>
            <a:r>
              <a:rPr lang="en-US" altLang="ko-KR" sz="1600" dirty="0">
                <a:latin typeface="D2Coding" panose="020B0609020101020101" pitchFamily="49" charset="-127"/>
                <a:ea typeface="D2Coding" panose="020B0609020101020101" pitchFamily="49" charset="-127"/>
              </a:rPr>
              <a:t>Layer 1</a:t>
            </a:r>
            <a:r>
              <a:rPr lang="ko-KR" altLang="en-US" sz="1600" dirty="0">
                <a:latin typeface="D2Coding" panose="020B0609020101020101" pitchFamily="49" charset="-127"/>
                <a:ea typeface="D2Coding" panose="020B0609020101020101" pitchFamily="49" charset="-127"/>
              </a:rPr>
              <a:t>의 이전 상태 연산</a:t>
            </a:r>
            <a:r>
              <a:rPr lang="en-US" altLang="ko-KR" sz="1600" dirty="0">
                <a:latin typeface="D2Coding" panose="020B0609020101020101" pitchFamily="49" charset="-127"/>
                <a:ea typeface="D2Coding" panose="020B0609020101020101" pitchFamily="49" charset="-127"/>
              </a:rPr>
              <a:t>)</a:t>
            </a:r>
          </a:p>
          <a:p>
            <a:r>
              <a:rPr lang="en-US" altLang="ko-KR" sz="1600" dirty="0">
                <a:latin typeface="D2Coding" panose="020B0609020101020101" pitchFamily="49" charset="-127"/>
                <a:ea typeface="D2Coding" panose="020B0609020101020101" pitchFamily="49" charset="-127"/>
              </a:rPr>
              <a:t>    output_layer1_t = f1(</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state_layer1_t)</a:t>
            </a:r>
          </a:p>
          <a:p>
            <a:r>
              <a:rPr lang="en-US" altLang="ko-KR" sz="1600" dirty="0">
                <a:latin typeface="D2Coding" panose="020B0609020101020101" pitchFamily="49" charset="-127"/>
                <a:ea typeface="D2Coding" panose="020B0609020101020101" pitchFamily="49" charset="-127"/>
              </a:rPr>
              <a:t>    </a:t>
            </a:r>
          </a:p>
          <a:p>
            <a:r>
              <a:rPr lang="en-US" altLang="ko-KR" sz="1600" dirty="0">
                <a:latin typeface="D2Coding" panose="020B0609020101020101" pitchFamily="49" charset="-127"/>
                <a:ea typeface="D2Coding" panose="020B0609020101020101" pitchFamily="49" charset="-127"/>
              </a:rPr>
              <a:t>    # 2. </a:t>
            </a:r>
            <a:r>
              <a:rPr lang="ko-KR" altLang="en-US" sz="1600" dirty="0">
                <a:latin typeface="D2Coding" panose="020B0609020101020101" pitchFamily="49" charset="-127"/>
                <a:ea typeface="D2Coding" panose="020B0609020101020101" pitchFamily="49" charset="-127"/>
              </a:rPr>
              <a:t>두 번째 </a:t>
            </a:r>
            <a:r>
              <a:rPr lang="ko-KR" altLang="en-US" sz="1600" dirty="0" err="1">
                <a:latin typeface="D2Coding" panose="020B0609020101020101" pitchFamily="49" charset="-127"/>
                <a:ea typeface="D2Coding" panose="020B0609020101020101" pitchFamily="49" charset="-127"/>
              </a:rPr>
              <a:t>은닉층</a:t>
            </a:r>
            <a:r>
              <a:rPr lang="ko-KR" altLang="en-US" sz="1600" dirty="0">
                <a:latin typeface="D2Coding" panose="020B0609020101020101" pitchFamily="49" charset="-127"/>
                <a:ea typeface="D2Coding" panose="020B0609020101020101" pitchFamily="49" charset="-127"/>
              </a:rPr>
              <a:t> 연산 </a:t>
            </a:r>
            <a:r>
              <a:rPr lang="en-US" altLang="ko-KR" sz="1600" dirty="0">
                <a:latin typeface="D2Coding" panose="020B0609020101020101" pitchFamily="49" charset="-127"/>
                <a:ea typeface="D2Coding" panose="020B0609020101020101" pitchFamily="49" charset="-127"/>
              </a:rPr>
              <a:t>(Layer 1</a:t>
            </a:r>
            <a:r>
              <a:rPr lang="ko-KR" altLang="en-US" sz="1600" dirty="0">
                <a:latin typeface="D2Coding" panose="020B0609020101020101" pitchFamily="49" charset="-127"/>
                <a:ea typeface="D2Coding" panose="020B0609020101020101" pitchFamily="49" charset="-127"/>
              </a:rPr>
              <a:t>의 출력을 입력으로 받고</a:t>
            </a:r>
            <a:r>
              <a:rPr lang="en-US" altLang="ko-KR" sz="1600" dirty="0">
                <a:latin typeface="D2Coding" panose="020B0609020101020101" pitchFamily="49" charset="-127"/>
                <a:ea typeface="D2Coding" panose="020B0609020101020101" pitchFamily="49" charset="-127"/>
              </a:rPr>
              <a:t>, Layer 2</a:t>
            </a:r>
            <a:r>
              <a:rPr lang="ko-KR" altLang="en-US" sz="1600" dirty="0">
                <a:latin typeface="D2Coding" panose="020B0609020101020101" pitchFamily="49" charset="-127"/>
                <a:ea typeface="D2Coding" panose="020B0609020101020101" pitchFamily="49" charset="-127"/>
              </a:rPr>
              <a:t>의 이전 상태 연산</a:t>
            </a:r>
            <a:r>
              <a:rPr lang="en-US" altLang="ko-KR" sz="1600" dirty="0">
                <a:latin typeface="D2Coding" panose="020B0609020101020101" pitchFamily="49" charset="-127"/>
                <a:ea typeface="D2Coding" panose="020B0609020101020101" pitchFamily="49" charset="-127"/>
              </a:rPr>
              <a:t>)</a:t>
            </a:r>
          </a:p>
          <a:p>
            <a:r>
              <a:rPr lang="en-US" altLang="ko-KR" sz="1600" dirty="0">
                <a:latin typeface="D2Coding" panose="020B0609020101020101" pitchFamily="49" charset="-127"/>
                <a:ea typeface="D2Coding" panose="020B0609020101020101" pitchFamily="49" charset="-127"/>
              </a:rPr>
              <a:t>    output_layer2_t = f2(output_layer1_t, state_layer2_t)</a:t>
            </a:r>
          </a:p>
          <a:p>
            <a:r>
              <a:rPr lang="en-US" altLang="ko-KR" sz="1600" dirty="0">
                <a:latin typeface="D2Coding" panose="020B0609020101020101" pitchFamily="49" charset="-127"/>
                <a:ea typeface="D2Coding" panose="020B0609020101020101" pitchFamily="49" charset="-127"/>
              </a:rPr>
              <a:t>    </a:t>
            </a:r>
          </a:p>
          <a:p>
            <a:r>
              <a:rPr lang="en-US" altLang="ko-KR" sz="1600" dirty="0">
                <a:latin typeface="D2Coding" panose="020B0609020101020101" pitchFamily="49" charset="-127"/>
                <a:ea typeface="D2Coding" panose="020B0609020101020101" pitchFamily="49" charset="-127"/>
              </a:rPr>
              <a:t>    # 3. </a:t>
            </a:r>
            <a:r>
              <a:rPr lang="ko-KR" altLang="en-US" sz="1600" dirty="0">
                <a:latin typeface="D2Coding" panose="020B0609020101020101" pitchFamily="49" charset="-127"/>
                <a:ea typeface="D2Coding" panose="020B0609020101020101" pitchFamily="49" charset="-127"/>
              </a:rPr>
              <a:t>다음 타임스텝</a:t>
            </a:r>
            <a:r>
              <a:rPr lang="en-US" altLang="ko-KR" sz="1600" dirty="0">
                <a:latin typeface="D2Coding" panose="020B0609020101020101" pitchFamily="49" charset="-127"/>
                <a:ea typeface="D2Coding" panose="020B0609020101020101" pitchFamily="49" charset="-127"/>
              </a:rPr>
              <a:t>(t+1)</a:t>
            </a:r>
            <a:r>
              <a:rPr lang="ko-KR" altLang="en-US" sz="1600" dirty="0">
                <a:latin typeface="D2Coding" panose="020B0609020101020101" pitchFamily="49" charset="-127"/>
                <a:ea typeface="D2Coding" panose="020B0609020101020101" pitchFamily="49" charset="-127"/>
              </a:rPr>
              <a:t>을 위해 각 층의 상태 업데이트</a:t>
            </a:r>
          </a:p>
          <a:p>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state_layer1_t = output_layer1_t</a:t>
            </a:r>
          </a:p>
          <a:p>
            <a:r>
              <a:rPr lang="en-US" altLang="ko-KR" sz="1600" dirty="0">
                <a:latin typeface="D2Coding" panose="020B0609020101020101" pitchFamily="49" charset="-127"/>
                <a:ea typeface="D2Coding" panose="020B0609020101020101" pitchFamily="49" charset="-127"/>
              </a:rPr>
              <a:t>    state_layer2_t = output_layer2_t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B1A940AB-8152-7382-5CC3-EE1F1CEE44BB}"/>
              </a:ext>
            </a:extLst>
          </p:cNvPr>
          <p:cNvSpPr txBox="1"/>
          <p:nvPr/>
        </p:nvSpPr>
        <p:spPr>
          <a:xfrm>
            <a:off x="1143000" y="1610261"/>
            <a:ext cx="10077450" cy="369332"/>
          </a:xfrm>
          <a:prstGeom prst="rect">
            <a:avLst/>
          </a:prstGeom>
          <a:solidFill>
            <a:schemeClr val="tx1"/>
          </a:solidFill>
        </p:spPr>
        <p:txBody>
          <a:bodyPr wrap="square">
            <a:spAutoFit/>
          </a:bodyPr>
          <a:lstStyle/>
          <a:p>
            <a:r>
              <a:rPr lang="en-US" altLang="ko-KR" b="0" i="0" dirty="0">
                <a:solidFill>
                  <a:schemeClr val="bg1"/>
                </a:solidFill>
                <a:effectLst/>
                <a:latin typeface="D2Coding" panose="020B0609020101020101" pitchFamily="49" charset="-127"/>
                <a:ea typeface="D2Coding" panose="020B0609020101020101" pitchFamily="49" charset="-127"/>
              </a:rPr>
              <a:t>Pseudocode RNN (2 </a:t>
            </a:r>
            <a:r>
              <a:rPr lang="en-US" altLang="ko-KR" dirty="0">
                <a:solidFill>
                  <a:schemeClr val="bg1"/>
                </a:solidFill>
                <a:latin typeface="D2Coding" panose="020B0609020101020101" pitchFamily="49" charset="-127"/>
                <a:ea typeface="D2Coding" panose="020B0609020101020101" pitchFamily="49" charset="-127"/>
              </a:rPr>
              <a:t>Hidden</a:t>
            </a:r>
            <a:r>
              <a:rPr lang="ko-KR" altLang="en-US" dirty="0">
                <a:solidFill>
                  <a:schemeClr val="bg1"/>
                </a:solidFill>
                <a:latin typeface="D2Coding" panose="020B0609020101020101" pitchFamily="49" charset="-127"/>
                <a:ea typeface="D2Coding" panose="020B0609020101020101" pitchFamily="49" charset="-127"/>
              </a:rPr>
              <a:t> </a:t>
            </a:r>
            <a:r>
              <a:rPr lang="en-US" altLang="ko-KR" dirty="0">
                <a:solidFill>
                  <a:schemeClr val="bg1"/>
                </a:solidFill>
                <a:latin typeface="D2Coding" panose="020B0609020101020101" pitchFamily="49" charset="-127"/>
                <a:ea typeface="D2Coding" panose="020B0609020101020101" pitchFamily="49" charset="-127"/>
              </a:rPr>
              <a:t>Layers, 2 nodes per layer)</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722C0DA4-01C1-26E7-3B27-244F90726EE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61150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8053138" y="3914213"/>
            <a:ext cx="3685600" cy="2643519"/>
          </a:xfrm>
          <a:prstGeom prst="rect">
            <a:avLst/>
          </a:prstGeom>
          <a:ln>
            <a:solidFill>
              <a:schemeClr val="tx1"/>
            </a:solidFill>
          </a:ln>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a:ln>
            <a:solidFill>
              <a:schemeClr val="tx1"/>
            </a:solidFill>
          </a:ln>
        </p:spPr>
      </p:pic>
      <p:sp>
        <p:nvSpPr>
          <p:cNvPr id="6" name="직사각형 5">
            <a:extLst>
              <a:ext uri="{FF2B5EF4-FFF2-40B4-BE49-F238E27FC236}">
                <a16:creationId xmlns:a16="http://schemas.microsoft.com/office/drawing/2014/main" id="{2A2B9C36-B64D-46EA-E19A-22CDA0A585BB}"/>
              </a:ext>
            </a:extLst>
          </p:cNvPr>
          <p:cNvSpPr/>
          <p:nvPr/>
        </p:nvSpPr>
        <p:spPr>
          <a:xfrm>
            <a:off x="577284" y="169545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577284" y="196929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577284" y="2243138"/>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577284" y="2516982"/>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577284" y="2783684"/>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577284" y="3733800"/>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577284" y="4010025"/>
            <a:ext cx="918141" cy="20955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a:off x="1644586" y="1758521"/>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952741" y="3967943"/>
            <a:ext cx="152937" cy="799079"/>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892236" y="2561174"/>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383380" y="4524375"/>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6460216" y="1758521"/>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9062824" y="1778481"/>
            <a:ext cx="1281800" cy="203985"/>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bg1"/>
                </a:solidFill>
                <a:latin typeface="D2Coding" panose="020B0609020101020101" pitchFamily="49" charset="-127"/>
                <a:ea typeface="D2Coding" panose="020B0609020101020101" pitchFamily="49" charset="-127"/>
              </a:rPr>
              <a:t>(64,)</a:t>
            </a:r>
            <a:endParaRPr lang="ko-KR" altLang="en-US" sz="1400" dirty="0">
              <a:solidFill>
                <a:schemeClr val="bg1"/>
              </a:solidFill>
              <a:latin typeface="D2Coding" panose="020B0609020101020101" pitchFamily="49" charset="-127"/>
              <a:ea typeface="D2Coding" panose="020B0609020101020101" pitchFamily="49" charset="-127"/>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2886574" y="1396849"/>
            <a:ext cx="8619625" cy="307585"/>
          </a:xfrm>
          <a:prstGeom prst="rect">
            <a:avLst/>
          </a:prstGeom>
          <a:solidFill>
            <a:schemeClr val="bg1">
              <a:lumMod val="95000"/>
            </a:schemeClr>
          </a:solid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7807380" y="1758522"/>
            <a:ext cx="1281798" cy="1281800"/>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(64,64)</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521587" y="1758521"/>
            <a:ext cx="1281800" cy="203985"/>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latin typeface="D2Coding" panose="020B0609020101020101" pitchFamily="49" charset="-127"/>
                <a:ea typeface="D2Coding" panose="020B0609020101020101" pitchFamily="49" charset="-127"/>
              </a:rPr>
              <a:t>(64,)</a:t>
            </a:r>
            <a:endParaRPr lang="ko-KR" altLang="en-US" sz="1400" dirty="0">
              <a:latin typeface="D2Coding" panose="020B0609020101020101" pitchFamily="49" charset="-127"/>
              <a:ea typeface="D2Coding" panose="020B0609020101020101" pitchFamily="49" charset="-127"/>
            </a:endParaRPr>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44130" y="3604245"/>
            <a:ext cx="3681145" cy="304648"/>
          </a:xfrm>
          <a:prstGeom prst="rect">
            <a:avLst/>
          </a:prstGeom>
          <a:ln w="12700">
            <a:solidFill>
              <a:schemeClr val="tx1"/>
            </a:solidFill>
          </a:ln>
        </p:spPr>
      </p:pic>
      <p:sp>
        <p:nvSpPr>
          <p:cNvPr id="44" name="TextBox 43">
            <a:extLst>
              <a:ext uri="{FF2B5EF4-FFF2-40B4-BE49-F238E27FC236}">
                <a16:creationId xmlns:a16="http://schemas.microsoft.com/office/drawing/2014/main" id="{163177FC-A382-77DE-791A-B40E701EF883}"/>
              </a:ext>
            </a:extLst>
          </p:cNvPr>
          <p:cNvSpPr txBox="1"/>
          <p:nvPr/>
        </p:nvSpPr>
        <p:spPr>
          <a:xfrm>
            <a:off x="1644586" y="3204527"/>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524896" y="1394606"/>
            <a:ext cx="1162050"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a:t>
            </a:r>
            <a:r>
              <a:rPr lang="en-US" altLang="ko-KR" sz="1600" b="0" dirty="0">
                <a:effectLst/>
                <a:latin typeface="D2Coding" panose="020B0609020101020101" pitchFamily="49" charset="-127"/>
                <a:ea typeface="D2Coding" panose="020B0609020101020101" pitchFamily="49" charset="-127"/>
              </a:rPr>
              <a:t>put</a:t>
            </a:r>
            <a:r>
              <a:rPr lang="en-US" altLang="ko-KR" sz="1600" dirty="0">
                <a:latin typeface="D2Coding" panose="020B0609020101020101" pitchFamily="49" charset="-127"/>
                <a:ea typeface="D2Coding" panose="020B0609020101020101" pitchFamily="49" charset="-127"/>
              </a:rPr>
              <a:t>s</a:t>
            </a:r>
            <a:endParaRPr lang="ko-KR" altLang="en-US" sz="1600" dirty="0"/>
          </a:p>
        </p:txBody>
      </p:sp>
      <p:cxnSp>
        <p:nvCxnSpPr>
          <p:cNvPr id="48" name="연결선: 구부러짐 47">
            <a:extLst>
              <a:ext uri="{FF2B5EF4-FFF2-40B4-BE49-F238E27FC236}">
                <a16:creationId xmlns:a16="http://schemas.microsoft.com/office/drawing/2014/main" id="{7BB50E53-507D-5F76-ADF4-EB41671D0DDB}"/>
              </a:ext>
            </a:extLst>
          </p:cNvPr>
          <p:cNvCxnSpPr>
            <a:cxnSpLocks/>
            <a:endCxn id="18" idx="2"/>
          </p:cNvCxnSpPr>
          <p:nvPr/>
        </p:nvCxnSpPr>
        <p:spPr>
          <a:xfrm flipV="1">
            <a:off x="1686946" y="1955862"/>
            <a:ext cx="5219115" cy="1105892"/>
          </a:xfrm>
          <a:prstGeom prst="curved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523746" y="2664653"/>
            <a:ext cx="2009314"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inputs</a:t>
            </a:r>
            <a:r>
              <a:rPr lang="en-US" altLang="ko-KR" sz="1600" b="0" dirty="0">
                <a:effectLst/>
                <a:latin typeface="D2Coding" panose="020B0609020101020101" pitchFamily="49" charset="-127"/>
                <a:ea typeface="D2Coding" panose="020B0609020101020101" pitchFamily="49" charset="-127"/>
              </a:rPr>
              <a:t>:</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Rectangle 1">
            <a:extLst>
              <a:ext uri="{FF2B5EF4-FFF2-40B4-BE49-F238E27FC236}">
                <a16:creationId xmlns:a16="http://schemas.microsoft.com/office/drawing/2014/main" id="{BDDC3496-0FCB-7588-EF79-2BA20F50EE57}"/>
              </a:ext>
            </a:extLst>
          </p:cNvPr>
          <p:cNvSpPr>
            <a:spLocks noChangeArrowheads="1"/>
          </p:cNvSpPr>
          <p:nvPr/>
        </p:nvSpPr>
        <p:spPr bwMode="auto">
          <a:xfrm>
            <a:off x="8716789" y="5520428"/>
            <a:ext cx="1481976" cy="230832"/>
          </a:xfrm>
          <a:prstGeom prst="rect">
            <a:avLst/>
          </a:prstGeom>
          <a:solidFill>
            <a:schemeClr val="tx1"/>
          </a:solidFill>
          <a:ln>
            <a:noFill/>
          </a:ln>
          <a:effectLst/>
        </p:spPr>
        <p:txBody>
          <a:bodyPr vert="horz" wrap="square" lIns="0" tIns="0" rIns="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ko-KR" altLang="ko-KR" sz="1200" i="0" u="none" strike="noStrike" cap="none" normalizeH="0" baseline="0" dirty="0">
                <a:ln>
                  <a:noFill/>
                </a:ln>
                <a:solidFill>
                  <a:schemeClr val="bg1"/>
                </a:solidFill>
                <a:effectLst/>
                <a:latin typeface="D2Coding" panose="020B0609020101020101" pitchFamily="49" charset="-127"/>
                <a:ea typeface="D2Coding" panose="020B0609020101020101" pitchFamily="49" charset="-127"/>
              </a:rPr>
              <a:t>은닉 노드 수 : 64개</a:t>
            </a:r>
          </a:p>
        </p:txBody>
      </p:sp>
      <p:sp>
        <p:nvSpPr>
          <p:cNvPr id="19" name="직사각형 18">
            <a:extLst>
              <a:ext uri="{FF2B5EF4-FFF2-40B4-BE49-F238E27FC236}">
                <a16:creationId xmlns:a16="http://schemas.microsoft.com/office/drawing/2014/main" id="{18D4909B-5806-AD49-FB56-121ABED34D54}"/>
              </a:ext>
            </a:extLst>
          </p:cNvPr>
          <p:cNvSpPr/>
          <p:nvPr/>
        </p:nvSpPr>
        <p:spPr>
          <a:xfrm>
            <a:off x="5558897" y="1758522"/>
            <a:ext cx="891687" cy="1281800"/>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(64,32)</a:t>
            </a:r>
            <a:endParaRPr lang="ko-KR" altLang="en-US" sz="1400" dirty="0">
              <a:solidFill>
                <a:schemeClr val="tx1"/>
              </a:solidFill>
              <a:latin typeface="D2Coding" panose="020B0609020101020101" pitchFamily="49" charset="-127"/>
              <a:ea typeface="D2Coding" panose="020B0609020101020101" pitchFamily="49" charset="-127"/>
            </a:endParaRPr>
          </a:p>
        </p:txBody>
      </p:sp>
      <p:sp>
        <p:nvSpPr>
          <p:cNvPr id="15" name="직사각형 14">
            <a:extLst>
              <a:ext uri="{FF2B5EF4-FFF2-40B4-BE49-F238E27FC236}">
                <a16:creationId xmlns:a16="http://schemas.microsoft.com/office/drawing/2014/main" id="{B0924BB7-017E-5DE2-3F82-2304E9C0D0C1}"/>
              </a:ext>
            </a:extLst>
          </p:cNvPr>
          <p:cNvSpPr/>
          <p:nvPr/>
        </p:nvSpPr>
        <p:spPr>
          <a:xfrm>
            <a:off x="2930461" y="2959768"/>
            <a:ext cx="891689" cy="197341"/>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400" dirty="0">
                <a:solidFill>
                  <a:schemeClr val="tx1"/>
                </a:solidFill>
                <a:latin typeface="D2Coding" panose="020B0609020101020101" pitchFamily="49" charset="-127"/>
                <a:ea typeface="D2Coding" panose="020B0609020101020101" pitchFamily="49" charset="-127"/>
              </a:rPr>
              <a:t>(32,)</a:t>
            </a:r>
            <a:endParaRPr lang="ko-KR" altLang="en-US" sz="1400" dirty="0">
              <a:solidFill>
                <a:schemeClr val="tx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8816941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np.dot(</a:t>
            </a:r>
            <a:r>
              <a:rPr lang="en-US" altLang="ko-KR" b="1" dirty="0">
                <a:solidFill>
                  <a:schemeClr val="accent4"/>
                </a:solidFill>
                <a:effectLst/>
                <a:latin typeface="D2Coding" panose="020B0609020101020101" pitchFamily="49" charset="-127"/>
                <a:ea typeface="D2Coding" panose="020B0609020101020101" pitchFamily="49" charset="-127"/>
              </a:rPr>
              <a:t>U</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5"/>
                </a:solidFill>
                <a:effectLst/>
                <a:latin typeface="D2Coding" panose="020B0609020101020101" pitchFamily="49" charset="-127"/>
                <a:ea typeface="D2Coding" panose="020B0609020101020101" pitchFamily="49" charset="-127"/>
              </a:rPr>
              <a:t>state_t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b="0" dirty="0" err="1">
                <a:effectLst/>
                <a:latin typeface="D2Coding" panose="020B0609020101020101" pitchFamily="49" charset="-127"/>
                <a:ea typeface="D2Coding" panose="020B0609020101020101" pitchFamily="49" charset="-127"/>
              </a:rPr>
              <a:t>output_t</a:t>
            </a:r>
            <a:r>
              <a:rPr lang="en-US" altLang="ko-KR" b="0" dirty="0">
                <a:effectLst/>
                <a:latin typeface="D2Coding" panose="020B0609020101020101" pitchFamily="49" charset="-127"/>
                <a:ea typeface="D2Coding" panose="020B0609020101020101" pitchFamily="49" charset="-127"/>
              </a:rPr>
              <a:t> = </a:t>
            </a:r>
            <a:r>
              <a:rPr lang="en-US" altLang="ko-KR" b="0" dirty="0" err="1">
                <a:effectLst/>
                <a:latin typeface="D2Coding" panose="020B0609020101020101" pitchFamily="49" charset="-127"/>
                <a:ea typeface="D2Coding" panose="020B0609020101020101" pitchFamily="49" charset="-127"/>
              </a:rPr>
              <a:t>np.tanh</a:t>
            </a:r>
            <a:r>
              <a:rPr lang="en-US" altLang="ko-KR" b="0" dirty="0">
                <a:effectLst/>
                <a:latin typeface="D2Coding" panose="020B0609020101020101" pitchFamily="49" charset="-127"/>
                <a:ea typeface="D2Coding" panose="020B0609020101020101" pitchFamily="49" charset="-127"/>
              </a:rPr>
              <a:t>(np.dot(</a:t>
            </a:r>
            <a:r>
              <a:rPr lang="en-US" altLang="ko-KR" b="1" dirty="0">
                <a:solidFill>
                  <a:srgbClr val="FF0000"/>
                </a:solidFill>
                <a:effectLst/>
                <a:latin typeface="D2Coding" panose="020B0609020101020101" pitchFamily="49" charset="-127"/>
                <a:ea typeface="D2Coding" panose="020B0609020101020101" pitchFamily="49" charset="-127"/>
              </a:rPr>
              <a:t>W</a:t>
            </a:r>
            <a:r>
              <a:rPr lang="en-US" altLang="ko-KR" b="1" dirty="0">
                <a:effectLst/>
                <a:latin typeface="D2Coding" panose="020B0609020101020101" pitchFamily="49" charset="-127"/>
                <a:ea typeface="D2Coding" panose="020B0609020101020101" pitchFamily="49" charset="-127"/>
              </a:rPr>
              <a:t>, </a:t>
            </a:r>
            <a:r>
              <a:rPr lang="en-US" altLang="ko-KR" b="1" dirty="0" err="1">
                <a:solidFill>
                  <a:schemeClr val="accent6"/>
                </a:solidFill>
                <a:effectLst/>
                <a:latin typeface="D2Coding" panose="020B0609020101020101" pitchFamily="49" charset="-127"/>
                <a:ea typeface="D2Coding" panose="020B0609020101020101" pitchFamily="49" charset="-127"/>
              </a:rPr>
              <a:t>input_t</a:t>
            </a:r>
            <a:r>
              <a:rPr lang="en-US" altLang="ko-KR" b="0" dirty="0">
                <a:effectLst/>
                <a:latin typeface="D2Coding" panose="020B0609020101020101" pitchFamily="49" charset="-127"/>
                <a:ea typeface="D2Coding" panose="020B0609020101020101" pitchFamily="49" charset="-127"/>
              </a:rPr>
              <a:t>) + </a:t>
            </a:r>
            <a:r>
              <a:rPr lang="en-US" altLang="ko-KR" b="1" dirty="0">
                <a:effectLst/>
                <a:latin typeface="D2Coding" panose="020B0609020101020101" pitchFamily="49" charset="-127"/>
                <a:ea typeface="D2Coding" panose="020B0609020101020101" pitchFamily="49" charset="-127"/>
              </a:rPr>
              <a:t>b</a:t>
            </a:r>
            <a:r>
              <a:rPr lang="en-US" altLang="ko-KR"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369332"/>
          </a:xfrm>
          <a:prstGeom prst="rect">
            <a:avLst/>
          </a:prstGeom>
          <a:solidFill>
            <a:srgbClr val="76E3FF"/>
          </a:solidFill>
        </p:spPr>
        <p:txBody>
          <a:bodyPr wrap="square">
            <a:spAutoFit/>
          </a:bodyPr>
          <a:lstStyle/>
          <a:p>
            <a:r>
              <a:rPr lang="en-US" altLang="ko-KR" dirty="0" err="1">
                <a:latin typeface="D2Coding" panose="020B0609020101020101" pitchFamily="49" charset="-127"/>
                <a:ea typeface="D2Coding" panose="020B0609020101020101" pitchFamily="49" charset="-127"/>
              </a:rPr>
              <a:t>SimpleRNN</a:t>
            </a:r>
            <a:r>
              <a:rPr lang="en-US" altLang="ko-KR" dirty="0">
                <a:effectLst/>
                <a:latin typeface="D2Coding" panose="020B0609020101020101" pitchFamily="49" charset="-127"/>
                <a:ea typeface="D2Coding" panose="020B0609020101020101" pitchFamily="49" charset="-127"/>
              </a:rPr>
              <a:t>(64,</a:t>
            </a:r>
            <a:r>
              <a:rPr lang="en-US" altLang="ko-KR" dirty="0">
                <a:latin typeface="D2Coding" panose="020B0609020101020101" pitchFamily="49" charset="-127"/>
                <a:ea typeface="D2Coding" panose="020B0609020101020101" pitchFamily="49" charset="-127"/>
              </a:rPr>
              <a:t> </a:t>
            </a:r>
            <a:r>
              <a:rPr lang="en-US" altLang="ko-KR" dirty="0" err="1">
                <a:effectLst/>
                <a:latin typeface="D2Coding" panose="020B0609020101020101" pitchFamily="49" charset="-127"/>
                <a:ea typeface="D2Coding" panose="020B0609020101020101" pitchFamily="49" charset="-127"/>
              </a:rPr>
              <a:t>input_shape</a:t>
            </a:r>
            <a:r>
              <a:rPr lang="en-US" altLang="ko-KR" dirty="0">
                <a:latin typeface="D2Coding" panose="020B0609020101020101" pitchFamily="49" charset="-127"/>
                <a:ea typeface="D2Coding" panose="020B0609020101020101" pitchFamily="49" charset="-127"/>
              </a:rPr>
              <a:t>=</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timesteps</a:t>
            </a:r>
            <a:r>
              <a:rPr lang="en-US" altLang="ko-KR" dirty="0">
                <a:effectLst/>
                <a:latin typeface="D2Coding" panose="020B0609020101020101" pitchFamily="49" charset="-127"/>
                <a:ea typeface="D2Coding" panose="020B0609020101020101" pitchFamily="49" charset="-127"/>
              </a:rPr>
              <a:t>,</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input_features</a:t>
            </a:r>
            <a:r>
              <a:rPr lang="en-US" altLang="ko-KR" dirty="0">
                <a:effectLst/>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793166"/>
          </a:xfrm>
          <a:prstGeom prst="rect">
            <a:avLst/>
          </a:prstGeom>
          <a:noFill/>
        </p:spPr>
        <p:txBody>
          <a:bodyPr wrap="square" rtlCol="0">
            <a:spAutoFit/>
          </a:bodyPr>
          <a:lstStyle/>
          <a:p>
            <a:pPr>
              <a:lnSpc>
                <a:spcPct val="150000"/>
              </a:lnSpc>
            </a:pP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의 은닉층의 노드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뉴런</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의 개수는 </a:t>
            </a:r>
            <a:r>
              <a:rPr lang="en-US" altLang="ko-KR" sz="1600" dirty="0">
                <a:latin typeface="D2Coding" panose="020B0609020101020101" pitchFamily="49" charset="-127"/>
                <a:ea typeface="D2Coding" panose="020B0609020101020101" pitchFamily="49" charset="-127"/>
              </a:rPr>
              <a:t>64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output_features</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로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 32</a:t>
            </a:r>
            <a:r>
              <a:rPr lang="ko-KR" altLang="en-US" sz="1600" dirty="0">
                <a:latin typeface="D2Coding" panose="020B0609020101020101" pitchFamily="49" charset="-127"/>
                <a:ea typeface="D2Coding" panose="020B0609020101020101" pitchFamily="49" charset="-127"/>
              </a:rPr>
              <a:t>개 노드를 받아 </a:t>
            </a:r>
            <a:r>
              <a:rPr lang="en-US" altLang="ko-KR" sz="1600" dirty="0">
                <a:latin typeface="D2Coding" panose="020B0609020101020101" pitchFamily="49" charset="-127"/>
                <a:ea typeface="D2Coding" panose="020B0609020101020101" pitchFamily="49" charset="-127"/>
              </a:rPr>
              <a:t>timesteps 100</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a:t>
            </a:r>
            <a:r>
              <a:rPr lang="en-US" altLang="ko-KR" sz="1600" dirty="0">
                <a:latin typeface="D2Coding" panose="020B0609020101020101" pitchFamily="49" charset="-127"/>
                <a:ea typeface="D2Coding" panose="020B0609020101020101" pitchFamily="49" charset="-127"/>
              </a:rPr>
              <a:t>100</a:t>
            </a:r>
            <a:r>
              <a:rPr lang="ko-KR" altLang="en-US" sz="1600" dirty="0">
                <a:latin typeface="D2Coding" panose="020B0609020101020101" pitchFamily="49" charset="-127"/>
                <a:ea typeface="D2Coding" panose="020B0609020101020101" pitchFamily="49" charset="-127"/>
              </a:rPr>
              <a:t>일 동안 주가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과거의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계속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RNN(Recurrent Neural Network)</a:t>
            </a:r>
            <a:endParaRPr lang="ko-KR" altLang="en-US" u="sng" dirty="0">
              <a:solidFill>
                <a:schemeClr val="bg1"/>
              </a:solidFill>
            </a:endParaRPr>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5604239" cy="369332"/>
          </a:xfrm>
          <a:prstGeom prst="rect">
            <a:avLst/>
          </a:prstGeom>
          <a:solidFill>
            <a:schemeClr val="tx1"/>
          </a:solidFill>
        </p:spPr>
        <p:txBody>
          <a:bodyPr wrap="square">
            <a:spAutoFit/>
          </a:bodyPr>
          <a:lstStyle/>
          <a:p>
            <a:pPr marL="342900" indent="-342900">
              <a:buFont typeface="Wingdings" panose="05000000000000000000" pitchFamily="2" charset="2"/>
              <a:buChar char="v"/>
            </a:pPr>
            <a:r>
              <a:rPr lang="en-US" altLang="ko-KR" u="sng" dirty="0">
                <a:solidFill>
                  <a:schemeClr val="bg1"/>
                </a:solidFill>
                <a:latin typeface="D2Coding" panose="020B0609020101020101" pitchFamily="49" charset="-127"/>
                <a:ea typeface="D2Coding" panose="020B0609020101020101" pitchFamily="49" charset="-127"/>
              </a:rPr>
              <a:t>FCNN(Fully Connected Neural Network)</a:t>
            </a:r>
            <a:endParaRPr lang="ko-KR" altLang="en-US" u="sng" dirty="0">
              <a:solidFill>
                <a:schemeClr val="bg1"/>
              </a:solidFill>
            </a:endParaRPr>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23220"/>
          </a:xfrm>
          <a:prstGeom prst="rect">
            <a:avLst/>
          </a:prstGeom>
          <a:noFill/>
          <a:ln w="28575">
            <a:noFill/>
          </a:ln>
        </p:spPr>
        <p:txBody>
          <a:bodyPr wrap="square">
            <a:spAutoFit/>
          </a:bodyPr>
          <a:lstStyle/>
          <a:p>
            <a:r>
              <a:rPr lang="en-US" altLang="ko-KR" sz="1400" b="0" dirty="0">
                <a:effectLst/>
                <a:latin typeface="D2Coding" panose="020B0609020101020101" pitchFamily="49" charset="-127"/>
                <a:ea typeface="D2Coding" panose="020B0609020101020101" pitchFamily="49" charset="-127"/>
              </a:rPr>
              <a:t>np.dot(</a:t>
            </a:r>
            <a:r>
              <a:rPr lang="en-US" altLang="ko-KR" sz="1400" b="1" dirty="0">
                <a:solidFill>
                  <a:schemeClr val="accent4"/>
                </a:solidFill>
                <a:effectLst/>
                <a:latin typeface="D2Coding" panose="020B0609020101020101" pitchFamily="49" charset="-127"/>
                <a:ea typeface="D2Coding" panose="020B0609020101020101" pitchFamily="49" charset="-127"/>
              </a:rPr>
              <a:t>U</a:t>
            </a:r>
            <a:r>
              <a:rPr lang="en-US" altLang="ko-KR" sz="1400" b="1" dirty="0">
                <a:effectLst/>
                <a:latin typeface="D2Coding" panose="020B0609020101020101" pitchFamily="49" charset="-127"/>
                <a:ea typeface="D2Coding" panose="020B0609020101020101" pitchFamily="49" charset="-127"/>
              </a:rPr>
              <a:t>, </a:t>
            </a:r>
            <a:r>
              <a:rPr lang="en-US" altLang="ko-KR" sz="1400" b="1" dirty="0" err="1">
                <a:solidFill>
                  <a:schemeClr val="accent5"/>
                </a:solidFill>
                <a:effectLst/>
                <a:latin typeface="D2Coding" panose="020B0609020101020101" pitchFamily="49" charset="-127"/>
                <a:ea typeface="D2Coding" panose="020B0609020101020101" pitchFamily="49" charset="-127"/>
              </a:rPr>
              <a:t>state_t</a:t>
            </a:r>
            <a:r>
              <a:rPr lang="en-US" altLang="ko-KR" sz="1400" b="0" dirty="0">
                <a:effectLst/>
                <a:latin typeface="D2Coding" panose="020B0609020101020101" pitchFamily="49" charset="-127"/>
                <a:ea typeface="D2Coding" panose="020B0609020101020101" pitchFamily="49" charset="-127"/>
              </a:rPr>
              <a:t>)</a:t>
            </a:r>
          </a:p>
          <a:p>
            <a:r>
              <a:rPr lang="ko-KR" altLang="en-US" sz="1400" dirty="0">
                <a:latin typeface="D2Coding" panose="020B0609020101020101" pitchFamily="49" charset="-127"/>
                <a:ea typeface="D2Coding" panose="020B0609020101020101" pitchFamily="49" charset="-127"/>
              </a:rPr>
              <a:t>과거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이전 </a:t>
            </a:r>
            <a:r>
              <a:rPr lang="en-US" altLang="ko-KR" sz="1400" dirty="0">
                <a:latin typeface="D2Coding" panose="020B0609020101020101" pitchFamily="49" charset="-127"/>
                <a:ea typeface="D2Coding" panose="020B0609020101020101" pitchFamily="49" charset="-127"/>
              </a:rPr>
              <a:t>state</a:t>
            </a:r>
            <a:r>
              <a:rPr lang="ko-KR" altLang="en-US" sz="1400" dirty="0">
                <a:latin typeface="D2Coding" panose="020B0609020101020101" pitchFamily="49" charset="-127"/>
                <a:ea typeface="D2Coding" panose="020B0609020101020101" pitchFamily="49" charset="-127"/>
              </a:rPr>
              <a:t>를 </a:t>
            </a:r>
            <a:r>
              <a:rPr lang="en-US" altLang="ko-KR" sz="1400" dirty="0">
                <a:latin typeface="D2Coding" panose="020B0609020101020101" pitchFamily="49" charset="-127"/>
                <a:ea typeface="D2Coding" panose="020B0609020101020101" pitchFamily="49" charset="-127"/>
              </a:rPr>
              <a:t>memory</a:t>
            </a:r>
            <a:r>
              <a:rPr lang="ko-KR" altLang="en-US" sz="1400" dirty="0">
                <a:latin typeface="D2Coding" panose="020B0609020101020101" pitchFamily="49" charset="-127"/>
                <a:ea typeface="D2Coding" panose="020B0609020101020101" pitchFamily="49" charset="-127"/>
              </a:rPr>
              <a:t>하는 수식 항</a:t>
            </a:r>
            <a:endParaRPr lang="ko-KR" altLang="en-US" sz="14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47975"/>
          </a:xfrm>
          <a:prstGeom prst="curvedConnector4">
            <a:avLst>
              <a:gd name="adj1" fmla="val -32000"/>
              <a:gd name="adj2" fmla="val 61394"/>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795139"/>
            <a:ext cx="7675230" cy="4053211"/>
          </a:xfrm>
          <a:prstGeom prst="rect">
            <a:avLst/>
          </a:prstGeom>
          <a:ln>
            <a:solidFill>
              <a:schemeClr val="tx1"/>
            </a:solidFill>
          </a:ln>
        </p:spPr>
      </p:pic>
      <p:sp>
        <p:nvSpPr>
          <p:cNvPr id="6" name="TextBox 5">
            <a:extLst>
              <a:ext uri="{FF2B5EF4-FFF2-40B4-BE49-F238E27FC236}">
                <a16:creationId xmlns:a16="http://schemas.microsoft.com/office/drawing/2014/main" id="{DF2DCB4E-8036-5F8F-788D-405F90D49285}"/>
              </a:ext>
            </a:extLst>
          </p:cNvPr>
          <p:cNvSpPr txBox="1"/>
          <p:nvPr/>
        </p:nvSpPr>
        <p:spPr>
          <a:xfrm>
            <a:off x="2053325" y="5915126"/>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46803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39372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 </a:t>
            </a:r>
            <a:r>
              <a:rPr lang="en-US" altLang="ko-KR" sz="1600" b="0" dirty="0" err="1">
                <a:solidFill>
                  <a:srgbClr val="FF0000"/>
                </a:solidFill>
                <a:effectLst/>
                <a:latin typeface="D2Coding" panose="020B0609020101020101" pitchFamily="49" charset="-127"/>
                <a:ea typeface="D2Coding" panose="020B0609020101020101" pitchFamily="49" charset="-127"/>
              </a:rPr>
              <a:t>return_sequences</a:t>
            </a:r>
            <a:r>
              <a:rPr lang="en-US" altLang="ko-KR" sz="1600" b="0" dirty="0">
                <a:solidFill>
                  <a:srgbClr val="FF0000"/>
                </a:solidFill>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layers.GRU</a:t>
            </a:r>
            <a:r>
              <a:rPr lang="en-US" altLang="ko-KR" sz="1600" b="0" dirty="0">
                <a:solidFill>
                  <a:srgbClr val="FF0000"/>
                </a:solidFill>
                <a:effectLst/>
                <a:latin typeface="D2Coding" panose="020B0609020101020101" pitchFamily="49" charset="-127"/>
                <a:ea typeface="D2Coding" panose="020B0609020101020101" pitchFamily="49" charset="-127"/>
              </a:rPr>
              <a:t>(32, </a:t>
            </a:r>
            <a:r>
              <a:rPr lang="en-US" altLang="ko-KR" sz="1600" b="0" dirty="0" err="1">
                <a:solidFill>
                  <a:srgbClr val="FF0000"/>
                </a:solidFill>
                <a:effectLst/>
                <a:latin typeface="D2Coding" panose="020B0609020101020101" pitchFamily="49" charset="-127"/>
                <a:ea typeface="D2Coding" panose="020B0609020101020101" pitchFamily="49" charset="-127"/>
              </a:rPr>
              <a:t>recurrent_dropout</a:t>
            </a:r>
            <a:r>
              <a:rPr lang="en-US" altLang="ko-KR" sz="1600" b="0" dirty="0">
                <a:solidFill>
                  <a:srgbClr val="FF0000"/>
                </a:solidFill>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solidFill>
                  <a:srgbClr val="FF0000"/>
                </a:solidFill>
                <a:effectLst/>
                <a:latin typeface="D2Coding" panose="020B0609020101020101" pitchFamily="49" charset="-127"/>
                <a:ea typeface="D2Coding" panose="020B0609020101020101" pitchFamily="49" charset="-127"/>
              </a:rPr>
              <a:t>x = </a:t>
            </a:r>
            <a:r>
              <a:rPr lang="en-US" altLang="ko-KR" sz="1600" b="0" dirty="0" err="1">
                <a:solidFill>
                  <a:srgbClr val="FF0000"/>
                </a:solidFill>
                <a:effectLst/>
                <a:latin typeface="D2Coding" panose="020B0609020101020101" pitchFamily="49" charset="-127"/>
                <a:ea typeface="D2Coding" panose="020B0609020101020101" pitchFamily="49" charset="-127"/>
              </a:rPr>
              <a:t>layers.Bidirectional</a:t>
            </a:r>
            <a:r>
              <a:rPr lang="en-US" altLang="ko-KR" sz="1600" b="0" dirty="0">
                <a:solidFill>
                  <a:srgbClr val="FF0000"/>
                </a:solidFill>
                <a:effectLst/>
                <a:latin typeface="D2Coding" panose="020B0609020101020101" pitchFamily="49" charset="-127"/>
                <a:ea typeface="D2Coding" panose="020B0609020101020101" pitchFamily="49" charset="-127"/>
              </a:rPr>
              <a:t>(</a:t>
            </a:r>
            <a:r>
              <a:rPr lang="en-US" altLang="ko-KR" sz="1600" b="0" dirty="0" err="1">
                <a:solidFill>
                  <a:srgbClr val="FF0000"/>
                </a:solidFill>
                <a:effectLst/>
                <a:latin typeface="D2Coding" panose="020B0609020101020101" pitchFamily="49" charset="-127"/>
                <a:ea typeface="D2Coding" panose="020B0609020101020101" pitchFamily="49" charset="-127"/>
              </a:rPr>
              <a:t>layers.LSTM</a:t>
            </a:r>
            <a:r>
              <a:rPr lang="en-US" altLang="ko-KR" sz="1600" b="0" dirty="0">
                <a:solidFill>
                  <a:srgbClr val="FF0000"/>
                </a:solidFill>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Different kinds of timeseries tasks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Timeseries 3D tensor</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 temperature forecasting example</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naïve approach</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Fully connected neural network</a:t>
            </a:r>
          </a:p>
          <a:p>
            <a:pPr marL="1257300" lvl="2"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1D Convnet</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Understanding recurrent neural networks (RNNs)</a:t>
            </a:r>
          </a:p>
          <a:p>
            <a:pPr marL="800100" lvl="1" indent="-342900">
              <a:lnSpc>
                <a:spcPct val="150000"/>
              </a:lnSpc>
              <a:buFont typeface="Wingdings" panose="05000000000000000000" pitchFamily="2" charset="2"/>
              <a:buChar char="v"/>
            </a:pPr>
            <a:r>
              <a:rPr lang="en-US" altLang="ko-KR" sz="2000" dirty="0">
                <a:latin typeface="D2Coding" panose="020B0609020101020101" pitchFamily="49" charset="-127"/>
                <a:ea typeface="D2Coding" panose="020B0609020101020101" pitchFamily="49" charset="-127"/>
              </a:rPr>
              <a:t>Applying RNNs to a temperature forecasting example</a:t>
            </a:r>
          </a:p>
          <a:p>
            <a:pPr marL="800100" lvl="1" indent="-342900">
              <a:lnSpc>
                <a:spcPct val="150000"/>
              </a:lnSpc>
              <a:buFont typeface="Wingdings" panose="05000000000000000000" pitchFamily="2" charset="2"/>
              <a:buChar char="v"/>
            </a:pPr>
            <a:endParaRPr lang="en-US" altLang="ko-KR" sz="20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43782320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for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Sequence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Modeling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8D144DD3-8657-520F-D4C5-51595F4CAE81}"/>
              </a:ext>
            </a:extLst>
          </p:cNvPr>
          <p:cNvPicPr>
            <a:picLocks noChangeAspect="1"/>
          </p:cNvPicPr>
          <p:nvPr/>
        </p:nvPicPr>
        <p:blipFill>
          <a:blip r:embed="rId2"/>
          <a:stretch>
            <a:fillRect/>
          </a:stretch>
        </p:blipFill>
        <p:spPr>
          <a:xfrm>
            <a:off x="1230279" y="1828658"/>
            <a:ext cx="9316066" cy="3772042"/>
          </a:xfrm>
          <a:prstGeom prst="rect">
            <a:avLst/>
          </a:prstGeom>
          <a:ln>
            <a:solidFill>
              <a:schemeClr val="tx1"/>
            </a:solidFill>
          </a:ln>
        </p:spPr>
      </p:pic>
      <p:sp>
        <p:nvSpPr>
          <p:cNvPr id="8" name="TextBox 7">
            <a:extLst>
              <a:ext uri="{FF2B5EF4-FFF2-40B4-BE49-F238E27FC236}">
                <a16:creationId xmlns:a16="http://schemas.microsoft.com/office/drawing/2014/main" id="{13060A9C-9E14-2FA2-F267-64ED24D8FAE2}"/>
              </a:ext>
            </a:extLst>
          </p:cNvPr>
          <p:cNvSpPr txBox="1"/>
          <p:nvPr/>
        </p:nvSpPr>
        <p:spPr>
          <a:xfrm>
            <a:off x="1162050" y="5724525"/>
            <a:ext cx="7673896"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3"/>
              </a:rPr>
              <a:t>MIT 6.S191 (2025): Recurrent Neural Networks, Transformers, and Attention</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4395993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81470-8656-464B-06C4-C067937AE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9D2C877-831B-8CBF-51C8-3C773B3671A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36794778-297A-F830-9286-DF74C43504C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AutoShape 2" descr=", AI로 생성">
            <a:extLst>
              <a:ext uri="{FF2B5EF4-FFF2-40B4-BE49-F238E27FC236}">
                <a16:creationId xmlns:a16="http://schemas.microsoft.com/office/drawing/2014/main" id="{5E2825BF-340E-EA25-41CB-E1A860DB73E7}"/>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6" name="그림 5">
            <a:extLst>
              <a:ext uri="{FF2B5EF4-FFF2-40B4-BE49-F238E27FC236}">
                <a16:creationId xmlns:a16="http://schemas.microsoft.com/office/drawing/2014/main" id="{6EB88C18-BA7C-B571-0DEE-B746C08D80A4}"/>
              </a:ext>
            </a:extLst>
          </p:cNvPr>
          <p:cNvPicPr>
            <a:picLocks noChangeAspect="1"/>
          </p:cNvPicPr>
          <p:nvPr/>
        </p:nvPicPr>
        <p:blipFill>
          <a:blip r:embed="rId2"/>
          <a:stretch>
            <a:fillRect/>
          </a:stretch>
        </p:blipFill>
        <p:spPr>
          <a:xfrm>
            <a:off x="6371473" y="2690770"/>
            <a:ext cx="5312527" cy="2410962"/>
          </a:xfrm>
          <a:prstGeom prst="rect">
            <a:avLst/>
          </a:prstGeom>
          <a:ln>
            <a:solidFill>
              <a:schemeClr val="tx1"/>
            </a:solidFill>
          </a:ln>
        </p:spPr>
      </p:pic>
      <p:pic>
        <p:nvPicPr>
          <p:cNvPr id="8" name="그림 7">
            <a:extLst>
              <a:ext uri="{FF2B5EF4-FFF2-40B4-BE49-F238E27FC236}">
                <a16:creationId xmlns:a16="http://schemas.microsoft.com/office/drawing/2014/main" id="{8C5FFDD5-943E-07A6-655C-289EE003F9AE}"/>
              </a:ext>
            </a:extLst>
          </p:cNvPr>
          <p:cNvPicPr>
            <a:picLocks noChangeAspect="1"/>
          </p:cNvPicPr>
          <p:nvPr/>
        </p:nvPicPr>
        <p:blipFill>
          <a:blip r:embed="rId3"/>
          <a:stretch>
            <a:fillRect/>
          </a:stretch>
        </p:blipFill>
        <p:spPr>
          <a:xfrm>
            <a:off x="608994" y="2690770"/>
            <a:ext cx="5312527" cy="2410962"/>
          </a:xfrm>
          <a:prstGeom prst="rect">
            <a:avLst/>
          </a:prstGeom>
          <a:ln>
            <a:solidFill>
              <a:schemeClr val="tx1"/>
            </a:solidFill>
          </a:ln>
        </p:spPr>
      </p:pic>
    </p:spTree>
    <p:extLst>
      <p:ext uri="{BB962C8B-B14F-4D97-AF65-F5344CB8AC3E}">
        <p14:creationId xmlns:p14="http://schemas.microsoft.com/office/powerpoint/2010/main" val="25159525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0777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개를 </a:t>
            </a:r>
            <a:r>
              <a:rPr lang="en-US" altLang="ko-KR" sz="1600" dirty="0">
                <a:latin typeface="D2Coding" panose="020B0609020101020101" pitchFamily="49" charset="-127"/>
                <a:ea typeface="D2Coding" panose="020B0609020101020101" pitchFamily="49" charset="-127"/>
              </a:rPr>
              <a:t>time step 2</a:t>
            </a:r>
            <a:r>
              <a:rPr lang="ko-KR" altLang="en-US" sz="1600" dirty="0">
                <a:latin typeface="D2Coding" panose="020B0609020101020101" pitchFamily="49" charset="-127"/>
                <a:ea typeface="D2Coding" panose="020B0609020101020101" pitchFamily="49" charset="-127"/>
              </a:rPr>
              <a:t>를 연속으로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를 통과시키고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층이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Time step</a:t>
            </a:r>
            <a:r>
              <a:rPr lang="ko-KR" altLang="en-US" sz="1600" dirty="0">
                <a:latin typeface="D2Coding" panose="020B0609020101020101" pitchFamily="49" charset="-127"/>
                <a:ea typeface="D2Coding" panose="020B0609020101020101" pitchFamily="49" charset="-127"/>
              </a:rPr>
              <a:t>의 크기와 행렬의 크기</a:t>
            </a:r>
            <a:r>
              <a:rPr lang="en-US" altLang="ko-KR" sz="1600" dirty="0">
                <a:latin typeface="D2Coding" panose="020B0609020101020101" pitchFamily="49" charset="-127"/>
                <a:ea typeface="D2Coding" panose="020B0609020101020101" pitchFamily="49" charset="-127"/>
              </a:rPr>
              <a:t>, Parameters</a:t>
            </a:r>
            <a:r>
              <a:rPr lang="ko-KR" altLang="en-US" sz="1600" dirty="0">
                <a:latin typeface="D2Coding" panose="020B0609020101020101" pitchFamily="49" charset="-127"/>
                <a:ea typeface="D2Coding" panose="020B0609020101020101" pitchFamily="49" charset="-127"/>
              </a:rPr>
              <a:t>의 크기와는 상관없음</a:t>
            </a: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720434" y="234157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060866852"/>
              </p:ext>
            </p:extLst>
          </p:nvPr>
        </p:nvGraphicFramePr>
        <p:xfrm>
          <a:off x="10479996" y="293115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1632557" y="4049712"/>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1632557" y="4049712"/>
                <a:ext cx="301685" cy="307777"/>
              </a:xfrm>
              <a:prstGeom prst="rect">
                <a:avLst/>
              </a:prstGeom>
              <a:blipFill>
                <a:blip r:embed="rId5"/>
                <a:stretch>
                  <a:fillRect l="-10204" r="-4082" b="-1764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2697645" y="3827068"/>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2697645" y="3827068"/>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5669280" y="375589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5669280" y="3755898"/>
                <a:ext cx="427938" cy="276999"/>
              </a:xfrm>
              <a:prstGeom prst="rect">
                <a:avLst/>
              </a:prstGeom>
              <a:blipFill>
                <a:blip r:embed="rId7"/>
                <a:stretch>
                  <a:fillRect l="-20000" r="-1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10614172" y="322156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10614172" y="3221561"/>
                <a:ext cx="341247" cy="298928"/>
              </a:xfrm>
              <a:prstGeom prst="rect">
                <a:avLst/>
              </a:prstGeom>
              <a:blipFill>
                <a:blip r:embed="rId8"/>
                <a:stretch>
                  <a:fillRect l="-8929" r="-5357" b="-18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9117576" y="375012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9117576" y="375012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9122962" y="252512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9122962" y="252512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5746673" y="250519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5746673" y="2505192"/>
                <a:ext cx="422552" cy="276999"/>
              </a:xfrm>
              <a:prstGeom prst="rect">
                <a:avLst/>
              </a:prstGeom>
              <a:blipFill>
                <a:blip r:embed="rId11"/>
                <a:stretch>
                  <a:fillRect l="-20290" r="-13043" b="-3111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2274108569"/>
              </p:ext>
            </p:extLst>
          </p:nvPr>
        </p:nvGraphicFramePr>
        <p:xfrm>
          <a:off x="1263465" y="4626879"/>
          <a:ext cx="996840" cy="1276100"/>
        </p:xfrm>
        <a:graphic>
          <a:graphicData uri="http://schemas.openxmlformats.org/drawingml/2006/table">
            <a:tbl>
              <a:tblPr firstRow="1" bandRow="1">
                <a:tableStyleId>{5C22544A-7EE6-4342-B048-85BDC9FD1C3A}</a:tableStyleId>
              </a:tblPr>
              <a:tblGrid>
                <a:gridCol w="498420">
                  <a:extLst>
                    <a:ext uri="{9D8B030D-6E8A-4147-A177-3AD203B41FA5}">
                      <a16:colId xmlns:a16="http://schemas.microsoft.com/office/drawing/2014/main" val="3902393823"/>
                    </a:ext>
                  </a:extLst>
                </a:gridCol>
                <a:gridCol w="498420">
                  <a:extLst>
                    <a:ext uri="{9D8B030D-6E8A-4147-A177-3AD203B41FA5}">
                      <a16:colId xmlns:a16="http://schemas.microsoft.com/office/drawing/2014/main" val="1276603007"/>
                    </a:ext>
                  </a:extLst>
                </a:gridCol>
              </a:tblGrid>
              <a:tr h="319025">
                <a:tc>
                  <a:txBody>
                    <a:bodyPr/>
                    <a:lstStyle/>
                    <a:p>
                      <a:pPr latinLnBrk="1"/>
                      <a:endParaRPr lang="ko-KR" altLang="en-US" sz="600" dirty="0"/>
                    </a:p>
                  </a:txBody>
                  <a:tcPr/>
                </a:tc>
                <a:tc>
                  <a:txBody>
                    <a:bodyPr/>
                    <a:lstStyle/>
                    <a:p>
                      <a:pPr latinLnBrk="1"/>
                      <a:endParaRPr lang="ko-KR" altLang="en-US" sz="600"/>
                    </a:p>
                  </a:txBody>
                  <a:tcPr/>
                </a:tc>
                <a:extLst>
                  <a:ext uri="{0D108BD9-81ED-4DB2-BD59-A6C34878D82A}">
                    <a16:rowId xmlns:a16="http://schemas.microsoft.com/office/drawing/2014/main" val="3272695305"/>
                  </a:ext>
                </a:extLst>
              </a:tr>
              <a:tr h="319025">
                <a:tc>
                  <a:txBody>
                    <a:bodyPr/>
                    <a:lstStyle/>
                    <a:p>
                      <a:pPr latinLnBrk="1"/>
                      <a:endParaRPr lang="ko-KR" altLang="en-US" sz="600"/>
                    </a:p>
                  </a:txBody>
                  <a:tcPr/>
                </a:tc>
                <a:tc>
                  <a:txBody>
                    <a:bodyPr/>
                    <a:lstStyle/>
                    <a:p>
                      <a:pPr latinLnBrk="1"/>
                      <a:endParaRPr lang="ko-KR" altLang="en-US" sz="600" dirty="0"/>
                    </a:p>
                  </a:txBody>
                  <a:tcPr/>
                </a:tc>
                <a:extLst>
                  <a:ext uri="{0D108BD9-81ED-4DB2-BD59-A6C34878D82A}">
                    <a16:rowId xmlns:a16="http://schemas.microsoft.com/office/drawing/2014/main" val="2023984079"/>
                  </a:ext>
                </a:extLst>
              </a:tr>
              <a:tr h="319025">
                <a:tc>
                  <a:txBody>
                    <a:bodyPr/>
                    <a:lstStyle/>
                    <a:p>
                      <a:pPr latinLnBrk="1"/>
                      <a:endParaRPr lang="ko-KR" altLang="en-US" sz="600"/>
                    </a:p>
                  </a:txBody>
                  <a:tcPr/>
                </a:tc>
                <a:tc>
                  <a:txBody>
                    <a:bodyPr/>
                    <a:lstStyle/>
                    <a:p>
                      <a:pPr latinLnBrk="1"/>
                      <a:endParaRPr lang="ko-KR" altLang="en-US" sz="600"/>
                    </a:p>
                  </a:txBody>
                  <a:tcPr/>
                </a:tc>
                <a:extLst>
                  <a:ext uri="{0D108BD9-81ED-4DB2-BD59-A6C34878D82A}">
                    <a16:rowId xmlns:a16="http://schemas.microsoft.com/office/drawing/2014/main" val="1253757925"/>
                  </a:ext>
                </a:extLst>
              </a:tr>
              <a:tr h="319025">
                <a:tc>
                  <a:txBody>
                    <a:bodyPr/>
                    <a:lstStyle/>
                    <a:p>
                      <a:pPr latinLnBrk="1"/>
                      <a:endParaRPr lang="ko-KR" altLang="en-US" sz="600"/>
                    </a:p>
                  </a:txBody>
                  <a:tcPr/>
                </a:tc>
                <a:tc>
                  <a:txBody>
                    <a:bodyPr/>
                    <a:lstStyle/>
                    <a:p>
                      <a:pPr latinLnBrk="1"/>
                      <a:endParaRPr lang="ko-KR" altLang="en-US" sz="60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217594872"/>
              </p:ext>
            </p:extLst>
          </p:nvPr>
        </p:nvGraphicFramePr>
        <p:xfrm>
          <a:off x="3264536" y="392712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864537549"/>
              </p:ext>
            </p:extLst>
          </p:nvPr>
        </p:nvGraphicFramePr>
        <p:xfrm>
          <a:off x="7219614" y="362167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7348033" y="388862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7348033" y="388862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9" name="직사각형 38">
            <a:extLst>
              <a:ext uri="{FF2B5EF4-FFF2-40B4-BE49-F238E27FC236}">
                <a16:creationId xmlns:a16="http://schemas.microsoft.com/office/drawing/2014/main" id="{6C792020-F87E-2D5A-C317-CEC6108C9734}"/>
              </a:ext>
            </a:extLst>
          </p:cNvPr>
          <p:cNvSpPr/>
          <p:nvPr/>
        </p:nvSpPr>
        <p:spPr>
          <a:xfrm>
            <a:off x="1281159" y="4626879"/>
            <a:ext cx="474320" cy="1276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Rectangle 1">
            <a:extLst>
              <a:ext uri="{FF2B5EF4-FFF2-40B4-BE49-F238E27FC236}">
                <a16:creationId xmlns:a16="http://schemas.microsoft.com/office/drawing/2014/main" id="{35D6AF93-2744-D789-D334-DA877C4C1B9F}"/>
              </a:ext>
            </a:extLst>
          </p:cNvPr>
          <p:cNvSpPr>
            <a:spLocks noChangeArrowheads="1"/>
          </p:cNvSpPr>
          <p:nvPr/>
        </p:nvSpPr>
        <p:spPr bwMode="auto">
          <a:xfrm>
            <a:off x="367902" y="5301690"/>
            <a:ext cx="803674"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lang="en-US" altLang="ko-KR" sz="1200" dirty="0">
                <a:latin typeface="D2Coding" panose="020B0609020101020101" pitchFamily="49" charset="-127"/>
                <a:ea typeface="D2Coding" panose="020B0609020101020101" pitchFamily="49" charset="-127"/>
              </a:rPr>
              <a:t>4</a:t>
            </a:r>
            <a:r>
              <a:rPr kumimoji="0" lang="ko-KR"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endParaRPr kumimoji="0" lang="en-US"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ko-KR" sz="1200" dirty="0">
                <a:latin typeface="D2Coding" panose="020B0609020101020101" pitchFamily="49" charset="-127"/>
                <a:ea typeface="D2Coding" panose="020B0609020101020101" pitchFamily="49" charset="-127"/>
              </a:rPr>
              <a:t>Features</a:t>
            </a:r>
          </a:p>
        </p:txBody>
      </p:sp>
      <p:sp>
        <p:nvSpPr>
          <p:cNvPr id="8" name="왼쪽 중괄호 7">
            <a:extLst>
              <a:ext uri="{FF2B5EF4-FFF2-40B4-BE49-F238E27FC236}">
                <a16:creationId xmlns:a16="http://schemas.microsoft.com/office/drawing/2014/main" id="{7B732451-9361-B1A5-0D24-D7290ACD2D2D}"/>
              </a:ext>
            </a:extLst>
          </p:cNvPr>
          <p:cNvSpPr/>
          <p:nvPr/>
        </p:nvSpPr>
        <p:spPr>
          <a:xfrm rot="16200000">
            <a:off x="1663328" y="5575390"/>
            <a:ext cx="219887" cy="974069"/>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0" name="왼쪽 중괄호 9">
            <a:extLst>
              <a:ext uri="{FF2B5EF4-FFF2-40B4-BE49-F238E27FC236}">
                <a16:creationId xmlns:a16="http://schemas.microsoft.com/office/drawing/2014/main" id="{DB53105A-0C91-C697-C9F8-2BC54E6D1C0D}"/>
              </a:ext>
            </a:extLst>
          </p:cNvPr>
          <p:cNvSpPr/>
          <p:nvPr/>
        </p:nvSpPr>
        <p:spPr>
          <a:xfrm>
            <a:off x="1007823" y="4659097"/>
            <a:ext cx="196865" cy="1211664"/>
          </a:xfrm>
          <a:prstGeom prst="leftBrace">
            <a:avLst>
              <a:gd name="adj1" fmla="val 47051"/>
              <a:gd name="adj2" fmla="val 50000"/>
            </a:avLst>
          </a:prstGeom>
          <a:ln>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11" name="Rectangle 1">
            <a:extLst>
              <a:ext uri="{FF2B5EF4-FFF2-40B4-BE49-F238E27FC236}">
                <a16:creationId xmlns:a16="http://schemas.microsoft.com/office/drawing/2014/main" id="{A331A81B-E9B6-1267-DC07-6587E5379B6F}"/>
              </a:ext>
            </a:extLst>
          </p:cNvPr>
          <p:cNvSpPr>
            <a:spLocks noChangeArrowheads="1"/>
          </p:cNvSpPr>
          <p:nvPr/>
        </p:nvSpPr>
        <p:spPr bwMode="auto">
          <a:xfrm>
            <a:off x="1490231" y="6222108"/>
            <a:ext cx="803674"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2</a:t>
            </a:r>
            <a:r>
              <a:rPr kumimoji="0" lang="ko-KR"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endParaRPr kumimoji="0" lang="en-US" altLang="ko-KR" sz="12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ko-KR" sz="1200" dirty="0">
                <a:latin typeface="D2Coding" panose="020B0609020101020101" pitchFamily="49" charset="-127"/>
                <a:ea typeface="D2Coding" panose="020B0609020101020101" pitchFamily="49" charset="-127"/>
              </a:rPr>
              <a:t>Time</a:t>
            </a:r>
            <a:r>
              <a:rPr lang="ko-KR" altLang="en-US" sz="1200" dirty="0">
                <a:latin typeface="D2Coding" panose="020B0609020101020101" pitchFamily="49" charset="-127"/>
                <a:ea typeface="D2Coding" panose="020B0609020101020101" pitchFamily="49" charset="-127"/>
              </a:rPr>
              <a:t> </a:t>
            </a:r>
            <a:r>
              <a:rPr lang="en-US" altLang="ko-KR" sz="1200" dirty="0">
                <a:latin typeface="D2Coding" panose="020B0609020101020101" pitchFamily="49" charset="-127"/>
                <a:ea typeface="D2Coding" panose="020B0609020101020101" pitchFamily="49" charset="-127"/>
              </a:rPr>
              <a:t>step</a:t>
            </a:r>
          </a:p>
        </p:txBody>
      </p:sp>
      <p:sp>
        <p:nvSpPr>
          <p:cNvPr id="14" name="직사각형 13">
            <a:extLst>
              <a:ext uri="{FF2B5EF4-FFF2-40B4-BE49-F238E27FC236}">
                <a16:creationId xmlns:a16="http://schemas.microsoft.com/office/drawing/2014/main" id="{A5C31EC2-01D6-BE37-C9DA-0C6189C21EB3}"/>
              </a:ext>
            </a:extLst>
          </p:cNvPr>
          <p:cNvSpPr/>
          <p:nvPr/>
        </p:nvSpPr>
        <p:spPr>
          <a:xfrm>
            <a:off x="1785984" y="4626879"/>
            <a:ext cx="474320"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5" name="직사각형 14">
            <a:extLst>
              <a:ext uri="{FF2B5EF4-FFF2-40B4-BE49-F238E27FC236}">
                <a16:creationId xmlns:a16="http://schemas.microsoft.com/office/drawing/2014/main" id="{DB06ACBF-E8A2-9196-D5AF-1AD521261775}"/>
              </a:ext>
            </a:extLst>
          </p:cNvPr>
          <p:cNvSpPr/>
          <p:nvPr/>
        </p:nvSpPr>
        <p:spPr>
          <a:xfrm>
            <a:off x="3696667" y="4809168"/>
            <a:ext cx="3541998" cy="63805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직사각형 15">
            <a:extLst>
              <a:ext uri="{FF2B5EF4-FFF2-40B4-BE49-F238E27FC236}">
                <a16:creationId xmlns:a16="http://schemas.microsoft.com/office/drawing/2014/main" id="{900C58DD-7EED-3241-3EC0-2A4A8AF245A5}"/>
              </a:ext>
            </a:extLst>
          </p:cNvPr>
          <p:cNvSpPr/>
          <p:nvPr/>
        </p:nvSpPr>
        <p:spPr>
          <a:xfrm>
            <a:off x="7887667" y="4818693"/>
            <a:ext cx="3541998" cy="638050"/>
          </a:xfrm>
          <a:prstGeom prst="rect">
            <a:avLst/>
          </a:prstGeom>
          <a:noFill/>
          <a:ln w="285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7" name="직사각형 16">
            <a:extLst>
              <a:ext uri="{FF2B5EF4-FFF2-40B4-BE49-F238E27FC236}">
                <a16:creationId xmlns:a16="http://schemas.microsoft.com/office/drawing/2014/main" id="{BC7DC9E9-3583-E7E8-5BA3-FF54005D26B8}"/>
              </a:ext>
            </a:extLst>
          </p:cNvPr>
          <p:cNvSpPr/>
          <p:nvPr/>
        </p:nvSpPr>
        <p:spPr>
          <a:xfrm>
            <a:off x="3264536" y="3923760"/>
            <a:ext cx="1300480" cy="30341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8" name="직사각형 17">
            <a:extLst>
              <a:ext uri="{FF2B5EF4-FFF2-40B4-BE49-F238E27FC236}">
                <a16:creationId xmlns:a16="http://schemas.microsoft.com/office/drawing/2014/main" id="{C3B793CC-90F2-CAAA-3FA9-B0FBFB5D94B0}"/>
              </a:ext>
            </a:extLst>
          </p:cNvPr>
          <p:cNvSpPr/>
          <p:nvPr/>
        </p:nvSpPr>
        <p:spPr>
          <a:xfrm>
            <a:off x="3264536" y="4238933"/>
            <a:ext cx="1300480" cy="303417"/>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14" grpId="0" animBg="1"/>
      <p:bldP spid="15" grpId="0" animBg="1"/>
      <p:bldP spid="16"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972542865"/>
              </p:ext>
            </p:extLst>
          </p:nvPr>
        </p:nvGraphicFramePr>
        <p:xfrm>
          <a:off x="2687169" y="2197339"/>
          <a:ext cx="61468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5409899" cy="3115298"/>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700878"/>
            <a:ext cx="7711440" cy="1675139"/>
          </a:xfrm>
          <a:prstGeom prst="rect">
            <a:avLst/>
          </a:prstGeom>
          <a:solidFill>
            <a:srgbClr val="76E3FF"/>
          </a:solidFill>
        </p:spPr>
        <p:txBody>
          <a:bodyPr wrap="square">
            <a:spAutoFit/>
          </a:bodyPr>
          <a:lstStyle/>
          <a:p>
            <a:pPr>
              <a:lnSpc>
                <a:spcPct val="150000"/>
              </a:lnSpc>
            </a:pPr>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(20,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=[None, 1]),</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(20,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p>
          <a:p>
            <a:pPr>
              <a:lnSpc>
                <a:spcPct val="150000"/>
              </a:lnSpc>
            </a:pP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(1)</a:t>
            </a:r>
          </a:p>
          <a:p>
            <a:pPr>
              <a:lnSpc>
                <a:spcPct val="150000"/>
              </a:lnSpc>
            </a:pP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556AA-F115-B46C-306D-D1D7A6F3506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EB688ED-B450-4EFA-D386-B29E4E72D0F8}"/>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Timeseries Forecasting</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0726893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035810" y="1586384"/>
            <a:ext cx="9689068" cy="4575956"/>
          </a:xfrm>
          <a:prstGeom prst="rect">
            <a:avLst/>
          </a:prstGeom>
          <a:ln>
            <a:solidFill>
              <a:schemeClr val="tx1"/>
            </a:solidFill>
          </a:ln>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AA10A-431B-F236-65CC-DB5BD1C5E75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57BAC5-5BA3-ABA6-E113-BDC7E4F60A71}"/>
              </a:ext>
            </a:extLst>
          </p:cNvPr>
          <p:cNvSpPr>
            <a:spLocks noGrp="1"/>
          </p:cNvSpPr>
          <p:nvPr>
            <p:ph type="ctrTitle"/>
          </p:nvPr>
        </p:nvSpPr>
        <p:spPr>
          <a:xfrm>
            <a:off x="838199" y="1164324"/>
            <a:ext cx="10210801" cy="2387600"/>
          </a:xfrm>
        </p:spPr>
        <p:txBody>
          <a:bodyPr rtlCol="0" anchor="ctr" anchorCtr="0">
            <a:normAutofit/>
          </a:bodyPr>
          <a:lstStyle/>
          <a:p>
            <a:r>
              <a:rPr lang="en-US" altLang="ko-KR" sz="4400" dirty="0">
                <a:solidFill>
                  <a:schemeClr val="bg1"/>
                </a:solidFill>
              </a:rPr>
              <a:t>CNN for Timeseries Data</a:t>
            </a:r>
            <a:endParaRPr lang="ko-KR" altLang="en-US" sz="4400" dirty="0">
              <a:solidFill>
                <a:schemeClr val="bg1"/>
              </a:solidFill>
            </a:endParaRPr>
          </a:p>
        </p:txBody>
      </p:sp>
    </p:spTree>
    <p:extLst>
      <p:ext uri="{BB962C8B-B14F-4D97-AF65-F5344CB8AC3E}">
        <p14:creationId xmlns:p14="http://schemas.microsoft.com/office/powerpoint/2010/main" val="60512935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D01DB-CD16-FE8E-FB47-D4306B5D25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A7E0286-F8FA-B2E2-18BE-39E3BE9410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a:t>
            </a:r>
            <a:r>
              <a:rPr lang="en-US" altLang="ko-KR"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with</a:t>
            </a:r>
            <a:r>
              <a:rPr lang="ko-KR" altLang="en-US" sz="2800" cap="none">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D226DC59-7D78-0C13-4559-E42F440722EE}"/>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67221A82-6C0D-FB05-44AE-2EDE319BC885}"/>
              </a:ext>
            </a:extLst>
          </p:cNvPr>
          <p:cNvSpPr txBox="1"/>
          <p:nvPr/>
        </p:nvSpPr>
        <p:spPr>
          <a:xfrm>
            <a:off x="628650" y="1200150"/>
            <a:ext cx="11010900" cy="1028808"/>
          </a:xfrm>
          <a:prstGeom prst="rect">
            <a:avLst/>
          </a:prstGeom>
          <a:noFill/>
        </p:spPr>
        <p:txBody>
          <a:bodyPr wrap="square" rtlCol="0">
            <a:spAutoFit/>
          </a:bodyPr>
          <a:lstStyle/>
          <a:p>
            <a:pPr>
              <a:lnSpc>
                <a:spcPct val="150000"/>
              </a:lnSpc>
            </a:pPr>
            <a:r>
              <a:rPr lang="en-US" altLang="ko-KR" sz="1400" dirty="0">
                <a:latin typeface="D2Coding" panose="020B0609020101020101" pitchFamily="49" charset="-127"/>
                <a:ea typeface="D2Coding" panose="020B0609020101020101" pitchFamily="49" charset="-127"/>
              </a:rPr>
              <a:t>Multivariate </a:t>
            </a:r>
            <a:r>
              <a:rPr lang="ko-KR" altLang="en-US" sz="1400" dirty="0">
                <a:latin typeface="D2Coding" panose="020B0609020101020101" pitchFamily="49" charset="-127"/>
                <a:ea typeface="D2Coding" panose="020B0609020101020101" pitchFamily="49" charset="-127"/>
              </a:rPr>
              <a:t>기후 데이터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등의 다중변수의 시계열 자료를 전형적인 아래 </a:t>
            </a:r>
            <a:r>
              <a:rPr lang="en-US" altLang="ko-KR" sz="1400" dirty="0">
                <a:latin typeface="D2Coding" panose="020B0609020101020101" pitchFamily="49" charset="-127"/>
                <a:ea typeface="D2Coding" panose="020B0609020101020101" pitchFamily="49" charset="-127"/>
              </a:rPr>
              <a:t>3D Tensor</a:t>
            </a:r>
            <a:r>
              <a:rPr lang="ko-KR" altLang="en-US" sz="1400" dirty="0">
                <a:latin typeface="D2Coding" panose="020B0609020101020101" pitchFamily="49" charset="-127"/>
                <a:ea typeface="D2Coding" panose="020B0609020101020101" pitchFamily="49" charset="-127"/>
              </a:rPr>
              <a:t>로 구성할 수도 있으나 각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를</a:t>
            </a:r>
            <a:r>
              <a:rPr lang="en-US" altLang="ko-KR" sz="1400" dirty="0">
                <a:latin typeface="D2Coding" panose="020B0609020101020101" pitchFamily="49" charset="-127"/>
                <a:ea typeface="D2Coding" panose="020B0609020101020101" pitchFamily="49" charset="-127"/>
              </a:rPr>
              <a:t> 1</a:t>
            </a:r>
            <a:r>
              <a:rPr lang="ko-KR" altLang="en-US" sz="1400" dirty="0">
                <a:latin typeface="D2Coding" panose="020B0609020101020101" pitchFamily="49" charset="-127"/>
                <a:ea typeface="D2Coding" panose="020B0609020101020101" pitchFamily="49" charset="-127"/>
              </a:rPr>
              <a:t>개씩만 구성하고 </a:t>
            </a:r>
            <a:r>
              <a:rPr lang="en-US" altLang="ko-KR" sz="1400" dirty="0">
                <a:latin typeface="D2Coding" panose="020B0609020101020101" pitchFamily="49" charset="-127"/>
                <a:ea typeface="D2Coding" panose="020B0609020101020101" pitchFamily="49" charset="-127"/>
              </a:rPr>
              <a:t>Channel</a:t>
            </a:r>
            <a:r>
              <a:rPr lang="ko-KR" altLang="en-US" sz="1400" dirty="0">
                <a:latin typeface="D2Coding" panose="020B0609020101020101" pitchFamily="49" charset="-127"/>
                <a:ea typeface="D2Coding" panose="020B0609020101020101" pitchFamily="49" charset="-127"/>
              </a:rPr>
              <a:t>을 온도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강수량</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일조량 등으로 구성한 후 </a:t>
            </a:r>
            <a:r>
              <a:rPr lang="en-US" altLang="ko-KR" sz="1400" dirty="0">
                <a:latin typeface="D2Coding" panose="020B0609020101020101" pitchFamily="49" charset="-127"/>
                <a:ea typeface="D2Coding" panose="020B0609020101020101" pitchFamily="49" charset="-127"/>
              </a:rPr>
              <a:t>1D Convnet</a:t>
            </a:r>
            <a:r>
              <a:rPr lang="ko-KR" altLang="en-US" sz="1400" dirty="0">
                <a:latin typeface="D2Coding" panose="020B0609020101020101" pitchFamily="49" charset="-127"/>
                <a:ea typeface="D2Coding" panose="020B0609020101020101" pitchFamily="49" charset="-127"/>
              </a:rPr>
              <a:t>을 구성하여 입력 </a:t>
            </a:r>
            <a:r>
              <a:rPr lang="en-US" altLang="ko-KR" sz="1400" dirty="0">
                <a:latin typeface="D2Coding" panose="020B0609020101020101" pitchFamily="49" charset="-127"/>
                <a:ea typeface="D2Coding" panose="020B0609020101020101" pitchFamily="49" charset="-127"/>
              </a:rPr>
              <a:t>Feature</a:t>
            </a:r>
            <a:r>
              <a:rPr lang="ko-KR" altLang="en-US" sz="1400" dirty="0">
                <a:latin typeface="D2Coding" panose="020B0609020101020101" pitchFamily="49" charset="-127"/>
                <a:ea typeface="D2Coding" panose="020B0609020101020101" pitchFamily="49" charset="-127"/>
              </a:rPr>
              <a:t>로 만든 후 </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Size</a:t>
            </a:r>
            <a:r>
              <a:rPr lang="ko-KR" altLang="en-US" sz="1400" dirty="0">
                <a:latin typeface="D2Coding" panose="020B0609020101020101" pitchFamily="49" charset="-127"/>
                <a:ea typeface="D2Coding" panose="020B0609020101020101" pitchFamily="49" charset="-127"/>
              </a:rPr>
              <a:t>로 </a:t>
            </a:r>
            <a:r>
              <a:rPr lang="en-US" altLang="ko-KR" sz="1400" dirty="0">
                <a:latin typeface="D2Coding" panose="020B0609020101020101" pitchFamily="49" charset="-127"/>
                <a:ea typeface="D2Coding" panose="020B0609020101020101" pitchFamily="49" charset="-127"/>
              </a:rPr>
              <a:t>Time steps(3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 등</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를 </a:t>
            </a:r>
            <a:r>
              <a:rPr lang="ko-KR" altLang="en-US" sz="1400" dirty="0" err="1">
                <a:latin typeface="D2Coding" panose="020B0609020101020101" pitchFamily="49" charset="-127"/>
                <a:ea typeface="D2Coding" panose="020B0609020101020101" pitchFamily="49" charset="-127"/>
              </a:rPr>
              <a:t>컨볼루션을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적용하여 </a:t>
            </a:r>
            <a:r>
              <a:rPr lang="en-US" altLang="ko-KR" sz="1400" dirty="0" err="1">
                <a:latin typeface="D2Coding" panose="020B0609020101020101" pitchFamily="49" charset="-127"/>
                <a:ea typeface="D2Coding" panose="020B0609020101020101" pitchFamily="49" charset="-127"/>
              </a:rPr>
              <a:t>Concate</a:t>
            </a:r>
            <a:r>
              <a:rPr lang="ko-KR" altLang="en-US" sz="1400" dirty="0">
                <a:latin typeface="D2Coding" panose="020B0609020101020101" pitchFamily="49" charset="-127"/>
                <a:ea typeface="D2Coding" panose="020B0609020101020101" pitchFamily="49" charset="-127"/>
              </a:rPr>
              <a:t>하여 예측하는 모델 </a:t>
            </a:r>
          </a:p>
        </p:txBody>
      </p:sp>
      <p:sp>
        <p:nvSpPr>
          <p:cNvPr id="5" name="직사각형 4">
            <a:extLst>
              <a:ext uri="{FF2B5EF4-FFF2-40B4-BE49-F238E27FC236}">
                <a16:creationId xmlns:a16="http://schemas.microsoft.com/office/drawing/2014/main" id="{87C9BF87-F17D-A8F7-8F6C-75856C4A0E94}"/>
              </a:ext>
            </a:extLst>
          </p:cNvPr>
          <p:cNvSpPr/>
          <p:nvPr/>
        </p:nvSpPr>
        <p:spPr>
          <a:xfrm>
            <a:off x="710339" y="28235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직사각형 6">
            <a:extLst>
              <a:ext uri="{FF2B5EF4-FFF2-40B4-BE49-F238E27FC236}">
                <a16:creationId xmlns:a16="http://schemas.microsoft.com/office/drawing/2014/main" id="{6C8811A2-7679-2C7E-DE95-2C3CA22D3D26}"/>
              </a:ext>
            </a:extLst>
          </p:cNvPr>
          <p:cNvSpPr/>
          <p:nvPr/>
        </p:nvSpPr>
        <p:spPr>
          <a:xfrm>
            <a:off x="862739" y="29759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699F94C8-95EF-01BB-AC82-F6ED98507D2D}"/>
              </a:ext>
            </a:extLst>
          </p:cNvPr>
          <p:cNvSpPr/>
          <p:nvPr/>
        </p:nvSpPr>
        <p:spPr>
          <a:xfrm>
            <a:off x="1015139" y="31283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435AC0D4-624C-DC13-271F-1C2A0A4468BB}"/>
              </a:ext>
            </a:extLst>
          </p:cNvPr>
          <p:cNvSpPr/>
          <p:nvPr/>
        </p:nvSpPr>
        <p:spPr>
          <a:xfrm>
            <a:off x="1167539" y="32807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05917FFF-3885-6C08-235F-DE1A3E3637E9}"/>
              </a:ext>
            </a:extLst>
          </p:cNvPr>
          <p:cNvSpPr/>
          <p:nvPr/>
        </p:nvSpPr>
        <p:spPr>
          <a:xfrm>
            <a:off x="1319939" y="3433142"/>
            <a:ext cx="2675444" cy="111760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p>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0763F341-8105-7BF3-30A5-DBD162BCB333}"/>
              </a:ext>
            </a:extLst>
          </p:cNvPr>
          <p:cNvSpPr txBox="1"/>
          <p:nvPr/>
        </p:nvSpPr>
        <p:spPr>
          <a:xfrm>
            <a:off x="879352" y="5623537"/>
            <a:ext cx="3990393"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(10, 365, 3)</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Features)</a:t>
            </a:r>
            <a:endParaRPr lang="ko-KR" altLang="en-US" dirty="0">
              <a:solidFill>
                <a:schemeClr val="bg1"/>
              </a:solidFill>
            </a:endParaRPr>
          </a:p>
        </p:txBody>
      </p:sp>
      <p:sp>
        <p:nvSpPr>
          <p:cNvPr id="17" name="직사각형 16">
            <a:extLst>
              <a:ext uri="{FF2B5EF4-FFF2-40B4-BE49-F238E27FC236}">
                <a16:creationId xmlns:a16="http://schemas.microsoft.com/office/drawing/2014/main" id="{DEFB5CD3-2CBE-9B77-AECC-EE1A5C5E2054}"/>
              </a:ext>
            </a:extLst>
          </p:cNvPr>
          <p:cNvSpPr/>
          <p:nvPr/>
        </p:nvSpPr>
        <p:spPr>
          <a:xfrm>
            <a:off x="8168860" y="46367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rgbClr val="FF0000"/>
                </a:solidFill>
                <a:latin typeface="D2Coding" panose="020B0609020101020101" pitchFamily="49" charset="-127"/>
                <a:ea typeface="D2Coding" panose="020B0609020101020101" pitchFamily="49" charset="-127"/>
              </a:rPr>
              <a:t>25.4, 24.3,……… 34.5, 33.3…</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1" name="직사각형 20">
            <a:extLst>
              <a:ext uri="{FF2B5EF4-FFF2-40B4-BE49-F238E27FC236}">
                <a16:creationId xmlns:a16="http://schemas.microsoft.com/office/drawing/2014/main" id="{7B360D9F-C912-8897-2FCD-65B4E4F1B233}"/>
              </a:ext>
            </a:extLst>
          </p:cNvPr>
          <p:cNvSpPr/>
          <p:nvPr/>
        </p:nvSpPr>
        <p:spPr>
          <a:xfrm>
            <a:off x="8435734" y="4907317"/>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6"/>
                </a:solidFill>
                <a:latin typeface="D2Coding" panose="020B0609020101020101" pitchFamily="49" charset="-127"/>
                <a:ea typeface="D2Coding" panose="020B0609020101020101" pitchFamily="49" charset="-127"/>
              </a:rPr>
              <a:t>100.0, 101.3, 56.7……….45.6, 34.6</a:t>
            </a:r>
          </a:p>
        </p:txBody>
      </p:sp>
      <p:sp>
        <p:nvSpPr>
          <p:cNvPr id="23" name="직사각형 22">
            <a:extLst>
              <a:ext uri="{FF2B5EF4-FFF2-40B4-BE49-F238E27FC236}">
                <a16:creationId xmlns:a16="http://schemas.microsoft.com/office/drawing/2014/main" id="{9C704DD3-CB3F-79B9-582E-ACBA81445B48}"/>
              </a:ext>
            </a:extLst>
          </p:cNvPr>
          <p:cNvSpPr/>
          <p:nvPr/>
        </p:nvSpPr>
        <p:spPr>
          <a:xfrm>
            <a:off x="8784984" y="5195560"/>
            <a:ext cx="2675444" cy="33211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accent5"/>
                </a:solidFill>
                <a:latin typeface="D2Coding" panose="020B0609020101020101" pitchFamily="49" charset="-127"/>
                <a:ea typeface="D2Coding" panose="020B0609020101020101" pitchFamily="49" charset="-127"/>
              </a:rPr>
              <a:t>34.6, 45.6,…………………..56.5, 67.6</a:t>
            </a:r>
            <a:endParaRPr lang="ko-KR" altLang="en-US" sz="1200" dirty="0">
              <a:solidFill>
                <a:schemeClr val="accent5"/>
              </a:solidFill>
              <a:latin typeface="D2Coding" panose="020B0609020101020101" pitchFamily="49" charset="-127"/>
              <a:ea typeface="D2Coding" panose="020B0609020101020101" pitchFamily="49" charset="-127"/>
            </a:endParaRPr>
          </a:p>
        </p:txBody>
      </p:sp>
      <p:sp>
        <p:nvSpPr>
          <p:cNvPr id="24" name="왼쪽 중괄호 23">
            <a:extLst>
              <a:ext uri="{FF2B5EF4-FFF2-40B4-BE49-F238E27FC236}">
                <a16:creationId xmlns:a16="http://schemas.microsoft.com/office/drawing/2014/main" id="{01F2A509-E1A0-4E95-024A-0369558EF003}"/>
              </a:ext>
            </a:extLst>
          </p:cNvPr>
          <p:cNvSpPr/>
          <p:nvPr/>
        </p:nvSpPr>
        <p:spPr>
          <a:xfrm rot="10800000">
            <a:off x="4119909" y="3434296"/>
            <a:ext cx="193430" cy="1066897"/>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6" name="왼쪽 중괄호 25">
            <a:extLst>
              <a:ext uri="{FF2B5EF4-FFF2-40B4-BE49-F238E27FC236}">
                <a16:creationId xmlns:a16="http://schemas.microsoft.com/office/drawing/2014/main" id="{F29B2FB5-9925-E455-D163-C8E3EAFA3652}"/>
              </a:ext>
            </a:extLst>
          </p:cNvPr>
          <p:cNvSpPr/>
          <p:nvPr/>
        </p:nvSpPr>
        <p:spPr>
          <a:xfrm rot="16200000">
            <a:off x="2534601" y="3477338"/>
            <a:ext cx="281160" cy="2640405"/>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28" name="왼쪽 중괄호 27">
            <a:extLst>
              <a:ext uri="{FF2B5EF4-FFF2-40B4-BE49-F238E27FC236}">
                <a16:creationId xmlns:a16="http://schemas.microsoft.com/office/drawing/2014/main" id="{4EAAAEF1-D1C2-AB5B-6FDC-2FF43601242D}"/>
              </a:ext>
            </a:extLst>
          </p:cNvPr>
          <p:cNvSpPr/>
          <p:nvPr/>
        </p:nvSpPr>
        <p:spPr>
          <a:xfrm rot="7748708">
            <a:off x="3742428" y="2513119"/>
            <a:ext cx="242513" cy="962173"/>
          </a:xfrm>
          <a:prstGeom prst="leftBrace">
            <a:avLst>
              <a:gd name="adj1" fmla="val 56639"/>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a:p>
        </p:txBody>
      </p:sp>
      <p:sp>
        <p:nvSpPr>
          <p:cNvPr id="30" name="TextBox 29">
            <a:extLst>
              <a:ext uri="{FF2B5EF4-FFF2-40B4-BE49-F238E27FC236}">
                <a16:creationId xmlns:a16="http://schemas.microsoft.com/office/drawing/2014/main" id="{9BD63081-ABF0-F3AD-F08A-C1D88356DCD2}"/>
              </a:ext>
            </a:extLst>
          </p:cNvPr>
          <p:cNvSpPr txBox="1"/>
          <p:nvPr/>
        </p:nvSpPr>
        <p:spPr>
          <a:xfrm>
            <a:off x="2293653" y="4987379"/>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Timesteps</a:t>
            </a:r>
            <a:endParaRPr lang="ko-KR" altLang="en-US" dirty="0"/>
          </a:p>
        </p:txBody>
      </p:sp>
      <p:sp>
        <p:nvSpPr>
          <p:cNvPr id="32" name="TextBox 31">
            <a:extLst>
              <a:ext uri="{FF2B5EF4-FFF2-40B4-BE49-F238E27FC236}">
                <a16:creationId xmlns:a16="http://schemas.microsoft.com/office/drawing/2014/main" id="{F5039ACF-4E13-5D4A-1B29-B2B4D7CBEC41}"/>
              </a:ext>
            </a:extLst>
          </p:cNvPr>
          <p:cNvSpPr txBox="1"/>
          <p:nvPr/>
        </p:nvSpPr>
        <p:spPr>
          <a:xfrm rot="2228255">
            <a:off x="3647386" y="2582615"/>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Samples</a:t>
            </a:r>
            <a:endParaRPr lang="ko-KR" altLang="en-US" dirty="0"/>
          </a:p>
        </p:txBody>
      </p:sp>
      <p:sp>
        <p:nvSpPr>
          <p:cNvPr id="34" name="TextBox 33">
            <a:extLst>
              <a:ext uri="{FF2B5EF4-FFF2-40B4-BE49-F238E27FC236}">
                <a16:creationId xmlns:a16="http://schemas.microsoft.com/office/drawing/2014/main" id="{E586E4C6-14B1-F543-4591-2B09B6144556}"/>
              </a:ext>
            </a:extLst>
          </p:cNvPr>
          <p:cNvSpPr txBox="1"/>
          <p:nvPr/>
        </p:nvSpPr>
        <p:spPr>
          <a:xfrm>
            <a:off x="4172554" y="4039008"/>
            <a:ext cx="1063625" cy="307777"/>
          </a:xfrm>
          <a:prstGeom prst="rect">
            <a:avLst/>
          </a:prstGeom>
          <a:noFill/>
        </p:spPr>
        <p:txBody>
          <a:bodyPr wrap="square">
            <a:spAutoFit/>
          </a:bodyPr>
          <a:lstStyle/>
          <a:p>
            <a:r>
              <a:rPr lang="en-US" altLang="ko-KR" sz="1400" dirty="0">
                <a:latin typeface="D2Coding" panose="020B0609020101020101" pitchFamily="49" charset="-127"/>
                <a:ea typeface="D2Coding" panose="020B0609020101020101" pitchFamily="49" charset="-127"/>
              </a:rPr>
              <a:t>Features</a:t>
            </a:r>
            <a:endParaRPr lang="ko-KR" altLang="en-US" dirty="0"/>
          </a:p>
        </p:txBody>
      </p:sp>
      <p:grpSp>
        <p:nvGrpSpPr>
          <p:cNvPr id="45" name="그룹 44">
            <a:extLst>
              <a:ext uri="{FF2B5EF4-FFF2-40B4-BE49-F238E27FC236}">
                <a16:creationId xmlns:a16="http://schemas.microsoft.com/office/drawing/2014/main" id="{9C0C4996-B744-BE18-85BE-8DF256EB4B70}"/>
              </a:ext>
            </a:extLst>
          </p:cNvPr>
          <p:cNvGrpSpPr/>
          <p:nvPr/>
        </p:nvGrpSpPr>
        <p:grpSpPr>
          <a:xfrm>
            <a:off x="6098486" y="2719353"/>
            <a:ext cx="2946271" cy="636916"/>
            <a:chOff x="6321312" y="3880271"/>
            <a:chExt cx="3315854" cy="636916"/>
          </a:xfrm>
        </p:grpSpPr>
        <p:sp>
          <p:nvSpPr>
            <p:cNvPr id="36" name="직사각형 35">
              <a:extLst>
                <a:ext uri="{FF2B5EF4-FFF2-40B4-BE49-F238E27FC236}">
                  <a16:creationId xmlns:a16="http://schemas.microsoft.com/office/drawing/2014/main" id="{900C4380-D67C-1D16-33AC-E44DCC5B8F85}"/>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2" name="직사각형 41">
              <a:extLst>
                <a:ext uri="{FF2B5EF4-FFF2-40B4-BE49-F238E27FC236}">
                  <a16:creationId xmlns:a16="http://schemas.microsoft.com/office/drawing/2014/main" id="{4F1C9751-6E87-348A-93D2-E5B9AA4BF401}"/>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4" name="직사각형 43">
              <a:extLst>
                <a:ext uri="{FF2B5EF4-FFF2-40B4-BE49-F238E27FC236}">
                  <a16:creationId xmlns:a16="http://schemas.microsoft.com/office/drawing/2014/main" id="{22818226-95B9-12CB-A77C-3DC6C47E9114}"/>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46" name="그룹 45">
            <a:extLst>
              <a:ext uri="{FF2B5EF4-FFF2-40B4-BE49-F238E27FC236}">
                <a16:creationId xmlns:a16="http://schemas.microsoft.com/office/drawing/2014/main" id="{1B2901AC-8421-07E1-B759-0359A5F83D2A}"/>
              </a:ext>
            </a:extLst>
          </p:cNvPr>
          <p:cNvGrpSpPr/>
          <p:nvPr/>
        </p:nvGrpSpPr>
        <p:grpSpPr>
          <a:xfrm>
            <a:off x="6839669" y="3197222"/>
            <a:ext cx="2946271" cy="636916"/>
            <a:chOff x="6321312" y="3880271"/>
            <a:chExt cx="3315854" cy="636916"/>
          </a:xfrm>
        </p:grpSpPr>
        <p:sp>
          <p:nvSpPr>
            <p:cNvPr id="47" name="직사각형 46">
              <a:extLst>
                <a:ext uri="{FF2B5EF4-FFF2-40B4-BE49-F238E27FC236}">
                  <a16:creationId xmlns:a16="http://schemas.microsoft.com/office/drawing/2014/main" id="{972E61A9-C738-B591-252C-685C9958C59E}"/>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8" name="직사각형 47">
              <a:extLst>
                <a:ext uri="{FF2B5EF4-FFF2-40B4-BE49-F238E27FC236}">
                  <a16:creationId xmlns:a16="http://schemas.microsoft.com/office/drawing/2014/main" id="{927B379D-1C92-EC8B-198A-B77D5E4FE1CE}"/>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49" name="직사각형 48">
              <a:extLst>
                <a:ext uri="{FF2B5EF4-FFF2-40B4-BE49-F238E27FC236}">
                  <a16:creationId xmlns:a16="http://schemas.microsoft.com/office/drawing/2014/main" id="{BFCC0B5D-3ADF-5E47-BD33-CEE1F99E5016}"/>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grpSp>
        <p:nvGrpSpPr>
          <p:cNvPr id="50" name="그룹 49">
            <a:extLst>
              <a:ext uri="{FF2B5EF4-FFF2-40B4-BE49-F238E27FC236}">
                <a16:creationId xmlns:a16="http://schemas.microsoft.com/office/drawing/2014/main" id="{18CB0161-A4DE-16FA-F0E6-9D3B7E6AFB40}"/>
              </a:ext>
            </a:extLst>
          </p:cNvPr>
          <p:cNvGrpSpPr/>
          <p:nvPr/>
        </p:nvGrpSpPr>
        <p:grpSpPr>
          <a:xfrm>
            <a:off x="7573898" y="3734208"/>
            <a:ext cx="2946271" cy="636916"/>
            <a:chOff x="6321312" y="3880271"/>
            <a:chExt cx="3315854" cy="636916"/>
          </a:xfrm>
        </p:grpSpPr>
        <p:sp>
          <p:nvSpPr>
            <p:cNvPr id="51" name="직사각형 50">
              <a:extLst>
                <a:ext uri="{FF2B5EF4-FFF2-40B4-BE49-F238E27FC236}">
                  <a16:creationId xmlns:a16="http://schemas.microsoft.com/office/drawing/2014/main" id="{2A6D9CCA-C00A-900C-A0F7-C00623055840}"/>
                </a:ext>
              </a:extLst>
            </p:cNvPr>
            <p:cNvSpPr/>
            <p:nvPr/>
          </p:nvSpPr>
          <p:spPr>
            <a:xfrm>
              <a:off x="6321312" y="3880271"/>
              <a:ext cx="3011054" cy="332116"/>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2" name="직사각형 51">
              <a:extLst>
                <a:ext uri="{FF2B5EF4-FFF2-40B4-BE49-F238E27FC236}">
                  <a16:creationId xmlns:a16="http://schemas.microsoft.com/office/drawing/2014/main" id="{42ADC2EE-04AF-6E3C-72FD-EE66E5ADCA15}"/>
                </a:ext>
              </a:extLst>
            </p:cNvPr>
            <p:cNvSpPr/>
            <p:nvPr/>
          </p:nvSpPr>
          <p:spPr>
            <a:xfrm>
              <a:off x="6473712" y="4032671"/>
              <a:ext cx="3011054" cy="332116"/>
            </a:xfrm>
            <a:prstGeom prst="rect">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sp>
          <p:nvSpPr>
            <p:cNvPr id="53" name="직사각형 52">
              <a:extLst>
                <a:ext uri="{FF2B5EF4-FFF2-40B4-BE49-F238E27FC236}">
                  <a16:creationId xmlns:a16="http://schemas.microsoft.com/office/drawing/2014/main" id="{1545AFA9-4729-B3EC-D78D-5602985B2E70}"/>
                </a:ext>
              </a:extLst>
            </p:cNvPr>
            <p:cNvSpPr/>
            <p:nvPr/>
          </p:nvSpPr>
          <p:spPr>
            <a:xfrm>
              <a:off x="6626112" y="4185071"/>
              <a:ext cx="3011054" cy="332116"/>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en-US" altLang="ko-KR" sz="1200" dirty="0">
                  <a:solidFill>
                    <a:schemeClr val="tx1"/>
                  </a:solidFill>
                  <a:latin typeface="D2Coding" panose="020B0609020101020101" pitchFamily="49" charset="-127"/>
                  <a:ea typeface="D2Coding" panose="020B0609020101020101" pitchFamily="49" charset="-127"/>
                </a:rPr>
                <a:t>25.4, 24.3,……… 34.5, 33.3…</a:t>
              </a:r>
              <a:endParaRPr lang="ko-KR" altLang="en-US" sz="1200" dirty="0">
                <a:solidFill>
                  <a:schemeClr val="tx1"/>
                </a:solidFill>
                <a:latin typeface="D2Coding" panose="020B0609020101020101" pitchFamily="49" charset="-127"/>
                <a:ea typeface="D2Coding" panose="020B0609020101020101" pitchFamily="49" charset="-127"/>
              </a:endParaRPr>
            </a:p>
          </p:txBody>
        </p:sp>
      </p:grpSp>
      <p:sp>
        <p:nvSpPr>
          <p:cNvPr id="55" name="TextBox 54">
            <a:extLst>
              <a:ext uri="{FF2B5EF4-FFF2-40B4-BE49-F238E27FC236}">
                <a16:creationId xmlns:a16="http://schemas.microsoft.com/office/drawing/2014/main" id="{7CB97179-F8E8-E6F0-0A7E-C56220BACE27}"/>
              </a:ext>
            </a:extLst>
          </p:cNvPr>
          <p:cNvSpPr txBox="1"/>
          <p:nvPr/>
        </p:nvSpPr>
        <p:spPr>
          <a:xfrm>
            <a:off x="6658621" y="5623537"/>
            <a:ext cx="3990394" cy="523220"/>
          </a:xfrm>
          <a:prstGeom prst="rect">
            <a:avLst/>
          </a:prstGeom>
          <a:solidFill>
            <a:schemeClr val="tx1"/>
          </a:solidFill>
        </p:spPr>
        <p:txBody>
          <a:bodyPr wrap="square">
            <a:spAutoFit/>
          </a:bodyPr>
          <a:lstStyle/>
          <a:p>
            <a:pPr algn="ctr"/>
            <a:r>
              <a:rPr lang="en-US" altLang="ko-KR" sz="1400" dirty="0">
                <a:solidFill>
                  <a:schemeClr val="bg1"/>
                </a:solidFill>
                <a:latin typeface="D2Coding" panose="020B0609020101020101" pitchFamily="49" charset="-127"/>
                <a:ea typeface="D2Coding" panose="020B0609020101020101" pitchFamily="49" charset="-127"/>
              </a:rPr>
              <a:t>3D Timeseries</a:t>
            </a:r>
            <a:r>
              <a:rPr lang="ko-KR" altLang="en-US" sz="1400" dirty="0">
                <a:solidFill>
                  <a:schemeClr val="bg1"/>
                </a:solidFill>
                <a:latin typeface="D2Coding" panose="020B0609020101020101" pitchFamily="49" charset="-127"/>
                <a:ea typeface="D2Coding" panose="020B0609020101020101" pitchFamily="49" charset="-127"/>
              </a:rPr>
              <a:t> </a:t>
            </a:r>
            <a:r>
              <a:rPr lang="en-US" altLang="ko-KR" sz="1400" dirty="0">
                <a:solidFill>
                  <a:schemeClr val="bg1"/>
                </a:solidFill>
                <a:latin typeface="D2Coding" panose="020B0609020101020101" pitchFamily="49" charset="-127"/>
                <a:ea typeface="D2Coding" panose="020B0609020101020101" pitchFamily="49" charset="-127"/>
              </a:rPr>
              <a:t>Tensor</a:t>
            </a:r>
          </a:p>
          <a:p>
            <a:pPr algn="ctr"/>
            <a:r>
              <a:rPr lang="en-US" altLang="ko-KR" sz="1400" dirty="0">
                <a:solidFill>
                  <a:schemeClr val="bg1"/>
                </a:solidFill>
                <a:latin typeface="D2Coding" panose="020B0609020101020101" pitchFamily="49" charset="-127"/>
                <a:ea typeface="D2Coding" panose="020B0609020101020101" pitchFamily="49" charset="-127"/>
              </a:rPr>
              <a:t>(</a:t>
            </a:r>
            <a:r>
              <a:rPr lang="ko-KR" altLang="ko-KR" sz="1400" dirty="0">
                <a:solidFill>
                  <a:schemeClr val="bg1"/>
                </a:solidFill>
                <a:latin typeface="D2Coding" panose="020B0609020101020101" pitchFamily="49" charset="-127"/>
                <a:ea typeface="D2Coding" panose="020B0609020101020101" pitchFamily="49" charset="-127"/>
              </a:rPr>
              <a:t>10, 3, 365</a:t>
            </a:r>
            <a:r>
              <a:rPr lang="en-US" altLang="ko-KR" sz="1400" dirty="0">
                <a:solidFill>
                  <a:schemeClr val="bg1"/>
                </a:solidFill>
                <a:latin typeface="D2Coding" panose="020B0609020101020101" pitchFamily="49" charset="-127"/>
                <a:ea typeface="D2Coding" panose="020B0609020101020101" pitchFamily="49" charset="-127"/>
              </a:rPr>
              <a:t>) = (10</a:t>
            </a:r>
            <a:r>
              <a:rPr lang="ko-KR" altLang="en-US" sz="1400" dirty="0">
                <a:solidFill>
                  <a:schemeClr val="bg1"/>
                </a:solidFill>
                <a:latin typeface="D2Coding" panose="020B0609020101020101" pitchFamily="49" charset="-127"/>
                <a:ea typeface="D2Coding" panose="020B0609020101020101" pitchFamily="49" charset="-127"/>
              </a:rPr>
              <a:t>년</a:t>
            </a:r>
            <a:r>
              <a:rPr lang="en-US" altLang="ko-KR" sz="1400" dirty="0">
                <a:solidFill>
                  <a:schemeClr val="bg1"/>
                </a:solidFill>
                <a:latin typeface="D2Coding" panose="020B0609020101020101" pitchFamily="49" charset="-127"/>
                <a:ea typeface="D2Coding" panose="020B0609020101020101" pitchFamily="49" charset="-127"/>
              </a:rPr>
              <a:t>, 3</a:t>
            </a:r>
            <a:r>
              <a:rPr lang="ko-KR" altLang="en-US" sz="1400" dirty="0">
                <a:solidFill>
                  <a:schemeClr val="bg1"/>
                </a:solidFill>
                <a:latin typeface="D2Coding" panose="020B0609020101020101" pitchFamily="49" charset="-127"/>
                <a:ea typeface="D2Coding" panose="020B0609020101020101" pitchFamily="49" charset="-127"/>
              </a:rPr>
              <a:t>개 </a:t>
            </a:r>
            <a:r>
              <a:rPr lang="en-US" altLang="ko-KR" sz="1400" dirty="0">
                <a:solidFill>
                  <a:schemeClr val="bg1"/>
                </a:solidFill>
                <a:latin typeface="D2Coding" panose="020B0609020101020101" pitchFamily="49" charset="-127"/>
                <a:ea typeface="D2Coding" panose="020B0609020101020101" pitchFamily="49" charset="-127"/>
              </a:rPr>
              <a:t>Channel, 365</a:t>
            </a:r>
            <a:r>
              <a:rPr lang="ko-KR" altLang="en-US" sz="1400" dirty="0">
                <a:solidFill>
                  <a:schemeClr val="bg1"/>
                </a:solidFill>
                <a:latin typeface="D2Coding" panose="020B0609020101020101" pitchFamily="49" charset="-127"/>
                <a:ea typeface="D2Coding" panose="020B0609020101020101" pitchFamily="49" charset="-127"/>
              </a:rPr>
              <a:t>일</a:t>
            </a:r>
            <a:r>
              <a:rPr lang="en-US" altLang="ko-KR" sz="1400" dirty="0">
                <a:solidFill>
                  <a:schemeClr val="bg1"/>
                </a:solidFill>
                <a:latin typeface="D2Coding" panose="020B0609020101020101" pitchFamily="49" charset="-127"/>
                <a:ea typeface="D2Coding" panose="020B0609020101020101" pitchFamily="49" charset="-127"/>
              </a:rPr>
              <a:t>)</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57" name="TextBox 56">
            <a:extLst>
              <a:ext uri="{FF2B5EF4-FFF2-40B4-BE49-F238E27FC236}">
                <a16:creationId xmlns:a16="http://schemas.microsoft.com/office/drawing/2014/main" id="{CBB1551D-D2C7-E764-581E-1AD5C6A9436A}"/>
              </a:ext>
            </a:extLst>
          </p:cNvPr>
          <p:cNvSpPr txBox="1"/>
          <p:nvPr/>
        </p:nvSpPr>
        <p:spPr>
          <a:xfrm>
            <a:off x="6658621"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1D Convnet</a:t>
            </a:r>
            <a:endParaRPr lang="ko-KR" altLang="en-US" dirty="0">
              <a:solidFill>
                <a:schemeClr val="bg1"/>
              </a:solidFill>
            </a:endParaRPr>
          </a:p>
        </p:txBody>
      </p:sp>
      <p:sp>
        <p:nvSpPr>
          <p:cNvPr id="59" name="TextBox 58">
            <a:extLst>
              <a:ext uri="{FF2B5EF4-FFF2-40B4-BE49-F238E27FC236}">
                <a16:creationId xmlns:a16="http://schemas.microsoft.com/office/drawing/2014/main" id="{ED9B1B02-C4B8-A728-1D8B-A92106D5E056}"/>
              </a:ext>
            </a:extLst>
          </p:cNvPr>
          <p:cNvSpPr txBox="1"/>
          <p:nvPr/>
        </p:nvSpPr>
        <p:spPr>
          <a:xfrm>
            <a:off x="882300" y="5307112"/>
            <a:ext cx="135225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RNN</a:t>
            </a:r>
            <a:endParaRPr lang="ko-KR" altLang="en-US" dirty="0">
              <a:solidFill>
                <a:schemeClr val="bg1"/>
              </a:solidFill>
            </a:endParaRPr>
          </a:p>
        </p:txBody>
      </p:sp>
      <p:cxnSp>
        <p:nvCxnSpPr>
          <p:cNvPr id="61" name="직선 화살표 연결선 60">
            <a:extLst>
              <a:ext uri="{FF2B5EF4-FFF2-40B4-BE49-F238E27FC236}">
                <a16:creationId xmlns:a16="http://schemas.microsoft.com/office/drawing/2014/main" id="{99D9EF10-5E5C-B92C-0B5F-076B03A6ED6B}"/>
              </a:ext>
            </a:extLst>
          </p:cNvPr>
          <p:cNvCxnSpPr/>
          <p:nvPr/>
        </p:nvCxnSpPr>
        <p:spPr>
          <a:xfrm>
            <a:off x="5015345" y="3834138"/>
            <a:ext cx="88917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956410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B04EE-2644-EC70-C999-0B66D2DBC96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CDC5373-6B20-0263-9D7D-7CFF9FB4875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Strengths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of</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 </a:t>
            </a:r>
          </a:p>
        </p:txBody>
      </p:sp>
      <p:sp>
        <p:nvSpPr>
          <p:cNvPr id="2" name="슬라이드 번호 개체 틀 3">
            <a:extLst>
              <a:ext uri="{FF2B5EF4-FFF2-40B4-BE49-F238E27FC236}">
                <a16:creationId xmlns:a16="http://schemas.microsoft.com/office/drawing/2014/main" id="{7D2DD83A-878F-FF40-28DA-F6673ED2AF51}"/>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10" name="TextBox 9">
            <a:extLst>
              <a:ext uri="{FF2B5EF4-FFF2-40B4-BE49-F238E27FC236}">
                <a16:creationId xmlns:a16="http://schemas.microsoft.com/office/drawing/2014/main" id="{24337481-CA88-E348-2DE3-4E755CE750EC}"/>
              </a:ext>
            </a:extLst>
          </p:cNvPr>
          <p:cNvSpPr txBox="1"/>
          <p:nvPr/>
        </p:nvSpPr>
        <p:spPr>
          <a:xfrm>
            <a:off x="581630" y="1248422"/>
            <a:ext cx="11134725" cy="5183791"/>
          </a:xfrm>
          <a:prstGeom prst="rect">
            <a:avLst/>
          </a:prstGeom>
          <a:no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1. </a:t>
            </a:r>
            <a:r>
              <a:rPr lang="ko-KR" altLang="en-US" sz="1600" dirty="0">
                <a:latin typeface="D2Coding" panose="020B0609020101020101" pitchFamily="49" charset="-127"/>
                <a:ea typeface="D2Coding" panose="020B0609020101020101" pitchFamily="49" charset="-127"/>
              </a:rPr>
              <a:t>자동 특성 추출 </a:t>
            </a:r>
            <a:r>
              <a:rPr lang="en-US" altLang="ko-KR" sz="1600" dirty="0">
                <a:latin typeface="D2Coding" panose="020B0609020101020101" pitchFamily="49" charset="-127"/>
                <a:ea typeface="D2Coding" panose="020B0609020101020101" pitchFamily="49" charset="-127"/>
              </a:rPr>
              <a:t>(Automatic Feature Extraction)</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Moving Average</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5</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7</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 14</a:t>
            </a:r>
            <a:r>
              <a:rPr lang="ko-KR" altLang="en-US" sz="1400" dirty="0">
                <a:latin typeface="D2Coding" panose="020B0609020101020101" pitchFamily="49" charset="-127"/>
                <a:ea typeface="D2Coding" panose="020B0609020101020101" pitchFamily="49" charset="-127"/>
              </a:rPr>
              <a:t>일 등 지정된 기간 동안의 단순 평균값만 계산하므로 정보가 극도로 단축</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평탄화</a:t>
            </a:r>
            <a:r>
              <a:rPr lang="en-US" altLang="ko-KR" sz="1400" dirty="0">
                <a:latin typeface="D2Coding" panose="020B0609020101020101" pitchFamily="49" charset="-127"/>
                <a:ea typeface="D2Coding" panose="020B0609020101020101" pitchFamily="49" charset="-127"/>
              </a:rPr>
              <a:t>(Smoothing)</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급격한 변동</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골든크로스</a:t>
            </a:r>
            <a:r>
              <a:rPr lang="en-US" altLang="ko-KR" sz="1400" dirty="0">
                <a:latin typeface="D2Coding" panose="020B0609020101020101" pitchFamily="49" charset="-127"/>
                <a:ea typeface="D2Coding" panose="020B0609020101020101" pitchFamily="49" charset="-127"/>
              </a:rPr>
              <a:t>/</a:t>
            </a:r>
            <a:r>
              <a:rPr lang="ko-KR" altLang="en-US" sz="1400" dirty="0" err="1">
                <a:latin typeface="D2Coding" panose="020B0609020101020101" pitchFamily="49" charset="-127"/>
                <a:ea typeface="D2Coding" panose="020B0609020101020101" pitchFamily="49" charset="-127"/>
              </a:rPr>
              <a:t>데드크로스</a:t>
            </a:r>
            <a:r>
              <a:rPr lang="ko-KR" altLang="en-US" sz="1400" dirty="0">
                <a:latin typeface="D2Coding" panose="020B0609020101020101" pitchFamily="49" charset="-127"/>
                <a:ea typeface="D2Coding" panose="020B0609020101020101" pitchFamily="49" charset="-127"/>
              </a:rPr>
              <a:t> 형태</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변동성 패턴 등 복잡한 시상 패턴</a:t>
            </a:r>
            <a:r>
              <a:rPr lang="en-US" altLang="ko-KR" sz="1400" dirty="0">
                <a:latin typeface="D2Coding" panose="020B0609020101020101" pitchFamily="49" charset="-127"/>
                <a:ea typeface="D2Coding" panose="020B0609020101020101" pitchFamily="49" charset="-127"/>
              </a:rPr>
              <a:t>(Temporal Pattern)</a:t>
            </a:r>
            <a:r>
              <a:rPr lang="ko-KR" altLang="en-US" sz="1400" dirty="0">
                <a:latin typeface="D2Coding" panose="020B0609020101020101" pitchFamily="49" charset="-127"/>
                <a:ea typeface="D2Coding" panose="020B0609020101020101" pitchFamily="49" charset="-127"/>
              </a:rPr>
              <a:t>을 포착하지 못함</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필터</a:t>
            </a:r>
            <a:r>
              <a:rPr lang="en-US" altLang="ko-KR" sz="1400" dirty="0">
                <a:latin typeface="D2Coding" panose="020B0609020101020101" pitchFamily="49" charset="-127"/>
                <a:ea typeface="D2Coding" panose="020B0609020101020101" pitchFamily="49" charset="-127"/>
              </a:rPr>
              <a:t>(Filter)</a:t>
            </a:r>
            <a:r>
              <a:rPr lang="ko-KR" altLang="en-US" sz="1400" dirty="0">
                <a:latin typeface="D2Coding" panose="020B0609020101020101" pitchFamily="49" charset="-127"/>
                <a:ea typeface="D2Coding" panose="020B0609020101020101" pitchFamily="49" charset="-127"/>
              </a:rPr>
              <a:t>의 가중치가 학습 과정에서 최적화되면서 단순 평균이 아닌 최적의 패턴 </a:t>
            </a:r>
            <a:r>
              <a:rPr lang="ko-KR" altLang="en-US" sz="1400" dirty="0" err="1">
                <a:latin typeface="D2Coding" panose="020B0609020101020101" pitchFamily="49" charset="-127"/>
                <a:ea typeface="D2Coding" panose="020B0609020101020101" pitchFamily="49" charset="-127"/>
              </a:rPr>
              <a:t>추출기</a:t>
            </a:r>
            <a:r>
              <a:rPr lang="ko-KR" altLang="en-US" sz="1400" dirty="0">
                <a:latin typeface="D2Coding" panose="020B0609020101020101" pitchFamily="49" charset="-127"/>
                <a:ea typeface="D2Coding" panose="020B0609020101020101" pitchFamily="49" charset="-127"/>
              </a:rPr>
              <a:t> 역할을 수행</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상승</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하강 추세</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특정 급등락 모양</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모멘텀 등 다양한 국소적 비선형 패턴을 자동으로 탐지</a:t>
            </a: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다중 스케일</a:t>
            </a:r>
            <a:r>
              <a:rPr lang="en-US" altLang="ko-KR" sz="1600" dirty="0">
                <a:latin typeface="D2Coding" panose="020B0609020101020101" pitchFamily="49" charset="-127"/>
                <a:ea typeface="D2Coding" panose="020B0609020101020101" pitchFamily="49" charset="-127"/>
              </a:rPr>
              <a:t>(Multi-scale) </a:t>
            </a:r>
            <a:r>
              <a:rPr lang="ko-KR" altLang="en-US" sz="1600" dirty="0">
                <a:latin typeface="D2Coding" panose="020B0609020101020101" pitchFamily="49" charset="-127"/>
                <a:ea typeface="D2Coding" panose="020B0609020101020101" pitchFamily="49" charset="-127"/>
              </a:rPr>
              <a:t>국소 특징 동시 학습</a:t>
            </a: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MA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각 이동평균선을 따로 만들어 입력 변수로 넣더라도</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입장에서는 그저 단순 피처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개로 취급되어 피처 간 유기적 결합 학습이 제한적</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rPr>
              <a:t>1D </a:t>
            </a:r>
            <a:r>
              <a:rPr lang="en-US" altLang="ko-KR" sz="1600" dirty="0" err="1">
                <a:latin typeface="D2Coding" panose="020B0609020101020101" pitchFamily="49" charset="-127"/>
                <a:ea typeface="D2Coding" panose="020B0609020101020101" pitchFamily="49" charset="-127"/>
              </a:rPr>
              <a:t>ConvNet</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방식</a:t>
            </a:r>
            <a:r>
              <a:rPr lang="en-US" altLang="ko-KR" sz="1600" dirty="0">
                <a:latin typeface="D2Coding" panose="020B0609020101020101" pitchFamily="49" charset="-127"/>
                <a:ea typeface="D2Coding" panose="020B0609020101020101" pitchFamily="49" charset="-127"/>
              </a:rPr>
              <a:t>:</a:t>
            </a: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커널 크기</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kernel_size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3, 5, 7, 14)</a:t>
            </a:r>
            <a:r>
              <a:rPr lang="ko-KR" altLang="en-US" sz="1400" dirty="0">
                <a:latin typeface="D2Coding" panose="020B0609020101020101" pitchFamily="49" charset="-127"/>
                <a:ea typeface="D2Coding" panose="020B0609020101020101" pitchFamily="49" charset="-127"/>
              </a:rPr>
              <a:t>를 다르게 구성하여 </a:t>
            </a:r>
            <a:r>
              <a:rPr lang="ko-KR" altLang="en-US" sz="1400" dirty="0" err="1">
                <a:latin typeface="D2Coding" panose="020B0609020101020101" pitchFamily="49" charset="-127"/>
                <a:ea typeface="D2Coding" panose="020B0609020101020101" pitchFamily="49" charset="-127"/>
              </a:rPr>
              <a:t>초단기</a:t>
            </a:r>
            <a:r>
              <a:rPr lang="en-US" altLang="ko-KR" sz="1400" dirty="0">
                <a:latin typeface="D2Coding" panose="020B0609020101020101" pitchFamily="49" charset="-127"/>
                <a:ea typeface="D2Coding" panose="020B0609020101020101" pitchFamily="49" charset="-127"/>
              </a:rPr>
              <a:t>(3</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부터 </a:t>
            </a:r>
            <a:r>
              <a:rPr lang="ko-KR" altLang="en-US" sz="1400" dirty="0" err="1">
                <a:latin typeface="D2Coding" panose="020B0609020101020101" pitchFamily="49" charset="-127"/>
                <a:ea typeface="D2Coding" panose="020B0609020101020101" pitchFamily="49" charset="-127"/>
              </a:rPr>
              <a:t>중단기</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일</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까지의 서로 다른 주기적 패턴을 병렬로 동시 학습</a:t>
            </a:r>
            <a:endParaRPr lang="en-US" altLang="ko-KR" sz="1400" dirty="0">
              <a:latin typeface="D2Coding" panose="020B0609020101020101" pitchFamily="49" charset="-127"/>
              <a:ea typeface="D2Coding" panose="020B0609020101020101" pitchFamily="49" charset="-127"/>
            </a:endParaRPr>
          </a:p>
          <a:p>
            <a:pPr marL="1200150" lvl="2"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이후 </a:t>
            </a:r>
            <a:r>
              <a:rPr lang="en-US" altLang="ko-KR" sz="1400" dirty="0">
                <a:latin typeface="D2Coding" panose="020B0609020101020101" pitchFamily="49" charset="-127"/>
                <a:ea typeface="D2Coding" panose="020B0609020101020101" pitchFamily="49" charset="-127"/>
              </a:rPr>
              <a:t>Concatenate</a:t>
            </a:r>
            <a:r>
              <a:rPr lang="ko-KR" altLang="en-US" sz="1400" dirty="0">
                <a:latin typeface="D2Coding" panose="020B0609020101020101" pitchFamily="49" charset="-127"/>
                <a:ea typeface="D2Coding" panose="020B0609020101020101" pitchFamily="49" charset="-127"/>
              </a:rPr>
              <a:t> 단계를 통해 단기 및 </a:t>
            </a:r>
            <a:r>
              <a:rPr lang="ko-KR" altLang="en-US" sz="1400" dirty="0" err="1">
                <a:latin typeface="D2Coding" panose="020B0609020101020101" pitchFamily="49" charset="-127"/>
                <a:ea typeface="D2Coding" panose="020B0609020101020101" pitchFamily="49" charset="-127"/>
              </a:rPr>
              <a:t>중단기</a:t>
            </a:r>
            <a:r>
              <a:rPr lang="ko-KR" altLang="en-US" sz="1400" dirty="0">
                <a:latin typeface="D2Coding" panose="020B0609020101020101" pitchFamily="49" charset="-127"/>
                <a:ea typeface="D2Coding" panose="020B0609020101020101" pitchFamily="49" charset="-127"/>
              </a:rPr>
              <a:t> 특징의 상호작용</a:t>
            </a:r>
            <a:r>
              <a:rPr lang="en-US" altLang="ko-KR" sz="1400" dirty="0">
                <a:latin typeface="D2Coding" panose="020B0609020101020101" pitchFamily="49" charset="-127"/>
                <a:ea typeface="D2Coding" panose="020B0609020101020101" pitchFamily="49" charset="-127"/>
              </a:rPr>
              <a:t>(Interaction)</a:t>
            </a:r>
            <a:r>
              <a:rPr lang="ko-KR" altLang="en-US" sz="1400" dirty="0">
                <a:latin typeface="D2Coding" panose="020B0609020101020101" pitchFamily="49" charset="-127"/>
                <a:ea typeface="D2Coding" panose="020B0609020101020101" pitchFamily="49" charset="-127"/>
              </a:rPr>
              <a:t>을 고차원 표현으로 결합해 활용</a:t>
            </a:r>
            <a:endParaRPr lang="en-US" altLang="ko-KR" sz="14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7362819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BF7C-488E-F861-D370-934319EB3A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174C518-5F3D-E9BB-19B6-93251A6C835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E0FB1267-35A4-2FA1-34EC-BD0A506CA156}"/>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8" name="그림 7">
            <a:extLst>
              <a:ext uri="{FF2B5EF4-FFF2-40B4-BE49-F238E27FC236}">
                <a16:creationId xmlns:a16="http://schemas.microsoft.com/office/drawing/2014/main" id="{7438BB7B-1378-BF5D-CDF3-539725075822}"/>
              </a:ext>
            </a:extLst>
          </p:cNvPr>
          <p:cNvPicPr>
            <a:picLocks noChangeAspect="1"/>
          </p:cNvPicPr>
          <p:nvPr/>
        </p:nvPicPr>
        <p:blipFill>
          <a:blip r:embed="rId2"/>
          <a:stretch>
            <a:fillRect/>
          </a:stretch>
        </p:blipFill>
        <p:spPr>
          <a:xfrm>
            <a:off x="1266514" y="1367588"/>
            <a:ext cx="8115611" cy="5275146"/>
          </a:xfrm>
          <a:prstGeom prst="rect">
            <a:avLst/>
          </a:prstGeom>
        </p:spPr>
      </p:pic>
    </p:spTree>
    <p:extLst>
      <p:ext uri="{BB962C8B-B14F-4D97-AF65-F5344CB8AC3E}">
        <p14:creationId xmlns:p14="http://schemas.microsoft.com/office/powerpoint/2010/main" val="149117814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F7F48E-ED28-FDE3-A2CB-407DBB474C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B4A4EC-7ADD-3D20-6661-E99EE8CEC58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Convnet 1D</a:t>
            </a:r>
          </a:p>
        </p:txBody>
      </p:sp>
      <p:sp>
        <p:nvSpPr>
          <p:cNvPr id="2" name="슬라이드 번호 개체 틀 3">
            <a:extLst>
              <a:ext uri="{FF2B5EF4-FFF2-40B4-BE49-F238E27FC236}">
                <a16:creationId xmlns:a16="http://schemas.microsoft.com/office/drawing/2014/main" id="{ACB268DB-A4D8-9636-AB5E-F52DC069579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5" name="TextBox 4">
            <a:extLst>
              <a:ext uri="{FF2B5EF4-FFF2-40B4-BE49-F238E27FC236}">
                <a16:creationId xmlns:a16="http://schemas.microsoft.com/office/drawing/2014/main" id="{DE746333-6B63-F8FB-BB0E-7B3389279844}"/>
              </a:ext>
            </a:extLst>
          </p:cNvPr>
          <p:cNvSpPr txBox="1"/>
          <p:nvPr/>
        </p:nvSpPr>
        <p:spPr>
          <a:xfrm>
            <a:off x="581025" y="1451622"/>
            <a:ext cx="11029950" cy="4524315"/>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tensorflow.keras.layers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Conv1D, GlobalMaxPooling1D, </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Dense</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from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tensorflow.keras.models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import</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Model</a:t>
            </a:r>
            <a:endParaRPr lang="ko-KR" altLang="en-US" sz="1600" dirty="0">
              <a:latin typeface="D2Coding" panose="020B0609020101020101" pitchFamily="49" charset="-127"/>
              <a:ea typeface="D2Coding" panose="020B0609020101020101" pitchFamily="49" charset="-127"/>
            </a:endParaRP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shape</a:t>
            </a:r>
            <a:r>
              <a:rPr lang="ko-KR" altLang="en-US" sz="1600" dirty="0">
                <a:latin typeface="D2Coding" panose="020B0609020101020101" pitchFamily="49" charset="-127"/>
                <a:ea typeface="D2Coding" panose="020B0609020101020101" pitchFamily="49" charset="-127"/>
              </a:rPr>
              <a:t>=(365, 2))</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3일, 5일, 7일, 14일 패턴 병렬 </a:t>
            </a:r>
            <a:r>
              <a:rPr lang="ko-KR" altLang="en-US" sz="1600" dirty="0" err="1">
                <a:latin typeface="D2Coding" panose="020B0609020101020101" pitchFamily="49" charset="-127"/>
                <a:ea typeface="D2Coding" panose="020B0609020101020101" pitchFamily="49" charset="-127"/>
              </a:rPr>
              <a:t>Convolution</a:t>
            </a:r>
            <a:r>
              <a:rPr lang="ko-KR" altLang="en-US" sz="1600" dirty="0">
                <a:latin typeface="D2Coding" panose="020B0609020101020101" pitchFamily="49" charset="-127"/>
                <a:ea typeface="D2Coding" panose="020B0609020101020101" pitchFamily="49" charset="-127"/>
              </a:rPr>
              <a:t> &amp; Global </a:t>
            </a:r>
            <a:r>
              <a:rPr lang="ko-KR" altLang="en-US" sz="1600" dirty="0" err="1">
                <a:latin typeface="D2Coding" panose="020B0609020101020101" pitchFamily="49" charset="-127"/>
                <a:ea typeface="D2Coding" panose="020B0609020101020101" pitchFamily="49" charset="-127"/>
              </a:rPr>
              <a:t>Max</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Pooling</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b3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=3,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b5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=5,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b7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=7,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b14 = GlobalMaxPooling1D()(Conv1D(</a:t>
            </a:r>
            <a:r>
              <a:rPr lang="ko-KR" altLang="en-US" sz="1600" dirty="0" err="1">
                <a:latin typeface="D2Coding" panose="020B0609020101020101" pitchFamily="49" charset="-127"/>
                <a:ea typeface="D2Coding" panose="020B0609020101020101" pitchFamily="49" charset="-127"/>
              </a:rPr>
              <a:t>filters</a:t>
            </a:r>
            <a:r>
              <a:rPr lang="ko-KR" altLang="en-US" sz="1600" dirty="0">
                <a:latin typeface="D2Coding" panose="020B0609020101020101" pitchFamily="49" charset="-127"/>
                <a:ea typeface="D2Coding" panose="020B0609020101020101" pitchFamily="49" charset="-127"/>
              </a:rPr>
              <a:t>=32, </a:t>
            </a:r>
            <a:r>
              <a:rPr lang="ko-KR" altLang="en-US" sz="1600" dirty="0" err="1">
                <a:latin typeface="D2Coding" panose="020B0609020101020101" pitchFamily="49" charset="-127"/>
                <a:ea typeface="D2Coding" panose="020B0609020101020101" pitchFamily="49" charset="-127"/>
              </a:rPr>
              <a:t>kernel_size</a:t>
            </a:r>
            <a:r>
              <a:rPr lang="ko-KR" altLang="en-US" sz="1600" dirty="0">
                <a:latin typeface="D2Coding" panose="020B0609020101020101" pitchFamily="49" charset="-127"/>
                <a:ea typeface="D2Coding" panose="020B0609020101020101" pitchFamily="49" charset="-127"/>
              </a:rPr>
              <a:t>=14,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Branch</a:t>
            </a:r>
            <a:r>
              <a:rPr lang="ko-KR" altLang="en-US" sz="1600" dirty="0">
                <a:latin typeface="D2Coding" panose="020B0609020101020101" pitchFamily="49" charset="-127"/>
                <a:ea typeface="D2Coding" panose="020B0609020101020101" pitchFamily="49" charset="-127"/>
              </a:rPr>
              <a:t> 결과 결합 및 </a:t>
            </a:r>
            <a:r>
              <a:rPr lang="ko-KR" altLang="en-US" sz="1600" dirty="0" err="1">
                <a:latin typeface="D2Coding" panose="020B0609020101020101" pitchFamily="49" charset="-127"/>
                <a:ea typeface="D2Coding" panose="020B0609020101020101" pitchFamily="49" charset="-127"/>
              </a:rPr>
              <a:t>Fully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Connected</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Layers</a:t>
            </a:r>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(64,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relu</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Concatenate</a:t>
            </a:r>
            <a:r>
              <a:rPr lang="ko-KR" altLang="en-US" sz="1600" dirty="0">
                <a:latin typeface="D2Coding" panose="020B0609020101020101" pitchFamily="49" charset="-127"/>
                <a:ea typeface="D2Coding" panose="020B0609020101020101" pitchFamily="49" charset="-127"/>
              </a:rPr>
              <a:t>()([b3, b5, b7, b14]))</a:t>
            </a:r>
          </a:p>
          <a:p>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(1, </a:t>
            </a:r>
            <a:r>
              <a:rPr lang="ko-KR" altLang="en-US" sz="1600" dirty="0" err="1">
                <a:latin typeface="D2Coding" panose="020B0609020101020101" pitchFamily="49" charset="-127"/>
                <a:ea typeface="D2Coding" panose="020B0609020101020101" pitchFamily="49" charset="-127"/>
              </a:rPr>
              <a:t>activation</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sigmoid</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x</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a:latin typeface="D2Coding" panose="020B0609020101020101" pitchFamily="49" charset="-127"/>
                <a:ea typeface="D2Coding" panose="020B0609020101020101" pitchFamily="49" charset="-127"/>
              </a:rPr>
              <a:t># 모델 생성 및 컴파일</a:t>
            </a:r>
          </a:p>
          <a:p>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Model</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inputs</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outputs</a:t>
            </a:r>
            <a:r>
              <a:rPr lang="ko-KR" altLang="en-US" sz="1600" dirty="0">
                <a:latin typeface="D2Coding" panose="020B0609020101020101" pitchFamily="49" charset="-127"/>
                <a:ea typeface="D2Coding" panose="020B0609020101020101" pitchFamily="49" charset="-127"/>
              </a:rPr>
              <a:t>)</a:t>
            </a:r>
          </a:p>
          <a:p>
            <a:r>
              <a:rPr lang="ko-KR" altLang="en-US" sz="1600" dirty="0" err="1">
                <a:latin typeface="D2Coding" panose="020B0609020101020101" pitchFamily="49" charset="-127"/>
                <a:ea typeface="D2Coding" panose="020B0609020101020101" pitchFamily="49" charset="-127"/>
              </a:rPr>
              <a:t>model.compile</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optimizer</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adam</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loss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binary_crossentropy</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metrics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accuracy</a:t>
            </a:r>
            <a:r>
              <a:rPr lang="ko-KR" altLang="en-US" sz="1600" dirty="0">
                <a:latin typeface="D2Coding" panose="020B0609020101020101" pitchFamily="49" charset="-127"/>
                <a:ea typeface="D2Coding" panose="020B0609020101020101" pitchFamily="49" charset="-127"/>
              </a:rPr>
              <a:t>', 'AUC'])</a:t>
            </a:r>
          </a:p>
        </p:txBody>
      </p:sp>
    </p:spTree>
    <p:extLst>
      <p:ext uri="{BB962C8B-B14F-4D97-AF65-F5344CB8AC3E}">
        <p14:creationId xmlns:p14="http://schemas.microsoft.com/office/powerpoint/2010/main" val="251195729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531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오디오 파형이나 텍스트처럼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패턴이 어디서 나타나든 같은 의미를 가지는</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데이터에 적합</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강아지 이미지가 왼쪽</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오른쪽</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 아래에 있든 똑같이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강아지</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로 인식하여 데이터의 본질은 변하지 않음</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표현이 글의 맨 앞에 나오든 맨 뒤에 나오든 </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사과가 맛있다</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날씨데이터는 평행이동 불변성</a:t>
            </a:r>
            <a:r>
              <a:rPr lang="en-US" altLang="ko-KR" sz="1400" dirty="0">
                <a:latin typeface="D2Coding" panose="020B0609020101020101" pitchFamily="49" charset="-127"/>
                <a:ea typeface="D2Coding" panose="020B0609020101020101" pitchFamily="49" charset="-127"/>
              </a:rPr>
              <a:t>(Translation Invariance)</a:t>
            </a:r>
            <a:r>
              <a:rPr lang="ko-KR" altLang="en-US" sz="1400" dirty="0">
                <a:latin typeface="D2Coding" panose="020B0609020101020101" pitchFamily="49" charset="-127"/>
                <a:ea typeface="D2Coding" panose="020B0609020101020101" pitchFamily="49" charset="-127"/>
              </a:rPr>
              <a:t>에 적합하지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어느 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공간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어느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에서 발생하더라도 그 본질적인 의미나 성질이 변하지 않고 일정하게 유지되는 성질은</a:t>
            </a:r>
            <a:r>
              <a:rPr lang="en-US" altLang="ko-KR" sz="1200" dirty="0">
                <a:latin typeface="D2Coding" panose="020B0609020101020101" pitchFamily="49" charset="-127"/>
                <a:ea typeface="D2Coding" panose="020B0609020101020101" pitchFamily="49" charset="-127"/>
              </a:rPr>
              <a:t> </a:t>
            </a:r>
            <a:r>
              <a:rPr lang="ko-KR" altLang="en-US" sz="1200" dirty="0">
                <a:latin typeface="D2Coding" panose="020B0609020101020101" pitchFamily="49" charset="-127"/>
                <a:ea typeface="D2Coding" panose="020B0609020101020101" pitchFamily="49" charset="-127"/>
              </a:rPr>
              <a:t>불필요함</a:t>
            </a:r>
            <a:endParaRPr lang="en-US" altLang="ko-KR" sz="12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200" dirty="0">
                <a:latin typeface="D2Coding" panose="020B0609020101020101" pitchFamily="49" charset="-127"/>
                <a:ea typeface="D2Coding" panose="020B0609020101020101" pitchFamily="49" charset="-127"/>
              </a:rPr>
              <a:t>위치</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지역</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나 시점</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계절</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시간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따라 데이터가 가지는 의미와 맥락이 완전히 달라지기 때문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기온 </a:t>
            </a:r>
            <a:r>
              <a:rPr lang="en-US" altLang="ko-KR" sz="1200" dirty="0">
                <a:latin typeface="D2Coding" panose="020B0609020101020101" pitchFamily="49" charset="-127"/>
                <a:ea typeface="D2Coding" panose="020B0609020101020101" pitchFamily="49" charset="-127"/>
              </a:rPr>
              <a:t>30</a:t>
            </a:r>
            <a:r>
              <a:rPr lang="ko-KR" altLang="en-US" sz="1200" dirty="0">
                <a:latin typeface="D2Coding" panose="020B0609020101020101" pitchFamily="49" charset="-127"/>
                <a:ea typeface="D2Coding" panose="020B0609020101020101" pitchFamily="49" charset="-127"/>
              </a:rPr>
              <a:t>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가 적도 지역과 북극 지역에서 나타나는 것은 완전히 다른 의미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이상 기후 등</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이며 </a:t>
            </a:r>
            <a:r>
              <a:rPr lang="en-US" altLang="ko-KR" sz="1200" dirty="0">
                <a:latin typeface="D2Coding" panose="020B0609020101020101" pitchFamily="49" charset="-127"/>
                <a:ea typeface="D2Coding" panose="020B0609020101020101" pitchFamily="49" charset="-127"/>
              </a:rPr>
              <a:t>7</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여름</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것과 </a:t>
            </a:r>
            <a:r>
              <a:rPr lang="en-US" altLang="ko-KR" sz="1200" dirty="0">
                <a:latin typeface="D2Coding" panose="020B0609020101020101" pitchFamily="49" charset="-127"/>
                <a:ea typeface="D2Coding" panose="020B0609020101020101" pitchFamily="49" charset="-127"/>
              </a:rPr>
              <a:t>1</a:t>
            </a:r>
            <a:r>
              <a:rPr lang="ko-KR" altLang="en-US" sz="1200" dirty="0">
                <a:latin typeface="D2Coding" panose="020B0609020101020101" pitchFamily="49" charset="-127"/>
                <a:ea typeface="D2Coding" panose="020B0609020101020101" pitchFamily="49" charset="-127"/>
              </a:rPr>
              <a:t>월</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겨울</a:t>
            </a:r>
            <a:r>
              <a:rPr lang="en-US" altLang="ko-KR" sz="1200" dirty="0">
                <a:latin typeface="D2Coding" panose="020B0609020101020101" pitchFamily="49" charset="-127"/>
                <a:ea typeface="D2Coding" panose="020B0609020101020101" pitchFamily="49" charset="-127"/>
              </a:rPr>
              <a:t>)</a:t>
            </a:r>
            <a:r>
              <a:rPr lang="ko-KR" altLang="en-US" sz="1200" dirty="0">
                <a:latin typeface="D2Coding" panose="020B0609020101020101" pitchFamily="49" charset="-127"/>
                <a:ea typeface="D2Coding" panose="020B0609020101020101" pitchFamily="49" charset="-127"/>
              </a:rPr>
              <a:t>에 나타나는 것은 맥락이 완전히 다름</a:t>
            </a:r>
            <a:r>
              <a:rPr lang="en-US" altLang="ko-KR" sz="1200" dirty="0">
                <a:latin typeface="D2Coding" panose="020B0609020101020101" pitchFamily="49" charset="-127"/>
                <a:ea typeface="D2Coding" panose="020B0609020101020101" pitchFamily="49" charset="-127"/>
              </a:rPr>
              <a:t>  </a:t>
            </a:r>
            <a:endParaRPr lang="ko-KR" altLang="en-US" sz="12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37854494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1906410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28445234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AE5B3-1A78-A996-7E41-07BAE1EE7C3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A4AB4BE-5274-D605-EB3B-1F0EC30803BB}"/>
              </a:ext>
            </a:extLst>
          </p:cNvPr>
          <p:cNvSpPr>
            <a:spLocks noGrp="1"/>
          </p:cNvSpPr>
          <p:nvPr>
            <p:ph type="ctrTitle"/>
          </p:nvPr>
        </p:nvSpPr>
        <p:spPr>
          <a:xfrm>
            <a:off x="838199" y="1164324"/>
            <a:ext cx="10934701" cy="2387600"/>
          </a:xfrm>
        </p:spPr>
        <p:txBody>
          <a:bodyPr rtlCol="0" anchor="ctr" anchorCtr="0">
            <a:normAutofit/>
          </a:bodyPr>
          <a:lstStyle/>
          <a:p>
            <a:pPr>
              <a:lnSpc>
                <a:spcPct val="150000"/>
              </a:lnSpc>
            </a:pPr>
            <a:r>
              <a:rPr lang="en-US" altLang="ko-KR" sz="5400" dirty="0">
                <a:solidFill>
                  <a:schemeClr val="bg1"/>
                </a:solidFill>
                <a:latin typeface="D2Coding" panose="020B0609020101020101" pitchFamily="49" charset="-127"/>
                <a:ea typeface="D2Coding" panose="020B0609020101020101" pitchFamily="49" charset="-127"/>
              </a:rPr>
              <a:t>Anomaly Detection with AE, VAE</a:t>
            </a:r>
            <a:endParaRPr lang="ko-KR" altLang="en-US" sz="4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31339289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99333-73CE-BB31-0BD2-CBD390E430F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F4F3051-92D8-549A-D274-C22C510ECE8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47A24271-33E7-74D6-47A4-A4CE436008BF}"/>
              </a:ext>
            </a:extLst>
          </p:cNvPr>
          <p:cNvSpPr txBox="1"/>
          <p:nvPr/>
        </p:nvSpPr>
        <p:spPr>
          <a:xfrm>
            <a:off x="561975" y="1390619"/>
            <a:ext cx="3775393" cy="400110"/>
          </a:xfrm>
          <a:prstGeom prst="rect">
            <a:avLst/>
          </a:prstGeom>
          <a:noFill/>
        </p:spPr>
        <p:txBody>
          <a:bodyPr wrap="none" rtlCol="0">
            <a:spAutoFit/>
          </a:bodyPr>
          <a:lstStyle/>
          <a:p>
            <a:r>
              <a:rPr lang="en-US" altLang="ko-KR" sz="2000" dirty="0" err="1">
                <a:latin typeface="D2Coding" panose="020B0609020101020101" pitchFamily="49" charset="-127"/>
                <a:ea typeface="D2Coding" panose="020B0609020101020101" pitchFamily="49" charset="-127"/>
                <a:hlinkClick r:id="rId2"/>
              </a:rPr>
              <a:t>Timeseries_anomaly_detection</a:t>
            </a:r>
            <a:endParaRPr lang="en-US" altLang="ko-KR" sz="2000" dirty="0">
              <a:latin typeface="D2Coding" panose="020B0609020101020101" pitchFamily="49" charset="-127"/>
              <a:ea typeface="D2Coding" panose="020B0609020101020101" pitchFamily="49" charset="-127"/>
            </a:endParaRPr>
          </a:p>
        </p:txBody>
      </p:sp>
      <p:pic>
        <p:nvPicPr>
          <p:cNvPr id="28674" name="Picture 2" descr="png">
            <a:extLst>
              <a:ext uri="{FF2B5EF4-FFF2-40B4-BE49-F238E27FC236}">
                <a16:creationId xmlns:a16="http://schemas.microsoft.com/office/drawing/2014/main" id="{C2C98C34-52E5-5611-B6EA-87D0ADC17BA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7134" y="1561751"/>
            <a:ext cx="5715000" cy="4814266"/>
          </a:xfrm>
          <a:prstGeom prst="rect">
            <a:avLst/>
          </a:prstGeom>
          <a:noFill/>
          <a:extLst>
            <a:ext uri="{909E8E84-426E-40DD-AFC4-6F175D3DCCD1}">
              <a14:hiddenFill xmlns:a14="http://schemas.microsoft.com/office/drawing/2010/main">
                <a:solidFill>
                  <a:srgbClr val="FFFFFF"/>
                </a:solidFill>
              </a14:hiddenFill>
            </a:ext>
          </a:extLst>
        </p:spPr>
      </p:pic>
      <p:pic>
        <p:nvPicPr>
          <p:cNvPr id="5" name="그래픽 4" descr="본문 작성기">
            <a:extLst>
              <a:ext uri="{FF2B5EF4-FFF2-40B4-BE49-F238E27FC236}">
                <a16:creationId xmlns:a16="http://schemas.microsoft.com/office/drawing/2014/main" id="{C82E35D8-6752-158C-9F54-4BEAC76B14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9203785F-22DE-3CB4-9674-1CB3A288B863}"/>
              </a:ext>
            </a:extLst>
          </p:cNvPr>
          <p:cNvSpPr txBox="1"/>
          <p:nvPr/>
        </p:nvSpPr>
        <p:spPr>
          <a:xfrm>
            <a:off x="561975" y="1932926"/>
            <a:ext cx="4162425" cy="2644635"/>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공식 예제 튜토리얼</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Code Examples)</a:t>
            </a:r>
            <a:r>
              <a:rPr lang="ko-KR" altLang="en-US" sz="1400" dirty="0">
                <a:latin typeface="D2Coding" panose="020B0609020101020101" pitchFamily="49" charset="-127"/>
                <a:ea typeface="D2Coding" panose="020B0609020101020101" pitchFamily="49" charset="-127"/>
              </a:rPr>
              <a:t>인 </a:t>
            </a:r>
            <a:r>
              <a:rPr lang="en-US" altLang="ko-KR" sz="1400" dirty="0">
                <a:latin typeface="D2Coding" panose="020B0609020101020101" pitchFamily="49" charset="-127"/>
                <a:ea typeface="D2Coding" panose="020B0609020101020101" pitchFamily="49" charset="-127"/>
                <a:hlinkClick r:id="rId2"/>
              </a:rPr>
              <a:t>"Timeseries anomaly detection using an Autoencoder"</a:t>
            </a:r>
            <a:r>
              <a:rPr lang="ko-KR" altLang="en-US" sz="1400" dirty="0">
                <a:latin typeface="D2Coding" panose="020B0609020101020101" pitchFamily="49" charset="-127"/>
                <a:ea typeface="D2Coding" panose="020B0609020101020101" pitchFamily="49" charset="-127"/>
              </a:rPr>
              <a:t> 코드</a:t>
            </a: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400" dirty="0" err="1">
                <a:latin typeface="D2Coding" panose="020B0609020101020101" pitchFamily="49" charset="-127"/>
                <a:ea typeface="D2Coding" panose="020B0609020101020101" pitchFamily="49" charset="-127"/>
              </a:rPr>
              <a:t>Keras</a:t>
            </a:r>
            <a:r>
              <a:rPr lang="ko-KR" altLang="en-US" sz="1400" dirty="0">
                <a:latin typeface="D2Coding" panose="020B0609020101020101" pitchFamily="49" charset="-127"/>
                <a:ea typeface="D2Coding" panose="020B0609020101020101" pitchFamily="49" charset="-127"/>
              </a:rPr>
              <a:t>의 창시자인 프랑소와 </a:t>
            </a:r>
            <a:r>
              <a:rPr lang="ko-KR" altLang="en-US" sz="1400" dirty="0" err="1">
                <a:latin typeface="D2Coding" panose="020B0609020101020101" pitchFamily="49" charset="-127"/>
                <a:ea typeface="D2Coding" panose="020B0609020101020101" pitchFamily="49" charset="-127"/>
              </a:rPr>
              <a:t>숄레</a:t>
            </a:r>
            <a:r>
              <a:rPr lang="en-US" altLang="ko-KR" sz="1400" dirty="0">
                <a:latin typeface="D2Coding" panose="020B0609020101020101" pitchFamily="49" charset="-127"/>
                <a:ea typeface="D2Coding" panose="020B0609020101020101" pitchFamily="49" charset="-127"/>
              </a:rPr>
              <a:t>(François Chollet) </a:t>
            </a:r>
            <a:r>
              <a:rPr lang="ko-KR" altLang="en-US" sz="1400" dirty="0">
                <a:latin typeface="D2Coding" panose="020B0609020101020101" pitchFamily="49" charset="-127"/>
                <a:ea typeface="D2Coding" panose="020B0609020101020101" pitchFamily="49" charset="-127"/>
              </a:rPr>
              <a:t>및 공식 </a:t>
            </a:r>
            <a:r>
              <a:rPr lang="ko-KR" altLang="en-US" sz="1400" dirty="0" err="1">
                <a:latin typeface="D2Coding" panose="020B0609020101020101" pitchFamily="49" charset="-127"/>
                <a:ea typeface="D2Coding" panose="020B0609020101020101" pitchFamily="49" charset="-127"/>
              </a:rPr>
              <a:t>기여진</a:t>
            </a:r>
            <a:r>
              <a:rPr lang="en-US" altLang="ko-KR" sz="1400" dirty="0">
                <a:latin typeface="D2Coding" panose="020B0609020101020101" pitchFamily="49" charset="-127"/>
                <a:ea typeface="D2Coding" panose="020B0609020101020101" pitchFamily="49" charset="-127"/>
              </a:rPr>
              <a:t>(Pavithra Vijay)</a:t>
            </a:r>
            <a:r>
              <a:rPr lang="ko-KR" altLang="en-US" sz="1400" dirty="0">
                <a:latin typeface="D2Coding" panose="020B0609020101020101" pitchFamily="49" charset="-127"/>
                <a:ea typeface="D2Coding" panose="020B0609020101020101" pitchFamily="49" charset="-127"/>
              </a:rPr>
              <a:t>이 제작한 이 공식 예제 코드</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국내외 수많은 </a:t>
            </a:r>
            <a:r>
              <a:rPr lang="ko-KR" altLang="en-US" sz="1400" b="1" dirty="0">
                <a:latin typeface="D2Coding" panose="020B0609020101020101" pitchFamily="49" charset="-127"/>
                <a:ea typeface="D2Coding" panose="020B0609020101020101" pitchFamily="49" charset="-127"/>
              </a:rPr>
              <a:t>딥러닝</a:t>
            </a:r>
            <a:r>
              <a:rPr lang="en-US" altLang="ko-KR" sz="1400" b="1" dirty="0">
                <a:latin typeface="D2Coding" panose="020B0609020101020101" pitchFamily="49" charset="-127"/>
                <a:ea typeface="D2Coding" panose="020B0609020101020101" pitchFamily="49" charset="-127"/>
              </a:rPr>
              <a:t>/</a:t>
            </a:r>
            <a:r>
              <a:rPr lang="ko-KR" altLang="en-US" sz="1400" b="1" dirty="0">
                <a:latin typeface="D2Coding" panose="020B0609020101020101" pitchFamily="49" charset="-127"/>
                <a:ea typeface="D2Coding" panose="020B0609020101020101" pitchFamily="49" charset="-127"/>
              </a:rPr>
              <a:t>시계열 교재 및 인강 강의</a:t>
            </a:r>
            <a:r>
              <a:rPr lang="ko-KR" altLang="en-US" sz="1400" dirty="0">
                <a:latin typeface="D2Coding" panose="020B0609020101020101" pitchFamily="49" charset="-127"/>
                <a:ea typeface="D2Coding" panose="020B0609020101020101" pitchFamily="49" charset="-127"/>
              </a:rPr>
              <a:t>에서 시계열 이상 탐지의 표준 예제</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AFFB4535-EB17-BF93-971E-E63D5E01C0C6}"/>
              </a:ext>
            </a:extLst>
          </p:cNvPr>
          <p:cNvSpPr txBox="1"/>
          <p:nvPr/>
        </p:nvSpPr>
        <p:spPr>
          <a:xfrm>
            <a:off x="561975" y="6148882"/>
            <a:ext cx="6096000" cy="369332"/>
          </a:xfrm>
          <a:prstGeom prst="rect">
            <a:avLst/>
          </a:prstGeom>
          <a:noFill/>
        </p:spPr>
        <p:txBody>
          <a:bodyPr wrap="square">
            <a:spAutoFit/>
          </a:bodyPr>
          <a:lstStyle/>
          <a:p>
            <a:r>
              <a:rPr lang="en-US" altLang="ko-KR" sz="1800" dirty="0">
                <a:latin typeface="D2Coding" panose="020B0609020101020101" pitchFamily="49" charset="-127"/>
                <a:ea typeface="D2Coding" panose="020B0609020101020101" pitchFamily="49" charset="-127"/>
                <a:hlinkClick r:id="rId6"/>
              </a:rPr>
              <a:t>AI-with-python</a:t>
            </a:r>
            <a:endParaRPr lang="ko-KR" altLang="en-US" sz="18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92949475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BB13F0-E02B-1045-51FB-989F0FE7193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B9B3B85-5E52-9230-DD95-4F3B089BF07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B0D8A624-4058-8026-A73F-C5213C059A3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6" name="TextBox 5">
            <a:extLst>
              <a:ext uri="{FF2B5EF4-FFF2-40B4-BE49-F238E27FC236}">
                <a16:creationId xmlns:a16="http://schemas.microsoft.com/office/drawing/2014/main" id="{744D28E1-77DA-DB1C-B399-F4CF67311ED3}"/>
              </a:ext>
            </a:extLst>
          </p:cNvPr>
          <p:cNvSpPr txBox="1"/>
          <p:nvPr/>
        </p:nvSpPr>
        <p:spPr>
          <a:xfrm>
            <a:off x="581543" y="1913206"/>
            <a:ext cx="5343007" cy="460959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keras.Sequential</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[1], </a:t>
            </a:r>
          </a:p>
          <a:p>
            <a:pPr>
              <a:lnSpc>
                <a:spcPts val="1575"/>
              </a:lnSpc>
              <a:buNone/>
            </a:pPr>
            <a:r>
              <a:rPr lang="en-US" altLang="ko-KR" sz="1600" dirty="0">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x_train.shape</a:t>
            </a:r>
            <a:r>
              <a:rPr lang="en-US" altLang="ko-KR" sz="1600" b="0" dirty="0">
                <a:effectLst/>
                <a:latin typeface="D2Coding" panose="020B0609020101020101" pitchFamily="49" charset="-127"/>
                <a:ea typeface="D2Coding" panose="020B0609020101020101" pitchFamily="49" charset="-127"/>
              </a:rPr>
              <a:t>[2])),</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filters=32,</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(rate=0.2),</a:t>
            </a:r>
          </a:p>
          <a:p>
            <a:pPr>
              <a:lnSpc>
                <a:spcPts val="1575"/>
              </a:lnSpc>
              <a:buNone/>
            </a:pPr>
            <a:r>
              <a:rPr lang="en-US" altLang="ko-KR" sz="1600" b="0" dirty="0">
                <a:effectLst/>
                <a:latin typeface="D2Coding" panose="020B0609020101020101" pitchFamily="49" charset="-127"/>
                <a:ea typeface="D2Coding" panose="020B0609020101020101" pitchFamily="49" charset="-127"/>
              </a:rPr>
              <a:t>        layers.Conv1D(</a:t>
            </a:r>
          </a:p>
          <a:p>
            <a:pPr>
              <a:lnSpc>
                <a:spcPts val="1575"/>
              </a:lnSpc>
              <a:buNone/>
            </a:pPr>
            <a:r>
              <a:rPr lang="en-US" altLang="ko-KR" sz="1600" b="0" dirty="0">
                <a:effectLst/>
                <a:latin typeface="D2Coding" panose="020B0609020101020101" pitchFamily="49" charset="-127"/>
                <a:ea typeface="D2Coding" panose="020B0609020101020101" pitchFamily="49" charset="-127"/>
              </a:rPr>
              <a:t>            filters=16,</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kernel_size</a:t>
            </a:r>
            <a:r>
              <a:rPr lang="en-US" altLang="ko-KR" sz="1600" b="0" dirty="0">
                <a:effectLst/>
                <a:latin typeface="D2Coding" panose="020B0609020101020101" pitchFamily="49" charset="-127"/>
                <a:ea typeface="D2Coding" panose="020B0609020101020101" pitchFamily="49" charset="-127"/>
              </a:rPr>
              <a:t>=7,</a:t>
            </a:r>
          </a:p>
          <a:p>
            <a:pPr>
              <a:lnSpc>
                <a:spcPts val="1575"/>
              </a:lnSpc>
              <a:buNone/>
            </a:pPr>
            <a:r>
              <a:rPr lang="en-US" altLang="ko-KR" sz="1600" b="0" dirty="0">
                <a:effectLst/>
                <a:latin typeface="D2Coding" panose="020B0609020101020101" pitchFamily="49" charset="-127"/>
                <a:ea typeface="D2Coding" panose="020B0609020101020101" pitchFamily="49" charset="-127"/>
              </a:rPr>
              <a:t>            padding="same",</a:t>
            </a:r>
          </a:p>
          <a:p>
            <a:pPr>
              <a:lnSpc>
                <a:spcPts val="1575"/>
              </a:lnSpc>
              <a:buNone/>
            </a:pPr>
            <a:r>
              <a:rPr lang="en-US" altLang="ko-KR" sz="1600" b="0" dirty="0">
                <a:effectLst/>
                <a:latin typeface="D2Coding" panose="020B0609020101020101" pitchFamily="49" charset="-127"/>
                <a:ea typeface="D2Coding" panose="020B0609020101020101" pitchFamily="49" charset="-127"/>
              </a:rPr>
              <a:t>            strides=2,</a:t>
            </a:r>
          </a:p>
          <a:p>
            <a:pPr>
              <a:lnSpc>
                <a:spcPts val="1575"/>
              </a:lnSpc>
              <a:buNone/>
            </a:pPr>
            <a:r>
              <a:rPr lang="en-US" altLang="ko-KR" sz="1600" b="0" dirty="0">
                <a:effectLst/>
                <a:latin typeface="D2Coding" panose="020B0609020101020101" pitchFamily="49" charset="-127"/>
                <a:ea typeface="D2Coding" panose="020B0609020101020101" pitchFamily="49" charset="-127"/>
              </a:rPr>
              <a:t>            activation="</a:t>
            </a:r>
            <a:r>
              <a:rPr lang="en-US" altLang="ko-KR" sz="1600" b="0" dirty="0" err="1">
                <a:effectLst/>
                <a:latin typeface="D2Coding" panose="020B0609020101020101" pitchFamily="49" charset="-127"/>
                <a:ea typeface="D2Coding" panose="020B0609020101020101" pitchFamily="49" charset="-127"/>
              </a:rPr>
              <a:t>relu</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p>
        </p:txBody>
      </p:sp>
      <p:sp>
        <p:nvSpPr>
          <p:cNvPr id="8" name="TextBox 7">
            <a:extLst>
              <a:ext uri="{FF2B5EF4-FFF2-40B4-BE49-F238E27FC236}">
                <a16:creationId xmlns:a16="http://schemas.microsoft.com/office/drawing/2014/main" id="{4D587B2E-C0D6-A7A1-9B0C-FF100E202028}"/>
              </a:ext>
            </a:extLst>
          </p:cNvPr>
          <p:cNvSpPr txBox="1"/>
          <p:nvPr/>
        </p:nvSpPr>
        <p:spPr>
          <a:xfrm>
            <a:off x="6239394" y="1916412"/>
            <a:ext cx="5371063" cy="4609595"/>
          </a:xfrm>
          <a:prstGeom prst="rect">
            <a:avLst/>
          </a:prstGeom>
          <a:solidFill>
            <a:srgbClr val="76E3FF"/>
          </a:solidFill>
        </p:spPr>
        <p:txBody>
          <a:bodyPr wrap="square">
            <a:spAutoFit/>
          </a:bodyPr>
          <a:lstStyle/>
          <a:p>
            <a:pPr>
              <a:lnSpc>
                <a:spcPts val="1575"/>
              </a:lnSpc>
            </a:pPr>
            <a:r>
              <a:rPr lang="en-US" altLang="ko-KR" sz="1600" dirty="0">
                <a:latin typeface="D2Coding" panose="020B0609020101020101" pitchFamily="49" charset="-127"/>
                <a:ea typeface="D2Coding" panose="020B0609020101020101" pitchFamily="49" charset="-127"/>
              </a:rPr>
              <a:t>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filters=16,</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layers.Dropout</a:t>
            </a:r>
            <a:r>
              <a:rPr lang="en-US" altLang="ko-KR" sz="1600" dirty="0">
                <a:latin typeface="D2Coding" panose="020B0609020101020101" pitchFamily="49" charset="-127"/>
                <a:ea typeface="D2Coding" panose="020B0609020101020101" pitchFamily="49" charset="-127"/>
              </a:rPr>
              <a:t>(rate=0.2),</a:t>
            </a:r>
          </a:p>
          <a:p>
            <a:pPr>
              <a:lnSpc>
                <a:spcPts val="1575"/>
              </a:lnSpc>
            </a:pPr>
            <a:r>
              <a:rPr lang="en-US" altLang="ko-KR" sz="1600" dirty="0">
                <a:latin typeface="D2Coding" panose="020B0609020101020101" pitchFamily="49" charset="-127"/>
                <a:ea typeface="D2Coding" panose="020B0609020101020101" pitchFamily="49" charset="-127"/>
              </a:rPr>
              <a:t>        layers.Conv1DTranspose(</a:t>
            </a:r>
          </a:p>
          <a:p>
            <a:pPr>
              <a:lnSpc>
                <a:spcPts val="1575"/>
              </a:lnSpc>
            </a:pPr>
            <a:r>
              <a:rPr lang="en-US" altLang="ko-KR" sz="1600" dirty="0">
                <a:latin typeface="D2Coding" panose="020B0609020101020101" pitchFamily="49" charset="-127"/>
                <a:ea typeface="D2Coding" panose="020B0609020101020101" pitchFamily="49" charset="-127"/>
              </a:rPr>
              <a:t>            filters=32,</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strides=2,</a:t>
            </a:r>
          </a:p>
          <a:p>
            <a:pPr>
              <a:lnSpc>
                <a:spcPts val="1575"/>
              </a:lnSpc>
            </a:pPr>
            <a:r>
              <a:rPr lang="en-US" altLang="ko-KR" sz="1600" dirty="0">
                <a:latin typeface="D2Coding" panose="020B0609020101020101" pitchFamily="49" charset="-127"/>
                <a:ea typeface="D2Coding" panose="020B0609020101020101" pitchFamily="49" charset="-127"/>
              </a:rPr>
              <a:t>            activation="</a:t>
            </a:r>
            <a:r>
              <a:rPr lang="en-US" altLang="ko-KR" sz="1600" dirty="0" err="1">
                <a:latin typeface="D2Coding" panose="020B0609020101020101" pitchFamily="49" charset="-127"/>
                <a:ea typeface="D2Coding" panose="020B0609020101020101" pitchFamily="49" charset="-127"/>
              </a:rPr>
              <a:t>relu</a:t>
            </a:r>
            <a:r>
              <a:rPr lang="en-US" altLang="ko-KR" sz="1600" dirty="0">
                <a:latin typeface="D2Coding" panose="020B0609020101020101" pitchFamily="49" charset="-127"/>
                <a:ea typeface="D2Coding" panose="020B0609020101020101" pitchFamily="49" charset="-127"/>
              </a:rPr>
              <a:t>",</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endParaRPr lang="en-US" altLang="ko-KR" sz="1600" dirty="0">
              <a:latin typeface="D2Coding" panose="020B0609020101020101" pitchFamily="49" charset="-127"/>
              <a:ea typeface="D2Coding" panose="020B0609020101020101" pitchFamily="49" charset="-127"/>
            </a:endParaRPr>
          </a:p>
          <a:p>
            <a:pPr>
              <a:lnSpc>
                <a:spcPts val="1575"/>
              </a:lnSpc>
            </a:pPr>
            <a:r>
              <a:rPr lang="en-US" altLang="ko-KR" sz="1600" dirty="0">
                <a:latin typeface="D2Coding" panose="020B0609020101020101" pitchFamily="49" charset="-127"/>
                <a:ea typeface="D2Coding" panose="020B0609020101020101" pitchFamily="49" charset="-127"/>
              </a:rPr>
              <a:t>        layers.Conv1DTranspose(filters=1, </a:t>
            </a:r>
          </a:p>
          <a:p>
            <a:pPr>
              <a:lnSpc>
                <a:spcPts val="1575"/>
              </a:lnSpc>
            </a:pPr>
            <a:r>
              <a:rPr lang="en-US" altLang="ko-KR" sz="1600" dirty="0">
                <a:latin typeface="D2Coding" panose="020B0609020101020101" pitchFamily="49" charset="-127"/>
                <a:ea typeface="D2Coding" panose="020B0609020101020101" pitchFamily="49" charset="-127"/>
              </a:rPr>
              <a:t>		 	</a:t>
            </a:r>
            <a:r>
              <a:rPr lang="en-US" altLang="ko-KR" sz="1600" dirty="0" err="1">
                <a:latin typeface="D2Coding" panose="020B0609020101020101" pitchFamily="49" charset="-127"/>
                <a:ea typeface="D2Coding" panose="020B0609020101020101" pitchFamily="49" charset="-127"/>
              </a:rPr>
              <a:t>kernel_size</a:t>
            </a:r>
            <a:r>
              <a:rPr lang="en-US" altLang="ko-KR" sz="1600" dirty="0">
                <a:latin typeface="D2Coding" panose="020B0609020101020101" pitchFamily="49" charset="-127"/>
                <a:ea typeface="D2Coding" panose="020B0609020101020101" pitchFamily="49" charset="-127"/>
              </a:rPr>
              <a:t>=7, </a:t>
            </a:r>
          </a:p>
          <a:p>
            <a:pPr>
              <a:lnSpc>
                <a:spcPts val="1575"/>
              </a:lnSpc>
            </a:pPr>
            <a:r>
              <a:rPr lang="en-US" altLang="ko-KR" sz="1600" dirty="0">
                <a:latin typeface="D2Coding" panose="020B0609020101020101" pitchFamily="49" charset="-127"/>
                <a:ea typeface="D2Coding" panose="020B0609020101020101" pitchFamily="49" charset="-127"/>
              </a:rPr>
              <a:t>			padding="same"),</a:t>
            </a:r>
          </a:p>
          <a:p>
            <a:pPr>
              <a:lnSpc>
                <a:spcPts val="1575"/>
              </a:lnSpc>
            </a:pP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D37E28F6-6F3B-6339-FB54-A19DE95E7877}"/>
              </a:ext>
            </a:extLst>
          </p:cNvPr>
          <p:cNvSpPr txBox="1"/>
          <p:nvPr/>
        </p:nvSpPr>
        <p:spPr>
          <a:xfrm>
            <a:off x="581544" y="1539508"/>
            <a:ext cx="5343006"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Encoder</a:t>
            </a:r>
            <a:endParaRPr lang="ko-KR" altLang="en-US" dirty="0">
              <a:solidFill>
                <a:schemeClr val="bg1"/>
              </a:solidFill>
            </a:endParaRPr>
          </a:p>
        </p:txBody>
      </p:sp>
      <p:sp>
        <p:nvSpPr>
          <p:cNvPr id="11" name="TextBox 10">
            <a:extLst>
              <a:ext uri="{FF2B5EF4-FFF2-40B4-BE49-F238E27FC236}">
                <a16:creationId xmlns:a16="http://schemas.microsoft.com/office/drawing/2014/main" id="{1646B48A-D1C5-50CB-84C8-297D8286B0A5}"/>
              </a:ext>
            </a:extLst>
          </p:cNvPr>
          <p:cNvSpPr txBox="1"/>
          <p:nvPr/>
        </p:nvSpPr>
        <p:spPr>
          <a:xfrm>
            <a:off x="6239394" y="1539508"/>
            <a:ext cx="5371062" cy="369332"/>
          </a:xfrm>
          <a:prstGeom prst="rect">
            <a:avLst/>
          </a:prstGeom>
          <a:solidFill>
            <a:schemeClr val="tx1"/>
          </a:solidFill>
        </p:spPr>
        <p:txBody>
          <a:bodyPr wrap="square">
            <a:spAutoFit/>
          </a:bodyPr>
          <a:lstStyle/>
          <a:p>
            <a:r>
              <a:rPr lang="en-US" altLang="ko-KR" dirty="0">
                <a:solidFill>
                  <a:schemeClr val="bg1"/>
                </a:solidFill>
                <a:latin typeface="D2Coding" panose="020B0609020101020101" pitchFamily="49" charset="-127"/>
                <a:ea typeface="D2Coding" panose="020B0609020101020101" pitchFamily="49" charset="-127"/>
                <a:cs typeface="Segoe UI Light" panose="020B0502040204020203" pitchFamily="34" charset="0"/>
              </a:rPr>
              <a:t>Decoder</a:t>
            </a:r>
            <a:endParaRPr lang="ko-KR" altLang="en-US" dirty="0">
              <a:solidFill>
                <a:schemeClr val="bg1"/>
              </a:solidFill>
            </a:endParaRPr>
          </a:p>
        </p:txBody>
      </p:sp>
      <p:sp>
        <p:nvSpPr>
          <p:cNvPr id="13" name="설명선: 굽은 선(강조선) 12">
            <a:extLst>
              <a:ext uri="{FF2B5EF4-FFF2-40B4-BE49-F238E27FC236}">
                <a16:creationId xmlns:a16="http://schemas.microsoft.com/office/drawing/2014/main" id="{308A29D8-42FB-A163-C36A-816498E63113}"/>
              </a:ext>
            </a:extLst>
          </p:cNvPr>
          <p:cNvSpPr/>
          <p:nvPr/>
        </p:nvSpPr>
        <p:spPr>
          <a:xfrm>
            <a:off x="4476189" y="4901536"/>
            <a:ext cx="1448362" cy="1365914"/>
          </a:xfrm>
          <a:prstGeom prst="accentCallout2">
            <a:avLst>
              <a:gd name="adj1" fmla="val 18750"/>
              <a:gd name="adj2" fmla="val -8333"/>
              <a:gd name="adj3" fmla="val 18750"/>
              <a:gd name="adj4" fmla="val -16667"/>
              <a:gd name="adj5" fmla="val 35915"/>
              <a:gd name="adj6" fmla="val -56125"/>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solidFill>
                  <a:schemeClr val="bg1"/>
                </a:solidFill>
                <a:latin typeface="D2Coding" panose="020B0609020101020101" pitchFamily="49" charset="-127"/>
                <a:ea typeface="D2Coding" panose="020B0609020101020101" pitchFamily="49" charset="-127"/>
              </a:rPr>
              <a:t>latent space</a:t>
            </a:r>
            <a:r>
              <a:rPr lang="ko-KR" altLang="en-US" sz="1200" dirty="0">
                <a:solidFill>
                  <a:schemeClr val="bg1"/>
                </a:solidFill>
                <a:latin typeface="D2Coding" panose="020B0609020101020101" pitchFamily="49" charset="-127"/>
                <a:ea typeface="D2Coding" panose="020B0609020101020101" pitchFamily="49" charset="-127"/>
              </a:rPr>
              <a:t>는 </a:t>
            </a:r>
            <a:r>
              <a:rPr lang="ko-KR" altLang="en-US" sz="1200" b="1" dirty="0">
                <a:solidFill>
                  <a:schemeClr val="bg1"/>
                </a:solidFill>
                <a:latin typeface="D2Coding" panose="020B0609020101020101" pitchFamily="49" charset="-127"/>
                <a:ea typeface="D2Coding" panose="020B0609020101020101" pitchFamily="49" charset="-127"/>
              </a:rPr>
              <a:t>하나의 벡터가 아니라</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길이 </a:t>
            </a:r>
            <a:r>
              <a:rPr lang="en-US" altLang="ko-KR" sz="1200" b="1" dirty="0">
                <a:solidFill>
                  <a:schemeClr val="bg1"/>
                </a:solidFill>
                <a:latin typeface="D2Coding" panose="020B0609020101020101" pitchFamily="49" charset="-127"/>
                <a:ea typeface="D2Coding" panose="020B0609020101020101" pitchFamily="49" charset="-127"/>
              </a:rPr>
              <a:t>72</a:t>
            </a:r>
            <a:r>
              <a:rPr lang="ko-KR" altLang="en-US" sz="1200" b="1" dirty="0">
                <a:solidFill>
                  <a:schemeClr val="bg1"/>
                </a:solidFill>
                <a:latin typeface="D2Coding" panose="020B0609020101020101" pitchFamily="49" charset="-127"/>
                <a:ea typeface="D2Coding" panose="020B0609020101020101" pitchFamily="49" charset="-127"/>
              </a:rPr>
              <a:t>에 채널이 </a:t>
            </a:r>
            <a:r>
              <a:rPr lang="en-US" altLang="ko-KR" sz="1200" b="1" dirty="0">
                <a:solidFill>
                  <a:schemeClr val="bg1"/>
                </a:solidFill>
                <a:latin typeface="D2Coding" panose="020B0609020101020101" pitchFamily="49" charset="-127"/>
                <a:ea typeface="D2Coding" panose="020B0609020101020101" pitchFamily="49" charset="-127"/>
              </a:rPr>
              <a:t>16</a:t>
            </a:r>
            <a:r>
              <a:rPr lang="ko-KR" altLang="en-US" sz="1200" b="1" dirty="0">
                <a:solidFill>
                  <a:schemeClr val="bg1"/>
                </a:solidFill>
                <a:latin typeface="D2Coding" panose="020B0609020101020101" pitchFamily="49" charset="-127"/>
                <a:ea typeface="D2Coding" panose="020B0609020101020101" pitchFamily="49" charset="-127"/>
              </a:rPr>
              <a:t>개인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압축된 시계열</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4" name="설명선: 굽은 선(강조선) 13">
            <a:extLst>
              <a:ext uri="{FF2B5EF4-FFF2-40B4-BE49-F238E27FC236}">
                <a16:creationId xmlns:a16="http://schemas.microsoft.com/office/drawing/2014/main" id="{ED45ED6C-1852-7EF6-E8A7-1274E84A36E2}"/>
              </a:ext>
            </a:extLst>
          </p:cNvPr>
          <p:cNvSpPr/>
          <p:nvPr/>
        </p:nvSpPr>
        <p:spPr>
          <a:xfrm>
            <a:off x="10581476" y="4568161"/>
            <a:ext cx="1448362" cy="762000"/>
          </a:xfrm>
          <a:prstGeom prst="accentCallout2">
            <a:avLst>
              <a:gd name="adj1" fmla="val 18750"/>
              <a:gd name="adj2" fmla="val -8333"/>
              <a:gd name="adj3" fmla="val 18750"/>
              <a:gd name="adj4" fmla="val -16667"/>
              <a:gd name="adj5" fmla="val 98716"/>
              <a:gd name="adj6" fmla="val -59413"/>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ko-KR" altLang="en-US" sz="1200" dirty="0">
                <a:solidFill>
                  <a:schemeClr val="bg1"/>
                </a:solidFill>
                <a:latin typeface="D2Coding" panose="020B0609020101020101" pitchFamily="49" charset="-127"/>
                <a:ea typeface="D2Coding" panose="020B0609020101020101" pitchFamily="49" charset="-127"/>
              </a:rPr>
              <a:t>출력층은 입력층과 </a:t>
            </a:r>
            <a:r>
              <a:rPr lang="en-US" altLang="ko-KR" sz="1200" dirty="0">
                <a:solidFill>
                  <a:schemeClr val="bg1"/>
                </a:solidFill>
                <a:latin typeface="D2Coding" panose="020B0609020101020101" pitchFamily="49" charset="-127"/>
                <a:ea typeface="D2Coding" panose="020B0609020101020101" pitchFamily="49" charset="-127"/>
              </a:rPr>
              <a:t>Shape</a:t>
            </a:r>
            <a:r>
              <a:rPr lang="ko-KR" altLang="en-US" sz="1200" dirty="0">
                <a:solidFill>
                  <a:schemeClr val="bg1"/>
                </a:solidFill>
                <a:latin typeface="D2Coding" panose="020B0609020101020101" pitchFamily="49" charset="-127"/>
                <a:ea typeface="D2Coding" panose="020B0609020101020101" pitchFamily="49" charset="-127"/>
              </a:rPr>
              <a:t>을 동일하게</a:t>
            </a:r>
          </a:p>
        </p:txBody>
      </p:sp>
    </p:spTree>
    <p:extLst>
      <p:ext uri="{BB962C8B-B14F-4D97-AF65-F5344CB8AC3E}">
        <p14:creationId xmlns:p14="http://schemas.microsoft.com/office/powerpoint/2010/main" val="10374879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36D88-C1CA-BF53-8737-A03D3545408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66EA9ED-3BE8-3158-F384-BE6C03C3AF9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AE Architecture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680B2082-522F-4E2E-7475-A7CFF4C0970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sp>
        <p:nvSpPr>
          <p:cNvPr id="9" name="TextBox 8">
            <a:extLst>
              <a:ext uri="{FF2B5EF4-FFF2-40B4-BE49-F238E27FC236}">
                <a16:creationId xmlns:a16="http://schemas.microsoft.com/office/drawing/2014/main" id="{9A00F8E4-F30B-7862-BFA9-DF406D1B76F9}"/>
              </a:ext>
            </a:extLst>
          </p:cNvPr>
          <p:cNvSpPr txBox="1"/>
          <p:nvPr/>
        </p:nvSpPr>
        <p:spPr>
          <a:xfrm>
            <a:off x="581024" y="1221695"/>
            <a:ext cx="11306175" cy="793166"/>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정상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a:t>
            </a:r>
            <a:r>
              <a:rPr lang="en-US" altLang="ko-KR" sz="1600" dirty="0">
                <a:latin typeface="D2Coding" panose="020B0609020101020101" pitchFamily="49" charset="-127"/>
                <a:ea typeface="D2Coding" panose="020B0609020101020101" pitchFamily="49" charset="-127"/>
              </a:rPr>
              <a:t>(art_daily_small_noise.csv)</a:t>
            </a:r>
            <a:r>
              <a:rPr lang="ko-KR" altLang="en-US" sz="1600" dirty="0">
                <a:latin typeface="D2Coding" panose="020B0609020101020101" pitchFamily="49" charset="-127"/>
                <a:ea typeface="D2Coding" panose="020B0609020101020101" pitchFamily="49" charset="-127"/>
              </a:rPr>
              <a:t>로 학습하여 </a:t>
            </a:r>
            <a:r>
              <a:rPr lang="en-US" altLang="ko-KR" sz="1600" dirty="0">
                <a:latin typeface="D2Coding" panose="020B0609020101020101" pitchFamily="49" charset="-127"/>
                <a:ea typeface="D2Coding" panose="020B0609020101020101" pitchFamily="49" charset="-127"/>
              </a:rPr>
              <a:t>VAE</a:t>
            </a:r>
            <a:r>
              <a:rPr lang="ko-KR" altLang="en-US" sz="1600" dirty="0">
                <a:latin typeface="D2Coding" panose="020B0609020101020101" pitchFamily="49" charset="-127"/>
                <a:ea typeface="D2Coding" panose="020B0609020101020101" pitchFamily="49" charset="-127"/>
              </a:rPr>
              <a:t> 모델을 생성한 후 비정상이 포함된 검증데이터 </a:t>
            </a:r>
            <a:r>
              <a:rPr lang="en-US" altLang="ko-KR" sz="1600" dirty="0">
                <a:latin typeface="D2Coding" panose="020B0609020101020101" pitchFamily="49" charset="-127"/>
                <a:ea typeface="D2Coding" panose="020B0609020101020101" pitchFamily="49" charset="-127"/>
              </a:rPr>
              <a:t>(art_daily_jumpsup.csv)</a:t>
            </a:r>
            <a:r>
              <a:rPr lang="ko-KR" altLang="en-US" sz="1600" dirty="0">
                <a:latin typeface="D2Coding" panose="020B0609020101020101" pitchFamily="49" charset="-127"/>
                <a:ea typeface="D2Coding" panose="020B0609020101020101" pitchFamily="49" charset="-127"/>
              </a:rPr>
              <a:t>로</a:t>
            </a:r>
            <a:r>
              <a:rPr lang="en-US" altLang="ko-KR" sz="1600" dirty="0">
                <a:latin typeface="D2Coding" panose="020B0609020101020101" pitchFamily="49" charset="-127"/>
                <a:ea typeface="D2Coding" panose="020B0609020101020101" pitchFamily="49" charset="-127"/>
              </a:rPr>
              <a:t> anomaly detection</a:t>
            </a:r>
            <a:r>
              <a:rPr lang="ko-KR" altLang="en-US"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p:txBody>
      </p:sp>
      <p:pic>
        <p:nvPicPr>
          <p:cNvPr id="13" name="그림 12">
            <a:extLst>
              <a:ext uri="{FF2B5EF4-FFF2-40B4-BE49-F238E27FC236}">
                <a16:creationId xmlns:a16="http://schemas.microsoft.com/office/drawing/2014/main" id="{E91444C0-1E52-282D-D219-BCC4181FED94}"/>
              </a:ext>
            </a:extLst>
          </p:cNvPr>
          <p:cNvPicPr>
            <a:picLocks noChangeAspect="1"/>
          </p:cNvPicPr>
          <p:nvPr/>
        </p:nvPicPr>
        <p:blipFill>
          <a:blip r:embed="rId4"/>
          <a:stretch>
            <a:fillRect/>
          </a:stretch>
        </p:blipFill>
        <p:spPr>
          <a:xfrm>
            <a:off x="1600200" y="2136095"/>
            <a:ext cx="8472488" cy="4104450"/>
          </a:xfrm>
          <a:prstGeom prst="rect">
            <a:avLst/>
          </a:prstGeom>
          <a:ln>
            <a:solidFill>
              <a:schemeClr val="tx1"/>
            </a:solidFill>
            <a:prstDash val="dashDot"/>
          </a:ln>
        </p:spPr>
      </p:pic>
      <p:sp>
        <p:nvSpPr>
          <p:cNvPr id="15" name="TextBox 14">
            <a:extLst>
              <a:ext uri="{FF2B5EF4-FFF2-40B4-BE49-F238E27FC236}">
                <a16:creationId xmlns:a16="http://schemas.microsoft.com/office/drawing/2014/main" id="{5441B9BB-08D6-63FF-9A9C-EE7278F16C75}"/>
              </a:ext>
            </a:extLst>
          </p:cNvPr>
          <p:cNvSpPr txBox="1"/>
          <p:nvPr/>
        </p:nvSpPr>
        <p:spPr>
          <a:xfrm>
            <a:off x="1600200" y="6240545"/>
            <a:ext cx="10153650" cy="340991"/>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200" dirty="0" err="1">
                <a:latin typeface="D2Coding" panose="020B0609020101020101" pitchFamily="49" charset="-127"/>
                <a:ea typeface="D2Coding" panose="020B0609020101020101" pitchFamily="49" charset="-127"/>
              </a:rPr>
              <a:t>딥러닝에서는</a:t>
            </a:r>
            <a:r>
              <a:rPr lang="ko-KR" altLang="en-US" sz="1200" dirty="0">
                <a:latin typeface="D2Coding" panose="020B0609020101020101" pitchFamily="49" charset="-127"/>
                <a:ea typeface="D2Coding" panose="020B0609020101020101" pitchFamily="49" charset="-127"/>
              </a:rPr>
              <a:t> 데이터셋이 크고 학습 시간이 오래 걸려 </a:t>
            </a:r>
            <a:r>
              <a:rPr lang="en-US" altLang="ko-KR" sz="1200" dirty="0">
                <a:latin typeface="D2Coding" panose="020B0609020101020101" pitchFamily="49" charset="-127"/>
                <a:ea typeface="D2Coding" panose="020B0609020101020101" pitchFamily="49" charset="-127"/>
              </a:rPr>
              <a:t>cross validation</a:t>
            </a:r>
            <a:r>
              <a:rPr lang="ko-KR" altLang="en-US" sz="1200" dirty="0">
                <a:latin typeface="D2Coding" panose="020B0609020101020101" pitchFamily="49" charset="-127"/>
                <a:ea typeface="D2Coding" panose="020B0609020101020101" pitchFamily="49" charset="-127"/>
              </a:rPr>
              <a:t>보다 이런 단순 </a:t>
            </a:r>
            <a:r>
              <a:rPr lang="en-US" altLang="ko-KR" sz="1200" dirty="0">
                <a:latin typeface="D2Coding" panose="020B0609020101020101" pitchFamily="49" charset="-127"/>
                <a:ea typeface="D2Coding" panose="020B0609020101020101" pitchFamily="49" charset="-127"/>
              </a:rPr>
              <a:t>hold-out validation</a:t>
            </a:r>
            <a:r>
              <a:rPr lang="ko-KR" altLang="en-US" sz="1200" dirty="0">
                <a:latin typeface="D2Coding" panose="020B0609020101020101" pitchFamily="49" charset="-127"/>
                <a:ea typeface="D2Coding" panose="020B0609020101020101" pitchFamily="49" charset="-127"/>
              </a:rPr>
              <a:t>을 더 많이 사용하는 편</a:t>
            </a:r>
          </a:p>
        </p:txBody>
      </p:sp>
      <p:sp>
        <p:nvSpPr>
          <p:cNvPr id="19" name="정육면체 18">
            <a:extLst>
              <a:ext uri="{FF2B5EF4-FFF2-40B4-BE49-F238E27FC236}">
                <a16:creationId xmlns:a16="http://schemas.microsoft.com/office/drawing/2014/main" id="{AC804EDE-1FB5-CBF1-CCB8-64A31BA24516}"/>
              </a:ext>
            </a:extLst>
          </p:cNvPr>
          <p:cNvSpPr/>
          <p:nvPr/>
        </p:nvSpPr>
        <p:spPr>
          <a:xfrm>
            <a:off x="4495800" y="2967037"/>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정육면체 20">
            <a:extLst>
              <a:ext uri="{FF2B5EF4-FFF2-40B4-BE49-F238E27FC236}">
                <a16:creationId xmlns:a16="http://schemas.microsoft.com/office/drawing/2014/main" id="{378638D7-8948-6023-18C9-92ABBB253661}"/>
              </a:ext>
            </a:extLst>
          </p:cNvPr>
          <p:cNvSpPr/>
          <p:nvPr/>
        </p:nvSpPr>
        <p:spPr>
          <a:xfrm>
            <a:off x="7715250" y="2959684"/>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3" name="정육면체 22">
            <a:extLst>
              <a:ext uri="{FF2B5EF4-FFF2-40B4-BE49-F238E27FC236}">
                <a16:creationId xmlns:a16="http://schemas.microsoft.com/office/drawing/2014/main" id="{7931667B-05C6-2529-B4FB-7F238F0D38F4}"/>
              </a:ext>
            </a:extLst>
          </p:cNvPr>
          <p:cNvSpPr/>
          <p:nvPr/>
        </p:nvSpPr>
        <p:spPr>
          <a:xfrm>
            <a:off x="3790950" y="4568073"/>
            <a:ext cx="704850" cy="676275"/>
          </a:xfrm>
          <a:prstGeom prst="cube">
            <a:avLst>
              <a:gd name="adj" fmla="val 61364"/>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 name="정육면체 23">
            <a:extLst>
              <a:ext uri="{FF2B5EF4-FFF2-40B4-BE49-F238E27FC236}">
                <a16:creationId xmlns:a16="http://schemas.microsoft.com/office/drawing/2014/main" id="{A669FE07-F482-7E8A-22FE-EEA5144FB6A6}"/>
              </a:ext>
            </a:extLst>
          </p:cNvPr>
          <p:cNvSpPr/>
          <p:nvPr/>
        </p:nvSpPr>
        <p:spPr>
          <a:xfrm>
            <a:off x="7715250" y="4585617"/>
            <a:ext cx="438150" cy="423862"/>
          </a:xfrm>
          <a:prstGeom prst="cube">
            <a:avLst>
              <a:gd name="adj" fmla="val 4113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26" name="그림 25">
            <a:extLst>
              <a:ext uri="{FF2B5EF4-FFF2-40B4-BE49-F238E27FC236}">
                <a16:creationId xmlns:a16="http://schemas.microsoft.com/office/drawing/2014/main" id="{EBEC9FA2-F303-ACE8-52B7-D83E2D5F5EB3}"/>
              </a:ext>
            </a:extLst>
          </p:cNvPr>
          <p:cNvPicPr>
            <a:picLocks noChangeAspect="1"/>
          </p:cNvPicPr>
          <p:nvPr/>
        </p:nvPicPr>
        <p:blipFill>
          <a:blip r:embed="rId5"/>
          <a:stretch>
            <a:fillRect/>
          </a:stretch>
        </p:blipFill>
        <p:spPr>
          <a:xfrm>
            <a:off x="742917" y="2223338"/>
            <a:ext cx="762066" cy="731583"/>
          </a:xfrm>
          <a:prstGeom prst="rect">
            <a:avLst/>
          </a:prstGeom>
        </p:spPr>
      </p:pic>
      <p:pic>
        <p:nvPicPr>
          <p:cNvPr id="28" name="그림 27">
            <a:extLst>
              <a:ext uri="{FF2B5EF4-FFF2-40B4-BE49-F238E27FC236}">
                <a16:creationId xmlns:a16="http://schemas.microsoft.com/office/drawing/2014/main" id="{9A7165BC-7077-DD3B-B581-3D4C9E46D71E}"/>
              </a:ext>
            </a:extLst>
          </p:cNvPr>
          <p:cNvPicPr>
            <a:picLocks noChangeAspect="1"/>
          </p:cNvPicPr>
          <p:nvPr/>
        </p:nvPicPr>
        <p:blipFill>
          <a:blip r:embed="rId6"/>
          <a:stretch>
            <a:fillRect/>
          </a:stretch>
        </p:blipFill>
        <p:spPr>
          <a:xfrm>
            <a:off x="10222198" y="5474106"/>
            <a:ext cx="739204" cy="701101"/>
          </a:xfrm>
          <a:prstGeom prst="rect">
            <a:avLst/>
          </a:prstGeom>
        </p:spPr>
      </p:pic>
    </p:spTree>
    <p:extLst>
      <p:ext uri="{BB962C8B-B14F-4D97-AF65-F5344CB8AC3E}">
        <p14:creationId xmlns:p14="http://schemas.microsoft.com/office/powerpoint/2010/main" val="114916392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0ECE87-9257-2EED-1CDA-6480E78567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53E320D-289B-E17E-45A7-54F6084F4B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Practice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Convolutional Autoencoder </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래픽 4" descr="본문 작성기">
            <a:extLst>
              <a:ext uri="{FF2B5EF4-FFF2-40B4-BE49-F238E27FC236}">
                <a16:creationId xmlns:a16="http://schemas.microsoft.com/office/drawing/2014/main" id="{0231E0B4-E138-7B27-AEBB-EA43C8FAC2D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848457" y="334022"/>
            <a:ext cx="914400" cy="914400"/>
          </a:xfrm>
          <a:prstGeom prst="rect">
            <a:avLst/>
          </a:prstGeom>
        </p:spPr>
      </p:pic>
      <p:pic>
        <p:nvPicPr>
          <p:cNvPr id="1026" name="Picture 2">
            <a:extLst>
              <a:ext uri="{FF2B5EF4-FFF2-40B4-BE49-F238E27FC236}">
                <a16:creationId xmlns:a16="http://schemas.microsoft.com/office/drawing/2014/main" id="{04919DB8-1339-CA54-4BDD-88FE727E0F1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112" y="2987810"/>
            <a:ext cx="4263374" cy="322553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F84FAF4-A80E-B4AB-E15B-13298B3F2D8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53177" y="2982038"/>
            <a:ext cx="4360439" cy="326286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742A78F-426F-10FC-E766-D9BDD5DF4644}"/>
              </a:ext>
            </a:extLst>
          </p:cNvPr>
          <p:cNvSpPr txBox="1"/>
          <p:nvPr/>
        </p:nvSpPr>
        <p:spPr>
          <a:xfrm>
            <a:off x="609435" y="1356112"/>
            <a:ext cx="5229389" cy="1333507"/>
          </a:xfrm>
          <a:prstGeom prst="rect">
            <a:avLst/>
          </a:prstGeom>
          <a:solidFill>
            <a:srgbClr val="76E3FF"/>
          </a:solidFill>
        </p:spPr>
        <p:txBody>
          <a:bodyPr wrap="square">
            <a:spAutoFit/>
          </a:bodyPr>
          <a:lstStyle/>
          <a:p>
            <a:pPr>
              <a:lnSpc>
                <a:spcPts val="1575"/>
              </a:lnSpc>
              <a:buNone/>
            </a:pPr>
            <a:r>
              <a:rPr lang="en-US" altLang="ko-KR" sz="1200" b="0" dirty="0">
                <a:effectLst/>
                <a:latin typeface="D2Coding" panose="020B0609020101020101" pitchFamily="49" charset="-127"/>
                <a:ea typeface="D2Coding" panose="020B0609020101020101" pitchFamily="49" charset="-127"/>
              </a:rPr>
              <a:t># Get train MAE loss.</a:t>
            </a:r>
          </a:p>
          <a:p>
            <a:pPr>
              <a:lnSpc>
                <a:spcPts val="1575"/>
              </a:lnSpc>
              <a:buNone/>
            </a:pP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model.predict</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a:t>
            </a:r>
          </a:p>
          <a:p>
            <a:pPr>
              <a:lnSpc>
                <a:spcPts val="1575"/>
              </a:lnSpc>
              <a:buNone/>
            </a:pP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np.mean</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np.abs</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x_train_pred</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x_train</a:t>
            </a:r>
            <a:r>
              <a:rPr lang="en-US" altLang="ko-KR" sz="1200" b="0" dirty="0">
                <a:effectLst/>
                <a:latin typeface="D2Coding" panose="020B0609020101020101" pitchFamily="49" charset="-127"/>
                <a:ea typeface="D2Coding" panose="020B0609020101020101" pitchFamily="49" charset="-127"/>
              </a:rPr>
              <a:t>), axis=1)</a:t>
            </a:r>
            <a:br>
              <a:rPr lang="en-US" altLang="ko-KR" sz="1200" b="0" dirty="0">
                <a:effectLst/>
                <a:latin typeface="D2Coding" panose="020B0609020101020101" pitchFamily="49" charset="-127"/>
                <a:ea typeface="D2Coding" panose="020B0609020101020101" pitchFamily="49" charset="-127"/>
              </a:rPr>
            </a:br>
            <a:endParaRPr lang="en-US" altLang="ko-KR" sz="1200" b="0" dirty="0">
              <a:effectLst/>
              <a:latin typeface="D2Coding" panose="020B0609020101020101" pitchFamily="49" charset="-127"/>
              <a:ea typeface="D2Coding" panose="020B0609020101020101" pitchFamily="49" charset="-127"/>
            </a:endParaRPr>
          </a:p>
          <a:p>
            <a:pPr>
              <a:lnSpc>
                <a:spcPts val="1575"/>
              </a:lnSpc>
              <a:buNone/>
            </a:pPr>
            <a:r>
              <a:rPr lang="en-US" altLang="ko-KR" sz="1200" b="0" dirty="0">
                <a:effectLst/>
                <a:latin typeface="D2Coding" panose="020B0609020101020101" pitchFamily="49" charset="-127"/>
                <a:ea typeface="D2Coding" panose="020B0609020101020101" pitchFamily="49" charset="-127"/>
              </a:rPr>
              <a:t># Get reconstruction loss threshold.</a:t>
            </a:r>
          </a:p>
          <a:p>
            <a:pPr>
              <a:lnSpc>
                <a:spcPts val="1575"/>
              </a:lnSpc>
              <a:buNone/>
            </a:pPr>
            <a:r>
              <a:rPr lang="en-US" altLang="ko-KR" sz="1200" b="0" dirty="0">
                <a:effectLst/>
                <a:latin typeface="D2Coding" panose="020B0609020101020101" pitchFamily="49" charset="-127"/>
                <a:ea typeface="D2Coding" panose="020B0609020101020101" pitchFamily="49" charset="-127"/>
              </a:rPr>
              <a:t>threshold = </a:t>
            </a:r>
            <a:r>
              <a:rPr lang="en-US" altLang="ko-KR" sz="1200" b="0" dirty="0" err="1">
                <a:effectLst/>
                <a:latin typeface="D2Coding" panose="020B0609020101020101" pitchFamily="49" charset="-127"/>
                <a:ea typeface="D2Coding" panose="020B0609020101020101" pitchFamily="49" charset="-127"/>
              </a:rPr>
              <a:t>np.max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train_mae_loss</a:t>
            </a:r>
            <a:r>
              <a:rPr lang="en-US" altLang="ko-KR" sz="1200" b="0" dirty="0">
                <a:effectLst/>
                <a:latin typeface="D2Coding" panose="020B0609020101020101" pitchFamily="49" charset="-127"/>
                <a:ea typeface="D2Coding" panose="020B0609020101020101" pitchFamily="49" charset="-127"/>
              </a:rPr>
              <a:t>)</a:t>
            </a:r>
          </a:p>
        </p:txBody>
      </p:sp>
      <p:sp>
        <p:nvSpPr>
          <p:cNvPr id="8" name="TextBox 7">
            <a:extLst>
              <a:ext uri="{FF2B5EF4-FFF2-40B4-BE49-F238E27FC236}">
                <a16:creationId xmlns:a16="http://schemas.microsoft.com/office/drawing/2014/main" id="{9DADC89C-DB58-1B49-0480-50765D5E3E62}"/>
              </a:ext>
            </a:extLst>
          </p:cNvPr>
          <p:cNvSpPr txBox="1"/>
          <p:nvPr/>
        </p:nvSpPr>
        <p:spPr>
          <a:xfrm>
            <a:off x="6353177" y="1356112"/>
            <a:ext cx="5353050" cy="1518236"/>
          </a:xfrm>
          <a:prstGeom prst="rect">
            <a:avLst/>
          </a:prstGeom>
          <a:solidFill>
            <a:srgbClr val="76E3FF"/>
          </a:solidFill>
        </p:spPr>
        <p:txBody>
          <a:bodyPr wrap="square">
            <a:spAutoFit/>
          </a:bodyPr>
          <a:lstStyle/>
          <a:p>
            <a:pPr>
              <a:lnSpc>
                <a:spcPts val="1575"/>
              </a:lnSpc>
            </a:pPr>
            <a:r>
              <a:rPr lang="en-US" altLang="ko-KR" sz="1200" dirty="0">
                <a:latin typeface="D2Coding" panose="020B0609020101020101" pitchFamily="49" charset="-127"/>
                <a:ea typeface="D2Coding" panose="020B0609020101020101" pitchFamily="49" charset="-127"/>
              </a:rPr>
              <a:t># Get test MAE loss.</a:t>
            </a:r>
          </a:p>
          <a:p>
            <a:pPr>
              <a:lnSpc>
                <a:spcPts val="1575"/>
              </a:lnSpc>
            </a:pP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model.predict</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np.mean</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np.abs</a:t>
            </a:r>
            <a:r>
              <a:rPr lang="en-US" altLang="ko-KR" sz="1200" dirty="0">
                <a:latin typeface="D2Coding" panose="020B0609020101020101" pitchFamily="49" charset="-127"/>
                <a:ea typeface="D2Coding" panose="020B0609020101020101" pitchFamily="49" charset="-127"/>
              </a:rPr>
              <a:t>(</a:t>
            </a:r>
            <a:r>
              <a:rPr lang="en-US" altLang="ko-KR" sz="1200" dirty="0" err="1">
                <a:latin typeface="D2Coding" panose="020B0609020101020101" pitchFamily="49" charset="-127"/>
                <a:ea typeface="D2Coding" panose="020B0609020101020101" pitchFamily="49" charset="-127"/>
              </a:rPr>
              <a:t>x_test_pred</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x_test</a:t>
            </a:r>
            <a:r>
              <a:rPr lang="en-US" altLang="ko-KR" sz="1200" dirty="0">
                <a:latin typeface="D2Coding" panose="020B0609020101020101" pitchFamily="49" charset="-127"/>
                <a:ea typeface="D2Coding" panose="020B0609020101020101" pitchFamily="49" charset="-127"/>
              </a:rPr>
              <a:t>), axis=1)</a:t>
            </a:r>
          </a:p>
          <a:p>
            <a:pPr>
              <a:lnSpc>
                <a:spcPts val="1575"/>
              </a:lnSpc>
            </a:pP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 </a:t>
            </a:r>
            <a:r>
              <a:rPr lang="en-US" altLang="ko-KR" sz="1200" dirty="0" err="1">
                <a:latin typeface="D2Coding" panose="020B0609020101020101" pitchFamily="49" charset="-127"/>
                <a:ea typeface="D2Coding" panose="020B0609020101020101" pitchFamily="49" charset="-127"/>
              </a:rPr>
              <a:t>test_mae_loss.reshape</a:t>
            </a:r>
            <a:r>
              <a:rPr lang="en-US" altLang="ko-KR" sz="1200" dirty="0">
                <a:latin typeface="D2Coding" panose="020B0609020101020101" pitchFamily="49" charset="-127"/>
                <a:ea typeface="D2Coding" panose="020B0609020101020101" pitchFamily="49" charset="-127"/>
              </a:rPr>
              <a:t>((-1))</a:t>
            </a:r>
          </a:p>
          <a:p>
            <a:pPr>
              <a:lnSpc>
                <a:spcPts val="1575"/>
              </a:lnSpc>
            </a:pPr>
            <a:endParaRPr lang="en-US" altLang="ko-KR" sz="1200" dirty="0">
              <a:latin typeface="D2Coding" panose="020B0609020101020101" pitchFamily="49" charset="-127"/>
              <a:ea typeface="D2Coding" panose="020B0609020101020101" pitchFamily="49" charset="-127"/>
            </a:endParaRPr>
          </a:p>
          <a:p>
            <a:pPr>
              <a:lnSpc>
                <a:spcPts val="1575"/>
              </a:lnSpc>
            </a:pPr>
            <a:r>
              <a:rPr lang="en-US" altLang="ko-KR" sz="1200" dirty="0">
                <a:latin typeface="D2Coding" panose="020B0609020101020101" pitchFamily="49" charset="-127"/>
                <a:ea typeface="D2Coding" panose="020B0609020101020101" pitchFamily="49" charset="-127"/>
              </a:rPr>
              <a:t># Detect all the samples which are anomalies.</a:t>
            </a:r>
          </a:p>
          <a:p>
            <a:pPr>
              <a:lnSpc>
                <a:spcPts val="1575"/>
              </a:lnSpc>
            </a:pPr>
            <a:r>
              <a:rPr lang="en-US" altLang="ko-KR" sz="1200" dirty="0">
                <a:latin typeface="D2Coding" panose="020B0609020101020101" pitchFamily="49" charset="-127"/>
                <a:ea typeface="D2Coding" panose="020B0609020101020101" pitchFamily="49" charset="-127"/>
              </a:rPr>
              <a:t>anomalies = </a:t>
            </a:r>
            <a:r>
              <a:rPr lang="en-US" altLang="ko-KR" sz="1200" dirty="0" err="1">
                <a:latin typeface="D2Coding" panose="020B0609020101020101" pitchFamily="49" charset="-127"/>
                <a:ea typeface="D2Coding" panose="020B0609020101020101" pitchFamily="49" charset="-127"/>
              </a:rPr>
              <a:t>test_mae_loss</a:t>
            </a:r>
            <a:r>
              <a:rPr lang="en-US" altLang="ko-KR" sz="1200" dirty="0">
                <a:latin typeface="D2Coding" panose="020B0609020101020101" pitchFamily="49" charset="-127"/>
                <a:ea typeface="D2Coding" panose="020B0609020101020101" pitchFamily="49" charset="-127"/>
              </a:rPr>
              <a:t> &gt; threshold</a:t>
            </a:r>
          </a:p>
        </p:txBody>
      </p:sp>
      <p:sp>
        <p:nvSpPr>
          <p:cNvPr id="11" name="설명선: 굽은 선(강조선) 10">
            <a:extLst>
              <a:ext uri="{FF2B5EF4-FFF2-40B4-BE49-F238E27FC236}">
                <a16:creationId xmlns:a16="http://schemas.microsoft.com/office/drawing/2014/main" id="{CCB59811-CA04-C8B0-D176-D386A25CBC80}"/>
              </a:ext>
            </a:extLst>
          </p:cNvPr>
          <p:cNvSpPr/>
          <p:nvPr/>
        </p:nvSpPr>
        <p:spPr>
          <a:xfrm>
            <a:off x="5142658"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
        <p:nvSpPr>
          <p:cNvPr id="12" name="설명선: 굽은 선(강조선) 11">
            <a:extLst>
              <a:ext uri="{FF2B5EF4-FFF2-40B4-BE49-F238E27FC236}">
                <a16:creationId xmlns:a16="http://schemas.microsoft.com/office/drawing/2014/main" id="{171B9984-CC97-C2C6-25A5-CAFAF51820B0}"/>
              </a:ext>
            </a:extLst>
          </p:cNvPr>
          <p:cNvSpPr/>
          <p:nvPr/>
        </p:nvSpPr>
        <p:spPr>
          <a:xfrm>
            <a:off x="9029702" y="4600575"/>
            <a:ext cx="1019736" cy="241964"/>
          </a:xfrm>
          <a:prstGeom prst="accentCallout2">
            <a:avLst>
              <a:gd name="adj1" fmla="val 18750"/>
              <a:gd name="adj2" fmla="val -8333"/>
              <a:gd name="adj3" fmla="val 62052"/>
              <a:gd name="adj4" fmla="val -19469"/>
              <a:gd name="adj5" fmla="val 496490"/>
              <a:gd name="adj6" fmla="val -38378"/>
            </a:avLst>
          </a:prstGeom>
          <a:solidFill>
            <a:schemeClr val="tx1"/>
          </a:solidFill>
          <a:ln>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200" dirty="0">
                <a:latin typeface="D2Coding" panose="020B0609020101020101" pitchFamily="49" charset="-127"/>
                <a:ea typeface="D2Coding" panose="020B0609020101020101" pitchFamily="49" charset="-127"/>
              </a:rPr>
              <a:t>threshold</a:t>
            </a:r>
            <a:endParaRPr lang="ko-KR" altLang="en-US" sz="12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073176876"/>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9313</TotalTime>
  <Words>7328</Words>
  <Application>Microsoft Office PowerPoint</Application>
  <PresentationFormat>와이드스크린</PresentationFormat>
  <Paragraphs>832</Paragraphs>
  <Slides>74</Slides>
  <Notes>5</Notes>
  <HiddenSlides>0</HiddenSlides>
  <MMClips>0</MMClips>
  <ScaleCrop>false</ScaleCrop>
  <HeadingPairs>
    <vt:vector size="6" baseType="variant">
      <vt:variant>
        <vt:lpstr>사용한 글꼴</vt:lpstr>
      </vt:variant>
      <vt:variant>
        <vt:i4>11</vt:i4>
      </vt:variant>
      <vt:variant>
        <vt:lpstr>테마</vt:lpstr>
      </vt:variant>
      <vt:variant>
        <vt:i4>1</vt:i4>
      </vt:variant>
      <vt:variant>
        <vt:lpstr>슬라이드 제목</vt:lpstr>
      </vt:variant>
      <vt:variant>
        <vt:i4>74</vt:i4>
      </vt:variant>
    </vt:vector>
  </HeadingPairs>
  <TitlesOfParts>
    <vt:vector size="86" baseType="lpstr">
      <vt:lpstr>D2Coding</vt:lpstr>
      <vt:lpstr>맑은 고딕</vt:lpstr>
      <vt:lpstr>Batang</vt:lpstr>
      <vt:lpstr>Arial</vt:lpstr>
      <vt:lpstr>Calibri Light</vt:lpstr>
      <vt:lpstr>Cambria Math</vt:lpstr>
      <vt:lpstr>Cascadia Code</vt:lpstr>
      <vt:lpstr>Lora</vt:lpstr>
      <vt:lpstr>Source Sans Pro</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Timeseries Forecasting</vt:lpstr>
      <vt:lpstr>PowerPoint 프레젠테이션</vt:lpstr>
      <vt:lpstr>CNN for Timeseries Data</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Anomaly Detection with AE, VAE</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148</cp:revision>
  <dcterms:created xsi:type="dcterms:W3CDTF">2026-04-06T01:00:39Z</dcterms:created>
  <dcterms:modified xsi:type="dcterms:W3CDTF">2026-10-08T03:16:56Z</dcterms:modified>
  <cp:version/>
</cp:coreProperties>
</file>