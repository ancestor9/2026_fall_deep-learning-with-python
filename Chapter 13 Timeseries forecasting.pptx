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4"/>
  </p:notesMasterIdLst>
  <p:handoutMasterIdLst>
    <p:handoutMasterId r:id="rId55"/>
  </p:handoutMasterIdLst>
  <p:sldIdLst>
    <p:sldId id="256" r:id="rId2"/>
    <p:sldId id="1155" r:id="rId3"/>
    <p:sldId id="1122" r:id="rId4"/>
    <p:sldId id="1134" r:id="rId5"/>
    <p:sldId id="1140" r:id="rId6"/>
    <p:sldId id="1141" r:id="rId7"/>
    <p:sldId id="1144" r:id="rId8"/>
    <p:sldId id="1142" r:id="rId9"/>
    <p:sldId id="1143" r:id="rId10"/>
    <p:sldId id="1169" r:id="rId11"/>
    <p:sldId id="1157" r:id="rId12"/>
    <p:sldId id="1146" r:id="rId13"/>
    <p:sldId id="1148" r:id="rId14"/>
    <p:sldId id="1136" r:id="rId15"/>
    <p:sldId id="1145" r:id="rId16"/>
    <p:sldId id="1158" r:id="rId17"/>
    <p:sldId id="1150" r:id="rId18"/>
    <p:sldId id="1152" r:id="rId19"/>
    <p:sldId id="1149" r:id="rId20"/>
    <p:sldId id="1153" r:id="rId21"/>
    <p:sldId id="1151" r:id="rId22"/>
    <p:sldId id="1154" r:id="rId23"/>
    <p:sldId id="1159" r:id="rId24"/>
    <p:sldId id="1161" r:id="rId25"/>
    <p:sldId id="1173" r:id="rId26"/>
    <p:sldId id="1174" r:id="rId27"/>
    <p:sldId id="1139" r:id="rId28"/>
    <p:sldId id="1172" r:id="rId29"/>
    <p:sldId id="1133" r:id="rId30"/>
    <p:sldId id="1163" r:id="rId31"/>
    <p:sldId id="1164" r:id="rId32"/>
    <p:sldId id="1165" r:id="rId33"/>
    <p:sldId id="1166" r:id="rId34"/>
    <p:sldId id="1121" r:id="rId35"/>
    <p:sldId id="1168" r:id="rId36"/>
    <p:sldId id="1135" r:id="rId37"/>
    <p:sldId id="1167" r:id="rId38"/>
    <p:sldId id="1160" r:id="rId39"/>
    <p:sldId id="1175" r:id="rId40"/>
    <p:sldId id="1132" r:id="rId41"/>
    <p:sldId id="1170" r:id="rId42"/>
    <p:sldId id="1171" r:id="rId43"/>
    <p:sldId id="1125" r:id="rId44"/>
    <p:sldId id="1127" r:id="rId45"/>
    <p:sldId id="1128" r:id="rId46"/>
    <p:sldId id="1123" r:id="rId47"/>
    <p:sldId id="1130" r:id="rId48"/>
    <p:sldId id="1131" r:id="rId49"/>
    <p:sldId id="1137" r:id="rId50"/>
    <p:sldId id="1138" r:id="rId51"/>
    <p:sldId id="1129" r:id="rId52"/>
    <p:sldId id="1162" r:id="rId53"/>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122"/>
            <p14:sldId id="1134"/>
            <p14:sldId id="1140"/>
            <p14:sldId id="1141"/>
            <p14:sldId id="1144"/>
            <p14:sldId id="1142"/>
            <p14:sldId id="1143"/>
            <p14:sldId id="1169"/>
            <p14:sldId id="1157"/>
            <p14:sldId id="1146"/>
            <p14:sldId id="1148"/>
            <p14:sldId id="1136"/>
            <p14:sldId id="1145"/>
            <p14:sldId id="1158"/>
            <p14:sldId id="1150"/>
            <p14:sldId id="1152"/>
            <p14:sldId id="1149"/>
            <p14:sldId id="1153"/>
            <p14:sldId id="1151"/>
            <p14:sldId id="1154"/>
            <p14:sldId id="1159"/>
            <p14:sldId id="1161"/>
            <p14:sldId id="1173"/>
            <p14:sldId id="1174"/>
            <p14:sldId id="1139"/>
            <p14:sldId id="1172"/>
            <p14:sldId id="1133"/>
            <p14:sldId id="1163"/>
            <p14:sldId id="1164"/>
            <p14:sldId id="1165"/>
            <p14:sldId id="1166"/>
            <p14:sldId id="1121"/>
            <p14:sldId id="1168"/>
            <p14:sldId id="1135"/>
            <p14:sldId id="1167"/>
            <p14:sldId id="1160"/>
            <p14:sldId id="1175"/>
            <p14:sldId id="1132"/>
            <p14:sldId id="1170"/>
            <p14:sldId id="1171"/>
            <p14:sldId id="1125"/>
            <p14:sldId id="1127"/>
            <p14:sldId id="1128"/>
            <p14:sldId id="1123"/>
            <p14:sldId id="1130"/>
            <p14:sldId id="1131"/>
            <p14:sldId id="1137"/>
            <p14:sldId id="1138"/>
            <p14:sldId id="1129"/>
            <p14:sldId id="1162"/>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00" d="100"/>
        <a:sy n="100" d="100"/>
      </p:scale>
      <p:origin x="0" y="-6960"/>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no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2026-08-15</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2026-08-15</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44</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2026-08-15</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8/15/2026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2026-08-15</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4.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s>
</file>

<file path=ppt/slides/_rels/slide25.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34.png"/><Relationship Id="rId21" Type="http://schemas.openxmlformats.org/officeDocument/2006/relationships/image" Target="../media/image5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image" Target="../media/image33.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png"/><Relationship Id="rId9" Type="http://schemas.openxmlformats.org/officeDocument/2006/relationships/image" Target="../media/image40.png"/><Relationship Id="rId14" Type="http://schemas.openxmlformats.org/officeDocument/2006/relationships/image" Target="../media/image45.png"/></Relationships>
</file>

<file path=ppt/slides/_rels/slide2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image" Target="../media/image38.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8" Type="http://schemas.openxmlformats.org/officeDocument/2006/relationships/image" Target="../media/image61.png"/><Relationship Id="rId3" Type="http://schemas.microsoft.com/office/2007/relationships/hdphoto" Target="../media/hdphoto1.wdp"/><Relationship Id="rId7"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4.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69.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4.xml"/><Relationship Id="rId4" Type="http://schemas.openxmlformats.org/officeDocument/2006/relationships/image" Target="../media/image72.svg"/></Relationships>
</file>

<file path=ppt/slides/_rels/slide4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77.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79.png"/><Relationship Id="rId5" Type="http://schemas.openxmlformats.org/officeDocument/2006/relationships/image" Target="../media/image78.png"/><Relationship Id="rId4" Type="http://schemas.microsoft.com/office/2007/relationships/hdphoto" Target="../media/hdphoto2.wdp"/></Relationships>
</file>

<file path=ppt/slides/_rels/slide44.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79.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45.xml.rels><?xml version="1.0" encoding="UTF-8" standalone="yes"?>
<Relationships xmlns="http://schemas.openxmlformats.org/package/2006/relationships"><Relationship Id="rId8" Type="http://schemas.openxmlformats.org/officeDocument/2006/relationships/image" Target="../media/image81.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80.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79.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4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82.png"/><Relationship Id="rId1" Type="http://schemas.openxmlformats.org/officeDocument/2006/relationships/slideLayout" Target="../slideLayouts/slideLayout4.xml"/><Relationship Id="rId5" Type="http://schemas.openxmlformats.org/officeDocument/2006/relationships/image" Target="../media/image83.png"/><Relationship Id="rId4" Type="http://schemas.microsoft.com/office/2007/relationships/hdphoto" Target="../media/hdphoto3.wdp"/></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4.jpe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4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7.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4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hyperlink" Target="https://www.tensorflow.org/tutorials/structured_data/time_series?hl=ko" TargetMode="External"/><Relationship Id="rId2" Type="http://schemas.openxmlformats.org/officeDocument/2006/relationships/image" Target="../media/image85.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
        <p:nvSpPr>
          <p:cNvPr id="4" name="TextBox 3">
            <a:extLst>
              <a:ext uri="{FF2B5EF4-FFF2-40B4-BE49-F238E27FC236}">
                <a16:creationId xmlns:a16="http://schemas.microsoft.com/office/drawing/2014/main" id="{6561AAD7-56D4-58BF-FEAE-D0D8305EA254}"/>
              </a:ext>
            </a:extLst>
          </p:cNvPr>
          <p:cNvSpPr txBox="1"/>
          <p:nvPr/>
        </p:nvSpPr>
        <p:spPr>
          <a:xfrm rot="20985267">
            <a:off x="3219856" y="3828387"/>
            <a:ext cx="7932611" cy="793166"/>
          </a:xfrm>
          <a:prstGeom prst="rect">
            <a:avLst/>
          </a:prstGeom>
          <a:noFill/>
        </p:spPr>
        <p:txBody>
          <a:bodyPr wrap="square">
            <a:spAutoFit/>
          </a:bodyPr>
          <a:lstStyle/>
          <a:p>
            <a:pPr>
              <a:lnSpc>
                <a:spcPct val="150000"/>
              </a:lnSpc>
            </a:pPr>
            <a:r>
              <a:rPr lang="en-US" altLang="ko-KR" sz="1600" b="0" i="0" dirty="0">
                <a:solidFill>
                  <a:srgbClr val="FFFF00"/>
                </a:solidFill>
                <a:effectLst/>
                <a:latin typeface="D2Coding" panose="020B0609020101020101" pitchFamily="49" charset="-127"/>
                <a:ea typeface="D2Coding" panose="020B0609020101020101" pitchFamily="49" charset="-127"/>
              </a:rPr>
              <a:t>“Be who you are and say what you feel, because those who mind don't matter, and those who matter don't mind.”</a:t>
            </a:r>
            <a:endParaRPr lang="ko-KR" altLang="en-US" sz="1600" dirty="0">
              <a:solidFill>
                <a:srgbClr val="FFFF00"/>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B32F42C0-07C8-1960-872A-C341FE529FB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a:t>
            </a:fld>
            <a:endParaRPr lang="en-US" dirty="0"/>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585461"/>
            <a:ext cx="4625741" cy="4633362"/>
          </a:xfrm>
          <a:prstGeom prst="rect">
            <a:avLst/>
          </a:prstGeom>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3509458122"/>
              </p:ext>
            </p:extLst>
          </p:nvPr>
        </p:nvGraphicFramePr>
        <p:xfrm>
          <a:off x="5966613" y="1585461"/>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684530"/>
            <a:ext cx="4922947" cy="4534293"/>
          </a:xfrm>
          <a:prstGeom prst="rect">
            <a:avLst/>
          </a:prstGeom>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684530"/>
            <a:ext cx="5922987" cy="2632438"/>
          </a:xfrm>
          <a:prstGeom prst="rect">
            <a:avLst/>
          </a:prstGeom>
          <a:noFill/>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327948"/>
            <a:ext cx="2032691" cy="580769"/>
          </a:xfrm>
          <a:prstGeom prst="rect">
            <a:avLst/>
          </a:prstGeom>
        </p:spPr>
      </p:pic>
      <p:sp>
        <p:nvSpPr>
          <p:cNvPr id="21" name="TextBox 20">
            <a:extLst>
              <a:ext uri="{FF2B5EF4-FFF2-40B4-BE49-F238E27FC236}">
                <a16:creationId xmlns:a16="http://schemas.microsoft.com/office/drawing/2014/main" id="{B1524DAB-EF70-3649-069E-FB29009BA9B5}"/>
              </a:ext>
            </a:extLst>
          </p:cNvPr>
          <p:cNvSpPr txBox="1"/>
          <p:nvPr/>
        </p:nvSpPr>
        <p:spPr>
          <a:xfrm>
            <a:off x="8371957" y="497507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364374"/>
            <a:ext cx="1838735" cy="388726"/>
          </a:xfrm>
          <a:prstGeom prst="rect">
            <a:avLst/>
          </a:prstGeom>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84610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9ADFDA56-EEF0-D16A-D819-DE0640B405FD}"/>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7</a:t>
            </a:fld>
            <a:endParaRPr lang="en-US" dirty="0"/>
          </a:p>
        </p:txBody>
      </p:sp>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E62AEDA-A1E7-AA89-A7CE-55969AFB281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8</a:t>
            </a:fld>
            <a:endParaRPr lang="en-US" dirty="0"/>
          </a:p>
        </p:txBody>
      </p:sp>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573097" y="1562600"/>
            <a:ext cx="7102455" cy="4656223"/>
          </a:xfrm>
          <a:prstGeom prst="rect">
            <a:avLst/>
          </a:prstGeom>
        </p:spPr>
      </p:pic>
      <p:sp>
        <p:nvSpPr>
          <p:cNvPr id="7" name="TextBox 6">
            <a:extLst>
              <a:ext uri="{FF2B5EF4-FFF2-40B4-BE49-F238E27FC236}">
                <a16:creationId xmlns:a16="http://schemas.microsoft.com/office/drawing/2014/main" id="{999475E9-8640-6AB3-88BC-8DD3A0B30BE3}"/>
              </a:ext>
            </a:extLst>
          </p:cNvPr>
          <p:cNvSpPr txBox="1"/>
          <p:nvPr/>
        </p:nvSpPr>
        <p:spPr>
          <a:xfrm>
            <a:off x="7913677" y="18995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13677" y="3308278"/>
            <a:ext cx="3859223" cy="404874"/>
          </a:xfrm>
          <a:prstGeom prst="rect">
            <a:avLst/>
          </a:prstGeom>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477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475645" y="1609016"/>
            <a:ext cx="10829407" cy="4079208"/>
          </a:xfrm>
          <a:prstGeom prst="rect">
            <a:avLst/>
          </a:prstGeom>
        </p:spPr>
      </p:pic>
      <p:sp>
        <p:nvSpPr>
          <p:cNvPr id="8" name="TextBox 7">
            <a:extLst>
              <a:ext uri="{FF2B5EF4-FFF2-40B4-BE49-F238E27FC236}">
                <a16:creationId xmlns:a16="http://schemas.microsoft.com/office/drawing/2014/main" id="{8FA609BE-B859-A023-68DF-9C7588D7B915}"/>
              </a:ext>
            </a:extLst>
          </p:cNvPr>
          <p:cNvSpPr txBox="1"/>
          <p:nvPr/>
        </p:nvSpPr>
        <p:spPr>
          <a:xfrm>
            <a:off x="6877357" y="5770498"/>
            <a:ext cx="5121603" cy="793166"/>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1629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916184" y="1563806"/>
            <a:ext cx="5932415" cy="4813092"/>
          </a:xfrm>
          <a:prstGeom prst="rect">
            <a:avLst/>
          </a:prstGeom>
        </p:spPr>
      </p:pic>
    </p:spTree>
    <p:extLst>
      <p:ext uri="{BB962C8B-B14F-4D97-AF65-F5344CB8AC3E}">
        <p14:creationId xmlns:p14="http://schemas.microsoft.com/office/powerpoint/2010/main" val="4272811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55973" y="2153920"/>
            <a:ext cx="6524625" cy="24479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34874" y="3505496"/>
            <a:ext cx="2233204" cy="830997"/>
          </a:xfrm>
          <a:prstGeom prst="rect">
            <a:avLst/>
          </a:prstGeom>
          <a:noFill/>
        </p:spPr>
        <p:txBody>
          <a:bodyPr wrap="square">
            <a:spAutoFit/>
          </a:bodyPr>
          <a:lstStyle/>
          <a:p>
            <a:r>
              <a:rPr lang="en-US" altLang="ko-KR" sz="1600" dirty="0">
                <a:solidFill>
                  <a:schemeClr val="accent5"/>
                </a:solidFill>
                <a:latin typeface="D2Coding" panose="020B0609020101020101" pitchFamily="49" charset="-127"/>
                <a:ea typeface="D2Coding" panose="020B0609020101020101" pitchFamily="49" charset="-127"/>
              </a:rPr>
              <a:t>Samples/Batch size </a:t>
            </a:r>
            <a:r>
              <a:rPr lang="ko-KR" altLang="en-US" sz="1600" dirty="0">
                <a:solidFill>
                  <a:schemeClr val="accent5"/>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accent5"/>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0410" y="4688522"/>
            <a:ext cx="3914790"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Sliding window length</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367340" y="2845097"/>
            <a:ext cx="2533902"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temps, winds,…</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39138" y="5293022"/>
            <a:ext cx="609600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340995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4119-4E05-7787-F346-3EF9B9B57EA8}"/>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18DF491-9C31-F203-B341-87EDA9ABF8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14</a:t>
            </a:fld>
            <a:endParaRPr lang="en-US" dirty="0"/>
          </a:p>
        </p:txBody>
      </p:sp>
      <p:sp>
        <p:nvSpPr>
          <p:cNvPr id="3" name="제목 1">
            <a:extLst>
              <a:ext uri="{FF2B5EF4-FFF2-40B4-BE49-F238E27FC236}">
                <a16:creationId xmlns:a16="http://schemas.microsoft.com/office/drawing/2014/main" id="{62D2FAD8-FA57-2A8F-534C-0DC6FE1C2EB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2050" name="Picture 2">
            <a:extLst>
              <a:ext uri="{FF2B5EF4-FFF2-40B4-BE49-F238E27FC236}">
                <a16:creationId xmlns:a16="http://schemas.microsoft.com/office/drawing/2014/main" id="{8870E6EE-4641-4051-8389-FECE072234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733" y="1956497"/>
            <a:ext cx="4344508" cy="162998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5C8F418-F3CD-B8CE-D11D-9E2EEA217054}"/>
              </a:ext>
            </a:extLst>
          </p:cNvPr>
          <p:cNvSpPr txBox="1"/>
          <p:nvPr/>
        </p:nvSpPr>
        <p:spPr>
          <a:xfrm>
            <a:off x="475645" y="3766038"/>
            <a:ext cx="4025235"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 A rank-3 timeseries data tensor</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589FBEF4-A26F-4DC5-DB00-BC35A5DA8E44}"/>
              </a:ext>
            </a:extLst>
          </p:cNvPr>
          <p:cNvSpPr txBox="1"/>
          <p:nvPr/>
        </p:nvSpPr>
        <p:spPr>
          <a:xfrm>
            <a:off x="4673600" y="1469162"/>
            <a:ext cx="7172960" cy="4583627"/>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stock prices</a:t>
            </a:r>
            <a:r>
              <a:rPr lang="en-US" altLang="ko-KR" sz="1400" b="0" i="0" dirty="0">
                <a:effectLst/>
                <a:latin typeface="D2Coding" panose="020B0609020101020101" pitchFamily="49" charset="-127"/>
                <a:ea typeface="D2Coding" panose="020B0609020101020101" pitchFamily="49" charset="-127"/>
              </a:rPr>
              <a:t> —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1" i="0" dirty="0">
                <a:effectLst/>
                <a:latin typeface="D2Coding" panose="020B0609020101020101" pitchFamily="49" charset="-127"/>
                <a:ea typeface="D2Coding" panose="020B0609020101020101" pitchFamily="49" charset="-127"/>
              </a:rPr>
              <a:t>(Batch size, Timesteps, # of Features)</a:t>
            </a:r>
          </a:p>
          <a:p>
            <a:pPr marL="285750" indent="-285750" algn="just">
              <a:lnSpc>
                <a:spcPct val="150000"/>
              </a:lnSpc>
              <a:buFont typeface="Wingdings" panose="05000000000000000000" pitchFamily="2" charset="2"/>
              <a:buChar char="v"/>
            </a:pPr>
            <a:endParaRPr lang="en-US" altLang="ko-KR" sz="1400" b="0" i="0" dirty="0">
              <a:effectLst/>
              <a:latin typeface="D2Coding" panose="020B0609020101020101" pitchFamily="49" charset="-127"/>
              <a:ea typeface="D2Coding" panose="020B0609020101020101" pitchFamily="49" charset="-127"/>
            </a:endParaRPr>
          </a:p>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0" i="0" dirty="0">
                <a:effectLst/>
                <a:latin typeface="D2Coding" panose="020B0609020101020101" pitchFamily="49" charset="-127"/>
                <a:ea typeface="D2Coding" panose="020B0609020101020101" pitchFamily="49" charset="-127"/>
              </a:rPr>
              <a:t> —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E6BFDEC1-13C8-458B-91B1-61EB80D5178C}"/>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2240038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1889760"/>
            <a:ext cx="5312410" cy="408342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201670" y="5973180"/>
            <a:ext cx="538353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16</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(10qns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36980"/>
            <a:ext cx="4834499" cy="2246769"/>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600" b="1" dirty="0">
                <a:effectLst/>
                <a:latin typeface="D2Coding" panose="020B0609020101020101" pitchFamily="49" charset="-127"/>
                <a:ea typeface="D2Coding" panose="020B0609020101020101" pitchFamily="49" charset="-127"/>
              </a:rPr>
              <a:t>    shuffle=True,</a:t>
            </a:r>
          </a:p>
          <a:p>
            <a:pPr>
              <a:buNone/>
            </a:pPr>
            <a:r>
              <a:rPr lang="en-US" altLang="ko-KR" sz="1600" b="1" dirty="0">
                <a:effectLst/>
                <a:latin typeface="D2Coding" panose="020B0609020101020101" pitchFamily="49" charset="-127"/>
                <a:ea typeface="D2Coding" panose="020B0609020101020101" pitchFamily="49" charset="-127"/>
              </a:rPr>
              <a:t>    </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a:latin typeface="D2Coding" panose="020B0609020101020101" pitchFamily="49" charset="-127"/>
                <a:ea typeface="D2Coding" panose="020B0609020101020101" pitchFamily="49" charset="-127"/>
              </a:rPr>
              <a:t>MAE)</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063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오디오 파형이나 텍스트처럼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패턴이 어디서 나타나든 같은 의미를 가지는</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데이터에 적합</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날씨데이터는 평행이동 불변성</a:t>
            </a:r>
            <a:r>
              <a:rPr lang="en-US" altLang="ko-KR" sz="1600" dirty="0">
                <a:latin typeface="D2Coding" panose="020B0609020101020101" pitchFamily="49" charset="-127"/>
                <a:ea typeface="D2Coding" panose="020B0609020101020101" pitchFamily="49" charset="-127"/>
              </a:rPr>
              <a:t>(Translation Invariance)</a:t>
            </a:r>
            <a:r>
              <a:rPr lang="ko-KR" altLang="en-US" sz="1600" dirty="0">
                <a:latin typeface="D2Coding" panose="020B0609020101020101" pitchFamily="49" charset="-127"/>
                <a:ea typeface="D2Coding" panose="020B0609020101020101" pitchFamily="49" charset="-127"/>
              </a:rPr>
              <a:t>에 적합하지 않음</a:t>
            </a:r>
            <a:endParaRPr lang="en-US" altLang="ko-KR" sz="16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어느 위치</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공간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나 어느 시점</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시간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에서 발생하더라도 그 본질적인 의미나 성질이 변하지 않고 일정하게 유지되는 성질</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이미지에는 위치에 따라 불변하지만 기후 데이터에는 적합하지 않음</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강아지 이미지가 왼쪽</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오른쪽</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아래에 있든 똑같이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강아지</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로 인식하여 데이터의 본질은 변하지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표현이 글의 맨 앞에 나오든 맨 뒤에 나오든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25126810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330380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330126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23</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2181225"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2181225"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2181225"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2181225"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2181225"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C82B93E8-41CB-4E2A-3A8B-06E1FC1F47A9}"/>
                  </a:ext>
                </a:extLst>
              </p:cNvPr>
              <p:cNvSpPr txBox="1"/>
              <p:nvPr/>
            </p:nvSpPr>
            <p:spPr>
              <a:xfrm>
                <a:off x="1683921" y="5606536"/>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683921" y="5606536"/>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DE84DE0C-CA9C-A61A-5820-3CD0F252AEE9}"/>
                  </a:ext>
                </a:extLst>
              </p:cNvPr>
              <p:cNvSpPr txBox="1"/>
              <p:nvPr/>
            </p:nvSpPr>
            <p:spPr>
              <a:xfrm>
                <a:off x="1683921" y="2228076"/>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683921" y="2228076"/>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DF1A498E-6E99-F4E3-A14D-95CC8C056690}"/>
                  </a:ext>
                </a:extLst>
              </p:cNvPr>
              <p:cNvSpPr txBox="1"/>
              <p:nvPr/>
            </p:nvSpPr>
            <p:spPr>
              <a:xfrm>
                <a:off x="1683921" y="3072691"/>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683921" y="3072691"/>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8499FFF9-DD42-9968-958E-D67807A9C555}"/>
                  </a:ext>
                </a:extLst>
              </p:cNvPr>
              <p:cNvSpPr txBox="1"/>
              <p:nvPr/>
            </p:nvSpPr>
            <p:spPr>
              <a:xfrm>
                <a:off x="1683921" y="3917306"/>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683921" y="3917306"/>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0BC165B-AA94-8611-C4D3-739D9A257934}"/>
                  </a:ext>
                </a:extLst>
              </p:cNvPr>
              <p:cNvSpPr txBox="1"/>
              <p:nvPr/>
            </p:nvSpPr>
            <p:spPr>
              <a:xfrm>
                <a:off x="1683921" y="4761921"/>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683921" y="4761921"/>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4171950"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657475"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657475"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657475"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657475"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657475"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8009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8009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8009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8009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8009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E15D12F6-4F5D-44A8-30EB-DF761140770B}"/>
                  </a:ext>
                </a:extLst>
              </p:cNvPr>
              <p:cNvSpPr txBox="1"/>
              <p:nvPr/>
            </p:nvSpPr>
            <p:spPr>
              <a:xfrm>
                <a:off x="7303673" y="5676281"/>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4" name="TextBox 43">
                <a:extLst>
                  <a:ext uri="{FF2B5EF4-FFF2-40B4-BE49-F238E27FC236}">
                    <a16:creationId xmlns:a16="http://schemas.microsoft.com/office/drawing/2014/main" id="{E15D12F6-4F5D-44A8-30EB-DF761140770B}"/>
                  </a:ext>
                </a:extLst>
              </p:cNvPr>
              <p:cNvSpPr txBox="1">
                <a:spLocks noRot="1" noChangeAspect="1" noMove="1" noResize="1" noEditPoints="1" noAdjustHandles="1" noChangeArrowheads="1" noChangeShapeType="1" noTextEdit="1"/>
              </p:cNvSpPr>
              <p:nvPr/>
            </p:nvSpPr>
            <p:spPr>
              <a:xfrm>
                <a:off x="7303673" y="5676281"/>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1868276B-9126-27F4-1C45-6D6A34003471}"/>
                  </a:ext>
                </a:extLst>
              </p:cNvPr>
              <p:cNvSpPr txBox="1"/>
              <p:nvPr/>
            </p:nvSpPr>
            <p:spPr>
              <a:xfrm>
                <a:off x="7303673" y="2297821"/>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5" name="TextBox 44">
                <a:extLst>
                  <a:ext uri="{FF2B5EF4-FFF2-40B4-BE49-F238E27FC236}">
                    <a16:creationId xmlns:a16="http://schemas.microsoft.com/office/drawing/2014/main" id="{1868276B-9126-27F4-1C45-6D6A34003471}"/>
                  </a:ext>
                </a:extLst>
              </p:cNvPr>
              <p:cNvSpPr txBox="1">
                <a:spLocks noRot="1" noChangeAspect="1" noMove="1" noResize="1" noEditPoints="1" noAdjustHandles="1" noChangeArrowheads="1" noChangeShapeType="1" noTextEdit="1"/>
              </p:cNvSpPr>
              <p:nvPr/>
            </p:nvSpPr>
            <p:spPr>
              <a:xfrm>
                <a:off x="7303673" y="2297821"/>
                <a:ext cx="359393" cy="307777"/>
              </a:xfrm>
              <a:prstGeom prst="rect">
                <a:avLst/>
              </a:prstGeom>
              <a:blipFill>
                <a:blip r:embed="rId8"/>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999B93F8-BB65-B543-4147-0ED06C909FCD}"/>
                  </a:ext>
                </a:extLst>
              </p:cNvPr>
              <p:cNvSpPr txBox="1"/>
              <p:nvPr/>
            </p:nvSpPr>
            <p:spPr>
              <a:xfrm>
                <a:off x="7303673" y="3142436"/>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6" name="TextBox 45">
                <a:extLst>
                  <a:ext uri="{FF2B5EF4-FFF2-40B4-BE49-F238E27FC236}">
                    <a16:creationId xmlns:a16="http://schemas.microsoft.com/office/drawing/2014/main" id="{999B93F8-BB65-B543-4147-0ED06C909FCD}"/>
                  </a:ext>
                </a:extLst>
              </p:cNvPr>
              <p:cNvSpPr txBox="1">
                <a:spLocks noRot="1" noChangeAspect="1" noMove="1" noResize="1" noEditPoints="1" noAdjustHandles="1" noChangeArrowheads="1" noChangeShapeType="1" noTextEdit="1"/>
              </p:cNvSpPr>
              <p:nvPr/>
            </p:nvSpPr>
            <p:spPr>
              <a:xfrm>
                <a:off x="7303673" y="314243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7A5A0FFC-9B11-9F6A-6E43-6A8A9154D56A}"/>
                  </a:ext>
                </a:extLst>
              </p:cNvPr>
              <p:cNvSpPr txBox="1"/>
              <p:nvPr/>
            </p:nvSpPr>
            <p:spPr>
              <a:xfrm>
                <a:off x="7303673" y="3987051"/>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7" name="TextBox 46">
                <a:extLst>
                  <a:ext uri="{FF2B5EF4-FFF2-40B4-BE49-F238E27FC236}">
                    <a16:creationId xmlns:a16="http://schemas.microsoft.com/office/drawing/2014/main" id="{7A5A0FFC-9B11-9F6A-6E43-6A8A9154D56A}"/>
                  </a:ext>
                </a:extLst>
              </p:cNvPr>
              <p:cNvSpPr txBox="1">
                <a:spLocks noRot="1" noChangeAspect="1" noMove="1" noResize="1" noEditPoints="1" noAdjustHandles="1" noChangeArrowheads="1" noChangeShapeType="1" noTextEdit="1"/>
              </p:cNvSpPr>
              <p:nvPr/>
            </p:nvSpPr>
            <p:spPr>
              <a:xfrm>
                <a:off x="7303673" y="3987051"/>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94BD085-103C-BCB3-E468-E13FE1E36F2B}"/>
                  </a:ext>
                </a:extLst>
              </p:cNvPr>
              <p:cNvSpPr txBox="1"/>
              <p:nvPr/>
            </p:nvSpPr>
            <p:spPr>
              <a:xfrm>
                <a:off x="7303673" y="4831666"/>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8" name="TextBox 47">
                <a:extLst>
                  <a:ext uri="{FF2B5EF4-FFF2-40B4-BE49-F238E27FC236}">
                    <a16:creationId xmlns:a16="http://schemas.microsoft.com/office/drawing/2014/main" id="{D94BD085-103C-BCB3-E468-E13FE1E36F2B}"/>
                  </a:ext>
                </a:extLst>
              </p:cNvPr>
              <p:cNvSpPr txBox="1">
                <a:spLocks noRot="1" noChangeAspect="1" noMove="1" noResize="1" noEditPoints="1" noAdjustHandles="1" noChangeArrowheads="1" noChangeShapeType="1" noTextEdit="1"/>
              </p:cNvSpPr>
              <p:nvPr/>
            </p:nvSpPr>
            <p:spPr>
              <a:xfrm>
                <a:off x="7303673" y="4831666"/>
                <a:ext cx="604653" cy="307777"/>
              </a:xfrm>
              <a:prstGeom prst="rect">
                <a:avLst/>
              </a:prstGeom>
              <a:blipFill>
                <a:blip r:embed="rId11"/>
                <a:stretch>
                  <a:fillRect b="-16000"/>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FF5E481B-C6A4-E509-2325-607BA8ED5481}"/>
              </a:ext>
            </a:extLst>
          </p:cNvPr>
          <p:cNvSpPr/>
          <p:nvPr/>
        </p:nvSpPr>
        <p:spPr>
          <a:xfrm>
            <a:off x="97917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82772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82772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82772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82772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82772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7917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46410" cy="369332"/>
          </a:xfrm>
          <a:prstGeom prst="rect">
            <a:avLst/>
          </a:prstGeom>
          <a:noFill/>
        </p:spPr>
        <p:txBody>
          <a:bodyPr wrap="square">
            <a:spAutoFit/>
          </a:bodyPr>
          <a:lstStyle/>
          <a:p>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5" y="1518293"/>
            <a:ext cx="3548060" cy="369332"/>
          </a:xfrm>
          <a:prstGeom prst="rect">
            <a:avLst/>
          </a:prstGeom>
          <a:noFill/>
        </p:spPr>
        <p:txBody>
          <a:bodyPr wrap="square">
            <a:spAutoFit/>
          </a:bodyPr>
          <a:lstStyle/>
          <a:p>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p>
        </p:txBody>
      </p:sp>
      <p:sp>
        <p:nvSpPr>
          <p:cNvPr id="61" name="TextBox 60">
            <a:extLst>
              <a:ext uri="{FF2B5EF4-FFF2-40B4-BE49-F238E27FC236}">
                <a16:creationId xmlns:a16="http://schemas.microsoft.com/office/drawing/2014/main" id="{E096E5C1-A3FB-DB11-0E9D-069DCAF6EE18}"/>
              </a:ext>
            </a:extLst>
          </p:cNvPr>
          <p:cNvSpPr txBox="1"/>
          <p:nvPr/>
        </p:nvSpPr>
        <p:spPr>
          <a:xfrm>
            <a:off x="1349591"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3708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5790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Tree>
    <p:extLst>
      <p:ext uri="{BB962C8B-B14F-4D97-AF65-F5344CB8AC3E}">
        <p14:creationId xmlns:p14="http://schemas.microsoft.com/office/powerpoint/2010/main" val="23880918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E92755DC-C685-A16E-1945-9DAEF87CB287}"/>
                  </a:ext>
                </a:extLst>
              </p:cNvPr>
              <p:cNvSpPr txBox="1"/>
              <p:nvPr/>
            </p:nvSpPr>
            <p:spPr>
              <a:xfrm>
                <a:off x="712373" y="5624897"/>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4" name="TextBox 43">
                <a:extLst>
                  <a:ext uri="{FF2B5EF4-FFF2-40B4-BE49-F238E27FC236}">
                    <a16:creationId xmlns:a16="http://schemas.microsoft.com/office/drawing/2014/main" id="{E92755DC-C685-A16E-1945-9DAEF87CB287}"/>
                  </a:ext>
                </a:extLst>
              </p:cNvPr>
              <p:cNvSpPr txBox="1">
                <a:spLocks noRot="1" noChangeAspect="1" noMove="1" noResize="1" noEditPoints="1" noAdjustHandles="1" noChangeArrowheads="1" noChangeShapeType="1" noTextEdit="1"/>
              </p:cNvSpPr>
              <p:nvPr/>
            </p:nvSpPr>
            <p:spPr>
              <a:xfrm>
                <a:off x="712373" y="5624897"/>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D14461BC-90A0-A715-D64A-EEBFBC3A24AC}"/>
                  </a:ext>
                </a:extLst>
              </p:cNvPr>
              <p:cNvSpPr txBox="1"/>
              <p:nvPr/>
            </p:nvSpPr>
            <p:spPr>
              <a:xfrm>
                <a:off x="712373" y="2246437"/>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5" name="TextBox 44">
                <a:extLst>
                  <a:ext uri="{FF2B5EF4-FFF2-40B4-BE49-F238E27FC236}">
                    <a16:creationId xmlns:a16="http://schemas.microsoft.com/office/drawing/2014/main" id="{D14461BC-90A0-A715-D64A-EEBFBC3A24AC}"/>
                  </a:ext>
                </a:extLst>
              </p:cNvPr>
              <p:cNvSpPr txBox="1">
                <a:spLocks noRot="1" noChangeAspect="1" noMove="1" noResize="1" noEditPoints="1" noAdjustHandles="1" noChangeArrowheads="1" noChangeShapeType="1" noTextEdit="1"/>
              </p:cNvSpPr>
              <p:nvPr/>
            </p:nvSpPr>
            <p:spPr>
              <a:xfrm>
                <a:off x="712373" y="2246437"/>
                <a:ext cx="359393" cy="307777"/>
              </a:xfrm>
              <a:prstGeom prst="rect">
                <a:avLst/>
              </a:prstGeom>
              <a:blipFill>
                <a:blip r:embed="rId3"/>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FA4B60B-4101-5888-5A4E-215D7C9BED98}"/>
                  </a:ext>
                </a:extLst>
              </p:cNvPr>
              <p:cNvSpPr txBox="1"/>
              <p:nvPr/>
            </p:nvSpPr>
            <p:spPr>
              <a:xfrm>
                <a:off x="712373" y="3091052"/>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6" name="TextBox 45">
                <a:extLst>
                  <a:ext uri="{FF2B5EF4-FFF2-40B4-BE49-F238E27FC236}">
                    <a16:creationId xmlns:a16="http://schemas.microsoft.com/office/drawing/2014/main" id="{5FA4B60B-4101-5888-5A4E-215D7C9BED98}"/>
                  </a:ext>
                </a:extLst>
              </p:cNvPr>
              <p:cNvSpPr txBox="1">
                <a:spLocks noRot="1" noChangeAspect="1" noMove="1" noResize="1" noEditPoints="1" noAdjustHandles="1" noChangeArrowheads="1" noChangeShapeType="1" noTextEdit="1"/>
              </p:cNvSpPr>
              <p:nvPr/>
            </p:nvSpPr>
            <p:spPr>
              <a:xfrm>
                <a:off x="712373" y="3091052"/>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FFA5EEA1-96F5-9A09-C565-2EE54D0373CC}"/>
                  </a:ext>
                </a:extLst>
              </p:cNvPr>
              <p:cNvSpPr txBox="1"/>
              <p:nvPr/>
            </p:nvSpPr>
            <p:spPr>
              <a:xfrm>
                <a:off x="712373" y="3935667"/>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7" name="TextBox 46">
                <a:extLst>
                  <a:ext uri="{FF2B5EF4-FFF2-40B4-BE49-F238E27FC236}">
                    <a16:creationId xmlns:a16="http://schemas.microsoft.com/office/drawing/2014/main" id="{FFA5EEA1-96F5-9A09-C565-2EE54D0373CC}"/>
                  </a:ext>
                </a:extLst>
              </p:cNvPr>
              <p:cNvSpPr txBox="1">
                <a:spLocks noRot="1" noChangeAspect="1" noMove="1" noResize="1" noEditPoints="1" noAdjustHandles="1" noChangeArrowheads="1" noChangeShapeType="1" noTextEdit="1"/>
              </p:cNvSpPr>
              <p:nvPr/>
            </p:nvSpPr>
            <p:spPr>
              <a:xfrm>
                <a:off x="712373" y="3935667"/>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98ACF2E1-B110-BB75-0210-96F2B07D1598}"/>
                  </a:ext>
                </a:extLst>
              </p:cNvPr>
              <p:cNvSpPr txBox="1"/>
              <p:nvPr/>
            </p:nvSpPr>
            <p:spPr>
              <a:xfrm>
                <a:off x="712373" y="4780282"/>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8" name="TextBox 47">
                <a:extLst>
                  <a:ext uri="{FF2B5EF4-FFF2-40B4-BE49-F238E27FC236}">
                    <a16:creationId xmlns:a16="http://schemas.microsoft.com/office/drawing/2014/main" id="{98ACF2E1-B110-BB75-0210-96F2B07D1598}"/>
                  </a:ext>
                </a:extLst>
              </p:cNvPr>
              <p:cNvSpPr txBox="1">
                <a:spLocks noRot="1" noChangeAspect="1" noMove="1" noResize="1" noEditPoints="1" noAdjustHandles="1" noChangeArrowheads="1" noChangeShapeType="1" noTextEdit="1"/>
              </p:cNvSpPr>
              <p:nvPr/>
            </p:nvSpPr>
            <p:spPr>
              <a:xfrm>
                <a:off x="712373" y="4780282"/>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77477"/>
            <a:ext cx="10806736"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일치 주가</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개 단어로 이루어진 문장 등 순서가 있는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mc:Choice xmlns:a14="http://schemas.microsoft.com/office/drawing/2010/main"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3111789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일치 주가</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개 단어로 이루어진 문장 등 순서가 있는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mc:Choice xmlns:a14="http://schemas.microsoft.com/office/drawing/2010/main"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461641"/>
            <a:ext cx="7086600" cy="1815882"/>
          </a:xfrm>
          <a:prstGeom prst="rect">
            <a:avLst/>
          </a:prstGeom>
          <a:solidFill>
            <a:srgbClr val="76E3FF"/>
          </a:solidFill>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4928127"/>
            <a:ext cx="7086600" cy="1077218"/>
          </a:xfrm>
          <a:prstGeom prst="rect">
            <a:avLst/>
          </a:prstGeom>
          <a:solidFill>
            <a:srgbClr val="76E3FF"/>
          </a:solidFill>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4277523"/>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Pseudocode RNN</a:t>
            </a:r>
            <a:endParaRPr lang="ko-KR" altLang="en-US" sz="1600" dirty="0">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6031850"/>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pseudocode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7976960" y="3228976"/>
            <a:ext cx="3960911" cy="2840986"/>
          </a:xfrm>
          <a:prstGeom prst="rect">
            <a:avLst/>
          </a:prstGeom>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p:spPr>
      </p:pic>
      <p:sp>
        <p:nvSpPr>
          <p:cNvPr id="6" name="직사각형 5">
            <a:extLst>
              <a:ext uri="{FF2B5EF4-FFF2-40B4-BE49-F238E27FC236}">
                <a16:creationId xmlns:a16="http://schemas.microsoft.com/office/drawing/2014/main" id="{2A2B9C36-B64D-46EA-E19A-22CDA0A585BB}"/>
              </a:ext>
            </a:extLst>
          </p:cNvPr>
          <p:cNvSpPr/>
          <p:nvPr/>
        </p:nvSpPr>
        <p:spPr>
          <a:xfrm>
            <a:off x="958284" y="169545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958284" y="1969294"/>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958284" y="224313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958284" y="2516982"/>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958284" y="27908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958284" y="373380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958284" y="40100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rot="10800000">
            <a:off x="649346" y="1695450"/>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1434533" y="4019551"/>
            <a:ext cx="209550" cy="1057275"/>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27541" y="2721412"/>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896997" y="4740234"/>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5273835" y="179959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(32,)</a:t>
            </a:r>
            <a:endParaRPr lang="ko-KR" altLang="en-US" sz="1600" dirty="0">
              <a:solidFill>
                <a:schemeClr val="tx1"/>
              </a:solidFill>
            </a:endParaRPr>
          </a:p>
        </p:txBody>
      </p:sp>
      <p:sp>
        <p:nvSpPr>
          <p:cNvPr id="19" name="직사각형 18">
            <a:extLst>
              <a:ext uri="{FF2B5EF4-FFF2-40B4-BE49-F238E27FC236}">
                <a16:creationId xmlns:a16="http://schemas.microsoft.com/office/drawing/2014/main" id="{18D4909B-5806-AD49-FB56-121ABED34D54}"/>
              </a:ext>
            </a:extLst>
          </p:cNvPr>
          <p:cNvSpPr/>
          <p:nvPr/>
        </p:nvSpPr>
        <p:spPr>
          <a:xfrm>
            <a:off x="4064670" y="1790939"/>
            <a:ext cx="1162050" cy="1670447"/>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(64,32)</a:t>
            </a:r>
            <a:endParaRPr lang="ko-KR" altLang="en-US" sz="1600" dirty="0">
              <a:solidFill>
                <a:schemeClr val="tx1"/>
              </a:solidFill>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8409881" y="1799598"/>
            <a:ext cx="1670446" cy="265834"/>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bg1"/>
                </a:solidFill>
              </a:rPr>
              <a:t>(64,)</a:t>
            </a:r>
            <a:endParaRPr lang="ko-KR" altLang="en-US" sz="1600" dirty="0">
              <a:solidFill>
                <a:schemeClr val="bg1"/>
              </a:solidFill>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3071088" y="1337572"/>
            <a:ext cx="7962900" cy="307585"/>
          </a:xfrm>
          <a:prstGeom prst="rect">
            <a:avLst/>
          </a:prstGeom>
          <a:no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6620998" y="1799598"/>
            <a:ext cx="1670445" cy="1670447"/>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(64,64)</a:t>
            </a:r>
            <a:endParaRPr lang="ko-KR" altLang="en-US" sz="1600" dirty="0">
              <a:solidFill>
                <a:schemeClr val="tx1"/>
              </a:solidFill>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198765" y="1790939"/>
            <a:ext cx="1670446" cy="265834"/>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t>(64,)</a:t>
            </a:r>
            <a:endParaRPr lang="ko-KR" altLang="en-US" sz="1600" dirty="0"/>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02289" y="6193856"/>
            <a:ext cx="3936447" cy="325776"/>
          </a:xfrm>
          <a:prstGeom prst="rect">
            <a:avLst/>
          </a:prstGeom>
          <a:ln w="12700">
            <a:solidFill>
              <a:schemeClr val="tx1"/>
            </a:solidFill>
          </a:ln>
        </p:spPr>
      </p:pic>
      <p:sp>
        <p:nvSpPr>
          <p:cNvPr id="42" name="TextBox 41">
            <a:extLst>
              <a:ext uri="{FF2B5EF4-FFF2-40B4-BE49-F238E27FC236}">
                <a16:creationId xmlns:a16="http://schemas.microsoft.com/office/drawing/2014/main" id="{D9B8D9F8-80EE-89C6-210B-F23C84C11985}"/>
              </a:ext>
            </a:extLst>
          </p:cNvPr>
          <p:cNvSpPr txBox="1"/>
          <p:nvPr/>
        </p:nvSpPr>
        <p:spPr>
          <a:xfrm>
            <a:off x="5306859" y="2097881"/>
            <a:ext cx="1162050" cy="338554"/>
          </a:xfrm>
          <a:prstGeom prst="rect">
            <a:avLst/>
          </a:prstGeom>
          <a:noFill/>
        </p:spPr>
        <p:txBody>
          <a:bodyPr wrap="square">
            <a:spAutoFit/>
          </a:bodyPr>
          <a:lstStyle/>
          <a:p>
            <a:r>
              <a:rPr lang="en-US" altLang="ko-KR" sz="1600" dirty="0" err="1">
                <a:latin typeface="D2Coding" panose="020B0609020101020101" pitchFamily="49" charset="-127"/>
                <a:ea typeface="D2Coding" panose="020B0609020101020101" pitchFamily="49" charset="-127"/>
              </a:rPr>
              <a:t>in</a:t>
            </a:r>
            <a:r>
              <a:rPr lang="en-US" altLang="ko-KR" sz="1600" b="0" dirty="0" err="1">
                <a:effectLst/>
                <a:latin typeface="D2Coding" panose="020B0609020101020101" pitchFamily="49" charset="-127"/>
                <a:ea typeface="D2Coding" panose="020B0609020101020101" pitchFamily="49" charset="-127"/>
              </a:rPr>
              <a:t>put_t</a:t>
            </a:r>
            <a:endParaRPr lang="ko-KR" altLang="en-US" sz="1600" dirty="0"/>
          </a:p>
        </p:txBody>
      </p:sp>
      <p:sp>
        <p:nvSpPr>
          <p:cNvPr id="44" name="TextBox 43">
            <a:extLst>
              <a:ext uri="{FF2B5EF4-FFF2-40B4-BE49-F238E27FC236}">
                <a16:creationId xmlns:a16="http://schemas.microsoft.com/office/drawing/2014/main" id="{163177FC-A382-77DE-791A-B40E701EF883}"/>
              </a:ext>
            </a:extLst>
          </p:cNvPr>
          <p:cNvSpPr txBox="1"/>
          <p:nvPr/>
        </p:nvSpPr>
        <p:spPr>
          <a:xfrm>
            <a:off x="127541" y="3081398"/>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905896" y="1279439"/>
            <a:ext cx="116205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a:t>
            </a:r>
            <a:r>
              <a:rPr lang="en-US" altLang="ko-KR" b="0" dirty="0">
                <a:effectLst/>
                <a:latin typeface="D2Coding" panose="020B0609020101020101" pitchFamily="49" charset="-127"/>
                <a:ea typeface="D2Coding" panose="020B0609020101020101" pitchFamily="49" charset="-127"/>
              </a:rPr>
              <a:t>put</a:t>
            </a:r>
            <a:r>
              <a:rPr lang="en-US" altLang="ko-KR" dirty="0">
                <a:latin typeface="D2Coding" panose="020B0609020101020101" pitchFamily="49" charset="-127"/>
                <a:ea typeface="D2Coding" panose="020B0609020101020101" pitchFamily="49" charset="-127"/>
              </a:rPr>
              <a:t>s</a:t>
            </a:r>
            <a:endParaRPr lang="ko-KR" altLang="en-US" dirty="0"/>
          </a:p>
        </p:txBody>
      </p:sp>
      <p:cxnSp>
        <p:nvCxnSpPr>
          <p:cNvPr id="48" name="연결선: 구부러짐 47">
            <a:extLst>
              <a:ext uri="{FF2B5EF4-FFF2-40B4-BE49-F238E27FC236}">
                <a16:creationId xmlns:a16="http://schemas.microsoft.com/office/drawing/2014/main" id="{7BB50E53-507D-5F76-ADF4-EB41671D0DDB}"/>
              </a:ext>
            </a:extLst>
          </p:cNvPr>
          <p:cNvCxnSpPr>
            <a:stCxn id="6" idx="3"/>
            <a:endCxn id="18" idx="0"/>
          </p:cNvCxnSpPr>
          <p:nvPr/>
        </p:nvCxnSpPr>
        <p:spPr>
          <a:xfrm flipV="1">
            <a:off x="2120334" y="1799598"/>
            <a:ext cx="3734526" cy="24440"/>
          </a:xfrm>
          <a:prstGeom prst="curvedConnector4">
            <a:avLst>
              <a:gd name="adj1" fmla="val 37630"/>
              <a:gd name="adj2" fmla="val 526137"/>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305447" y="1778481"/>
            <a:ext cx="1291658"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 :</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8816941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np.dot(</a:t>
            </a:r>
            <a:r>
              <a:rPr lang="en-US" altLang="ko-KR" sz="2000" b="1" dirty="0">
                <a:solidFill>
                  <a:schemeClr val="accent4"/>
                </a:solidFill>
                <a:effectLst/>
                <a:latin typeface="D2Coding" panose="020B0609020101020101" pitchFamily="49" charset="-127"/>
                <a:ea typeface="D2Coding" panose="020B0609020101020101" pitchFamily="49" charset="-127"/>
              </a:rPr>
              <a:t>U</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5"/>
                </a:solidFill>
                <a:effectLst/>
                <a:latin typeface="D2Coding" panose="020B0609020101020101" pitchFamily="49" charset="-127"/>
                <a:ea typeface="D2Coding" panose="020B0609020101020101" pitchFamily="49" charset="-127"/>
              </a:rPr>
              <a:t>state_t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400110"/>
          </a:xfrm>
          <a:prstGeom prst="rect">
            <a:avLst/>
          </a:prstGeom>
          <a:solidFill>
            <a:srgbClr val="76E3FF"/>
          </a:solidFill>
        </p:spPr>
        <p:txBody>
          <a:bodyPr wrap="square">
            <a:spAutoFit/>
          </a:bodyPr>
          <a:lstStyle/>
          <a:p>
            <a:r>
              <a:rPr lang="en-US" altLang="ko-KR" sz="2000" dirty="0" err="1">
                <a:latin typeface="D2Coding" panose="020B0609020101020101" pitchFamily="49" charset="-127"/>
                <a:ea typeface="D2Coding" panose="020B0609020101020101" pitchFamily="49" charset="-127"/>
              </a:rPr>
              <a:t>SimpleRNN</a:t>
            </a:r>
            <a:r>
              <a:rPr lang="en-US" altLang="ko-KR" sz="2000" dirty="0">
                <a:effectLst/>
                <a:latin typeface="D2Coding" panose="020B0609020101020101" pitchFamily="49" charset="-127"/>
                <a:ea typeface="D2Coding" panose="020B0609020101020101" pitchFamily="49" charset="-127"/>
              </a:rPr>
              <a:t>(64,</a:t>
            </a:r>
            <a:r>
              <a:rPr lang="en-US" altLang="ko-KR" sz="2000" dirty="0">
                <a:latin typeface="D2Coding" panose="020B0609020101020101" pitchFamily="49" charset="-127"/>
                <a:ea typeface="D2Coding" panose="020B0609020101020101" pitchFamily="49" charset="-127"/>
              </a:rPr>
              <a:t> </a:t>
            </a:r>
            <a:r>
              <a:rPr lang="en-US" altLang="ko-KR" sz="2000" dirty="0" err="1">
                <a:effectLst/>
                <a:latin typeface="D2Coding" panose="020B0609020101020101" pitchFamily="49" charset="-127"/>
                <a:ea typeface="D2Coding" panose="020B0609020101020101" pitchFamily="49" charset="-127"/>
              </a:rPr>
              <a:t>input_shape</a:t>
            </a:r>
            <a:r>
              <a:rPr lang="en-US" altLang="ko-KR" sz="2000" dirty="0">
                <a:latin typeface="D2Coding" panose="020B0609020101020101" pitchFamily="49" charset="-127"/>
                <a:ea typeface="D2Coding" panose="020B0609020101020101" pitchFamily="49" charset="-127"/>
              </a:rPr>
              <a:t>=</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timesteps</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 </a:t>
            </a:r>
            <a:r>
              <a:rPr lang="en-US" altLang="ko-KR" sz="2000" dirty="0" err="1">
                <a:latin typeface="D2Coding" panose="020B0609020101020101" pitchFamily="49" charset="-127"/>
                <a:ea typeface="D2Coding" panose="020B0609020101020101" pitchFamily="49" charset="-127"/>
              </a:rPr>
              <a:t>input_features</a:t>
            </a:r>
            <a:r>
              <a:rPr lang="en-US" altLang="ko-KR" sz="2000" dirty="0">
                <a:effectLst/>
                <a:latin typeface="D2Coding" panose="020B0609020101020101" pitchFamily="49" charset="-127"/>
                <a:ea typeface="D2Coding" panose="020B0609020101020101" pitchFamily="49" charset="-127"/>
              </a:rPr>
              <a:t>))</a:t>
            </a:r>
            <a:endParaRPr lang="ko-KR" altLang="en-US" sz="2000"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880819"/>
          </a:xfrm>
          <a:prstGeom prst="rect">
            <a:avLst/>
          </a:prstGeom>
          <a:noFill/>
        </p:spPr>
        <p:txBody>
          <a:bodyPr wrap="square" rtlCol="0">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의 은닉층의 노드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뉴런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의 개수는 </a:t>
            </a:r>
            <a:r>
              <a:rPr lang="en-US" altLang="ko-KR" dirty="0">
                <a:latin typeface="D2Coding" panose="020B0609020101020101" pitchFamily="49" charset="-127"/>
                <a:ea typeface="D2Coding" panose="020B0609020101020101" pitchFamily="49" charset="-127"/>
              </a:rPr>
              <a:t>64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en-US" altLang="ko-KR" dirty="0" err="1">
                <a:latin typeface="D2Coding" panose="020B0609020101020101" pitchFamily="49" charset="-127"/>
                <a:ea typeface="D2Coding" panose="020B0609020101020101" pitchFamily="49" charset="-127"/>
              </a:rPr>
              <a:t>output_features</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로 </a:t>
            </a:r>
            <a:r>
              <a:rPr lang="en-US" altLang="ko-KR" dirty="0" err="1">
                <a:latin typeface="D2Coding" panose="020B0609020101020101" pitchFamily="49" charset="-127"/>
                <a:ea typeface="D2Coding" panose="020B0609020101020101" pitchFamily="49" charset="-127"/>
              </a:rPr>
              <a:t>input_features</a:t>
            </a:r>
            <a:r>
              <a:rPr lang="en-US" altLang="ko-KR" dirty="0">
                <a:latin typeface="D2Coding" panose="020B0609020101020101" pitchFamily="49" charset="-127"/>
                <a:ea typeface="D2Coding" panose="020B0609020101020101" pitchFamily="49" charset="-127"/>
              </a:rPr>
              <a:t> 32</a:t>
            </a:r>
            <a:r>
              <a:rPr lang="ko-KR" altLang="en-US" dirty="0">
                <a:latin typeface="D2Coding" panose="020B0609020101020101" pitchFamily="49" charset="-127"/>
                <a:ea typeface="D2Coding" panose="020B0609020101020101" pitchFamily="49" charset="-127"/>
              </a:rPr>
              <a:t>개 노드를 받아 </a:t>
            </a:r>
            <a:r>
              <a:rPr lang="en-US" altLang="ko-KR" dirty="0">
                <a:latin typeface="D2Coding" panose="020B0609020101020101" pitchFamily="49" charset="-127"/>
                <a:ea typeface="D2Coding" panose="020B0609020101020101" pitchFamily="49" charset="-127"/>
              </a:rPr>
              <a:t>timesteps 100</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최근 </a:t>
            </a:r>
            <a:r>
              <a:rPr lang="en-US" altLang="ko-KR" dirty="0">
                <a:latin typeface="D2Coding" panose="020B0609020101020101" pitchFamily="49" charset="-127"/>
                <a:ea typeface="D2Coding" panose="020B0609020101020101" pitchFamily="49" charset="-127"/>
              </a:rPr>
              <a:t>100</a:t>
            </a:r>
            <a:r>
              <a:rPr lang="ko-KR" altLang="en-US" dirty="0">
                <a:latin typeface="D2Coding" panose="020B0609020101020101" pitchFamily="49" charset="-127"/>
                <a:ea typeface="D2Coding" panose="020B0609020101020101" pitchFamily="49" charset="-127"/>
              </a:rPr>
              <a:t>일 동안 주가</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과거의 </a:t>
            </a:r>
            <a:r>
              <a:rPr lang="en-US" altLang="ko-KR" dirty="0">
                <a:latin typeface="D2Coding" panose="020B0609020101020101" pitchFamily="49" charset="-127"/>
                <a:ea typeface="D2Coding" panose="020B0609020101020101" pitchFamily="49" charset="-127"/>
              </a:rPr>
              <a:t>state</a:t>
            </a:r>
            <a:r>
              <a:rPr lang="ko-KR" altLang="en-US" dirty="0">
                <a:latin typeface="D2Coding" panose="020B0609020101020101" pitchFamily="49" charset="-127"/>
                <a:ea typeface="D2Coding" panose="020B0609020101020101" pitchFamily="49" charset="-127"/>
              </a:rPr>
              <a:t>를 계속 </a:t>
            </a:r>
            <a:r>
              <a:rPr lang="en-US" altLang="ko-KR" dirty="0">
                <a:latin typeface="D2Coding" panose="020B0609020101020101" pitchFamily="49" charset="-127"/>
                <a:ea typeface="D2Coding" panose="020B0609020101020101" pitchFamily="49" charset="-127"/>
              </a:rPr>
              <a:t>memory</a:t>
            </a:r>
            <a:r>
              <a:rPr lang="ko-KR" altLang="en-US"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RNN(Recurrent Neural Network)</a:t>
            </a:r>
            <a:endParaRPr lang="ko-KR" altLang="en-US" sz="2000" u="sng" dirty="0"/>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6181725"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FCNN(Fully Connected Neural Network)</a:t>
            </a:r>
            <a:endParaRPr lang="ko-KR" altLang="en-US" sz="2000" u="sng" dirty="0"/>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2000"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84775"/>
          </a:xfrm>
          <a:prstGeom prst="rect">
            <a:avLst/>
          </a:prstGeom>
          <a:noFill/>
          <a:ln w="28575">
            <a:noFill/>
          </a:ln>
        </p:spPr>
        <p:txBody>
          <a:bodyPr wrap="square">
            <a:spAutoFit/>
          </a:bodyPr>
          <a:lstStyle/>
          <a:p>
            <a:r>
              <a:rPr lang="en-US" altLang="ko-KR" sz="1600" b="0" dirty="0">
                <a:effectLst/>
                <a:latin typeface="D2Coding" panose="020B0609020101020101" pitchFamily="49" charset="-127"/>
                <a:ea typeface="D2Coding" panose="020B0609020101020101" pitchFamily="49" charset="-127"/>
              </a:rPr>
              <a:t>np.dot(</a:t>
            </a:r>
            <a:r>
              <a:rPr lang="en-US" altLang="ko-KR" sz="1600" b="1" dirty="0">
                <a:solidFill>
                  <a:schemeClr val="accent4"/>
                </a:solidFill>
                <a:effectLst/>
                <a:latin typeface="D2Coding" panose="020B0609020101020101" pitchFamily="49" charset="-127"/>
                <a:ea typeface="D2Coding" panose="020B0609020101020101" pitchFamily="49" charset="-127"/>
              </a:rPr>
              <a:t>U</a:t>
            </a:r>
            <a:r>
              <a:rPr lang="en-US" altLang="ko-KR" sz="1600" b="1" dirty="0">
                <a:effectLst/>
                <a:latin typeface="D2Coding" panose="020B0609020101020101" pitchFamily="49" charset="-127"/>
                <a:ea typeface="D2Coding" panose="020B0609020101020101" pitchFamily="49" charset="-127"/>
              </a:rPr>
              <a:t>, </a:t>
            </a:r>
            <a:r>
              <a:rPr lang="en-US" altLang="ko-KR" sz="1600" b="1" dirty="0" err="1">
                <a:solidFill>
                  <a:schemeClr val="accent5"/>
                </a:solidFill>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이전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하는 수식 항</a:t>
            </a:r>
            <a:endParaRPr lang="ko-KR" altLang="en-US" sz="16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78753"/>
          </a:xfrm>
          <a:prstGeom prst="curvedConnector4">
            <a:avLst>
              <a:gd name="adj1" fmla="val -32000"/>
              <a:gd name="adj2" fmla="val 62402"/>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499864"/>
            <a:ext cx="7675230" cy="4053211"/>
          </a:xfrm>
          <a:prstGeom prst="rect">
            <a:avLst/>
          </a:prstGeom>
        </p:spPr>
      </p:pic>
      <p:sp>
        <p:nvSpPr>
          <p:cNvPr id="6" name="TextBox 5">
            <a:extLst>
              <a:ext uri="{FF2B5EF4-FFF2-40B4-BE49-F238E27FC236}">
                <a16:creationId xmlns:a16="http://schemas.microsoft.com/office/drawing/2014/main" id="{DF2DCB4E-8036-5F8F-788D-405F90D49285}"/>
              </a:ext>
            </a:extLst>
          </p:cNvPr>
          <p:cNvSpPr txBox="1"/>
          <p:nvPr/>
        </p:nvSpPr>
        <p:spPr>
          <a:xfrm>
            <a:off x="2053325" y="5619851"/>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52518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56517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 </a:t>
            </a:r>
            <a:r>
              <a:rPr lang="en-US" altLang="ko-KR" sz="1600" b="0" dirty="0" err="1">
                <a:effectLst/>
                <a:latin typeface="D2Coding" panose="020B0609020101020101" pitchFamily="49" charset="-127"/>
                <a:ea typeface="D2Coding" panose="020B0609020101020101" pitchFamily="49" charset="-127"/>
              </a:rPr>
              <a:t>return_sequences</a:t>
            </a:r>
            <a:r>
              <a:rPr lang="en-US" altLang="ko-KR" sz="1600" b="0" dirty="0">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layers.Bidirectional</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7E4F8CE3-9BEB-1F18-5E90-E8606DD8E24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37</a:t>
            </a:fld>
            <a:endParaRPr lang="en-US" dirty="0"/>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34378232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793928" cy="369332"/>
          </a:xfrm>
          <a:prstGeom prst="rect">
            <a:avLst/>
          </a:prstGeom>
          <a:noFill/>
        </p:spPr>
        <p:txBody>
          <a:bodyPr wrap="none" rtlCol="0">
            <a:spAutoFit/>
          </a:bodyPr>
          <a:lstStyle/>
          <a:p>
            <a:r>
              <a:rPr lang="en-US" altLang="ko-KR" dirty="0">
                <a:hlinkClick r:id="rId3"/>
              </a:rPr>
              <a:t>MIT 6.S191 (2025): Recurrent Neural Networks, Transformers, and Attention</a:t>
            </a:r>
            <a:endParaRPr lang="ko-KR" altLang="en-US" dirty="0"/>
          </a:p>
        </p:txBody>
      </p:sp>
    </p:spTree>
    <p:extLst>
      <p:ext uri="{BB962C8B-B14F-4D97-AF65-F5344CB8AC3E}">
        <p14:creationId xmlns:p14="http://schemas.microsoft.com/office/powerpoint/2010/main" val="4395993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70F7-2C5C-FE2E-E48D-723ADDF12B0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0725A30D-595D-82E4-351E-7F2F2DCFC18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77C0275-2B0F-D278-A29D-1CEDA72D96B4}"/>
              </a:ext>
            </a:extLst>
          </p:cNvPr>
          <p:cNvGraphicFramePr>
            <a:graphicFrameLocks noGrp="1"/>
          </p:cNvGraphicFramePr>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C8E4F7EF-4BA5-A370-BAA3-B38E18757E7A}"/>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2A87A5D0-916D-27BF-D866-2D20E3F1C2C7}"/>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EBF915A4-0DCB-C7EB-0C33-4500D95795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46326C07-27F9-6F7A-BDF5-B42616B36906}"/>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BA6AD419-A0F2-A35B-1726-8C849497EAFD}"/>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419624C6-0AF1-31D7-713F-4DECD6A71B4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8215670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8683536" y="5836180"/>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9138876" y="619850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2" name="TextBox 1">
            <a:extLst>
              <a:ext uri="{FF2B5EF4-FFF2-40B4-BE49-F238E27FC236}">
                <a16:creationId xmlns:a16="http://schemas.microsoft.com/office/drawing/2014/main" id="{5932765D-70FD-A964-6219-DBE50AE817AD}"/>
              </a:ext>
            </a:extLst>
          </p:cNvPr>
          <p:cNvSpPr txBox="1"/>
          <p:nvPr/>
        </p:nvSpPr>
        <p:spPr>
          <a:xfrm>
            <a:off x="6800850" y="3429000"/>
            <a:ext cx="4286250" cy="369332"/>
          </a:xfrm>
          <a:prstGeom prst="rect">
            <a:avLst/>
          </a:prstGeom>
          <a:noFill/>
        </p:spPr>
        <p:txBody>
          <a:bodyPr wrap="square" rtlCol="0">
            <a:spAutoFit/>
          </a:bodyPr>
          <a:lstStyle/>
          <a:p>
            <a:r>
              <a:rPr lang="ko-KR" altLang="en-US" dirty="0">
                <a:hlinkClick r:id="rId3"/>
              </a:rPr>
              <a:t>시계열 예측</a:t>
            </a:r>
            <a:endParaRPr lang="ko-KR" altLang="en-US" dirty="0"/>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228850" y="1982624"/>
            <a:ext cx="8896350" cy="4201571"/>
          </a:xfrm>
          <a:prstGeom prst="rect">
            <a:avLst/>
          </a:prstGeom>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7385</TotalTime>
  <Words>4751</Words>
  <Application>Microsoft Office PowerPoint</Application>
  <PresentationFormat>와이드스크린</PresentationFormat>
  <Paragraphs>581</Paragraphs>
  <Slides>52</Slides>
  <Notes>2</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52</vt:i4>
      </vt:variant>
    </vt:vector>
  </HeadingPairs>
  <TitlesOfParts>
    <vt:vector size="62" baseType="lpstr">
      <vt:lpstr>D2Coding</vt:lpstr>
      <vt:lpstr>맑은 고딕</vt:lpstr>
      <vt:lpstr>Batang</vt:lpstr>
      <vt:lpstr>Arial</vt:lpstr>
      <vt:lpstr>Cambria Math</vt:lpstr>
      <vt:lpstr>Cascadia Code</vt:lpstr>
      <vt:lpstr>Lora</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127</cp:revision>
  <dcterms:created xsi:type="dcterms:W3CDTF">2026-04-06T01:00:39Z</dcterms:created>
  <dcterms:modified xsi:type="dcterms:W3CDTF">2026-08-14T23:35:14Z</dcterms:modified>
  <cp:version/>
</cp:coreProperties>
</file>