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3"/>
  </p:notesMasterIdLst>
  <p:handoutMasterIdLst>
    <p:handoutMasterId r:id="rId64"/>
  </p:handoutMasterIdLst>
  <p:sldIdLst>
    <p:sldId id="256" r:id="rId2"/>
    <p:sldId id="1155" r:id="rId3"/>
    <p:sldId id="1122" r:id="rId4"/>
    <p:sldId id="1134" r:id="rId5"/>
    <p:sldId id="1140" r:id="rId6"/>
    <p:sldId id="1141" r:id="rId7"/>
    <p:sldId id="1144" r:id="rId8"/>
    <p:sldId id="1142" r:id="rId9"/>
    <p:sldId id="1143" r:id="rId10"/>
    <p:sldId id="1169" r:id="rId11"/>
    <p:sldId id="1157" r:id="rId12"/>
    <p:sldId id="1146" r:id="rId13"/>
    <p:sldId id="1148" r:id="rId14"/>
    <p:sldId id="1222" r:id="rId15"/>
    <p:sldId id="1223" r:id="rId16"/>
    <p:sldId id="1224" r:id="rId17"/>
    <p:sldId id="1145" r:id="rId18"/>
    <p:sldId id="1225" r:id="rId19"/>
    <p:sldId id="1226" r:id="rId20"/>
    <p:sldId id="1158" r:id="rId21"/>
    <p:sldId id="1150" r:id="rId22"/>
    <p:sldId id="1152" r:id="rId23"/>
    <p:sldId id="1149" r:id="rId24"/>
    <p:sldId id="1217" r:id="rId25"/>
    <p:sldId id="1220" r:id="rId26"/>
    <p:sldId id="1221" r:id="rId27"/>
    <p:sldId id="1218" r:id="rId28"/>
    <p:sldId id="1219" r:id="rId29"/>
    <p:sldId id="1153" r:id="rId30"/>
    <p:sldId id="1151" r:id="rId31"/>
    <p:sldId id="1154" r:id="rId32"/>
    <p:sldId id="1159" r:id="rId33"/>
    <p:sldId id="1161" r:id="rId34"/>
    <p:sldId id="1173" r:id="rId35"/>
    <p:sldId id="1174" r:id="rId36"/>
    <p:sldId id="1139" r:id="rId37"/>
    <p:sldId id="1172" r:id="rId38"/>
    <p:sldId id="1133" r:id="rId39"/>
    <p:sldId id="1163" r:id="rId40"/>
    <p:sldId id="1164" r:id="rId41"/>
    <p:sldId id="1165" r:id="rId42"/>
    <p:sldId id="1166" r:id="rId43"/>
    <p:sldId id="1121" r:id="rId44"/>
    <p:sldId id="1168" r:id="rId45"/>
    <p:sldId id="1135" r:id="rId46"/>
    <p:sldId id="1167" r:id="rId47"/>
    <p:sldId id="1160" r:id="rId48"/>
    <p:sldId id="1175" r:id="rId49"/>
    <p:sldId id="1132" r:id="rId50"/>
    <p:sldId id="1170" r:id="rId51"/>
    <p:sldId id="1171" r:id="rId52"/>
    <p:sldId id="1125" r:id="rId53"/>
    <p:sldId id="1127" r:id="rId54"/>
    <p:sldId id="1128" r:id="rId55"/>
    <p:sldId id="1123" r:id="rId56"/>
    <p:sldId id="1130" r:id="rId57"/>
    <p:sldId id="1131" r:id="rId58"/>
    <p:sldId id="1137" r:id="rId59"/>
    <p:sldId id="1138" r:id="rId60"/>
    <p:sldId id="1129" r:id="rId61"/>
    <p:sldId id="1162" r:id="rId62"/>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69"/>
            <p14:sldId id="1157"/>
            <p14:sldId id="1146"/>
            <p14:sldId id="1148"/>
            <p14:sldId id="1222"/>
            <p14:sldId id="1223"/>
            <p14:sldId id="1224"/>
            <p14:sldId id="1145"/>
            <p14:sldId id="1225"/>
            <p14:sldId id="1226"/>
            <p14:sldId id="1158"/>
            <p14:sldId id="1150"/>
            <p14:sldId id="1152"/>
            <p14:sldId id="1149"/>
            <p14:sldId id="1217"/>
            <p14:sldId id="1220"/>
            <p14:sldId id="1221"/>
            <p14:sldId id="1218"/>
            <p14:sldId id="1219"/>
            <p14:sldId id="1153"/>
            <p14:sldId id="1151"/>
            <p14:sldId id="1154"/>
            <p14:sldId id="1159"/>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127"/>
            <p14:sldId id="1128"/>
            <p14:sldId id="1123"/>
            <p14:sldId id="1130"/>
            <p14:sldId id="1131"/>
            <p14:sldId id="1137"/>
            <p14:sldId id="1138"/>
            <p14:sldId id="1129"/>
            <p14:sldId id="1162"/>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p:scale>
        <a:sx n="50" d="100"/>
        <a:sy n="50" d="100"/>
      </p:scale>
      <p:origin x="0" y="-5381"/>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notesMaster" Target="notesMasters/notesMaster1.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2026-09-26</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2026-09-26</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24</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274060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53</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2026-09-26</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9/26/2026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2026-09-26</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png"/><Relationship Id="rId1" Type="http://schemas.openxmlformats.org/officeDocument/2006/relationships/slideLayout" Target="../slideLayouts/slideLayout4.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34.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1.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1.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1.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1.png"/><Relationship Id="rId9" Type="http://schemas.openxmlformats.org/officeDocument/2006/relationships/image" Target="../media/image40.png"/><Relationship Id="rId14" Type="http://schemas.openxmlformats.org/officeDocument/2006/relationships/image" Target="../media/image45.png"/></Relationships>
</file>

<file path=ppt/slides/_rels/slide35.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8" Type="http://schemas.openxmlformats.org/officeDocument/2006/relationships/image" Target="../media/image61.png"/><Relationship Id="rId3" Type="http://schemas.microsoft.com/office/2007/relationships/hdphoto" Target="../media/hdphoto1.wdp"/><Relationship Id="rId7"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4.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3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4.xml"/><Relationship Id="rId4" Type="http://schemas.openxmlformats.org/officeDocument/2006/relationships/image" Target="../media/image72.svg"/></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77.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9.png"/><Relationship Id="rId5" Type="http://schemas.openxmlformats.org/officeDocument/2006/relationships/image" Target="../media/image78.png"/><Relationship Id="rId4" Type="http://schemas.microsoft.com/office/2007/relationships/hdphoto" Target="../media/hdphoto2.wdp"/></Relationships>
</file>

<file path=ppt/slides/_rels/slide53.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9.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54.xml.rels><?xml version="1.0" encoding="UTF-8" standalone="yes"?>
<Relationships xmlns="http://schemas.openxmlformats.org/package/2006/relationships"><Relationship Id="rId8" Type="http://schemas.openxmlformats.org/officeDocument/2006/relationships/image" Target="../media/image81.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80.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9.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82.png"/><Relationship Id="rId1" Type="http://schemas.openxmlformats.org/officeDocument/2006/relationships/slideLayout" Target="../slideLayouts/slideLayout4.xml"/><Relationship Id="rId5" Type="http://schemas.openxmlformats.org/officeDocument/2006/relationships/image" Target="../media/image83.png"/><Relationship Id="rId4" Type="http://schemas.microsoft.com/office/2007/relationships/hdphoto" Target="../media/hdphoto3.wdp"/></Relationships>
</file>

<file path=ppt/slides/_rels/slide5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4.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5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7.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85.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625741" cy="4633362"/>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2649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812213" y="388023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(현재가/고가/저가)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915026" y="3753741"/>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endPar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3234178" y="4492286"/>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15809" y="3048540"/>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30059" y="321984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44309" y="3391152"/>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9034" y="3562458"/>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53759" y="373376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13279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8C702-916B-4E37-5B18-0C0FECE96F1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A76000-FAA5-7FF5-6095-CEF483FE22C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FC730BCD-8501-950A-7929-F8D341453A14}"/>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165CDD7A-EBDF-5314-F57C-D47A1AA8D6D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9E14C44D-4A5D-1F8F-D59B-D8A406DA7A29}"/>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One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hot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encoding</a:t>
            </a:r>
            <a:endParaRPr lang="ko-KR"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A1FE1F92-1369-237E-0D4F-2F5327D8174E}"/>
              </a:ext>
            </a:extLst>
          </p:cNvPr>
          <p:cNvSpPr txBox="1"/>
          <p:nvPr/>
        </p:nvSpPr>
        <p:spPr>
          <a:xfrm>
            <a:off x="7439280" y="2672202"/>
            <a:ext cx="4114802" cy="3831818"/>
          </a:xfrm>
          <a:prstGeom prst="rect">
            <a:avLst/>
          </a:prstGeom>
          <a:solidFill>
            <a:schemeClr val="tx1"/>
          </a:solidFill>
        </p:spPr>
        <p:txBody>
          <a:bodyPr wrap="square">
            <a:spAutoFit/>
          </a:bodyPr>
          <a:lstStyle/>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0 (첫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 : 1번째 글자 ('</a:t>
            </a:r>
            <a:r>
              <a:rPr lang="ko-KR" altLang="en-US" sz="900" dirty="0" err="1">
                <a:solidFill>
                  <a:schemeClr val="bg1"/>
                </a:solidFill>
                <a:latin typeface="Calibri Light" panose="020F0302020204030204" pitchFamily="34" charset="0"/>
                <a:cs typeface="Calibri Light" panose="020F0302020204030204" pitchFamily="34" charset="0"/>
              </a:rPr>
              <a:t>T'의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 128차원)</a:t>
            </a:r>
          </a:p>
          <a:p>
            <a:r>
              <a:rPr lang="ko-KR" altLang="en-US" sz="900" dirty="0">
                <a:solidFill>
                  <a:schemeClr val="bg1"/>
                </a:solidFill>
                <a:latin typeface="Calibri Light" panose="020F0302020204030204" pitchFamily="34" charset="0"/>
                <a:cs typeface="Calibri Light" panose="020F0302020204030204" pitchFamily="34" charset="0"/>
              </a:rPr>
              <a:t>        [0., 0., ..., </a:t>
            </a:r>
            <a:r>
              <a:rPr lang="en-US" altLang="ko-KR" sz="900" dirty="0">
                <a:solidFill>
                  <a:schemeClr val="bg1"/>
                </a:solidFill>
                <a:latin typeface="Calibri Light" panose="020F0302020204030204" pitchFamily="34" charset="0"/>
                <a:cs typeface="Calibri Light" panose="020F0302020204030204" pitchFamily="34" charset="0"/>
              </a:rPr>
              <a:t>0</a:t>
            </a:r>
            <a:r>
              <a:rPr lang="ko-KR" altLang="en-US" sz="900" dirty="0">
                <a:solidFill>
                  <a:schemeClr val="bg1"/>
                </a:solidFill>
                <a:latin typeface="Calibri Light" panose="020F0302020204030204" pitchFamily="34" charset="0"/>
                <a:cs typeface="Calibri Light" panose="020F0302020204030204" pitchFamily="34" charset="0"/>
              </a:rPr>
              <a:t>.,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 : 2번째 글자 ('</a:t>
            </a:r>
            <a:r>
              <a:rPr lang="ko-KR" altLang="en-US" sz="900" dirty="0" err="1">
                <a:solidFill>
                  <a:schemeClr val="bg1"/>
                </a:solidFill>
                <a:latin typeface="Calibri Light" panose="020F0302020204030204" pitchFamily="34" charset="0"/>
                <a:cs typeface="Calibri Light" panose="020F0302020204030204" pitchFamily="34" charset="0"/>
              </a:rPr>
              <a:t>w'의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 : 3번째 글자 ('</a:t>
            </a:r>
            <a:r>
              <a:rPr lang="ko-KR" altLang="en-US" sz="900" dirty="0" err="1">
                <a:solidFill>
                  <a:schemeClr val="bg1"/>
                </a:solidFill>
                <a:latin typeface="Calibri Light" panose="020F0302020204030204" pitchFamily="34" charset="0"/>
                <a:cs typeface="Calibri Light" panose="020F0302020204030204" pitchFamily="34" charset="0"/>
              </a:rPr>
              <a:t>e'의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0., ..., 1.]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 280번째 글자 ('!'의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Shape</a:t>
            </a:r>
            <a:r>
              <a:rPr lang="ko-KR" altLang="en-US" sz="900" dirty="0">
                <a:solidFill>
                  <a:schemeClr val="bg1"/>
                </a:solidFill>
                <a:latin typeface="Calibri Light" panose="020F0302020204030204" pitchFamily="34" charset="0"/>
                <a:cs typeface="Calibri Light" panose="020F0302020204030204" pitchFamily="34" charset="0"/>
              </a:rPr>
              <a:t>: (280, 128) -&gt; 단일 트윗의 2D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1 (두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[0.,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[1.,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999999 (100만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a:t>
            </a:r>
          </a:p>
        </p:txBody>
      </p:sp>
      <p:sp>
        <p:nvSpPr>
          <p:cNvPr id="17" name="Rectangle 1">
            <a:extLst>
              <a:ext uri="{FF2B5EF4-FFF2-40B4-BE49-F238E27FC236}">
                <a16:creationId xmlns:a16="http://schemas.microsoft.com/office/drawing/2014/main" id="{82484200-2BCA-7F35-BA89-8F6CCE7CB76B}"/>
              </a:ext>
            </a:extLst>
          </p:cNvPr>
          <p:cNvSpPr>
            <a:spLocks noChangeArrowheads="1"/>
          </p:cNvSpPr>
          <p:nvPr/>
        </p:nvSpPr>
        <p:spPr bwMode="auto">
          <a:xfrm>
            <a:off x="5277157" y="4116385"/>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18" name="Rectangle 1">
            <a:extLst>
              <a:ext uri="{FF2B5EF4-FFF2-40B4-BE49-F238E27FC236}">
                <a16:creationId xmlns:a16="http://schemas.microsoft.com/office/drawing/2014/main" id="{3D400564-7F35-5A17-BF5E-FB7B036E1884}"/>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19" name="직사각형 18">
            <a:extLst>
              <a:ext uri="{FF2B5EF4-FFF2-40B4-BE49-F238E27FC236}">
                <a16:creationId xmlns:a16="http://schemas.microsoft.com/office/drawing/2014/main" id="{DA22FFE9-EBF1-F9DC-34D5-A019B053E2F4}"/>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직사각형 19">
            <a:extLst>
              <a:ext uri="{FF2B5EF4-FFF2-40B4-BE49-F238E27FC236}">
                <a16:creationId xmlns:a16="http://schemas.microsoft.com/office/drawing/2014/main" id="{34281C7B-5A84-14D5-1A2C-ABEF2038AB42}"/>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a:extLst>
              <a:ext uri="{FF2B5EF4-FFF2-40B4-BE49-F238E27FC236}">
                <a16:creationId xmlns:a16="http://schemas.microsoft.com/office/drawing/2014/main" id="{353671CC-5C7B-6563-BAD8-E3AC7CD0439E}"/>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a:extLst>
              <a:ext uri="{FF2B5EF4-FFF2-40B4-BE49-F238E27FC236}">
                <a16:creationId xmlns:a16="http://schemas.microsoft.com/office/drawing/2014/main" id="{FEC0C6D4-4C44-0B9D-B126-A3DE910F502C}"/>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직사각형 22">
            <a:extLst>
              <a:ext uri="{FF2B5EF4-FFF2-40B4-BE49-F238E27FC236}">
                <a16:creationId xmlns:a16="http://schemas.microsoft.com/office/drawing/2014/main" id="{785DBFD8-6380-5362-2B66-98C37819D3CA}"/>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393857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32</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228915" y="4101102"/>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5714161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2108835"/>
            <a:ext cx="5312410" cy="408342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91510" y="1812786"/>
            <a:ext cx="5980430" cy="307777"/>
          </a:xfrm>
          <a:prstGeom prst="rect">
            <a:avLst/>
          </a:prstGeom>
          <a:noFill/>
        </p:spPr>
        <p:txBody>
          <a:bodyPr wrap="square">
            <a:spAutoFit/>
          </a:bodyPr>
          <a:lstStyle/>
          <a:p>
            <a:pPr algn="l">
              <a:spcAft>
                <a:spcPts val="300"/>
              </a:spcAft>
              <a:buNone/>
            </a:pPr>
            <a:r>
              <a:rPr lang="en-US" altLang="ko-KR" sz="1400" b="0" i="0" dirty="0">
                <a:effectLst/>
                <a:latin typeface="D2Coding" panose="020B0609020101020101" pitchFamily="49" charset="-127"/>
                <a:ea typeface="D2Coding" panose="020B0609020101020101" pitchFamily="49" charset="-127"/>
              </a:rPr>
              <a:t>Chapter 2 </a:t>
            </a:r>
            <a:r>
              <a:rPr lang="en-US" altLang="ko-KR" sz="1400" b="1" i="0" dirty="0">
                <a:effectLst/>
                <a:latin typeface="D2Coding" panose="020B0609020101020101" pitchFamily="49" charset="-127"/>
                <a:ea typeface="D2Coding" panose="020B0609020101020101" pitchFamily="49" charset="-127"/>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20</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a:t>
            </a:r>
            <a:r>
              <a:rPr lang="ko-KR" altLang="en-US" sz="1600" dirty="0">
                <a:latin typeface="D2Coding" panose="020B0609020101020101" pitchFamily="49" charset="-127"/>
                <a:ea typeface="D2Coding" panose="020B0609020101020101" pitchFamily="49" charset="-127"/>
              </a:rPr>
              <a:t>분</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42428"/>
            <a:ext cx="4834499" cy="2369880"/>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400" b="1" dirty="0">
                <a:effectLst/>
                <a:latin typeface="D2Coding" panose="020B0609020101020101" pitchFamily="49" charset="-127"/>
                <a:ea typeface="D2Coding" panose="020B0609020101020101" pitchFamily="49" charset="-127"/>
              </a:rPr>
              <a:t>    shuffle=True,</a:t>
            </a:r>
          </a:p>
          <a:p>
            <a:pPr>
              <a:buNone/>
            </a:pPr>
            <a:r>
              <a:rPr lang="en-US" altLang="ko-KR" sz="1400" b="1" dirty="0">
                <a:effectLst/>
                <a:latin typeface="D2Coding" panose="020B0609020101020101" pitchFamily="49" charset="-127"/>
                <a:ea typeface="D2Coding" panose="020B0609020101020101" pitchFamily="49" charset="-127"/>
              </a:rPr>
              <a:t>    </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endParaRPr lang="en-US" altLang="ko-KR" sz="1200" b="0" dirty="0">
              <a:solidFill>
                <a:schemeClr val="bg1">
                  <a:lumMod val="50000"/>
                </a:schemeClr>
              </a:solidFill>
              <a:effectLst/>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err="1">
                <a:latin typeface="D2Coding" panose="020B0609020101020101" pitchFamily="49" charset="-127"/>
                <a:ea typeface="D2Coding" panose="020B0609020101020101" pitchFamily="49" charset="-127"/>
              </a:rPr>
              <a:t>MAE_mean</a:t>
            </a:r>
            <a:r>
              <a:rPr lang="en-US" altLang="ko-KR" sz="1600" dirty="0">
                <a:latin typeface="D2Coding" panose="020B0609020101020101" pitchFamily="49" charset="-127"/>
                <a:ea typeface="D2Coding" panose="020B0609020101020101" pitchFamily="49" charset="-127"/>
              </a:rPr>
              <a:t> absolute error)</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15678119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011269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5279064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19545129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23291104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531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오디오 파형이나 텍스트처럼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패턴이 어디서 나타나든 같은 의미를 가지는</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데이터에 적합</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강아지 이미지가 왼쪽</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오른쪽</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 아래에 있든 똑같이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강아지</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인식하여 데이터의 본질은 변하지 않음</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표현이 글의 맨 앞에 나오든 맨 뒤에 나오든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날씨데이터는 평행이동 불변성</a:t>
            </a:r>
            <a:r>
              <a:rPr lang="en-US" altLang="ko-KR" sz="1400" dirty="0">
                <a:latin typeface="D2Coding" panose="020B0609020101020101" pitchFamily="49" charset="-127"/>
                <a:ea typeface="D2Coding" panose="020B0609020101020101" pitchFamily="49" charset="-127"/>
              </a:rPr>
              <a:t>(Translation Invariance)</a:t>
            </a:r>
            <a:r>
              <a:rPr lang="ko-KR" altLang="en-US" sz="1400" dirty="0">
                <a:latin typeface="D2Coding" panose="020B0609020101020101" pitchFamily="49" charset="-127"/>
                <a:ea typeface="D2Coding" panose="020B0609020101020101" pitchFamily="49" charset="-127"/>
              </a:rPr>
              <a:t>에 적합하지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어느 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공간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어느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에서 발생하더라도 그 본질적인 의미나 성질이 변하지 않고 일정하게 유지되는 성질은</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불필요함</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지역</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계절</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따라 데이터가 가지는 의미와 맥락이 완전히 달라지기 때문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기온 </a:t>
            </a:r>
            <a:r>
              <a:rPr lang="en-US" altLang="ko-KR" sz="1200" dirty="0">
                <a:latin typeface="D2Coding" panose="020B0609020101020101" pitchFamily="49" charset="-127"/>
                <a:ea typeface="D2Coding" panose="020B0609020101020101" pitchFamily="49" charset="-127"/>
              </a:rPr>
              <a:t>30</a:t>
            </a:r>
            <a:r>
              <a:rPr lang="ko-KR" altLang="en-US" sz="1200" dirty="0">
                <a:latin typeface="D2Coding" panose="020B0609020101020101" pitchFamily="49" charset="-127"/>
                <a:ea typeface="D2Coding" panose="020B0609020101020101" pitchFamily="49" charset="-127"/>
              </a:rPr>
              <a:t>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가 적도 지역과 북극 지역에서 나타나는 것은 완전히 다른 의미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이상 기후 등</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여름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것과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겨울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것은 맥락이 완전히 다름</a:t>
            </a:r>
            <a:r>
              <a:rPr lang="en-US" altLang="ko-KR" sz="1200" dirty="0">
                <a:latin typeface="D2Coding" panose="020B0609020101020101" pitchFamily="49" charset="-127"/>
                <a:ea typeface="D2Coding" panose="020B0609020101020101" pitchFamily="49" charset="-127"/>
              </a:rPr>
              <a:t>  </a:t>
            </a:r>
            <a:endParaRPr lang="ko-KR" altLang="en-US" sz="12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25126810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33038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3301262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32</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1790700"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1790700"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1790700"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1790700"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1790700"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293396" y="56065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293396"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293396" y="2228076"/>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293396"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293396" y="307269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293396"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293396" y="391730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293396"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293396" y="476192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293396"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3781425"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266950"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266950"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266950"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266950"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266950"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4580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4580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4580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4580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4580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15D12F6-4F5D-44A8-30EB-DF761140770B}"/>
                  </a:ext>
                </a:extLst>
              </p:cNvPr>
              <p:cNvSpPr txBox="1"/>
              <p:nvPr/>
            </p:nvSpPr>
            <p:spPr>
              <a:xfrm>
                <a:off x="6960773" y="567628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69607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868276B-9126-27F4-1C45-6D6A34003471}"/>
                  </a:ext>
                </a:extLst>
              </p:cNvPr>
              <p:cNvSpPr txBox="1"/>
              <p:nvPr/>
            </p:nvSpPr>
            <p:spPr>
              <a:xfrm>
                <a:off x="6960773" y="2297821"/>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69607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99B93F8-BB65-B543-4147-0ED06C909FCD}"/>
                  </a:ext>
                </a:extLst>
              </p:cNvPr>
              <p:cNvSpPr txBox="1"/>
              <p:nvPr/>
            </p:nvSpPr>
            <p:spPr>
              <a:xfrm>
                <a:off x="6960773" y="31424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69607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A5A0FFC-9B11-9F6A-6E43-6A8A9154D56A}"/>
                  </a:ext>
                </a:extLst>
              </p:cNvPr>
              <p:cNvSpPr txBox="1"/>
              <p:nvPr/>
            </p:nvSpPr>
            <p:spPr>
              <a:xfrm>
                <a:off x="6960773" y="398705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69607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4BD085-103C-BCB3-E468-E13FE1E36F2B}"/>
                  </a:ext>
                </a:extLst>
              </p:cNvPr>
              <p:cNvSpPr txBox="1"/>
              <p:nvPr/>
            </p:nvSpPr>
            <p:spPr>
              <a:xfrm>
                <a:off x="6960773" y="48316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69607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4488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79343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79343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79343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79343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79343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4488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67260"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solidFill>
                <a:schemeClr val="bg1"/>
              </a:solidFill>
            </a:endParaRPr>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4" y="1518293"/>
            <a:ext cx="5138735"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solidFill>
                <a:schemeClr val="bg1"/>
              </a:solidFill>
            </a:endParaRPr>
          </a:p>
        </p:txBody>
      </p:sp>
      <p:sp>
        <p:nvSpPr>
          <p:cNvPr id="61" name="TextBox 60">
            <a:extLst>
              <a:ext uri="{FF2B5EF4-FFF2-40B4-BE49-F238E27FC236}">
                <a16:creationId xmlns:a16="http://schemas.microsoft.com/office/drawing/2014/main" id="{E096E5C1-A3FB-DB11-0E9D-069DCAF6EE18}"/>
              </a:ext>
            </a:extLst>
          </p:cNvPr>
          <p:cNvSpPr txBox="1"/>
          <p:nvPr/>
        </p:nvSpPr>
        <p:spPr>
          <a:xfrm>
            <a:off x="959066"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0279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2361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TextBox 4">
            <a:extLst>
              <a:ext uri="{FF2B5EF4-FFF2-40B4-BE49-F238E27FC236}">
                <a16:creationId xmlns:a16="http://schemas.microsoft.com/office/drawing/2014/main" id="{B75EB074-67EB-82D1-5072-C684FFAC486F}"/>
              </a:ext>
            </a:extLst>
          </p:cNvPr>
          <p:cNvSpPr txBox="1"/>
          <p:nvPr/>
        </p:nvSpPr>
        <p:spPr>
          <a:xfrm>
            <a:off x="9645651" y="4777310"/>
            <a:ext cx="2222755" cy="584775"/>
          </a:xfrm>
          <a:prstGeom prst="rect">
            <a:avLst/>
          </a:prstGeom>
          <a:noFill/>
        </p:spPr>
        <p:txBody>
          <a:bodyPr wrap="square" rtlCol="0">
            <a:spAutoFit/>
          </a:bodyPr>
          <a:lstStyle/>
          <a:p>
            <a:pPr algn="ct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기억</a:t>
            </a:r>
            <a:endParaRPr lang="en-US" altLang="ko-KR" sz="1600" dirty="0">
              <a:latin typeface="D2Coding" panose="020B0609020101020101" pitchFamily="49" charset="-127"/>
              <a:ea typeface="D2Coding" panose="020B0609020101020101" pitchFamily="49" charset="-127"/>
            </a:endParaRPr>
          </a:p>
          <a:p>
            <a:pPr algn="ctr"/>
            <a:r>
              <a:rPr lang="en-US" altLang="ko-KR" sz="1600" dirty="0">
                <a:latin typeface="D2Coding" panose="020B0609020101020101" pitchFamily="49" charset="-127"/>
                <a:ea typeface="D2Coding" panose="020B0609020101020101" pitchFamily="49" charset="-127"/>
              </a:rPr>
              <a:t>(time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step=5</a:t>
            </a:r>
            <a:r>
              <a:rPr lang="ko-KR" altLang="en-US" sz="1600" dirty="0">
                <a:latin typeface="D2Coding" panose="020B0609020101020101" pitchFamily="49" charset="-127"/>
                <a:ea typeface="D2Coding" panose="020B0609020101020101" pitchFamily="49" charset="-127"/>
              </a:rPr>
              <a:t>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880918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29852"/>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일치 주가</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개 단어로 이루어진 문장 등 순서가 있는 </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회씩 </a:t>
            </a:r>
            <a:r>
              <a:rPr lang="ko-KR" altLang="en-US" dirty="0" err="1">
                <a:latin typeface="D2Coding" panose="020B0609020101020101" pitchFamily="49" charset="-127"/>
                <a:ea typeface="D2Coding" panose="020B0609020101020101" pitchFamily="49" charset="-127"/>
              </a:rPr>
              <a:t>은닉층</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 노드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돌림 노래</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680716"/>
            <a:ext cx="7086600" cy="1815882"/>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5299602"/>
            <a:ext cx="7086600" cy="1077218"/>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2343686"/>
            <a:ext cx="7086600" cy="338554"/>
          </a:xfrm>
          <a:prstGeom prst="rect">
            <a:avLst/>
          </a:prstGeom>
          <a:solidFill>
            <a:schemeClr val="tx1"/>
          </a:solidFill>
        </p:spPr>
        <p:txBody>
          <a:bodyPr wrap="square">
            <a:spAutoFit/>
          </a:bodyPr>
          <a:lstStyle/>
          <a:p>
            <a:r>
              <a:rPr lang="en-US" altLang="ko-KR" sz="1600" b="0" i="0" dirty="0">
                <a:solidFill>
                  <a:schemeClr val="bg1"/>
                </a:solidFill>
                <a:effectLst/>
                <a:latin typeface="D2Coding" panose="020B0609020101020101" pitchFamily="49" charset="-127"/>
                <a:ea typeface="D2Coding" panose="020B0609020101020101" pitchFamily="49" charset="-127"/>
              </a:rPr>
              <a:t>Pseudocode RNN</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4961048"/>
            <a:ext cx="7086600" cy="338554"/>
          </a:xfrm>
          <a:prstGeom prst="rect">
            <a:avLst/>
          </a:prstGeom>
          <a:solidFill>
            <a:schemeClr val="tx1"/>
          </a:solid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a:t>
            </a:r>
            <a:r>
              <a:rPr lang="en-US" altLang="ko-KR" sz="1600" b="0" i="0" dirty="0">
                <a:solidFill>
                  <a:schemeClr val="bg1"/>
                </a:solidFill>
                <a:effectLst/>
                <a:latin typeface="D2Coding" panose="020B0609020101020101" pitchFamily="49" charset="-127"/>
                <a:ea typeface="D2Coding" panose="020B0609020101020101" pitchFamily="49" charset="-127"/>
              </a:rPr>
              <a:t>pseudocode</a:t>
            </a:r>
            <a:r>
              <a:rPr lang="en-US" altLang="ko-KR" sz="1600" b="0" i="0" dirty="0">
                <a:effectLst/>
                <a:latin typeface="D2Coding" panose="020B0609020101020101" pitchFamily="49" charset="-127"/>
                <a:ea typeface="D2Coding" panose="020B0609020101020101" pitchFamily="49" charset="-127"/>
              </a:rPr>
              <a:t>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8053138" y="3914213"/>
            <a:ext cx="3685600" cy="2643519"/>
          </a:xfrm>
          <a:prstGeom prst="rect">
            <a:avLst/>
          </a:prstGeom>
          <a:ln>
            <a:solidFill>
              <a:schemeClr val="tx1"/>
            </a:solidFill>
          </a:ln>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a:ln>
            <a:solidFill>
              <a:schemeClr val="tx1"/>
            </a:solidFill>
          </a:ln>
        </p:spPr>
      </p:pic>
      <p:sp>
        <p:nvSpPr>
          <p:cNvPr id="6" name="직사각형 5">
            <a:extLst>
              <a:ext uri="{FF2B5EF4-FFF2-40B4-BE49-F238E27FC236}">
                <a16:creationId xmlns:a16="http://schemas.microsoft.com/office/drawing/2014/main" id="{2A2B9C36-B64D-46EA-E19A-22CDA0A585BB}"/>
              </a:ext>
            </a:extLst>
          </p:cNvPr>
          <p:cNvSpPr/>
          <p:nvPr/>
        </p:nvSpPr>
        <p:spPr>
          <a:xfrm>
            <a:off x="577284" y="169545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577284" y="196929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577284" y="2243138"/>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577284" y="2516982"/>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577284" y="278368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577284" y="373380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577284" y="4010025"/>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a:off x="1644586" y="1758521"/>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952741" y="3967943"/>
            <a:ext cx="152937" cy="799079"/>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892236" y="2561174"/>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383380" y="4524375"/>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6460216" y="1758521"/>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9062824" y="1778481"/>
            <a:ext cx="1281800" cy="203985"/>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bg1"/>
                </a:solidFill>
                <a:latin typeface="D2Coding" panose="020B0609020101020101" pitchFamily="49" charset="-127"/>
                <a:ea typeface="D2Coding" panose="020B0609020101020101" pitchFamily="49" charset="-127"/>
              </a:rPr>
              <a:t>(64,)</a:t>
            </a:r>
            <a:endParaRPr lang="ko-KR" altLang="en-US" sz="1400" dirty="0">
              <a:solidFill>
                <a:schemeClr val="bg1"/>
              </a:solidFill>
              <a:latin typeface="D2Coding" panose="020B0609020101020101" pitchFamily="49" charset="-127"/>
              <a:ea typeface="D2Coding" panose="020B0609020101020101" pitchFamily="49" charset="-127"/>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2886574" y="1396849"/>
            <a:ext cx="8619625" cy="307585"/>
          </a:xfrm>
          <a:prstGeom prst="rect">
            <a:avLst/>
          </a:prstGeom>
          <a:solidFill>
            <a:schemeClr val="bg1">
              <a:lumMod val="95000"/>
            </a:schemeClr>
          </a:solid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7807380" y="1758522"/>
            <a:ext cx="1281798" cy="1281800"/>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(64,64)</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521587" y="1758521"/>
            <a:ext cx="1281800" cy="203985"/>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latin typeface="D2Coding" panose="020B0609020101020101" pitchFamily="49" charset="-127"/>
                <a:ea typeface="D2Coding" panose="020B0609020101020101" pitchFamily="49" charset="-127"/>
              </a:rPr>
              <a:t>(64,)</a:t>
            </a:r>
            <a:endParaRPr lang="ko-KR" altLang="en-US" sz="1400" dirty="0">
              <a:latin typeface="D2Coding" panose="020B0609020101020101" pitchFamily="49" charset="-127"/>
              <a:ea typeface="D2Coding" panose="020B0609020101020101" pitchFamily="49" charset="-127"/>
            </a:endParaRPr>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44130" y="3604245"/>
            <a:ext cx="3681145" cy="304648"/>
          </a:xfrm>
          <a:prstGeom prst="rect">
            <a:avLst/>
          </a:prstGeom>
          <a:ln w="12700">
            <a:solidFill>
              <a:schemeClr val="tx1"/>
            </a:solidFill>
          </a:ln>
        </p:spPr>
      </p:pic>
      <p:sp>
        <p:nvSpPr>
          <p:cNvPr id="44" name="TextBox 43">
            <a:extLst>
              <a:ext uri="{FF2B5EF4-FFF2-40B4-BE49-F238E27FC236}">
                <a16:creationId xmlns:a16="http://schemas.microsoft.com/office/drawing/2014/main" id="{163177FC-A382-77DE-791A-B40E701EF883}"/>
              </a:ext>
            </a:extLst>
          </p:cNvPr>
          <p:cNvSpPr txBox="1"/>
          <p:nvPr/>
        </p:nvSpPr>
        <p:spPr>
          <a:xfrm>
            <a:off x="1644586" y="3204527"/>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524896" y="1394606"/>
            <a:ext cx="116205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a:t>
            </a:r>
            <a:r>
              <a:rPr lang="en-US" altLang="ko-KR" sz="1600" b="0" dirty="0">
                <a:effectLst/>
                <a:latin typeface="D2Coding" panose="020B0609020101020101" pitchFamily="49" charset="-127"/>
                <a:ea typeface="D2Coding" panose="020B0609020101020101" pitchFamily="49" charset="-127"/>
              </a:rPr>
              <a:t>put</a:t>
            </a:r>
            <a:r>
              <a:rPr lang="en-US" altLang="ko-KR" sz="1600" dirty="0">
                <a:latin typeface="D2Coding" panose="020B0609020101020101" pitchFamily="49" charset="-127"/>
                <a:ea typeface="D2Coding" panose="020B0609020101020101" pitchFamily="49" charset="-127"/>
              </a:rPr>
              <a:t>s</a:t>
            </a:r>
            <a:endParaRPr lang="ko-KR" altLang="en-US" sz="1600" dirty="0"/>
          </a:p>
        </p:txBody>
      </p:sp>
      <p:cxnSp>
        <p:nvCxnSpPr>
          <p:cNvPr id="48" name="연결선: 구부러짐 47">
            <a:extLst>
              <a:ext uri="{FF2B5EF4-FFF2-40B4-BE49-F238E27FC236}">
                <a16:creationId xmlns:a16="http://schemas.microsoft.com/office/drawing/2014/main" id="{7BB50E53-507D-5F76-ADF4-EB41671D0DDB}"/>
              </a:ext>
            </a:extLst>
          </p:cNvPr>
          <p:cNvCxnSpPr>
            <a:cxnSpLocks/>
            <a:endCxn id="18" idx="2"/>
          </p:cNvCxnSpPr>
          <p:nvPr/>
        </p:nvCxnSpPr>
        <p:spPr>
          <a:xfrm flipV="1">
            <a:off x="1686946" y="1955862"/>
            <a:ext cx="5219115" cy="1105892"/>
          </a:xfrm>
          <a:prstGeom prst="curved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523746" y="2664653"/>
            <a:ext cx="2009314"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inputs</a:t>
            </a:r>
            <a:r>
              <a:rPr lang="en-US" altLang="ko-KR" sz="1600" b="0" dirty="0">
                <a:effectLst/>
                <a:latin typeface="D2Coding" panose="020B0609020101020101" pitchFamily="49" charset="-127"/>
                <a:ea typeface="D2Coding" panose="020B0609020101020101" pitchFamily="49" charset="-127"/>
              </a:rPr>
              <a:t>:</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BDDC3496-0FCB-7588-EF79-2BA20F50EE57}"/>
              </a:ext>
            </a:extLst>
          </p:cNvPr>
          <p:cNvSpPr>
            <a:spLocks noChangeArrowheads="1"/>
          </p:cNvSpPr>
          <p:nvPr/>
        </p:nvSpPr>
        <p:spPr bwMode="auto">
          <a:xfrm>
            <a:off x="8716789" y="5520428"/>
            <a:ext cx="1481976" cy="230832"/>
          </a:xfrm>
          <a:prstGeom prst="rect">
            <a:avLst/>
          </a:prstGeom>
          <a:solidFill>
            <a:schemeClr val="tx1"/>
          </a:solidFill>
          <a:ln>
            <a:noFill/>
          </a:ln>
          <a:effec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i="0" u="none" strike="noStrike" cap="none" normalizeH="0" baseline="0" dirty="0">
                <a:ln>
                  <a:noFill/>
                </a:ln>
                <a:solidFill>
                  <a:schemeClr val="bg1"/>
                </a:solidFill>
                <a:effectLst/>
                <a:latin typeface="D2Coding" panose="020B0609020101020101" pitchFamily="49" charset="-127"/>
                <a:ea typeface="D2Coding" panose="020B0609020101020101" pitchFamily="49" charset="-127"/>
              </a:rPr>
              <a:t>은닉 노드 수 : 64개</a:t>
            </a:r>
          </a:p>
        </p:txBody>
      </p:sp>
      <p:sp>
        <p:nvSpPr>
          <p:cNvPr id="19" name="직사각형 18">
            <a:extLst>
              <a:ext uri="{FF2B5EF4-FFF2-40B4-BE49-F238E27FC236}">
                <a16:creationId xmlns:a16="http://schemas.microsoft.com/office/drawing/2014/main" id="{18D4909B-5806-AD49-FB56-121ABED34D54}"/>
              </a:ext>
            </a:extLst>
          </p:cNvPr>
          <p:cNvSpPr/>
          <p:nvPr/>
        </p:nvSpPr>
        <p:spPr>
          <a:xfrm>
            <a:off x="5558897" y="1758522"/>
            <a:ext cx="891687" cy="1281800"/>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15" name="직사각형 14">
            <a:extLst>
              <a:ext uri="{FF2B5EF4-FFF2-40B4-BE49-F238E27FC236}">
                <a16:creationId xmlns:a16="http://schemas.microsoft.com/office/drawing/2014/main" id="{B0924BB7-017E-5DE2-3F82-2304E9C0D0C1}"/>
              </a:ext>
            </a:extLst>
          </p:cNvPr>
          <p:cNvSpPr/>
          <p:nvPr/>
        </p:nvSpPr>
        <p:spPr>
          <a:xfrm>
            <a:off x="2930461" y="2959768"/>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8816941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np.dot(</a:t>
            </a:r>
            <a:r>
              <a:rPr lang="en-US" altLang="ko-KR" b="1" dirty="0">
                <a:solidFill>
                  <a:schemeClr val="accent4"/>
                </a:solidFill>
                <a:effectLst/>
                <a:latin typeface="D2Coding" panose="020B0609020101020101" pitchFamily="49" charset="-127"/>
                <a:ea typeface="D2Coding" panose="020B0609020101020101" pitchFamily="49" charset="-127"/>
              </a:rPr>
              <a:t>U</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5"/>
                </a:solidFill>
                <a:effectLst/>
                <a:latin typeface="D2Coding" panose="020B0609020101020101" pitchFamily="49" charset="-127"/>
                <a:ea typeface="D2Coding" panose="020B0609020101020101" pitchFamily="49" charset="-127"/>
              </a:rPr>
              <a:t>state_t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369332"/>
          </a:xfrm>
          <a:prstGeom prst="rect">
            <a:avLst/>
          </a:prstGeom>
          <a:solidFill>
            <a:srgbClr val="76E3FF"/>
          </a:solidFill>
        </p:spPr>
        <p:txBody>
          <a:bodyPr wrap="square">
            <a:spAutoFit/>
          </a:bodyPr>
          <a:lstStyle/>
          <a:p>
            <a:r>
              <a:rPr lang="en-US" altLang="ko-KR" dirty="0" err="1">
                <a:latin typeface="D2Coding" panose="020B0609020101020101" pitchFamily="49" charset="-127"/>
                <a:ea typeface="D2Coding" panose="020B0609020101020101" pitchFamily="49" charset="-127"/>
              </a:rPr>
              <a:t>SimpleRNN</a:t>
            </a:r>
            <a:r>
              <a:rPr lang="en-US" altLang="ko-KR" dirty="0">
                <a:effectLst/>
                <a:latin typeface="D2Coding" panose="020B0609020101020101" pitchFamily="49" charset="-127"/>
                <a:ea typeface="D2Coding" panose="020B0609020101020101" pitchFamily="49" charset="-127"/>
              </a:rPr>
              <a:t>(64,</a:t>
            </a:r>
            <a:r>
              <a:rPr lang="en-US" altLang="ko-KR" dirty="0">
                <a:latin typeface="D2Coding" panose="020B0609020101020101" pitchFamily="49" charset="-127"/>
                <a:ea typeface="D2Coding" panose="020B0609020101020101" pitchFamily="49" charset="-127"/>
              </a:rPr>
              <a:t> </a:t>
            </a:r>
            <a:r>
              <a:rPr lang="en-US" altLang="ko-KR" dirty="0" err="1">
                <a:effectLst/>
                <a:latin typeface="D2Coding" panose="020B0609020101020101" pitchFamily="49" charset="-127"/>
                <a:ea typeface="D2Coding" panose="020B0609020101020101" pitchFamily="49" charset="-127"/>
              </a:rPr>
              <a:t>input_shape</a:t>
            </a:r>
            <a:r>
              <a:rPr lang="en-US" altLang="ko-KR" dirty="0">
                <a:latin typeface="D2Coding" panose="020B0609020101020101" pitchFamily="49" charset="-127"/>
                <a:ea typeface="D2Coding" panose="020B0609020101020101" pitchFamily="49" charset="-127"/>
              </a:rPr>
              <a:t>=</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timesteps</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input_features</a:t>
            </a:r>
            <a:r>
              <a:rPr lang="en-US" altLang="ko-KR" dirty="0">
                <a:effectLst/>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793166"/>
          </a:xfrm>
          <a:prstGeom prst="rect">
            <a:avLst/>
          </a:prstGeom>
          <a:noFill/>
        </p:spPr>
        <p:txBody>
          <a:bodyPr wrap="square" rtlCol="0">
            <a:spAutoFit/>
          </a:bodyPr>
          <a:lstStyle/>
          <a:p>
            <a:pPr>
              <a:lnSpc>
                <a:spcPct val="150000"/>
              </a:lnSpc>
            </a:pP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의 은닉층의 노드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뉴런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의 개수는 </a:t>
            </a:r>
            <a:r>
              <a:rPr lang="en-US" altLang="ko-KR" sz="1600" dirty="0">
                <a:latin typeface="D2Coding" panose="020B0609020101020101" pitchFamily="49" charset="-127"/>
                <a:ea typeface="D2Coding" panose="020B0609020101020101" pitchFamily="49" charset="-127"/>
              </a:rPr>
              <a:t>64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output_features</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로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 32</a:t>
            </a:r>
            <a:r>
              <a:rPr lang="ko-KR" altLang="en-US" sz="1600" dirty="0">
                <a:latin typeface="D2Coding" panose="020B0609020101020101" pitchFamily="49" charset="-127"/>
                <a:ea typeface="D2Coding" panose="020B0609020101020101" pitchFamily="49" charset="-127"/>
              </a:rPr>
              <a:t>개 노드를 받아 </a:t>
            </a:r>
            <a:r>
              <a:rPr lang="en-US" altLang="ko-KR" sz="1600" dirty="0">
                <a:latin typeface="D2Coding" panose="020B0609020101020101" pitchFamily="49" charset="-127"/>
                <a:ea typeface="D2Coding" panose="020B0609020101020101" pitchFamily="49" charset="-127"/>
              </a:rPr>
              <a:t>timesteps 100</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a:t>
            </a:r>
            <a:r>
              <a:rPr lang="en-US" altLang="ko-KR" sz="1600" dirty="0">
                <a:latin typeface="D2Coding" panose="020B0609020101020101" pitchFamily="49" charset="-127"/>
                <a:ea typeface="D2Coding" panose="020B0609020101020101" pitchFamily="49" charset="-127"/>
              </a:rPr>
              <a:t>100</a:t>
            </a:r>
            <a:r>
              <a:rPr lang="ko-KR" altLang="en-US" sz="1600" dirty="0">
                <a:latin typeface="D2Coding" panose="020B0609020101020101" pitchFamily="49" charset="-127"/>
                <a:ea typeface="D2Coding" panose="020B0609020101020101" pitchFamily="49" charset="-127"/>
              </a:rPr>
              <a:t>일 동안 주가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과거의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계속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RNN(Recurrent Neural Network)</a:t>
            </a:r>
            <a:endParaRPr lang="ko-KR" altLang="en-US" u="sng" dirty="0">
              <a:solidFill>
                <a:schemeClr val="bg1"/>
              </a:solidFill>
            </a:endParaRPr>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FCNN(Fully Connected Neural Network)</a:t>
            </a:r>
            <a:endParaRPr lang="ko-KR" altLang="en-US" u="sng" dirty="0">
              <a:solidFill>
                <a:schemeClr val="bg1"/>
              </a:solidFill>
            </a:endParaRPr>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23220"/>
          </a:xfrm>
          <a:prstGeom prst="rect">
            <a:avLst/>
          </a:prstGeom>
          <a:noFill/>
          <a:ln w="28575">
            <a:noFill/>
          </a:ln>
        </p:spPr>
        <p:txBody>
          <a:bodyPr wrap="square">
            <a:spAutoFit/>
          </a:bodyPr>
          <a:lstStyle/>
          <a:p>
            <a:r>
              <a:rPr lang="en-US" altLang="ko-KR" sz="1400" b="0" dirty="0">
                <a:effectLst/>
                <a:latin typeface="D2Coding" panose="020B0609020101020101" pitchFamily="49" charset="-127"/>
                <a:ea typeface="D2Coding" panose="020B0609020101020101" pitchFamily="49" charset="-127"/>
              </a:rPr>
              <a:t>np.dot(</a:t>
            </a:r>
            <a:r>
              <a:rPr lang="en-US" altLang="ko-KR" sz="1400" b="1" dirty="0">
                <a:solidFill>
                  <a:schemeClr val="accent4"/>
                </a:solidFill>
                <a:effectLst/>
                <a:latin typeface="D2Coding" panose="020B0609020101020101" pitchFamily="49" charset="-127"/>
                <a:ea typeface="D2Coding" panose="020B0609020101020101" pitchFamily="49" charset="-127"/>
              </a:rPr>
              <a:t>U</a:t>
            </a:r>
            <a:r>
              <a:rPr lang="en-US" altLang="ko-KR" sz="1400" b="1" dirty="0">
                <a:effectLst/>
                <a:latin typeface="D2Coding" panose="020B0609020101020101" pitchFamily="49" charset="-127"/>
                <a:ea typeface="D2Coding" panose="020B0609020101020101" pitchFamily="49" charset="-127"/>
              </a:rPr>
              <a:t>, </a:t>
            </a:r>
            <a:r>
              <a:rPr lang="en-US" altLang="ko-KR" sz="1400" b="1" dirty="0" err="1">
                <a:solidFill>
                  <a:schemeClr val="accent5"/>
                </a:solidFill>
                <a:effectLst/>
                <a:latin typeface="D2Coding" panose="020B0609020101020101" pitchFamily="49" charset="-127"/>
                <a:ea typeface="D2Coding" panose="020B0609020101020101" pitchFamily="49" charset="-127"/>
              </a:rPr>
              <a:t>state_t</a:t>
            </a:r>
            <a:r>
              <a:rPr lang="en-US" altLang="ko-KR" sz="1400" b="0" dirty="0">
                <a:effectLst/>
                <a:latin typeface="D2Coding" panose="020B0609020101020101" pitchFamily="49" charset="-127"/>
                <a:ea typeface="D2Coding" panose="020B0609020101020101" pitchFamily="49" charset="-127"/>
              </a:rPr>
              <a:t>)</a:t>
            </a:r>
          </a:p>
          <a:p>
            <a:r>
              <a:rPr lang="ko-KR" altLang="en-US" sz="1400" dirty="0">
                <a:latin typeface="D2Coding" panose="020B0609020101020101" pitchFamily="49" charset="-127"/>
                <a:ea typeface="D2Coding" panose="020B0609020101020101" pitchFamily="49" charset="-127"/>
              </a:rPr>
              <a:t>과거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a:t>
            </a:r>
            <a:r>
              <a:rPr lang="en-US" altLang="ko-KR" sz="1400" dirty="0">
                <a:latin typeface="D2Coding" panose="020B0609020101020101" pitchFamily="49" charset="-127"/>
                <a:ea typeface="D2Coding" panose="020B0609020101020101" pitchFamily="49" charset="-127"/>
              </a:rPr>
              <a:t>state</a:t>
            </a:r>
            <a:r>
              <a:rPr lang="ko-KR" altLang="en-US" sz="1400" dirty="0">
                <a:latin typeface="D2Coding" panose="020B0609020101020101" pitchFamily="49" charset="-127"/>
                <a:ea typeface="D2Coding" panose="020B0609020101020101" pitchFamily="49" charset="-127"/>
              </a:rPr>
              <a:t>를 </a:t>
            </a:r>
            <a:r>
              <a:rPr lang="en-US" altLang="ko-KR" sz="1400" dirty="0">
                <a:latin typeface="D2Coding" panose="020B0609020101020101" pitchFamily="49" charset="-127"/>
                <a:ea typeface="D2Coding" panose="020B0609020101020101" pitchFamily="49" charset="-127"/>
              </a:rPr>
              <a:t>memory</a:t>
            </a:r>
            <a:r>
              <a:rPr lang="ko-KR" altLang="en-US" sz="1400" dirty="0">
                <a:latin typeface="D2Coding" panose="020B0609020101020101" pitchFamily="49" charset="-127"/>
                <a:ea typeface="D2Coding" panose="020B0609020101020101" pitchFamily="49" charset="-127"/>
              </a:rPr>
              <a:t>하는 수식 항</a:t>
            </a:r>
            <a:endParaRPr lang="ko-KR" altLang="en-US" sz="14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47975"/>
          </a:xfrm>
          <a:prstGeom prst="curvedConnector4">
            <a:avLst>
              <a:gd name="adj1" fmla="val -32000"/>
              <a:gd name="adj2" fmla="val 61394"/>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795139"/>
            <a:ext cx="7675230" cy="4053211"/>
          </a:xfrm>
          <a:prstGeom prst="rect">
            <a:avLst/>
          </a:prstGeom>
          <a:ln>
            <a:solidFill>
              <a:schemeClr val="tx1"/>
            </a:solidFill>
          </a:ln>
        </p:spPr>
      </p:pic>
      <p:sp>
        <p:nvSpPr>
          <p:cNvPr id="6" name="TextBox 5">
            <a:extLst>
              <a:ext uri="{FF2B5EF4-FFF2-40B4-BE49-F238E27FC236}">
                <a16:creationId xmlns:a16="http://schemas.microsoft.com/office/drawing/2014/main" id="{DF2DCB4E-8036-5F8F-788D-405F90D49285}"/>
              </a:ext>
            </a:extLst>
          </p:cNvPr>
          <p:cNvSpPr txBox="1"/>
          <p:nvPr/>
        </p:nvSpPr>
        <p:spPr>
          <a:xfrm>
            <a:off x="2053325" y="5915126"/>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46803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39372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 </a:t>
            </a:r>
            <a:r>
              <a:rPr lang="en-US" altLang="ko-KR" sz="1600" b="0" dirty="0" err="1">
                <a:solidFill>
                  <a:srgbClr val="FF0000"/>
                </a:solidFill>
                <a:effectLst/>
                <a:latin typeface="D2Coding" panose="020B0609020101020101" pitchFamily="49" charset="-127"/>
                <a:ea typeface="D2Coding" panose="020B0609020101020101" pitchFamily="49" charset="-127"/>
              </a:rPr>
              <a:t>return_sequences</a:t>
            </a:r>
            <a:r>
              <a:rPr lang="en-US" altLang="ko-KR" sz="1600" b="0" dirty="0">
                <a:solidFill>
                  <a:srgbClr val="FF0000"/>
                </a:solidFill>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layers.Bidirectional</a:t>
            </a:r>
            <a:r>
              <a:rPr lang="en-US" altLang="ko-KR" sz="1600" b="0" dirty="0">
                <a:solidFill>
                  <a:srgbClr val="FF0000"/>
                </a:solidFill>
                <a:effectLst/>
                <a:latin typeface="D2Coding" panose="020B0609020101020101" pitchFamily="49" charset="-127"/>
                <a:ea typeface="D2Coding" panose="020B0609020101020101" pitchFamily="49" charset="-127"/>
              </a:rPr>
              <a:t>(</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46</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a:ln>
            <a:solidFill>
              <a:schemeClr val="tx1"/>
            </a:solidFill>
          </a:ln>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673896"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3"/>
              </a:rPr>
              <a:t>MIT 6.S191 (2025): Recurrent Neural Networks, Transformers, and Attention</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395993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extLst>
              <p:ext uri="{D42A27DB-BD31-4B8C-83A1-F6EECF244321}">
                <p14:modId xmlns:p14="http://schemas.microsoft.com/office/powerpoint/2010/main" val="3143378011"/>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21.50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2317870" y="588873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2773210" y="6251056"/>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8467</TotalTime>
  <Words>6752</Words>
  <Application>Microsoft Office PowerPoint</Application>
  <PresentationFormat>와이드스크린</PresentationFormat>
  <Paragraphs>763</Paragraphs>
  <Slides>61</Slides>
  <Notes>3</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61</vt:i4>
      </vt:variant>
    </vt:vector>
  </HeadingPairs>
  <TitlesOfParts>
    <vt:vector size="73" baseType="lpstr">
      <vt:lpstr>D2Coding</vt:lpstr>
      <vt:lpstr>맑은 고딕</vt:lpstr>
      <vt:lpstr>Batang</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CNN for Timeseries Data</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133</cp:revision>
  <dcterms:created xsi:type="dcterms:W3CDTF">2026-04-06T01:00:39Z</dcterms:created>
  <dcterms:modified xsi:type="dcterms:W3CDTF">2026-09-26T07:49:01Z</dcterms:modified>
  <cp:version/>
</cp:coreProperties>
</file>