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9"/>
  </p:notesMasterIdLst>
  <p:handoutMasterIdLst>
    <p:handoutMasterId r:id="rId70"/>
  </p:handoutMasterIdLst>
  <p:sldIdLst>
    <p:sldId id="256" r:id="rId2"/>
    <p:sldId id="1155" r:id="rId3"/>
    <p:sldId id="1122" r:id="rId4"/>
    <p:sldId id="1134" r:id="rId5"/>
    <p:sldId id="1140" r:id="rId6"/>
    <p:sldId id="1141" r:id="rId7"/>
    <p:sldId id="1144" r:id="rId8"/>
    <p:sldId id="1142" r:id="rId9"/>
    <p:sldId id="1143" r:id="rId10"/>
    <p:sldId id="1169" r:id="rId11"/>
    <p:sldId id="1157" r:id="rId12"/>
    <p:sldId id="1146" r:id="rId13"/>
    <p:sldId id="1148" r:id="rId14"/>
    <p:sldId id="1222" r:id="rId15"/>
    <p:sldId id="1223" r:id="rId16"/>
    <p:sldId id="1224" r:id="rId17"/>
    <p:sldId id="1145" r:id="rId18"/>
    <p:sldId id="1225" r:id="rId19"/>
    <p:sldId id="1226" r:id="rId20"/>
    <p:sldId id="1158" r:id="rId21"/>
    <p:sldId id="1150" r:id="rId22"/>
    <p:sldId id="1152" r:id="rId23"/>
    <p:sldId id="1149" r:id="rId24"/>
    <p:sldId id="1159" r:id="rId25"/>
    <p:sldId id="1161" r:id="rId26"/>
    <p:sldId id="1173" r:id="rId27"/>
    <p:sldId id="1174" r:id="rId28"/>
    <p:sldId id="1139" r:id="rId29"/>
    <p:sldId id="1172" r:id="rId30"/>
    <p:sldId id="1133" r:id="rId31"/>
    <p:sldId id="1163" r:id="rId32"/>
    <p:sldId id="1164" r:id="rId33"/>
    <p:sldId id="1165" r:id="rId34"/>
    <p:sldId id="1166" r:id="rId35"/>
    <p:sldId id="1121" r:id="rId36"/>
    <p:sldId id="1168" r:id="rId37"/>
    <p:sldId id="1135" r:id="rId38"/>
    <p:sldId id="1167" r:id="rId39"/>
    <p:sldId id="1160" r:id="rId40"/>
    <p:sldId id="1175" r:id="rId41"/>
    <p:sldId id="1132" r:id="rId42"/>
    <p:sldId id="1170" r:id="rId43"/>
    <p:sldId id="1171" r:id="rId44"/>
    <p:sldId id="1125" r:id="rId45"/>
    <p:sldId id="1127" r:id="rId46"/>
    <p:sldId id="1128" r:id="rId47"/>
    <p:sldId id="1123" r:id="rId48"/>
    <p:sldId id="1130" r:id="rId49"/>
    <p:sldId id="1131" r:id="rId50"/>
    <p:sldId id="1137" r:id="rId51"/>
    <p:sldId id="1138" r:id="rId52"/>
    <p:sldId id="1129" r:id="rId53"/>
    <p:sldId id="1392" r:id="rId54"/>
    <p:sldId id="1162" r:id="rId55"/>
    <p:sldId id="1217" r:id="rId56"/>
    <p:sldId id="1220" r:id="rId57"/>
    <p:sldId id="1221" r:id="rId58"/>
    <p:sldId id="1218" r:id="rId59"/>
    <p:sldId id="1219" r:id="rId60"/>
    <p:sldId id="1153" r:id="rId61"/>
    <p:sldId id="1151" r:id="rId62"/>
    <p:sldId id="1154" r:id="rId63"/>
    <p:sldId id="1391" r:id="rId64"/>
    <p:sldId id="1381" r:id="rId65"/>
    <p:sldId id="1378" r:id="rId66"/>
    <p:sldId id="1380" r:id="rId67"/>
    <p:sldId id="1379" r:id="rId68"/>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122"/>
            <p14:sldId id="1134"/>
            <p14:sldId id="1140"/>
            <p14:sldId id="1141"/>
            <p14:sldId id="1144"/>
            <p14:sldId id="1142"/>
            <p14:sldId id="1143"/>
            <p14:sldId id="1169"/>
            <p14:sldId id="1157"/>
            <p14:sldId id="1146"/>
            <p14:sldId id="1148"/>
            <p14:sldId id="1222"/>
            <p14:sldId id="1223"/>
            <p14:sldId id="1224"/>
            <p14:sldId id="1145"/>
            <p14:sldId id="1225"/>
            <p14:sldId id="1226"/>
            <p14:sldId id="1158"/>
            <p14:sldId id="1150"/>
            <p14:sldId id="1152"/>
            <p14:sldId id="1149"/>
            <p14:sldId id="1159"/>
            <p14:sldId id="1161"/>
            <p14:sldId id="1173"/>
            <p14:sldId id="1174"/>
            <p14:sldId id="1139"/>
            <p14:sldId id="1172"/>
            <p14:sldId id="1133"/>
            <p14:sldId id="1163"/>
            <p14:sldId id="1164"/>
            <p14:sldId id="1165"/>
            <p14:sldId id="1166"/>
            <p14:sldId id="1121"/>
            <p14:sldId id="1168"/>
            <p14:sldId id="1135"/>
            <p14:sldId id="1167"/>
            <p14:sldId id="1160"/>
            <p14:sldId id="1175"/>
            <p14:sldId id="1132"/>
            <p14:sldId id="1170"/>
            <p14:sldId id="1171"/>
            <p14:sldId id="1125"/>
            <p14:sldId id="1127"/>
            <p14:sldId id="1128"/>
            <p14:sldId id="1123"/>
            <p14:sldId id="1130"/>
            <p14:sldId id="1131"/>
            <p14:sldId id="1137"/>
            <p14:sldId id="1138"/>
            <p14:sldId id="1129"/>
            <p14:sldId id="1392"/>
            <p14:sldId id="1162"/>
            <p14:sldId id="1217"/>
            <p14:sldId id="1220"/>
            <p14:sldId id="1221"/>
            <p14:sldId id="1218"/>
            <p14:sldId id="1219"/>
            <p14:sldId id="1153"/>
            <p14:sldId id="1151"/>
            <p14:sldId id="1154"/>
            <p14:sldId id="1391"/>
            <p14:sldId id="1381"/>
            <p14:sldId id="1378"/>
            <p14:sldId id="1380"/>
            <p14:sldId id="1379"/>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D24726"/>
    <a:srgbClr val="FF9B45"/>
    <a:srgbClr val="DD462F"/>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3062" autoAdjust="0"/>
    <p:restoredTop sz="94297" autoAdjust="0"/>
  </p:normalViewPr>
  <p:slideViewPr>
    <p:cSldViewPr snapToGrid="0">
      <p:cViewPr varScale="1">
        <p:scale>
          <a:sx n="80" d="100"/>
          <a:sy n="80" d="100"/>
        </p:scale>
        <p:origin x="874" y="5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p:scale>
        <a:sx n="66" d="100"/>
        <a:sy n="66" d="100"/>
      </p:scale>
      <p:origin x="0" y="-8995"/>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handoutMaster" Target="handoutMasters/handoutMaster1.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solidFill>
            <a:schemeClr val="tx1"/>
          </a:solid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2026-10-03</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2026-10-03</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45</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2BBD4-8346-351F-C4D2-EE6AA137279D}"/>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9694868-8B43-F806-68D5-F7C5BF80756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C244D141-C974-E84E-5C96-A95649CB7904}"/>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E4E0B063-E23A-F0A4-F4E2-8D2593F82582}"/>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53</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3021765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5D9D-5C4A-1F17-B6E0-0FA4D1775E7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06F5AA7-1BD6-98C0-1FAE-9119958C1A1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D9726199-FCDA-4324-4F51-195EBB3A1F5C}"/>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25430F05-1507-6BEB-19BD-10CA72577E68}"/>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55</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07841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8CF00-EFBF-713B-0EA1-C963FEC4BB56}"/>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D4FF9DC9-F46F-03F8-6C50-C0BAFAF69D8E}"/>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58409A49-A4F9-7552-D1E9-92EBF0851629}"/>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B4CECF0F-5EE4-483A-BD59-D40E5ED0C120}"/>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63</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6715349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2026-10-03</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10/3/2026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2026-10-03</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4.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sv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www.google.com/search?gs_ssp=eJzj4tDP1TdITze3MGD04nzb0_N2-prXm1YAAE8ECUk&amp;q=%ED%8C%8C%ED%97%AC%EB%B2%A8&amp;oq=%ED%8C%8C%ED%97%BF%EB%B2%A0&amp;gs_lcrp=EgZjaHJvbWUqCQgBEC4YDRiABDIGCAAQRRg5MgkIARAuGA0YgAQyCQgCEAAYDRiABDIJCAMQABgNGIAEMgkIBBAAGA0YgAQyCQgFEAAYDRiABDIJCAYQABgNGIAEMgkIBxAuGA0YgAQyCQgIEAAYDRiABNIBCTUwNzdqMGoxNagCCLACAfEFBdMZEgDUg5XxBQXTGRIA1IOV&amp;sourceid=chrome&amp;source=chrome.rb&amp;ie=UTF-8#fpstate=ive&amp;vld=cid:19bf4c92,vid:hW3ck9U-xKU,st:0" TargetMode="External"/><Relationship Id="rId1" Type="http://schemas.openxmlformats.org/officeDocument/2006/relationships/slideLayout" Target="../slideLayouts/slideLayout4.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jpe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27.png"/><Relationship Id="rId1" Type="http://schemas.openxmlformats.org/officeDocument/2006/relationships/slideLayout" Target="../slideLayouts/slideLayout4.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26.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18" Type="http://schemas.openxmlformats.org/officeDocument/2006/relationships/image" Target="../media/image49.png"/><Relationship Id="rId3" Type="http://schemas.openxmlformats.org/officeDocument/2006/relationships/image" Target="../media/image341.png"/><Relationship Id="rId21" Type="http://schemas.openxmlformats.org/officeDocument/2006/relationships/image" Target="../media/image52.png"/><Relationship Id="rId7" Type="http://schemas.openxmlformats.org/officeDocument/2006/relationships/image" Target="../media/image38.png"/><Relationship Id="rId12" Type="http://schemas.openxmlformats.org/officeDocument/2006/relationships/image" Target="../media/image43.png"/><Relationship Id="rId17" Type="http://schemas.openxmlformats.org/officeDocument/2006/relationships/image" Target="../media/image48.png"/><Relationship Id="rId2" Type="http://schemas.openxmlformats.org/officeDocument/2006/relationships/image" Target="../media/image331.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4.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1.png"/><Relationship Id="rId15" Type="http://schemas.openxmlformats.org/officeDocument/2006/relationships/image" Target="../media/image46.png"/><Relationship Id="rId10" Type="http://schemas.openxmlformats.org/officeDocument/2006/relationships/image" Target="../media/image41.png"/><Relationship Id="rId19" Type="http://schemas.openxmlformats.org/officeDocument/2006/relationships/image" Target="../media/image50.png"/><Relationship Id="rId4" Type="http://schemas.openxmlformats.org/officeDocument/2006/relationships/image" Target="../media/image351.png"/><Relationship Id="rId9" Type="http://schemas.openxmlformats.org/officeDocument/2006/relationships/image" Target="../media/image40.png"/><Relationship Id="rId14" Type="http://schemas.openxmlformats.org/officeDocument/2006/relationships/image" Target="../media/image45.png"/></Relationships>
</file>

<file path=ppt/slides/_rels/slide27.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17" Type="http://schemas.openxmlformats.org/officeDocument/2006/relationships/image" Target="../media/image53.png"/><Relationship Id="rId2" Type="http://schemas.openxmlformats.org/officeDocument/2006/relationships/image" Target="../media/image38.png"/><Relationship Id="rId16" Type="http://schemas.openxmlformats.org/officeDocument/2006/relationships/image" Target="../media/image52.png"/><Relationship Id="rId1" Type="http://schemas.openxmlformats.org/officeDocument/2006/relationships/slideLayout" Target="../slideLayouts/slideLayout4.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8" Type="http://schemas.openxmlformats.org/officeDocument/2006/relationships/image" Target="../media/image59.png"/><Relationship Id="rId3" Type="http://schemas.microsoft.com/office/2007/relationships/hdphoto" Target="../media/hdphoto1.wdp"/><Relationship Id="rId7" Type="http://schemas.openxmlformats.org/officeDocument/2006/relationships/image" Target="../media/image58.png"/><Relationship Id="rId2" Type="http://schemas.openxmlformats.org/officeDocument/2006/relationships/image" Target="../media/image25.png"/><Relationship Id="rId1" Type="http://schemas.openxmlformats.org/officeDocument/2006/relationships/slideLayout" Target="../slideLayouts/slideLayout4.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4.xml"/><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hyperlink" Target="https://www.youtube.com/watch?v=GvezxUdLrEk&amp;t=2572s" TargetMode="External"/><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4.xml"/><Relationship Id="rId4" Type="http://schemas.openxmlformats.org/officeDocument/2006/relationships/image" Target="../media/image70.svg"/></Relationships>
</file>

<file path=ppt/slides/_rels/slide4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75.png"/><Relationship Id="rId7" Type="http://schemas.microsoft.com/office/2007/relationships/hdphoto" Target="../media/hdphoto3.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77.png"/><Relationship Id="rId5" Type="http://schemas.openxmlformats.org/officeDocument/2006/relationships/image" Target="../media/image76.png"/><Relationship Id="rId4" Type="http://schemas.microsoft.com/office/2007/relationships/hdphoto" Target="../media/hdphoto2.wdp"/></Relationships>
</file>

<file path=ppt/slides/_rels/slide45.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77.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3.wdp"/><Relationship Id="rId9" Type="http://schemas.openxmlformats.org/officeDocument/2006/relationships/image" Target="../media/image140.png"/></Relationships>
</file>

<file path=ppt/slides/_rels/slide46.xml.rels><?xml version="1.0" encoding="UTF-8" standalone="yes"?>
<Relationships xmlns="http://schemas.openxmlformats.org/package/2006/relationships"><Relationship Id="rId8" Type="http://schemas.openxmlformats.org/officeDocument/2006/relationships/image" Target="../media/image79.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78.png"/><Relationship Id="rId12" Type="http://schemas.microsoft.com/office/2007/relationships/hdphoto" Target="../media/hdphoto3.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77.png"/><Relationship Id="rId24" Type="http://schemas.openxmlformats.org/officeDocument/2006/relationships/image" Target="../media/image380.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0.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0.png"/></Relationships>
</file>

<file path=ppt/slides/_rels/slide47.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80.png"/><Relationship Id="rId1" Type="http://schemas.openxmlformats.org/officeDocument/2006/relationships/slideLayout" Target="../slideLayouts/slideLayout4.xml"/><Relationship Id="rId5" Type="http://schemas.openxmlformats.org/officeDocument/2006/relationships/image" Target="../media/image81.png"/><Relationship Id="rId4" Type="http://schemas.microsoft.com/office/2007/relationships/hdphoto" Target="../media/hdphoto3.wdp"/></Relationships>
</file>

<file path=ppt/slides/_rels/slide4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2.jpe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4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75.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5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hyperlink" Target="https://www.tensorflow.org/tutorials/structured_data/time_series?hl=ko" TargetMode="External"/><Relationship Id="rId2" Type="http://schemas.openxmlformats.org/officeDocument/2006/relationships/image" Target="../media/image83.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hyperlink" Target="https://www.tensorflow.org/tutorials/structured_data/time_series?hl=ko" TargetMode="External"/><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86.png"/><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image" Target="../media/image221.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hyperlink" Target="https://keras.io/examples/timeseries/timeseries_anomaly_detection/" TargetMode="External"/><Relationship Id="rId1" Type="http://schemas.openxmlformats.org/officeDocument/2006/relationships/slideLayout" Target="../slideLayouts/slideLayout4.xml"/><Relationship Id="rId6" Type="http://schemas.openxmlformats.org/officeDocument/2006/relationships/hyperlink" Target="https://github.com/ancestor9/AI-with-python" TargetMode="External"/><Relationship Id="rId5" Type="http://schemas.openxmlformats.org/officeDocument/2006/relationships/image" Target="../media/image89.svg"/><Relationship Id="rId4" Type="http://schemas.openxmlformats.org/officeDocument/2006/relationships/image" Target="../media/image88.png"/></Relationships>
</file>

<file path=ppt/slides/_rels/slide65.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image" Target="../media/image88.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image" Target="../media/image88.png"/><Relationship Id="rId1" Type="http://schemas.openxmlformats.org/officeDocument/2006/relationships/slideLayout" Target="../slideLayouts/slideLayout4.xml"/><Relationship Id="rId6" Type="http://schemas.openxmlformats.org/officeDocument/2006/relationships/image" Target="../media/image92.png"/><Relationship Id="rId5" Type="http://schemas.openxmlformats.org/officeDocument/2006/relationships/image" Target="../media/image91.png"/><Relationship Id="rId4" Type="http://schemas.openxmlformats.org/officeDocument/2006/relationships/image" Target="../media/image90.png"/></Relationships>
</file>

<file path=ppt/slides/_rels/slide67.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image" Target="../media/image88.png"/><Relationship Id="rId1" Type="http://schemas.openxmlformats.org/officeDocument/2006/relationships/slideLayout" Target="../slideLayouts/slideLayout4.xml"/><Relationship Id="rId5" Type="http://schemas.openxmlformats.org/officeDocument/2006/relationships/image" Target="../media/image94.png"/><Relationship Id="rId4" Type="http://schemas.openxmlformats.org/officeDocument/2006/relationships/image" Target="../media/image9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1147115" y="2213264"/>
            <a:ext cx="9898714" cy="3139786"/>
          </a:xfrm>
          <a:prstGeom prst="rect">
            <a:avLst/>
          </a:prstGeom>
          <a:ln>
            <a:solidFill>
              <a:schemeClr val="tx1"/>
            </a:solidFill>
          </a:ln>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652136"/>
            <a:ext cx="4625741" cy="4633362"/>
          </a:xfrm>
          <a:prstGeom prst="rect">
            <a:avLst/>
          </a:prstGeom>
          <a:ln>
            <a:solidFill>
              <a:schemeClr val="tx1"/>
            </a:solidFill>
          </a:ln>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161405110"/>
              </p:ext>
            </p:extLst>
          </p:nvPr>
        </p:nvGraphicFramePr>
        <p:xfrm>
          <a:off x="5966613" y="1652136"/>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184673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894080"/>
            <a:ext cx="4922947" cy="4534293"/>
          </a:xfrm>
          <a:prstGeom prst="rect">
            <a:avLst/>
          </a:prstGeom>
          <a:ln>
            <a:solidFill>
              <a:schemeClr val="tx1"/>
            </a:solidFill>
          </a:ln>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894080"/>
            <a:ext cx="5922987" cy="263243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537498"/>
            <a:ext cx="2032691" cy="580769"/>
          </a:xfrm>
          <a:prstGeom prst="rect">
            <a:avLst/>
          </a:prstGeom>
          <a:ln>
            <a:solidFill>
              <a:schemeClr val="tx1"/>
            </a:solidFill>
          </a:ln>
        </p:spPr>
      </p:pic>
      <p:sp>
        <p:nvSpPr>
          <p:cNvPr id="21" name="TextBox 20">
            <a:extLst>
              <a:ext uri="{FF2B5EF4-FFF2-40B4-BE49-F238E27FC236}">
                <a16:creationId xmlns:a16="http://schemas.microsoft.com/office/drawing/2014/main" id="{B1524DAB-EF70-3649-069E-FB29009BA9B5}"/>
              </a:ext>
            </a:extLst>
          </p:cNvPr>
          <p:cNvSpPr txBox="1"/>
          <p:nvPr/>
        </p:nvSpPr>
        <p:spPr>
          <a:xfrm>
            <a:off x="8371957" y="518462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573924"/>
            <a:ext cx="1838735" cy="388726"/>
          </a:xfrm>
          <a:prstGeom prst="rect">
            <a:avLst/>
          </a:prstGeom>
          <a:ln>
            <a:solidFill>
              <a:schemeClr val="tx1"/>
            </a:solidFill>
          </a:ln>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78B9067A-F393-4C96-135E-D7857515EF86}"/>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온도 정보를 통해 내일 온도를 예측 </a:t>
            </a:r>
            <a:r>
              <a:rPr lang="en-US" altLang="ko-KR" sz="1600" dirty="0">
                <a:latin typeface="D2Coding" panose="020B0609020101020101" pitchFamily="49" charset="-127"/>
                <a:ea typeface="D2Coding" panose="020B0609020101020101" pitchFamily="49" charset="-127"/>
              </a:rPr>
              <a:t>(Sliding window with one-step &amp; single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684610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611197" y="1791200"/>
            <a:ext cx="7102455" cy="4656223"/>
          </a:xfrm>
          <a:prstGeom prst="rect">
            <a:avLst/>
          </a:prstGeom>
          <a:ln>
            <a:solidFill>
              <a:schemeClr val="tx1"/>
            </a:solidFill>
          </a:ln>
        </p:spPr>
      </p:pic>
      <p:sp>
        <p:nvSpPr>
          <p:cNvPr id="7" name="TextBox 6">
            <a:extLst>
              <a:ext uri="{FF2B5EF4-FFF2-40B4-BE49-F238E27FC236}">
                <a16:creationId xmlns:a16="http://schemas.microsoft.com/office/drawing/2014/main" id="{999475E9-8640-6AB3-88BC-8DD3A0B30BE3}"/>
              </a:ext>
            </a:extLst>
          </p:cNvPr>
          <p:cNvSpPr txBox="1"/>
          <p:nvPr/>
        </p:nvSpPr>
        <p:spPr>
          <a:xfrm>
            <a:off x="7951777" y="21281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51777" y="3536878"/>
            <a:ext cx="3859223" cy="404874"/>
          </a:xfrm>
          <a:prstGeom prst="rect">
            <a:avLst/>
          </a:prstGeom>
          <a:ln>
            <a:solidFill>
              <a:schemeClr val="tx1"/>
            </a:solidFill>
          </a:ln>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FC7B4177-7041-E87B-B153-DEC684619442}"/>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온도와 강수량 정보를 통해 내일 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384776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681296" y="1904291"/>
            <a:ext cx="10829407" cy="4079208"/>
          </a:xfrm>
          <a:prstGeom prst="rect">
            <a:avLst/>
          </a:prstGeom>
          <a:ln>
            <a:solidFill>
              <a:schemeClr val="tx1"/>
            </a:solidFill>
          </a:ln>
        </p:spPr>
      </p:pic>
      <p:sp>
        <p:nvSpPr>
          <p:cNvPr id="8" name="TextBox 7">
            <a:extLst>
              <a:ext uri="{FF2B5EF4-FFF2-40B4-BE49-F238E27FC236}">
                <a16:creationId xmlns:a16="http://schemas.microsoft.com/office/drawing/2014/main" id="{8FA609BE-B859-A023-68DF-9C7588D7B915}"/>
              </a:ext>
            </a:extLst>
          </p:cNvPr>
          <p:cNvSpPr txBox="1"/>
          <p:nvPr/>
        </p:nvSpPr>
        <p:spPr>
          <a:xfrm>
            <a:off x="5652527" y="6100144"/>
            <a:ext cx="5652526" cy="423834"/>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2" name="TextBox 1">
            <a:extLst>
              <a:ext uri="{FF2B5EF4-FFF2-40B4-BE49-F238E27FC236}">
                <a16:creationId xmlns:a16="http://schemas.microsoft.com/office/drawing/2014/main" id="{2DFF5C00-D308-F3B2-089D-081CE47CA59F}"/>
              </a:ext>
            </a:extLst>
          </p:cNvPr>
          <p:cNvSpPr txBox="1"/>
          <p:nvPr/>
        </p:nvSpPr>
        <p:spPr>
          <a:xfrm>
            <a:off x="611197" y="1248422"/>
            <a:ext cx="1127600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 정보를 통해 내일 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6294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4F5CD-B717-CC78-6959-DE013BCE3D9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0F052C8-C5C5-10E0-D8C0-25B6FEB910D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  sliding window with</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multiple-step</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96BB7607-3869-8E9E-C221-DDC44FEF1B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pic>
        <p:nvPicPr>
          <p:cNvPr id="6" name="그림 5">
            <a:extLst>
              <a:ext uri="{FF2B5EF4-FFF2-40B4-BE49-F238E27FC236}">
                <a16:creationId xmlns:a16="http://schemas.microsoft.com/office/drawing/2014/main" id="{DAD75DD9-E846-2CE2-D016-A32EEDC8FE61}"/>
              </a:ext>
            </a:extLst>
          </p:cNvPr>
          <p:cNvPicPr>
            <a:picLocks noChangeAspect="1"/>
          </p:cNvPicPr>
          <p:nvPr/>
        </p:nvPicPr>
        <p:blipFill>
          <a:blip r:embed="rId4"/>
          <a:stretch>
            <a:fillRect/>
          </a:stretch>
        </p:blipFill>
        <p:spPr>
          <a:xfrm>
            <a:off x="1106559" y="1563806"/>
            <a:ext cx="5932415" cy="4813092"/>
          </a:xfrm>
          <a:prstGeom prst="rect">
            <a:avLst/>
          </a:prstGeom>
          <a:ln>
            <a:solidFill>
              <a:schemeClr val="tx1"/>
            </a:solidFill>
          </a:ln>
        </p:spPr>
      </p:pic>
      <p:sp>
        <p:nvSpPr>
          <p:cNvPr id="4" name="TextBox 3">
            <a:extLst>
              <a:ext uri="{FF2B5EF4-FFF2-40B4-BE49-F238E27FC236}">
                <a16:creationId xmlns:a16="http://schemas.microsoft.com/office/drawing/2014/main" id="{F44DFFA3-632D-10C7-461D-8E263F2F7375}"/>
              </a:ext>
            </a:extLst>
          </p:cNvPr>
          <p:cNvSpPr txBox="1"/>
          <p:nvPr/>
        </p:nvSpPr>
        <p:spPr>
          <a:xfrm>
            <a:off x="7991474" y="1563806"/>
            <a:ext cx="3560445" cy="1901161"/>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시계열 데이터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온도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이용하여 미래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 시점</a:t>
            </a:r>
            <a:r>
              <a:rPr lang="en-US" altLang="ko-KR" sz="1600" dirty="0">
                <a:latin typeface="D2Coding" panose="020B0609020101020101" pitchFamily="49" charset="-127"/>
                <a:ea typeface="D2Coding" panose="020B0609020101020101" pitchFamily="49" charset="-127"/>
              </a:rPr>
              <a:t>(2-step)</a:t>
            </a:r>
            <a:r>
              <a:rPr lang="ko-KR" altLang="en-US" sz="1600" dirty="0">
                <a:latin typeface="D2Coding" panose="020B0609020101020101" pitchFamily="49" charset="-127"/>
                <a:ea typeface="D2Coding" panose="020B0609020101020101" pitchFamily="49" charset="-127"/>
              </a:rPr>
              <a:t>의 기온을 동시에 예측하는 다중 스텝 시계열 예측</a:t>
            </a:r>
            <a:r>
              <a:rPr lang="en-US" altLang="ko-KR" sz="1600" dirty="0">
                <a:latin typeface="D2Coding" panose="020B0609020101020101" pitchFamily="49" charset="-127"/>
                <a:ea typeface="D2Coding" panose="020B0609020101020101" pitchFamily="49" charset="-127"/>
              </a:rPr>
              <a:t>(Multi-step Time Series Forecasting)</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2728113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E69BDE96-05E2-9007-79F3-A80767F2FDA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11</a:t>
            </a:fld>
            <a:endParaRPr lang="en-US" dirty="0"/>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994009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5498" y="3573145"/>
            <a:ext cx="6524625" cy="2447925"/>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44399" y="4924721"/>
            <a:ext cx="2233204" cy="830997"/>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Samples/Batch size </a:t>
            </a:r>
            <a:r>
              <a:rPr lang="ko-KR" altLang="en-US" sz="1600" dirty="0">
                <a:solidFill>
                  <a:schemeClr val="bg1"/>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bg1"/>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9935" y="6107747"/>
            <a:ext cx="276861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Sliding window length</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530637" y="4351393"/>
            <a:ext cx="208058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temps, winds,…</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65498" y="3233757"/>
            <a:ext cx="6524625" cy="307777"/>
          </a:xfrm>
          <a:prstGeom prst="rect">
            <a:avLst/>
          </a:prstGeom>
          <a:noFill/>
        </p:spPr>
        <p:txBody>
          <a:bodyPr wrap="square">
            <a:spAutoFit/>
          </a:bodyPr>
          <a:lstStyle/>
          <a:p>
            <a:pPr algn="l">
              <a:spcAft>
                <a:spcPts val="300"/>
              </a:spcAft>
              <a:buNone/>
            </a:pPr>
            <a:r>
              <a:rPr lang="en-US" altLang="ko-KR" sz="1400" i="0" dirty="0">
                <a:effectLst/>
                <a:latin typeface="D2Coding" panose="020B0609020101020101" pitchFamily="49" charset="-127"/>
                <a:ea typeface="D2Coding" panose="020B0609020101020101" pitchFamily="49" charset="-127"/>
              </a:rPr>
              <a:t>Chapter 2 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13E7A300-CE2B-FC1E-BD8C-01CE5B60765B}"/>
              </a:ext>
            </a:extLst>
          </p:cNvPr>
          <p:cNvSpPr>
            <a:spLocks noChangeArrowheads="1"/>
          </p:cNvSpPr>
          <p:nvPr/>
        </p:nvSpPr>
        <p:spPr bwMode="auto">
          <a:xfrm>
            <a:off x="627003" y="1232381"/>
            <a:ext cx="10937993" cy="16289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Features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(특성/세로축): 각 시점마다 입력되는 변수들의 종류(예: 기온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temps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풍속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등). </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Timesteps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(시계열 길이/가로축): 슬라이딩 윈도우의 길이(</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Sliding</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window</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length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모델이 미래를 예측하기 위해 한 번에 훑어보는 과거 시간의 길이(예: 과거 7일간의 데이터)</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Samples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(샘플 수/</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깊이축</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데이터의 개수</a:t>
            </a:r>
            <a:r>
              <a:rPr kumimoji="0" lang="ko-KR" altLang="en-US"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슬라이딩 윈도우를 한 칸씩 이동하면서 만들어진 전체 데이터 묶음들의 수(또는 학습 시 지정하는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Batch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size</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)를 의미하며, 이 단위로 딥러닝 모델에 데이터가 투입</a:t>
            </a:r>
          </a:p>
        </p:txBody>
      </p:sp>
    </p:spTree>
    <p:extLst>
      <p:ext uri="{BB962C8B-B14F-4D97-AF65-F5344CB8AC3E}">
        <p14:creationId xmlns:p14="http://schemas.microsoft.com/office/powerpoint/2010/main" val="31340995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3206F-13DA-E637-93F1-FB2D9F473BE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3CE03C1-4AB0-5E8A-3B60-572F4D5A7C7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8E48454E-FA72-53F2-D5E8-CFBCC206A8A1}"/>
              </a:ext>
            </a:extLst>
          </p:cNvPr>
          <p:cNvSpPr txBox="1"/>
          <p:nvPr/>
        </p:nvSpPr>
        <p:spPr>
          <a:xfrm>
            <a:off x="617781" y="1264904"/>
            <a:ext cx="10955093" cy="1396664"/>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600" b="1" i="1" dirty="0">
                <a:effectLst/>
                <a:latin typeface="D2Coding" panose="020B0609020101020101" pitchFamily="49" charset="-127"/>
                <a:ea typeface="D2Coding" panose="020B0609020101020101" pitchFamily="49" charset="-127"/>
              </a:rPr>
              <a:t>A dataset of stock prices</a:t>
            </a:r>
            <a:r>
              <a:rPr lang="en-US" altLang="ko-KR" sz="1600" b="1" i="0" dirty="0">
                <a:effectLst/>
                <a:latin typeface="D2Coding" panose="020B0609020101020101" pitchFamily="49" charset="-127"/>
                <a:ea typeface="D2Coding" panose="020B0609020101020101" pitchFamily="49" charset="-127"/>
              </a:rPr>
              <a:t> </a:t>
            </a:r>
            <a:r>
              <a:rPr lang="en-US" altLang="ko-KR" sz="1400" b="0" i="0" dirty="0">
                <a:effectLst/>
                <a:latin typeface="D2Coding" panose="020B0609020101020101" pitchFamily="49" charset="-127"/>
                <a:ea typeface="D2Coding" panose="020B0609020101020101" pitchFamily="49" charset="-127"/>
              </a:rPr>
              <a:t>—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0" i="0" dirty="0">
                <a:effectLst/>
                <a:latin typeface="D2Coding" panose="020B0609020101020101" pitchFamily="49" charset="-127"/>
                <a:ea typeface="D2Coding" panose="020B0609020101020101" pitchFamily="49" charset="-127"/>
                <a:sym typeface="Wingdings" panose="05000000000000000000" pitchFamily="2" charset="2"/>
              </a:rPr>
              <a:t> </a:t>
            </a:r>
            <a:r>
              <a:rPr lang="en-US" altLang="ko-KR" sz="1400" dirty="0">
                <a:latin typeface="D2Coding" panose="020B0609020101020101" pitchFamily="49" charset="-127"/>
                <a:ea typeface="D2Coding" panose="020B0609020101020101" pitchFamily="49" charset="-127"/>
              </a:rPr>
              <a:t>(Batch size, Timesteps, # of Features)</a:t>
            </a:r>
          </a:p>
        </p:txBody>
      </p:sp>
      <p:sp>
        <p:nvSpPr>
          <p:cNvPr id="2" name="슬라이드 번호 개체 틀 3">
            <a:extLst>
              <a:ext uri="{FF2B5EF4-FFF2-40B4-BE49-F238E27FC236}">
                <a16:creationId xmlns:a16="http://schemas.microsoft.com/office/drawing/2014/main" id="{9272A986-09DB-2158-5721-C2031ACEF395}"/>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7CAA12E3-A765-BB3F-CEAD-C650A184AC6E}"/>
              </a:ext>
            </a:extLst>
          </p:cNvPr>
          <p:cNvSpPr>
            <a:spLocks noChangeArrowheads="1"/>
          </p:cNvSpPr>
          <p:nvPr/>
        </p:nvSpPr>
        <p:spPr bwMode="auto">
          <a:xfrm>
            <a:off x="812213" y="3880230"/>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 (현재가/고가/저가)</a:t>
            </a:r>
          </a:p>
        </p:txBody>
      </p:sp>
      <p:sp>
        <p:nvSpPr>
          <p:cNvPr id="5" name="Rectangle 1">
            <a:extLst>
              <a:ext uri="{FF2B5EF4-FFF2-40B4-BE49-F238E27FC236}">
                <a16:creationId xmlns:a16="http://schemas.microsoft.com/office/drawing/2014/main" id="{ED086407-0C27-B277-CBE3-49F7D18518E5}"/>
              </a:ext>
            </a:extLst>
          </p:cNvPr>
          <p:cNvSpPr>
            <a:spLocks noChangeArrowheads="1"/>
          </p:cNvSpPr>
          <p:nvPr/>
        </p:nvSpPr>
        <p:spPr bwMode="auto">
          <a:xfrm>
            <a:off x="5915026" y="3753741"/>
            <a:ext cx="1037289"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50 </a:t>
            </a:r>
            <a:endPar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(250일치) </a:t>
            </a:r>
          </a:p>
        </p:txBody>
      </p:sp>
      <p:sp>
        <p:nvSpPr>
          <p:cNvPr id="6" name="Rectangle 1">
            <a:extLst>
              <a:ext uri="{FF2B5EF4-FFF2-40B4-BE49-F238E27FC236}">
                <a16:creationId xmlns:a16="http://schemas.microsoft.com/office/drawing/2014/main" id="{397A17D8-F922-12A1-439A-6F8309529C96}"/>
              </a:ext>
            </a:extLst>
          </p:cNvPr>
          <p:cNvSpPr>
            <a:spLocks noChangeArrowheads="1"/>
          </p:cNvSpPr>
          <p:nvPr/>
        </p:nvSpPr>
        <p:spPr bwMode="auto">
          <a:xfrm>
            <a:off x="3234178" y="4492286"/>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390 (하루 390분)</a:t>
            </a:r>
          </a:p>
        </p:txBody>
      </p:sp>
      <p:sp>
        <p:nvSpPr>
          <p:cNvPr id="8" name="직사각형 7">
            <a:extLst>
              <a:ext uri="{FF2B5EF4-FFF2-40B4-BE49-F238E27FC236}">
                <a16:creationId xmlns:a16="http://schemas.microsoft.com/office/drawing/2014/main" id="{DF159F2F-33C7-AF3D-0895-99D23883B256}"/>
              </a:ext>
            </a:extLst>
          </p:cNvPr>
          <p:cNvSpPr/>
          <p:nvPr/>
        </p:nvSpPr>
        <p:spPr>
          <a:xfrm>
            <a:off x="4315809" y="3048540"/>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EB10AD50-6D52-011B-8641-8846409B7052}"/>
              </a:ext>
            </a:extLst>
          </p:cNvPr>
          <p:cNvSpPr/>
          <p:nvPr/>
        </p:nvSpPr>
        <p:spPr>
          <a:xfrm>
            <a:off x="4030059" y="3219846"/>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A07FF978-B948-B87C-153F-FB8A28592B81}"/>
              </a:ext>
            </a:extLst>
          </p:cNvPr>
          <p:cNvSpPr/>
          <p:nvPr/>
        </p:nvSpPr>
        <p:spPr>
          <a:xfrm>
            <a:off x="3744309" y="3391152"/>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0A037954-287C-8BBD-E27D-DACCDD2931EA}"/>
              </a:ext>
            </a:extLst>
          </p:cNvPr>
          <p:cNvSpPr/>
          <p:nvPr/>
        </p:nvSpPr>
        <p:spPr>
          <a:xfrm>
            <a:off x="3449034" y="3562458"/>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B4472D33-FA00-A518-E9C8-BF6E7ABBD9A3}"/>
              </a:ext>
            </a:extLst>
          </p:cNvPr>
          <p:cNvSpPr/>
          <p:nvPr/>
        </p:nvSpPr>
        <p:spPr>
          <a:xfrm>
            <a:off x="3153759" y="3733766"/>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B64FD727-0980-DF31-3DB8-4B26937D3E63}"/>
              </a:ext>
            </a:extLst>
          </p:cNvPr>
          <p:cNvSpPr txBox="1"/>
          <p:nvPr/>
        </p:nvSpPr>
        <p:spPr>
          <a:xfrm>
            <a:off x="7439280" y="2672202"/>
            <a:ext cx="411480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(1</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[70500.0, 71000.0, 70200.0],  # Timestep 0  : 1</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[70600.0, 70800.0, 70500.0],  # Timestep 1  : 2</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[70400.0, 70700.0, 70300.0],  # Timestep 2  : 3</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[71200.0, 71500.0, 71000.0]   # Timestep 389: 390</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장 마감 시점</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(390, 3) -&gt; </a:t>
            </a:r>
            <a:r>
              <a:rPr lang="ko-KR" altLang="en-US" sz="900" dirty="0">
                <a:solidFill>
                  <a:schemeClr val="bg1"/>
                </a:solidFill>
                <a:latin typeface="Calibri Light" panose="020F0302020204030204" pitchFamily="34" charset="0"/>
                <a:cs typeface="Calibri Light" panose="020F0302020204030204" pitchFamily="34" charset="0"/>
              </a:rPr>
              <a:t>하루치</a:t>
            </a:r>
            <a:r>
              <a:rPr lang="en-US" altLang="ko-KR" sz="900" dirty="0">
                <a:solidFill>
                  <a:schemeClr val="bg1"/>
                </a:solidFill>
                <a:latin typeface="Calibri Light" panose="020F0302020204030204" pitchFamily="34" charset="0"/>
                <a:cs typeface="Calibri Light" panose="020F0302020204030204" pitchFamily="34" charset="0"/>
              </a:rPr>
              <a:t>(1</a:t>
            </a:r>
            <a:r>
              <a:rPr lang="ko-KR" altLang="en-US" sz="900" dirty="0">
                <a:solidFill>
                  <a:schemeClr val="bg1"/>
                </a:solidFill>
                <a:latin typeface="Calibri Light" panose="020F0302020204030204" pitchFamily="34" charset="0"/>
                <a:cs typeface="Calibri Light" panose="020F0302020204030204" pitchFamily="34" charset="0"/>
              </a:rPr>
              <a:t>일</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거래 </a:t>
            </a:r>
            <a:r>
              <a:rPr lang="en-US" altLang="ko-KR" sz="900" dirty="0">
                <a:solidFill>
                  <a:schemeClr val="bg1"/>
                </a:solidFill>
                <a:latin typeface="Calibri Light" panose="020F0302020204030204" pitchFamily="34" charset="0"/>
                <a:cs typeface="Calibri Light" panose="020F0302020204030204" pitchFamily="34" charset="0"/>
              </a:rPr>
              <a:t>2D </a:t>
            </a:r>
            <a:r>
              <a:rPr lang="ko-KR" altLang="en-US" sz="900" dirty="0">
                <a:solidFill>
                  <a:schemeClr val="bg1"/>
                </a:solidFill>
                <a:latin typeface="Calibri Light" panose="020F0302020204030204" pitchFamily="34" charset="0"/>
                <a:cs typeface="Calibri Light" panose="020F0302020204030204" pitchFamily="34" charset="0"/>
              </a:rPr>
              <a:t>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(2</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[71300.0, 71800.0, 71200.0],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[71500.0, 71600.0, 71300.0],  # Timestep 1  : 2</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[72000.0, 72200.0, 71900.0]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249 (250</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[68000.0, 68500.0, 67900.0],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[69100.0, 69300.0, 68800.0]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2132790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8C702-916B-4E37-5B18-0C0FECE96F1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1A76000-FAA5-7FF5-6095-CEF483FE22C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FC730BCD-8501-950A-7929-F8D341453A14}"/>
              </a:ext>
            </a:extLst>
          </p:cNvPr>
          <p:cNvSpPr txBox="1"/>
          <p:nvPr/>
        </p:nvSpPr>
        <p:spPr>
          <a:xfrm>
            <a:off x="617781" y="122680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165CDD7A-EBDF-5314-F57C-D47A1AA8D6D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9E14C44D-4A5D-1F8F-D59B-D8A406DA7A29}"/>
              </a:ext>
            </a:extLst>
          </p:cNvPr>
          <p:cNvSpPr>
            <a:spLocks noChangeArrowheads="1"/>
          </p:cNvSpPr>
          <p:nvPr/>
        </p:nvSpPr>
        <p:spPr bwMode="auto">
          <a:xfrm>
            <a:off x="858647" y="3804889"/>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128</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One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hot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encoding</a:t>
            </a:r>
            <a:endParaRPr lang="ko-KR"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A1FE1F92-1369-237E-0D4F-2F5327D8174E}"/>
              </a:ext>
            </a:extLst>
          </p:cNvPr>
          <p:cNvSpPr txBox="1"/>
          <p:nvPr/>
        </p:nvSpPr>
        <p:spPr>
          <a:xfrm>
            <a:off x="7439280" y="2672202"/>
            <a:ext cx="4114802" cy="3831818"/>
          </a:xfrm>
          <a:prstGeom prst="rect">
            <a:avLst/>
          </a:prstGeom>
          <a:solidFill>
            <a:schemeClr val="tx1"/>
          </a:solidFill>
        </p:spPr>
        <p:txBody>
          <a:bodyPr wrap="square">
            <a:spAutoFit/>
          </a:bodyPr>
          <a:lstStyle/>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0 (첫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 : 1번째 글자 ('</a:t>
            </a:r>
            <a:r>
              <a:rPr lang="ko-KR" altLang="en-US" sz="900" dirty="0" err="1">
                <a:solidFill>
                  <a:schemeClr val="bg1"/>
                </a:solidFill>
                <a:latin typeface="Calibri Light" panose="020F0302020204030204" pitchFamily="34" charset="0"/>
                <a:cs typeface="Calibri Light" panose="020F0302020204030204" pitchFamily="34" charset="0"/>
              </a:rPr>
              <a:t>T'의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 128차원)</a:t>
            </a:r>
          </a:p>
          <a:p>
            <a:r>
              <a:rPr lang="ko-KR" altLang="en-US" sz="900" dirty="0">
                <a:solidFill>
                  <a:schemeClr val="bg1"/>
                </a:solidFill>
                <a:latin typeface="Calibri Light" panose="020F0302020204030204" pitchFamily="34" charset="0"/>
                <a:cs typeface="Calibri Light" panose="020F0302020204030204" pitchFamily="34" charset="0"/>
              </a:rPr>
              <a:t>        [0., 0., ..., </a:t>
            </a:r>
            <a:r>
              <a:rPr lang="en-US" altLang="ko-KR" sz="900" dirty="0">
                <a:solidFill>
                  <a:schemeClr val="bg1"/>
                </a:solidFill>
                <a:latin typeface="Calibri Light" panose="020F0302020204030204" pitchFamily="34" charset="0"/>
                <a:cs typeface="Calibri Light" panose="020F0302020204030204" pitchFamily="34" charset="0"/>
              </a:rPr>
              <a:t>0</a:t>
            </a:r>
            <a:r>
              <a:rPr lang="ko-KR" altLang="en-US" sz="900" dirty="0">
                <a:solidFill>
                  <a:schemeClr val="bg1"/>
                </a:solidFill>
                <a:latin typeface="Calibri Light" panose="020F0302020204030204" pitchFamily="34" charset="0"/>
                <a:cs typeface="Calibri Light" panose="020F0302020204030204" pitchFamily="34" charset="0"/>
              </a:rPr>
              <a:t>.,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1 : 2번째 글자 ('</a:t>
            </a:r>
            <a:r>
              <a:rPr lang="ko-KR" altLang="en-US" sz="900" dirty="0" err="1">
                <a:solidFill>
                  <a:schemeClr val="bg1"/>
                </a:solidFill>
                <a:latin typeface="Calibri Light" panose="020F0302020204030204" pitchFamily="34" charset="0"/>
                <a:cs typeface="Calibri Light" panose="020F0302020204030204" pitchFamily="34" charset="0"/>
              </a:rPr>
              <a:t>w'의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[0., 1.,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 : 3번째 글자 ('</a:t>
            </a:r>
            <a:r>
              <a:rPr lang="ko-KR" altLang="en-US" sz="900" dirty="0" err="1">
                <a:solidFill>
                  <a:schemeClr val="bg1"/>
                </a:solidFill>
                <a:latin typeface="Calibri Light" panose="020F0302020204030204" pitchFamily="34" charset="0"/>
                <a:cs typeface="Calibri Light" panose="020F0302020204030204" pitchFamily="34" charset="0"/>
              </a:rPr>
              <a:t>e'의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0., ..., 1.]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 280번째 글자 ('!'의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Shape</a:t>
            </a:r>
            <a:r>
              <a:rPr lang="ko-KR" altLang="en-US" sz="900" dirty="0">
                <a:solidFill>
                  <a:schemeClr val="bg1"/>
                </a:solidFill>
                <a:latin typeface="Calibri Light" panose="020F0302020204030204" pitchFamily="34" charset="0"/>
                <a:cs typeface="Calibri Light" panose="020F0302020204030204" pitchFamily="34" charset="0"/>
              </a:rPr>
              <a:t>: (280, 128) -&gt; 단일 트윗의 2D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1 (두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a:t>
            </a:r>
          </a:p>
          <a:p>
            <a:r>
              <a:rPr lang="ko-KR" altLang="en-US" sz="900" dirty="0">
                <a:solidFill>
                  <a:schemeClr val="bg1"/>
                </a:solidFill>
                <a:latin typeface="Calibri Light" panose="020F0302020204030204" pitchFamily="34" charset="0"/>
                <a:cs typeface="Calibri Light" panose="020F0302020204030204" pitchFamily="34" charset="0"/>
              </a:rPr>
              <a:t>        [0., 0.,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1</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[1., 0.,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a:t>
            </a:r>
          </a:p>
          <a:p>
            <a:r>
              <a:rPr lang="ko-KR" altLang="en-US" sz="900" dirty="0">
                <a:solidFill>
                  <a:schemeClr val="bg1"/>
                </a:solidFill>
                <a:latin typeface="Calibri Light" panose="020F0302020204030204" pitchFamily="34" charset="0"/>
                <a:cs typeface="Calibri Light" panose="020F0302020204030204" pitchFamily="34" charset="0"/>
              </a:rPr>
              <a:t>    ],</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999999 (100만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1.,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a:t>
            </a:r>
          </a:p>
        </p:txBody>
      </p:sp>
      <p:sp>
        <p:nvSpPr>
          <p:cNvPr id="17" name="Rectangle 1">
            <a:extLst>
              <a:ext uri="{FF2B5EF4-FFF2-40B4-BE49-F238E27FC236}">
                <a16:creationId xmlns:a16="http://schemas.microsoft.com/office/drawing/2014/main" id="{82484200-2BCA-7F35-BA89-8F6CCE7CB76B}"/>
              </a:ext>
            </a:extLst>
          </p:cNvPr>
          <p:cNvSpPr>
            <a:spLocks noChangeArrowheads="1"/>
          </p:cNvSpPr>
          <p:nvPr/>
        </p:nvSpPr>
        <p:spPr bwMode="auto">
          <a:xfrm>
            <a:off x="5277157" y="4116385"/>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18" name="Rectangle 1">
            <a:extLst>
              <a:ext uri="{FF2B5EF4-FFF2-40B4-BE49-F238E27FC236}">
                <a16:creationId xmlns:a16="http://schemas.microsoft.com/office/drawing/2014/main" id="{3D400564-7F35-5A17-BF5E-FB7B036E1884}"/>
              </a:ext>
            </a:extLst>
          </p:cNvPr>
          <p:cNvSpPr>
            <a:spLocks noChangeArrowheads="1"/>
          </p:cNvSpPr>
          <p:nvPr/>
        </p:nvSpPr>
        <p:spPr bwMode="auto">
          <a:xfrm>
            <a:off x="3039458" y="4895077"/>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19" name="직사각형 18">
            <a:extLst>
              <a:ext uri="{FF2B5EF4-FFF2-40B4-BE49-F238E27FC236}">
                <a16:creationId xmlns:a16="http://schemas.microsoft.com/office/drawing/2014/main" id="{DA22FFE9-EBF1-F9DC-34D5-A019B053E2F4}"/>
              </a:ext>
            </a:extLst>
          </p:cNvPr>
          <p:cNvSpPr/>
          <p:nvPr/>
        </p:nvSpPr>
        <p:spPr>
          <a:xfrm>
            <a:off x="4201508" y="287400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직사각형 19">
            <a:extLst>
              <a:ext uri="{FF2B5EF4-FFF2-40B4-BE49-F238E27FC236}">
                <a16:creationId xmlns:a16="http://schemas.microsoft.com/office/drawing/2014/main" id="{34281C7B-5A84-14D5-1A2C-ABEF2038AB42}"/>
              </a:ext>
            </a:extLst>
          </p:cNvPr>
          <p:cNvSpPr/>
          <p:nvPr/>
        </p:nvSpPr>
        <p:spPr>
          <a:xfrm>
            <a:off x="3915758" y="304531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a:extLst>
              <a:ext uri="{FF2B5EF4-FFF2-40B4-BE49-F238E27FC236}">
                <a16:creationId xmlns:a16="http://schemas.microsoft.com/office/drawing/2014/main" id="{353671CC-5C7B-6563-BAD8-E3AC7CD0439E}"/>
              </a:ext>
            </a:extLst>
          </p:cNvPr>
          <p:cNvSpPr/>
          <p:nvPr/>
        </p:nvSpPr>
        <p:spPr>
          <a:xfrm>
            <a:off x="3630008" y="321662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직사각형 21">
            <a:extLst>
              <a:ext uri="{FF2B5EF4-FFF2-40B4-BE49-F238E27FC236}">
                <a16:creationId xmlns:a16="http://schemas.microsoft.com/office/drawing/2014/main" id="{FEC0C6D4-4C44-0B9D-B126-A3DE910F502C}"/>
              </a:ext>
            </a:extLst>
          </p:cNvPr>
          <p:cNvSpPr/>
          <p:nvPr/>
        </p:nvSpPr>
        <p:spPr>
          <a:xfrm>
            <a:off x="3334733" y="338792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직사각형 22">
            <a:extLst>
              <a:ext uri="{FF2B5EF4-FFF2-40B4-BE49-F238E27FC236}">
                <a16:creationId xmlns:a16="http://schemas.microsoft.com/office/drawing/2014/main" id="{785DBFD8-6380-5362-2B66-98C37819D3CA}"/>
              </a:ext>
            </a:extLst>
          </p:cNvPr>
          <p:cNvSpPr/>
          <p:nvPr/>
        </p:nvSpPr>
        <p:spPr>
          <a:xfrm>
            <a:off x="3039458" y="355923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3938578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64856-2697-B254-2AF7-2F995A4352F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8F97AB-AE0A-9BC4-2D74-5881AFB942C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74674BE7-A73E-7A0A-6192-036CC37B706B}"/>
              </a:ext>
            </a:extLst>
          </p:cNvPr>
          <p:cNvSpPr txBox="1"/>
          <p:nvPr/>
        </p:nvSpPr>
        <p:spPr>
          <a:xfrm>
            <a:off x="617781" y="122680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B98289C3-2036-C86F-B298-743B29B5768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DF6441B7-8549-D2AC-B4CE-CE0A975453C1}"/>
              </a:ext>
            </a:extLst>
          </p:cNvPr>
          <p:cNvSpPr>
            <a:spLocks noChangeArrowheads="1"/>
          </p:cNvSpPr>
          <p:nvPr/>
        </p:nvSpPr>
        <p:spPr bwMode="auto">
          <a:xfrm>
            <a:off x="858647" y="3804889"/>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eaLnBrk="0" fontAlgn="base" hangingPunct="0">
              <a:spcBef>
                <a:spcPct val="0"/>
              </a:spcBef>
              <a:spcAft>
                <a:spcPct val="0"/>
              </a:spcAft>
            </a:pPr>
            <a:r>
              <a:rPr lang="en-US" altLang="ko-KR" sz="1600" b="1" dirty="0">
                <a:latin typeface="D2Coding" panose="020B0609020101020101" pitchFamily="49" charset="-127"/>
                <a:ea typeface="D2Coding" panose="020B0609020101020101" pitchFamily="49" charset="-127"/>
              </a:rPr>
              <a:t>32</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Embedding vectors</a:t>
            </a:r>
            <a:endParaRPr lang="ko-KR" altLang="ko-KR" sz="1600" dirty="0">
              <a:latin typeface="D2Coding" panose="020B0609020101020101" pitchFamily="49" charset="-127"/>
              <a:ea typeface="D2Coding" panose="020B0609020101020101" pitchFamily="49" charset="-127"/>
            </a:endParaRPr>
          </a:p>
        </p:txBody>
      </p:sp>
      <p:sp>
        <p:nvSpPr>
          <p:cNvPr id="5" name="Rectangle 1">
            <a:extLst>
              <a:ext uri="{FF2B5EF4-FFF2-40B4-BE49-F238E27FC236}">
                <a16:creationId xmlns:a16="http://schemas.microsoft.com/office/drawing/2014/main" id="{A1971871-BF30-B1F4-9E41-9936364DF5A2}"/>
              </a:ext>
            </a:extLst>
          </p:cNvPr>
          <p:cNvSpPr>
            <a:spLocks noChangeArrowheads="1"/>
          </p:cNvSpPr>
          <p:nvPr/>
        </p:nvSpPr>
        <p:spPr bwMode="auto">
          <a:xfrm>
            <a:off x="5228915" y="4101102"/>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6" name="Rectangle 1">
            <a:extLst>
              <a:ext uri="{FF2B5EF4-FFF2-40B4-BE49-F238E27FC236}">
                <a16:creationId xmlns:a16="http://schemas.microsoft.com/office/drawing/2014/main" id="{6233A520-1D81-E17B-2ADD-069D0AAF4F07}"/>
              </a:ext>
            </a:extLst>
          </p:cNvPr>
          <p:cNvSpPr>
            <a:spLocks noChangeArrowheads="1"/>
          </p:cNvSpPr>
          <p:nvPr/>
        </p:nvSpPr>
        <p:spPr bwMode="auto">
          <a:xfrm>
            <a:off x="3039458" y="4895077"/>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8" name="직사각형 7">
            <a:extLst>
              <a:ext uri="{FF2B5EF4-FFF2-40B4-BE49-F238E27FC236}">
                <a16:creationId xmlns:a16="http://schemas.microsoft.com/office/drawing/2014/main" id="{99CD4878-C6DA-69D8-8A85-927C2C6618E1}"/>
              </a:ext>
            </a:extLst>
          </p:cNvPr>
          <p:cNvSpPr/>
          <p:nvPr/>
        </p:nvSpPr>
        <p:spPr>
          <a:xfrm>
            <a:off x="4201508" y="287400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DE6873BF-607C-4624-A2C5-167CDD51E70C}"/>
              </a:ext>
            </a:extLst>
          </p:cNvPr>
          <p:cNvSpPr/>
          <p:nvPr/>
        </p:nvSpPr>
        <p:spPr>
          <a:xfrm>
            <a:off x="3915758" y="304531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6C5EA5AF-1600-2940-0DA2-8AE4B4E6E0B5}"/>
              </a:ext>
            </a:extLst>
          </p:cNvPr>
          <p:cNvSpPr/>
          <p:nvPr/>
        </p:nvSpPr>
        <p:spPr>
          <a:xfrm>
            <a:off x="3630008" y="321662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D5058F58-336E-E1A3-93C9-F55C54D17582}"/>
              </a:ext>
            </a:extLst>
          </p:cNvPr>
          <p:cNvSpPr/>
          <p:nvPr/>
        </p:nvSpPr>
        <p:spPr>
          <a:xfrm>
            <a:off x="3334733" y="338792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E29B46FB-0C0A-E50E-AF57-230FFA62C019}"/>
              </a:ext>
            </a:extLst>
          </p:cNvPr>
          <p:cNvSpPr/>
          <p:nvPr/>
        </p:nvSpPr>
        <p:spPr>
          <a:xfrm>
            <a:off x="3039458" y="355923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3AE6937D-9826-9007-BE74-FFB843EAE271}"/>
              </a:ext>
            </a:extLst>
          </p:cNvPr>
          <p:cNvSpPr txBox="1"/>
          <p:nvPr/>
        </p:nvSpPr>
        <p:spPr>
          <a:xfrm>
            <a:off x="7286625" y="2672202"/>
            <a:ext cx="446748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a:t>
            </a:r>
            <a:r>
              <a:rPr lang="ko-KR" altLang="en-US" sz="900" dirty="0">
                <a:solidFill>
                  <a:schemeClr val="bg1"/>
                </a:solidFill>
                <a:latin typeface="Calibri Light" panose="020F0302020204030204" pitchFamily="34" charset="0"/>
                <a:cs typeface="Calibri Light" panose="020F0302020204030204" pitchFamily="34" charset="0"/>
              </a:rPr>
              <a:t>첫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[ 0.12, -0.85,  0.43, ...,  0.07],  # Timestep 0 : 1</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[-0.41,  0.22, -0.19, ..., -0.63],  # Timestep 1 : 2</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('w'</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[ 0.95, -0.04,  0.51, ...,  0.31],  # Timestep 2 : 3</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('e'</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[-0.11,  0.78, -0.34, ..., -0.25]   # Timestep 279: 280</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(280, 32) -&gt; </a:t>
            </a:r>
            <a:r>
              <a:rPr lang="ko-KR" altLang="en-US" sz="900" dirty="0">
                <a:solidFill>
                  <a:schemeClr val="bg1"/>
                </a:solidFill>
                <a:latin typeface="Calibri Light" panose="020F0302020204030204" pitchFamily="34" charset="0"/>
                <a:cs typeface="Calibri Light" panose="020F0302020204030204" pitchFamily="34" charset="0"/>
              </a:rPr>
              <a:t>단일 트윗의 </a:t>
            </a:r>
            <a:r>
              <a:rPr lang="ko-KR" altLang="en-US" sz="900" dirty="0" err="1">
                <a:solidFill>
                  <a:schemeClr val="bg1"/>
                </a:solidFill>
                <a:latin typeface="Calibri Light" panose="020F0302020204030204" pitchFamily="34" charset="0"/>
                <a:cs typeface="Calibri Light" panose="020F0302020204030204" pitchFamily="34" charset="0"/>
              </a:rPr>
              <a:t>임베딩</a:t>
            </a:r>
            <a:r>
              <a:rPr lang="ko-KR" altLang="en-US" sz="900" dirty="0">
                <a:solidFill>
                  <a:schemeClr val="bg1"/>
                </a:solidFill>
                <a:latin typeface="Calibri Light" panose="020F0302020204030204" pitchFamily="34" charset="0"/>
                <a:cs typeface="Calibri Light" panose="020F0302020204030204" pitchFamily="34" charset="0"/>
              </a:rPr>
              <a:t>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a:t>
            </a:r>
            <a:r>
              <a:rPr lang="ko-KR" altLang="en-US" sz="900" dirty="0">
                <a:solidFill>
                  <a:schemeClr val="bg1"/>
                </a:solidFill>
                <a:latin typeface="Calibri Light" panose="020F0302020204030204" pitchFamily="34" charset="0"/>
                <a:cs typeface="Calibri Light" panose="020F0302020204030204" pitchFamily="34" charset="0"/>
              </a:rPr>
              <a:t>두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[ 0.54, -0.12,  0.88, ..., -0.42],  # Timestep 0</a:t>
            </a:r>
          </a:p>
          <a:p>
            <a:r>
              <a:rPr lang="en-US" altLang="ko-KR" sz="900" dirty="0">
                <a:solidFill>
                  <a:schemeClr val="bg1"/>
                </a:solidFill>
                <a:latin typeface="Calibri Light" panose="020F0302020204030204" pitchFamily="34" charset="0"/>
                <a:cs typeface="Calibri Light" panose="020F0302020204030204" pitchFamily="34" charset="0"/>
              </a:rPr>
              <a:t>        [-0.03,  0.61, -0.72, ...,  0.15],  # Timestep 1</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[ 0.27,  0.39, -0.05, ...,  0.81]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999999 (100</a:t>
            </a:r>
            <a:r>
              <a:rPr lang="ko-KR" altLang="en-US" sz="900" dirty="0">
                <a:solidFill>
                  <a:schemeClr val="bg1"/>
                </a:solidFill>
                <a:latin typeface="Calibri Light" panose="020F0302020204030204" pitchFamily="34" charset="0"/>
                <a:cs typeface="Calibri Light" panose="020F0302020204030204" pitchFamily="34" charset="0"/>
              </a:rPr>
              <a:t>만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[-0.82,  0.19,  0.04, ..., -0.57],  # Timestep 0</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[ 0.33, -0.48,  0.91, ...,  0.02]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5714161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1670" y="2108835"/>
            <a:ext cx="5312410" cy="4083420"/>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191510" y="1812786"/>
            <a:ext cx="5980430" cy="307777"/>
          </a:xfrm>
          <a:prstGeom prst="rect">
            <a:avLst/>
          </a:prstGeom>
          <a:noFill/>
        </p:spPr>
        <p:txBody>
          <a:bodyPr wrap="square">
            <a:spAutoFit/>
          </a:bodyPr>
          <a:lstStyle/>
          <a:p>
            <a:pPr algn="l">
              <a:spcAft>
                <a:spcPts val="300"/>
              </a:spcAft>
              <a:buNone/>
            </a:pPr>
            <a:r>
              <a:rPr lang="en-US" altLang="ko-KR" sz="1400" b="0" i="0" dirty="0">
                <a:effectLst/>
                <a:latin typeface="D2Coding" panose="020B0609020101020101" pitchFamily="49" charset="-127"/>
                <a:ea typeface="D2Coding" panose="020B0609020101020101" pitchFamily="49" charset="-127"/>
              </a:rPr>
              <a:t>Chapter 2 </a:t>
            </a:r>
            <a:r>
              <a:rPr lang="en-US" altLang="ko-KR" sz="1400" b="1" i="0" dirty="0">
                <a:effectLst/>
                <a:latin typeface="D2Coding" panose="020B0609020101020101" pitchFamily="49" charset="-127"/>
                <a:ea typeface="D2Coding" panose="020B0609020101020101" pitchFamily="49" charset="-127"/>
              </a:rPr>
              <a:t>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832ED-63D2-D288-22F5-89CF5AC555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C0ED677-8888-7312-5FFE-A8373994FBB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489A1319-EE6C-B001-9453-4B097B4EDE7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13F459AE-0C92-5686-942C-C3E7D2A5678D}"/>
              </a:ext>
            </a:extLst>
          </p:cNvPr>
          <p:cNvSpPr txBox="1"/>
          <p:nvPr/>
        </p:nvSpPr>
        <p:spPr>
          <a:xfrm>
            <a:off x="590550" y="2879632"/>
            <a:ext cx="4942379" cy="307777"/>
          </a:xfrm>
          <a:prstGeom prst="rect">
            <a:avLst/>
          </a:prstGeom>
          <a:noFill/>
        </p:spPr>
        <p:txBody>
          <a:bodyPr wrap="none" rtlCol="0">
            <a:spAutoFit/>
          </a:bodyPr>
          <a:lstStyle/>
          <a:p>
            <a:r>
              <a:rPr lang="en-US" altLang="ko-KR" sz="1400" dirty="0">
                <a:latin typeface="D2Coding" panose="020B0609020101020101" pitchFamily="49" charset="-127"/>
                <a:ea typeface="D2Coding" panose="020B0609020101020101" pitchFamily="49" charset="-127"/>
                <a:hlinkClick r:id="rId2"/>
              </a:rPr>
              <a:t>Canon and Gigue D Major | </a:t>
            </a:r>
            <a:r>
              <a:rPr lang="ko-KR" altLang="en-US" sz="1400" dirty="0" err="1">
                <a:latin typeface="D2Coding" panose="020B0609020101020101" pitchFamily="49" charset="-127"/>
                <a:ea typeface="D2Coding" panose="020B0609020101020101" pitchFamily="49" charset="-127"/>
                <a:hlinkClick r:id="rId2"/>
              </a:rPr>
              <a:t>파헬벨</a:t>
            </a:r>
            <a:r>
              <a:rPr lang="ko-KR" altLang="en-US" sz="1400" dirty="0">
                <a:latin typeface="D2Coding" panose="020B0609020101020101" pitchFamily="49" charset="-127"/>
                <a:ea typeface="D2Coding" panose="020B0609020101020101" pitchFamily="49" charset="-127"/>
                <a:hlinkClick r:id="rId2"/>
              </a:rPr>
              <a:t> </a:t>
            </a:r>
            <a:r>
              <a:rPr lang="en-US" altLang="ko-KR" sz="1400" dirty="0">
                <a:latin typeface="D2Coding" panose="020B0609020101020101" pitchFamily="49" charset="-127"/>
                <a:ea typeface="D2Coding" panose="020B0609020101020101" pitchFamily="49" charset="-127"/>
                <a:hlinkClick r:id="rId2"/>
              </a:rPr>
              <a:t>| </a:t>
            </a:r>
            <a:r>
              <a:rPr lang="ko-KR" altLang="en-US" sz="1400" dirty="0">
                <a:latin typeface="D2Coding" panose="020B0609020101020101" pitchFamily="49" charset="-127"/>
                <a:ea typeface="D2Coding" panose="020B0609020101020101" pitchFamily="49" charset="-127"/>
                <a:hlinkClick r:id="rId2"/>
              </a:rPr>
              <a:t>캐논 변주곡 라장조</a:t>
            </a:r>
            <a:endParaRPr lang="ko-KR" altLang="en-US" sz="1400" dirty="0">
              <a:latin typeface="D2Coding" panose="020B0609020101020101" pitchFamily="49" charset="-127"/>
              <a:ea typeface="D2Coding" panose="020B0609020101020101" pitchFamily="49" charset="-127"/>
            </a:endParaRPr>
          </a:p>
        </p:txBody>
      </p:sp>
      <p:pic>
        <p:nvPicPr>
          <p:cNvPr id="7" name="그림 6">
            <a:extLst>
              <a:ext uri="{FF2B5EF4-FFF2-40B4-BE49-F238E27FC236}">
                <a16:creationId xmlns:a16="http://schemas.microsoft.com/office/drawing/2014/main" id="{26472FFF-A9CE-F147-8F7C-89BE49DCF108}"/>
              </a:ext>
            </a:extLst>
          </p:cNvPr>
          <p:cNvPicPr>
            <a:picLocks noChangeAspect="1"/>
          </p:cNvPicPr>
          <p:nvPr/>
        </p:nvPicPr>
        <p:blipFill>
          <a:blip r:embed="rId3"/>
          <a:stretch>
            <a:fillRect/>
          </a:stretch>
        </p:blipFill>
        <p:spPr>
          <a:xfrm>
            <a:off x="7981950" y="3184270"/>
            <a:ext cx="2940586" cy="1463929"/>
          </a:xfrm>
          <a:prstGeom prst="rect">
            <a:avLst/>
          </a:prstGeom>
        </p:spPr>
      </p:pic>
      <p:sp>
        <p:nvSpPr>
          <p:cNvPr id="9" name="TextBox 8">
            <a:extLst>
              <a:ext uri="{FF2B5EF4-FFF2-40B4-BE49-F238E27FC236}">
                <a16:creationId xmlns:a16="http://schemas.microsoft.com/office/drawing/2014/main" id="{B057CD4D-7B01-4F80-0C55-886F795E2632}"/>
              </a:ext>
            </a:extLst>
          </p:cNvPr>
          <p:cNvSpPr txBox="1"/>
          <p:nvPr/>
        </p:nvSpPr>
        <p:spPr>
          <a:xfrm>
            <a:off x="590550" y="1248422"/>
            <a:ext cx="11010899" cy="1351973"/>
          </a:xfrm>
          <a:prstGeom prst="rect">
            <a:avLst/>
          </a:prstGeom>
          <a:noFill/>
        </p:spPr>
        <p:txBody>
          <a:bodyPr wrap="square">
            <a:spAutoFit/>
          </a:bodyPr>
          <a:lstStyle/>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(8</a:t>
            </a:r>
            <a:r>
              <a:rPr lang="ko-KR" altLang="en-US" sz="1400" dirty="0">
                <a:effectLst/>
                <a:latin typeface="D2Coding" panose="020B0609020101020101" pitchFamily="49" charset="-127"/>
                <a:ea typeface="D2Coding" panose="020B0609020101020101" pitchFamily="49" charset="-127"/>
              </a:rPr>
              <a:t>음 반복</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입력 신호 </a:t>
            </a:r>
            <a:r>
              <a:rPr lang="en-US" altLang="ko-KR" sz="1400" dirty="0">
                <a:effectLst/>
                <a:latin typeface="D2Coding" panose="020B0609020101020101" pitchFamily="49" charset="-127"/>
                <a:ea typeface="D2Coding" panose="020B0609020101020101" pitchFamily="49" charset="-127"/>
              </a:rPr>
              <a:t>/ </a:t>
            </a:r>
            <a:r>
              <a:rPr lang="ko-KR" altLang="en-US" sz="1400" dirty="0" err="1">
                <a:effectLst/>
                <a:latin typeface="D2Coding" panose="020B0609020101020101" pitchFamily="49" charset="-127"/>
                <a:ea typeface="D2Coding" panose="020B0609020101020101" pitchFamily="49" charset="-127"/>
              </a:rPr>
              <a:t>잔차</a:t>
            </a:r>
            <a:r>
              <a:rPr lang="ko-KR" altLang="en-US" sz="1400" dirty="0">
                <a:effectLst/>
                <a:latin typeface="D2Coding" panose="020B0609020101020101" pitchFamily="49" charset="-127"/>
                <a:ea typeface="D2Coding" panose="020B0609020101020101" pitchFamily="49" charset="-127"/>
              </a:rPr>
              <a:t> 연결</a:t>
            </a:r>
            <a:r>
              <a:rPr lang="en-US" altLang="ko-KR" sz="1400" dirty="0">
                <a:effectLst/>
                <a:latin typeface="D2Coding" panose="020B0609020101020101" pitchFamily="49" charset="-127"/>
                <a:ea typeface="D2Coding" panose="020B0609020101020101" pitchFamily="49" charset="-127"/>
              </a:rPr>
              <a:t>(residual connection)</a:t>
            </a:r>
            <a:r>
              <a:rPr lang="ko-KR" altLang="en-US" sz="1400" dirty="0">
                <a:effectLst/>
                <a:latin typeface="D2Coding" panose="020B0609020101020101" pitchFamily="49" charset="-127"/>
                <a:ea typeface="D2Coding" panose="020B0609020101020101" pitchFamily="49" charset="-127"/>
              </a:rPr>
              <a:t>이 계속 전달하는 원본 정보</a:t>
            </a:r>
            <a:r>
              <a:rPr lang="en-US" altLang="ko-KR" sz="1400" dirty="0">
                <a:effectLst/>
                <a:latin typeface="D2Coding" panose="020B0609020101020101" pitchFamily="49" charset="-127"/>
                <a:ea typeface="D2Coding" panose="020B0609020101020101" pitchFamily="49" charset="-127"/>
              </a:rPr>
              <a:t>. </a:t>
            </a:r>
            <a:r>
              <a:rPr lang="en-US" altLang="ko-KR" sz="1400" dirty="0" err="1">
                <a:effectLst/>
                <a:latin typeface="D2Coding" panose="020B0609020101020101" pitchFamily="49" charset="-127"/>
                <a:ea typeface="D2Coding" panose="020B0609020101020101" pitchFamily="49" charset="-127"/>
              </a:rPr>
              <a:t>ResNet</a:t>
            </a:r>
            <a:r>
              <a:rPr lang="ko-KR" altLang="en-US" sz="1400" dirty="0">
                <a:effectLst/>
                <a:latin typeface="D2Coding" panose="020B0609020101020101" pitchFamily="49" charset="-127"/>
                <a:ea typeface="D2Coding" panose="020B0609020101020101" pitchFamily="49" charset="-127"/>
              </a:rPr>
              <a:t>에서 각 레이어가 아무리 변형을 가해도 원본 입력이 </a:t>
            </a:r>
            <a:r>
              <a:rPr lang="en-US" altLang="ko-KR" sz="1400" dirty="0">
                <a:effectLst/>
                <a:latin typeface="D2Coding" panose="020B0609020101020101" pitchFamily="49" charset="-127"/>
                <a:ea typeface="D2Coding" panose="020B0609020101020101" pitchFamily="49" charset="-127"/>
              </a:rPr>
              <a:t>skip connection</a:t>
            </a:r>
            <a:r>
              <a:rPr lang="ko-KR" altLang="en-US" sz="1400" dirty="0">
                <a:effectLst/>
                <a:latin typeface="D2Coding" panose="020B0609020101020101" pitchFamily="49" charset="-127"/>
                <a:ea typeface="D2Coding" panose="020B0609020101020101" pitchFamily="49" charset="-127"/>
              </a:rPr>
              <a:t>을 통해 끝까지 살아있는 것</a:t>
            </a:r>
            <a:endParaRPr lang="en-US" altLang="ko-KR" sz="1400" dirty="0">
              <a:effectLst/>
              <a:latin typeface="D2Coding" panose="020B0609020101020101" pitchFamily="49" charset="-127"/>
              <a:ea typeface="D2Coding" panose="020B0609020101020101" pitchFamily="49" charset="-127"/>
            </a:endParaRPr>
          </a:p>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위에 쌓이는 변주들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각 레이어</a:t>
            </a:r>
            <a:r>
              <a:rPr lang="en-US" altLang="ko-KR" sz="1400" dirty="0">
                <a:effectLst/>
                <a:latin typeface="D2Coding" panose="020B0609020101020101" pitchFamily="49" charset="-127"/>
                <a:ea typeface="D2Coding" panose="020B0609020101020101" pitchFamily="49" charset="-127"/>
              </a:rPr>
              <a:t>(layer)</a:t>
            </a:r>
            <a:r>
              <a:rPr lang="ko-KR" altLang="en-US" sz="1400" dirty="0">
                <a:effectLst/>
                <a:latin typeface="D2Coding" panose="020B0609020101020101" pitchFamily="49" charset="-127"/>
                <a:ea typeface="D2Coding" panose="020B0609020101020101" pitchFamily="49" charset="-127"/>
              </a:rPr>
              <a:t>의 표현</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층이 깊어질수록</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위로 갈수록</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표현은 더 세분화되고 추상적이며 복잡해지지만</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항상 그 기반</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과 연결</a:t>
            </a:r>
            <a:endParaRPr lang="en-US" altLang="ko-KR" sz="1400" dirty="0">
              <a:effectLst/>
              <a:latin typeface="D2Coding" panose="020B0609020101020101" pitchFamily="49" charset="-127"/>
              <a:ea typeface="D2Coding" panose="020B0609020101020101" pitchFamily="49" charset="-127"/>
            </a:endParaRPr>
          </a:p>
        </p:txBody>
      </p:sp>
      <p:pic>
        <p:nvPicPr>
          <p:cNvPr id="11" name="그림 10">
            <a:extLst>
              <a:ext uri="{FF2B5EF4-FFF2-40B4-BE49-F238E27FC236}">
                <a16:creationId xmlns:a16="http://schemas.microsoft.com/office/drawing/2014/main" id="{2ECF9C39-2D74-EA21-5401-4D24301F29DC}"/>
              </a:ext>
            </a:extLst>
          </p:cNvPr>
          <p:cNvPicPr>
            <a:picLocks noChangeAspect="1"/>
          </p:cNvPicPr>
          <p:nvPr/>
        </p:nvPicPr>
        <p:blipFill>
          <a:blip r:embed="rId4"/>
          <a:stretch>
            <a:fillRect/>
          </a:stretch>
        </p:blipFill>
        <p:spPr>
          <a:xfrm>
            <a:off x="2671267" y="3184271"/>
            <a:ext cx="4672508" cy="3320335"/>
          </a:xfrm>
          <a:prstGeom prst="rect">
            <a:avLst/>
          </a:prstGeom>
        </p:spPr>
      </p:pic>
    </p:spTree>
    <p:extLst>
      <p:ext uri="{BB962C8B-B14F-4D97-AF65-F5344CB8AC3E}">
        <p14:creationId xmlns:p14="http://schemas.microsoft.com/office/powerpoint/2010/main" val="11119468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0B2C8-4B2B-ED8A-21F3-69FB3399366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4A0271B-0BC8-4891-2424-1E4C9AF840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690250F-9CED-C485-4456-3481AB1FCC2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5" name="TextBox 14">
            <a:extLst>
              <a:ext uri="{FF2B5EF4-FFF2-40B4-BE49-F238E27FC236}">
                <a16:creationId xmlns:a16="http://schemas.microsoft.com/office/drawing/2014/main" id="{3B82CFFC-B8BE-0461-3929-8F409FC9A637}"/>
              </a:ext>
            </a:extLst>
          </p:cNvPr>
          <p:cNvSpPr txBox="1"/>
          <p:nvPr/>
        </p:nvSpPr>
        <p:spPr>
          <a:xfrm>
            <a:off x="585509" y="1225337"/>
            <a:ext cx="10953750" cy="1721305"/>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en-US" altLang="ko-KR" sz="1600" b="1" dirty="0">
                <a:latin typeface="D2Coding" panose="020B0609020101020101" pitchFamily="49" charset="-127"/>
                <a:ea typeface="D2Coding" panose="020B0609020101020101" pitchFamily="49" charset="-127"/>
              </a:rPr>
              <a:t>RNN — </a:t>
            </a:r>
            <a:r>
              <a:rPr lang="ko-KR" altLang="en-US" sz="1600" b="1" dirty="0">
                <a:latin typeface="D2Coding" panose="020B0609020101020101" pitchFamily="49" charset="-127"/>
                <a:ea typeface="D2Coding" panose="020B0609020101020101" pitchFamily="49" charset="-127"/>
              </a:rPr>
              <a:t>캐논의 </a:t>
            </a:r>
            <a:r>
              <a:rPr lang="en-US" altLang="ko-KR" sz="1600" b="1" dirty="0">
                <a:latin typeface="D2Coding" panose="020B0609020101020101" pitchFamily="49" charset="-127"/>
                <a:ea typeface="D2Coding" panose="020B0609020101020101" pitchFamily="49" charset="-127"/>
              </a:rPr>
              <a:t>'</a:t>
            </a:r>
            <a:r>
              <a:rPr lang="ko-KR" altLang="en-US" sz="1600" b="1" dirty="0">
                <a:latin typeface="D2Coding" panose="020B0609020101020101" pitchFamily="49" charset="-127"/>
                <a:ea typeface="D2Coding" panose="020B0609020101020101" pitchFamily="49" charset="-127"/>
              </a:rPr>
              <a:t>모방</a:t>
            </a:r>
            <a:r>
              <a:rPr lang="en-US" altLang="ko-KR" sz="1600" b="1" dirty="0">
                <a:latin typeface="D2Coding" panose="020B0609020101020101" pitchFamily="49" charset="-127"/>
                <a:ea typeface="D2Coding" panose="020B0609020101020101" pitchFamily="49" charset="-127"/>
              </a:rPr>
              <a:t>(imitation)’ </a:t>
            </a:r>
            <a:r>
              <a:rPr lang="ko-KR" altLang="en-US" sz="1600" b="1" dirty="0">
                <a:latin typeface="D2Coding" panose="020B0609020101020101" pitchFamily="49" charset="-127"/>
                <a:ea typeface="D2Coding" panose="020B0609020101020101" pitchFamily="49" charset="-127"/>
              </a:rPr>
              <a:t>기법</a:t>
            </a:r>
            <a:endParaRPr lang="en-US" altLang="ko-KR" sz="16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캐논의 핵심 규칙은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번째</a:t>
            </a:r>
            <a:r>
              <a:rPr lang="en-US" altLang="ko-KR" sz="1400" dirty="0">
                <a:latin typeface="D2Coding" panose="020B0609020101020101" pitchFamily="49" charset="-127"/>
                <a:ea typeface="D2Coding" panose="020B0609020101020101" pitchFamily="49" charset="-127"/>
              </a:rPr>
              <a:t>, 3</a:t>
            </a:r>
            <a:r>
              <a:rPr lang="ko-KR" altLang="en-US" sz="1400" dirty="0">
                <a:latin typeface="D2Coding" panose="020B0609020101020101" pitchFamily="49" charset="-127"/>
                <a:ea typeface="D2Coding" panose="020B0609020101020101" pitchFamily="49" charset="-127"/>
              </a:rPr>
              <a:t>번째 바이올린이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번째와 완전히 똑같은 선율을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몇 박자 늦게 그대로 따라 연주한다</a:t>
            </a:r>
            <a:r>
              <a:rPr lang="en-US" altLang="ko-KR" sz="14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즉 매번 새로운 규칙을 쓰는 게 아니라 </a:t>
            </a:r>
            <a:r>
              <a:rPr lang="ko-KR" altLang="en-US" sz="1400" b="1" dirty="0">
                <a:latin typeface="D2Coding" panose="020B0609020101020101" pitchFamily="49" charset="-127"/>
                <a:ea typeface="D2Coding" panose="020B0609020101020101" pitchFamily="49" charset="-127"/>
              </a:rPr>
              <a:t>똑같은 함수</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선율 규칙</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를 </a:t>
            </a:r>
            <a:r>
              <a:rPr lang="ko-KR" altLang="en-US" sz="1400" b="1" dirty="0" err="1">
                <a:latin typeface="D2Coding" panose="020B0609020101020101" pitchFamily="49" charset="-127"/>
                <a:ea typeface="D2Coding" panose="020B0609020101020101" pitchFamily="49" charset="-127"/>
              </a:rPr>
              <a:t>시간축을</a:t>
            </a:r>
            <a:r>
              <a:rPr lang="ko-KR" altLang="en-US" sz="1400" b="1" dirty="0">
                <a:latin typeface="D2Coding" panose="020B0609020101020101" pitchFamily="49" charset="-127"/>
                <a:ea typeface="D2Coding" panose="020B0609020101020101" pitchFamily="49" charset="-127"/>
              </a:rPr>
              <a:t> 따라 반복 적용</a:t>
            </a:r>
            <a:endParaRPr lang="en-US" altLang="ko-KR" sz="14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이게 정확히 </a:t>
            </a:r>
            <a:r>
              <a:rPr lang="en-US" altLang="ko-KR" sz="1400" dirty="0">
                <a:latin typeface="D2Coding" panose="020B0609020101020101" pitchFamily="49" charset="-127"/>
                <a:ea typeface="D2Coding" panose="020B0609020101020101" pitchFamily="49" charset="-127"/>
              </a:rPr>
              <a:t>RNN</a:t>
            </a:r>
            <a:r>
              <a:rPr lang="ko-KR" altLang="en-US" sz="1400" dirty="0">
                <a:latin typeface="D2Coding" panose="020B0609020101020101" pitchFamily="49" charset="-127"/>
                <a:ea typeface="D2Coding" panose="020B0609020101020101" pitchFamily="49" charset="-127"/>
              </a:rPr>
              <a:t>의 핵심 아이디어입니다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모든 타임스텝에서 동일한 가중치 </a:t>
            </a:r>
            <a:r>
              <a:rPr lang="en-US" altLang="ko-KR" sz="1400" dirty="0">
                <a:latin typeface="D2Coding" panose="020B0609020101020101" pitchFamily="49" charset="-127"/>
                <a:ea typeface="D2Coding" panose="020B0609020101020101" pitchFamily="49" charset="-127"/>
              </a:rPr>
              <a:t>W</a:t>
            </a:r>
            <a:r>
              <a:rPr lang="ko-KR" altLang="en-US" sz="1400" dirty="0">
                <a:latin typeface="D2Coding" panose="020B0609020101020101" pitchFamily="49" charset="-127"/>
                <a:ea typeface="D2Coding" panose="020B0609020101020101" pitchFamily="49" charset="-127"/>
              </a:rPr>
              <a:t>를 재사용하면서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스텝의 결과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선행 목소리</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이어받아 다음 스텝으로 흘려 보내는 구조</a:t>
            </a:r>
          </a:p>
        </p:txBody>
      </p:sp>
      <p:pic>
        <p:nvPicPr>
          <p:cNvPr id="2" name="Picture 2" descr="Johann Pachelbel">
            <a:extLst>
              <a:ext uri="{FF2B5EF4-FFF2-40B4-BE49-F238E27FC236}">
                <a16:creationId xmlns:a16="http://schemas.microsoft.com/office/drawing/2014/main" id="{2268BAC2-F4F2-E7E7-ED20-83DE1054F3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2025" y="3615301"/>
            <a:ext cx="2078929" cy="247739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EBAFFFF-3248-C040-BC53-2F1DA8324BDF}"/>
              </a:ext>
            </a:extLst>
          </p:cNvPr>
          <p:cNvSpPr txBox="1"/>
          <p:nvPr/>
        </p:nvSpPr>
        <p:spPr>
          <a:xfrm>
            <a:off x="8505825" y="3092081"/>
            <a:ext cx="3257550" cy="523220"/>
          </a:xfrm>
          <a:prstGeom prst="rect">
            <a:avLst/>
          </a:prstGeom>
          <a:noFill/>
        </p:spPr>
        <p:txBody>
          <a:bodyPr wrap="square">
            <a:spAutoFit/>
          </a:bodyPr>
          <a:lstStyle/>
          <a:p>
            <a:r>
              <a:rPr lang="en-US" altLang="ko-KR" sz="1400" b="0" i="0" dirty="0">
                <a:solidFill>
                  <a:srgbClr val="000000"/>
                </a:solidFill>
                <a:effectLst/>
                <a:latin typeface="Source Sans Pro" panose="020B0503030403020204" pitchFamily="34" charset="0"/>
              </a:rPr>
              <a:t>Pachelbel’s Canon</a:t>
            </a:r>
          </a:p>
          <a:p>
            <a:r>
              <a:rPr lang="en-US" altLang="ko-KR" sz="1400" dirty="0">
                <a:solidFill>
                  <a:srgbClr val="000000"/>
                </a:solidFill>
                <a:latin typeface="Source Sans Pro" panose="020B0503030403020204" pitchFamily="34" charset="0"/>
              </a:rPr>
              <a:t>(1653.9.1 ~ 1706.3)</a:t>
            </a:r>
            <a:endParaRPr lang="ko-KR" altLang="en-US" sz="1400" dirty="0"/>
          </a:p>
        </p:txBody>
      </p:sp>
      <p:pic>
        <p:nvPicPr>
          <p:cNvPr id="10" name="그림 9">
            <a:extLst>
              <a:ext uri="{FF2B5EF4-FFF2-40B4-BE49-F238E27FC236}">
                <a16:creationId xmlns:a16="http://schemas.microsoft.com/office/drawing/2014/main" id="{F76B91B8-AAA6-F628-E80F-77E5F325147C}"/>
              </a:ext>
            </a:extLst>
          </p:cNvPr>
          <p:cNvPicPr>
            <a:picLocks noChangeAspect="1"/>
          </p:cNvPicPr>
          <p:nvPr/>
        </p:nvPicPr>
        <p:blipFill>
          <a:blip r:embed="rId3"/>
          <a:stretch>
            <a:fillRect/>
          </a:stretch>
        </p:blipFill>
        <p:spPr>
          <a:xfrm>
            <a:off x="1138961" y="3356610"/>
            <a:ext cx="6553137" cy="2276053"/>
          </a:xfrm>
          <a:prstGeom prst="rect">
            <a:avLst/>
          </a:prstGeom>
          <a:ln>
            <a:solidFill>
              <a:schemeClr val="tx1"/>
            </a:solidFill>
          </a:ln>
        </p:spPr>
      </p:pic>
      <p:sp>
        <p:nvSpPr>
          <p:cNvPr id="14" name="TextBox 13">
            <a:extLst>
              <a:ext uri="{FF2B5EF4-FFF2-40B4-BE49-F238E27FC236}">
                <a16:creationId xmlns:a16="http://schemas.microsoft.com/office/drawing/2014/main" id="{36112944-CAAF-BDFD-DC3F-16FC0302AF87}"/>
              </a:ext>
            </a:extLst>
          </p:cNvPr>
          <p:cNvSpPr txBox="1"/>
          <p:nvPr/>
        </p:nvSpPr>
        <p:spPr>
          <a:xfrm>
            <a:off x="1138961" y="5632663"/>
            <a:ext cx="6553137" cy="646331"/>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세 셀은 모두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같은 규칙</a:t>
            </a:r>
            <a:r>
              <a:rPr lang="en-US" altLang="ko-KR" sz="1200" dirty="0">
                <a:latin typeface="D2Coding" panose="020B0609020101020101" pitchFamily="49" charset="-127"/>
                <a:ea typeface="D2Coding" panose="020B0609020101020101" pitchFamily="49" charset="-127"/>
              </a:rPr>
              <a:t>(W)'</a:t>
            </a:r>
            <a:r>
              <a:rPr lang="ko-KR" altLang="en-US" sz="1200" dirty="0">
                <a:latin typeface="D2Coding" panose="020B0609020101020101" pitchFamily="49" charset="-127"/>
                <a:ea typeface="D2Coding" panose="020B0609020101020101" pitchFamily="49" charset="-127"/>
              </a:rPr>
              <a:t>을 쓰지만</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뒤 목소리는 반드시 앞 목소리를 거쳐야만 정보를 받을 수 있는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순서를 건너뛸 수 없는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캐논에서 </a:t>
            </a:r>
            <a:r>
              <a:rPr lang="en-US" altLang="ko-KR" sz="1200" dirty="0">
                <a:latin typeface="D2Coding" panose="020B0609020101020101" pitchFamily="49" charset="-127"/>
                <a:ea typeface="D2Coding" panose="020B0609020101020101" pitchFamily="49" charset="-127"/>
              </a:rPr>
              <a:t>3</a:t>
            </a:r>
            <a:r>
              <a:rPr lang="ko-KR" altLang="en-US" sz="1200" dirty="0">
                <a:latin typeface="D2Coding" panose="020B0609020101020101" pitchFamily="49" charset="-127"/>
                <a:ea typeface="D2Coding" panose="020B0609020101020101" pitchFamily="49" charset="-127"/>
              </a:rPr>
              <a:t>번째 바이올린이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번째 선율을 알려면 </a:t>
            </a:r>
            <a:r>
              <a:rPr lang="en-US" altLang="ko-KR" sz="1200" dirty="0">
                <a:latin typeface="D2Coding" panose="020B0609020101020101" pitchFamily="49" charset="-127"/>
                <a:ea typeface="D2Coding" panose="020B0609020101020101" pitchFamily="49" charset="-127"/>
              </a:rPr>
              <a:t>2</a:t>
            </a:r>
            <a:r>
              <a:rPr lang="ko-KR" altLang="en-US" sz="1200" dirty="0">
                <a:latin typeface="D2Coding" panose="020B0609020101020101" pitchFamily="49" charset="-127"/>
                <a:ea typeface="D2Coding" panose="020B0609020101020101" pitchFamily="49" charset="-127"/>
              </a:rPr>
              <a:t>번째를 거쳐서 시간이 흘러야 하는 것과 같음</a:t>
            </a:r>
          </a:p>
        </p:txBody>
      </p:sp>
    </p:spTree>
    <p:extLst>
      <p:ext uri="{BB962C8B-B14F-4D97-AF65-F5344CB8AC3E}">
        <p14:creationId xmlns:p14="http://schemas.microsoft.com/office/powerpoint/2010/main" val="30216521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3991A8CB-1DD6-E3AA-ABC5-31B03176ADF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20</a:t>
            </a:fld>
            <a:endParaRPr lang="en-US" dirty="0"/>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799625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256" y="3429000"/>
            <a:ext cx="3591819" cy="26776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692877" y="289190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a:t>
            </a:r>
            <a:r>
              <a:rPr lang="ko-KR" altLang="en-US" sz="1600" dirty="0">
                <a:latin typeface="D2Coding" panose="020B0609020101020101" pitchFamily="49" charset="-127"/>
                <a:ea typeface="D2Coding" panose="020B0609020101020101" pitchFamily="49" charset="-127"/>
              </a:rPr>
              <a:t>분</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59608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276007"/>
            <a:ext cx="6096000" cy="1169551"/>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뜻이고</a:t>
            </a:r>
            <a:r>
              <a:rPr lang="en-US" altLang="ko-KR" sz="1400" dirty="0">
                <a:solidFill>
                  <a:schemeClr val="bg1"/>
                </a:solidFill>
                <a:latin typeface="D2Coding" panose="020B0609020101020101" pitchFamily="49" charset="-127"/>
                <a:ea typeface="D2Coding" panose="020B0609020101020101" pitchFamily="49" charset="-127"/>
              </a:rPr>
              <a:t>, </a:t>
            </a:r>
            <a:r>
              <a:rPr lang="ko-KR" altLang="en-US" sz="1400" dirty="0">
                <a:solidFill>
                  <a:schemeClr val="bg1"/>
                </a:solidFill>
                <a:latin typeface="D2Coding" panose="020B0609020101020101" pitchFamily="49" charset="-127"/>
                <a:ea typeface="D2Coding" panose="020B0609020101020101" pitchFamily="49" charset="-127"/>
              </a:rPr>
              <a:t>그에 대응하는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은 </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그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 각각에 대해 </a:t>
            </a:r>
            <a:r>
              <a:rPr lang="en-US" altLang="ko-KR" sz="1400" dirty="0">
                <a:solidFill>
                  <a:schemeClr val="bg1"/>
                </a:solidFill>
                <a:latin typeface="D2Coding" panose="020B0609020101020101" pitchFamily="49" charset="-127"/>
                <a:ea typeface="D2Coding" panose="020B0609020101020101" pitchFamily="49" charset="-127"/>
              </a:rPr>
              <a:t>24</a:t>
            </a:r>
            <a:r>
              <a:rPr lang="ko-KR" altLang="en-US" sz="1400" dirty="0">
                <a:solidFill>
                  <a:schemeClr val="bg1"/>
                </a:solidFill>
                <a:latin typeface="D2Coding" panose="020B0609020101020101" pitchFamily="49" charset="-127"/>
                <a:ea typeface="D2Coding" panose="020B0609020101020101" pitchFamily="49" charset="-127"/>
              </a:rPr>
              <a:t>시간 뒤 온도 정답 하나씩</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이라는 뜻</a:t>
            </a:r>
          </a:p>
        </p:txBody>
      </p:sp>
    </p:spTree>
    <p:extLst>
      <p:ext uri="{BB962C8B-B14F-4D97-AF65-F5344CB8AC3E}">
        <p14:creationId xmlns:p14="http://schemas.microsoft.com/office/powerpoint/2010/main" val="37040049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42428"/>
            <a:ext cx="4834499" cy="2369880"/>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400" b="1" dirty="0">
                <a:effectLst/>
                <a:latin typeface="D2Coding" panose="020B0609020101020101" pitchFamily="49" charset="-127"/>
                <a:ea typeface="D2Coding" panose="020B0609020101020101" pitchFamily="49" charset="-127"/>
              </a:rPr>
              <a:t>    shuffle=True,</a:t>
            </a:r>
          </a:p>
          <a:p>
            <a:pPr>
              <a:buNone/>
            </a:pPr>
            <a:r>
              <a:rPr lang="en-US" altLang="ko-KR" sz="1400" b="1" dirty="0">
                <a:effectLst/>
                <a:latin typeface="D2Coding" panose="020B0609020101020101" pitchFamily="49" charset="-127"/>
                <a:ea typeface="D2Coding" panose="020B0609020101020101" pitchFamily="49" charset="-127"/>
              </a:rPr>
              <a:t>    </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endParaRPr lang="en-US" altLang="ko-KR" sz="1200" b="0" dirty="0">
              <a:solidFill>
                <a:schemeClr val="bg1">
                  <a:lumMod val="50000"/>
                </a:schemeClr>
              </a:solidFill>
              <a:effectLst/>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모델 없이 그냥 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err="1">
                <a:latin typeface="D2Coding" panose="020B0609020101020101" pitchFamily="49" charset="-127"/>
                <a:ea typeface="D2Coding" panose="020B0609020101020101" pitchFamily="49" charset="-127"/>
              </a:rPr>
              <a:t>MAE_mean</a:t>
            </a:r>
            <a:r>
              <a:rPr lang="en-US" altLang="ko-KR" sz="1600" dirty="0">
                <a:latin typeface="D2Coding" panose="020B0609020101020101" pitchFamily="49" charset="-127"/>
                <a:ea typeface="D2Coding" panose="020B0609020101020101" pitchFamily="49" charset="-127"/>
              </a:rPr>
              <a:t> absolute error)</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C6E86111-5D6D-B619-F1C6-12BE473400B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24</a:t>
            </a:fld>
            <a:endParaRPr lang="en-US" dirty="0"/>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42294251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3C7E0-72AD-6B52-116A-C4E76EA6DAB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1DC267-9402-0B94-5D05-F0B11A29FA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 vs. 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8343FC7E-3F8E-4037-5BF7-90C097AEC29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타원 1">
            <a:extLst>
              <a:ext uri="{FF2B5EF4-FFF2-40B4-BE49-F238E27FC236}">
                <a16:creationId xmlns:a16="http://schemas.microsoft.com/office/drawing/2014/main" id="{CBD3DDB2-B869-5F61-9BB1-7E4089F3904F}"/>
              </a:ext>
            </a:extLst>
          </p:cNvPr>
          <p:cNvSpPr/>
          <p:nvPr/>
        </p:nvSpPr>
        <p:spPr>
          <a:xfrm>
            <a:off x="1790700" y="202882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타원 3">
            <a:extLst>
              <a:ext uri="{FF2B5EF4-FFF2-40B4-BE49-F238E27FC236}">
                <a16:creationId xmlns:a16="http://schemas.microsoft.com/office/drawing/2014/main" id="{0E13FA3B-E2AB-DF1F-7EE6-B2A877785A52}"/>
              </a:ext>
            </a:extLst>
          </p:cNvPr>
          <p:cNvSpPr/>
          <p:nvPr/>
        </p:nvSpPr>
        <p:spPr>
          <a:xfrm>
            <a:off x="1790700" y="285035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타원 6">
            <a:extLst>
              <a:ext uri="{FF2B5EF4-FFF2-40B4-BE49-F238E27FC236}">
                <a16:creationId xmlns:a16="http://schemas.microsoft.com/office/drawing/2014/main" id="{F0B3BD8F-6EAA-4ED3-B66C-889CBB67DDBB}"/>
              </a:ext>
            </a:extLst>
          </p:cNvPr>
          <p:cNvSpPr/>
          <p:nvPr/>
        </p:nvSpPr>
        <p:spPr>
          <a:xfrm>
            <a:off x="1790700" y="3671889"/>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타원 7">
            <a:extLst>
              <a:ext uri="{FF2B5EF4-FFF2-40B4-BE49-F238E27FC236}">
                <a16:creationId xmlns:a16="http://schemas.microsoft.com/office/drawing/2014/main" id="{2D57E442-B334-8FF5-F18B-972ABF6CADC4}"/>
              </a:ext>
            </a:extLst>
          </p:cNvPr>
          <p:cNvSpPr/>
          <p:nvPr/>
        </p:nvSpPr>
        <p:spPr>
          <a:xfrm>
            <a:off x="1790700" y="4493421"/>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타원 8">
            <a:extLst>
              <a:ext uri="{FF2B5EF4-FFF2-40B4-BE49-F238E27FC236}">
                <a16:creationId xmlns:a16="http://schemas.microsoft.com/office/drawing/2014/main" id="{0A26DA7F-74F3-3BD2-4655-817C40C8686F}"/>
              </a:ext>
            </a:extLst>
          </p:cNvPr>
          <p:cNvSpPr/>
          <p:nvPr/>
        </p:nvSpPr>
        <p:spPr>
          <a:xfrm>
            <a:off x="1790700" y="531495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82B93E8-41CB-4E2A-3A8B-06E1FC1F47A9}"/>
                  </a:ext>
                </a:extLst>
              </p:cNvPr>
              <p:cNvSpPr txBox="1"/>
              <p:nvPr/>
            </p:nvSpPr>
            <p:spPr>
              <a:xfrm>
                <a:off x="1293396" y="560653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 name="TextBox 9">
                <a:extLst>
                  <a:ext uri="{FF2B5EF4-FFF2-40B4-BE49-F238E27FC236}">
                    <a16:creationId xmlns:a16="http://schemas.microsoft.com/office/drawing/2014/main" id="{C82B93E8-41CB-4E2A-3A8B-06E1FC1F47A9}"/>
                  </a:ext>
                </a:extLst>
              </p:cNvPr>
              <p:cNvSpPr txBox="1">
                <a:spLocks noRot="1" noChangeAspect="1" noMove="1" noResize="1" noEditPoints="1" noAdjustHandles="1" noChangeArrowheads="1" noChangeShapeType="1" noTextEdit="1"/>
              </p:cNvSpPr>
              <p:nvPr/>
            </p:nvSpPr>
            <p:spPr>
              <a:xfrm>
                <a:off x="1293396" y="5606536"/>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E84DE0C-CA9C-A61A-5820-3CD0F252AEE9}"/>
                  </a:ext>
                </a:extLst>
              </p:cNvPr>
              <p:cNvSpPr txBox="1"/>
              <p:nvPr/>
            </p:nvSpPr>
            <p:spPr>
              <a:xfrm>
                <a:off x="1293396" y="2228076"/>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1" name="TextBox 10">
                <a:extLst>
                  <a:ext uri="{FF2B5EF4-FFF2-40B4-BE49-F238E27FC236}">
                    <a16:creationId xmlns:a16="http://schemas.microsoft.com/office/drawing/2014/main" id="{DE84DE0C-CA9C-A61A-5820-3CD0F252AEE9}"/>
                  </a:ext>
                </a:extLst>
              </p:cNvPr>
              <p:cNvSpPr txBox="1">
                <a:spLocks noRot="1" noChangeAspect="1" noMove="1" noResize="1" noEditPoints="1" noAdjustHandles="1" noChangeArrowheads="1" noChangeShapeType="1" noTextEdit="1"/>
              </p:cNvSpPr>
              <p:nvPr/>
            </p:nvSpPr>
            <p:spPr>
              <a:xfrm>
                <a:off x="1293396" y="2228076"/>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F1A498E-6E99-F4E3-A14D-95CC8C056690}"/>
                  </a:ext>
                </a:extLst>
              </p:cNvPr>
              <p:cNvSpPr txBox="1"/>
              <p:nvPr/>
            </p:nvSpPr>
            <p:spPr>
              <a:xfrm>
                <a:off x="1293396" y="307269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DF1A498E-6E99-F4E3-A14D-95CC8C056690}"/>
                  </a:ext>
                </a:extLst>
              </p:cNvPr>
              <p:cNvSpPr txBox="1">
                <a:spLocks noRot="1" noChangeAspect="1" noMove="1" noResize="1" noEditPoints="1" noAdjustHandles="1" noChangeArrowheads="1" noChangeShapeType="1" noTextEdit="1"/>
              </p:cNvSpPr>
              <p:nvPr/>
            </p:nvSpPr>
            <p:spPr>
              <a:xfrm>
                <a:off x="1293396" y="3072691"/>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499FFF9-DD42-9968-958E-D67807A9C555}"/>
                  </a:ext>
                </a:extLst>
              </p:cNvPr>
              <p:cNvSpPr txBox="1"/>
              <p:nvPr/>
            </p:nvSpPr>
            <p:spPr>
              <a:xfrm>
                <a:off x="1293396" y="391730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5" name="TextBox 14">
                <a:extLst>
                  <a:ext uri="{FF2B5EF4-FFF2-40B4-BE49-F238E27FC236}">
                    <a16:creationId xmlns:a16="http://schemas.microsoft.com/office/drawing/2014/main" id="{8499FFF9-DD42-9968-958E-D67807A9C555}"/>
                  </a:ext>
                </a:extLst>
              </p:cNvPr>
              <p:cNvSpPr txBox="1">
                <a:spLocks noRot="1" noChangeAspect="1" noMove="1" noResize="1" noEditPoints="1" noAdjustHandles="1" noChangeArrowheads="1" noChangeShapeType="1" noTextEdit="1"/>
              </p:cNvSpPr>
              <p:nvPr/>
            </p:nvSpPr>
            <p:spPr>
              <a:xfrm>
                <a:off x="1293396" y="3917306"/>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0BC165B-AA94-8611-C4D3-739D9A257934}"/>
                  </a:ext>
                </a:extLst>
              </p:cNvPr>
              <p:cNvSpPr txBox="1"/>
              <p:nvPr/>
            </p:nvSpPr>
            <p:spPr>
              <a:xfrm>
                <a:off x="1293396" y="476192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70BC165B-AA94-8611-C4D3-739D9A257934}"/>
                  </a:ext>
                </a:extLst>
              </p:cNvPr>
              <p:cNvSpPr txBox="1">
                <a:spLocks noRot="1" noChangeAspect="1" noMove="1" noResize="1" noEditPoints="1" noAdjustHandles="1" noChangeArrowheads="1" noChangeShapeType="1" noTextEdit="1"/>
              </p:cNvSpPr>
              <p:nvPr/>
            </p:nvSpPr>
            <p:spPr>
              <a:xfrm>
                <a:off x="1293396" y="4761921"/>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5A0B511F-0624-E130-5243-8D70EB4451B0}"/>
              </a:ext>
            </a:extLst>
          </p:cNvPr>
          <p:cNvSpPr/>
          <p:nvPr/>
        </p:nvSpPr>
        <p:spPr>
          <a:xfrm>
            <a:off x="3781425" y="3700464"/>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3" name="직선 화살표 연결선 22">
            <a:extLst>
              <a:ext uri="{FF2B5EF4-FFF2-40B4-BE49-F238E27FC236}">
                <a16:creationId xmlns:a16="http://schemas.microsoft.com/office/drawing/2014/main" id="{8772E871-31B3-0531-94EC-6896FC681304}"/>
              </a:ext>
            </a:extLst>
          </p:cNvPr>
          <p:cNvCxnSpPr>
            <a:cxnSpLocks/>
            <a:stCxn id="2" idx="6"/>
            <a:endCxn id="19" idx="0"/>
          </p:cNvCxnSpPr>
          <p:nvPr/>
        </p:nvCxnSpPr>
        <p:spPr>
          <a:xfrm>
            <a:off x="2266950" y="2266950"/>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직선 화살표 연결선 23">
            <a:extLst>
              <a:ext uri="{FF2B5EF4-FFF2-40B4-BE49-F238E27FC236}">
                <a16:creationId xmlns:a16="http://schemas.microsoft.com/office/drawing/2014/main" id="{76E5429E-AE02-D67A-3D34-953A4733988F}"/>
              </a:ext>
            </a:extLst>
          </p:cNvPr>
          <p:cNvCxnSpPr>
            <a:cxnSpLocks/>
            <a:stCxn id="4" idx="6"/>
            <a:endCxn id="19" idx="1"/>
          </p:cNvCxnSpPr>
          <p:nvPr/>
        </p:nvCxnSpPr>
        <p:spPr>
          <a:xfrm>
            <a:off x="2266950" y="3088482"/>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a:extLst>
              <a:ext uri="{FF2B5EF4-FFF2-40B4-BE49-F238E27FC236}">
                <a16:creationId xmlns:a16="http://schemas.microsoft.com/office/drawing/2014/main" id="{FA85B6C5-2BAB-4B8F-A322-F6464D86C406}"/>
              </a:ext>
            </a:extLst>
          </p:cNvPr>
          <p:cNvCxnSpPr>
            <a:cxnSpLocks/>
            <a:stCxn id="7" idx="6"/>
            <a:endCxn id="19" idx="2"/>
          </p:cNvCxnSpPr>
          <p:nvPr/>
        </p:nvCxnSpPr>
        <p:spPr>
          <a:xfrm>
            <a:off x="2266950" y="3910014"/>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9CFDCE6E-C40F-AE6F-6688-D72BBA72052E}"/>
              </a:ext>
            </a:extLst>
          </p:cNvPr>
          <p:cNvCxnSpPr>
            <a:cxnSpLocks/>
            <a:stCxn id="8" idx="6"/>
            <a:endCxn id="19" idx="3"/>
          </p:cNvCxnSpPr>
          <p:nvPr/>
        </p:nvCxnSpPr>
        <p:spPr>
          <a:xfrm flipV="1">
            <a:off x="2266950" y="4106969"/>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9B03E208-4C91-DE69-1C02-E978247BE6F0}"/>
              </a:ext>
            </a:extLst>
          </p:cNvPr>
          <p:cNvCxnSpPr>
            <a:cxnSpLocks/>
            <a:stCxn id="9" idx="6"/>
            <a:endCxn id="19" idx="4"/>
          </p:cNvCxnSpPr>
          <p:nvPr/>
        </p:nvCxnSpPr>
        <p:spPr>
          <a:xfrm flipV="1">
            <a:off x="2266950" y="4176714"/>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타원 38">
            <a:extLst>
              <a:ext uri="{FF2B5EF4-FFF2-40B4-BE49-F238E27FC236}">
                <a16:creationId xmlns:a16="http://schemas.microsoft.com/office/drawing/2014/main" id="{E9CC2C3B-9019-5F14-F944-4DD51893D94E}"/>
              </a:ext>
            </a:extLst>
          </p:cNvPr>
          <p:cNvSpPr/>
          <p:nvPr/>
        </p:nvSpPr>
        <p:spPr>
          <a:xfrm>
            <a:off x="7458077" y="209857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2743DE3E-3F00-8457-09EF-777DB5490F47}"/>
              </a:ext>
            </a:extLst>
          </p:cNvPr>
          <p:cNvSpPr/>
          <p:nvPr/>
        </p:nvSpPr>
        <p:spPr>
          <a:xfrm>
            <a:off x="7458077" y="292010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F6DA3162-D6AB-6CDC-7FB1-45AF84BA86D8}"/>
              </a:ext>
            </a:extLst>
          </p:cNvPr>
          <p:cNvSpPr/>
          <p:nvPr/>
        </p:nvSpPr>
        <p:spPr>
          <a:xfrm>
            <a:off x="7458077" y="3741634"/>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0E58F2B4-99ED-5771-6F25-A90878A9B8A0}"/>
              </a:ext>
            </a:extLst>
          </p:cNvPr>
          <p:cNvSpPr/>
          <p:nvPr/>
        </p:nvSpPr>
        <p:spPr>
          <a:xfrm>
            <a:off x="7458077" y="456316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0CE82D69-1C54-3DB4-AC16-05B26F3E44C5}"/>
              </a:ext>
            </a:extLst>
          </p:cNvPr>
          <p:cNvSpPr/>
          <p:nvPr/>
        </p:nvSpPr>
        <p:spPr>
          <a:xfrm>
            <a:off x="7458077" y="538469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15D12F6-4F5D-44A8-30EB-DF761140770B}"/>
                  </a:ext>
                </a:extLst>
              </p:cNvPr>
              <p:cNvSpPr txBox="1"/>
              <p:nvPr/>
            </p:nvSpPr>
            <p:spPr>
              <a:xfrm>
                <a:off x="6960773" y="567628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15D12F6-4F5D-44A8-30EB-DF761140770B}"/>
                  </a:ext>
                </a:extLst>
              </p:cNvPr>
              <p:cNvSpPr txBox="1">
                <a:spLocks noRot="1" noChangeAspect="1" noMove="1" noResize="1" noEditPoints="1" noAdjustHandles="1" noChangeArrowheads="1" noChangeShapeType="1" noTextEdit="1"/>
              </p:cNvSpPr>
              <p:nvPr/>
            </p:nvSpPr>
            <p:spPr>
              <a:xfrm>
                <a:off x="6960773" y="5676281"/>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868276B-9126-27F4-1C45-6D6A34003471}"/>
                  </a:ext>
                </a:extLst>
              </p:cNvPr>
              <p:cNvSpPr txBox="1"/>
              <p:nvPr/>
            </p:nvSpPr>
            <p:spPr>
              <a:xfrm>
                <a:off x="6960773" y="2297821"/>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1868276B-9126-27F4-1C45-6D6A34003471}"/>
                  </a:ext>
                </a:extLst>
              </p:cNvPr>
              <p:cNvSpPr txBox="1">
                <a:spLocks noRot="1" noChangeAspect="1" noMove="1" noResize="1" noEditPoints="1" noAdjustHandles="1" noChangeArrowheads="1" noChangeShapeType="1" noTextEdit="1"/>
              </p:cNvSpPr>
              <p:nvPr/>
            </p:nvSpPr>
            <p:spPr>
              <a:xfrm>
                <a:off x="6960773" y="2297821"/>
                <a:ext cx="359393" cy="307777"/>
              </a:xfrm>
              <a:prstGeom prst="rect">
                <a:avLst/>
              </a:prstGeom>
              <a:blipFill>
                <a:blip r:embed="rId8"/>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99B93F8-BB65-B543-4147-0ED06C909FCD}"/>
                  </a:ext>
                </a:extLst>
              </p:cNvPr>
              <p:cNvSpPr txBox="1"/>
              <p:nvPr/>
            </p:nvSpPr>
            <p:spPr>
              <a:xfrm>
                <a:off x="6960773" y="314243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999B93F8-BB65-B543-4147-0ED06C909FCD}"/>
                  </a:ext>
                </a:extLst>
              </p:cNvPr>
              <p:cNvSpPr txBox="1">
                <a:spLocks noRot="1" noChangeAspect="1" noMove="1" noResize="1" noEditPoints="1" noAdjustHandles="1" noChangeArrowheads="1" noChangeShapeType="1" noTextEdit="1"/>
              </p:cNvSpPr>
              <p:nvPr/>
            </p:nvSpPr>
            <p:spPr>
              <a:xfrm>
                <a:off x="6960773" y="3142436"/>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A5A0FFC-9B11-9F6A-6E43-6A8A9154D56A}"/>
                  </a:ext>
                </a:extLst>
              </p:cNvPr>
              <p:cNvSpPr txBox="1"/>
              <p:nvPr/>
            </p:nvSpPr>
            <p:spPr>
              <a:xfrm>
                <a:off x="6960773" y="398705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7A5A0FFC-9B11-9F6A-6E43-6A8A9154D56A}"/>
                  </a:ext>
                </a:extLst>
              </p:cNvPr>
              <p:cNvSpPr txBox="1">
                <a:spLocks noRot="1" noChangeAspect="1" noMove="1" noResize="1" noEditPoints="1" noAdjustHandles="1" noChangeArrowheads="1" noChangeShapeType="1" noTextEdit="1"/>
              </p:cNvSpPr>
              <p:nvPr/>
            </p:nvSpPr>
            <p:spPr>
              <a:xfrm>
                <a:off x="6960773" y="3987051"/>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94BD085-103C-BCB3-E468-E13FE1E36F2B}"/>
                  </a:ext>
                </a:extLst>
              </p:cNvPr>
              <p:cNvSpPr txBox="1"/>
              <p:nvPr/>
            </p:nvSpPr>
            <p:spPr>
              <a:xfrm>
                <a:off x="6960773" y="483166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D94BD085-103C-BCB3-E468-E13FE1E36F2B}"/>
                  </a:ext>
                </a:extLst>
              </p:cNvPr>
              <p:cNvSpPr txBox="1">
                <a:spLocks noRot="1" noChangeAspect="1" noMove="1" noResize="1" noEditPoints="1" noAdjustHandles="1" noChangeArrowheads="1" noChangeShapeType="1" noTextEdit="1"/>
              </p:cNvSpPr>
              <p:nvPr/>
            </p:nvSpPr>
            <p:spPr>
              <a:xfrm>
                <a:off x="6960773" y="4831666"/>
                <a:ext cx="604653" cy="307777"/>
              </a:xfrm>
              <a:prstGeom prst="rect">
                <a:avLst/>
              </a:prstGeom>
              <a:blipFill>
                <a:blip r:embed="rId11"/>
                <a:stretch>
                  <a:fillRect b="-16000"/>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FF5E481B-C6A4-E509-2325-607BA8ED5481}"/>
              </a:ext>
            </a:extLst>
          </p:cNvPr>
          <p:cNvSpPr/>
          <p:nvPr/>
        </p:nvSpPr>
        <p:spPr>
          <a:xfrm>
            <a:off x="9448802" y="3770209"/>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0" name="직선 화살표 연결선 49">
            <a:extLst>
              <a:ext uri="{FF2B5EF4-FFF2-40B4-BE49-F238E27FC236}">
                <a16:creationId xmlns:a16="http://schemas.microsoft.com/office/drawing/2014/main" id="{3FEF7FB5-4C71-52FB-D30E-2D5BCF95AC46}"/>
              </a:ext>
            </a:extLst>
          </p:cNvPr>
          <p:cNvCxnSpPr>
            <a:cxnSpLocks/>
            <a:stCxn id="39" idx="6"/>
            <a:endCxn id="49" idx="0"/>
          </p:cNvCxnSpPr>
          <p:nvPr/>
        </p:nvCxnSpPr>
        <p:spPr>
          <a:xfrm>
            <a:off x="7934327" y="2336695"/>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1A6F3E6-4C33-E13D-D59C-5625AEFE9CCF}"/>
              </a:ext>
            </a:extLst>
          </p:cNvPr>
          <p:cNvCxnSpPr>
            <a:cxnSpLocks/>
            <a:stCxn id="40" idx="6"/>
            <a:endCxn id="49" idx="1"/>
          </p:cNvCxnSpPr>
          <p:nvPr/>
        </p:nvCxnSpPr>
        <p:spPr>
          <a:xfrm>
            <a:off x="7934327" y="3158227"/>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B63954EE-2EC6-6F4A-E790-11FE13C32F4B}"/>
              </a:ext>
            </a:extLst>
          </p:cNvPr>
          <p:cNvCxnSpPr>
            <a:cxnSpLocks/>
            <a:stCxn id="41" idx="6"/>
            <a:endCxn id="49" idx="2"/>
          </p:cNvCxnSpPr>
          <p:nvPr/>
        </p:nvCxnSpPr>
        <p:spPr>
          <a:xfrm>
            <a:off x="7934327" y="3979759"/>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52BB18D7-2B35-19CB-B68B-680575BCAA87}"/>
              </a:ext>
            </a:extLst>
          </p:cNvPr>
          <p:cNvCxnSpPr>
            <a:cxnSpLocks/>
            <a:stCxn id="42" idx="6"/>
            <a:endCxn id="49" idx="3"/>
          </p:cNvCxnSpPr>
          <p:nvPr/>
        </p:nvCxnSpPr>
        <p:spPr>
          <a:xfrm flipV="1">
            <a:off x="7934327" y="4176714"/>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CAAD1833-E3F1-028F-00FD-D4423AAB5D36}"/>
              </a:ext>
            </a:extLst>
          </p:cNvPr>
          <p:cNvCxnSpPr>
            <a:cxnSpLocks/>
            <a:stCxn id="43" idx="6"/>
            <a:endCxn id="49" idx="4"/>
          </p:cNvCxnSpPr>
          <p:nvPr/>
        </p:nvCxnSpPr>
        <p:spPr>
          <a:xfrm flipV="1">
            <a:off x="7934327" y="4246459"/>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E73DAD40-5B92-F5B1-00A3-A271A5DCA162}"/>
              </a:ext>
            </a:extLst>
          </p:cNvPr>
          <p:cNvCxnSpPr>
            <a:cxnSpLocks/>
            <a:stCxn id="49" idx="0"/>
            <a:endCxn id="49" idx="4"/>
          </p:cNvCxnSpPr>
          <p:nvPr/>
        </p:nvCxnSpPr>
        <p:spPr>
          <a:xfrm rot="16200000" flipH="1">
            <a:off x="9448802" y="4008334"/>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7C34791D-BEB2-CD28-A800-E17A852F678A}"/>
              </a:ext>
            </a:extLst>
          </p:cNvPr>
          <p:cNvSpPr txBox="1"/>
          <p:nvPr/>
        </p:nvSpPr>
        <p:spPr>
          <a:xfrm>
            <a:off x="1057277" y="1529411"/>
            <a:ext cx="4767260"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FCNN(</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Fully</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Connected</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Network)</a:t>
            </a:r>
            <a:endParaRPr lang="ko-KR" altLang="en-US" dirty="0">
              <a:solidFill>
                <a:schemeClr val="bg1"/>
              </a:solidFill>
            </a:endParaRPr>
          </a:p>
        </p:txBody>
      </p:sp>
      <p:sp>
        <p:nvSpPr>
          <p:cNvPr id="60" name="TextBox 59">
            <a:extLst>
              <a:ext uri="{FF2B5EF4-FFF2-40B4-BE49-F238E27FC236}">
                <a16:creationId xmlns:a16="http://schemas.microsoft.com/office/drawing/2014/main" id="{CDB4DAC3-61F8-F03E-6735-393250F62CDB}"/>
              </a:ext>
            </a:extLst>
          </p:cNvPr>
          <p:cNvSpPr txBox="1"/>
          <p:nvPr/>
        </p:nvSpPr>
        <p:spPr>
          <a:xfrm>
            <a:off x="6367464" y="1518293"/>
            <a:ext cx="5138735"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RNN(Recurrent</a:t>
            </a:r>
            <a:r>
              <a:rPr lang="ko-KR" altLang="en-US"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 Network)</a:t>
            </a:r>
            <a:endParaRPr lang="ko-KR" altLang="en-US" dirty="0">
              <a:solidFill>
                <a:schemeClr val="bg1"/>
              </a:solidFill>
            </a:endParaRPr>
          </a:p>
        </p:txBody>
      </p:sp>
      <p:sp>
        <p:nvSpPr>
          <p:cNvPr id="61" name="TextBox 60">
            <a:extLst>
              <a:ext uri="{FF2B5EF4-FFF2-40B4-BE49-F238E27FC236}">
                <a16:creationId xmlns:a16="http://schemas.microsoft.com/office/drawing/2014/main" id="{E096E5C1-A3FB-DB11-0E9D-069DCAF6EE18}"/>
              </a:ext>
            </a:extLst>
          </p:cNvPr>
          <p:cNvSpPr txBox="1"/>
          <p:nvPr/>
        </p:nvSpPr>
        <p:spPr>
          <a:xfrm>
            <a:off x="959066" y="6136483"/>
            <a:ext cx="4165384"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모두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한 번에 </a:t>
            </a:r>
            <a:r>
              <a:rPr lang="en-US" altLang="ko-KR" sz="1600" dirty="0">
                <a:latin typeface="D2Coding" panose="020B0609020101020101" pitchFamily="49" charset="-127"/>
                <a:ea typeface="D2Coding" panose="020B0609020101020101" pitchFamily="49" charset="-127"/>
              </a:rPr>
              <a:t>FCNN</a:t>
            </a:r>
            <a:r>
              <a:rPr lang="ko-KR" altLang="en-US" sz="1600" dirty="0">
                <a:latin typeface="D2Coding" panose="020B0609020101020101" pitchFamily="49" charset="-127"/>
                <a:ea typeface="D2Coding" panose="020B0609020101020101" pitchFamily="49" charset="-127"/>
              </a:rPr>
              <a:t>에 투입</a:t>
            </a:r>
          </a:p>
        </p:txBody>
      </p:sp>
      <p:sp>
        <p:nvSpPr>
          <p:cNvPr id="62" name="TextBox 61">
            <a:extLst>
              <a:ext uri="{FF2B5EF4-FFF2-40B4-BE49-F238E27FC236}">
                <a16:creationId xmlns:a16="http://schemas.microsoft.com/office/drawing/2014/main" id="{BF4F3217-1733-64EE-F3FB-8F8890B67A1D}"/>
              </a:ext>
            </a:extLst>
          </p:cNvPr>
          <p:cNvSpPr txBox="1"/>
          <p:nvPr/>
        </p:nvSpPr>
        <p:spPr>
          <a:xfrm>
            <a:off x="7027972" y="6136483"/>
            <a:ext cx="3565310"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9D641E0-B544-6123-6932-B9531CA11780}"/>
              </a:ext>
            </a:extLst>
          </p:cNvPr>
          <p:cNvSpPr txBox="1"/>
          <p:nvPr/>
        </p:nvSpPr>
        <p:spPr>
          <a:xfrm>
            <a:off x="10236186" y="4367666"/>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TextBox 4">
            <a:extLst>
              <a:ext uri="{FF2B5EF4-FFF2-40B4-BE49-F238E27FC236}">
                <a16:creationId xmlns:a16="http://schemas.microsoft.com/office/drawing/2014/main" id="{B75EB074-67EB-82D1-5072-C684FFAC486F}"/>
              </a:ext>
            </a:extLst>
          </p:cNvPr>
          <p:cNvSpPr txBox="1"/>
          <p:nvPr/>
        </p:nvSpPr>
        <p:spPr>
          <a:xfrm>
            <a:off x="9645651" y="4777310"/>
            <a:ext cx="2222755" cy="584775"/>
          </a:xfrm>
          <a:prstGeom prst="rect">
            <a:avLst/>
          </a:prstGeom>
          <a:noFill/>
        </p:spPr>
        <p:txBody>
          <a:bodyPr wrap="square" rtlCol="0">
            <a:spAutoFit/>
          </a:bodyPr>
          <a:lstStyle/>
          <a:p>
            <a:pPr algn="ct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기억</a:t>
            </a:r>
            <a:endParaRPr lang="en-US" altLang="ko-KR" sz="1600" dirty="0">
              <a:latin typeface="D2Coding" panose="020B0609020101020101" pitchFamily="49" charset="-127"/>
              <a:ea typeface="D2Coding" panose="020B0609020101020101" pitchFamily="49" charset="-127"/>
            </a:endParaRPr>
          </a:p>
          <a:p>
            <a:pPr algn="ctr"/>
            <a:r>
              <a:rPr lang="en-US" altLang="ko-KR" sz="1600" dirty="0">
                <a:latin typeface="D2Coding" panose="020B0609020101020101" pitchFamily="49" charset="-127"/>
                <a:ea typeface="D2Coding" panose="020B0609020101020101" pitchFamily="49" charset="-127"/>
              </a:rPr>
              <a:t>(time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step=5</a:t>
            </a:r>
            <a:r>
              <a:rPr lang="ko-KR" altLang="en-US" sz="1600" dirty="0">
                <a:latin typeface="D2Coding" panose="020B0609020101020101" pitchFamily="49" charset="-127"/>
                <a:ea typeface="D2Coding" panose="020B0609020101020101" pitchFamily="49" charset="-127"/>
              </a:rPr>
              <a:t>일</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880918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AC095-C9E0-5AE7-D4D9-9B68A5F8A19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FB8627B-0551-9D03-1BE9-74B5200942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D597D2F6-26EB-F930-889F-8328E456137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39" name="타원 38">
            <a:extLst>
              <a:ext uri="{FF2B5EF4-FFF2-40B4-BE49-F238E27FC236}">
                <a16:creationId xmlns:a16="http://schemas.microsoft.com/office/drawing/2014/main" id="{F11E62B0-1E66-B1F9-1622-0465C2FBBD18}"/>
              </a:ext>
            </a:extLst>
          </p:cNvPr>
          <p:cNvSpPr/>
          <p:nvPr/>
        </p:nvSpPr>
        <p:spPr>
          <a:xfrm>
            <a:off x="1209677"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98A94FF3-8A65-46C6-8A6E-961229AB966C}"/>
              </a:ext>
            </a:extLst>
          </p:cNvPr>
          <p:cNvSpPr/>
          <p:nvPr/>
        </p:nvSpPr>
        <p:spPr>
          <a:xfrm>
            <a:off x="1209677" y="2868718"/>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AD020036-5B29-A595-AA16-18665C4077BF}"/>
              </a:ext>
            </a:extLst>
          </p:cNvPr>
          <p:cNvSpPr/>
          <p:nvPr/>
        </p:nvSpPr>
        <p:spPr>
          <a:xfrm>
            <a:off x="1209677" y="369025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788A4EAA-7A60-7100-4F88-CC9441A858EA}"/>
              </a:ext>
            </a:extLst>
          </p:cNvPr>
          <p:cNvSpPr/>
          <p:nvPr/>
        </p:nvSpPr>
        <p:spPr>
          <a:xfrm>
            <a:off x="1209677" y="451178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F5A3A206-595A-A190-0FE6-F3498D4AAEB2}"/>
              </a:ext>
            </a:extLst>
          </p:cNvPr>
          <p:cNvSpPr/>
          <p:nvPr/>
        </p:nvSpPr>
        <p:spPr>
          <a:xfrm>
            <a:off x="1209677" y="5333313"/>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92755DC-C685-A16E-1945-9DAEF87CB287}"/>
                  </a:ext>
                </a:extLst>
              </p:cNvPr>
              <p:cNvSpPr txBox="1"/>
              <p:nvPr/>
            </p:nvSpPr>
            <p:spPr>
              <a:xfrm>
                <a:off x="712373" y="5624897"/>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92755DC-C685-A16E-1945-9DAEF87CB287}"/>
                  </a:ext>
                </a:extLst>
              </p:cNvPr>
              <p:cNvSpPr txBox="1">
                <a:spLocks noRot="1" noChangeAspect="1" noMove="1" noResize="1" noEditPoints="1" noAdjustHandles="1" noChangeArrowheads="1" noChangeShapeType="1" noTextEdit="1"/>
              </p:cNvSpPr>
              <p:nvPr/>
            </p:nvSpPr>
            <p:spPr>
              <a:xfrm>
                <a:off x="712373" y="5624897"/>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14461BC-90A0-A715-D64A-EEBFBC3A24AC}"/>
                  </a:ext>
                </a:extLst>
              </p:cNvPr>
              <p:cNvSpPr txBox="1"/>
              <p:nvPr/>
            </p:nvSpPr>
            <p:spPr>
              <a:xfrm>
                <a:off x="712373" y="2246437"/>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D14461BC-90A0-A715-D64A-EEBFBC3A24AC}"/>
                  </a:ext>
                </a:extLst>
              </p:cNvPr>
              <p:cNvSpPr txBox="1">
                <a:spLocks noRot="1" noChangeAspect="1" noMove="1" noResize="1" noEditPoints="1" noAdjustHandles="1" noChangeArrowheads="1" noChangeShapeType="1" noTextEdit="1"/>
              </p:cNvSpPr>
              <p:nvPr/>
            </p:nvSpPr>
            <p:spPr>
              <a:xfrm>
                <a:off x="712373" y="2246437"/>
                <a:ext cx="359393" cy="307777"/>
              </a:xfrm>
              <a:prstGeom prst="rect">
                <a:avLst/>
              </a:prstGeom>
              <a:blipFill>
                <a:blip r:embed="rId3"/>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FA4B60B-4101-5888-5A4E-215D7C9BED98}"/>
                  </a:ext>
                </a:extLst>
              </p:cNvPr>
              <p:cNvSpPr txBox="1"/>
              <p:nvPr/>
            </p:nvSpPr>
            <p:spPr>
              <a:xfrm>
                <a:off x="712373" y="309105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5FA4B60B-4101-5888-5A4E-215D7C9BED98}"/>
                  </a:ext>
                </a:extLst>
              </p:cNvPr>
              <p:cNvSpPr txBox="1">
                <a:spLocks noRot="1" noChangeAspect="1" noMove="1" noResize="1" noEditPoints="1" noAdjustHandles="1" noChangeArrowheads="1" noChangeShapeType="1" noTextEdit="1"/>
              </p:cNvSpPr>
              <p:nvPr/>
            </p:nvSpPr>
            <p:spPr>
              <a:xfrm>
                <a:off x="712373" y="3091052"/>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FA5EEA1-96F5-9A09-C565-2EE54D0373CC}"/>
                  </a:ext>
                </a:extLst>
              </p:cNvPr>
              <p:cNvSpPr txBox="1"/>
              <p:nvPr/>
            </p:nvSpPr>
            <p:spPr>
              <a:xfrm>
                <a:off x="712373" y="3935667"/>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FFA5EEA1-96F5-9A09-C565-2EE54D0373CC}"/>
                  </a:ext>
                </a:extLst>
              </p:cNvPr>
              <p:cNvSpPr txBox="1">
                <a:spLocks noRot="1" noChangeAspect="1" noMove="1" noResize="1" noEditPoints="1" noAdjustHandles="1" noChangeArrowheads="1" noChangeShapeType="1" noTextEdit="1"/>
              </p:cNvSpPr>
              <p:nvPr/>
            </p:nvSpPr>
            <p:spPr>
              <a:xfrm>
                <a:off x="712373" y="3935667"/>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8ACF2E1-B110-BB75-0210-96F2B07D1598}"/>
                  </a:ext>
                </a:extLst>
              </p:cNvPr>
              <p:cNvSpPr txBox="1"/>
              <p:nvPr/>
            </p:nvSpPr>
            <p:spPr>
              <a:xfrm>
                <a:off x="712373" y="478028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98ACF2E1-B110-BB75-0210-96F2B07D1598}"/>
                  </a:ext>
                </a:extLst>
              </p:cNvPr>
              <p:cNvSpPr txBox="1">
                <a:spLocks noRot="1" noChangeAspect="1" noMove="1" noResize="1" noEditPoints="1" noAdjustHandles="1" noChangeArrowheads="1" noChangeShapeType="1" noTextEdit="1"/>
              </p:cNvSpPr>
              <p:nvPr/>
            </p:nvSpPr>
            <p:spPr>
              <a:xfrm>
                <a:off x="712373" y="4780282"/>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AA37D8ED-7359-783E-38D2-57B361C17857}"/>
              </a:ext>
            </a:extLst>
          </p:cNvPr>
          <p:cNvSpPr/>
          <p:nvPr/>
        </p:nvSpPr>
        <p:spPr>
          <a:xfrm>
            <a:off x="3200402"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50" name="직선 화살표 연결선 49">
            <a:extLst>
              <a:ext uri="{FF2B5EF4-FFF2-40B4-BE49-F238E27FC236}">
                <a16:creationId xmlns:a16="http://schemas.microsoft.com/office/drawing/2014/main" id="{EBD0C34C-1BDD-0728-F564-7692DFBC1B78}"/>
              </a:ext>
            </a:extLst>
          </p:cNvPr>
          <p:cNvCxnSpPr>
            <a:cxnSpLocks/>
            <a:stCxn id="39" idx="6"/>
            <a:endCxn id="49" idx="0"/>
          </p:cNvCxnSpPr>
          <p:nvPr/>
        </p:nvCxnSpPr>
        <p:spPr>
          <a:xfrm>
            <a:off x="1685927" y="2285311"/>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CCC61D8-3D7B-C727-729B-B9BF5E6F20C8}"/>
              </a:ext>
            </a:extLst>
          </p:cNvPr>
          <p:cNvCxnSpPr>
            <a:cxnSpLocks/>
            <a:stCxn id="40" idx="6"/>
            <a:endCxn id="49" idx="1"/>
          </p:cNvCxnSpPr>
          <p:nvPr/>
        </p:nvCxnSpPr>
        <p:spPr>
          <a:xfrm>
            <a:off x="1685927" y="3106843"/>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ED6A1CF2-5A06-D3CE-24C8-D9272F2A592E}"/>
              </a:ext>
            </a:extLst>
          </p:cNvPr>
          <p:cNvCxnSpPr>
            <a:cxnSpLocks/>
            <a:stCxn id="41" idx="6"/>
            <a:endCxn id="49" idx="2"/>
          </p:cNvCxnSpPr>
          <p:nvPr/>
        </p:nvCxnSpPr>
        <p:spPr>
          <a:xfrm>
            <a:off x="1685927" y="3928375"/>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21804CCD-1C56-E112-97B1-FB02D7104452}"/>
              </a:ext>
            </a:extLst>
          </p:cNvPr>
          <p:cNvCxnSpPr>
            <a:cxnSpLocks/>
            <a:stCxn id="42" idx="6"/>
            <a:endCxn id="49" idx="3"/>
          </p:cNvCxnSpPr>
          <p:nvPr/>
        </p:nvCxnSpPr>
        <p:spPr>
          <a:xfrm flipV="1">
            <a:off x="1685927" y="4125330"/>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6B7E41E0-2415-87CF-2F30-D348410E9B7E}"/>
              </a:ext>
            </a:extLst>
          </p:cNvPr>
          <p:cNvCxnSpPr>
            <a:cxnSpLocks/>
            <a:stCxn id="43" idx="6"/>
            <a:endCxn id="49" idx="4"/>
          </p:cNvCxnSpPr>
          <p:nvPr/>
        </p:nvCxnSpPr>
        <p:spPr>
          <a:xfrm flipV="1">
            <a:off x="1685927" y="4195075"/>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DAA3BBB0-EC47-1C29-F919-BA44AB57F4B7}"/>
              </a:ext>
            </a:extLst>
          </p:cNvPr>
          <p:cNvCxnSpPr>
            <a:cxnSpLocks/>
            <a:stCxn id="49" idx="0"/>
            <a:endCxn id="49" idx="4"/>
          </p:cNvCxnSpPr>
          <p:nvPr/>
        </p:nvCxnSpPr>
        <p:spPr>
          <a:xfrm rot="16200000" flipH="1">
            <a:off x="3200402" y="3956950"/>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9CEC1B3-8435-56FB-F902-966C36B2D2B5}"/>
              </a:ext>
            </a:extLst>
          </p:cNvPr>
          <p:cNvSpPr txBox="1"/>
          <p:nvPr/>
        </p:nvSpPr>
        <p:spPr>
          <a:xfrm>
            <a:off x="538867" y="1229852"/>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일치 주가</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개 단어로 이루어진 문장 등 순서가 있는 </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D6D4117-0D2A-A45F-5669-F6908B91BC12}"/>
              </a:ext>
            </a:extLst>
          </p:cNvPr>
          <p:cNvSpPr txBox="1"/>
          <p:nvPr/>
        </p:nvSpPr>
        <p:spPr>
          <a:xfrm>
            <a:off x="3219422" y="4433453"/>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타원 4">
            <a:extLst>
              <a:ext uri="{FF2B5EF4-FFF2-40B4-BE49-F238E27FC236}">
                <a16:creationId xmlns:a16="http://schemas.microsoft.com/office/drawing/2014/main" id="{FF47471C-F9DA-7D61-C6A4-BDA2EB89DEF8}"/>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AC344AA4-F3DE-D24D-6191-00EC35665DFE}"/>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70C36F11-C9E8-AA3E-AC38-3662A4255A7C}"/>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2CFA56E7-8EF9-3EBE-0811-BAE516ECD41C}"/>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26BED348-D2BE-F6A8-78E4-B36FD0D7B615}"/>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5D4E1A0-ABFD-B43D-E63F-C6F242CD940E}"/>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C5D4E1A0-ABFD-B43D-E63F-C6F242CD940E}"/>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BB96852-730D-7703-B5C2-322EF0131DE5}"/>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BBB96852-730D-7703-B5C2-322EF0131DE5}"/>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8"/>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5BA666AB-BB19-D275-9F32-3A52CB151027}"/>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5BA666AB-BB19-D275-9F32-3A52CB151027}"/>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DE822E1-D244-A8C0-65CA-CF439FED94B2}"/>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0DE822E1-D244-A8C0-65CA-CF439FED94B2}"/>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18DC2A0-663F-CF45-C2EA-3096A765BF40}"/>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218DC2A0-663F-CF45-C2EA-3096A765BF40}"/>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11"/>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945D924F-286A-8B0E-DE9F-8EA6F88BC55A}"/>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6909787D-D168-CEA3-B98B-5C2CEF462524}"/>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A054E8D0-7614-B4D9-A02C-44B8D4FD29A2}"/>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A7414FB3-B957-96BC-C0C0-7C63100F6DE7}"/>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A302A79A-B730-5521-055A-638962B87DA8}"/>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5E3DBE4-ECA4-A67F-96B7-E952C4D14434}"/>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55E3DBE4-ECA4-A67F-96B7-E952C4D14434}"/>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12"/>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2E10CD9-C3A5-78B6-5439-E7B8CC0CFDE7}"/>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52E10CD9-C3A5-78B6-5439-E7B8CC0CFDE7}"/>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13"/>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CAA42B0-BF40-F593-642F-95ED4F2D69C5}"/>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CCAA42B0-BF40-F593-642F-95ED4F2D69C5}"/>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14"/>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3E0AA2D-DDD0-3F99-9221-2097C89C41A8}"/>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C3E0AA2D-DDD0-3F99-9221-2097C89C41A8}"/>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5"/>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E2ED5F0-E833-353E-8A4A-CEFF17EAA9E2}"/>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9E2ED5F0-E833-353E-8A4A-CEFF17EAA9E2}"/>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6"/>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AA121ADF-E677-7588-ACA0-CA5398F828A8}"/>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172263B6-6646-8FC0-5F03-40F0E8772B1F}"/>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10ACFC0A-C6EE-7D06-6D0C-CEAC11F55374}"/>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B1E94B0C-6F5C-E8DE-2CBE-CCC67B4BFC02}"/>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9AB3EDAD-895A-FADB-1D85-D350C21009C2}"/>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DF0110BE-8B24-E009-E652-A39366FF42B9}"/>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DF0110BE-8B24-E009-E652-A39366FF42B9}"/>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7"/>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191388-2ED0-3AB6-3246-2D63F951B066}"/>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191388-2ED0-3AB6-3246-2D63F951B066}"/>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8"/>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59C797AC-2FB7-861B-BCCA-90B746160624}"/>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59C797AC-2FB7-861B-BCCA-90B746160624}"/>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9"/>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D24B619E-C9E1-26FC-6AEF-F2B84CB0B84F}"/>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D24B619E-C9E1-26FC-6AEF-F2B84CB0B84F}"/>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20"/>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1FF19B9E-83C3-B01C-6730-799282E5001B}"/>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1FF19B9E-83C3-B01C-6730-799282E5001B}"/>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21"/>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20D86393-FF94-41E9-7683-B2456F468E94}"/>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5C46DD5-00FB-21F6-A21F-BDA9D6A66925}"/>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0E0F518D-3639-6196-49C2-A37AD00240B4}"/>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789EAAE4-5F35-0E7E-C2ED-CE6C1142A2F0}"/>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99AC1E5D-0E4D-6E0D-2953-38E3ED19903D}"/>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C0FFCE4C-47A8-F208-045D-D542437FDB2A}"/>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BE8A077E-CF13-FD00-E65F-4245F638CE8F}"/>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1E416AB-FE8A-1FC2-8EE4-4D8CF72F9DD7}"/>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AE69AE81-3369-836D-644E-162545E8C5C3}"/>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64A4EA0B-9214-E8EE-7785-F7C08D91DC2F}"/>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260874E2-5BA1-7544-10D7-58B90A2399F0}"/>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66D3CC91-2B16-A9FE-F40F-CCF803D46D27}"/>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ED7C7F1C-BF6B-D348-752F-FA6620C1409F}"/>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A5C8484F-CC28-C6D0-4C88-C88328F6D85E}"/>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4E8A4E56-353F-C39B-52E9-115A1A08A8DB}"/>
              </a:ext>
            </a:extLst>
          </p:cNvPr>
          <p:cNvSpPr/>
          <p:nvPr/>
        </p:nvSpPr>
        <p:spPr>
          <a:xfrm>
            <a:off x="4629078" y="3739409"/>
            <a:ext cx="647130" cy="406505"/>
          </a:xfrm>
          <a:prstGeom prst="mathEqual">
            <a:avLst>
              <a:gd name="adj1" fmla="val 14148"/>
              <a:gd name="adj2" fmla="val 30505"/>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3111789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80376-2A82-C8DD-0A2C-A5A76009980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C0E08C-357C-63CB-950F-2AD058E2AC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E7E3F6F5-A438-7A96-FA6B-A8AF7AD3EC1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62" name="TextBox 61">
            <a:extLst>
              <a:ext uri="{FF2B5EF4-FFF2-40B4-BE49-F238E27FC236}">
                <a16:creationId xmlns:a16="http://schemas.microsoft.com/office/drawing/2014/main" id="{377B51E8-F3BE-7539-5ED4-6E1C39042EF2}"/>
              </a:ext>
            </a:extLst>
          </p:cNvPr>
          <p:cNvSpPr txBox="1"/>
          <p:nvPr/>
        </p:nvSpPr>
        <p:spPr>
          <a:xfrm>
            <a:off x="538867" y="1277477"/>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회씩 </a:t>
            </a:r>
            <a:r>
              <a:rPr lang="ko-KR" altLang="en-US" dirty="0" err="1">
                <a:latin typeface="D2Coding" panose="020B0609020101020101" pitchFamily="49" charset="-127"/>
                <a:ea typeface="D2Coding" panose="020B0609020101020101" pitchFamily="49" charset="-127"/>
              </a:rPr>
              <a:t>은닉층</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 노드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5" name="타원 4">
            <a:extLst>
              <a:ext uri="{FF2B5EF4-FFF2-40B4-BE49-F238E27FC236}">
                <a16:creationId xmlns:a16="http://schemas.microsoft.com/office/drawing/2014/main" id="{5BA92C5A-472A-C4B3-CCCA-8AE04B9A7C43}"/>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DC5A55F4-041B-E569-4CA3-21B564895B2A}"/>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9BEE061A-5134-EEE3-7B94-0639CBB7DA7B}"/>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D34B2FAE-F896-63EA-EEC9-F30880C21624}"/>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D1545206-35AB-F07D-C9B5-A40BAE6FF456}"/>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F738610-D8A4-927E-6BDC-FA470A2FA647}"/>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BF738610-D8A4-927E-6BDC-FA470A2FA647}"/>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2"/>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1160B3D-B60D-63EE-3F8D-3584BF556841}"/>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11160B3D-B60D-63EE-3F8D-3584BF556841}"/>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5FDA6AD-D9A6-663A-4FCB-170DF4CDE0DA}"/>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F5FDA6AD-D9A6-663A-4FCB-170DF4CDE0DA}"/>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E15BDE-3C29-DD07-B1CA-BDFA9BF4F37C}"/>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81E15BDE-3C29-DD07-B1CA-BDFA9BF4F37C}"/>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5"/>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FDBE092-8208-2A93-CF34-0CE46536750E}"/>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0FDBE092-8208-2A93-CF34-0CE46536750E}"/>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584AB1CB-650F-CAD0-B830-6853F8E5F49D}"/>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400028E2-9A09-E78E-961D-CCE8766E7D1C}"/>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C53AA627-5865-A184-491A-2CC5F821CD47}"/>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45F9D16D-3978-E153-9C8B-D34A408B44DB}"/>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71D80AA0-3D84-AD13-479E-7FB46C8EB73B}"/>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0C8A07FE-8740-E911-40DF-C54F3ADF1150}"/>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0C8A07FE-8740-E911-40DF-C54F3ADF1150}"/>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7"/>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425F812-7D47-B3FC-6CC2-3099816DD2E1}"/>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6425F812-7D47-B3FC-6CC2-3099816DD2E1}"/>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8"/>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5DBA5A9-3B90-3090-00FF-7F7DC2CA96CC}"/>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75DBA5A9-3B90-3090-00FF-7F7DC2CA96CC}"/>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9"/>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5FB1648-5A94-7BCE-F2F5-581AB83ED5C7}"/>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55FB1648-5A94-7BCE-F2F5-581AB83ED5C7}"/>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0"/>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9AD399E-7AAF-2C2D-A614-8F4FEB752EF6}"/>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59AD399E-7AAF-2C2D-A614-8F4FEB752EF6}"/>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1"/>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EE9C37D7-9587-0326-8BD2-DF9012FD9D3F}"/>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FB7C82D8-5E38-6F40-31B5-EC0D12EAF49A}"/>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63705328-C0A6-5068-3FA1-DBF895B2823C}"/>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57E88482-E888-B03C-4C03-0272184CC0AF}"/>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64A87C15-A6E2-27AB-FA0E-9BEBA86BC8B7}"/>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7CE8BE55-7B5B-2611-ACB6-00D104F81EDB}"/>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7CE8BE55-7B5B-2611-ACB6-00D104F81EDB}"/>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2"/>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A3316E-2181-CC76-72E7-02477E009280}"/>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A3316E-2181-CC76-72E7-02477E009280}"/>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3"/>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D4BFA446-9E1C-01E9-68CE-B494F340A983}"/>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D4BFA446-9E1C-01E9-68CE-B494F340A983}"/>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4"/>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2833209B-8B34-A744-0368-8E7C0B85F259}"/>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2833209B-8B34-A744-0368-8E7C0B85F259}"/>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15"/>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EA2E3B98-3B60-99F1-FA1C-48D1BF6A3BFF}"/>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EA2E3B98-3B60-99F1-FA1C-48D1BF6A3BFF}"/>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16"/>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E66B8A17-22E5-B202-1E74-9D982E1EAFC6}"/>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C2C1E9D-EA3E-2E30-C1D8-074C6862CD2A}"/>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999B23DE-BFC8-1B9C-EAB2-349FFA608F69}"/>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C61191E9-1770-9E52-9C5C-25A8665358D1}"/>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3A3F741F-3AE7-54AF-038C-39BDEC12B4C4}"/>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014218B6-FBE3-FB00-5786-33FD395E43AF}"/>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E7E81F9B-BBC5-7BCB-2E81-189378B6994E}"/>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B8972BF-A814-02A9-9237-4E846D7DED81}"/>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14C11647-E06B-8639-6EED-DE0292B267E9}"/>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40E0C6F2-5C82-F5C1-4C95-8185505DE7B7}"/>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BBDEE114-EF43-4BCA-CF15-B02635A26C2F}"/>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FC5464EC-DA80-017A-9F59-164D2FD56545}"/>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442023AD-83F3-A5CF-E52A-D5AA6FD41E2D}"/>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3CF30E70-F69A-63D3-58EB-A5EABE235102}"/>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8814FB01-3408-CB06-37A5-D126625D59AC}"/>
              </a:ext>
            </a:extLst>
          </p:cNvPr>
          <p:cNvSpPr/>
          <p:nvPr/>
        </p:nvSpPr>
        <p:spPr>
          <a:xfrm>
            <a:off x="4629078" y="3739409"/>
            <a:ext cx="647130" cy="406505"/>
          </a:xfrm>
          <a:prstGeom prst="mathEqual">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
        <p:nvSpPr>
          <p:cNvPr id="15" name="타원 14">
            <a:extLst>
              <a:ext uri="{FF2B5EF4-FFF2-40B4-BE49-F238E27FC236}">
                <a16:creationId xmlns:a16="http://schemas.microsoft.com/office/drawing/2014/main" id="{D8472572-4AA2-4DE1-D0A8-D9C356DA6DE2}"/>
              </a:ext>
            </a:extLst>
          </p:cNvPr>
          <p:cNvSpPr/>
          <p:nvPr/>
        </p:nvSpPr>
        <p:spPr>
          <a:xfrm>
            <a:off x="1731920"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B66168D-8021-AB18-D2E0-8E53233B0FD5}"/>
                  </a:ext>
                </a:extLst>
              </p:cNvPr>
              <p:cNvSpPr txBox="1"/>
              <p:nvPr/>
            </p:nvSpPr>
            <p:spPr>
              <a:xfrm>
                <a:off x="2146673"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CB66168D-8021-AB18-D2E0-8E53233B0FD5}"/>
                  </a:ext>
                </a:extLst>
              </p:cNvPr>
              <p:cNvSpPr txBox="1">
                <a:spLocks noRot="1" noChangeAspect="1" noMove="1" noResize="1" noEditPoints="1" noAdjustHandles="1" noChangeArrowheads="1" noChangeShapeType="1" noTextEdit="1"/>
              </p:cNvSpPr>
              <p:nvPr/>
            </p:nvSpPr>
            <p:spPr>
              <a:xfrm>
                <a:off x="2146673" y="5731483"/>
                <a:ext cx="359393" cy="307777"/>
              </a:xfrm>
              <a:prstGeom prst="rect">
                <a:avLst/>
              </a:prstGeom>
              <a:blipFill>
                <a:blip r:embed="rId17"/>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34D1B8B6-AC76-544E-2F26-E69C483A8B0C}"/>
              </a:ext>
            </a:extLst>
          </p:cNvPr>
          <p:cNvSpPr/>
          <p:nvPr/>
        </p:nvSpPr>
        <p:spPr>
          <a:xfrm>
            <a:off x="1731920"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962A252-142F-ABDB-53ED-9C3FBB520410}"/>
                  </a:ext>
                </a:extLst>
              </p:cNvPr>
              <p:cNvSpPr txBox="1"/>
              <p:nvPr/>
            </p:nvSpPr>
            <p:spPr>
              <a:xfrm>
                <a:off x="2119923"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3" name="TextBox 22">
                <a:extLst>
                  <a:ext uri="{FF2B5EF4-FFF2-40B4-BE49-F238E27FC236}">
                    <a16:creationId xmlns:a16="http://schemas.microsoft.com/office/drawing/2014/main" id="{7962A252-142F-ABDB-53ED-9C3FBB520410}"/>
                  </a:ext>
                </a:extLst>
              </p:cNvPr>
              <p:cNvSpPr txBox="1">
                <a:spLocks noRot="1" noChangeAspect="1" noMove="1" noResize="1" noEditPoints="1" noAdjustHandles="1" noChangeArrowheads="1" noChangeShapeType="1" noTextEdit="1"/>
              </p:cNvSpPr>
              <p:nvPr/>
            </p:nvSpPr>
            <p:spPr>
              <a:xfrm>
                <a:off x="2119923" y="2484355"/>
                <a:ext cx="355482" cy="307777"/>
              </a:xfrm>
              <a:prstGeom prst="rect">
                <a:avLst/>
              </a:prstGeom>
              <a:blipFill>
                <a:blip r:embed="rId18"/>
                <a:stretch>
                  <a:fillRect l="-6897" b="-26000"/>
                </a:stretch>
              </a:blipFill>
            </p:spPr>
            <p:txBody>
              <a:bodyPr/>
              <a:lstStyle/>
              <a:p>
                <a:r>
                  <a:rPr lang="ko-KR" altLang="en-US">
                    <a:noFill/>
                  </a:rPr>
                  <a:t> </a:t>
                </a:r>
              </a:p>
            </p:txBody>
          </p:sp>
        </mc:Fallback>
      </mc:AlternateContent>
      <p:sp>
        <p:nvSpPr>
          <p:cNvPr id="24" name="타원 23">
            <a:extLst>
              <a:ext uri="{FF2B5EF4-FFF2-40B4-BE49-F238E27FC236}">
                <a16:creationId xmlns:a16="http://schemas.microsoft.com/office/drawing/2014/main" id="{5EB97A29-7753-32D7-786B-55C505AFCF0A}"/>
              </a:ext>
            </a:extLst>
          </p:cNvPr>
          <p:cNvSpPr/>
          <p:nvPr/>
        </p:nvSpPr>
        <p:spPr>
          <a:xfrm>
            <a:off x="1731920"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96F1F25-7897-F573-EF35-0A4BB1E494F4}"/>
                  </a:ext>
                </a:extLst>
              </p:cNvPr>
              <p:cNvSpPr txBox="1"/>
              <p:nvPr/>
            </p:nvSpPr>
            <p:spPr>
              <a:xfrm>
                <a:off x="2059719" y="4287372"/>
                <a:ext cx="36670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6" name="TextBox 25">
                <a:extLst>
                  <a:ext uri="{FF2B5EF4-FFF2-40B4-BE49-F238E27FC236}">
                    <a16:creationId xmlns:a16="http://schemas.microsoft.com/office/drawing/2014/main" id="{196F1F25-7897-F573-EF35-0A4BB1E494F4}"/>
                  </a:ext>
                </a:extLst>
              </p:cNvPr>
              <p:cNvSpPr txBox="1">
                <a:spLocks noRot="1" noChangeAspect="1" noMove="1" noResize="1" noEditPoints="1" noAdjustHandles="1" noChangeArrowheads="1" noChangeShapeType="1" noTextEdit="1"/>
              </p:cNvSpPr>
              <p:nvPr/>
            </p:nvSpPr>
            <p:spPr>
              <a:xfrm>
                <a:off x="2059719" y="4287372"/>
                <a:ext cx="366703" cy="307777"/>
              </a:xfrm>
              <a:prstGeom prst="rect">
                <a:avLst/>
              </a:prstGeom>
              <a:blipFill>
                <a:blip r:embed="rId19"/>
                <a:stretch>
                  <a:fillRect l="-6667" b="-13725"/>
                </a:stretch>
              </a:blipFill>
            </p:spPr>
            <p:txBody>
              <a:bodyPr/>
              <a:lstStyle/>
              <a:p>
                <a:r>
                  <a:rPr lang="ko-KR" altLang="en-US">
                    <a:noFill/>
                  </a:rPr>
                  <a:t> </a:t>
                </a:r>
              </a:p>
            </p:txBody>
          </p:sp>
        </mc:Fallback>
      </mc:AlternateContent>
      <p:cxnSp>
        <p:nvCxnSpPr>
          <p:cNvPr id="27" name="직선 화살표 연결선 26">
            <a:extLst>
              <a:ext uri="{FF2B5EF4-FFF2-40B4-BE49-F238E27FC236}">
                <a16:creationId xmlns:a16="http://schemas.microsoft.com/office/drawing/2014/main" id="{30E0D547-4E06-D45C-704B-235745B86FE2}"/>
              </a:ext>
            </a:extLst>
          </p:cNvPr>
          <p:cNvCxnSpPr>
            <a:cxnSpLocks/>
            <a:stCxn id="15" idx="0"/>
            <a:endCxn id="24" idx="4"/>
          </p:cNvCxnSpPr>
          <p:nvPr/>
        </p:nvCxnSpPr>
        <p:spPr>
          <a:xfrm flipV="1">
            <a:off x="1970045"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F7193177-BB4B-AC66-4E1F-C60BF6C042B6}"/>
              </a:ext>
            </a:extLst>
          </p:cNvPr>
          <p:cNvCxnSpPr>
            <a:cxnSpLocks/>
            <a:stCxn id="24" idx="0"/>
            <a:endCxn id="19" idx="4"/>
          </p:cNvCxnSpPr>
          <p:nvPr/>
        </p:nvCxnSpPr>
        <p:spPr>
          <a:xfrm flipV="1">
            <a:off x="1970045"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연결선: 구부러짐 58">
            <a:extLst>
              <a:ext uri="{FF2B5EF4-FFF2-40B4-BE49-F238E27FC236}">
                <a16:creationId xmlns:a16="http://schemas.microsoft.com/office/drawing/2014/main" id="{D2BDA211-30A1-CCD7-CA64-E62D3025667B}"/>
              </a:ext>
            </a:extLst>
          </p:cNvPr>
          <p:cNvCxnSpPr>
            <a:cxnSpLocks/>
            <a:stCxn id="24" idx="5"/>
            <a:endCxn id="24" idx="7"/>
          </p:cNvCxnSpPr>
          <p:nvPr/>
        </p:nvCxnSpPr>
        <p:spPr>
          <a:xfrm rot="5400000" flipH="1">
            <a:off x="1970045" y="3956950"/>
            <a:ext cx="336760" cy="12700"/>
          </a:xfrm>
          <a:prstGeom prst="curvedConnector5">
            <a:avLst>
              <a:gd name="adj1" fmla="val -67882"/>
              <a:gd name="adj2" fmla="val -8900827"/>
              <a:gd name="adj3" fmla="val 16788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68466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A74C0683-66EA-F2A5-E6BF-99FE0DA95CC9}"/>
              </a:ext>
            </a:extLst>
          </p:cNvPr>
          <p:cNvSpPr txBox="1"/>
          <p:nvPr/>
        </p:nvSpPr>
        <p:spPr>
          <a:xfrm>
            <a:off x="551844" y="1207217"/>
            <a:ext cx="11125805" cy="880819"/>
          </a:xfrm>
          <a:prstGeom prst="rect">
            <a:avLst/>
          </a:prstGeom>
          <a:no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은 사람이 문장을 읽을 때 단어 하나하나를 보면서도</a:t>
            </a:r>
            <a:r>
              <a:rPr lang="en-US" altLang="ko-KR" dirty="0">
                <a:latin typeface="D2Coding" panose="020B0609020101020101" pitchFamily="49" charset="-127"/>
                <a:ea typeface="D2Coding" panose="020B0609020101020101" pitchFamily="49" charset="-127"/>
              </a:rPr>
              <a:t>(Sequence)</a:t>
            </a:r>
            <a:r>
              <a:rPr lang="ko-KR" altLang="en-US" dirty="0">
                <a:latin typeface="D2Coding" panose="020B0609020101020101" pitchFamily="49" charset="-127"/>
                <a:ea typeface="D2Coding" panose="020B0609020101020101" pitchFamily="49" charset="-127"/>
              </a:rPr>
              <a:t> 앞 단어들의 맥락을 계속 기억하는 것과 비슷한 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돌림 노래</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6E6A316E-DB75-8B18-216D-F7057789E7AE}"/>
              </a:ext>
            </a:extLst>
          </p:cNvPr>
          <p:cNvSpPr txBox="1"/>
          <p:nvPr/>
        </p:nvSpPr>
        <p:spPr>
          <a:xfrm>
            <a:off x="2333625" y="2680716"/>
            <a:ext cx="7086600" cy="1815882"/>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The state at 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Iterates over sequence elements</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f</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708090"/>
                </a:solidFill>
                <a:effectLst/>
                <a:latin typeface="D2Coding" panose="020B0609020101020101" pitchFamily="49" charset="-127"/>
                <a:ea typeface="D2Coding" panose="020B0609020101020101" pitchFamily="49" charset="-127"/>
              </a:rPr>
              <a:t># The previous output becomes the state for the next iteration.</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F1346C15-AD1E-7DCB-8618-8289C66C1554}"/>
              </a:ext>
            </a:extLst>
          </p:cNvPr>
          <p:cNvSpPr txBox="1"/>
          <p:nvPr/>
        </p:nvSpPr>
        <p:spPr>
          <a:xfrm>
            <a:off x="2333625" y="5299602"/>
            <a:ext cx="7086600" cy="1077218"/>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activation</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W</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U</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b</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5E1E5A75-7BFC-9439-04B5-6DAB8BB08E9A}"/>
              </a:ext>
            </a:extLst>
          </p:cNvPr>
          <p:cNvSpPr txBox="1"/>
          <p:nvPr/>
        </p:nvSpPr>
        <p:spPr>
          <a:xfrm>
            <a:off x="2333625" y="2343686"/>
            <a:ext cx="7086600" cy="338554"/>
          </a:xfrm>
          <a:prstGeom prst="rect">
            <a:avLst/>
          </a:prstGeom>
          <a:solidFill>
            <a:schemeClr val="tx1"/>
          </a:solidFill>
        </p:spPr>
        <p:txBody>
          <a:bodyPr wrap="square">
            <a:spAutoFit/>
          </a:bodyPr>
          <a:lstStyle/>
          <a:p>
            <a:r>
              <a:rPr lang="en-US" altLang="ko-KR" sz="1600" b="0" i="0" dirty="0">
                <a:solidFill>
                  <a:schemeClr val="bg1"/>
                </a:solidFill>
                <a:effectLst/>
                <a:latin typeface="D2Coding" panose="020B0609020101020101" pitchFamily="49" charset="-127"/>
                <a:ea typeface="D2Coding" panose="020B0609020101020101" pitchFamily="49" charset="-127"/>
              </a:rPr>
              <a:t>Pseudocode RNN</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D33B74DC-3D1D-6469-69C6-D3EA03653899}"/>
              </a:ext>
            </a:extLst>
          </p:cNvPr>
          <p:cNvSpPr txBox="1"/>
          <p:nvPr/>
        </p:nvSpPr>
        <p:spPr>
          <a:xfrm>
            <a:off x="2333625" y="4961048"/>
            <a:ext cx="7086600" cy="338554"/>
          </a:xfrm>
          <a:prstGeom prst="rect">
            <a:avLst/>
          </a:prstGeom>
          <a:solidFill>
            <a:schemeClr val="tx1"/>
          </a:solid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More detailed </a:t>
            </a:r>
            <a:r>
              <a:rPr lang="en-US" altLang="ko-KR" sz="1600" b="0" i="0" dirty="0">
                <a:solidFill>
                  <a:schemeClr val="bg1"/>
                </a:solidFill>
                <a:effectLst/>
                <a:latin typeface="D2Coding" panose="020B0609020101020101" pitchFamily="49" charset="-127"/>
                <a:ea typeface="D2Coding" panose="020B0609020101020101" pitchFamily="49" charset="-127"/>
              </a:rPr>
              <a:t>pseudocode</a:t>
            </a:r>
            <a:r>
              <a:rPr lang="en-US" altLang="ko-KR" sz="1600" b="0" i="0" dirty="0">
                <a:effectLst/>
                <a:latin typeface="D2Coding" panose="020B0609020101020101" pitchFamily="49" charset="-127"/>
                <a:ea typeface="D2Coding" panose="020B0609020101020101" pitchFamily="49" charset="-127"/>
              </a:rPr>
              <a:t> for the RNN</a:t>
            </a:r>
            <a:endParaRPr lang="ko-KR" altLang="en-US" sz="1600" dirty="0">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6728BB94-D6E6-13DD-9268-ED80A605BA1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7676460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38EFE-BFFA-ADD2-A84C-996383B5D0A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B1CD753-6EB8-8994-CCF5-B1D560FBBA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B3AA6087-D860-6C51-5538-FFDC1C5D1AE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85850" y="2339933"/>
            <a:ext cx="3676650" cy="31432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7384C5-F811-F733-7639-84B74BC9D298}"/>
              </a:ext>
            </a:extLst>
          </p:cNvPr>
          <p:cNvSpPr txBox="1"/>
          <p:nvPr/>
        </p:nvSpPr>
        <p:spPr>
          <a:xfrm>
            <a:off x="1000125" y="6222128"/>
            <a:ext cx="4019550"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A recurrent network: a network with a loop</a:t>
            </a:r>
            <a:endParaRPr lang="ko-KR" altLang="en-US" sz="1400" dirty="0">
              <a:latin typeface="D2Coding" panose="020B0609020101020101" pitchFamily="49" charset="-127"/>
              <a:ea typeface="D2Coding" panose="020B0609020101020101" pitchFamily="49" charset="-127"/>
            </a:endParaRPr>
          </a:p>
        </p:txBody>
      </p:sp>
      <p:pic>
        <p:nvPicPr>
          <p:cNvPr id="5" name="그림 4">
            <a:extLst>
              <a:ext uri="{FF2B5EF4-FFF2-40B4-BE49-F238E27FC236}">
                <a16:creationId xmlns:a16="http://schemas.microsoft.com/office/drawing/2014/main" id="{F8689FB7-12F2-C424-32C4-14BD0E6EA7B3}"/>
              </a:ext>
            </a:extLst>
          </p:cNvPr>
          <p:cNvPicPr>
            <a:picLocks noChangeAspect="1"/>
          </p:cNvPicPr>
          <p:nvPr/>
        </p:nvPicPr>
        <p:blipFill>
          <a:blip r:embed="rId4"/>
          <a:stretch>
            <a:fillRect/>
          </a:stretch>
        </p:blipFill>
        <p:spPr>
          <a:xfrm>
            <a:off x="6407703" y="5957972"/>
            <a:ext cx="4940116" cy="408838"/>
          </a:xfrm>
          <a:prstGeom prst="rect">
            <a:avLst/>
          </a:prstGeom>
        </p:spPr>
      </p:pic>
      <p:pic>
        <p:nvPicPr>
          <p:cNvPr id="12" name="그림 11">
            <a:extLst>
              <a:ext uri="{FF2B5EF4-FFF2-40B4-BE49-F238E27FC236}">
                <a16:creationId xmlns:a16="http://schemas.microsoft.com/office/drawing/2014/main" id="{187BD075-0678-82CB-0270-83B0CFC13247}"/>
              </a:ext>
            </a:extLst>
          </p:cNvPr>
          <p:cNvPicPr>
            <a:picLocks noChangeAspect="1"/>
          </p:cNvPicPr>
          <p:nvPr/>
        </p:nvPicPr>
        <p:blipFill>
          <a:blip r:embed="rId5"/>
          <a:stretch>
            <a:fillRect/>
          </a:stretch>
        </p:blipFill>
        <p:spPr>
          <a:xfrm>
            <a:off x="8817765" y="5181554"/>
            <a:ext cx="707669" cy="301629"/>
          </a:xfrm>
          <a:prstGeom prst="rect">
            <a:avLst/>
          </a:prstGeom>
        </p:spPr>
      </p:pic>
      <p:pic>
        <p:nvPicPr>
          <p:cNvPr id="14" name="그림 13">
            <a:extLst>
              <a:ext uri="{FF2B5EF4-FFF2-40B4-BE49-F238E27FC236}">
                <a16:creationId xmlns:a16="http://schemas.microsoft.com/office/drawing/2014/main" id="{0DBA9693-F101-5A0D-2FA6-7A3D4784C00D}"/>
              </a:ext>
            </a:extLst>
          </p:cNvPr>
          <p:cNvPicPr>
            <a:picLocks noChangeAspect="1"/>
          </p:cNvPicPr>
          <p:nvPr/>
        </p:nvPicPr>
        <p:blipFill>
          <a:blip r:embed="rId6"/>
          <a:stretch>
            <a:fillRect/>
          </a:stretch>
        </p:blipFill>
        <p:spPr>
          <a:xfrm>
            <a:off x="7472770" y="3807616"/>
            <a:ext cx="3375929" cy="348034"/>
          </a:xfrm>
          <a:prstGeom prst="rect">
            <a:avLst/>
          </a:prstGeom>
        </p:spPr>
      </p:pic>
      <p:pic>
        <p:nvPicPr>
          <p:cNvPr id="16" name="그림 15">
            <a:extLst>
              <a:ext uri="{FF2B5EF4-FFF2-40B4-BE49-F238E27FC236}">
                <a16:creationId xmlns:a16="http://schemas.microsoft.com/office/drawing/2014/main" id="{DAA85675-BD7F-E78D-04B8-FE02E023207A}"/>
              </a:ext>
            </a:extLst>
          </p:cNvPr>
          <p:cNvPicPr>
            <a:picLocks noChangeAspect="1"/>
          </p:cNvPicPr>
          <p:nvPr/>
        </p:nvPicPr>
        <p:blipFill>
          <a:blip r:embed="rId7"/>
          <a:stretch>
            <a:fillRect/>
          </a:stretch>
        </p:blipFill>
        <p:spPr>
          <a:xfrm>
            <a:off x="8770140" y="2288425"/>
            <a:ext cx="765675" cy="243624"/>
          </a:xfrm>
          <a:prstGeom prst="rect">
            <a:avLst/>
          </a:prstGeom>
        </p:spPr>
      </p:pic>
      <p:pic>
        <p:nvPicPr>
          <p:cNvPr id="18" name="그림 17">
            <a:extLst>
              <a:ext uri="{FF2B5EF4-FFF2-40B4-BE49-F238E27FC236}">
                <a16:creationId xmlns:a16="http://schemas.microsoft.com/office/drawing/2014/main" id="{A8617A4C-9035-0C69-AC68-E73F031B49A6}"/>
              </a:ext>
            </a:extLst>
          </p:cNvPr>
          <p:cNvPicPr>
            <a:picLocks noChangeAspect="1"/>
          </p:cNvPicPr>
          <p:nvPr/>
        </p:nvPicPr>
        <p:blipFill>
          <a:blip r:embed="rId8"/>
          <a:stretch>
            <a:fillRect/>
          </a:stretch>
        </p:blipFill>
        <p:spPr>
          <a:xfrm>
            <a:off x="6407703" y="2695768"/>
            <a:ext cx="1148512" cy="278427"/>
          </a:xfrm>
          <a:prstGeom prst="rect">
            <a:avLst/>
          </a:prstGeom>
        </p:spPr>
      </p:pic>
      <p:cxnSp>
        <p:nvCxnSpPr>
          <p:cNvPr id="20" name="직선 화살표 연결선 19">
            <a:extLst>
              <a:ext uri="{FF2B5EF4-FFF2-40B4-BE49-F238E27FC236}">
                <a16:creationId xmlns:a16="http://schemas.microsoft.com/office/drawing/2014/main" id="{7AC67131-B7F6-3D90-D600-D72E0758D3A7}"/>
              </a:ext>
            </a:extLst>
          </p:cNvPr>
          <p:cNvCxnSpPr>
            <a:cxnSpLocks/>
            <a:stCxn id="12" idx="0"/>
            <a:endCxn id="14" idx="2"/>
          </p:cNvCxnSpPr>
          <p:nvPr/>
        </p:nvCxnSpPr>
        <p:spPr>
          <a:xfrm flipH="1" flipV="1">
            <a:off x="9160735" y="4155650"/>
            <a:ext cx="10865" cy="1025904"/>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A35A9A4F-358E-65D4-D5F1-31F9DB34C4F6}"/>
              </a:ext>
            </a:extLst>
          </p:cNvPr>
          <p:cNvCxnSpPr>
            <a:cxnSpLocks/>
            <a:stCxn id="14" idx="0"/>
            <a:endCxn id="16" idx="2"/>
          </p:cNvCxnSpPr>
          <p:nvPr/>
        </p:nvCxnSpPr>
        <p:spPr>
          <a:xfrm flipH="1" flipV="1">
            <a:off x="9152978" y="2532049"/>
            <a:ext cx="7757" cy="1275567"/>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연결선: 꺾임 25">
            <a:extLst>
              <a:ext uri="{FF2B5EF4-FFF2-40B4-BE49-F238E27FC236}">
                <a16:creationId xmlns:a16="http://schemas.microsoft.com/office/drawing/2014/main" id="{784A76E9-1E52-96CC-3E27-79E131D1FA08}"/>
              </a:ext>
            </a:extLst>
          </p:cNvPr>
          <p:cNvCxnSpPr>
            <a:cxnSpLocks/>
            <a:endCxn id="14" idx="1"/>
          </p:cNvCxnSpPr>
          <p:nvPr/>
        </p:nvCxnSpPr>
        <p:spPr>
          <a:xfrm rot="10800000" flipV="1">
            <a:off x="7472771" y="3008999"/>
            <a:ext cx="1672451" cy="972634"/>
          </a:xfrm>
          <a:prstGeom prst="bentConnector3">
            <a:avLst>
              <a:gd name="adj1" fmla="val 163787"/>
            </a:avLst>
          </a:prstGeom>
          <a:ln>
            <a:tailEnd type="triangle"/>
          </a:ln>
        </p:spPr>
        <p:style>
          <a:lnRef idx="1">
            <a:schemeClr val="dk1"/>
          </a:lnRef>
          <a:fillRef idx="0">
            <a:schemeClr val="dk1"/>
          </a:fillRef>
          <a:effectRef idx="0">
            <a:schemeClr val="dk1"/>
          </a:effectRef>
          <a:fontRef idx="minor">
            <a:schemeClr val="tx1"/>
          </a:fontRef>
        </p:style>
      </p:cxnSp>
      <p:sp>
        <p:nvSpPr>
          <p:cNvPr id="32" name="슬라이드 번호 개체 틀 3">
            <a:extLst>
              <a:ext uri="{FF2B5EF4-FFF2-40B4-BE49-F238E27FC236}">
                <a16:creationId xmlns:a16="http://schemas.microsoft.com/office/drawing/2014/main" id="{3A373065-BB31-E096-2C50-5CA3BBDAC2D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9607980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889811"/>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349216"/>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4073009"/>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582473"/>
            <a:ext cx="5266404"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I	am	  your	           father</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962204"/>
            <a:ext cx="4827639"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t-3	t-2	  t-1		      t </a:t>
            </a:r>
            <a:endParaRPr lang="ko-KR" altLang="en-US"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
        <p:nvSpPr>
          <p:cNvPr id="2" name="슬라이드 번호 개체 틀 3">
            <a:extLst>
              <a:ext uri="{FF2B5EF4-FFF2-40B4-BE49-F238E27FC236}">
                <a16:creationId xmlns:a16="http://schemas.microsoft.com/office/drawing/2014/main" id="{41768054-58F4-57E8-34D4-9339CAE2D6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98926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DF5C-21A7-169A-D813-E63EDBBB95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48F9E1-F3AF-6D54-7C87-DC59F19937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F087C6CE-AE22-B866-BD2C-43BE542D5F43}"/>
              </a:ext>
            </a:extLst>
          </p:cNvPr>
          <p:cNvSpPr txBox="1"/>
          <p:nvPr/>
        </p:nvSpPr>
        <p:spPr>
          <a:xfrm>
            <a:off x="599512" y="1446717"/>
            <a:ext cx="10353763" cy="4814780"/>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timesteps = 100</a:t>
            </a:r>
          </a:p>
          <a:p>
            <a:pPr>
              <a:lnSpc>
                <a:spcPts val="1575"/>
              </a:lnSpc>
              <a:buNone/>
            </a:pP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 = 32</a:t>
            </a:r>
          </a:p>
          <a:p>
            <a:pPr>
              <a:lnSpc>
                <a:spcPts val="1575"/>
              </a:lnSpc>
              <a:buNone/>
            </a:pP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 64</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((timesteps,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np.zeros</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 Initial state: an all-zero vector</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Creates random weight matrices</a:t>
            </a:r>
          </a:p>
          <a:p>
            <a:pPr>
              <a:lnSpc>
                <a:spcPts val="1575"/>
              </a:lnSpc>
              <a:buNone/>
            </a:pPr>
            <a:r>
              <a:rPr lang="en-US" altLang="ko-KR" sz="1600" b="0" dirty="0">
                <a:effectLst/>
                <a:latin typeface="D2Coding" panose="020B0609020101020101" pitchFamily="49" charset="-127"/>
                <a:ea typeface="D2Coding" panose="020B0609020101020101" pitchFamily="49" charset="-127"/>
              </a:rPr>
              <a:t>W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U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b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 []</a:t>
            </a:r>
          </a:p>
          <a:p>
            <a:pPr>
              <a:lnSpc>
                <a:spcPts val="1575"/>
              </a:lnSpc>
            </a:pPr>
            <a:r>
              <a:rPr lang="en-US" altLang="ko-KR" sz="1600" b="0" dirty="0">
                <a:effectLst/>
                <a:latin typeface="D2Coding" panose="020B0609020101020101" pitchFamily="49" charset="-127"/>
                <a:ea typeface="D2Coding" panose="020B0609020101020101" pitchFamily="49" charset="-127"/>
              </a:rPr>
              <a:t>for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in inputs:</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is a vector of shape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 Combines the input with the current state (the previous output)</a:t>
            </a:r>
            <a:r>
              <a:rPr lang="en-US" altLang="ko-KR" sz="1600" dirty="0">
                <a:latin typeface="D2Coding" panose="020B0609020101020101" pitchFamily="49" charset="-127"/>
                <a:ea typeface="D2Coding" panose="020B0609020101020101" pitchFamily="49" charset="-127"/>
              </a:rPr>
              <a:t> to obtain the current output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np.tanh</a:t>
            </a:r>
            <a:r>
              <a:rPr lang="en-US" altLang="ko-KR" sz="1600" b="0" dirty="0">
                <a:effectLst/>
                <a:latin typeface="D2Coding" panose="020B0609020101020101" pitchFamily="49" charset="-127"/>
                <a:ea typeface="D2Coding" panose="020B0609020101020101" pitchFamily="49" charset="-127"/>
              </a:rPr>
              <a:t>(np.dot(W,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 np.dot(U,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b)</a:t>
            </a:r>
          </a:p>
          <a:p>
            <a:pPr>
              <a:lnSpc>
                <a:spcPts val="1575"/>
              </a:lnSpc>
              <a:buNone/>
            </a:pPr>
            <a:r>
              <a:rPr lang="en-US" altLang="ko-KR" sz="1600" b="0" dirty="0">
                <a:effectLst/>
                <a:latin typeface="D2Coding" panose="020B0609020101020101" pitchFamily="49" charset="-127"/>
                <a:ea typeface="D2Coding" panose="020B0609020101020101" pitchFamily="49" charset="-127"/>
              </a:rPr>
              <a:t>    # Stores this output in a list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successive_outputs.append</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 Updates the state of the network for the next timestep</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output_t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The final output is a rank-2 tensor of shape (</a:t>
            </a:r>
            <a:r>
              <a:rPr lang="en-US" altLang="ko-KR" sz="1600" b="0" dirty="0" err="1">
                <a:effectLst/>
                <a:latin typeface="D2Coding" panose="020B0609020101020101" pitchFamily="49" charset="-127"/>
                <a:ea typeface="D2Coding" panose="020B0609020101020101" pitchFamily="49" charset="-127"/>
              </a:rPr>
              <a:t>timesteps,output_features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err="1">
                <a:effectLst/>
                <a:latin typeface="D2Coding" panose="020B0609020101020101" pitchFamily="49" charset="-127"/>
                <a:ea typeface="D2Coding" panose="020B0609020101020101" pitchFamily="49" charset="-127"/>
              </a:rPr>
              <a:t>final_output_sequence</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np.concatenate</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axis=0)</a:t>
            </a:r>
          </a:p>
        </p:txBody>
      </p:sp>
      <p:sp>
        <p:nvSpPr>
          <p:cNvPr id="6" name="슬라이드 번호 개체 틀 3">
            <a:extLst>
              <a:ext uri="{FF2B5EF4-FFF2-40B4-BE49-F238E27FC236}">
                <a16:creationId xmlns:a16="http://schemas.microsoft.com/office/drawing/2014/main" id="{23048E67-F011-CBB7-B63C-FBE7DAF9DAE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24E7D417-5C19-C46D-6350-FB138803EF2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922661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BB4EA-9E1A-840E-9F4A-364A43BD03D1}"/>
            </a:ext>
          </a:extLst>
        </p:cNvPr>
        <p:cNvGrpSpPr/>
        <p:nvPr/>
      </p:nvGrpSpPr>
      <p:grpSpPr>
        <a:xfrm>
          <a:off x="0" y="0"/>
          <a:ext cx="0" cy="0"/>
          <a:chOff x="0" y="0"/>
          <a:chExt cx="0" cy="0"/>
        </a:xfrm>
      </p:grpSpPr>
      <p:pic>
        <p:nvPicPr>
          <p:cNvPr id="39" name="그림 38">
            <a:extLst>
              <a:ext uri="{FF2B5EF4-FFF2-40B4-BE49-F238E27FC236}">
                <a16:creationId xmlns:a16="http://schemas.microsoft.com/office/drawing/2014/main" id="{CE16B647-9DE7-7A03-1DF2-E9C71558EE2C}"/>
              </a:ext>
            </a:extLst>
          </p:cNvPr>
          <p:cNvPicPr>
            <a:picLocks noChangeAspect="1"/>
          </p:cNvPicPr>
          <p:nvPr/>
        </p:nvPicPr>
        <p:blipFill>
          <a:blip r:embed="rId2"/>
          <a:stretch>
            <a:fillRect/>
          </a:stretch>
        </p:blipFill>
        <p:spPr>
          <a:xfrm>
            <a:off x="8053138" y="3914213"/>
            <a:ext cx="3685600" cy="2643519"/>
          </a:xfrm>
          <a:prstGeom prst="rect">
            <a:avLst/>
          </a:prstGeom>
          <a:ln>
            <a:solidFill>
              <a:schemeClr val="tx1"/>
            </a:solidFill>
          </a:ln>
        </p:spPr>
      </p:pic>
      <p:sp>
        <p:nvSpPr>
          <p:cNvPr id="3" name="제목 1">
            <a:extLst>
              <a:ext uri="{FF2B5EF4-FFF2-40B4-BE49-F238E27FC236}">
                <a16:creationId xmlns:a16="http://schemas.microsoft.com/office/drawing/2014/main" id="{4B6A8EBE-326C-2448-5CBD-6C5A165372C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3C7947F2-55FF-E1D2-4F04-504BA20F0095}"/>
              </a:ext>
            </a:extLst>
          </p:cNvPr>
          <p:cNvPicPr>
            <a:picLocks noChangeAspect="1"/>
          </p:cNvPicPr>
          <p:nvPr/>
        </p:nvPicPr>
        <p:blipFill>
          <a:blip r:embed="rId3"/>
          <a:stretch>
            <a:fillRect/>
          </a:stretch>
        </p:blipFill>
        <p:spPr>
          <a:xfrm>
            <a:off x="2357084" y="3607168"/>
            <a:ext cx="5450296" cy="2912464"/>
          </a:xfrm>
          <a:prstGeom prst="rect">
            <a:avLst/>
          </a:prstGeom>
          <a:ln>
            <a:solidFill>
              <a:schemeClr val="tx1"/>
            </a:solidFill>
          </a:ln>
        </p:spPr>
      </p:pic>
      <p:sp>
        <p:nvSpPr>
          <p:cNvPr id="6" name="직사각형 5">
            <a:extLst>
              <a:ext uri="{FF2B5EF4-FFF2-40B4-BE49-F238E27FC236}">
                <a16:creationId xmlns:a16="http://schemas.microsoft.com/office/drawing/2014/main" id="{2A2B9C36-B64D-46EA-E19A-22CDA0A585BB}"/>
              </a:ext>
            </a:extLst>
          </p:cNvPr>
          <p:cNvSpPr/>
          <p:nvPr/>
        </p:nvSpPr>
        <p:spPr>
          <a:xfrm>
            <a:off x="577284" y="169545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7" name="직사각형 6">
            <a:extLst>
              <a:ext uri="{FF2B5EF4-FFF2-40B4-BE49-F238E27FC236}">
                <a16:creationId xmlns:a16="http://schemas.microsoft.com/office/drawing/2014/main" id="{414D6970-2455-BC6D-537D-0D0B8BC67C9D}"/>
              </a:ext>
            </a:extLst>
          </p:cNvPr>
          <p:cNvSpPr/>
          <p:nvPr/>
        </p:nvSpPr>
        <p:spPr>
          <a:xfrm>
            <a:off x="577284" y="196929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8" name="직사각형 7">
            <a:extLst>
              <a:ext uri="{FF2B5EF4-FFF2-40B4-BE49-F238E27FC236}">
                <a16:creationId xmlns:a16="http://schemas.microsoft.com/office/drawing/2014/main" id="{99C8ED44-7442-1B59-9685-EFCF8D81F67E}"/>
              </a:ext>
            </a:extLst>
          </p:cNvPr>
          <p:cNvSpPr/>
          <p:nvPr/>
        </p:nvSpPr>
        <p:spPr>
          <a:xfrm>
            <a:off x="577284" y="2243138"/>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9" name="직사각형 8">
            <a:extLst>
              <a:ext uri="{FF2B5EF4-FFF2-40B4-BE49-F238E27FC236}">
                <a16:creationId xmlns:a16="http://schemas.microsoft.com/office/drawing/2014/main" id="{C280D36F-309D-1D16-A1FD-E0F3623017DF}"/>
              </a:ext>
            </a:extLst>
          </p:cNvPr>
          <p:cNvSpPr/>
          <p:nvPr/>
        </p:nvSpPr>
        <p:spPr>
          <a:xfrm>
            <a:off x="577284" y="2516982"/>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 name="직사각형 9">
            <a:extLst>
              <a:ext uri="{FF2B5EF4-FFF2-40B4-BE49-F238E27FC236}">
                <a16:creationId xmlns:a16="http://schemas.microsoft.com/office/drawing/2014/main" id="{89208AB8-6200-735B-89C0-4BBD2D80FD8E}"/>
              </a:ext>
            </a:extLst>
          </p:cNvPr>
          <p:cNvSpPr/>
          <p:nvPr/>
        </p:nvSpPr>
        <p:spPr>
          <a:xfrm>
            <a:off x="577284" y="278368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 name="직사각형 10">
            <a:extLst>
              <a:ext uri="{FF2B5EF4-FFF2-40B4-BE49-F238E27FC236}">
                <a16:creationId xmlns:a16="http://schemas.microsoft.com/office/drawing/2014/main" id="{5DCE16FF-37D3-A837-2373-B0ADC2D16761}"/>
              </a:ext>
            </a:extLst>
          </p:cNvPr>
          <p:cNvSpPr/>
          <p:nvPr/>
        </p:nvSpPr>
        <p:spPr>
          <a:xfrm>
            <a:off x="577284" y="373380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 name="직사각형 11">
            <a:extLst>
              <a:ext uri="{FF2B5EF4-FFF2-40B4-BE49-F238E27FC236}">
                <a16:creationId xmlns:a16="http://schemas.microsoft.com/office/drawing/2014/main" id="{6B5BED51-3EAA-D4C3-2327-BA6981EC6EFC}"/>
              </a:ext>
            </a:extLst>
          </p:cNvPr>
          <p:cNvSpPr/>
          <p:nvPr/>
        </p:nvSpPr>
        <p:spPr>
          <a:xfrm>
            <a:off x="577284" y="4010025"/>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 name="오른쪽 중괄호 12">
            <a:extLst>
              <a:ext uri="{FF2B5EF4-FFF2-40B4-BE49-F238E27FC236}">
                <a16:creationId xmlns:a16="http://schemas.microsoft.com/office/drawing/2014/main" id="{E8DDE740-0CAA-B3AF-DF08-B956608717C4}"/>
              </a:ext>
            </a:extLst>
          </p:cNvPr>
          <p:cNvSpPr/>
          <p:nvPr/>
        </p:nvSpPr>
        <p:spPr>
          <a:xfrm>
            <a:off x="1644586" y="1758521"/>
            <a:ext cx="247650" cy="2495550"/>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4" name="오른쪽 중괄호 13">
            <a:extLst>
              <a:ext uri="{FF2B5EF4-FFF2-40B4-BE49-F238E27FC236}">
                <a16:creationId xmlns:a16="http://schemas.microsoft.com/office/drawing/2014/main" id="{DF1CFA84-20F4-53EA-721D-8B1E76E4A051}"/>
              </a:ext>
            </a:extLst>
          </p:cNvPr>
          <p:cNvSpPr/>
          <p:nvPr/>
        </p:nvSpPr>
        <p:spPr>
          <a:xfrm rot="5400000">
            <a:off x="952741" y="3967943"/>
            <a:ext cx="152937" cy="799079"/>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6" name="TextBox 15">
            <a:extLst>
              <a:ext uri="{FF2B5EF4-FFF2-40B4-BE49-F238E27FC236}">
                <a16:creationId xmlns:a16="http://schemas.microsoft.com/office/drawing/2014/main" id="{687ECA0D-E714-2E6D-7C83-70C48B1BE723}"/>
              </a:ext>
            </a:extLst>
          </p:cNvPr>
          <p:cNvSpPr txBox="1"/>
          <p:nvPr/>
        </p:nvSpPr>
        <p:spPr>
          <a:xfrm>
            <a:off x="1892236" y="2561174"/>
            <a:ext cx="533400" cy="338554"/>
          </a:xfrm>
          <a:prstGeom prst="rect">
            <a:avLst/>
          </a:prstGeom>
          <a:noFill/>
        </p:spPr>
        <p:txBody>
          <a:bodyPr wrap="square">
            <a:spAutoFit/>
          </a:bodyPr>
          <a:lstStyle/>
          <a:p>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100</a:t>
            </a:r>
            <a:endParaRPr lang="ko-KR" altLang="en-US" sz="1600" dirty="0"/>
          </a:p>
        </p:txBody>
      </p:sp>
      <p:sp>
        <p:nvSpPr>
          <p:cNvPr id="17" name="TextBox 16">
            <a:extLst>
              <a:ext uri="{FF2B5EF4-FFF2-40B4-BE49-F238E27FC236}">
                <a16:creationId xmlns:a16="http://schemas.microsoft.com/office/drawing/2014/main" id="{156D8A51-A48E-9049-9466-C692BF0111C3}"/>
              </a:ext>
            </a:extLst>
          </p:cNvPr>
          <p:cNvSpPr txBox="1"/>
          <p:nvPr/>
        </p:nvSpPr>
        <p:spPr>
          <a:xfrm>
            <a:off x="383380" y="4524375"/>
            <a:ext cx="1291658" cy="584775"/>
          </a:xfrm>
          <a:prstGeom prst="rect">
            <a:avLst/>
          </a:prstGeom>
          <a:noFill/>
        </p:spPr>
        <p:txBody>
          <a:bodyPr wrap="square">
            <a:spAutoFit/>
          </a:bodyPr>
          <a:lstStyle/>
          <a:p>
            <a:pPr algn="ct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32</a:t>
            </a:r>
          </a:p>
          <a:p>
            <a:pPr algn="ctr"/>
            <a:r>
              <a:rPr lang="en-US" altLang="ko-KR" sz="1600" dirty="0"/>
              <a:t>features</a:t>
            </a:r>
            <a:endParaRPr lang="ko-KR" altLang="en-US" sz="1600" dirty="0"/>
          </a:p>
        </p:txBody>
      </p:sp>
      <p:sp>
        <p:nvSpPr>
          <p:cNvPr id="18" name="직사각형 17">
            <a:extLst>
              <a:ext uri="{FF2B5EF4-FFF2-40B4-BE49-F238E27FC236}">
                <a16:creationId xmlns:a16="http://schemas.microsoft.com/office/drawing/2014/main" id="{22EF34F0-D5E4-0F08-1CF9-3081A30C12FE}"/>
              </a:ext>
            </a:extLst>
          </p:cNvPr>
          <p:cNvSpPr/>
          <p:nvPr/>
        </p:nvSpPr>
        <p:spPr>
          <a:xfrm>
            <a:off x="6460216" y="1758521"/>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E1F2609B-324D-BD10-B68B-EDE80750DDFC}"/>
              </a:ext>
            </a:extLst>
          </p:cNvPr>
          <p:cNvSpPr/>
          <p:nvPr/>
        </p:nvSpPr>
        <p:spPr>
          <a:xfrm>
            <a:off x="9062824" y="1778481"/>
            <a:ext cx="1281800" cy="203985"/>
          </a:xfrm>
          <a:prstGeom prst="rect">
            <a:avLst/>
          </a:prstGeom>
          <a:solidFill>
            <a:schemeClr val="accent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bg1"/>
                </a:solidFill>
                <a:latin typeface="D2Coding" panose="020B0609020101020101" pitchFamily="49" charset="-127"/>
                <a:ea typeface="D2Coding" panose="020B0609020101020101" pitchFamily="49" charset="-127"/>
              </a:rPr>
              <a:t>(64,)</a:t>
            </a:r>
            <a:endParaRPr lang="ko-KR" altLang="en-US" sz="1400" dirty="0">
              <a:solidFill>
                <a:schemeClr val="bg1"/>
              </a:solidFill>
              <a:latin typeface="D2Coding" panose="020B0609020101020101" pitchFamily="49" charset="-127"/>
              <a:ea typeface="D2Coding" panose="020B0609020101020101" pitchFamily="49" charset="-127"/>
            </a:endParaRPr>
          </a:p>
        </p:txBody>
      </p:sp>
      <p:sp>
        <p:nvSpPr>
          <p:cNvPr id="23" name="TextBox 22">
            <a:extLst>
              <a:ext uri="{FF2B5EF4-FFF2-40B4-BE49-F238E27FC236}">
                <a16:creationId xmlns:a16="http://schemas.microsoft.com/office/drawing/2014/main" id="{083296EE-6739-836D-9B42-679193FDC117}"/>
              </a:ext>
            </a:extLst>
          </p:cNvPr>
          <p:cNvSpPr txBox="1"/>
          <p:nvPr/>
        </p:nvSpPr>
        <p:spPr>
          <a:xfrm>
            <a:off x="2886574" y="1396849"/>
            <a:ext cx="8619625" cy="307585"/>
          </a:xfrm>
          <a:prstGeom prst="rect">
            <a:avLst/>
          </a:prstGeom>
          <a:solidFill>
            <a:schemeClr val="bg1">
              <a:lumMod val="95000"/>
            </a:schemeClr>
          </a:solidFill>
        </p:spPr>
        <p:txBody>
          <a:bodyPr wrap="square">
            <a:spAutoFit/>
          </a:bodyPr>
          <a:lstStyle/>
          <a:p>
            <a:pPr>
              <a:lnSpc>
                <a:spcPts val="1575"/>
              </a:lnSpc>
              <a:buNone/>
            </a:pPr>
            <a:r>
              <a:rPr lang="en-US" altLang="ko-KR" sz="1800" b="0" dirty="0" err="1">
                <a:effectLst/>
                <a:latin typeface="D2Coding" panose="020B0609020101020101" pitchFamily="49" charset="-127"/>
                <a:ea typeface="D2Coding" panose="020B0609020101020101" pitchFamily="49" charset="-127"/>
              </a:rPr>
              <a:t>output_t</a:t>
            </a:r>
            <a:r>
              <a:rPr lang="en-US" altLang="ko-KR" sz="1800" b="0" dirty="0">
                <a:effectLst/>
                <a:latin typeface="D2Coding" panose="020B0609020101020101" pitchFamily="49" charset="-127"/>
                <a:ea typeface="D2Coding" panose="020B0609020101020101" pitchFamily="49" charset="-127"/>
              </a:rPr>
              <a:t> = </a:t>
            </a:r>
            <a:r>
              <a:rPr lang="en-US" altLang="ko-KR" sz="1800" b="0" dirty="0" err="1">
                <a:effectLst/>
                <a:latin typeface="D2Coding" panose="020B0609020101020101" pitchFamily="49" charset="-127"/>
                <a:ea typeface="D2Coding" panose="020B0609020101020101" pitchFamily="49" charset="-127"/>
              </a:rPr>
              <a:t>np.tanh</a:t>
            </a:r>
            <a:r>
              <a:rPr lang="en-US" altLang="ko-KR" sz="1800" b="0" dirty="0">
                <a:effectLst/>
                <a:latin typeface="D2Coding" panose="020B0609020101020101" pitchFamily="49" charset="-127"/>
                <a:ea typeface="D2Coding" panose="020B0609020101020101" pitchFamily="49" charset="-127"/>
              </a:rPr>
              <a:t>(np.dot(</a:t>
            </a:r>
            <a:r>
              <a:rPr lang="en-US" altLang="ko-KR" sz="1800" b="1" dirty="0">
                <a:solidFill>
                  <a:srgbClr val="FF0000"/>
                </a:solidFill>
                <a:effectLst/>
                <a:latin typeface="D2Coding" panose="020B0609020101020101" pitchFamily="49" charset="-127"/>
                <a:ea typeface="D2Coding" panose="020B0609020101020101" pitchFamily="49" charset="-127"/>
              </a:rPr>
              <a:t>W</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6"/>
                </a:solidFill>
                <a:effectLst/>
                <a:latin typeface="D2Coding" panose="020B0609020101020101" pitchFamily="49" charset="-127"/>
                <a:ea typeface="D2Coding" panose="020B0609020101020101" pitchFamily="49" charset="-127"/>
              </a:rPr>
              <a:t>input_t</a:t>
            </a:r>
            <a:r>
              <a:rPr lang="en-US" altLang="ko-KR" sz="1800" b="0" dirty="0">
                <a:effectLst/>
                <a:latin typeface="D2Coding" panose="020B0609020101020101" pitchFamily="49" charset="-127"/>
                <a:ea typeface="D2Coding" panose="020B0609020101020101" pitchFamily="49" charset="-127"/>
              </a:rPr>
              <a:t>) + np.dot(</a:t>
            </a:r>
            <a:r>
              <a:rPr lang="en-US" altLang="ko-KR" sz="1800" b="1" dirty="0">
                <a:solidFill>
                  <a:schemeClr val="accent4"/>
                </a:solidFill>
                <a:effectLst/>
                <a:latin typeface="D2Coding" panose="020B0609020101020101" pitchFamily="49" charset="-127"/>
                <a:ea typeface="D2Coding" panose="020B0609020101020101" pitchFamily="49" charset="-127"/>
              </a:rPr>
              <a:t>U</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5"/>
                </a:solidFill>
                <a:effectLst/>
                <a:latin typeface="D2Coding" panose="020B0609020101020101" pitchFamily="49" charset="-127"/>
                <a:ea typeface="D2Coding" panose="020B0609020101020101" pitchFamily="49" charset="-127"/>
              </a:rPr>
              <a:t>state_t</a:t>
            </a:r>
            <a:r>
              <a:rPr lang="en-US" altLang="ko-KR" sz="1800" b="0" dirty="0">
                <a:effectLst/>
                <a:latin typeface="D2Coding" panose="020B0609020101020101" pitchFamily="49" charset="-127"/>
                <a:ea typeface="D2Coding" panose="020B0609020101020101" pitchFamily="49" charset="-127"/>
              </a:rPr>
              <a:t>) +     </a:t>
            </a:r>
            <a:r>
              <a:rPr lang="en-US" altLang="ko-KR" sz="1800" b="1" dirty="0">
                <a:effectLst/>
                <a:latin typeface="D2Coding" panose="020B0609020101020101" pitchFamily="49" charset="-127"/>
                <a:ea typeface="D2Coding" panose="020B0609020101020101" pitchFamily="49" charset="-127"/>
              </a:rPr>
              <a:t>b</a:t>
            </a:r>
            <a:r>
              <a:rPr lang="en-US" altLang="ko-KR" sz="1800" b="0" dirty="0">
                <a:effectLst/>
                <a:latin typeface="D2Coding" panose="020B0609020101020101" pitchFamily="49" charset="-127"/>
                <a:ea typeface="D2Coding" panose="020B0609020101020101" pitchFamily="49" charset="-127"/>
              </a:rPr>
              <a:t>)</a:t>
            </a:r>
          </a:p>
        </p:txBody>
      </p:sp>
      <p:sp>
        <p:nvSpPr>
          <p:cNvPr id="24" name="직사각형 23">
            <a:extLst>
              <a:ext uri="{FF2B5EF4-FFF2-40B4-BE49-F238E27FC236}">
                <a16:creationId xmlns:a16="http://schemas.microsoft.com/office/drawing/2014/main" id="{A9AACF48-10BD-4317-146D-9FD2B6EBFF96}"/>
              </a:ext>
            </a:extLst>
          </p:cNvPr>
          <p:cNvSpPr/>
          <p:nvPr/>
        </p:nvSpPr>
        <p:spPr>
          <a:xfrm>
            <a:off x="7807380" y="1758522"/>
            <a:ext cx="1281798" cy="1281800"/>
          </a:xfrm>
          <a:prstGeom prst="rect">
            <a:avLst/>
          </a:prstGeom>
          <a:solidFill>
            <a:schemeClr val="accent4"/>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(64,64)</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5" name="직사각형 24">
            <a:extLst>
              <a:ext uri="{FF2B5EF4-FFF2-40B4-BE49-F238E27FC236}">
                <a16:creationId xmlns:a16="http://schemas.microsoft.com/office/drawing/2014/main" id="{340C8FCB-B5F7-33F3-13EC-DE023299D086}"/>
              </a:ext>
            </a:extLst>
          </p:cNvPr>
          <p:cNvSpPr/>
          <p:nvPr/>
        </p:nvSpPr>
        <p:spPr>
          <a:xfrm>
            <a:off x="10521587" y="1758521"/>
            <a:ext cx="1281800" cy="203985"/>
          </a:xfrm>
          <a:prstGeom prst="rect">
            <a:avLst/>
          </a:prstGeom>
          <a:solidFill>
            <a:schemeClr val="tx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latin typeface="D2Coding" panose="020B0609020101020101" pitchFamily="49" charset="-127"/>
                <a:ea typeface="D2Coding" panose="020B0609020101020101" pitchFamily="49" charset="-127"/>
              </a:rPr>
              <a:t>(64,)</a:t>
            </a:r>
            <a:endParaRPr lang="ko-KR" altLang="en-US" sz="1400" dirty="0">
              <a:latin typeface="D2Coding" panose="020B0609020101020101" pitchFamily="49" charset="-127"/>
              <a:ea typeface="D2Coding" panose="020B0609020101020101" pitchFamily="49" charset="-127"/>
            </a:endParaRPr>
          </a:p>
        </p:txBody>
      </p:sp>
      <p:pic>
        <p:nvPicPr>
          <p:cNvPr id="40" name="그림 39">
            <a:extLst>
              <a:ext uri="{FF2B5EF4-FFF2-40B4-BE49-F238E27FC236}">
                <a16:creationId xmlns:a16="http://schemas.microsoft.com/office/drawing/2014/main" id="{FB09BCB3-581C-4181-5FB8-37B6F1F54A7F}"/>
              </a:ext>
            </a:extLst>
          </p:cNvPr>
          <p:cNvPicPr>
            <a:picLocks noChangeAspect="1"/>
          </p:cNvPicPr>
          <p:nvPr/>
        </p:nvPicPr>
        <p:blipFill>
          <a:blip r:embed="rId4"/>
          <a:stretch>
            <a:fillRect/>
          </a:stretch>
        </p:blipFill>
        <p:spPr>
          <a:xfrm>
            <a:off x="8044130" y="3604245"/>
            <a:ext cx="3681145" cy="304648"/>
          </a:xfrm>
          <a:prstGeom prst="rect">
            <a:avLst/>
          </a:prstGeom>
          <a:ln w="12700">
            <a:solidFill>
              <a:schemeClr val="tx1"/>
            </a:solidFill>
          </a:ln>
        </p:spPr>
      </p:pic>
      <p:sp>
        <p:nvSpPr>
          <p:cNvPr id="44" name="TextBox 43">
            <a:extLst>
              <a:ext uri="{FF2B5EF4-FFF2-40B4-BE49-F238E27FC236}">
                <a16:creationId xmlns:a16="http://schemas.microsoft.com/office/drawing/2014/main" id="{163177FC-A382-77DE-791A-B40E701EF883}"/>
              </a:ext>
            </a:extLst>
          </p:cNvPr>
          <p:cNvSpPr txBox="1"/>
          <p:nvPr/>
        </p:nvSpPr>
        <p:spPr>
          <a:xfrm>
            <a:off x="1644586" y="3204527"/>
            <a:ext cx="1285875" cy="338554"/>
          </a:xfrm>
          <a:prstGeom prst="rect">
            <a:avLst/>
          </a:prstGeom>
          <a:noFill/>
        </p:spPr>
        <p:txBody>
          <a:bodyPr wrap="square">
            <a:spAutoFit/>
          </a:bodyPr>
          <a:lstStyle/>
          <a:p>
            <a:pPr algn="ctr"/>
            <a:r>
              <a:rPr lang="en-US" altLang="ko-KR" sz="1600" dirty="0"/>
              <a:t>Time steps</a:t>
            </a:r>
            <a:endParaRPr lang="ko-KR" altLang="en-US" sz="1600" dirty="0"/>
          </a:p>
        </p:txBody>
      </p:sp>
      <p:sp>
        <p:nvSpPr>
          <p:cNvPr id="45" name="TextBox 44">
            <a:extLst>
              <a:ext uri="{FF2B5EF4-FFF2-40B4-BE49-F238E27FC236}">
                <a16:creationId xmlns:a16="http://schemas.microsoft.com/office/drawing/2014/main" id="{0A53435A-805B-EAA4-6A26-8B02D71BF322}"/>
              </a:ext>
            </a:extLst>
          </p:cNvPr>
          <p:cNvSpPr txBox="1"/>
          <p:nvPr/>
        </p:nvSpPr>
        <p:spPr>
          <a:xfrm>
            <a:off x="524896" y="1394606"/>
            <a:ext cx="1162050"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a:t>
            </a:r>
            <a:r>
              <a:rPr lang="en-US" altLang="ko-KR" sz="1600" b="0" dirty="0">
                <a:effectLst/>
                <a:latin typeface="D2Coding" panose="020B0609020101020101" pitchFamily="49" charset="-127"/>
                <a:ea typeface="D2Coding" panose="020B0609020101020101" pitchFamily="49" charset="-127"/>
              </a:rPr>
              <a:t>put</a:t>
            </a:r>
            <a:r>
              <a:rPr lang="en-US" altLang="ko-KR" sz="1600" dirty="0">
                <a:latin typeface="D2Coding" panose="020B0609020101020101" pitchFamily="49" charset="-127"/>
                <a:ea typeface="D2Coding" panose="020B0609020101020101" pitchFamily="49" charset="-127"/>
              </a:rPr>
              <a:t>s</a:t>
            </a:r>
            <a:endParaRPr lang="ko-KR" altLang="en-US" sz="1600" dirty="0"/>
          </a:p>
        </p:txBody>
      </p:sp>
      <p:cxnSp>
        <p:nvCxnSpPr>
          <p:cNvPr id="48" name="연결선: 구부러짐 47">
            <a:extLst>
              <a:ext uri="{FF2B5EF4-FFF2-40B4-BE49-F238E27FC236}">
                <a16:creationId xmlns:a16="http://schemas.microsoft.com/office/drawing/2014/main" id="{7BB50E53-507D-5F76-ADF4-EB41671D0DDB}"/>
              </a:ext>
            </a:extLst>
          </p:cNvPr>
          <p:cNvCxnSpPr>
            <a:cxnSpLocks/>
            <a:endCxn id="18" idx="2"/>
          </p:cNvCxnSpPr>
          <p:nvPr/>
        </p:nvCxnSpPr>
        <p:spPr>
          <a:xfrm flipV="1">
            <a:off x="1686946" y="1955862"/>
            <a:ext cx="5219115" cy="1105892"/>
          </a:xfrm>
          <a:prstGeom prst="curved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8F5C11E0-44AF-DE9C-417E-2A797A156B72}"/>
              </a:ext>
            </a:extLst>
          </p:cNvPr>
          <p:cNvSpPr txBox="1"/>
          <p:nvPr/>
        </p:nvSpPr>
        <p:spPr>
          <a:xfrm>
            <a:off x="2523746" y="2664653"/>
            <a:ext cx="2009314" cy="338554"/>
          </a:xfrm>
          <a:prstGeom prst="rect">
            <a:avLst/>
          </a:prstGeom>
          <a:noFill/>
        </p:spPr>
        <p:txBody>
          <a:bodyPr wrap="square">
            <a:spAutoFit/>
          </a:bodyPr>
          <a:lstStyle/>
          <a:p>
            <a:r>
              <a:rPr lang="en-US" altLang="ko-KR" sz="1600" b="0" dirty="0">
                <a:effectLst/>
                <a:latin typeface="D2Coding" panose="020B0609020101020101" pitchFamily="49" charset="-127"/>
                <a:ea typeface="D2Coding" panose="020B0609020101020101" pitchFamily="49" charset="-127"/>
              </a:rPr>
              <a:t>for ~ in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inputs</a:t>
            </a:r>
            <a:r>
              <a:rPr lang="en-US" altLang="ko-KR" sz="1600" b="0" dirty="0">
                <a:effectLst/>
                <a:latin typeface="D2Coding" panose="020B0609020101020101" pitchFamily="49" charset="-127"/>
                <a:ea typeface="D2Coding" panose="020B0609020101020101" pitchFamily="49" charset="-127"/>
              </a:rPr>
              <a:t>:</a:t>
            </a:r>
            <a:endParaRPr lang="ko-KR" altLang="en-US" sz="1600" dirty="0"/>
          </a:p>
        </p:txBody>
      </p:sp>
      <p:sp>
        <p:nvSpPr>
          <p:cNvPr id="53" name="슬라이드 번호 개체 틀 3">
            <a:extLst>
              <a:ext uri="{FF2B5EF4-FFF2-40B4-BE49-F238E27FC236}">
                <a16:creationId xmlns:a16="http://schemas.microsoft.com/office/drawing/2014/main" id="{3DF1FCA6-E10B-F510-4161-3D74490E507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BDDC3496-0FCB-7588-EF79-2BA20F50EE57}"/>
              </a:ext>
            </a:extLst>
          </p:cNvPr>
          <p:cNvSpPr>
            <a:spLocks noChangeArrowheads="1"/>
          </p:cNvSpPr>
          <p:nvPr/>
        </p:nvSpPr>
        <p:spPr bwMode="auto">
          <a:xfrm>
            <a:off x="8716789" y="5520428"/>
            <a:ext cx="1481976" cy="230832"/>
          </a:xfrm>
          <a:prstGeom prst="rect">
            <a:avLst/>
          </a:prstGeom>
          <a:solidFill>
            <a:schemeClr val="tx1"/>
          </a:solidFill>
          <a:ln>
            <a:noFill/>
          </a:ln>
          <a:effec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i="0" u="none" strike="noStrike" cap="none" normalizeH="0" baseline="0" dirty="0">
                <a:ln>
                  <a:noFill/>
                </a:ln>
                <a:solidFill>
                  <a:schemeClr val="bg1"/>
                </a:solidFill>
                <a:effectLst/>
                <a:latin typeface="D2Coding" panose="020B0609020101020101" pitchFamily="49" charset="-127"/>
                <a:ea typeface="D2Coding" panose="020B0609020101020101" pitchFamily="49" charset="-127"/>
              </a:rPr>
              <a:t>은닉 노드 수 : 64개</a:t>
            </a:r>
          </a:p>
        </p:txBody>
      </p:sp>
      <p:sp>
        <p:nvSpPr>
          <p:cNvPr id="19" name="직사각형 18">
            <a:extLst>
              <a:ext uri="{FF2B5EF4-FFF2-40B4-BE49-F238E27FC236}">
                <a16:creationId xmlns:a16="http://schemas.microsoft.com/office/drawing/2014/main" id="{18D4909B-5806-AD49-FB56-121ABED34D54}"/>
              </a:ext>
            </a:extLst>
          </p:cNvPr>
          <p:cNvSpPr/>
          <p:nvPr/>
        </p:nvSpPr>
        <p:spPr>
          <a:xfrm>
            <a:off x="5558897" y="1758522"/>
            <a:ext cx="891687" cy="1281800"/>
          </a:xfrm>
          <a:prstGeom prst="rect">
            <a:avLst/>
          </a:prstGeom>
          <a:solidFill>
            <a:schemeClr val="accent2"/>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15" name="직사각형 14">
            <a:extLst>
              <a:ext uri="{FF2B5EF4-FFF2-40B4-BE49-F238E27FC236}">
                <a16:creationId xmlns:a16="http://schemas.microsoft.com/office/drawing/2014/main" id="{B0924BB7-017E-5DE2-3F82-2304E9C0D0C1}"/>
              </a:ext>
            </a:extLst>
          </p:cNvPr>
          <p:cNvSpPr/>
          <p:nvPr/>
        </p:nvSpPr>
        <p:spPr>
          <a:xfrm>
            <a:off x="2930461" y="2959768"/>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8816941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7176-9626-B0D6-7B39-E46A879C58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C9A1671-A1FD-DD32-A884-EC500AD667C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8C4153DF-32CF-1ACC-195A-189A33D0AA6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52AFD81-7D5C-20B1-58E5-970AC729C6AD}"/>
              </a:ext>
            </a:extLst>
          </p:cNvPr>
          <p:cNvSpPr txBox="1"/>
          <p:nvPr/>
        </p:nvSpPr>
        <p:spPr>
          <a:xfrm>
            <a:off x="1832838" y="3111890"/>
            <a:ext cx="9139962"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np.dot(</a:t>
            </a:r>
            <a:r>
              <a:rPr lang="en-US" altLang="ko-KR" b="1" dirty="0">
                <a:solidFill>
                  <a:schemeClr val="accent4"/>
                </a:solidFill>
                <a:effectLst/>
                <a:latin typeface="D2Coding" panose="020B0609020101020101" pitchFamily="49" charset="-127"/>
                <a:ea typeface="D2Coding" panose="020B0609020101020101" pitchFamily="49" charset="-127"/>
              </a:rPr>
              <a:t>U</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5"/>
                </a:solidFill>
                <a:effectLst/>
                <a:latin typeface="D2Coding" panose="020B0609020101020101" pitchFamily="49" charset="-127"/>
                <a:ea typeface="D2Coding" panose="020B0609020101020101" pitchFamily="49" charset="-127"/>
              </a:rPr>
              <a:t>state_t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15" name="TextBox 14">
            <a:extLst>
              <a:ext uri="{FF2B5EF4-FFF2-40B4-BE49-F238E27FC236}">
                <a16:creationId xmlns:a16="http://schemas.microsoft.com/office/drawing/2014/main" id="{E1FF4AE3-5E09-B659-760E-E1FC0A6F06E2}"/>
              </a:ext>
            </a:extLst>
          </p:cNvPr>
          <p:cNvSpPr txBox="1"/>
          <p:nvPr/>
        </p:nvSpPr>
        <p:spPr>
          <a:xfrm>
            <a:off x="1832837" y="5735904"/>
            <a:ext cx="9139961"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22" name="TextBox 21">
            <a:extLst>
              <a:ext uri="{FF2B5EF4-FFF2-40B4-BE49-F238E27FC236}">
                <a16:creationId xmlns:a16="http://schemas.microsoft.com/office/drawing/2014/main" id="{C97BE825-998C-60CF-76C1-66B6A48FD88C}"/>
              </a:ext>
            </a:extLst>
          </p:cNvPr>
          <p:cNvSpPr txBox="1"/>
          <p:nvPr/>
        </p:nvSpPr>
        <p:spPr>
          <a:xfrm>
            <a:off x="1832838" y="3423994"/>
            <a:ext cx="9139962" cy="369332"/>
          </a:xfrm>
          <a:prstGeom prst="rect">
            <a:avLst/>
          </a:prstGeom>
          <a:solidFill>
            <a:srgbClr val="76E3FF"/>
          </a:solidFill>
        </p:spPr>
        <p:txBody>
          <a:bodyPr wrap="square">
            <a:spAutoFit/>
          </a:bodyPr>
          <a:lstStyle/>
          <a:p>
            <a:r>
              <a:rPr lang="en-US" altLang="ko-KR" dirty="0" err="1">
                <a:latin typeface="D2Coding" panose="020B0609020101020101" pitchFamily="49" charset="-127"/>
                <a:ea typeface="D2Coding" panose="020B0609020101020101" pitchFamily="49" charset="-127"/>
              </a:rPr>
              <a:t>SimpleRNN</a:t>
            </a:r>
            <a:r>
              <a:rPr lang="en-US" altLang="ko-KR" dirty="0">
                <a:effectLst/>
                <a:latin typeface="D2Coding" panose="020B0609020101020101" pitchFamily="49" charset="-127"/>
                <a:ea typeface="D2Coding" panose="020B0609020101020101" pitchFamily="49" charset="-127"/>
              </a:rPr>
              <a:t>(64,</a:t>
            </a:r>
            <a:r>
              <a:rPr lang="en-US" altLang="ko-KR" dirty="0">
                <a:latin typeface="D2Coding" panose="020B0609020101020101" pitchFamily="49" charset="-127"/>
                <a:ea typeface="D2Coding" panose="020B0609020101020101" pitchFamily="49" charset="-127"/>
              </a:rPr>
              <a:t> </a:t>
            </a:r>
            <a:r>
              <a:rPr lang="en-US" altLang="ko-KR" dirty="0" err="1">
                <a:effectLst/>
                <a:latin typeface="D2Coding" panose="020B0609020101020101" pitchFamily="49" charset="-127"/>
                <a:ea typeface="D2Coding" panose="020B0609020101020101" pitchFamily="49" charset="-127"/>
              </a:rPr>
              <a:t>input_shape</a:t>
            </a:r>
            <a:r>
              <a:rPr lang="en-US" altLang="ko-KR" dirty="0">
                <a:latin typeface="D2Coding" panose="020B0609020101020101" pitchFamily="49" charset="-127"/>
                <a:ea typeface="D2Coding" panose="020B0609020101020101" pitchFamily="49" charset="-127"/>
              </a:rPr>
              <a:t>=</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timesteps</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input_features</a:t>
            </a:r>
            <a:r>
              <a:rPr lang="en-US" altLang="ko-KR" dirty="0">
                <a:effectLst/>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26" name="TextBox 25">
            <a:extLst>
              <a:ext uri="{FF2B5EF4-FFF2-40B4-BE49-F238E27FC236}">
                <a16:creationId xmlns:a16="http://schemas.microsoft.com/office/drawing/2014/main" id="{B1CBB682-3151-0045-282E-00C6E5D4D11D}"/>
              </a:ext>
            </a:extLst>
          </p:cNvPr>
          <p:cNvSpPr txBox="1"/>
          <p:nvPr/>
        </p:nvSpPr>
        <p:spPr>
          <a:xfrm>
            <a:off x="609600" y="1219200"/>
            <a:ext cx="10972800" cy="793166"/>
          </a:xfrm>
          <a:prstGeom prst="rect">
            <a:avLst/>
          </a:prstGeom>
          <a:noFill/>
        </p:spPr>
        <p:txBody>
          <a:bodyPr wrap="square" rtlCol="0">
            <a:spAutoFit/>
          </a:bodyPr>
          <a:lstStyle/>
          <a:p>
            <a:pPr>
              <a:lnSpc>
                <a:spcPct val="150000"/>
              </a:lnSpc>
            </a:pP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의 은닉층의 노드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뉴런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의 개수는 </a:t>
            </a:r>
            <a:r>
              <a:rPr lang="en-US" altLang="ko-KR" sz="1600" dirty="0">
                <a:latin typeface="D2Coding" panose="020B0609020101020101" pitchFamily="49" charset="-127"/>
                <a:ea typeface="D2Coding" panose="020B0609020101020101" pitchFamily="49" charset="-127"/>
              </a:rPr>
              <a:t>64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output_features</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로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 32</a:t>
            </a:r>
            <a:r>
              <a:rPr lang="ko-KR" altLang="en-US" sz="1600" dirty="0">
                <a:latin typeface="D2Coding" panose="020B0609020101020101" pitchFamily="49" charset="-127"/>
                <a:ea typeface="D2Coding" panose="020B0609020101020101" pitchFamily="49" charset="-127"/>
              </a:rPr>
              <a:t>개 노드를 받아 </a:t>
            </a:r>
            <a:r>
              <a:rPr lang="en-US" altLang="ko-KR" sz="1600" dirty="0">
                <a:latin typeface="D2Coding" panose="020B0609020101020101" pitchFamily="49" charset="-127"/>
                <a:ea typeface="D2Coding" panose="020B0609020101020101" pitchFamily="49" charset="-127"/>
              </a:rPr>
              <a:t>timesteps 100</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a:t>
            </a:r>
            <a:r>
              <a:rPr lang="en-US" altLang="ko-KR" sz="1600" dirty="0">
                <a:latin typeface="D2Coding" panose="020B0609020101020101" pitchFamily="49" charset="-127"/>
                <a:ea typeface="D2Coding" panose="020B0609020101020101" pitchFamily="49" charset="-127"/>
              </a:rPr>
              <a:t>100</a:t>
            </a:r>
            <a:r>
              <a:rPr lang="ko-KR" altLang="en-US" sz="1600" dirty="0">
                <a:latin typeface="D2Coding" panose="020B0609020101020101" pitchFamily="49" charset="-127"/>
                <a:ea typeface="D2Coding" panose="020B0609020101020101" pitchFamily="49" charset="-127"/>
              </a:rPr>
              <a:t>일 동안 주가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과거의 </a:t>
            </a:r>
            <a:r>
              <a:rPr lang="en-US" altLang="ko-KR" sz="1600" dirty="0">
                <a:latin typeface="D2Coding" panose="020B0609020101020101" pitchFamily="49" charset="-127"/>
                <a:ea typeface="D2Coding" panose="020B0609020101020101" pitchFamily="49" charset="-127"/>
              </a:rPr>
              <a:t>state</a:t>
            </a:r>
            <a:r>
              <a:rPr lang="ko-KR" altLang="en-US" sz="1600" dirty="0">
                <a:latin typeface="D2Coding" panose="020B0609020101020101" pitchFamily="49" charset="-127"/>
                <a:ea typeface="D2Coding" panose="020B0609020101020101" pitchFamily="49" charset="-127"/>
              </a:rPr>
              <a:t>를 계속 </a:t>
            </a:r>
            <a:r>
              <a:rPr lang="en-US" altLang="ko-KR" sz="1600" dirty="0">
                <a:latin typeface="D2Coding" panose="020B0609020101020101" pitchFamily="49" charset="-127"/>
                <a:ea typeface="D2Coding" panose="020B0609020101020101" pitchFamily="49" charset="-127"/>
              </a:rPr>
              <a:t>memory</a:t>
            </a:r>
            <a:r>
              <a:rPr lang="ko-KR" altLang="en-US" sz="1600" dirty="0">
                <a:latin typeface="D2Coding" panose="020B0609020101020101" pitchFamily="49" charset="-127"/>
                <a:ea typeface="D2Coding" panose="020B0609020101020101" pitchFamily="49" charset="-127"/>
              </a:rPr>
              <a:t>하면서 인지하는 딥러닝 구조</a:t>
            </a:r>
          </a:p>
        </p:txBody>
      </p:sp>
      <p:sp>
        <p:nvSpPr>
          <p:cNvPr id="30" name="TextBox 29">
            <a:extLst>
              <a:ext uri="{FF2B5EF4-FFF2-40B4-BE49-F238E27FC236}">
                <a16:creationId xmlns:a16="http://schemas.microsoft.com/office/drawing/2014/main" id="{51296232-9DE3-1405-26D1-3C39EC6BA9C1}"/>
              </a:ext>
            </a:extLst>
          </p:cNvPr>
          <p:cNvSpPr txBox="1"/>
          <p:nvPr/>
        </p:nvSpPr>
        <p:spPr>
          <a:xfrm>
            <a:off x="904875" y="2680889"/>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RNN(Recurrent Neural Network)</a:t>
            </a:r>
            <a:endParaRPr lang="ko-KR" altLang="en-US" u="sng" dirty="0">
              <a:solidFill>
                <a:schemeClr val="bg1"/>
              </a:solidFill>
            </a:endParaRPr>
          </a:p>
        </p:txBody>
      </p:sp>
      <p:sp>
        <p:nvSpPr>
          <p:cNvPr id="31" name="TextBox 30">
            <a:extLst>
              <a:ext uri="{FF2B5EF4-FFF2-40B4-BE49-F238E27FC236}">
                <a16:creationId xmlns:a16="http://schemas.microsoft.com/office/drawing/2014/main" id="{15D39DC4-02EF-86C2-FADA-25AA3C9C56B2}"/>
              </a:ext>
            </a:extLst>
          </p:cNvPr>
          <p:cNvSpPr txBox="1"/>
          <p:nvPr/>
        </p:nvSpPr>
        <p:spPr>
          <a:xfrm>
            <a:off x="904875" y="5301468"/>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FCNN(Fully Connected Neural Network)</a:t>
            </a:r>
            <a:endParaRPr lang="ko-KR" altLang="en-US" u="sng" dirty="0">
              <a:solidFill>
                <a:schemeClr val="bg1"/>
              </a:solidFill>
            </a:endParaRPr>
          </a:p>
        </p:txBody>
      </p:sp>
      <p:sp>
        <p:nvSpPr>
          <p:cNvPr id="32" name="직사각형 31">
            <a:extLst>
              <a:ext uri="{FF2B5EF4-FFF2-40B4-BE49-F238E27FC236}">
                <a16:creationId xmlns:a16="http://schemas.microsoft.com/office/drawing/2014/main" id="{5AF53CCB-F968-3FEB-5CD4-AAB34BE7647C}"/>
              </a:ext>
            </a:extLst>
          </p:cNvPr>
          <p:cNvSpPr/>
          <p:nvPr/>
        </p:nvSpPr>
        <p:spPr>
          <a:xfrm>
            <a:off x="6896100" y="3028441"/>
            <a:ext cx="2476499" cy="42412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4" name="TextBox 33">
            <a:extLst>
              <a:ext uri="{FF2B5EF4-FFF2-40B4-BE49-F238E27FC236}">
                <a16:creationId xmlns:a16="http://schemas.microsoft.com/office/drawing/2014/main" id="{57AC9D47-B3D1-0BD0-CEFA-703C0F93D7DF}"/>
              </a:ext>
            </a:extLst>
          </p:cNvPr>
          <p:cNvSpPr txBox="1"/>
          <p:nvPr/>
        </p:nvSpPr>
        <p:spPr>
          <a:xfrm>
            <a:off x="7419974" y="4338933"/>
            <a:ext cx="4238626" cy="523220"/>
          </a:xfrm>
          <a:prstGeom prst="rect">
            <a:avLst/>
          </a:prstGeom>
          <a:noFill/>
          <a:ln w="28575">
            <a:noFill/>
          </a:ln>
        </p:spPr>
        <p:txBody>
          <a:bodyPr wrap="square">
            <a:spAutoFit/>
          </a:bodyPr>
          <a:lstStyle/>
          <a:p>
            <a:r>
              <a:rPr lang="en-US" altLang="ko-KR" sz="1400" b="0" dirty="0">
                <a:effectLst/>
                <a:latin typeface="D2Coding" panose="020B0609020101020101" pitchFamily="49" charset="-127"/>
                <a:ea typeface="D2Coding" panose="020B0609020101020101" pitchFamily="49" charset="-127"/>
              </a:rPr>
              <a:t>np.dot(</a:t>
            </a:r>
            <a:r>
              <a:rPr lang="en-US" altLang="ko-KR" sz="1400" b="1" dirty="0">
                <a:solidFill>
                  <a:schemeClr val="accent4"/>
                </a:solidFill>
                <a:effectLst/>
                <a:latin typeface="D2Coding" panose="020B0609020101020101" pitchFamily="49" charset="-127"/>
                <a:ea typeface="D2Coding" panose="020B0609020101020101" pitchFamily="49" charset="-127"/>
              </a:rPr>
              <a:t>U</a:t>
            </a:r>
            <a:r>
              <a:rPr lang="en-US" altLang="ko-KR" sz="1400" b="1" dirty="0">
                <a:effectLst/>
                <a:latin typeface="D2Coding" panose="020B0609020101020101" pitchFamily="49" charset="-127"/>
                <a:ea typeface="D2Coding" panose="020B0609020101020101" pitchFamily="49" charset="-127"/>
              </a:rPr>
              <a:t>, </a:t>
            </a:r>
            <a:r>
              <a:rPr lang="en-US" altLang="ko-KR" sz="1400" b="1" dirty="0" err="1">
                <a:solidFill>
                  <a:schemeClr val="accent5"/>
                </a:solidFill>
                <a:effectLst/>
                <a:latin typeface="D2Coding" panose="020B0609020101020101" pitchFamily="49" charset="-127"/>
                <a:ea typeface="D2Coding" panose="020B0609020101020101" pitchFamily="49" charset="-127"/>
              </a:rPr>
              <a:t>state_t</a:t>
            </a:r>
            <a:r>
              <a:rPr lang="en-US" altLang="ko-KR" sz="1400" b="0" dirty="0">
                <a:effectLst/>
                <a:latin typeface="D2Coding" panose="020B0609020101020101" pitchFamily="49" charset="-127"/>
                <a:ea typeface="D2Coding" panose="020B0609020101020101" pitchFamily="49" charset="-127"/>
              </a:rPr>
              <a:t>)</a:t>
            </a:r>
          </a:p>
          <a:p>
            <a:r>
              <a:rPr lang="ko-KR" altLang="en-US" sz="1400" dirty="0">
                <a:latin typeface="D2Coding" panose="020B0609020101020101" pitchFamily="49" charset="-127"/>
                <a:ea typeface="D2Coding" panose="020B0609020101020101" pitchFamily="49" charset="-127"/>
              </a:rPr>
              <a:t>과거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a:t>
            </a:r>
            <a:r>
              <a:rPr lang="en-US" altLang="ko-KR" sz="1400" dirty="0">
                <a:latin typeface="D2Coding" panose="020B0609020101020101" pitchFamily="49" charset="-127"/>
                <a:ea typeface="D2Coding" panose="020B0609020101020101" pitchFamily="49" charset="-127"/>
              </a:rPr>
              <a:t>state</a:t>
            </a:r>
            <a:r>
              <a:rPr lang="ko-KR" altLang="en-US" sz="1400" dirty="0">
                <a:latin typeface="D2Coding" panose="020B0609020101020101" pitchFamily="49" charset="-127"/>
                <a:ea typeface="D2Coding" panose="020B0609020101020101" pitchFamily="49" charset="-127"/>
              </a:rPr>
              <a:t>를 </a:t>
            </a:r>
            <a:r>
              <a:rPr lang="en-US" altLang="ko-KR" sz="1400" dirty="0">
                <a:latin typeface="D2Coding" panose="020B0609020101020101" pitchFamily="49" charset="-127"/>
                <a:ea typeface="D2Coding" panose="020B0609020101020101" pitchFamily="49" charset="-127"/>
              </a:rPr>
              <a:t>memory</a:t>
            </a:r>
            <a:r>
              <a:rPr lang="ko-KR" altLang="en-US" sz="1400" dirty="0">
                <a:latin typeface="D2Coding" panose="020B0609020101020101" pitchFamily="49" charset="-127"/>
                <a:ea typeface="D2Coding" panose="020B0609020101020101" pitchFamily="49" charset="-127"/>
              </a:rPr>
              <a:t>하는 수식 항</a:t>
            </a:r>
            <a:endParaRPr lang="ko-KR" altLang="en-US" sz="1400" dirty="0"/>
          </a:p>
        </p:txBody>
      </p:sp>
      <p:cxnSp>
        <p:nvCxnSpPr>
          <p:cNvPr id="38" name="연결선: 구부러짐 37">
            <a:extLst>
              <a:ext uri="{FF2B5EF4-FFF2-40B4-BE49-F238E27FC236}">
                <a16:creationId xmlns:a16="http://schemas.microsoft.com/office/drawing/2014/main" id="{CDEBF34E-A7FE-E9F7-D514-8A99080F76FF}"/>
              </a:ext>
            </a:extLst>
          </p:cNvPr>
          <p:cNvCxnSpPr>
            <a:cxnSpLocks/>
            <a:stCxn id="34" idx="1"/>
            <a:endCxn id="32" idx="2"/>
          </p:cNvCxnSpPr>
          <p:nvPr/>
        </p:nvCxnSpPr>
        <p:spPr>
          <a:xfrm rot="10800000" flipH="1">
            <a:off x="7419974" y="3452569"/>
            <a:ext cx="714376" cy="1147975"/>
          </a:xfrm>
          <a:prstGeom prst="curvedConnector4">
            <a:avLst>
              <a:gd name="adj1" fmla="val -32000"/>
              <a:gd name="adj2" fmla="val 61394"/>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54180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ED66-CDE2-43A5-941D-FD48240393F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2B5EED-CD79-4250-436C-05D7A10EB2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07670714-F4FD-78D4-1483-F5C0283E492C}"/>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03AFAC94-5936-F2E8-BA63-E5A0BA713285}"/>
              </a:ext>
            </a:extLst>
          </p:cNvPr>
          <p:cNvPicPr>
            <a:picLocks noChangeAspect="1"/>
          </p:cNvPicPr>
          <p:nvPr/>
        </p:nvPicPr>
        <p:blipFill>
          <a:blip r:embed="rId2"/>
          <a:stretch>
            <a:fillRect/>
          </a:stretch>
        </p:blipFill>
        <p:spPr>
          <a:xfrm>
            <a:off x="2053325" y="1795139"/>
            <a:ext cx="7675230" cy="4053211"/>
          </a:xfrm>
          <a:prstGeom prst="rect">
            <a:avLst/>
          </a:prstGeom>
          <a:ln>
            <a:solidFill>
              <a:schemeClr val="tx1"/>
            </a:solidFill>
          </a:ln>
        </p:spPr>
      </p:pic>
      <p:sp>
        <p:nvSpPr>
          <p:cNvPr id="6" name="TextBox 5">
            <a:extLst>
              <a:ext uri="{FF2B5EF4-FFF2-40B4-BE49-F238E27FC236}">
                <a16:creationId xmlns:a16="http://schemas.microsoft.com/office/drawing/2014/main" id="{DF2DCB4E-8036-5F8F-788D-405F90D49285}"/>
              </a:ext>
            </a:extLst>
          </p:cNvPr>
          <p:cNvSpPr txBox="1"/>
          <p:nvPr/>
        </p:nvSpPr>
        <p:spPr>
          <a:xfrm>
            <a:off x="2053325" y="5915126"/>
            <a:ext cx="6096000" cy="369332"/>
          </a:xfrm>
          <a:prstGeom prst="rect">
            <a:avLst/>
          </a:prstGeom>
          <a:noFill/>
        </p:spPr>
        <p:txBody>
          <a:bodyPr wrap="square">
            <a:spAutoFit/>
          </a:bodyPr>
          <a:lstStyle/>
          <a:p>
            <a:r>
              <a:rPr lang="en-US" altLang="ko-KR" b="0" i="0" dirty="0">
                <a:effectLst/>
                <a:latin typeface="Lora" pitchFamily="2" charset="0"/>
              </a:rPr>
              <a:t> A simple RNN, unrolled over time</a:t>
            </a:r>
            <a:endParaRPr lang="ko-KR" altLang="en-US" dirty="0"/>
          </a:p>
        </p:txBody>
      </p:sp>
    </p:spTree>
    <p:extLst>
      <p:ext uri="{BB962C8B-B14F-4D97-AF65-F5344CB8AC3E}">
        <p14:creationId xmlns:p14="http://schemas.microsoft.com/office/powerpoint/2010/main" val="25749701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4075" y="1951116"/>
            <a:ext cx="8120769" cy="34788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DBD77E-01D0-82DB-B0A2-AF6E46223EA5}"/>
              </a:ext>
            </a:extLst>
          </p:cNvPr>
          <p:cNvSpPr txBox="1"/>
          <p:nvPr/>
        </p:nvSpPr>
        <p:spPr>
          <a:xfrm>
            <a:off x="1884075" y="5468035"/>
            <a:ext cx="7315200" cy="369332"/>
          </a:xfrm>
          <a:prstGeom prst="rect">
            <a:avLst/>
          </a:prstGeom>
          <a:noFill/>
        </p:spPr>
        <p:txBody>
          <a:bodyPr wrap="square">
            <a:spAutoFit/>
          </a:bodyPr>
          <a:lstStyle/>
          <a:p>
            <a:r>
              <a:rPr lang="en-US" altLang="ko-KR" b="0" i="0" dirty="0">
                <a:effectLst/>
                <a:latin typeface="Lora" pitchFamily="2" charset="0"/>
              </a:rPr>
              <a:t>Going from a </a:t>
            </a:r>
            <a:r>
              <a:rPr lang="en-US" altLang="ko-KR" b="0" i="0" dirty="0" err="1">
                <a:effectLst/>
                <a:latin typeface="Lora" pitchFamily="2" charset="0"/>
              </a:rPr>
              <a:t>SimpleRNN</a:t>
            </a:r>
            <a:r>
              <a:rPr lang="en-US" altLang="ko-KR" b="0" i="0" dirty="0">
                <a:effectLst/>
                <a:latin typeface="Lora" pitchFamily="2" charset="0"/>
              </a:rPr>
              <a:t> to an LSTM: adding a carry track</a:t>
            </a:r>
            <a:endParaRPr lang="ko-KR" altLang="en-US" dirty="0"/>
          </a:p>
        </p:txBody>
      </p:sp>
    </p:spTree>
    <p:extLst>
      <p:ext uri="{BB962C8B-B14F-4D97-AF65-F5344CB8AC3E}">
        <p14:creationId xmlns:p14="http://schemas.microsoft.com/office/powerpoint/2010/main" val="1891878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67102-0C98-54F7-44E8-A5A574FDCA0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7AD284-232C-B9DF-4D72-80693FD04EF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6386" name="Picture 2">
            <a:extLst>
              <a:ext uri="{FF2B5EF4-FFF2-40B4-BE49-F238E27FC236}">
                <a16:creationId xmlns:a16="http://schemas.microsoft.com/office/drawing/2014/main" id="{A5114B3D-1F10-AAF1-C14B-28778305A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1838325"/>
            <a:ext cx="8734425" cy="350628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39027E-016F-895E-982C-940EAF6DC7F8}"/>
              </a:ext>
            </a:extLst>
          </p:cNvPr>
          <p:cNvSpPr txBox="1"/>
          <p:nvPr/>
        </p:nvSpPr>
        <p:spPr>
          <a:xfrm>
            <a:off x="1628775" y="5393727"/>
            <a:ext cx="6096000" cy="369332"/>
          </a:xfrm>
          <a:prstGeom prst="rect">
            <a:avLst/>
          </a:prstGeom>
          <a:noFill/>
        </p:spPr>
        <p:txBody>
          <a:bodyPr wrap="square">
            <a:spAutoFit/>
          </a:bodyPr>
          <a:lstStyle/>
          <a:p>
            <a:r>
              <a:rPr lang="en-US" altLang="ko-KR" dirty="0">
                <a:latin typeface="Lora" pitchFamily="2" charset="0"/>
              </a:rPr>
              <a:t>Anatomy of an LSTM</a:t>
            </a:r>
            <a:endParaRPr lang="ko-KR" altLang="en-US" dirty="0">
              <a:latin typeface="Lora" pitchFamily="2" charset="0"/>
            </a:endParaRPr>
          </a:p>
        </p:txBody>
      </p:sp>
    </p:spTree>
    <p:extLst>
      <p:ext uri="{BB962C8B-B14F-4D97-AF65-F5344CB8AC3E}">
        <p14:creationId xmlns:p14="http://schemas.microsoft.com/office/powerpoint/2010/main" val="27206140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Getting the most out of 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4936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9283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1945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 </a:t>
            </a:r>
            <a:r>
              <a:rPr lang="en-US" altLang="ko-KR" sz="1600" b="0" dirty="0" err="1">
                <a:solidFill>
                  <a:srgbClr val="FF0000"/>
                </a:solidFill>
                <a:effectLst/>
                <a:latin typeface="D2Coding" panose="020B0609020101020101" pitchFamily="49" charset="-127"/>
                <a:ea typeface="D2Coding" panose="020B0609020101020101" pitchFamily="49" charset="-127"/>
              </a:rPr>
              <a:t>return_sequences</a:t>
            </a:r>
            <a:r>
              <a:rPr lang="en-US" altLang="ko-KR" sz="1600" b="0" dirty="0">
                <a:solidFill>
                  <a:srgbClr val="FF0000"/>
                </a:solidFill>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6731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3136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layers.Bidirectional</a:t>
            </a:r>
            <a:r>
              <a:rPr lang="en-US" altLang="ko-KR" sz="1600" b="0" dirty="0">
                <a:solidFill>
                  <a:srgbClr val="FF0000"/>
                </a:solidFill>
                <a:effectLst/>
                <a:latin typeface="D2Coding" panose="020B0609020101020101" pitchFamily="49" charset="-127"/>
                <a:ea typeface="D2Coding" panose="020B0609020101020101" pitchFamily="49" charset="-127"/>
              </a:rPr>
              <a:t>(</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5871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
        <p:nvSpPr>
          <p:cNvPr id="21" name="슬라이드 번호 개체 틀 3">
            <a:extLst>
              <a:ext uri="{FF2B5EF4-FFF2-40B4-BE49-F238E27FC236}">
                <a16:creationId xmlns:a16="http://schemas.microsoft.com/office/drawing/2014/main" id="{405BBC48-D1AC-BF67-ED98-CD4B1AE686A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52124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B3BC2-D458-033B-8511-B0426CBD3377}"/>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AA49E8DD-A723-F3C9-EBB5-BDBF78203E9A}"/>
              </a:ext>
            </a:extLst>
          </p:cNvPr>
          <p:cNvSpPr/>
          <p:nvPr/>
        </p:nvSpPr>
        <p:spPr>
          <a:xfrm>
            <a:off x="475645" y="51054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7E4F8CE3-9BEB-1F18-5E90-E8606DD8E24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38</a:t>
            </a:fld>
            <a:endParaRPr lang="en-US" dirty="0"/>
          </a:p>
        </p:txBody>
      </p:sp>
      <p:sp>
        <p:nvSpPr>
          <p:cNvPr id="3" name="제목 1">
            <a:extLst>
              <a:ext uri="{FF2B5EF4-FFF2-40B4-BE49-F238E27FC236}">
                <a16:creationId xmlns:a16="http://schemas.microsoft.com/office/drawing/2014/main" id="{F06BC03D-E7FF-BDBB-8F7D-55A8488745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90D08880-F7B8-A736-142E-14CC00A8A6AB}"/>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34378232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for</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Sequence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Modeling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FA692D7-96C0-0E44-577D-448EB7886C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8D144DD3-8657-520F-D4C5-51595F4CAE81}"/>
              </a:ext>
            </a:extLst>
          </p:cNvPr>
          <p:cNvPicPr>
            <a:picLocks noChangeAspect="1"/>
          </p:cNvPicPr>
          <p:nvPr/>
        </p:nvPicPr>
        <p:blipFill>
          <a:blip r:embed="rId2"/>
          <a:stretch>
            <a:fillRect/>
          </a:stretch>
        </p:blipFill>
        <p:spPr>
          <a:xfrm>
            <a:off x="1230279" y="1828658"/>
            <a:ext cx="9316066" cy="3772042"/>
          </a:xfrm>
          <a:prstGeom prst="rect">
            <a:avLst/>
          </a:prstGeom>
          <a:ln>
            <a:solidFill>
              <a:schemeClr val="tx1"/>
            </a:solidFill>
          </a:ln>
        </p:spPr>
      </p:pic>
      <p:sp>
        <p:nvSpPr>
          <p:cNvPr id="8" name="TextBox 7">
            <a:extLst>
              <a:ext uri="{FF2B5EF4-FFF2-40B4-BE49-F238E27FC236}">
                <a16:creationId xmlns:a16="http://schemas.microsoft.com/office/drawing/2014/main" id="{13060A9C-9E14-2FA2-F267-64ED24D8FAE2}"/>
              </a:ext>
            </a:extLst>
          </p:cNvPr>
          <p:cNvSpPr txBox="1"/>
          <p:nvPr/>
        </p:nvSpPr>
        <p:spPr>
          <a:xfrm>
            <a:off x="1162050" y="5724525"/>
            <a:ext cx="7673896" cy="338554"/>
          </a:xfrm>
          <a:prstGeom prst="rect">
            <a:avLst/>
          </a:prstGeom>
          <a:noFill/>
        </p:spPr>
        <p:txBody>
          <a:bodyPr wrap="none" rtlCol="0">
            <a:spAutoFit/>
          </a:bodyPr>
          <a:lstStyle/>
          <a:p>
            <a:r>
              <a:rPr lang="en-US" altLang="ko-KR" sz="1600" dirty="0">
                <a:latin typeface="D2Coding" panose="020B0609020101020101" pitchFamily="49" charset="-127"/>
                <a:ea typeface="D2Coding" panose="020B0609020101020101" pitchFamily="49" charset="-127"/>
                <a:hlinkClick r:id="rId3"/>
              </a:rPr>
              <a:t>MIT 6.S191 (2025): Recurrent Neural Networks, Transformers, and Attention</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395993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470F7-2C5C-FE2E-E48D-723ADDF12B0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0725A30D-595D-82E4-351E-7F2F2DCFC18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577C0275-2B0F-D278-A29D-1CEDA72D96B4}"/>
              </a:ext>
            </a:extLst>
          </p:cNvPr>
          <p:cNvGraphicFramePr>
            <a:graphicFrameLocks noGrp="1"/>
          </p:cNvGraphicFramePr>
          <p:nvPr>
            <p:extLst>
              <p:ext uri="{D42A27DB-BD31-4B8C-83A1-F6EECF244321}">
                <p14:modId xmlns:p14="http://schemas.microsoft.com/office/powerpoint/2010/main" val="3143378011"/>
              </p:ext>
            </p:extLst>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T w="12700" cap="flat" cmpd="sng" algn="ctr">
                      <a:solidFill>
                        <a:schemeClr val="tx1"/>
                      </a:solidFill>
                      <a:prstDash val="solid"/>
                      <a:round/>
                      <a:headEnd type="none" w="med" len="med"/>
                      <a:tailEnd type="none" w="med" len="med"/>
                    </a:lnT>
                  </a:tcP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21.50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B w="12700" cap="flat" cmpd="sng" algn="ctr">
                      <a:solidFill>
                        <a:schemeClr val="tx1"/>
                      </a:solidFill>
                      <a:prstDash val="solid"/>
                      <a:round/>
                      <a:headEnd type="none" w="med" len="med"/>
                      <a:tailEnd type="none" w="med" len="med"/>
                    </a:lnB>
                  </a:tcP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C8E4F7EF-4BA5-A370-BAA3-B38E18757E7A}"/>
              </a:ext>
            </a:extLst>
          </p:cNvPr>
          <p:cNvSpPr txBox="1"/>
          <p:nvPr/>
        </p:nvSpPr>
        <p:spPr>
          <a:xfrm>
            <a:off x="609600" y="118110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일자별로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기존</a:t>
            </a:r>
            <a:r>
              <a:rPr lang="en-US" altLang="ko-KR" sz="1600" dirty="0">
                <a:latin typeface="D2Coding" panose="020B0609020101020101" pitchFamily="49" charset="-127"/>
                <a:ea typeface="D2Coding" panose="020B0609020101020101" pitchFamily="49" charset="-127"/>
              </a:rPr>
              <a:t> ANN </a:t>
            </a:r>
            <a:r>
              <a:rPr lang="ko-KR" altLang="en-US" sz="1600" dirty="0">
                <a:latin typeface="D2Coding" panose="020B0609020101020101" pitchFamily="49" charset="-127"/>
                <a:ea typeface="D2Coding" panose="020B0609020101020101" pitchFamily="49" charset="-127"/>
              </a:rPr>
              <a:t>모델의 한계는 무엇이고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왜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이 필요한지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토론하고 주가 예측 방식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2A87A5D0-916D-27BF-D866-2D20E3F1C2C7}"/>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EBF915A4-0DCB-C7EB-0C33-4500D957956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46326C07-27F9-6F7A-BDF5-B42616B36906}"/>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BA6AD419-A0F2-A35B-1726-8C849497EAFD}"/>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
        <p:nvSpPr>
          <p:cNvPr id="4" name="슬라이드 번호 개체 틀 3">
            <a:extLst>
              <a:ext uri="{FF2B5EF4-FFF2-40B4-BE49-F238E27FC236}">
                <a16:creationId xmlns:a16="http://schemas.microsoft.com/office/drawing/2014/main" id="{419624C6-0AF1-31D7-713F-4DECD6A71B4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8215670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Shallow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319" y="2059877"/>
            <a:ext cx="3886781" cy="3886781"/>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7951" y="2095866"/>
            <a:ext cx="4048730" cy="385079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4CCDB360-7335-D60A-62CE-CC72278C0F4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916977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945E8-D760-147C-AE49-0B71B11FA24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B66175D-694D-4CCA-291D-7721C5AF8B7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Multi-layer RNN, Deep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A416B029-17C0-D9FD-E177-14EA4447F9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4223511" cy="363955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C84E04E2-D0C6-B082-7107-76851080A73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3252471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23D3F-6BF2-AB89-8798-686B9ACEC75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5E7CA4C-36B5-7B7E-D205-F4732D90B3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Bidirectional</a:t>
            </a:r>
            <a:r>
              <a:rPr lang="en-US" altLang="ko-KR" sz="2800" dirty="0">
                <a:latin typeface="D2Coding" panose="020B0609020101020101" pitchFamily="49" charset="-127"/>
                <a:ea typeface="D2Coding" panose="020B0609020101020101" pitchFamily="49" charset="-127"/>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2" name="Picture 4">
            <a:extLst>
              <a:ext uri="{FF2B5EF4-FFF2-40B4-BE49-F238E27FC236}">
                <a16:creationId xmlns:a16="http://schemas.microsoft.com/office/drawing/2014/main" id="{F6E11D43-597D-57B2-20AE-2A971F87F0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2360997"/>
            <a:ext cx="6882138" cy="3058728"/>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AE0452F5-BCF4-B796-03F4-62385B2685B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83486561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39E079A-78B4-2D89-3C4F-D04B7A216D6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2317870" y="588873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2773210" y="6251056"/>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
        <p:nvSpPr>
          <p:cNvPr id="2" name="슬라이드 번호 개체 틀 3">
            <a:extLst>
              <a:ext uri="{FF2B5EF4-FFF2-40B4-BE49-F238E27FC236}">
                <a16:creationId xmlns:a16="http://schemas.microsoft.com/office/drawing/2014/main" id="{ED2899F9-B54C-17C1-BDD9-3D62CB694A9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
        <p:nvSpPr>
          <p:cNvPr id="2" name="슬라이드 번호 개체 틀 3">
            <a:extLst>
              <a:ext uri="{FF2B5EF4-FFF2-40B4-BE49-F238E27FC236}">
                <a16:creationId xmlns:a16="http://schemas.microsoft.com/office/drawing/2014/main" id="{4AC34C85-7E0E-59AF-D7DF-0B62A49F2F2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71BF7A04-E834-C833-EE4E-AC497733D7C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180074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A88B92E-83F7-9A54-353A-697A8F7548D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642985BD-5F70-215C-8037-9C4AFD8CCC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1710703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
        <p:nvSpPr>
          <p:cNvPr id="5" name="슬라이드 번호 개체 틀 3">
            <a:extLst>
              <a:ext uri="{FF2B5EF4-FFF2-40B4-BE49-F238E27FC236}">
                <a16:creationId xmlns:a16="http://schemas.microsoft.com/office/drawing/2014/main" id="{269B3348-7AAF-B235-1FAF-6E406B80879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72266FE5-2CA7-CFE0-5D8E-C4C2F28802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5616351-2D1E-7FFF-D2A0-3CFBD51C2DA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A217002A-185A-0F90-66B3-64579040CF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1538502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
        <p:nvSpPr>
          <p:cNvPr id="2" name="슬라이드 번호 개체 틀 3">
            <a:extLst>
              <a:ext uri="{FF2B5EF4-FFF2-40B4-BE49-F238E27FC236}">
                <a16:creationId xmlns:a16="http://schemas.microsoft.com/office/drawing/2014/main" id="{415D12AB-D4FC-A182-0513-0F607ED1195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 name="그래픽 5" descr="수영">
            <a:extLst>
              <a:ext uri="{FF2B5EF4-FFF2-40B4-BE49-F238E27FC236}">
                <a16:creationId xmlns:a16="http://schemas.microsoft.com/office/drawing/2014/main" id="{7D842ACD-EEEF-45CE-5CC8-252965C2CB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6230321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
        <p:nvSpPr>
          <p:cNvPr id="2" name="TextBox 1">
            <a:extLst>
              <a:ext uri="{FF2B5EF4-FFF2-40B4-BE49-F238E27FC236}">
                <a16:creationId xmlns:a16="http://schemas.microsoft.com/office/drawing/2014/main" id="{5932765D-70FD-A964-6219-DBE50AE817AD}"/>
              </a:ext>
            </a:extLst>
          </p:cNvPr>
          <p:cNvSpPr txBox="1"/>
          <p:nvPr/>
        </p:nvSpPr>
        <p:spPr>
          <a:xfrm>
            <a:off x="6800850" y="3429000"/>
            <a:ext cx="4286250" cy="369332"/>
          </a:xfrm>
          <a:prstGeom prst="rect">
            <a:avLst/>
          </a:prstGeom>
          <a:noFill/>
        </p:spPr>
        <p:txBody>
          <a:bodyPr wrap="square" rtlCol="0">
            <a:spAutoFit/>
          </a:bodyPr>
          <a:lstStyle/>
          <a:p>
            <a:r>
              <a:rPr lang="ko-KR" altLang="en-US" dirty="0">
                <a:hlinkClick r:id="rId3"/>
              </a:rPr>
              <a:t>시계열 예측</a:t>
            </a:r>
            <a:endParaRPr lang="ko-KR" altLang="en-US" dirty="0"/>
          </a:p>
        </p:txBody>
      </p:sp>
      <p:sp>
        <p:nvSpPr>
          <p:cNvPr id="6" name="슬라이드 번호 개체 틀 3">
            <a:extLst>
              <a:ext uri="{FF2B5EF4-FFF2-40B4-BE49-F238E27FC236}">
                <a16:creationId xmlns:a16="http://schemas.microsoft.com/office/drawing/2014/main" id="{D791629E-1D1E-E579-39B9-AB322AB36FB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5220420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556AA-F115-B46C-306D-D1D7A6F3506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EB688ED-B450-4EFA-D386-B29E4E72D0F8}"/>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Timeseries Forecasting</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0726893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264-86D7-4DA8-9464-A2E120CF55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D653277-DC09-10EB-EF11-C017C173394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Tensorflow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forecasting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E12B1519-73E0-B864-8FA5-72B34B24F89B}"/>
              </a:ext>
            </a:extLst>
          </p:cNvPr>
          <p:cNvSpPr txBox="1"/>
          <p:nvPr/>
        </p:nvSpPr>
        <p:spPr>
          <a:xfrm>
            <a:off x="542925" y="1495425"/>
            <a:ext cx="4286250"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hlinkClick r:id="rId2"/>
              </a:rPr>
              <a:t>시계열 예측</a:t>
            </a:r>
            <a:endParaRPr lang="ko-KR" altLang="en-US"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4A2F182F-A549-D538-F2AF-23CA43EEF6CC}"/>
              </a:ext>
            </a:extLst>
          </p:cNvPr>
          <p:cNvPicPr>
            <a:picLocks noChangeAspect="1"/>
          </p:cNvPicPr>
          <p:nvPr/>
        </p:nvPicPr>
        <p:blipFill>
          <a:blip r:embed="rId3"/>
          <a:stretch>
            <a:fillRect/>
          </a:stretch>
        </p:blipFill>
        <p:spPr>
          <a:xfrm>
            <a:off x="2228850" y="1982624"/>
            <a:ext cx="8896350" cy="4201571"/>
          </a:xfrm>
          <a:prstGeom prst="rect">
            <a:avLst/>
          </a:prstGeom>
        </p:spPr>
      </p:pic>
      <p:pic>
        <p:nvPicPr>
          <p:cNvPr id="9" name="그래픽 8" descr="수영">
            <a:extLst>
              <a:ext uri="{FF2B5EF4-FFF2-40B4-BE49-F238E27FC236}">
                <a16:creationId xmlns:a16="http://schemas.microsoft.com/office/drawing/2014/main" id="{B8DB6F2E-70A3-A6D3-E81B-F2F7543BC2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0" name="슬라이드 번호 개체 틀 3">
            <a:extLst>
              <a:ext uri="{FF2B5EF4-FFF2-40B4-BE49-F238E27FC236}">
                <a16:creationId xmlns:a16="http://schemas.microsoft.com/office/drawing/2014/main" id="{0513C6E8-20BC-E7CF-4220-5E1F20E29F0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9891180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AA10A-431B-F236-65CC-DB5BD1C5E755}"/>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DE57BAC5-5BA3-ABA6-E113-BDC7E4F60A71}"/>
              </a:ext>
            </a:extLst>
          </p:cNvPr>
          <p:cNvSpPr>
            <a:spLocks noGrp="1"/>
          </p:cNvSpPr>
          <p:nvPr>
            <p:ph type="ctrTitle"/>
          </p:nvPr>
        </p:nvSpPr>
        <p:spPr>
          <a:xfrm>
            <a:off x="838199" y="1164324"/>
            <a:ext cx="10210801" cy="2387600"/>
          </a:xfrm>
        </p:spPr>
        <p:txBody>
          <a:bodyPr rtlCol="0" anchor="ctr" anchorCtr="0">
            <a:normAutofit/>
          </a:bodyPr>
          <a:lstStyle/>
          <a:p>
            <a:r>
              <a:rPr lang="en-US" altLang="ko-KR" sz="4400" dirty="0">
                <a:solidFill>
                  <a:schemeClr val="bg1"/>
                </a:solidFill>
              </a:rPr>
              <a:t>CNN for Timeseries Data</a:t>
            </a:r>
            <a:endParaRPr lang="ko-KR" altLang="en-US" sz="4400" dirty="0">
              <a:solidFill>
                <a:schemeClr val="bg1"/>
              </a:solidFill>
            </a:endParaRPr>
          </a:p>
        </p:txBody>
      </p:sp>
    </p:spTree>
    <p:extLst>
      <p:ext uri="{BB962C8B-B14F-4D97-AF65-F5344CB8AC3E}">
        <p14:creationId xmlns:p14="http://schemas.microsoft.com/office/powerpoint/2010/main" val="60512935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D01DB-CD16-FE8E-FB47-D4306B5D257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A7E0286-F8FA-B2E2-18BE-39E3BE9410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a:t>
            </a:r>
            <a:r>
              <a:rPr lang="en-US" altLang="ko-KR"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with</a:t>
            </a:r>
            <a:r>
              <a:rPr lang="ko-KR" altLang="en-US"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D226DC59-7D78-0C13-4559-E42F440722EE}"/>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67221A82-6C0D-FB05-44AE-2EDE319BC885}"/>
              </a:ext>
            </a:extLst>
          </p:cNvPr>
          <p:cNvSpPr txBox="1"/>
          <p:nvPr/>
        </p:nvSpPr>
        <p:spPr>
          <a:xfrm>
            <a:off x="628650" y="1200150"/>
            <a:ext cx="11010900" cy="1028808"/>
          </a:xfrm>
          <a:prstGeom prst="rect">
            <a:avLst/>
          </a:prstGeom>
          <a:noFill/>
        </p:spPr>
        <p:txBody>
          <a:bodyPr wrap="square" rtlCol="0">
            <a:spAutoFit/>
          </a:bodyPr>
          <a:lstStyle/>
          <a:p>
            <a:pPr>
              <a:lnSpc>
                <a:spcPct val="150000"/>
              </a:lnSpc>
            </a:pPr>
            <a:r>
              <a:rPr lang="en-US" altLang="ko-KR" sz="1400" dirty="0">
                <a:latin typeface="D2Coding" panose="020B0609020101020101" pitchFamily="49" charset="-127"/>
                <a:ea typeface="D2Coding" panose="020B0609020101020101" pitchFamily="49" charset="-127"/>
              </a:rPr>
              <a:t>Multivariate </a:t>
            </a:r>
            <a:r>
              <a:rPr lang="ko-KR" altLang="en-US" sz="1400" dirty="0">
                <a:latin typeface="D2Coding" panose="020B0609020101020101" pitchFamily="49" charset="-127"/>
                <a:ea typeface="D2Coding" panose="020B0609020101020101" pitchFamily="49" charset="-127"/>
              </a:rPr>
              <a:t>기후 데이터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등의 다중변수의 시계열 자료를 전형적인 아래 </a:t>
            </a:r>
            <a:r>
              <a:rPr lang="en-US" altLang="ko-KR" sz="1400" dirty="0">
                <a:latin typeface="D2Coding" panose="020B0609020101020101" pitchFamily="49" charset="-127"/>
                <a:ea typeface="D2Coding" panose="020B0609020101020101" pitchFamily="49" charset="-127"/>
              </a:rPr>
              <a:t>3D Tensor</a:t>
            </a:r>
            <a:r>
              <a:rPr lang="ko-KR" altLang="en-US" sz="1400" dirty="0">
                <a:latin typeface="D2Coding" panose="020B0609020101020101" pitchFamily="49" charset="-127"/>
                <a:ea typeface="D2Coding" panose="020B0609020101020101" pitchFamily="49" charset="-127"/>
              </a:rPr>
              <a:t>로 구성할 수도 있으나 각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를</a:t>
            </a:r>
            <a:r>
              <a:rPr lang="en-US" altLang="ko-KR" sz="1400" dirty="0">
                <a:latin typeface="D2Coding" panose="020B0609020101020101" pitchFamily="49" charset="-127"/>
                <a:ea typeface="D2Coding" panose="020B0609020101020101" pitchFamily="49" charset="-127"/>
              </a:rPr>
              <a:t> 1</a:t>
            </a:r>
            <a:r>
              <a:rPr lang="ko-KR" altLang="en-US" sz="1400" dirty="0">
                <a:latin typeface="D2Coding" panose="020B0609020101020101" pitchFamily="49" charset="-127"/>
                <a:ea typeface="D2Coding" panose="020B0609020101020101" pitchFamily="49" charset="-127"/>
              </a:rPr>
              <a:t>개씩만 구성하고 </a:t>
            </a:r>
            <a:r>
              <a:rPr lang="en-US" altLang="ko-KR" sz="1400" dirty="0">
                <a:latin typeface="D2Coding" panose="020B0609020101020101" pitchFamily="49" charset="-127"/>
                <a:ea typeface="D2Coding" panose="020B0609020101020101" pitchFamily="49" charset="-127"/>
              </a:rPr>
              <a:t>Channel</a:t>
            </a:r>
            <a:r>
              <a:rPr lang="ko-KR" altLang="en-US" sz="1400" dirty="0">
                <a:latin typeface="D2Coding" panose="020B0609020101020101" pitchFamily="49" charset="-127"/>
                <a:ea typeface="D2Coding" panose="020B0609020101020101" pitchFamily="49" charset="-127"/>
              </a:rPr>
              <a:t>을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등으로 구성한 후 </a:t>
            </a:r>
            <a:r>
              <a:rPr lang="en-US" altLang="ko-KR" sz="1400" dirty="0">
                <a:latin typeface="D2Coding" panose="020B0609020101020101" pitchFamily="49" charset="-127"/>
                <a:ea typeface="D2Coding" panose="020B0609020101020101" pitchFamily="49" charset="-127"/>
              </a:rPr>
              <a:t>1D Convnet</a:t>
            </a:r>
            <a:r>
              <a:rPr lang="ko-KR" altLang="en-US" sz="1400" dirty="0">
                <a:latin typeface="D2Coding" panose="020B0609020101020101" pitchFamily="49" charset="-127"/>
                <a:ea typeface="D2Coding" panose="020B0609020101020101" pitchFamily="49" charset="-127"/>
              </a:rPr>
              <a:t>을 구성하여 입력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로 만든 후 </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Size</a:t>
            </a:r>
            <a:r>
              <a:rPr lang="ko-KR" altLang="en-US" sz="1400" dirty="0">
                <a:latin typeface="D2Coding" panose="020B0609020101020101" pitchFamily="49" charset="-127"/>
                <a:ea typeface="D2Coding" panose="020B0609020101020101" pitchFamily="49" charset="-127"/>
              </a:rPr>
              <a:t>로 </a:t>
            </a:r>
            <a:r>
              <a:rPr lang="en-US" altLang="ko-KR" sz="1400" dirty="0">
                <a:latin typeface="D2Coding" panose="020B0609020101020101" pitchFamily="49" charset="-127"/>
                <a:ea typeface="D2Coding" panose="020B0609020101020101" pitchFamily="49" charset="-127"/>
              </a:rPr>
              <a:t>Time steps(3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 등</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a:t>
            </a:r>
            <a:r>
              <a:rPr lang="ko-KR" altLang="en-US" sz="1400" dirty="0" err="1">
                <a:latin typeface="D2Coding" panose="020B0609020101020101" pitchFamily="49" charset="-127"/>
                <a:ea typeface="D2Coding" panose="020B0609020101020101" pitchFamily="49" charset="-127"/>
              </a:rPr>
              <a:t>컨볼루션을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적용하여 </a:t>
            </a:r>
            <a:r>
              <a:rPr lang="en-US" altLang="ko-KR" sz="1400" dirty="0" err="1">
                <a:latin typeface="D2Coding" panose="020B0609020101020101" pitchFamily="49" charset="-127"/>
                <a:ea typeface="D2Coding" panose="020B0609020101020101" pitchFamily="49" charset="-127"/>
              </a:rPr>
              <a:t>Concate</a:t>
            </a:r>
            <a:r>
              <a:rPr lang="ko-KR" altLang="en-US" sz="1400" dirty="0">
                <a:latin typeface="D2Coding" panose="020B0609020101020101" pitchFamily="49" charset="-127"/>
                <a:ea typeface="D2Coding" panose="020B0609020101020101" pitchFamily="49" charset="-127"/>
              </a:rPr>
              <a:t>하여 예측하는 모델 </a:t>
            </a:r>
          </a:p>
        </p:txBody>
      </p:sp>
      <p:sp>
        <p:nvSpPr>
          <p:cNvPr id="5" name="직사각형 4">
            <a:extLst>
              <a:ext uri="{FF2B5EF4-FFF2-40B4-BE49-F238E27FC236}">
                <a16:creationId xmlns:a16="http://schemas.microsoft.com/office/drawing/2014/main" id="{87C9BF87-F17D-A8F7-8F6C-75856C4A0E94}"/>
              </a:ext>
            </a:extLst>
          </p:cNvPr>
          <p:cNvSpPr/>
          <p:nvPr/>
        </p:nvSpPr>
        <p:spPr>
          <a:xfrm>
            <a:off x="710339" y="28235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a:extLst>
              <a:ext uri="{FF2B5EF4-FFF2-40B4-BE49-F238E27FC236}">
                <a16:creationId xmlns:a16="http://schemas.microsoft.com/office/drawing/2014/main" id="{6C8811A2-7679-2C7E-DE95-2C3CA22D3D26}"/>
              </a:ext>
            </a:extLst>
          </p:cNvPr>
          <p:cNvSpPr/>
          <p:nvPr/>
        </p:nvSpPr>
        <p:spPr>
          <a:xfrm>
            <a:off x="862739" y="29759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699F94C8-95EF-01BB-AC82-F6ED98507D2D}"/>
              </a:ext>
            </a:extLst>
          </p:cNvPr>
          <p:cNvSpPr/>
          <p:nvPr/>
        </p:nvSpPr>
        <p:spPr>
          <a:xfrm>
            <a:off x="1015139" y="31283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435AC0D4-624C-DC13-271F-1C2A0A4468BB}"/>
              </a:ext>
            </a:extLst>
          </p:cNvPr>
          <p:cNvSpPr/>
          <p:nvPr/>
        </p:nvSpPr>
        <p:spPr>
          <a:xfrm>
            <a:off x="1167539" y="32807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05917FFF-3885-6C08-235F-DE1A3E3637E9}"/>
              </a:ext>
            </a:extLst>
          </p:cNvPr>
          <p:cNvSpPr/>
          <p:nvPr/>
        </p:nvSpPr>
        <p:spPr>
          <a:xfrm>
            <a:off x="1319939" y="34331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p>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0763F341-8105-7BF3-30A5-DBD162BCB333}"/>
              </a:ext>
            </a:extLst>
          </p:cNvPr>
          <p:cNvSpPr txBox="1"/>
          <p:nvPr/>
        </p:nvSpPr>
        <p:spPr>
          <a:xfrm>
            <a:off x="879352" y="5623537"/>
            <a:ext cx="3990393"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(10, 365, 3)</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Features)</a:t>
            </a:r>
            <a:endParaRPr lang="ko-KR" altLang="en-US" dirty="0">
              <a:solidFill>
                <a:schemeClr val="bg1"/>
              </a:solidFill>
            </a:endParaRPr>
          </a:p>
        </p:txBody>
      </p:sp>
      <p:sp>
        <p:nvSpPr>
          <p:cNvPr id="17" name="직사각형 16">
            <a:extLst>
              <a:ext uri="{FF2B5EF4-FFF2-40B4-BE49-F238E27FC236}">
                <a16:creationId xmlns:a16="http://schemas.microsoft.com/office/drawing/2014/main" id="{DEFB5CD3-2CBE-9B77-AECC-EE1A5C5E2054}"/>
              </a:ext>
            </a:extLst>
          </p:cNvPr>
          <p:cNvSpPr/>
          <p:nvPr/>
        </p:nvSpPr>
        <p:spPr>
          <a:xfrm>
            <a:off x="8168860" y="46367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7B360D9F-C912-8897-2FCD-65B4E4F1B233}"/>
              </a:ext>
            </a:extLst>
          </p:cNvPr>
          <p:cNvSpPr/>
          <p:nvPr/>
        </p:nvSpPr>
        <p:spPr>
          <a:xfrm>
            <a:off x="8435734" y="4907317"/>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p:txBody>
      </p:sp>
      <p:sp>
        <p:nvSpPr>
          <p:cNvPr id="23" name="직사각형 22">
            <a:extLst>
              <a:ext uri="{FF2B5EF4-FFF2-40B4-BE49-F238E27FC236}">
                <a16:creationId xmlns:a16="http://schemas.microsoft.com/office/drawing/2014/main" id="{9C704DD3-CB3F-79B9-582E-ACBA81445B48}"/>
              </a:ext>
            </a:extLst>
          </p:cNvPr>
          <p:cNvSpPr/>
          <p:nvPr/>
        </p:nvSpPr>
        <p:spPr>
          <a:xfrm>
            <a:off x="8784984" y="51955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4" name="왼쪽 중괄호 23">
            <a:extLst>
              <a:ext uri="{FF2B5EF4-FFF2-40B4-BE49-F238E27FC236}">
                <a16:creationId xmlns:a16="http://schemas.microsoft.com/office/drawing/2014/main" id="{01F2A509-E1A0-4E95-024A-0369558EF003}"/>
              </a:ext>
            </a:extLst>
          </p:cNvPr>
          <p:cNvSpPr/>
          <p:nvPr/>
        </p:nvSpPr>
        <p:spPr>
          <a:xfrm rot="10800000">
            <a:off x="4119909" y="3434296"/>
            <a:ext cx="193430" cy="1066897"/>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6" name="왼쪽 중괄호 25">
            <a:extLst>
              <a:ext uri="{FF2B5EF4-FFF2-40B4-BE49-F238E27FC236}">
                <a16:creationId xmlns:a16="http://schemas.microsoft.com/office/drawing/2014/main" id="{F29B2FB5-9925-E455-D163-C8E3EAFA3652}"/>
              </a:ext>
            </a:extLst>
          </p:cNvPr>
          <p:cNvSpPr/>
          <p:nvPr/>
        </p:nvSpPr>
        <p:spPr>
          <a:xfrm rot="16200000">
            <a:off x="2534601" y="3477338"/>
            <a:ext cx="281160" cy="2640405"/>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8" name="왼쪽 중괄호 27">
            <a:extLst>
              <a:ext uri="{FF2B5EF4-FFF2-40B4-BE49-F238E27FC236}">
                <a16:creationId xmlns:a16="http://schemas.microsoft.com/office/drawing/2014/main" id="{4EAAAEF1-D1C2-AB5B-6FDC-2FF43601242D}"/>
              </a:ext>
            </a:extLst>
          </p:cNvPr>
          <p:cNvSpPr/>
          <p:nvPr/>
        </p:nvSpPr>
        <p:spPr>
          <a:xfrm rot="7748708">
            <a:off x="3742428" y="2513119"/>
            <a:ext cx="242513" cy="962173"/>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30" name="TextBox 29">
            <a:extLst>
              <a:ext uri="{FF2B5EF4-FFF2-40B4-BE49-F238E27FC236}">
                <a16:creationId xmlns:a16="http://schemas.microsoft.com/office/drawing/2014/main" id="{9BD63081-ABF0-F3AD-F08A-C1D88356DCD2}"/>
              </a:ext>
            </a:extLst>
          </p:cNvPr>
          <p:cNvSpPr txBox="1"/>
          <p:nvPr/>
        </p:nvSpPr>
        <p:spPr>
          <a:xfrm>
            <a:off x="2293653" y="4987379"/>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Timesteps</a:t>
            </a:r>
            <a:endParaRPr lang="ko-KR" altLang="en-US" dirty="0"/>
          </a:p>
        </p:txBody>
      </p:sp>
      <p:sp>
        <p:nvSpPr>
          <p:cNvPr id="32" name="TextBox 31">
            <a:extLst>
              <a:ext uri="{FF2B5EF4-FFF2-40B4-BE49-F238E27FC236}">
                <a16:creationId xmlns:a16="http://schemas.microsoft.com/office/drawing/2014/main" id="{F5039ACF-4E13-5D4A-1B29-B2B4D7CBEC41}"/>
              </a:ext>
            </a:extLst>
          </p:cNvPr>
          <p:cNvSpPr txBox="1"/>
          <p:nvPr/>
        </p:nvSpPr>
        <p:spPr>
          <a:xfrm rot="2228255">
            <a:off x="3647386" y="2582615"/>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Samples</a:t>
            </a:r>
            <a:endParaRPr lang="ko-KR" altLang="en-US" dirty="0"/>
          </a:p>
        </p:txBody>
      </p:sp>
      <p:sp>
        <p:nvSpPr>
          <p:cNvPr id="34" name="TextBox 33">
            <a:extLst>
              <a:ext uri="{FF2B5EF4-FFF2-40B4-BE49-F238E27FC236}">
                <a16:creationId xmlns:a16="http://schemas.microsoft.com/office/drawing/2014/main" id="{E586E4C6-14B1-F543-4591-2B09B6144556}"/>
              </a:ext>
            </a:extLst>
          </p:cNvPr>
          <p:cNvSpPr txBox="1"/>
          <p:nvPr/>
        </p:nvSpPr>
        <p:spPr>
          <a:xfrm>
            <a:off x="4172554" y="4039008"/>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Features</a:t>
            </a:r>
            <a:endParaRPr lang="ko-KR" altLang="en-US" dirty="0"/>
          </a:p>
        </p:txBody>
      </p:sp>
      <p:grpSp>
        <p:nvGrpSpPr>
          <p:cNvPr id="45" name="그룹 44">
            <a:extLst>
              <a:ext uri="{FF2B5EF4-FFF2-40B4-BE49-F238E27FC236}">
                <a16:creationId xmlns:a16="http://schemas.microsoft.com/office/drawing/2014/main" id="{9C0C4996-B744-BE18-85BE-8DF256EB4B70}"/>
              </a:ext>
            </a:extLst>
          </p:cNvPr>
          <p:cNvGrpSpPr/>
          <p:nvPr/>
        </p:nvGrpSpPr>
        <p:grpSpPr>
          <a:xfrm>
            <a:off x="6098486" y="2719353"/>
            <a:ext cx="2946271" cy="636916"/>
            <a:chOff x="6321312" y="3880271"/>
            <a:chExt cx="3315854" cy="636916"/>
          </a:xfrm>
        </p:grpSpPr>
        <p:sp>
          <p:nvSpPr>
            <p:cNvPr id="36" name="직사각형 35">
              <a:extLst>
                <a:ext uri="{FF2B5EF4-FFF2-40B4-BE49-F238E27FC236}">
                  <a16:creationId xmlns:a16="http://schemas.microsoft.com/office/drawing/2014/main" id="{900C4380-D67C-1D16-33AC-E44DCC5B8F85}"/>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2" name="직사각형 41">
              <a:extLst>
                <a:ext uri="{FF2B5EF4-FFF2-40B4-BE49-F238E27FC236}">
                  <a16:creationId xmlns:a16="http://schemas.microsoft.com/office/drawing/2014/main" id="{4F1C9751-6E87-348A-93D2-E5B9AA4BF401}"/>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4" name="직사각형 43">
              <a:extLst>
                <a:ext uri="{FF2B5EF4-FFF2-40B4-BE49-F238E27FC236}">
                  <a16:creationId xmlns:a16="http://schemas.microsoft.com/office/drawing/2014/main" id="{22818226-95B9-12CB-A77C-3DC6C47E9114}"/>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46" name="그룹 45">
            <a:extLst>
              <a:ext uri="{FF2B5EF4-FFF2-40B4-BE49-F238E27FC236}">
                <a16:creationId xmlns:a16="http://schemas.microsoft.com/office/drawing/2014/main" id="{1B2901AC-8421-07E1-B759-0359A5F83D2A}"/>
              </a:ext>
            </a:extLst>
          </p:cNvPr>
          <p:cNvGrpSpPr/>
          <p:nvPr/>
        </p:nvGrpSpPr>
        <p:grpSpPr>
          <a:xfrm>
            <a:off x="6839669" y="3197222"/>
            <a:ext cx="2946271" cy="636916"/>
            <a:chOff x="6321312" y="3880271"/>
            <a:chExt cx="3315854" cy="636916"/>
          </a:xfrm>
        </p:grpSpPr>
        <p:sp>
          <p:nvSpPr>
            <p:cNvPr id="47" name="직사각형 46">
              <a:extLst>
                <a:ext uri="{FF2B5EF4-FFF2-40B4-BE49-F238E27FC236}">
                  <a16:creationId xmlns:a16="http://schemas.microsoft.com/office/drawing/2014/main" id="{972E61A9-C738-B591-252C-685C9958C59E}"/>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8" name="직사각형 47">
              <a:extLst>
                <a:ext uri="{FF2B5EF4-FFF2-40B4-BE49-F238E27FC236}">
                  <a16:creationId xmlns:a16="http://schemas.microsoft.com/office/drawing/2014/main" id="{927B379D-1C92-EC8B-198A-B77D5E4FE1CE}"/>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9" name="직사각형 48">
              <a:extLst>
                <a:ext uri="{FF2B5EF4-FFF2-40B4-BE49-F238E27FC236}">
                  <a16:creationId xmlns:a16="http://schemas.microsoft.com/office/drawing/2014/main" id="{BFCC0B5D-3ADF-5E47-BD33-CEE1F99E5016}"/>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50" name="그룹 49">
            <a:extLst>
              <a:ext uri="{FF2B5EF4-FFF2-40B4-BE49-F238E27FC236}">
                <a16:creationId xmlns:a16="http://schemas.microsoft.com/office/drawing/2014/main" id="{18CB0161-A4DE-16FA-F0E6-9D3B7E6AFB40}"/>
              </a:ext>
            </a:extLst>
          </p:cNvPr>
          <p:cNvGrpSpPr/>
          <p:nvPr/>
        </p:nvGrpSpPr>
        <p:grpSpPr>
          <a:xfrm>
            <a:off x="7573898" y="3734208"/>
            <a:ext cx="2946271" cy="636916"/>
            <a:chOff x="6321312" y="3880271"/>
            <a:chExt cx="3315854" cy="636916"/>
          </a:xfrm>
        </p:grpSpPr>
        <p:sp>
          <p:nvSpPr>
            <p:cNvPr id="51" name="직사각형 50">
              <a:extLst>
                <a:ext uri="{FF2B5EF4-FFF2-40B4-BE49-F238E27FC236}">
                  <a16:creationId xmlns:a16="http://schemas.microsoft.com/office/drawing/2014/main" id="{2A6D9CCA-C00A-900C-A0F7-C00623055840}"/>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2" name="직사각형 51">
              <a:extLst>
                <a:ext uri="{FF2B5EF4-FFF2-40B4-BE49-F238E27FC236}">
                  <a16:creationId xmlns:a16="http://schemas.microsoft.com/office/drawing/2014/main" id="{42ADC2EE-04AF-6E3C-72FD-EE66E5ADCA15}"/>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3" name="직사각형 52">
              <a:extLst>
                <a:ext uri="{FF2B5EF4-FFF2-40B4-BE49-F238E27FC236}">
                  <a16:creationId xmlns:a16="http://schemas.microsoft.com/office/drawing/2014/main" id="{1545AFA9-4729-B3EC-D78D-5602985B2E70}"/>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sp>
        <p:nvSpPr>
          <p:cNvPr id="55" name="TextBox 54">
            <a:extLst>
              <a:ext uri="{FF2B5EF4-FFF2-40B4-BE49-F238E27FC236}">
                <a16:creationId xmlns:a16="http://schemas.microsoft.com/office/drawing/2014/main" id="{7CB97179-F8E8-E6F0-0A7E-C56220BACE27}"/>
              </a:ext>
            </a:extLst>
          </p:cNvPr>
          <p:cNvSpPr txBox="1"/>
          <p:nvPr/>
        </p:nvSpPr>
        <p:spPr>
          <a:xfrm>
            <a:off x="6658621" y="5623537"/>
            <a:ext cx="3990394"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a:t>
            </a:r>
            <a:r>
              <a:rPr lang="ko-KR" altLang="ko-KR" sz="1400" dirty="0">
                <a:solidFill>
                  <a:schemeClr val="bg1"/>
                </a:solidFill>
                <a:latin typeface="D2Coding" panose="020B0609020101020101" pitchFamily="49" charset="-127"/>
                <a:ea typeface="D2Coding" panose="020B0609020101020101" pitchFamily="49" charset="-127"/>
              </a:rPr>
              <a:t>10, 3, 365</a:t>
            </a:r>
            <a:r>
              <a:rPr lang="en-US" altLang="ko-KR" sz="1400" dirty="0">
                <a:solidFill>
                  <a:schemeClr val="bg1"/>
                </a:solidFill>
                <a:latin typeface="D2Coding" panose="020B0609020101020101" pitchFamily="49" charset="-127"/>
                <a:ea typeface="D2Coding" panose="020B0609020101020101" pitchFamily="49" charset="-127"/>
              </a:rPr>
              <a:t>) =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Channel,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57" name="TextBox 56">
            <a:extLst>
              <a:ext uri="{FF2B5EF4-FFF2-40B4-BE49-F238E27FC236}">
                <a16:creationId xmlns:a16="http://schemas.microsoft.com/office/drawing/2014/main" id="{CBB1551D-D2C7-E764-581E-1AD5C6A9436A}"/>
              </a:ext>
            </a:extLst>
          </p:cNvPr>
          <p:cNvSpPr txBox="1"/>
          <p:nvPr/>
        </p:nvSpPr>
        <p:spPr>
          <a:xfrm>
            <a:off x="6658621"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1D Convnet</a:t>
            </a:r>
            <a:endParaRPr lang="ko-KR" altLang="en-US" dirty="0">
              <a:solidFill>
                <a:schemeClr val="bg1"/>
              </a:solidFill>
            </a:endParaRPr>
          </a:p>
        </p:txBody>
      </p:sp>
      <p:sp>
        <p:nvSpPr>
          <p:cNvPr id="59" name="TextBox 58">
            <a:extLst>
              <a:ext uri="{FF2B5EF4-FFF2-40B4-BE49-F238E27FC236}">
                <a16:creationId xmlns:a16="http://schemas.microsoft.com/office/drawing/2014/main" id="{ED9B1B02-C4B8-A728-1D8B-A92106D5E056}"/>
              </a:ext>
            </a:extLst>
          </p:cNvPr>
          <p:cNvSpPr txBox="1"/>
          <p:nvPr/>
        </p:nvSpPr>
        <p:spPr>
          <a:xfrm>
            <a:off x="882300"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RNN</a:t>
            </a:r>
            <a:endParaRPr lang="ko-KR" altLang="en-US" dirty="0">
              <a:solidFill>
                <a:schemeClr val="bg1"/>
              </a:solidFill>
            </a:endParaRPr>
          </a:p>
        </p:txBody>
      </p:sp>
      <p:cxnSp>
        <p:nvCxnSpPr>
          <p:cNvPr id="61" name="직선 화살표 연결선 60">
            <a:extLst>
              <a:ext uri="{FF2B5EF4-FFF2-40B4-BE49-F238E27FC236}">
                <a16:creationId xmlns:a16="http://schemas.microsoft.com/office/drawing/2014/main" id="{99D9EF10-5E5C-B92C-0B5F-076B03A6ED6B}"/>
              </a:ext>
            </a:extLst>
          </p:cNvPr>
          <p:cNvCxnSpPr/>
          <p:nvPr/>
        </p:nvCxnSpPr>
        <p:spPr>
          <a:xfrm>
            <a:off x="5015345" y="3834138"/>
            <a:ext cx="88917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956410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B04EE-2644-EC70-C999-0B66D2DBC96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CDC5373-6B20-0263-9D7D-7CFF9FB4875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Strengths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of</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 </a:t>
            </a:r>
          </a:p>
        </p:txBody>
      </p:sp>
      <p:sp>
        <p:nvSpPr>
          <p:cNvPr id="2" name="슬라이드 번호 개체 틀 3">
            <a:extLst>
              <a:ext uri="{FF2B5EF4-FFF2-40B4-BE49-F238E27FC236}">
                <a16:creationId xmlns:a16="http://schemas.microsoft.com/office/drawing/2014/main" id="{7D2DD83A-878F-FF40-28DA-F6673ED2AF5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0" name="TextBox 9">
            <a:extLst>
              <a:ext uri="{FF2B5EF4-FFF2-40B4-BE49-F238E27FC236}">
                <a16:creationId xmlns:a16="http://schemas.microsoft.com/office/drawing/2014/main" id="{24337481-CA88-E348-2DE3-4E755CE750EC}"/>
              </a:ext>
            </a:extLst>
          </p:cNvPr>
          <p:cNvSpPr txBox="1"/>
          <p:nvPr/>
        </p:nvSpPr>
        <p:spPr>
          <a:xfrm>
            <a:off x="581630" y="1248422"/>
            <a:ext cx="11134725" cy="5183791"/>
          </a:xfrm>
          <a:prstGeom prst="rect">
            <a:avLst/>
          </a:prstGeom>
          <a:no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1. </a:t>
            </a:r>
            <a:r>
              <a:rPr lang="ko-KR" altLang="en-US" sz="1600" dirty="0">
                <a:latin typeface="D2Coding" panose="020B0609020101020101" pitchFamily="49" charset="-127"/>
                <a:ea typeface="D2Coding" panose="020B0609020101020101" pitchFamily="49" charset="-127"/>
              </a:rPr>
              <a:t>자동 특성 추출 </a:t>
            </a:r>
            <a:r>
              <a:rPr lang="en-US" altLang="ko-KR" sz="1600" dirty="0">
                <a:latin typeface="D2Coding" panose="020B0609020101020101" pitchFamily="49" charset="-127"/>
                <a:ea typeface="D2Coding" panose="020B0609020101020101" pitchFamily="49" charset="-127"/>
              </a:rPr>
              <a:t>(Automatic Feature Extraction)</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Moving Average</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14</a:t>
            </a:r>
            <a:r>
              <a:rPr lang="ko-KR" altLang="en-US" sz="1400" dirty="0">
                <a:latin typeface="D2Coding" panose="020B0609020101020101" pitchFamily="49" charset="-127"/>
                <a:ea typeface="D2Coding" panose="020B0609020101020101" pitchFamily="49" charset="-127"/>
              </a:rPr>
              <a:t>일 등 지정된 기간 동안의 단순 평균값만 계산하므로 정보가 극도로 단축</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평탄화</a:t>
            </a:r>
            <a:r>
              <a:rPr lang="en-US" altLang="ko-KR" sz="1400" dirty="0">
                <a:latin typeface="D2Coding" panose="020B0609020101020101" pitchFamily="49" charset="-127"/>
                <a:ea typeface="D2Coding" panose="020B0609020101020101" pitchFamily="49" charset="-127"/>
              </a:rPr>
              <a:t>(Smoothing)</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급격한 변동</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골든크로스</a:t>
            </a:r>
            <a:r>
              <a:rPr lang="en-US" altLang="ko-KR" sz="1400" dirty="0">
                <a:latin typeface="D2Coding" panose="020B0609020101020101" pitchFamily="49" charset="-127"/>
                <a:ea typeface="D2Coding" panose="020B0609020101020101" pitchFamily="49" charset="-127"/>
              </a:rPr>
              <a:t>/</a:t>
            </a:r>
            <a:r>
              <a:rPr lang="ko-KR" altLang="en-US" sz="1400" dirty="0" err="1">
                <a:latin typeface="D2Coding" panose="020B0609020101020101" pitchFamily="49" charset="-127"/>
                <a:ea typeface="D2Coding" panose="020B0609020101020101" pitchFamily="49" charset="-127"/>
              </a:rPr>
              <a:t>데드크로스</a:t>
            </a:r>
            <a:r>
              <a:rPr lang="ko-KR" altLang="en-US" sz="1400" dirty="0">
                <a:latin typeface="D2Coding" panose="020B0609020101020101" pitchFamily="49" charset="-127"/>
                <a:ea typeface="D2Coding" panose="020B0609020101020101" pitchFamily="49" charset="-127"/>
              </a:rPr>
              <a:t> 형태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변동성 패턴 등 복잡한 시상 패턴</a:t>
            </a:r>
            <a:r>
              <a:rPr lang="en-US" altLang="ko-KR" sz="1400" dirty="0">
                <a:latin typeface="D2Coding" panose="020B0609020101020101" pitchFamily="49" charset="-127"/>
                <a:ea typeface="D2Coding" panose="020B0609020101020101" pitchFamily="49" charset="-127"/>
              </a:rPr>
              <a:t>(Temporal Pattern)</a:t>
            </a:r>
            <a:r>
              <a:rPr lang="ko-KR" altLang="en-US" sz="1400" dirty="0">
                <a:latin typeface="D2Coding" panose="020B0609020101020101" pitchFamily="49" charset="-127"/>
                <a:ea typeface="D2Coding" panose="020B0609020101020101" pitchFamily="49" charset="-127"/>
              </a:rPr>
              <a:t>을 포착하지 못함</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필터</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의 가중치가 학습 과정에서 최적화되면서 단순 평균이 아닌 최적의 패턴 </a:t>
            </a:r>
            <a:r>
              <a:rPr lang="ko-KR" altLang="en-US" sz="1400" dirty="0" err="1">
                <a:latin typeface="D2Coding" panose="020B0609020101020101" pitchFamily="49" charset="-127"/>
                <a:ea typeface="D2Coding" panose="020B0609020101020101" pitchFamily="49" charset="-127"/>
              </a:rPr>
              <a:t>추출기</a:t>
            </a:r>
            <a:r>
              <a:rPr lang="ko-KR" altLang="en-US" sz="1400" dirty="0">
                <a:latin typeface="D2Coding" panose="020B0609020101020101" pitchFamily="49" charset="-127"/>
                <a:ea typeface="D2Coding" panose="020B0609020101020101" pitchFamily="49" charset="-127"/>
              </a:rPr>
              <a:t> 역할을 수행</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상승</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하강 추세</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특정 급등락 모양</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모멘텀 등 다양한 국소적 비선형 패턴을 자동으로 탐지</a:t>
            </a:r>
            <a:endParaRPr lang="en-US" altLang="ko-KR" sz="1600" dirty="0">
              <a:latin typeface="D2Coding" panose="020B0609020101020101" pitchFamily="49" charset="-127"/>
              <a:ea typeface="D2Coding" panose="020B0609020101020101" pitchFamily="49" charset="-127"/>
            </a:endParaRPr>
          </a:p>
          <a:p>
            <a:pPr>
              <a:lnSpc>
                <a:spcPct val="150000"/>
              </a:lnSpc>
            </a:pP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다중 스케일</a:t>
            </a:r>
            <a:r>
              <a:rPr lang="en-US" altLang="ko-KR" sz="1600" dirty="0">
                <a:latin typeface="D2Coding" panose="020B0609020101020101" pitchFamily="49" charset="-127"/>
                <a:ea typeface="D2Coding" panose="020B0609020101020101" pitchFamily="49" charset="-127"/>
              </a:rPr>
              <a:t>(Multi-scale) </a:t>
            </a:r>
            <a:r>
              <a:rPr lang="ko-KR" altLang="en-US" sz="1600" dirty="0">
                <a:latin typeface="D2Coding" panose="020B0609020101020101" pitchFamily="49" charset="-127"/>
                <a:ea typeface="D2Coding" panose="020B0609020101020101" pitchFamily="49" charset="-127"/>
              </a:rPr>
              <a:t>국소 특징 동시 학습</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각 이동평균선을 따로 만들어 입력 변수로 넣더라도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입장에서는 그저 단순 피처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개로 취급되어 피처 간 유기적 결합 학습이 제한적</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커널 크기</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kernel_size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3, 5, 7, 14)</a:t>
            </a:r>
            <a:r>
              <a:rPr lang="ko-KR" altLang="en-US" sz="1400" dirty="0">
                <a:latin typeface="D2Coding" panose="020B0609020101020101" pitchFamily="49" charset="-127"/>
                <a:ea typeface="D2Coding" panose="020B0609020101020101" pitchFamily="49" charset="-127"/>
              </a:rPr>
              <a:t>를 다르게 구성하여 </a:t>
            </a:r>
            <a:r>
              <a:rPr lang="ko-KR" altLang="en-US" sz="1400" dirty="0" err="1">
                <a:latin typeface="D2Coding" panose="020B0609020101020101" pitchFamily="49" charset="-127"/>
                <a:ea typeface="D2Coding" panose="020B0609020101020101" pitchFamily="49" charset="-127"/>
              </a:rPr>
              <a:t>초단기</a:t>
            </a: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부터 </a:t>
            </a:r>
            <a:r>
              <a:rPr lang="ko-KR" altLang="en-US" sz="1400" dirty="0" err="1">
                <a:latin typeface="D2Coding" panose="020B0609020101020101" pitchFamily="49" charset="-127"/>
                <a:ea typeface="D2Coding" panose="020B0609020101020101" pitchFamily="49" charset="-127"/>
              </a:rPr>
              <a:t>중단기</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까지의 서로 다른 주기적 패턴을 병렬로 동시 학습</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이후 </a:t>
            </a:r>
            <a:r>
              <a:rPr lang="en-US" altLang="ko-KR" sz="1400" dirty="0">
                <a:latin typeface="D2Coding" panose="020B0609020101020101" pitchFamily="49" charset="-127"/>
                <a:ea typeface="D2Coding" panose="020B0609020101020101" pitchFamily="49" charset="-127"/>
              </a:rPr>
              <a:t>Concatenate</a:t>
            </a:r>
            <a:r>
              <a:rPr lang="ko-KR" altLang="en-US" sz="1400" dirty="0">
                <a:latin typeface="D2Coding" panose="020B0609020101020101" pitchFamily="49" charset="-127"/>
                <a:ea typeface="D2Coding" panose="020B0609020101020101" pitchFamily="49" charset="-127"/>
              </a:rPr>
              <a:t> 단계를 통해 단기 및 </a:t>
            </a:r>
            <a:r>
              <a:rPr lang="ko-KR" altLang="en-US" sz="1400" dirty="0" err="1">
                <a:latin typeface="D2Coding" panose="020B0609020101020101" pitchFamily="49" charset="-127"/>
                <a:ea typeface="D2Coding" panose="020B0609020101020101" pitchFamily="49" charset="-127"/>
              </a:rPr>
              <a:t>중단기</a:t>
            </a:r>
            <a:r>
              <a:rPr lang="ko-KR" altLang="en-US" sz="1400" dirty="0">
                <a:latin typeface="D2Coding" panose="020B0609020101020101" pitchFamily="49" charset="-127"/>
                <a:ea typeface="D2Coding" panose="020B0609020101020101" pitchFamily="49" charset="-127"/>
              </a:rPr>
              <a:t> 특징의 상호작용</a:t>
            </a:r>
            <a:r>
              <a:rPr lang="en-US" altLang="ko-KR" sz="1400" dirty="0">
                <a:latin typeface="D2Coding" panose="020B0609020101020101" pitchFamily="49" charset="-127"/>
                <a:ea typeface="D2Coding" panose="020B0609020101020101" pitchFamily="49" charset="-127"/>
              </a:rPr>
              <a:t>(Interaction)</a:t>
            </a:r>
            <a:r>
              <a:rPr lang="ko-KR" altLang="en-US" sz="1400" dirty="0">
                <a:latin typeface="D2Coding" panose="020B0609020101020101" pitchFamily="49" charset="-127"/>
                <a:ea typeface="D2Coding" panose="020B0609020101020101" pitchFamily="49" charset="-127"/>
              </a:rPr>
              <a:t>을 고차원 표현으로 결합해 활용</a:t>
            </a:r>
            <a:endParaRPr lang="en-US" altLang="ko-KR" sz="14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7362819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ABF7C-488E-F861-D370-934319EB3A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174C518-5F3D-E9BB-19B6-93251A6C835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E0FB1267-35A4-2FA1-34EC-BD0A506CA156}"/>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8" name="그림 7">
            <a:extLst>
              <a:ext uri="{FF2B5EF4-FFF2-40B4-BE49-F238E27FC236}">
                <a16:creationId xmlns:a16="http://schemas.microsoft.com/office/drawing/2014/main" id="{7438BB7B-1378-BF5D-CDF3-539725075822}"/>
              </a:ext>
            </a:extLst>
          </p:cNvPr>
          <p:cNvPicPr>
            <a:picLocks noChangeAspect="1"/>
          </p:cNvPicPr>
          <p:nvPr/>
        </p:nvPicPr>
        <p:blipFill>
          <a:blip r:embed="rId2"/>
          <a:stretch>
            <a:fillRect/>
          </a:stretch>
        </p:blipFill>
        <p:spPr>
          <a:xfrm>
            <a:off x="1266514" y="1367588"/>
            <a:ext cx="8115611" cy="5275146"/>
          </a:xfrm>
          <a:prstGeom prst="rect">
            <a:avLst/>
          </a:prstGeom>
        </p:spPr>
      </p:pic>
    </p:spTree>
    <p:extLst>
      <p:ext uri="{BB962C8B-B14F-4D97-AF65-F5344CB8AC3E}">
        <p14:creationId xmlns:p14="http://schemas.microsoft.com/office/powerpoint/2010/main" val="149117814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7F48E-ED28-FDE3-A2CB-407DBB474C3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B4A4EC-7ADD-3D20-6661-E99EE8CEC58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ACB268DB-A4D8-9636-AB5E-F52DC069579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DE746333-6B63-F8FB-BB0E-7B3389279844}"/>
              </a:ext>
            </a:extLst>
          </p:cNvPr>
          <p:cNvSpPr txBox="1"/>
          <p:nvPr/>
        </p:nvSpPr>
        <p:spPr>
          <a:xfrm>
            <a:off x="581025" y="1451622"/>
            <a:ext cx="11029950" cy="4524315"/>
          </a:xfrm>
          <a:prstGeom prst="rect">
            <a:avLst/>
          </a:prstGeom>
          <a:solidFill>
            <a:srgbClr val="76E3FF"/>
          </a:solidFill>
        </p:spPr>
        <p:txBody>
          <a:bodyPr wrap="square">
            <a:spAutoFit/>
          </a:bodyPr>
          <a:lstStyle/>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tensorflow.keras.layers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Conv1D, GlobalMaxPooling1D, </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Dense</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tensorflow.keras.models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Model</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shape</a:t>
            </a:r>
            <a:r>
              <a:rPr lang="ko-KR" altLang="en-US" sz="1600" dirty="0">
                <a:latin typeface="D2Coding" panose="020B0609020101020101" pitchFamily="49" charset="-127"/>
                <a:ea typeface="D2Coding" panose="020B0609020101020101" pitchFamily="49" charset="-127"/>
              </a:rPr>
              <a:t>=(365, 2))</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3일, 5일, 7일, 14일 패턴 병렬 </a:t>
            </a:r>
            <a:r>
              <a:rPr lang="ko-KR" altLang="en-US" sz="1600" dirty="0" err="1">
                <a:latin typeface="D2Coding" panose="020B0609020101020101" pitchFamily="49" charset="-127"/>
                <a:ea typeface="D2Coding" panose="020B0609020101020101" pitchFamily="49" charset="-127"/>
              </a:rPr>
              <a:t>Convolution</a:t>
            </a:r>
            <a:r>
              <a:rPr lang="ko-KR" altLang="en-US" sz="1600" dirty="0">
                <a:latin typeface="D2Coding" panose="020B0609020101020101" pitchFamily="49" charset="-127"/>
                <a:ea typeface="D2Coding" panose="020B0609020101020101" pitchFamily="49" charset="-127"/>
              </a:rPr>
              <a:t> &amp; Global </a:t>
            </a:r>
            <a:r>
              <a:rPr lang="ko-KR" altLang="en-US" sz="1600" dirty="0" err="1">
                <a:latin typeface="D2Coding" panose="020B0609020101020101" pitchFamily="49" charset="-127"/>
                <a:ea typeface="D2Coding" panose="020B0609020101020101" pitchFamily="49" charset="-127"/>
              </a:rPr>
              <a:t>Max</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Pooling</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b3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=3,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b5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=5,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b7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=7,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b14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=14,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r>
              <a:rPr lang="ko-KR" altLang="en-US" sz="1600" dirty="0">
                <a:latin typeface="D2Coding" panose="020B0609020101020101" pitchFamily="49" charset="-127"/>
                <a:ea typeface="D2Coding" panose="020B0609020101020101" pitchFamily="49" charset="-127"/>
              </a:rPr>
              <a:t> 결과 결합 및 </a:t>
            </a:r>
            <a:r>
              <a:rPr lang="ko-KR" altLang="en-US" sz="1600" dirty="0" err="1">
                <a:latin typeface="D2Coding" panose="020B0609020101020101" pitchFamily="49" charset="-127"/>
                <a:ea typeface="D2Coding" panose="020B0609020101020101" pitchFamily="49" charset="-127"/>
              </a:rPr>
              <a:t>Fully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Connected</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Layers</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(64,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()([b3, b5, b7, b14]))</a:t>
            </a:r>
          </a:p>
          <a:p>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(1,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sigmoid</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모델 생성 및 컴파일</a:t>
            </a:r>
          </a:p>
          <a:p>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a:t>
            </a:r>
          </a:p>
          <a:p>
            <a:r>
              <a:rPr lang="ko-KR" altLang="en-US" sz="1600" dirty="0" err="1">
                <a:latin typeface="D2Coding" panose="020B0609020101020101" pitchFamily="49" charset="-127"/>
                <a:ea typeface="D2Coding" panose="020B0609020101020101" pitchFamily="49" charset="-127"/>
              </a:rPr>
              <a:t>model.compile</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optimizer</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adam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loss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binary_crossentropy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metrics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accuracy</a:t>
            </a:r>
            <a:r>
              <a:rPr lang="ko-KR" altLang="en-US" sz="1600" dirty="0">
                <a:latin typeface="D2Coding" panose="020B0609020101020101" pitchFamily="49" charset="-127"/>
                <a:ea typeface="D2Coding" panose="020B0609020101020101" pitchFamily="49" charset="-127"/>
              </a:rPr>
              <a:t>', 'AUC'])</a:t>
            </a:r>
          </a:p>
        </p:txBody>
      </p:sp>
    </p:spTree>
    <p:extLst>
      <p:ext uri="{BB962C8B-B14F-4D97-AF65-F5344CB8AC3E}">
        <p14:creationId xmlns:p14="http://schemas.microsoft.com/office/powerpoint/2010/main" val="251195729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531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오디오 파형이나 텍스트처럼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패턴이 어디서 나타나든 같은 의미를 가지는</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데이터에 적합</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강아지 이미지가 왼쪽</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오른쪽</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 아래에 있든 똑같이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강아지</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인식하여 데이터의 본질은 변하지 않음</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표현이 글의 맨 앞에 나오든 맨 뒤에 나오든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날씨데이터는 평행이동 불변성</a:t>
            </a:r>
            <a:r>
              <a:rPr lang="en-US" altLang="ko-KR" sz="1400" dirty="0">
                <a:latin typeface="D2Coding" panose="020B0609020101020101" pitchFamily="49" charset="-127"/>
                <a:ea typeface="D2Coding" panose="020B0609020101020101" pitchFamily="49" charset="-127"/>
              </a:rPr>
              <a:t>(Translation Invariance)</a:t>
            </a:r>
            <a:r>
              <a:rPr lang="ko-KR" altLang="en-US" sz="1400" dirty="0">
                <a:latin typeface="D2Coding" panose="020B0609020101020101" pitchFamily="49" charset="-127"/>
                <a:ea typeface="D2Coding" panose="020B0609020101020101" pitchFamily="49" charset="-127"/>
              </a:rPr>
              <a:t>에 적합하지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어느 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공간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어느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에서 발생하더라도 그 본질적인 의미나 성질이 변하지 않고 일정하게 유지되는 성질은</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불필요함</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지역</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계절</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따라 데이터가 가지는 의미와 맥락이 완전히 달라지기 때문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기온 </a:t>
            </a:r>
            <a:r>
              <a:rPr lang="en-US" altLang="ko-KR" sz="1200" dirty="0">
                <a:latin typeface="D2Coding" panose="020B0609020101020101" pitchFamily="49" charset="-127"/>
                <a:ea typeface="D2Coding" panose="020B0609020101020101" pitchFamily="49" charset="-127"/>
              </a:rPr>
              <a:t>30</a:t>
            </a:r>
            <a:r>
              <a:rPr lang="ko-KR" altLang="en-US" sz="1200" dirty="0">
                <a:latin typeface="D2Coding" panose="020B0609020101020101" pitchFamily="49" charset="-127"/>
                <a:ea typeface="D2Coding" panose="020B0609020101020101" pitchFamily="49" charset="-127"/>
              </a:rPr>
              <a:t>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가 적도 지역과 북극 지역에서 나타나는 것은 완전히 다른 의미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이상 기후 등</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이며 </a:t>
            </a:r>
            <a:r>
              <a:rPr lang="en-US" altLang="ko-KR" sz="1200" dirty="0">
                <a:latin typeface="D2Coding" panose="020B0609020101020101" pitchFamily="49" charset="-127"/>
                <a:ea typeface="D2Coding" panose="020B0609020101020101" pitchFamily="49" charset="-127"/>
              </a:rPr>
              <a:t>7</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여름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것과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겨울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것은 맥락이 완전히 다름</a:t>
            </a:r>
            <a:r>
              <a:rPr lang="en-US" altLang="ko-KR" sz="1200" dirty="0">
                <a:latin typeface="D2Coding" panose="020B0609020101020101" pitchFamily="49" charset="-127"/>
                <a:ea typeface="D2Coding" panose="020B0609020101020101" pitchFamily="49" charset="-127"/>
              </a:rPr>
              <a:t>  </a:t>
            </a:r>
            <a:endParaRPr lang="ko-KR" altLang="en-US" sz="12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37854494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xmlns="">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1906410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28445234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AE5B3-1A78-A996-7E41-07BAE1EE7C3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8A4AB4BE-5274-D605-EB3B-1F0EC30803BB}"/>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Anomaly Detection with AE, VAE</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1339289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99333-73CE-BB31-0BD2-CBD390E430F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F4F3051-92D8-549A-D274-C22C510ECE8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47A24271-33E7-74D6-47A4-A4CE436008BF}"/>
              </a:ext>
            </a:extLst>
          </p:cNvPr>
          <p:cNvSpPr txBox="1"/>
          <p:nvPr/>
        </p:nvSpPr>
        <p:spPr>
          <a:xfrm>
            <a:off x="561975" y="1390619"/>
            <a:ext cx="3775393" cy="400110"/>
          </a:xfrm>
          <a:prstGeom prst="rect">
            <a:avLst/>
          </a:prstGeom>
          <a:noFill/>
        </p:spPr>
        <p:txBody>
          <a:bodyPr wrap="none" rtlCol="0">
            <a:spAutoFit/>
          </a:bodyPr>
          <a:lstStyle/>
          <a:p>
            <a:r>
              <a:rPr lang="en-US" altLang="ko-KR" sz="2000" dirty="0" err="1">
                <a:latin typeface="D2Coding" panose="020B0609020101020101" pitchFamily="49" charset="-127"/>
                <a:ea typeface="D2Coding" panose="020B0609020101020101" pitchFamily="49" charset="-127"/>
                <a:hlinkClick r:id="rId2"/>
              </a:rPr>
              <a:t>Timeseries_anomaly_detection</a:t>
            </a:r>
            <a:endParaRPr lang="en-US" altLang="ko-KR" sz="2000" dirty="0">
              <a:latin typeface="D2Coding" panose="020B0609020101020101" pitchFamily="49" charset="-127"/>
              <a:ea typeface="D2Coding" panose="020B0609020101020101" pitchFamily="49" charset="-127"/>
            </a:endParaRPr>
          </a:p>
        </p:txBody>
      </p:sp>
      <p:pic>
        <p:nvPicPr>
          <p:cNvPr id="28674" name="Picture 2" descr="png">
            <a:extLst>
              <a:ext uri="{FF2B5EF4-FFF2-40B4-BE49-F238E27FC236}">
                <a16:creationId xmlns:a16="http://schemas.microsoft.com/office/drawing/2014/main" id="{C2C98C34-52E5-5611-B6EA-87D0ADC17B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7134" y="1561751"/>
            <a:ext cx="5715000" cy="4814266"/>
          </a:xfrm>
          <a:prstGeom prst="rect">
            <a:avLst/>
          </a:prstGeom>
          <a:noFill/>
          <a:extLst>
            <a:ext uri="{909E8E84-426E-40DD-AFC4-6F175D3DCCD1}">
              <a14:hiddenFill xmlns:a14="http://schemas.microsoft.com/office/drawing/2010/main">
                <a:solidFill>
                  <a:srgbClr val="FFFFFF"/>
                </a:solidFill>
              </a14:hiddenFill>
            </a:ext>
          </a:extLst>
        </p:spPr>
      </p:pic>
      <p:pic>
        <p:nvPicPr>
          <p:cNvPr id="5" name="그래픽 4" descr="본문 작성기">
            <a:extLst>
              <a:ext uri="{FF2B5EF4-FFF2-40B4-BE49-F238E27FC236}">
                <a16:creationId xmlns:a16="http://schemas.microsoft.com/office/drawing/2014/main" id="{C82E35D8-6752-158C-9F54-4BEAC76B140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9203785F-22DE-3CB4-9674-1CB3A288B863}"/>
              </a:ext>
            </a:extLst>
          </p:cNvPr>
          <p:cNvSpPr txBox="1"/>
          <p:nvPr/>
        </p:nvSpPr>
        <p:spPr>
          <a:xfrm>
            <a:off x="561975" y="1932926"/>
            <a:ext cx="4162425" cy="2644635"/>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공식 예제 튜토리얼</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Code Examples)</a:t>
            </a:r>
            <a:r>
              <a:rPr lang="ko-KR" altLang="en-US" sz="1400" dirty="0">
                <a:latin typeface="D2Coding" panose="020B0609020101020101" pitchFamily="49" charset="-127"/>
                <a:ea typeface="D2Coding" panose="020B0609020101020101" pitchFamily="49" charset="-127"/>
              </a:rPr>
              <a:t>인 </a:t>
            </a:r>
            <a:r>
              <a:rPr lang="en-US" altLang="ko-KR" sz="1400" dirty="0">
                <a:latin typeface="D2Coding" panose="020B0609020101020101" pitchFamily="49" charset="-127"/>
                <a:ea typeface="D2Coding" panose="020B0609020101020101" pitchFamily="49" charset="-127"/>
                <a:hlinkClick r:id="rId2"/>
              </a:rPr>
              <a:t>"Timeseries anomaly detection using an Autoencoder"</a:t>
            </a:r>
            <a:r>
              <a:rPr lang="ko-KR" altLang="en-US" sz="1400" dirty="0">
                <a:latin typeface="D2Coding" panose="020B0609020101020101" pitchFamily="49" charset="-127"/>
                <a:ea typeface="D2Coding" panose="020B0609020101020101" pitchFamily="49" charset="-127"/>
              </a:rPr>
              <a:t> 코드</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ko-KR" altLang="en-US" sz="1400" dirty="0">
                <a:latin typeface="D2Coding" panose="020B0609020101020101" pitchFamily="49" charset="-127"/>
                <a:ea typeface="D2Coding" panose="020B0609020101020101" pitchFamily="49" charset="-127"/>
              </a:rPr>
              <a:t>의 창시자인 프랑소와 </a:t>
            </a:r>
            <a:r>
              <a:rPr lang="ko-KR" altLang="en-US" sz="1400" dirty="0" err="1">
                <a:latin typeface="D2Coding" panose="020B0609020101020101" pitchFamily="49" charset="-127"/>
                <a:ea typeface="D2Coding" panose="020B0609020101020101" pitchFamily="49" charset="-127"/>
              </a:rPr>
              <a:t>숄레</a:t>
            </a:r>
            <a:r>
              <a:rPr lang="en-US" altLang="ko-KR" sz="1400" dirty="0">
                <a:latin typeface="D2Coding" panose="020B0609020101020101" pitchFamily="49" charset="-127"/>
                <a:ea typeface="D2Coding" panose="020B0609020101020101" pitchFamily="49" charset="-127"/>
              </a:rPr>
              <a:t>(François Chollet) </a:t>
            </a:r>
            <a:r>
              <a:rPr lang="ko-KR" altLang="en-US" sz="1400" dirty="0">
                <a:latin typeface="D2Coding" panose="020B0609020101020101" pitchFamily="49" charset="-127"/>
                <a:ea typeface="D2Coding" panose="020B0609020101020101" pitchFamily="49" charset="-127"/>
              </a:rPr>
              <a:t>및 공식 </a:t>
            </a:r>
            <a:r>
              <a:rPr lang="ko-KR" altLang="en-US" sz="1400" dirty="0" err="1">
                <a:latin typeface="D2Coding" panose="020B0609020101020101" pitchFamily="49" charset="-127"/>
                <a:ea typeface="D2Coding" panose="020B0609020101020101" pitchFamily="49" charset="-127"/>
              </a:rPr>
              <a:t>기여진</a:t>
            </a:r>
            <a:r>
              <a:rPr lang="en-US" altLang="ko-KR" sz="1400" dirty="0">
                <a:latin typeface="D2Coding" panose="020B0609020101020101" pitchFamily="49" charset="-127"/>
                <a:ea typeface="D2Coding" panose="020B0609020101020101" pitchFamily="49" charset="-127"/>
              </a:rPr>
              <a:t>(Pavithra Vijay)</a:t>
            </a:r>
            <a:r>
              <a:rPr lang="ko-KR" altLang="en-US" sz="1400" dirty="0">
                <a:latin typeface="D2Coding" panose="020B0609020101020101" pitchFamily="49" charset="-127"/>
                <a:ea typeface="D2Coding" panose="020B0609020101020101" pitchFamily="49" charset="-127"/>
              </a:rPr>
              <a:t>이 제작한 이 공식 예제 코드</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국내외 수많은 </a:t>
            </a:r>
            <a:r>
              <a:rPr lang="ko-KR" altLang="en-US" sz="1400" b="1" dirty="0">
                <a:latin typeface="D2Coding" panose="020B0609020101020101" pitchFamily="49" charset="-127"/>
                <a:ea typeface="D2Coding" panose="020B0609020101020101" pitchFamily="49" charset="-127"/>
              </a:rPr>
              <a:t>딥러닝</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시계열 교재 및 인강 강의</a:t>
            </a:r>
            <a:r>
              <a:rPr lang="ko-KR" altLang="en-US" sz="1400" dirty="0">
                <a:latin typeface="D2Coding" panose="020B0609020101020101" pitchFamily="49" charset="-127"/>
                <a:ea typeface="D2Coding" panose="020B0609020101020101" pitchFamily="49" charset="-127"/>
              </a:rPr>
              <a:t>에서 시계열 이상 탐지의 표준 예제</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AFFB4535-EB17-BF93-971E-E63D5E01C0C6}"/>
              </a:ext>
            </a:extLst>
          </p:cNvPr>
          <p:cNvSpPr txBox="1"/>
          <p:nvPr/>
        </p:nvSpPr>
        <p:spPr>
          <a:xfrm>
            <a:off x="561975" y="6148882"/>
            <a:ext cx="6096000" cy="369332"/>
          </a:xfrm>
          <a:prstGeom prst="rect">
            <a:avLst/>
          </a:prstGeom>
          <a:noFill/>
        </p:spPr>
        <p:txBody>
          <a:bodyPr wrap="square">
            <a:spAutoFit/>
          </a:bodyPr>
          <a:lstStyle/>
          <a:p>
            <a:r>
              <a:rPr lang="en-US" altLang="ko-KR" sz="1800" dirty="0">
                <a:latin typeface="D2Coding" panose="020B0609020101020101" pitchFamily="49" charset="-127"/>
                <a:ea typeface="D2Coding" panose="020B0609020101020101" pitchFamily="49" charset="-127"/>
                <a:hlinkClick r:id="rId6"/>
              </a:rPr>
              <a:t>AI-with-python</a:t>
            </a:r>
            <a:endParaRPr lang="ko-KR" altLang="en-US" sz="18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92949475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B13F0-E02B-1045-51FB-989F0FE7193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B9B3B85-5E52-9230-DD95-4F3B089BF07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B0D8A624-4058-8026-A73F-C5213C059A3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744D28E1-77DA-DB1C-B399-F4CF67311ED3}"/>
              </a:ext>
            </a:extLst>
          </p:cNvPr>
          <p:cNvSpPr txBox="1"/>
          <p:nvPr/>
        </p:nvSpPr>
        <p:spPr>
          <a:xfrm>
            <a:off x="581543" y="1913206"/>
            <a:ext cx="5343007" cy="460959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keras.Sequential</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[1], </a:t>
            </a:r>
          </a:p>
          <a:p>
            <a:pPr>
              <a:lnSpc>
                <a:spcPts val="1575"/>
              </a:lnSpc>
              <a:buNone/>
            </a:pPr>
            <a:r>
              <a:rPr lang="en-US" altLang="ko-KR" sz="1600" dirty="0">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[2])),</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filters=32,</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(rate=0.2),</a:t>
            </a: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filters=16,</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p:txBody>
      </p:sp>
      <p:sp>
        <p:nvSpPr>
          <p:cNvPr id="8" name="TextBox 7">
            <a:extLst>
              <a:ext uri="{FF2B5EF4-FFF2-40B4-BE49-F238E27FC236}">
                <a16:creationId xmlns:a16="http://schemas.microsoft.com/office/drawing/2014/main" id="{4D587B2E-C0D6-A7A1-9B0C-FF100E202028}"/>
              </a:ext>
            </a:extLst>
          </p:cNvPr>
          <p:cNvSpPr txBox="1"/>
          <p:nvPr/>
        </p:nvSpPr>
        <p:spPr>
          <a:xfrm>
            <a:off x="6239394" y="1916412"/>
            <a:ext cx="5371063" cy="4609595"/>
          </a:xfrm>
          <a:prstGeom prst="rect">
            <a:avLst/>
          </a:prstGeom>
          <a:solidFill>
            <a:srgbClr val="76E3FF"/>
          </a:solidFill>
        </p:spPr>
        <p:txBody>
          <a:bodyPr wrap="square">
            <a:spAutoFit/>
          </a:bodyPr>
          <a:lstStyle/>
          <a:p>
            <a:pPr>
              <a:lnSpc>
                <a:spcPts val="1575"/>
              </a:lnSpc>
            </a:pPr>
            <a:r>
              <a:rPr lang="en-US" altLang="ko-KR" sz="1600" dirty="0">
                <a:latin typeface="D2Coding" panose="020B0609020101020101" pitchFamily="49" charset="-127"/>
                <a:ea typeface="D2Coding" panose="020B0609020101020101" pitchFamily="49" charset="-127"/>
              </a:rPr>
              <a:t>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filters=16,</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layers.Dropout</a:t>
            </a:r>
            <a:r>
              <a:rPr lang="en-US" altLang="ko-KR" sz="1600" dirty="0">
                <a:latin typeface="D2Coding" panose="020B0609020101020101" pitchFamily="49" charset="-127"/>
                <a:ea typeface="D2Coding" panose="020B0609020101020101" pitchFamily="49" charset="-127"/>
              </a:rPr>
              <a:t>(rate=0.2),</a:t>
            </a:r>
          </a:p>
          <a:p>
            <a:pPr>
              <a:lnSpc>
                <a:spcPts val="1575"/>
              </a:lnSpc>
            </a:pPr>
            <a:r>
              <a:rPr lang="en-US" altLang="ko-KR" sz="1600" dirty="0">
                <a:latin typeface="D2Coding" panose="020B0609020101020101" pitchFamily="49" charset="-127"/>
                <a:ea typeface="D2Coding" panose="020B0609020101020101" pitchFamily="49" charset="-127"/>
              </a:rPr>
              <a:t>        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filters=32,</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layers.Conv1DTranspose(filters=1, </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 </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D37E28F6-6F3B-6339-FB54-A19DE95E7877}"/>
              </a:ext>
            </a:extLst>
          </p:cNvPr>
          <p:cNvSpPr txBox="1"/>
          <p:nvPr/>
        </p:nvSpPr>
        <p:spPr>
          <a:xfrm>
            <a:off x="581544" y="1539508"/>
            <a:ext cx="5343006"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Encoder</a:t>
            </a:r>
            <a:endParaRPr lang="ko-KR" altLang="en-US" dirty="0">
              <a:solidFill>
                <a:schemeClr val="bg1"/>
              </a:solidFill>
            </a:endParaRPr>
          </a:p>
        </p:txBody>
      </p:sp>
      <p:sp>
        <p:nvSpPr>
          <p:cNvPr id="11" name="TextBox 10">
            <a:extLst>
              <a:ext uri="{FF2B5EF4-FFF2-40B4-BE49-F238E27FC236}">
                <a16:creationId xmlns:a16="http://schemas.microsoft.com/office/drawing/2014/main" id="{1646B48A-D1C5-50CB-84C8-297D8286B0A5}"/>
              </a:ext>
            </a:extLst>
          </p:cNvPr>
          <p:cNvSpPr txBox="1"/>
          <p:nvPr/>
        </p:nvSpPr>
        <p:spPr>
          <a:xfrm>
            <a:off x="6239394" y="1539508"/>
            <a:ext cx="5371062"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Decoder</a:t>
            </a:r>
            <a:endParaRPr lang="ko-KR" altLang="en-US" dirty="0">
              <a:solidFill>
                <a:schemeClr val="bg1"/>
              </a:solidFill>
            </a:endParaRPr>
          </a:p>
        </p:txBody>
      </p:sp>
      <p:sp>
        <p:nvSpPr>
          <p:cNvPr id="13" name="설명선: 굽은 선(강조선) 12">
            <a:extLst>
              <a:ext uri="{FF2B5EF4-FFF2-40B4-BE49-F238E27FC236}">
                <a16:creationId xmlns:a16="http://schemas.microsoft.com/office/drawing/2014/main" id="{308A29D8-42FB-A163-C36A-816498E63113}"/>
              </a:ext>
            </a:extLst>
          </p:cNvPr>
          <p:cNvSpPr/>
          <p:nvPr/>
        </p:nvSpPr>
        <p:spPr>
          <a:xfrm>
            <a:off x="4476189" y="4901536"/>
            <a:ext cx="1448362" cy="1365914"/>
          </a:xfrm>
          <a:prstGeom prst="accentCallout2">
            <a:avLst>
              <a:gd name="adj1" fmla="val 18750"/>
              <a:gd name="adj2" fmla="val -8333"/>
              <a:gd name="adj3" fmla="val 18750"/>
              <a:gd name="adj4" fmla="val -16667"/>
              <a:gd name="adj5" fmla="val 35915"/>
              <a:gd name="adj6" fmla="val -56125"/>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solidFill>
                  <a:schemeClr val="bg1"/>
                </a:solidFill>
                <a:latin typeface="D2Coding" panose="020B0609020101020101" pitchFamily="49" charset="-127"/>
                <a:ea typeface="D2Coding" panose="020B0609020101020101" pitchFamily="49" charset="-127"/>
              </a:rPr>
              <a:t>latent space</a:t>
            </a:r>
            <a:r>
              <a:rPr lang="ko-KR" altLang="en-US" sz="1200" dirty="0">
                <a:solidFill>
                  <a:schemeClr val="bg1"/>
                </a:solidFill>
                <a:latin typeface="D2Coding" panose="020B0609020101020101" pitchFamily="49" charset="-127"/>
                <a:ea typeface="D2Coding" panose="020B0609020101020101" pitchFamily="49" charset="-127"/>
              </a:rPr>
              <a:t>는 </a:t>
            </a:r>
            <a:r>
              <a:rPr lang="ko-KR" altLang="en-US" sz="1200" b="1" dirty="0">
                <a:solidFill>
                  <a:schemeClr val="bg1"/>
                </a:solidFill>
                <a:latin typeface="D2Coding" panose="020B0609020101020101" pitchFamily="49" charset="-127"/>
                <a:ea typeface="D2Coding" panose="020B0609020101020101" pitchFamily="49" charset="-127"/>
              </a:rPr>
              <a:t>하나의 벡터가 아니라</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길이 </a:t>
            </a:r>
            <a:r>
              <a:rPr lang="en-US" altLang="ko-KR" sz="1200" b="1" dirty="0">
                <a:solidFill>
                  <a:schemeClr val="bg1"/>
                </a:solidFill>
                <a:latin typeface="D2Coding" panose="020B0609020101020101" pitchFamily="49" charset="-127"/>
                <a:ea typeface="D2Coding" panose="020B0609020101020101" pitchFamily="49" charset="-127"/>
              </a:rPr>
              <a:t>72</a:t>
            </a:r>
            <a:r>
              <a:rPr lang="ko-KR" altLang="en-US" sz="1200" b="1" dirty="0">
                <a:solidFill>
                  <a:schemeClr val="bg1"/>
                </a:solidFill>
                <a:latin typeface="D2Coding" panose="020B0609020101020101" pitchFamily="49" charset="-127"/>
                <a:ea typeface="D2Coding" panose="020B0609020101020101" pitchFamily="49" charset="-127"/>
              </a:rPr>
              <a:t>에 채널이 </a:t>
            </a:r>
            <a:r>
              <a:rPr lang="en-US" altLang="ko-KR" sz="1200" b="1" dirty="0">
                <a:solidFill>
                  <a:schemeClr val="bg1"/>
                </a:solidFill>
                <a:latin typeface="D2Coding" panose="020B0609020101020101" pitchFamily="49" charset="-127"/>
                <a:ea typeface="D2Coding" panose="020B0609020101020101" pitchFamily="49" charset="-127"/>
              </a:rPr>
              <a:t>16</a:t>
            </a:r>
            <a:r>
              <a:rPr lang="ko-KR" altLang="en-US" sz="1200" b="1" dirty="0">
                <a:solidFill>
                  <a:schemeClr val="bg1"/>
                </a:solidFill>
                <a:latin typeface="D2Coding" panose="020B0609020101020101" pitchFamily="49" charset="-127"/>
                <a:ea typeface="D2Coding" panose="020B0609020101020101" pitchFamily="49" charset="-127"/>
              </a:rPr>
              <a:t>개인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압축된 시계열</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4" name="설명선: 굽은 선(강조선) 13">
            <a:extLst>
              <a:ext uri="{FF2B5EF4-FFF2-40B4-BE49-F238E27FC236}">
                <a16:creationId xmlns:a16="http://schemas.microsoft.com/office/drawing/2014/main" id="{ED45ED6C-1852-7EF6-E8A7-1274E84A36E2}"/>
              </a:ext>
            </a:extLst>
          </p:cNvPr>
          <p:cNvSpPr/>
          <p:nvPr/>
        </p:nvSpPr>
        <p:spPr>
          <a:xfrm>
            <a:off x="10581476" y="4568161"/>
            <a:ext cx="1448362" cy="762000"/>
          </a:xfrm>
          <a:prstGeom prst="accentCallout2">
            <a:avLst>
              <a:gd name="adj1" fmla="val 18750"/>
              <a:gd name="adj2" fmla="val -8333"/>
              <a:gd name="adj3" fmla="val 18750"/>
              <a:gd name="adj4" fmla="val -16667"/>
              <a:gd name="adj5" fmla="val 98716"/>
              <a:gd name="adj6" fmla="val -59413"/>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bg1"/>
                </a:solidFill>
                <a:latin typeface="D2Coding" panose="020B0609020101020101" pitchFamily="49" charset="-127"/>
                <a:ea typeface="D2Coding" panose="020B0609020101020101" pitchFamily="49" charset="-127"/>
              </a:rPr>
              <a:t>출력층은 입력층과 </a:t>
            </a:r>
            <a:r>
              <a:rPr lang="en-US" altLang="ko-KR" sz="1200" dirty="0">
                <a:solidFill>
                  <a:schemeClr val="bg1"/>
                </a:solidFill>
                <a:latin typeface="D2Coding" panose="020B0609020101020101" pitchFamily="49" charset="-127"/>
                <a:ea typeface="D2Coding" panose="020B0609020101020101" pitchFamily="49" charset="-127"/>
              </a:rPr>
              <a:t>Shape</a:t>
            </a:r>
            <a:r>
              <a:rPr lang="ko-KR" altLang="en-US" sz="1200" dirty="0">
                <a:solidFill>
                  <a:schemeClr val="bg1"/>
                </a:solidFill>
                <a:latin typeface="D2Coding" panose="020B0609020101020101" pitchFamily="49" charset="-127"/>
                <a:ea typeface="D2Coding" panose="020B0609020101020101" pitchFamily="49" charset="-127"/>
              </a:rPr>
              <a:t>을 동일하게</a:t>
            </a:r>
          </a:p>
        </p:txBody>
      </p:sp>
    </p:spTree>
    <p:extLst>
      <p:ext uri="{BB962C8B-B14F-4D97-AF65-F5344CB8AC3E}">
        <p14:creationId xmlns:p14="http://schemas.microsoft.com/office/powerpoint/2010/main" val="103748793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36D88-C1CA-BF53-8737-A03D3545408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66EA9ED-3BE8-3158-F384-BE6C03C3AF9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AE Architecture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680B2082-522F-4E2E-7475-A7CFF4C0970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sp>
        <p:nvSpPr>
          <p:cNvPr id="9" name="TextBox 8">
            <a:extLst>
              <a:ext uri="{FF2B5EF4-FFF2-40B4-BE49-F238E27FC236}">
                <a16:creationId xmlns:a16="http://schemas.microsoft.com/office/drawing/2014/main" id="{9A00F8E4-F30B-7862-BFA9-DF406D1B76F9}"/>
              </a:ext>
            </a:extLst>
          </p:cNvPr>
          <p:cNvSpPr txBox="1"/>
          <p:nvPr/>
        </p:nvSpPr>
        <p:spPr>
          <a:xfrm>
            <a:off x="581024" y="1221695"/>
            <a:ext cx="11306175" cy="793166"/>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ko-KR" altLang="en-US" sz="1600" dirty="0">
                <a:latin typeface="D2Coding" panose="020B0609020101020101" pitchFamily="49" charset="-127"/>
                <a:ea typeface="D2Coding" panose="020B0609020101020101" pitchFamily="49" charset="-127"/>
              </a:rPr>
              <a:t>정상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a:t>
            </a:r>
            <a:r>
              <a:rPr lang="en-US" altLang="ko-KR" sz="1600" dirty="0">
                <a:latin typeface="D2Coding" panose="020B0609020101020101" pitchFamily="49" charset="-127"/>
                <a:ea typeface="D2Coding" panose="020B0609020101020101" pitchFamily="49" charset="-127"/>
              </a:rPr>
              <a:t>(art_daily_small_noise.csv)</a:t>
            </a:r>
            <a:r>
              <a:rPr lang="ko-KR" altLang="en-US" sz="1600" dirty="0">
                <a:latin typeface="D2Coding" panose="020B0609020101020101" pitchFamily="49" charset="-127"/>
                <a:ea typeface="D2Coding" panose="020B0609020101020101" pitchFamily="49" charset="-127"/>
              </a:rPr>
              <a:t>로 학습하여 </a:t>
            </a:r>
            <a:r>
              <a:rPr lang="en-US" altLang="ko-KR" sz="1600" dirty="0">
                <a:latin typeface="D2Coding" panose="020B0609020101020101" pitchFamily="49" charset="-127"/>
                <a:ea typeface="D2Coding" panose="020B0609020101020101" pitchFamily="49" charset="-127"/>
              </a:rPr>
              <a:t>VAE</a:t>
            </a:r>
            <a:r>
              <a:rPr lang="ko-KR" altLang="en-US" sz="1600" dirty="0">
                <a:latin typeface="D2Coding" panose="020B0609020101020101" pitchFamily="49" charset="-127"/>
                <a:ea typeface="D2Coding" panose="020B0609020101020101" pitchFamily="49" charset="-127"/>
              </a:rPr>
              <a:t> 모델을 생성한 후 비정상이 포함된 검증데이터 </a:t>
            </a:r>
            <a:r>
              <a:rPr lang="en-US" altLang="ko-KR" sz="1600" dirty="0">
                <a:latin typeface="D2Coding" panose="020B0609020101020101" pitchFamily="49" charset="-127"/>
                <a:ea typeface="D2Coding" panose="020B0609020101020101" pitchFamily="49" charset="-127"/>
              </a:rPr>
              <a:t>(art_daily_jumpsup.csv)</a:t>
            </a:r>
            <a:r>
              <a:rPr lang="ko-KR" altLang="en-US" sz="1600" dirty="0">
                <a:latin typeface="D2Coding" panose="020B0609020101020101" pitchFamily="49" charset="-127"/>
                <a:ea typeface="D2Coding" panose="020B0609020101020101" pitchFamily="49" charset="-127"/>
              </a:rPr>
              <a:t>로</a:t>
            </a:r>
            <a:r>
              <a:rPr lang="en-US" altLang="ko-KR" sz="1600" dirty="0">
                <a:latin typeface="D2Coding" panose="020B0609020101020101" pitchFamily="49" charset="-127"/>
                <a:ea typeface="D2Coding" panose="020B0609020101020101" pitchFamily="49" charset="-127"/>
              </a:rPr>
              <a:t> anomaly detection</a:t>
            </a:r>
            <a:r>
              <a:rPr lang="ko-KR" altLang="en-US"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p:txBody>
      </p:sp>
      <p:pic>
        <p:nvPicPr>
          <p:cNvPr id="13" name="그림 12">
            <a:extLst>
              <a:ext uri="{FF2B5EF4-FFF2-40B4-BE49-F238E27FC236}">
                <a16:creationId xmlns:a16="http://schemas.microsoft.com/office/drawing/2014/main" id="{E91444C0-1E52-282D-D219-BCC4181FED94}"/>
              </a:ext>
            </a:extLst>
          </p:cNvPr>
          <p:cNvPicPr>
            <a:picLocks noChangeAspect="1"/>
          </p:cNvPicPr>
          <p:nvPr/>
        </p:nvPicPr>
        <p:blipFill>
          <a:blip r:embed="rId4"/>
          <a:stretch>
            <a:fillRect/>
          </a:stretch>
        </p:blipFill>
        <p:spPr>
          <a:xfrm>
            <a:off x="1600200" y="2136095"/>
            <a:ext cx="8472488" cy="4104450"/>
          </a:xfrm>
          <a:prstGeom prst="rect">
            <a:avLst/>
          </a:prstGeom>
          <a:ln>
            <a:solidFill>
              <a:schemeClr val="tx1"/>
            </a:solidFill>
            <a:prstDash val="dashDot"/>
          </a:ln>
        </p:spPr>
      </p:pic>
      <p:sp>
        <p:nvSpPr>
          <p:cNvPr id="15" name="TextBox 14">
            <a:extLst>
              <a:ext uri="{FF2B5EF4-FFF2-40B4-BE49-F238E27FC236}">
                <a16:creationId xmlns:a16="http://schemas.microsoft.com/office/drawing/2014/main" id="{5441B9BB-08D6-63FF-9A9C-EE7278F16C75}"/>
              </a:ext>
            </a:extLst>
          </p:cNvPr>
          <p:cNvSpPr txBox="1"/>
          <p:nvPr/>
        </p:nvSpPr>
        <p:spPr>
          <a:xfrm>
            <a:off x="1600200" y="6240545"/>
            <a:ext cx="10153650" cy="340991"/>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200" dirty="0" err="1">
                <a:latin typeface="D2Coding" panose="020B0609020101020101" pitchFamily="49" charset="-127"/>
                <a:ea typeface="D2Coding" panose="020B0609020101020101" pitchFamily="49" charset="-127"/>
              </a:rPr>
              <a:t>딥러닝에서는</a:t>
            </a:r>
            <a:r>
              <a:rPr lang="ko-KR" altLang="en-US" sz="1200" dirty="0">
                <a:latin typeface="D2Coding" panose="020B0609020101020101" pitchFamily="49" charset="-127"/>
                <a:ea typeface="D2Coding" panose="020B0609020101020101" pitchFamily="49" charset="-127"/>
              </a:rPr>
              <a:t> 데이터셋이 크고 학습 시간이 오래 걸려 </a:t>
            </a:r>
            <a:r>
              <a:rPr lang="en-US" altLang="ko-KR" sz="1200" dirty="0">
                <a:latin typeface="D2Coding" panose="020B0609020101020101" pitchFamily="49" charset="-127"/>
                <a:ea typeface="D2Coding" panose="020B0609020101020101" pitchFamily="49" charset="-127"/>
              </a:rPr>
              <a:t>cross validation</a:t>
            </a:r>
            <a:r>
              <a:rPr lang="ko-KR" altLang="en-US" sz="1200" dirty="0">
                <a:latin typeface="D2Coding" panose="020B0609020101020101" pitchFamily="49" charset="-127"/>
                <a:ea typeface="D2Coding" panose="020B0609020101020101" pitchFamily="49" charset="-127"/>
              </a:rPr>
              <a:t>보다 이런 단순 </a:t>
            </a:r>
            <a:r>
              <a:rPr lang="en-US" altLang="ko-KR" sz="1200" dirty="0">
                <a:latin typeface="D2Coding" panose="020B0609020101020101" pitchFamily="49" charset="-127"/>
                <a:ea typeface="D2Coding" panose="020B0609020101020101" pitchFamily="49" charset="-127"/>
              </a:rPr>
              <a:t>hold-out validation</a:t>
            </a:r>
            <a:r>
              <a:rPr lang="ko-KR" altLang="en-US" sz="1200" dirty="0">
                <a:latin typeface="D2Coding" panose="020B0609020101020101" pitchFamily="49" charset="-127"/>
                <a:ea typeface="D2Coding" panose="020B0609020101020101" pitchFamily="49" charset="-127"/>
              </a:rPr>
              <a:t>을 더 많이 사용하는 편</a:t>
            </a:r>
          </a:p>
        </p:txBody>
      </p:sp>
      <p:sp>
        <p:nvSpPr>
          <p:cNvPr id="19" name="정육면체 18">
            <a:extLst>
              <a:ext uri="{FF2B5EF4-FFF2-40B4-BE49-F238E27FC236}">
                <a16:creationId xmlns:a16="http://schemas.microsoft.com/office/drawing/2014/main" id="{AC804EDE-1FB5-CBF1-CCB8-64A31BA24516}"/>
              </a:ext>
            </a:extLst>
          </p:cNvPr>
          <p:cNvSpPr/>
          <p:nvPr/>
        </p:nvSpPr>
        <p:spPr>
          <a:xfrm>
            <a:off x="4495800" y="2967037"/>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정육면체 20">
            <a:extLst>
              <a:ext uri="{FF2B5EF4-FFF2-40B4-BE49-F238E27FC236}">
                <a16:creationId xmlns:a16="http://schemas.microsoft.com/office/drawing/2014/main" id="{378638D7-8948-6023-18C9-92ABBB253661}"/>
              </a:ext>
            </a:extLst>
          </p:cNvPr>
          <p:cNvSpPr/>
          <p:nvPr/>
        </p:nvSpPr>
        <p:spPr>
          <a:xfrm>
            <a:off x="7715250" y="2959684"/>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정육면체 22">
            <a:extLst>
              <a:ext uri="{FF2B5EF4-FFF2-40B4-BE49-F238E27FC236}">
                <a16:creationId xmlns:a16="http://schemas.microsoft.com/office/drawing/2014/main" id="{7931667B-05C6-2529-B4FB-7F238F0D38F4}"/>
              </a:ext>
            </a:extLst>
          </p:cNvPr>
          <p:cNvSpPr/>
          <p:nvPr/>
        </p:nvSpPr>
        <p:spPr>
          <a:xfrm>
            <a:off x="3790950" y="4568073"/>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정육면체 23">
            <a:extLst>
              <a:ext uri="{FF2B5EF4-FFF2-40B4-BE49-F238E27FC236}">
                <a16:creationId xmlns:a16="http://schemas.microsoft.com/office/drawing/2014/main" id="{A669FE07-F482-7E8A-22FE-EEA5144FB6A6}"/>
              </a:ext>
            </a:extLst>
          </p:cNvPr>
          <p:cNvSpPr/>
          <p:nvPr/>
        </p:nvSpPr>
        <p:spPr>
          <a:xfrm>
            <a:off x="7715250" y="4585617"/>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26" name="그림 25">
            <a:extLst>
              <a:ext uri="{FF2B5EF4-FFF2-40B4-BE49-F238E27FC236}">
                <a16:creationId xmlns:a16="http://schemas.microsoft.com/office/drawing/2014/main" id="{EBEC9FA2-F303-ACE8-52B7-D83E2D5F5EB3}"/>
              </a:ext>
            </a:extLst>
          </p:cNvPr>
          <p:cNvPicPr>
            <a:picLocks noChangeAspect="1"/>
          </p:cNvPicPr>
          <p:nvPr/>
        </p:nvPicPr>
        <p:blipFill>
          <a:blip r:embed="rId5"/>
          <a:stretch>
            <a:fillRect/>
          </a:stretch>
        </p:blipFill>
        <p:spPr>
          <a:xfrm>
            <a:off x="742917" y="2223338"/>
            <a:ext cx="762066" cy="731583"/>
          </a:xfrm>
          <a:prstGeom prst="rect">
            <a:avLst/>
          </a:prstGeom>
        </p:spPr>
      </p:pic>
      <p:pic>
        <p:nvPicPr>
          <p:cNvPr id="28" name="그림 27">
            <a:extLst>
              <a:ext uri="{FF2B5EF4-FFF2-40B4-BE49-F238E27FC236}">
                <a16:creationId xmlns:a16="http://schemas.microsoft.com/office/drawing/2014/main" id="{9A7165BC-7077-DD3B-B581-3D4C9E46D71E}"/>
              </a:ext>
            </a:extLst>
          </p:cNvPr>
          <p:cNvPicPr>
            <a:picLocks noChangeAspect="1"/>
          </p:cNvPicPr>
          <p:nvPr/>
        </p:nvPicPr>
        <p:blipFill>
          <a:blip r:embed="rId6"/>
          <a:stretch>
            <a:fillRect/>
          </a:stretch>
        </p:blipFill>
        <p:spPr>
          <a:xfrm>
            <a:off x="10222198" y="5474106"/>
            <a:ext cx="739204" cy="701101"/>
          </a:xfrm>
          <a:prstGeom prst="rect">
            <a:avLst/>
          </a:prstGeom>
        </p:spPr>
      </p:pic>
    </p:spTree>
    <p:extLst>
      <p:ext uri="{BB962C8B-B14F-4D97-AF65-F5344CB8AC3E}">
        <p14:creationId xmlns:p14="http://schemas.microsoft.com/office/powerpoint/2010/main" val="11491639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ECE87-9257-2EED-1CDA-6480E78567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53E320D-289B-E17E-45A7-54F6084F4B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0231E0B4-E138-7B27-AEBB-EA43C8FAC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pic>
        <p:nvPicPr>
          <p:cNvPr id="1026" name="Picture 2">
            <a:extLst>
              <a:ext uri="{FF2B5EF4-FFF2-40B4-BE49-F238E27FC236}">
                <a16:creationId xmlns:a16="http://schemas.microsoft.com/office/drawing/2014/main" id="{04919DB8-1339-CA54-4BDD-88FE727E0F1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6112" y="2987810"/>
            <a:ext cx="4263374" cy="322553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F84FAF4-A80E-B4AB-E15B-13298B3F2D8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53177" y="2982038"/>
            <a:ext cx="4360439" cy="326286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742A78F-426F-10FC-E766-D9BDD5DF4644}"/>
              </a:ext>
            </a:extLst>
          </p:cNvPr>
          <p:cNvSpPr txBox="1"/>
          <p:nvPr/>
        </p:nvSpPr>
        <p:spPr>
          <a:xfrm>
            <a:off x="609435" y="1356112"/>
            <a:ext cx="5229389" cy="1333507"/>
          </a:xfrm>
          <a:prstGeom prst="rect">
            <a:avLst/>
          </a:prstGeom>
          <a:solidFill>
            <a:srgbClr val="76E3FF"/>
          </a:solidFill>
        </p:spPr>
        <p:txBody>
          <a:bodyPr wrap="square">
            <a:spAutoFit/>
          </a:bodyPr>
          <a:lstStyle/>
          <a:p>
            <a:pPr>
              <a:lnSpc>
                <a:spcPts val="1575"/>
              </a:lnSpc>
              <a:buNone/>
            </a:pPr>
            <a:r>
              <a:rPr lang="en-US" altLang="ko-KR" sz="1200" b="0" dirty="0">
                <a:effectLst/>
                <a:latin typeface="D2Coding" panose="020B0609020101020101" pitchFamily="49" charset="-127"/>
                <a:ea typeface="D2Coding" panose="020B0609020101020101" pitchFamily="49" charset="-127"/>
              </a:rPr>
              <a:t># Get train MAE loss.</a:t>
            </a:r>
          </a:p>
          <a:p>
            <a:pPr>
              <a:lnSpc>
                <a:spcPts val="1575"/>
              </a:lnSpc>
              <a:buNone/>
            </a:pP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model.predict</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a:t>
            </a:r>
          </a:p>
          <a:p>
            <a:pPr>
              <a:lnSpc>
                <a:spcPts val="1575"/>
              </a:lnSpc>
              <a:buNone/>
            </a:pP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np.mean</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np.abs</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 axis=1)</a:t>
            </a:r>
            <a:br>
              <a:rPr lang="en-US" altLang="ko-KR" sz="1200" b="0" dirty="0">
                <a:effectLst/>
                <a:latin typeface="D2Coding" panose="020B0609020101020101" pitchFamily="49" charset="-127"/>
                <a:ea typeface="D2Coding" panose="020B0609020101020101" pitchFamily="49" charset="-127"/>
              </a:rPr>
            </a:br>
            <a:endParaRPr lang="en-US" altLang="ko-KR" sz="1200" b="0" dirty="0">
              <a:effectLst/>
              <a:latin typeface="D2Coding" panose="020B0609020101020101" pitchFamily="49" charset="-127"/>
              <a:ea typeface="D2Coding" panose="020B0609020101020101" pitchFamily="49" charset="-127"/>
            </a:endParaRPr>
          </a:p>
          <a:p>
            <a:pPr>
              <a:lnSpc>
                <a:spcPts val="1575"/>
              </a:lnSpc>
              <a:buNone/>
            </a:pPr>
            <a:r>
              <a:rPr lang="en-US" altLang="ko-KR" sz="1200" b="0" dirty="0">
                <a:effectLst/>
                <a:latin typeface="D2Coding" panose="020B0609020101020101" pitchFamily="49" charset="-127"/>
                <a:ea typeface="D2Coding" panose="020B0609020101020101" pitchFamily="49" charset="-127"/>
              </a:rPr>
              <a:t># Get reconstruction loss threshold.</a:t>
            </a:r>
          </a:p>
          <a:p>
            <a:pPr>
              <a:lnSpc>
                <a:spcPts val="1575"/>
              </a:lnSpc>
              <a:buNone/>
            </a:pPr>
            <a:r>
              <a:rPr lang="en-US" altLang="ko-KR" sz="1200" b="0" dirty="0">
                <a:effectLst/>
                <a:latin typeface="D2Coding" panose="020B0609020101020101" pitchFamily="49" charset="-127"/>
                <a:ea typeface="D2Coding" panose="020B0609020101020101" pitchFamily="49" charset="-127"/>
              </a:rPr>
              <a:t>threshold = </a:t>
            </a:r>
            <a:r>
              <a:rPr lang="en-US" altLang="ko-KR" sz="1200" b="0" dirty="0" err="1">
                <a:effectLst/>
                <a:latin typeface="D2Coding" panose="020B0609020101020101" pitchFamily="49" charset="-127"/>
                <a:ea typeface="D2Coding" panose="020B0609020101020101" pitchFamily="49" charset="-127"/>
              </a:rPr>
              <a:t>np.max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a:t>
            </a:r>
          </a:p>
        </p:txBody>
      </p:sp>
      <p:sp>
        <p:nvSpPr>
          <p:cNvPr id="8" name="TextBox 7">
            <a:extLst>
              <a:ext uri="{FF2B5EF4-FFF2-40B4-BE49-F238E27FC236}">
                <a16:creationId xmlns:a16="http://schemas.microsoft.com/office/drawing/2014/main" id="{9DADC89C-DB58-1B49-0480-50765D5E3E62}"/>
              </a:ext>
            </a:extLst>
          </p:cNvPr>
          <p:cNvSpPr txBox="1"/>
          <p:nvPr/>
        </p:nvSpPr>
        <p:spPr>
          <a:xfrm>
            <a:off x="6353177" y="1356112"/>
            <a:ext cx="5353050" cy="1518236"/>
          </a:xfrm>
          <a:prstGeom prst="rect">
            <a:avLst/>
          </a:prstGeom>
          <a:solidFill>
            <a:srgbClr val="76E3FF"/>
          </a:solidFill>
        </p:spPr>
        <p:txBody>
          <a:bodyPr wrap="square">
            <a:spAutoFit/>
          </a:bodyPr>
          <a:lstStyle/>
          <a:p>
            <a:pPr>
              <a:lnSpc>
                <a:spcPts val="1575"/>
              </a:lnSpc>
            </a:pPr>
            <a:r>
              <a:rPr lang="en-US" altLang="ko-KR" sz="1200" dirty="0">
                <a:latin typeface="D2Coding" panose="020B0609020101020101" pitchFamily="49" charset="-127"/>
                <a:ea typeface="D2Coding" panose="020B0609020101020101" pitchFamily="49" charset="-127"/>
              </a:rPr>
              <a:t># Get test MAE loss.</a:t>
            </a:r>
          </a:p>
          <a:p>
            <a:pPr>
              <a:lnSpc>
                <a:spcPts val="1575"/>
              </a:lnSpc>
            </a:pP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model.predict</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np.mean</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np.abs</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 axis=1)</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test_mae_loss.reshape</a:t>
            </a:r>
            <a:r>
              <a:rPr lang="en-US" altLang="ko-KR" sz="1200" dirty="0">
                <a:latin typeface="D2Coding" panose="020B0609020101020101" pitchFamily="49" charset="-127"/>
                <a:ea typeface="D2Coding" panose="020B0609020101020101" pitchFamily="49" charset="-127"/>
              </a:rPr>
              <a:t>((-1))</a:t>
            </a:r>
          </a:p>
          <a:p>
            <a:pPr>
              <a:lnSpc>
                <a:spcPts val="1575"/>
              </a:lnSpc>
            </a:pPr>
            <a:endParaRPr lang="en-US" altLang="ko-KR" sz="1200" dirty="0">
              <a:latin typeface="D2Coding" panose="020B0609020101020101" pitchFamily="49" charset="-127"/>
              <a:ea typeface="D2Coding" panose="020B0609020101020101" pitchFamily="49" charset="-127"/>
            </a:endParaRPr>
          </a:p>
          <a:p>
            <a:pPr>
              <a:lnSpc>
                <a:spcPts val="1575"/>
              </a:lnSpc>
            </a:pPr>
            <a:r>
              <a:rPr lang="en-US" altLang="ko-KR" sz="1200" dirty="0">
                <a:latin typeface="D2Coding" panose="020B0609020101020101" pitchFamily="49" charset="-127"/>
                <a:ea typeface="D2Coding" panose="020B0609020101020101" pitchFamily="49" charset="-127"/>
              </a:rPr>
              <a:t># Detect all the samples which are anomalies.</a:t>
            </a:r>
          </a:p>
          <a:p>
            <a:pPr>
              <a:lnSpc>
                <a:spcPts val="1575"/>
              </a:lnSpc>
            </a:pPr>
            <a:r>
              <a:rPr lang="en-US" altLang="ko-KR" sz="1200" dirty="0">
                <a:latin typeface="D2Coding" panose="020B0609020101020101" pitchFamily="49" charset="-127"/>
                <a:ea typeface="D2Coding" panose="020B0609020101020101" pitchFamily="49" charset="-127"/>
              </a:rPr>
              <a:t>anomalies = </a:t>
            </a: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&gt; threshold</a:t>
            </a:r>
          </a:p>
        </p:txBody>
      </p:sp>
      <p:sp>
        <p:nvSpPr>
          <p:cNvPr id="11" name="설명선: 굽은 선(강조선) 10">
            <a:extLst>
              <a:ext uri="{FF2B5EF4-FFF2-40B4-BE49-F238E27FC236}">
                <a16:creationId xmlns:a16="http://schemas.microsoft.com/office/drawing/2014/main" id="{CCB59811-CA04-C8B0-D176-D386A25CBC80}"/>
              </a:ext>
            </a:extLst>
          </p:cNvPr>
          <p:cNvSpPr/>
          <p:nvPr/>
        </p:nvSpPr>
        <p:spPr>
          <a:xfrm>
            <a:off x="5142658"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2" name="설명선: 굽은 선(강조선) 11">
            <a:extLst>
              <a:ext uri="{FF2B5EF4-FFF2-40B4-BE49-F238E27FC236}">
                <a16:creationId xmlns:a16="http://schemas.microsoft.com/office/drawing/2014/main" id="{171B9984-CC97-C2C6-25A5-CAFAF51820B0}"/>
              </a:ext>
            </a:extLst>
          </p:cNvPr>
          <p:cNvSpPr/>
          <p:nvPr/>
        </p:nvSpPr>
        <p:spPr>
          <a:xfrm>
            <a:off x="9029702"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073176876"/>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8469</TotalTime>
  <Words>7285</Words>
  <Application>Microsoft Office PowerPoint</Application>
  <PresentationFormat>와이드스크린</PresentationFormat>
  <Paragraphs>839</Paragraphs>
  <Slides>67</Slides>
  <Notes>5</Notes>
  <HiddenSlides>0</HiddenSlides>
  <MMClips>0</MMClips>
  <ScaleCrop>false</ScaleCrop>
  <HeadingPairs>
    <vt:vector size="6" baseType="variant">
      <vt:variant>
        <vt:lpstr>사용한 글꼴</vt:lpstr>
      </vt:variant>
      <vt:variant>
        <vt:i4>11</vt:i4>
      </vt:variant>
      <vt:variant>
        <vt:lpstr>테마</vt:lpstr>
      </vt:variant>
      <vt:variant>
        <vt:i4>1</vt:i4>
      </vt:variant>
      <vt:variant>
        <vt:lpstr>슬라이드 제목</vt:lpstr>
      </vt:variant>
      <vt:variant>
        <vt:i4>67</vt:i4>
      </vt:variant>
    </vt:vector>
  </HeadingPairs>
  <TitlesOfParts>
    <vt:vector size="79" baseType="lpstr">
      <vt:lpstr>D2Coding</vt:lpstr>
      <vt:lpstr>맑은 고딕</vt:lpstr>
      <vt:lpstr>바탕</vt:lpstr>
      <vt:lpstr>Arial</vt:lpstr>
      <vt:lpstr>Calibri Light</vt:lpstr>
      <vt:lpstr>Cambria Math</vt:lpstr>
      <vt:lpstr>Cascadia Code</vt:lpstr>
      <vt:lpstr>Lora</vt:lpstr>
      <vt:lpstr>Source Sans Pro</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Timeseries Forecasting</vt:lpstr>
      <vt:lpstr>PowerPoint 프레젠테이션</vt:lpstr>
      <vt:lpstr>CNN for Timeseries Data</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Anomaly Detection with AE, VAE</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134</cp:revision>
  <dcterms:created xsi:type="dcterms:W3CDTF">2026-04-06T01:00:39Z</dcterms:created>
  <dcterms:modified xsi:type="dcterms:W3CDTF">2026-10-02T20:58:35Z</dcterms:modified>
  <cp:version/>
</cp:coreProperties>
</file>