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8"/>
  </p:notesMasterIdLst>
  <p:handoutMasterIdLst>
    <p:handoutMasterId r:id="rId49"/>
  </p:handoutMasterIdLst>
  <p:sldIdLst>
    <p:sldId id="256" r:id="rId2"/>
    <p:sldId id="1155" r:id="rId3"/>
    <p:sldId id="1122" r:id="rId4"/>
    <p:sldId id="1134" r:id="rId5"/>
    <p:sldId id="1140" r:id="rId6"/>
    <p:sldId id="1141" r:id="rId7"/>
    <p:sldId id="1144" r:id="rId8"/>
    <p:sldId id="1142" r:id="rId9"/>
    <p:sldId id="1143" r:id="rId10"/>
    <p:sldId id="1169" r:id="rId11"/>
    <p:sldId id="1157" r:id="rId12"/>
    <p:sldId id="1146" r:id="rId13"/>
    <p:sldId id="1148" r:id="rId14"/>
    <p:sldId id="1136" r:id="rId15"/>
    <p:sldId id="1145" r:id="rId16"/>
    <p:sldId id="1158" r:id="rId17"/>
    <p:sldId id="1150" r:id="rId18"/>
    <p:sldId id="1152" r:id="rId19"/>
    <p:sldId id="1149" r:id="rId20"/>
    <p:sldId id="1153" r:id="rId21"/>
    <p:sldId id="1151" r:id="rId22"/>
    <p:sldId id="1154" r:id="rId23"/>
    <p:sldId id="1159" r:id="rId24"/>
    <p:sldId id="1139" r:id="rId25"/>
    <p:sldId id="1161" r:id="rId26"/>
    <p:sldId id="1133" r:id="rId27"/>
    <p:sldId id="1163" r:id="rId28"/>
    <p:sldId id="1164" r:id="rId29"/>
    <p:sldId id="1165" r:id="rId30"/>
    <p:sldId id="1166" r:id="rId31"/>
    <p:sldId id="1121" r:id="rId32"/>
    <p:sldId id="1168" r:id="rId33"/>
    <p:sldId id="1135" r:id="rId34"/>
    <p:sldId id="1167" r:id="rId35"/>
    <p:sldId id="1160" r:id="rId36"/>
    <p:sldId id="1132" r:id="rId37"/>
    <p:sldId id="1125" r:id="rId38"/>
    <p:sldId id="1127" r:id="rId39"/>
    <p:sldId id="1128" r:id="rId40"/>
    <p:sldId id="1123" r:id="rId41"/>
    <p:sldId id="1130" r:id="rId42"/>
    <p:sldId id="1131" r:id="rId43"/>
    <p:sldId id="1137" r:id="rId44"/>
    <p:sldId id="1138" r:id="rId45"/>
    <p:sldId id="1129" r:id="rId46"/>
    <p:sldId id="1162" r:id="rId47"/>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69"/>
            <p14:sldId id="1157"/>
            <p14:sldId id="1146"/>
            <p14:sldId id="1148"/>
            <p14:sldId id="1136"/>
            <p14:sldId id="1145"/>
            <p14:sldId id="1158"/>
            <p14:sldId id="1150"/>
            <p14:sldId id="1152"/>
            <p14:sldId id="1149"/>
            <p14:sldId id="1153"/>
            <p14:sldId id="1151"/>
            <p14:sldId id="1154"/>
            <p14:sldId id="1159"/>
            <p14:sldId id="1139"/>
            <p14:sldId id="1161"/>
            <p14:sldId id="1133"/>
            <p14:sldId id="1163"/>
            <p14:sldId id="1164"/>
            <p14:sldId id="1165"/>
            <p14:sldId id="1166"/>
            <p14:sldId id="1121"/>
            <p14:sldId id="1168"/>
            <p14:sldId id="1135"/>
            <p14:sldId id="1167"/>
            <p14:sldId id="1160"/>
            <p14:sldId id="1132"/>
            <p14:sldId id="1125"/>
            <p14:sldId id="1127"/>
            <p14:sldId id="1128"/>
            <p14:sldId id="1123"/>
            <p14:sldId id="1130"/>
            <p14:sldId id="1131"/>
            <p14:sldId id="1137"/>
            <p14:sldId id="1138"/>
            <p14:sldId id="1129"/>
            <p14:sldId id="1162"/>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2026-08-13</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2026-08-13</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38</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2026-08-13</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8/13/2026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2026-08-13</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8" Type="http://schemas.openxmlformats.org/officeDocument/2006/relationships/image" Target="../media/image28.png"/><Relationship Id="rId3" Type="http://schemas.microsoft.com/office/2007/relationships/hdphoto" Target="../media/hdphoto1.wdp"/><Relationship Id="rId7" Type="http://schemas.openxmlformats.org/officeDocument/2006/relationships/image" Target="../media/image27.png"/><Relationship Id="rId2" Type="http://schemas.openxmlformats.org/officeDocument/2006/relationships/image" Target="../media/image23.png"/><Relationship Id="rId1" Type="http://schemas.openxmlformats.org/officeDocument/2006/relationships/slideLayout" Target="../slideLayouts/slideLayout4.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4.xml"/><Relationship Id="rId4" Type="http://schemas.openxmlformats.org/officeDocument/2006/relationships/image" Target="../media/image38.sv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1.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45.png"/><Relationship Id="rId5" Type="http://schemas.openxmlformats.org/officeDocument/2006/relationships/image" Target="../media/image44.png"/><Relationship Id="rId4" Type="http://schemas.microsoft.com/office/2007/relationships/hdphoto" Target="../media/hdphoto2.wdp"/></Relationships>
</file>

<file path=ppt/slides/_rels/slide38.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45.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39.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46.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45.png"/><Relationship Id="rId24" Type="http://schemas.openxmlformats.org/officeDocument/2006/relationships/image" Target="../media/image38.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8.png"/><Relationship Id="rId1" Type="http://schemas.openxmlformats.org/officeDocument/2006/relationships/slideLayout" Target="../slideLayouts/slideLayout4.xml"/><Relationship Id="rId5" Type="http://schemas.openxmlformats.org/officeDocument/2006/relationships/image" Target="../media/image49.png"/><Relationship Id="rId4" Type="http://schemas.microsoft.com/office/2007/relationships/hdphoto" Target="../media/hdphoto3.wdp"/></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50.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4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3.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4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51.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
        <p:nvSpPr>
          <p:cNvPr id="4" name="TextBox 3">
            <a:extLst>
              <a:ext uri="{FF2B5EF4-FFF2-40B4-BE49-F238E27FC236}">
                <a16:creationId xmlns:a16="http://schemas.microsoft.com/office/drawing/2014/main" id="{6561AAD7-56D4-58BF-FEAE-D0D8305EA254}"/>
              </a:ext>
            </a:extLst>
          </p:cNvPr>
          <p:cNvSpPr txBox="1"/>
          <p:nvPr/>
        </p:nvSpPr>
        <p:spPr>
          <a:xfrm rot="20985267">
            <a:off x="3219856" y="3828387"/>
            <a:ext cx="7932611" cy="793166"/>
          </a:xfrm>
          <a:prstGeom prst="rect">
            <a:avLst/>
          </a:prstGeom>
          <a:noFill/>
        </p:spPr>
        <p:txBody>
          <a:bodyPr wrap="square">
            <a:spAutoFit/>
          </a:bodyPr>
          <a:lstStyle/>
          <a:p>
            <a:pPr>
              <a:lnSpc>
                <a:spcPct val="150000"/>
              </a:lnSpc>
            </a:pPr>
            <a:r>
              <a:rPr lang="en-US" altLang="ko-KR" sz="1600" b="0" i="0" dirty="0">
                <a:solidFill>
                  <a:srgbClr val="FFFF00"/>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1600" dirty="0">
              <a:solidFill>
                <a:srgbClr val="FFFF00"/>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B32F42C0-07C8-1960-872A-C341FE529FB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a:t>
            </a:fld>
            <a:endParaRPr lang="en-US" dirty="0"/>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585461"/>
            <a:ext cx="4625741" cy="4633362"/>
          </a:xfrm>
          <a:prstGeom prst="rect">
            <a:avLst/>
          </a:prstGeom>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3509458122"/>
              </p:ext>
            </p:extLst>
          </p:nvPr>
        </p:nvGraphicFramePr>
        <p:xfrm>
          <a:off x="5966613" y="1585461"/>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684530"/>
            <a:ext cx="4922947" cy="4534293"/>
          </a:xfrm>
          <a:prstGeom prst="rect">
            <a:avLst/>
          </a:prstGeom>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684530"/>
            <a:ext cx="5922987" cy="2632438"/>
          </a:xfrm>
          <a:prstGeom prst="rect">
            <a:avLst/>
          </a:prstGeom>
          <a:noFill/>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327948"/>
            <a:ext cx="2032691" cy="580769"/>
          </a:xfrm>
          <a:prstGeom prst="rect">
            <a:avLst/>
          </a:prstGeom>
        </p:spPr>
      </p:pic>
      <p:sp>
        <p:nvSpPr>
          <p:cNvPr id="21" name="TextBox 20">
            <a:extLst>
              <a:ext uri="{FF2B5EF4-FFF2-40B4-BE49-F238E27FC236}">
                <a16:creationId xmlns:a16="http://schemas.microsoft.com/office/drawing/2014/main" id="{B1524DAB-EF70-3649-069E-FB29009BA9B5}"/>
              </a:ext>
            </a:extLst>
          </p:cNvPr>
          <p:cNvSpPr txBox="1"/>
          <p:nvPr/>
        </p:nvSpPr>
        <p:spPr>
          <a:xfrm>
            <a:off x="8371957" y="497507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364374"/>
            <a:ext cx="1838735" cy="388726"/>
          </a:xfrm>
          <a:prstGeom prst="rect">
            <a:avLst/>
          </a:prstGeom>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9ADFDA56-EEF0-D16A-D819-DE0640B405FD}"/>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E62AEDA-A1E7-AA89-A7CE-55969AFB281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8</a:t>
            </a:fld>
            <a:endParaRPr lang="en-US" dirty="0"/>
          </a:p>
        </p:txBody>
      </p:sp>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573097" y="1562600"/>
            <a:ext cx="7102455" cy="4656223"/>
          </a:xfrm>
          <a:prstGeom prst="rect">
            <a:avLst/>
          </a:prstGeom>
        </p:spPr>
      </p:pic>
      <p:sp>
        <p:nvSpPr>
          <p:cNvPr id="7" name="TextBox 6">
            <a:extLst>
              <a:ext uri="{FF2B5EF4-FFF2-40B4-BE49-F238E27FC236}">
                <a16:creationId xmlns:a16="http://schemas.microsoft.com/office/drawing/2014/main" id="{999475E9-8640-6AB3-88BC-8DD3A0B30BE3}"/>
              </a:ext>
            </a:extLst>
          </p:cNvPr>
          <p:cNvSpPr txBox="1"/>
          <p:nvPr/>
        </p:nvSpPr>
        <p:spPr>
          <a:xfrm>
            <a:off x="7913677" y="18995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13677" y="3308278"/>
            <a:ext cx="3859223" cy="404874"/>
          </a:xfrm>
          <a:prstGeom prst="rect">
            <a:avLst/>
          </a:prstGeom>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475645" y="1609016"/>
            <a:ext cx="10829407" cy="4079208"/>
          </a:xfrm>
          <a:prstGeom prst="rect">
            <a:avLst/>
          </a:prstGeom>
        </p:spPr>
      </p:pic>
      <p:sp>
        <p:nvSpPr>
          <p:cNvPr id="8" name="TextBox 7">
            <a:extLst>
              <a:ext uri="{FF2B5EF4-FFF2-40B4-BE49-F238E27FC236}">
                <a16:creationId xmlns:a16="http://schemas.microsoft.com/office/drawing/2014/main" id="{8FA609BE-B859-A023-68DF-9C7588D7B915}"/>
              </a:ext>
            </a:extLst>
          </p:cNvPr>
          <p:cNvSpPr txBox="1"/>
          <p:nvPr/>
        </p:nvSpPr>
        <p:spPr>
          <a:xfrm>
            <a:off x="6877357" y="5770498"/>
            <a:ext cx="5121603" cy="793166"/>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916184" y="1563806"/>
            <a:ext cx="5932415" cy="4813092"/>
          </a:xfrm>
          <a:prstGeom prst="rect">
            <a:avLst/>
          </a:prstGeom>
        </p:spPr>
      </p:pic>
    </p:spTree>
    <p:extLst>
      <p:ext uri="{BB962C8B-B14F-4D97-AF65-F5344CB8AC3E}">
        <p14:creationId xmlns:p14="http://schemas.microsoft.com/office/powerpoint/2010/main" val="4272811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973" y="2153920"/>
            <a:ext cx="6524625" cy="24479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34874" y="3505496"/>
            <a:ext cx="2233204" cy="830997"/>
          </a:xfrm>
          <a:prstGeom prst="rect">
            <a:avLst/>
          </a:prstGeom>
          <a:noFill/>
        </p:spPr>
        <p:txBody>
          <a:bodyPr wrap="square">
            <a:spAutoFit/>
          </a:bodyPr>
          <a:lstStyle/>
          <a:p>
            <a:r>
              <a:rPr lang="en-US" altLang="ko-KR" sz="1600" dirty="0">
                <a:solidFill>
                  <a:schemeClr val="accent5"/>
                </a:solidFill>
                <a:latin typeface="D2Coding" panose="020B0609020101020101" pitchFamily="49" charset="-127"/>
                <a:ea typeface="D2Coding" panose="020B0609020101020101" pitchFamily="49" charset="-127"/>
              </a:rPr>
              <a:t>Samples/Batch size </a:t>
            </a:r>
            <a:r>
              <a:rPr lang="ko-KR" altLang="en-US" sz="1600" dirty="0">
                <a:solidFill>
                  <a:schemeClr val="accent5"/>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accent5"/>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0410" y="4688522"/>
            <a:ext cx="3914790"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Sliding window length</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367340" y="2845097"/>
            <a:ext cx="2533902"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temps, winds,…</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39138" y="5293022"/>
            <a:ext cx="609600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3409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14</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E6BFDEC1-13C8-458B-91B1-61EB80D5178C}"/>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224003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1889760"/>
            <a:ext cx="5312410" cy="408342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201670" y="5973180"/>
            <a:ext cx="538353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16</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(10qns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36980"/>
            <a:ext cx="4834499" cy="2246769"/>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600" b="1" dirty="0">
                <a:effectLst/>
                <a:latin typeface="D2Coding" panose="020B0609020101020101" pitchFamily="49" charset="-127"/>
                <a:ea typeface="D2Coding" panose="020B0609020101020101" pitchFamily="49" charset="-127"/>
              </a:rPr>
              <a:t>    shuffle=True,</a:t>
            </a:r>
          </a:p>
          <a:p>
            <a:pPr>
              <a:buNone/>
            </a:pPr>
            <a:r>
              <a:rPr lang="en-US" altLang="ko-KR" sz="1600" b="1" dirty="0">
                <a:effectLst/>
                <a:latin typeface="D2Coding" panose="020B0609020101020101" pitchFamily="49" charset="-127"/>
                <a:ea typeface="D2Coding" panose="020B0609020101020101" pitchFamily="49" charset="-127"/>
              </a:rPr>
              <a:t>    </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063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오디오 파형이나 텍스트처럼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패턴이 어디서 나타나든 같은 의미를 가지는</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데이터에 적합</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날씨데이터는 평행이동 불변성</a:t>
            </a:r>
            <a:r>
              <a:rPr lang="en-US" altLang="ko-KR" sz="1600" dirty="0">
                <a:latin typeface="D2Coding" panose="020B0609020101020101" pitchFamily="49" charset="-127"/>
                <a:ea typeface="D2Coding" panose="020B0609020101020101" pitchFamily="49" charset="-127"/>
              </a:rPr>
              <a:t>(Translation Invariance)</a:t>
            </a:r>
            <a:r>
              <a:rPr lang="ko-KR" altLang="en-US" sz="1600" dirty="0">
                <a:latin typeface="D2Coding" panose="020B0609020101020101" pitchFamily="49" charset="-127"/>
                <a:ea typeface="D2Coding" panose="020B0609020101020101" pitchFamily="49" charset="-127"/>
              </a:rPr>
              <a:t>에 적합하지 않음</a:t>
            </a:r>
            <a:endParaRPr lang="en-US" altLang="ko-KR" sz="16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어느 위치</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공간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나 어느 시점</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시간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에서 발생하더라도 그 본질적인 의미나 성질이 변하지 않고 일정하게 유지되는 성질</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이미지에는 위치에 따라 불변하지만 기후 데이터에는 적합하지 않음</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강아지 이미지가 왼쪽</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오른쪽</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아래에 있든 똑같이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강아지</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로 인식하여 데이터의 본질은 변하지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표현이 글의 맨 앞에 나오든 맨 뒤에 나오든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2512681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330380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330126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23</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461641"/>
            <a:ext cx="7086600" cy="1815882"/>
          </a:xfrm>
          <a:prstGeom prst="rect">
            <a:avLst/>
          </a:prstGeom>
          <a:solidFill>
            <a:srgbClr val="76E3FF"/>
          </a:solidFill>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4928127"/>
            <a:ext cx="7086600" cy="1077218"/>
          </a:xfrm>
          <a:prstGeom prst="rect">
            <a:avLst/>
          </a:prstGeom>
          <a:solidFill>
            <a:srgbClr val="76E3FF"/>
          </a:solidFill>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4277523"/>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Pseudocode RNN</a:t>
            </a:r>
            <a:endParaRPr lang="ko-KR" altLang="en-US" sz="1600" dirty="0">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6031850"/>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pseudocode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6F8FA434-6E54-2973-A9E7-D334990DFD3A}"/>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07B5ED7-753B-EAE3-7CAD-5F5C502DB479}"/>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3CDF0438-00FD-A7A8-4750-ED1B93FF3D62}"/>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97354D77-D304-0642-4286-C0DF79FFA2E1}"/>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AF17FF24-1438-053F-BB16-3606FD88107E}"/>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00C89C7F-248D-2273-3A0B-842646DD6C7B}"/>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2AA8793E-9106-0070-8B60-BEFC087B7C41}"/>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20B79A9C-168F-AB90-34BA-DE03F86A866C}"/>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5E139396-2CF2-D7F4-9FD5-C84F05F6B06B}"/>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E37D4412-1E0F-652A-848C-08DD22EA61E5}"/>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880918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7976960" y="3228976"/>
            <a:ext cx="3960911" cy="2840986"/>
          </a:xfrm>
          <a:prstGeom prst="rect">
            <a:avLst/>
          </a:prstGeom>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p:spPr>
      </p:pic>
      <p:sp>
        <p:nvSpPr>
          <p:cNvPr id="6" name="직사각형 5">
            <a:extLst>
              <a:ext uri="{FF2B5EF4-FFF2-40B4-BE49-F238E27FC236}">
                <a16:creationId xmlns:a16="http://schemas.microsoft.com/office/drawing/2014/main" id="{2A2B9C36-B64D-46EA-E19A-22CDA0A585BB}"/>
              </a:ext>
            </a:extLst>
          </p:cNvPr>
          <p:cNvSpPr/>
          <p:nvPr/>
        </p:nvSpPr>
        <p:spPr>
          <a:xfrm>
            <a:off x="958284" y="169545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958284" y="1969294"/>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958284" y="224313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958284" y="2516982"/>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958284" y="27908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958284" y="373380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958284" y="40100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rot="10800000">
            <a:off x="649346" y="1695450"/>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1434533" y="4019551"/>
            <a:ext cx="209550" cy="1057275"/>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27541" y="2721412"/>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896997" y="4740234"/>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5273835" y="179959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(32,)</a:t>
            </a:r>
            <a:endParaRPr lang="ko-KR" altLang="en-US" sz="1600" dirty="0">
              <a:solidFill>
                <a:schemeClr val="tx1"/>
              </a:solidFill>
            </a:endParaRPr>
          </a:p>
        </p:txBody>
      </p:sp>
      <p:sp>
        <p:nvSpPr>
          <p:cNvPr id="19" name="직사각형 18">
            <a:extLst>
              <a:ext uri="{FF2B5EF4-FFF2-40B4-BE49-F238E27FC236}">
                <a16:creationId xmlns:a16="http://schemas.microsoft.com/office/drawing/2014/main" id="{18D4909B-5806-AD49-FB56-121ABED34D54}"/>
              </a:ext>
            </a:extLst>
          </p:cNvPr>
          <p:cNvSpPr/>
          <p:nvPr/>
        </p:nvSpPr>
        <p:spPr>
          <a:xfrm>
            <a:off x="4064670" y="1790939"/>
            <a:ext cx="1162050" cy="1670447"/>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(64,32)</a:t>
            </a:r>
            <a:endParaRPr lang="ko-KR" altLang="en-US" sz="1600" dirty="0">
              <a:solidFill>
                <a:schemeClr val="tx1"/>
              </a:solidFill>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8409881" y="1799598"/>
            <a:ext cx="1670446" cy="265834"/>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bg1"/>
                </a:solidFill>
              </a:rPr>
              <a:t>(64,)</a:t>
            </a:r>
            <a:endParaRPr lang="ko-KR" altLang="en-US" sz="1600" dirty="0">
              <a:solidFill>
                <a:schemeClr val="bg1"/>
              </a:solidFill>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3071088" y="1337572"/>
            <a:ext cx="7962900" cy="307585"/>
          </a:xfrm>
          <a:prstGeom prst="rect">
            <a:avLst/>
          </a:prstGeom>
          <a:no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6620998" y="1799598"/>
            <a:ext cx="1670445" cy="1670447"/>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(64,64)</a:t>
            </a:r>
            <a:endParaRPr lang="ko-KR" altLang="en-US" sz="1600" dirty="0">
              <a:solidFill>
                <a:schemeClr val="tx1"/>
              </a:solidFill>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198765" y="1790939"/>
            <a:ext cx="1670446" cy="265834"/>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t>(64,)</a:t>
            </a:r>
            <a:endParaRPr lang="ko-KR" altLang="en-US" sz="1600" dirty="0"/>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02289" y="6193856"/>
            <a:ext cx="3936447" cy="325776"/>
          </a:xfrm>
          <a:prstGeom prst="rect">
            <a:avLst/>
          </a:prstGeom>
          <a:ln w="12700">
            <a:solidFill>
              <a:schemeClr val="tx1"/>
            </a:solidFill>
          </a:ln>
        </p:spPr>
      </p:pic>
      <p:sp>
        <p:nvSpPr>
          <p:cNvPr id="42" name="TextBox 41">
            <a:extLst>
              <a:ext uri="{FF2B5EF4-FFF2-40B4-BE49-F238E27FC236}">
                <a16:creationId xmlns:a16="http://schemas.microsoft.com/office/drawing/2014/main" id="{D9B8D9F8-80EE-89C6-210B-F23C84C11985}"/>
              </a:ext>
            </a:extLst>
          </p:cNvPr>
          <p:cNvSpPr txBox="1"/>
          <p:nvPr/>
        </p:nvSpPr>
        <p:spPr>
          <a:xfrm>
            <a:off x="5306859" y="2097881"/>
            <a:ext cx="1162050" cy="338554"/>
          </a:xfrm>
          <a:prstGeom prst="rect">
            <a:avLst/>
          </a:prstGeom>
          <a:noFill/>
        </p:spPr>
        <p:txBody>
          <a:bodyPr wrap="square">
            <a:spAutoFit/>
          </a:bodyPr>
          <a:lstStyle/>
          <a:p>
            <a:r>
              <a:rPr lang="en-US" altLang="ko-KR" sz="1600" dirty="0" err="1">
                <a:latin typeface="D2Coding" panose="020B0609020101020101" pitchFamily="49" charset="-127"/>
                <a:ea typeface="D2Coding" panose="020B0609020101020101" pitchFamily="49" charset="-127"/>
              </a:rPr>
              <a:t>in</a:t>
            </a:r>
            <a:r>
              <a:rPr lang="en-US" altLang="ko-KR" sz="1600" b="0" dirty="0" err="1">
                <a:effectLst/>
                <a:latin typeface="D2Coding" panose="020B0609020101020101" pitchFamily="49" charset="-127"/>
                <a:ea typeface="D2Coding" panose="020B0609020101020101" pitchFamily="49" charset="-127"/>
              </a:rPr>
              <a:t>put_t</a:t>
            </a:r>
            <a:endParaRPr lang="ko-KR" altLang="en-US" sz="1600" dirty="0"/>
          </a:p>
        </p:txBody>
      </p:sp>
      <p:sp>
        <p:nvSpPr>
          <p:cNvPr id="44" name="TextBox 43">
            <a:extLst>
              <a:ext uri="{FF2B5EF4-FFF2-40B4-BE49-F238E27FC236}">
                <a16:creationId xmlns:a16="http://schemas.microsoft.com/office/drawing/2014/main" id="{163177FC-A382-77DE-791A-B40E701EF883}"/>
              </a:ext>
            </a:extLst>
          </p:cNvPr>
          <p:cNvSpPr txBox="1"/>
          <p:nvPr/>
        </p:nvSpPr>
        <p:spPr>
          <a:xfrm>
            <a:off x="127541" y="3081398"/>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905896" y="1279439"/>
            <a:ext cx="116205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a:t>
            </a:r>
            <a:r>
              <a:rPr lang="en-US" altLang="ko-KR" b="0" dirty="0">
                <a:effectLst/>
                <a:latin typeface="D2Coding" panose="020B0609020101020101" pitchFamily="49" charset="-127"/>
                <a:ea typeface="D2Coding" panose="020B0609020101020101" pitchFamily="49" charset="-127"/>
              </a:rPr>
              <a:t>put</a:t>
            </a:r>
            <a:r>
              <a:rPr lang="en-US" altLang="ko-KR" dirty="0">
                <a:latin typeface="D2Coding" panose="020B0609020101020101" pitchFamily="49" charset="-127"/>
                <a:ea typeface="D2Coding" panose="020B0609020101020101" pitchFamily="49" charset="-127"/>
              </a:rPr>
              <a:t>s</a:t>
            </a:r>
            <a:endParaRPr lang="ko-KR" altLang="en-US" dirty="0"/>
          </a:p>
        </p:txBody>
      </p:sp>
      <p:cxnSp>
        <p:nvCxnSpPr>
          <p:cNvPr id="48" name="연결선: 구부러짐 47">
            <a:extLst>
              <a:ext uri="{FF2B5EF4-FFF2-40B4-BE49-F238E27FC236}">
                <a16:creationId xmlns:a16="http://schemas.microsoft.com/office/drawing/2014/main" id="{7BB50E53-507D-5F76-ADF4-EB41671D0DDB}"/>
              </a:ext>
            </a:extLst>
          </p:cNvPr>
          <p:cNvCxnSpPr>
            <a:stCxn id="6" idx="3"/>
            <a:endCxn id="18" idx="0"/>
          </p:cNvCxnSpPr>
          <p:nvPr/>
        </p:nvCxnSpPr>
        <p:spPr>
          <a:xfrm flipV="1">
            <a:off x="2120334" y="1799598"/>
            <a:ext cx="3734526" cy="24440"/>
          </a:xfrm>
          <a:prstGeom prst="curvedConnector4">
            <a:avLst>
              <a:gd name="adj1" fmla="val 37630"/>
              <a:gd name="adj2" fmla="val 526137"/>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305447" y="1778481"/>
            <a:ext cx="1291658"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 :</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8816941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np.dot(</a:t>
            </a:r>
            <a:r>
              <a:rPr lang="en-US" altLang="ko-KR" sz="2000" b="1" dirty="0">
                <a:solidFill>
                  <a:schemeClr val="accent4"/>
                </a:solidFill>
                <a:effectLst/>
                <a:latin typeface="D2Coding" panose="020B0609020101020101" pitchFamily="49" charset="-127"/>
                <a:ea typeface="D2Coding" panose="020B0609020101020101" pitchFamily="49" charset="-127"/>
              </a:rPr>
              <a:t>U</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5"/>
                </a:solidFill>
                <a:effectLst/>
                <a:latin typeface="D2Coding" panose="020B0609020101020101" pitchFamily="49" charset="-127"/>
                <a:ea typeface="D2Coding" panose="020B0609020101020101" pitchFamily="49" charset="-127"/>
              </a:rPr>
              <a:t>state_t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400110"/>
          </a:xfrm>
          <a:prstGeom prst="rect">
            <a:avLst/>
          </a:prstGeom>
          <a:solidFill>
            <a:srgbClr val="76E3FF"/>
          </a:solidFill>
        </p:spPr>
        <p:txBody>
          <a:bodyPr wrap="square">
            <a:spAutoFit/>
          </a:bodyPr>
          <a:lstStyle/>
          <a:p>
            <a:r>
              <a:rPr lang="en-US" altLang="ko-KR" sz="2000" dirty="0" err="1">
                <a:latin typeface="D2Coding" panose="020B0609020101020101" pitchFamily="49" charset="-127"/>
                <a:ea typeface="D2Coding" panose="020B0609020101020101" pitchFamily="49" charset="-127"/>
              </a:rPr>
              <a:t>SimpleRNN</a:t>
            </a:r>
            <a:r>
              <a:rPr lang="en-US" altLang="ko-KR" sz="2000" dirty="0">
                <a:effectLst/>
                <a:latin typeface="D2Coding" panose="020B0609020101020101" pitchFamily="49" charset="-127"/>
                <a:ea typeface="D2Coding" panose="020B0609020101020101" pitchFamily="49" charset="-127"/>
              </a:rPr>
              <a:t>(64,</a:t>
            </a:r>
            <a:r>
              <a:rPr lang="en-US" altLang="ko-KR" sz="2000" dirty="0">
                <a:latin typeface="D2Coding" panose="020B0609020101020101" pitchFamily="49" charset="-127"/>
                <a:ea typeface="D2Coding" panose="020B0609020101020101" pitchFamily="49" charset="-127"/>
              </a:rPr>
              <a:t> </a:t>
            </a:r>
            <a:r>
              <a:rPr lang="en-US" altLang="ko-KR" sz="2000" dirty="0" err="1">
                <a:effectLst/>
                <a:latin typeface="D2Coding" panose="020B0609020101020101" pitchFamily="49" charset="-127"/>
                <a:ea typeface="D2Coding" panose="020B0609020101020101" pitchFamily="49" charset="-127"/>
              </a:rPr>
              <a:t>input_shape</a:t>
            </a:r>
            <a:r>
              <a:rPr lang="en-US" altLang="ko-KR" sz="2000" dirty="0">
                <a:latin typeface="D2Coding" panose="020B0609020101020101" pitchFamily="49" charset="-127"/>
                <a:ea typeface="D2Coding" panose="020B0609020101020101" pitchFamily="49" charset="-127"/>
              </a:rPr>
              <a:t>=</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timesteps</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 </a:t>
            </a:r>
            <a:r>
              <a:rPr lang="en-US" altLang="ko-KR" sz="2000" dirty="0" err="1">
                <a:latin typeface="D2Coding" panose="020B0609020101020101" pitchFamily="49" charset="-127"/>
                <a:ea typeface="D2Coding" panose="020B0609020101020101" pitchFamily="49" charset="-127"/>
              </a:rPr>
              <a:t>input_features</a:t>
            </a:r>
            <a:r>
              <a:rPr lang="en-US" altLang="ko-KR" sz="2000" dirty="0">
                <a:effectLst/>
                <a:latin typeface="D2Coding" panose="020B0609020101020101" pitchFamily="49" charset="-127"/>
                <a:ea typeface="D2Coding" panose="020B0609020101020101" pitchFamily="49" charset="-127"/>
              </a:rPr>
              <a:t>))</a:t>
            </a:r>
            <a:endParaRPr lang="ko-KR" altLang="en-US" sz="2000"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880819"/>
          </a:xfrm>
          <a:prstGeom prst="rect">
            <a:avLst/>
          </a:prstGeom>
          <a:noFill/>
        </p:spPr>
        <p:txBody>
          <a:bodyPr wrap="square" rtlCol="0">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의 은닉층의 노드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뉴런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의 개수는 </a:t>
            </a:r>
            <a:r>
              <a:rPr lang="en-US" altLang="ko-KR" dirty="0">
                <a:latin typeface="D2Coding" panose="020B0609020101020101" pitchFamily="49" charset="-127"/>
                <a:ea typeface="D2Coding" panose="020B0609020101020101" pitchFamily="49" charset="-127"/>
              </a:rPr>
              <a:t>64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en-US" altLang="ko-KR" dirty="0" err="1">
                <a:latin typeface="D2Coding" panose="020B0609020101020101" pitchFamily="49" charset="-127"/>
                <a:ea typeface="D2Coding" panose="020B0609020101020101" pitchFamily="49" charset="-127"/>
              </a:rPr>
              <a:t>output_features</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로 </a:t>
            </a:r>
            <a:r>
              <a:rPr lang="en-US" altLang="ko-KR" dirty="0" err="1">
                <a:latin typeface="D2Coding" panose="020B0609020101020101" pitchFamily="49" charset="-127"/>
                <a:ea typeface="D2Coding" panose="020B0609020101020101" pitchFamily="49" charset="-127"/>
              </a:rPr>
              <a:t>input_features</a:t>
            </a:r>
            <a:r>
              <a:rPr lang="en-US" altLang="ko-KR" dirty="0">
                <a:latin typeface="D2Coding" panose="020B0609020101020101" pitchFamily="49" charset="-127"/>
                <a:ea typeface="D2Coding" panose="020B0609020101020101" pitchFamily="49" charset="-127"/>
              </a:rPr>
              <a:t> 32</a:t>
            </a:r>
            <a:r>
              <a:rPr lang="ko-KR" altLang="en-US" dirty="0">
                <a:latin typeface="D2Coding" panose="020B0609020101020101" pitchFamily="49" charset="-127"/>
                <a:ea typeface="D2Coding" panose="020B0609020101020101" pitchFamily="49" charset="-127"/>
              </a:rPr>
              <a:t>개 노드를 받아 </a:t>
            </a:r>
            <a:r>
              <a:rPr lang="en-US" altLang="ko-KR" dirty="0">
                <a:latin typeface="D2Coding" panose="020B0609020101020101" pitchFamily="49" charset="-127"/>
                <a:ea typeface="D2Coding" panose="020B0609020101020101" pitchFamily="49" charset="-127"/>
              </a:rPr>
              <a:t>timesteps 100</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최근 </a:t>
            </a:r>
            <a:r>
              <a:rPr lang="en-US" altLang="ko-KR" dirty="0">
                <a:latin typeface="D2Coding" panose="020B0609020101020101" pitchFamily="49" charset="-127"/>
                <a:ea typeface="D2Coding" panose="020B0609020101020101" pitchFamily="49" charset="-127"/>
              </a:rPr>
              <a:t>100</a:t>
            </a:r>
            <a:r>
              <a:rPr lang="ko-KR" altLang="en-US" dirty="0">
                <a:latin typeface="D2Coding" panose="020B0609020101020101" pitchFamily="49" charset="-127"/>
                <a:ea typeface="D2Coding" panose="020B0609020101020101" pitchFamily="49" charset="-127"/>
              </a:rPr>
              <a:t>일 동안 주가</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과거의 </a:t>
            </a:r>
            <a:r>
              <a:rPr lang="en-US" altLang="ko-KR" dirty="0">
                <a:latin typeface="D2Coding" panose="020B0609020101020101" pitchFamily="49" charset="-127"/>
                <a:ea typeface="D2Coding" panose="020B0609020101020101" pitchFamily="49" charset="-127"/>
              </a:rPr>
              <a:t>state</a:t>
            </a:r>
            <a:r>
              <a:rPr lang="ko-KR" altLang="en-US" dirty="0">
                <a:latin typeface="D2Coding" panose="020B0609020101020101" pitchFamily="49" charset="-127"/>
                <a:ea typeface="D2Coding" panose="020B0609020101020101" pitchFamily="49" charset="-127"/>
              </a:rPr>
              <a:t>를 계속 </a:t>
            </a:r>
            <a:r>
              <a:rPr lang="en-US" altLang="ko-KR" dirty="0">
                <a:latin typeface="D2Coding" panose="020B0609020101020101" pitchFamily="49" charset="-127"/>
                <a:ea typeface="D2Coding" panose="020B0609020101020101" pitchFamily="49" charset="-127"/>
              </a:rPr>
              <a:t>memory</a:t>
            </a:r>
            <a:r>
              <a:rPr lang="ko-KR" altLang="en-US"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RNN(Recurrent Neural Network)</a:t>
            </a:r>
            <a:endParaRPr lang="ko-KR" altLang="en-US" sz="2000" u="sng" dirty="0"/>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6181725"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FCNN(Fully Connected Neural Network)</a:t>
            </a:r>
            <a:endParaRPr lang="ko-KR" altLang="en-US" sz="2000" u="sng" dirty="0"/>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2000"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84775"/>
          </a:xfrm>
          <a:prstGeom prst="rect">
            <a:avLst/>
          </a:prstGeom>
          <a:noFill/>
          <a:ln w="28575">
            <a:noFill/>
          </a:ln>
        </p:spPr>
        <p:txBody>
          <a:bodyPr wrap="square">
            <a:spAutoFit/>
          </a:bodyPr>
          <a:lstStyle/>
          <a:p>
            <a:r>
              <a:rPr lang="en-US" altLang="ko-KR" sz="1600" b="0" dirty="0">
                <a:effectLst/>
                <a:latin typeface="D2Coding" panose="020B0609020101020101" pitchFamily="49" charset="-127"/>
                <a:ea typeface="D2Coding" panose="020B0609020101020101" pitchFamily="49" charset="-127"/>
              </a:rPr>
              <a:t>np.dot(</a:t>
            </a:r>
            <a:r>
              <a:rPr lang="en-US" altLang="ko-KR" sz="1600" b="1" dirty="0">
                <a:solidFill>
                  <a:schemeClr val="accent4"/>
                </a:solidFill>
                <a:effectLst/>
                <a:latin typeface="D2Coding" panose="020B0609020101020101" pitchFamily="49" charset="-127"/>
                <a:ea typeface="D2Coding" panose="020B0609020101020101" pitchFamily="49" charset="-127"/>
              </a:rPr>
              <a:t>U</a:t>
            </a:r>
            <a:r>
              <a:rPr lang="en-US" altLang="ko-KR" sz="1600" b="1" dirty="0">
                <a:effectLst/>
                <a:latin typeface="D2Coding" panose="020B0609020101020101" pitchFamily="49" charset="-127"/>
                <a:ea typeface="D2Coding" panose="020B0609020101020101" pitchFamily="49" charset="-127"/>
              </a:rPr>
              <a:t>, </a:t>
            </a:r>
            <a:r>
              <a:rPr lang="en-US" altLang="ko-KR" sz="1600" b="1" dirty="0" err="1">
                <a:solidFill>
                  <a:schemeClr val="accent5"/>
                </a:solidFill>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이전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하는 수식 항</a:t>
            </a:r>
            <a:endParaRPr lang="ko-KR" altLang="en-US" sz="16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78753"/>
          </a:xfrm>
          <a:prstGeom prst="curvedConnector4">
            <a:avLst>
              <a:gd name="adj1" fmla="val -32000"/>
              <a:gd name="adj2" fmla="val 62402"/>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499864"/>
            <a:ext cx="7675230" cy="4053211"/>
          </a:xfrm>
          <a:prstGeom prst="rect">
            <a:avLst/>
          </a:prstGeom>
        </p:spPr>
      </p:pic>
      <p:sp>
        <p:nvSpPr>
          <p:cNvPr id="6" name="TextBox 5">
            <a:extLst>
              <a:ext uri="{FF2B5EF4-FFF2-40B4-BE49-F238E27FC236}">
                <a16:creationId xmlns:a16="http://schemas.microsoft.com/office/drawing/2014/main" id="{DF2DCB4E-8036-5F8F-788D-405F90D49285}"/>
              </a:ext>
            </a:extLst>
          </p:cNvPr>
          <p:cNvSpPr txBox="1"/>
          <p:nvPr/>
        </p:nvSpPr>
        <p:spPr>
          <a:xfrm>
            <a:off x="2053325" y="5619851"/>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52518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56517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 </a:t>
            </a:r>
            <a:r>
              <a:rPr lang="en-US" altLang="ko-KR" sz="1600" b="0" dirty="0" err="1">
                <a:effectLst/>
                <a:latin typeface="D2Coding" panose="020B0609020101020101" pitchFamily="49" charset="-127"/>
                <a:ea typeface="D2Coding" panose="020B0609020101020101" pitchFamily="49" charset="-127"/>
              </a:rPr>
              <a:t>return_sequences</a:t>
            </a:r>
            <a:r>
              <a:rPr lang="en-US" altLang="ko-KR" sz="1600" b="0" dirty="0">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layers.Bidirectional</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34</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210E60AA-30A7-76F5-61E4-FAD00013C47F}"/>
              </a:ext>
            </a:extLst>
          </p:cNvPr>
          <p:cNvGraphicFramePr>
            <a:graphicFrameLocks noGrp="1"/>
          </p:cNvGraphicFramePr>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FF07DFC3-7512-279D-EFDE-BC0E7E45F5D7}"/>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10936203-F21C-63FD-4023-3DE2C74533F8}"/>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16083831-1CF6-41E5-E6A3-9D03E05C98E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3AC58EF4-5A82-F18D-16D4-DBC48C4C1D58}"/>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1D713D28-6E6C-EDB6-A024-2E2ABC1E0AAF}"/>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395993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8DD0180E-C9DE-EB92-9660-924DD6059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3878897" cy="3342586"/>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a:extLst>
              <a:ext uri="{FF2B5EF4-FFF2-40B4-BE49-F238E27FC236}">
                <a16:creationId xmlns:a16="http://schemas.microsoft.com/office/drawing/2014/main" id="{A695156D-C55E-CA0E-FC4F-4B1F4F6750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0925" y="1989522"/>
            <a:ext cx="4114800" cy="1828800"/>
          </a:xfrm>
          <a:prstGeom prst="rect">
            <a:avLst/>
          </a:prstGeom>
          <a:noFill/>
          <a:extLst>
            <a:ext uri="{909E8E84-426E-40DD-AFC4-6F175D3DCCD1}">
              <a14:hiddenFill xmlns:a14="http://schemas.microsoft.com/office/drawing/2010/main">
                <a:solidFill>
                  <a:srgbClr val="FFFFFF"/>
                </a:solidFill>
              </a14:hiddenFill>
            </a:ext>
          </a:extLst>
        </p:spPr>
      </p:pic>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9470" y="2040828"/>
            <a:ext cx="20574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9470" y="4294084"/>
            <a:ext cx="2143125" cy="20383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91E92F0-24D1-A4C6-C88E-46DACC42881F}"/>
              </a:ext>
            </a:extLst>
          </p:cNvPr>
          <p:cNvSpPr txBox="1"/>
          <p:nvPr/>
        </p:nvSpPr>
        <p:spPr>
          <a:xfrm>
            <a:off x="3204845" y="1566831"/>
            <a:ext cx="370840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Multi-layer RNN, Deep RNN</a:t>
            </a:r>
            <a:endParaRPr lang="ko-KR" altLang="en-US" dirty="0">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51E8203-15D6-D19A-3513-F1DC6553F9B4}"/>
              </a:ext>
            </a:extLst>
          </p:cNvPr>
          <p:cNvSpPr txBox="1"/>
          <p:nvPr/>
        </p:nvSpPr>
        <p:spPr>
          <a:xfrm>
            <a:off x="7309484" y="1566831"/>
            <a:ext cx="4692015"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Bidirectional Recurrent Neural Network</a:t>
            </a:r>
          </a:p>
        </p:txBody>
      </p:sp>
      <p:sp>
        <p:nvSpPr>
          <p:cNvPr id="12" name="TextBox 11">
            <a:extLst>
              <a:ext uri="{FF2B5EF4-FFF2-40B4-BE49-F238E27FC236}">
                <a16:creationId xmlns:a16="http://schemas.microsoft.com/office/drawing/2014/main" id="{886CCDB5-764B-CB55-2600-DA1AE97727D1}"/>
              </a:ext>
            </a:extLst>
          </p:cNvPr>
          <p:cNvSpPr txBox="1"/>
          <p:nvPr/>
        </p:nvSpPr>
        <p:spPr>
          <a:xfrm>
            <a:off x="599470" y="1566831"/>
            <a:ext cx="2319942"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Shallow RNN</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7339</TotalTime>
  <Words>4593</Words>
  <Application>Microsoft Office PowerPoint</Application>
  <PresentationFormat>와이드스크린</PresentationFormat>
  <Paragraphs>515</Paragraphs>
  <Slides>46</Slides>
  <Notes>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46</vt:i4>
      </vt:variant>
    </vt:vector>
  </HeadingPairs>
  <TitlesOfParts>
    <vt:vector size="56" baseType="lpstr">
      <vt:lpstr>D2Coding</vt:lpstr>
      <vt:lpstr>맑은 고딕</vt:lpstr>
      <vt:lpstr>Batang</vt:lpstr>
      <vt:lpstr>Arial</vt:lpstr>
      <vt:lpstr>Cambria Math</vt:lpstr>
      <vt:lpstr>Cascadia Code</vt:lpstr>
      <vt:lpstr>Lora</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125</cp:revision>
  <dcterms:created xsi:type="dcterms:W3CDTF">2026-04-06T01:00:39Z</dcterms:created>
  <dcterms:modified xsi:type="dcterms:W3CDTF">2026-08-14T13:14:33Z</dcterms:modified>
  <cp:version/>
</cp:coreProperties>
</file>