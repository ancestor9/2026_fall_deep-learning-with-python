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4"/>
  </p:notesMasterIdLst>
  <p:handoutMasterIdLst>
    <p:handoutMasterId r:id="rId75"/>
  </p:handoutMasterIdLst>
  <p:sldIdLst>
    <p:sldId id="256" r:id="rId2"/>
    <p:sldId id="1155" r:id="rId3"/>
    <p:sldId id="1393" r:id="rId4"/>
    <p:sldId id="1394" r:id="rId5"/>
    <p:sldId id="1122" r:id="rId6"/>
    <p:sldId id="1134" r:id="rId7"/>
    <p:sldId id="1140" r:id="rId8"/>
    <p:sldId id="1141" r:id="rId9"/>
    <p:sldId id="1144" r:id="rId10"/>
    <p:sldId id="1142" r:id="rId11"/>
    <p:sldId id="1143" r:id="rId12"/>
    <p:sldId id="1169" r:id="rId13"/>
    <p:sldId id="1395" r:id="rId14"/>
    <p:sldId id="1157" r:id="rId15"/>
    <p:sldId id="1146" r:id="rId16"/>
    <p:sldId id="1148" r:id="rId17"/>
    <p:sldId id="1222" r:id="rId18"/>
    <p:sldId id="1224" r:id="rId19"/>
    <p:sldId id="1396" r:id="rId20"/>
    <p:sldId id="1145" r:id="rId21"/>
    <p:sldId id="1397" r:id="rId22"/>
    <p:sldId id="1225" r:id="rId23"/>
    <p:sldId id="1226" r:id="rId24"/>
    <p:sldId id="1158" r:id="rId25"/>
    <p:sldId id="1150" r:id="rId26"/>
    <p:sldId id="1152" r:id="rId27"/>
    <p:sldId id="1149" r:id="rId28"/>
    <p:sldId id="1159" r:id="rId29"/>
    <p:sldId id="1161" r:id="rId30"/>
    <p:sldId id="1173" r:id="rId31"/>
    <p:sldId id="1174" r:id="rId32"/>
    <p:sldId id="1139" r:id="rId33"/>
    <p:sldId id="1172" r:id="rId34"/>
    <p:sldId id="1133" r:id="rId35"/>
    <p:sldId id="1163" r:id="rId36"/>
    <p:sldId id="1164" r:id="rId37"/>
    <p:sldId id="1165" r:id="rId38"/>
    <p:sldId id="1166" r:id="rId39"/>
    <p:sldId id="1121" r:id="rId40"/>
    <p:sldId id="1168" r:id="rId41"/>
    <p:sldId id="1135" r:id="rId42"/>
    <p:sldId id="1167" r:id="rId43"/>
    <p:sldId id="1160" r:id="rId44"/>
    <p:sldId id="1175" r:id="rId45"/>
    <p:sldId id="1132" r:id="rId46"/>
    <p:sldId id="1170" r:id="rId47"/>
    <p:sldId id="1171" r:id="rId48"/>
    <p:sldId id="1125" r:id="rId49"/>
    <p:sldId id="1398" r:id="rId50"/>
    <p:sldId id="1127" r:id="rId51"/>
    <p:sldId id="1128" r:id="rId52"/>
    <p:sldId id="1123" r:id="rId53"/>
    <p:sldId id="1130" r:id="rId54"/>
    <p:sldId id="1131" r:id="rId55"/>
    <p:sldId id="1137" r:id="rId56"/>
    <p:sldId id="1138" r:id="rId57"/>
    <p:sldId id="1129" r:id="rId58"/>
    <p:sldId id="1392" r:id="rId59"/>
    <p:sldId id="1162" r:id="rId60"/>
    <p:sldId id="1217" r:id="rId61"/>
    <p:sldId id="1220" r:id="rId62"/>
    <p:sldId id="1221" r:id="rId63"/>
    <p:sldId id="1218" r:id="rId64"/>
    <p:sldId id="1219" r:id="rId65"/>
    <p:sldId id="1153" r:id="rId66"/>
    <p:sldId id="1151" r:id="rId67"/>
    <p:sldId id="1154" r:id="rId68"/>
    <p:sldId id="1391" r:id="rId69"/>
    <p:sldId id="1381" r:id="rId70"/>
    <p:sldId id="1378" r:id="rId71"/>
    <p:sldId id="1380" r:id="rId72"/>
    <p:sldId id="1379" r:id="rId73"/>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393"/>
            <p14:sldId id="1394"/>
            <p14:sldId id="1122"/>
            <p14:sldId id="1134"/>
            <p14:sldId id="1140"/>
            <p14:sldId id="1141"/>
            <p14:sldId id="1144"/>
            <p14:sldId id="1142"/>
            <p14:sldId id="1143"/>
            <p14:sldId id="1169"/>
            <p14:sldId id="1395"/>
            <p14:sldId id="1157"/>
            <p14:sldId id="1146"/>
            <p14:sldId id="1148"/>
            <p14:sldId id="1222"/>
            <p14:sldId id="1224"/>
            <p14:sldId id="1396"/>
            <p14:sldId id="1145"/>
            <p14:sldId id="1397"/>
            <p14:sldId id="1225"/>
            <p14:sldId id="1226"/>
            <p14:sldId id="1158"/>
            <p14:sldId id="1150"/>
            <p14:sldId id="1152"/>
            <p14:sldId id="1149"/>
            <p14:sldId id="1159"/>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398"/>
            <p14:sldId id="1127"/>
            <p14:sldId id="1128"/>
            <p14:sldId id="1123"/>
            <p14:sldId id="1130"/>
            <p14:sldId id="1131"/>
            <p14:sldId id="1137"/>
            <p14:sldId id="1138"/>
            <p14:sldId id="1129"/>
            <p14:sldId id="1392"/>
            <p14:sldId id="1162"/>
            <p14:sldId id="1217"/>
            <p14:sldId id="1220"/>
            <p14:sldId id="1221"/>
            <p14:sldId id="1218"/>
            <p14:sldId id="1219"/>
            <p14:sldId id="1153"/>
            <p14:sldId id="1151"/>
            <p14:sldId id="1154"/>
            <p14:sldId id="1391"/>
            <p14:sldId id="1381"/>
            <p14:sldId id="1378"/>
            <p14:sldId id="1380"/>
            <p14:sldId id="137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94297" autoAdjust="0"/>
  </p:normalViewPr>
  <p:slideViewPr>
    <p:cSldViewPr snapToGrid="0">
      <p:cViewPr>
        <p:scale>
          <a:sx n="75" d="100"/>
          <a:sy n="75" d="100"/>
        </p:scale>
        <p:origin x="2142" y="714"/>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0"/>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commentAuthors" Target="commentAuthor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2026-10-06</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2026-10-06</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50</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2BBD4-8346-351F-C4D2-EE6AA137279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9694868-8B43-F806-68D5-F7C5BF80756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244D141-C974-E84E-5C96-A95649CB7904}"/>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E4E0B063-E23A-F0A4-F4E2-8D2593F82582}"/>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58</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02176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60</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7841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8CF00-EFBF-713B-0EA1-C963FEC4BB56}"/>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FF9DC9-F46F-03F8-6C50-C0BAFAF69D8E}"/>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58409A49-A4F9-7552-D1E9-92EBF0851629}"/>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B4CECF0F-5EE4-483A-BD59-D40E5ED0C12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68</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71534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2026-10-06</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10/6/2026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2026-10-06</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ancestor9/2026_Fall_Deep-Learning-with-Python/blob/main/scripts/Perceptron_1957_to_AlexNet_2012.ipynb" TargetMode="External"/><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hyperlink" Target="https://link.springer.com/article/10.1007/s10462-025-11162-5" TargetMode="External"/><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6.png"/><Relationship Id="rId1" Type="http://schemas.openxmlformats.org/officeDocument/2006/relationships/slideLayout" Target="../slideLayouts/slideLayout4.xml"/><Relationship Id="rId5" Type="http://schemas.openxmlformats.org/officeDocument/2006/relationships/hyperlink" Target="https://github.com/ancestor9/2026_Fall_Deep-Learning-with-Python/blob/main/appendix/01_sliding%20windows%20with%20time%20series.xlsx" TargetMode="External"/><Relationship Id="rId4" Type="http://schemas.openxmlformats.org/officeDocument/2006/relationships/image" Target="../media/image7.sv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 Id="rId6" Type="http://schemas.openxmlformats.org/officeDocument/2006/relationships/image" Target="../media/image7.sv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 Id="rId4" Type="http://schemas.openxmlformats.org/officeDocument/2006/relationships/image" Target="../media/image7.svg"/></Relationships>
</file>

<file path=ppt/slides/_rels/slide1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e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1.png"/><Relationship Id="rId7" Type="http://schemas.openxmlformats.org/officeDocument/2006/relationships/image" Target="../media/image32.png"/><Relationship Id="rId2" Type="http://schemas.openxmlformats.org/officeDocument/2006/relationships/image" Target="../media/image271.png"/><Relationship Id="rId1" Type="http://schemas.openxmlformats.org/officeDocument/2006/relationships/slideLayout" Target="../slideLayouts/slideLayout4.xml"/><Relationship Id="rId6" Type="http://schemas.openxmlformats.org/officeDocument/2006/relationships/image" Target="../media/image311.png"/><Relationship Id="rId11" Type="http://schemas.openxmlformats.org/officeDocument/2006/relationships/image" Target="../media/image36.png"/><Relationship Id="rId5" Type="http://schemas.openxmlformats.org/officeDocument/2006/relationships/image" Target="../media/image301.png"/><Relationship Id="rId10" Type="http://schemas.openxmlformats.org/officeDocument/2006/relationships/image" Target="../media/image35.png"/><Relationship Id="rId4" Type="http://schemas.openxmlformats.org/officeDocument/2006/relationships/image" Target="../media/image291.png"/><Relationship Id="rId9" Type="http://schemas.openxmlformats.org/officeDocument/2006/relationships/image" Target="../media/image34.png"/></Relationships>
</file>

<file path=ppt/slides/_rels/slide30.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1.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1.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1.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1.png"/><Relationship Id="rId9" Type="http://schemas.openxmlformats.org/officeDocument/2006/relationships/image" Target="../media/image40.png"/><Relationship Id="rId14" Type="http://schemas.openxmlformats.org/officeDocument/2006/relationships/image" Target="../media/image45.png"/></Relationships>
</file>

<file path=ppt/slides/_rels/slide31.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8" Type="http://schemas.openxmlformats.org/officeDocument/2006/relationships/image" Target="../media/image60.png"/><Relationship Id="rId3" Type="http://schemas.microsoft.com/office/2007/relationships/hdphoto" Target="../media/hdphoto1.wdp"/><Relationship Id="rId7" Type="http://schemas.openxmlformats.org/officeDocument/2006/relationships/image" Target="../media/image59.png"/><Relationship Id="rId2" Type="http://schemas.openxmlformats.org/officeDocument/2006/relationships/image" Target="../media/image31.png"/><Relationship Id="rId1" Type="http://schemas.openxmlformats.org/officeDocument/2006/relationships/slideLayout" Target="../slideLayouts/slideLayout4.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xml"/><Relationship Id="rId4" Type="http://schemas.openxmlformats.org/officeDocument/2006/relationships/image" Target="../media/image5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70.svg"/><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75.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7.png"/><Relationship Id="rId5" Type="http://schemas.openxmlformats.org/officeDocument/2006/relationships/image" Target="../media/image76.png"/><Relationship Id="rId4" Type="http://schemas.microsoft.com/office/2007/relationships/hdphoto" Target="../media/hdphoto2.wdp"/></Relationships>
</file>

<file path=ppt/slides/_rels/slide4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7.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51.xml.rels><?xml version="1.0" encoding="UTF-8" standalone="yes"?>
<Relationships xmlns="http://schemas.openxmlformats.org/package/2006/relationships"><Relationship Id="rId8" Type="http://schemas.openxmlformats.org/officeDocument/2006/relationships/image" Target="../media/image81.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80.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7.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52.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82.png"/><Relationship Id="rId1" Type="http://schemas.openxmlformats.org/officeDocument/2006/relationships/slideLayout" Target="../slideLayouts/slideLayout4.xml"/><Relationship Id="rId5" Type="http://schemas.openxmlformats.org/officeDocument/2006/relationships/image" Target="../media/image83.png"/><Relationship Id="rId4" Type="http://schemas.microsoft.com/office/2007/relationships/hdphoto" Target="../media/hdphoto3.wdp"/></Relationships>
</file>

<file path=ppt/slides/_rels/slide5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84.jpe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5.png"/><Relationship Id="rId1" Type="http://schemas.openxmlformats.org/officeDocument/2006/relationships/slideLayout" Target="../slideLayouts/slideLayout4.xml"/><Relationship Id="rId4" Type="http://schemas.openxmlformats.org/officeDocument/2006/relationships/image" Target="../media/image7.svg"/></Relationships>
</file>

<file path=ppt/slides/_rels/slide5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4" Type="http://schemas.openxmlformats.org/officeDocument/2006/relationships/image" Target="../media/image7.sv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88.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hyperlink" Target="https://keras.io/examples/timeseries/timeseries_anomaly_detection/" TargetMode="External"/><Relationship Id="rId1" Type="http://schemas.openxmlformats.org/officeDocument/2006/relationships/slideLayout" Target="../slideLayouts/slideLayout4.xml"/><Relationship Id="rId5" Type="http://schemas.openxmlformats.org/officeDocument/2006/relationships/hyperlink" Target="https://github.com/ancestor9/AI-with-python" TargetMode="External"/><Relationship Id="rId4" Type="http://schemas.openxmlformats.org/officeDocument/2006/relationships/image" Target="../media/image90.svg"/></Relationships>
</file>

<file path=ppt/slides/_rels/slide70.xml.rels><?xml version="1.0" encoding="UTF-8" standalone="yes"?>
<Relationships xmlns="http://schemas.openxmlformats.org/package/2006/relationships"><Relationship Id="rId2" Type="http://schemas.openxmlformats.org/officeDocument/2006/relationships/image" Target="../media/image90.sv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svg"/><Relationship Id="rId1" Type="http://schemas.openxmlformats.org/officeDocument/2006/relationships/slideLayout" Target="../slideLayouts/slideLayout4.xml"/><Relationship Id="rId5" Type="http://schemas.openxmlformats.org/officeDocument/2006/relationships/image" Target="../media/image93.png"/><Relationship Id="rId4" Type="http://schemas.openxmlformats.org/officeDocument/2006/relationships/image" Target="../media/image92.png"/></Relationships>
</file>

<file path=ppt/slides/_rels/slide7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0.svg"/><Relationship Id="rId1" Type="http://schemas.openxmlformats.org/officeDocument/2006/relationships/slideLayout" Target="../slideLayouts/slideLayout4.xml"/><Relationship Id="rId4" Type="http://schemas.openxmlformats.org/officeDocument/2006/relationships/image" Target="../media/image9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RNN(Recurrent Neural Network) </a:t>
            </a:r>
          </a:p>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LSTM(Long Short-Term Memory )</a:t>
            </a:r>
          </a:p>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GRU(Gated Recurrent Unit)</a:t>
            </a:r>
            <a:endParaRPr lang="ko-KR" altLang="en-US" sz="2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7371A-E5C4-30BB-9CC8-F7FE04E3D1D7}"/>
            </a:ext>
          </a:extLst>
        </p:cNvPr>
        <p:cNvGrpSpPr/>
        <p:nvPr/>
      </p:nvGrpSpPr>
      <p:grpSpPr>
        <a:xfrm>
          <a:off x="0" y="0"/>
          <a:ext cx="0" cy="0"/>
          <a:chOff x="0" y="0"/>
          <a:chExt cx="0" cy="0"/>
        </a:xfrm>
      </p:grpSpPr>
      <p:pic>
        <p:nvPicPr>
          <p:cNvPr id="4" name="그림 3">
            <a:extLst>
              <a:ext uri="{FF2B5EF4-FFF2-40B4-BE49-F238E27FC236}">
                <a16:creationId xmlns:a16="http://schemas.microsoft.com/office/drawing/2014/main" id="{DB0AA873-E7D7-B4EA-4E0B-B8C26182E3ED}"/>
              </a:ext>
            </a:extLst>
          </p:cNvPr>
          <p:cNvPicPr>
            <a:picLocks noChangeAspect="1"/>
          </p:cNvPicPr>
          <p:nvPr/>
        </p:nvPicPr>
        <p:blipFill>
          <a:blip r:embed="rId2"/>
          <a:stretch>
            <a:fillRect/>
          </a:stretch>
        </p:blipFill>
        <p:spPr>
          <a:xfrm>
            <a:off x="624146" y="1367879"/>
            <a:ext cx="10829407" cy="5059928"/>
          </a:xfrm>
          <a:prstGeom prst="rect">
            <a:avLst/>
          </a:prstGeom>
        </p:spPr>
      </p:pic>
      <p:sp>
        <p:nvSpPr>
          <p:cNvPr id="3" name="제목 1">
            <a:extLst>
              <a:ext uri="{FF2B5EF4-FFF2-40B4-BE49-F238E27FC236}">
                <a16:creationId xmlns:a16="http://schemas.microsoft.com/office/drawing/2014/main" id="{E3999178-AB12-0A3A-A668-15B9099D900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Perceptron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0" name="TextBox 9">
            <a:extLst>
              <a:ext uri="{FF2B5EF4-FFF2-40B4-BE49-F238E27FC236}">
                <a16:creationId xmlns:a16="http://schemas.microsoft.com/office/drawing/2014/main" id="{7107B6D7-BA6F-BCDC-8980-1D081CD9A249}"/>
              </a:ext>
            </a:extLst>
          </p:cNvPr>
          <p:cNvSpPr txBox="1"/>
          <p:nvPr/>
        </p:nvSpPr>
        <p:spPr>
          <a:xfrm>
            <a:off x="552450" y="1377404"/>
            <a:ext cx="11087100" cy="369332"/>
          </a:xfrm>
          <a:prstGeom prst="rect">
            <a:avLst/>
          </a:prstGeom>
          <a:noFill/>
        </p:spPr>
        <p:txBody>
          <a:bodyPr wrap="square">
            <a:spAutoFit/>
          </a:bodyPr>
          <a:lstStyle/>
          <a:p>
            <a:r>
              <a:rPr lang="en-US" altLang="ko-KR" b="1" dirty="0">
                <a:latin typeface="D2Coding" panose="020B0609020101020101" pitchFamily="49" charset="-127"/>
                <a:ea typeface="D2Coding" panose="020B0609020101020101" pitchFamily="49" charset="-127"/>
                <a:hlinkClick r:id="rId3"/>
              </a:rPr>
              <a:t>Perceptron_1957_to_AlexNet_2012.ipynb</a:t>
            </a:r>
            <a:r>
              <a:rPr lang="en-US" altLang="ko-KR" b="1" dirty="0">
                <a:latin typeface="D2Coding" panose="020B0609020101020101" pitchFamily="49" charset="-127"/>
                <a:ea typeface="D2Coding" panose="020B0609020101020101" pitchFamily="49" charset="-127"/>
              </a:rPr>
              <a:t> </a:t>
            </a:r>
          </a:p>
        </p:txBody>
      </p:sp>
    </p:spTree>
    <p:extLst>
      <p:ext uri="{BB962C8B-B14F-4D97-AF65-F5344CB8AC3E}">
        <p14:creationId xmlns:p14="http://schemas.microsoft.com/office/powerpoint/2010/main" val="2309904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0D739-3CD0-CCA2-9928-4AE3D14AC3C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9D7069-1FB1-2CA2-8C7A-A8267B0210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 History</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descr="Fig. 2">
            <a:extLst>
              <a:ext uri="{FF2B5EF4-FFF2-40B4-BE49-F238E27FC236}">
                <a16:creationId xmlns:a16="http://schemas.microsoft.com/office/drawing/2014/main" id="{1FB0A38B-BE23-F493-D16C-1D774316A3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 y="2083028"/>
            <a:ext cx="5013449" cy="376466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3EEF370-2FCC-E88C-CCF7-8647FB631C12}"/>
              </a:ext>
            </a:extLst>
          </p:cNvPr>
          <p:cNvSpPr txBox="1"/>
          <p:nvPr/>
        </p:nvSpPr>
        <p:spPr>
          <a:xfrm>
            <a:off x="552450" y="5871897"/>
            <a:ext cx="5013449"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hlinkClick r:id="rId3"/>
              </a:rPr>
              <a:t>https://link.springer.com/article/10.1007/s10462-025-11162-5</a:t>
            </a:r>
            <a:r>
              <a:rPr lang="ko-KR" altLang="en-US" sz="1200" dirty="0">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B8238B59-87C1-4E54-C4B2-C7D3ED424475}"/>
              </a:ext>
            </a:extLst>
          </p:cNvPr>
          <p:cNvSpPr txBox="1"/>
          <p:nvPr/>
        </p:nvSpPr>
        <p:spPr>
          <a:xfrm>
            <a:off x="5652526" y="2083028"/>
            <a:ext cx="6091799" cy="3524042"/>
          </a:xfrm>
          <a:prstGeom prst="rect">
            <a:avLst/>
          </a:prstGeom>
          <a:noFill/>
          <a:ln>
            <a:solidFill>
              <a:schemeClr val="tx1"/>
            </a:solidFill>
          </a:ln>
        </p:spPr>
        <p:txBody>
          <a:bodyPr wrap="square">
            <a:spAutoFit/>
          </a:bodyPr>
          <a:lstStyle/>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RNN, LSTM, GRU</a:t>
            </a:r>
            <a:r>
              <a:rPr lang="ko-KR" altLang="en-US" sz="1400" dirty="0">
                <a:latin typeface="D2Coding" panose="020B0609020101020101" pitchFamily="49" charset="-127"/>
                <a:ea typeface="D2Coding" panose="020B0609020101020101" pitchFamily="49" charset="-127"/>
              </a:rPr>
              <a:t> 등이 등장함</a:t>
            </a:r>
            <a:endParaRPr lang="en-US" altLang="ko-KR" sz="1400" dirty="0">
              <a:latin typeface="D2Coding" panose="020B0609020101020101" pitchFamily="49" charset="-127"/>
              <a:ea typeface="D2Coding" panose="020B0609020101020101" pitchFamily="49" charset="-127"/>
            </a:endParaRP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시계열</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문장 등과 같은 순서가 있는 데이터에 적합</a:t>
            </a:r>
          </a:p>
          <a:p>
            <a:pPr marL="742950" lvl="1" indent="-285750">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RNN/LSTM</a:t>
            </a:r>
            <a:r>
              <a:rPr lang="ko-KR" altLang="en-US" sz="1200" dirty="0">
                <a:latin typeface="D2Coding" panose="020B0609020101020101" pitchFamily="49" charset="-127"/>
                <a:ea typeface="D2Coding" panose="020B0609020101020101" pitchFamily="49" charset="-127"/>
              </a:rPr>
              <a:t>의 한계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긴 시퀀스에서 중요한 문맥 정보</a:t>
            </a:r>
            <a:r>
              <a:rPr lang="en-US" altLang="ko-KR" sz="1100" dirty="0">
                <a:latin typeface="D2Coding" panose="020B0609020101020101" pitchFamily="49" charset="-127"/>
                <a:ea typeface="D2Coding" panose="020B0609020101020101" pitchFamily="49" charset="-127"/>
              </a:rPr>
              <a:t>(context)</a:t>
            </a:r>
            <a:r>
              <a:rPr lang="ko-KR" altLang="en-US" sz="1100" dirty="0">
                <a:latin typeface="D2Coding" panose="020B0609020101020101" pitchFamily="49" charset="-127"/>
                <a:ea typeface="D2Coding" panose="020B0609020101020101" pitchFamily="49" charset="-127"/>
              </a:rPr>
              <a:t>를 포착하기 어려움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긴 문장을 처리할수록 학습 시간이 증가</a:t>
            </a:r>
            <a:endParaRPr lang="en-US" altLang="ko-KR" sz="1100" dirty="0">
              <a:latin typeface="D2Coding" panose="020B0609020101020101" pitchFamily="49" charset="-127"/>
              <a:ea typeface="D2Coding" panose="020B0609020101020101" pitchFamily="49" charset="-127"/>
            </a:endParaRPr>
          </a:p>
          <a:p>
            <a:pPr marL="1200150" lvl="2" indent="-285750">
              <a:buFont typeface="Wingdings" panose="05000000000000000000" pitchFamily="2" charset="2"/>
              <a:buChar char="§"/>
            </a:pPr>
            <a:endParaRPr lang="en-US" altLang="ko-KR"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Word Embedding</a:t>
            </a:r>
            <a:r>
              <a:rPr lang="ko-KR" altLang="en-US" sz="1400" dirty="0">
                <a:latin typeface="D2Coding" panose="020B0609020101020101" pitchFamily="49" charset="-127"/>
                <a:ea typeface="D2Coding" panose="020B0609020101020101" pitchFamily="49" charset="-127"/>
              </a:rPr>
              <a:t>의 등장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단어를 벡터로 표현하는 </a:t>
            </a:r>
            <a:r>
              <a:rPr lang="ko-KR" altLang="en-US" sz="1200" dirty="0" err="1">
                <a:latin typeface="D2Coding" panose="020B0609020101020101" pitchFamily="49" charset="-127"/>
                <a:ea typeface="D2Coding" panose="020B0609020101020101" pitchFamily="49" charset="-127"/>
              </a:rPr>
              <a:t>임베딩</a:t>
            </a:r>
            <a:r>
              <a:rPr lang="ko-KR" altLang="en-US" sz="1200" dirty="0">
                <a:latin typeface="D2Coding" panose="020B0609020101020101" pitchFamily="49" charset="-127"/>
                <a:ea typeface="D2Coding" panose="020B0609020101020101" pitchFamily="49" charset="-127"/>
              </a:rPr>
              <a:t> 기법이 발전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대표적인 방법 </a:t>
            </a:r>
            <a:r>
              <a:rPr lang="en-US" altLang="ko-KR" sz="1200" dirty="0">
                <a:latin typeface="D2Coding" panose="020B0609020101020101" pitchFamily="49" charset="-127"/>
                <a:ea typeface="D2Coding" panose="020B0609020101020101" pitchFamily="49" charset="-127"/>
              </a:rPr>
              <a:t>: Word2Vec,</a:t>
            </a:r>
            <a:r>
              <a:rPr lang="ko-KR" altLang="en-US" sz="1200" dirty="0">
                <a:latin typeface="D2Coding" panose="020B0609020101020101" pitchFamily="49" charset="-127"/>
                <a:ea typeface="D2Coding" panose="020B0609020101020101" pitchFamily="49" charset="-127"/>
              </a:rPr>
              <a:t> </a:t>
            </a:r>
            <a:r>
              <a:rPr lang="en-US" altLang="ko-KR" sz="1200" dirty="0" err="1">
                <a:latin typeface="D2Coding" panose="020B0609020101020101" pitchFamily="49" charset="-127"/>
                <a:ea typeface="D2Coding" panose="020B0609020101020101" pitchFamily="49" charset="-127"/>
              </a:rPr>
              <a:t>GloVe</a:t>
            </a:r>
            <a:r>
              <a:rPr lang="en-US" altLang="ko-KR" sz="1200" dirty="0">
                <a:latin typeface="D2Coding" panose="020B0609020101020101" pitchFamily="49" charset="-127"/>
                <a:ea typeface="D2Coding" panose="020B0609020101020101" pitchFamily="49" charset="-127"/>
              </a:rPr>
              <a:t>, </a:t>
            </a:r>
            <a:r>
              <a:rPr lang="en-US" altLang="ko-KR" sz="1200" dirty="0" err="1">
                <a:latin typeface="D2Coding" panose="020B0609020101020101" pitchFamily="49" charset="-127"/>
                <a:ea typeface="D2Coding" panose="020B0609020101020101" pitchFamily="49" charset="-127"/>
              </a:rPr>
              <a:t>FastText</a:t>
            </a:r>
            <a:r>
              <a:rPr lang="ko-KR" altLang="en-US" sz="1200" dirty="0">
                <a:latin typeface="D2Coding" panose="020B0609020101020101" pitchFamily="49" charset="-127"/>
                <a:ea typeface="D2Coding" panose="020B0609020101020101" pitchFamily="49" charset="-127"/>
              </a:rPr>
              <a:t>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기존 </a:t>
            </a:r>
            <a:r>
              <a:rPr lang="en-US" altLang="ko-KR" sz="1200" dirty="0">
                <a:latin typeface="D2Coding" panose="020B0609020101020101" pitchFamily="49" charset="-127"/>
                <a:ea typeface="D2Coding" panose="020B0609020101020101" pitchFamily="49" charset="-127"/>
              </a:rPr>
              <a:t>Word Embedding</a:t>
            </a:r>
            <a:r>
              <a:rPr lang="ko-KR" altLang="en-US" sz="1200" dirty="0">
                <a:latin typeface="D2Coding" panose="020B0609020101020101" pitchFamily="49" charset="-127"/>
                <a:ea typeface="D2Coding" panose="020B0609020101020101" pitchFamily="49" charset="-127"/>
              </a:rPr>
              <a:t>의 한계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문장이나 주변 단어에 따라 달라지는 문맥적 의미</a:t>
            </a:r>
            <a:r>
              <a:rPr lang="en-US" altLang="ko-KR" sz="1100" dirty="0">
                <a:latin typeface="D2Coding" panose="020B0609020101020101" pitchFamily="49" charset="-127"/>
                <a:ea typeface="D2Coding" panose="020B0609020101020101" pitchFamily="49" charset="-127"/>
              </a:rPr>
              <a:t>(contextual meaning)</a:t>
            </a:r>
            <a:r>
              <a:rPr lang="ko-KR" altLang="en-US" sz="1100" dirty="0">
                <a:latin typeface="D2Coding" panose="020B0609020101020101" pitchFamily="49" charset="-127"/>
                <a:ea typeface="D2Coding" panose="020B0609020101020101" pitchFamily="49" charset="-127"/>
              </a:rPr>
              <a:t>를 반영하기 어려움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en-US" altLang="ko-KR" sz="1100" i="1" dirty="0">
                <a:latin typeface="D2Coding" panose="020B0609020101020101" pitchFamily="49" charset="-127"/>
                <a:ea typeface="D2Coding" panose="020B0609020101020101" pitchFamily="49" charset="-127"/>
              </a:rPr>
              <a:t>bank</a:t>
            </a:r>
            <a:r>
              <a:rPr lang="ko-KR" altLang="en-US" sz="1100" dirty="0">
                <a:latin typeface="D2Coding" panose="020B0609020101020101" pitchFamily="49" charset="-127"/>
                <a:ea typeface="D2Coding" panose="020B0609020101020101" pitchFamily="49" charset="-127"/>
              </a:rPr>
              <a:t>가 문맥에 따라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은행</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또는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강둑</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을 의미하는 차이를 제대로 표현하기 어려움</a:t>
            </a:r>
            <a:r>
              <a:rPr lang="en-US" altLang="ko-KR" sz="1100" dirty="0">
                <a:latin typeface="D2Coding" panose="020B0609020101020101" pitchFamily="49" charset="-127"/>
                <a:ea typeface="D2Coding" panose="020B0609020101020101" pitchFamily="49" charset="-127"/>
              </a:rPr>
              <a:t>)</a:t>
            </a:r>
          </a:p>
          <a:p>
            <a:pPr marL="1200150" lvl="2" indent="-285750">
              <a:buFont typeface="Wingdings" panose="05000000000000000000" pitchFamily="2" charset="2"/>
              <a:buChar char="§"/>
            </a:pPr>
            <a:endParaRPr lang="ko-KR" altLang="en-US"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Contextual Embedding</a:t>
            </a:r>
            <a:r>
              <a:rPr lang="ko-KR" altLang="en-US" sz="1400" dirty="0">
                <a:latin typeface="D2Coding" panose="020B0609020101020101" pitchFamily="49" charset="-127"/>
                <a:ea typeface="D2Coding" panose="020B0609020101020101" pitchFamily="49" charset="-127"/>
              </a:rPr>
              <a:t>으로 발전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대규모 사전학습 언어모델</a:t>
            </a:r>
            <a:r>
              <a:rPr lang="en-US" altLang="ko-KR" sz="1200" dirty="0">
                <a:latin typeface="D2Coding" panose="020B0609020101020101" pitchFamily="49" charset="-127"/>
                <a:ea typeface="D2Coding" panose="020B0609020101020101" pitchFamily="49" charset="-127"/>
              </a:rPr>
              <a:t>(Pre-trained Language Model)</a:t>
            </a:r>
            <a:r>
              <a:rPr lang="ko-KR" altLang="en-US" sz="1200" dirty="0">
                <a:latin typeface="D2Coding" panose="020B0609020101020101" pitchFamily="49" charset="-127"/>
                <a:ea typeface="D2Coding" panose="020B0609020101020101" pitchFamily="49" charset="-127"/>
              </a:rPr>
              <a:t> 등장</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단어 자체와 주변 문맥을 고려하여 단어의 벡터 표현을 생성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이후 </a:t>
            </a:r>
            <a:r>
              <a:rPr lang="en-US" altLang="ko-KR" sz="1200" dirty="0">
                <a:latin typeface="D2Coding" panose="020B0609020101020101" pitchFamily="49" charset="-127"/>
                <a:ea typeface="D2Coding" panose="020B0609020101020101" pitchFamily="49" charset="-127"/>
              </a:rPr>
              <a:t>BERT, GPT</a:t>
            </a:r>
            <a:r>
              <a:rPr lang="ko-KR" altLang="en-US" sz="1200" dirty="0">
                <a:latin typeface="D2Coding" panose="020B0609020101020101" pitchFamily="49" charset="-127"/>
                <a:ea typeface="D2Coding" panose="020B0609020101020101" pitchFamily="49" charset="-127"/>
              </a:rPr>
              <a:t>와 같은 </a:t>
            </a:r>
            <a:r>
              <a:rPr lang="en-US" altLang="ko-KR" sz="1200" dirty="0">
                <a:latin typeface="D2Coding" panose="020B0609020101020101" pitchFamily="49" charset="-127"/>
                <a:ea typeface="D2Coding" panose="020B0609020101020101" pitchFamily="49" charset="-127"/>
              </a:rPr>
              <a:t>Transformer </a:t>
            </a:r>
            <a:r>
              <a:rPr lang="ko-KR" altLang="en-US" sz="1200" dirty="0">
                <a:latin typeface="D2Coding" panose="020B0609020101020101" pitchFamily="49" charset="-127"/>
                <a:ea typeface="D2Coding" panose="020B0609020101020101" pitchFamily="49" charset="-127"/>
              </a:rPr>
              <a:t>기반 언어모델로 발전함</a:t>
            </a:r>
            <a:r>
              <a:rPr lang="ko-KR" altLang="en-US" sz="1400" dirty="0">
                <a:latin typeface="D2Coding" panose="020B0609020101020101" pitchFamily="49" charset="-127"/>
                <a:ea typeface="D2Coding" panose="020B0609020101020101" pitchFamily="49" charset="-127"/>
              </a:rPr>
              <a:t> </a:t>
            </a:r>
          </a:p>
        </p:txBody>
      </p:sp>
      <p:sp>
        <p:nvSpPr>
          <p:cNvPr id="10" name="TextBox 9">
            <a:extLst>
              <a:ext uri="{FF2B5EF4-FFF2-40B4-BE49-F238E27FC236}">
                <a16:creationId xmlns:a16="http://schemas.microsoft.com/office/drawing/2014/main" id="{25D98A1F-877F-18FD-5084-0F7FD34C0823}"/>
              </a:ext>
            </a:extLst>
          </p:cNvPr>
          <p:cNvSpPr txBox="1"/>
          <p:nvPr/>
        </p:nvSpPr>
        <p:spPr>
          <a:xfrm>
            <a:off x="552450" y="1282154"/>
            <a:ext cx="1108710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RNN/LSTM/GRU → Word2Vec → Transformer/Contextual Embedding → Pre-Trained LLM</a:t>
            </a:r>
          </a:p>
        </p:txBody>
      </p:sp>
    </p:spTree>
    <p:extLst>
      <p:ext uri="{BB962C8B-B14F-4D97-AF65-F5344CB8AC3E}">
        <p14:creationId xmlns:p14="http://schemas.microsoft.com/office/powerpoint/2010/main" val="23455017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625741" cy="4633362"/>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4F44B0F3-25E6-A657-77F4-ED64D91CE0E2}"/>
              </a:ext>
            </a:extLst>
          </p:cNvPr>
          <p:cNvSpPr txBox="1"/>
          <p:nvPr/>
        </p:nvSpPr>
        <p:spPr>
          <a:xfrm>
            <a:off x="512864" y="1248422"/>
            <a:ext cx="1826141"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5"/>
              </a:rPr>
              <a:t>Time-series.xlsx</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84673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3"/>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7581D-3B69-D7B8-7BD1-D9C95353FCE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FD4F066-D256-883B-A556-AB50529B242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 series data analysis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683F156A-0939-A650-AE4D-419E927966E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
        <p:nvSpPr>
          <p:cNvPr id="7" name="Rectangle 2">
            <a:extLst>
              <a:ext uri="{FF2B5EF4-FFF2-40B4-BE49-F238E27FC236}">
                <a16:creationId xmlns:a16="http://schemas.microsoft.com/office/drawing/2014/main" id="{B5D3A5FB-5C68-D63B-561D-F8449CDABB0B}"/>
              </a:ext>
            </a:extLst>
          </p:cNvPr>
          <p:cNvSpPr>
            <a:spLocks noChangeArrowheads="1"/>
          </p:cNvSpPr>
          <p:nvPr/>
        </p:nvSpPr>
        <p:spPr bwMode="auto">
          <a:xfrm>
            <a:off x="557862" y="1537223"/>
            <a:ext cx="11076275" cy="88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삼성전자</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의</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과거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12</a:t>
            </a:r>
            <a:r>
              <a:rPr kumimoji="0" lang="ko-KR" altLang="ko-KR" b="0" i="0" u="none" strike="noStrike" cap="none" normalizeH="0" baseline="0" dirty="0" err="1">
                <a:ln>
                  <a:noFill/>
                </a:ln>
                <a:solidFill>
                  <a:srgbClr val="1F1F1F"/>
                </a:solidFill>
                <a:effectLst/>
                <a:latin typeface="D2Coding" panose="020B0609020101020101" pitchFamily="49" charset="-127"/>
                <a:ea typeface="D2Coding" panose="020B0609020101020101" pitchFamily="49" charset="-127"/>
              </a:rPr>
              <a:t>개월치</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데이터를 사용하여 종가</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a:t>
            </a:r>
            <a:r>
              <a:rPr kumimoji="0" lang="en-US" altLang="ko-KR" b="0" i="0" u="none" strike="noStrike" cap="none" normalizeH="0" dirty="0">
                <a:ln>
                  <a:noFill/>
                </a:ln>
                <a:solidFill>
                  <a:srgbClr val="1F1F1F"/>
                </a:solidFill>
                <a:effectLst/>
                <a:latin typeface="D2Coding" panose="020B0609020101020101" pitchFamily="49" charset="-127"/>
                <a:ea typeface="D2Coding" panose="020B0609020101020101" pitchFamily="49" charset="-127"/>
              </a:rPr>
              <a:t> </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거래량</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외국인</a:t>
            </a:r>
            <a:r>
              <a:rPr lang="en-US" altLang="ko-KR" dirty="0">
                <a:solidFill>
                  <a:srgbClr val="1F1F1F"/>
                </a:solidFill>
                <a:latin typeface="D2Coding" panose="020B0609020101020101" pitchFamily="49" charset="-127"/>
                <a:ea typeface="D2Coding" panose="020B0609020101020101" pitchFamily="49" charset="-127"/>
              </a:rPr>
              <a:t> </a:t>
            </a:r>
            <a:r>
              <a:rPr lang="ko-KR" altLang="en-US" dirty="0" err="1">
                <a:solidFill>
                  <a:srgbClr val="1F1F1F"/>
                </a:solidFill>
                <a:latin typeface="D2Coding" panose="020B0609020101020101" pitchFamily="49" charset="-127"/>
                <a:ea typeface="D2Coding" panose="020B0609020101020101" pitchFamily="49" charset="-127"/>
              </a:rPr>
              <a:t>매매량</a:t>
            </a:r>
            <a:r>
              <a:rPr lang="ko-KR" altLang="en-US" dirty="0">
                <a:solidFill>
                  <a:srgbClr val="1F1F1F"/>
                </a:solidFill>
                <a:latin typeface="D2Coding" panose="020B0609020101020101" pitchFamily="49" charset="-127"/>
                <a:ea typeface="D2Coding" panose="020B0609020101020101" pitchFamily="49" charset="-127"/>
              </a:rPr>
              <a:t> 등</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을 바탕으로 </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최근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6</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10</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15</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 등의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Timestep</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을 기준으로 </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시계열 예측</a:t>
            </a:r>
            <a:endParaRPr kumimoji="0" lang="ko-KR" altLang="ko-KR" b="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2822800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994009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a:t>
            </a:r>
            <a:r>
              <a:rPr kumimoji="0" lang="en-US"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_</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a:t>
            </a:r>
            <a:r>
              <a:rPr kumimoji="0" lang="en-US"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_</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1887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609240" y="4746002"/>
            <a:ext cx="2240703"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a:t>
            </a:r>
            <a:r>
              <a:rPr lang="en-US" altLang="ko-KR" sz="1600" dirty="0">
                <a:latin typeface="D2Coding" panose="020B0609020101020101" pitchFamily="49" charset="-127"/>
                <a:ea typeface="D2Coding" panose="020B0609020101020101" pitchFamily="49" charset="-127"/>
              </a:rPr>
              <a:t>Features</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(현재가</a:t>
            </a:r>
            <a:r>
              <a:rPr lang="en-US" altLang="ko-KR" sz="1600" dirty="0">
                <a:latin typeface="D2Coding" panose="020B0609020101020101" pitchFamily="49" charset="-127"/>
                <a:ea typeface="D2Coding" panose="020B0609020101020101" pitchFamily="49" charset="-127"/>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고가</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877910" y="5500276"/>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days</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2902047" y="5989507"/>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min</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07268" y="3789584"/>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21518" y="3960890"/>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35768" y="4132196"/>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0493" y="4303502"/>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45218" y="4474810"/>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
        <p:nvSpPr>
          <p:cNvPr id="7" name="왼쪽 중괄호 6">
            <a:extLst>
              <a:ext uri="{FF2B5EF4-FFF2-40B4-BE49-F238E27FC236}">
                <a16:creationId xmlns:a16="http://schemas.microsoft.com/office/drawing/2014/main" id="{627DBF7F-4DEA-5C88-2727-354E5C3DD492}"/>
              </a:ext>
            </a:extLst>
          </p:cNvPr>
          <p:cNvSpPr/>
          <p:nvPr/>
        </p:nvSpPr>
        <p:spPr>
          <a:xfrm>
            <a:off x="2802572" y="4490748"/>
            <a:ext cx="190246" cy="949231"/>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9" name="왼쪽 중괄호 8">
            <a:extLst>
              <a:ext uri="{FF2B5EF4-FFF2-40B4-BE49-F238E27FC236}">
                <a16:creationId xmlns:a16="http://schemas.microsoft.com/office/drawing/2014/main" id="{DBB2F763-D1A0-5F12-E69A-366DB63B9C91}"/>
              </a:ext>
            </a:extLst>
          </p:cNvPr>
          <p:cNvSpPr/>
          <p:nvPr/>
        </p:nvSpPr>
        <p:spPr>
          <a:xfrm rot="16200000">
            <a:off x="4097986" y="4706853"/>
            <a:ext cx="218948" cy="2053124"/>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1" name="왼쪽 중괄호 10">
            <a:extLst>
              <a:ext uri="{FF2B5EF4-FFF2-40B4-BE49-F238E27FC236}">
                <a16:creationId xmlns:a16="http://schemas.microsoft.com/office/drawing/2014/main" id="{8621A218-679E-9132-63F5-3B49374C1CE9}"/>
              </a:ext>
            </a:extLst>
          </p:cNvPr>
          <p:cNvSpPr/>
          <p:nvPr/>
        </p:nvSpPr>
        <p:spPr>
          <a:xfrm rot="14331003">
            <a:off x="5912756" y="4646144"/>
            <a:ext cx="218948" cy="1365651"/>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7" name="TextBox 16">
            <a:extLst>
              <a:ext uri="{FF2B5EF4-FFF2-40B4-BE49-F238E27FC236}">
                <a16:creationId xmlns:a16="http://schemas.microsoft.com/office/drawing/2014/main" id="{818BB3DE-384A-29CE-CA30-64AA8876FE71}"/>
              </a:ext>
            </a:extLst>
          </p:cNvPr>
          <p:cNvSpPr txBox="1"/>
          <p:nvPr/>
        </p:nvSpPr>
        <p:spPr>
          <a:xfrm>
            <a:off x="609240" y="3097626"/>
            <a:ext cx="6639182" cy="276999"/>
          </a:xfrm>
          <a:prstGeom prst="rect">
            <a:avLst/>
          </a:prstGeom>
          <a:solidFill>
            <a:schemeClr val="accent1"/>
          </a:solidFill>
        </p:spPr>
        <p:txBody>
          <a:bodyPr wrap="square">
            <a:spAutoFit/>
          </a:bodyPr>
          <a:lstStyle/>
          <a:p>
            <a:pPr algn="ctr"/>
            <a:r>
              <a:rPr lang="en-US" altLang="ko-KR" sz="1200" b="0" i="0" dirty="0">
                <a:solidFill>
                  <a:schemeClr val="bg1"/>
                </a:solidFill>
                <a:effectLst/>
                <a:latin typeface="D2Coding" panose="020B0609020101020101" pitchFamily="49" charset="-127"/>
                <a:ea typeface="D2Coding" panose="020B0609020101020101" pitchFamily="49" charset="-127"/>
              </a:rPr>
              <a:t>rank-3 tensor of shape (250, 390, 3) </a:t>
            </a:r>
            <a:r>
              <a:rPr lang="en-US" altLang="ko-KR" sz="1200" b="0" i="0" dirty="0">
                <a:solidFill>
                  <a:schemeClr val="bg1"/>
                </a:solidFill>
                <a:effectLst/>
                <a:latin typeface="D2Coding" panose="020B0609020101020101" pitchFamily="49" charset="-127"/>
                <a:ea typeface="D2Coding" panose="020B0609020101020101" pitchFamily="49" charset="-127"/>
                <a:sym typeface="Wingdings" panose="05000000000000000000" pitchFamily="2" charset="2"/>
              </a:rPr>
              <a:t> </a:t>
            </a:r>
            <a:r>
              <a:rPr lang="en-US" altLang="ko-KR" sz="1200" dirty="0">
                <a:solidFill>
                  <a:schemeClr val="bg1"/>
                </a:solidFill>
                <a:latin typeface="D2Coding" panose="020B0609020101020101" pitchFamily="49" charset="-127"/>
                <a:ea typeface="D2Coding" panose="020B0609020101020101" pitchFamily="49" charset="-127"/>
              </a:rPr>
              <a:t>(Batch size, Timesteps, # of Features)</a:t>
            </a:r>
            <a:endParaRPr lang="ko-KR" altLang="en-US" sz="1200" dirty="0">
              <a:solidFill>
                <a:schemeClr val="bg1"/>
              </a:solidFill>
            </a:endParaRPr>
          </a:p>
        </p:txBody>
      </p:sp>
    </p:spTree>
    <p:extLst>
      <p:ext uri="{BB962C8B-B14F-4D97-AF65-F5344CB8AC3E}">
        <p14:creationId xmlns:p14="http://schemas.microsoft.com/office/powerpoint/2010/main" val="2132790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18616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629040" y="4704048"/>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algn="ct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algn="ct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457825" y="5487271"/>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2981533" y="602588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377316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94447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411578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428708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445839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
        <p:nvSpPr>
          <p:cNvPr id="7" name="TextBox 6">
            <a:extLst>
              <a:ext uri="{FF2B5EF4-FFF2-40B4-BE49-F238E27FC236}">
                <a16:creationId xmlns:a16="http://schemas.microsoft.com/office/drawing/2014/main" id="{14E785C6-7C76-9799-CA07-10B72D0F1215}"/>
              </a:ext>
            </a:extLst>
          </p:cNvPr>
          <p:cNvSpPr txBox="1"/>
          <p:nvPr/>
        </p:nvSpPr>
        <p:spPr>
          <a:xfrm>
            <a:off x="609240" y="3097626"/>
            <a:ext cx="6639182" cy="276999"/>
          </a:xfrm>
          <a:prstGeom prst="rect">
            <a:avLst/>
          </a:prstGeom>
          <a:solidFill>
            <a:schemeClr val="accent1"/>
          </a:solidFill>
        </p:spPr>
        <p:txBody>
          <a:bodyPr wrap="square">
            <a:spAutoFit/>
          </a:bodyPr>
          <a:lstStyle/>
          <a:p>
            <a:pPr algn="ctr"/>
            <a:r>
              <a:rPr lang="en-US" altLang="ko-KR" sz="1200" b="0" i="0" dirty="0">
                <a:solidFill>
                  <a:schemeClr val="bg1"/>
                </a:solidFill>
                <a:effectLst/>
                <a:latin typeface="D2Coding" panose="020B0609020101020101" pitchFamily="49" charset="-127"/>
                <a:ea typeface="D2Coding" panose="020B0609020101020101" pitchFamily="49" charset="-127"/>
              </a:rPr>
              <a:t>rank-3 tensor of shape (</a:t>
            </a:r>
            <a:r>
              <a:rPr lang="en-US" altLang="ko-KR" sz="1200" dirty="0">
                <a:solidFill>
                  <a:schemeClr val="bg1"/>
                </a:solidFill>
                <a:latin typeface="D2Coding" panose="020B0609020101020101" pitchFamily="49" charset="-127"/>
                <a:ea typeface="D2Coding" panose="020B0609020101020101" pitchFamily="49" charset="-127"/>
              </a:rPr>
              <a:t>1000000</a:t>
            </a:r>
            <a:r>
              <a:rPr lang="en-US" altLang="ko-KR" sz="1200" b="0" i="0" dirty="0">
                <a:solidFill>
                  <a:schemeClr val="bg1"/>
                </a:solidFill>
                <a:effectLst/>
                <a:latin typeface="D2Coding" panose="020B0609020101020101" pitchFamily="49" charset="-127"/>
                <a:ea typeface="D2Coding" panose="020B0609020101020101" pitchFamily="49" charset="-127"/>
              </a:rPr>
              <a:t>, 128, 280)</a:t>
            </a:r>
            <a:endParaRPr lang="ko-KR" altLang="en-US" sz="1200" dirty="0">
              <a:solidFill>
                <a:schemeClr val="bg1"/>
              </a:solidFill>
            </a:endParaRPr>
          </a:p>
        </p:txBody>
      </p:sp>
    </p:spTree>
    <p:extLst>
      <p:ext uri="{BB962C8B-B14F-4D97-AF65-F5344CB8AC3E}">
        <p14:creationId xmlns:p14="http://schemas.microsoft.com/office/powerpoint/2010/main" val="5714161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AAA10-92FA-439D-F74D-9A80214BE4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EEAE251-2A05-9C4E-A130-5AC7534E833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Text 3D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D629CD8-BB2D-C0A5-E1B6-4B4C3A981B8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2050" name="Picture 2">
            <a:extLst>
              <a:ext uri="{FF2B5EF4-FFF2-40B4-BE49-F238E27FC236}">
                <a16:creationId xmlns:a16="http://schemas.microsoft.com/office/drawing/2014/main" id="{65A0A580-6277-A579-0A9F-5E1CC7B5C7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8759" y="1780802"/>
            <a:ext cx="7504008" cy="2191600"/>
          </a:xfrm>
          <a:prstGeom prst="rect">
            <a:avLst/>
          </a:prstGeom>
          <a:solidFill>
            <a:schemeClr val="accent1"/>
          </a:solidFill>
          <a:ln>
            <a:solidFill>
              <a:schemeClr val="tx1"/>
            </a:solidFill>
          </a:ln>
        </p:spPr>
      </p:pic>
      <p:pic>
        <p:nvPicPr>
          <p:cNvPr id="15" name="Picture 2">
            <a:extLst>
              <a:ext uri="{FF2B5EF4-FFF2-40B4-BE49-F238E27FC236}">
                <a16:creationId xmlns:a16="http://schemas.microsoft.com/office/drawing/2014/main" id="{B8434580-D760-69EC-7818-214C834AB6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880" y="2178766"/>
            <a:ext cx="7504008" cy="2191600"/>
          </a:xfrm>
          <a:prstGeom prst="rect">
            <a:avLst/>
          </a:prstGeom>
          <a:solidFill>
            <a:schemeClr val="accent1"/>
          </a:solidFill>
          <a:ln>
            <a:solidFill>
              <a:schemeClr val="tx1"/>
            </a:solidFill>
          </a:ln>
        </p:spPr>
      </p:pic>
      <p:pic>
        <p:nvPicPr>
          <p:cNvPr id="16" name="Picture 2">
            <a:extLst>
              <a:ext uri="{FF2B5EF4-FFF2-40B4-BE49-F238E27FC236}">
                <a16:creationId xmlns:a16="http://schemas.microsoft.com/office/drawing/2014/main" id="{5D462795-E6F0-51BC-22D0-E9311C89C2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9001" y="2591360"/>
            <a:ext cx="7504008" cy="2191600"/>
          </a:xfrm>
          <a:prstGeom prst="rect">
            <a:avLst/>
          </a:prstGeom>
          <a:solidFill>
            <a:schemeClr val="accent1"/>
          </a:solidFill>
          <a:ln>
            <a:solidFill>
              <a:schemeClr val="tx1"/>
            </a:solidFill>
          </a:ln>
        </p:spPr>
      </p:pic>
      <p:pic>
        <p:nvPicPr>
          <p:cNvPr id="17" name="Picture 2">
            <a:extLst>
              <a:ext uri="{FF2B5EF4-FFF2-40B4-BE49-F238E27FC236}">
                <a16:creationId xmlns:a16="http://schemas.microsoft.com/office/drawing/2014/main" id="{0D8F1ABF-A2CD-1845-AEC3-5CE64B0FA5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9122" y="2994414"/>
            <a:ext cx="7504008" cy="2191600"/>
          </a:xfrm>
          <a:prstGeom prst="rect">
            <a:avLst/>
          </a:prstGeom>
          <a:solidFill>
            <a:schemeClr val="accent1"/>
          </a:solidFill>
          <a:ln>
            <a:solidFill>
              <a:schemeClr val="tx1"/>
            </a:solidFill>
          </a:ln>
        </p:spPr>
      </p:pic>
      <p:pic>
        <p:nvPicPr>
          <p:cNvPr id="18" name="Picture 2">
            <a:extLst>
              <a:ext uri="{FF2B5EF4-FFF2-40B4-BE49-F238E27FC236}">
                <a16:creationId xmlns:a16="http://schemas.microsoft.com/office/drawing/2014/main" id="{2891BFF9-C865-EA79-E389-2ABF50F61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9243" y="3422658"/>
            <a:ext cx="7504008" cy="2191600"/>
          </a:xfrm>
          <a:prstGeom prst="rect">
            <a:avLst/>
          </a:prstGeom>
          <a:solidFill>
            <a:schemeClr val="accent1"/>
          </a:solidFill>
          <a:ln>
            <a:solidFill>
              <a:schemeClr val="tx1"/>
            </a:solidFill>
          </a:ln>
        </p:spPr>
      </p:pic>
      <p:grpSp>
        <p:nvGrpSpPr>
          <p:cNvPr id="26" name="그룹 25">
            <a:extLst>
              <a:ext uri="{FF2B5EF4-FFF2-40B4-BE49-F238E27FC236}">
                <a16:creationId xmlns:a16="http://schemas.microsoft.com/office/drawing/2014/main" id="{33879313-55F3-335F-E8F1-05C67B4698CF}"/>
              </a:ext>
            </a:extLst>
          </p:cNvPr>
          <p:cNvGrpSpPr/>
          <p:nvPr/>
        </p:nvGrpSpPr>
        <p:grpSpPr>
          <a:xfrm>
            <a:off x="1757188" y="3850904"/>
            <a:ext cx="7504008" cy="2191600"/>
            <a:chOff x="1542445" y="3555615"/>
            <a:chExt cx="8747760" cy="2554847"/>
          </a:xfrm>
          <a:solidFill>
            <a:schemeClr val="accent1"/>
          </a:solidFill>
        </p:grpSpPr>
        <p:pic>
          <p:nvPicPr>
            <p:cNvPr id="19" name="Picture 2">
              <a:extLst>
                <a:ext uri="{FF2B5EF4-FFF2-40B4-BE49-F238E27FC236}">
                  <a16:creationId xmlns:a16="http://schemas.microsoft.com/office/drawing/2014/main" id="{EBB20374-3BDC-1E9F-6CD9-31580CEFA9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2445" y="3555615"/>
              <a:ext cx="8747760" cy="2554847"/>
            </a:xfrm>
            <a:prstGeom prst="rect">
              <a:avLst/>
            </a:prstGeom>
            <a:grpFill/>
            <a:ln>
              <a:solidFill>
                <a:schemeClr val="tx1"/>
              </a:solidFill>
            </a:ln>
          </p:spPr>
        </p:pic>
        <p:pic>
          <p:nvPicPr>
            <p:cNvPr id="23" name="그림 22">
              <a:extLst>
                <a:ext uri="{FF2B5EF4-FFF2-40B4-BE49-F238E27FC236}">
                  <a16:creationId xmlns:a16="http://schemas.microsoft.com/office/drawing/2014/main" id="{2199D197-6300-AA6F-A6A5-8F593C24E193}"/>
                </a:ext>
              </a:extLst>
            </p:cNvPr>
            <p:cNvPicPr>
              <a:picLocks noChangeAspect="1"/>
            </p:cNvPicPr>
            <p:nvPr/>
          </p:nvPicPr>
          <p:blipFill>
            <a:blip r:embed="rId3"/>
            <a:stretch>
              <a:fillRect/>
            </a:stretch>
          </p:blipFill>
          <p:spPr>
            <a:xfrm>
              <a:off x="8218786" y="5547807"/>
              <a:ext cx="1920406" cy="228620"/>
            </a:xfrm>
            <a:prstGeom prst="rect">
              <a:avLst/>
            </a:prstGeom>
            <a:grpFill/>
            <a:ln>
              <a:noFill/>
            </a:ln>
          </p:spPr>
        </p:pic>
        <p:pic>
          <p:nvPicPr>
            <p:cNvPr id="25" name="그림 24">
              <a:extLst>
                <a:ext uri="{FF2B5EF4-FFF2-40B4-BE49-F238E27FC236}">
                  <a16:creationId xmlns:a16="http://schemas.microsoft.com/office/drawing/2014/main" id="{A8A4C009-67BC-591B-1876-CE6C1141242D}"/>
                </a:ext>
              </a:extLst>
            </p:cNvPr>
            <p:cNvPicPr>
              <a:picLocks noChangeAspect="1"/>
            </p:cNvPicPr>
            <p:nvPr/>
          </p:nvPicPr>
          <p:blipFill>
            <a:blip r:embed="rId4"/>
            <a:stretch>
              <a:fillRect/>
            </a:stretch>
          </p:blipFill>
          <p:spPr>
            <a:xfrm>
              <a:off x="1542445" y="5452362"/>
              <a:ext cx="1386960" cy="205758"/>
            </a:xfrm>
            <a:prstGeom prst="rect">
              <a:avLst/>
            </a:prstGeom>
            <a:grpFill/>
            <a:ln>
              <a:noFill/>
            </a:ln>
          </p:spPr>
        </p:pic>
      </p:grpSp>
    </p:spTree>
    <p:extLst>
      <p:ext uri="{BB962C8B-B14F-4D97-AF65-F5344CB8AC3E}">
        <p14:creationId xmlns:p14="http://schemas.microsoft.com/office/powerpoint/2010/main" val="25745423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2310" y="1864995"/>
            <a:ext cx="5312410" cy="408342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05785" y="6068240"/>
            <a:ext cx="5980430"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5D231-7434-CD87-78CE-F3607DC4A8C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DEC688-B8D1-C8D8-A0E6-D810F1388C5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9330E3DC-F38F-CAD5-33AE-FB611FBD28F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3074" name="Picture 2">
            <a:extLst>
              <a:ext uri="{FF2B5EF4-FFF2-40B4-BE49-F238E27FC236}">
                <a16:creationId xmlns:a16="http://schemas.microsoft.com/office/drawing/2014/main" id="{65601198-4604-9731-8577-602A3FFD05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1065" y="1289501"/>
            <a:ext cx="6349964" cy="240521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9BC0AC2-EBA0-2BD1-CFAC-447C94B94C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67766" y="3735794"/>
            <a:ext cx="5671493" cy="240521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D3F6F06-7BE2-8203-E291-E65B12CEE7E8}"/>
              </a:ext>
            </a:extLst>
          </p:cNvPr>
          <p:cNvSpPr txBox="1"/>
          <p:nvPr/>
        </p:nvSpPr>
        <p:spPr>
          <a:xfrm>
            <a:off x="661065" y="3694715"/>
            <a:ext cx="6349963" cy="307777"/>
          </a:xfrm>
          <a:prstGeom prst="rect">
            <a:avLst/>
          </a:prstGeom>
          <a:noFill/>
        </p:spPr>
        <p:txBody>
          <a:bodyPr wrap="square">
            <a:spAutoFit/>
          </a:bodyPr>
          <a:lstStyle/>
          <a:p>
            <a:r>
              <a:rPr lang="en-US" altLang="ko-KR" sz="1400"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(40, 10, 10, 1) (Batch size, Width, Height, Channel)</a:t>
            </a:r>
            <a:endParaRPr lang="ko-KR" altLang="en-US" sz="1400" dirty="0"/>
          </a:p>
        </p:txBody>
      </p:sp>
      <p:sp>
        <p:nvSpPr>
          <p:cNvPr id="7" name="TextBox 6">
            <a:extLst>
              <a:ext uri="{FF2B5EF4-FFF2-40B4-BE49-F238E27FC236}">
                <a16:creationId xmlns:a16="http://schemas.microsoft.com/office/drawing/2014/main" id="{DC804969-74E9-21D8-7F87-1E128AFDF6AF}"/>
              </a:ext>
            </a:extLst>
          </p:cNvPr>
          <p:cNvSpPr txBox="1"/>
          <p:nvPr/>
        </p:nvSpPr>
        <p:spPr>
          <a:xfrm>
            <a:off x="5867766" y="6179683"/>
            <a:ext cx="5671493" cy="307777"/>
          </a:xfrm>
          <a:prstGeom prst="rect">
            <a:avLst/>
          </a:prstGeom>
          <a:noFill/>
        </p:spPr>
        <p:txBody>
          <a:bodyPr wrap="square">
            <a:spAutoFit/>
          </a:bodyPr>
          <a:lstStyle/>
          <a:p>
            <a:r>
              <a:rPr lang="en-US" altLang="ko-KR" sz="1400"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(40, 10, 10, 3) (Batch size, Width, Height, Channel)</a:t>
            </a:r>
            <a:endParaRPr lang="ko-KR" altLang="en-US" sz="1400" dirty="0"/>
          </a:p>
        </p:txBody>
      </p:sp>
    </p:spTree>
    <p:extLst>
      <p:ext uri="{BB962C8B-B14F-4D97-AF65-F5344CB8AC3E}">
        <p14:creationId xmlns:p14="http://schemas.microsoft.com/office/powerpoint/2010/main" val="8114081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99625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9816" y="3398520"/>
            <a:ext cx="3591819" cy="2677656"/>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855437" y="286142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a:t>
            </a:r>
            <a:r>
              <a:rPr lang="ko-KR" altLang="en-US" sz="1600" dirty="0">
                <a:latin typeface="D2Coding" panose="020B0609020101020101" pitchFamily="49" charset="-127"/>
                <a:ea typeface="D2Coding" panose="020B0609020101020101" pitchFamily="49" charset="-127"/>
              </a:rPr>
              <a:t>분</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91104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590967"/>
            <a:ext cx="6096000" cy="738664"/>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a:t>
            </a:r>
          </a:p>
        </p:txBody>
      </p:sp>
    </p:spTree>
    <p:extLst>
      <p:ext uri="{BB962C8B-B14F-4D97-AF65-F5344CB8AC3E}">
        <p14:creationId xmlns:p14="http://schemas.microsoft.com/office/powerpoint/2010/main" val="37040049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11948"/>
            <a:ext cx="4834499" cy="2369880"/>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400" b="1" dirty="0">
                <a:effectLst/>
                <a:latin typeface="D2Coding" panose="020B0609020101020101" pitchFamily="49" charset="-127"/>
                <a:ea typeface="D2Coding" panose="020B0609020101020101" pitchFamily="49" charset="-127"/>
              </a:rPr>
              <a:t>    shuffle=True,</a:t>
            </a:r>
          </a:p>
          <a:p>
            <a:pPr>
              <a:buNone/>
            </a:pPr>
            <a:r>
              <a:rPr lang="en-US" altLang="ko-KR" sz="1400" b="1" dirty="0">
                <a:effectLst/>
                <a:latin typeface="D2Coding" panose="020B0609020101020101" pitchFamily="49" charset="-127"/>
                <a:ea typeface="D2Coding" panose="020B0609020101020101" pitchFamily="49" charset="-127"/>
              </a:rPr>
              <a:t>    </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endParaRPr lang="en-US" altLang="ko-KR" sz="1200" b="0" dirty="0">
              <a:solidFill>
                <a:schemeClr val="bg1">
                  <a:lumMod val="50000"/>
                </a:schemeClr>
              </a:solidFill>
              <a:effectLst/>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err="1">
                <a:latin typeface="D2Coding" panose="020B0609020101020101" pitchFamily="49" charset="-127"/>
                <a:ea typeface="D2Coding" panose="020B0609020101020101" pitchFamily="49" charset="-127"/>
              </a:rPr>
              <a:t>MAE_mean</a:t>
            </a:r>
            <a:r>
              <a:rPr lang="en-US" altLang="ko-KR" sz="1600" dirty="0">
                <a:latin typeface="D2Coding" panose="020B0609020101020101" pitchFamily="49" charset="-127"/>
                <a:ea typeface="D2Coding" panose="020B0609020101020101" pitchFamily="49" charset="-127"/>
              </a:rPr>
              <a:t> absolute error)</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294251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1790700"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1790700"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1790700"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1790700"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1790700"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293396" y="5606536"/>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293396"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293396" y="2228076"/>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293396"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293396" y="3072691"/>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293396"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293396" y="3917306"/>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293396"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293396" y="4761921"/>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293396"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3781425"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266950"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266950"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266950"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266950"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266950"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4580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4580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4580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4580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4580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15D12F6-4F5D-44A8-30EB-DF761140770B}"/>
                  </a:ext>
                </a:extLst>
              </p:cNvPr>
              <p:cNvSpPr txBox="1"/>
              <p:nvPr/>
            </p:nvSpPr>
            <p:spPr>
              <a:xfrm>
                <a:off x="6960773" y="5676281"/>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69607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868276B-9126-27F4-1C45-6D6A34003471}"/>
                  </a:ext>
                </a:extLst>
              </p:cNvPr>
              <p:cNvSpPr txBox="1"/>
              <p:nvPr/>
            </p:nvSpPr>
            <p:spPr>
              <a:xfrm>
                <a:off x="6960773" y="2297821"/>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69607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99B93F8-BB65-B543-4147-0ED06C909FCD}"/>
                  </a:ext>
                </a:extLst>
              </p:cNvPr>
              <p:cNvSpPr txBox="1"/>
              <p:nvPr/>
            </p:nvSpPr>
            <p:spPr>
              <a:xfrm>
                <a:off x="6960773" y="3142436"/>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69607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A5A0FFC-9B11-9F6A-6E43-6A8A9154D56A}"/>
                  </a:ext>
                </a:extLst>
              </p:cNvPr>
              <p:cNvSpPr txBox="1"/>
              <p:nvPr/>
            </p:nvSpPr>
            <p:spPr>
              <a:xfrm>
                <a:off x="6960773" y="3987051"/>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69607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4BD085-103C-BCB3-E468-E13FE1E36F2B}"/>
                  </a:ext>
                </a:extLst>
              </p:cNvPr>
              <p:cNvSpPr txBox="1"/>
              <p:nvPr/>
            </p:nvSpPr>
            <p:spPr>
              <a:xfrm>
                <a:off x="6960773" y="4831666"/>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69607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4488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79343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79343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79343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79343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79343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4488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67260"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solidFill>
                <a:schemeClr val="bg1"/>
              </a:solidFill>
            </a:endParaRPr>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4" y="1518293"/>
            <a:ext cx="5138735"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solidFill>
                <a:schemeClr val="bg1"/>
              </a:solidFill>
            </a:endParaRPr>
          </a:p>
        </p:txBody>
      </p:sp>
      <p:sp>
        <p:nvSpPr>
          <p:cNvPr id="61" name="TextBox 60">
            <a:extLst>
              <a:ext uri="{FF2B5EF4-FFF2-40B4-BE49-F238E27FC236}">
                <a16:creationId xmlns:a16="http://schemas.microsoft.com/office/drawing/2014/main" id="{E096E5C1-A3FB-DB11-0E9D-069DCAF6EE18}"/>
              </a:ext>
            </a:extLst>
          </p:cNvPr>
          <p:cNvSpPr txBox="1"/>
          <p:nvPr/>
        </p:nvSpPr>
        <p:spPr>
          <a:xfrm>
            <a:off x="959066"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0279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2361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TextBox 4">
            <a:extLst>
              <a:ext uri="{FF2B5EF4-FFF2-40B4-BE49-F238E27FC236}">
                <a16:creationId xmlns:a16="http://schemas.microsoft.com/office/drawing/2014/main" id="{B75EB074-67EB-82D1-5072-C684FFAC486F}"/>
              </a:ext>
            </a:extLst>
          </p:cNvPr>
          <p:cNvSpPr txBox="1"/>
          <p:nvPr/>
        </p:nvSpPr>
        <p:spPr>
          <a:xfrm>
            <a:off x="9645651" y="4777310"/>
            <a:ext cx="2222755" cy="584775"/>
          </a:xfrm>
          <a:prstGeom prst="rect">
            <a:avLst/>
          </a:prstGeom>
          <a:noFill/>
        </p:spPr>
        <p:txBody>
          <a:bodyPr wrap="square" rtlCol="0">
            <a:spAutoFit/>
          </a:bodyPr>
          <a:lstStyle/>
          <a:p>
            <a:pPr algn="ct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기억</a:t>
            </a:r>
            <a:endParaRPr lang="en-US" altLang="ko-KR" sz="1600" dirty="0">
              <a:latin typeface="D2Coding" panose="020B0609020101020101" pitchFamily="49" charset="-127"/>
              <a:ea typeface="D2Coding" panose="020B0609020101020101" pitchFamily="49" charset="-127"/>
            </a:endParaRPr>
          </a:p>
          <a:p>
            <a:pPr algn="ctr"/>
            <a:r>
              <a:rPr lang="en-US" altLang="ko-KR" sz="1600" dirty="0">
                <a:latin typeface="D2Coding" panose="020B0609020101020101" pitchFamily="49" charset="-127"/>
                <a:ea typeface="D2Coding" panose="020B0609020101020101" pitchFamily="49" charset="-127"/>
              </a:rPr>
              <a:t>(time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step=5</a:t>
            </a:r>
            <a:r>
              <a:rPr lang="ko-KR" altLang="en-US" sz="1600" dirty="0">
                <a:latin typeface="D2Coding" panose="020B0609020101020101" pitchFamily="49" charset="-127"/>
                <a:ea typeface="D2Coding" panose="020B0609020101020101" pitchFamily="49" charset="-127"/>
              </a:rPr>
              <a:t>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880918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29852"/>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일치 주가</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개 단어로 이루어진 문장 등 순서가 있는 </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회씩 </a:t>
            </a:r>
            <a:r>
              <a:rPr lang="ko-KR" altLang="en-US" dirty="0" err="1">
                <a:latin typeface="D2Coding" panose="020B0609020101020101" pitchFamily="49" charset="-127"/>
                <a:ea typeface="D2Coding" panose="020B0609020101020101" pitchFamily="49" charset="-127"/>
              </a:rPr>
              <a:t>은닉층</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 노드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돌림 노래</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680716"/>
            <a:ext cx="7086600" cy="1815882"/>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5299602"/>
            <a:ext cx="7086600" cy="1077218"/>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2343686"/>
            <a:ext cx="7086600" cy="338554"/>
          </a:xfrm>
          <a:prstGeom prst="rect">
            <a:avLst/>
          </a:prstGeom>
          <a:solidFill>
            <a:schemeClr val="tx1"/>
          </a:solidFill>
        </p:spPr>
        <p:txBody>
          <a:bodyPr wrap="square">
            <a:spAutoFit/>
          </a:bodyPr>
          <a:lstStyle/>
          <a:p>
            <a:r>
              <a:rPr lang="en-US" altLang="ko-KR" sz="1600" b="0" i="0" dirty="0">
                <a:solidFill>
                  <a:schemeClr val="bg1"/>
                </a:solidFill>
                <a:effectLst/>
                <a:latin typeface="D2Coding" panose="020B0609020101020101" pitchFamily="49" charset="-127"/>
                <a:ea typeface="D2Coding" panose="020B0609020101020101" pitchFamily="49" charset="-127"/>
              </a:rPr>
              <a:t>Pseudocode RNN</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4961048"/>
            <a:ext cx="7086600" cy="338554"/>
          </a:xfrm>
          <a:prstGeom prst="rect">
            <a:avLst/>
          </a:prstGeom>
          <a:solidFill>
            <a:schemeClr val="tx1"/>
          </a:solid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a:t>
            </a:r>
            <a:r>
              <a:rPr lang="en-US" altLang="ko-KR" sz="1600" b="0" i="0" dirty="0">
                <a:solidFill>
                  <a:schemeClr val="bg1"/>
                </a:solidFill>
                <a:effectLst/>
                <a:latin typeface="D2Coding" panose="020B0609020101020101" pitchFamily="49" charset="-127"/>
                <a:ea typeface="D2Coding" panose="020B0609020101020101" pitchFamily="49" charset="-127"/>
              </a:rPr>
              <a:t>pseudocode</a:t>
            </a:r>
            <a:r>
              <a:rPr lang="en-US" altLang="ko-KR" sz="1600" b="0" i="0" dirty="0">
                <a:effectLst/>
                <a:latin typeface="D2Coding" panose="020B0609020101020101" pitchFamily="49" charset="-127"/>
                <a:ea typeface="D2Coding" panose="020B0609020101020101" pitchFamily="49" charset="-127"/>
              </a:rPr>
              <a:t>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8053138" y="3914213"/>
            <a:ext cx="3685600" cy="2643519"/>
          </a:xfrm>
          <a:prstGeom prst="rect">
            <a:avLst/>
          </a:prstGeom>
          <a:ln>
            <a:solidFill>
              <a:schemeClr val="tx1"/>
            </a:solidFill>
          </a:ln>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a:ln>
            <a:solidFill>
              <a:schemeClr val="tx1"/>
            </a:solidFill>
          </a:ln>
        </p:spPr>
      </p:pic>
      <p:sp>
        <p:nvSpPr>
          <p:cNvPr id="6" name="직사각형 5">
            <a:extLst>
              <a:ext uri="{FF2B5EF4-FFF2-40B4-BE49-F238E27FC236}">
                <a16:creationId xmlns:a16="http://schemas.microsoft.com/office/drawing/2014/main" id="{2A2B9C36-B64D-46EA-E19A-22CDA0A585BB}"/>
              </a:ext>
            </a:extLst>
          </p:cNvPr>
          <p:cNvSpPr/>
          <p:nvPr/>
        </p:nvSpPr>
        <p:spPr>
          <a:xfrm>
            <a:off x="577284" y="169545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577284" y="196929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577284" y="2243138"/>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577284" y="2516982"/>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577284" y="278368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577284" y="373380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577284" y="4010025"/>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a:off x="1644586" y="1758521"/>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952741" y="3967943"/>
            <a:ext cx="152937" cy="799079"/>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892236" y="2561174"/>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383380" y="4524375"/>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6460216" y="1758521"/>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9062824" y="1778481"/>
            <a:ext cx="1281800" cy="203985"/>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bg1"/>
                </a:solidFill>
                <a:latin typeface="D2Coding" panose="020B0609020101020101" pitchFamily="49" charset="-127"/>
                <a:ea typeface="D2Coding" panose="020B0609020101020101" pitchFamily="49" charset="-127"/>
              </a:rPr>
              <a:t>(64,)</a:t>
            </a:r>
            <a:endParaRPr lang="ko-KR" altLang="en-US" sz="1400" dirty="0">
              <a:solidFill>
                <a:schemeClr val="bg1"/>
              </a:solidFill>
              <a:latin typeface="D2Coding" panose="020B0609020101020101" pitchFamily="49" charset="-127"/>
              <a:ea typeface="D2Coding" panose="020B0609020101020101" pitchFamily="49" charset="-127"/>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2886574" y="1396849"/>
            <a:ext cx="8619625" cy="307585"/>
          </a:xfrm>
          <a:prstGeom prst="rect">
            <a:avLst/>
          </a:prstGeom>
          <a:solidFill>
            <a:schemeClr val="bg1">
              <a:lumMod val="95000"/>
            </a:schemeClr>
          </a:solid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7807380" y="1758522"/>
            <a:ext cx="1281798" cy="1281800"/>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(64,64)</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521587" y="1758521"/>
            <a:ext cx="1281800" cy="203985"/>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latin typeface="D2Coding" panose="020B0609020101020101" pitchFamily="49" charset="-127"/>
                <a:ea typeface="D2Coding" panose="020B0609020101020101" pitchFamily="49" charset="-127"/>
              </a:rPr>
              <a:t>(64,)</a:t>
            </a:r>
            <a:endParaRPr lang="ko-KR" altLang="en-US" sz="1400" dirty="0">
              <a:latin typeface="D2Coding" panose="020B0609020101020101" pitchFamily="49" charset="-127"/>
              <a:ea typeface="D2Coding" panose="020B0609020101020101" pitchFamily="49" charset="-127"/>
            </a:endParaRPr>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44130" y="3604245"/>
            <a:ext cx="3681145" cy="304648"/>
          </a:xfrm>
          <a:prstGeom prst="rect">
            <a:avLst/>
          </a:prstGeom>
          <a:ln w="12700">
            <a:solidFill>
              <a:schemeClr val="tx1"/>
            </a:solidFill>
          </a:ln>
        </p:spPr>
      </p:pic>
      <p:sp>
        <p:nvSpPr>
          <p:cNvPr id="44" name="TextBox 43">
            <a:extLst>
              <a:ext uri="{FF2B5EF4-FFF2-40B4-BE49-F238E27FC236}">
                <a16:creationId xmlns:a16="http://schemas.microsoft.com/office/drawing/2014/main" id="{163177FC-A382-77DE-791A-B40E701EF883}"/>
              </a:ext>
            </a:extLst>
          </p:cNvPr>
          <p:cNvSpPr txBox="1"/>
          <p:nvPr/>
        </p:nvSpPr>
        <p:spPr>
          <a:xfrm>
            <a:off x="1644586" y="3204527"/>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524896" y="1394606"/>
            <a:ext cx="116205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a:t>
            </a:r>
            <a:r>
              <a:rPr lang="en-US" altLang="ko-KR" sz="1600" b="0" dirty="0">
                <a:effectLst/>
                <a:latin typeface="D2Coding" panose="020B0609020101020101" pitchFamily="49" charset="-127"/>
                <a:ea typeface="D2Coding" panose="020B0609020101020101" pitchFamily="49" charset="-127"/>
              </a:rPr>
              <a:t>put</a:t>
            </a:r>
            <a:r>
              <a:rPr lang="en-US" altLang="ko-KR" sz="1600" dirty="0">
                <a:latin typeface="D2Coding" panose="020B0609020101020101" pitchFamily="49" charset="-127"/>
                <a:ea typeface="D2Coding" panose="020B0609020101020101" pitchFamily="49" charset="-127"/>
              </a:rPr>
              <a:t>s</a:t>
            </a:r>
            <a:endParaRPr lang="ko-KR" altLang="en-US" sz="1600" dirty="0"/>
          </a:p>
        </p:txBody>
      </p:sp>
      <p:cxnSp>
        <p:nvCxnSpPr>
          <p:cNvPr id="48" name="연결선: 구부러짐 47">
            <a:extLst>
              <a:ext uri="{FF2B5EF4-FFF2-40B4-BE49-F238E27FC236}">
                <a16:creationId xmlns:a16="http://schemas.microsoft.com/office/drawing/2014/main" id="{7BB50E53-507D-5F76-ADF4-EB41671D0DDB}"/>
              </a:ext>
            </a:extLst>
          </p:cNvPr>
          <p:cNvCxnSpPr>
            <a:cxnSpLocks/>
            <a:endCxn id="18" idx="2"/>
          </p:cNvCxnSpPr>
          <p:nvPr/>
        </p:nvCxnSpPr>
        <p:spPr>
          <a:xfrm flipV="1">
            <a:off x="1686946" y="1955862"/>
            <a:ext cx="5219115" cy="1105892"/>
          </a:xfrm>
          <a:prstGeom prst="curved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523746" y="2664653"/>
            <a:ext cx="2009314"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inputs</a:t>
            </a:r>
            <a:r>
              <a:rPr lang="en-US" altLang="ko-KR" sz="1600" b="0" dirty="0">
                <a:effectLst/>
                <a:latin typeface="D2Coding" panose="020B0609020101020101" pitchFamily="49" charset="-127"/>
                <a:ea typeface="D2Coding" panose="020B0609020101020101" pitchFamily="49" charset="-127"/>
              </a:rPr>
              <a:t>:</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BDDC3496-0FCB-7588-EF79-2BA20F50EE57}"/>
              </a:ext>
            </a:extLst>
          </p:cNvPr>
          <p:cNvSpPr>
            <a:spLocks noChangeArrowheads="1"/>
          </p:cNvSpPr>
          <p:nvPr/>
        </p:nvSpPr>
        <p:spPr bwMode="auto">
          <a:xfrm>
            <a:off x="8716789" y="5520428"/>
            <a:ext cx="1481976" cy="230832"/>
          </a:xfrm>
          <a:prstGeom prst="rect">
            <a:avLst/>
          </a:prstGeom>
          <a:solidFill>
            <a:schemeClr val="tx1"/>
          </a:solidFill>
          <a:ln>
            <a:noFill/>
          </a:ln>
          <a:effec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i="0" u="none" strike="noStrike" cap="none" normalizeH="0" baseline="0" dirty="0">
                <a:ln>
                  <a:noFill/>
                </a:ln>
                <a:solidFill>
                  <a:schemeClr val="bg1"/>
                </a:solidFill>
                <a:effectLst/>
                <a:latin typeface="D2Coding" panose="020B0609020101020101" pitchFamily="49" charset="-127"/>
                <a:ea typeface="D2Coding" panose="020B0609020101020101" pitchFamily="49" charset="-127"/>
              </a:rPr>
              <a:t>은닉 노드 수 : 64개</a:t>
            </a:r>
          </a:p>
        </p:txBody>
      </p:sp>
      <p:sp>
        <p:nvSpPr>
          <p:cNvPr id="19" name="직사각형 18">
            <a:extLst>
              <a:ext uri="{FF2B5EF4-FFF2-40B4-BE49-F238E27FC236}">
                <a16:creationId xmlns:a16="http://schemas.microsoft.com/office/drawing/2014/main" id="{18D4909B-5806-AD49-FB56-121ABED34D54}"/>
              </a:ext>
            </a:extLst>
          </p:cNvPr>
          <p:cNvSpPr/>
          <p:nvPr/>
        </p:nvSpPr>
        <p:spPr>
          <a:xfrm>
            <a:off x="5558897" y="1758522"/>
            <a:ext cx="891687" cy="1281800"/>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15" name="직사각형 14">
            <a:extLst>
              <a:ext uri="{FF2B5EF4-FFF2-40B4-BE49-F238E27FC236}">
                <a16:creationId xmlns:a16="http://schemas.microsoft.com/office/drawing/2014/main" id="{B0924BB7-017E-5DE2-3F82-2304E9C0D0C1}"/>
              </a:ext>
            </a:extLst>
          </p:cNvPr>
          <p:cNvSpPr/>
          <p:nvPr/>
        </p:nvSpPr>
        <p:spPr>
          <a:xfrm>
            <a:off x="2930461" y="2959768"/>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881694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np.dot(</a:t>
            </a:r>
            <a:r>
              <a:rPr lang="en-US" altLang="ko-KR" b="1" dirty="0">
                <a:solidFill>
                  <a:schemeClr val="accent4"/>
                </a:solidFill>
                <a:effectLst/>
                <a:latin typeface="D2Coding" panose="020B0609020101020101" pitchFamily="49" charset="-127"/>
                <a:ea typeface="D2Coding" panose="020B0609020101020101" pitchFamily="49" charset="-127"/>
              </a:rPr>
              <a:t>U</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5"/>
                </a:solidFill>
                <a:effectLst/>
                <a:latin typeface="D2Coding" panose="020B0609020101020101" pitchFamily="49" charset="-127"/>
                <a:ea typeface="D2Coding" panose="020B0609020101020101" pitchFamily="49" charset="-127"/>
              </a:rPr>
              <a:t>state_t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369332"/>
          </a:xfrm>
          <a:prstGeom prst="rect">
            <a:avLst/>
          </a:prstGeom>
          <a:solidFill>
            <a:srgbClr val="76E3FF"/>
          </a:solidFill>
        </p:spPr>
        <p:txBody>
          <a:bodyPr wrap="square">
            <a:spAutoFit/>
          </a:bodyPr>
          <a:lstStyle/>
          <a:p>
            <a:r>
              <a:rPr lang="en-US" altLang="ko-KR" dirty="0" err="1">
                <a:latin typeface="D2Coding" panose="020B0609020101020101" pitchFamily="49" charset="-127"/>
                <a:ea typeface="D2Coding" panose="020B0609020101020101" pitchFamily="49" charset="-127"/>
              </a:rPr>
              <a:t>SimpleRNN</a:t>
            </a:r>
            <a:r>
              <a:rPr lang="en-US" altLang="ko-KR" dirty="0">
                <a:effectLst/>
                <a:latin typeface="D2Coding" panose="020B0609020101020101" pitchFamily="49" charset="-127"/>
                <a:ea typeface="D2Coding" panose="020B0609020101020101" pitchFamily="49" charset="-127"/>
              </a:rPr>
              <a:t>(64,</a:t>
            </a:r>
            <a:r>
              <a:rPr lang="en-US" altLang="ko-KR" dirty="0">
                <a:latin typeface="D2Coding" panose="020B0609020101020101" pitchFamily="49" charset="-127"/>
                <a:ea typeface="D2Coding" panose="020B0609020101020101" pitchFamily="49" charset="-127"/>
              </a:rPr>
              <a:t> </a:t>
            </a:r>
            <a:r>
              <a:rPr lang="en-US" altLang="ko-KR" dirty="0" err="1">
                <a:effectLst/>
                <a:latin typeface="D2Coding" panose="020B0609020101020101" pitchFamily="49" charset="-127"/>
                <a:ea typeface="D2Coding" panose="020B0609020101020101" pitchFamily="49" charset="-127"/>
              </a:rPr>
              <a:t>input_shape</a:t>
            </a:r>
            <a:r>
              <a:rPr lang="en-US" altLang="ko-KR" dirty="0">
                <a:latin typeface="D2Coding" panose="020B0609020101020101" pitchFamily="49" charset="-127"/>
                <a:ea typeface="D2Coding" panose="020B0609020101020101" pitchFamily="49" charset="-127"/>
              </a:rPr>
              <a:t>=</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timesteps</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input_features</a:t>
            </a:r>
            <a:r>
              <a:rPr lang="en-US" altLang="ko-KR" dirty="0">
                <a:effectLst/>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793166"/>
          </a:xfrm>
          <a:prstGeom prst="rect">
            <a:avLst/>
          </a:prstGeom>
          <a:noFill/>
        </p:spPr>
        <p:txBody>
          <a:bodyPr wrap="square" rtlCol="0">
            <a:spAutoFit/>
          </a:bodyPr>
          <a:lstStyle/>
          <a:p>
            <a:pPr>
              <a:lnSpc>
                <a:spcPct val="150000"/>
              </a:lnSpc>
            </a:pP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의 은닉층의 노드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뉴런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의 개수는 </a:t>
            </a:r>
            <a:r>
              <a:rPr lang="en-US" altLang="ko-KR" sz="1600" dirty="0">
                <a:latin typeface="D2Coding" panose="020B0609020101020101" pitchFamily="49" charset="-127"/>
                <a:ea typeface="D2Coding" panose="020B0609020101020101" pitchFamily="49" charset="-127"/>
              </a:rPr>
              <a:t>64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output_features</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로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 32</a:t>
            </a:r>
            <a:r>
              <a:rPr lang="ko-KR" altLang="en-US" sz="1600" dirty="0">
                <a:latin typeface="D2Coding" panose="020B0609020101020101" pitchFamily="49" charset="-127"/>
                <a:ea typeface="D2Coding" panose="020B0609020101020101" pitchFamily="49" charset="-127"/>
              </a:rPr>
              <a:t>개 노드를 받아 </a:t>
            </a:r>
            <a:r>
              <a:rPr lang="en-US" altLang="ko-KR" sz="1600" dirty="0">
                <a:latin typeface="D2Coding" panose="020B0609020101020101" pitchFamily="49" charset="-127"/>
                <a:ea typeface="D2Coding" panose="020B0609020101020101" pitchFamily="49" charset="-127"/>
              </a:rPr>
              <a:t>timesteps 100</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a:t>
            </a:r>
            <a:r>
              <a:rPr lang="en-US" altLang="ko-KR" sz="1600" dirty="0">
                <a:latin typeface="D2Coding" panose="020B0609020101020101" pitchFamily="49" charset="-127"/>
                <a:ea typeface="D2Coding" panose="020B0609020101020101" pitchFamily="49" charset="-127"/>
              </a:rPr>
              <a:t>100</a:t>
            </a:r>
            <a:r>
              <a:rPr lang="ko-KR" altLang="en-US" sz="1600" dirty="0">
                <a:latin typeface="D2Coding" panose="020B0609020101020101" pitchFamily="49" charset="-127"/>
                <a:ea typeface="D2Coding" panose="020B0609020101020101" pitchFamily="49" charset="-127"/>
              </a:rPr>
              <a:t>일 동안 주가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과거의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계속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RNN(Recurrent Neural Network)</a:t>
            </a:r>
            <a:endParaRPr lang="ko-KR" altLang="en-US" u="sng" dirty="0">
              <a:solidFill>
                <a:schemeClr val="bg1"/>
              </a:solidFill>
            </a:endParaRPr>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FCNN(Fully Connected Neural Network)</a:t>
            </a:r>
            <a:endParaRPr lang="ko-KR" altLang="en-US" u="sng" dirty="0">
              <a:solidFill>
                <a:schemeClr val="bg1"/>
              </a:solidFill>
            </a:endParaRPr>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23220"/>
          </a:xfrm>
          <a:prstGeom prst="rect">
            <a:avLst/>
          </a:prstGeom>
          <a:noFill/>
          <a:ln w="28575">
            <a:noFill/>
          </a:ln>
        </p:spPr>
        <p:txBody>
          <a:bodyPr wrap="square">
            <a:spAutoFit/>
          </a:bodyPr>
          <a:lstStyle/>
          <a:p>
            <a:r>
              <a:rPr lang="en-US" altLang="ko-KR" sz="1400" b="0" dirty="0">
                <a:effectLst/>
                <a:latin typeface="D2Coding" panose="020B0609020101020101" pitchFamily="49" charset="-127"/>
                <a:ea typeface="D2Coding" panose="020B0609020101020101" pitchFamily="49" charset="-127"/>
              </a:rPr>
              <a:t>np.dot(</a:t>
            </a:r>
            <a:r>
              <a:rPr lang="en-US" altLang="ko-KR" sz="1400" b="1" dirty="0">
                <a:solidFill>
                  <a:schemeClr val="accent4"/>
                </a:solidFill>
                <a:effectLst/>
                <a:latin typeface="D2Coding" panose="020B0609020101020101" pitchFamily="49" charset="-127"/>
                <a:ea typeface="D2Coding" panose="020B0609020101020101" pitchFamily="49" charset="-127"/>
              </a:rPr>
              <a:t>U</a:t>
            </a:r>
            <a:r>
              <a:rPr lang="en-US" altLang="ko-KR" sz="1400" b="1" dirty="0">
                <a:effectLst/>
                <a:latin typeface="D2Coding" panose="020B0609020101020101" pitchFamily="49" charset="-127"/>
                <a:ea typeface="D2Coding" panose="020B0609020101020101" pitchFamily="49" charset="-127"/>
              </a:rPr>
              <a:t>, </a:t>
            </a:r>
            <a:r>
              <a:rPr lang="en-US" altLang="ko-KR" sz="1400" b="1" dirty="0" err="1">
                <a:solidFill>
                  <a:schemeClr val="accent5"/>
                </a:solidFill>
                <a:effectLst/>
                <a:latin typeface="D2Coding" panose="020B0609020101020101" pitchFamily="49" charset="-127"/>
                <a:ea typeface="D2Coding" panose="020B0609020101020101" pitchFamily="49" charset="-127"/>
              </a:rPr>
              <a:t>state_t</a:t>
            </a:r>
            <a:r>
              <a:rPr lang="en-US" altLang="ko-KR" sz="1400" b="0" dirty="0">
                <a:effectLst/>
                <a:latin typeface="D2Coding" panose="020B0609020101020101" pitchFamily="49" charset="-127"/>
                <a:ea typeface="D2Coding" panose="020B0609020101020101" pitchFamily="49" charset="-127"/>
              </a:rPr>
              <a:t>)</a:t>
            </a:r>
          </a:p>
          <a:p>
            <a:r>
              <a:rPr lang="ko-KR" altLang="en-US" sz="1400" dirty="0">
                <a:latin typeface="D2Coding" panose="020B0609020101020101" pitchFamily="49" charset="-127"/>
                <a:ea typeface="D2Coding" panose="020B0609020101020101" pitchFamily="49" charset="-127"/>
              </a:rPr>
              <a:t>과거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a:t>
            </a:r>
            <a:r>
              <a:rPr lang="en-US" altLang="ko-KR" sz="1400" dirty="0">
                <a:latin typeface="D2Coding" panose="020B0609020101020101" pitchFamily="49" charset="-127"/>
                <a:ea typeface="D2Coding" panose="020B0609020101020101" pitchFamily="49" charset="-127"/>
              </a:rPr>
              <a:t>state</a:t>
            </a:r>
            <a:r>
              <a:rPr lang="ko-KR" altLang="en-US" sz="1400" dirty="0">
                <a:latin typeface="D2Coding" panose="020B0609020101020101" pitchFamily="49" charset="-127"/>
                <a:ea typeface="D2Coding" panose="020B0609020101020101" pitchFamily="49" charset="-127"/>
              </a:rPr>
              <a:t>를 </a:t>
            </a:r>
            <a:r>
              <a:rPr lang="en-US" altLang="ko-KR" sz="1400" dirty="0">
                <a:latin typeface="D2Coding" panose="020B0609020101020101" pitchFamily="49" charset="-127"/>
                <a:ea typeface="D2Coding" panose="020B0609020101020101" pitchFamily="49" charset="-127"/>
              </a:rPr>
              <a:t>memory</a:t>
            </a:r>
            <a:r>
              <a:rPr lang="ko-KR" altLang="en-US" sz="1400" dirty="0">
                <a:latin typeface="D2Coding" panose="020B0609020101020101" pitchFamily="49" charset="-127"/>
                <a:ea typeface="D2Coding" panose="020B0609020101020101" pitchFamily="49" charset="-127"/>
              </a:rPr>
              <a:t>하는 수식 항</a:t>
            </a:r>
            <a:endParaRPr lang="ko-KR" altLang="en-US" sz="14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47975"/>
          </a:xfrm>
          <a:prstGeom prst="curvedConnector4">
            <a:avLst>
              <a:gd name="adj1" fmla="val -32000"/>
              <a:gd name="adj2" fmla="val 61394"/>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795139"/>
            <a:ext cx="7675230" cy="4053211"/>
          </a:xfrm>
          <a:prstGeom prst="rect">
            <a:avLst/>
          </a:prstGeom>
          <a:ln>
            <a:solidFill>
              <a:schemeClr val="tx1"/>
            </a:solidFill>
          </a:ln>
        </p:spPr>
      </p:pic>
      <p:sp>
        <p:nvSpPr>
          <p:cNvPr id="6" name="TextBox 5">
            <a:extLst>
              <a:ext uri="{FF2B5EF4-FFF2-40B4-BE49-F238E27FC236}">
                <a16:creationId xmlns:a16="http://schemas.microsoft.com/office/drawing/2014/main" id="{DF2DCB4E-8036-5F8F-788D-405F90D49285}"/>
              </a:ext>
            </a:extLst>
          </p:cNvPr>
          <p:cNvSpPr txBox="1"/>
          <p:nvPr/>
        </p:nvSpPr>
        <p:spPr>
          <a:xfrm>
            <a:off x="2053325" y="5915126"/>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46803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39372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 </a:t>
            </a:r>
            <a:r>
              <a:rPr lang="en-US" altLang="ko-KR" sz="1600" b="0" dirty="0" err="1">
                <a:solidFill>
                  <a:srgbClr val="FF0000"/>
                </a:solidFill>
                <a:effectLst/>
                <a:latin typeface="D2Coding" panose="020B0609020101020101" pitchFamily="49" charset="-127"/>
                <a:ea typeface="D2Coding" panose="020B0609020101020101" pitchFamily="49" charset="-127"/>
              </a:rPr>
              <a:t>return_sequences</a:t>
            </a:r>
            <a:r>
              <a:rPr lang="en-US" altLang="ko-KR" sz="1600" b="0" dirty="0">
                <a:solidFill>
                  <a:srgbClr val="FF0000"/>
                </a:solidFill>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layers.Bidirectional</a:t>
            </a:r>
            <a:r>
              <a:rPr lang="en-US" altLang="ko-KR" sz="1600" b="0" dirty="0">
                <a:solidFill>
                  <a:srgbClr val="FF0000"/>
                </a:solidFill>
                <a:effectLst/>
                <a:latin typeface="D2Coding" panose="020B0609020101020101" pitchFamily="49" charset="-127"/>
                <a:ea typeface="D2Coding" panose="020B0609020101020101" pitchFamily="49" charset="-127"/>
              </a:rPr>
              <a:t>(</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4378232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a:ln>
            <a:solidFill>
              <a:schemeClr val="tx1"/>
            </a:solidFill>
          </a:ln>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673896"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3"/>
              </a:rPr>
              <a:t>MIT 6.S191 (2025): Recurrent Neural Networks, Transformers, and Attention</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395993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extLst>
              <p:ext uri="{D42A27DB-BD31-4B8C-83A1-F6EECF244321}">
                <p14:modId xmlns:p14="http://schemas.microsoft.com/office/powerpoint/2010/main" val="3143378011"/>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21.50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ℎ</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81470-8656-464B-06C4-C067937AE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9D2C877-831B-8CBF-51C8-3C773B3671A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36794778-297A-F830-9286-DF74C43504C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AutoShape 2" descr=", AI로 생성">
            <a:extLst>
              <a:ext uri="{FF2B5EF4-FFF2-40B4-BE49-F238E27FC236}">
                <a16:creationId xmlns:a16="http://schemas.microsoft.com/office/drawing/2014/main" id="{5E2825BF-340E-EA25-41CB-E1A860DB73E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6" name="그림 5">
            <a:extLst>
              <a:ext uri="{FF2B5EF4-FFF2-40B4-BE49-F238E27FC236}">
                <a16:creationId xmlns:a16="http://schemas.microsoft.com/office/drawing/2014/main" id="{6EB88C18-BA7C-B571-0DEE-B746C08D80A4}"/>
              </a:ext>
            </a:extLst>
          </p:cNvPr>
          <p:cNvPicPr>
            <a:picLocks noChangeAspect="1"/>
          </p:cNvPicPr>
          <p:nvPr/>
        </p:nvPicPr>
        <p:blipFill>
          <a:blip r:embed="rId2"/>
          <a:stretch>
            <a:fillRect/>
          </a:stretch>
        </p:blipFill>
        <p:spPr>
          <a:xfrm>
            <a:off x="6371473" y="2690770"/>
            <a:ext cx="5312527" cy="2410962"/>
          </a:xfrm>
          <a:prstGeom prst="rect">
            <a:avLst/>
          </a:prstGeom>
          <a:ln>
            <a:solidFill>
              <a:schemeClr val="tx1"/>
            </a:solidFill>
          </a:ln>
        </p:spPr>
      </p:pic>
      <p:pic>
        <p:nvPicPr>
          <p:cNvPr id="8" name="그림 7">
            <a:extLst>
              <a:ext uri="{FF2B5EF4-FFF2-40B4-BE49-F238E27FC236}">
                <a16:creationId xmlns:a16="http://schemas.microsoft.com/office/drawing/2014/main" id="{8C5FFDD5-943E-07A6-655C-289EE003F9AE}"/>
              </a:ext>
            </a:extLst>
          </p:cNvPr>
          <p:cNvPicPr>
            <a:picLocks noChangeAspect="1"/>
          </p:cNvPicPr>
          <p:nvPr/>
        </p:nvPicPr>
        <p:blipFill>
          <a:blip r:embed="rId3"/>
          <a:stretch>
            <a:fillRect/>
          </a:stretch>
        </p:blipFill>
        <p:spPr>
          <a:xfrm>
            <a:off x="608994" y="2690770"/>
            <a:ext cx="5312527" cy="2410962"/>
          </a:xfrm>
          <a:prstGeom prst="rect">
            <a:avLst/>
          </a:prstGeom>
          <a:ln>
            <a:solidFill>
              <a:schemeClr val="tx1"/>
            </a:solidFill>
          </a:ln>
        </p:spPr>
      </p:pic>
    </p:spTree>
    <p:extLst>
      <p:ext uri="{BB962C8B-B14F-4D97-AF65-F5344CB8AC3E}">
        <p14:creationId xmlns:p14="http://schemas.microsoft.com/office/powerpoint/2010/main" val="25159525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0777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차원이 </a:t>
            </a:r>
            <a:r>
              <a:rPr lang="en-US" altLang="ko-KR" sz="1600" dirty="0">
                <a:latin typeface="D2Coding" panose="020B0609020101020101" pitchFamily="49" charset="-127"/>
                <a:ea typeface="D2Coding" panose="020B0609020101020101" pitchFamily="49" charset="-127"/>
              </a:rPr>
              <a:t>4(4</a:t>
            </a:r>
            <a:r>
              <a:rPr lang="ko-KR" altLang="en-US" sz="1600" dirty="0">
                <a:latin typeface="D2Coding" panose="020B0609020101020101" pitchFamily="49" charset="-127"/>
                <a:ea typeface="D2Coding" panose="020B0609020101020101" pitchFamily="49" charset="-127"/>
              </a:rPr>
              <a:t>차원 벡터로 단어를 표현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단어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번</a:t>
            </a:r>
            <a:r>
              <a:rPr lang="en-US" altLang="ko-KR" sz="1600" dirty="0">
                <a:latin typeface="D2Coding" panose="020B0609020101020101" pitchFamily="49" charset="-127"/>
                <a:ea typeface="D2Coding" panose="020B0609020101020101" pitchFamily="49" charset="-127"/>
              </a:rPr>
              <a:t>(time step 4) </a:t>
            </a:r>
            <a:r>
              <a:rPr lang="ko-KR" altLang="en-US" sz="1600" dirty="0">
                <a:latin typeface="D2Coding" panose="020B0609020101020101" pitchFamily="49" charset="-127"/>
                <a:ea typeface="D2Coding" panose="020B0609020101020101" pitchFamily="49" charset="-127"/>
              </a:rPr>
              <a:t>연속으로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를 통과시키고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층이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은닉층은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ℎ</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ℎ</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ℎ</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2317870" y="588873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2773210" y="6251056"/>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ℎ</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ℎ</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ℎ</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ℎ</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ℎ</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ℎ</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
                      <m:sSub>
                        <m:sSubPr>
                          <m:ctrlPr>
                            <a:rPr lang="ko-KR" altLang="en-US" sz="2000" b="1" i="1">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ℎ</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
                      <m:sSub>
                        <m:sSubPr>
                          <m:ctrlPr>
                            <a:rPr lang="ko-KR" altLang="en-US" b="1" i="1">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ℎ</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
                      <m:sSub>
                        <m:sSubPr>
                          <m:ctrlPr>
                            <a:rPr lang="ko-KR" altLang="en-US" sz="2000" b="1" i="1">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5409899" cy="3115298"/>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700878"/>
            <a:ext cx="7711440" cy="1675139"/>
          </a:xfrm>
          <a:prstGeom prst="rect">
            <a:avLst/>
          </a:prstGeom>
          <a:solidFill>
            <a:srgbClr val="76E3FF"/>
          </a:solidFill>
        </p:spPr>
        <p:txBody>
          <a:bodyPr wrap="square">
            <a:spAutoFit/>
          </a:bodyPr>
          <a:lstStyle/>
          <a:p>
            <a:pPr>
              <a:lnSpc>
                <a:spcPct val="150000"/>
              </a:lnSpc>
            </a:pPr>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(20,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=[None, 1]),</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(20,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(1)</a:t>
            </a:r>
          </a:p>
          <a:p>
            <a:pPr>
              <a:lnSpc>
                <a:spcPct val="150000"/>
              </a:lnSpc>
            </a:pP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556AA-F115-B46C-306D-D1D7A6F3506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EB688ED-B450-4EFA-D386-B29E4E72D0F8}"/>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Timeseries Forecasting</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0726893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035810" y="1586384"/>
            <a:ext cx="9689068" cy="4575956"/>
          </a:xfrm>
          <a:prstGeom prst="rect">
            <a:avLst/>
          </a:prstGeom>
          <a:ln>
            <a:solidFill>
              <a:schemeClr val="tx1"/>
            </a:solidFill>
          </a:ln>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6051293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95641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362819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149117814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251195729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531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오디오 파형이나 텍스트처럼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패턴이 어디서 나타나든 같은 의미를 가지는</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데이터에 적합</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강아지 이미지가 왼쪽</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오른쪽</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 아래에 있든 똑같이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강아지</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인식하여 데이터의 본질은 변하지 않음</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표현이 글의 맨 앞에 나오든 맨 뒤에 나오든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날씨데이터는 평행이동 불변성</a:t>
            </a:r>
            <a:r>
              <a:rPr lang="en-US" altLang="ko-KR" sz="1400" dirty="0">
                <a:latin typeface="D2Coding" panose="020B0609020101020101" pitchFamily="49" charset="-127"/>
                <a:ea typeface="D2Coding" panose="020B0609020101020101" pitchFamily="49" charset="-127"/>
              </a:rPr>
              <a:t>(Translation Invariance)</a:t>
            </a:r>
            <a:r>
              <a:rPr lang="ko-KR" altLang="en-US" sz="1400" dirty="0">
                <a:latin typeface="D2Coding" panose="020B0609020101020101" pitchFamily="49" charset="-127"/>
                <a:ea typeface="D2Coding" panose="020B0609020101020101" pitchFamily="49" charset="-127"/>
              </a:rPr>
              <a:t>에 적합하지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어느 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공간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어느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에서 발생하더라도 그 본질적인 의미나 성질이 변하지 않고 일정하게 유지되는 성질은</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불필요함</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지역</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계절</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따라 데이터가 가지는 의미와 맥락이 완전히 달라지기 때문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기온 </a:t>
            </a:r>
            <a:r>
              <a:rPr lang="en-US" altLang="ko-KR" sz="1200" dirty="0">
                <a:latin typeface="D2Coding" panose="020B0609020101020101" pitchFamily="49" charset="-127"/>
                <a:ea typeface="D2Coding" panose="020B0609020101020101" pitchFamily="49" charset="-127"/>
              </a:rPr>
              <a:t>30</a:t>
            </a:r>
            <a:r>
              <a:rPr lang="ko-KR" altLang="en-US" sz="1200" dirty="0">
                <a:latin typeface="D2Coding" panose="020B0609020101020101" pitchFamily="49" charset="-127"/>
                <a:ea typeface="D2Coding" panose="020B0609020101020101" pitchFamily="49" charset="-127"/>
              </a:rPr>
              <a:t>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가 적도 지역과 북극 지역에서 나타나는 것은 완전히 다른 의미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이상 기후 등</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여름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것과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겨울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것은 맥락이 완전히 다름</a:t>
            </a:r>
            <a:r>
              <a:rPr lang="en-US" altLang="ko-KR" sz="1200" dirty="0">
                <a:latin typeface="D2Coding" panose="020B0609020101020101" pitchFamily="49" charset="-127"/>
                <a:ea typeface="D2Coding" panose="020B0609020101020101" pitchFamily="49" charset="-127"/>
              </a:rPr>
              <a:t>  </a:t>
            </a:r>
            <a:endParaRPr lang="ko-KR" altLang="en-US" sz="12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37854494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190641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284452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AE5B3-1A78-A996-7E41-07BAE1EE7C3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A4AB4BE-5274-D605-EB3B-1F0EC30803BB}"/>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Anomaly Detection with AE, VAE</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339289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99333-73CE-BB31-0BD2-CBD390E430F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F4F3051-92D8-549A-D274-C22C510ECE8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47A24271-33E7-74D6-47A4-A4CE436008BF}"/>
              </a:ext>
            </a:extLst>
          </p:cNvPr>
          <p:cNvSpPr txBox="1"/>
          <p:nvPr/>
        </p:nvSpPr>
        <p:spPr>
          <a:xfrm>
            <a:off x="561975" y="1390619"/>
            <a:ext cx="3775393" cy="400110"/>
          </a:xfrm>
          <a:prstGeom prst="rect">
            <a:avLst/>
          </a:prstGeom>
          <a:noFill/>
        </p:spPr>
        <p:txBody>
          <a:bodyPr wrap="none" rtlCol="0">
            <a:spAutoFit/>
          </a:bodyPr>
          <a:lstStyle/>
          <a:p>
            <a:r>
              <a:rPr lang="en-US" altLang="ko-KR" sz="2000" dirty="0" err="1">
                <a:latin typeface="D2Coding" panose="020B0609020101020101" pitchFamily="49" charset="-127"/>
                <a:ea typeface="D2Coding" panose="020B0609020101020101" pitchFamily="49" charset="-127"/>
                <a:hlinkClick r:id="rId2"/>
              </a:rPr>
              <a:t>Timeseries_anomaly_detection</a:t>
            </a:r>
            <a:endParaRPr lang="en-US" altLang="ko-KR" sz="2000" dirty="0">
              <a:latin typeface="D2Coding" panose="020B0609020101020101" pitchFamily="49" charset="-127"/>
              <a:ea typeface="D2Coding" panose="020B0609020101020101" pitchFamily="49" charset="-127"/>
            </a:endParaRPr>
          </a:p>
        </p:txBody>
      </p:sp>
      <p:pic>
        <p:nvPicPr>
          <p:cNvPr id="28674" name="Picture 2" descr="png">
            <a:extLst>
              <a:ext uri="{FF2B5EF4-FFF2-40B4-BE49-F238E27FC236}">
                <a16:creationId xmlns:a16="http://schemas.microsoft.com/office/drawing/2014/main" id="{C2C98C34-52E5-5611-B6EA-87D0ADC17B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7134" y="1561751"/>
            <a:ext cx="5715000" cy="4814266"/>
          </a:xfrm>
          <a:prstGeom prst="rect">
            <a:avLst/>
          </a:prstGeom>
          <a:noFill/>
          <a:extLst>
            <a:ext uri="{909E8E84-426E-40DD-AFC4-6F175D3DCCD1}">
              <a14:hiddenFill xmlns:a14="http://schemas.microsoft.com/office/drawing/2010/main">
                <a:solidFill>
                  <a:srgbClr val="FFFFFF"/>
                </a:solidFill>
              </a14:hiddenFill>
            </a:ext>
          </a:extLst>
        </p:spPr>
      </p:pic>
      <p:pic>
        <p:nvPicPr>
          <p:cNvPr id="5" name="그래픽 4" descr="본문 작성기">
            <a:extLst>
              <a:ext uri="{FF2B5EF4-FFF2-40B4-BE49-F238E27FC236}">
                <a16:creationId xmlns:a16="http://schemas.microsoft.com/office/drawing/2014/main" id="{C82E35D8-6752-158C-9F54-4BEAC76B140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9203785F-22DE-3CB4-9674-1CB3A288B863}"/>
              </a:ext>
            </a:extLst>
          </p:cNvPr>
          <p:cNvSpPr txBox="1"/>
          <p:nvPr/>
        </p:nvSpPr>
        <p:spPr>
          <a:xfrm>
            <a:off x="561975" y="1932926"/>
            <a:ext cx="4162425" cy="2644635"/>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공식 예제 튜토리얼</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Code Examples)</a:t>
            </a:r>
            <a:r>
              <a:rPr lang="ko-KR" altLang="en-US" sz="1400" dirty="0">
                <a:latin typeface="D2Coding" panose="020B0609020101020101" pitchFamily="49" charset="-127"/>
                <a:ea typeface="D2Coding" panose="020B0609020101020101" pitchFamily="49" charset="-127"/>
              </a:rPr>
              <a:t>인 </a:t>
            </a:r>
            <a:r>
              <a:rPr lang="en-US" altLang="ko-KR" sz="1400" dirty="0">
                <a:latin typeface="D2Coding" panose="020B0609020101020101" pitchFamily="49" charset="-127"/>
                <a:ea typeface="D2Coding" panose="020B0609020101020101" pitchFamily="49" charset="-127"/>
                <a:hlinkClick r:id="rId2"/>
              </a:rPr>
              <a:t>"Timeseries anomaly detection using an Autoencoder"</a:t>
            </a:r>
            <a:r>
              <a:rPr lang="ko-KR" altLang="en-US" sz="1400" dirty="0">
                <a:latin typeface="D2Coding" panose="020B0609020101020101" pitchFamily="49" charset="-127"/>
                <a:ea typeface="D2Coding" panose="020B0609020101020101" pitchFamily="49" charset="-127"/>
              </a:rPr>
              <a:t> 코드</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ko-KR" altLang="en-US" sz="1400" dirty="0">
                <a:latin typeface="D2Coding" panose="020B0609020101020101" pitchFamily="49" charset="-127"/>
                <a:ea typeface="D2Coding" panose="020B0609020101020101" pitchFamily="49" charset="-127"/>
              </a:rPr>
              <a:t>의 창시자인 프랑소와 </a:t>
            </a:r>
            <a:r>
              <a:rPr lang="ko-KR" altLang="en-US" sz="1400" dirty="0" err="1">
                <a:latin typeface="D2Coding" panose="020B0609020101020101" pitchFamily="49" charset="-127"/>
                <a:ea typeface="D2Coding" panose="020B0609020101020101" pitchFamily="49" charset="-127"/>
              </a:rPr>
              <a:t>숄레</a:t>
            </a:r>
            <a:r>
              <a:rPr lang="en-US" altLang="ko-KR" sz="1400" dirty="0">
                <a:latin typeface="D2Coding" panose="020B0609020101020101" pitchFamily="49" charset="-127"/>
                <a:ea typeface="D2Coding" panose="020B0609020101020101" pitchFamily="49" charset="-127"/>
              </a:rPr>
              <a:t>(François Chollet) </a:t>
            </a:r>
            <a:r>
              <a:rPr lang="ko-KR" altLang="en-US" sz="1400" dirty="0">
                <a:latin typeface="D2Coding" panose="020B0609020101020101" pitchFamily="49" charset="-127"/>
                <a:ea typeface="D2Coding" panose="020B0609020101020101" pitchFamily="49" charset="-127"/>
              </a:rPr>
              <a:t>및 공식 </a:t>
            </a:r>
            <a:r>
              <a:rPr lang="ko-KR" altLang="en-US" sz="1400" dirty="0" err="1">
                <a:latin typeface="D2Coding" panose="020B0609020101020101" pitchFamily="49" charset="-127"/>
                <a:ea typeface="D2Coding" panose="020B0609020101020101" pitchFamily="49" charset="-127"/>
              </a:rPr>
              <a:t>기여진</a:t>
            </a:r>
            <a:r>
              <a:rPr lang="en-US" altLang="ko-KR" sz="1400" dirty="0">
                <a:latin typeface="D2Coding" panose="020B0609020101020101" pitchFamily="49" charset="-127"/>
                <a:ea typeface="D2Coding" panose="020B0609020101020101" pitchFamily="49" charset="-127"/>
              </a:rPr>
              <a:t>(Pavithra Vijay)</a:t>
            </a:r>
            <a:r>
              <a:rPr lang="ko-KR" altLang="en-US" sz="1400" dirty="0">
                <a:latin typeface="D2Coding" panose="020B0609020101020101" pitchFamily="49" charset="-127"/>
                <a:ea typeface="D2Coding" panose="020B0609020101020101" pitchFamily="49" charset="-127"/>
              </a:rPr>
              <a:t>이 제작한 이 공식 예제 코드</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국내외 수많은 </a:t>
            </a:r>
            <a:r>
              <a:rPr lang="ko-KR" altLang="en-US" sz="1400" b="1" dirty="0">
                <a:latin typeface="D2Coding" panose="020B0609020101020101" pitchFamily="49" charset="-127"/>
                <a:ea typeface="D2Coding" panose="020B0609020101020101" pitchFamily="49" charset="-127"/>
              </a:rPr>
              <a:t>딥러닝</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시계열 교재 및 인강 강의</a:t>
            </a:r>
            <a:r>
              <a:rPr lang="ko-KR" altLang="en-US" sz="1400" dirty="0">
                <a:latin typeface="D2Coding" panose="020B0609020101020101" pitchFamily="49" charset="-127"/>
                <a:ea typeface="D2Coding" panose="020B0609020101020101" pitchFamily="49" charset="-127"/>
              </a:rPr>
              <a:t>에서 시계열 이상 탐지의 표준 예제</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AFFB4535-EB17-BF93-971E-E63D5E01C0C6}"/>
              </a:ext>
            </a:extLst>
          </p:cNvPr>
          <p:cNvSpPr txBox="1"/>
          <p:nvPr/>
        </p:nvSpPr>
        <p:spPr>
          <a:xfrm>
            <a:off x="561975" y="6148882"/>
            <a:ext cx="6096000" cy="369332"/>
          </a:xfrm>
          <a:prstGeom prst="rect">
            <a:avLst/>
          </a:prstGeom>
          <a:noFill/>
        </p:spPr>
        <p:txBody>
          <a:bodyPr wrap="square">
            <a:spAutoFit/>
          </a:bodyPr>
          <a:lstStyle/>
          <a:p>
            <a:r>
              <a:rPr lang="en-US" altLang="ko-KR" sz="1800" dirty="0">
                <a:latin typeface="D2Coding" panose="020B0609020101020101" pitchFamily="49" charset="-127"/>
                <a:ea typeface="D2Coding" panose="020B0609020101020101" pitchFamily="49" charset="-127"/>
                <a:hlinkClick r:id="rId5"/>
              </a:rPr>
              <a:t>AI-with-python</a:t>
            </a:r>
            <a:endParaRPr lang="ko-KR" altLang="en-US" sz="18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9294947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13F0-E02B-1045-51FB-989F0FE7193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B9B3B85-5E52-9230-DD95-4F3B089BF07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B0D8A624-4058-8026-A73F-C5213C059A3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744D28E1-77DA-DB1C-B399-F4CF67311ED3}"/>
              </a:ext>
            </a:extLst>
          </p:cNvPr>
          <p:cNvSpPr txBox="1"/>
          <p:nvPr/>
        </p:nvSpPr>
        <p:spPr>
          <a:xfrm>
            <a:off x="581543" y="1913206"/>
            <a:ext cx="5343007" cy="460959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keras.Sequential</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[1], </a:t>
            </a:r>
          </a:p>
          <a:p>
            <a:pPr>
              <a:lnSpc>
                <a:spcPts val="1575"/>
              </a:lnSpc>
              <a:buNone/>
            </a:pPr>
            <a:r>
              <a:rPr lang="en-US" altLang="ko-KR" sz="1600" dirty="0">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[2])),</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filters=32,</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(rate=0.2),</a:t>
            </a: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filters=16,</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4D587B2E-C0D6-A7A1-9B0C-FF100E202028}"/>
              </a:ext>
            </a:extLst>
          </p:cNvPr>
          <p:cNvSpPr txBox="1"/>
          <p:nvPr/>
        </p:nvSpPr>
        <p:spPr>
          <a:xfrm>
            <a:off x="6239394" y="1916412"/>
            <a:ext cx="5371063" cy="4609595"/>
          </a:xfrm>
          <a:prstGeom prst="rect">
            <a:avLst/>
          </a:prstGeom>
          <a:solidFill>
            <a:srgbClr val="76E3FF"/>
          </a:solidFill>
        </p:spPr>
        <p:txBody>
          <a:bodyPr wrap="square">
            <a:spAutoFit/>
          </a:bodyPr>
          <a:lstStyle/>
          <a:p>
            <a:pPr>
              <a:lnSpc>
                <a:spcPts val="1575"/>
              </a:lnSpc>
            </a:pPr>
            <a:r>
              <a:rPr lang="en-US" altLang="ko-KR" sz="1600" dirty="0">
                <a:latin typeface="D2Coding" panose="020B0609020101020101" pitchFamily="49" charset="-127"/>
                <a:ea typeface="D2Coding" panose="020B0609020101020101" pitchFamily="49" charset="-127"/>
              </a:rPr>
              <a:t>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filters=16,</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layers.Dropout</a:t>
            </a:r>
            <a:r>
              <a:rPr lang="en-US" altLang="ko-KR" sz="1600" dirty="0">
                <a:latin typeface="D2Coding" panose="020B0609020101020101" pitchFamily="49" charset="-127"/>
                <a:ea typeface="D2Coding" panose="020B0609020101020101" pitchFamily="49" charset="-127"/>
              </a:rPr>
              <a:t>(rate=0.2),</a:t>
            </a:r>
          </a:p>
          <a:p>
            <a:pPr>
              <a:lnSpc>
                <a:spcPts val="1575"/>
              </a:lnSpc>
            </a:pPr>
            <a:r>
              <a:rPr lang="en-US" altLang="ko-KR" sz="1600" dirty="0">
                <a:latin typeface="D2Coding" panose="020B0609020101020101" pitchFamily="49" charset="-127"/>
                <a:ea typeface="D2Coding" panose="020B0609020101020101" pitchFamily="49" charset="-127"/>
              </a:rPr>
              <a:t>        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filters=32,</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layers.Conv1DTranspose(filters=1, </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 </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D37E28F6-6F3B-6339-FB54-A19DE95E7877}"/>
              </a:ext>
            </a:extLst>
          </p:cNvPr>
          <p:cNvSpPr txBox="1"/>
          <p:nvPr/>
        </p:nvSpPr>
        <p:spPr>
          <a:xfrm>
            <a:off x="581544" y="1539508"/>
            <a:ext cx="5343006"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Encoder</a:t>
            </a:r>
            <a:endParaRPr lang="ko-KR" altLang="en-US" dirty="0">
              <a:solidFill>
                <a:schemeClr val="bg1"/>
              </a:solidFill>
            </a:endParaRPr>
          </a:p>
        </p:txBody>
      </p:sp>
      <p:sp>
        <p:nvSpPr>
          <p:cNvPr id="11" name="TextBox 10">
            <a:extLst>
              <a:ext uri="{FF2B5EF4-FFF2-40B4-BE49-F238E27FC236}">
                <a16:creationId xmlns:a16="http://schemas.microsoft.com/office/drawing/2014/main" id="{1646B48A-D1C5-50CB-84C8-297D8286B0A5}"/>
              </a:ext>
            </a:extLst>
          </p:cNvPr>
          <p:cNvSpPr txBox="1"/>
          <p:nvPr/>
        </p:nvSpPr>
        <p:spPr>
          <a:xfrm>
            <a:off x="6239394" y="1539508"/>
            <a:ext cx="5371062"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Decoder</a:t>
            </a:r>
            <a:endParaRPr lang="ko-KR" altLang="en-US" dirty="0">
              <a:solidFill>
                <a:schemeClr val="bg1"/>
              </a:solidFill>
            </a:endParaRPr>
          </a:p>
        </p:txBody>
      </p:sp>
      <p:sp>
        <p:nvSpPr>
          <p:cNvPr id="13" name="설명선: 굽은 선(강조선) 12">
            <a:extLst>
              <a:ext uri="{FF2B5EF4-FFF2-40B4-BE49-F238E27FC236}">
                <a16:creationId xmlns:a16="http://schemas.microsoft.com/office/drawing/2014/main" id="{308A29D8-42FB-A163-C36A-816498E63113}"/>
              </a:ext>
            </a:extLst>
          </p:cNvPr>
          <p:cNvSpPr/>
          <p:nvPr/>
        </p:nvSpPr>
        <p:spPr>
          <a:xfrm>
            <a:off x="4476189" y="4901536"/>
            <a:ext cx="1448362" cy="1365914"/>
          </a:xfrm>
          <a:prstGeom prst="accentCallout2">
            <a:avLst>
              <a:gd name="adj1" fmla="val 18750"/>
              <a:gd name="adj2" fmla="val -8333"/>
              <a:gd name="adj3" fmla="val 18750"/>
              <a:gd name="adj4" fmla="val -16667"/>
              <a:gd name="adj5" fmla="val 35915"/>
              <a:gd name="adj6" fmla="val -56125"/>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solidFill>
                  <a:schemeClr val="bg1"/>
                </a:solidFill>
                <a:latin typeface="D2Coding" panose="020B0609020101020101" pitchFamily="49" charset="-127"/>
                <a:ea typeface="D2Coding" panose="020B0609020101020101" pitchFamily="49" charset="-127"/>
              </a:rPr>
              <a:t>latent space</a:t>
            </a:r>
            <a:r>
              <a:rPr lang="ko-KR" altLang="en-US" sz="1200" dirty="0">
                <a:solidFill>
                  <a:schemeClr val="bg1"/>
                </a:solidFill>
                <a:latin typeface="D2Coding" panose="020B0609020101020101" pitchFamily="49" charset="-127"/>
                <a:ea typeface="D2Coding" panose="020B0609020101020101" pitchFamily="49" charset="-127"/>
              </a:rPr>
              <a:t>는 </a:t>
            </a:r>
            <a:r>
              <a:rPr lang="ko-KR" altLang="en-US" sz="1200" b="1" dirty="0">
                <a:solidFill>
                  <a:schemeClr val="bg1"/>
                </a:solidFill>
                <a:latin typeface="D2Coding" panose="020B0609020101020101" pitchFamily="49" charset="-127"/>
                <a:ea typeface="D2Coding" panose="020B0609020101020101" pitchFamily="49" charset="-127"/>
              </a:rPr>
              <a:t>하나의 벡터가 아니라</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길이 </a:t>
            </a:r>
            <a:r>
              <a:rPr lang="en-US" altLang="ko-KR" sz="1200" b="1" dirty="0">
                <a:solidFill>
                  <a:schemeClr val="bg1"/>
                </a:solidFill>
                <a:latin typeface="D2Coding" panose="020B0609020101020101" pitchFamily="49" charset="-127"/>
                <a:ea typeface="D2Coding" panose="020B0609020101020101" pitchFamily="49" charset="-127"/>
              </a:rPr>
              <a:t>72</a:t>
            </a:r>
            <a:r>
              <a:rPr lang="ko-KR" altLang="en-US" sz="1200" b="1" dirty="0">
                <a:solidFill>
                  <a:schemeClr val="bg1"/>
                </a:solidFill>
                <a:latin typeface="D2Coding" panose="020B0609020101020101" pitchFamily="49" charset="-127"/>
                <a:ea typeface="D2Coding" panose="020B0609020101020101" pitchFamily="49" charset="-127"/>
              </a:rPr>
              <a:t>에 채널이 </a:t>
            </a:r>
            <a:r>
              <a:rPr lang="en-US" altLang="ko-KR" sz="1200" b="1" dirty="0">
                <a:solidFill>
                  <a:schemeClr val="bg1"/>
                </a:solidFill>
                <a:latin typeface="D2Coding" panose="020B0609020101020101" pitchFamily="49" charset="-127"/>
                <a:ea typeface="D2Coding" panose="020B0609020101020101" pitchFamily="49" charset="-127"/>
              </a:rPr>
              <a:t>16</a:t>
            </a:r>
            <a:r>
              <a:rPr lang="ko-KR" altLang="en-US" sz="1200" b="1" dirty="0">
                <a:solidFill>
                  <a:schemeClr val="bg1"/>
                </a:solidFill>
                <a:latin typeface="D2Coding" panose="020B0609020101020101" pitchFamily="49" charset="-127"/>
                <a:ea typeface="D2Coding" panose="020B0609020101020101" pitchFamily="49" charset="-127"/>
              </a:rPr>
              <a:t>개인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압축된 시계열</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4" name="설명선: 굽은 선(강조선) 13">
            <a:extLst>
              <a:ext uri="{FF2B5EF4-FFF2-40B4-BE49-F238E27FC236}">
                <a16:creationId xmlns:a16="http://schemas.microsoft.com/office/drawing/2014/main" id="{ED45ED6C-1852-7EF6-E8A7-1274E84A36E2}"/>
              </a:ext>
            </a:extLst>
          </p:cNvPr>
          <p:cNvSpPr/>
          <p:nvPr/>
        </p:nvSpPr>
        <p:spPr>
          <a:xfrm>
            <a:off x="10581476" y="4568161"/>
            <a:ext cx="1448362" cy="762000"/>
          </a:xfrm>
          <a:prstGeom prst="accentCallout2">
            <a:avLst>
              <a:gd name="adj1" fmla="val 18750"/>
              <a:gd name="adj2" fmla="val -8333"/>
              <a:gd name="adj3" fmla="val 18750"/>
              <a:gd name="adj4" fmla="val -16667"/>
              <a:gd name="adj5" fmla="val 98716"/>
              <a:gd name="adj6" fmla="val -59413"/>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solidFill>
                <a:latin typeface="D2Coding" panose="020B0609020101020101" pitchFamily="49" charset="-127"/>
                <a:ea typeface="D2Coding" panose="020B0609020101020101" pitchFamily="49" charset="-127"/>
              </a:rPr>
              <a:t>출력층은 입력층과 </a:t>
            </a:r>
            <a:r>
              <a:rPr lang="en-US" altLang="ko-KR" sz="1200" dirty="0">
                <a:solidFill>
                  <a:schemeClr val="bg1"/>
                </a:solidFill>
                <a:latin typeface="D2Coding" panose="020B0609020101020101" pitchFamily="49" charset="-127"/>
                <a:ea typeface="D2Coding" panose="020B0609020101020101" pitchFamily="49" charset="-127"/>
              </a:rPr>
              <a:t>Shape</a:t>
            </a:r>
            <a:r>
              <a:rPr lang="ko-KR" altLang="en-US" sz="1200" dirty="0">
                <a:solidFill>
                  <a:schemeClr val="bg1"/>
                </a:solidFill>
                <a:latin typeface="D2Coding" panose="020B0609020101020101" pitchFamily="49" charset="-127"/>
                <a:ea typeface="D2Coding" panose="020B0609020101020101" pitchFamily="49" charset="-127"/>
              </a:rPr>
              <a:t>을 동일하게</a:t>
            </a:r>
          </a:p>
        </p:txBody>
      </p:sp>
    </p:spTree>
    <p:extLst>
      <p:ext uri="{BB962C8B-B14F-4D97-AF65-F5344CB8AC3E}">
        <p14:creationId xmlns:p14="http://schemas.microsoft.com/office/powerpoint/2010/main" val="10374879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6D88-C1CA-BF53-8737-A03D3545408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66EA9ED-3BE8-3158-F384-BE6C03C3AF9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AE Architecture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680B2082-522F-4E2E-7475-A7CFF4C0970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848457" y="334022"/>
            <a:ext cx="914400" cy="914400"/>
          </a:xfrm>
          <a:prstGeom prst="rect">
            <a:avLst/>
          </a:prstGeom>
        </p:spPr>
      </p:pic>
      <p:sp>
        <p:nvSpPr>
          <p:cNvPr id="9" name="TextBox 8">
            <a:extLst>
              <a:ext uri="{FF2B5EF4-FFF2-40B4-BE49-F238E27FC236}">
                <a16:creationId xmlns:a16="http://schemas.microsoft.com/office/drawing/2014/main" id="{9A00F8E4-F30B-7862-BFA9-DF406D1B76F9}"/>
              </a:ext>
            </a:extLst>
          </p:cNvPr>
          <p:cNvSpPr txBox="1"/>
          <p:nvPr/>
        </p:nvSpPr>
        <p:spPr>
          <a:xfrm>
            <a:off x="581024" y="1221695"/>
            <a:ext cx="11306175" cy="793166"/>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정상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a:t>
            </a:r>
            <a:r>
              <a:rPr lang="en-US" altLang="ko-KR" sz="1600" dirty="0">
                <a:latin typeface="D2Coding" panose="020B0609020101020101" pitchFamily="49" charset="-127"/>
                <a:ea typeface="D2Coding" panose="020B0609020101020101" pitchFamily="49" charset="-127"/>
              </a:rPr>
              <a:t>(art_daily_small_noise.csv)</a:t>
            </a:r>
            <a:r>
              <a:rPr lang="ko-KR" altLang="en-US" sz="1600" dirty="0">
                <a:latin typeface="D2Coding" panose="020B0609020101020101" pitchFamily="49" charset="-127"/>
                <a:ea typeface="D2Coding" panose="020B0609020101020101" pitchFamily="49" charset="-127"/>
              </a:rPr>
              <a:t>로 학습하여 </a:t>
            </a:r>
            <a:r>
              <a:rPr lang="en-US" altLang="ko-KR" sz="1600" dirty="0">
                <a:latin typeface="D2Coding" panose="020B0609020101020101" pitchFamily="49" charset="-127"/>
                <a:ea typeface="D2Coding" panose="020B0609020101020101" pitchFamily="49" charset="-127"/>
              </a:rPr>
              <a:t>VAE</a:t>
            </a:r>
            <a:r>
              <a:rPr lang="ko-KR" altLang="en-US" sz="1600" dirty="0">
                <a:latin typeface="D2Coding" panose="020B0609020101020101" pitchFamily="49" charset="-127"/>
                <a:ea typeface="D2Coding" panose="020B0609020101020101" pitchFamily="49" charset="-127"/>
              </a:rPr>
              <a:t> 모델을 생성한 후 비정상이 포함된 검증데이터 </a:t>
            </a:r>
            <a:r>
              <a:rPr lang="en-US" altLang="ko-KR" sz="1600" dirty="0">
                <a:latin typeface="D2Coding" panose="020B0609020101020101" pitchFamily="49" charset="-127"/>
                <a:ea typeface="D2Coding" panose="020B0609020101020101" pitchFamily="49" charset="-127"/>
              </a:rPr>
              <a:t>(art_daily_jumpsup.csv)</a:t>
            </a:r>
            <a:r>
              <a:rPr lang="ko-KR" altLang="en-US" sz="1600" dirty="0">
                <a:latin typeface="D2Coding" panose="020B0609020101020101" pitchFamily="49" charset="-127"/>
                <a:ea typeface="D2Coding" panose="020B0609020101020101" pitchFamily="49" charset="-127"/>
              </a:rPr>
              <a:t>로</a:t>
            </a:r>
            <a:r>
              <a:rPr lang="en-US" altLang="ko-KR" sz="1600" dirty="0">
                <a:latin typeface="D2Coding" panose="020B0609020101020101" pitchFamily="49" charset="-127"/>
                <a:ea typeface="D2Coding" panose="020B0609020101020101" pitchFamily="49" charset="-127"/>
              </a:rPr>
              <a:t> anomaly detection</a:t>
            </a:r>
            <a:r>
              <a:rPr lang="ko-KR" altLang="en-US"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p:txBody>
      </p:sp>
      <p:pic>
        <p:nvPicPr>
          <p:cNvPr id="13" name="그림 12">
            <a:extLst>
              <a:ext uri="{FF2B5EF4-FFF2-40B4-BE49-F238E27FC236}">
                <a16:creationId xmlns:a16="http://schemas.microsoft.com/office/drawing/2014/main" id="{E91444C0-1E52-282D-D219-BCC4181FED94}"/>
              </a:ext>
            </a:extLst>
          </p:cNvPr>
          <p:cNvPicPr>
            <a:picLocks noChangeAspect="1"/>
          </p:cNvPicPr>
          <p:nvPr/>
        </p:nvPicPr>
        <p:blipFill>
          <a:blip r:embed="rId3"/>
          <a:stretch>
            <a:fillRect/>
          </a:stretch>
        </p:blipFill>
        <p:spPr>
          <a:xfrm>
            <a:off x="1600200" y="2136095"/>
            <a:ext cx="8472488" cy="4104450"/>
          </a:xfrm>
          <a:prstGeom prst="rect">
            <a:avLst/>
          </a:prstGeom>
          <a:ln>
            <a:solidFill>
              <a:schemeClr val="tx1"/>
            </a:solidFill>
            <a:prstDash val="dashDot"/>
          </a:ln>
        </p:spPr>
      </p:pic>
      <p:sp>
        <p:nvSpPr>
          <p:cNvPr id="15" name="TextBox 14">
            <a:extLst>
              <a:ext uri="{FF2B5EF4-FFF2-40B4-BE49-F238E27FC236}">
                <a16:creationId xmlns:a16="http://schemas.microsoft.com/office/drawing/2014/main" id="{5441B9BB-08D6-63FF-9A9C-EE7278F16C75}"/>
              </a:ext>
            </a:extLst>
          </p:cNvPr>
          <p:cNvSpPr txBox="1"/>
          <p:nvPr/>
        </p:nvSpPr>
        <p:spPr>
          <a:xfrm>
            <a:off x="1600200" y="6240545"/>
            <a:ext cx="10153650" cy="340991"/>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200" dirty="0" err="1">
                <a:latin typeface="D2Coding" panose="020B0609020101020101" pitchFamily="49" charset="-127"/>
                <a:ea typeface="D2Coding" panose="020B0609020101020101" pitchFamily="49" charset="-127"/>
              </a:rPr>
              <a:t>딥러닝에서는</a:t>
            </a:r>
            <a:r>
              <a:rPr lang="ko-KR" altLang="en-US" sz="1200" dirty="0">
                <a:latin typeface="D2Coding" panose="020B0609020101020101" pitchFamily="49" charset="-127"/>
                <a:ea typeface="D2Coding" panose="020B0609020101020101" pitchFamily="49" charset="-127"/>
              </a:rPr>
              <a:t> 데이터셋이 크고 학습 시간이 오래 걸려 </a:t>
            </a:r>
            <a:r>
              <a:rPr lang="en-US" altLang="ko-KR" sz="1200" dirty="0">
                <a:latin typeface="D2Coding" panose="020B0609020101020101" pitchFamily="49" charset="-127"/>
                <a:ea typeface="D2Coding" panose="020B0609020101020101" pitchFamily="49" charset="-127"/>
              </a:rPr>
              <a:t>cross validation</a:t>
            </a:r>
            <a:r>
              <a:rPr lang="ko-KR" altLang="en-US" sz="1200" dirty="0">
                <a:latin typeface="D2Coding" panose="020B0609020101020101" pitchFamily="49" charset="-127"/>
                <a:ea typeface="D2Coding" panose="020B0609020101020101" pitchFamily="49" charset="-127"/>
              </a:rPr>
              <a:t>보다 이런 단순 </a:t>
            </a:r>
            <a:r>
              <a:rPr lang="en-US" altLang="ko-KR" sz="1200" dirty="0">
                <a:latin typeface="D2Coding" panose="020B0609020101020101" pitchFamily="49" charset="-127"/>
                <a:ea typeface="D2Coding" panose="020B0609020101020101" pitchFamily="49" charset="-127"/>
              </a:rPr>
              <a:t>hold-out validation</a:t>
            </a:r>
            <a:r>
              <a:rPr lang="ko-KR" altLang="en-US" sz="1200" dirty="0">
                <a:latin typeface="D2Coding" panose="020B0609020101020101" pitchFamily="49" charset="-127"/>
                <a:ea typeface="D2Coding" panose="020B0609020101020101" pitchFamily="49" charset="-127"/>
              </a:rPr>
              <a:t>을 더 많이 사용하는 편</a:t>
            </a:r>
          </a:p>
        </p:txBody>
      </p:sp>
      <p:sp>
        <p:nvSpPr>
          <p:cNvPr id="19" name="정육면체 18">
            <a:extLst>
              <a:ext uri="{FF2B5EF4-FFF2-40B4-BE49-F238E27FC236}">
                <a16:creationId xmlns:a16="http://schemas.microsoft.com/office/drawing/2014/main" id="{AC804EDE-1FB5-CBF1-CCB8-64A31BA24516}"/>
              </a:ext>
            </a:extLst>
          </p:cNvPr>
          <p:cNvSpPr/>
          <p:nvPr/>
        </p:nvSpPr>
        <p:spPr>
          <a:xfrm>
            <a:off x="4495800" y="2967037"/>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정육면체 20">
            <a:extLst>
              <a:ext uri="{FF2B5EF4-FFF2-40B4-BE49-F238E27FC236}">
                <a16:creationId xmlns:a16="http://schemas.microsoft.com/office/drawing/2014/main" id="{378638D7-8948-6023-18C9-92ABBB253661}"/>
              </a:ext>
            </a:extLst>
          </p:cNvPr>
          <p:cNvSpPr/>
          <p:nvPr/>
        </p:nvSpPr>
        <p:spPr>
          <a:xfrm>
            <a:off x="7715250" y="2959684"/>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정육면체 22">
            <a:extLst>
              <a:ext uri="{FF2B5EF4-FFF2-40B4-BE49-F238E27FC236}">
                <a16:creationId xmlns:a16="http://schemas.microsoft.com/office/drawing/2014/main" id="{7931667B-05C6-2529-B4FB-7F238F0D38F4}"/>
              </a:ext>
            </a:extLst>
          </p:cNvPr>
          <p:cNvSpPr/>
          <p:nvPr/>
        </p:nvSpPr>
        <p:spPr>
          <a:xfrm>
            <a:off x="3790950" y="4568073"/>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정육면체 23">
            <a:extLst>
              <a:ext uri="{FF2B5EF4-FFF2-40B4-BE49-F238E27FC236}">
                <a16:creationId xmlns:a16="http://schemas.microsoft.com/office/drawing/2014/main" id="{A669FE07-F482-7E8A-22FE-EEA5144FB6A6}"/>
              </a:ext>
            </a:extLst>
          </p:cNvPr>
          <p:cNvSpPr/>
          <p:nvPr/>
        </p:nvSpPr>
        <p:spPr>
          <a:xfrm>
            <a:off x="7715250" y="4585617"/>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6" name="그림 25">
            <a:extLst>
              <a:ext uri="{FF2B5EF4-FFF2-40B4-BE49-F238E27FC236}">
                <a16:creationId xmlns:a16="http://schemas.microsoft.com/office/drawing/2014/main" id="{EBEC9FA2-F303-ACE8-52B7-D83E2D5F5EB3}"/>
              </a:ext>
            </a:extLst>
          </p:cNvPr>
          <p:cNvPicPr>
            <a:picLocks noChangeAspect="1"/>
          </p:cNvPicPr>
          <p:nvPr/>
        </p:nvPicPr>
        <p:blipFill>
          <a:blip r:embed="rId4"/>
          <a:stretch>
            <a:fillRect/>
          </a:stretch>
        </p:blipFill>
        <p:spPr>
          <a:xfrm>
            <a:off x="742917" y="2223338"/>
            <a:ext cx="762066" cy="731583"/>
          </a:xfrm>
          <a:prstGeom prst="rect">
            <a:avLst/>
          </a:prstGeom>
        </p:spPr>
      </p:pic>
      <p:pic>
        <p:nvPicPr>
          <p:cNvPr id="28" name="그림 27">
            <a:extLst>
              <a:ext uri="{FF2B5EF4-FFF2-40B4-BE49-F238E27FC236}">
                <a16:creationId xmlns:a16="http://schemas.microsoft.com/office/drawing/2014/main" id="{9A7165BC-7077-DD3B-B581-3D4C9E46D71E}"/>
              </a:ext>
            </a:extLst>
          </p:cNvPr>
          <p:cNvPicPr>
            <a:picLocks noChangeAspect="1"/>
          </p:cNvPicPr>
          <p:nvPr/>
        </p:nvPicPr>
        <p:blipFill>
          <a:blip r:embed="rId5"/>
          <a:stretch>
            <a:fillRect/>
          </a:stretch>
        </p:blipFill>
        <p:spPr>
          <a:xfrm>
            <a:off x="10222198" y="5474106"/>
            <a:ext cx="739204" cy="701101"/>
          </a:xfrm>
          <a:prstGeom prst="rect">
            <a:avLst/>
          </a:prstGeom>
        </p:spPr>
      </p:pic>
    </p:spTree>
    <p:extLst>
      <p:ext uri="{BB962C8B-B14F-4D97-AF65-F5344CB8AC3E}">
        <p14:creationId xmlns:p14="http://schemas.microsoft.com/office/powerpoint/2010/main" val="114916392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ECE87-9257-2EED-1CDA-6480E78567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53E320D-289B-E17E-45A7-54F6084F4B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0231E0B4-E138-7B27-AEBB-EA43C8FAC2D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848457" y="334022"/>
            <a:ext cx="914400" cy="914400"/>
          </a:xfrm>
          <a:prstGeom prst="rect">
            <a:avLst/>
          </a:prstGeom>
        </p:spPr>
      </p:pic>
      <p:pic>
        <p:nvPicPr>
          <p:cNvPr id="1026" name="Picture 2">
            <a:extLst>
              <a:ext uri="{FF2B5EF4-FFF2-40B4-BE49-F238E27FC236}">
                <a16:creationId xmlns:a16="http://schemas.microsoft.com/office/drawing/2014/main" id="{04919DB8-1339-CA54-4BDD-88FE727E0F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6112" y="2987810"/>
            <a:ext cx="4263374" cy="32255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F84FAF4-A80E-B4AB-E15B-13298B3F2D8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53177" y="2982038"/>
            <a:ext cx="4360439" cy="32628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742A78F-426F-10FC-E766-D9BDD5DF4644}"/>
              </a:ext>
            </a:extLst>
          </p:cNvPr>
          <p:cNvSpPr txBox="1"/>
          <p:nvPr/>
        </p:nvSpPr>
        <p:spPr>
          <a:xfrm>
            <a:off x="609435" y="1356112"/>
            <a:ext cx="5229389" cy="1333507"/>
          </a:xfrm>
          <a:prstGeom prst="rect">
            <a:avLst/>
          </a:prstGeom>
          <a:solidFill>
            <a:srgbClr val="76E3FF"/>
          </a:solidFill>
        </p:spPr>
        <p:txBody>
          <a:bodyPr wrap="square">
            <a:spAutoFit/>
          </a:bodyPr>
          <a:lstStyle/>
          <a:p>
            <a:pPr>
              <a:lnSpc>
                <a:spcPts val="1575"/>
              </a:lnSpc>
              <a:buNone/>
            </a:pPr>
            <a:r>
              <a:rPr lang="en-US" altLang="ko-KR" sz="1200" b="0" dirty="0">
                <a:effectLst/>
                <a:latin typeface="D2Coding" panose="020B0609020101020101" pitchFamily="49" charset="-127"/>
                <a:ea typeface="D2Coding" panose="020B0609020101020101" pitchFamily="49" charset="-127"/>
              </a:rPr>
              <a:t># Get train MAE loss.</a:t>
            </a:r>
          </a:p>
          <a:p>
            <a:pPr>
              <a:lnSpc>
                <a:spcPts val="1575"/>
              </a:lnSpc>
              <a:buNone/>
            </a:pP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model.predict</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a:t>
            </a:r>
          </a:p>
          <a:p>
            <a:pPr>
              <a:lnSpc>
                <a:spcPts val="1575"/>
              </a:lnSpc>
              <a:buNone/>
            </a:pP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np.mean</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np.abs</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 axis=1)</a:t>
            </a:r>
            <a:br>
              <a:rPr lang="en-US" altLang="ko-KR" sz="1200" b="0" dirty="0">
                <a:effectLst/>
                <a:latin typeface="D2Coding" panose="020B0609020101020101" pitchFamily="49" charset="-127"/>
                <a:ea typeface="D2Coding" panose="020B0609020101020101" pitchFamily="49" charset="-127"/>
              </a:rPr>
            </a:br>
            <a:endParaRPr lang="en-US" altLang="ko-KR" sz="1200" b="0" dirty="0">
              <a:effectLst/>
              <a:latin typeface="D2Coding" panose="020B0609020101020101" pitchFamily="49" charset="-127"/>
              <a:ea typeface="D2Coding" panose="020B0609020101020101" pitchFamily="49" charset="-127"/>
            </a:endParaRPr>
          </a:p>
          <a:p>
            <a:pPr>
              <a:lnSpc>
                <a:spcPts val="1575"/>
              </a:lnSpc>
              <a:buNone/>
            </a:pPr>
            <a:r>
              <a:rPr lang="en-US" altLang="ko-KR" sz="1200" b="0" dirty="0">
                <a:effectLst/>
                <a:latin typeface="D2Coding" panose="020B0609020101020101" pitchFamily="49" charset="-127"/>
                <a:ea typeface="D2Coding" panose="020B0609020101020101" pitchFamily="49" charset="-127"/>
              </a:rPr>
              <a:t># Get reconstruction loss threshold.</a:t>
            </a:r>
          </a:p>
          <a:p>
            <a:pPr>
              <a:lnSpc>
                <a:spcPts val="1575"/>
              </a:lnSpc>
              <a:buNone/>
            </a:pPr>
            <a:r>
              <a:rPr lang="en-US" altLang="ko-KR" sz="1200" b="0" dirty="0">
                <a:effectLst/>
                <a:latin typeface="D2Coding" panose="020B0609020101020101" pitchFamily="49" charset="-127"/>
                <a:ea typeface="D2Coding" panose="020B0609020101020101" pitchFamily="49" charset="-127"/>
              </a:rPr>
              <a:t>threshold = </a:t>
            </a:r>
            <a:r>
              <a:rPr lang="en-US" altLang="ko-KR" sz="1200" b="0" dirty="0" err="1">
                <a:effectLst/>
                <a:latin typeface="D2Coding" panose="020B0609020101020101" pitchFamily="49" charset="-127"/>
                <a:ea typeface="D2Coding" panose="020B0609020101020101" pitchFamily="49" charset="-127"/>
              </a:rPr>
              <a:t>np.max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a:t>
            </a:r>
          </a:p>
        </p:txBody>
      </p:sp>
      <p:sp>
        <p:nvSpPr>
          <p:cNvPr id="8" name="TextBox 7">
            <a:extLst>
              <a:ext uri="{FF2B5EF4-FFF2-40B4-BE49-F238E27FC236}">
                <a16:creationId xmlns:a16="http://schemas.microsoft.com/office/drawing/2014/main" id="{9DADC89C-DB58-1B49-0480-50765D5E3E62}"/>
              </a:ext>
            </a:extLst>
          </p:cNvPr>
          <p:cNvSpPr txBox="1"/>
          <p:nvPr/>
        </p:nvSpPr>
        <p:spPr>
          <a:xfrm>
            <a:off x="6353177" y="1356112"/>
            <a:ext cx="5353050" cy="1518236"/>
          </a:xfrm>
          <a:prstGeom prst="rect">
            <a:avLst/>
          </a:prstGeom>
          <a:solidFill>
            <a:srgbClr val="76E3FF"/>
          </a:solidFill>
        </p:spPr>
        <p:txBody>
          <a:bodyPr wrap="square">
            <a:spAutoFit/>
          </a:bodyPr>
          <a:lstStyle/>
          <a:p>
            <a:pPr>
              <a:lnSpc>
                <a:spcPts val="1575"/>
              </a:lnSpc>
            </a:pPr>
            <a:r>
              <a:rPr lang="en-US" altLang="ko-KR" sz="1200" dirty="0">
                <a:latin typeface="D2Coding" panose="020B0609020101020101" pitchFamily="49" charset="-127"/>
                <a:ea typeface="D2Coding" panose="020B0609020101020101" pitchFamily="49" charset="-127"/>
              </a:rPr>
              <a:t># Get test MAE loss.</a:t>
            </a:r>
          </a:p>
          <a:p>
            <a:pPr>
              <a:lnSpc>
                <a:spcPts val="1575"/>
              </a:lnSpc>
            </a:pP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model.predict</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np.mean</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np.abs</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 axis=1)</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test_mae_loss.reshape</a:t>
            </a:r>
            <a:r>
              <a:rPr lang="en-US" altLang="ko-KR" sz="1200" dirty="0">
                <a:latin typeface="D2Coding" panose="020B0609020101020101" pitchFamily="49" charset="-127"/>
                <a:ea typeface="D2Coding" panose="020B0609020101020101" pitchFamily="49" charset="-127"/>
              </a:rPr>
              <a:t>((-1))</a:t>
            </a:r>
          </a:p>
          <a:p>
            <a:pPr>
              <a:lnSpc>
                <a:spcPts val="1575"/>
              </a:lnSpc>
            </a:pPr>
            <a:endParaRPr lang="en-US" altLang="ko-KR" sz="1200" dirty="0">
              <a:latin typeface="D2Coding" panose="020B0609020101020101" pitchFamily="49" charset="-127"/>
              <a:ea typeface="D2Coding" panose="020B0609020101020101" pitchFamily="49" charset="-127"/>
            </a:endParaRPr>
          </a:p>
          <a:p>
            <a:pPr>
              <a:lnSpc>
                <a:spcPts val="1575"/>
              </a:lnSpc>
            </a:pPr>
            <a:r>
              <a:rPr lang="en-US" altLang="ko-KR" sz="1200" dirty="0">
                <a:latin typeface="D2Coding" panose="020B0609020101020101" pitchFamily="49" charset="-127"/>
                <a:ea typeface="D2Coding" panose="020B0609020101020101" pitchFamily="49" charset="-127"/>
              </a:rPr>
              <a:t># Detect all the samples which are anomalies.</a:t>
            </a:r>
          </a:p>
          <a:p>
            <a:pPr>
              <a:lnSpc>
                <a:spcPts val="1575"/>
              </a:lnSpc>
            </a:pPr>
            <a:r>
              <a:rPr lang="en-US" altLang="ko-KR" sz="1200" dirty="0">
                <a:latin typeface="D2Coding" panose="020B0609020101020101" pitchFamily="49" charset="-127"/>
                <a:ea typeface="D2Coding" panose="020B0609020101020101" pitchFamily="49" charset="-127"/>
              </a:rPr>
              <a:t>anomalies = </a:t>
            </a: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&gt; threshold</a:t>
            </a:r>
          </a:p>
        </p:txBody>
      </p:sp>
      <p:sp>
        <p:nvSpPr>
          <p:cNvPr id="11" name="설명선: 굽은 선(강조선) 10">
            <a:extLst>
              <a:ext uri="{FF2B5EF4-FFF2-40B4-BE49-F238E27FC236}">
                <a16:creationId xmlns:a16="http://schemas.microsoft.com/office/drawing/2014/main" id="{CCB59811-CA04-C8B0-D176-D386A25CBC80}"/>
              </a:ext>
            </a:extLst>
          </p:cNvPr>
          <p:cNvSpPr/>
          <p:nvPr/>
        </p:nvSpPr>
        <p:spPr>
          <a:xfrm>
            <a:off x="5142658"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2" name="설명선: 굽은 선(강조선) 11">
            <a:extLst>
              <a:ext uri="{FF2B5EF4-FFF2-40B4-BE49-F238E27FC236}">
                <a16:creationId xmlns:a16="http://schemas.microsoft.com/office/drawing/2014/main" id="{171B9984-CC97-C2C6-25A5-CAFAF51820B0}"/>
              </a:ext>
            </a:extLst>
          </p:cNvPr>
          <p:cNvSpPr/>
          <p:nvPr/>
        </p:nvSpPr>
        <p:spPr>
          <a:xfrm>
            <a:off x="9029702"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073176876"/>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9241</TotalTime>
  <Words>7198</Words>
  <Application>Microsoft Office PowerPoint</Application>
  <PresentationFormat>와이드스크린</PresentationFormat>
  <Paragraphs>835</Paragraphs>
  <Slides>72</Slides>
  <Notes>5</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72</vt:i4>
      </vt:variant>
    </vt:vector>
  </HeadingPairs>
  <TitlesOfParts>
    <vt:vector size="84" baseType="lpstr">
      <vt:lpstr>D2Coding</vt:lpstr>
      <vt:lpstr>맑은 고딕</vt:lpstr>
      <vt:lpstr>바탕</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Timeseries Forecasting</vt:lpstr>
      <vt:lpstr>PowerPoint 프레젠테이션</vt:lpstr>
      <vt:lpstr>CNN for Timeseries Data</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Anomaly Detection with AE, VAE</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조상구</cp:lastModifiedBy>
  <cp:revision>143</cp:revision>
  <dcterms:created xsi:type="dcterms:W3CDTF">2026-04-06T01:00:39Z</dcterms:created>
  <dcterms:modified xsi:type="dcterms:W3CDTF">2026-10-06T05:37:17Z</dcterms:modified>
  <cp:version/>
</cp:coreProperties>
</file>