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1"/>
  </p:notesMasterIdLst>
  <p:handoutMasterIdLst>
    <p:handoutMasterId r:id="rId72"/>
  </p:handoutMasterIdLst>
  <p:sldIdLst>
    <p:sldId id="256" r:id="rId2"/>
    <p:sldId id="1155" r:id="rId3"/>
    <p:sldId id="1393" r:id="rId4"/>
    <p:sldId id="1394" r:id="rId5"/>
    <p:sldId id="1122" r:id="rId6"/>
    <p:sldId id="1134" r:id="rId7"/>
    <p:sldId id="1140" r:id="rId8"/>
    <p:sldId id="1141" r:id="rId9"/>
    <p:sldId id="1144" r:id="rId10"/>
    <p:sldId id="1142" r:id="rId11"/>
    <p:sldId id="1143" r:id="rId12"/>
    <p:sldId id="1169" r:id="rId13"/>
    <p:sldId id="1157" r:id="rId14"/>
    <p:sldId id="1146" r:id="rId15"/>
    <p:sldId id="1148" r:id="rId16"/>
    <p:sldId id="1222" r:id="rId17"/>
    <p:sldId id="1223" r:id="rId18"/>
    <p:sldId id="1224" r:id="rId19"/>
    <p:sldId id="1145" r:id="rId20"/>
    <p:sldId id="1225" r:id="rId21"/>
    <p:sldId id="1226" r:id="rId22"/>
    <p:sldId id="1158" r:id="rId23"/>
    <p:sldId id="1150" r:id="rId24"/>
    <p:sldId id="1152" r:id="rId25"/>
    <p:sldId id="1149" r:id="rId26"/>
    <p:sldId id="1159" r:id="rId27"/>
    <p:sldId id="1161" r:id="rId28"/>
    <p:sldId id="1173" r:id="rId29"/>
    <p:sldId id="1174" r:id="rId30"/>
    <p:sldId id="1139" r:id="rId31"/>
    <p:sldId id="1172" r:id="rId32"/>
    <p:sldId id="1133" r:id="rId33"/>
    <p:sldId id="1163" r:id="rId34"/>
    <p:sldId id="1164" r:id="rId35"/>
    <p:sldId id="1165" r:id="rId36"/>
    <p:sldId id="1166" r:id="rId37"/>
    <p:sldId id="1121" r:id="rId38"/>
    <p:sldId id="1168" r:id="rId39"/>
    <p:sldId id="1135" r:id="rId40"/>
    <p:sldId id="1167" r:id="rId41"/>
    <p:sldId id="1160" r:id="rId42"/>
    <p:sldId id="1175" r:id="rId43"/>
    <p:sldId id="1132" r:id="rId44"/>
    <p:sldId id="1170" r:id="rId45"/>
    <p:sldId id="1171" r:id="rId46"/>
    <p:sldId id="1125" r:id="rId47"/>
    <p:sldId id="1127" r:id="rId48"/>
    <p:sldId id="1128" r:id="rId49"/>
    <p:sldId id="1123" r:id="rId50"/>
    <p:sldId id="1130" r:id="rId51"/>
    <p:sldId id="1131" r:id="rId52"/>
    <p:sldId id="1137" r:id="rId53"/>
    <p:sldId id="1138" r:id="rId54"/>
    <p:sldId id="1129" r:id="rId55"/>
    <p:sldId id="1392" r:id="rId56"/>
    <p:sldId id="1162" r:id="rId57"/>
    <p:sldId id="1217" r:id="rId58"/>
    <p:sldId id="1220" r:id="rId59"/>
    <p:sldId id="1221" r:id="rId60"/>
    <p:sldId id="1218" r:id="rId61"/>
    <p:sldId id="1219" r:id="rId62"/>
    <p:sldId id="1153" r:id="rId63"/>
    <p:sldId id="1151" r:id="rId64"/>
    <p:sldId id="1154" r:id="rId65"/>
    <p:sldId id="1391" r:id="rId66"/>
    <p:sldId id="1381" r:id="rId67"/>
    <p:sldId id="1378" r:id="rId68"/>
    <p:sldId id="1380" r:id="rId69"/>
    <p:sldId id="1379" r:id="rId70"/>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393"/>
            <p14:sldId id="1394"/>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2026-10-04</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2026-10-04</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47</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55</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57</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65</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2026-10-04</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10/4/2026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2026-10-04</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cestor9/2026_Fall_Deep-Learning-with-Python/blob/main/scripts/Perceptron_1957_to_AlexNet_2012.ipynb" TargetMode="External"/><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6.png"/><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8.svg"/><Relationship Id="rId2" Type="http://schemas.openxmlformats.org/officeDocument/2006/relationships/image" Target="../media/image9.png"/><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8.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xml"/><Relationship Id="rId4" Type="http://schemas.openxmlformats.org/officeDocument/2006/relationships/image" Target="../media/image72.svg"/></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78.png"/><Relationship Id="rId4" Type="http://schemas.microsoft.com/office/2007/relationships/hdphoto" Target="../media/hdphoto2.wdp"/></Relationships>
</file>

<file path=ppt/slides/_rels/slide47.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9.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8.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9.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4.jpeg"/><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5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7.png"/><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png"/></Relationships>
</file>

<file path=ppt/slides/_rels/slide5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8.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91.svg"/><Relationship Id="rId4" Type="http://schemas.openxmlformats.org/officeDocument/2006/relationships/image" Target="../media/image90.png"/></Relationships>
</file>

<file path=ppt/slides/_rels/slide67.xml.rels><?xml version="1.0" encoding="UTF-8" standalone="yes"?>
<Relationships xmlns="http://schemas.openxmlformats.org/package/2006/relationships"><Relationship Id="rId3" Type="http://schemas.openxmlformats.org/officeDocument/2006/relationships/image" Target="../media/image91.svg"/><Relationship Id="rId2" Type="http://schemas.openxmlformats.org/officeDocument/2006/relationships/image" Target="../media/image90.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91.svg"/><Relationship Id="rId2" Type="http://schemas.openxmlformats.org/officeDocument/2006/relationships/image" Target="../media/image90.png"/><Relationship Id="rId1" Type="http://schemas.openxmlformats.org/officeDocument/2006/relationships/slideLayout" Target="../slideLayouts/slideLayout4.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69.xml.rels><?xml version="1.0" encoding="UTF-8" standalone="yes"?>
<Relationships xmlns="http://schemas.openxmlformats.org/package/2006/relationships"><Relationship Id="rId3" Type="http://schemas.openxmlformats.org/officeDocument/2006/relationships/image" Target="../media/image91.svg"/><Relationship Id="rId2" Type="http://schemas.openxmlformats.org/officeDocument/2006/relationships/image" Target="../media/image90.png"/><Relationship Id="rId1" Type="http://schemas.openxmlformats.org/officeDocument/2006/relationships/slideLayout" Target="../slideLayouts/slideLayout4.xml"/><Relationship Id="rId5" Type="http://schemas.openxmlformats.org/officeDocument/2006/relationships/image" Target="../media/image96.png"/><Relationship Id="rId4" Type="http://schemas.openxmlformats.org/officeDocument/2006/relationships/image" Target="../media/image9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DB0AA873-E7D7-B4EA-4E0B-B8C26182E3ED}"/>
              </a:ext>
            </a:extLst>
          </p:cNvPr>
          <p:cNvPicPr>
            <a:picLocks noChangeAspect="1"/>
          </p:cNvPicPr>
          <p:nvPr/>
        </p:nvPicPr>
        <p:blipFill>
          <a:blip r:embed="rId2"/>
          <a:stretch>
            <a:fillRect/>
          </a:stretch>
        </p:blipFill>
        <p:spPr>
          <a:xfrm>
            <a:off x="624146" y="1367879"/>
            <a:ext cx="10829407" cy="5059928"/>
          </a:xfrm>
          <a:prstGeom prst="rect">
            <a:avLst/>
          </a:prstGeom>
        </p:spPr>
      </p:pic>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0" name="TextBox 9">
            <a:extLst>
              <a:ext uri="{FF2B5EF4-FFF2-40B4-BE49-F238E27FC236}">
                <a16:creationId xmlns:a16="http://schemas.microsoft.com/office/drawing/2014/main" id="{7107B6D7-BA6F-BCDC-8980-1D081CD9A249}"/>
              </a:ext>
            </a:extLst>
          </p:cNvPr>
          <p:cNvSpPr txBox="1"/>
          <p:nvPr/>
        </p:nvSpPr>
        <p:spPr>
          <a:xfrm>
            <a:off x="552450" y="1377404"/>
            <a:ext cx="11087100" cy="369332"/>
          </a:xfrm>
          <a:prstGeom prst="rect">
            <a:avLst/>
          </a:prstGeom>
          <a:noFill/>
        </p:spPr>
        <p:txBody>
          <a:bodyPr wrap="square">
            <a:spAutoFit/>
          </a:bodyPr>
          <a:lstStyle/>
          <a:p>
            <a:r>
              <a:rPr lang="en-US" altLang="ko-KR" b="1" dirty="0">
                <a:latin typeface="D2Coding" panose="020B0609020101020101" pitchFamily="49" charset="-127"/>
                <a:ea typeface="D2Coding" panose="020B0609020101020101" pitchFamily="49" charset="-127"/>
                <a:hlinkClick r:id="rId3"/>
              </a:rPr>
              <a:t>Perceptron_1957_to_AlexNet_2012.ipynb</a:t>
            </a:r>
            <a:r>
              <a:rPr lang="en-US" altLang="ko-KR" b="1" dirty="0">
                <a:latin typeface="D2Coding" panose="020B0609020101020101" pitchFamily="49" charset="-127"/>
                <a:ea typeface="D2Coding" panose="020B0609020101020101" pitchFamily="49" charset="-127"/>
              </a:rPr>
              <a:t> </a:t>
            </a:r>
          </a:p>
        </p:txBody>
      </p:sp>
    </p:spTree>
    <p:extLst>
      <p:ext uri="{BB962C8B-B14F-4D97-AF65-F5344CB8AC3E}">
        <p14:creationId xmlns:p14="http://schemas.microsoft.com/office/powerpoint/2010/main" val="2309904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D739-3CD0-CCA2-9928-4AE3D14AC3C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9D7069-1FB1-2CA2-8C7A-A8267B0210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1FB0A38B-BE23-F493-D16C-1D774316A3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3EEF370-2FCC-E88C-CCF7-8647FB631C12}"/>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B8238B59-87C1-4E54-C4B2-C7D3ED424475}"/>
              </a:ext>
            </a:extLst>
          </p:cNvPr>
          <p:cNvSpPr txBox="1"/>
          <p:nvPr/>
        </p:nvSpPr>
        <p:spPr>
          <a:xfrm>
            <a:off x="5652526" y="2083028"/>
            <a:ext cx="6091799" cy="3970318"/>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딥러닝 발전</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NLP</a:t>
            </a:r>
            <a:r>
              <a:rPr lang="ko-KR" altLang="en-US" sz="1400" dirty="0">
                <a:latin typeface="D2Coding" panose="020B0609020101020101" pitchFamily="49" charset="-127"/>
                <a:ea typeface="D2Coding" panose="020B0609020101020101" pitchFamily="49" charset="-127"/>
              </a:rPr>
              <a:t>의 다양한 영역에서 성능을 크게 향상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대표적인 모델로 </a:t>
            </a: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RNN/LSTM</a:t>
            </a:r>
            <a:r>
              <a:rPr lang="ko-KR" altLang="en-US" sz="1400" dirty="0">
                <a:latin typeface="D2Coding" panose="020B0609020101020101" pitchFamily="49" charset="-127"/>
                <a:ea typeface="D2Coding" panose="020B0609020101020101" pitchFamily="49" charset="-127"/>
              </a:rPr>
              <a:t>의 한계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긴 시퀀스에서 중요한 문맥 정보</a:t>
            </a:r>
            <a:r>
              <a:rPr lang="en-US" altLang="ko-KR" sz="1400" dirty="0">
                <a:latin typeface="D2Coding" panose="020B0609020101020101" pitchFamily="49" charset="-127"/>
                <a:ea typeface="D2Coding" panose="020B0609020101020101" pitchFamily="49" charset="-127"/>
              </a:rPr>
              <a:t>(context)</a:t>
            </a:r>
            <a:r>
              <a:rPr lang="ko-KR" altLang="en-US" sz="1400" dirty="0">
                <a:latin typeface="D2Coding" panose="020B0609020101020101" pitchFamily="49" charset="-127"/>
                <a:ea typeface="D2Coding" panose="020B0609020101020101" pitchFamily="49" charset="-127"/>
              </a:rPr>
              <a:t>를 포착하기 어려움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긴 문장을 처리할수록 학습 시간이 증가</a:t>
            </a: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단어를 벡터로 표현하는 </a:t>
            </a:r>
            <a:r>
              <a:rPr lang="ko-KR" altLang="en-US" sz="1400" dirty="0" err="1">
                <a:latin typeface="D2Coding" panose="020B0609020101020101" pitchFamily="49" charset="-127"/>
                <a:ea typeface="D2Coding" panose="020B0609020101020101" pitchFamily="49" charset="-127"/>
              </a:rPr>
              <a:t>임베딩</a:t>
            </a:r>
            <a:r>
              <a:rPr lang="ko-KR" altLang="en-US" sz="14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대표적인 방법 </a:t>
            </a:r>
            <a:r>
              <a:rPr lang="en-US" altLang="ko-KR" sz="1400" dirty="0">
                <a:latin typeface="D2Coding" panose="020B0609020101020101" pitchFamily="49" charset="-127"/>
                <a:ea typeface="D2Coding" panose="020B0609020101020101" pitchFamily="49" charset="-127"/>
              </a:rPr>
              <a:t>: Word2Vec,</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GloVe</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FastText</a:t>
            </a:r>
            <a:r>
              <a:rPr lang="ko-KR" altLang="en-US" sz="1400" dirty="0">
                <a:latin typeface="D2Coding" panose="020B0609020101020101" pitchFamily="49" charset="-127"/>
                <a:ea typeface="D2Coding" panose="020B0609020101020101" pitchFamily="49" charset="-127"/>
              </a:rPr>
              <a:t> </a:t>
            </a:r>
          </a:p>
          <a:p>
            <a:pPr marL="285750"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기존 </a:t>
            </a: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한계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하나의 단어를 독립적인 벡터로 표현</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문장이나 주변 단어에 따라 달라지는 문맥적 의미</a:t>
            </a:r>
            <a:r>
              <a:rPr lang="en-US" altLang="ko-KR" sz="1400" dirty="0">
                <a:latin typeface="D2Coding" panose="020B0609020101020101" pitchFamily="49" charset="-127"/>
                <a:ea typeface="D2Coding" panose="020B0609020101020101" pitchFamily="49" charset="-127"/>
              </a:rPr>
              <a:t>(contextual meaning)</a:t>
            </a:r>
            <a:r>
              <a:rPr lang="ko-KR" altLang="en-US" sz="1400" dirty="0">
                <a:latin typeface="D2Coding" panose="020B0609020101020101" pitchFamily="49" charset="-127"/>
                <a:ea typeface="D2Coding" panose="020B0609020101020101" pitchFamily="49" charset="-127"/>
              </a:rPr>
              <a:t>를 반영하기 어려움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예</a:t>
            </a:r>
            <a:r>
              <a:rPr lang="en-US" altLang="ko-KR" sz="1400" dirty="0">
                <a:latin typeface="D2Coding" panose="020B0609020101020101" pitchFamily="49" charset="-127"/>
                <a:ea typeface="D2Coding" panose="020B0609020101020101" pitchFamily="49" charset="-127"/>
              </a:rPr>
              <a:t>: </a:t>
            </a:r>
            <a:r>
              <a:rPr lang="en-US" altLang="ko-KR" sz="1400" i="1" dirty="0">
                <a:latin typeface="D2Coding" panose="020B0609020101020101" pitchFamily="49" charset="-127"/>
                <a:ea typeface="D2Coding" panose="020B0609020101020101" pitchFamily="49" charset="-127"/>
              </a:rPr>
              <a:t>bank</a:t>
            </a:r>
            <a:r>
              <a:rPr lang="ko-KR" altLang="en-US" sz="1400" dirty="0">
                <a:latin typeface="D2Coding" panose="020B0609020101020101" pitchFamily="49" charset="-127"/>
                <a:ea typeface="D2Coding" panose="020B0609020101020101" pitchFamily="49" charset="-127"/>
              </a:rPr>
              <a:t>가 문맥에 따라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은행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또는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강둑</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을 의미하는 차이를 제대로 표현하기 어려움</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대규모 사전학습 언어모델</a:t>
            </a:r>
            <a:r>
              <a:rPr lang="en-US" altLang="ko-KR" sz="1400" dirty="0">
                <a:latin typeface="D2Coding" panose="020B0609020101020101" pitchFamily="49" charset="-127"/>
                <a:ea typeface="D2Coding" panose="020B0609020101020101" pitchFamily="49" charset="-127"/>
              </a:rPr>
              <a:t>(Pre-trained Language Model)</a:t>
            </a:r>
            <a:r>
              <a:rPr lang="ko-KR" altLang="en-US" sz="14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BERT, GPT</a:t>
            </a:r>
            <a:r>
              <a:rPr lang="ko-KR" altLang="en-US" sz="1400" dirty="0">
                <a:latin typeface="D2Coding" panose="020B0609020101020101" pitchFamily="49" charset="-127"/>
                <a:ea typeface="D2Coding" panose="020B0609020101020101" pitchFamily="49" charset="-127"/>
              </a:rPr>
              <a:t>와 같은 </a:t>
            </a:r>
            <a:r>
              <a:rPr lang="en-US" altLang="ko-KR" sz="1400" dirty="0">
                <a:latin typeface="D2Coding" panose="020B0609020101020101" pitchFamily="49" charset="-127"/>
                <a:ea typeface="D2Coding" panose="020B0609020101020101" pitchFamily="49" charset="-127"/>
              </a:rPr>
              <a:t>Transformer </a:t>
            </a:r>
            <a:r>
              <a:rPr lang="ko-KR" altLang="en-US" sz="1400" dirty="0">
                <a:latin typeface="D2Coding" panose="020B0609020101020101" pitchFamily="49" charset="-127"/>
                <a:ea typeface="D2Coding" panose="020B0609020101020101" pitchFamily="49" charset="-127"/>
              </a:rPr>
              <a:t>기반 언어모델로 발전함 </a:t>
            </a:r>
          </a:p>
        </p:txBody>
      </p:sp>
      <p:sp>
        <p:nvSpPr>
          <p:cNvPr id="10" name="TextBox 9">
            <a:extLst>
              <a:ext uri="{FF2B5EF4-FFF2-40B4-BE49-F238E27FC236}">
                <a16:creationId xmlns:a16="http://schemas.microsoft.com/office/drawing/2014/main" id="{25D98A1F-877F-18FD-5084-0F7FD34C0823}"/>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a:t>
            </a:r>
            <a:r>
              <a:rPr lang="en-US" altLang="ko-KR" sz="1600" dirty="0" err="1">
                <a:latin typeface="D2Coding" panose="020B0609020101020101" pitchFamily="49" charset="-127"/>
                <a:ea typeface="D2Coding" panose="020B0609020101020101" pitchFamily="49" charset="-127"/>
              </a:rPr>
              <a:t>Transforme</a:t>
            </a:r>
            <a:r>
              <a:rPr lang="en-US" altLang="ko-KR" sz="1600" dirty="0">
                <a:latin typeface="D2Coding" panose="020B0609020101020101" pitchFamily="49" charset="-127"/>
                <a:ea typeface="D2Coding" panose="020B0609020101020101" pitchFamily="49" charset="-127"/>
              </a:rPr>
              <a:t>/Contextual Embedding → </a:t>
            </a:r>
            <a:r>
              <a:rPr lang="ko-KR" altLang="en-US" sz="1600" dirty="0">
                <a:latin typeface="D2Coding" panose="020B0609020101020101" pitchFamily="49" charset="-127"/>
                <a:ea typeface="D2Coding" panose="020B0609020101020101" pitchFamily="49" charset="-127"/>
              </a:rPr>
              <a:t>대규모 사전학습 언어모델</a:t>
            </a:r>
            <a:endParaRPr lang="en-US" altLang="ko-KR"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45501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13</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22</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4242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26</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40</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8864</TotalTime>
  <Words>7467</Words>
  <Application>Microsoft Office PowerPoint</Application>
  <PresentationFormat>와이드스크린</PresentationFormat>
  <Paragraphs>860</Paragraphs>
  <Slides>69</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69</vt:i4>
      </vt:variant>
    </vt:vector>
  </HeadingPairs>
  <TitlesOfParts>
    <vt:vector size="81"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139</cp:revision>
  <dcterms:created xsi:type="dcterms:W3CDTF">2026-04-06T01:00:39Z</dcterms:created>
  <dcterms:modified xsi:type="dcterms:W3CDTF">2026-10-04T13:08:44Z</dcterms:modified>
  <cp:version/>
</cp:coreProperties>
</file>