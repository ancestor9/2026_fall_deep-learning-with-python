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handoutMasterIdLst>
    <p:handoutMasterId r:id="rId36"/>
  </p:handoutMasterIdLst>
  <p:sldIdLst>
    <p:sldId id="256" r:id="rId2"/>
    <p:sldId id="1122" r:id="rId3"/>
    <p:sldId id="1134" r:id="rId4"/>
    <p:sldId id="1140" r:id="rId5"/>
    <p:sldId id="1141" r:id="rId6"/>
    <p:sldId id="1144" r:id="rId7"/>
    <p:sldId id="1142" r:id="rId8"/>
    <p:sldId id="1143" r:id="rId9"/>
    <p:sldId id="1146" r:id="rId10"/>
    <p:sldId id="1148" r:id="rId11"/>
    <p:sldId id="1136" r:id="rId12"/>
    <p:sldId id="1145" r:id="rId13"/>
    <p:sldId id="1150" r:id="rId14"/>
    <p:sldId id="1152" r:id="rId15"/>
    <p:sldId id="1149" r:id="rId16"/>
    <p:sldId id="1153" r:id="rId17"/>
    <p:sldId id="1151" r:id="rId18"/>
    <p:sldId id="1154" r:id="rId19"/>
    <p:sldId id="1135" r:id="rId20"/>
    <p:sldId id="1132" r:id="rId21"/>
    <p:sldId id="1133" r:id="rId22"/>
    <p:sldId id="1125" r:id="rId23"/>
    <p:sldId id="1127" r:id="rId24"/>
    <p:sldId id="1128" r:id="rId25"/>
    <p:sldId id="1123" r:id="rId26"/>
    <p:sldId id="1130" r:id="rId27"/>
    <p:sldId id="1131" r:id="rId28"/>
    <p:sldId id="1137" r:id="rId29"/>
    <p:sldId id="1138" r:id="rId30"/>
    <p:sldId id="1129" r:id="rId31"/>
    <p:sldId id="1139" r:id="rId32"/>
    <p:sldId id="978" r:id="rId33"/>
    <p:sldId id="1121" r:id="rId34"/>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22"/>
            <p14:sldId id="1134"/>
            <p14:sldId id="1140"/>
            <p14:sldId id="1141"/>
            <p14:sldId id="1144"/>
            <p14:sldId id="1142"/>
            <p14:sldId id="1143"/>
            <p14:sldId id="1146"/>
            <p14:sldId id="1148"/>
            <p14:sldId id="1136"/>
            <p14:sldId id="1145"/>
            <p14:sldId id="1150"/>
            <p14:sldId id="1152"/>
            <p14:sldId id="1149"/>
            <p14:sldId id="1153"/>
            <p14:sldId id="1151"/>
            <p14:sldId id="1154"/>
            <p14:sldId id="1135"/>
            <p14:sldId id="1132"/>
            <p14:sldId id="1133"/>
            <p14:sldId id="1125"/>
            <p14:sldId id="1127"/>
            <p14:sldId id="1128"/>
            <p14:sldId id="1123"/>
            <p14:sldId id="1130"/>
            <p14:sldId id="1131"/>
            <p14:sldId id="1137"/>
            <p14:sldId id="1138"/>
            <p14:sldId id="1129"/>
            <p14:sldId id="1139"/>
            <p14:sldId id="978"/>
            <p14:sldId id="1121"/>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FF9B45"/>
    <a:srgbClr val="DD462F"/>
    <a:srgbClr val="D24726"/>
    <a:srgbClr val="404040"/>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5568"/>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23</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sv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7" Type="http://schemas.microsoft.com/office/2007/relationships/hdphoto" Target="../media/hdphoto2.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33.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2.wdp"/><Relationship Id="rId9" Type="http://schemas.openxmlformats.org/officeDocument/2006/relationships/image" Target="../media/image140.png"/></Relationships>
</file>

<file path=ppt/slides/_rels/slide2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34.png"/><Relationship Id="rId12" Type="http://schemas.microsoft.com/office/2007/relationships/hdphoto" Target="../media/hdphoto2.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33.png"/><Relationship Id="rId24" Type="http://schemas.openxmlformats.org/officeDocument/2006/relationships/image" Target="../media/image38.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0.png"/><Relationship Id="rId4" Type="http://schemas.microsoft.com/office/2007/relationships/hdphoto" Target="../media/hdphoto2.wdp"/></Relationships>
</file>

<file path=ppt/slides/_rels/slide26.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BB4D45B-52A1-9BAE-B34E-30DEDF59CFA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a:t>
            </a:fld>
            <a:endParaRPr lang="en-US" dirty="0"/>
          </a:p>
        </p:txBody>
      </p:sp>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5" name="TextBox 4">
            <a:extLst>
              <a:ext uri="{FF2B5EF4-FFF2-40B4-BE49-F238E27FC236}">
                <a16:creationId xmlns:a16="http://schemas.microsoft.com/office/drawing/2014/main" id="{6561AAD7-56D4-58BF-FEAE-D0D8305EA254}"/>
              </a:ext>
            </a:extLst>
          </p:cNvPr>
          <p:cNvSpPr txBox="1"/>
          <p:nvPr/>
        </p:nvSpPr>
        <p:spPr>
          <a:xfrm>
            <a:off x="658811" y="1729061"/>
            <a:ext cx="9855200" cy="968407"/>
          </a:xfrm>
          <a:prstGeom prst="rect">
            <a:avLst/>
          </a:prstGeom>
          <a:noFill/>
        </p:spPr>
        <p:txBody>
          <a:bodyPr wrap="square">
            <a:spAutoFit/>
          </a:bodyPr>
          <a:lstStyle/>
          <a:p>
            <a:pPr>
              <a:lnSpc>
                <a:spcPct val="150000"/>
              </a:lnSpc>
            </a:pPr>
            <a:r>
              <a:rPr lang="en-US" altLang="ko-KR" sz="2000" b="0" i="0" dirty="0">
                <a:solidFill>
                  <a:srgbClr val="181818"/>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20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843279" y="3178108"/>
            <a:ext cx="9010821" cy="2858154"/>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6</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0986284" cy="423834"/>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특히 </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2078436" y="2426883"/>
            <a:ext cx="7148179" cy="2004234"/>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2009775" y="4629150"/>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6C14210D-7D59-9294-DCCB-1A1C423DA97B}"/>
              </a:ext>
            </a:extLst>
          </p:cNvPr>
          <p:cNvSpPr txBox="1"/>
          <p:nvPr/>
        </p:nvSpPr>
        <p:spPr>
          <a:xfrm>
            <a:off x="2078436" y="5134960"/>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rPr>
              <a:t>(</a:t>
            </a:r>
            <a:r>
              <a:rPr lang="en-US" altLang="ko-KR" sz="1800" dirty="0" err="1">
                <a:latin typeface="D2Coding" panose="020B0609020101020101" pitchFamily="49" charset="-127"/>
                <a:ea typeface="D2Coding" panose="020B0609020101020101" pitchFamily="49" charset="-127"/>
              </a:rPr>
              <a:t>batch_size</a:t>
            </a:r>
            <a:r>
              <a:rPr lang="en-US" altLang="ko-KR" sz="1800" dirty="0">
                <a:latin typeface="D2Coding" panose="020B0609020101020101" pitchFamily="49" charset="-127"/>
                <a:ea typeface="D2Coding" panose="020B0609020101020101" pitchFamily="49" charset="-127"/>
              </a:rPr>
              <a:t>, timesteps, features) =  (256, 120, 14)</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512681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67D8800B-CA56-2E83-5A7A-80A20196A54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19</a:t>
            </a:fld>
            <a:endParaRPr lang="en-US" dirty="0"/>
          </a:p>
        </p:txBody>
      </p:sp>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2C74E2C-5185-4FDF-D522-52BB3849DFCA}"/>
              </a:ext>
            </a:extLst>
          </p:cNvPr>
          <p:cNvGraphicFramePr>
            <a:graphicFrameLocks noGrp="1"/>
          </p:cNvGraphicFramePr>
          <p:nvPr>
            <p:extLst>
              <p:ext uri="{D42A27DB-BD31-4B8C-83A1-F6EECF244321}">
                <p14:modId xmlns:p14="http://schemas.microsoft.com/office/powerpoint/2010/main" val="2323456157"/>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E1682B08-CD59-3A1E-9AE1-1640A4F3ECFB}"/>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일자별로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기존</a:t>
            </a:r>
            <a:r>
              <a:rPr lang="en-US" altLang="ko-KR" dirty="0">
                <a:latin typeface="D2Coding" panose="020B0609020101020101" pitchFamily="49" charset="-127"/>
                <a:ea typeface="D2Coding" panose="020B0609020101020101" pitchFamily="49" charset="-127"/>
              </a:rPr>
              <a:t> ANN </a:t>
            </a:r>
            <a:r>
              <a:rPr lang="ko-KR" altLang="en-US" dirty="0">
                <a:latin typeface="D2Coding" panose="020B0609020101020101" pitchFamily="49" charset="-127"/>
                <a:ea typeface="D2Coding" panose="020B0609020101020101" pitchFamily="49" charset="-127"/>
              </a:rPr>
              <a:t>모델의 한계는 무엇이고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이 필요한지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토론하고 주가 예측 방식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F71D6366-ECCB-4037-D8F7-9766B35574CC}"/>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A37A5489-EAC6-4176-D325-AC523BE36B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B150B105-D9C4-E76C-1B99-300BC744F8DC}"/>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409F955C-5EBE-00F4-6BD3-25B7D293FF8A}"/>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Tree>
    <p:extLst>
      <p:ext uri="{BB962C8B-B14F-4D97-AF65-F5344CB8AC3E}">
        <p14:creationId xmlns:p14="http://schemas.microsoft.com/office/powerpoint/2010/main" val="16793172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8B379BC-6767-AD77-457E-EB53B375D37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2E670359-5BC0-FB3E-8DE8-B2B54F51B77E}"/>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en-US" altLang="ko-KR" dirty="0" err="1">
                <a:latin typeface="D2Coding" panose="020B0609020101020101" pitchFamily="49" charset="-127"/>
                <a:ea typeface="D2Coding" panose="020B0609020101020101" pitchFamily="49" charset="-127"/>
              </a:rPr>
              <a:t>Pytorch</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로 실습하기</a:t>
            </a: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890" y="21230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7600" y="21419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645" y="21932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645" y="44464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71520" y="1719231"/>
            <a:ext cx="3708400" cy="369332"/>
          </a:xfrm>
          <a:prstGeom prst="rect">
            <a:avLst/>
          </a:prstGeom>
          <a:noFill/>
        </p:spPr>
        <p:txBody>
          <a:bodyPr wrap="square">
            <a:spAutoFit/>
          </a:bodyPr>
          <a:lstStyle/>
          <a:p>
            <a:r>
              <a:rPr lang="en-US" altLang="ko-KR" dirty="0"/>
              <a:t>Multi-layer RNN, Deep RNN</a:t>
            </a:r>
            <a:endParaRPr lang="ko-KR" altLang="en-US" dirty="0"/>
          </a:p>
        </p:txBody>
      </p:sp>
      <p:sp>
        <p:nvSpPr>
          <p:cNvPr id="9" name="TextBox 8">
            <a:extLst>
              <a:ext uri="{FF2B5EF4-FFF2-40B4-BE49-F238E27FC236}">
                <a16:creationId xmlns:a16="http://schemas.microsoft.com/office/drawing/2014/main" id="{951E8203-15D6-D19A-3513-F1DC6553F9B4}"/>
              </a:ext>
            </a:extLst>
          </p:cNvPr>
          <p:cNvSpPr txBox="1"/>
          <p:nvPr/>
        </p:nvSpPr>
        <p:spPr>
          <a:xfrm>
            <a:off x="7376160" y="1738080"/>
            <a:ext cx="4114800" cy="369332"/>
          </a:xfrm>
          <a:prstGeom prst="rect">
            <a:avLst/>
          </a:prstGeom>
          <a:noFill/>
        </p:spPr>
        <p:txBody>
          <a:bodyPr wrap="square">
            <a:spAutoFit/>
          </a:bodyPr>
          <a:lstStyle/>
          <a:p>
            <a:r>
              <a:rPr lang="en-US" altLang="ko-KR" dirty="0"/>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475645" y="1738080"/>
            <a:ext cx="2319942" cy="369332"/>
          </a:xfrm>
          <a:prstGeom prst="rect">
            <a:avLst/>
          </a:prstGeom>
          <a:noFill/>
        </p:spPr>
        <p:txBody>
          <a:bodyPr wrap="square">
            <a:spAutoFit/>
          </a:bodyPr>
          <a:lstStyle/>
          <a:p>
            <a:r>
              <a:rPr lang="en-US" altLang="ko-KR" dirty="0"/>
              <a:t>Shallow RNN</a:t>
            </a:r>
            <a:endParaRPr lang="ko-KR" altLang="en-US" dirty="0"/>
          </a:p>
        </p:txBody>
      </p:sp>
    </p:spTree>
    <p:extLst>
      <p:ext uri="{BB962C8B-B14F-4D97-AF65-F5344CB8AC3E}">
        <p14:creationId xmlns:p14="http://schemas.microsoft.com/office/powerpoint/2010/main" val="491697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E344706C-F3C3-2E7B-38B5-A4331501DE6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21</a:t>
            </a:fld>
            <a:endParaRPr lang="en-US" dirty="0"/>
          </a:p>
        </p:txBody>
      </p:sp>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594536"/>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053941"/>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3777734"/>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287198"/>
            <a:ext cx="4827639" cy="369332"/>
          </a:xfrm>
          <a:prstGeom prst="rect">
            <a:avLst/>
          </a:prstGeom>
          <a:noFill/>
        </p:spPr>
        <p:txBody>
          <a:bodyPr wrap="square" rtlCol="0">
            <a:spAutoFit/>
          </a:bodyPr>
          <a:lstStyle/>
          <a:p>
            <a:r>
              <a:rPr lang="en-US" altLang="ko-KR" dirty="0"/>
              <a:t>I	am	  your		      father</a:t>
            </a:r>
            <a:endParaRPr lang="ko-KR" altLang="en-US" dirty="0"/>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666929"/>
            <a:ext cx="4827639" cy="369332"/>
          </a:xfrm>
          <a:prstGeom prst="rect">
            <a:avLst/>
          </a:prstGeom>
          <a:noFill/>
        </p:spPr>
        <p:txBody>
          <a:bodyPr wrap="square" rtlCol="0">
            <a:spAutoFit/>
          </a:bodyPr>
          <a:lstStyle/>
          <a:p>
            <a:r>
              <a:rPr lang="en-US" altLang="ko-KR" dirty="0"/>
              <a:t>t-3	t-2	  t-1		      t</a:t>
            </a:r>
            <a:endParaRPr lang="ko-KR" altLang="en-US" dirty="0"/>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Tree>
    <p:extLst>
      <p:ext uri="{BB962C8B-B14F-4D97-AF65-F5344CB8AC3E}">
        <p14:creationId xmlns:p14="http://schemas.microsoft.com/office/powerpoint/2010/main" val="17989263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CDDC161-4693-0F50-FD2C-C6BEDB68B1A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22</a:t>
            </a:fld>
            <a:endParaRPr lang="en-US" dirty="0"/>
          </a:p>
        </p:txBody>
      </p:sp>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6080FFC-FC8C-595E-7C4B-2788C99CE8D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B0BB9591-FBE7-E7AA-BC75-BCB04A807B74}"/>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24</a:t>
            </a:fld>
            <a:endParaRPr lang="en-US" dirty="0"/>
          </a:p>
        </p:txBody>
      </p:sp>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F96B781-302F-27AB-E192-CDB2AB5F32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25</a:t>
            </a:fld>
            <a:endParaRPr lang="en-US" dirty="0"/>
          </a:p>
        </p:txBody>
      </p:sp>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180074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CBC867F-634A-CA6A-7E8F-C93BE0151EF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26</a:t>
            </a:fld>
            <a:endParaRPr lang="en-US" dirty="0"/>
          </a:p>
        </p:txBody>
      </p:sp>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1710703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BE85354-CB4E-EC03-450B-ACACADCF651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27</a:t>
            </a:fld>
            <a:endParaRPr lang="en-US" dirty="0"/>
          </a:p>
        </p:txBody>
      </p:sp>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C2A6246-2F11-7E99-42F8-C724EAE1BC1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28</a:t>
            </a:fld>
            <a:endParaRPr lang="en-US" dirty="0"/>
          </a:p>
        </p:txBody>
      </p:sp>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5262979"/>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 </a:t>
            </a:r>
            <a:r>
              <a:rPr lang="en-US" altLang="ko-KR" sz="1600" dirty="0" err="1">
                <a:latin typeface="D2Coding" panose="020B0609020101020101" pitchFamily="49" charset="-127"/>
                <a:ea typeface="D2Coding" panose="020B0609020101020101" pitchFamily="49" charset="-127"/>
              </a:rPr>
              <a:t>tfimport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tf</a:t>
            </a:r>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endParaRPr lang="en-US" altLang="ko-KR" sz="1600" dirty="0">
              <a:latin typeface="D2Coding" panose="020B0609020101020101" pitchFamily="49" charset="-127"/>
              <a:ea typeface="D2Coding" panose="020B0609020101020101" pitchFamily="49" charset="-127"/>
            </a:endParaRP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1. </a:t>
            </a:r>
            <a:r>
              <a:rPr lang="ko-KR" altLang="en-US" sz="1600" dirty="0">
                <a:latin typeface="D2Coding" panose="020B0609020101020101" pitchFamily="49" charset="-127"/>
                <a:ea typeface="D2Coding" panose="020B0609020101020101" pitchFamily="49" charset="-127"/>
              </a:rPr>
              <a:t>가상 데이터 생성 </a:t>
            </a:r>
            <a:r>
              <a:rPr lang="en-US" altLang="ko-KR" sz="1600" dirty="0">
                <a:latin typeface="D2Coding" panose="020B0609020101020101" pitchFamily="49" charset="-127"/>
                <a:ea typeface="D2Coding" panose="020B0609020101020101" pitchFamily="49" charset="-127"/>
              </a:rPr>
              <a:t>(Matrix) </a:t>
            </a:r>
            <a:r>
              <a:rPr lang="ko-KR" altLang="en-US" sz="1600" dirty="0">
                <a:latin typeface="D2Coding" panose="020B0609020101020101" pitchFamily="49" charset="-127"/>
                <a:ea typeface="D2Coding" panose="020B0609020101020101" pitchFamily="49" charset="-127"/>
              </a:rPr>
              <a:t>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 </a:t>
            </a:r>
            <a:r>
              <a:rPr lang="en-US" altLang="ko-KR" sz="1600" dirty="0">
                <a:latin typeface="D2Coding" panose="020B0609020101020101" pitchFamily="49" charset="-127"/>
                <a:ea typeface="D2Coding" panose="020B0609020101020101" pitchFamily="49" charset="-127"/>
              </a:rPr>
              <a:t>(timesteps=4), </a:t>
            </a:r>
            <a:r>
              <a:rPr lang="ko-KR" altLang="en-US" sz="1600" dirty="0">
                <a:latin typeface="D2Coding" panose="020B0609020101020101" pitchFamily="49" charset="-127"/>
                <a:ea typeface="D2Coding" panose="020B0609020101020101" pitchFamily="49" charset="-127"/>
              </a:rPr>
              <a:t>각 단어는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차원 벡터 </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timesteps = 4;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 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RNN </a:t>
            </a:r>
            <a:r>
              <a:rPr lang="ko-KR" altLang="en-US" sz="1600" dirty="0">
                <a:latin typeface="D2Coding" panose="020B0609020101020101" pitchFamily="49" charset="-127"/>
                <a:ea typeface="D2Coding" panose="020B0609020101020101" pitchFamily="49" charset="-127"/>
              </a:rPr>
              <a:t>연산을 위해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배치 크기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특징 차원</a:t>
            </a:r>
            <a:r>
              <a:rPr lang="en-US" altLang="ko-KR" sz="1600" dirty="0">
                <a:latin typeface="D2Coding" panose="020B0609020101020101" pitchFamily="49" charset="-127"/>
                <a:ea typeface="D2Coding" panose="020B0609020101020101" pitchFamily="49" charset="-127"/>
              </a:rPr>
              <a:t>] -&gt; [1, 4, 4] </a:t>
            </a:r>
            <a:r>
              <a:rPr lang="ko-KR" altLang="en-US" sz="1600" dirty="0">
                <a:latin typeface="D2Coding" panose="020B0609020101020101" pitchFamily="49" charset="-127"/>
                <a:ea typeface="D2Coding" panose="020B0609020101020101" pitchFamily="49" charset="-127"/>
              </a:rPr>
              <a:t>형태로 입력 데이터 준비</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실제 환경에서는 </a:t>
            </a:r>
            <a:r>
              <a:rPr lang="en-US" altLang="ko-KR" sz="1600" dirty="0" err="1">
                <a:latin typeface="D2Coding" panose="020B0609020101020101" pitchFamily="49" charset="-127"/>
                <a:ea typeface="D2Coding" panose="020B0609020101020101" pitchFamily="49" charset="-127"/>
              </a:rPr>
              <a:t>Gensim</a:t>
            </a:r>
            <a:r>
              <a:rPr lang="en-US" altLang="ko-KR" sz="1600" dirty="0">
                <a:latin typeface="D2Coding" panose="020B0609020101020101" pitchFamily="49" charset="-127"/>
                <a:ea typeface="D2Coding" panose="020B0609020101020101" pitchFamily="49" charset="-127"/>
              </a:rPr>
              <a:t> Word2Vec </a:t>
            </a:r>
            <a:r>
              <a:rPr lang="ko-KR" altLang="en-US" sz="1600" dirty="0">
                <a:latin typeface="D2Coding" panose="020B0609020101020101" pitchFamily="49" charset="-127"/>
                <a:ea typeface="D2Coding" panose="020B0609020101020101" pitchFamily="49" charset="-127"/>
              </a:rPr>
              <a:t>결과값이 들어가는 자리</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np.random.rand</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astype</a:t>
            </a:r>
            <a:r>
              <a:rPr lang="en-US" altLang="ko-KR" sz="1600" dirty="0">
                <a:latin typeface="D2Coding" panose="020B0609020101020101" pitchFamily="49" charset="-127"/>
                <a:ea typeface="D2Coding" panose="020B0609020101020101" pitchFamily="49" charset="-127"/>
              </a:rPr>
              <a:t>(np.float32)</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2. </a:t>
            </a:r>
            <a:r>
              <a:rPr lang="ko-KR" altLang="en-US" sz="1600" dirty="0">
                <a:latin typeface="D2Coding" panose="020B0609020101020101" pitchFamily="49" charset="-127"/>
                <a:ea typeface="D2Coding" panose="020B0609020101020101" pitchFamily="49" charset="-127"/>
              </a:rPr>
              <a:t>그림 구조를 반영한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설계</a:t>
            </a:r>
          </a:p>
          <a:p>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은닉층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은닉 상태 크기 </a:t>
            </a:r>
            <a:r>
              <a:rPr lang="en-US" altLang="ko-KR" sz="1600" dirty="0">
                <a:latin typeface="D2Coding" panose="020B0609020101020101" pitchFamily="49" charset="-127"/>
                <a:ea typeface="D2Coding" panose="020B0609020101020101" pitchFamily="49" charset="-127"/>
              </a:rPr>
              <a:t>2 (</a:t>
            </a:r>
            <a:r>
              <a:rPr lang="en-US" altLang="ko-KR" sz="1600" dirty="0" err="1">
                <a:latin typeface="D2Coding" panose="020B0609020101020101" pitchFamily="49" charset="-127"/>
                <a:ea typeface="D2Coding" panose="020B0609020101020101" pitchFamily="49" charset="-127"/>
              </a:rPr>
              <a:t>hidden_size</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a:t>
            </a:r>
            <a:r>
              <a:rPr lang="en-US" altLang="ko-KR" sz="1600" dirty="0" err="1">
                <a:latin typeface="D2Coding" panose="020B0609020101020101" pitchFamily="49" charset="-127"/>
                <a:ea typeface="D2Coding" panose="020B0609020101020101" pitchFamily="49" charset="-127"/>
              </a:rPr>
              <a:t>SimpleRNN</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activation='tanh',</a:t>
            </a:r>
            <a:r>
              <a:rPr lang="ko-KR" altLang="en-US" sz="1600" dirty="0">
                <a:latin typeface="D2Coding" panose="020B0609020101020101" pitchFamily="49" charset="-127"/>
                <a:ea typeface="D2Coding" panose="020B0609020101020101" pitchFamily="49" charset="-127"/>
              </a:rPr>
              <a:t> </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time step</a:t>
            </a:r>
            <a:r>
              <a:rPr lang="ko-KR" altLang="en-US" sz="1600" dirty="0">
                <a:latin typeface="D2Coding" panose="020B0609020101020101" pitchFamily="49" charset="-127"/>
                <a:ea typeface="D2Coding" panose="020B0609020101020101" pitchFamily="49" charset="-127"/>
              </a:rPr>
              <a:t>마다 출력이 위로 </a:t>
            </a:r>
            <a:r>
              <a:rPr lang="ko-KR" altLang="en-US" sz="1600" dirty="0" err="1">
                <a:latin typeface="D2Coding" panose="020B0609020101020101" pitchFamily="49" charset="-127"/>
                <a:ea typeface="D2Coding" panose="020B0609020101020101" pitchFamily="49" charset="-127"/>
              </a:rPr>
              <a:t>뻗어나가므로</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ko-KR" altLang="en-US" sz="1600" dirty="0">
                <a:latin typeface="D2Coding" panose="020B0609020101020101" pitchFamily="49" charset="-127"/>
                <a:ea typeface="D2Coding" panose="020B0609020101020101" pitchFamily="49" charset="-127"/>
              </a:rPr>
              <a:t>설정</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name="</a:t>
            </a:r>
            <a:r>
              <a:rPr lang="en-US" altLang="ko-KR" sz="1600" dirty="0" err="1">
                <a:latin typeface="D2Coding" panose="020B0609020101020101" pitchFamily="49" charset="-127"/>
                <a:ea typeface="D2Coding" panose="020B0609020101020101" pitchFamily="49" charset="-127"/>
              </a:rPr>
              <a:t>Hidden_Layer</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keras.layers.Dense</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name="</a:t>
            </a:r>
            <a:r>
              <a:rPr lang="en-US" altLang="ko-KR" sz="1600" dirty="0" err="1">
                <a:latin typeface="D2Coding" panose="020B0609020101020101" pitchFamily="49" charset="-127"/>
                <a:ea typeface="D2Coding" panose="020B0609020101020101" pitchFamily="49" charset="-127"/>
              </a:rPr>
              <a:t>Output_Layer</a:t>
            </a:r>
            <a:r>
              <a:rPr lang="en-US" altLang="ko-KR"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타임스텝마다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담당하는 전결합층</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1538502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254C28B-4B8A-88A3-DB1F-C0B434866D6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29</a:t>
            </a:fld>
            <a:endParaRPr lang="en-US" dirty="0"/>
          </a:p>
        </p:txBody>
      </p:sp>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539430"/>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 3. </a:t>
            </a:r>
            <a:r>
              <a:rPr lang="ko-KR" altLang="en-US" sz="1600" dirty="0">
                <a:latin typeface="D2Coding" panose="020B0609020101020101" pitchFamily="49" charset="-127"/>
                <a:ea typeface="D2Coding" panose="020B0609020101020101" pitchFamily="49" charset="-127"/>
              </a:rPr>
              <a:t>모델 구조 확인 및 예측 수행</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컴파일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model.compile</a:t>
            </a:r>
            <a:r>
              <a:rPr lang="en-US" altLang="ko-KR" sz="1600" dirty="0">
                <a:latin typeface="D2Coding" panose="020B0609020101020101" pitchFamily="49" charset="-127"/>
                <a:ea typeface="D2Coding" panose="020B0609020101020101" pitchFamily="49" charset="-127"/>
              </a:rPr>
              <a:t>(loss="</a:t>
            </a:r>
            <a:r>
              <a:rPr lang="en-US" altLang="ko-KR" sz="1600" dirty="0" err="1">
                <a:latin typeface="D2Coding" panose="020B0609020101020101" pitchFamily="49" charset="-127"/>
                <a:ea typeface="D2Coding" panose="020B0609020101020101" pitchFamily="49" charset="-127"/>
              </a:rPr>
              <a:t>mse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optimizer="</a:t>
            </a:r>
            <a:r>
              <a:rPr lang="en-US" altLang="ko-KR" sz="1600" dirty="0" err="1">
                <a:latin typeface="D2Coding" panose="020B0609020101020101" pitchFamily="49" charset="-127"/>
                <a:ea typeface="D2Coding" panose="020B0609020101020101" pitchFamily="49" charset="-127"/>
              </a:rPr>
              <a:t>adam</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가중치</a:t>
            </a:r>
            <a:r>
              <a:rPr lang="en-US" altLang="ko-KR" sz="1600" dirty="0">
                <a:latin typeface="D2Coding" panose="020B0609020101020101" pitchFamily="49" charset="-127"/>
                <a:ea typeface="D2Coding" panose="020B0609020101020101" pitchFamily="49" charset="-127"/>
              </a:rPr>
              <a:t>(Param) </a:t>
            </a:r>
            <a:r>
              <a:rPr lang="ko-KR" altLang="en-US" sz="1600" dirty="0">
                <a:latin typeface="D2Coding" panose="020B0609020101020101" pitchFamily="49" charset="-127"/>
                <a:ea typeface="D2Coding" panose="020B0609020101020101" pitchFamily="49" charset="-127"/>
              </a:rPr>
              <a:t>개수가 그림과 일치하는지 요약 표 출력</a:t>
            </a:r>
          </a:p>
          <a:p>
            <a:r>
              <a:rPr lang="en-US" altLang="ko-KR" sz="1600" dirty="0" err="1">
                <a:latin typeface="D2Coding" panose="020B0609020101020101" pitchFamily="49" charset="-127"/>
                <a:ea typeface="D2Coding" panose="020B0609020101020101" pitchFamily="49" charset="-127"/>
              </a:rPr>
              <a:t>model.summary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가상 데이터를 모델에 통과시켜 </a:t>
            </a:r>
            <a:r>
              <a:rPr lang="ko-KR" altLang="en-US" sz="1600" dirty="0" err="1">
                <a:latin typeface="D2Coding" panose="020B0609020101020101" pitchFamily="49" charset="-127"/>
                <a:ea typeface="D2Coding" panose="020B0609020101020101" pitchFamily="49" charset="-127"/>
              </a:rPr>
              <a:t>출력값</a:t>
            </a:r>
            <a:r>
              <a:rPr lang="ko-KR" altLang="en-US" sz="1600" dirty="0">
                <a:latin typeface="D2Coding" panose="020B0609020101020101" pitchFamily="49" charset="-127"/>
                <a:ea typeface="D2Coding" panose="020B0609020101020101" pitchFamily="49" charset="-127"/>
              </a:rPr>
              <a:t> 확인</a:t>
            </a:r>
          </a:p>
          <a:p>
            <a:r>
              <a:rPr lang="en-US" altLang="ko-KR" sz="1600" dirty="0">
                <a:latin typeface="D2Coding" panose="020B0609020101020101" pitchFamily="49" charset="-127"/>
                <a:ea typeface="D2Coding" panose="020B0609020101020101" pitchFamily="49" charset="-127"/>
              </a:rPr>
              <a:t>output = </a:t>
            </a:r>
            <a:r>
              <a:rPr lang="en-US" altLang="ko-KR" sz="1600" dirty="0" err="1">
                <a:latin typeface="D2Coding" panose="020B0609020101020101" pitchFamily="49" charset="-127"/>
                <a:ea typeface="D2Coding" panose="020B0609020101020101" pitchFamily="49" charset="-127"/>
              </a:rPr>
              <a:t>model.predict</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최종 출력 데이터 모양 </a:t>
            </a:r>
            <a:r>
              <a:rPr lang="en-US" altLang="ko-KR" sz="1600" dirty="0">
                <a:latin typeface="D2Coding" panose="020B0609020101020101" pitchFamily="49" charset="-127"/>
                <a:ea typeface="D2Coding" panose="020B0609020101020101" pitchFamily="49" charset="-127"/>
              </a:rPr>
              <a:t>(Output Shape)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a:t>
            </a:r>
            <a:r>
              <a:rPr lang="ko-KR" altLang="en-US" sz="1600" dirty="0">
                <a:latin typeface="D2Coding" panose="020B0609020101020101" pitchFamily="49" charset="-127"/>
                <a:ea typeface="D2Coding" panose="020B0609020101020101" pitchFamily="49" charset="-127"/>
              </a:rPr>
              <a:t>결과 배열 크기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output.shape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크기</a:t>
            </a:r>
            <a:r>
              <a:rPr lang="en-US" altLang="ko-KR" sz="1600" dirty="0">
                <a:latin typeface="D2Coding" panose="020B0609020101020101" pitchFamily="49" charset="-127"/>
                <a:ea typeface="D2Coding" panose="020B0609020101020101" pitchFamily="49" charset="-127"/>
              </a:rPr>
              <a:t>: (1, 4, 2) -&gt; [</a:t>
            </a:r>
            <a:r>
              <a:rPr lang="ko-KR" altLang="en-US" sz="1600" dirty="0">
                <a:latin typeface="D2Coding" panose="020B0609020101020101" pitchFamily="49" charset="-127"/>
                <a:ea typeface="D2Coding" panose="020B0609020101020101" pitchFamily="49" charset="-127"/>
              </a:rPr>
              <a:t>배치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출력차원</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실제 출력된 값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 시점별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출력</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print(output[0])</a:t>
            </a:r>
            <a:endParaRPr lang="ko-KR" altLang="en-US" sz="16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Tree>
    <p:extLst>
      <p:ext uri="{BB962C8B-B14F-4D97-AF65-F5344CB8AC3E}">
        <p14:creationId xmlns:p14="http://schemas.microsoft.com/office/powerpoint/2010/main" val="26230321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E9DA771-6870-123A-1128-9F853C7FC97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30</a:t>
            </a:fld>
            <a:endParaRPr lang="en-US" dirty="0"/>
          </a:p>
        </p:txBody>
      </p:sp>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Tree>
    <p:extLst>
      <p:ext uri="{BB962C8B-B14F-4D97-AF65-F5344CB8AC3E}">
        <p14:creationId xmlns:p14="http://schemas.microsoft.com/office/powerpoint/2010/main" val="6522042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ADB3AF37-E42F-565B-46B9-6B7245CE7DE5}"/>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31</a:t>
            </a:fld>
            <a:endParaRPr lang="en-US" dirty="0"/>
          </a:p>
        </p:txBody>
      </p:sp>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339970A5-A681-2B27-3205-D7A4C775AA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7055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B53F-5797-0BB2-9323-F166DE5B677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BFB5B3E-2733-6F10-C433-7C314850C9F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32</a:t>
            </a:fld>
            <a:endParaRPr lang="en-US" dirty="0"/>
          </a:p>
        </p:txBody>
      </p:sp>
      <p:sp>
        <p:nvSpPr>
          <p:cNvPr id="3" name="제목 1">
            <a:extLst>
              <a:ext uri="{FF2B5EF4-FFF2-40B4-BE49-F238E27FC236}">
                <a16:creationId xmlns:a16="http://schemas.microsoft.com/office/drawing/2014/main" id="{C56A9490-8D65-6528-22C1-98B7D50809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A9EEC3D1-0BD5-4541-4799-448270E1E17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33600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2091B1E-C426-25FD-67B2-B1CF234C6B7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33</a:t>
            </a:fld>
            <a:endParaRPr lang="en-US" dirty="0"/>
          </a:p>
        </p:txBody>
      </p:sp>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 name="Picture 4">
            <a:extLst>
              <a:ext uri="{FF2B5EF4-FFF2-40B4-BE49-F238E27FC236}">
                <a16:creationId xmlns:a16="http://schemas.microsoft.com/office/drawing/2014/main" id="{912112BE-FB30-E488-53B7-8D87ECB97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99" y="1374234"/>
            <a:ext cx="6061090" cy="24307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3025" y="3892807"/>
            <a:ext cx="6061091" cy="25964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730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6894</TotalTime>
  <Words>3363</Words>
  <Application>Microsoft Office PowerPoint</Application>
  <PresentationFormat>와이드스크린</PresentationFormat>
  <Paragraphs>364</Paragraphs>
  <Slides>33</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33</vt:i4>
      </vt:variant>
    </vt:vector>
  </HeadingPairs>
  <TitlesOfParts>
    <vt:vector size="43"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120</cp:revision>
  <dcterms:created xsi:type="dcterms:W3CDTF">2026-04-06T01:00:39Z</dcterms:created>
  <dcterms:modified xsi:type="dcterms:W3CDTF">2026-08-14T05:50:00Z</dcterms:modified>
  <cp:version/>
</cp:coreProperties>
</file>