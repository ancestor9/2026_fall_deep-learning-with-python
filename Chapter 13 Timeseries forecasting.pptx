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5"/>
  </p:notesMasterIdLst>
  <p:handoutMasterIdLst>
    <p:handoutMasterId r:id="rId76"/>
  </p:handoutMasterIdLst>
  <p:sldIdLst>
    <p:sldId id="256" r:id="rId2"/>
    <p:sldId id="1155" r:id="rId3"/>
    <p:sldId id="1393" r:id="rId4"/>
    <p:sldId id="1394" r:id="rId5"/>
    <p:sldId id="1122" r:id="rId6"/>
    <p:sldId id="1134" r:id="rId7"/>
    <p:sldId id="1399" r:id="rId8"/>
    <p:sldId id="1140" r:id="rId9"/>
    <p:sldId id="1141" r:id="rId10"/>
    <p:sldId id="1144" r:id="rId11"/>
    <p:sldId id="1142" r:id="rId12"/>
    <p:sldId id="1143" r:id="rId13"/>
    <p:sldId id="1169" r:id="rId14"/>
    <p:sldId id="1395" r:id="rId15"/>
    <p:sldId id="1157" r:id="rId16"/>
    <p:sldId id="1146" r:id="rId17"/>
    <p:sldId id="1148" r:id="rId18"/>
    <p:sldId id="1222" r:id="rId19"/>
    <p:sldId id="1224" r:id="rId20"/>
    <p:sldId id="1396" r:id="rId21"/>
    <p:sldId id="1145" r:id="rId22"/>
    <p:sldId id="1397" r:id="rId23"/>
    <p:sldId id="1225" r:id="rId24"/>
    <p:sldId id="1226" r:id="rId25"/>
    <p:sldId id="1158" r:id="rId26"/>
    <p:sldId id="1150" r:id="rId27"/>
    <p:sldId id="1152" r:id="rId28"/>
    <p:sldId id="1149" r:id="rId29"/>
    <p:sldId id="1159" r:id="rId30"/>
    <p:sldId id="1161" r:id="rId31"/>
    <p:sldId id="1173" r:id="rId32"/>
    <p:sldId id="1174" r:id="rId33"/>
    <p:sldId id="1139" r:id="rId34"/>
    <p:sldId id="1172" r:id="rId35"/>
    <p:sldId id="1133" r:id="rId36"/>
    <p:sldId id="1163" r:id="rId37"/>
    <p:sldId id="1164" r:id="rId38"/>
    <p:sldId id="1165" r:id="rId39"/>
    <p:sldId id="1166" r:id="rId40"/>
    <p:sldId id="1121" r:id="rId41"/>
    <p:sldId id="1168" r:id="rId42"/>
    <p:sldId id="1135" r:id="rId43"/>
    <p:sldId id="1167" r:id="rId44"/>
    <p:sldId id="1160" r:id="rId45"/>
    <p:sldId id="1175" r:id="rId46"/>
    <p:sldId id="1132" r:id="rId47"/>
    <p:sldId id="1170" r:id="rId48"/>
    <p:sldId id="1171" r:id="rId49"/>
    <p:sldId id="1125" r:id="rId50"/>
    <p:sldId id="1398" r:id="rId51"/>
    <p:sldId id="1127" r:id="rId52"/>
    <p:sldId id="1128" r:id="rId53"/>
    <p:sldId id="1123" r:id="rId54"/>
    <p:sldId id="1130" r:id="rId55"/>
    <p:sldId id="1131" r:id="rId56"/>
    <p:sldId id="1137" r:id="rId57"/>
    <p:sldId id="1138" r:id="rId58"/>
    <p:sldId id="1129" r:id="rId59"/>
    <p:sldId id="1392" r:id="rId60"/>
    <p:sldId id="1162" r:id="rId61"/>
    <p:sldId id="1217" r:id="rId62"/>
    <p:sldId id="1220" r:id="rId63"/>
    <p:sldId id="1221" r:id="rId64"/>
    <p:sldId id="1218" r:id="rId65"/>
    <p:sldId id="1219" r:id="rId66"/>
    <p:sldId id="1153" r:id="rId67"/>
    <p:sldId id="1151" r:id="rId68"/>
    <p:sldId id="1154" r:id="rId69"/>
    <p:sldId id="1391" r:id="rId70"/>
    <p:sldId id="1381" r:id="rId71"/>
    <p:sldId id="1378" r:id="rId72"/>
    <p:sldId id="1380" r:id="rId73"/>
    <p:sldId id="1379" r:id="rId74"/>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393"/>
            <p14:sldId id="1394"/>
            <p14:sldId id="1122"/>
            <p14:sldId id="1134"/>
            <p14:sldId id="1399"/>
            <p14:sldId id="1140"/>
            <p14:sldId id="1141"/>
            <p14:sldId id="1144"/>
            <p14:sldId id="1142"/>
            <p14:sldId id="1143"/>
            <p14:sldId id="1169"/>
            <p14:sldId id="1395"/>
            <p14:sldId id="1157"/>
            <p14:sldId id="1146"/>
            <p14:sldId id="1148"/>
            <p14:sldId id="1222"/>
            <p14:sldId id="1224"/>
            <p14:sldId id="1396"/>
            <p14:sldId id="1145"/>
            <p14:sldId id="1397"/>
            <p14:sldId id="1225"/>
            <p14:sldId id="1226"/>
            <p14:sldId id="1158"/>
            <p14:sldId id="1150"/>
            <p14:sldId id="1152"/>
            <p14:sldId id="1149"/>
            <p14:sldId id="1159"/>
            <p14:sldId id="1161"/>
            <p14:sldId id="1173"/>
            <p14:sldId id="1174"/>
            <p14:sldId id="1139"/>
            <p14:sldId id="1172"/>
            <p14:sldId id="1133"/>
            <p14:sldId id="1163"/>
            <p14:sldId id="1164"/>
            <p14:sldId id="1165"/>
            <p14:sldId id="1166"/>
            <p14:sldId id="1121"/>
            <p14:sldId id="1168"/>
            <p14:sldId id="1135"/>
            <p14:sldId id="1167"/>
            <p14:sldId id="1160"/>
            <p14:sldId id="1175"/>
            <p14:sldId id="1132"/>
            <p14:sldId id="1170"/>
            <p14:sldId id="1171"/>
            <p14:sldId id="1125"/>
            <p14:sldId id="1398"/>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4297" autoAdjust="0"/>
  </p:normalViewPr>
  <p:slideViewPr>
    <p:cSldViewPr snapToGrid="0">
      <p:cViewPr varScale="1">
        <p:scale>
          <a:sx n="104" d="100"/>
          <a:sy n="104" d="100"/>
        </p:scale>
        <p:origin x="1062" y="10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1398"/>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2026-10-06</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2026-10-06</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51</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59</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69</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2026-10-06</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10/6/2026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2026-10-06</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ancestor9/2026_Fall_Deep-Learning-with-Python/blob/main/scripts/Perceptron_1957_to_AlexNet_2012.ipynb" TargetMode="External"/><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hyperlink" Target="https://github.com/ancestor9/2026_Fall_Deep-Learning-with-Python/blob/main/appendix/01_sliding%20windows%20with%20time%20series.xlsx" TargetMode="External"/><Relationship Id="rId4" Type="http://schemas.openxmlformats.org/officeDocument/2006/relationships/image" Target="../media/image8.sv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4.xml"/><Relationship Id="rId6" Type="http://schemas.openxmlformats.org/officeDocument/2006/relationships/image" Target="../media/image8.svg"/><Relationship Id="rId5" Type="http://schemas.openxmlformats.org/officeDocument/2006/relationships/image" Target="../media/image12.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8.sv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jpe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1.png"/><Relationship Id="rId7" Type="http://schemas.openxmlformats.org/officeDocument/2006/relationships/image" Target="../media/image32.png"/><Relationship Id="rId2" Type="http://schemas.openxmlformats.org/officeDocument/2006/relationships/image" Target="../media/image271.png"/><Relationship Id="rId1" Type="http://schemas.openxmlformats.org/officeDocument/2006/relationships/slideLayout" Target="../slideLayouts/slideLayout4.xml"/><Relationship Id="rId6" Type="http://schemas.openxmlformats.org/officeDocument/2006/relationships/image" Target="../media/image311.png"/><Relationship Id="rId11" Type="http://schemas.openxmlformats.org/officeDocument/2006/relationships/image" Target="../media/image36.png"/><Relationship Id="rId5" Type="http://schemas.openxmlformats.org/officeDocument/2006/relationships/image" Target="../media/image301.png"/><Relationship Id="rId10" Type="http://schemas.openxmlformats.org/officeDocument/2006/relationships/image" Target="../media/image35.png"/><Relationship Id="rId4" Type="http://schemas.openxmlformats.org/officeDocument/2006/relationships/image" Target="../media/image291.png"/><Relationship Id="rId9" Type="http://schemas.openxmlformats.org/officeDocument/2006/relationships/image" Target="../media/image34.png"/></Relationships>
</file>

<file path=ppt/slides/_rels/slide31.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1.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1.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1.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1.png"/><Relationship Id="rId9" Type="http://schemas.openxmlformats.org/officeDocument/2006/relationships/image" Target="../media/image40.png"/><Relationship Id="rId14" Type="http://schemas.openxmlformats.org/officeDocument/2006/relationships/image" Target="../media/image45.png"/></Relationships>
</file>

<file path=ppt/slides/_rels/slide32.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69.png"/><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76.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8.png"/><Relationship Id="rId5" Type="http://schemas.openxmlformats.org/officeDocument/2006/relationships/image" Target="../media/image77.png"/><Relationship Id="rId4" Type="http://schemas.microsoft.com/office/2007/relationships/hdphoto" Target="../media/hdphoto2.wdp"/></Relationships>
</file>

<file path=ppt/slides/_rels/slide5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8.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52.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81.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8.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5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83.png"/><Relationship Id="rId1" Type="http://schemas.openxmlformats.org/officeDocument/2006/relationships/slideLayout" Target="../slideLayouts/slideLayout4.xml"/><Relationship Id="rId5" Type="http://schemas.openxmlformats.org/officeDocument/2006/relationships/image" Target="../media/image84.png"/><Relationship Id="rId4" Type="http://schemas.microsoft.com/office/2007/relationships/hdphoto" Target="../media/hdphoto3.wdp"/></Relationships>
</file>

<file path=ppt/slides/_rels/slide5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85.jpe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6.png"/><Relationship Id="rId1" Type="http://schemas.openxmlformats.org/officeDocument/2006/relationships/slideLayout" Target="../slideLayouts/slideLayout4.xml"/><Relationship Id="rId4" Type="http://schemas.openxmlformats.org/officeDocument/2006/relationships/image" Target="../media/image8.svg"/></Relationships>
</file>

<file path=ppt/slides/_rels/slide56.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4" Type="http://schemas.openxmlformats.org/officeDocument/2006/relationships/image" Target="../media/image8.sv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89.png"/><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5" Type="http://schemas.openxmlformats.org/officeDocument/2006/relationships/hyperlink" Target="https://github.com/ancestor9/AI-with-python" TargetMode="External"/><Relationship Id="rId4" Type="http://schemas.openxmlformats.org/officeDocument/2006/relationships/image" Target="../media/image91.svg"/></Relationships>
</file>

<file path=ppt/slides/_rels/slide71.xml.rels><?xml version="1.0" encoding="UTF-8" standalone="yes"?>
<Relationships xmlns="http://schemas.openxmlformats.org/package/2006/relationships"><Relationship Id="rId2" Type="http://schemas.openxmlformats.org/officeDocument/2006/relationships/image" Target="../media/image91.sv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svg"/><Relationship Id="rId1" Type="http://schemas.openxmlformats.org/officeDocument/2006/relationships/slideLayout" Target="../slideLayouts/slideLayout4.xml"/><Relationship Id="rId5" Type="http://schemas.openxmlformats.org/officeDocument/2006/relationships/image" Target="../media/image94.png"/><Relationship Id="rId4" Type="http://schemas.openxmlformats.org/officeDocument/2006/relationships/image" Target="../media/image93.png"/></Relationships>
</file>

<file path=ppt/slides/_rels/slide73.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1.svg"/><Relationship Id="rId1" Type="http://schemas.openxmlformats.org/officeDocument/2006/relationships/slideLayout" Target="../slideLayouts/slideLayout4.xml"/><Relationship Id="rId4" Type="http://schemas.openxmlformats.org/officeDocument/2006/relationships/image" Target="../media/image9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RNN(Recurrent Neural Network)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LSTM(Long Short-Term Memory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GRU(Gated Recurrent Unit)</a:t>
            </a:r>
            <a:endParaRPr lang="ko-KR" altLang="en-US" sz="2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DB0AA873-E7D7-B4EA-4E0B-B8C26182E3ED}"/>
              </a:ext>
            </a:extLst>
          </p:cNvPr>
          <p:cNvPicPr>
            <a:picLocks noChangeAspect="1"/>
          </p:cNvPicPr>
          <p:nvPr/>
        </p:nvPicPr>
        <p:blipFill>
          <a:blip r:embed="rId2"/>
          <a:stretch>
            <a:fillRect/>
          </a:stretch>
        </p:blipFill>
        <p:spPr>
          <a:xfrm>
            <a:off x="624146" y="1367879"/>
            <a:ext cx="10829407" cy="5059928"/>
          </a:xfrm>
          <a:prstGeom prst="rect">
            <a:avLst/>
          </a:prstGeom>
        </p:spPr>
      </p:pic>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Perceptron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0" name="TextBox 9">
            <a:extLst>
              <a:ext uri="{FF2B5EF4-FFF2-40B4-BE49-F238E27FC236}">
                <a16:creationId xmlns:a16="http://schemas.microsoft.com/office/drawing/2014/main" id="{7107B6D7-BA6F-BCDC-8980-1D081CD9A249}"/>
              </a:ext>
            </a:extLst>
          </p:cNvPr>
          <p:cNvSpPr txBox="1"/>
          <p:nvPr/>
        </p:nvSpPr>
        <p:spPr>
          <a:xfrm>
            <a:off x="552450" y="1377404"/>
            <a:ext cx="11087100" cy="369332"/>
          </a:xfrm>
          <a:prstGeom prst="rect">
            <a:avLst/>
          </a:prstGeom>
          <a:noFill/>
        </p:spPr>
        <p:txBody>
          <a:bodyPr wrap="square">
            <a:spAutoFit/>
          </a:bodyPr>
          <a:lstStyle/>
          <a:p>
            <a:r>
              <a:rPr lang="en-US" altLang="ko-KR" b="1" dirty="0">
                <a:latin typeface="D2Coding" panose="020B0609020101020101" pitchFamily="49" charset="-127"/>
                <a:ea typeface="D2Coding" panose="020B0609020101020101" pitchFamily="49" charset="-127"/>
                <a:hlinkClick r:id="rId3"/>
              </a:rPr>
              <a:t>Perceptron_1957_to_AlexNet_2012.ipynb</a:t>
            </a:r>
            <a:r>
              <a:rPr lang="en-US" altLang="ko-KR" b="1" dirty="0">
                <a:latin typeface="D2Coding" panose="020B0609020101020101" pitchFamily="49" charset="-127"/>
                <a:ea typeface="D2Coding" panose="020B0609020101020101" pitchFamily="49" charset="-127"/>
              </a:rPr>
              <a:t> </a:t>
            </a:r>
          </a:p>
        </p:txBody>
      </p:sp>
    </p:spTree>
    <p:extLst>
      <p:ext uri="{BB962C8B-B14F-4D97-AF65-F5344CB8AC3E}">
        <p14:creationId xmlns:p14="http://schemas.microsoft.com/office/powerpoint/2010/main" val="2309904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D739-3CD0-CCA2-9928-4AE3D14AC3C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9D7069-1FB1-2CA2-8C7A-A8267B0210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1FB0A38B-BE23-F493-D16C-1D774316A3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 y="2083028"/>
            <a:ext cx="5013449" cy="376466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3EEF370-2FCC-E88C-CCF7-8647FB631C12}"/>
              </a:ext>
            </a:extLst>
          </p:cNvPr>
          <p:cNvSpPr txBox="1"/>
          <p:nvPr/>
        </p:nvSpPr>
        <p:spPr>
          <a:xfrm>
            <a:off x="552450" y="5871897"/>
            <a:ext cx="5013449"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hlinkClick r:id="rId3"/>
              </a:rPr>
              <a:t>https://link.springer.com/article/10.1007/s10462-025-11162-5</a:t>
            </a:r>
            <a:r>
              <a:rPr lang="ko-KR" altLang="en-US" sz="1200" dirty="0">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B8238B59-87C1-4E54-C4B2-C7D3ED424475}"/>
              </a:ext>
            </a:extLst>
          </p:cNvPr>
          <p:cNvSpPr txBox="1"/>
          <p:nvPr/>
        </p:nvSpPr>
        <p:spPr>
          <a:xfrm>
            <a:off x="5652526" y="2083028"/>
            <a:ext cx="6091799" cy="3524042"/>
          </a:xfrm>
          <a:prstGeom prst="rect">
            <a:avLst/>
          </a:prstGeom>
          <a:noFill/>
          <a:ln>
            <a:solidFill>
              <a:schemeClr val="tx1"/>
            </a:solidFill>
          </a:ln>
        </p:spPr>
        <p:txBody>
          <a:bodyPr wrap="square">
            <a:spAutoFit/>
          </a:bodyPr>
          <a:lstStyle/>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RNN, LSTM, GRU</a:t>
            </a:r>
            <a:r>
              <a:rPr lang="ko-KR" altLang="en-US" sz="1400" dirty="0">
                <a:latin typeface="D2Coding" panose="020B0609020101020101" pitchFamily="49" charset="-127"/>
                <a:ea typeface="D2Coding" panose="020B0609020101020101" pitchFamily="49" charset="-127"/>
              </a:rPr>
              <a:t> 등이 등장함</a:t>
            </a:r>
            <a:endParaRPr lang="en-US" altLang="ko-KR" sz="1400" dirty="0">
              <a:latin typeface="D2Coding" panose="020B0609020101020101" pitchFamily="49" charset="-127"/>
              <a:ea typeface="D2Coding" panose="020B0609020101020101" pitchFamily="49" charset="-127"/>
            </a:endParaRP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시계열</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문장 등과 같은 순서가 있는 데이터에 적합</a:t>
            </a:r>
          </a:p>
          <a:p>
            <a:pPr marL="742950" lvl="1" indent="-285750">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RNN/LSTM</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시퀀스에서 중요한 문맥 정보</a:t>
            </a:r>
            <a:r>
              <a:rPr lang="en-US" altLang="ko-KR" sz="1100" dirty="0">
                <a:latin typeface="D2Coding" panose="020B0609020101020101" pitchFamily="49" charset="-127"/>
                <a:ea typeface="D2Coding" panose="020B0609020101020101" pitchFamily="49" charset="-127"/>
              </a:rPr>
              <a:t>(context)</a:t>
            </a:r>
            <a:r>
              <a:rPr lang="ko-KR" altLang="en-US" sz="1100" dirty="0">
                <a:latin typeface="D2Coding" panose="020B0609020101020101" pitchFamily="49" charset="-127"/>
                <a:ea typeface="D2Coding" panose="020B0609020101020101" pitchFamily="49" charset="-127"/>
              </a:rPr>
              <a:t>를 포착하기 어려움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문장을 처리할수록 학습 시간이 증가</a:t>
            </a:r>
            <a:endParaRPr lang="en-US" altLang="ko-KR" sz="1100" dirty="0">
              <a:latin typeface="D2Coding" panose="020B0609020101020101" pitchFamily="49" charset="-127"/>
              <a:ea typeface="D2Coding" panose="020B0609020101020101" pitchFamily="49" charset="-127"/>
            </a:endParaRPr>
          </a:p>
          <a:p>
            <a:pPr marL="1200150" lvl="2" indent="-285750">
              <a:buFont typeface="Wingdings" panose="05000000000000000000" pitchFamily="2" charset="2"/>
              <a:buChar char="§"/>
            </a:pPr>
            <a:endParaRPr lang="en-US" altLang="ko-KR"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등장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단어를 벡터로 표현하는 </a:t>
            </a:r>
            <a:r>
              <a:rPr lang="ko-KR" altLang="en-US" sz="1200" dirty="0" err="1">
                <a:latin typeface="D2Coding" panose="020B0609020101020101" pitchFamily="49" charset="-127"/>
                <a:ea typeface="D2Coding" panose="020B0609020101020101" pitchFamily="49" charset="-127"/>
              </a:rPr>
              <a:t>임베딩</a:t>
            </a:r>
            <a:r>
              <a:rPr lang="ko-KR" altLang="en-US" sz="1200" dirty="0">
                <a:latin typeface="D2Coding" panose="020B0609020101020101" pitchFamily="49" charset="-127"/>
                <a:ea typeface="D2Coding" panose="020B0609020101020101" pitchFamily="49" charset="-127"/>
              </a:rPr>
              <a:t> 기법이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대표적인 방법 </a:t>
            </a:r>
            <a:r>
              <a:rPr lang="en-US" altLang="ko-KR" sz="1200" dirty="0">
                <a:latin typeface="D2Coding" panose="020B0609020101020101" pitchFamily="49" charset="-127"/>
                <a:ea typeface="D2Coding" panose="020B0609020101020101" pitchFamily="49" charset="-127"/>
              </a:rPr>
              <a:t>: Word2Vec,</a:t>
            </a:r>
            <a:r>
              <a:rPr lang="ko-KR" altLang="en-US"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GloVe</a:t>
            </a:r>
            <a:r>
              <a:rPr lang="en-US" altLang="ko-KR"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FastText</a:t>
            </a:r>
            <a:r>
              <a:rPr lang="ko-KR" altLang="en-US" sz="1200" dirty="0">
                <a:latin typeface="D2Coding" panose="020B0609020101020101" pitchFamily="49" charset="-127"/>
                <a:ea typeface="D2Coding" panose="020B0609020101020101" pitchFamily="49" charset="-127"/>
              </a:rPr>
              <a:t>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기존 </a:t>
            </a:r>
            <a:r>
              <a:rPr lang="en-US" altLang="ko-KR" sz="1200" dirty="0">
                <a:latin typeface="D2Coding" panose="020B0609020101020101" pitchFamily="49" charset="-127"/>
                <a:ea typeface="D2Coding" panose="020B0609020101020101" pitchFamily="49" charset="-127"/>
              </a:rPr>
              <a:t>Word Embedding</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문장이나 주변 단어에 따라 달라지는 문맥적 의미</a:t>
            </a:r>
            <a:r>
              <a:rPr lang="en-US" altLang="ko-KR" sz="1100" dirty="0">
                <a:latin typeface="D2Coding" panose="020B0609020101020101" pitchFamily="49" charset="-127"/>
                <a:ea typeface="D2Coding" panose="020B0609020101020101" pitchFamily="49" charset="-127"/>
              </a:rPr>
              <a:t>(contextual meaning)</a:t>
            </a:r>
            <a:r>
              <a:rPr lang="ko-KR" altLang="en-US" sz="1100" dirty="0">
                <a:latin typeface="D2Coding" panose="020B0609020101020101" pitchFamily="49" charset="-127"/>
                <a:ea typeface="D2Coding" panose="020B0609020101020101" pitchFamily="49" charset="-127"/>
              </a:rPr>
              <a:t>를 반영하기 어려움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en-US" altLang="ko-KR" sz="1100" i="1" dirty="0">
                <a:latin typeface="D2Coding" panose="020B0609020101020101" pitchFamily="49" charset="-127"/>
                <a:ea typeface="D2Coding" panose="020B0609020101020101" pitchFamily="49" charset="-127"/>
              </a:rPr>
              <a:t>bank</a:t>
            </a:r>
            <a:r>
              <a:rPr lang="ko-KR" altLang="en-US" sz="1100" dirty="0">
                <a:latin typeface="D2Coding" panose="020B0609020101020101" pitchFamily="49" charset="-127"/>
                <a:ea typeface="D2Coding" panose="020B0609020101020101" pitchFamily="49" charset="-127"/>
              </a:rPr>
              <a:t>가 문맥에 따라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은행</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또는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강둑</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을 의미하는 차이를 제대로 표현하기 어려움</a:t>
            </a:r>
            <a:r>
              <a:rPr lang="en-US" altLang="ko-KR" sz="1100" dirty="0">
                <a:latin typeface="D2Coding" panose="020B0609020101020101" pitchFamily="49" charset="-127"/>
                <a:ea typeface="D2Coding" panose="020B0609020101020101" pitchFamily="49" charset="-127"/>
              </a:rPr>
              <a:t>)</a:t>
            </a:r>
          </a:p>
          <a:p>
            <a:pPr marL="1200150" lvl="2" indent="-285750">
              <a:buFont typeface="Wingdings" panose="05000000000000000000" pitchFamily="2" charset="2"/>
              <a:buChar char="§"/>
            </a:pPr>
            <a:endParaRPr lang="ko-KR" altLang="en-US"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Contextual Embedding</a:t>
            </a:r>
            <a:r>
              <a:rPr lang="ko-KR" altLang="en-US" sz="1400" dirty="0">
                <a:latin typeface="D2Coding" panose="020B0609020101020101" pitchFamily="49" charset="-127"/>
                <a:ea typeface="D2Coding" panose="020B0609020101020101" pitchFamily="49" charset="-127"/>
              </a:rPr>
              <a:t>으로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대규모 사전학습 언어모델</a:t>
            </a:r>
            <a:r>
              <a:rPr lang="en-US" altLang="ko-KR" sz="1200" dirty="0">
                <a:latin typeface="D2Coding" panose="020B0609020101020101" pitchFamily="49" charset="-127"/>
                <a:ea typeface="D2Coding" panose="020B0609020101020101" pitchFamily="49" charset="-127"/>
              </a:rPr>
              <a:t>(Pre-trained Language Model)</a:t>
            </a:r>
            <a:r>
              <a:rPr lang="ko-KR" altLang="en-US" sz="1200" dirty="0">
                <a:latin typeface="D2Coding" panose="020B0609020101020101" pitchFamily="49" charset="-127"/>
                <a:ea typeface="D2Coding" panose="020B0609020101020101" pitchFamily="49" charset="-127"/>
              </a:rPr>
              <a:t> 등장</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 자체와 주변 문맥을 고려하여 단어의 벡터 표현을 생성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이후 </a:t>
            </a:r>
            <a:r>
              <a:rPr lang="en-US" altLang="ko-KR" sz="1200" dirty="0">
                <a:latin typeface="D2Coding" panose="020B0609020101020101" pitchFamily="49" charset="-127"/>
                <a:ea typeface="D2Coding" panose="020B0609020101020101" pitchFamily="49" charset="-127"/>
              </a:rPr>
              <a:t>BERT, GPT</a:t>
            </a:r>
            <a:r>
              <a:rPr lang="ko-KR" altLang="en-US" sz="1200" dirty="0">
                <a:latin typeface="D2Coding" panose="020B0609020101020101" pitchFamily="49" charset="-127"/>
                <a:ea typeface="D2Coding" panose="020B0609020101020101" pitchFamily="49" charset="-127"/>
              </a:rPr>
              <a:t>와 같은 </a:t>
            </a:r>
            <a:r>
              <a:rPr lang="en-US" altLang="ko-KR" sz="1200" dirty="0">
                <a:latin typeface="D2Coding" panose="020B0609020101020101" pitchFamily="49" charset="-127"/>
                <a:ea typeface="D2Coding" panose="020B0609020101020101" pitchFamily="49" charset="-127"/>
              </a:rPr>
              <a:t>Transformer </a:t>
            </a:r>
            <a:r>
              <a:rPr lang="ko-KR" altLang="en-US" sz="1200" dirty="0">
                <a:latin typeface="D2Coding" panose="020B0609020101020101" pitchFamily="49" charset="-127"/>
                <a:ea typeface="D2Coding" panose="020B0609020101020101" pitchFamily="49" charset="-127"/>
              </a:rPr>
              <a:t>기반 언어모델로 발전함</a:t>
            </a:r>
            <a:r>
              <a:rPr lang="ko-KR" altLang="en-US" sz="1400" dirty="0">
                <a:latin typeface="D2Coding" panose="020B0609020101020101" pitchFamily="49" charset="-127"/>
                <a:ea typeface="D2Coding" panose="020B0609020101020101" pitchFamily="49" charset="-127"/>
              </a:rPr>
              <a:t> </a:t>
            </a:r>
          </a:p>
        </p:txBody>
      </p:sp>
      <p:sp>
        <p:nvSpPr>
          <p:cNvPr id="10" name="TextBox 9">
            <a:extLst>
              <a:ext uri="{FF2B5EF4-FFF2-40B4-BE49-F238E27FC236}">
                <a16:creationId xmlns:a16="http://schemas.microsoft.com/office/drawing/2014/main" id="{25D98A1F-877F-18FD-5084-0F7FD34C0823}"/>
              </a:ext>
            </a:extLst>
          </p:cNvPr>
          <p:cNvSpPr txBox="1"/>
          <p:nvPr/>
        </p:nvSpPr>
        <p:spPr>
          <a:xfrm>
            <a:off x="552450" y="1282154"/>
            <a:ext cx="1108710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RNN/LSTM/GRU → Word2Vec → Transformer/Contextual Embedding → Pre-Trained LLM</a:t>
            </a:r>
          </a:p>
        </p:txBody>
      </p:sp>
    </p:spTree>
    <p:extLst>
      <p:ext uri="{BB962C8B-B14F-4D97-AF65-F5344CB8AC3E}">
        <p14:creationId xmlns:p14="http://schemas.microsoft.com/office/powerpoint/2010/main" val="23455017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29AD9-B2C1-B49E-B9BF-634BE378AFC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6D48F08-B102-C621-E10B-9FB8F64BC54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 실습</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EC30A17E-67FC-20F8-8B0C-D51945166DE0}"/>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16FE903A-9C1D-1244-608C-C79E994A6C30}"/>
              </a:ext>
            </a:extLst>
          </p:cNvPr>
          <p:cNvSpPr txBox="1"/>
          <p:nvPr/>
        </p:nvSpPr>
        <p:spPr>
          <a:xfrm>
            <a:off x="1108364" y="1939636"/>
            <a:ext cx="9467272" cy="2058064"/>
          </a:xfrm>
          <a:prstGeom prst="rect">
            <a:avLst/>
          </a:prstGeom>
          <a:solidFill>
            <a:schemeClr val="tx1"/>
          </a:solidFill>
        </p:spPr>
        <p:txBody>
          <a:bodyPr wrap="square" rtlCol="0">
            <a:spAutoFit/>
          </a:bodyPr>
          <a:lstStyle/>
          <a:p>
            <a:pPr marL="342900" indent="-342900">
              <a:lnSpc>
                <a:spcPct val="250000"/>
              </a:lnSpc>
              <a:buFont typeface="+mj-lt"/>
              <a:buAutoNum type="arabicPeriod"/>
            </a:pPr>
            <a:r>
              <a:rPr lang="ko-KR" altLang="en-US" dirty="0">
                <a:solidFill>
                  <a:schemeClr val="bg1"/>
                </a:solidFill>
                <a:latin typeface="D2Coding" panose="020B0609020101020101" pitchFamily="49" charset="-127"/>
                <a:ea typeface="D2Coding" panose="020B0609020101020101" pitchFamily="49" charset="-127"/>
              </a:rPr>
              <a:t>엑셀로 시계열자료를 실습</a:t>
            </a:r>
            <a:endParaRPr lang="en-US" altLang="ko-KR" dirty="0">
              <a:solidFill>
                <a:schemeClr val="bg1"/>
              </a:solidFill>
              <a:latin typeface="D2Coding" panose="020B0609020101020101" pitchFamily="49" charset="-127"/>
              <a:ea typeface="D2Coding" panose="020B0609020101020101" pitchFamily="49" charset="-127"/>
            </a:endParaRPr>
          </a:p>
          <a:p>
            <a:pPr marL="342900" indent="-342900">
              <a:lnSpc>
                <a:spcPct val="250000"/>
              </a:lnSpc>
              <a:buFont typeface="+mj-lt"/>
              <a:buAutoNum type="arabicPeriod"/>
            </a:pPr>
            <a:r>
              <a:rPr lang="en-US" altLang="ko-KR" dirty="0">
                <a:solidFill>
                  <a:schemeClr val="bg1"/>
                </a:solidFill>
                <a:latin typeface="D2Coding" panose="020B0609020101020101" pitchFamily="49" charset="-127"/>
                <a:ea typeface="D2Coding" panose="020B0609020101020101" pitchFamily="49" charset="-127"/>
              </a:rPr>
              <a:t>Python </a:t>
            </a:r>
            <a:r>
              <a:rPr lang="ko-KR" altLang="en-US" dirty="0">
                <a:solidFill>
                  <a:schemeClr val="bg1"/>
                </a:solidFill>
                <a:latin typeface="D2Coding" panose="020B0609020101020101" pitchFamily="49" charset="-127"/>
                <a:ea typeface="D2Coding" panose="020B0609020101020101" pitchFamily="49" charset="-127"/>
              </a:rPr>
              <a:t>반복문으로 시계열 자료를 실습</a:t>
            </a:r>
            <a:endParaRPr lang="en-US" altLang="ko-KR" dirty="0">
              <a:solidFill>
                <a:schemeClr val="bg1"/>
              </a:solidFill>
              <a:latin typeface="D2Coding" panose="020B0609020101020101" pitchFamily="49" charset="-127"/>
              <a:ea typeface="D2Coding" panose="020B0609020101020101" pitchFamily="49" charset="-127"/>
            </a:endParaRPr>
          </a:p>
          <a:p>
            <a:pPr marL="342900" indent="-342900">
              <a:lnSpc>
                <a:spcPct val="250000"/>
              </a:lnSpc>
              <a:buFont typeface="+mj-lt"/>
              <a:buAutoNum type="arabicPeriod"/>
            </a:pPr>
            <a:r>
              <a:rPr lang="en-US" altLang="ko-KR" dirty="0" err="1">
                <a:solidFill>
                  <a:schemeClr val="bg1"/>
                </a:solidFill>
                <a:latin typeface="D2Coding" panose="020B0609020101020101" pitchFamily="49" charset="-127"/>
                <a:ea typeface="D2Coding" panose="020B0609020101020101" pitchFamily="49" charset="-127"/>
              </a:rPr>
              <a:t>Tensorflow</a:t>
            </a:r>
            <a:r>
              <a:rPr lang="en-US" altLang="ko-KR" dirty="0">
                <a:solidFill>
                  <a:schemeClr val="bg1"/>
                </a:solidFill>
                <a:latin typeface="D2Coding" panose="020B0609020101020101" pitchFamily="49" charset="-127"/>
                <a:ea typeface="D2Coding" panose="020B0609020101020101" pitchFamily="49" charset="-127"/>
              </a:rPr>
              <a:t> </a:t>
            </a:r>
            <a:r>
              <a:rPr lang="ko-KR" altLang="en-US" dirty="0" err="1">
                <a:solidFill>
                  <a:schemeClr val="bg1"/>
                </a:solidFill>
                <a:latin typeface="D2Coding" panose="020B0609020101020101" pitchFamily="49" charset="-127"/>
                <a:ea typeface="D2Coding" panose="020B0609020101020101" pitchFamily="49" charset="-127"/>
              </a:rPr>
              <a:t>keras.utils.timeseries_dataset_from_array</a:t>
            </a:r>
            <a:r>
              <a:rPr lang="en-US" altLang="ko-KR" dirty="0">
                <a:solidFill>
                  <a:schemeClr val="bg1"/>
                </a:solidFill>
                <a:latin typeface="D2Coding" panose="020B0609020101020101" pitchFamily="49" charset="-127"/>
                <a:ea typeface="D2Coding" panose="020B0609020101020101" pitchFamily="49" charset="-127"/>
              </a:rPr>
              <a:t>() </a:t>
            </a:r>
            <a:r>
              <a:rPr lang="ko-KR" altLang="en-US" dirty="0">
                <a:solidFill>
                  <a:schemeClr val="bg1"/>
                </a:solidFill>
                <a:latin typeface="D2Coding" panose="020B0609020101020101" pitchFamily="49" charset="-127"/>
                <a:ea typeface="D2Coding" panose="020B0609020101020101" pitchFamily="49" charset="-127"/>
              </a:rPr>
              <a:t>시계열 자료를 실습</a:t>
            </a:r>
            <a:r>
              <a:rPr lang="en-US" altLang="ko-KR" dirty="0">
                <a:solidFill>
                  <a:schemeClr val="bg1"/>
                </a:solidFill>
                <a:latin typeface="D2Coding" panose="020B0609020101020101" pitchFamily="49" charset="-127"/>
                <a:ea typeface="D2Coding" panose="020B0609020101020101" pitchFamily="49" charset="-127"/>
              </a:rPr>
              <a:t> </a:t>
            </a:r>
            <a:endParaRPr lang="ko-KR" altLang="en-US" dirty="0">
              <a:solidFill>
                <a:schemeClr val="bg1"/>
              </a:solidFill>
              <a:latin typeface="D2Coding" panose="020B0609020101020101" pitchFamily="49" charset="-127"/>
              <a:ea typeface="D2Coding" panose="020B0609020101020101" pitchFamily="49" charset="-127"/>
            </a:endParaRPr>
          </a:p>
        </p:txBody>
      </p:sp>
      <p:pic>
        <p:nvPicPr>
          <p:cNvPr id="6" name="그래픽 5" descr="크리켓 단색으로 채워진">
            <a:extLst>
              <a:ext uri="{FF2B5EF4-FFF2-40B4-BE49-F238E27FC236}">
                <a16:creationId xmlns:a16="http://schemas.microsoft.com/office/drawing/2014/main" id="{F347C455-8C50-5937-F37A-8566431F535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24859" y="299420"/>
            <a:ext cx="914400" cy="914400"/>
          </a:xfrm>
          <a:prstGeom prst="rect">
            <a:avLst/>
          </a:prstGeom>
        </p:spPr>
      </p:pic>
    </p:spTree>
    <p:extLst>
      <p:ext uri="{BB962C8B-B14F-4D97-AF65-F5344CB8AC3E}">
        <p14:creationId xmlns:p14="http://schemas.microsoft.com/office/powerpoint/2010/main" val="380708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625741" cy="4633362"/>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4F44B0F3-25E6-A657-77F4-ED64D91CE0E2}"/>
              </a:ext>
            </a:extLst>
          </p:cNvPr>
          <p:cNvSpPr txBox="1"/>
          <p:nvPr/>
        </p:nvSpPr>
        <p:spPr>
          <a:xfrm>
            <a:off x="512864" y="1248422"/>
            <a:ext cx="1826141"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5"/>
              </a:rPr>
              <a:t>Time-series.xlsx</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84673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3"/>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7581D-3B69-D7B8-7BD1-D9C95353FCE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FD4F066-D256-883B-A556-AB50529B242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 series data analysis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683F156A-0939-A650-AE4D-419E927966E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
        <p:nvSpPr>
          <p:cNvPr id="7" name="Rectangle 2">
            <a:extLst>
              <a:ext uri="{FF2B5EF4-FFF2-40B4-BE49-F238E27FC236}">
                <a16:creationId xmlns:a16="http://schemas.microsoft.com/office/drawing/2014/main" id="{B5D3A5FB-5C68-D63B-561D-F8449CDABB0B}"/>
              </a:ext>
            </a:extLst>
          </p:cNvPr>
          <p:cNvSpPr>
            <a:spLocks noChangeArrowheads="1"/>
          </p:cNvSpPr>
          <p:nvPr/>
        </p:nvSpPr>
        <p:spPr bwMode="auto">
          <a:xfrm>
            <a:off x="557862" y="1537223"/>
            <a:ext cx="11076275" cy="88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삼성전자</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과거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12</a:t>
            </a:r>
            <a:r>
              <a:rPr kumimoji="0" lang="ko-KR" altLang="ko-KR" b="0" i="0" u="none" strike="noStrike" cap="none" normalizeH="0" baseline="0" dirty="0" err="1">
                <a:ln>
                  <a:noFill/>
                </a:ln>
                <a:solidFill>
                  <a:srgbClr val="1F1F1F"/>
                </a:solidFill>
                <a:effectLst/>
                <a:latin typeface="D2Coding" panose="020B0609020101020101" pitchFamily="49" charset="-127"/>
                <a:ea typeface="D2Coding" panose="020B0609020101020101" pitchFamily="49" charset="-127"/>
              </a:rPr>
              <a:t>개월치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데이터를 사용하여 종가</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a:t>
            </a:r>
            <a:r>
              <a:rPr kumimoji="0" lang="en-US" altLang="ko-KR" b="0" i="0" u="none" strike="noStrike" cap="none" normalizeH="0" dirty="0">
                <a:ln>
                  <a:noFill/>
                </a:ln>
                <a:solidFill>
                  <a:srgbClr val="1F1F1F"/>
                </a:solidFill>
                <a:effectLst/>
                <a:latin typeface="D2Coding" panose="020B0609020101020101" pitchFamily="49" charset="-127"/>
                <a:ea typeface="D2Coding" panose="020B0609020101020101" pitchFamily="49" charset="-127"/>
              </a:rPr>
              <a:t>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거래량</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외국인</a:t>
            </a:r>
            <a:r>
              <a:rPr lang="en-US" altLang="ko-KR" dirty="0">
                <a:solidFill>
                  <a:srgbClr val="1F1F1F"/>
                </a:solidFill>
                <a:latin typeface="D2Coding" panose="020B0609020101020101" pitchFamily="49" charset="-127"/>
                <a:ea typeface="D2Coding" panose="020B0609020101020101" pitchFamily="49" charset="-127"/>
              </a:rPr>
              <a:t> </a:t>
            </a:r>
            <a:r>
              <a:rPr lang="ko-KR" altLang="en-US" dirty="0" err="1">
                <a:solidFill>
                  <a:srgbClr val="1F1F1F"/>
                </a:solidFill>
                <a:latin typeface="D2Coding" panose="020B0609020101020101" pitchFamily="49" charset="-127"/>
                <a:ea typeface="D2Coding" panose="020B0609020101020101" pitchFamily="49" charset="-127"/>
              </a:rPr>
              <a:t>매매량</a:t>
            </a:r>
            <a:r>
              <a:rPr lang="ko-KR" altLang="en-US" dirty="0">
                <a:solidFill>
                  <a:srgbClr val="1F1F1F"/>
                </a:solidFill>
                <a:latin typeface="D2Coding" panose="020B0609020101020101" pitchFamily="49" charset="-127"/>
                <a:ea typeface="D2Coding" panose="020B0609020101020101" pitchFamily="49" charset="-127"/>
              </a:rPr>
              <a:t> 등</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바탕으로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최근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6</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10</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15</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 등의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Timestep</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기준으로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시계열 예측</a:t>
            </a:r>
            <a:endParaRPr kumimoji="0" lang="ko-KR" altLang="ko-KR" b="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2822800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994009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1887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609240" y="4746002"/>
            <a:ext cx="2240703"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a:t>
            </a:r>
            <a:r>
              <a:rPr lang="en-US" altLang="ko-KR" sz="1600" dirty="0">
                <a:latin typeface="D2Coding" panose="020B0609020101020101" pitchFamily="49" charset="-127"/>
                <a:ea typeface="D2Coding" panose="020B0609020101020101" pitchFamily="49" charset="-127"/>
              </a:rPr>
              <a:t>Features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(현재가</a:t>
            </a:r>
            <a:r>
              <a:rPr lang="en-US" altLang="ko-KR" sz="1600" dirty="0">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고가</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877910" y="5500276"/>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days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2902047" y="5989507"/>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min</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07268" y="3789584"/>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21518" y="396089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35768" y="4132196"/>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0493" y="4303502"/>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45218" y="447481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왼쪽 중괄호 6">
            <a:extLst>
              <a:ext uri="{FF2B5EF4-FFF2-40B4-BE49-F238E27FC236}">
                <a16:creationId xmlns:a16="http://schemas.microsoft.com/office/drawing/2014/main" id="{627DBF7F-4DEA-5C88-2727-354E5C3DD492}"/>
              </a:ext>
            </a:extLst>
          </p:cNvPr>
          <p:cNvSpPr/>
          <p:nvPr/>
        </p:nvSpPr>
        <p:spPr>
          <a:xfrm>
            <a:off x="2802572" y="4490748"/>
            <a:ext cx="190246" cy="94923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9" name="왼쪽 중괄호 8">
            <a:extLst>
              <a:ext uri="{FF2B5EF4-FFF2-40B4-BE49-F238E27FC236}">
                <a16:creationId xmlns:a16="http://schemas.microsoft.com/office/drawing/2014/main" id="{DBB2F763-D1A0-5F12-E69A-366DB63B9C91}"/>
              </a:ext>
            </a:extLst>
          </p:cNvPr>
          <p:cNvSpPr/>
          <p:nvPr/>
        </p:nvSpPr>
        <p:spPr>
          <a:xfrm rot="16200000">
            <a:off x="4097986" y="4706853"/>
            <a:ext cx="218948" cy="2053124"/>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1" name="왼쪽 중괄호 10">
            <a:extLst>
              <a:ext uri="{FF2B5EF4-FFF2-40B4-BE49-F238E27FC236}">
                <a16:creationId xmlns:a16="http://schemas.microsoft.com/office/drawing/2014/main" id="{8621A218-679E-9132-63F5-3B49374C1CE9}"/>
              </a:ext>
            </a:extLst>
          </p:cNvPr>
          <p:cNvSpPr/>
          <p:nvPr/>
        </p:nvSpPr>
        <p:spPr>
          <a:xfrm rot="14331003">
            <a:off x="5912756" y="4646144"/>
            <a:ext cx="218948" cy="136565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7" name="TextBox 16">
            <a:extLst>
              <a:ext uri="{FF2B5EF4-FFF2-40B4-BE49-F238E27FC236}">
                <a16:creationId xmlns:a16="http://schemas.microsoft.com/office/drawing/2014/main" id="{818BB3DE-384A-29CE-CA30-64AA8876FE71}"/>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(250, 390, 3) </a:t>
            </a:r>
            <a:r>
              <a:rPr lang="en-US" altLang="ko-KR" sz="1200" b="0" i="0" dirty="0">
                <a:solidFill>
                  <a:schemeClr val="bg1"/>
                </a:solidFill>
                <a:effectLst/>
                <a:latin typeface="D2Coding" panose="020B0609020101020101" pitchFamily="49" charset="-127"/>
                <a:ea typeface="D2Coding" panose="020B0609020101020101" pitchFamily="49" charset="-127"/>
                <a:sym typeface="Wingdings" panose="05000000000000000000" pitchFamily="2" charset="2"/>
              </a:rPr>
              <a:t> </a:t>
            </a:r>
            <a:r>
              <a:rPr lang="en-US" altLang="ko-KR" sz="1200" dirty="0">
                <a:solidFill>
                  <a:schemeClr val="bg1"/>
                </a:solidFill>
                <a:latin typeface="D2Coding" panose="020B0609020101020101" pitchFamily="49" charset="-127"/>
                <a:ea typeface="D2Coding" panose="020B0609020101020101" pitchFamily="49" charset="-127"/>
              </a:rPr>
              <a:t>(Batch size, Timesteps, # of Features)</a:t>
            </a:r>
            <a:endParaRPr lang="ko-KR" altLang="en-US" sz="1200" dirty="0">
              <a:solidFill>
                <a:schemeClr val="bg1"/>
              </a:solidFill>
            </a:endParaRPr>
          </a:p>
        </p:txBody>
      </p:sp>
    </p:spTree>
    <p:extLst>
      <p:ext uri="{BB962C8B-B14F-4D97-AF65-F5344CB8AC3E}">
        <p14:creationId xmlns:p14="http://schemas.microsoft.com/office/powerpoint/2010/main" val="2132790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18616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629040" y="4704048"/>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algn="ct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algn="ct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457825" y="5487271"/>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2981533" y="602588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377316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94447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411578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428708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445839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14E785C6-7C76-9799-CA07-10B72D0F1215}"/>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a:t>
            </a:r>
            <a:r>
              <a:rPr lang="en-US" altLang="ko-KR" sz="1200" dirty="0">
                <a:solidFill>
                  <a:schemeClr val="bg1"/>
                </a:solidFill>
                <a:latin typeface="D2Coding" panose="020B0609020101020101" pitchFamily="49" charset="-127"/>
                <a:ea typeface="D2Coding" panose="020B0609020101020101" pitchFamily="49" charset="-127"/>
              </a:rPr>
              <a:t>1000000</a:t>
            </a:r>
            <a:r>
              <a:rPr lang="en-US" altLang="ko-KR" sz="1200" b="0" i="0" dirty="0">
                <a:solidFill>
                  <a:schemeClr val="bg1"/>
                </a:solidFill>
                <a:effectLst/>
                <a:latin typeface="D2Coding" panose="020B0609020101020101" pitchFamily="49" charset="-127"/>
                <a:ea typeface="D2Coding" panose="020B0609020101020101" pitchFamily="49" charset="-127"/>
              </a:rPr>
              <a:t>, 128, 280)</a:t>
            </a:r>
            <a:endParaRPr lang="ko-KR" altLang="en-US" sz="1200" dirty="0">
              <a:solidFill>
                <a:schemeClr val="bg1"/>
              </a:solidFill>
            </a:endParaRPr>
          </a:p>
        </p:txBody>
      </p:sp>
    </p:spTree>
    <p:extLst>
      <p:ext uri="{BB962C8B-B14F-4D97-AF65-F5344CB8AC3E}">
        <p14:creationId xmlns:p14="http://schemas.microsoft.com/office/powerpoint/2010/main" val="5714161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AAA10-92FA-439D-F74D-9A80214BE4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EEAE251-2A05-9C4E-A130-5AC7534E833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Text 3D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D629CD8-BB2D-C0A5-E1B6-4B4C3A981B8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2050" name="Picture 2">
            <a:extLst>
              <a:ext uri="{FF2B5EF4-FFF2-40B4-BE49-F238E27FC236}">
                <a16:creationId xmlns:a16="http://schemas.microsoft.com/office/drawing/2014/main" id="{65A0A580-6277-A579-0A9F-5E1CC7B5C7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8759" y="1780802"/>
            <a:ext cx="7504008" cy="2191600"/>
          </a:xfrm>
          <a:prstGeom prst="rect">
            <a:avLst/>
          </a:prstGeom>
          <a:solidFill>
            <a:schemeClr val="accent1"/>
          </a:solidFill>
          <a:ln>
            <a:solidFill>
              <a:schemeClr val="tx1"/>
            </a:solidFill>
          </a:ln>
        </p:spPr>
      </p:pic>
      <p:pic>
        <p:nvPicPr>
          <p:cNvPr id="15" name="Picture 2">
            <a:extLst>
              <a:ext uri="{FF2B5EF4-FFF2-40B4-BE49-F238E27FC236}">
                <a16:creationId xmlns:a16="http://schemas.microsoft.com/office/drawing/2014/main" id="{B8434580-D760-69EC-7818-214C834AB6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880" y="2178766"/>
            <a:ext cx="7504008" cy="2191600"/>
          </a:xfrm>
          <a:prstGeom prst="rect">
            <a:avLst/>
          </a:prstGeom>
          <a:solidFill>
            <a:schemeClr val="accent1"/>
          </a:solidFill>
          <a:ln>
            <a:solidFill>
              <a:schemeClr val="tx1"/>
            </a:solidFill>
          </a:ln>
        </p:spPr>
      </p:pic>
      <p:pic>
        <p:nvPicPr>
          <p:cNvPr id="16" name="Picture 2">
            <a:extLst>
              <a:ext uri="{FF2B5EF4-FFF2-40B4-BE49-F238E27FC236}">
                <a16:creationId xmlns:a16="http://schemas.microsoft.com/office/drawing/2014/main" id="{5D462795-E6F0-51BC-22D0-E9311C89C2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9001" y="2591360"/>
            <a:ext cx="7504008" cy="2191600"/>
          </a:xfrm>
          <a:prstGeom prst="rect">
            <a:avLst/>
          </a:prstGeom>
          <a:solidFill>
            <a:schemeClr val="accent1"/>
          </a:solidFill>
          <a:ln>
            <a:solidFill>
              <a:schemeClr val="tx1"/>
            </a:solidFill>
          </a:ln>
        </p:spPr>
      </p:pic>
      <p:pic>
        <p:nvPicPr>
          <p:cNvPr id="17" name="Picture 2">
            <a:extLst>
              <a:ext uri="{FF2B5EF4-FFF2-40B4-BE49-F238E27FC236}">
                <a16:creationId xmlns:a16="http://schemas.microsoft.com/office/drawing/2014/main" id="{0D8F1ABF-A2CD-1845-AEC3-5CE64B0FA5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9122" y="2994414"/>
            <a:ext cx="7504008" cy="2191600"/>
          </a:xfrm>
          <a:prstGeom prst="rect">
            <a:avLst/>
          </a:prstGeom>
          <a:solidFill>
            <a:schemeClr val="accent1"/>
          </a:solidFill>
          <a:ln>
            <a:solidFill>
              <a:schemeClr val="tx1"/>
            </a:solidFill>
          </a:ln>
        </p:spPr>
      </p:pic>
      <p:pic>
        <p:nvPicPr>
          <p:cNvPr id="18" name="Picture 2">
            <a:extLst>
              <a:ext uri="{FF2B5EF4-FFF2-40B4-BE49-F238E27FC236}">
                <a16:creationId xmlns:a16="http://schemas.microsoft.com/office/drawing/2014/main" id="{2891BFF9-C865-EA79-E389-2ABF50F61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9243" y="3422658"/>
            <a:ext cx="7504008" cy="2191600"/>
          </a:xfrm>
          <a:prstGeom prst="rect">
            <a:avLst/>
          </a:prstGeom>
          <a:solidFill>
            <a:schemeClr val="accent1"/>
          </a:solidFill>
          <a:ln>
            <a:solidFill>
              <a:schemeClr val="tx1"/>
            </a:solidFill>
          </a:ln>
        </p:spPr>
      </p:pic>
      <p:grpSp>
        <p:nvGrpSpPr>
          <p:cNvPr id="26" name="그룹 25">
            <a:extLst>
              <a:ext uri="{FF2B5EF4-FFF2-40B4-BE49-F238E27FC236}">
                <a16:creationId xmlns:a16="http://schemas.microsoft.com/office/drawing/2014/main" id="{33879313-55F3-335F-E8F1-05C67B4698CF}"/>
              </a:ext>
            </a:extLst>
          </p:cNvPr>
          <p:cNvGrpSpPr/>
          <p:nvPr/>
        </p:nvGrpSpPr>
        <p:grpSpPr>
          <a:xfrm>
            <a:off x="1757188" y="3850904"/>
            <a:ext cx="7504008" cy="2191600"/>
            <a:chOff x="1542445" y="3555615"/>
            <a:chExt cx="8747760" cy="2554847"/>
          </a:xfrm>
          <a:solidFill>
            <a:schemeClr val="accent1"/>
          </a:solidFill>
        </p:grpSpPr>
        <p:pic>
          <p:nvPicPr>
            <p:cNvPr id="19" name="Picture 2">
              <a:extLst>
                <a:ext uri="{FF2B5EF4-FFF2-40B4-BE49-F238E27FC236}">
                  <a16:creationId xmlns:a16="http://schemas.microsoft.com/office/drawing/2014/main" id="{EBB20374-3BDC-1E9F-6CD9-31580CEFA9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2445" y="3555615"/>
              <a:ext cx="8747760" cy="2554847"/>
            </a:xfrm>
            <a:prstGeom prst="rect">
              <a:avLst/>
            </a:prstGeom>
            <a:grpFill/>
            <a:ln>
              <a:solidFill>
                <a:schemeClr val="tx1"/>
              </a:solidFill>
            </a:ln>
          </p:spPr>
        </p:pic>
        <p:pic>
          <p:nvPicPr>
            <p:cNvPr id="23" name="그림 22">
              <a:extLst>
                <a:ext uri="{FF2B5EF4-FFF2-40B4-BE49-F238E27FC236}">
                  <a16:creationId xmlns:a16="http://schemas.microsoft.com/office/drawing/2014/main" id="{2199D197-6300-AA6F-A6A5-8F593C24E193}"/>
                </a:ext>
              </a:extLst>
            </p:cNvPr>
            <p:cNvPicPr>
              <a:picLocks noChangeAspect="1"/>
            </p:cNvPicPr>
            <p:nvPr/>
          </p:nvPicPr>
          <p:blipFill>
            <a:blip r:embed="rId3"/>
            <a:stretch>
              <a:fillRect/>
            </a:stretch>
          </p:blipFill>
          <p:spPr>
            <a:xfrm>
              <a:off x="8218786" y="5547807"/>
              <a:ext cx="1920406" cy="228620"/>
            </a:xfrm>
            <a:prstGeom prst="rect">
              <a:avLst/>
            </a:prstGeom>
            <a:grpFill/>
            <a:ln>
              <a:noFill/>
            </a:ln>
          </p:spPr>
        </p:pic>
        <p:pic>
          <p:nvPicPr>
            <p:cNvPr id="25" name="그림 24">
              <a:extLst>
                <a:ext uri="{FF2B5EF4-FFF2-40B4-BE49-F238E27FC236}">
                  <a16:creationId xmlns:a16="http://schemas.microsoft.com/office/drawing/2014/main" id="{A8A4C009-67BC-591B-1876-CE6C1141242D}"/>
                </a:ext>
              </a:extLst>
            </p:cNvPr>
            <p:cNvPicPr>
              <a:picLocks noChangeAspect="1"/>
            </p:cNvPicPr>
            <p:nvPr/>
          </p:nvPicPr>
          <p:blipFill>
            <a:blip r:embed="rId4"/>
            <a:stretch>
              <a:fillRect/>
            </a:stretch>
          </p:blipFill>
          <p:spPr>
            <a:xfrm>
              <a:off x="1542445" y="5452362"/>
              <a:ext cx="1386960" cy="205758"/>
            </a:xfrm>
            <a:prstGeom prst="rect">
              <a:avLst/>
            </a:prstGeom>
            <a:grpFill/>
            <a:ln>
              <a:noFill/>
            </a:ln>
          </p:spPr>
        </p:pic>
      </p:grpSp>
    </p:spTree>
    <p:extLst>
      <p:ext uri="{BB962C8B-B14F-4D97-AF65-F5344CB8AC3E}">
        <p14:creationId xmlns:p14="http://schemas.microsoft.com/office/powerpoint/2010/main" val="2574542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2310" y="1864995"/>
            <a:ext cx="5312410" cy="408342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05785" y="6068240"/>
            <a:ext cx="5980430"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5D231-7434-CD87-78CE-F3607DC4A8C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DEC688-B8D1-C8D8-A0E6-D810F1388C5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9330E3DC-F38F-CAD5-33AE-FB611FBD28F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3074" name="Picture 2">
            <a:extLst>
              <a:ext uri="{FF2B5EF4-FFF2-40B4-BE49-F238E27FC236}">
                <a16:creationId xmlns:a16="http://schemas.microsoft.com/office/drawing/2014/main" id="{65601198-4604-9731-8577-602A3FFD05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1065" y="1289501"/>
            <a:ext cx="6349964" cy="240521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9BC0AC2-EBA0-2BD1-CFAC-447C94B94C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7766" y="3735794"/>
            <a:ext cx="5671493" cy="24052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D3F6F06-7BE2-8203-E291-E65B12CEE7E8}"/>
              </a:ext>
            </a:extLst>
          </p:cNvPr>
          <p:cNvSpPr txBox="1"/>
          <p:nvPr/>
        </p:nvSpPr>
        <p:spPr>
          <a:xfrm>
            <a:off x="661065" y="3694715"/>
            <a:ext cx="634996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1) (Batch size, Width, Height, Channel)</a:t>
            </a:r>
            <a:endParaRPr lang="ko-KR" altLang="en-US" sz="1400" dirty="0"/>
          </a:p>
        </p:txBody>
      </p:sp>
      <p:sp>
        <p:nvSpPr>
          <p:cNvPr id="7" name="TextBox 6">
            <a:extLst>
              <a:ext uri="{FF2B5EF4-FFF2-40B4-BE49-F238E27FC236}">
                <a16:creationId xmlns:a16="http://schemas.microsoft.com/office/drawing/2014/main" id="{DC804969-74E9-21D8-7F87-1E128AFDF6AF}"/>
              </a:ext>
            </a:extLst>
          </p:cNvPr>
          <p:cNvSpPr txBox="1"/>
          <p:nvPr/>
        </p:nvSpPr>
        <p:spPr>
          <a:xfrm>
            <a:off x="5867766" y="6179683"/>
            <a:ext cx="567149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3) (Batch size, Width, Height, Channel)</a:t>
            </a:r>
            <a:endParaRPr lang="ko-KR" altLang="en-US" sz="1400" dirty="0"/>
          </a:p>
        </p:txBody>
      </p:sp>
    </p:spTree>
    <p:extLst>
      <p:ext uri="{BB962C8B-B14F-4D97-AF65-F5344CB8AC3E}">
        <p14:creationId xmlns:p14="http://schemas.microsoft.com/office/powerpoint/2010/main" val="8114081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99625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816" y="3398520"/>
            <a:ext cx="3591819" cy="2677656"/>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855437" y="286142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91104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590967"/>
            <a:ext cx="6096000" cy="738664"/>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a:t>
            </a:r>
          </a:p>
        </p:txBody>
      </p:sp>
    </p:spTree>
    <p:extLst>
      <p:ext uri="{BB962C8B-B14F-4D97-AF65-F5344CB8AC3E}">
        <p14:creationId xmlns:p14="http://schemas.microsoft.com/office/powerpoint/2010/main" val="37040049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1194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294251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293396" y="560653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293396"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293396" y="2228076"/>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293396"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293396" y="307269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293396"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293396" y="391730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293396"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293396" y="476192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293396"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15D12F6-4F5D-44A8-30EB-DF761140770B}"/>
                  </a:ext>
                </a:extLst>
              </p:cNvPr>
              <p:cNvSpPr txBox="1"/>
              <p:nvPr/>
            </p:nvSpPr>
            <p:spPr>
              <a:xfrm>
                <a:off x="6960773" y="567628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69607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868276B-9126-27F4-1C45-6D6A34003471}"/>
                  </a:ext>
                </a:extLst>
              </p:cNvPr>
              <p:cNvSpPr txBox="1"/>
              <p:nvPr/>
            </p:nvSpPr>
            <p:spPr>
              <a:xfrm>
                <a:off x="6960773" y="2297821"/>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69607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99B93F8-BB65-B543-4147-0ED06C909FCD}"/>
                  </a:ext>
                </a:extLst>
              </p:cNvPr>
              <p:cNvSpPr txBox="1"/>
              <p:nvPr/>
            </p:nvSpPr>
            <p:spPr>
              <a:xfrm>
                <a:off x="6960773" y="314243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69607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A5A0FFC-9B11-9F6A-6E43-6A8A9154D56A}"/>
                  </a:ext>
                </a:extLst>
              </p:cNvPr>
              <p:cNvSpPr txBox="1"/>
              <p:nvPr/>
            </p:nvSpPr>
            <p:spPr>
              <a:xfrm>
                <a:off x="6960773" y="3987051"/>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69607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4BD085-103C-BCB3-E468-E13FE1E36F2B}"/>
                  </a:ext>
                </a:extLst>
              </p:cNvPr>
              <p:cNvSpPr txBox="1"/>
              <p:nvPr/>
            </p:nvSpPr>
            <p:spPr>
              <a:xfrm>
                <a:off x="6960773" y="4831666"/>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69607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88091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5299602"/>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4961048"/>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43782320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470F7-2C5C-FE2E-E48D-723ADDF12B0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725A30D-595D-82E4-351E-7F2F2DCFC18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577C0275-2B0F-D278-A29D-1CEDA72D96B4}"/>
              </a:ext>
            </a:extLst>
          </p:cNvPr>
          <p:cNvGraphicFramePr>
            <a:graphicFrameLocks noGrp="1"/>
          </p:cNvGraphicFramePr>
          <p:nvPr>
            <p:extLst>
              <p:ext uri="{D42A27DB-BD31-4B8C-83A1-F6EECF244321}">
                <p14:modId xmlns:p14="http://schemas.microsoft.com/office/powerpoint/2010/main" val="3143378011"/>
              </p:ext>
            </p:extLst>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T w="12700" cap="flat" cmpd="sng" algn="ctr">
                      <a:solidFill>
                        <a:schemeClr val="tx1"/>
                      </a:solidFill>
                      <a:prstDash val="solid"/>
                      <a:round/>
                      <a:headEnd type="none" w="med" len="med"/>
                      <a:tailEnd type="none" w="med" len="med"/>
                    </a:lnT>
                  </a:tcP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21.50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lnB w="12700" cap="flat" cmpd="sng" algn="ctr">
                      <a:solidFill>
                        <a:schemeClr val="tx1"/>
                      </a:solidFill>
                      <a:prstDash val="solid"/>
                      <a:round/>
                      <a:headEnd type="none" w="med" len="med"/>
                      <a:tailEnd type="none" w="med" len="med"/>
                    </a:lnB>
                  </a:tcP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C8E4F7EF-4BA5-A370-BAA3-B38E18757E7A}"/>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2A87A5D0-916D-27BF-D866-2D20E3F1C2C7}"/>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EBF915A4-0DCB-C7EB-0C33-4500D957956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46326C07-27F9-6F7A-BDF5-B42616B36906}"/>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BA6AD419-A0F2-A35B-1726-8C849497EAFD}"/>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419624C6-0AF1-31D7-713F-4DECD6A71B4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8215670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ℎ</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81470-8656-464B-06C4-C067937AE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9D2C877-831B-8CBF-51C8-3C773B3671A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36794778-297A-F830-9286-DF74C43504C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AutoShape 2" descr=", AI로 생성">
            <a:extLst>
              <a:ext uri="{FF2B5EF4-FFF2-40B4-BE49-F238E27FC236}">
                <a16:creationId xmlns:a16="http://schemas.microsoft.com/office/drawing/2014/main" id="{5E2825BF-340E-EA25-41CB-E1A860DB73E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6" name="그림 5">
            <a:extLst>
              <a:ext uri="{FF2B5EF4-FFF2-40B4-BE49-F238E27FC236}">
                <a16:creationId xmlns:a16="http://schemas.microsoft.com/office/drawing/2014/main" id="{6EB88C18-BA7C-B571-0DEE-B746C08D80A4}"/>
              </a:ext>
            </a:extLst>
          </p:cNvPr>
          <p:cNvPicPr>
            <a:picLocks noChangeAspect="1"/>
          </p:cNvPicPr>
          <p:nvPr/>
        </p:nvPicPr>
        <p:blipFill>
          <a:blip r:embed="rId2"/>
          <a:stretch>
            <a:fillRect/>
          </a:stretch>
        </p:blipFill>
        <p:spPr>
          <a:xfrm>
            <a:off x="6371473" y="2690770"/>
            <a:ext cx="5312527" cy="2410962"/>
          </a:xfrm>
          <a:prstGeom prst="rect">
            <a:avLst/>
          </a:prstGeom>
          <a:ln>
            <a:solidFill>
              <a:schemeClr val="tx1"/>
            </a:solidFill>
          </a:ln>
        </p:spPr>
      </p:pic>
      <p:pic>
        <p:nvPicPr>
          <p:cNvPr id="8" name="그림 7">
            <a:extLst>
              <a:ext uri="{FF2B5EF4-FFF2-40B4-BE49-F238E27FC236}">
                <a16:creationId xmlns:a16="http://schemas.microsoft.com/office/drawing/2014/main" id="{8C5FFDD5-943E-07A6-655C-289EE003F9AE}"/>
              </a:ext>
            </a:extLst>
          </p:cNvPr>
          <p:cNvPicPr>
            <a:picLocks noChangeAspect="1"/>
          </p:cNvPicPr>
          <p:nvPr/>
        </p:nvPicPr>
        <p:blipFill>
          <a:blip r:embed="rId3"/>
          <a:stretch>
            <a:fillRect/>
          </a:stretch>
        </p:blipFill>
        <p:spPr>
          <a:xfrm>
            <a:off x="608994" y="2690770"/>
            <a:ext cx="5312527" cy="2410962"/>
          </a:xfrm>
          <a:prstGeom prst="rect">
            <a:avLst/>
          </a:prstGeom>
          <a:ln>
            <a:solidFill>
              <a:schemeClr val="tx1"/>
            </a:solidFill>
          </a:ln>
        </p:spPr>
      </p:pic>
    </p:spTree>
    <p:extLst>
      <p:ext uri="{BB962C8B-B14F-4D97-AF65-F5344CB8AC3E}">
        <p14:creationId xmlns:p14="http://schemas.microsoft.com/office/powerpoint/2010/main" val="251595256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0777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차원이 </a:t>
            </a:r>
            <a:r>
              <a:rPr lang="en-US" altLang="ko-KR" sz="1600" dirty="0">
                <a:latin typeface="D2Coding" panose="020B0609020101020101" pitchFamily="49" charset="-127"/>
                <a:ea typeface="D2Coding" panose="020B0609020101020101" pitchFamily="49" charset="-127"/>
              </a:rPr>
              <a:t>4(4</a:t>
            </a:r>
            <a:r>
              <a:rPr lang="ko-KR" altLang="en-US" sz="1600" dirty="0">
                <a:latin typeface="D2Coding" panose="020B0609020101020101" pitchFamily="49" charset="-127"/>
                <a:ea typeface="D2Coding" panose="020B0609020101020101" pitchFamily="49" charset="-127"/>
              </a:rPr>
              <a:t>차원 벡터로 단어를 표현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단어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번</a:t>
            </a:r>
            <a:r>
              <a:rPr lang="en-US" altLang="ko-KR" sz="1600" dirty="0">
                <a:latin typeface="D2Coding" panose="020B0609020101020101" pitchFamily="49" charset="-127"/>
                <a:ea typeface="D2Coding" panose="020B0609020101020101" pitchFamily="49" charset="-127"/>
              </a:rPr>
              <a:t>(time step 4) </a:t>
            </a:r>
            <a:r>
              <a:rPr lang="ko-KR" altLang="en-US" sz="1600" dirty="0">
                <a:latin typeface="D2Coding" panose="020B0609020101020101" pitchFamily="49" charset="-127"/>
                <a:ea typeface="D2Coding" panose="020B0609020101020101" pitchFamily="49" charset="-127"/>
              </a:rPr>
              <a:t>연속으로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를 통과시키고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층이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은닉층은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ℎ</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ℎ</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ℎ</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2317870" y="588873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2773210" y="6251056"/>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ℎ</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ℎ</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ℎ</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ℎ</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
                      <m:sSub>
                        <m:sSubPr>
                          <m:ctrlPr>
                            <a:rPr lang="ko-KR" altLang="en-US" b="1" i="1">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ℎ</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5409899" cy="3115298"/>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700878"/>
            <a:ext cx="7711440" cy="1675139"/>
          </a:xfrm>
          <a:prstGeom prst="rect">
            <a:avLst/>
          </a:prstGeom>
          <a:solidFill>
            <a:srgbClr val="76E3FF"/>
          </a:solidFill>
        </p:spPr>
        <p:txBody>
          <a:bodyPr wrap="square">
            <a:spAutoFit/>
          </a:bodyPr>
          <a:lstStyle/>
          <a:p>
            <a:pPr>
              <a:lnSpc>
                <a:spcPct val="150000"/>
              </a:lnSpc>
            </a:pPr>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=[None, 1]),</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(1)</a:t>
            </a:r>
          </a:p>
          <a:p>
            <a:pPr>
              <a:lnSpc>
                <a:spcPct val="150000"/>
              </a:lnSpc>
            </a:pP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035810" y="1586384"/>
            <a:ext cx="9689068" cy="4575956"/>
          </a:xfrm>
          <a:prstGeom prst="rect">
            <a:avLst/>
          </a:prstGeom>
          <a:ln>
            <a:solidFill>
              <a:schemeClr val="tx1"/>
            </a:solidFill>
          </a:ln>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5"/>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3"/>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4"/>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5"/>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9257</TotalTime>
  <Words>7227</Words>
  <Application>Microsoft Office PowerPoint</Application>
  <PresentationFormat>와이드스크린</PresentationFormat>
  <Paragraphs>840</Paragraphs>
  <Slides>73</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73</vt:i4>
      </vt:variant>
    </vt:vector>
  </HeadingPairs>
  <TitlesOfParts>
    <vt:vector size="85"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조상구</cp:lastModifiedBy>
  <cp:revision>144</cp:revision>
  <dcterms:created xsi:type="dcterms:W3CDTF">2026-04-06T01:00:39Z</dcterms:created>
  <dcterms:modified xsi:type="dcterms:W3CDTF">2026-10-06T06:00:33Z</dcterms:modified>
  <cp:version/>
</cp:coreProperties>
</file>