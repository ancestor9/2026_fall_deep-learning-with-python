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handoutMasterIdLst>
    <p:handoutMasterId r:id="rId10"/>
  </p:handoutMasterIdLst>
  <p:sldIdLst>
    <p:sldId id="256" r:id="rId2"/>
    <p:sldId id="1135" r:id="rId3"/>
    <p:sldId id="1142" r:id="rId4"/>
    <p:sldId id="1144" r:id="rId5"/>
    <p:sldId id="1147" r:id="rId6"/>
    <p:sldId id="1146" r:id="rId7"/>
    <p:sldId id="1148" r:id="rId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42"/>
            <p14:sldId id="1144"/>
            <p14:sldId id="1147"/>
            <p14:sldId id="1146"/>
            <p14:sldId id="114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7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A deep dive on </a:t>
            </a:r>
            <a:r>
              <a:rPr lang="en-US" altLang="ko-KR" sz="4400" dirty="0" err="1">
                <a:solidFill>
                  <a:schemeClr val="bg1"/>
                </a:solidFill>
              </a:rPr>
              <a:t>Keras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0" y="1248422"/>
            <a:ext cx="11233469" cy="4005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The different ways to create </a:t>
            </a:r>
            <a:r>
              <a:rPr lang="en-US" altLang="ko-KR" sz="2000" dirty="0" err="1"/>
              <a:t>Keras</a:t>
            </a:r>
            <a:r>
              <a:rPr lang="en-US" altLang="ko-KR" sz="2000" dirty="0"/>
              <a:t> models: the Sequential class, the Functional API, and model subclassing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How to use the built-in </a:t>
            </a:r>
            <a:r>
              <a:rPr lang="en-US" altLang="ko-KR" sz="2000" dirty="0" err="1"/>
              <a:t>Keras</a:t>
            </a:r>
            <a:r>
              <a:rPr lang="en-US" altLang="ko-KR" sz="2000" dirty="0"/>
              <a:t> training and evaluation loops, including how to use custom metrics and custom losses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Using </a:t>
            </a:r>
            <a:r>
              <a:rPr lang="en-US" altLang="ko-KR" sz="2000" dirty="0" err="1"/>
              <a:t>Keras</a:t>
            </a:r>
            <a:r>
              <a:rPr lang="en-US" altLang="ko-KR" sz="2000" dirty="0"/>
              <a:t> callbacks to further customize how training proceeds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Using </a:t>
            </a:r>
            <a:r>
              <a:rPr lang="en-US" altLang="ko-KR" sz="2000" dirty="0" err="1"/>
              <a:t>TensorBoard</a:t>
            </a:r>
            <a:r>
              <a:rPr lang="en-US" altLang="ko-KR" sz="2000" dirty="0"/>
              <a:t> for monitoring your training and evaluation metrics over time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How to write your own training and evaluation loops from scratch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0AD43-EB09-973C-6915-D5E066254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A443F0-E912-1108-17B8-FEAA865DA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E6AF090-76C3-C112-1DD8-CF6E7DA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 spectrum of workflows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F032AF-0C22-5A45-005C-F85F6A843816}"/>
              </a:ext>
            </a:extLst>
          </p:cNvPr>
          <p:cNvSpPr txBox="1"/>
          <p:nvPr/>
        </p:nvSpPr>
        <p:spPr>
          <a:xfrm>
            <a:off x="566737" y="1515027"/>
            <a:ext cx="11058525" cy="2127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모든 워크플로가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공유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기반으로 작동 즉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초보자가 쓰는 레고 블록과 전문가가 직접 깎아 만든 레고 블록의 규격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돌기 모양과 크기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완전히 동일함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scikit-learn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사용하는 것처럼 단순히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fit()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호출하고 프레임워크가 알아서 하도록 둘 수도 있고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NumPy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사용하는 것처럼 모든 세부 사항을 완전히 제어할 수 있음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9714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8122F-979A-FBE4-1273-A89F9120E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C3C76-D244-006B-FA7B-A81F44A46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261F17-C13B-BF51-E513-08DC798AD2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Different ways to build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r>
              <a:rPr lang="en-US" altLang="ko-KR" sz="2800" b="1" cap="none" dirty="0">
                <a:latin typeface="Lora" pitchFamily="2" charset="0"/>
              </a:rPr>
              <a:t> models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7B49FDF4-1CF2-7683-F382-9F51AFCBB0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850307"/>
              </p:ext>
            </p:extLst>
          </p:nvPr>
        </p:nvGraphicFramePr>
        <p:xfrm>
          <a:off x="671211" y="2453751"/>
          <a:ext cx="10677625" cy="35825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5810">
                  <a:extLst>
                    <a:ext uri="{9D8B030D-6E8A-4147-A177-3AD203B41FA5}">
                      <a16:colId xmlns:a16="http://schemas.microsoft.com/office/drawing/2014/main" val="2091638810"/>
                    </a:ext>
                  </a:extLst>
                </a:gridCol>
                <a:gridCol w="680720">
                  <a:extLst>
                    <a:ext uri="{9D8B030D-6E8A-4147-A177-3AD203B41FA5}">
                      <a16:colId xmlns:a16="http://schemas.microsoft.com/office/drawing/2014/main" val="3187033075"/>
                    </a:ext>
                  </a:extLst>
                </a:gridCol>
                <a:gridCol w="4513780">
                  <a:extLst>
                    <a:ext uri="{9D8B030D-6E8A-4147-A177-3AD203B41FA5}">
                      <a16:colId xmlns:a16="http://schemas.microsoft.com/office/drawing/2014/main" val="1383926084"/>
                    </a:ext>
                  </a:extLst>
                </a:gridCol>
                <a:gridCol w="3777315">
                  <a:extLst>
                    <a:ext uri="{9D8B030D-6E8A-4147-A177-3AD203B41FA5}">
                      <a16:colId xmlns:a16="http://schemas.microsoft.com/office/drawing/2014/main" val="592653468"/>
                    </a:ext>
                  </a:extLst>
                </a:gridCol>
              </a:tblGrid>
              <a:tr h="5563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스타일</a:t>
                      </a:r>
                      <a:endParaRPr lang="ko-KR" alt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난이도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유연성</a:t>
                      </a:r>
                      <a:endParaRPr lang="ko-KR" alt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특징 및 장점</a:t>
                      </a:r>
                      <a:endParaRPr lang="ko-KR" altLang="en-US" sz="1400" b="1" i="0" u="none" strike="noStrike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적합한 유스케이스</a:t>
                      </a:r>
                      <a:endParaRPr lang="ko-KR" altLang="en-US" sz="1400" b="1" i="0" u="none" strike="noStrike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526082928"/>
                  </a:ext>
                </a:extLst>
              </a:tr>
              <a:tr h="83263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1. Sequential API</a:t>
                      </a:r>
                      <a:b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시퀀셜</a:t>
                      </a:r>
                      <a:r>
                        <a:rPr lang="ko-KR" alt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방식</a:t>
                      </a:r>
                      <a: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1" i="0" u="none" strike="noStrike" dirty="0">
                        <a:solidFill>
                          <a:srgbClr val="1A365D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</a:t>
                      </a:r>
                      <a:r>
                        <a:rPr lang="en-US" altLang="ko-KR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</a:t>
                      </a:r>
                    </a:p>
                  </a:txBody>
                  <a:tcPr marL="2538" marR="2538" marT="2538" marB="0" anchor="ctr"/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가장 직관적이고 단순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레이어를 차례대로 쌓기만 하면 됨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구조가 직관적이라 디버깅이 쉬움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2538" marR="2538" marT="2538" marB="0" anchor="ctr"/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선형적인 구조의 단순한 신경망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4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Single-input, single-output models</a:t>
                      </a: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빠른 프로토타이핑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딥러닝 입문 및 교육용</a:t>
                      </a:r>
                    </a:p>
                  </a:txBody>
                  <a:tcPr marL="2538" marR="2538" marT="2538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39324621"/>
                  </a:ext>
                </a:extLst>
              </a:tr>
              <a:tr h="116776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2. Functional API</a:t>
                      </a:r>
                      <a:b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함수형 방식</a:t>
                      </a:r>
                      <a: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1" i="0" u="none" strike="noStrike" dirty="0">
                        <a:solidFill>
                          <a:srgbClr val="1A365D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중</a:t>
                      </a:r>
                      <a:r>
                        <a:rPr lang="en-US" altLang="ko-KR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중</a:t>
                      </a:r>
                    </a:p>
                  </a:txBody>
                  <a:tcPr marL="2538" marR="2538" marT="2538" marB="0" anchor="ctr"/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실무에서 가장 널리 쓰이는 표준 방식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레이어를 함수처럼 호출하여 앞뒤를 자유롭게 연결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다중 입력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그래프 구조 완벽 지원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모델 구조 시각화 및 재사용에 유리</a:t>
                      </a:r>
                      <a:endParaRPr lang="ko-KR" altLang="en-US" sz="1400" b="0" i="0" u="none" strike="noStrike" dirty="0">
                        <a:solidFill>
                          <a:srgbClr val="2D3748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/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비선형적인</a:t>
                      </a: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구조의 복잡한 신경망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4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Multi-input, multi-output models</a:t>
                      </a:r>
                      <a:endParaRPr lang="en-US" altLang="ko-KR" sz="1400" b="1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defTabSz="914400" rtl="0" eaLnBrk="1" fontAlgn="t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실무에서 쓰이는 대부분의 복잡한 </a:t>
                      </a: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모델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다중 태스크 모델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분석 후 카테고리와 텍스트 동시 예측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잔차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연결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(Residual)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포함된 아키텍처</a:t>
                      </a:r>
                      <a:endParaRPr lang="ko-KR" altLang="en-US" sz="1400" b="0" i="0" u="none" strike="noStrike" dirty="0">
                        <a:solidFill>
                          <a:srgbClr val="2D3748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589451790"/>
                  </a:ext>
                </a:extLst>
              </a:tr>
              <a:tr h="887463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</a:t>
                      </a:r>
                      <a: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 Subclassing API</a:t>
                      </a:r>
                      <a:b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서브클래싱</a:t>
                      </a:r>
                      <a:r>
                        <a:rPr lang="ko-KR" alt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방식</a:t>
                      </a:r>
                      <a: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1" i="0" u="none" strike="noStrike" dirty="0">
                        <a:solidFill>
                          <a:srgbClr val="1A365D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</a:t>
                      </a:r>
                      <a:r>
                        <a:rPr lang="en-US" altLang="ko-KR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</a:t>
                      </a:r>
                    </a:p>
                  </a:txBody>
                  <a:tcPr marL="2538" marR="2538" marT="2538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4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keras.Model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상속받아 파이썬 클래스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call()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메서드 내부에서 모든 제어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(if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문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for)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연산이나 동적인 모델 구조 정의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altLang="ko-KR" sz="14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PyTorch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 dirty="0">
                        <a:solidFill>
                          <a:srgbClr val="2D3748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인공지능 연구원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(Researcher)</a:t>
                      </a: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논문에 새로 나온 독창적인 아키텍처 구현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동적 조건에 따라 제어 흐름이 바뀌는 모델</a:t>
                      </a:r>
                      <a:endParaRPr lang="ko-KR" altLang="en-US" sz="1400" b="0" i="0" u="none" strike="noStrike" dirty="0">
                        <a:solidFill>
                          <a:srgbClr val="2D3748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431536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82D1249-4095-8E32-2B79-AC20B34CF6FD}"/>
              </a:ext>
            </a:extLst>
          </p:cNvPr>
          <p:cNvSpPr txBox="1"/>
          <p:nvPr/>
        </p:nvSpPr>
        <p:spPr>
          <a:xfrm>
            <a:off x="548639" y="1243876"/>
            <a:ext cx="10972149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레고 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(Functional API)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짓다가 내가 원하는 특수한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브릭이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없으면 그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브릭만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3D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프린터로 직접 찍어서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(Subclassing API)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성벽 중간에 조립해도 완벽하게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맞아떨어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지도록 모델 유형을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Mix &amp; Match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73407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E70B9-5654-A5B6-2611-8A8E13CE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1B3FAF-0A59-B809-6001-123EE4730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AA0A530-F655-859A-2D85-453B4F511F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659571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Different ways to build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r>
              <a:rPr lang="en-US" altLang="ko-KR" sz="2800" b="1" cap="none" dirty="0">
                <a:latin typeface="Lora" pitchFamily="2" charset="0"/>
              </a:rPr>
              <a:t> models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903609-6381-C120-0EA0-451E43FA442E}"/>
              </a:ext>
            </a:extLst>
          </p:cNvPr>
          <p:cNvSpPr txBox="1"/>
          <p:nvPr/>
        </p:nvSpPr>
        <p:spPr>
          <a:xfrm>
            <a:off x="8554720" y="822776"/>
            <a:ext cx="304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Functional API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4854A1D-15A3-B76F-3237-451998C01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805" y="2736850"/>
            <a:ext cx="4097757" cy="3300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86A3EDEA-44E5-F84B-7F48-777ED5F280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2631" y="2736850"/>
            <a:ext cx="5200650" cy="3300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1286AE1-FF3A-2650-C3F3-446BEDC64377}"/>
              </a:ext>
            </a:extLst>
          </p:cNvPr>
          <p:cNvSpPr txBox="1"/>
          <p:nvPr/>
        </p:nvSpPr>
        <p:spPr>
          <a:xfrm>
            <a:off x="2092960" y="1907247"/>
            <a:ext cx="726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power of the Functional API: Access to layer connectivity</a:t>
            </a:r>
          </a:p>
        </p:txBody>
      </p:sp>
    </p:spTree>
    <p:extLst>
      <p:ext uri="{BB962C8B-B14F-4D97-AF65-F5344CB8AC3E}">
        <p14:creationId xmlns:p14="http://schemas.microsoft.com/office/powerpoint/2010/main" val="1901938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6A7EB-D8FF-0AE4-6B0E-A35CA5DA3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DC8C2B-92BF-B2E5-EEC6-9E5B5B4F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D92536E-88F8-EA03-72A7-C546A2E352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Using built-in training and evaluation loops</a:t>
            </a:r>
          </a:p>
        </p:txBody>
      </p:sp>
    </p:spTree>
    <p:extLst>
      <p:ext uri="{BB962C8B-B14F-4D97-AF65-F5344CB8AC3E}">
        <p14:creationId xmlns:p14="http://schemas.microsoft.com/office/powerpoint/2010/main" val="2764261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09AF4-13C2-BB8C-7BFC-6CD15F491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D42AF9-ED60-E6F6-D796-22E5E2FB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A1ECBA-5803-6C29-0C46-8A7E5A8D3E8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Writing your own training and evaluation loops</a:t>
            </a:r>
          </a:p>
        </p:txBody>
      </p:sp>
    </p:spTree>
    <p:extLst>
      <p:ext uri="{BB962C8B-B14F-4D97-AF65-F5344CB8AC3E}">
        <p14:creationId xmlns:p14="http://schemas.microsoft.com/office/powerpoint/2010/main" val="128900824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9031</TotalTime>
  <Words>414</Words>
  <Application>Microsoft Office PowerPoint</Application>
  <PresentationFormat>와이드스크린</PresentationFormat>
  <Paragraphs>61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D2Coding</vt:lpstr>
      <vt:lpstr>맑은 고딕</vt:lpstr>
      <vt:lpstr>바탕</vt:lpstr>
      <vt:lpstr>Arial</vt:lpstr>
      <vt:lpstr>Lora</vt:lpstr>
      <vt:lpstr>Wingdings</vt:lpstr>
      <vt:lpstr>WelcomeDoc</vt:lpstr>
      <vt:lpstr>Chapter 7  A deep dive on Keras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145</cp:revision>
  <dcterms:created xsi:type="dcterms:W3CDTF">2026-04-06T01:00:39Z</dcterms:created>
  <dcterms:modified xsi:type="dcterms:W3CDTF">2026-07-06T22:12:40Z</dcterms:modified>
  <cp:version/>
</cp:coreProperties>
</file>