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9"/>
  </p:notesMasterIdLst>
  <p:handoutMasterIdLst>
    <p:handoutMasterId r:id="rId10"/>
  </p:handoutMasterIdLst>
  <p:sldIdLst>
    <p:sldId id="256" r:id="rId2"/>
    <p:sldId id="1135" r:id="rId3"/>
    <p:sldId id="1142" r:id="rId4"/>
    <p:sldId id="1144" r:id="rId5"/>
    <p:sldId id="1147" r:id="rId6"/>
    <p:sldId id="1150" r:id="rId7"/>
    <p:sldId id="1148" r:id="rId8"/>
  </p:sldIdLst>
  <p:sldSz cx="12192000" cy="6858000"/>
  <p:notesSz cx="6858000" cy="9144000"/>
  <p:defaultTextStyle>
    <a:defPPr rtl="0">
      <a:defRPr lang="ko-K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감사합니다." id="{E75E278A-FF0E-49A4-B170-79828D63BBAD}">
          <p14:sldIdLst>
            <p14:sldId id="256"/>
          </p14:sldIdLst>
        </p14:section>
        <p14:section name="디자인, 모핑, 주석 달기, 공동 작업, 입력하세요" id="{B9B51309-D148-4332-87C2-07BE32FBCA3B}">
          <p14:sldIdLst>
            <p14:sldId id="1135"/>
            <p14:sldId id="1142"/>
            <p14:sldId id="1144"/>
            <p14:sldId id="1147"/>
            <p14:sldId id="1150"/>
            <p14:sldId id="1148"/>
          </p14:sldIdLst>
        </p14:section>
        <p14:section name="자세한 정보" id="{2CC34DB2-6590-42C0-AD4B-A04C6060184E}">
          <p14:sldIdLst/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3" name="만든 이" initials="오전" lastIdx="0" clrIdx="2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6E3FF"/>
    <a:srgbClr val="FF9B45"/>
    <a:srgbClr val="DD462F"/>
    <a:srgbClr val="D24726"/>
    <a:srgbClr val="404040"/>
    <a:srgbClr val="F8CFB6"/>
    <a:srgbClr val="F8CAB6"/>
    <a:srgbClr val="923922"/>
    <a:srgbClr val="F5F5F5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1E4AEA4-8DFA-4A89-87EB-49C32662AFE0}" styleName="보통 스타일 2 - 강조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F5AB1C69-6EDB-4FF4-983F-18BD219EF322}" styleName="보통 스타일 2 - 강조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3062" autoAdjust="0"/>
    <p:restoredTop sz="94297" autoAdjust="0"/>
  </p:normalViewPr>
  <p:slideViewPr>
    <p:cSldViewPr snapToGrid="0">
      <p:cViewPr varScale="1">
        <p:scale>
          <a:sx n="80" d="100"/>
          <a:sy n="80" d="100"/>
        </p:scale>
        <p:origin x="874" y="58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-59582"/>
    </p:cViewPr>
  </p:outlineViewPr>
  <p:notesTextViewPr>
    <p:cViewPr>
      <p:scale>
        <a:sx n="125" d="100"/>
        <a:sy n="125" d="100"/>
      </p:scale>
      <p:origin x="0" y="0"/>
    </p:cViewPr>
  </p:notesTextViewPr>
  <p:sorterViewPr>
    <p:cViewPr varScale="1">
      <p:scale>
        <a:sx n="1" d="1"/>
        <a:sy n="1" d="1"/>
      </p:scale>
      <p:origin x="0" y="0"/>
    </p:cViewPr>
  </p:sorterViewPr>
  <p:notesViewPr>
    <p:cSldViewPr snapToGrid="0">
      <p:cViewPr varScale="1">
        <p:scale>
          <a:sx n="104" d="100"/>
          <a:sy n="104" d="100"/>
        </p:scale>
        <p:origin x="4608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commentAuthors" Target="commentAuthors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handoutMaster" Target="handoutMasters/handoutMaster1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Relationship Id="rId14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424059DE-6CD5-4C59-8233-088CE5808E67}" type="datetime1">
              <a:rPr lang="ko-KR" altLang="en-US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2026-08-03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9C679768-A2FC-4D08-91F6-8DCE6C566B36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‹#›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30255166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43E1C3DD-4A19-441D-907C-380838DB51C4}" type="datetime1">
              <a:rPr lang="ko-KR" altLang="en-US" noProof="0" smtClean="0"/>
              <a:t>2026-08-03</a:t>
            </a:fld>
            <a:endParaRPr lang="ko-KR" altLang="en-US" noProof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ko-KR" altLang="en-US" noProof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ko-KR" altLang="en-US" noProof="0" dirty="0"/>
              <a:t>마스터 텍스트 스타일을 편집하려면 클릭하세요</a:t>
            </a:r>
            <a:r>
              <a:rPr lang="en-US" altLang="ko-KR" noProof="0" dirty="0"/>
              <a:t>.</a:t>
            </a:r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DF61EA0F-A667-4B49-8422-0062BC55E249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338191029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1176981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 bwMode="blackWhite">
          <a:xfrm>
            <a:off x="254950" y="262784"/>
            <a:ext cx="11682101" cy="633243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17185494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12" name="직선 연결선(S) 11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제목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6877119" cy="640080"/>
          </a:xfrm>
        </p:spPr>
        <p:txBody>
          <a:bodyPr rtlCol="0" anchor="b" anchorCtr="0">
            <a:normAutofit/>
          </a:bodyPr>
          <a:lstStyle>
            <a:lvl1pPr>
              <a:defRPr sz="28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quarter" idx="10" hasCustomPrompt="1"/>
          </p:nvPr>
        </p:nvSpPr>
        <p:spPr>
          <a:xfrm>
            <a:off x="539496" y="1435608"/>
            <a:ext cx="44165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  <p:sp>
        <p:nvSpPr>
          <p:cNvPr id="6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90475B5-67CA-4281-BDCA-DA943C3C8EB3}" type="datetime1">
              <a:rPr lang="ko-KR" altLang="en-US" noProof="0" smtClean="0"/>
              <a:t>2026-08-03</a:t>
            </a:fld>
            <a:endParaRPr lang="ko-KR" altLang="en-US" noProof="0"/>
          </a:p>
        </p:txBody>
      </p:sp>
      <p:sp>
        <p:nvSpPr>
          <p:cNvPr id="7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8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192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21858365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4951" y="262784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" name="직사각형 9"/>
          <p:cNvSpPr/>
          <p:nvPr userDrawn="1"/>
        </p:nvSpPr>
        <p:spPr bwMode="blackWhite">
          <a:xfrm>
            <a:off x="254950" y="262784"/>
            <a:ext cx="11682101" cy="207264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21208" y="1536192"/>
            <a:ext cx="6876288" cy="640080"/>
          </a:xfrm>
        </p:spPr>
        <p:txBody>
          <a:bodyPr rtlCol="0">
            <a:normAutofit/>
          </a:bodyPr>
          <a:lstStyle>
            <a:lvl1pPr>
              <a:defRPr sz="360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7" name="내용 개체 틀 6"/>
          <p:cNvSpPr>
            <a:spLocks noGrp="1"/>
          </p:cNvSpPr>
          <p:nvPr>
            <p:ph sz="quarter" idx="13" hasCustomPrompt="1"/>
          </p:nvPr>
        </p:nvSpPr>
        <p:spPr>
          <a:xfrm>
            <a:off x="539496" y="2560320"/>
            <a:ext cx="94457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24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</p:spTree>
    <p:extLst>
      <p:ext uri="{BB962C8B-B14F-4D97-AF65-F5344CB8AC3E}">
        <p14:creationId xmlns:p14="http://schemas.microsoft.com/office/powerpoint/2010/main" val="13356555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2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913795" y="139083"/>
            <a:ext cx="10353762" cy="766439"/>
          </a:xfrm>
        </p:spPr>
        <p:txBody>
          <a:bodyPr rtlCol="0">
            <a:normAutofit/>
          </a:bodyPr>
          <a:lstStyle>
            <a:lvl1pPr>
              <a:defRPr sz="3200">
                <a:latin typeface="Batang" panose="02030600000101010101" pitchFamily="18" charset="-127"/>
                <a:ea typeface="Batang" panose="02030600000101010101" pitchFamily="18" charset="-127"/>
              </a:defRPr>
            </a:lvl1pPr>
          </a:lstStyle>
          <a:p>
            <a:pPr rtl="0"/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913795" y="1127464"/>
            <a:ext cx="10353762" cy="4663735"/>
          </a:xfrm>
        </p:spPr>
        <p:txBody>
          <a:bodyPr rtlCol="0"/>
          <a:lstStyle>
            <a:lvl1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1pPr>
            <a:lvl2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2pPr>
            <a:lvl3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3pPr>
            <a:lvl4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4pPr>
            <a:lvl5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5pPr>
          </a:lstStyle>
          <a:p>
            <a:pPr lvl="0" rtl="0"/>
            <a:r>
              <a:rPr lang="ko-KR" altLang="en-US" dirty="0"/>
              <a:t>마스터 텍스트 스타일을 편집하려면 클릭</a:t>
            </a:r>
          </a:p>
          <a:p>
            <a:pPr lvl="1" rtl="0"/>
            <a:r>
              <a:rPr lang="ko-KR" altLang="en-US" dirty="0"/>
              <a:t>두 번째 수준</a:t>
            </a:r>
          </a:p>
          <a:p>
            <a:pPr lvl="2" rtl="0"/>
            <a:r>
              <a:rPr lang="ko-KR" altLang="en-US" dirty="0"/>
              <a:t>세 번째 수준</a:t>
            </a:r>
          </a:p>
          <a:p>
            <a:pPr lvl="3" rtl="0"/>
            <a:r>
              <a:rPr lang="ko-KR" altLang="en-US" dirty="0"/>
              <a:t>네 번째 수준</a:t>
            </a:r>
          </a:p>
          <a:p>
            <a:pPr lvl="4" rtl="0"/>
            <a:r>
              <a:rPr lang="ko-KR" altLang="en-US" dirty="0"/>
              <a:t>다섯 번째 수준</a:t>
            </a:r>
            <a:endParaRPr lang="en-US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B4745536-17E2-EEF7-D107-B4146DE2141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5924" y="6365874"/>
            <a:ext cx="355393" cy="393576"/>
          </a:xfrm>
          <a:prstGeom prst="rect">
            <a:avLst/>
          </a:prstGeom>
        </p:spPr>
      </p:pic>
      <p:sp>
        <p:nvSpPr>
          <p:cNvPr id="4" name="Date Placeholder 4">
            <a:extLst>
              <a:ext uri="{FF2B5EF4-FFF2-40B4-BE49-F238E27FC236}">
                <a16:creationId xmlns:a16="http://schemas.microsoft.com/office/drawing/2014/main" id="{3AC7079E-4A2B-916C-C464-65DEFE43418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78737" y="619823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8/3/2026</a:t>
            </a:fld>
            <a:endParaRPr lang="en-US" dirty="0"/>
          </a:p>
        </p:txBody>
      </p:sp>
      <p:sp>
        <p:nvSpPr>
          <p:cNvPr id="5" name="Footer Placeholder 5">
            <a:extLst>
              <a:ext uri="{FF2B5EF4-FFF2-40B4-BE49-F238E27FC236}">
                <a16:creationId xmlns:a16="http://schemas.microsoft.com/office/drawing/2014/main" id="{A9D00E07-4D48-7C0C-4DF1-A39D6E8BB9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3774" y="619823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6">
            <a:extLst>
              <a:ext uri="{FF2B5EF4-FFF2-40B4-BE49-F238E27FC236}">
                <a16:creationId xmlns:a16="http://schemas.microsoft.com/office/drawing/2014/main" id="{1DFF8BFD-50B2-6671-09A6-3F6A70B599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19823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30270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521208" y="448056"/>
            <a:ext cx="6876288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rmAutofit/>
          </a:bodyPr>
          <a:lstStyle/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539496" y="1435608"/>
            <a:ext cx="4416552" cy="39776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 rtl="0"/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lvl="1" rtl="0"/>
            <a:r>
              <a:rPr lang="ko-KR" altLang="en-US" noProof="0"/>
              <a:t>둘째 수준</a:t>
            </a:r>
          </a:p>
          <a:p>
            <a:pPr lvl="2" rtl="0"/>
            <a:r>
              <a:rPr lang="ko-KR" altLang="en-US" noProof="0"/>
              <a:t>셋째 수준</a:t>
            </a:r>
          </a:p>
          <a:p>
            <a:pPr lvl="3" rtl="0"/>
            <a:r>
              <a:rPr lang="ko-KR" altLang="en-US" noProof="0"/>
              <a:t>넷째 수준</a:t>
            </a:r>
          </a:p>
          <a:p>
            <a:pPr lvl="4" rtl="0"/>
            <a:r>
              <a:rPr lang="ko-KR" altLang="en-US" noProof="0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C655C81E-72E7-4D05-94B5-F45B321A525D}" type="datetime1">
              <a:rPr lang="ko-KR" altLang="en-US" noProof="0" smtClean="0"/>
              <a:t>2026-08-03</a:t>
            </a:fld>
            <a:endParaRPr lang="ko-KR" altLang="en-US" noProof="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5904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8" name="직선 연결선(S) 7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67549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5" r:id="rId4"/>
  </p:sldLayoutIdLst>
  <p:hf hdr="0" ftr="0" dt="0"/>
  <p:txStyles>
    <p:titleStyle>
      <a:lvl1pPr algn="l" defTabSz="914400" rtl="0" eaLnBrk="1" latinLnBrk="1" hangingPunct="1">
        <a:spcBef>
          <a:spcPct val="0"/>
        </a:spcBef>
        <a:buNone/>
        <a:defRPr sz="2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j-cs"/>
        </a:defRPr>
      </a:lvl1pPr>
    </p:titleStyle>
    <p:bodyStyle>
      <a:lvl1pPr marL="0" indent="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Tx/>
        <a:buNone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1pPr>
      <a:lvl2pPr marL="228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2pPr>
      <a:lvl3pPr marL="685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3pPr>
      <a:lvl4pPr marL="11430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4pPr>
      <a:lvl5pPr marL="16002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5pPr>
      <a:lvl6pPr marL="20574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6pPr>
      <a:lvl7pPr marL="2514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7pPr>
      <a:lvl8pPr marL="2971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8pPr>
      <a:lvl9pPr marL="3429000" indent="-228600" algn="l" defTabSz="914400" rtl="0" eaLnBrk="1" latinLnBrk="1" hangingPunct="1">
        <a:lnSpc>
          <a:spcPct val="90000"/>
        </a:lnSpc>
        <a:spcBef>
          <a:spcPct val="30000"/>
        </a:spcBef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171575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4400" dirty="0">
                <a:solidFill>
                  <a:schemeClr val="bg1"/>
                </a:solidFill>
              </a:rPr>
              <a:t>Chapter 7 </a:t>
            </a:r>
            <a:br>
              <a:rPr lang="en-US" altLang="ko-KR" sz="4400" dirty="0">
                <a:solidFill>
                  <a:schemeClr val="bg1"/>
                </a:solidFill>
              </a:rPr>
            </a:br>
            <a:r>
              <a:rPr lang="en-US" altLang="ko-KR" sz="4400" dirty="0">
                <a:solidFill>
                  <a:schemeClr val="bg1"/>
                </a:solidFill>
              </a:rPr>
              <a:t>A deep dive on </a:t>
            </a:r>
            <a:r>
              <a:rPr lang="en-US" altLang="ko-KR" sz="4400" dirty="0" err="1">
                <a:solidFill>
                  <a:schemeClr val="bg1"/>
                </a:solidFill>
              </a:rPr>
              <a:t>Keras</a:t>
            </a:r>
            <a:endParaRPr lang="ko-KR" altLang="en-US" sz="4400" dirty="0">
              <a:solidFill>
                <a:schemeClr val="bg1"/>
              </a:solidFill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D2A693FF-597D-D05E-69BD-7CA96D17F1CD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</a:rPr>
              <a:t>조상구교수</a:t>
            </a:r>
            <a:endParaRPr lang="en-US" altLang="ko-KR" sz="2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718077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F720D6-5AE6-3C71-71A9-7178299E6F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BA99687-4C48-8DA7-5F76-6B7712A597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FD810985-A788-B5F8-19D5-7D75D19399E4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Goals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EAAB68B-A2BA-07A3-DB75-5B56921FF4A0}"/>
              </a:ext>
            </a:extLst>
          </p:cNvPr>
          <p:cNvSpPr txBox="1"/>
          <p:nvPr/>
        </p:nvSpPr>
        <p:spPr>
          <a:xfrm>
            <a:off x="479265" y="1795668"/>
            <a:ext cx="11233469" cy="3266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/>
              <a:t>The different ways to create </a:t>
            </a:r>
            <a:r>
              <a:rPr lang="en-US" altLang="ko-KR" sz="2000" dirty="0" err="1"/>
              <a:t>Keras</a:t>
            </a:r>
            <a:r>
              <a:rPr lang="en-US" altLang="ko-KR" sz="2000" dirty="0"/>
              <a:t> models: the Sequential class, the Functional API, and model subclassing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/>
              <a:t>How to use the built-in </a:t>
            </a:r>
            <a:r>
              <a:rPr lang="en-US" altLang="ko-KR" sz="2000" dirty="0" err="1"/>
              <a:t>Keras</a:t>
            </a:r>
            <a:r>
              <a:rPr lang="en-US" altLang="ko-KR" sz="2000" dirty="0"/>
              <a:t> training and evaluation loops, including how to use custom metrics and custom losses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/>
              <a:t>Using </a:t>
            </a:r>
            <a:r>
              <a:rPr lang="en-US" altLang="ko-KR" sz="2000" dirty="0" err="1"/>
              <a:t>Keras</a:t>
            </a:r>
            <a:r>
              <a:rPr lang="en-US" altLang="ko-KR" sz="2000" dirty="0"/>
              <a:t> callbacks to further customize how training proceeds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/>
              <a:t>Using </a:t>
            </a:r>
            <a:r>
              <a:rPr lang="en-US" altLang="ko-KR" sz="2000" dirty="0" err="1"/>
              <a:t>TensorBoard</a:t>
            </a:r>
            <a:r>
              <a:rPr lang="en-US" altLang="ko-KR" sz="2000" dirty="0"/>
              <a:t> for monitoring your training and evaluation metrics over time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/>
              <a:t>How to write your own training and evaluation loops from scratch</a:t>
            </a:r>
            <a:endParaRPr lang="en-US" altLang="ko-KR" sz="2400" dirty="0"/>
          </a:p>
        </p:txBody>
      </p:sp>
    </p:spTree>
    <p:extLst>
      <p:ext uri="{BB962C8B-B14F-4D97-AF65-F5344CB8AC3E}">
        <p14:creationId xmlns:p14="http://schemas.microsoft.com/office/powerpoint/2010/main" val="57843409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20AD43-EB09-973C-6915-D5E0662541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8A443F0-E912-1108-17B8-FEAA865DAB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CE6AF090-76C3-C112-1DD8-CF6E7DA510C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A spectrum of workflows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4F032AF-0C22-5A45-005C-F85F6A843816}"/>
              </a:ext>
            </a:extLst>
          </p:cNvPr>
          <p:cNvSpPr txBox="1"/>
          <p:nvPr/>
        </p:nvSpPr>
        <p:spPr>
          <a:xfrm>
            <a:off x="566737" y="1515027"/>
            <a:ext cx="11058525" cy="21273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모든 워크플로가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Layer(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레이어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와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Model(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모델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이라는 공유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API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를 기반으로 작동 즉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초보자가 쓰는 레고 블록과 전문가가 직접 깎아 만든 레고 블록의 규격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돌기 모양과 크기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이 완전히 동일함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scikit-learn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을 사용하는 것처럼 단순히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fit()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을 호출하고 프레임워크가 알아서 하도록 둘 수도 있고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, NumPy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를 사용하는 것처럼 모든 세부 사항을 완전히 제어할 수 있음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87971494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68122F-979A-FBE4-1273-A89F9120E9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01C3C76-D244-006B-FA7B-A81F44A469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C6261F17-C13B-BF51-E513-08DC798AD21B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Different ways to build </a:t>
            </a:r>
            <a:r>
              <a:rPr lang="en-US" altLang="ko-KR" sz="2800" b="1" cap="none" dirty="0" err="1">
                <a:latin typeface="Lora" pitchFamily="2" charset="0"/>
              </a:rPr>
              <a:t>Keras</a:t>
            </a:r>
            <a:r>
              <a:rPr lang="en-US" altLang="ko-KR" sz="2800" b="1" cap="none" dirty="0">
                <a:latin typeface="Lora" pitchFamily="2" charset="0"/>
              </a:rPr>
              <a:t> models</a:t>
            </a:r>
          </a:p>
        </p:txBody>
      </p:sp>
      <p:graphicFrame>
        <p:nvGraphicFramePr>
          <p:cNvPr id="9" name="표 8">
            <a:extLst>
              <a:ext uri="{FF2B5EF4-FFF2-40B4-BE49-F238E27FC236}">
                <a16:creationId xmlns:a16="http://schemas.microsoft.com/office/drawing/2014/main" id="{7B49FDF4-1CF2-7683-F382-9F51AFCBB09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23850307"/>
              </p:ext>
            </p:extLst>
          </p:nvPr>
        </p:nvGraphicFramePr>
        <p:xfrm>
          <a:off x="671211" y="2453751"/>
          <a:ext cx="10677625" cy="358251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705810">
                  <a:extLst>
                    <a:ext uri="{9D8B030D-6E8A-4147-A177-3AD203B41FA5}">
                      <a16:colId xmlns:a16="http://schemas.microsoft.com/office/drawing/2014/main" val="2091638810"/>
                    </a:ext>
                  </a:extLst>
                </a:gridCol>
                <a:gridCol w="680720">
                  <a:extLst>
                    <a:ext uri="{9D8B030D-6E8A-4147-A177-3AD203B41FA5}">
                      <a16:colId xmlns:a16="http://schemas.microsoft.com/office/drawing/2014/main" val="3187033075"/>
                    </a:ext>
                  </a:extLst>
                </a:gridCol>
                <a:gridCol w="4513780">
                  <a:extLst>
                    <a:ext uri="{9D8B030D-6E8A-4147-A177-3AD203B41FA5}">
                      <a16:colId xmlns:a16="http://schemas.microsoft.com/office/drawing/2014/main" val="1383926084"/>
                    </a:ext>
                  </a:extLst>
                </a:gridCol>
                <a:gridCol w="3777315">
                  <a:extLst>
                    <a:ext uri="{9D8B030D-6E8A-4147-A177-3AD203B41FA5}">
                      <a16:colId xmlns:a16="http://schemas.microsoft.com/office/drawing/2014/main" val="592653468"/>
                    </a:ext>
                  </a:extLst>
                </a:gridCol>
              </a:tblGrid>
              <a:tr h="55637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400" u="none" strike="noStrike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스타일</a:t>
                      </a:r>
                      <a:endParaRPr lang="ko-KR" altLang="en-US" sz="1400" b="1" i="0" u="none" strike="noStrike" dirty="0">
                        <a:solidFill>
                          <a:srgbClr val="FFFFFF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2538" marR="2538" marT="2538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400" u="none" strike="noStrike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난이도</a:t>
                      </a:r>
                      <a:endParaRPr lang="en-US" altLang="ko-KR" sz="1400" u="none" strike="noStrike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algn="ctr" fontAlgn="ctr">
                        <a:buNone/>
                      </a:pPr>
                      <a:r>
                        <a:rPr lang="en-US" altLang="ko-KR" sz="1400" u="none" strike="noStrike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/</a:t>
                      </a:r>
                      <a:r>
                        <a:rPr lang="ko-KR" altLang="en-US" sz="1400" u="none" strike="noStrike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유연성</a:t>
                      </a:r>
                      <a:endParaRPr lang="ko-KR" altLang="en-US" sz="1400" b="1" i="0" u="none" strike="noStrike" dirty="0">
                        <a:solidFill>
                          <a:srgbClr val="FFFFFF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2538" marR="2538" marT="2538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400" u="none" strike="noStrike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주요 특징 및 장점</a:t>
                      </a:r>
                      <a:endParaRPr lang="ko-KR" altLang="en-US" sz="1400" b="1" i="0" u="none" strike="noStrike">
                        <a:solidFill>
                          <a:srgbClr val="FFFFFF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2538" marR="2538" marT="2538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400" u="none" strike="noStrike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적합한 유스케이스</a:t>
                      </a:r>
                      <a:endParaRPr lang="ko-KR" altLang="en-US" sz="1400" b="1" i="0" u="none" strike="noStrike">
                        <a:solidFill>
                          <a:srgbClr val="FFFFFF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2538" marR="2538" marT="2538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526082928"/>
                  </a:ext>
                </a:extLst>
              </a:tr>
              <a:tr h="832638"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400" b="1" u="none" strike="noStrike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1. Sequential API</a:t>
                      </a:r>
                      <a:br>
                        <a:rPr lang="en-US" sz="1400" b="1" u="none" strike="noStrike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</a:br>
                      <a:r>
                        <a:rPr lang="en-US" sz="1400" b="1" u="none" strike="noStrike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ko-KR" altLang="en-US" sz="1400" b="1" u="none" strike="noStrike" dirty="0" err="1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시퀀셜</a:t>
                      </a:r>
                      <a:r>
                        <a:rPr lang="ko-KR" altLang="en-US" sz="1400" b="1" u="none" strike="noStrike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방식</a:t>
                      </a:r>
                      <a:r>
                        <a:rPr lang="en-US" altLang="ko-KR" sz="1400" b="1" u="none" strike="noStrike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</a:t>
                      </a:r>
                      <a:endParaRPr lang="en-US" altLang="ko-KR" sz="1400" b="1" i="0" u="none" strike="noStrike" dirty="0">
                        <a:solidFill>
                          <a:srgbClr val="1A365D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2538" marR="2538" marT="2538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ko-KR" altLang="en-US" sz="1400" b="0" i="0" u="none" strike="noStrike" dirty="0">
                          <a:solidFill>
                            <a:srgbClr val="2D3748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하</a:t>
                      </a:r>
                      <a:r>
                        <a:rPr lang="en-US" altLang="ko-KR" sz="1400" b="0" i="0" u="none" strike="noStrike" dirty="0">
                          <a:solidFill>
                            <a:srgbClr val="2D3748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/</a:t>
                      </a:r>
                      <a:r>
                        <a:rPr lang="ko-KR" altLang="en-US" sz="1400" b="0" i="0" u="none" strike="noStrike" dirty="0">
                          <a:solidFill>
                            <a:srgbClr val="2D3748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하</a:t>
                      </a:r>
                    </a:p>
                  </a:txBody>
                  <a:tcPr marL="2538" marR="2538" marT="2538" marB="0" anchor="ctr"/>
                </a:tc>
                <a:tc>
                  <a:txBody>
                    <a:bodyPr/>
                    <a:lstStyle/>
                    <a:p>
                      <a:pPr marL="171450" indent="-171450" algn="l" fontAlgn="t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400" u="none" strike="noStrike" kern="1200" dirty="0">
                          <a:solidFill>
                            <a:schemeClr val="dk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가장 직관적이고 단순</a:t>
                      </a:r>
                      <a:endParaRPr lang="en-US" altLang="ko-KR" sz="1400" u="none" strike="noStrike" kern="1200" dirty="0">
                        <a:solidFill>
                          <a:schemeClr val="dk1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  <a:cs typeface="+mn-cs"/>
                      </a:endParaRPr>
                    </a:p>
                    <a:p>
                      <a:pPr marL="171450" indent="-171450" algn="l" fontAlgn="t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400" u="none" strike="noStrike" kern="1200" dirty="0">
                          <a:solidFill>
                            <a:schemeClr val="dk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레이어를 차례대로 쌓기만 하면 됨</a:t>
                      </a:r>
                      <a:endParaRPr lang="en-US" altLang="ko-KR" sz="1400" u="none" strike="noStrike" kern="1200" dirty="0">
                        <a:solidFill>
                          <a:schemeClr val="dk1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  <a:cs typeface="+mn-cs"/>
                      </a:endParaRPr>
                    </a:p>
                    <a:p>
                      <a:pPr marL="171450" indent="-171450" algn="l" fontAlgn="t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400" u="none" strike="noStrike" kern="1200" dirty="0">
                          <a:solidFill>
                            <a:schemeClr val="dk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구조가 직관적이라 디버깅이 쉬움</a:t>
                      </a:r>
                      <a:endParaRPr lang="en-US" altLang="ko-KR" sz="1400" u="none" strike="noStrike" kern="1200" dirty="0">
                        <a:solidFill>
                          <a:schemeClr val="dk1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  <a:cs typeface="+mn-cs"/>
                      </a:endParaRPr>
                    </a:p>
                  </a:txBody>
                  <a:tcPr marL="2538" marR="2538" marT="2538" marB="0" anchor="ctr"/>
                </a:tc>
                <a:tc>
                  <a:txBody>
                    <a:bodyPr/>
                    <a:lstStyle/>
                    <a:p>
                      <a:pPr marL="171450" indent="-171450" algn="l" fontAlgn="t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400" u="none" strike="noStrike" kern="1200" dirty="0">
                          <a:solidFill>
                            <a:schemeClr val="dk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선형적인 구조의 단순한 신경망</a:t>
                      </a:r>
                      <a:endParaRPr lang="en-US" altLang="ko-KR" sz="1400" u="none" strike="noStrike" kern="1200" dirty="0">
                        <a:solidFill>
                          <a:schemeClr val="dk1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  <a:cs typeface="+mn-cs"/>
                      </a:endParaRPr>
                    </a:p>
                    <a:p>
                      <a:pPr marL="171450" marR="0" lvl="0" indent="-171450" algn="l" defTabSz="914400" rtl="0" eaLnBrk="1" fontAlgn="t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altLang="ko-KR" sz="1400" b="1" u="none" strike="noStrike" kern="1200" dirty="0">
                          <a:solidFill>
                            <a:schemeClr val="dk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Single-input, single-output models</a:t>
                      </a:r>
                    </a:p>
                    <a:p>
                      <a:pPr marL="171450" indent="-171450" algn="l" fontAlgn="t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400" u="none" strike="noStrike" kern="1200" dirty="0">
                          <a:solidFill>
                            <a:schemeClr val="dk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빠른 프로토타이핑</a:t>
                      </a:r>
                      <a:endParaRPr lang="en-US" altLang="ko-KR" sz="1400" u="none" strike="noStrike" kern="1200" dirty="0">
                        <a:solidFill>
                          <a:schemeClr val="dk1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  <a:cs typeface="+mn-cs"/>
                      </a:endParaRPr>
                    </a:p>
                    <a:p>
                      <a:pPr marL="171450" indent="-171450" algn="l" fontAlgn="t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400" u="none" strike="noStrike" kern="1200" dirty="0">
                          <a:solidFill>
                            <a:schemeClr val="dk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딥러닝 입문 및 교육용</a:t>
                      </a:r>
                    </a:p>
                  </a:txBody>
                  <a:tcPr marL="2538" marR="2538" marT="2538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2939324621"/>
                  </a:ext>
                </a:extLst>
              </a:tr>
              <a:tr h="1167768"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400" b="1" u="none" strike="noStrike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2. Functional API</a:t>
                      </a:r>
                      <a:br>
                        <a:rPr lang="en-US" sz="1400" b="1" u="none" strike="noStrike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</a:br>
                      <a:r>
                        <a:rPr lang="en-US" sz="1400" b="1" u="none" strike="noStrike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ko-KR" altLang="en-US" sz="1400" b="1" u="none" strike="noStrike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함수형 방식</a:t>
                      </a:r>
                      <a:r>
                        <a:rPr lang="en-US" altLang="ko-KR" sz="1400" b="1" u="none" strike="noStrike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</a:t>
                      </a:r>
                      <a:endParaRPr lang="en-US" altLang="ko-KR" sz="1400" b="1" i="0" u="none" strike="noStrike" dirty="0">
                        <a:solidFill>
                          <a:srgbClr val="1A365D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2538" marR="2538" marT="2538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ko-KR" altLang="en-US" sz="1400" b="0" i="0" u="none" strike="noStrike" dirty="0">
                          <a:solidFill>
                            <a:srgbClr val="2D3748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중</a:t>
                      </a:r>
                      <a:r>
                        <a:rPr lang="en-US" altLang="ko-KR" sz="1400" b="0" i="0" u="none" strike="noStrike" dirty="0">
                          <a:solidFill>
                            <a:srgbClr val="2D3748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/</a:t>
                      </a:r>
                      <a:r>
                        <a:rPr lang="ko-KR" altLang="en-US" sz="1400" b="0" i="0" u="none" strike="noStrike" dirty="0">
                          <a:solidFill>
                            <a:srgbClr val="2D3748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중</a:t>
                      </a:r>
                    </a:p>
                  </a:txBody>
                  <a:tcPr marL="2538" marR="2538" marT="2538" marB="0" anchor="ctr"/>
                </a:tc>
                <a:tc>
                  <a:txBody>
                    <a:bodyPr/>
                    <a:lstStyle/>
                    <a:p>
                      <a:pPr marL="171450" indent="-171450" algn="l" fontAlgn="t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400" u="none" strike="noStrike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실무에서 가장 널리 쓰이는 표준 방식</a:t>
                      </a:r>
                      <a:endParaRPr lang="en-US" altLang="ko-KR" sz="1400" u="none" strike="noStrike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marL="171450" indent="-171450" algn="l" fontAlgn="t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400" u="none" strike="noStrike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레이어를 함수처럼 호출하여 앞뒤를 자유롭게 연결</a:t>
                      </a:r>
                      <a:endParaRPr lang="en-US" altLang="ko-KR" sz="1400" u="none" strike="noStrike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marL="171450" indent="-171450" algn="l" fontAlgn="t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400" u="none" strike="noStrike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다중 입력</a:t>
                      </a:r>
                      <a:r>
                        <a:rPr lang="en-US" altLang="ko-KR" sz="1400" u="none" strike="noStrike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/</a:t>
                      </a:r>
                      <a:r>
                        <a:rPr lang="ko-KR" altLang="en-US" sz="1400" u="none" strike="noStrike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출력</a:t>
                      </a:r>
                      <a:r>
                        <a:rPr lang="en-US" altLang="ko-KR" sz="1400" u="none" strike="noStrike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, </a:t>
                      </a:r>
                      <a:r>
                        <a:rPr lang="ko-KR" altLang="en-US" sz="1400" u="none" strike="noStrike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그래프 구조 완벽 지원</a:t>
                      </a:r>
                      <a:endParaRPr lang="en-US" altLang="ko-KR" sz="1400" u="none" strike="noStrike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marL="171450" indent="-171450" algn="l" fontAlgn="t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400" u="none" strike="noStrike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모델 구조 시각화 및 재사용에 유리</a:t>
                      </a:r>
                      <a:endParaRPr lang="ko-KR" altLang="en-US" sz="1400" b="0" i="0" u="none" strike="noStrike" dirty="0">
                        <a:solidFill>
                          <a:srgbClr val="2D3748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2538" marR="2538" marT="2538" marB="0" anchor="ctr"/>
                </a:tc>
                <a:tc>
                  <a:txBody>
                    <a:bodyPr/>
                    <a:lstStyle/>
                    <a:p>
                      <a:pPr marL="171450" indent="-171450" algn="l" fontAlgn="t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400" u="none" strike="noStrike" kern="1200" dirty="0" err="1">
                          <a:solidFill>
                            <a:schemeClr val="dk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비선형적인</a:t>
                      </a:r>
                      <a:r>
                        <a:rPr lang="ko-KR" altLang="en-US" sz="1400" u="none" strike="noStrike" kern="1200" dirty="0">
                          <a:solidFill>
                            <a:schemeClr val="dk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 구조의 복잡한 신경망</a:t>
                      </a:r>
                      <a:endParaRPr lang="en-US" altLang="ko-KR" sz="1400" u="none" strike="noStrike" kern="1200" dirty="0">
                        <a:solidFill>
                          <a:schemeClr val="dk1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  <a:cs typeface="+mn-cs"/>
                      </a:endParaRPr>
                    </a:p>
                    <a:p>
                      <a:pPr marL="171450" marR="0" lvl="0" indent="-171450" algn="l" defTabSz="914400" rtl="0" eaLnBrk="1" fontAlgn="t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altLang="ko-KR" sz="1400" b="1" u="none" strike="noStrike" kern="1200" dirty="0">
                          <a:solidFill>
                            <a:schemeClr val="dk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Multi-input, multi-output models</a:t>
                      </a:r>
                      <a:endParaRPr lang="en-US" altLang="ko-KR" sz="1400" b="1" u="none" strike="noStrike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marL="171450" indent="-171450" algn="l" defTabSz="914400" rtl="0" eaLnBrk="1" fontAlgn="t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400" u="none" strike="noStrike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실무에서 쓰이는 대부분의 복잡한 </a:t>
                      </a:r>
                      <a:r>
                        <a:rPr lang="ko-KR" altLang="en-US" sz="1400" u="none" strike="noStrike" kern="1200" dirty="0">
                          <a:solidFill>
                            <a:schemeClr val="dk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모델</a:t>
                      </a:r>
                      <a:endParaRPr lang="en-US" altLang="ko-KR" sz="1400" u="none" strike="noStrike" kern="1200" dirty="0">
                        <a:solidFill>
                          <a:schemeClr val="dk1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  <a:cs typeface="+mn-cs"/>
                      </a:endParaRPr>
                    </a:p>
                    <a:p>
                      <a:pPr marL="171450" indent="-171450" algn="l" fontAlgn="t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400" u="none" strike="noStrike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다중 태스크 모델</a:t>
                      </a:r>
                      <a:r>
                        <a:rPr lang="en-US" altLang="ko-KR" sz="1400" u="none" strike="noStrike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ko-KR" altLang="en-US" sz="1400" u="none" strike="noStrike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예</a:t>
                      </a:r>
                      <a:r>
                        <a:rPr lang="en-US" altLang="ko-KR" sz="1400" u="none" strike="noStrike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: </a:t>
                      </a:r>
                      <a:r>
                        <a:rPr lang="ko-KR" altLang="en-US" sz="1400" u="none" strike="noStrike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이미지 분석 후 카테고리와 텍스트 동시 예측</a:t>
                      </a:r>
                      <a:r>
                        <a:rPr lang="en-US" altLang="ko-KR" sz="1400" u="none" strike="noStrike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</a:t>
                      </a:r>
                    </a:p>
                    <a:p>
                      <a:pPr marL="171450" indent="-171450" algn="l" fontAlgn="t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400" u="none" strike="noStrike" dirty="0" err="1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잔차</a:t>
                      </a:r>
                      <a:r>
                        <a:rPr lang="ko-KR" altLang="en-US" sz="1400" u="none" strike="noStrike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연결</a:t>
                      </a:r>
                      <a:r>
                        <a:rPr lang="en-US" altLang="ko-KR" sz="1400" u="none" strike="noStrike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(Residual)</a:t>
                      </a:r>
                      <a:r>
                        <a:rPr lang="ko-KR" altLang="en-US" sz="1400" u="none" strike="noStrike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이 포함된 아키텍처</a:t>
                      </a:r>
                      <a:endParaRPr lang="ko-KR" altLang="en-US" sz="1400" b="0" i="0" u="none" strike="noStrike" dirty="0">
                        <a:solidFill>
                          <a:srgbClr val="2D3748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2538" marR="2538" marT="2538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589451790"/>
                  </a:ext>
                </a:extLst>
              </a:tr>
              <a:tr h="887463"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altLang="ko-KR" sz="1400" u="none" strike="noStrike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3</a:t>
                      </a:r>
                      <a:r>
                        <a:rPr lang="en-US" altLang="ko-KR" sz="1400" b="1" u="none" strike="noStrike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. Subclassing API</a:t>
                      </a:r>
                      <a:br>
                        <a:rPr lang="en-US" altLang="ko-KR" sz="1400" b="1" u="none" strike="noStrike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</a:br>
                      <a:r>
                        <a:rPr lang="en-US" altLang="ko-KR" sz="1400" b="1" u="none" strike="noStrike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ko-KR" altLang="en-US" sz="1400" b="1" u="none" strike="noStrike" dirty="0" err="1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서브클래싱</a:t>
                      </a:r>
                      <a:r>
                        <a:rPr lang="ko-KR" altLang="en-US" sz="1400" b="1" u="none" strike="noStrike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방식</a:t>
                      </a:r>
                      <a:r>
                        <a:rPr lang="en-US" altLang="ko-KR" sz="1400" b="1" u="none" strike="noStrike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</a:t>
                      </a:r>
                      <a:endParaRPr lang="en-US" altLang="ko-KR" sz="1400" b="1" i="0" u="none" strike="noStrike" dirty="0">
                        <a:solidFill>
                          <a:srgbClr val="1A365D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2538" marR="2538" marT="2538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ko-KR" altLang="en-US" sz="1400" b="0" i="0" u="none" strike="noStrike" dirty="0">
                          <a:solidFill>
                            <a:srgbClr val="2D3748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상</a:t>
                      </a:r>
                      <a:r>
                        <a:rPr lang="en-US" altLang="ko-KR" sz="1400" b="0" i="0" u="none" strike="noStrike" dirty="0">
                          <a:solidFill>
                            <a:srgbClr val="2D3748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/</a:t>
                      </a:r>
                      <a:r>
                        <a:rPr lang="ko-KR" altLang="en-US" sz="1400" b="0" i="0" u="none" strike="noStrike" dirty="0">
                          <a:solidFill>
                            <a:srgbClr val="2D3748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상</a:t>
                      </a:r>
                    </a:p>
                  </a:txBody>
                  <a:tcPr marL="2538" marR="2538" marT="2538" marB="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171450" indent="-171450" algn="l" fontAlgn="t">
                        <a:buFont typeface="Arial" panose="020B0604020202020204" pitchFamily="34" charset="0"/>
                        <a:buChar char="•"/>
                      </a:pPr>
                      <a:r>
                        <a:rPr lang="en-US" altLang="ko-KR" sz="1400" u="none" strike="noStrike" dirty="0" err="1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keras.Model</a:t>
                      </a:r>
                      <a:r>
                        <a:rPr lang="ko-KR" altLang="en-US" sz="1400" u="none" strike="noStrike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을 상속받아 파이썬 클래스</a:t>
                      </a:r>
                      <a:endParaRPr lang="en-US" altLang="ko-KR" sz="1400" u="none" strike="noStrike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marL="171450" indent="-171450" algn="l" fontAlgn="t">
                        <a:buFont typeface="Arial" panose="020B0604020202020204" pitchFamily="34" charset="0"/>
                        <a:buChar char="•"/>
                      </a:pPr>
                      <a:r>
                        <a:rPr lang="en-US" altLang="ko-KR" sz="1400" u="none" strike="noStrike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call()</a:t>
                      </a:r>
                      <a:r>
                        <a:rPr lang="ko-KR" altLang="en-US" sz="1400" u="none" strike="noStrike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메서드 내부에서 모든 제어</a:t>
                      </a:r>
                      <a:r>
                        <a:rPr lang="en-US" altLang="ko-KR" sz="1400" u="none" strike="noStrike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(if</a:t>
                      </a:r>
                      <a:r>
                        <a:rPr lang="ko-KR" altLang="en-US" sz="1400" u="none" strike="noStrike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문</a:t>
                      </a:r>
                      <a:r>
                        <a:rPr lang="en-US" altLang="ko-KR" sz="1400" u="none" strike="noStrike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, for) </a:t>
                      </a:r>
                      <a:r>
                        <a:rPr lang="ko-KR" altLang="en-US" sz="1400" u="none" strike="noStrike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사용</a:t>
                      </a:r>
                      <a:endParaRPr lang="en-US" altLang="ko-KR" sz="1400" u="none" strike="noStrike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marL="171450" indent="-171450" algn="l" fontAlgn="t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400" u="none" strike="noStrike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새로운 연산이나 동적인 모델 구조 정의</a:t>
                      </a:r>
                      <a:r>
                        <a:rPr lang="en-US" altLang="ko-KR" sz="1400" u="none" strike="noStrike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en-US" altLang="ko-KR" sz="1400" u="none" strike="noStrike" dirty="0" err="1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PyTorch</a:t>
                      </a:r>
                      <a:r>
                        <a:rPr lang="en-US" altLang="ko-KR" sz="1400" u="none" strike="noStrike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</a:t>
                      </a:r>
                      <a:endParaRPr lang="en-US" altLang="ko-KR" sz="1400" b="0" i="0" u="none" strike="noStrike" dirty="0">
                        <a:solidFill>
                          <a:srgbClr val="2D3748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2538" marR="2538" marT="2538" marB="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171450" indent="-171450" algn="l" fontAlgn="t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400" u="none" strike="noStrike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인공지능 연구원</a:t>
                      </a:r>
                      <a:r>
                        <a:rPr lang="en-US" altLang="ko-KR" sz="1400" u="none" strike="noStrike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(Researcher)</a:t>
                      </a:r>
                    </a:p>
                    <a:p>
                      <a:pPr marL="171450" indent="-171450" algn="l" fontAlgn="t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400" u="none" strike="noStrike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논문에 새로 나온 독창적인 아키텍처 구현</a:t>
                      </a:r>
                      <a:endParaRPr lang="en-US" altLang="ko-KR" sz="1400" u="none" strike="noStrike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marL="171450" indent="-171450" algn="l" fontAlgn="t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400" u="none" strike="noStrike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동적 조건에 따라 제어 흐름이 바뀌는 모델</a:t>
                      </a:r>
                      <a:endParaRPr lang="ko-KR" altLang="en-US" sz="1400" b="0" i="0" u="none" strike="noStrike" dirty="0">
                        <a:solidFill>
                          <a:srgbClr val="2D3748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2538" marR="2538" marT="2538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74315362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082D1249-4095-8E32-2B79-AC20B34CF6FD}"/>
              </a:ext>
            </a:extLst>
          </p:cNvPr>
          <p:cNvSpPr txBox="1"/>
          <p:nvPr/>
        </p:nvSpPr>
        <p:spPr>
          <a:xfrm>
            <a:off x="548639" y="1243876"/>
            <a:ext cx="10972149" cy="8808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레고 성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(Functional API)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을 짓다가 내가 원하는 특수한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브릭이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없으면 그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브릭만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3D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프린터로 직접 찍어서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(Subclassing API)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성벽 중간에 조립해도 완벽하게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맞아떨어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지도록 모델 유형을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Mix &amp; Match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37340755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7E70B9-5654-A5B6-2611-8A8E13CECC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11B3FAF-0A59-B809-6001-123EE4730E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5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5AA0A530-F655-859A-2D85-453B4F511F99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6595715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Different ways to build </a:t>
            </a:r>
            <a:r>
              <a:rPr lang="en-US" altLang="ko-KR" sz="2800" b="1" cap="none" dirty="0" err="1">
                <a:latin typeface="Lora" pitchFamily="2" charset="0"/>
              </a:rPr>
              <a:t>Keras</a:t>
            </a:r>
            <a:r>
              <a:rPr lang="en-US" altLang="ko-KR" sz="2800" b="1" cap="none" dirty="0">
                <a:latin typeface="Lora" pitchFamily="2" charset="0"/>
              </a:rPr>
              <a:t> models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F903609-6381-C120-0EA0-451E43FA442E}"/>
              </a:ext>
            </a:extLst>
          </p:cNvPr>
          <p:cNvSpPr txBox="1"/>
          <p:nvPr/>
        </p:nvSpPr>
        <p:spPr>
          <a:xfrm>
            <a:off x="8554720" y="822776"/>
            <a:ext cx="3048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ko-KR" b="1" dirty="0">
                <a:latin typeface="Lora" pitchFamily="2" charset="0"/>
              </a:rPr>
              <a:t>Functional API</a:t>
            </a:r>
          </a:p>
        </p:txBody>
      </p:sp>
      <p:pic>
        <p:nvPicPr>
          <p:cNvPr id="4098" name="Picture 2">
            <a:extLst>
              <a:ext uri="{FF2B5EF4-FFF2-40B4-BE49-F238E27FC236}">
                <a16:creationId xmlns:a16="http://schemas.microsoft.com/office/drawing/2014/main" id="{B4854A1D-15A3-B76F-3237-451998C0115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9805" y="2736850"/>
            <a:ext cx="4097757" cy="33000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0" name="Picture 4">
            <a:extLst>
              <a:ext uri="{FF2B5EF4-FFF2-40B4-BE49-F238E27FC236}">
                <a16:creationId xmlns:a16="http://schemas.microsoft.com/office/drawing/2014/main" id="{86A3EDEA-44E5-F84B-7F48-777ED5F2807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02631" y="2736850"/>
            <a:ext cx="5200650" cy="33000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61286AE1-FF3A-2650-C3F3-446BEDC64377}"/>
              </a:ext>
            </a:extLst>
          </p:cNvPr>
          <p:cNvSpPr txBox="1"/>
          <p:nvPr/>
        </p:nvSpPr>
        <p:spPr>
          <a:xfrm>
            <a:off x="2092960" y="1907247"/>
            <a:ext cx="72644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en-US" altLang="ko-KR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The power of the Functional API: Access to layer connectivity</a:t>
            </a:r>
          </a:p>
        </p:txBody>
      </p:sp>
    </p:spTree>
    <p:extLst>
      <p:ext uri="{BB962C8B-B14F-4D97-AF65-F5344CB8AC3E}">
        <p14:creationId xmlns:p14="http://schemas.microsoft.com/office/powerpoint/2010/main" val="190193849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5605F2-9C18-E013-582A-498F408F70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D454672-1BAB-01F1-57C2-11F56A735D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6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EE5003D4-1996-EEFE-8BE3-214989BD8FA4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FCNN Architecture</a:t>
            </a:r>
          </a:p>
        </p:txBody>
      </p:sp>
      <p:sp>
        <p:nvSpPr>
          <p:cNvPr id="2" name="타원 1">
            <a:extLst>
              <a:ext uri="{FF2B5EF4-FFF2-40B4-BE49-F238E27FC236}">
                <a16:creationId xmlns:a16="http://schemas.microsoft.com/office/drawing/2014/main" id="{6CA83F80-D5DA-0FBF-4240-B4CD76EC70CE}"/>
              </a:ext>
            </a:extLst>
          </p:cNvPr>
          <p:cNvSpPr/>
          <p:nvPr/>
        </p:nvSpPr>
        <p:spPr>
          <a:xfrm>
            <a:off x="1402753" y="2844800"/>
            <a:ext cx="198120" cy="19812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타원 6">
            <a:extLst>
              <a:ext uri="{FF2B5EF4-FFF2-40B4-BE49-F238E27FC236}">
                <a16:creationId xmlns:a16="http://schemas.microsoft.com/office/drawing/2014/main" id="{682906F9-E5E4-84FF-8153-9AB5E29FC07E}"/>
              </a:ext>
            </a:extLst>
          </p:cNvPr>
          <p:cNvSpPr/>
          <p:nvPr/>
        </p:nvSpPr>
        <p:spPr>
          <a:xfrm>
            <a:off x="1442720" y="5425441"/>
            <a:ext cx="198120" cy="19812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BB9DC231-0434-9EB0-06B8-F842DD34D883}"/>
              </a:ext>
            </a:extLst>
          </p:cNvPr>
          <p:cNvSpPr/>
          <p:nvPr/>
        </p:nvSpPr>
        <p:spPr>
          <a:xfrm>
            <a:off x="4268470" y="2194561"/>
            <a:ext cx="488475" cy="394208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A2877830-E07E-C929-4BB3-E2952E0AC881}"/>
              </a:ext>
            </a:extLst>
          </p:cNvPr>
          <p:cNvSpPr/>
          <p:nvPr/>
        </p:nvSpPr>
        <p:spPr>
          <a:xfrm>
            <a:off x="8889205" y="2194561"/>
            <a:ext cx="488475" cy="123274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타원 11">
            <a:extLst>
              <a:ext uri="{FF2B5EF4-FFF2-40B4-BE49-F238E27FC236}">
                <a16:creationId xmlns:a16="http://schemas.microsoft.com/office/drawing/2014/main" id="{6D88C569-ED61-835B-992F-0B3D357CF47E}"/>
              </a:ext>
            </a:extLst>
          </p:cNvPr>
          <p:cNvSpPr/>
          <p:nvPr/>
        </p:nvSpPr>
        <p:spPr>
          <a:xfrm>
            <a:off x="4415790" y="2336800"/>
            <a:ext cx="198120" cy="198120"/>
          </a:xfrm>
          <a:prstGeom prst="ellipse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타원 12">
            <a:extLst>
              <a:ext uri="{FF2B5EF4-FFF2-40B4-BE49-F238E27FC236}">
                <a16:creationId xmlns:a16="http://schemas.microsoft.com/office/drawing/2014/main" id="{EFFFE80F-3837-1A31-122B-2EBCA9A87739}"/>
              </a:ext>
            </a:extLst>
          </p:cNvPr>
          <p:cNvSpPr/>
          <p:nvPr/>
        </p:nvSpPr>
        <p:spPr>
          <a:xfrm>
            <a:off x="4415790" y="5863223"/>
            <a:ext cx="198120" cy="198120"/>
          </a:xfrm>
          <a:prstGeom prst="ellipse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타원 14">
            <a:extLst>
              <a:ext uri="{FF2B5EF4-FFF2-40B4-BE49-F238E27FC236}">
                <a16:creationId xmlns:a16="http://schemas.microsoft.com/office/drawing/2014/main" id="{E8CBCB36-E696-F2E4-17B0-8A5D90FEE7C9}"/>
              </a:ext>
            </a:extLst>
          </p:cNvPr>
          <p:cNvSpPr/>
          <p:nvPr/>
        </p:nvSpPr>
        <p:spPr>
          <a:xfrm>
            <a:off x="4415790" y="2609427"/>
            <a:ext cx="198120" cy="198120"/>
          </a:xfrm>
          <a:prstGeom prst="ellipse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타원 15">
            <a:extLst>
              <a:ext uri="{FF2B5EF4-FFF2-40B4-BE49-F238E27FC236}">
                <a16:creationId xmlns:a16="http://schemas.microsoft.com/office/drawing/2014/main" id="{06A4A0EC-801F-475B-FC5B-8BB37781219E}"/>
              </a:ext>
            </a:extLst>
          </p:cNvPr>
          <p:cNvSpPr/>
          <p:nvPr/>
        </p:nvSpPr>
        <p:spPr>
          <a:xfrm>
            <a:off x="4415790" y="2882054"/>
            <a:ext cx="198120" cy="198120"/>
          </a:xfrm>
          <a:prstGeom prst="ellipse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타원 16">
            <a:extLst>
              <a:ext uri="{FF2B5EF4-FFF2-40B4-BE49-F238E27FC236}">
                <a16:creationId xmlns:a16="http://schemas.microsoft.com/office/drawing/2014/main" id="{CECBF8B9-9EAE-40D1-B381-6469847DF8F9}"/>
              </a:ext>
            </a:extLst>
          </p:cNvPr>
          <p:cNvSpPr/>
          <p:nvPr/>
        </p:nvSpPr>
        <p:spPr>
          <a:xfrm>
            <a:off x="4415790" y="3154681"/>
            <a:ext cx="198120" cy="198120"/>
          </a:xfrm>
          <a:prstGeom prst="ellipse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타원 17">
            <a:extLst>
              <a:ext uri="{FF2B5EF4-FFF2-40B4-BE49-F238E27FC236}">
                <a16:creationId xmlns:a16="http://schemas.microsoft.com/office/drawing/2014/main" id="{EF1D6504-54EC-BE41-BDFA-85092D3E611B}"/>
              </a:ext>
            </a:extLst>
          </p:cNvPr>
          <p:cNvSpPr/>
          <p:nvPr/>
        </p:nvSpPr>
        <p:spPr>
          <a:xfrm>
            <a:off x="4415790" y="3427308"/>
            <a:ext cx="198120" cy="198120"/>
          </a:xfrm>
          <a:prstGeom prst="ellipse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타원 18">
            <a:extLst>
              <a:ext uri="{FF2B5EF4-FFF2-40B4-BE49-F238E27FC236}">
                <a16:creationId xmlns:a16="http://schemas.microsoft.com/office/drawing/2014/main" id="{68297D93-4999-C1B4-856A-FF2F3FADAA67}"/>
              </a:ext>
            </a:extLst>
          </p:cNvPr>
          <p:cNvSpPr/>
          <p:nvPr/>
        </p:nvSpPr>
        <p:spPr>
          <a:xfrm>
            <a:off x="4415790" y="3699935"/>
            <a:ext cx="198120" cy="198120"/>
          </a:xfrm>
          <a:prstGeom prst="ellipse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타원 19">
            <a:extLst>
              <a:ext uri="{FF2B5EF4-FFF2-40B4-BE49-F238E27FC236}">
                <a16:creationId xmlns:a16="http://schemas.microsoft.com/office/drawing/2014/main" id="{C38BC522-D4F2-DE9E-6A35-B3672E80DF0D}"/>
              </a:ext>
            </a:extLst>
          </p:cNvPr>
          <p:cNvSpPr/>
          <p:nvPr/>
        </p:nvSpPr>
        <p:spPr>
          <a:xfrm>
            <a:off x="4415790" y="3972560"/>
            <a:ext cx="198120" cy="198120"/>
          </a:xfrm>
          <a:prstGeom prst="ellipse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타원 20">
            <a:extLst>
              <a:ext uri="{FF2B5EF4-FFF2-40B4-BE49-F238E27FC236}">
                <a16:creationId xmlns:a16="http://schemas.microsoft.com/office/drawing/2014/main" id="{E54CFAFD-58AF-87DF-ECED-58D21843EE62}"/>
              </a:ext>
            </a:extLst>
          </p:cNvPr>
          <p:cNvSpPr/>
          <p:nvPr/>
        </p:nvSpPr>
        <p:spPr>
          <a:xfrm>
            <a:off x="9027160" y="2280455"/>
            <a:ext cx="198120" cy="198120"/>
          </a:xfrm>
          <a:prstGeom prst="ellipse">
            <a:avLst/>
          </a:prstGeom>
          <a:solidFill>
            <a:schemeClr val="accent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타원 21">
            <a:extLst>
              <a:ext uri="{FF2B5EF4-FFF2-40B4-BE49-F238E27FC236}">
                <a16:creationId xmlns:a16="http://schemas.microsoft.com/office/drawing/2014/main" id="{617EB039-51A8-E52F-2B7F-2BC4DD91482A}"/>
              </a:ext>
            </a:extLst>
          </p:cNvPr>
          <p:cNvSpPr/>
          <p:nvPr/>
        </p:nvSpPr>
        <p:spPr>
          <a:xfrm>
            <a:off x="9027160" y="2568787"/>
            <a:ext cx="198120" cy="198120"/>
          </a:xfrm>
          <a:prstGeom prst="ellipse">
            <a:avLst/>
          </a:prstGeom>
          <a:solidFill>
            <a:schemeClr val="accent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타원 22">
            <a:extLst>
              <a:ext uri="{FF2B5EF4-FFF2-40B4-BE49-F238E27FC236}">
                <a16:creationId xmlns:a16="http://schemas.microsoft.com/office/drawing/2014/main" id="{69AF67FD-8BF6-5121-9BF1-E1C9330CC637}"/>
              </a:ext>
            </a:extLst>
          </p:cNvPr>
          <p:cNvSpPr/>
          <p:nvPr/>
        </p:nvSpPr>
        <p:spPr>
          <a:xfrm>
            <a:off x="9027160" y="3095414"/>
            <a:ext cx="198120" cy="198120"/>
          </a:xfrm>
          <a:prstGeom prst="ellipse">
            <a:avLst/>
          </a:prstGeom>
          <a:solidFill>
            <a:schemeClr val="accent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타원 23">
            <a:extLst>
              <a:ext uri="{FF2B5EF4-FFF2-40B4-BE49-F238E27FC236}">
                <a16:creationId xmlns:a16="http://schemas.microsoft.com/office/drawing/2014/main" id="{0759407F-4DCF-CC44-3719-5726647CBAB5}"/>
              </a:ext>
            </a:extLst>
          </p:cNvPr>
          <p:cNvSpPr/>
          <p:nvPr/>
        </p:nvSpPr>
        <p:spPr>
          <a:xfrm>
            <a:off x="5982452" y="4328621"/>
            <a:ext cx="1132840" cy="1132840"/>
          </a:xfrm>
          <a:prstGeom prst="ellipse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5" name="타원 24">
            <a:extLst>
              <a:ext uri="{FF2B5EF4-FFF2-40B4-BE49-F238E27FC236}">
                <a16:creationId xmlns:a16="http://schemas.microsoft.com/office/drawing/2014/main" id="{CDF42377-6D0E-DBE5-C763-4BBDD680E1C0}"/>
              </a:ext>
            </a:extLst>
          </p:cNvPr>
          <p:cNvSpPr/>
          <p:nvPr/>
        </p:nvSpPr>
        <p:spPr>
          <a:xfrm>
            <a:off x="9947591" y="4328621"/>
            <a:ext cx="1132840" cy="1132840"/>
          </a:xfrm>
          <a:prstGeom prst="ellipse">
            <a:avLst/>
          </a:prstGeom>
          <a:solidFill>
            <a:schemeClr val="accent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3B040E58-465D-2B52-F823-AEFEFD1F5167}"/>
                  </a:ext>
                </a:extLst>
              </p:cNvPr>
              <p:cNvSpPr txBox="1"/>
              <p:nvPr/>
            </p:nvSpPr>
            <p:spPr>
              <a:xfrm>
                <a:off x="4842472" y="4541699"/>
                <a:ext cx="1706399" cy="67217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lvl="0" latinLnBrk="1"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kumimoji="0" lang="en-US" altLang="ko-KR" sz="16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</a:rPr>
                        <m:t>z</m:t>
                      </m:r>
                      <m:r>
                        <a:rPr kumimoji="0" lang="en-US" altLang="ko-KR" sz="16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kumimoji="0" lang="pt-BR" altLang="ko-KR" sz="16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kumimoji="0" lang="en-US" altLang="ko-KR" sz="16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kumimoji="0" lang="pt-BR" altLang="ko-KR" sz="16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kumimoji="0" lang="en-US" altLang="ko-KR" sz="16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kumimoji="0" lang="en-US" altLang="ko-KR" sz="16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  <m:e>
                          <m:sSub>
                            <m:sSubPr>
                              <m:ctrlPr>
                                <a:rPr kumimoji="0" lang="en-US" altLang="ko-KR" sz="16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0" lang="en-US" altLang="ko-KR" sz="16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kumimoji="0" lang="en-US" altLang="ko-KR" sz="16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sSub>
                            <m:sSubPr>
                              <m:ctrlPr>
                                <a:rPr kumimoji="0" lang="en-US" altLang="ko-KR" sz="16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0" lang="en-US" altLang="ko-KR" sz="16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kumimoji="0" lang="en-US" altLang="ko-KR" sz="16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kumimoji="0" lang="en-US" altLang="ko-KR" sz="16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 + </m:t>
                          </m:r>
                          <m:sSub>
                            <m:sSubPr>
                              <m:ctrlPr>
                                <a:rPr lang="en-US" altLang="ko-KR" sz="16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sz="16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altLang="ko-KR" sz="1600" b="0" i="1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kumimoji="0" lang="ko-KR" alt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NanumGothicExtraBold" pitchFamily="2" charset="-127"/>
                  <a:ea typeface="NanumGothicExtraBold" pitchFamily="2" charset="-127"/>
                </a:endParaRPr>
              </a:p>
            </p:txBody>
          </p:sp>
        </mc:Choice>
        <mc:Fallback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3B040E58-465D-2B52-F823-AEFEFD1F516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42472" y="4541699"/>
                <a:ext cx="1706399" cy="672172"/>
              </a:xfrm>
              <a:prstGeom prst="rect">
                <a:avLst/>
              </a:prstGeom>
              <a:blipFill>
                <a:blip r:embed="rId2"/>
                <a:stretch>
                  <a:fillRect b="-909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70E52007-6328-99A6-656E-AC620A409686}"/>
                  </a:ext>
                </a:extLst>
              </p:cNvPr>
              <p:cNvSpPr txBox="1"/>
              <p:nvPr/>
            </p:nvSpPr>
            <p:spPr>
              <a:xfrm>
                <a:off x="6425303" y="4708508"/>
                <a:ext cx="1282281" cy="33855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kumimoji="0" lang="en-US" altLang="ko-KR" sz="16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kumimoji="0" lang="en-US" altLang="ko-KR" sz="16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acc>
                      <m:r>
                        <a:rPr kumimoji="0" lang="en-US" altLang="ko-KR" sz="16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kumimoji="0" lang="en-US" altLang="ko-KR" sz="16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</a:rPr>
                        <m:t>𝜎</m:t>
                      </m:r>
                      <m:d>
                        <m:dPr>
                          <m:ctrlPr>
                            <a:rPr kumimoji="0" lang="en-US" altLang="ko-KR" sz="16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kumimoji="0" lang="en-US" altLang="ko-KR" sz="16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</m:d>
                    </m:oMath>
                  </m:oMathPara>
                </a14:m>
                <a:endParaRPr lang="ko-KR" altLang="en-US" sz="1600" dirty="0"/>
              </a:p>
            </p:txBody>
          </p:sp>
        </mc:Choice>
        <mc:Fallback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70E52007-6328-99A6-656E-AC620A40968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25303" y="4708508"/>
                <a:ext cx="1282281" cy="338554"/>
              </a:xfrm>
              <a:prstGeom prst="rect">
                <a:avLst/>
              </a:prstGeom>
              <a:blipFill>
                <a:blip r:embed="rId3"/>
                <a:stretch>
                  <a:fillRect b="-535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3" name="TextBox 32">
            <a:extLst>
              <a:ext uri="{FF2B5EF4-FFF2-40B4-BE49-F238E27FC236}">
                <a16:creationId xmlns:a16="http://schemas.microsoft.com/office/drawing/2014/main" id="{B9549582-C890-5354-E54B-72E68751E4AE}"/>
              </a:ext>
            </a:extLst>
          </p:cNvPr>
          <p:cNvSpPr txBox="1"/>
          <p:nvPr/>
        </p:nvSpPr>
        <p:spPr>
          <a:xfrm>
            <a:off x="1193402" y="1728005"/>
            <a:ext cx="89487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solidFill>
                  <a:prstClr val="black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Input</a:t>
            </a:r>
            <a:endParaRPr lang="ko-KR" altLang="en-US" sz="1400" dirty="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8EA59847-AA9D-AE4A-9FC0-8B0F1D2FB8C9}"/>
              </a:ext>
            </a:extLst>
          </p:cNvPr>
          <p:cNvSpPr txBox="1"/>
          <p:nvPr/>
        </p:nvSpPr>
        <p:spPr>
          <a:xfrm>
            <a:off x="2290682" y="1728005"/>
            <a:ext cx="89487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solidFill>
                  <a:prstClr val="black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Weights</a:t>
            </a:r>
            <a:endParaRPr lang="ko-KR" altLang="en-US" sz="1400" dirty="0"/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1204238D-40FF-B7DE-46A3-A0C73B07F3AA}"/>
              </a:ext>
            </a:extLst>
          </p:cNvPr>
          <p:cNvSpPr/>
          <p:nvPr/>
        </p:nvSpPr>
        <p:spPr>
          <a:xfrm>
            <a:off x="6504180" y="3774726"/>
            <a:ext cx="1066164" cy="60016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R="0" lvl="0" algn="ctr" defTabSz="914400" rtl="0" eaLnBrk="1" fontAlgn="base" latinLnBrk="1" hangingPunct="1"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100" dirty="0">
                <a:solidFill>
                  <a:prstClr val="black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Activation function</a:t>
            </a:r>
          </a:p>
          <a:p>
            <a:pPr marR="0" lvl="0" algn="ctr" defTabSz="914400" rtl="0" eaLnBrk="1" fontAlgn="base" latinLnBrk="1" hangingPunct="1"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100" dirty="0">
                <a:solidFill>
                  <a:prstClr val="black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(</a:t>
            </a:r>
            <a:r>
              <a:rPr lang="en-US" altLang="ko-KR" sz="1100" dirty="0" err="1">
                <a:solidFill>
                  <a:prstClr val="black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Relu</a:t>
            </a:r>
            <a:r>
              <a:rPr lang="en-US" altLang="ko-KR" sz="1100" dirty="0">
                <a:solidFill>
                  <a:prstClr val="black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)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EE5A20BE-B177-78AC-97ED-F2460DE6DFE2}"/>
              </a:ext>
            </a:extLst>
          </p:cNvPr>
          <p:cNvSpPr txBox="1"/>
          <p:nvPr/>
        </p:nvSpPr>
        <p:spPr>
          <a:xfrm>
            <a:off x="6667854" y="1728005"/>
            <a:ext cx="89487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solidFill>
                  <a:prstClr val="black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Weights</a:t>
            </a:r>
            <a:endParaRPr lang="ko-KR" altLang="en-US" sz="1400" dirty="0"/>
          </a:p>
        </p:txBody>
      </p:sp>
      <p:cxnSp>
        <p:nvCxnSpPr>
          <p:cNvPr id="39" name="직선 연결선 38">
            <a:extLst>
              <a:ext uri="{FF2B5EF4-FFF2-40B4-BE49-F238E27FC236}">
                <a16:creationId xmlns:a16="http://schemas.microsoft.com/office/drawing/2014/main" id="{F98F12EE-AC97-8C44-6A88-1E555F739D1A}"/>
              </a:ext>
            </a:extLst>
          </p:cNvPr>
          <p:cNvCxnSpPr>
            <a:stCxn id="24" idx="0"/>
            <a:endCxn id="24" idx="4"/>
          </p:cNvCxnSpPr>
          <p:nvPr/>
        </p:nvCxnSpPr>
        <p:spPr>
          <a:xfrm>
            <a:off x="6548872" y="4328621"/>
            <a:ext cx="0" cy="1132840"/>
          </a:xfrm>
          <a:prstGeom prst="line">
            <a:avLst/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0" name="TextBox 39">
            <a:extLst>
              <a:ext uri="{FF2B5EF4-FFF2-40B4-BE49-F238E27FC236}">
                <a16:creationId xmlns:a16="http://schemas.microsoft.com/office/drawing/2014/main" id="{4828ABBF-A0E8-A33F-DA5D-97CD482356C1}"/>
              </a:ext>
            </a:extLst>
          </p:cNvPr>
          <p:cNvSpPr txBox="1"/>
          <p:nvPr/>
        </p:nvSpPr>
        <p:spPr>
          <a:xfrm>
            <a:off x="3627118" y="1728005"/>
            <a:ext cx="2049781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solidFill>
                  <a:prstClr val="black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Layer</a:t>
            </a:r>
            <a:r>
              <a:rPr lang="ko-KR" altLang="en-US" sz="1400" dirty="0">
                <a:solidFill>
                  <a:prstClr val="black"/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ko-KR" sz="1400" dirty="0">
                <a:solidFill>
                  <a:prstClr val="black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(Dense</a:t>
            </a:r>
            <a:r>
              <a:rPr lang="ko-KR" altLang="en-US" sz="1400" dirty="0">
                <a:solidFill>
                  <a:prstClr val="black"/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ko-KR" sz="1400" dirty="0">
                <a:solidFill>
                  <a:prstClr val="black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=64)</a:t>
            </a:r>
            <a:endParaRPr lang="ko-KR" altLang="en-US" sz="1400" dirty="0">
              <a:solidFill>
                <a:prstClr val="black"/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CB5EAD0-4525-F13A-9B0A-ECA6A7E730B0}"/>
              </a:ext>
            </a:extLst>
          </p:cNvPr>
          <p:cNvSpPr txBox="1"/>
          <p:nvPr/>
        </p:nvSpPr>
        <p:spPr>
          <a:xfrm>
            <a:off x="8273020" y="1728005"/>
            <a:ext cx="17064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solidFill>
                  <a:prstClr val="black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Layer</a:t>
            </a:r>
            <a:r>
              <a:rPr lang="ko-KR" altLang="en-US" sz="1400" dirty="0">
                <a:solidFill>
                  <a:prstClr val="black"/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ko-KR" sz="1400" dirty="0">
                <a:solidFill>
                  <a:prstClr val="black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(Dense</a:t>
            </a:r>
            <a:r>
              <a:rPr lang="ko-KR" altLang="en-US" sz="1400" dirty="0">
                <a:solidFill>
                  <a:prstClr val="black"/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ko-KR" sz="1400" dirty="0">
                <a:solidFill>
                  <a:prstClr val="black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=10)</a:t>
            </a:r>
            <a:endParaRPr lang="ko-KR" altLang="en-US" sz="1400" dirty="0">
              <a:solidFill>
                <a:prstClr val="black"/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D011DC52-9D70-D10A-924F-D4AAE7E6FDF9}"/>
              </a:ext>
            </a:extLst>
          </p:cNvPr>
          <p:cNvSpPr/>
          <p:nvPr/>
        </p:nvSpPr>
        <p:spPr>
          <a:xfrm>
            <a:off x="5576686" y="3814329"/>
            <a:ext cx="953135" cy="43088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R="0" lvl="0" algn="ctr" defTabSz="914400" rtl="0" eaLnBrk="1" fontAlgn="base" latinLnBrk="1" hangingPunct="1"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100" dirty="0">
                <a:solidFill>
                  <a:prstClr val="black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Weighted Sum</a:t>
            </a:r>
          </a:p>
        </p:txBody>
      </p:sp>
      <p:cxnSp>
        <p:nvCxnSpPr>
          <p:cNvPr id="9" name="직선 연결선 8">
            <a:extLst>
              <a:ext uri="{FF2B5EF4-FFF2-40B4-BE49-F238E27FC236}">
                <a16:creationId xmlns:a16="http://schemas.microsoft.com/office/drawing/2014/main" id="{34B423E7-6F3D-A02B-A0E0-7D13A8750AFA}"/>
              </a:ext>
            </a:extLst>
          </p:cNvPr>
          <p:cNvCxnSpPr>
            <a:cxnSpLocks/>
            <a:stCxn id="25" idx="0"/>
            <a:endCxn id="25" idx="4"/>
          </p:cNvCxnSpPr>
          <p:nvPr/>
        </p:nvCxnSpPr>
        <p:spPr>
          <a:xfrm>
            <a:off x="10514011" y="4328621"/>
            <a:ext cx="0" cy="1132840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BC4B07E5-8CC4-EA95-8160-3D6E55A0284F}"/>
                  </a:ext>
                </a:extLst>
              </p:cNvPr>
              <p:cNvSpPr txBox="1"/>
              <p:nvPr/>
            </p:nvSpPr>
            <p:spPr>
              <a:xfrm>
                <a:off x="8732890" y="4541699"/>
                <a:ext cx="1706399" cy="67217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lvl="0" latinLnBrk="1"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kumimoji="0" lang="en-US" altLang="ko-KR" sz="16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</a:rPr>
                        <m:t>q</m:t>
                      </m:r>
                      <m:r>
                        <a:rPr kumimoji="0" lang="en-US" altLang="ko-KR" sz="16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kumimoji="0" lang="pt-BR" altLang="ko-KR" sz="16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kumimoji="0" lang="en-US" altLang="ko-KR" sz="16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kumimoji="0" lang="pt-BR" altLang="ko-KR" sz="16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kumimoji="0" lang="en-US" altLang="ko-KR" sz="16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kumimoji="0" lang="en-US" altLang="ko-KR" sz="16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  <m:e>
                          <m:sSub>
                            <m:sSubPr>
                              <m:ctrlPr>
                                <a:rPr kumimoji="0" lang="en-US" altLang="ko-KR" sz="16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0" lang="en-US" altLang="ko-KR" sz="16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kumimoji="0" lang="en-US" altLang="ko-KR" sz="16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sSub>
                            <m:sSubPr>
                              <m:ctrlPr>
                                <a:rPr kumimoji="0" lang="en-US" altLang="ko-KR" sz="16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̂"/>
                                  <m:ctrlPr>
                                    <a:rPr lang="en-US" altLang="ko-KR" sz="16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ko-KR" sz="16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</m:acc>
                            </m:e>
                            <m:sub>
                              <m:r>
                                <a:rPr kumimoji="0" lang="en-US" altLang="ko-KR" sz="16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kumimoji="0" lang="en-US" altLang="ko-KR" sz="16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 + </m:t>
                          </m:r>
                          <m:sSub>
                            <m:sSubPr>
                              <m:ctrlPr>
                                <a:rPr lang="en-US" altLang="ko-KR" sz="16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sz="16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altLang="ko-KR" sz="1600" b="0" i="1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kumimoji="0" lang="ko-KR" alt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NanumGothicExtraBold" pitchFamily="2" charset="-127"/>
                  <a:ea typeface="NanumGothicExtraBold" pitchFamily="2" charset="-127"/>
                </a:endParaRPr>
              </a:p>
            </p:txBody>
          </p:sp>
        </mc:Choice>
        <mc:Fallback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BC4B07E5-8CC4-EA95-8160-3D6E55A0284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32890" y="4541699"/>
                <a:ext cx="1706399" cy="672172"/>
              </a:xfrm>
              <a:prstGeom prst="rect">
                <a:avLst/>
              </a:prstGeom>
              <a:blipFill>
                <a:blip r:embed="rId4"/>
                <a:stretch>
                  <a:fillRect b="-909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4FD9ED97-B32F-292F-B4E5-3EE92C758D15}"/>
                  </a:ext>
                </a:extLst>
              </p:cNvPr>
              <p:cNvSpPr txBox="1"/>
              <p:nvPr/>
            </p:nvSpPr>
            <p:spPr>
              <a:xfrm>
                <a:off x="10405952" y="4705877"/>
                <a:ext cx="1282281" cy="35182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kumimoji="0" lang="en-US" altLang="ko-KR" sz="16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m:rPr>
                              <m:sty m:val="p"/>
                            </m:rPr>
                            <a:rPr kumimoji="0" lang="en-US" altLang="ko-KR" sz="16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k</m:t>
                          </m:r>
                        </m:e>
                      </m:acc>
                      <m:r>
                        <a:rPr kumimoji="0" lang="en-US" altLang="ko-KR" sz="16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kumimoji="0" lang="en-US" altLang="ko-KR" sz="16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</a:rPr>
                        <m:t>𝜎</m:t>
                      </m:r>
                      <m:d>
                        <m:dPr>
                          <m:ctrlPr>
                            <a:rPr kumimoji="0" lang="en-US" altLang="ko-KR" sz="16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kumimoji="0" lang="en-US" altLang="ko-KR" sz="16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q</m:t>
                          </m:r>
                        </m:e>
                      </m:d>
                    </m:oMath>
                  </m:oMathPara>
                </a14:m>
                <a:endParaRPr lang="ko-KR" altLang="en-US" sz="1600" dirty="0"/>
              </a:p>
            </p:txBody>
          </p:sp>
        </mc:Choice>
        <mc:Fallback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4FD9ED97-B32F-292F-B4E5-3EE92C758D1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405952" y="4705877"/>
                <a:ext cx="1282281" cy="351828"/>
              </a:xfrm>
              <a:prstGeom prst="rect">
                <a:avLst/>
              </a:prstGeom>
              <a:blipFill>
                <a:blip r:embed="rId5"/>
                <a:stretch>
                  <a:fillRect b="-5172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1" name="직사각형 30">
            <a:extLst>
              <a:ext uri="{FF2B5EF4-FFF2-40B4-BE49-F238E27FC236}">
                <a16:creationId xmlns:a16="http://schemas.microsoft.com/office/drawing/2014/main" id="{4CE80BAE-9C39-7B5F-3033-26E33C692CBD}"/>
              </a:ext>
            </a:extLst>
          </p:cNvPr>
          <p:cNvSpPr/>
          <p:nvPr/>
        </p:nvSpPr>
        <p:spPr>
          <a:xfrm>
            <a:off x="10514011" y="3798194"/>
            <a:ext cx="1066164" cy="60016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R="0" lvl="0" algn="ctr" defTabSz="914400" rtl="0" eaLnBrk="1" fontAlgn="base" latinLnBrk="1" hangingPunct="1"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100" dirty="0">
                <a:solidFill>
                  <a:prstClr val="black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Activation function</a:t>
            </a:r>
          </a:p>
          <a:p>
            <a:pPr marR="0" lvl="0" algn="ctr" defTabSz="914400" rtl="0" eaLnBrk="1" fontAlgn="base" latinLnBrk="1" hangingPunct="1"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100" dirty="0">
                <a:solidFill>
                  <a:prstClr val="black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(</a:t>
            </a:r>
            <a:r>
              <a:rPr lang="en-US" altLang="ko-KR" sz="1100" dirty="0" err="1">
                <a:solidFill>
                  <a:prstClr val="black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Softmax</a:t>
            </a:r>
            <a:r>
              <a:rPr lang="en-US" altLang="ko-KR" sz="1100" dirty="0">
                <a:solidFill>
                  <a:prstClr val="black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)</a:t>
            </a:r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F1ACFA93-7D03-94BB-EA1D-FCE12074FF17}"/>
              </a:ext>
            </a:extLst>
          </p:cNvPr>
          <p:cNvSpPr/>
          <p:nvPr/>
        </p:nvSpPr>
        <p:spPr>
          <a:xfrm>
            <a:off x="9624469" y="3803293"/>
            <a:ext cx="953135" cy="43088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R="0" lvl="0" algn="ctr" defTabSz="914400" rtl="0" eaLnBrk="1" fontAlgn="base" latinLnBrk="1" hangingPunct="1"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100" dirty="0">
                <a:solidFill>
                  <a:prstClr val="black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Weighted Sum</a:t>
            </a:r>
          </a:p>
        </p:txBody>
      </p:sp>
      <p:cxnSp>
        <p:nvCxnSpPr>
          <p:cNvPr id="38" name="연결선: 구부러짐 37">
            <a:extLst>
              <a:ext uri="{FF2B5EF4-FFF2-40B4-BE49-F238E27FC236}">
                <a16:creationId xmlns:a16="http://schemas.microsoft.com/office/drawing/2014/main" id="{73F3AF5A-F092-B3AE-4DF9-CC3B8DF654BE}"/>
              </a:ext>
            </a:extLst>
          </p:cNvPr>
          <p:cNvCxnSpPr>
            <a:cxnSpLocks/>
            <a:stCxn id="12" idx="6"/>
            <a:endCxn id="8" idx="1"/>
          </p:cNvCxnSpPr>
          <p:nvPr/>
        </p:nvCxnSpPr>
        <p:spPr>
          <a:xfrm>
            <a:off x="4613910" y="2435860"/>
            <a:ext cx="962776" cy="1593913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2" name="연결선: 구부러짐 41">
            <a:extLst>
              <a:ext uri="{FF2B5EF4-FFF2-40B4-BE49-F238E27FC236}">
                <a16:creationId xmlns:a16="http://schemas.microsoft.com/office/drawing/2014/main" id="{A606EA95-A2E8-B736-2FDB-ECA9A6474740}"/>
              </a:ext>
            </a:extLst>
          </p:cNvPr>
          <p:cNvCxnSpPr>
            <a:cxnSpLocks/>
            <a:stCxn id="21" idx="6"/>
            <a:endCxn id="32" idx="0"/>
          </p:cNvCxnSpPr>
          <p:nvPr/>
        </p:nvCxnSpPr>
        <p:spPr>
          <a:xfrm>
            <a:off x="9225280" y="2379515"/>
            <a:ext cx="875757" cy="1423778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3" name="타원 42">
            <a:extLst>
              <a:ext uri="{FF2B5EF4-FFF2-40B4-BE49-F238E27FC236}">
                <a16:creationId xmlns:a16="http://schemas.microsoft.com/office/drawing/2014/main" id="{0CAD048B-7251-1962-DB76-8BEBA1153903}"/>
              </a:ext>
            </a:extLst>
          </p:cNvPr>
          <p:cNvSpPr/>
          <p:nvPr/>
        </p:nvSpPr>
        <p:spPr>
          <a:xfrm>
            <a:off x="1402753" y="4245216"/>
            <a:ext cx="198120" cy="19812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860986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" grpId="0"/>
      <p:bldP spid="28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409AF4-13C2-BB8C-7BFC-6CD15F4915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2D42AF9-ED60-E6F6-D796-22E5E2FB0B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7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99A1ECBA-5803-6C29-0C46-8A7E5A8D3E8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Writing your own training and evaluation loops</a:t>
            </a:r>
          </a:p>
        </p:txBody>
      </p:sp>
    </p:spTree>
    <p:extLst>
      <p:ext uri="{BB962C8B-B14F-4D97-AF65-F5344CB8AC3E}">
        <p14:creationId xmlns:p14="http://schemas.microsoft.com/office/powerpoint/2010/main" val="1289008243"/>
      </p:ext>
    </p:extLst>
  </p:cSld>
  <p:clrMapOvr>
    <a:masterClrMapping/>
  </p:clrMapOvr>
</p:sld>
</file>

<file path=ppt/theme/theme1.xml><?xml version="1.0" encoding="utf-8"?>
<a:theme xmlns:a="http://schemas.openxmlformats.org/drawingml/2006/main" name="WelcomeDoc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Segoe UI">
      <a:majorFont>
        <a:latin typeface="Segoe UI Light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60957323_TF10001108_Win32.potx" id="{89E2DA47-811B-41FC-8101-7BA0FB62AE2C}" vid="{0AAAB8A4-2457-4279-BA92-56392840B1F0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{9FD8D820-F221-4C2D-97F8-71B66FDCF583}TF2989475c-5427-4edb-9ec1-00f4ce72165be756b0ce_win32-2ff1dad8fff0</Template>
  <TotalTime>9098</TotalTime>
  <Words>450</Words>
  <Application>Microsoft Office PowerPoint</Application>
  <PresentationFormat>와이드스크린</PresentationFormat>
  <Paragraphs>75</Paragraphs>
  <Slides>7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9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7</vt:i4>
      </vt:variant>
    </vt:vector>
  </HeadingPairs>
  <TitlesOfParts>
    <vt:vector size="17" baseType="lpstr">
      <vt:lpstr>D2Coding</vt:lpstr>
      <vt:lpstr>NanumGothicExtraBold</vt:lpstr>
      <vt:lpstr>맑은 고딕</vt:lpstr>
      <vt:lpstr>Batang</vt:lpstr>
      <vt:lpstr>ADLaM Display</vt:lpstr>
      <vt:lpstr>Arial</vt:lpstr>
      <vt:lpstr>Cambria Math</vt:lpstr>
      <vt:lpstr>Lora</vt:lpstr>
      <vt:lpstr>Wingdings</vt:lpstr>
      <vt:lpstr>WelcomeDoc</vt:lpstr>
      <vt:lpstr>Chapter 7  A deep dive on Keras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조상구</dc:creator>
  <cp:keywords/>
  <cp:lastModifiedBy>Sanggoo Cho</cp:lastModifiedBy>
  <cp:revision>147</cp:revision>
  <dcterms:created xsi:type="dcterms:W3CDTF">2026-04-06T01:00:39Z</dcterms:created>
  <dcterms:modified xsi:type="dcterms:W3CDTF">2026-08-03T03:04:48Z</dcterms:modified>
  <cp:version/>
</cp:coreProperties>
</file>